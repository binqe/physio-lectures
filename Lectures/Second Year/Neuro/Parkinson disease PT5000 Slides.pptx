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0"/>
  </p:normalViewPr>
  <p:slideViewPr>
    <p:cSldViewPr>
      <p:cViewPr varScale="1">
        <p:scale>
          <a:sx n="108" d="100"/>
          <a:sy n="108" d="100"/>
        </p:scale>
        <p:origin x="1856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C00000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C00000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C00000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C00000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358775" cy="6858000"/>
          </a:xfrm>
          <a:custGeom>
            <a:avLst/>
            <a:gdLst/>
            <a:ahLst/>
            <a:cxnLst/>
            <a:rect l="l" t="t" r="r" b="b"/>
            <a:pathLst>
              <a:path w="358775" h="6858000">
                <a:moveTo>
                  <a:pt x="0" y="6858000"/>
                </a:moveTo>
                <a:lnTo>
                  <a:pt x="358571" y="6858000"/>
                </a:lnTo>
                <a:lnTo>
                  <a:pt x="35857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C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530021" y="0"/>
            <a:ext cx="8614410" cy="6858000"/>
          </a:xfrm>
          <a:custGeom>
            <a:avLst/>
            <a:gdLst/>
            <a:ahLst/>
            <a:cxnLst/>
            <a:rect l="l" t="t" r="r" b="b"/>
            <a:pathLst>
              <a:path w="8614410" h="6858000">
                <a:moveTo>
                  <a:pt x="0" y="6858000"/>
                </a:moveTo>
                <a:lnTo>
                  <a:pt x="8613978" y="6858000"/>
                </a:lnTo>
                <a:lnTo>
                  <a:pt x="8613978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C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58571" y="375"/>
            <a:ext cx="171450" cy="6858000"/>
          </a:xfrm>
          <a:custGeom>
            <a:avLst/>
            <a:gdLst/>
            <a:ahLst/>
            <a:cxnLst/>
            <a:rect l="l" t="t" r="r" b="b"/>
            <a:pathLst>
              <a:path w="171450" h="6858000">
                <a:moveTo>
                  <a:pt x="171450" y="0"/>
                </a:moveTo>
                <a:lnTo>
                  <a:pt x="0" y="0"/>
                </a:lnTo>
                <a:lnTo>
                  <a:pt x="0" y="6858000"/>
                </a:lnTo>
                <a:lnTo>
                  <a:pt x="171450" y="6858000"/>
                </a:lnTo>
                <a:lnTo>
                  <a:pt x="171450" y="0"/>
                </a:lnTo>
                <a:close/>
              </a:path>
            </a:pathLst>
          </a:custGeom>
          <a:solidFill>
            <a:srgbClr val="181B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0819" y="481330"/>
            <a:ext cx="7922361" cy="8616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C00000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84250" y="3269488"/>
            <a:ext cx="7880984" cy="33889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://medweb.bham.ac.uk/http/depts/clin_neuro/teaching/tutorials/parkinsons/gait_before.mov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hyperlink" Target="https://healthtalk.org/parkinsons-disease/overview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www.parkinson.org/understanding-parkinsons/what-is-parkinsons/stages#%3A~%3Atext%3D5%20Stages%2Cand%205%20advanced%2Dstage%20PD" TargetMode="Externa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://https/img.medscape.com/fullsize/701/816/58977_UPDRS.pdf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arkinsons.org.uk/sites/default/files/2017-12/quickreferencecards_physio.pdf" TargetMode="External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47.xml"/><Relationship Id="rId2" Type="http://schemas.openxmlformats.org/officeDocument/2006/relationships/slide" Target="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hyperlink" Target="http://www.rewritetomorrow.eu.com/Images/physiotherapy/problem_chair.jpg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" Target="slide47.xml"/><Relationship Id="rId2" Type="http://schemas.openxmlformats.org/officeDocument/2006/relationships/slide" Target="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aYMTOz9Rw3Y" TargetMode="Externa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" Target="slide47.xml"/><Relationship Id="rId2" Type="http://schemas.openxmlformats.org/officeDocument/2006/relationships/slide" Target="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3.jp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youtube.com/watch?v=1cb3x6ddwCQ" TargetMode="Externa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events.parkinsons.org.uk/event/walk-parkinsons/home?gad_source=1" TargetMode="External"/><Relationship Id="rId2" Type="http://schemas.openxmlformats.org/officeDocument/2006/relationships/slide" Target="slide5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jpg"/><Relationship Id="rId5" Type="http://schemas.openxmlformats.org/officeDocument/2006/relationships/image" Target="../media/image36.jpg"/><Relationship Id="rId4" Type="http://schemas.openxmlformats.org/officeDocument/2006/relationships/hyperlink" Target="https://pdwarrior.com/" TargetMode="Externa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jpg"/><Relationship Id="rId5" Type="http://schemas.openxmlformats.org/officeDocument/2006/relationships/image" Target="../media/image41.jpg"/><Relationship Id="rId4" Type="http://schemas.openxmlformats.org/officeDocument/2006/relationships/image" Target="../media/image40.jp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" y="-2"/>
            <a:ext cx="3724655" cy="6857997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059301" y="744473"/>
            <a:ext cx="2456815" cy="4408805"/>
          </a:xfrm>
          <a:custGeom>
            <a:avLst/>
            <a:gdLst/>
            <a:ahLst/>
            <a:cxnLst/>
            <a:rect l="l" t="t" r="r" b="b"/>
            <a:pathLst>
              <a:path w="2456815" h="4408805">
                <a:moveTo>
                  <a:pt x="2456179" y="0"/>
                </a:moveTo>
                <a:lnTo>
                  <a:pt x="0" y="0"/>
                </a:lnTo>
                <a:lnTo>
                  <a:pt x="0" y="4408424"/>
                </a:lnTo>
                <a:lnTo>
                  <a:pt x="304291" y="4408424"/>
                </a:lnTo>
                <a:lnTo>
                  <a:pt x="304291" y="384428"/>
                </a:lnTo>
                <a:lnTo>
                  <a:pt x="2456688" y="385699"/>
                </a:lnTo>
                <a:lnTo>
                  <a:pt x="2456416" y="336371"/>
                </a:lnTo>
                <a:lnTo>
                  <a:pt x="2456545" y="97698"/>
                </a:lnTo>
                <a:lnTo>
                  <a:pt x="2456179" y="0"/>
                </a:lnTo>
                <a:close/>
              </a:path>
            </a:pathLst>
          </a:custGeom>
          <a:solidFill>
            <a:srgbClr val="181B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682997" y="3160522"/>
            <a:ext cx="3914140" cy="1523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00"/>
              </a:lnSpc>
              <a:spcBef>
                <a:spcPts val="95"/>
              </a:spcBef>
            </a:pPr>
            <a:r>
              <a:rPr sz="52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PARKINSON’S</a:t>
            </a:r>
            <a:endParaRPr sz="5200">
              <a:latin typeface="Franklin Gothic Medium"/>
              <a:cs typeface="Franklin Gothic Medium"/>
            </a:endParaRPr>
          </a:p>
          <a:p>
            <a:pPr marL="12700">
              <a:lnSpc>
                <a:spcPts val="5900"/>
              </a:lnSpc>
            </a:pPr>
            <a:r>
              <a:rPr sz="52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DISEASE</a:t>
            </a:r>
            <a:endParaRPr sz="5200">
              <a:latin typeface="Franklin Gothic Medium"/>
              <a:cs typeface="Franklin Gothic Mediu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82996" y="4730876"/>
            <a:ext cx="4384803" cy="11580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</a:pPr>
            <a:r>
              <a:rPr lang="en-US" sz="18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PT5000</a:t>
            </a:r>
            <a:endParaRPr lang="en-US" sz="1800" spc="-20" dirty="0">
              <a:solidFill>
                <a:srgbClr val="181B0D"/>
              </a:solidFill>
              <a:latin typeface="Franklin Gothic Medium"/>
              <a:cs typeface="Franklin Gothic Medium"/>
            </a:endParaRPr>
          </a:p>
          <a:p>
            <a:pPr marL="12700" marR="5080">
              <a:lnSpc>
                <a:spcPct val="140000"/>
              </a:lnSpc>
              <a:spcBef>
                <a:spcPts val="100"/>
              </a:spcBef>
            </a:pPr>
            <a:r>
              <a:rPr lang="en-US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Presented by: Guys &amp; St Thomas Trust</a:t>
            </a:r>
            <a:endParaRPr lang="en-US" sz="1600" spc="-20" dirty="0">
              <a:solidFill>
                <a:schemeClr val="bg1">
                  <a:lumMod val="65000"/>
                </a:schemeClr>
              </a:solidFill>
              <a:latin typeface="Franklin Gothic Medium"/>
              <a:cs typeface="Franklin Gothic Medium"/>
            </a:endParaRPr>
          </a:p>
          <a:p>
            <a:pPr marL="12700" marR="5080">
              <a:lnSpc>
                <a:spcPct val="140000"/>
              </a:lnSpc>
              <a:spcBef>
                <a:spcPts val="100"/>
              </a:spcBef>
            </a:pPr>
            <a:r>
              <a:rPr lang="en-US" sz="1600" spc="-20" dirty="0">
                <a:solidFill>
                  <a:schemeClr val="bg1">
                    <a:lumMod val="65000"/>
                  </a:schemeClr>
                </a:solidFill>
                <a:latin typeface="Franklin Gothic Medium"/>
                <a:cs typeface="Franklin Gothic Medium"/>
              </a:rPr>
              <a:t>Slides adapted from: </a:t>
            </a:r>
            <a:r>
              <a:rPr sz="1600" spc="-20" dirty="0">
                <a:solidFill>
                  <a:schemeClr val="bg1">
                    <a:lumMod val="65000"/>
                  </a:schemeClr>
                </a:solidFill>
                <a:latin typeface="Franklin Gothic Medium"/>
                <a:cs typeface="Franklin Gothic Medium"/>
              </a:rPr>
              <a:t>Prof</a:t>
            </a:r>
            <a:r>
              <a:rPr sz="1600" spc="-80" dirty="0">
                <a:solidFill>
                  <a:schemeClr val="bg1">
                    <a:lumMod val="65000"/>
                  </a:schemeClr>
                </a:solidFill>
                <a:latin typeface="Franklin Gothic Medium"/>
                <a:cs typeface="Franklin Gothic Medium"/>
              </a:rPr>
              <a:t> </a:t>
            </a:r>
            <a:r>
              <a:rPr sz="1600" dirty="0">
                <a:solidFill>
                  <a:schemeClr val="bg1">
                    <a:lumMod val="65000"/>
                  </a:schemeClr>
                </a:solidFill>
                <a:latin typeface="Franklin Gothic Medium"/>
                <a:cs typeface="Franklin Gothic Medium"/>
              </a:rPr>
              <a:t>Isaac</a:t>
            </a:r>
            <a:r>
              <a:rPr sz="1600" spc="-85" dirty="0">
                <a:solidFill>
                  <a:schemeClr val="bg1">
                    <a:lumMod val="65000"/>
                  </a:schemeClr>
                </a:solidFill>
                <a:latin typeface="Franklin Gothic Medium"/>
                <a:cs typeface="Franklin Gothic Medium"/>
              </a:rPr>
              <a:t> </a:t>
            </a:r>
            <a:r>
              <a:rPr sz="1600" spc="-20" dirty="0" err="1">
                <a:solidFill>
                  <a:schemeClr val="bg1">
                    <a:lumMod val="65000"/>
                  </a:schemeClr>
                </a:solidFill>
                <a:latin typeface="Franklin Gothic Medium"/>
                <a:cs typeface="Franklin Gothic Medium"/>
              </a:rPr>
              <a:t>Sorinola</a:t>
            </a:r>
            <a:endParaRPr sz="1600" dirty="0">
              <a:solidFill>
                <a:schemeClr val="bg1">
                  <a:lumMod val="65000"/>
                </a:schemeClr>
              </a:solidFill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EEC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58571" y="375"/>
            <a:ext cx="171450" cy="6858000"/>
          </a:xfrm>
          <a:custGeom>
            <a:avLst/>
            <a:gdLst/>
            <a:ahLst/>
            <a:cxnLst/>
            <a:rect l="l" t="t" r="r" b="b"/>
            <a:pathLst>
              <a:path w="171450" h="6858000">
                <a:moveTo>
                  <a:pt x="171450" y="0"/>
                </a:moveTo>
                <a:lnTo>
                  <a:pt x="0" y="0"/>
                </a:lnTo>
                <a:lnTo>
                  <a:pt x="0" y="6858000"/>
                </a:lnTo>
                <a:lnTo>
                  <a:pt x="171450" y="6858000"/>
                </a:lnTo>
                <a:lnTo>
                  <a:pt x="171450" y="0"/>
                </a:lnTo>
                <a:close/>
              </a:path>
            </a:pathLst>
          </a:custGeom>
          <a:solidFill>
            <a:srgbClr val="181B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9638" rIns="0" bIns="0" rtlCol="0">
            <a:spAutoFit/>
          </a:bodyPr>
          <a:lstStyle/>
          <a:p>
            <a:pPr marL="509270">
              <a:lnSpc>
                <a:spcPct val="100000"/>
              </a:lnSpc>
              <a:spcBef>
                <a:spcPts val="105"/>
              </a:spcBef>
            </a:pPr>
            <a:r>
              <a:rPr sz="4400" spc="-25" dirty="0">
                <a:solidFill>
                  <a:srgbClr val="181B0D"/>
                </a:solidFill>
              </a:rPr>
              <a:t>Learning</a:t>
            </a:r>
            <a:r>
              <a:rPr sz="4400" spc="-229" dirty="0">
                <a:solidFill>
                  <a:srgbClr val="181B0D"/>
                </a:solidFill>
              </a:rPr>
              <a:t> </a:t>
            </a:r>
            <a:r>
              <a:rPr sz="4400" spc="-25" dirty="0">
                <a:solidFill>
                  <a:srgbClr val="181B0D"/>
                </a:solidFill>
              </a:rPr>
              <a:t>outcomes</a:t>
            </a:r>
            <a:endParaRPr sz="4400"/>
          </a:p>
        </p:txBody>
      </p:sp>
      <p:sp>
        <p:nvSpPr>
          <p:cNvPr id="5" name="object 5"/>
          <p:cNvSpPr/>
          <p:nvPr/>
        </p:nvSpPr>
        <p:spPr>
          <a:xfrm>
            <a:off x="1028700" y="2287777"/>
            <a:ext cx="7200900" cy="34925"/>
          </a:xfrm>
          <a:custGeom>
            <a:avLst/>
            <a:gdLst/>
            <a:ahLst/>
            <a:cxnLst/>
            <a:rect l="l" t="t" r="r" b="b"/>
            <a:pathLst>
              <a:path w="7200900" h="34925">
                <a:moveTo>
                  <a:pt x="7200900" y="0"/>
                </a:moveTo>
                <a:lnTo>
                  <a:pt x="0" y="0"/>
                </a:lnTo>
                <a:lnTo>
                  <a:pt x="0" y="34925"/>
                </a:lnTo>
                <a:lnTo>
                  <a:pt x="7200900" y="34925"/>
                </a:lnTo>
                <a:lnTo>
                  <a:pt x="7200900" y="0"/>
                </a:lnTo>
                <a:close/>
              </a:path>
            </a:pathLst>
          </a:custGeom>
          <a:solidFill>
            <a:srgbClr val="E6C0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28700" y="2884042"/>
            <a:ext cx="7200900" cy="34925"/>
          </a:xfrm>
          <a:custGeom>
            <a:avLst/>
            <a:gdLst/>
            <a:ahLst/>
            <a:cxnLst/>
            <a:rect l="l" t="t" r="r" b="b"/>
            <a:pathLst>
              <a:path w="7200900" h="34925">
                <a:moveTo>
                  <a:pt x="7200900" y="0"/>
                </a:moveTo>
                <a:lnTo>
                  <a:pt x="0" y="0"/>
                </a:lnTo>
                <a:lnTo>
                  <a:pt x="0" y="34925"/>
                </a:lnTo>
                <a:lnTo>
                  <a:pt x="7200900" y="34925"/>
                </a:lnTo>
                <a:lnTo>
                  <a:pt x="7200900" y="0"/>
                </a:lnTo>
                <a:close/>
              </a:path>
            </a:pathLst>
          </a:custGeom>
          <a:solidFill>
            <a:srgbClr val="E6C0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8700" y="3480434"/>
            <a:ext cx="7200900" cy="34925"/>
          </a:xfrm>
          <a:custGeom>
            <a:avLst/>
            <a:gdLst/>
            <a:ahLst/>
            <a:cxnLst/>
            <a:rect l="l" t="t" r="r" b="b"/>
            <a:pathLst>
              <a:path w="7200900" h="34925">
                <a:moveTo>
                  <a:pt x="7200900" y="0"/>
                </a:moveTo>
                <a:lnTo>
                  <a:pt x="0" y="0"/>
                </a:lnTo>
                <a:lnTo>
                  <a:pt x="0" y="34925"/>
                </a:lnTo>
                <a:lnTo>
                  <a:pt x="7200900" y="34925"/>
                </a:lnTo>
                <a:lnTo>
                  <a:pt x="7200900" y="0"/>
                </a:lnTo>
                <a:close/>
              </a:path>
            </a:pathLst>
          </a:custGeom>
          <a:solidFill>
            <a:srgbClr val="E6C0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28700" y="4076700"/>
            <a:ext cx="7200900" cy="34925"/>
          </a:xfrm>
          <a:custGeom>
            <a:avLst/>
            <a:gdLst/>
            <a:ahLst/>
            <a:cxnLst/>
            <a:rect l="l" t="t" r="r" b="b"/>
            <a:pathLst>
              <a:path w="7200900" h="34925">
                <a:moveTo>
                  <a:pt x="7200900" y="0"/>
                </a:moveTo>
                <a:lnTo>
                  <a:pt x="0" y="0"/>
                </a:lnTo>
                <a:lnTo>
                  <a:pt x="0" y="34925"/>
                </a:lnTo>
                <a:lnTo>
                  <a:pt x="7200900" y="34925"/>
                </a:lnTo>
                <a:lnTo>
                  <a:pt x="7200900" y="0"/>
                </a:lnTo>
                <a:close/>
              </a:path>
            </a:pathLst>
          </a:custGeom>
          <a:solidFill>
            <a:srgbClr val="E6C0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28700" y="4672965"/>
            <a:ext cx="7200900" cy="34925"/>
          </a:xfrm>
          <a:custGeom>
            <a:avLst/>
            <a:gdLst/>
            <a:ahLst/>
            <a:cxnLst/>
            <a:rect l="l" t="t" r="r" b="b"/>
            <a:pathLst>
              <a:path w="7200900" h="34925">
                <a:moveTo>
                  <a:pt x="7200900" y="0"/>
                </a:moveTo>
                <a:lnTo>
                  <a:pt x="0" y="0"/>
                </a:lnTo>
                <a:lnTo>
                  <a:pt x="0" y="34925"/>
                </a:lnTo>
                <a:lnTo>
                  <a:pt x="7200900" y="34925"/>
                </a:lnTo>
                <a:lnTo>
                  <a:pt x="7200900" y="0"/>
                </a:lnTo>
                <a:close/>
              </a:path>
            </a:pathLst>
          </a:custGeom>
          <a:solidFill>
            <a:srgbClr val="E6C0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28700" y="5269357"/>
            <a:ext cx="7200900" cy="34925"/>
          </a:xfrm>
          <a:custGeom>
            <a:avLst/>
            <a:gdLst/>
            <a:ahLst/>
            <a:cxnLst/>
            <a:rect l="l" t="t" r="r" b="b"/>
            <a:pathLst>
              <a:path w="7200900" h="34925">
                <a:moveTo>
                  <a:pt x="7200900" y="0"/>
                </a:moveTo>
                <a:lnTo>
                  <a:pt x="0" y="0"/>
                </a:lnTo>
                <a:lnTo>
                  <a:pt x="0" y="34925"/>
                </a:lnTo>
                <a:lnTo>
                  <a:pt x="7200900" y="34925"/>
                </a:lnTo>
                <a:lnTo>
                  <a:pt x="7200900" y="0"/>
                </a:lnTo>
                <a:close/>
              </a:path>
            </a:pathLst>
          </a:custGeom>
          <a:solidFill>
            <a:srgbClr val="E6C0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80922" y="2297683"/>
            <a:ext cx="7076440" cy="3267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latin typeface="Franklin Gothic Medium"/>
                <a:cs typeface="Franklin Gothic Medium"/>
              </a:rPr>
              <a:t>By</a:t>
            </a:r>
            <a:r>
              <a:rPr sz="1700" spc="-55" dirty="0">
                <a:latin typeface="Franklin Gothic Medium"/>
                <a:cs typeface="Franklin Gothic Medium"/>
              </a:rPr>
              <a:t> </a:t>
            </a:r>
            <a:r>
              <a:rPr sz="1700" dirty="0">
                <a:latin typeface="Franklin Gothic Medium"/>
                <a:cs typeface="Franklin Gothic Medium"/>
              </a:rPr>
              <a:t>the</a:t>
            </a:r>
            <a:r>
              <a:rPr sz="1700" spc="-60" dirty="0">
                <a:latin typeface="Franklin Gothic Medium"/>
                <a:cs typeface="Franklin Gothic Medium"/>
              </a:rPr>
              <a:t> </a:t>
            </a:r>
            <a:r>
              <a:rPr sz="1700" dirty="0">
                <a:latin typeface="Franklin Gothic Medium"/>
                <a:cs typeface="Franklin Gothic Medium"/>
              </a:rPr>
              <a:t>end</a:t>
            </a:r>
            <a:r>
              <a:rPr sz="1700" spc="-70" dirty="0">
                <a:latin typeface="Franklin Gothic Medium"/>
                <a:cs typeface="Franklin Gothic Medium"/>
              </a:rPr>
              <a:t> </a:t>
            </a:r>
            <a:r>
              <a:rPr sz="1700" dirty="0">
                <a:latin typeface="Franklin Gothic Medium"/>
                <a:cs typeface="Franklin Gothic Medium"/>
              </a:rPr>
              <a:t>of</a:t>
            </a:r>
            <a:r>
              <a:rPr sz="1700" spc="-45" dirty="0">
                <a:latin typeface="Franklin Gothic Medium"/>
                <a:cs typeface="Franklin Gothic Medium"/>
              </a:rPr>
              <a:t> </a:t>
            </a:r>
            <a:r>
              <a:rPr sz="1700" dirty="0">
                <a:latin typeface="Franklin Gothic Medium"/>
                <a:cs typeface="Franklin Gothic Medium"/>
              </a:rPr>
              <a:t>this</a:t>
            </a:r>
            <a:r>
              <a:rPr sz="1700" spc="-70" dirty="0">
                <a:latin typeface="Franklin Gothic Medium"/>
                <a:cs typeface="Franklin Gothic Medium"/>
              </a:rPr>
              <a:t> </a:t>
            </a:r>
            <a:r>
              <a:rPr sz="1700" dirty="0">
                <a:latin typeface="Franklin Gothic Medium"/>
                <a:cs typeface="Franklin Gothic Medium"/>
              </a:rPr>
              <a:t>lecture,</a:t>
            </a:r>
            <a:r>
              <a:rPr sz="1700" spc="-70" dirty="0">
                <a:latin typeface="Franklin Gothic Medium"/>
                <a:cs typeface="Franklin Gothic Medium"/>
              </a:rPr>
              <a:t> </a:t>
            </a:r>
            <a:r>
              <a:rPr sz="1700" dirty="0">
                <a:latin typeface="Franklin Gothic Medium"/>
                <a:cs typeface="Franklin Gothic Medium"/>
              </a:rPr>
              <a:t>students</a:t>
            </a:r>
            <a:r>
              <a:rPr sz="1700" spc="-60" dirty="0">
                <a:latin typeface="Franklin Gothic Medium"/>
                <a:cs typeface="Franklin Gothic Medium"/>
              </a:rPr>
              <a:t> </a:t>
            </a:r>
            <a:r>
              <a:rPr sz="1700" dirty="0">
                <a:latin typeface="Franklin Gothic Medium"/>
                <a:cs typeface="Franklin Gothic Medium"/>
              </a:rPr>
              <a:t>should</a:t>
            </a:r>
            <a:r>
              <a:rPr sz="1700" spc="-70" dirty="0">
                <a:latin typeface="Franklin Gothic Medium"/>
                <a:cs typeface="Franklin Gothic Medium"/>
              </a:rPr>
              <a:t> </a:t>
            </a:r>
            <a:r>
              <a:rPr sz="1700" dirty="0">
                <a:latin typeface="Franklin Gothic Medium"/>
                <a:cs typeface="Franklin Gothic Medium"/>
              </a:rPr>
              <a:t>be</a:t>
            </a:r>
            <a:r>
              <a:rPr sz="1700" spc="-40" dirty="0">
                <a:latin typeface="Franklin Gothic Medium"/>
                <a:cs typeface="Franklin Gothic Medium"/>
              </a:rPr>
              <a:t> </a:t>
            </a:r>
            <a:r>
              <a:rPr sz="1700" dirty="0">
                <a:latin typeface="Franklin Gothic Medium"/>
                <a:cs typeface="Franklin Gothic Medium"/>
              </a:rPr>
              <a:t>able</a:t>
            </a:r>
            <a:r>
              <a:rPr sz="1700" spc="-60" dirty="0">
                <a:latin typeface="Franklin Gothic Medium"/>
                <a:cs typeface="Franklin Gothic Medium"/>
              </a:rPr>
              <a:t> </a:t>
            </a:r>
            <a:r>
              <a:rPr sz="1700" spc="-25" dirty="0">
                <a:latin typeface="Franklin Gothic Medium"/>
                <a:cs typeface="Franklin Gothic Medium"/>
              </a:rPr>
              <a:t>to:</a:t>
            </a:r>
            <a:endParaRPr sz="17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1700">
              <a:latin typeface="Franklin Gothic Medium"/>
              <a:cs typeface="Franklin Gothic Medium"/>
            </a:endParaRPr>
          </a:p>
          <a:p>
            <a:pPr marL="12700">
              <a:lnSpc>
                <a:spcPts val="1885"/>
              </a:lnSpc>
            </a:pPr>
            <a:r>
              <a:rPr sz="1700" dirty="0">
                <a:latin typeface="Franklin Gothic Medium"/>
                <a:cs typeface="Franklin Gothic Medium"/>
              </a:rPr>
              <a:t>Discuss</a:t>
            </a:r>
            <a:r>
              <a:rPr sz="1700" spc="-30" dirty="0">
                <a:latin typeface="Franklin Gothic Medium"/>
                <a:cs typeface="Franklin Gothic Medium"/>
              </a:rPr>
              <a:t> </a:t>
            </a:r>
            <a:r>
              <a:rPr sz="1700" dirty="0">
                <a:latin typeface="Franklin Gothic Medium"/>
                <a:cs typeface="Franklin Gothic Medium"/>
              </a:rPr>
              <a:t>the</a:t>
            </a:r>
            <a:r>
              <a:rPr sz="1700" spc="-5" dirty="0">
                <a:latin typeface="Franklin Gothic Medium"/>
                <a:cs typeface="Franklin Gothic Medium"/>
              </a:rPr>
              <a:t> </a:t>
            </a:r>
            <a:r>
              <a:rPr sz="1700" spc="-35" dirty="0">
                <a:latin typeface="Franklin Gothic Medium"/>
                <a:cs typeface="Franklin Gothic Medium"/>
              </a:rPr>
              <a:t>epidemiology,</a:t>
            </a:r>
            <a:r>
              <a:rPr sz="1700" spc="-40" dirty="0">
                <a:latin typeface="Franklin Gothic Medium"/>
                <a:cs typeface="Franklin Gothic Medium"/>
              </a:rPr>
              <a:t> </a:t>
            </a:r>
            <a:r>
              <a:rPr sz="1700" spc="-30" dirty="0">
                <a:latin typeface="Franklin Gothic Medium"/>
                <a:cs typeface="Franklin Gothic Medium"/>
              </a:rPr>
              <a:t>aetiology,</a:t>
            </a:r>
            <a:r>
              <a:rPr sz="1700" spc="-40" dirty="0">
                <a:latin typeface="Franklin Gothic Medium"/>
                <a:cs typeface="Franklin Gothic Medium"/>
              </a:rPr>
              <a:t> </a:t>
            </a:r>
            <a:r>
              <a:rPr sz="1700" spc="-30" dirty="0">
                <a:latin typeface="Franklin Gothic Medium"/>
                <a:cs typeface="Franklin Gothic Medium"/>
              </a:rPr>
              <a:t>pathophysiology</a:t>
            </a:r>
            <a:r>
              <a:rPr sz="1700" spc="-40" dirty="0">
                <a:latin typeface="Franklin Gothic Medium"/>
                <a:cs typeface="Franklin Gothic Medium"/>
              </a:rPr>
              <a:t> </a:t>
            </a:r>
            <a:r>
              <a:rPr sz="1700" dirty="0">
                <a:latin typeface="Franklin Gothic Medium"/>
                <a:cs typeface="Franklin Gothic Medium"/>
              </a:rPr>
              <a:t>and</a:t>
            </a:r>
            <a:r>
              <a:rPr sz="1700" spc="5" dirty="0">
                <a:latin typeface="Franklin Gothic Medium"/>
                <a:cs typeface="Franklin Gothic Medium"/>
              </a:rPr>
              <a:t> </a:t>
            </a:r>
            <a:r>
              <a:rPr sz="1700" spc="-10" dirty="0">
                <a:latin typeface="Franklin Gothic Medium"/>
                <a:cs typeface="Franklin Gothic Medium"/>
              </a:rPr>
              <a:t>clinical</a:t>
            </a:r>
            <a:r>
              <a:rPr sz="1700" spc="-30" dirty="0">
                <a:latin typeface="Franklin Gothic Medium"/>
                <a:cs typeface="Franklin Gothic Medium"/>
              </a:rPr>
              <a:t> </a:t>
            </a:r>
            <a:r>
              <a:rPr sz="1700" dirty="0">
                <a:latin typeface="Franklin Gothic Medium"/>
                <a:cs typeface="Franklin Gothic Medium"/>
              </a:rPr>
              <a:t>course</a:t>
            </a:r>
            <a:r>
              <a:rPr sz="1700" spc="-20" dirty="0">
                <a:latin typeface="Franklin Gothic Medium"/>
                <a:cs typeface="Franklin Gothic Medium"/>
              </a:rPr>
              <a:t> </a:t>
            </a:r>
            <a:r>
              <a:rPr sz="1700" spc="-25" dirty="0">
                <a:latin typeface="Franklin Gothic Medium"/>
                <a:cs typeface="Franklin Gothic Medium"/>
              </a:rPr>
              <a:t>of</a:t>
            </a:r>
            <a:endParaRPr sz="1700">
              <a:latin typeface="Franklin Gothic Medium"/>
              <a:cs typeface="Franklin Gothic Medium"/>
            </a:endParaRPr>
          </a:p>
          <a:p>
            <a:pPr marL="12700">
              <a:lnSpc>
                <a:spcPts val="1885"/>
              </a:lnSpc>
            </a:pPr>
            <a:r>
              <a:rPr sz="1700" spc="-20" dirty="0">
                <a:latin typeface="Franklin Gothic Medium"/>
                <a:cs typeface="Franklin Gothic Medium"/>
              </a:rPr>
              <a:t>Parkinson’s</a:t>
            </a:r>
            <a:r>
              <a:rPr sz="1700" spc="-10" dirty="0">
                <a:latin typeface="Franklin Gothic Medium"/>
                <a:cs typeface="Franklin Gothic Medium"/>
              </a:rPr>
              <a:t> disease</a:t>
            </a:r>
            <a:endParaRPr sz="1700">
              <a:latin typeface="Franklin Gothic Medium"/>
              <a:cs typeface="Franklin Gothic Medium"/>
            </a:endParaRPr>
          </a:p>
          <a:p>
            <a:pPr marL="12700">
              <a:lnSpc>
                <a:spcPts val="1885"/>
              </a:lnSpc>
              <a:spcBef>
                <a:spcPts val="930"/>
              </a:spcBef>
            </a:pPr>
            <a:r>
              <a:rPr sz="1700" spc="-10" dirty="0">
                <a:latin typeface="Franklin Gothic Medium"/>
                <a:cs typeface="Franklin Gothic Medium"/>
              </a:rPr>
              <a:t>Explain</a:t>
            </a:r>
            <a:r>
              <a:rPr sz="1700" spc="-35" dirty="0">
                <a:latin typeface="Franklin Gothic Medium"/>
                <a:cs typeface="Franklin Gothic Medium"/>
              </a:rPr>
              <a:t> </a:t>
            </a:r>
            <a:r>
              <a:rPr sz="1700" dirty="0">
                <a:latin typeface="Franklin Gothic Medium"/>
                <a:cs typeface="Franklin Gothic Medium"/>
              </a:rPr>
              <a:t>the</a:t>
            </a:r>
            <a:r>
              <a:rPr sz="1700" spc="-35" dirty="0">
                <a:latin typeface="Franklin Gothic Medium"/>
                <a:cs typeface="Franklin Gothic Medium"/>
              </a:rPr>
              <a:t> </a:t>
            </a:r>
            <a:r>
              <a:rPr sz="1700" dirty="0">
                <a:latin typeface="Franklin Gothic Medium"/>
                <a:cs typeface="Franklin Gothic Medium"/>
              </a:rPr>
              <a:t>current</a:t>
            </a:r>
            <a:r>
              <a:rPr sz="1700" spc="-45" dirty="0">
                <a:latin typeface="Franklin Gothic Medium"/>
                <a:cs typeface="Franklin Gothic Medium"/>
              </a:rPr>
              <a:t> </a:t>
            </a:r>
            <a:r>
              <a:rPr sz="1700" spc="-30" dirty="0">
                <a:latin typeface="Franklin Gothic Medium"/>
                <a:cs typeface="Franklin Gothic Medium"/>
              </a:rPr>
              <a:t>pharmacological</a:t>
            </a:r>
            <a:r>
              <a:rPr sz="1700" spc="-55" dirty="0">
                <a:latin typeface="Franklin Gothic Medium"/>
                <a:cs typeface="Franklin Gothic Medium"/>
              </a:rPr>
              <a:t> </a:t>
            </a:r>
            <a:r>
              <a:rPr sz="1700" spc="-20" dirty="0">
                <a:latin typeface="Franklin Gothic Medium"/>
                <a:cs typeface="Franklin Gothic Medium"/>
              </a:rPr>
              <a:t>therapy</a:t>
            </a:r>
            <a:r>
              <a:rPr sz="1700" spc="-35" dirty="0">
                <a:latin typeface="Franklin Gothic Medium"/>
                <a:cs typeface="Franklin Gothic Medium"/>
              </a:rPr>
              <a:t> </a:t>
            </a:r>
            <a:r>
              <a:rPr sz="1700" dirty="0">
                <a:latin typeface="Franklin Gothic Medium"/>
                <a:cs typeface="Franklin Gothic Medium"/>
              </a:rPr>
              <a:t>used</a:t>
            </a:r>
            <a:r>
              <a:rPr sz="1700" spc="-25" dirty="0">
                <a:latin typeface="Franklin Gothic Medium"/>
                <a:cs typeface="Franklin Gothic Medium"/>
              </a:rPr>
              <a:t> </a:t>
            </a:r>
            <a:r>
              <a:rPr sz="1700" dirty="0">
                <a:latin typeface="Franklin Gothic Medium"/>
                <a:cs typeface="Franklin Gothic Medium"/>
              </a:rPr>
              <a:t>in</a:t>
            </a:r>
            <a:r>
              <a:rPr sz="1700" spc="-40" dirty="0">
                <a:latin typeface="Franklin Gothic Medium"/>
                <a:cs typeface="Franklin Gothic Medium"/>
              </a:rPr>
              <a:t> </a:t>
            </a:r>
            <a:r>
              <a:rPr sz="1700" dirty="0">
                <a:latin typeface="Franklin Gothic Medium"/>
                <a:cs typeface="Franklin Gothic Medium"/>
              </a:rPr>
              <a:t>the</a:t>
            </a:r>
            <a:r>
              <a:rPr sz="1700" spc="-20" dirty="0">
                <a:latin typeface="Franklin Gothic Medium"/>
                <a:cs typeface="Franklin Gothic Medium"/>
              </a:rPr>
              <a:t> </a:t>
            </a:r>
            <a:r>
              <a:rPr sz="1700" spc="-40" dirty="0">
                <a:latin typeface="Franklin Gothic Medium"/>
                <a:cs typeface="Franklin Gothic Medium"/>
              </a:rPr>
              <a:t>management</a:t>
            </a:r>
            <a:r>
              <a:rPr sz="1700" spc="-55" dirty="0">
                <a:latin typeface="Franklin Gothic Medium"/>
                <a:cs typeface="Franklin Gothic Medium"/>
              </a:rPr>
              <a:t> </a:t>
            </a:r>
            <a:r>
              <a:rPr sz="1700" spc="-35" dirty="0">
                <a:latin typeface="Franklin Gothic Medium"/>
                <a:cs typeface="Franklin Gothic Medium"/>
              </a:rPr>
              <a:t>of</a:t>
            </a:r>
            <a:endParaRPr sz="1700">
              <a:latin typeface="Franklin Gothic Medium"/>
              <a:cs typeface="Franklin Gothic Medium"/>
            </a:endParaRPr>
          </a:p>
          <a:p>
            <a:pPr marL="12700">
              <a:lnSpc>
                <a:spcPts val="1885"/>
              </a:lnSpc>
            </a:pPr>
            <a:r>
              <a:rPr sz="1700" spc="-20" dirty="0">
                <a:latin typeface="Franklin Gothic Medium"/>
                <a:cs typeface="Franklin Gothic Medium"/>
              </a:rPr>
              <a:t>Parkinson’s</a:t>
            </a:r>
            <a:r>
              <a:rPr sz="1700" spc="-10" dirty="0">
                <a:latin typeface="Franklin Gothic Medium"/>
                <a:cs typeface="Franklin Gothic Medium"/>
              </a:rPr>
              <a:t> disease</a:t>
            </a:r>
            <a:endParaRPr sz="1700">
              <a:latin typeface="Franklin Gothic Medium"/>
              <a:cs typeface="Franklin Gothic Medium"/>
            </a:endParaRPr>
          </a:p>
          <a:p>
            <a:pPr marL="12700">
              <a:lnSpc>
                <a:spcPts val="1885"/>
              </a:lnSpc>
              <a:spcBef>
                <a:spcPts val="930"/>
              </a:spcBef>
            </a:pPr>
            <a:r>
              <a:rPr sz="1700" dirty="0">
                <a:latin typeface="Franklin Gothic Medium"/>
                <a:cs typeface="Franklin Gothic Medium"/>
              </a:rPr>
              <a:t>Discuss</a:t>
            </a:r>
            <a:r>
              <a:rPr sz="1700" spc="-70" dirty="0">
                <a:latin typeface="Franklin Gothic Medium"/>
                <a:cs typeface="Franklin Gothic Medium"/>
              </a:rPr>
              <a:t> </a:t>
            </a:r>
            <a:r>
              <a:rPr sz="1700" dirty="0">
                <a:latin typeface="Franklin Gothic Medium"/>
                <a:cs typeface="Franklin Gothic Medium"/>
              </a:rPr>
              <a:t>the</a:t>
            </a:r>
            <a:r>
              <a:rPr sz="1700" spc="-35" dirty="0">
                <a:latin typeface="Franklin Gothic Medium"/>
                <a:cs typeface="Franklin Gothic Medium"/>
              </a:rPr>
              <a:t> </a:t>
            </a:r>
            <a:r>
              <a:rPr sz="1700" dirty="0">
                <a:latin typeface="Franklin Gothic Medium"/>
                <a:cs typeface="Franklin Gothic Medium"/>
              </a:rPr>
              <a:t>evidence</a:t>
            </a:r>
            <a:r>
              <a:rPr sz="1700" spc="-55" dirty="0">
                <a:latin typeface="Franklin Gothic Medium"/>
                <a:cs typeface="Franklin Gothic Medium"/>
              </a:rPr>
              <a:t> </a:t>
            </a:r>
            <a:r>
              <a:rPr sz="1700" dirty="0">
                <a:latin typeface="Franklin Gothic Medium"/>
                <a:cs typeface="Franklin Gothic Medium"/>
              </a:rPr>
              <a:t>base</a:t>
            </a:r>
            <a:r>
              <a:rPr sz="1700" spc="-40" dirty="0">
                <a:latin typeface="Franklin Gothic Medium"/>
                <a:cs typeface="Franklin Gothic Medium"/>
              </a:rPr>
              <a:t> </a:t>
            </a:r>
            <a:r>
              <a:rPr sz="1700" dirty="0">
                <a:latin typeface="Franklin Gothic Medium"/>
                <a:cs typeface="Franklin Gothic Medium"/>
              </a:rPr>
              <a:t>for</a:t>
            </a:r>
            <a:r>
              <a:rPr sz="1700" spc="-50" dirty="0">
                <a:latin typeface="Franklin Gothic Medium"/>
                <a:cs typeface="Franklin Gothic Medium"/>
              </a:rPr>
              <a:t> </a:t>
            </a:r>
            <a:r>
              <a:rPr sz="1700" spc="-30" dirty="0">
                <a:latin typeface="Franklin Gothic Medium"/>
                <a:cs typeface="Franklin Gothic Medium"/>
              </a:rPr>
              <a:t>physiotherapy</a:t>
            </a:r>
            <a:r>
              <a:rPr sz="1700" spc="-70" dirty="0">
                <a:latin typeface="Franklin Gothic Medium"/>
                <a:cs typeface="Franklin Gothic Medium"/>
              </a:rPr>
              <a:t> </a:t>
            </a:r>
            <a:r>
              <a:rPr sz="1700" spc="-40" dirty="0">
                <a:latin typeface="Franklin Gothic Medium"/>
                <a:cs typeface="Franklin Gothic Medium"/>
              </a:rPr>
              <a:t>management</a:t>
            </a:r>
            <a:r>
              <a:rPr sz="1700" spc="-65" dirty="0">
                <a:latin typeface="Franklin Gothic Medium"/>
                <a:cs typeface="Franklin Gothic Medium"/>
              </a:rPr>
              <a:t> </a:t>
            </a:r>
            <a:r>
              <a:rPr sz="1700" dirty="0">
                <a:latin typeface="Franklin Gothic Medium"/>
                <a:cs typeface="Franklin Gothic Medium"/>
              </a:rPr>
              <a:t>of</a:t>
            </a:r>
            <a:r>
              <a:rPr sz="1700" spc="-40" dirty="0">
                <a:latin typeface="Franklin Gothic Medium"/>
                <a:cs typeface="Franklin Gothic Medium"/>
              </a:rPr>
              <a:t> </a:t>
            </a:r>
            <a:r>
              <a:rPr sz="1700" dirty="0">
                <a:latin typeface="Franklin Gothic Medium"/>
                <a:cs typeface="Franklin Gothic Medium"/>
              </a:rPr>
              <a:t>people</a:t>
            </a:r>
            <a:r>
              <a:rPr sz="1700" spc="-55" dirty="0">
                <a:latin typeface="Franklin Gothic Medium"/>
                <a:cs typeface="Franklin Gothic Medium"/>
              </a:rPr>
              <a:t> </a:t>
            </a:r>
            <a:r>
              <a:rPr sz="1700" spc="-20" dirty="0">
                <a:latin typeface="Franklin Gothic Medium"/>
                <a:cs typeface="Franklin Gothic Medium"/>
              </a:rPr>
              <a:t>with</a:t>
            </a:r>
            <a:endParaRPr sz="1700">
              <a:latin typeface="Franklin Gothic Medium"/>
              <a:cs typeface="Franklin Gothic Medium"/>
            </a:endParaRPr>
          </a:p>
          <a:p>
            <a:pPr marL="12700">
              <a:lnSpc>
                <a:spcPts val="1885"/>
              </a:lnSpc>
            </a:pPr>
            <a:r>
              <a:rPr sz="1700" spc="-20" dirty="0">
                <a:latin typeface="Franklin Gothic Medium"/>
                <a:cs typeface="Franklin Gothic Medium"/>
              </a:rPr>
              <a:t>Parkinson’s</a:t>
            </a:r>
            <a:r>
              <a:rPr sz="1700" spc="-10" dirty="0">
                <a:latin typeface="Franklin Gothic Medium"/>
                <a:cs typeface="Franklin Gothic Medium"/>
              </a:rPr>
              <a:t> disease</a:t>
            </a:r>
            <a:endParaRPr sz="1700">
              <a:latin typeface="Franklin Gothic Medium"/>
              <a:cs typeface="Franklin Gothic Medium"/>
            </a:endParaRPr>
          </a:p>
          <a:p>
            <a:pPr marL="12700" marR="73660">
              <a:lnSpc>
                <a:spcPts val="1730"/>
              </a:lnSpc>
              <a:spcBef>
                <a:spcPts val="1245"/>
              </a:spcBef>
            </a:pPr>
            <a:r>
              <a:rPr sz="1700" dirty="0">
                <a:latin typeface="Franklin Gothic Medium"/>
                <a:cs typeface="Franklin Gothic Medium"/>
              </a:rPr>
              <a:t>Describe</a:t>
            </a:r>
            <a:r>
              <a:rPr sz="1700" spc="-70" dirty="0">
                <a:latin typeface="Franklin Gothic Medium"/>
                <a:cs typeface="Franklin Gothic Medium"/>
              </a:rPr>
              <a:t> </a:t>
            </a:r>
            <a:r>
              <a:rPr sz="1700" dirty="0">
                <a:latin typeface="Franklin Gothic Medium"/>
                <a:cs typeface="Franklin Gothic Medium"/>
              </a:rPr>
              <a:t>the</a:t>
            </a:r>
            <a:r>
              <a:rPr sz="1700" spc="-70" dirty="0">
                <a:latin typeface="Franklin Gothic Medium"/>
                <a:cs typeface="Franklin Gothic Medium"/>
              </a:rPr>
              <a:t> </a:t>
            </a:r>
            <a:r>
              <a:rPr sz="1700" dirty="0">
                <a:latin typeface="Franklin Gothic Medium"/>
                <a:cs typeface="Franklin Gothic Medium"/>
              </a:rPr>
              <a:t>role</a:t>
            </a:r>
            <a:r>
              <a:rPr sz="1700" spc="-65" dirty="0">
                <a:latin typeface="Franklin Gothic Medium"/>
                <a:cs typeface="Franklin Gothic Medium"/>
              </a:rPr>
              <a:t> </a:t>
            </a:r>
            <a:r>
              <a:rPr sz="1700" dirty="0">
                <a:latin typeface="Franklin Gothic Medium"/>
                <a:cs typeface="Franklin Gothic Medium"/>
              </a:rPr>
              <a:t>of</a:t>
            </a:r>
            <a:r>
              <a:rPr sz="1700" spc="-55" dirty="0">
                <a:latin typeface="Franklin Gothic Medium"/>
                <a:cs typeface="Franklin Gothic Medium"/>
              </a:rPr>
              <a:t> </a:t>
            </a:r>
            <a:r>
              <a:rPr sz="1700" dirty="0">
                <a:latin typeface="Franklin Gothic Medium"/>
                <a:cs typeface="Franklin Gothic Medium"/>
              </a:rPr>
              <a:t>the</a:t>
            </a:r>
            <a:r>
              <a:rPr sz="1700" spc="-65" dirty="0">
                <a:latin typeface="Franklin Gothic Medium"/>
                <a:cs typeface="Franklin Gothic Medium"/>
              </a:rPr>
              <a:t> </a:t>
            </a:r>
            <a:r>
              <a:rPr sz="1700" spc="-25" dirty="0">
                <a:latin typeface="Franklin Gothic Medium"/>
                <a:cs typeface="Franklin Gothic Medium"/>
              </a:rPr>
              <a:t>physiotherapist</a:t>
            </a:r>
            <a:r>
              <a:rPr sz="1700" spc="-80" dirty="0">
                <a:latin typeface="Franklin Gothic Medium"/>
                <a:cs typeface="Franklin Gothic Medium"/>
              </a:rPr>
              <a:t> </a:t>
            </a:r>
            <a:r>
              <a:rPr sz="1700" dirty="0">
                <a:latin typeface="Franklin Gothic Medium"/>
                <a:cs typeface="Franklin Gothic Medium"/>
              </a:rPr>
              <a:t>in</a:t>
            </a:r>
            <a:r>
              <a:rPr sz="1700" spc="-55" dirty="0">
                <a:latin typeface="Franklin Gothic Medium"/>
                <a:cs typeface="Franklin Gothic Medium"/>
              </a:rPr>
              <a:t> </a:t>
            </a:r>
            <a:r>
              <a:rPr sz="1700" spc="-10" dirty="0">
                <a:latin typeface="Franklin Gothic Medium"/>
                <a:cs typeface="Franklin Gothic Medium"/>
              </a:rPr>
              <a:t>assisting</a:t>
            </a:r>
            <a:r>
              <a:rPr sz="1700" spc="-85" dirty="0">
                <a:latin typeface="Franklin Gothic Medium"/>
                <a:cs typeface="Franklin Gothic Medium"/>
              </a:rPr>
              <a:t> </a:t>
            </a:r>
            <a:r>
              <a:rPr sz="1700" spc="-10" dirty="0">
                <a:latin typeface="Franklin Gothic Medium"/>
                <a:cs typeface="Franklin Gothic Medium"/>
              </a:rPr>
              <a:t>patients</a:t>
            </a:r>
            <a:r>
              <a:rPr sz="1700" spc="-75" dirty="0">
                <a:latin typeface="Franklin Gothic Medium"/>
                <a:cs typeface="Franklin Gothic Medium"/>
              </a:rPr>
              <a:t> </a:t>
            </a:r>
            <a:r>
              <a:rPr sz="1700" spc="-10" dirty="0">
                <a:latin typeface="Franklin Gothic Medium"/>
                <a:cs typeface="Franklin Gothic Medium"/>
              </a:rPr>
              <a:t>with</a:t>
            </a:r>
            <a:r>
              <a:rPr sz="1700" spc="-60" dirty="0">
                <a:latin typeface="Franklin Gothic Medium"/>
                <a:cs typeface="Franklin Gothic Medium"/>
              </a:rPr>
              <a:t> </a:t>
            </a:r>
            <a:r>
              <a:rPr sz="1700" dirty="0">
                <a:latin typeface="Franklin Gothic Medium"/>
                <a:cs typeface="Franklin Gothic Medium"/>
              </a:rPr>
              <a:t>PD</a:t>
            </a:r>
            <a:r>
              <a:rPr sz="1700" spc="-50" dirty="0">
                <a:latin typeface="Franklin Gothic Medium"/>
                <a:cs typeface="Franklin Gothic Medium"/>
              </a:rPr>
              <a:t> </a:t>
            </a:r>
            <a:r>
              <a:rPr sz="1700" dirty="0">
                <a:latin typeface="Franklin Gothic Medium"/>
                <a:cs typeface="Franklin Gothic Medium"/>
              </a:rPr>
              <a:t>in</a:t>
            </a:r>
            <a:r>
              <a:rPr sz="1700" spc="-65" dirty="0">
                <a:latin typeface="Franklin Gothic Medium"/>
                <a:cs typeface="Franklin Gothic Medium"/>
              </a:rPr>
              <a:t> </a:t>
            </a:r>
            <a:r>
              <a:rPr sz="1700" spc="-10" dirty="0">
                <a:latin typeface="Franklin Gothic Medium"/>
                <a:cs typeface="Franklin Gothic Medium"/>
              </a:rPr>
              <a:t>terms </a:t>
            </a:r>
            <a:r>
              <a:rPr sz="1700" dirty="0">
                <a:latin typeface="Franklin Gothic Medium"/>
                <a:cs typeface="Franklin Gothic Medium"/>
              </a:rPr>
              <a:t>of</a:t>
            </a:r>
            <a:r>
              <a:rPr sz="1700" spc="-70" dirty="0">
                <a:latin typeface="Franklin Gothic Medium"/>
                <a:cs typeface="Franklin Gothic Medium"/>
              </a:rPr>
              <a:t> </a:t>
            </a:r>
            <a:r>
              <a:rPr sz="1700" u="sng" dirty="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direct</a:t>
            </a:r>
            <a:r>
              <a:rPr sz="1700" u="sng" spc="-50" dirty="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sz="1700" u="sng" spc="-10" dirty="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intervention</a:t>
            </a:r>
            <a:r>
              <a:rPr sz="1700" u="sng" spc="-80" dirty="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sz="1700" u="none" dirty="0">
                <a:latin typeface="Franklin Gothic Medium"/>
                <a:cs typeface="Franklin Gothic Medium"/>
              </a:rPr>
              <a:t>and</a:t>
            </a:r>
            <a:r>
              <a:rPr sz="1700" u="none" spc="-50" dirty="0">
                <a:latin typeface="Franklin Gothic Medium"/>
                <a:cs typeface="Franklin Gothic Medium"/>
              </a:rPr>
              <a:t> </a:t>
            </a:r>
            <a:r>
              <a:rPr sz="1700" u="sng" spc="-10" dirty="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patient</a:t>
            </a:r>
            <a:r>
              <a:rPr sz="1700" u="sng" spc="-70" dirty="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sz="1700" u="sng" spc="-10" dirty="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related</a:t>
            </a:r>
            <a:r>
              <a:rPr sz="1700" u="sng" spc="-70" dirty="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sz="1700" u="sng" spc="-10" dirty="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instruction</a:t>
            </a:r>
            <a:r>
              <a:rPr sz="1700" u="sng" spc="-75" dirty="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sz="1700" u="none" dirty="0">
                <a:latin typeface="Franklin Gothic Medium"/>
                <a:cs typeface="Franklin Gothic Medium"/>
              </a:rPr>
              <a:t>to</a:t>
            </a:r>
            <a:r>
              <a:rPr sz="1700" u="none" spc="-50" dirty="0">
                <a:latin typeface="Franklin Gothic Medium"/>
                <a:cs typeface="Franklin Gothic Medium"/>
              </a:rPr>
              <a:t> </a:t>
            </a:r>
            <a:r>
              <a:rPr sz="1700" u="none" spc="-35" dirty="0">
                <a:latin typeface="Franklin Gothic Medium"/>
                <a:cs typeface="Franklin Gothic Medium"/>
              </a:rPr>
              <a:t>maximise</a:t>
            </a:r>
            <a:r>
              <a:rPr sz="1700" u="none" spc="-70" dirty="0">
                <a:latin typeface="Franklin Gothic Medium"/>
                <a:cs typeface="Franklin Gothic Medium"/>
              </a:rPr>
              <a:t> </a:t>
            </a:r>
            <a:r>
              <a:rPr sz="1700" u="none" spc="-10" dirty="0">
                <a:latin typeface="Franklin Gothic Medium"/>
                <a:cs typeface="Franklin Gothic Medium"/>
              </a:rPr>
              <a:t>function</a:t>
            </a:r>
            <a:endParaRPr sz="170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  <a:spcBef>
                <a:spcPts val="920"/>
              </a:spcBef>
            </a:pPr>
            <a:r>
              <a:rPr sz="1700" dirty="0">
                <a:latin typeface="Franklin Gothic Medium"/>
                <a:cs typeface="Franklin Gothic Medium"/>
              </a:rPr>
              <a:t>Describe</a:t>
            </a:r>
            <a:r>
              <a:rPr sz="1700" spc="-60" dirty="0">
                <a:latin typeface="Franklin Gothic Medium"/>
                <a:cs typeface="Franklin Gothic Medium"/>
              </a:rPr>
              <a:t> </a:t>
            </a:r>
            <a:r>
              <a:rPr sz="1700" spc="-25" dirty="0">
                <a:latin typeface="Franklin Gothic Medium"/>
                <a:cs typeface="Franklin Gothic Medium"/>
              </a:rPr>
              <a:t>appropriate</a:t>
            </a:r>
            <a:r>
              <a:rPr sz="1700" spc="-75" dirty="0">
                <a:latin typeface="Franklin Gothic Medium"/>
                <a:cs typeface="Franklin Gothic Medium"/>
              </a:rPr>
              <a:t> </a:t>
            </a:r>
            <a:r>
              <a:rPr sz="1700" spc="-10" dirty="0">
                <a:latin typeface="Franklin Gothic Medium"/>
                <a:cs typeface="Franklin Gothic Medium"/>
              </a:rPr>
              <a:t>elements</a:t>
            </a:r>
            <a:r>
              <a:rPr sz="1700" spc="-70" dirty="0">
                <a:latin typeface="Franklin Gothic Medium"/>
                <a:cs typeface="Franklin Gothic Medium"/>
              </a:rPr>
              <a:t> </a:t>
            </a:r>
            <a:r>
              <a:rPr sz="1700" dirty="0">
                <a:latin typeface="Franklin Gothic Medium"/>
                <a:cs typeface="Franklin Gothic Medium"/>
              </a:rPr>
              <a:t>of</a:t>
            </a:r>
            <a:r>
              <a:rPr sz="1700" spc="-35" dirty="0">
                <a:latin typeface="Franklin Gothic Medium"/>
                <a:cs typeface="Franklin Gothic Medium"/>
              </a:rPr>
              <a:t> </a:t>
            </a:r>
            <a:r>
              <a:rPr sz="1700" spc="-10" dirty="0">
                <a:latin typeface="Franklin Gothic Medium"/>
                <a:cs typeface="Franklin Gothic Medium"/>
              </a:rPr>
              <a:t>exercise</a:t>
            </a:r>
            <a:r>
              <a:rPr sz="1700" spc="-70" dirty="0">
                <a:latin typeface="Franklin Gothic Medium"/>
                <a:cs typeface="Franklin Gothic Medium"/>
              </a:rPr>
              <a:t> </a:t>
            </a:r>
            <a:r>
              <a:rPr sz="1700" spc="-10" dirty="0">
                <a:latin typeface="Franklin Gothic Medium"/>
                <a:cs typeface="Franklin Gothic Medium"/>
              </a:rPr>
              <a:t>prescription</a:t>
            </a:r>
            <a:r>
              <a:rPr sz="1700" spc="-75" dirty="0">
                <a:latin typeface="Franklin Gothic Medium"/>
                <a:cs typeface="Franklin Gothic Medium"/>
              </a:rPr>
              <a:t> </a:t>
            </a:r>
            <a:r>
              <a:rPr sz="1700" dirty="0">
                <a:latin typeface="Franklin Gothic Medium"/>
                <a:cs typeface="Franklin Gothic Medium"/>
              </a:rPr>
              <a:t>for</a:t>
            </a:r>
            <a:r>
              <a:rPr sz="1700" spc="-50" dirty="0">
                <a:latin typeface="Franklin Gothic Medium"/>
                <a:cs typeface="Franklin Gothic Medium"/>
              </a:rPr>
              <a:t> </a:t>
            </a:r>
            <a:r>
              <a:rPr sz="1700" dirty="0">
                <a:latin typeface="Franklin Gothic Medium"/>
                <a:cs typeface="Franklin Gothic Medium"/>
              </a:rPr>
              <a:t>the</a:t>
            </a:r>
            <a:r>
              <a:rPr sz="1700" spc="-45" dirty="0">
                <a:latin typeface="Franklin Gothic Medium"/>
                <a:cs typeface="Franklin Gothic Medium"/>
              </a:rPr>
              <a:t> </a:t>
            </a:r>
            <a:r>
              <a:rPr sz="1700" spc="-20" dirty="0">
                <a:latin typeface="Franklin Gothic Medium"/>
                <a:cs typeface="Franklin Gothic Medium"/>
              </a:rPr>
              <a:t>patient</a:t>
            </a:r>
            <a:r>
              <a:rPr sz="1700" spc="-65" dirty="0">
                <a:latin typeface="Franklin Gothic Medium"/>
                <a:cs typeface="Franklin Gothic Medium"/>
              </a:rPr>
              <a:t> </a:t>
            </a:r>
            <a:r>
              <a:rPr sz="1700" spc="-20" dirty="0">
                <a:latin typeface="Franklin Gothic Medium"/>
                <a:cs typeface="Franklin Gothic Medium"/>
              </a:rPr>
              <a:t>with</a:t>
            </a:r>
            <a:r>
              <a:rPr sz="1700" spc="-35" dirty="0">
                <a:latin typeface="Franklin Gothic Medium"/>
                <a:cs typeface="Franklin Gothic Medium"/>
              </a:rPr>
              <a:t> </a:t>
            </a:r>
            <a:r>
              <a:rPr sz="1700" spc="-25" dirty="0">
                <a:latin typeface="Franklin Gothic Medium"/>
                <a:cs typeface="Franklin Gothic Medium"/>
              </a:rPr>
              <a:t>PD</a:t>
            </a:r>
            <a:endParaRPr sz="17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8571" y="375"/>
            <a:ext cx="171450" cy="6858000"/>
          </a:xfrm>
          <a:custGeom>
            <a:avLst/>
            <a:gdLst/>
            <a:ahLst/>
            <a:cxnLst/>
            <a:rect l="l" t="t" r="r" b="b"/>
            <a:pathLst>
              <a:path w="171450" h="6858000">
                <a:moveTo>
                  <a:pt x="171450" y="0"/>
                </a:moveTo>
                <a:lnTo>
                  <a:pt x="0" y="0"/>
                </a:lnTo>
                <a:lnTo>
                  <a:pt x="0" y="6858000"/>
                </a:lnTo>
                <a:lnTo>
                  <a:pt x="171450" y="6858000"/>
                </a:lnTo>
                <a:lnTo>
                  <a:pt x="171450" y="0"/>
                </a:lnTo>
                <a:close/>
              </a:path>
            </a:pathLst>
          </a:custGeom>
          <a:solidFill>
            <a:srgbClr val="181B0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32325" y="0"/>
            <a:ext cx="4511548" cy="391998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" y="4069966"/>
            <a:ext cx="2651505" cy="278803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20" y="0"/>
            <a:ext cx="6363970" cy="6858000"/>
            <a:chOff x="20" y="0"/>
            <a:chExt cx="6363970" cy="685800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72155" y="3257168"/>
              <a:ext cx="3591814" cy="3600829"/>
            </a:xfrm>
            <a:prstGeom prst="rect">
              <a:avLst/>
            </a:prstGeom>
          </p:spPr>
        </p:pic>
        <p:pic>
          <p:nvPicPr>
            <p:cNvPr id="7" name="object 7" descr="http://www.healthline.com/hlcmsresource/images/topic_centers/neupro-parkinsons/Bill_Graham.jp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" y="0"/>
              <a:ext cx="4511547" cy="3919981"/>
            </a:xfrm>
            <a:prstGeom prst="rect">
              <a:avLst/>
            </a:prstGeom>
          </p:spPr>
        </p:pic>
      </p:grpSp>
      <p:pic>
        <p:nvPicPr>
          <p:cNvPr id="8" name="object 8" descr="https://upload.wikimedia.org/wikipedia/commons/thumb/8/83/Michael_J._Fox_2012_(cropped)_(2).jpg/220px-Michael_J._Fox_2012_(cropped)_(2).jpg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484620" y="4069966"/>
            <a:ext cx="2659379" cy="27879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5767" rIns="0" bIns="0" rtlCol="0">
            <a:spAutoFit/>
          </a:bodyPr>
          <a:lstStyle/>
          <a:p>
            <a:pPr marL="509270">
              <a:lnSpc>
                <a:spcPct val="100000"/>
              </a:lnSpc>
              <a:spcBef>
                <a:spcPts val="100"/>
              </a:spcBef>
            </a:pPr>
            <a:r>
              <a:rPr sz="3600" spc="-25" dirty="0">
                <a:solidFill>
                  <a:srgbClr val="CC0000"/>
                </a:solidFill>
              </a:rPr>
              <a:t>Definitions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107744" y="2208402"/>
            <a:ext cx="6896734" cy="3379470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396240" marR="5080" indent="-384175">
              <a:lnSpc>
                <a:spcPct val="74100"/>
              </a:lnSpc>
              <a:spcBef>
                <a:spcPts val="910"/>
              </a:spcBef>
              <a:buChar char="■"/>
              <a:tabLst>
                <a:tab pos="396240" algn="l"/>
              </a:tabLst>
            </a:pPr>
            <a:r>
              <a:rPr sz="2600" spc="-30" dirty="0">
                <a:solidFill>
                  <a:srgbClr val="CC0000"/>
                </a:solidFill>
                <a:latin typeface="Franklin Gothic Medium"/>
                <a:cs typeface="Franklin Gothic Medium"/>
              </a:rPr>
              <a:t>Parkinsonism:</a:t>
            </a:r>
            <a:r>
              <a:rPr sz="2600" spc="-110" dirty="0">
                <a:solidFill>
                  <a:srgbClr val="CC0000"/>
                </a:solidFill>
                <a:latin typeface="Franklin Gothic Medium"/>
                <a:cs typeface="Franklin Gothic Medium"/>
              </a:rPr>
              <a:t> </a:t>
            </a:r>
            <a:r>
              <a:rPr sz="26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Clinical</a:t>
            </a:r>
            <a:r>
              <a:rPr sz="2600" spc="-1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syndrome</a:t>
            </a:r>
            <a:r>
              <a:rPr sz="2600" spc="-9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characterised </a:t>
            </a:r>
            <a:r>
              <a:rPr sz="26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by</a:t>
            </a:r>
            <a:r>
              <a:rPr sz="2600" spc="-9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disorders</a:t>
            </a:r>
            <a:r>
              <a:rPr sz="2600" spc="-1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</a:t>
            </a:r>
            <a:r>
              <a:rPr sz="2600" spc="-9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movement</a:t>
            </a:r>
            <a:r>
              <a:rPr sz="2600" spc="-1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–</a:t>
            </a:r>
            <a:r>
              <a:rPr sz="26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u="sng" spc="-40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</a:rPr>
              <a:t>tremor</a:t>
            </a:r>
            <a:r>
              <a:rPr sz="2600" u="none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,</a:t>
            </a:r>
            <a:r>
              <a:rPr sz="2600" u="none" spc="-10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u="sng" spc="-10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</a:rPr>
              <a:t>rigidity</a:t>
            </a:r>
            <a:r>
              <a:rPr sz="2600" u="none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, </a:t>
            </a:r>
            <a:r>
              <a:rPr sz="2600" u="sng" spc="-25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</a:rPr>
              <a:t>bradykinesia</a:t>
            </a:r>
            <a:r>
              <a:rPr sz="2600" u="none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,</a:t>
            </a:r>
            <a:r>
              <a:rPr sz="2600" u="none" spc="-9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u="sng" spc="-25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</a:rPr>
              <a:t>hypokinesia</a:t>
            </a:r>
            <a:r>
              <a:rPr sz="2600" u="none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u="none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and</a:t>
            </a:r>
            <a:r>
              <a:rPr sz="2600" u="none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u="sng" spc="-10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</a:rPr>
              <a:t>postural</a:t>
            </a:r>
            <a:r>
              <a:rPr sz="2600" u="none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u="sng" spc="-10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</a:rPr>
              <a:t>abnormality</a:t>
            </a:r>
            <a:endParaRPr sz="26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940"/>
              </a:spcBef>
              <a:buClr>
                <a:srgbClr val="CC0000"/>
              </a:buClr>
              <a:buFont typeface="Franklin Gothic Medium"/>
              <a:buChar char="■"/>
            </a:pPr>
            <a:endParaRPr sz="2600">
              <a:latin typeface="Franklin Gothic Medium"/>
              <a:cs typeface="Franklin Gothic Medium"/>
            </a:endParaRPr>
          </a:p>
          <a:p>
            <a:pPr marL="383540" marR="40005" indent="-383540" algn="ctr">
              <a:lnSpc>
                <a:spcPts val="2720"/>
              </a:lnSpc>
              <a:buChar char="■"/>
              <a:tabLst>
                <a:tab pos="383540" algn="l"/>
              </a:tabLst>
            </a:pPr>
            <a:r>
              <a:rPr sz="2600" spc="-20" dirty="0">
                <a:solidFill>
                  <a:srgbClr val="CC0000"/>
                </a:solidFill>
                <a:latin typeface="Franklin Gothic Medium"/>
                <a:cs typeface="Franklin Gothic Medium"/>
              </a:rPr>
              <a:t>Parkinson’s</a:t>
            </a:r>
            <a:r>
              <a:rPr sz="2600" spc="-110" dirty="0">
                <a:solidFill>
                  <a:srgbClr val="CC0000"/>
                </a:solidFill>
                <a:latin typeface="Franklin Gothic Medium"/>
                <a:cs typeface="Franklin Gothic Medium"/>
              </a:rPr>
              <a:t> </a:t>
            </a:r>
            <a:r>
              <a:rPr sz="2600" dirty="0">
                <a:solidFill>
                  <a:srgbClr val="CC0000"/>
                </a:solidFill>
                <a:latin typeface="Franklin Gothic Medium"/>
                <a:cs typeface="Franklin Gothic Medium"/>
              </a:rPr>
              <a:t>disease</a:t>
            </a:r>
            <a:r>
              <a:rPr sz="2600" spc="-114" dirty="0">
                <a:solidFill>
                  <a:srgbClr val="CC0000"/>
                </a:solidFill>
                <a:latin typeface="Franklin Gothic Medium"/>
                <a:cs typeface="Franklin Gothic Medium"/>
              </a:rPr>
              <a:t> </a:t>
            </a:r>
            <a:r>
              <a:rPr sz="2600" dirty="0">
                <a:solidFill>
                  <a:srgbClr val="CC0000"/>
                </a:solidFill>
                <a:latin typeface="Franklin Gothic Medium"/>
                <a:cs typeface="Franklin Gothic Medium"/>
              </a:rPr>
              <a:t>(PD)</a:t>
            </a:r>
            <a:r>
              <a:rPr sz="2600" spc="-95" dirty="0">
                <a:solidFill>
                  <a:srgbClr val="CC0000"/>
                </a:solidFill>
                <a:latin typeface="Franklin Gothic Medium"/>
                <a:cs typeface="Franklin Gothic Medium"/>
              </a:rPr>
              <a:t> </a:t>
            </a:r>
            <a:r>
              <a:rPr sz="2600" dirty="0">
                <a:solidFill>
                  <a:srgbClr val="CC0000"/>
                </a:solidFill>
                <a:latin typeface="Franklin Gothic Medium"/>
                <a:cs typeface="Franklin Gothic Medium"/>
              </a:rPr>
              <a:t>or</a:t>
            </a:r>
            <a:r>
              <a:rPr sz="2600" spc="-85" dirty="0">
                <a:solidFill>
                  <a:srgbClr val="CC0000"/>
                </a:solidFill>
                <a:latin typeface="Franklin Gothic Medium"/>
                <a:cs typeface="Franklin Gothic Medium"/>
              </a:rPr>
              <a:t> </a:t>
            </a:r>
            <a:r>
              <a:rPr sz="2600" spc="-10" dirty="0">
                <a:solidFill>
                  <a:srgbClr val="CC0000"/>
                </a:solidFill>
                <a:latin typeface="Franklin Gothic Medium"/>
                <a:cs typeface="Franklin Gothic Medium"/>
              </a:rPr>
              <a:t>(paralysis</a:t>
            </a:r>
            <a:r>
              <a:rPr sz="2600" spc="-85" dirty="0">
                <a:solidFill>
                  <a:srgbClr val="CC0000"/>
                </a:solidFill>
                <a:latin typeface="Franklin Gothic Medium"/>
                <a:cs typeface="Franklin Gothic Medium"/>
              </a:rPr>
              <a:t> </a:t>
            </a:r>
            <a:r>
              <a:rPr sz="2600" spc="-10" dirty="0">
                <a:solidFill>
                  <a:srgbClr val="CC0000"/>
                </a:solidFill>
                <a:latin typeface="Franklin Gothic Medium"/>
                <a:cs typeface="Franklin Gothic Medium"/>
              </a:rPr>
              <a:t>agitans)</a:t>
            </a:r>
            <a:endParaRPr sz="2600">
              <a:latin typeface="Franklin Gothic Medium"/>
              <a:cs typeface="Franklin Gothic Medium"/>
            </a:endParaRPr>
          </a:p>
          <a:p>
            <a:pPr marR="92075" algn="ctr">
              <a:lnSpc>
                <a:spcPts val="2720"/>
              </a:lnSpc>
            </a:pPr>
            <a:r>
              <a:rPr sz="2600" spc="-20" dirty="0">
                <a:solidFill>
                  <a:srgbClr val="CC0000"/>
                </a:solidFill>
                <a:latin typeface="Franklin Gothic Medium"/>
                <a:cs typeface="Franklin Gothic Medium"/>
              </a:rPr>
              <a:t>primary</a:t>
            </a:r>
            <a:r>
              <a:rPr sz="2600" spc="-110" dirty="0">
                <a:solidFill>
                  <a:srgbClr val="CC0000"/>
                </a:solidFill>
                <a:latin typeface="Franklin Gothic Medium"/>
                <a:cs typeface="Franklin Gothic Medium"/>
              </a:rPr>
              <a:t> </a:t>
            </a:r>
            <a:r>
              <a:rPr sz="2600" spc="-30" dirty="0">
                <a:solidFill>
                  <a:srgbClr val="CC0000"/>
                </a:solidFill>
                <a:latin typeface="Franklin Gothic Medium"/>
                <a:cs typeface="Franklin Gothic Medium"/>
              </a:rPr>
              <a:t>parkinsonism</a:t>
            </a:r>
            <a:r>
              <a:rPr sz="2600" spc="-105" dirty="0">
                <a:solidFill>
                  <a:srgbClr val="CC0000"/>
                </a:solidFill>
                <a:latin typeface="Franklin Gothic Medium"/>
                <a:cs typeface="Franklin Gothic Medium"/>
              </a:rPr>
              <a:t> </a:t>
            </a:r>
            <a:r>
              <a:rPr sz="26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most</a:t>
            </a:r>
            <a:r>
              <a:rPr sz="2600" spc="-1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common</a:t>
            </a:r>
            <a:r>
              <a:rPr sz="2600" spc="-9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(78%)</a:t>
            </a:r>
            <a:endParaRPr sz="26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955"/>
              </a:spcBef>
            </a:pPr>
            <a:endParaRPr sz="26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buChar char="■"/>
              <a:tabLst>
                <a:tab pos="396240" algn="l"/>
              </a:tabLst>
            </a:pPr>
            <a:r>
              <a:rPr sz="2600" dirty="0">
                <a:solidFill>
                  <a:srgbClr val="CC0000"/>
                </a:solidFill>
                <a:latin typeface="Franklin Gothic Medium"/>
                <a:cs typeface="Franklin Gothic Medium"/>
              </a:rPr>
              <a:t>Secondary</a:t>
            </a:r>
            <a:r>
              <a:rPr sz="2600" spc="-105" dirty="0">
                <a:solidFill>
                  <a:srgbClr val="CC0000"/>
                </a:solidFill>
                <a:latin typeface="Franklin Gothic Medium"/>
                <a:cs typeface="Franklin Gothic Medium"/>
              </a:rPr>
              <a:t> </a:t>
            </a:r>
            <a:r>
              <a:rPr sz="2600" spc="-25" dirty="0">
                <a:solidFill>
                  <a:srgbClr val="CC0000"/>
                </a:solidFill>
                <a:latin typeface="Franklin Gothic Medium"/>
                <a:cs typeface="Franklin Gothic Medium"/>
              </a:rPr>
              <a:t>parkinsonism</a:t>
            </a:r>
            <a:r>
              <a:rPr sz="2600" spc="-60" dirty="0">
                <a:solidFill>
                  <a:srgbClr val="CC0000"/>
                </a:solidFill>
                <a:latin typeface="Franklin Gothic Medium"/>
                <a:cs typeface="Franklin Gothic Medium"/>
              </a:rPr>
              <a:t> </a:t>
            </a:r>
            <a:r>
              <a:rPr sz="2600" dirty="0">
                <a:solidFill>
                  <a:srgbClr val="663300"/>
                </a:solidFill>
                <a:latin typeface="Franklin Gothic Medium"/>
                <a:cs typeface="Franklin Gothic Medium"/>
              </a:rPr>
              <a:t>–</a:t>
            </a:r>
            <a:r>
              <a:rPr sz="2600" spc="-95" dirty="0">
                <a:solidFill>
                  <a:srgbClr val="663300"/>
                </a:solidFill>
                <a:latin typeface="Franklin Gothic Medium"/>
                <a:cs typeface="Franklin Gothic Medium"/>
              </a:rPr>
              <a:t> </a:t>
            </a:r>
            <a:r>
              <a:rPr sz="26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various</a:t>
            </a:r>
            <a:r>
              <a:rPr sz="2600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causes</a:t>
            </a:r>
            <a:endParaRPr sz="26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181B0D"/>
                </a:solidFill>
              </a:rPr>
              <a:t>Causes</a:t>
            </a:r>
            <a:r>
              <a:rPr sz="4400" spc="-80" dirty="0">
                <a:solidFill>
                  <a:srgbClr val="181B0D"/>
                </a:solidFill>
              </a:rPr>
              <a:t> </a:t>
            </a:r>
            <a:r>
              <a:rPr sz="4400" dirty="0">
                <a:solidFill>
                  <a:srgbClr val="181B0D"/>
                </a:solidFill>
              </a:rPr>
              <a:t>of</a:t>
            </a:r>
            <a:r>
              <a:rPr sz="4400" spc="-60" dirty="0">
                <a:solidFill>
                  <a:srgbClr val="181B0D"/>
                </a:solidFill>
              </a:rPr>
              <a:t> Parkinsonism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611555" y="2649677"/>
            <a:ext cx="8281670" cy="372745"/>
          </a:xfrm>
          <a:custGeom>
            <a:avLst/>
            <a:gdLst/>
            <a:ahLst/>
            <a:cxnLst/>
            <a:rect l="l" t="t" r="r" b="b"/>
            <a:pathLst>
              <a:path w="8281670" h="372744">
                <a:moveTo>
                  <a:pt x="3850894" y="0"/>
                </a:moveTo>
                <a:lnTo>
                  <a:pt x="0" y="0"/>
                </a:lnTo>
                <a:lnTo>
                  <a:pt x="0" y="372160"/>
                </a:lnTo>
                <a:lnTo>
                  <a:pt x="3850894" y="372160"/>
                </a:lnTo>
                <a:lnTo>
                  <a:pt x="3850894" y="0"/>
                </a:lnTo>
                <a:close/>
              </a:path>
              <a:path w="8281670" h="372744">
                <a:moveTo>
                  <a:pt x="8281619" y="0"/>
                </a:moveTo>
                <a:lnTo>
                  <a:pt x="3850970" y="0"/>
                </a:lnTo>
                <a:lnTo>
                  <a:pt x="3850970" y="372160"/>
                </a:lnTo>
                <a:lnTo>
                  <a:pt x="8281619" y="372160"/>
                </a:lnTo>
                <a:lnTo>
                  <a:pt x="8281619" y="0"/>
                </a:lnTo>
                <a:close/>
              </a:path>
            </a:pathLst>
          </a:custGeom>
          <a:solidFill>
            <a:srgbClr val="EDED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11555" y="3733038"/>
            <a:ext cx="8281670" cy="504825"/>
          </a:xfrm>
          <a:custGeom>
            <a:avLst/>
            <a:gdLst/>
            <a:ahLst/>
            <a:cxnLst/>
            <a:rect l="l" t="t" r="r" b="b"/>
            <a:pathLst>
              <a:path w="8281670" h="504825">
                <a:moveTo>
                  <a:pt x="3850894" y="0"/>
                </a:moveTo>
                <a:lnTo>
                  <a:pt x="0" y="0"/>
                </a:lnTo>
                <a:lnTo>
                  <a:pt x="0" y="504698"/>
                </a:lnTo>
                <a:lnTo>
                  <a:pt x="3850894" y="504698"/>
                </a:lnTo>
                <a:lnTo>
                  <a:pt x="3850894" y="0"/>
                </a:lnTo>
                <a:close/>
              </a:path>
              <a:path w="8281670" h="504825">
                <a:moveTo>
                  <a:pt x="8281619" y="0"/>
                </a:moveTo>
                <a:lnTo>
                  <a:pt x="3850970" y="0"/>
                </a:lnTo>
                <a:lnTo>
                  <a:pt x="3850970" y="504698"/>
                </a:lnTo>
                <a:lnTo>
                  <a:pt x="8281619" y="504698"/>
                </a:lnTo>
                <a:lnTo>
                  <a:pt x="8281619" y="0"/>
                </a:lnTo>
                <a:close/>
              </a:path>
            </a:pathLst>
          </a:custGeom>
          <a:solidFill>
            <a:srgbClr val="EDED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11555" y="4742510"/>
            <a:ext cx="8281670" cy="372745"/>
          </a:xfrm>
          <a:custGeom>
            <a:avLst/>
            <a:gdLst/>
            <a:ahLst/>
            <a:cxnLst/>
            <a:rect l="l" t="t" r="r" b="b"/>
            <a:pathLst>
              <a:path w="8281670" h="372745">
                <a:moveTo>
                  <a:pt x="3850894" y="0"/>
                </a:moveTo>
                <a:lnTo>
                  <a:pt x="0" y="0"/>
                </a:lnTo>
                <a:lnTo>
                  <a:pt x="0" y="372160"/>
                </a:lnTo>
                <a:lnTo>
                  <a:pt x="3850894" y="372160"/>
                </a:lnTo>
                <a:lnTo>
                  <a:pt x="3850894" y="0"/>
                </a:lnTo>
                <a:close/>
              </a:path>
              <a:path w="8281670" h="372745">
                <a:moveTo>
                  <a:pt x="8281619" y="0"/>
                </a:moveTo>
                <a:lnTo>
                  <a:pt x="3850970" y="0"/>
                </a:lnTo>
                <a:lnTo>
                  <a:pt x="3850970" y="372160"/>
                </a:lnTo>
                <a:lnTo>
                  <a:pt x="8281619" y="372160"/>
                </a:lnTo>
                <a:lnTo>
                  <a:pt x="8281619" y="0"/>
                </a:lnTo>
                <a:close/>
              </a:path>
            </a:pathLst>
          </a:custGeom>
          <a:solidFill>
            <a:srgbClr val="EDEDE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05205" y="1766442"/>
          <a:ext cx="8370570" cy="40506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51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1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11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50" dirty="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Class</a:t>
                      </a:r>
                      <a:r>
                        <a:rPr sz="1350" spc="-60" dirty="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dirty="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of</a:t>
                      </a:r>
                      <a:r>
                        <a:rPr sz="1350" spc="-40" dirty="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disorder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B8D8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50" spc="-10" dirty="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Manifestation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B8D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19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50" spc="-20" dirty="0">
                          <a:latin typeface="Franklin Gothic Medium"/>
                          <a:cs typeface="Franklin Gothic Medium"/>
                        </a:rPr>
                        <a:t>Degenerative</a:t>
                      </a:r>
                      <a:r>
                        <a:rPr sz="1350" spc="2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diseases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B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50" spc="-25" dirty="0">
                          <a:latin typeface="Franklin Gothic Medium"/>
                          <a:cs typeface="Franklin Gothic Medium"/>
                        </a:rPr>
                        <a:t>PD,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350" spc="-20" dirty="0">
                          <a:latin typeface="Franklin Gothic Medium"/>
                          <a:cs typeface="Franklin Gothic Medium"/>
                        </a:rPr>
                        <a:t>Progressive</a:t>
                      </a:r>
                      <a:r>
                        <a:rPr sz="1350" spc="-4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supra-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nuclear</a:t>
                      </a:r>
                      <a:r>
                        <a:rPr sz="1350" spc="-3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palsy,</a:t>
                      </a:r>
                      <a:r>
                        <a:rPr sz="1350" spc="-2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Multiple</a:t>
                      </a:r>
                      <a:r>
                        <a:rPr sz="1350" spc="27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25" dirty="0">
                          <a:latin typeface="Franklin Gothic Medium"/>
                          <a:cs typeface="Franklin Gothic Medium"/>
                        </a:rPr>
                        <a:t>system</a:t>
                      </a:r>
                      <a:r>
                        <a:rPr sz="1350" spc="-3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atrophy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11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Infections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50" spc="-20" dirty="0">
                          <a:latin typeface="Franklin Gothic Medium"/>
                          <a:cs typeface="Franklin Gothic Medium"/>
                        </a:rPr>
                        <a:t>Post</a:t>
                      </a:r>
                      <a:r>
                        <a:rPr sz="1350" spc="-1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encephalitic</a:t>
                      </a:r>
                      <a:r>
                        <a:rPr sz="1350" spc="-4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Parkinsonism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Drug</a:t>
                      </a:r>
                      <a:r>
                        <a:rPr sz="1350" spc="-6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or</a:t>
                      </a:r>
                      <a:r>
                        <a:rPr sz="1350" spc="-5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toxin</a:t>
                      </a:r>
                      <a:r>
                        <a:rPr sz="1350" spc="-4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induced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B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Neuro-epileptics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  <a:p>
                      <a:pPr marL="92075" marR="2319655">
                        <a:lnSpc>
                          <a:spcPct val="100000"/>
                        </a:lnSpc>
                      </a:pP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Carbon</a:t>
                      </a:r>
                      <a:r>
                        <a:rPr sz="1350" spc="-3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20" dirty="0">
                          <a:latin typeface="Franklin Gothic Medium"/>
                          <a:cs typeface="Franklin Gothic Medium"/>
                        </a:rPr>
                        <a:t>monoxide</a:t>
                      </a:r>
                      <a:r>
                        <a:rPr sz="1350" spc="-4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poisoning Manganese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poisoning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19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Vascular</a:t>
                      </a:r>
                      <a:r>
                        <a:rPr sz="1350" spc="-3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conditions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Cerebrovascular</a:t>
                      </a:r>
                      <a:r>
                        <a:rPr sz="1350" spc="-5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disease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Hypertensive</a:t>
                      </a:r>
                      <a:r>
                        <a:rPr sz="1350" spc="-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encephalopathy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19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Trauma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B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Head</a:t>
                      </a:r>
                      <a:r>
                        <a:rPr sz="1350" spc="-6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injury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Punch</a:t>
                      </a:r>
                      <a:r>
                        <a:rPr sz="1350" spc="-5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drunk</a:t>
                      </a:r>
                      <a:r>
                        <a:rPr sz="1350" spc="-3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syndrome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11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Cerebral</a:t>
                      </a:r>
                      <a:r>
                        <a:rPr sz="1350" spc="-7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tumour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25" dirty="0">
                          <a:latin typeface="Franklin Gothic Medium"/>
                          <a:cs typeface="Franklin Gothic Medium"/>
                        </a:rPr>
                        <a:t>Alzheimer’s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disease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05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Other</a:t>
                      </a:r>
                      <a:r>
                        <a:rPr sz="1350" spc="-4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20" dirty="0">
                          <a:latin typeface="Franklin Gothic Medium"/>
                          <a:cs typeface="Franklin Gothic Medium"/>
                        </a:rPr>
                        <a:t>neurological</a:t>
                      </a:r>
                      <a:r>
                        <a:rPr sz="1350" spc="-6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conditions</a:t>
                      </a:r>
                      <a:r>
                        <a:rPr sz="1350" spc="-5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20" dirty="0">
                          <a:latin typeface="Franklin Gothic Medium"/>
                          <a:cs typeface="Franklin Gothic Medium"/>
                        </a:rPr>
                        <a:t>with</a:t>
                      </a:r>
                      <a:r>
                        <a:rPr sz="1350" spc="-3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Parkinson</a:t>
                      </a:r>
                      <a:r>
                        <a:rPr sz="1350" spc="-2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20" dirty="0">
                          <a:latin typeface="Franklin Gothic Medium"/>
                          <a:cs typeface="Franklin Gothic Medium"/>
                        </a:rPr>
                        <a:t>like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features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B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25" dirty="0">
                          <a:latin typeface="Franklin Gothic Medium"/>
                          <a:cs typeface="Franklin Gothic Medium"/>
                        </a:rPr>
                        <a:t>Intermittent</a:t>
                      </a:r>
                      <a:r>
                        <a:rPr sz="1350" spc="-4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raised</a:t>
                      </a:r>
                      <a:r>
                        <a:rPr sz="1350" spc="-2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pressure</a:t>
                      </a:r>
                      <a:r>
                        <a:rPr sz="1350" spc="-2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hydrocephalus;</a:t>
                      </a:r>
                      <a:r>
                        <a:rPr sz="1350" spc="-5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Various</a:t>
                      </a:r>
                      <a:r>
                        <a:rPr sz="1350" spc="-3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forms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of</a:t>
                      </a:r>
                      <a:r>
                        <a:rPr sz="1350" spc="-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Huntington’s</a:t>
                      </a:r>
                      <a:r>
                        <a:rPr sz="1350" spc="-3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disease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Wilson’s</a:t>
                      </a:r>
                      <a:r>
                        <a:rPr sz="1350" spc="-1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disease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47217" y="66802"/>
            <a:ext cx="69399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5" dirty="0">
                <a:solidFill>
                  <a:srgbClr val="CC0000"/>
                </a:solidFill>
              </a:rPr>
              <a:t>Parkinson</a:t>
            </a:r>
            <a:r>
              <a:rPr sz="4000" spc="-170" dirty="0">
                <a:solidFill>
                  <a:srgbClr val="CC0000"/>
                </a:solidFill>
              </a:rPr>
              <a:t> </a:t>
            </a:r>
            <a:r>
              <a:rPr sz="4000" dirty="0">
                <a:solidFill>
                  <a:srgbClr val="CC0000"/>
                </a:solidFill>
              </a:rPr>
              <a:t>Disease</a:t>
            </a:r>
            <a:r>
              <a:rPr sz="4000" spc="-110" dirty="0">
                <a:solidFill>
                  <a:srgbClr val="CC0000"/>
                </a:solidFill>
              </a:rPr>
              <a:t> </a:t>
            </a:r>
            <a:r>
              <a:rPr sz="4000" spc="-10" dirty="0">
                <a:solidFill>
                  <a:srgbClr val="CC0000"/>
                </a:solidFill>
              </a:rPr>
              <a:t>(Parkinson’s)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47217" y="1073022"/>
            <a:ext cx="7622540" cy="44526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6240" indent="-383540">
              <a:lnSpc>
                <a:spcPct val="100000"/>
              </a:lnSpc>
              <a:spcBef>
                <a:spcPts val="105"/>
              </a:spcBef>
              <a:buChar char="■"/>
              <a:tabLst>
                <a:tab pos="396240" algn="l"/>
              </a:tabLst>
            </a:pPr>
            <a:r>
              <a:rPr sz="26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Chronic,</a:t>
            </a:r>
            <a:r>
              <a:rPr sz="2600" spc="-9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slowly</a:t>
            </a:r>
            <a:r>
              <a:rPr sz="26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progressive</a:t>
            </a:r>
            <a:r>
              <a:rPr sz="2600" spc="-1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degenerative</a:t>
            </a:r>
            <a:r>
              <a:rPr sz="2600" spc="-9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disease</a:t>
            </a:r>
            <a:endParaRPr sz="26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spcBef>
                <a:spcPts val="2640"/>
              </a:spcBef>
              <a:buChar char="■"/>
              <a:tabLst>
                <a:tab pos="396240" algn="l"/>
              </a:tabLst>
            </a:pPr>
            <a:r>
              <a:rPr sz="26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Idiopathic</a:t>
            </a:r>
            <a:endParaRPr sz="2600">
              <a:latin typeface="Franklin Gothic Medium"/>
              <a:cs typeface="Franklin Gothic Medium"/>
            </a:endParaRPr>
          </a:p>
          <a:p>
            <a:pPr marL="396240" indent="-383540">
              <a:lnSpc>
                <a:spcPts val="2810"/>
              </a:lnSpc>
              <a:spcBef>
                <a:spcPts val="2640"/>
              </a:spcBef>
              <a:buChar char="■"/>
              <a:tabLst>
                <a:tab pos="396240" algn="l"/>
                <a:tab pos="6010275" algn="l"/>
                <a:tab pos="6369050" algn="l"/>
              </a:tabLst>
            </a:pPr>
            <a:r>
              <a:rPr sz="26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“153,000</a:t>
            </a:r>
            <a:r>
              <a:rPr sz="2600" spc="-1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people</a:t>
            </a:r>
            <a:r>
              <a:rPr sz="2600" spc="-10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live</a:t>
            </a:r>
            <a:r>
              <a:rPr sz="2600" spc="-10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with</a:t>
            </a:r>
            <a:r>
              <a:rPr sz="2600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PD</a:t>
            </a:r>
            <a:r>
              <a:rPr sz="2600" spc="-9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</a:t>
            </a:r>
            <a:r>
              <a:rPr sz="2600" spc="-9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the</a:t>
            </a:r>
            <a:r>
              <a:rPr sz="2600" spc="-1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UK</a:t>
            </a:r>
            <a:r>
              <a:rPr sz="26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	</a:t>
            </a:r>
            <a:r>
              <a:rPr sz="26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=</a:t>
            </a:r>
            <a:r>
              <a:rPr sz="26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	1</a:t>
            </a:r>
            <a:r>
              <a:rPr sz="2600" spc="-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person</a:t>
            </a:r>
            <a:endParaRPr sz="2600">
              <a:latin typeface="Franklin Gothic Medium"/>
              <a:cs typeface="Franklin Gothic Medium"/>
            </a:endParaRPr>
          </a:p>
          <a:p>
            <a:pPr marL="396240">
              <a:lnSpc>
                <a:spcPts val="2810"/>
              </a:lnSpc>
            </a:pPr>
            <a:r>
              <a:rPr sz="26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</a:t>
            </a:r>
            <a:r>
              <a:rPr sz="26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every</a:t>
            </a:r>
            <a:r>
              <a:rPr sz="2600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350”</a:t>
            </a:r>
            <a:r>
              <a:rPr sz="26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7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(Parkinson’s</a:t>
            </a:r>
            <a:r>
              <a:rPr sz="17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7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UK)</a:t>
            </a:r>
            <a:endParaRPr sz="17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1315"/>
              </a:spcBef>
            </a:pPr>
            <a:endParaRPr sz="1700">
              <a:latin typeface="Franklin Gothic Medium"/>
              <a:cs typeface="Franklin Gothic Medium"/>
            </a:endParaRPr>
          </a:p>
          <a:p>
            <a:pPr marL="396240" marR="399415" indent="-384175">
              <a:lnSpc>
                <a:spcPts val="2500"/>
              </a:lnSpc>
              <a:buChar char="■"/>
              <a:tabLst>
                <a:tab pos="396240" algn="l"/>
              </a:tabLst>
            </a:pPr>
            <a:r>
              <a:rPr sz="26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Onset</a:t>
            </a:r>
            <a:r>
              <a:rPr sz="2600" spc="-114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age:</a:t>
            </a:r>
            <a:r>
              <a:rPr sz="2600" spc="-9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variable,</a:t>
            </a:r>
            <a:r>
              <a:rPr sz="2600" spc="-9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average</a:t>
            </a:r>
            <a:r>
              <a:rPr sz="2600" spc="-1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age</a:t>
            </a:r>
            <a:r>
              <a:rPr sz="2600" spc="-1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55;</a:t>
            </a:r>
            <a:r>
              <a:rPr sz="26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only</a:t>
            </a:r>
            <a:r>
              <a:rPr sz="26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1</a:t>
            </a:r>
            <a:r>
              <a:rPr sz="2600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</a:t>
            </a:r>
            <a:r>
              <a:rPr sz="26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20 </a:t>
            </a:r>
            <a:r>
              <a:rPr sz="26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cases</a:t>
            </a:r>
            <a:r>
              <a:rPr sz="2600" spc="-9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</a:t>
            </a:r>
            <a:r>
              <a:rPr sz="26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people</a:t>
            </a:r>
            <a:r>
              <a:rPr sz="26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aged</a:t>
            </a:r>
            <a:r>
              <a:rPr sz="26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under</a:t>
            </a:r>
            <a:r>
              <a:rPr sz="26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50.</a:t>
            </a:r>
            <a:endParaRPr sz="26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spcBef>
                <a:spcPts val="590"/>
              </a:spcBef>
              <a:buChar char="■"/>
              <a:tabLst>
                <a:tab pos="396240" algn="l"/>
              </a:tabLst>
            </a:pPr>
            <a:r>
              <a:rPr sz="26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↑</a:t>
            </a:r>
            <a:r>
              <a:rPr sz="2600" spc="-1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prevalence</a:t>
            </a:r>
            <a:r>
              <a:rPr sz="2600" spc="-114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with</a:t>
            </a:r>
            <a:r>
              <a:rPr sz="2600" spc="-10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age;</a:t>
            </a:r>
            <a:r>
              <a:rPr sz="2600" spc="-10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1%</a:t>
            </a:r>
            <a:r>
              <a:rPr sz="2600" spc="-9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</a:t>
            </a:r>
            <a:r>
              <a:rPr sz="2600" spc="-1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people</a:t>
            </a:r>
            <a:r>
              <a:rPr sz="2600" spc="-1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aged</a:t>
            </a:r>
            <a:r>
              <a:rPr sz="2600" spc="-1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above</a:t>
            </a:r>
            <a:r>
              <a:rPr sz="2600" spc="-1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65</a:t>
            </a:r>
            <a:endParaRPr sz="26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spcBef>
                <a:spcPts val="2645"/>
              </a:spcBef>
              <a:buChar char="■"/>
              <a:tabLst>
                <a:tab pos="396240" algn="l"/>
              </a:tabLst>
            </a:pPr>
            <a:r>
              <a:rPr sz="26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Men</a:t>
            </a:r>
            <a:r>
              <a:rPr sz="2600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slightly</a:t>
            </a:r>
            <a:r>
              <a:rPr sz="2600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more</a:t>
            </a:r>
            <a:r>
              <a:rPr sz="2600" spc="-9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affected</a:t>
            </a:r>
            <a:r>
              <a:rPr sz="26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(3:2)</a:t>
            </a:r>
            <a:endParaRPr sz="2600">
              <a:latin typeface="Franklin Gothic Medium"/>
              <a:cs typeface="Franklin Gothic Medium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52359" y="4955680"/>
            <a:ext cx="1586865" cy="180339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443854" y="6401206"/>
            <a:ext cx="17760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James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Parkinson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07744" y="627633"/>
            <a:ext cx="353504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90" dirty="0">
                <a:solidFill>
                  <a:srgbClr val="181B0D"/>
                </a:solidFill>
              </a:rPr>
              <a:t>Aetiology</a:t>
            </a:r>
            <a:r>
              <a:rPr sz="4400" spc="-130" dirty="0">
                <a:solidFill>
                  <a:srgbClr val="181B0D"/>
                </a:solidFill>
              </a:rPr>
              <a:t> </a:t>
            </a:r>
            <a:r>
              <a:rPr sz="4400" dirty="0">
                <a:solidFill>
                  <a:srgbClr val="181B0D"/>
                </a:solidFill>
              </a:rPr>
              <a:t>of</a:t>
            </a:r>
            <a:r>
              <a:rPr sz="4400" spc="-105" dirty="0">
                <a:solidFill>
                  <a:srgbClr val="181B0D"/>
                </a:solidFill>
              </a:rPr>
              <a:t> </a:t>
            </a:r>
            <a:r>
              <a:rPr sz="4400" spc="-55" dirty="0">
                <a:solidFill>
                  <a:srgbClr val="181B0D"/>
                </a:solidFill>
              </a:rPr>
              <a:t>PD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1107744" y="2293747"/>
            <a:ext cx="5304790" cy="33121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6240" indent="-383540">
              <a:lnSpc>
                <a:spcPct val="100000"/>
              </a:lnSpc>
              <a:spcBef>
                <a:spcPts val="105"/>
              </a:spcBef>
              <a:buChar char="■"/>
              <a:tabLst>
                <a:tab pos="396240" algn="l"/>
              </a:tabLst>
            </a:pPr>
            <a:r>
              <a:rPr sz="20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Unknown</a:t>
            </a:r>
            <a:r>
              <a:rPr sz="20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but</a:t>
            </a:r>
            <a:r>
              <a:rPr sz="20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likely</a:t>
            </a:r>
            <a:r>
              <a:rPr sz="20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to</a:t>
            </a:r>
            <a:r>
              <a:rPr sz="20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be</a:t>
            </a:r>
            <a:r>
              <a:rPr sz="20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from</a:t>
            </a:r>
            <a:r>
              <a:rPr sz="20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combination</a:t>
            </a:r>
            <a:r>
              <a:rPr sz="20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of:</a:t>
            </a:r>
            <a:endParaRPr sz="20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1739"/>
              </a:spcBef>
              <a:buClr>
                <a:srgbClr val="181B0D"/>
              </a:buClr>
              <a:buFont typeface="Franklin Gothic Medium"/>
              <a:buChar char="■"/>
            </a:pPr>
            <a:endParaRPr sz="2000">
              <a:latin typeface="Franklin Gothic Medium"/>
              <a:cs typeface="Franklin Gothic Medium"/>
            </a:endParaRPr>
          </a:p>
          <a:p>
            <a:pPr marL="926465" lvl="1" indent="-383540">
              <a:lnSpc>
                <a:spcPct val="100000"/>
              </a:lnSpc>
              <a:buFont typeface="Franklin Gothic Medium"/>
              <a:buChar char="–"/>
              <a:tabLst>
                <a:tab pos="926465" algn="l"/>
              </a:tabLst>
            </a:pP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Ageing</a:t>
            </a:r>
            <a:endParaRPr sz="2000">
              <a:latin typeface="Franklin Gothic Medium"/>
              <a:cs typeface="Franklin Gothic Medium"/>
            </a:endParaRPr>
          </a:p>
          <a:p>
            <a:pPr lvl="1">
              <a:lnSpc>
                <a:spcPct val="100000"/>
              </a:lnSpc>
              <a:spcBef>
                <a:spcPts val="1245"/>
              </a:spcBef>
              <a:buClr>
                <a:srgbClr val="181B0D"/>
              </a:buClr>
              <a:buFont typeface="Franklin Gothic Medium"/>
              <a:buChar char="–"/>
            </a:pPr>
            <a:endParaRPr sz="2000">
              <a:latin typeface="Franklin Gothic Medium"/>
              <a:cs typeface="Franklin Gothic Medium"/>
            </a:endParaRPr>
          </a:p>
          <a:p>
            <a:pPr marL="926465" lvl="1" indent="-383540">
              <a:lnSpc>
                <a:spcPct val="100000"/>
              </a:lnSpc>
              <a:spcBef>
                <a:spcPts val="5"/>
              </a:spcBef>
              <a:buFont typeface="Franklin Gothic Medium"/>
              <a:buChar char="–"/>
              <a:tabLst>
                <a:tab pos="926465" algn="l"/>
              </a:tabLst>
            </a:pP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Environmental</a:t>
            </a:r>
            <a:r>
              <a:rPr sz="2000" i="1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toxins:</a:t>
            </a:r>
            <a:endParaRPr sz="2000">
              <a:latin typeface="Franklin Gothic Medium"/>
              <a:cs typeface="Franklin Gothic Medium"/>
            </a:endParaRPr>
          </a:p>
          <a:p>
            <a:pPr marL="1383665" lvl="2" indent="-383540">
              <a:lnSpc>
                <a:spcPct val="100000"/>
              </a:lnSpc>
              <a:spcBef>
                <a:spcPts val="570"/>
              </a:spcBef>
              <a:buChar char="■"/>
              <a:tabLst>
                <a:tab pos="1383665" algn="l"/>
              </a:tabLst>
            </a:pPr>
            <a:r>
              <a:rPr sz="18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MPTP</a:t>
            </a:r>
            <a:endParaRPr sz="1800">
              <a:latin typeface="Franklin Gothic Medium"/>
              <a:cs typeface="Franklin Gothic Medium"/>
            </a:endParaRPr>
          </a:p>
          <a:p>
            <a:pPr lvl="2">
              <a:lnSpc>
                <a:spcPct val="100000"/>
              </a:lnSpc>
              <a:spcBef>
                <a:spcPts val="1240"/>
              </a:spcBef>
              <a:buClr>
                <a:srgbClr val="181B0D"/>
              </a:buClr>
              <a:buFont typeface="Franklin Gothic Medium"/>
              <a:buChar char="■"/>
            </a:pPr>
            <a:endParaRPr sz="1800">
              <a:latin typeface="Franklin Gothic Medium"/>
              <a:cs typeface="Franklin Gothic Medium"/>
            </a:endParaRPr>
          </a:p>
          <a:p>
            <a:pPr marL="926465" lvl="1" indent="-383540">
              <a:lnSpc>
                <a:spcPct val="100000"/>
              </a:lnSpc>
              <a:spcBef>
                <a:spcPts val="5"/>
              </a:spcBef>
              <a:buFont typeface="Franklin Gothic Medium"/>
              <a:buChar char="–"/>
              <a:tabLst>
                <a:tab pos="926465" algn="l"/>
              </a:tabLst>
            </a:pP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Genetic</a:t>
            </a:r>
            <a:r>
              <a:rPr sz="2000" i="1" spc="-1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susceptibility</a:t>
            </a:r>
            <a:endParaRPr sz="2000">
              <a:latin typeface="Franklin Gothic Medium"/>
              <a:cs typeface="Franklin Gothic Medium"/>
            </a:endParaRPr>
          </a:p>
          <a:p>
            <a:pPr marL="1383665" lvl="2" indent="-383540">
              <a:lnSpc>
                <a:spcPct val="100000"/>
              </a:lnSpc>
              <a:spcBef>
                <a:spcPts val="570"/>
              </a:spcBef>
              <a:buChar char="■"/>
              <a:tabLst>
                <a:tab pos="1383665" algn="l"/>
              </a:tabLst>
            </a:pPr>
            <a:r>
              <a:rPr sz="18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20%</a:t>
            </a:r>
            <a:r>
              <a:rPr sz="18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Hereditability;</a:t>
            </a:r>
            <a:r>
              <a:rPr sz="18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younger</a:t>
            </a:r>
            <a:r>
              <a:rPr sz="18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onset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9638" rIns="0" bIns="0" rtlCol="0">
            <a:spAutoFit/>
          </a:bodyPr>
          <a:lstStyle/>
          <a:p>
            <a:pPr marL="509270">
              <a:lnSpc>
                <a:spcPct val="100000"/>
              </a:lnSpc>
              <a:spcBef>
                <a:spcPts val="105"/>
              </a:spcBef>
            </a:pPr>
            <a:r>
              <a:rPr sz="4400" spc="-70" dirty="0">
                <a:solidFill>
                  <a:srgbClr val="181B0D"/>
                </a:solidFill>
              </a:rPr>
              <a:t>Pathophysiology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820927" y="1950211"/>
            <a:ext cx="7767320" cy="454152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396240" marR="127000" indent="-384175">
              <a:lnSpc>
                <a:spcPts val="2470"/>
              </a:lnSpc>
              <a:spcBef>
                <a:spcPts val="320"/>
              </a:spcBef>
              <a:buChar char="■"/>
              <a:tabLst>
                <a:tab pos="396240" algn="l"/>
                <a:tab pos="3325495" algn="l"/>
              </a:tabLst>
            </a:pP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Occurs</a:t>
            </a:r>
            <a:r>
              <a:rPr sz="22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</a:t>
            </a:r>
            <a:r>
              <a:rPr sz="22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basal</a:t>
            </a:r>
            <a:r>
              <a:rPr sz="22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ganglia: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	</a:t>
            </a:r>
            <a:r>
              <a:rPr sz="22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striatum</a:t>
            </a:r>
            <a:r>
              <a:rPr sz="22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–</a:t>
            </a:r>
            <a:r>
              <a:rPr sz="2200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(caudate</a:t>
            </a:r>
            <a:r>
              <a:rPr sz="22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N</a:t>
            </a:r>
            <a:r>
              <a:rPr sz="22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and</a:t>
            </a:r>
            <a:r>
              <a:rPr sz="2200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putamen)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and</a:t>
            </a:r>
            <a:r>
              <a:rPr sz="22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globus</a:t>
            </a:r>
            <a:r>
              <a:rPr sz="22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pallidus,</a:t>
            </a:r>
            <a:r>
              <a:rPr sz="22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subthalamic</a:t>
            </a:r>
            <a:r>
              <a:rPr sz="22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N,</a:t>
            </a:r>
            <a:r>
              <a:rPr sz="2200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and</a:t>
            </a:r>
            <a:r>
              <a:rPr sz="22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substantia</a:t>
            </a:r>
            <a:r>
              <a:rPr sz="2200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Niagra</a:t>
            </a:r>
            <a:endParaRPr sz="2200">
              <a:latin typeface="Franklin Gothic Medium"/>
              <a:cs typeface="Franklin Gothic Medium"/>
            </a:endParaRPr>
          </a:p>
          <a:p>
            <a:pPr marL="396240" marR="476250" indent="-384175">
              <a:lnSpc>
                <a:spcPts val="2480"/>
              </a:lnSpc>
              <a:spcBef>
                <a:spcPts val="1210"/>
              </a:spcBef>
              <a:buChar char="■"/>
              <a:tabLst>
                <a:tab pos="396240" algn="l"/>
              </a:tabLst>
            </a:pPr>
            <a:r>
              <a:rPr sz="22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Neuro-degeneration</a:t>
            </a:r>
            <a:r>
              <a:rPr sz="22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occurs</a:t>
            </a:r>
            <a:r>
              <a:rPr sz="22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mainly</a:t>
            </a:r>
            <a:r>
              <a:rPr sz="22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</a:t>
            </a:r>
            <a:r>
              <a:rPr sz="22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the</a:t>
            </a:r>
            <a:r>
              <a:rPr sz="2200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pars</a:t>
            </a:r>
            <a:r>
              <a:rPr sz="22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compacta</a:t>
            </a:r>
            <a:r>
              <a:rPr sz="2200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 </a:t>
            </a:r>
            <a:r>
              <a:rPr sz="22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substantia</a:t>
            </a:r>
            <a:r>
              <a:rPr sz="22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Niagra</a:t>
            </a:r>
            <a:r>
              <a:rPr sz="2200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–</a:t>
            </a:r>
            <a:r>
              <a:rPr sz="22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rich</a:t>
            </a:r>
            <a:r>
              <a:rPr sz="22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</a:t>
            </a:r>
            <a:r>
              <a:rPr sz="22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neuromelanin-</a:t>
            </a:r>
            <a:r>
              <a:rPr sz="22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containing</a:t>
            </a:r>
            <a:r>
              <a:rPr sz="22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cells.</a:t>
            </a:r>
            <a:endParaRPr sz="22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spcBef>
                <a:spcPts val="990"/>
              </a:spcBef>
              <a:buChar char="■"/>
              <a:tabLst>
                <a:tab pos="396240" algn="l"/>
              </a:tabLst>
            </a:pP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</a:t>
            </a:r>
            <a:r>
              <a:rPr sz="22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PD,</a:t>
            </a:r>
            <a:r>
              <a:rPr sz="22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there</a:t>
            </a:r>
            <a:r>
              <a:rPr sz="22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is</a:t>
            </a:r>
            <a:r>
              <a:rPr sz="22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apoptosis</a:t>
            </a:r>
            <a:r>
              <a:rPr sz="22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</a:t>
            </a:r>
            <a:r>
              <a:rPr sz="22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neuromelanin</a:t>
            </a:r>
            <a:r>
              <a:rPr sz="22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containing</a:t>
            </a:r>
            <a:r>
              <a:rPr sz="2200" spc="-9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neurones</a:t>
            </a:r>
            <a:endParaRPr sz="22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spcBef>
                <a:spcPts val="1050"/>
              </a:spcBef>
              <a:buChar char="■"/>
              <a:tabLst>
                <a:tab pos="396240" algn="l"/>
              </a:tabLst>
            </a:pPr>
            <a:r>
              <a:rPr sz="22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Immune</a:t>
            </a:r>
            <a:r>
              <a:rPr sz="2200" spc="-9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cells</a:t>
            </a:r>
            <a:r>
              <a:rPr sz="22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remove</a:t>
            </a:r>
            <a:r>
              <a:rPr sz="22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these</a:t>
            </a:r>
            <a:r>
              <a:rPr sz="22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dying</a:t>
            </a:r>
            <a:r>
              <a:rPr sz="2200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cells</a:t>
            </a:r>
            <a:endParaRPr sz="22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spcBef>
                <a:spcPts val="1030"/>
              </a:spcBef>
              <a:buChar char="■"/>
              <a:tabLst>
                <a:tab pos="396240" algn="l"/>
              </a:tabLst>
            </a:pPr>
            <a:r>
              <a:rPr sz="22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Dopamine</a:t>
            </a:r>
            <a:r>
              <a:rPr sz="22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is</a:t>
            </a:r>
            <a:r>
              <a:rPr sz="22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depleted</a:t>
            </a:r>
            <a:r>
              <a:rPr sz="22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as</a:t>
            </a:r>
            <a:r>
              <a:rPr sz="22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</a:t>
            </a:r>
            <a:r>
              <a:rPr sz="22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consequence</a:t>
            </a:r>
            <a:r>
              <a:rPr sz="2200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</a:t>
            </a:r>
            <a:r>
              <a:rPr sz="22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this.</a:t>
            </a:r>
            <a:endParaRPr sz="22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spcBef>
                <a:spcPts val="1045"/>
              </a:spcBef>
              <a:buChar char="■"/>
              <a:tabLst>
                <a:tab pos="396240" algn="l"/>
              </a:tabLst>
            </a:pP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The</a:t>
            </a:r>
            <a:r>
              <a:rPr sz="22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↓</a:t>
            </a:r>
            <a:r>
              <a:rPr sz="2200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dopamine</a:t>
            </a:r>
            <a:r>
              <a:rPr sz="22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leads</a:t>
            </a:r>
            <a:r>
              <a:rPr sz="2200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to:</a:t>
            </a:r>
            <a:endParaRPr sz="2200">
              <a:latin typeface="Franklin Gothic Medium"/>
              <a:cs typeface="Franklin Gothic Medium"/>
            </a:endParaRPr>
          </a:p>
          <a:p>
            <a:pPr marL="996950" lvl="1" indent="-454025">
              <a:lnSpc>
                <a:spcPct val="100000"/>
              </a:lnSpc>
              <a:spcBef>
                <a:spcPts val="540"/>
              </a:spcBef>
              <a:buFont typeface="Franklin Gothic Medium"/>
              <a:buChar char="–"/>
              <a:tabLst>
                <a:tab pos="996950" algn="l"/>
              </a:tabLst>
            </a:pPr>
            <a:r>
              <a:rPr sz="22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↑</a:t>
            </a:r>
            <a:r>
              <a:rPr sz="2200" i="1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i="1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inhibitory</a:t>
            </a:r>
            <a:r>
              <a:rPr sz="2200" i="1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drive</a:t>
            </a:r>
            <a:r>
              <a:rPr sz="2200" i="1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to</a:t>
            </a:r>
            <a:r>
              <a:rPr sz="2200" i="1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the</a:t>
            </a:r>
            <a:r>
              <a:rPr sz="2200" i="1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thalamus,</a:t>
            </a:r>
            <a:r>
              <a:rPr sz="2200" i="1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suppressing</a:t>
            </a:r>
            <a:r>
              <a:rPr sz="2200" i="1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movement</a:t>
            </a:r>
            <a:endParaRPr sz="2200">
              <a:latin typeface="Franklin Gothic Medium"/>
              <a:cs typeface="Franklin Gothic Medium"/>
            </a:endParaRPr>
          </a:p>
          <a:p>
            <a:pPr marL="927100" lvl="1" indent="-384175">
              <a:lnSpc>
                <a:spcPct val="100000"/>
              </a:lnSpc>
              <a:spcBef>
                <a:spcPts val="540"/>
              </a:spcBef>
              <a:buFont typeface="Franklin Gothic Medium"/>
              <a:buChar char="–"/>
              <a:tabLst>
                <a:tab pos="927100" algn="l"/>
                <a:tab pos="4449445" algn="l"/>
              </a:tabLst>
            </a:pPr>
            <a:r>
              <a:rPr sz="22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Changes</a:t>
            </a:r>
            <a:r>
              <a:rPr sz="2200" i="1" spc="-1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</a:t>
            </a:r>
            <a:r>
              <a:rPr sz="2200" i="1" spc="-114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background</a:t>
            </a:r>
            <a:r>
              <a:rPr sz="2200" i="1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i="1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tone</a:t>
            </a:r>
            <a:r>
              <a:rPr sz="22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	-</a:t>
            </a:r>
            <a:r>
              <a:rPr sz="2200" i="1" spc="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rigidity</a:t>
            </a:r>
            <a:endParaRPr sz="2200">
              <a:latin typeface="Franklin Gothic Medium"/>
              <a:cs typeface="Franklin Gothic Medium"/>
            </a:endParaRPr>
          </a:p>
          <a:p>
            <a:pPr marL="927100" lvl="1" indent="-384175">
              <a:lnSpc>
                <a:spcPct val="100000"/>
              </a:lnSpc>
              <a:spcBef>
                <a:spcPts val="555"/>
              </a:spcBef>
              <a:buFont typeface="Franklin Gothic Medium"/>
              <a:buChar char="–"/>
              <a:tabLst>
                <a:tab pos="927100" algn="l"/>
              </a:tabLst>
            </a:pPr>
            <a:r>
              <a:rPr sz="22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Releasing</a:t>
            </a:r>
            <a:r>
              <a:rPr sz="2200" i="1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</a:t>
            </a:r>
            <a:r>
              <a:rPr sz="2200" i="1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inhibition</a:t>
            </a:r>
            <a:r>
              <a:rPr sz="2200" i="1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</a:t>
            </a:r>
            <a:r>
              <a:rPr sz="2200" i="1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tremor</a:t>
            </a:r>
            <a:endParaRPr sz="22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358775" cy="6858000"/>
          </a:xfrm>
          <a:custGeom>
            <a:avLst/>
            <a:gdLst/>
            <a:ahLst/>
            <a:cxnLst/>
            <a:rect l="l" t="t" r="r" b="b"/>
            <a:pathLst>
              <a:path w="358775" h="6858000">
                <a:moveTo>
                  <a:pt x="0" y="6858000"/>
                </a:moveTo>
                <a:lnTo>
                  <a:pt x="358571" y="6858000"/>
                </a:lnTo>
                <a:lnTo>
                  <a:pt x="35857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CE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58571" y="0"/>
            <a:ext cx="8785860" cy="6858634"/>
            <a:chOff x="358571" y="0"/>
            <a:chExt cx="8785860" cy="6858634"/>
          </a:xfrm>
        </p:grpSpPr>
        <p:sp>
          <p:nvSpPr>
            <p:cNvPr id="4" name="object 4"/>
            <p:cNvSpPr/>
            <p:nvPr/>
          </p:nvSpPr>
          <p:spPr>
            <a:xfrm>
              <a:off x="530021" y="0"/>
              <a:ext cx="8614410" cy="6858000"/>
            </a:xfrm>
            <a:custGeom>
              <a:avLst/>
              <a:gdLst/>
              <a:ahLst/>
              <a:cxnLst/>
              <a:rect l="l" t="t" r="r" b="b"/>
              <a:pathLst>
                <a:path w="8614410" h="6858000">
                  <a:moveTo>
                    <a:pt x="0" y="6858000"/>
                  </a:moveTo>
                  <a:lnTo>
                    <a:pt x="8613978" y="6858000"/>
                  </a:lnTo>
                  <a:lnTo>
                    <a:pt x="8613978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EEEC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8571" y="375"/>
              <a:ext cx="171450" cy="6858000"/>
            </a:xfrm>
            <a:custGeom>
              <a:avLst/>
              <a:gdLst/>
              <a:ahLst/>
              <a:cxnLst/>
              <a:rect l="l" t="t" r="r" b="b"/>
              <a:pathLst>
                <a:path w="171450" h="6858000">
                  <a:moveTo>
                    <a:pt x="17145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71450" y="6858000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181B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45616" y="365505"/>
            <a:ext cx="7665720" cy="688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2540" algn="ctr">
              <a:lnSpc>
                <a:spcPct val="100000"/>
              </a:lnSpc>
              <a:spcBef>
                <a:spcPts val="100"/>
              </a:spcBef>
            </a:pPr>
            <a:r>
              <a:rPr sz="1450" b="1" dirty="0">
                <a:latin typeface="Arial"/>
                <a:cs typeface="Arial"/>
              </a:rPr>
              <a:t>Figure</a:t>
            </a:r>
            <a:r>
              <a:rPr sz="1450" b="1" spc="-55" dirty="0">
                <a:latin typeface="Arial"/>
                <a:cs typeface="Arial"/>
              </a:rPr>
              <a:t> </a:t>
            </a:r>
            <a:r>
              <a:rPr sz="1450" b="1" dirty="0">
                <a:latin typeface="Arial"/>
                <a:cs typeface="Arial"/>
              </a:rPr>
              <a:t>1</a:t>
            </a:r>
            <a:r>
              <a:rPr sz="1450" b="1" spc="-40" dirty="0">
                <a:latin typeface="Arial"/>
                <a:cs typeface="Arial"/>
              </a:rPr>
              <a:t> </a:t>
            </a:r>
            <a:r>
              <a:rPr sz="1450" b="1" dirty="0">
                <a:latin typeface="Arial"/>
                <a:cs typeface="Arial"/>
              </a:rPr>
              <a:t>Classic</a:t>
            </a:r>
            <a:r>
              <a:rPr sz="1450" b="1" spc="-35" dirty="0">
                <a:latin typeface="Arial"/>
                <a:cs typeface="Arial"/>
              </a:rPr>
              <a:t> </a:t>
            </a:r>
            <a:r>
              <a:rPr sz="1450" b="1" dirty="0">
                <a:latin typeface="Arial"/>
                <a:cs typeface="Arial"/>
              </a:rPr>
              <a:t>pathology</a:t>
            </a:r>
            <a:r>
              <a:rPr sz="1450" b="1" spc="-35" dirty="0">
                <a:latin typeface="Arial"/>
                <a:cs typeface="Arial"/>
              </a:rPr>
              <a:t> </a:t>
            </a:r>
            <a:r>
              <a:rPr sz="1450" b="1" dirty="0">
                <a:latin typeface="Arial"/>
                <a:cs typeface="Arial"/>
              </a:rPr>
              <a:t>of</a:t>
            </a:r>
            <a:r>
              <a:rPr sz="1450" b="1" spc="-40" dirty="0">
                <a:latin typeface="Arial"/>
                <a:cs typeface="Arial"/>
              </a:rPr>
              <a:t> </a:t>
            </a:r>
            <a:r>
              <a:rPr sz="1450" b="1" dirty="0">
                <a:latin typeface="Arial"/>
                <a:cs typeface="Arial"/>
              </a:rPr>
              <a:t>PD.</a:t>
            </a:r>
            <a:r>
              <a:rPr sz="1450" b="1" spc="-60" dirty="0">
                <a:latin typeface="Arial"/>
                <a:cs typeface="Arial"/>
              </a:rPr>
              <a:t> </a:t>
            </a:r>
            <a:r>
              <a:rPr sz="1450" b="1" dirty="0">
                <a:latin typeface="Arial"/>
                <a:cs typeface="Arial"/>
              </a:rPr>
              <a:t>The</a:t>
            </a:r>
            <a:r>
              <a:rPr sz="1450" b="1" spc="-45" dirty="0">
                <a:latin typeface="Arial"/>
                <a:cs typeface="Arial"/>
              </a:rPr>
              <a:t> </a:t>
            </a:r>
            <a:r>
              <a:rPr sz="1450" b="1" dirty="0">
                <a:latin typeface="Arial"/>
                <a:cs typeface="Arial"/>
              </a:rPr>
              <a:t>left</a:t>
            </a:r>
            <a:r>
              <a:rPr sz="1450" b="1" spc="-35" dirty="0">
                <a:latin typeface="Arial"/>
                <a:cs typeface="Arial"/>
              </a:rPr>
              <a:t> </a:t>
            </a:r>
            <a:r>
              <a:rPr sz="1450" b="1" dirty="0">
                <a:latin typeface="Arial"/>
                <a:cs typeface="Arial"/>
              </a:rPr>
              <a:t>panel</a:t>
            </a:r>
            <a:r>
              <a:rPr sz="1450" b="1" spc="-35" dirty="0">
                <a:latin typeface="Arial"/>
                <a:cs typeface="Arial"/>
              </a:rPr>
              <a:t> </a:t>
            </a:r>
            <a:r>
              <a:rPr sz="1450" b="1" dirty="0">
                <a:latin typeface="Arial"/>
                <a:cs typeface="Arial"/>
              </a:rPr>
              <a:t>illustrates</a:t>
            </a:r>
            <a:r>
              <a:rPr sz="1450" b="1" spc="-40" dirty="0">
                <a:latin typeface="Arial"/>
                <a:cs typeface="Arial"/>
              </a:rPr>
              <a:t> </a:t>
            </a:r>
            <a:r>
              <a:rPr sz="1450" b="1" dirty="0">
                <a:latin typeface="Arial"/>
                <a:cs typeface="Arial"/>
              </a:rPr>
              <a:t>the</a:t>
            </a:r>
            <a:r>
              <a:rPr sz="1450" b="1" spc="-40" dirty="0">
                <a:latin typeface="Arial"/>
                <a:cs typeface="Arial"/>
              </a:rPr>
              <a:t> </a:t>
            </a:r>
            <a:r>
              <a:rPr sz="1450" b="1" dirty="0">
                <a:latin typeface="Arial"/>
                <a:cs typeface="Arial"/>
              </a:rPr>
              <a:t>marked</a:t>
            </a:r>
            <a:r>
              <a:rPr sz="1450" b="1" spc="-40" dirty="0">
                <a:latin typeface="Arial"/>
                <a:cs typeface="Arial"/>
              </a:rPr>
              <a:t> </a:t>
            </a:r>
            <a:r>
              <a:rPr sz="1450" b="1" dirty="0">
                <a:latin typeface="Arial"/>
                <a:cs typeface="Arial"/>
              </a:rPr>
              <a:t>reduction</a:t>
            </a:r>
            <a:r>
              <a:rPr sz="1450" b="1" spc="-30" dirty="0">
                <a:latin typeface="Arial"/>
                <a:cs typeface="Arial"/>
              </a:rPr>
              <a:t> </a:t>
            </a:r>
            <a:r>
              <a:rPr sz="1450" b="1" spc="-25" dirty="0">
                <a:latin typeface="Arial"/>
                <a:cs typeface="Arial"/>
              </a:rPr>
              <a:t>in </a:t>
            </a:r>
            <a:r>
              <a:rPr sz="1450" b="1" spc="-10" dirty="0">
                <a:latin typeface="Arial"/>
                <a:cs typeface="Arial"/>
              </a:rPr>
              <a:t>neuromelanin</a:t>
            </a:r>
            <a:r>
              <a:rPr sz="1450" b="1" spc="-40" dirty="0">
                <a:latin typeface="Arial"/>
                <a:cs typeface="Arial"/>
              </a:rPr>
              <a:t> </a:t>
            </a:r>
            <a:r>
              <a:rPr sz="1450" b="1" dirty="0">
                <a:latin typeface="Arial"/>
                <a:cs typeface="Arial"/>
              </a:rPr>
              <a:t>pigment</a:t>
            </a:r>
            <a:r>
              <a:rPr sz="1450" b="1" spc="-45" dirty="0">
                <a:latin typeface="Arial"/>
                <a:cs typeface="Arial"/>
              </a:rPr>
              <a:t> </a:t>
            </a:r>
            <a:r>
              <a:rPr sz="1450" b="1" dirty="0">
                <a:latin typeface="Arial"/>
                <a:cs typeface="Arial"/>
              </a:rPr>
              <a:t>in</a:t>
            </a:r>
            <a:r>
              <a:rPr sz="1450" b="1" spc="-40" dirty="0">
                <a:latin typeface="Arial"/>
                <a:cs typeface="Arial"/>
              </a:rPr>
              <a:t> </a:t>
            </a:r>
            <a:r>
              <a:rPr sz="1450" b="1" dirty="0">
                <a:latin typeface="Arial"/>
                <a:cs typeface="Arial"/>
              </a:rPr>
              <a:t>the</a:t>
            </a:r>
            <a:r>
              <a:rPr sz="1450" b="1" spc="-25" dirty="0">
                <a:latin typeface="Arial"/>
                <a:cs typeface="Arial"/>
              </a:rPr>
              <a:t> </a:t>
            </a:r>
            <a:r>
              <a:rPr sz="1450" b="1" dirty="0">
                <a:latin typeface="Arial"/>
                <a:cs typeface="Arial"/>
              </a:rPr>
              <a:t>substantia nigra</a:t>
            </a:r>
            <a:r>
              <a:rPr sz="1450" b="1" spc="-45" dirty="0">
                <a:latin typeface="Arial"/>
                <a:cs typeface="Arial"/>
              </a:rPr>
              <a:t> </a:t>
            </a:r>
            <a:r>
              <a:rPr sz="1450" b="1" dirty="0">
                <a:latin typeface="Arial"/>
                <a:cs typeface="Arial"/>
              </a:rPr>
              <a:t>pars</a:t>
            </a:r>
            <a:r>
              <a:rPr sz="1450" b="1" spc="-25" dirty="0">
                <a:latin typeface="Arial"/>
                <a:cs typeface="Arial"/>
              </a:rPr>
              <a:t> </a:t>
            </a:r>
            <a:r>
              <a:rPr sz="1450" b="1" dirty="0">
                <a:latin typeface="Arial"/>
                <a:cs typeface="Arial"/>
              </a:rPr>
              <a:t>compacta</a:t>
            </a:r>
            <a:r>
              <a:rPr sz="1450" b="1" spc="-15" dirty="0">
                <a:latin typeface="Arial"/>
                <a:cs typeface="Arial"/>
              </a:rPr>
              <a:t> </a:t>
            </a:r>
            <a:r>
              <a:rPr sz="1450" b="1" dirty="0">
                <a:latin typeface="Arial"/>
                <a:cs typeface="Arial"/>
              </a:rPr>
              <a:t>(SNc)</a:t>
            </a:r>
            <a:r>
              <a:rPr sz="1450" b="1" spc="-25" dirty="0">
                <a:latin typeface="Arial"/>
                <a:cs typeface="Arial"/>
              </a:rPr>
              <a:t> </a:t>
            </a:r>
            <a:r>
              <a:rPr sz="1450" b="1" dirty="0">
                <a:latin typeface="Arial"/>
                <a:cs typeface="Arial"/>
              </a:rPr>
              <a:t>in</a:t>
            </a:r>
            <a:r>
              <a:rPr sz="1450" b="1" spc="-35" dirty="0">
                <a:latin typeface="Arial"/>
                <a:cs typeface="Arial"/>
              </a:rPr>
              <a:t> </a:t>
            </a:r>
            <a:r>
              <a:rPr sz="1450" b="1" dirty="0">
                <a:latin typeface="Arial"/>
                <a:cs typeface="Arial"/>
              </a:rPr>
              <a:t>a</a:t>
            </a:r>
            <a:r>
              <a:rPr sz="1450" b="1" spc="-35" dirty="0">
                <a:latin typeface="Arial"/>
                <a:cs typeface="Arial"/>
              </a:rPr>
              <a:t> </a:t>
            </a:r>
            <a:r>
              <a:rPr sz="1450" b="1" dirty="0">
                <a:latin typeface="Arial"/>
                <a:cs typeface="Arial"/>
              </a:rPr>
              <a:t>patient</a:t>
            </a:r>
            <a:r>
              <a:rPr sz="1450" b="1" spc="-20" dirty="0">
                <a:latin typeface="Arial"/>
                <a:cs typeface="Arial"/>
              </a:rPr>
              <a:t> </a:t>
            </a:r>
            <a:r>
              <a:rPr sz="1450" b="1" dirty="0">
                <a:latin typeface="Arial"/>
                <a:cs typeface="Arial"/>
              </a:rPr>
              <a:t>with</a:t>
            </a:r>
            <a:r>
              <a:rPr sz="1450" b="1" spc="-60" dirty="0">
                <a:latin typeface="Arial"/>
                <a:cs typeface="Arial"/>
              </a:rPr>
              <a:t> </a:t>
            </a:r>
            <a:r>
              <a:rPr sz="1450" b="1" spc="-25" dirty="0">
                <a:latin typeface="Arial"/>
                <a:cs typeface="Arial"/>
              </a:rPr>
              <a:t>PD </a:t>
            </a:r>
            <a:r>
              <a:rPr sz="1450" b="1" dirty="0">
                <a:latin typeface="Arial"/>
                <a:cs typeface="Arial"/>
              </a:rPr>
              <a:t>(bottom)</a:t>
            </a:r>
            <a:r>
              <a:rPr sz="1450" b="1" spc="-25" dirty="0">
                <a:latin typeface="Arial"/>
                <a:cs typeface="Arial"/>
              </a:rPr>
              <a:t> </a:t>
            </a:r>
            <a:r>
              <a:rPr sz="1450" b="1" dirty="0">
                <a:latin typeface="Arial"/>
                <a:cs typeface="Arial"/>
              </a:rPr>
              <a:t>compared</a:t>
            </a:r>
            <a:r>
              <a:rPr sz="1450" b="1" spc="-30" dirty="0">
                <a:latin typeface="Arial"/>
                <a:cs typeface="Arial"/>
              </a:rPr>
              <a:t> </a:t>
            </a:r>
            <a:r>
              <a:rPr sz="1450" b="1" dirty="0">
                <a:latin typeface="Arial"/>
                <a:cs typeface="Arial"/>
              </a:rPr>
              <a:t>with</a:t>
            </a:r>
            <a:r>
              <a:rPr sz="1450" b="1" spc="-60" dirty="0">
                <a:latin typeface="Arial"/>
                <a:cs typeface="Arial"/>
              </a:rPr>
              <a:t> </a:t>
            </a:r>
            <a:r>
              <a:rPr sz="1450" b="1" dirty="0">
                <a:latin typeface="Arial"/>
                <a:cs typeface="Arial"/>
              </a:rPr>
              <a:t>a</a:t>
            </a:r>
            <a:r>
              <a:rPr sz="1450" b="1" spc="-40" dirty="0">
                <a:latin typeface="Arial"/>
                <a:cs typeface="Arial"/>
              </a:rPr>
              <a:t> </a:t>
            </a:r>
            <a:r>
              <a:rPr sz="1450" b="1" dirty="0">
                <a:latin typeface="Arial"/>
                <a:cs typeface="Arial"/>
              </a:rPr>
              <a:t>normal</a:t>
            </a:r>
            <a:r>
              <a:rPr sz="1450" b="1" spc="-50" dirty="0">
                <a:latin typeface="Arial"/>
                <a:cs typeface="Arial"/>
              </a:rPr>
              <a:t> </a:t>
            </a:r>
            <a:r>
              <a:rPr sz="1450" b="1" dirty="0">
                <a:latin typeface="Arial"/>
                <a:cs typeface="Arial"/>
              </a:rPr>
              <a:t>individual</a:t>
            </a:r>
            <a:r>
              <a:rPr sz="1450" b="1" spc="-45" dirty="0">
                <a:latin typeface="Arial"/>
                <a:cs typeface="Arial"/>
              </a:rPr>
              <a:t> </a:t>
            </a:r>
            <a:r>
              <a:rPr sz="1450" b="1" spc="-10" dirty="0">
                <a:latin typeface="Arial"/>
                <a:cs typeface="Arial"/>
              </a:rPr>
              <a:t>(top).</a:t>
            </a:r>
            <a:endParaRPr sz="145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71512" y="1087437"/>
            <a:ext cx="8037830" cy="5546725"/>
            <a:chOff x="671512" y="1087437"/>
            <a:chExt cx="8037830" cy="554672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7651" y="5981700"/>
              <a:ext cx="2611247" cy="65246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1512" y="1087437"/>
              <a:ext cx="7804150" cy="467677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079234" y="1830831"/>
              <a:ext cx="678180" cy="1080135"/>
            </a:xfrm>
            <a:custGeom>
              <a:avLst/>
              <a:gdLst/>
              <a:ahLst/>
              <a:cxnLst/>
              <a:rect l="l" t="t" r="r" b="b"/>
              <a:pathLst>
                <a:path w="678179" h="1080135">
                  <a:moveTo>
                    <a:pt x="18034" y="846581"/>
                  </a:moveTo>
                  <a:lnTo>
                    <a:pt x="0" y="1080134"/>
                  </a:lnTo>
                  <a:lnTo>
                    <a:pt x="197739" y="954404"/>
                  </a:lnTo>
                  <a:lnTo>
                    <a:pt x="187790" y="948435"/>
                  </a:lnTo>
                  <a:lnTo>
                    <a:pt x="119888" y="948435"/>
                  </a:lnTo>
                  <a:lnTo>
                    <a:pt x="89916" y="930401"/>
                  </a:lnTo>
                  <a:lnTo>
                    <a:pt x="107866" y="900481"/>
                  </a:lnTo>
                  <a:lnTo>
                    <a:pt x="18034" y="846581"/>
                  </a:lnTo>
                  <a:close/>
                </a:path>
                <a:path w="678179" h="1080135">
                  <a:moveTo>
                    <a:pt x="107866" y="900481"/>
                  </a:moveTo>
                  <a:lnTo>
                    <a:pt x="89916" y="930401"/>
                  </a:lnTo>
                  <a:lnTo>
                    <a:pt x="119888" y="948435"/>
                  </a:lnTo>
                  <a:lnTo>
                    <a:pt x="137860" y="918477"/>
                  </a:lnTo>
                  <a:lnTo>
                    <a:pt x="107866" y="900481"/>
                  </a:lnTo>
                  <a:close/>
                </a:path>
                <a:path w="678179" h="1080135">
                  <a:moveTo>
                    <a:pt x="137860" y="918477"/>
                  </a:moveTo>
                  <a:lnTo>
                    <a:pt x="119888" y="948435"/>
                  </a:lnTo>
                  <a:lnTo>
                    <a:pt x="187790" y="948435"/>
                  </a:lnTo>
                  <a:lnTo>
                    <a:pt x="137860" y="918477"/>
                  </a:lnTo>
                  <a:close/>
                </a:path>
                <a:path w="678179" h="1080135">
                  <a:moveTo>
                    <a:pt x="648081" y="0"/>
                  </a:moveTo>
                  <a:lnTo>
                    <a:pt x="107866" y="900481"/>
                  </a:lnTo>
                  <a:lnTo>
                    <a:pt x="137860" y="918477"/>
                  </a:lnTo>
                  <a:lnTo>
                    <a:pt x="678052" y="18033"/>
                  </a:lnTo>
                  <a:lnTo>
                    <a:pt x="64808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59079" y="5956198"/>
            <a:ext cx="3411220" cy="192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latin typeface="Arial"/>
                <a:cs typeface="Arial"/>
              </a:rPr>
              <a:t>C.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Warren</a:t>
            </a:r>
            <a:r>
              <a:rPr sz="1100" b="1" spc="-5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Olanow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et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al.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Neurology</a:t>
            </a:r>
            <a:r>
              <a:rPr sz="1100" b="1" spc="-5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2009;72:S1-</a:t>
            </a:r>
            <a:r>
              <a:rPr sz="1100" b="1" spc="-20" dirty="0">
                <a:latin typeface="Arial"/>
                <a:cs typeface="Arial"/>
              </a:rPr>
              <a:t>S136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2899" y="6626149"/>
            <a:ext cx="200088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latin typeface="Arial"/>
                <a:cs typeface="Arial"/>
              </a:rPr>
              <a:t>©2009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 Lippincott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Williams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&amp;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Wilkins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8571" y="0"/>
            <a:ext cx="8785860" cy="6858634"/>
            <a:chOff x="358571" y="0"/>
            <a:chExt cx="8785860" cy="685863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7650" y="5981700"/>
              <a:ext cx="2611247" cy="65246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9546" y="2359025"/>
              <a:ext cx="8169529" cy="213360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641400" y="6205829"/>
            <a:ext cx="3411854" cy="5283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latin typeface="Arial"/>
                <a:cs typeface="Arial"/>
              </a:rPr>
              <a:t>C.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Warren</a:t>
            </a:r>
            <a:r>
              <a:rPr sz="1100" b="1" spc="-5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Olanow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et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al.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Neurology</a:t>
            </a:r>
            <a:r>
              <a:rPr sz="1100" b="1" spc="-5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2009;72:S1-</a:t>
            </a:r>
            <a:r>
              <a:rPr sz="1100" b="1" spc="-20" dirty="0">
                <a:latin typeface="Arial"/>
                <a:cs typeface="Arial"/>
              </a:rPr>
              <a:t>S136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11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</a:pPr>
            <a:r>
              <a:rPr sz="900" dirty="0">
                <a:latin typeface="Arial"/>
                <a:cs typeface="Arial"/>
              </a:rPr>
              <a:t>©2009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Lippincott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Williams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&amp;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Wilkins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99591" y="404622"/>
            <a:ext cx="1944370" cy="2231390"/>
            <a:chOff x="899591" y="404622"/>
            <a:chExt cx="1944370" cy="2231390"/>
          </a:xfrm>
        </p:grpSpPr>
        <p:sp>
          <p:nvSpPr>
            <p:cNvPr id="7" name="object 7"/>
            <p:cNvSpPr/>
            <p:nvPr/>
          </p:nvSpPr>
          <p:spPr>
            <a:xfrm>
              <a:off x="899591" y="404622"/>
              <a:ext cx="1944370" cy="2231390"/>
            </a:xfrm>
            <a:custGeom>
              <a:avLst/>
              <a:gdLst/>
              <a:ahLst/>
              <a:cxnLst/>
              <a:rect l="l" t="t" r="r" b="b"/>
              <a:pathLst>
                <a:path w="1944370" h="2231390">
                  <a:moveTo>
                    <a:pt x="810082" y="936116"/>
                  </a:moveTo>
                  <a:lnTo>
                    <a:pt x="324040" y="936116"/>
                  </a:lnTo>
                  <a:lnTo>
                    <a:pt x="742899" y="2231390"/>
                  </a:lnTo>
                  <a:lnTo>
                    <a:pt x="810082" y="936116"/>
                  </a:lnTo>
                  <a:close/>
                </a:path>
                <a:path w="1944370" h="2231390">
                  <a:moveTo>
                    <a:pt x="1788236" y="0"/>
                  </a:moveTo>
                  <a:lnTo>
                    <a:pt x="156019" y="0"/>
                  </a:lnTo>
                  <a:lnTo>
                    <a:pt x="106704" y="7954"/>
                  </a:lnTo>
                  <a:lnTo>
                    <a:pt x="63875" y="30106"/>
                  </a:lnTo>
                  <a:lnTo>
                    <a:pt x="30102" y="63889"/>
                  </a:lnTo>
                  <a:lnTo>
                    <a:pt x="7953" y="106736"/>
                  </a:lnTo>
                  <a:lnTo>
                    <a:pt x="0" y="156082"/>
                  </a:lnTo>
                  <a:lnTo>
                    <a:pt x="0" y="780161"/>
                  </a:lnTo>
                  <a:lnTo>
                    <a:pt x="7953" y="829445"/>
                  </a:lnTo>
                  <a:lnTo>
                    <a:pt x="30102" y="872255"/>
                  </a:lnTo>
                  <a:lnTo>
                    <a:pt x="63875" y="906019"/>
                  </a:lnTo>
                  <a:lnTo>
                    <a:pt x="106704" y="928163"/>
                  </a:lnTo>
                  <a:lnTo>
                    <a:pt x="156019" y="936116"/>
                  </a:lnTo>
                  <a:lnTo>
                    <a:pt x="1788236" y="936116"/>
                  </a:lnTo>
                  <a:lnTo>
                    <a:pt x="1837520" y="928163"/>
                  </a:lnTo>
                  <a:lnTo>
                    <a:pt x="1880330" y="906019"/>
                  </a:lnTo>
                  <a:lnTo>
                    <a:pt x="1914094" y="872255"/>
                  </a:lnTo>
                  <a:lnTo>
                    <a:pt x="1936238" y="829445"/>
                  </a:lnTo>
                  <a:lnTo>
                    <a:pt x="1944192" y="780161"/>
                  </a:lnTo>
                  <a:lnTo>
                    <a:pt x="1944192" y="156082"/>
                  </a:lnTo>
                  <a:lnTo>
                    <a:pt x="1936238" y="106736"/>
                  </a:lnTo>
                  <a:lnTo>
                    <a:pt x="1914094" y="63889"/>
                  </a:lnTo>
                  <a:lnTo>
                    <a:pt x="1880330" y="30106"/>
                  </a:lnTo>
                  <a:lnTo>
                    <a:pt x="1837520" y="7954"/>
                  </a:lnTo>
                  <a:lnTo>
                    <a:pt x="1788236" y="0"/>
                  </a:lnTo>
                  <a:close/>
                </a:path>
              </a:pathLst>
            </a:custGeom>
            <a:solidFill>
              <a:srgbClr val="8B8D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9629" y="404749"/>
              <a:ext cx="1944370" cy="2231390"/>
            </a:xfrm>
            <a:custGeom>
              <a:avLst/>
              <a:gdLst/>
              <a:ahLst/>
              <a:cxnLst/>
              <a:rect l="l" t="t" r="r" b="b"/>
              <a:pathLst>
                <a:path w="1944370" h="2231390">
                  <a:moveTo>
                    <a:pt x="743318" y="2224880"/>
                  </a:moveTo>
                  <a:lnTo>
                    <a:pt x="741020" y="2225180"/>
                  </a:lnTo>
                  <a:lnTo>
                    <a:pt x="742988" y="2231263"/>
                  </a:lnTo>
                  <a:lnTo>
                    <a:pt x="743303" y="2225180"/>
                  </a:lnTo>
                  <a:lnTo>
                    <a:pt x="743318" y="2224880"/>
                  </a:lnTo>
                  <a:close/>
                </a:path>
                <a:path w="1944370" h="2231390">
                  <a:moveTo>
                    <a:pt x="712810" y="2137970"/>
                  </a:moveTo>
                  <a:lnTo>
                    <a:pt x="708063" y="2229485"/>
                  </a:lnTo>
                  <a:lnTo>
                    <a:pt x="741020" y="2225180"/>
                  </a:lnTo>
                  <a:lnTo>
                    <a:pt x="712810" y="2137970"/>
                  </a:lnTo>
                  <a:close/>
                </a:path>
                <a:path w="1944370" h="2231390">
                  <a:moveTo>
                    <a:pt x="717870" y="2040418"/>
                  </a:moveTo>
                  <a:lnTo>
                    <a:pt x="712810" y="2137970"/>
                  </a:lnTo>
                  <a:lnTo>
                    <a:pt x="740923" y="2224880"/>
                  </a:lnTo>
                  <a:lnTo>
                    <a:pt x="741020" y="2225180"/>
                  </a:lnTo>
                  <a:lnTo>
                    <a:pt x="743318" y="2224880"/>
                  </a:lnTo>
                  <a:lnTo>
                    <a:pt x="748038" y="2133710"/>
                  </a:lnTo>
                  <a:lnTo>
                    <a:pt x="717870" y="2040418"/>
                  </a:lnTo>
                  <a:close/>
                </a:path>
                <a:path w="1944370" h="2231390">
                  <a:moveTo>
                    <a:pt x="748038" y="2133710"/>
                  </a:moveTo>
                  <a:lnTo>
                    <a:pt x="743318" y="2224880"/>
                  </a:lnTo>
                  <a:lnTo>
                    <a:pt x="776135" y="2220595"/>
                  </a:lnTo>
                  <a:lnTo>
                    <a:pt x="748038" y="2133710"/>
                  </a:lnTo>
                  <a:close/>
                </a:path>
                <a:path w="1944370" h="2231390">
                  <a:moveTo>
                    <a:pt x="1788198" y="0"/>
                  </a:moveTo>
                  <a:lnTo>
                    <a:pt x="156019" y="0"/>
                  </a:lnTo>
                  <a:lnTo>
                    <a:pt x="140017" y="762"/>
                  </a:lnTo>
                  <a:lnTo>
                    <a:pt x="95250" y="12191"/>
                  </a:lnTo>
                  <a:lnTo>
                    <a:pt x="56768" y="35560"/>
                  </a:lnTo>
                  <a:lnTo>
                    <a:pt x="26669" y="68706"/>
                  </a:lnTo>
                  <a:lnTo>
                    <a:pt x="7048" y="109600"/>
                  </a:lnTo>
                  <a:lnTo>
                    <a:pt x="0" y="155955"/>
                  </a:lnTo>
                  <a:lnTo>
                    <a:pt x="0" y="780034"/>
                  </a:lnTo>
                  <a:lnTo>
                    <a:pt x="694" y="794258"/>
                  </a:lnTo>
                  <a:lnTo>
                    <a:pt x="774" y="795909"/>
                  </a:lnTo>
                  <a:lnTo>
                    <a:pt x="12293" y="840739"/>
                  </a:lnTo>
                  <a:lnTo>
                    <a:pt x="35623" y="879348"/>
                  </a:lnTo>
                  <a:lnTo>
                    <a:pt x="68770" y="909447"/>
                  </a:lnTo>
                  <a:lnTo>
                    <a:pt x="109639" y="929004"/>
                  </a:lnTo>
                  <a:lnTo>
                    <a:pt x="156019" y="936116"/>
                  </a:lnTo>
                  <a:lnTo>
                    <a:pt x="324040" y="936116"/>
                  </a:lnTo>
                  <a:lnTo>
                    <a:pt x="712810" y="2137970"/>
                  </a:lnTo>
                  <a:lnTo>
                    <a:pt x="717870" y="2040418"/>
                  </a:lnTo>
                  <a:lnTo>
                    <a:pt x="357276" y="925322"/>
                  </a:lnTo>
                  <a:lnTo>
                    <a:pt x="324040" y="901191"/>
                  </a:lnTo>
                  <a:lnTo>
                    <a:pt x="156019" y="901191"/>
                  </a:lnTo>
                  <a:lnTo>
                    <a:pt x="141681" y="900429"/>
                  </a:lnTo>
                  <a:lnTo>
                    <a:pt x="96812" y="885825"/>
                  </a:lnTo>
                  <a:lnTo>
                    <a:pt x="61417" y="855726"/>
                  </a:lnTo>
                  <a:lnTo>
                    <a:pt x="39839" y="814451"/>
                  </a:lnTo>
                  <a:lnTo>
                    <a:pt x="34925" y="155955"/>
                  </a:lnTo>
                  <a:lnTo>
                    <a:pt x="35648" y="141604"/>
                  </a:lnTo>
                  <a:lnTo>
                    <a:pt x="50317" y="96774"/>
                  </a:lnTo>
                  <a:lnTo>
                    <a:pt x="80340" y="61340"/>
                  </a:lnTo>
                  <a:lnTo>
                    <a:pt x="121589" y="39877"/>
                  </a:lnTo>
                  <a:lnTo>
                    <a:pt x="154600" y="34925"/>
                  </a:lnTo>
                  <a:lnTo>
                    <a:pt x="1886650" y="34925"/>
                  </a:lnTo>
                  <a:lnTo>
                    <a:pt x="1875447" y="26670"/>
                  </a:lnTo>
                  <a:lnTo>
                    <a:pt x="1834553" y="6985"/>
                  </a:lnTo>
                  <a:lnTo>
                    <a:pt x="1804073" y="762"/>
                  </a:lnTo>
                  <a:lnTo>
                    <a:pt x="1788198" y="0"/>
                  </a:lnTo>
                  <a:close/>
                </a:path>
                <a:path w="1944370" h="2231390">
                  <a:moveTo>
                    <a:pt x="1886650" y="34925"/>
                  </a:moveTo>
                  <a:lnTo>
                    <a:pt x="1788198" y="34925"/>
                  </a:lnTo>
                  <a:lnTo>
                    <a:pt x="1802422" y="35560"/>
                  </a:lnTo>
                  <a:lnTo>
                    <a:pt x="1814360" y="37591"/>
                  </a:lnTo>
                  <a:lnTo>
                    <a:pt x="1857413" y="56514"/>
                  </a:lnTo>
                  <a:lnTo>
                    <a:pt x="1889544" y="89662"/>
                  </a:lnTo>
                  <a:lnTo>
                    <a:pt x="1907324" y="133350"/>
                  </a:lnTo>
                  <a:lnTo>
                    <a:pt x="1909356" y="780034"/>
                  </a:lnTo>
                  <a:lnTo>
                    <a:pt x="1908594" y="794258"/>
                  </a:lnTo>
                  <a:lnTo>
                    <a:pt x="1893989" y="839215"/>
                  </a:lnTo>
                  <a:lnTo>
                    <a:pt x="1863890" y="874649"/>
                  </a:lnTo>
                  <a:lnTo>
                    <a:pt x="1822615" y="896238"/>
                  </a:lnTo>
                  <a:lnTo>
                    <a:pt x="1786547" y="901191"/>
                  </a:lnTo>
                  <a:lnTo>
                    <a:pt x="810044" y="901191"/>
                  </a:lnTo>
                  <a:lnTo>
                    <a:pt x="796909" y="903745"/>
                  </a:lnTo>
                  <a:lnTo>
                    <a:pt x="786025" y="910764"/>
                  </a:lnTo>
                  <a:lnTo>
                    <a:pt x="778450" y="921283"/>
                  </a:lnTo>
                  <a:lnTo>
                    <a:pt x="775246" y="934338"/>
                  </a:lnTo>
                  <a:lnTo>
                    <a:pt x="717870" y="2040418"/>
                  </a:lnTo>
                  <a:lnTo>
                    <a:pt x="748038" y="2133710"/>
                  </a:lnTo>
                  <a:lnTo>
                    <a:pt x="810044" y="936116"/>
                  </a:lnTo>
                  <a:lnTo>
                    <a:pt x="1788198" y="936116"/>
                  </a:lnTo>
                  <a:lnTo>
                    <a:pt x="1834553" y="929004"/>
                  </a:lnTo>
                  <a:lnTo>
                    <a:pt x="1875447" y="909447"/>
                  </a:lnTo>
                  <a:lnTo>
                    <a:pt x="1908594" y="879348"/>
                  </a:lnTo>
                  <a:lnTo>
                    <a:pt x="1931962" y="840739"/>
                  </a:lnTo>
                  <a:lnTo>
                    <a:pt x="1943519" y="795909"/>
                  </a:lnTo>
                  <a:lnTo>
                    <a:pt x="1944281" y="780034"/>
                  </a:lnTo>
                  <a:lnTo>
                    <a:pt x="1944281" y="155955"/>
                  </a:lnTo>
                  <a:lnTo>
                    <a:pt x="1943597" y="141604"/>
                  </a:lnTo>
                  <a:lnTo>
                    <a:pt x="1943519" y="139953"/>
                  </a:lnTo>
                  <a:lnTo>
                    <a:pt x="1931962" y="95250"/>
                  </a:lnTo>
                  <a:lnTo>
                    <a:pt x="1908594" y="56768"/>
                  </a:lnTo>
                  <a:lnTo>
                    <a:pt x="1887512" y="35560"/>
                  </a:lnTo>
                  <a:lnTo>
                    <a:pt x="1886650" y="34925"/>
                  </a:lnTo>
                  <a:close/>
                </a:path>
              </a:pathLst>
            </a:custGeom>
            <a:solidFill>
              <a:srgbClr val="646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058367" y="579882"/>
            <a:ext cx="16287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80" marR="5080" indent="-3048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Lower</a:t>
            </a:r>
            <a:r>
              <a:rPr sz="1800" spc="-6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brainstem </a:t>
            </a:r>
            <a:r>
              <a:rPr sz="180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&amp;</a:t>
            </a:r>
            <a:r>
              <a:rPr sz="1800" spc="-6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Olfactory</a:t>
            </a:r>
            <a:r>
              <a:rPr sz="1800" spc="-6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bulb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8540" y="4897373"/>
            <a:ext cx="258000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0" dirty="0">
                <a:latin typeface="Franklin Gothic Medium"/>
                <a:cs typeface="Franklin Gothic Medium"/>
              </a:rPr>
              <a:t>Prodromal</a:t>
            </a:r>
            <a:r>
              <a:rPr sz="1400" spc="-20" dirty="0">
                <a:latin typeface="Franklin Gothic Medium"/>
                <a:cs typeface="Franklin Gothic Medium"/>
              </a:rPr>
              <a:t> </a:t>
            </a:r>
            <a:r>
              <a:rPr sz="1400" spc="-25" dirty="0">
                <a:latin typeface="Franklin Gothic Medium"/>
                <a:cs typeface="Franklin Gothic Medium"/>
              </a:rPr>
              <a:t>PD</a:t>
            </a:r>
            <a:endParaRPr sz="1400">
              <a:latin typeface="Franklin Gothic Medium"/>
              <a:cs typeface="Franklin Gothic Medium"/>
            </a:endParaRPr>
          </a:p>
          <a:p>
            <a:pPr marL="144780" indent="-88265">
              <a:lnSpc>
                <a:spcPct val="100000"/>
              </a:lnSpc>
              <a:buChar char="-"/>
              <a:tabLst>
                <a:tab pos="144780" algn="l"/>
              </a:tabLst>
            </a:pPr>
            <a:r>
              <a:rPr sz="1400" spc="-10" dirty="0">
                <a:latin typeface="Franklin Gothic Medium"/>
                <a:cs typeface="Franklin Gothic Medium"/>
              </a:rPr>
              <a:t>Olfactory</a:t>
            </a:r>
            <a:r>
              <a:rPr sz="1400" spc="-60" dirty="0">
                <a:latin typeface="Franklin Gothic Medium"/>
                <a:cs typeface="Franklin Gothic Medium"/>
              </a:rPr>
              <a:t> </a:t>
            </a:r>
            <a:r>
              <a:rPr sz="1400" dirty="0">
                <a:latin typeface="Franklin Gothic Medium"/>
                <a:cs typeface="Franklin Gothic Medium"/>
              </a:rPr>
              <a:t>bulb</a:t>
            </a:r>
            <a:r>
              <a:rPr sz="1400" spc="-45" dirty="0">
                <a:latin typeface="Franklin Gothic Medium"/>
                <a:cs typeface="Franklin Gothic Medium"/>
              </a:rPr>
              <a:t> </a:t>
            </a:r>
            <a:r>
              <a:rPr sz="1400" spc="-10" dirty="0">
                <a:latin typeface="Franklin Gothic Medium"/>
                <a:cs typeface="Franklin Gothic Medium"/>
              </a:rPr>
              <a:t>(stage</a:t>
            </a:r>
            <a:r>
              <a:rPr sz="1400" spc="-35" dirty="0">
                <a:latin typeface="Franklin Gothic Medium"/>
                <a:cs typeface="Franklin Gothic Medium"/>
              </a:rPr>
              <a:t> </a:t>
            </a:r>
            <a:r>
              <a:rPr sz="1400" spc="-25" dirty="0">
                <a:latin typeface="Franklin Gothic Medium"/>
                <a:cs typeface="Franklin Gothic Medium"/>
              </a:rPr>
              <a:t>1)</a:t>
            </a:r>
            <a:endParaRPr sz="1400">
              <a:latin typeface="Franklin Gothic Medium"/>
              <a:cs typeface="Franklin Gothic Medium"/>
            </a:endParaRPr>
          </a:p>
          <a:p>
            <a:pPr marL="144780" indent="-88265">
              <a:lnSpc>
                <a:spcPct val="100000"/>
              </a:lnSpc>
              <a:buChar char="-"/>
              <a:tabLst>
                <a:tab pos="144780" algn="l"/>
              </a:tabLst>
            </a:pPr>
            <a:r>
              <a:rPr sz="1400" spc="-20" dirty="0">
                <a:latin typeface="Franklin Gothic Medium"/>
                <a:cs typeface="Franklin Gothic Medium"/>
              </a:rPr>
              <a:t>Brainstem</a:t>
            </a:r>
            <a:r>
              <a:rPr sz="1400" spc="-25" dirty="0">
                <a:latin typeface="Franklin Gothic Medium"/>
                <a:cs typeface="Franklin Gothic Medium"/>
              </a:rPr>
              <a:t> involvement</a:t>
            </a:r>
            <a:r>
              <a:rPr sz="1400" spc="-30" dirty="0">
                <a:latin typeface="Franklin Gothic Medium"/>
                <a:cs typeface="Franklin Gothic Medium"/>
              </a:rPr>
              <a:t> </a:t>
            </a:r>
            <a:r>
              <a:rPr sz="1400" spc="-10" dirty="0">
                <a:latin typeface="Franklin Gothic Medium"/>
                <a:cs typeface="Franklin Gothic Medium"/>
              </a:rPr>
              <a:t>(stage</a:t>
            </a:r>
            <a:r>
              <a:rPr sz="1400" spc="-20" dirty="0">
                <a:latin typeface="Franklin Gothic Medium"/>
                <a:cs typeface="Franklin Gothic Medium"/>
              </a:rPr>
              <a:t> </a:t>
            </a:r>
            <a:r>
              <a:rPr sz="1400" spc="-25" dirty="0">
                <a:latin typeface="Franklin Gothic Medium"/>
                <a:cs typeface="Franklin Gothic Medium"/>
              </a:rPr>
              <a:t>2)</a:t>
            </a:r>
            <a:endParaRPr sz="1400">
              <a:latin typeface="Franklin Gothic Medium"/>
              <a:cs typeface="Franklin Gothic Medium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779901" y="404622"/>
            <a:ext cx="1728470" cy="2847340"/>
            <a:chOff x="3779901" y="404622"/>
            <a:chExt cx="1728470" cy="2847340"/>
          </a:xfrm>
        </p:grpSpPr>
        <p:sp>
          <p:nvSpPr>
            <p:cNvPr id="12" name="object 12"/>
            <p:cNvSpPr/>
            <p:nvPr/>
          </p:nvSpPr>
          <p:spPr>
            <a:xfrm>
              <a:off x="3779901" y="404622"/>
              <a:ext cx="1728470" cy="2847340"/>
            </a:xfrm>
            <a:custGeom>
              <a:avLst/>
              <a:gdLst/>
              <a:ahLst/>
              <a:cxnLst/>
              <a:rect l="l" t="t" r="r" b="b"/>
              <a:pathLst>
                <a:path w="1728470" h="2847340">
                  <a:moveTo>
                    <a:pt x="1440179" y="1224152"/>
                  </a:moveTo>
                  <a:lnTo>
                    <a:pt x="1008126" y="1224152"/>
                  </a:lnTo>
                  <a:lnTo>
                    <a:pt x="1031621" y="2846958"/>
                  </a:lnTo>
                  <a:lnTo>
                    <a:pt x="1440179" y="1224152"/>
                  </a:lnTo>
                  <a:close/>
                </a:path>
                <a:path w="1728470" h="2847340">
                  <a:moveTo>
                    <a:pt x="1524127" y="0"/>
                  </a:moveTo>
                  <a:lnTo>
                    <a:pt x="204088" y="0"/>
                  </a:lnTo>
                  <a:lnTo>
                    <a:pt x="157274" y="5393"/>
                  </a:lnTo>
                  <a:lnTo>
                    <a:pt x="114309" y="20755"/>
                  </a:lnTo>
                  <a:lnTo>
                    <a:pt x="76416" y="44856"/>
                  </a:lnTo>
                  <a:lnTo>
                    <a:pt x="44816" y="76469"/>
                  </a:lnTo>
                  <a:lnTo>
                    <a:pt x="20733" y="114364"/>
                  </a:lnTo>
                  <a:lnTo>
                    <a:pt x="5386" y="157314"/>
                  </a:lnTo>
                  <a:lnTo>
                    <a:pt x="0" y="204088"/>
                  </a:lnTo>
                  <a:lnTo>
                    <a:pt x="0" y="1020190"/>
                  </a:lnTo>
                  <a:lnTo>
                    <a:pt x="5386" y="1066958"/>
                  </a:lnTo>
                  <a:lnTo>
                    <a:pt x="20733" y="1109890"/>
                  </a:lnTo>
                  <a:lnTo>
                    <a:pt x="44816" y="1147760"/>
                  </a:lnTo>
                  <a:lnTo>
                    <a:pt x="76416" y="1179346"/>
                  </a:lnTo>
                  <a:lnTo>
                    <a:pt x="114309" y="1203422"/>
                  </a:lnTo>
                  <a:lnTo>
                    <a:pt x="157274" y="1218766"/>
                  </a:lnTo>
                  <a:lnTo>
                    <a:pt x="204088" y="1224152"/>
                  </a:lnTo>
                  <a:lnTo>
                    <a:pt x="1524127" y="1224152"/>
                  </a:lnTo>
                  <a:lnTo>
                    <a:pt x="1570941" y="1218766"/>
                  </a:lnTo>
                  <a:lnTo>
                    <a:pt x="1613906" y="1203422"/>
                  </a:lnTo>
                  <a:lnTo>
                    <a:pt x="1651799" y="1179346"/>
                  </a:lnTo>
                  <a:lnTo>
                    <a:pt x="1683399" y="1147760"/>
                  </a:lnTo>
                  <a:lnTo>
                    <a:pt x="1707482" y="1109890"/>
                  </a:lnTo>
                  <a:lnTo>
                    <a:pt x="1722829" y="1066958"/>
                  </a:lnTo>
                  <a:lnTo>
                    <a:pt x="1728215" y="1020190"/>
                  </a:lnTo>
                  <a:lnTo>
                    <a:pt x="1728215" y="204088"/>
                  </a:lnTo>
                  <a:lnTo>
                    <a:pt x="1722829" y="157314"/>
                  </a:lnTo>
                  <a:lnTo>
                    <a:pt x="1707482" y="114364"/>
                  </a:lnTo>
                  <a:lnTo>
                    <a:pt x="1683399" y="76469"/>
                  </a:lnTo>
                  <a:lnTo>
                    <a:pt x="1651799" y="44856"/>
                  </a:lnTo>
                  <a:lnTo>
                    <a:pt x="1613906" y="20755"/>
                  </a:lnTo>
                  <a:lnTo>
                    <a:pt x="1570941" y="5393"/>
                  </a:lnTo>
                  <a:lnTo>
                    <a:pt x="1524127" y="0"/>
                  </a:lnTo>
                  <a:close/>
                </a:path>
              </a:pathLst>
            </a:custGeom>
            <a:solidFill>
              <a:srgbClr val="8B8D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780028" y="404749"/>
              <a:ext cx="1728470" cy="2846705"/>
            </a:xfrm>
            <a:custGeom>
              <a:avLst/>
              <a:gdLst/>
              <a:ahLst/>
              <a:cxnLst/>
              <a:rect l="l" t="t" r="r" b="b"/>
              <a:pathLst>
                <a:path w="1728470" h="2846704">
                  <a:moveTo>
                    <a:pt x="1031428" y="2842311"/>
                  </a:moveTo>
                  <a:lnTo>
                    <a:pt x="1031488" y="2846451"/>
                  </a:lnTo>
                  <a:lnTo>
                    <a:pt x="1032597" y="2842449"/>
                  </a:lnTo>
                  <a:lnTo>
                    <a:pt x="1031428" y="2842311"/>
                  </a:lnTo>
                  <a:close/>
                </a:path>
                <a:path w="1728470" h="2846704">
                  <a:moveTo>
                    <a:pt x="1064525" y="2715641"/>
                  </a:moveTo>
                  <a:lnTo>
                    <a:pt x="1032632" y="2842311"/>
                  </a:lnTo>
                  <a:lnTo>
                    <a:pt x="1032597" y="2842449"/>
                  </a:lnTo>
                  <a:lnTo>
                    <a:pt x="1066419" y="2846451"/>
                  </a:lnTo>
                  <a:lnTo>
                    <a:pt x="1064525" y="2715641"/>
                  </a:lnTo>
                  <a:close/>
                </a:path>
                <a:path w="1728470" h="2846704">
                  <a:moveTo>
                    <a:pt x="1062570" y="2580643"/>
                  </a:moveTo>
                  <a:lnTo>
                    <a:pt x="1029539" y="2711872"/>
                  </a:lnTo>
                  <a:lnTo>
                    <a:pt x="1031370" y="2838323"/>
                  </a:lnTo>
                  <a:lnTo>
                    <a:pt x="1031428" y="2842311"/>
                  </a:lnTo>
                  <a:lnTo>
                    <a:pt x="1032597" y="2842449"/>
                  </a:lnTo>
                  <a:lnTo>
                    <a:pt x="1064525" y="2715641"/>
                  </a:lnTo>
                  <a:lnTo>
                    <a:pt x="1062570" y="2580643"/>
                  </a:lnTo>
                  <a:close/>
                </a:path>
                <a:path w="1728470" h="2846704">
                  <a:moveTo>
                    <a:pt x="1029539" y="2711872"/>
                  </a:moveTo>
                  <a:lnTo>
                    <a:pt x="997712" y="2838323"/>
                  </a:lnTo>
                  <a:lnTo>
                    <a:pt x="1031428" y="2842311"/>
                  </a:lnTo>
                  <a:lnTo>
                    <a:pt x="1029594" y="2715641"/>
                  </a:lnTo>
                  <a:lnTo>
                    <a:pt x="1029539" y="2711872"/>
                  </a:lnTo>
                  <a:close/>
                </a:path>
                <a:path w="1728470" h="2846704">
                  <a:moveTo>
                    <a:pt x="1638344" y="34925"/>
                  </a:moveTo>
                  <a:lnTo>
                    <a:pt x="1524000" y="34925"/>
                  </a:lnTo>
                  <a:lnTo>
                    <a:pt x="1543177" y="35940"/>
                  </a:lnTo>
                  <a:lnTo>
                    <a:pt x="1559814" y="38735"/>
                  </a:lnTo>
                  <a:lnTo>
                    <a:pt x="1606042" y="56006"/>
                  </a:lnTo>
                  <a:lnTo>
                    <a:pt x="1644904" y="85598"/>
                  </a:lnTo>
                  <a:lnTo>
                    <a:pt x="1673479" y="124840"/>
                  </a:lnTo>
                  <a:lnTo>
                    <a:pt x="1689989" y="171450"/>
                  </a:lnTo>
                  <a:lnTo>
                    <a:pt x="1693164" y="1020063"/>
                  </a:lnTo>
                  <a:lnTo>
                    <a:pt x="1692148" y="1039240"/>
                  </a:lnTo>
                  <a:lnTo>
                    <a:pt x="1679321" y="1087501"/>
                  </a:lnTo>
                  <a:lnTo>
                    <a:pt x="1653539" y="1129029"/>
                  </a:lnTo>
                  <a:lnTo>
                    <a:pt x="1617345" y="1161288"/>
                  </a:lnTo>
                  <a:lnTo>
                    <a:pt x="1572768" y="1182115"/>
                  </a:lnTo>
                  <a:lnTo>
                    <a:pt x="1522349" y="1189227"/>
                  </a:lnTo>
                  <a:lnTo>
                    <a:pt x="1440052" y="1189227"/>
                  </a:lnTo>
                  <a:lnTo>
                    <a:pt x="1428557" y="1191158"/>
                  </a:lnTo>
                  <a:lnTo>
                    <a:pt x="1418574" y="1196578"/>
                  </a:lnTo>
                  <a:lnTo>
                    <a:pt x="1410852" y="1204926"/>
                  </a:lnTo>
                  <a:lnTo>
                    <a:pt x="1406144" y="1215643"/>
                  </a:lnTo>
                  <a:lnTo>
                    <a:pt x="1062570" y="2580643"/>
                  </a:lnTo>
                  <a:lnTo>
                    <a:pt x="1064470" y="2711872"/>
                  </a:lnTo>
                  <a:lnTo>
                    <a:pt x="1064525" y="2715641"/>
                  </a:lnTo>
                  <a:lnTo>
                    <a:pt x="1440052" y="1224152"/>
                  </a:lnTo>
                  <a:lnTo>
                    <a:pt x="1524000" y="1224152"/>
                  </a:lnTo>
                  <a:lnTo>
                    <a:pt x="1544955" y="1223010"/>
                  </a:lnTo>
                  <a:lnTo>
                    <a:pt x="1584706" y="1215009"/>
                  </a:lnTo>
                  <a:lnTo>
                    <a:pt x="1621282" y="1199388"/>
                  </a:lnTo>
                  <a:lnTo>
                    <a:pt x="1653921" y="1177543"/>
                  </a:lnTo>
                  <a:lnTo>
                    <a:pt x="1681480" y="1149858"/>
                  </a:lnTo>
                  <a:lnTo>
                    <a:pt x="1703451" y="1117346"/>
                  </a:lnTo>
                  <a:lnTo>
                    <a:pt x="1718945" y="1080770"/>
                  </a:lnTo>
                  <a:lnTo>
                    <a:pt x="1727073" y="1040891"/>
                  </a:lnTo>
                  <a:lnTo>
                    <a:pt x="1728089" y="1020063"/>
                  </a:lnTo>
                  <a:lnTo>
                    <a:pt x="1728089" y="203962"/>
                  </a:lnTo>
                  <a:lnTo>
                    <a:pt x="1727159" y="184912"/>
                  </a:lnTo>
                  <a:lnTo>
                    <a:pt x="1727073" y="183134"/>
                  </a:lnTo>
                  <a:lnTo>
                    <a:pt x="1718945" y="143255"/>
                  </a:lnTo>
                  <a:lnTo>
                    <a:pt x="1703451" y="106679"/>
                  </a:lnTo>
                  <a:lnTo>
                    <a:pt x="1681480" y="74167"/>
                  </a:lnTo>
                  <a:lnTo>
                    <a:pt x="1653921" y="46481"/>
                  </a:lnTo>
                  <a:lnTo>
                    <a:pt x="1638344" y="34925"/>
                  </a:lnTo>
                  <a:close/>
                </a:path>
                <a:path w="1728470" h="2846704">
                  <a:moveTo>
                    <a:pt x="1524000" y="0"/>
                  </a:moveTo>
                  <a:lnTo>
                    <a:pt x="203962" y="0"/>
                  </a:lnTo>
                  <a:lnTo>
                    <a:pt x="183134" y="1015"/>
                  </a:lnTo>
                  <a:lnTo>
                    <a:pt x="143256" y="9143"/>
                  </a:lnTo>
                  <a:lnTo>
                    <a:pt x="106680" y="24637"/>
                  </a:lnTo>
                  <a:lnTo>
                    <a:pt x="74168" y="46481"/>
                  </a:lnTo>
                  <a:lnTo>
                    <a:pt x="46482" y="74167"/>
                  </a:lnTo>
                  <a:lnTo>
                    <a:pt x="24637" y="106679"/>
                  </a:lnTo>
                  <a:lnTo>
                    <a:pt x="9144" y="143255"/>
                  </a:lnTo>
                  <a:lnTo>
                    <a:pt x="1016" y="183134"/>
                  </a:lnTo>
                  <a:lnTo>
                    <a:pt x="0" y="203962"/>
                  </a:lnTo>
                  <a:lnTo>
                    <a:pt x="0" y="1020063"/>
                  </a:lnTo>
                  <a:lnTo>
                    <a:pt x="935" y="1039240"/>
                  </a:lnTo>
                  <a:lnTo>
                    <a:pt x="1016" y="1040891"/>
                  </a:lnTo>
                  <a:lnTo>
                    <a:pt x="4191" y="1061212"/>
                  </a:lnTo>
                  <a:lnTo>
                    <a:pt x="9144" y="1080770"/>
                  </a:lnTo>
                  <a:lnTo>
                    <a:pt x="15909" y="1099312"/>
                  </a:lnTo>
                  <a:lnTo>
                    <a:pt x="16001" y="1099565"/>
                  </a:lnTo>
                  <a:lnTo>
                    <a:pt x="34798" y="1134237"/>
                  </a:lnTo>
                  <a:lnTo>
                    <a:pt x="59689" y="1164336"/>
                  </a:lnTo>
                  <a:lnTo>
                    <a:pt x="89916" y="1189227"/>
                  </a:lnTo>
                  <a:lnTo>
                    <a:pt x="124587" y="1208151"/>
                  </a:lnTo>
                  <a:lnTo>
                    <a:pt x="162813" y="1219962"/>
                  </a:lnTo>
                  <a:lnTo>
                    <a:pt x="203962" y="1224152"/>
                  </a:lnTo>
                  <a:lnTo>
                    <a:pt x="1007999" y="1224152"/>
                  </a:lnTo>
                  <a:lnTo>
                    <a:pt x="1029539" y="2711872"/>
                  </a:lnTo>
                  <a:lnTo>
                    <a:pt x="1062570" y="2580643"/>
                  </a:lnTo>
                  <a:lnTo>
                    <a:pt x="1042931" y="1224152"/>
                  </a:lnTo>
                  <a:lnTo>
                    <a:pt x="1042924" y="1223645"/>
                  </a:lnTo>
                  <a:lnTo>
                    <a:pt x="1040038" y="1210177"/>
                  </a:lnTo>
                  <a:lnTo>
                    <a:pt x="1032608" y="1199388"/>
                  </a:lnTo>
                  <a:lnTo>
                    <a:pt x="1032510" y="1199245"/>
                  </a:lnTo>
                  <a:lnTo>
                    <a:pt x="1021457" y="1191908"/>
                  </a:lnTo>
                  <a:lnTo>
                    <a:pt x="1007999" y="1189227"/>
                  </a:lnTo>
                  <a:lnTo>
                    <a:pt x="203962" y="1189227"/>
                  </a:lnTo>
                  <a:lnTo>
                    <a:pt x="184912" y="1188212"/>
                  </a:lnTo>
                  <a:lnTo>
                    <a:pt x="136525" y="1175258"/>
                  </a:lnTo>
                  <a:lnTo>
                    <a:pt x="94996" y="1149603"/>
                  </a:lnTo>
                  <a:lnTo>
                    <a:pt x="62864" y="1113281"/>
                  </a:lnTo>
                  <a:lnTo>
                    <a:pt x="41910" y="1068831"/>
                  </a:lnTo>
                  <a:lnTo>
                    <a:pt x="34876" y="1020063"/>
                  </a:lnTo>
                  <a:lnTo>
                    <a:pt x="34925" y="203962"/>
                  </a:lnTo>
                  <a:lnTo>
                    <a:pt x="42925" y="151891"/>
                  </a:lnTo>
                  <a:lnTo>
                    <a:pt x="64770" y="107950"/>
                  </a:lnTo>
                  <a:lnTo>
                    <a:pt x="97662" y="72389"/>
                  </a:lnTo>
                  <a:lnTo>
                    <a:pt x="139826" y="47371"/>
                  </a:lnTo>
                  <a:lnTo>
                    <a:pt x="188468" y="35560"/>
                  </a:lnTo>
                  <a:lnTo>
                    <a:pt x="202861" y="34925"/>
                  </a:lnTo>
                  <a:lnTo>
                    <a:pt x="1638384" y="34925"/>
                  </a:lnTo>
                  <a:lnTo>
                    <a:pt x="1621282" y="24637"/>
                  </a:lnTo>
                  <a:lnTo>
                    <a:pt x="1603502" y="16001"/>
                  </a:lnTo>
                  <a:lnTo>
                    <a:pt x="1584706" y="9143"/>
                  </a:lnTo>
                  <a:lnTo>
                    <a:pt x="1565148" y="4190"/>
                  </a:lnTo>
                  <a:lnTo>
                    <a:pt x="1544955" y="1015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646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111244" y="586181"/>
            <a:ext cx="1064895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635"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Extend</a:t>
            </a:r>
            <a:r>
              <a:rPr sz="1800" spc="-6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to </a:t>
            </a:r>
            <a:r>
              <a:rPr sz="1800" spc="-1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Substantia </a:t>
            </a:r>
            <a:r>
              <a:rPr sz="1800" spc="-1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Niagra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59148" y="4897373"/>
            <a:ext cx="2061845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Franklin Gothic Medium"/>
                <a:cs typeface="Franklin Gothic Medium"/>
              </a:rPr>
              <a:t>Midbrain</a:t>
            </a:r>
            <a:r>
              <a:rPr sz="1400" spc="-80" dirty="0">
                <a:latin typeface="Franklin Gothic Medium"/>
                <a:cs typeface="Franklin Gothic Medium"/>
              </a:rPr>
              <a:t> </a:t>
            </a:r>
            <a:r>
              <a:rPr sz="1400" spc="-20" dirty="0">
                <a:latin typeface="Franklin Gothic Medium"/>
                <a:cs typeface="Franklin Gothic Medium"/>
              </a:rPr>
              <a:t>level</a:t>
            </a:r>
            <a:endParaRPr sz="1400">
              <a:latin typeface="Franklin Gothic Medium"/>
              <a:cs typeface="Franklin Gothic Medium"/>
            </a:endParaRPr>
          </a:p>
          <a:p>
            <a:pPr marL="12700" marR="5080" indent="132080">
              <a:lnSpc>
                <a:spcPct val="100000"/>
              </a:lnSpc>
              <a:buChar char="-"/>
              <a:tabLst>
                <a:tab pos="144780" algn="l"/>
              </a:tabLst>
            </a:pPr>
            <a:r>
              <a:rPr sz="1400" dirty="0">
                <a:latin typeface="Franklin Gothic Medium"/>
                <a:cs typeface="Franklin Gothic Medium"/>
              </a:rPr>
              <a:t>80%</a:t>
            </a:r>
            <a:r>
              <a:rPr sz="1400" spc="-45" dirty="0">
                <a:latin typeface="Franklin Gothic Medium"/>
                <a:cs typeface="Franklin Gothic Medium"/>
              </a:rPr>
              <a:t> </a:t>
            </a:r>
            <a:r>
              <a:rPr sz="1400" dirty="0">
                <a:latin typeface="Franklin Gothic Medium"/>
                <a:cs typeface="Franklin Gothic Medium"/>
              </a:rPr>
              <a:t>of</a:t>
            </a:r>
            <a:r>
              <a:rPr sz="1400" spc="-50" dirty="0">
                <a:latin typeface="Franklin Gothic Medium"/>
                <a:cs typeface="Franklin Gothic Medium"/>
              </a:rPr>
              <a:t> </a:t>
            </a:r>
            <a:r>
              <a:rPr sz="1400" spc="-10" dirty="0">
                <a:latin typeface="Franklin Gothic Medium"/>
                <a:cs typeface="Franklin Gothic Medium"/>
              </a:rPr>
              <a:t>dopamine</a:t>
            </a:r>
            <a:r>
              <a:rPr sz="1400" spc="-70" dirty="0">
                <a:latin typeface="Franklin Gothic Medium"/>
                <a:cs typeface="Franklin Gothic Medium"/>
              </a:rPr>
              <a:t> </a:t>
            </a:r>
            <a:r>
              <a:rPr sz="1400" spc="-10" dirty="0">
                <a:latin typeface="Franklin Gothic Medium"/>
                <a:cs typeface="Franklin Gothic Medium"/>
              </a:rPr>
              <a:t>neuron </a:t>
            </a:r>
            <a:r>
              <a:rPr sz="1400" spc="-20" dirty="0">
                <a:latin typeface="Franklin Gothic Medium"/>
                <a:cs typeface="Franklin Gothic Medium"/>
              </a:rPr>
              <a:t>loss</a:t>
            </a:r>
            <a:endParaRPr sz="1400">
              <a:latin typeface="Franklin Gothic Medium"/>
              <a:cs typeface="Franklin Gothic Medium"/>
            </a:endParaRPr>
          </a:p>
          <a:p>
            <a:pPr marL="144780" indent="-88265">
              <a:lnSpc>
                <a:spcPct val="100000"/>
              </a:lnSpc>
              <a:buChar char="-"/>
              <a:tabLst>
                <a:tab pos="144780" algn="l"/>
              </a:tabLst>
            </a:pPr>
            <a:r>
              <a:rPr sz="1400" spc="-20" dirty="0">
                <a:latin typeface="Franklin Gothic Medium"/>
                <a:cs typeface="Franklin Gothic Medium"/>
              </a:rPr>
              <a:t>Cognitive</a:t>
            </a:r>
            <a:r>
              <a:rPr sz="1400" spc="-5" dirty="0">
                <a:latin typeface="Franklin Gothic Medium"/>
                <a:cs typeface="Franklin Gothic Medium"/>
              </a:rPr>
              <a:t> </a:t>
            </a:r>
            <a:r>
              <a:rPr sz="1400" dirty="0">
                <a:latin typeface="Franklin Gothic Medium"/>
                <a:cs typeface="Franklin Gothic Medium"/>
              </a:rPr>
              <a:t>-</a:t>
            </a:r>
            <a:r>
              <a:rPr sz="1400" spc="15" dirty="0">
                <a:latin typeface="Franklin Gothic Medium"/>
                <a:cs typeface="Franklin Gothic Medium"/>
              </a:rPr>
              <a:t> </a:t>
            </a:r>
            <a:r>
              <a:rPr sz="1400" spc="-10" dirty="0">
                <a:latin typeface="Franklin Gothic Medium"/>
                <a:cs typeface="Franklin Gothic Medium"/>
              </a:rPr>
              <a:t>dementia</a:t>
            </a:r>
            <a:endParaRPr sz="1400">
              <a:latin typeface="Franklin Gothic Medium"/>
              <a:cs typeface="Franklin Gothic Medium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371463" y="329945"/>
            <a:ext cx="2016760" cy="2481580"/>
            <a:chOff x="6371463" y="329945"/>
            <a:chExt cx="2016760" cy="2481580"/>
          </a:xfrm>
        </p:grpSpPr>
        <p:sp>
          <p:nvSpPr>
            <p:cNvPr id="17" name="object 17"/>
            <p:cNvSpPr/>
            <p:nvPr/>
          </p:nvSpPr>
          <p:spPr>
            <a:xfrm>
              <a:off x="6371463" y="329945"/>
              <a:ext cx="2016760" cy="2481580"/>
            </a:xfrm>
            <a:custGeom>
              <a:avLst/>
              <a:gdLst/>
              <a:ahLst/>
              <a:cxnLst/>
              <a:rect l="l" t="t" r="r" b="b"/>
              <a:pathLst>
                <a:path w="2016759" h="2481580">
                  <a:moveTo>
                    <a:pt x="840105" y="1080007"/>
                  </a:moveTo>
                  <a:lnTo>
                    <a:pt x="336041" y="1080007"/>
                  </a:lnTo>
                  <a:lnTo>
                    <a:pt x="851915" y="2481199"/>
                  </a:lnTo>
                  <a:lnTo>
                    <a:pt x="840105" y="1080007"/>
                  </a:lnTo>
                  <a:close/>
                </a:path>
                <a:path w="2016759" h="2481580">
                  <a:moveTo>
                    <a:pt x="1836292" y="0"/>
                  </a:moveTo>
                  <a:lnTo>
                    <a:pt x="180086" y="0"/>
                  </a:lnTo>
                  <a:lnTo>
                    <a:pt x="132218" y="6424"/>
                  </a:lnTo>
                  <a:lnTo>
                    <a:pt x="89201" y="24558"/>
                  </a:lnTo>
                  <a:lnTo>
                    <a:pt x="52752" y="52689"/>
                  </a:lnTo>
                  <a:lnTo>
                    <a:pt x="24590" y="89106"/>
                  </a:lnTo>
                  <a:lnTo>
                    <a:pt x="6434" y="132100"/>
                  </a:lnTo>
                  <a:lnTo>
                    <a:pt x="0" y="179958"/>
                  </a:lnTo>
                  <a:lnTo>
                    <a:pt x="0" y="900049"/>
                  </a:lnTo>
                  <a:lnTo>
                    <a:pt x="6434" y="947907"/>
                  </a:lnTo>
                  <a:lnTo>
                    <a:pt x="24590" y="990901"/>
                  </a:lnTo>
                  <a:lnTo>
                    <a:pt x="52752" y="1027318"/>
                  </a:lnTo>
                  <a:lnTo>
                    <a:pt x="89201" y="1055449"/>
                  </a:lnTo>
                  <a:lnTo>
                    <a:pt x="132218" y="1073583"/>
                  </a:lnTo>
                  <a:lnTo>
                    <a:pt x="180086" y="1080007"/>
                  </a:lnTo>
                  <a:lnTo>
                    <a:pt x="1836292" y="1080007"/>
                  </a:lnTo>
                  <a:lnTo>
                    <a:pt x="1884151" y="1073583"/>
                  </a:lnTo>
                  <a:lnTo>
                    <a:pt x="1927145" y="1055449"/>
                  </a:lnTo>
                  <a:lnTo>
                    <a:pt x="1963562" y="1027318"/>
                  </a:lnTo>
                  <a:lnTo>
                    <a:pt x="1991693" y="990901"/>
                  </a:lnTo>
                  <a:lnTo>
                    <a:pt x="2009827" y="947907"/>
                  </a:lnTo>
                  <a:lnTo>
                    <a:pt x="2016252" y="900049"/>
                  </a:lnTo>
                  <a:lnTo>
                    <a:pt x="2016252" y="179958"/>
                  </a:lnTo>
                  <a:lnTo>
                    <a:pt x="2009827" y="132100"/>
                  </a:lnTo>
                  <a:lnTo>
                    <a:pt x="1991693" y="89106"/>
                  </a:lnTo>
                  <a:lnTo>
                    <a:pt x="1963562" y="52689"/>
                  </a:lnTo>
                  <a:lnTo>
                    <a:pt x="1927145" y="24558"/>
                  </a:lnTo>
                  <a:lnTo>
                    <a:pt x="1884151" y="6424"/>
                  </a:lnTo>
                  <a:lnTo>
                    <a:pt x="1836292" y="0"/>
                  </a:lnTo>
                  <a:close/>
                </a:path>
              </a:pathLst>
            </a:custGeom>
            <a:solidFill>
              <a:srgbClr val="8B8D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371590" y="329945"/>
              <a:ext cx="2016760" cy="2481580"/>
            </a:xfrm>
            <a:custGeom>
              <a:avLst/>
              <a:gdLst/>
              <a:ahLst/>
              <a:cxnLst/>
              <a:rect l="l" t="t" r="r" b="b"/>
              <a:pathLst>
                <a:path w="2016759" h="2481580">
                  <a:moveTo>
                    <a:pt x="816051" y="2384114"/>
                  </a:moveTo>
                  <a:lnTo>
                    <a:pt x="816760" y="2469133"/>
                  </a:lnTo>
                  <a:lnTo>
                    <a:pt x="816863" y="2481579"/>
                  </a:lnTo>
                  <a:lnTo>
                    <a:pt x="849706" y="2475541"/>
                  </a:lnTo>
                  <a:lnTo>
                    <a:pt x="816051" y="2384114"/>
                  </a:lnTo>
                  <a:close/>
                </a:path>
                <a:path w="2016759" h="2481580">
                  <a:moveTo>
                    <a:pt x="851738" y="2475167"/>
                  </a:moveTo>
                  <a:lnTo>
                    <a:pt x="849706" y="2475541"/>
                  </a:lnTo>
                  <a:lnTo>
                    <a:pt x="851788" y="2481199"/>
                  </a:lnTo>
                  <a:lnTo>
                    <a:pt x="851738" y="2475167"/>
                  </a:lnTo>
                  <a:close/>
                </a:path>
                <a:path w="2016759" h="2481580">
                  <a:moveTo>
                    <a:pt x="815188" y="2280695"/>
                  </a:moveTo>
                  <a:lnTo>
                    <a:pt x="815998" y="2377779"/>
                  </a:lnTo>
                  <a:lnTo>
                    <a:pt x="816051" y="2384114"/>
                  </a:lnTo>
                  <a:lnTo>
                    <a:pt x="849706" y="2475541"/>
                  </a:lnTo>
                  <a:lnTo>
                    <a:pt x="851738" y="2475167"/>
                  </a:lnTo>
                  <a:lnTo>
                    <a:pt x="850979" y="2384114"/>
                  </a:lnTo>
                  <a:lnTo>
                    <a:pt x="850926" y="2377779"/>
                  </a:lnTo>
                  <a:lnTo>
                    <a:pt x="815188" y="2280695"/>
                  </a:lnTo>
                  <a:close/>
                </a:path>
                <a:path w="2016759" h="2481580">
                  <a:moveTo>
                    <a:pt x="850926" y="2377779"/>
                  </a:moveTo>
                  <a:lnTo>
                    <a:pt x="851688" y="2469133"/>
                  </a:lnTo>
                  <a:lnTo>
                    <a:pt x="851738" y="2475167"/>
                  </a:lnTo>
                  <a:lnTo>
                    <a:pt x="884555" y="2469133"/>
                  </a:lnTo>
                  <a:lnTo>
                    <a:pt x="850926" y="2377779"/>
                  </a:lnTo>
                  <a:close/>
                </a:path>
                <a:path w="2016759" h="2481580">
                  <a:moveTo>
                    <a:pt x="1836165" y="0"/>
                  </a:moveTo>
                  <a:lnTo>
                    <a:pt x="179959" y="0"/>
                  </a:lnTo>
                  <a:lnTo>
                    <a:pt x="161543" y="888"/>
                  </a:lnTo>
                  <a:lnTo>
                    <a:pt x="109855" y="14224"/>
                  </a:lnTo>
                  <a:lnTo>
                    <a:pt x="65532" y="41148"/>
                  </a:lnTo>
                  <a:lnTo>
                    <a:pt x="30734" y="79375"/>
                  </a:lnTo>
                  <a:lnTo>
                    <a:pt x="8000" y="126491"/>
                  </a:lnTo>
                  <a:lnTo>
                    <a:pt x="0" y="179958"/>
                  </a:lnTo>
                  <a:lnTo>
                    <a:pt x="0" y="900049"/>
                  </a:lnTo>
                  <a:lnTo>
                    <a:pt x="803" y="916686"/>
                  </a:lnTo>
                  <a:lnTo>
                    <a:pt x="888" y="918463"/>
                  </a:lnTo>
                  <a:lnTo>
                    <a:pt x="14097" y="970152"/>
                  </a:lnTo>
                  <a:lnTo>
                    <a:pt x="41148" y="1014602"/>
                  </a:lnTo>
                  <a:lnTo>
                    <a:pt x="79248" y="1049401"/>
                  </a:lnTo>
                  <a:lnTo>
                    <a:pt x="126492" y="1072006"/>
                  </a:lnTo>
                  <a:lnTo>
                    <a:pt x="179959" y="1080134"/>
                  </a:lnTo>
                  <a:lnTo>
                    <a:pt x="336041" y="1080134"/>
                  </a:lnTo>
                  <a:lnTo>
                    <a:pt x="816051" y="2384114"/>
                  </a:lnTo>
                  <a:lnTo>
                    <a:pt x="815188" y="2280695"/>
                  </a:lnTo>
                  <a:lnTo>
                    <a:pt x="368808" y="1068069"/>
                  </a:lnTo>
                  <a:lnTo>
                    <a:pt x="336041" y="1045209"/>
                  </a:lnTo>
                  <a:lnTo>
                    <a:pt x="179959" y="1045209"/>
                  </a:lnTo>
                  <a:lnTo>
                    <a:pt x="163449" y="1044320"/>
                  </a:lnTo>
                  <a:lnTo>
                    <a:pt x="121793" y="1033144"/>
                  </a:lnTo>
                  <a:lnTo>
                    <a:pt x="86487" y="1011046"/>
                  </a:lnTo>
                  <a:lnTo>
                    <a:pt x="58674" y="979804"/>
                  </a:lnTo>
                  <a:lnTo>
                    <a:pt x="40894" y="941577"/>
                  </a:lnTo>
                  <a:lnTo>
                    <a:pt x="34872" y="900049"/>
                  </a:lnTo>
                  <a:lnTo>
                    <a:pt x="34925" y="179958"/>
                  </a:lnTo>
                  <a:lnTo>
                    <a:pt x="41910" y="135254"/>
                  </a:lnTo>
                  <a:lnTo>
                    <a:pt x="60579" y="97536"/>
                  </a:lnTo>
                  <a:lnTo>
                    <a:pt x="89026" y="66928"/>
                  </a:lnTo>
                  <a:lnTo>
                    <a:pt x="124968" y="45719"/>
                  </a:lnTo>
                  <a:lnTo>
                    <a:pt x="166751" y="35432"/>
                  </a:lnTo>
                  <a:lnTo>
                    <a:pt x="181737" y="34925"/>
                  </a:lnTo>
                  <a:lnTo>
                    <a:pt x="1942447" y="34925"/>
                  </a:lnTo>
                  <a:lnTo>
                    <a:pt x="1936877" y="30733"/>
                  </a:lnTo>
                  <a:lnTo>
                    <a:pt x="1889760" y="8127"/>
                  </a:lnTo>
                  <a:lnTo>
                    <a:pt x="1854581" y="888"/>
                  </a:lnTo>
                  <a:lnTo>
                    <a:pt x="1836165" y="0"/>
                  </a:lnTo>
                  <a:close/>
                </a:path>
                <a:path w="2016759" h="2481580">
                  <a:moveTo>
                    <a:pt x="1942447" y="34925"/>
                  </a:moveTo>
                  <a:lnTo>
                    <a:pt x="1836165" y="34925"/>
                  </a:lnTo>
                  <a:lnTo>
                    <a:pt x="1852803" y="35813"/>
                  </a:lnTo>
                  <a:lnTo>
                    <a:pt x="1867281" y="38100"/>
                  </a:lnTo>
                  <a:lnTo>
                    <a:pt x="1906905" y="53212"/>
                  </a:lnTo>
                  <a:lnTo>
                    <a:pt x="1940179" y="78739"/>
                  </a:lnTo>
                  <a:lnTo>
                    <a:pt x="1964689" y="112394"/>
                  </a:lnTo>
                  <a:lnTo>
                    <a:pt x="1978787" y="152526"/>
                  </a:lnTo>
                  <a:lnTo>
                    <a:pt x="1981327" y="900049"/>
                  </a:lnTo>
                  <a:lnTo>
                    <a:pt x="1980438" y="916686"/>
                  </a:lnTo>
                  <a:lnTo>
                    <a:pt x="1969262" y="958341"/>
                  </a:lnTo>
                  <a:lnTo>
                    <a:pt x="1947164" y="993648"/>
                  </a:lnTo>
                  <a:lnTo>
                    <a:pt x="1915921" y="1021461"/>
                  </a:lnTo>
                  <a:lnTo>
                    <a:pt x="1877821" y="1039240"/>
                  </a:lnTo>
                  <a:lnTo>
                    <a:pt x="1834388" y="1045209"/>
                  </a:lnTo>
                  <a:lnTo>
                    <a:pt x="840105" y="1045209"/>
                  </a:lnTo>
                  <a:lnTo>
                    <a:pt x="833179" y="1045888"/>
                  </a:lnTo>
                  <a:lnTo>
                    <a:pt x="805783" y="1073517"/>
                  </a:lnTo>
                  <a:lnTo>
                    <a:pt x="805291" y="1079118"/>
                  </a:lnTo>
                  <a:lnTo>
                    <a:pt x="805180" y="1080389"/>
                  </a:lnTo>
                  <a:lnTo>
                    <a:pt x="815188" y="2280695"/>
                  </a:lnTo>
                  <a:lnTo>
                    <a:pt x="850926" y="2377779"/>
                  </a:lnTo>
                  <a:lnTo>
                    <a:pt x="840107" y="1080389"/>
                  </a:lnTo>
                  <a:lnTo>
                    <a:pt x="840105" y="1080134"/>
                  </a:lnTo>
                  <a:lnTo>
                    <a:pt x="1836165" y="1080134"/>
                  </a:lnTo>
                  <a:lnTo>
                    <a:pt x="1854581" y="1079118"/>
                  </a:lnTo>
                  <a:lnTo>
                    <a:pt x="1906269" y="1066038"/>
                  </a:lnTo>
                  <a:lnTo>
                    <a:pt x="1950719" y="1038987"/>
                  </a:lnTo>
                  <a:lnTo>
                    <a:pt x="1985390" y="1000759"/>
                  </a:lnTo>
                  <a:lnTo>
                    <a:pt x="2008124" y="953642"/>
                  </a:lnTo>
                  <a:lnTo>
                    <a:pt x="2016252" y="900049"/>
                  </a:lnTo>
                  <a:lnTo>
                    <a:pt x="2016252" y="179958"/>
                  </a:lnTo>
                  <a:lnTo>
                    <a:pt x="2015334" y="163449"/>
                  </a:lnTo>
                  <a:lnTo>
                    <a:pt x="2015236" y="161670"/>
                  </a:lnTo>
                  <a:lnTo>
                    <a:pt x="2002155" y="109981"/>
                  </a:lnTo>
                  <a:lnTo>
                    <a:pt x="1975104" y="65531"/>
                  </a:lnTo>
                  <a:lnTo>
                    <a:pt x="1950719" y="41148"/>
                  </a:lnTo>
                  <a:lnTo>
                    <a:pt x="1942447" y="34925"/>
                  </a:lnTo>
                  <a:close/>
                </a:path>
              </a:pathLst>
            </a:custGeom>
            <a:solidFill>
              <a:srgbClr val="646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 descr="$PPTXTitle"/>
          <p:cNvSpPr txBox="1">
            <a:spLocks noGrp="1"/>
          </p:cNvSpPr>
          <p:nvPr>
            <p:ph type="title"/>
          </p:nvPr>
        </p:nvSpPr>
        <p:spPr>
          <a:xfrm>
            <a:off x="6541134" y="439928"/>
            <a:ext cx="167830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270"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</a:rPr>
              <a:t>Later</a:t>
            </a:r>
            <a:r>
              <a:rPr sz="1800" spc="-100" dirty="0">
                <a:solidFill>
                  <a:srgbClr val="FFFFFF"/>
                </a:solidFill>
              </a:rPr>
              <a:t> </a:t>
            </a:r>
            <a:r>
              <a:rPr sz="1800" spc="-10" dirty="0">
                <a:solidFill>
                  <a:srgbClr val="FFFFFF"/>
                </a:solidFill>
              </a:rPr>
              <a:t>distribution </a:t>
            </a:r>
            <a:r>
              <a:rPr sz="1800" dirty="0">
                <a:solidFill>
                  <a:srgbClr val="FFFFFF"/>
                </a:solidFill>
              </a:rPr>
              <a:t>of</a:t>
            </a:r>
            <a:r>
              <a:rPr sz="1800" spc="-65" dirty="0">
                <a:solidFill>
                  <a:srgbClr val="FFFFFF"/>
                </a:solidFill>
              </a:rPr>
              <a:t> </a:t>
            </a:r>
            <a:r>
              <a:rPr sz="1800" spc="-35" dirty="0">
                <a:solidFill>
                  <a:srgbClr val="FFFFFF"/>
                </a:solidFill>
              </a:rPr>
              <a:t>Lewy</a:t>
            </a:r>
            <a:r>
              <a:rPr sz="1800" spc="-30" dirty="0">
                <a:solidFill>
                  <a:srgbClr val="FFFFFF"/>
                </a:solidFill>
              </a:rPr>
              <a:t> </a:t>
            </a:r>
            <a:r>
              <a:rPr sz="1800" dirty="0">
                <a:solidFill>
                  <a:srgbClr val="FFFFFF"/>
                </a:solidFill>
              </a:rPr>
              <a:t>bodies</a:t>
            </a:r>
            <a:r>
              <a:rPr sz="1800" spc="-70" dirty="0">
                <a:solidFill>
                  <a:srgbClr val="FFFFFF"/>
                </a:solidFill>
              </a:rPr>
              <a:t> </a:t>
            </a:r>
            <a:r>
              <a:rPr sz="1800" spc="-25" dirty="0">
                <a:solidFill>
                  <a:srgbClr val="FFFFFF"/>
                </a:solidFill>
              </a:rPr>
              <a:t>in </a:t>
            </a:r>
            <a:r>
              <a:rPr sz="1800" dirty="0">
                <a:solidFill>
                  <a:srgbClr val="FFFFFF"/>
                </a:solidFill>
              </a:rPr>
              <a:t>the</a:t>
            </a:r>
            <a:r>
              <a:rPr sz="1800" spc="-50" dirty="0">
                <a:solidFill>
                  <a:srgbClr val="FFFFFF"/>
                </a:solidFill>
              </a:rPr>
              <a:t> </a:t>
            </a:r>
            <a:r>
              <a:rPr sz="1800" spc="-10" dirty="0">
                <a:solidFill>
                  <a:srgbClr val="FFFFFF"/>
                </a:solidFill>
              </a:rPr>
              <a:t>cortex</a:t>
            </a:r>
            <a:endParaRPr sz="1800"/>
          </a:p>
        </p:txBody>
      </p:sp>
      <p:sp>
        <p:nvSpPr>
          <p:cNvPr id="20" name="object 20"/>
          <p:cNvSpPr txBox="1"/>
          <p:nvPr/>
        </p:nvSpPr>
        <p:spPr>
          <a:xfrm>
            <a:off x="6451219" y="4897373"/>
            <a:ext cx="1858645" cy="1092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Franklin Gothic Medium"/>
                <a:cs typeface="Franklin Gothic Medium"/>
              </a:rPr>
              <a:t>Cortex</a:t>
            </a:r>
            <a:r>
              <a:rPr sz="1400" spc="-55" dirty="0">
                <a:latin typeface="Franklin Gothic Medium"/>
                <a:cs typeface="Franklin Gothic Medium"/>
              </a:rPr>
              <a:t> </a:t>
            </a:r>
            <a:r>
              <a:rPr sz="1400" spc="-10" dirty="0">
                <a:latin typeface="Franklin Gothic Medium"/>
                <a:cs typeface="Franklin Gothic Medium"/>
              </a:rPr>
              <a:t>involvement</a:t>
            </a:r>
            <a:endParaRPr sz="1400">
              <a:latin typeface="Franklin Gothic Medium"/>
              <a:cs typeface="Franklin Gothic Medium"/>
            </a:endParaRPr>
          </a:p>
          <a:p>
            <a:pPr marL="12700" marR="5080" indent="43815">
              <a:lnSpc>
                <a:spcPct val="100000"/>
              </a:lnSpc>
            </a:pPr>
            <a:r>
              <a:rPr sz="1400" dirty="0">
                <a:latin typeface="Franklin Gothic Medium"/>
                <a:cs typeface="Franklin Gothic Medium"/>
              </a:rPr>
              <a:t>-</a:t>
            </a:r>
            <a:r>
              <a:rPr sz="1400" spc="30" dirty="0">
                <a:latin typeface="Franklin Gothic Medium"/>
                <a:cs typeface="Franklin Gothic Medium"/>
              </a:rPr>
              <a:t> </a:t>
            </a:r>
            <a:r>
              <a:rPr sz="1400" spc="-20" dirty="0">
                <a:latin typeface="Franklin Gothic Medium"/>
                <a:cs typeface="Franklin Gothic Medium"/>
              </a:rPr>
              <a:t>extra-niagral</a:t>
            </a:r>
            <a:r>
              <a:rPr sz="1400" spc="-10" dirty="0">
                <a:latin typeface="Franklin Gothic Medium"/>
                <a:cs typeface="Franklin Gothic Medium"/>
              </a:rPr>
              <a:t> </a:t>
            </a:r>
            <a:r>
              <a:rPr sz="1400" spc="-25" dirty="0">
                <a:latin typeface="Franklin Gothic Medium"/>
                <a:cs typeface="Franklin Gothic Medium"/>
              </a:rPr>
              <a:t>pathology </a:t>
            </a:r>
            <a:r>
              <a:rPr sz="1400" spc="-10" dirty="0">
                <a:latin typeface="Franklin Gothic Medium"/>
                <a:cs typeface="Franklin Gothic Medium"/>
              </a:rPr>
              <a:t>including</a:t>
            </a:r>
            <a:r>
              <a:rPr sz="1400" spc="-5" dirty="0">
                <a:latin typeface="Franklin Gothic Medium"/>
                <a:cs typeface="Franklin Gothic Medium"/>
              </a:rPr>
              <a:t> </a:t>
            </a:r>
            <a:r>
              <a:rPr sz="1400" spc="-10" dirty="0">
                <a:latin typeface="Franklin Gothic Medium"/>
                <a:cs typeface="Franklin Gothic Medium"/>
              </a:rPr>
              <a:t>non-dopamine </a:t>
            </a:r>
            <a:r>
              <a:rPr sz="1400" dirty="0">
                <a:latin typeface="Franklin Gothic Medium"/>
                <a:cs typeface="Franklin Gothic Medium"/>
              </a:rPr>
              <a:t>pathways</a:t>
            </a:r>
            <a:r>
              <a:rPr sz="1400" spc="204" dirty="0">
                <a:latin typeface="Franklin Gothic Medium"/>
                <a:cs typeface="Franklin Gothic Medium"/>
              </a:rPr>
              <a:t> </a:t>
            </a:r>
            <a:r>
              <a:rPr sz="1400" dirty="0">
                <a:latin typeface="Franklin Gothic Medium"/>
                <a:cs typeface="Franklin Gothic Medium"/>
              </a:rPr>
              <a:t>-</a:t>
            </a:r>
            <a:r>
              <a:rPr sz="1400" spc="-65" dirty="0">
                <a:latin typeface="Franklin Gothic Medium"/>
                <a:cs typeface="Franklin Gothic Medium"/>
              </a:rPr>
              <a:t> </a:t>
            </a:r>
            <a:r>
              <a:rPr sz="1400" dirty="0">
                <a:latin typeface="Franklin Gothic Medium"/>
                <a:cs typeface="Franklin Gothic Medium"/>
              </a:rPr>
              <a:t>non</a:t>
            </a:r>
            <a:r>
              <a:rPr sz="1400" spc="-55" dirty="0">
                <a:latin typeface="Franklin Gothic Medium"/>
                <a:cs typeface="Franklin Gothic Medium"/>
              </a:rPr>
              <a:t> </a:t>
            </a:r>
            <a:r>
              <a:rPr sz="1400" spc="-10" dirty="0">
                <a:latin typeface="Franklin Gothic Medium"/>
                <a:cs typeface="Franklin Gothic Medium"/>
              </a:rPr>
              <a:t>–motor features</a:t>
            </a:r>
            <a:endParaRPr sz="1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07744" y="627633"/>
            <a:ext cx="5134610" cy="129413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ts val="4700"/>
              </a:lnSpc>
              <a:spcBef>
                <a:spcPts val="740"/>
              </a:spcBef>
              <a:tabLst>
                <a:tab pos="2771140" algn="l"/>
              </a:tabLst>
            </a:pPr>
            <a:r>
              <a:rPr sz="4400" spc="-10" dirty="0">
                <a:solidFill>
                  <a:srgbClr val="181B0D"/>
                </a:solidFill>
              </a:rPr>
              <a:t>Diagnosing</a:t>
            </a:r>
            <a:r>
              <a:rPr sz="4400" dirty="0">
                <a:solidFill>
                  <a:srgbClr val="181B0D"/>
                </a:solidFill>
              </a:rPr>
              <a:t>	</a:t>
            </a:r>
            <a:r>
              <a:rPr sz="4400" spc="-65" dirty="0">
                <a:solidFill>
                  <a:srgbClr val="181B0D"/>
                </a:solidFill>
              </a:rPr>
              <a:t>Parkinson </a:t>
            </a:r>
            <a:r>
              <a:rPr sz="4400" spc="-10" dirty="0">
                <a:solidFill>
                  <a:srgbClr val="181B0D"/>
                </a:solidFill>
              </a:rPr>
              <a:t>Disease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1107744" y="2224252"/>
            <a:ext cx="5988685" cy="2906395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396240" indent="-383540">
              <a:lnSpc>
                <a:spcPct val="100000"/>
              </a:lnSpc>
              <a:spcBef>
                <a:spcPts val="650"/>
              </a:spcBef>
              <a:buChar char="■"/>
              <a:tabLst>
                <a:tab pos="396240" algn="l"/>
              </a:tabLst>
            </a:pP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Based</a:t>
            </a:r>
            <a:r>
              <a:rPr sz="20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on</a:t>
            </a:r>
            <a:r>
              <a:rPr sz="20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clinical</a:t>
            </a:r>
            <a:r>
              <a:rPr sz="20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examination</a:t>
            </a:r>
            <a:r>
              <a:rPr sz="20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by</a:t>
            </a:r>
            <a:r>
              <a:rPr sz="20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</a:t>
            </a:r>
            <a:r>
              <a:rPr sz="20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specialist</a:t>
            </a:r>
            <a:endParaRPr sz="2000">
              <a:latin typeface="Franklin Gothic Medium"/>
              <a:cs typeface="Franklin Gothic Medium"/>
            </a:endParaRPr>
          </a:p>
          <a:p>
            <a:pPr marL="926465" lvl="1" indent="-383540">
              <a:lnSpc>
                <a:spcPct val="100000"/>
              </a:lnSpc>
              <a:spcBef>
                <a:spcPts val="550"/>
              </a:spcBef>
              <a:buFont typeface="Franklin Gothic Medium"/>
              <a:buChar char="–"/>
              <a:tabLst>
                <a:tab pos="926465" algn="l"/>
              </a:tabLst>
            </a:pPr>
            <a:r>
              <a:rPr sz="2000" i="1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Neurologists</a:t>
            </a:r>
            <a:r>
              <a:rPr sz="2000" i="1" spc="-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–</a:t>
            </a:r>
            <a:r>
              <a:rPr sz="2000" i="1" spc="1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93.5%</a:t>
            </a:r>
            <a:r>
              <a:rPr sz="2000" i="1" spc="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accuracy</a:t>
            </a:r>
            <a:endParaRPr sz="2000">
              <a:latin typeface="Franklin Gothic Medium"/>
              <a:cs typeface="Franklin Gothic Medium"/>
            </a:endParaRPr>
          </a:p>
          <a:p>
            <a:pPr marL="926465" lvl="1" indent="-383540">
              <a:lnSpc>
                <a:spcPct val="100000"/>
              </a:lnSpc>
              <a:spcBef>
                <a:spcPts val="555"/>
              </a:spcBef>
              <a:buFont typeface="Franklin Gothic Medium"/>
              <a:buChar char="–"/>
              <a:tabLst>
                <a:tab pos="926465" algn="l"/>
              </a:tabLst>
            </a:pP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Non-specialists</a:t>
            </a:r>
            <a:r>
              <a:rPr sz="2000" i="1" spc="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=73.5%</a:t>
            </a:r>
            <a:r>
              <a:rPr sz="2000" i="1" spc="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accuracy</a:t>
            </a:r>
            <a:endParaRPr sz="2000">
              <a:latin typeface="Franklin Gothic Medium"/>
              <a:cs typeface="Franklin Gothic Medium"/>
            </a:endParaRPr>
          </a:p>
          <a:p>
            <a:pPr lvl="1">
              <a:lnSpc>
                <a:spcPct val="100000"/>
              </a:lnSpc>
              <a:spcBef>
                <a:spcPts val="1115"/>
              </a:spcBef>
              <a:buClr>
                <a:srgbClr val="181B0D"/>
              </a:buClr>
              <a:buFont typeface="Franklin Gothic Medium"/>
              <a:buChar char="–"/>
            </a:pPr>
            <a:endParaRPr sz="20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buChar char="■"/>
              <a:tabLst>
                <a:tab pos="396240" algn="l"/>
              </a:tabLst>
            </a:pP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Gold</a:t>
            </a:r>
            <a:r>
              <a:rPr sz="2000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standard:</a:t>
            </a:r>
            <a:r>
              <a:rPr sz="20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neuropathological</a:t>
            </a:r>
            <a:r>
              <a:rPr sz="2000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exam</a:t>
            </a:r>
            <a:r>
              <a:rPr sz="20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at</a:t>
            </a:r>
            <a:r>
              <a:rPr sz="20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autopsy</a:t>
            </a:r>
            <a:endParaRPr sz="20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1315"/>
              </a:spcBef>
              <a:buClr>
                <a:srgbClr val="181B0D"/>
              </a:buClr>
              <a:buFont typeface="Franklin Gothic Medium"/>
              <a:buChar char="■"/>
            </a:pPr>
            <a:endParaRPr sz="2000">
              <a:latin typeface="Franklin Gothic Medium"/>
              <a:cs typeface="Franklin Gothic Medium"/>
            </a:endParaRPr>
          </a:p>
          <a:p>
            <a:pPr marL="396240" marR="5080" indent="-384175">
              <a:lnSpc>
                <a:spcPts val="2260"/>
              </a:lnSpc>
              <a:buChar char="■"/>
              <a:tabLst>
                <a:tab pos="396240" algn="l"/>
              </a:tabLst>
            </a:pP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No</a:t>
            </a:r>
            <a:r>
              <a:rPr sz="20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biological</a:t>
            </a:r>
            <a:r>
              <a:rPr sz="20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marker</a:t>
            </a:r>
            <a:r>
              <a:rPr sz="20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that</a:t>
            </a:r>
            <a:r>
              <a:rPr sz="20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unequivocally</a:t>
            </a:r>
            <a:r>
              <a:rPr sz="2000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confirms</a:t>
            </a:r>
            <a:r>
              <a:rPr sz="20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PD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diagnosis</a:t>
            </a:r>
            <a:endParaRPr sz="20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66978" y="311022"/>
            <a:ext cx="70199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0" dirty="0">
                <a:solidFill>
                  <a:srgbClr val="CC0000"/>
                </a:solidFill>
              </a:rPr>
              <a:t>Cardinal</a:t>
            </a:r>
            <a:r>
              <a:rPr sz="3600" spc="-160" dirty="0">
                <a:solidFill>
                  <a:srgbClr val="CC0000"/>
                </a:solidFill>
              </a:rPr>
              <a:t> </a:t>
            </a:r>
            <a:r>
              <a:rPr sz="3600" dirty="0">
                <a:solidFill>
                  <a:srgbClr val="CC0000"/>
                </a:solidFill>
              </a:rPr>
              <a:t>Features</a:t>
            </a:r>
            <a:r>
              <a:rPr sz="3600" spc="-125" dirty="0">
                <a:solidFill>
                  <a:srgbClr val="CC0000"/>
                </a:solidFill>
              </a:rPr>
              <a:t> </a:t>
            </a:r>
            <a:r>
              <a:rPr sz="3600" dirty="0">
                <a:solidFill>
                  <a:srgbClr val="CC0000"/>
                </a:solidFill>
              </a:rPr>
              <a:t>–</a:t>
            </a:r>
            <a:r>
              <a:rPr sz="3600" spc="-114" dirty="0">
                <a:solidFill>
                  <a:srgbClr val="CC0000"/>
                </a:solidFill>
              </a:rPr>
              <a:t> </a:t>
            </a:r>
            <a:r>
              <a:rPr sz="3600" spc="-25" dirty="0">
                <a:solidFill>
                  <a:srgbClr val="CC0000"/>
                </a:solidFill>
              </a:rPr>
              <a:t>Clinical</a:t>
            </a:r>
            <a:r>
              <a:rPr sz="3600" spc="-165" dirty="0">
                <a:solidFill>
                  <a:srgbClr val="CC0000"/>
                </a:solidFill>
              </a:rPr>
              <a:t> </a:t>
            </a:r>
            <a:r>
              <a:rPr sz="3600" spc="-10" dirty="0">
                <a:solidFill>
                  <a:srgbClr val="CC0000"/>
                </a:solidFill>
              </a:rPr>
              <a:t>features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5094859" y="4419904"/>
            <a:ext cx="3851275" cy="370840"/>
          </a:xfrm>
          <a:custGeom>
            <a:avLst/>
            <a:gdLst/>
            <a:ahLst/>
            <a:cxnLst/>
            <a:rect l="l" t="t" r="r" b="b"/>
            <a:pathLst>
              <a:path w="3851275" h="370839">
                <a:moveTo>
                  <a:pt x="3851275" y="0"/>
                </a:moveTo>
                <a:lnTo>
                  <a:pt x="0" y="0"/>
                </a:lnTo>
                <a:lnTo>
                  <a:pt x="0" y="370789"/>
                </a:lnTo>
                <a:lnTo>
                  <a:pt x="3851275" y="370789"/>
                </a:lnTo>
                <a:lnTo>
                  <a:pt x="3851275" y="0"/>
                </a:lnTo>
                <a:close/>
              </a:path>
            </a:pathLst>
          </a:custGeom>
          <a:solidFill>
            <a:srgbClr val="EDED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094859" y="5161457"/>
            <a:ext cx="3851275" cy="370840"/>
          </a:xfrm>
          <a:custGeom>
            <a:avLst/>
            <a:gdLst/>
            <a:ahLst/>
            <a:cxnLst/>
            <a:rect l="l" t="t" r="r" b="b"/>
            <a:pathLst>
              <a:path w="3851275" h="370839">
                <a:moveTo>
                  <a:pt x="3851275" y="0"/>
                </a:moveTo>
                <a:lnTo>
                  <a:pt x="0" y="0"/>
                </a:lnTo>
                <a:lnTo>
                  <a:pt x="0" y="370789"/>
                </a:lnTo>
                <a:lnTo>
                  <a:pt x="3851275" y="370789"/>
                </a:lnTo>
                <a:lnTo>
                  <a:pt x="3851275" y="0"/>
                </a:lnTo>
                <a:close/>
              </a:path>
            </a:pathLst>
          </a:custGeom>
          <a:solidFill>
            <a:srgbClr val="EDED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94859" y="5903048"/>
            <a:ext cx="3851275" cy="370840"/>
          </a:xfrm>
          <a:custGeom>
            <a:avLst/>
            <a:gdLst/>
            <a:ahLst/>
            <a:cxnLst/>
            <a:rect l="l" t="t" r="r" b="b"/>
            <a:pathLst>
              <a:path w="3851275" h="370839">
                <a:moveTo>
                  <a:pt x="3851275" y="0"/>
                </a:moveTo>
                <a:lnTo>
                  <a:pt x="0" y="0"/>
                </a:lnTo>
                <a:lnTo>
                  <a:pt x="0" y="370789"/>
                </a:lnTo>
                <a:lnTo>
                  <a:pt x="3851275" y="370789"/>
                </a:lnTo>
                <a:lnTo>
                  <a:pt x="3851275" y="0"/>
                </a:lnTo>
                <a:close/>
              </a:path>
            </a:pathLst>
          </a:custGeom>
          <a:solidFill>
            <a:srgbClr val="EDEDE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088509" y="3671951"/>
          <a:ext cx="3940175" cy="2962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51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Non</a:t>
                      </a:r>
                      <a:r>
                        <a:rPr sz="1800" spc="-65" dirty="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Motor</a:t>
                      </a:r>
                      <a:r>
                        <a:rPr sz="1800" spc="-50" dirty="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Features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B8D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78460" indent="-286385">
                        <a:lnSpc>
                          <a:spcPct val="100000"/>
                        </a:lnSpc>
                        <a:spcBef>
                          <a:spcPts val="320"/>
                        </a:spcBef>
                        <a:buFont typeface="Arial"/>
                        <a:buChar char="•"/>
                        <a:tabLst>
                          <a:tab pos="378460" algn="l"/>
                        </a:tabLst>
                      </a:pPr>
                      <a:r>
                        <a:rPr sz="1800" spc="-40" dirty="0">
                          <a:latin typeface="Franklin Gothic Medium"/>
                          <a:cs typeface="Franklin Gothic Medium"/>
                        </a:rPr>
                        <a:t>Autonomic</a:t>
                      </a:r>
                      <a:r>
                        <a:rPr sz="1800" spc="-2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dysfunction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378460" indent="-286385">
                        <a:lnSpc>
                          <a:spcPct val="100000"/>
                        </a:lnSpc>
                        <a:spcBef>
                          <a:spcPts val="320"/>
                        </a:spcBef>
                        <a:buFont typeface="Arial"/>
                        <a:buChar char="•"/>
                        <a:tabLst>
                          <a:tab pos="378460" algn="l"/>
                        </a:tabLst>
                      </a:pPr>
                      <a:r>
                        <a:rPr sz="1800" spc="-30" dirty="0">
                          <a:latin typeface="Franklin Gothic Medium"/>
                          <a:cs typeface="Franklin Gothic Medium"/>
                        </a:rPr>
                        <a:t>Communication</a:t>
                      </a:r>
                      <a:r>
                        <a:rPr sz="1800" spc="-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difficulties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378460" indent="-286385">
                        <a:lnSpc>
                          <a:spcPct val="100000"/>
                        </a:lnSpc>
                        <a:spcBef>
                          <a:spcPts val="320"/>
                        </a:spcBef>
                        <a:buFont typeface="Arial"/>
                        <a:buChar char="•"/>
                        <a:tabLst>
                          <a:tab pos="378460" algn="l"/>
                        </a:tabLst>
                      </a:pP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Sensory</a:t>
                      </a:r>
                      <a:r>
                        <a:rPr sz="1800" spc="-7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disturbances</a:t>
                      </a:r>
                      <a:r>
                        <a:rPr sz="1800" spc="-8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&amp;</a:t>
                      </a:r>
                      <a:r>
                        <a:rPr sz="1800" spc="-8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20" dirty="0">
                          <a:latin typeface="Franklin Gothic Medium"/>
                          <a:cs typeface="Franklin Gothic Medium"/>
                        </a:rPr>
                        <a:t>Pain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78460" indent="-286385">
                        <a:lnSpc>
                          <a:spcPct val="100000"/>
                        </a:lnSpc>
                        <a:spcBef>
                          <a:spcPts val="320"/>
                        </a:spcBef>
                        <a:buFont typeface="Arial"/>
                        <a:buChar char="•"/>
                        <a:tabLst>
                          <a:tab pos="378460" algn="l"/>
                        </a:tabLst>
                      </a:pP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Mood</a:t>
                      </a:r>
                      <a:r>
                        <a:rPr sz="1800" spc="-3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disorders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378460" indent="-286385">
                        <a:lnSpc>
                          <a:spcPct val="100000"/>
                        </a:lnSpc>
                        <a:spcBef>
                          <a:spcPts val="320"/>
                        </a:spcBef>
                        <a:buFont typeface="Arial"/>
                        <a:buChar char="•"/>
                        <a:tabLst>
                          <a:tab pos="378460" algn="l"/>
                        </a:tabLst>
                      </a:pP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Sleep</a:t>
                      </a:r>
                      <a:r>
                        <a:rPr sz="1800" spc="-9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impairment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378460" indent="-286385">
                        <a:lnSpc>
                          <a:spcPct val="100000"/>
                        </a:lnSpc>
                        <a:spcBef>
                          <a:spcPts val="325"/>
                        </a:spcBef>
                        <a:buFont typeface="Arial"/>
                        <a:buChar char="•"/>
                        <a:tabLst>
                          <a:tab pos="378460" algn="l"/>
                        </a:tabLst>
                      </a:pP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Dementia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378460" indent="-286385">
                        <a:lnSpc>
                          <a:spcPct val="100000"/>
                        </a:lnSpc>
                        <a:spcBef>
                          <a:spcPts val="320"/>
                        </a:spcBef>
                        <a:buFont typeface="Arial"/>
                        <a:buChar char="•"/>
                        <a:tabLst>
                          <a:tab pos="378460" algn="l"/>
                        </a:tabLst>
                      </a:pP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Falls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686434" y="1052702"/>
            <a:ext cx="4621530" cy="2508250"/>
            <a:chOff x="686434" y="1052702"/>
            <a:chExt cx="4621530" cy="250825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7958" y="1052702"/>
              <a:ext cx="4619625" cy="250825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86434" y="1915286"/>
              <a:ext cx="1647825" cy="1011555"/>
            </a:xfrm>
            <a:custGeom>
              <a:avLst/>
              <a:gdLst/>
              <a:ahLst/>
              <a:cxnLst/>
              <a:rect l="l" t="t" r="r" b="b"/>
              <a:pathLst>
                <a:path w="1647825" h="1011555">
                  <a:moveTo>
                    <a:pt x="0" y="976249"/>
                  </a:moveTo>
                  <a:lnTo>
                    <a:pt x="0" y="1011174"/>
                  </a:lnTo>
                  <a:lnTo>
                    <a:pt x="34925" y="1011174"/>
                  </a:lnTo>
                  <a:lnTo>
                    <a:pt x="0" y="976249"/>
                  </a:lnTo>
                  <a:close/>
                </a:path>
                <a:path w="1647825" h="1011555">
                  <a:moveTo>
                    <a:pt x="34925" y="0"/>
                  </a:moveTo>
                  <a:lnTo>
                    <a:pt x="0" y="34925"/>
                  </a:lnTo>
                  <a:lnTo>
                    <a:pt x="0" y="976249"/>
                  </a:lnTo>
                  <a:lnTo>
                    <a:pt x="34925" y="1011174"/>
                  </a:lnTo>
                  <a:lnTo>
                    <a:pt x="34925" y="0"/>
                  </a:lnTo>
                  <a:close/>
                </a:path>
                <a:path w="1647825" h="1011555">
                  <a:moveTo>
                    <a:pt x="1612519" y="976249"/>
                  </a:moveTo>
                  <a:lnTo>
                    <a:pt x="34925" y="976249"/>
                  </a:lnTo>
                  <a:lnTo>
                    <a:pt x="34925" y="1011174"/>
                  </a:lnTo>
                  <a:lnTo>
                    <a:pt x="1612519" y="1011174"/>
                  </a:lnTo>
                  <a:lnTo>
                    <a:pt x="1612519" y="976249"/>
                  </a:lnTo>
                  <a:close/>
                </a:path>
                <a:path w="1647825" h="1011555">
                  <a:moveTo>
                    <a:pt x="1612519" y="0"/>
                  </a:moveTo>
                  <a:lnTo>
                    <a:pt x="1612519" y="1011174"/>
                  </a:lnTo>
                  <a:lnTo>
                    <a:pt x="1647444" y="976249"/>
                  </a:lnTo>
                  <a:lnTo>
                    <a:pt x="1647444" y="34925"/>
                  </a:lnTo>
                  <a:lnTo>
                    <a:pt x="1612519" y="0"/>
                  </a:lnTo>
                  <a:close/>
                </a:path>
                <a:path w="1647825" h="1011555">
                  <a:moveTo>
                    <a:pt x="1647444" y="976249"/>
                  </a:moveTo>
                  <a:lnTo>
                    <a:pt x="1612519" y="1011174"/>
                  </a:lnTo>
                  <a:lnTo>
                    <a:pt x="1647444" y="1011174"/>
                  </a:lnTo>
                  <a:lnTo>
                    <a:pt x="1647444" y="976249"/>
                  </a:lnTo>
                  <a:close/>
                </a:path>
                <a:path w="1647825" h="1011555">
                  <a:moveTo>
                    <a:pt x="34925" y="0"/>
                  </a:moveTo>
                  <a:lnTo>
                    <a:pt x="0" y="0"/>
                  </a:lnTo>
                  <a:lnTo>
                    <a:pt x="0" y="34925"/>
                  </a:lnTo>
                  <a:lnTo>
                    <a:pt x="34925" y="0"/>
                  </a:lnTo>
                  <a:close/>
                </a:path>
                <a:path w="1647825" h="1011555">
                  <a:moveTo>
                    <a:pt x="1612519" y="0"/>
                  </a:moveTo>
                  <a:lnTo>
                    <a:pt x="34925" y="0"/>
                  </a:lnTo>
                  <a:lnTo>
                    <a:pt x="34925" y="34925"/>
                  </a:lnTo>
                  <a:lnTo>
                    <a:pt x="1612519" y="34925"/>
                  </a:lnTo>
                  <a:lnTo>
                    <a:pt x="1612519" y="0"/>
                  </a:lnTo>
                  <a:close/>
                </a:path>
                <a:path w="1647825" h="1011555">
                  <a:moveTo>
                    <a:pt x="1647444" y="0"/>
                  </a:moveTo>
                  <a:lnTo>
                    <a:pt x="1612519" y="0"/>
                  </a:lnTo>
                  <a:lnTo>
                    <a:pt x="1647444" y="34925"/>
                  </a:lnTo>
                  <a:lnTo>
                    <a:pt x="1647444" y="0"/>
                  </a:lnTo>
                  <a:close/>
                </a:path>
              </a:pathLst>
            </a:custGeom>
            <a:solidFill>
              <a:srgbClr val="646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07744" y="644397"/>
            <a:ext cx="56534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0" dirty="0">
                <a:solidFill>
                  <a:srgbClr val="CC0000"/>
                </a:solidFill>
              </a:rPr>
              <a:t>Cardinal</a:t>
            </a:r>
            <a:r>
              <a:rPr sz="3600" spc="-165" dirty="0">
                <a:solidFill>
                  <a:srgbClr val="CC0000"/>
                </a:solidFill>
              </a:rPr>
              <a:t> </a:t>
            </a:r>
            <a:r>
              <a:rPr sz="3600" dirty="0">
                <a:solidFill>
                  <a:srgbClr val="CC0000"/>
                </a:solidFill>
              </a:rPr>
              <a:t>sign:</a:t>
            </a:r>
            <a:r>
              <a:rPr sz="3600" spc="-150" dirty="0">
                <a:solidFill>
                  <a:srgbClr val="CC0000"/>
                </a:solidFill>
              </a:rPr>
              <a:t> </a:t>
            </a:r>
            <a:r>
              <a:rPr sz="3600" spc="-35" dirty="0">
                <a:solidFill>
                  <a:srgbClr val="CC0000"/>
                </a:solidFill>
              </a:rPr>
              <a:t>Resting</a:t>
            </a:r>
            <a:r>
              <a:rPr sz="3600" spc="-140" dirty="0">
                <a:solidFill>
                  <a:srgbClr val="CC0000"/>
                </a:solidFill>
              </a:rPr>
              <a:t> </a:t>
            </a:r>
            <a:r>
              <a:rPr sz="3600" spc="-35" dirty="0">
                <a:solidFill>
                  <a:srgbClr val="CC0000"/>
                </a:solidFill>
              </a:rPr>
              <a:t>Tremor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63016" y="1526793"/>
            <a:ext cx="7689215" cy="4545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6240" indent="-383540">
              <a:lnSpc>
                <a:spcPct val="100000"/>
              </a:lnSpc>
              <a:spcBef>
                <a:spcPts val="95"/>
              </a:spcBef>
              <a:buChar char="■"/>
              <a:tabLst>
                <a:tab pos="396240" algn="l"/>
              </a:tabLst>
            </a:pPr>
            <a:r>
              <a:rPr sz="1900" spc="-20" dirty="0">
                <a:latin typeface="Franklin Gothic Medium"/>
                <a:cs typeface="Franklin Gothic Medium"/>
              </a:rPr>
              <a:t>Involuntary</a:t>
            </a:r>
            <a:r>
              <a:rPr sz="1900" spc="-100" dirty="0">
                <a:latin typeface="Franklin Gothic Medium"/>
                <a:cs typeface="Franklin Gothic Medium"/>
              </a:rPr>
              <a:t> </a:t>
            </a:r>
            <a:r>
              <a:rPr sz="1900" spc="-10" dirty="0">
                <a:latin typeface="Franklin Gothic Medium"/>
                <a:cs typeface="Franklin Gothic Medium"/>
              </a:rPr>
              <a:t>oscillation</a:t>
            </a:r>
            <a:r>
              <a:rPr sz="1900" spc="-30" dirty="0">
                <a:latin typeface="Franklin Gothic Medium"/>
                <a:cs typeface="Franklin Gothic Medium"/>
              </a:rPr>
              <a:t> </a:t>
            </a:r>
            <a:r>
              <a:rPr sz="1900" dirty="0">
                <a:latin typeface="Franklin Gothic Medium"/>
                <a:cs typeface="Franklin Gothic Medium"/>
              </a:rPr>
              <a:t>of</a:t>
            </a:r>
            <a:r>
              <a:rPr sz="1900" spc="-60" dirty="0">
                <a:latin typeface="Franklin Gothic Medium"/>
                <a:cs typeface="Franklin Gothic Medium"/>
              </a:rPr>
              <a:t> </a:t>
            </a:r>
            <a:r>
              <a:rPr sz="1900" dirty="0">
                <a:latin typeface="Franklin Gothic Medium"/>
                <a:cs typeface="Franklin Gothic Medium"/>
              </a:rPr>
              <a:t>body</a:t>
            </a:r>
            <a:r>
              <a:rPr sz="1900" spc="-40" dirty="0">
                <a:latin typeface="Franklin Gothic Medium"/>
                <a:cs typeface="Franklin Gothic Medium"/>
              </a:rPr>
              <a:t> </a:t>
            </a:r>
            <a:r>
              <a:rPr sz="1900" dirty="0">
                <a:latin typeface="Franklin Gothic Medium"/>
                <a:cs typeface="Franklin Gothic Medium"/>
              </a:rPr>
              <a:t>parts</a:t>
            </a:r>
            <a:r>
              <a:rPr sz="1900" spc="-60" dirty="0">
                <a:latin typeface="Franklin Gothic Medium"/>
                <a:cs typeface="Franklin Gothic Medium"/>
              </a:rPr>
              <a:t> </a:t>
            </a:r>
            <a:r>
              <a:rPr sz="1900" dirty="0">
                <a:latin typeface="Franklin Gothic Medium"/>
                <a:cs typeface="Franklin Gothic Medium"/>
              </a:rPr>
              <a:t>at</a:t>
            </a:r>
            <a:r>
              <a:rPr sz="1900" spc="-60" dirty="0">
                <a:latin typeface="Franklin Gothic Medium"/>
                <a:cs typeface="Franklin Gothic Medium"/>
              </a:rPr>
              <a:t> </a:t>
            </a:r>
            <a:r>
              <a:rPr sz="1900" dirty="0">
                <a:latin typeface="Franklin Gothic Medium"/>
                <a:cs typeface="Franklin Gothic Medium"/>
              </a:rPr>
              <a:t>slow</a:t>
            </a:r>
            <a:r>
              <a:rPr sz="1900" spc="-35" dirty="0">
                <a:latin typeface="Franklin Gothic Medium"/>
                <a:cs typeface="Franklin Gothic Medium"/>
              </a:rPr>
              <a:t> </a:t>
            </a:r>
            <a:r>
              <a:rPr sz="1900" spc="-10" dirty="0">
                <a:latin typeface="Franklin Gothic Medium"/>
                <a:cs typeface="Franklin Gothic Medium"/>
              </a:rPr>
              <a:t>frequency</a:t>
            </a:r>
            <a:r>
              <a:rPr sz="1900" spc="-65" dirty="0">
                <a:latin typeface="Franklin Gothic Medium"/>
                <a:cs typeface="Franklin Gothic Medium"/>
              </a:rPr>
              <a:t> </a:t>
            </a:r>
            <a:r>
              <a:rPr sz="1900" dirty="0">
                <a:latin typeface="Franklin Gothic Medium"/>
                <a:cs typeface="Franklin Gothic Medium"/>
              </a:rPr>
              <a:t>of</a:t>
            </a:r>
            <a:r>
              <a:rPr sz="1900" spc="-50" dirty="0">
                <a:latin typeface="Franklin Gothic Medium"/>
                <a:cs typeface="Franklin Gothic Medium"/>
              </a:rPr>
              <a:t> </a:t>
            </a:r>
            <a:r>
              <a:rPr sz="1900" dirty="0">
                <a:latin typeface="Franklin Gothic Medium"/>
                <a:cs typeface="Franklin Gothic Medium"/>
              </a:rPr>
              <a:t>about</a:t>
            </a:r>
            <a:r>
              <a:rPr sz="1900" spc="-60" dirty="0">
                <a:latin typeface="Franklin Gothic Medium"/>
                <a:cs typeface="Franklin Gothic Medium"/>
              </a:rPr>
              <a:t> </a:t>
            </a:r>
            <a:r>
              <a:rPr sz="1900" dirty="0">
                <a:latin typeface="Franklin Gothic Medium"/>
                <a:cs typeface="Franklin Gothic Medium"/>
              </a:rPr>
              <a:t>4</a:t>
            </a:r>
            <a:r>
              <a:rPr sz="1900" spc="-65" dirty="0">
                <a:latin typeface="Franklin Gothic Medium"/>
                <a:cs typeface="Franklin Gothic Medium"/>
              </a:rPr>
              <a:t> </a:t>
            </a:r>
            <a:r>
              <a:rPr sz="1900" dirty="0">
                <a:latin typeface="Franklin Gothic Medium"/>
                <a:cs typeface="Franklin Gothic Medium"/>
              </a:rPr>
              <a:t>to</a:t>
            </a:r>
            <a:r>
              <a:rPr sz="1900" spc="-60" dirty="0">
                <a:latin typeface="Franklin Gothic Medium"/>
                <a:cs typeface="Franklin Gothic Medium"/>
              </a:rPr>
              <a:t> </a:t>
            </a:r>
            <a:r>
              <a:rPr sz="1900" spc="-25" dirty="0">
                <a:latin typeface="Franklin Gothic Medium"/>
                <a:cs typeface="Franklin Gothic Medium"/>
              </a:rPr>
              <a:t>6Hz</a:t>
            </a:r>
            <a:endParaRPr sz="19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650"/>
              </a:spcBef>
              <a:buFont typeface="Franklin Gothic Medium"/>
              <a:buChar char="■"/>
            </a:pPr>
            <a:endParaRPr sz="19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spcBef>
                <a:spcPts val="5"/>
              </a:spcBef>
              <a:buChar char="■"/>
              <a:tabLst>
                <a:tab pos="396240" algn="l"/>
              </a:tabLst>
            </a:pPr>
            <a:r>
              <a:rPr sz="19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initial</a:t>
            </a:r>
            <a:r>
              <a:rPr sz="19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symptom</a:t>
            </a:r>
            <a:r>
              <a:rPr sz="19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50%</a:t>
            </a:r>
            <a:r>
              <a:rPr sz="19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</a:t>
            </a:r>
            <a:r>
              <a:rPr sz="19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PD</a:t>
            </a:r>
            <a:r>
              <a:rPr sz="19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cases</a:t>
            </a:r>
            <a:endParaRPr sz="19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655"/>
              </a:spcBef>
              <a:buFont typeface="Franklin Gothic Medium"/>
              <a:buChar char="■"/>
            </a:pPr>
            <a:endParaRPr sz="19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buChar char="■"/>
              <a:tabLst>
                <a:tab pos="396240" algn="l"/>
              </a:tabLst>
            </a:pPr>
            <a:r>
              <a:rPr sz="1900" spc="-20" dirty="0">
                <a:latin typeface="Franklin Gothic Medium"/>
                <a:cs typeface="Franklin Gothic Medium"/>
              </a:rPr>
              <a:t>Resting</a:t>
            </a:r>
            <a:r>
              <a:rPr sz="1900" spc="-75" dirty="0">
                <a:latin typeface="Franklin Gothic Medium"/>
                <a:cs typeface="Franklin Gothic Medium"/>
              </a:rPr>
              <a:t> </a:t>
            </a:r>
            <a:r>
              <a:rPr sz="1900" spc="-10" dirty="0">
                <a:latin typeface="Franklin Gothic Medium"/>
                <a:cs typeface="Franklin Gothic Medium"/>
              </a:rPr>
              <a:t>tremor;</a:t>
            </a:r>
            <a:r>
              <a:rPr sz="1900" spc="-80" dirty="0">
                <a:latin typeface="Franklin Gothic Medium"/>
                <a:cs typeface="Franklin Gothic Medium"/>
              </a:rPr>
              <a:t> </a:t>
            </a:r>
            <a:r>
              <a:rPr sz="1900" spc="-20" dirty="0">
                <a:latin typeface="Franklin Gothic Medium"/>
                <a:cs typeface="Franklin Gothic Medium"/>
              </a:rPr>
              <a:t>“pill-</a:t>
            </a:r>
            <a:r>
              <a:rPr sz="1900" spc="-10" dirty="0">
                <a:latin typeface="Franklin Gothic Medium"/>
                <a:cs typeface="Franklin Gothic Medium"/>
              </a:rPr>
              <a:t>rolling”</a:t>
            </a:r>
            <a:endParaRPr sz="19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655"/>
              </a:spcBef>
              <a:buFont typeface="Franklin Gothic Medium"/>
              <a:buChar char="■"/>
            </a:pPr>
            <a:endParaRPr sz="19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buChar char="■"/>
              <a:tabLst>
                <a:tab pos="396240" algn="l"/>
              </a:tabLst>
            </a:pPr>
            <a:r>
              <a:rPr sz="1900" spc="-20" dirty="0">
                <a:latin typeface="Franklin Gothic Medium"/>
                <a:cs typeface="Franklin Gothic Medium"/>
              </a:rPr>
              <a:t>Postural</a:t>
            </a:r>
            <a:r>
              <a:rPr sz="1900" spc="-55" dirty="0">
                <a:latin typeface="Franklin Gothic Medium"/>
                <a:cs typeface="Franklin Gothic Medium"/>
              </a:rPr>
              <a:t> </a:t>
            </a:r>
            <a:r>
              <a:rPr sz="1900" spc="-10" dirty="0">
                <a:latin typeface="Franklin Gothic Medium"/>
                <a:cs typeface="Franklin Gothic Medium"/>
              </a:rPr>
              <a:t>tremor</a:t>
            </a:r>
            <a:r>
              <a:rPr sz="1900" spc="-30" dirty="0">
                <a:latin typeface="Franklin Gothic Medium"/>
                <a:cs typeface="Franklin Gothic Medium"/>
              </a:rPr>
              <a:t> </a:t>
            </a:r>
            <a:r>
              <a:rPr sz="1900" spc="-20" dirty="0">
                <a:latin typeface="Franklin Gothic Medium"/>
                <a:cs typeface="Franklin Gothic Medium"/>
              </a:rPr>
              <a:t>(8-</a:t>
            </a:r>
            <a:r>
              <a:rPr sz="1900" dirty="0">
                <a:latin typeface="Franklin Gothic Medium"/>
                <a:cs typeface="Franklin Gothic Medium"/>
              </a:rPr>
              <a:t>12Hz)</a:t>
            </a:r>
            <a:r>
              <a:rPr sz="1900" spc="-40" dirty="0">
                <a:latin typeface="Franklin Gothic Medium"/>
                <a:cs typeface="Franklin Gothic Medium"/>
              </a:rPr>
              <a:t> </a:t>
            </a:r>
            <a:r>
              <a:rPr sz="1900" spc="-65" dirty="0">
                <a:latin typeface="Franklin Gothic Medium"/>
                <a:cs typeface="Franklin Gothic Medium"/>
              </a:rPr>
              <a:t>may</a:t>
            </a:r>
            <a:r>
              <a:rPr sz="1900" spc="-55" dirty="0">
                <a:latin typeface="Franklin Gothic Medium"/>
                <a:cs typeface="Franklin Gothic Medium"/>
              </a:rPr>
              <a:t> </a:t>
            </a:r>
            <a:r>
              <a:rPr sz="1900" dirty="0">
                <a:latin typeface="Franklin Gothic Medium"/>
                <a:cs typeface="Franklin Gothic Medium"/>
              </a:rPr>
              <a:t>also</a:t>
            </a:r>
            <a:r>
              <a:rPr sz="1900" spc="-35" dirty="0">
                <a:latin typeface="Franklin Gothic Medium"/>
                <a:cs typeface="Franklin Gothic Medium"/>
              </a:rPr>
              <a:t> </a:t>
            </a:r>
            <a:r>
              <a:rPr sz="1900" dirty="0">
                <a:latin typeface="Franklin Gothic Medium"/>
                <a:cs typeface="Franklin Gothic Medium"/>
              </a:rPr>
              <a:t>be</a:t>
            </a:r>
            <a:r>
              <a:rPr sz="1900" spc="-40" dirty="0">
                <a:latin typeface="Franklin Gothic Medium"/>
                <a:cs typeface="Franklin Gothic Medium"/>
              </a:rPr>
              <a:t> </a:t>
            </a:r>
            <a:r>
              <a:rPr sz="1900" spc="-10" dirty="0">
                <a:latin typeface="Franklin Gothic Medium"/>
                <a:cs typeface="Franklin Gothic Medium"/>
              </a:rPr>
              <a:t>present</a:t>
            </a:r>
            <a:endParaRPr sz="19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655"/>
              </a:spcBef>
              <a:buFont typeface="Franklin Gothic Medium"/>
              <a:buChar char="■"/>
            </a:pPr>
            <a:endParaRPr sz="19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buChar char="■"/>
              <a:tabLst>
                <a:tab pos="396240" algn="l"/>
              </a:tabLst>
            </a:pPr>
            <a:r>
              <a:rPr sz="1900" dirty="0">
                <a:latin typeface="Franklin Gothic Medium"/>
                <a:cs typeface="Franklin Gothic Medium"/>
              </a:rPr>
              <a:t>Diminishes</a:t>
            </a:r>
            <a:r>
              <a:rPr sz="1900" spc="315" dirty="0">
                <a:latin typeface="Franklin Gothic Medium"/>
                <a:cs typeface="Franklin Gothic Medium"/>
              </a:rPr>
              <a:t> </a:t>
            </a:r>
            <a:r>
              <a:rPr sz="1900" spc="-20" dirty="0">
                <a:latin typeface="Franklin Gothic Medium"/>
                <a:cs typeface="Franklin Gothic Medium"/>
              </a:rPr>
              <a:t>with</a:t>
            </a:r>
            <a:r>
              <a:rPr sz="1900" spc="-95" dirty="0">
                <a:latin typeface="Franklin Gothic Medium"/>
                <a:cs typeface="Franklin Gothic Medium"/>
              </a:rPr>
              <a:t> </a:t>
            </a:r>
            <a:r>
              <a:rPr sz="1900" spc="-10" dirty="0">
                <a:latin typeface="Franklin Gothic Medium"/>
                <a:cs typeface="Franklin Gothic Medium"/>
              </a:rPr>
              <a:t>voluntary</a:t>
            </a:r>
            <a:r>
              <a:rPr sz="1900" spc="-105" dirty="0">
                <a:latin typeface="Franklin Gothic Medium"/>
                <a:cs typeface="Franklin Gothic Medium"/>
              </a:rPr>
              <a:t> </a:t>
            </a:r>
            <a:r>
              <a:rPr sz="1900" dirty="0">
                <a:latin typeface="Franklin Gothic Medium"/>
                <a:cs typeface="Franklin Gothic Medium"/>
              </a:rPr>
              <a:t>effort;</a:t>
            </a:r>
            <a:r>
              <a:rPr sz="1900" spc="-70" dirty="0">
                <a:latin typeface="Franklin Gothic Medium"/>
                <a:cs typeface="Franklin Gothic Medium"/>
              </a:rPr>
              <a:t> </a:t>
            </a:r>
            <a:r>
              <a:rPr sz="1900" dirty="0">
                <a:latin typeface="Franklin Gothic Medium"/>
                <a:cs typeface="Franklin Gothic Medium"/>
              </a:rPr>
              <a:t>disappears</a:t>
            </a:r>
            <a:r>
              <a:rPr sz="1900" spc="-75" dirty="0">
                <a:latin typeface="Franklin Gothic Medium"/>
                <a:cs typeface="Franklin Gothic Medium"/>
              </a:rPr>
              <a:t> </a:t>
            </a:r>
            <a:r>
              <a:rPr sz="1900" spc="-30" dirty="0">
                <a:latin typeface="Franklin Gothic Medium"/>
                <a:cs typeface="Franklin Gothic Medium"/>
              </a:rPr>
              <a:t>completely</a:t>
            </a:r>
            <a:r>
              <a:rPr sz="1900" spc="-75" dirty="0">
                <a:latin typeface="Franklin Gothic Medium"/>
                <a:cs typeface="Franklin Gothic Medium"/>
              </a:rPr>
              <a:t> </a:t>
            </a:r>
            <a:r>
              <a:rPr sz="1900" dirty="0">
                <a:latin typeface="Franklin Gothic Medium"/>
                <a:cs typeface="Franklin Gothic Medium"/>
              </a:rPr>
              <a:t>during</a:t>
            </a:r>
            <a:r>
              <a:rPr sz="1900" spc="-85" dirty="0">
                <a:latin typeface="Franklin Gothic Medium"/>
                <a:cs typeface="Franklin Gothic Medium"/>
              </a:rPr>
              <a:t> </a:t>
            </a:r>
            <a:r>
              <a:rPr sz="1900" spc="-10" dirty="0">
                <a:latin typeface="Franklin Gothic Medium"/>
                <a:cs typeface="Franklin Gothic Medium"/>
              </a:rPr>
              <a:t>sleep</a:t>
            </a:r>
            <a:endParaRPr sz="19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655"/>
              </a:spcBef>
              <a:buFont typeface="Franklin Gothic Medium"/>
              <a:buChar char="■"/>
            </a:pPr>
            <a:endParaRPr sz="19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buChar char="■"/>
              <a:tabLst>
                <a:tab pos="396240" algn="l"/>
              </a:tabLst>
            </a:pPr>
            <a:r>
              <a:rPr sz="1900" spc="-40" dirty="0">
                <a:latin typeface="Franklin Gothic Medium"/>
                <a:cs typeface="Franklin Gothic Medium"/>
              </a:rPr>
              <a:t>Aggravated</a:t>
            </a:r>
            <a:r>
              <a:rPr sz="1900" spc="-50" dirty="0">
                <a:latin typeface="Franklin Gothic Medium"/>
                <a:cs typeface="Franklin Gothic Medium"/>
              </a:rPr>
              <a:t> </a:t>
            </a:r>
            <a:r>
              <a:rPr sz="1900" dirty="0">
                <a:latin typeface="Franklin Gothic Medium"/>
                <a:cs typeface="Franklin Gothic Medium"/>
              </a:rPr>
              <a:t>by</a:t>
            </a:r>
            <a:r>
              <a:rPr sz="1900" spc="-35" dirty="0">
                <a:latin typeface="Franklin Gothic Medium"/>
                <a:cs typeface="Franklin Gothic Medium"/>
              </a:rPr>
              <a:t> </a:t>
            </a:r>
            <a:r>
              <a:rPr sz="1900" dirty="0">
                <a:latin typeface="Franklin Gothic Medium"/>
                <a:cs typeface="Franklin Gothic Medium"/>
              </a:rPr>
              <a:t>stress</a:t>
            </a:r>
            <a:r>
              <a:rPr sz="1900" spc="-15" dirty="0">
                <a:latin typeface="Franklin Gothic Medium"/>
                <a:cs typeface="Franklin Gothic Medium"/>
              </a:rPr>
              <a:t> </a:t>
            </a:r>
            <a:r>
              <a:rPr sz="1900" dirty="0">
                <a:latin typeface="Franklin Gothic Medium"/>
                <a:cs typeface="Franklin Gothic Medium"/>
              </a:rPr>
              <a:t>and</a:t>
            </a:r>
            <a:r>
              <a:rPr sz="1900" spc="-50" dirty="0">
                <a:latin typeface="Franklin Gothic Medium"/>
                <a:cs typeface="Franklin Gothic Medium"/>
              </a:rPr>
              <a:t> </a:t>
            </a:r>
            <a:r>
              <a:rPr sz="1900" spc="-10" dirty="0">
                <a:latin typeface="Franklin Gothic Medium"/>
                <a:cs typeface="Franklin Gothic Medium"/>
              </a:rPr>
              <a:t>fatigue</a:t>
            </a:r>
            <a:endParaRPr sz="19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2070"/>
              </a:spcBef>
              <a:buFont typeface="Franklin Gothic Medium"/>
              <a:buChar char="■"/>
            </a:pPr>
            <a:endParaRPr sz="1900">
              <a:latin typeface="Franklin Gothic Medium"/>
              <a:cs typeface="Franklin Gothic Medium"/>
            </a:endParaRPr>
          </a:p>
          <a:p>
            <a:pPr marL="396240" marR="471805" indent="-384175">
              <a:lnSpc>
                <a:spcPct val="80000"/>
              </a:lnSpc>
              <a:buChar char="■"/>
              <a:tabLst>
                <a:tab pos="396240" algn="l"/>
              </a:tabLst>
            </a:pPr>
            <a:r>
              <a:rPr sz="1900" spc="-20" dirty="0">
                <a:latin typeface="Franklin Gothic Medium"/>
                <a:cs typeface="Franklin Gothic Medium"/>
              </a:rPr>
              <a:t>Origin</a:t>
            </a:r>
            <a:r>
              <a:rPr sz="1900" spc="-40" dirty="0">
                <a:latin typeface="Franklin Gothic Medium"/>
                <a:cs typeface="Franklin Gothic Medium"/>
              </a:rPr>
              <a:t> </a:t>
            </a:r>
            <a:r>
              <a:rPr sz="1900" dirty="0">
                <a:latin typeface="Franklin Gothic Medium"/>
                <a:cs typeface="Franklin Gothic Medium"/>
              </a:rPr>
              <a:t>is</a:t>
            </a:r>
            <a:r>
              <a:rPr sz="1900" spc="-35" dirty="0">
                <a:latin typeface="Franklin Gothic Medium"/>
                <a:cs typeface="Franklin Gothic Medium"/>
              </a:rPr>
              <a:t> </a:t>
            </a:r>
            <a:r>
              <a:rPr sz="1900" spc="-10" dirty="0">
                <a:latin typeface="Franklin Gothic Medium"/>
                <a:cs typeface="Franklin Gothic Medium"/>
              </a:rPr>
              <a:t>disputed;</a:t>
            </a:r>
            <a:r>
              <a:rPr sz="1900" spc="-15" dirty="0">
                <a:latin typeface="Franklin Gothic Medium"/>
                <a:cs typeface="Franklin Gothic Medium"/>
              </a:rPr>
              <a:t> </a:t>
            </a:r>
            <a:r>
              <a:rPr sz="1900" spc="-20" dirty="0">
                <a:latin typeface="Franklin Gothic Medium"/>
                <a:cs typeface="Franklin Gothic Medium"/>
              </a:rPr>
              <a:t>hypothesized </a:t>
            </a:r>
            <a:r>
              <a:rPr sz="1900" dirty="0">
                <a:latin typeface="Franklin Gothic Medium"/>
                <a:cs typeface="Franklin Gothic Medium"/>
              </a:rPr>
              <a:t>to</a:t>
            </a:r>
            <a:r>
              <a:rPr sz="1900" spc="-40" dirty="0">
                <a:latin typeface="Franklin Gothic Medium"/>
                <a:cs typeface="Franklin Gothic Medium"/>
              </a:rPr>
              <a:t> </a:t>
            </a:r>
            <a:r>
              <a:rPr sz="1900" dirty="0">
                <a:latin typeface="Franklin Gothic Medium"/>
                <a:cs typeface="Franklin Gothic Medium"/>
              </a:rPr>
              <a:t>be</a:t>
            </a:r>
            <a:r>
              <a:rPr sz="1900" spc="-90" dirty="0">
                <a:latin typeface="Franklin Gothic Medium"/>
                <a:cs typeface="Franklin Gothic Medium"/>
              </a:rPr>
              <a:t> </a:t>
            </a:r>
            <a:r>
              <a:rPr sz="1900" dirty="0">
                <a:latin typeface="Franklin Gothic Medium"/>
                <a:cs typeface="Franklin Gothic Medium"/>
              </a:rPr>
              <a:t>as</a:t>
            </a:r>
            <a:r>
              <a:rPr sz="1900" spc="-45" dirty="0">
                <a:latin typeface="Franklin Gothic Medium"/>
                <a:cs typeface="Franklin Gothic Medium"/>
              </a:rPr>
              <a:t> </a:t>
            </a:r>
            <a:r>
              <a:rPr sz="1900" dirty="0">
                <a:latin typeface="Franklin Gothic Medium"/>
                <a:cs typeface="Franklin Gothic Medium"/>
              </a:rPr>
              <a:t>a</a:t>
            </a:r>
            <a:r>
              <a:rPr sz="1900" spc="-40" dirty="0">
                <a:latin typeface="Franklin Gothic Medium"/>
                <a:cs typeface="Franklin Gothic Medium"/>
              </a:rPr>
              <a:t> </a:t>
            </a:r>
            <a:r>
              <a:rPr sz="1900" dirty="0">
                <a:latin typeface="Franklin Gothic Medium"/>
                <a:cs typeface="Franklin Gothic Medium"/>
              </a:rPr>
              <a:t>result</a:t>
            </a:r>
            <a:r>
              <a:rPr sz="1900" spc="-30" dirty="0">
                <a:latin typeface="Franklin Gothic Medium"/>
                <a:cs typeface="Franklin Gothic Medium"/>
              </a:rPr>
              <a:t> </a:t>
            </a:r>
            <a:r>
              <a:rPr sz="1900" dirty="0">
                <a:latin typeface="Franklin Gothic Medium"/>
                <a:cs typeface="Franklin Gothic Medium"/>
              </a:rPr>
              <a:t>of</a:t>
            </a:r>
            <a:r>
              <a:rPr sz="1900" spc="-65" dirty="0">
                <a:latin typeface="Franklin Gothic Medium"/>
                <a:cs typeface="Franklin Gothic Medium"/>
              </a:rPr>
              <a:t> </a:t>
            </a:r>
            <a:r>
              <a:rPr sz="1900" spc="-10" dirty="0">
                <a:latin typeface="Franklin Gothic Medium"/>
                <a:cs typeface="Franklin Gothic Medium"/>
              </a:rPr>
              <a:t>oscillations </a:t>
            </a:r>
            <a:r>
              <a:rPr sz="1900" dirty="0">
                <a:latin typeface="Franklin Gothic Medium"/>
                <a:cs typeface="Franklin Gothic Medium"/>
              </a:rPr>
              <a:t>in</a:t>
            </a:r>
            <a:r>
              <a:rPr sz="1900" spc="-50" dirty="0">
                <a:latin typeface="Franklin Gothic Medium"/>
                <a:cs typeface="Franklin Gothic Medium"/>
              </a:rPr>
              <a:t> a </a:t>
            </a:r>
            <a:r>
              <a:rPr sz="1900" spc="-25" dirty="0">
                <a:latin typeface="Franklin Gothic Medium"/>
                <a:cs typeface="Franklin Gothic Medium"/>
              </a:rPr>
              <a:t>hyperactive</a:t>
            </a:r>
            <a:r>
              <a:rPr sz="1900" spc="-70" dirty="0">
                <a:latin typeface="Franklin Gothic Medium"/>
                <a:cs typeface="Franklin Gothic Medium"/>
              </a:rPr>
              <a:t> </a:t>
            </a:r>
            <a:r>
              <a:rPr sz="1900" dirty="0">
                <a:latin typeface="Franklin Gothic Medium"/>
                <a:cs typeface="Franklin Gothic Medium"/>
              </a:rPr>
              <a:t>long</a:t>
            </a:r>
            <a:r>
              <a:rPr sz="1900" spc="-65" dirty="0">
                <a:latin typeface="Franklin Gothic Medium"/>
                <a:cs typeface="Franklin Gothic Medium"/>
              </a:rPr>
              <a:t> </a:t>
            </a:r>
            <a:r>
              <a:rPr sz="1900" dirty="0">
                <a:latin typeface="Franklin Gothic Medium"/>
                <a:cs typeface="Franklin Gothic Medium"/>
              </a:rPr>
              <a:t>loop</a:t>
            </a:r>
            <a:r>
              <a:rPr sz="1900" spc="-65" dirty="0">
                <a:latin typeface="Franklin Gothic Medium"/>
                <a:cs typeface="Franklin Gothic Medium"/>
              </a:rPr>
              <a:t> </a:t>
            </a:r>
            <a:r>
              <a:rPr sz="1900" spc="-20" dirty="0">
                <a:latin typeface="Franklin Gothic Medium"/>
                <a:cs typeface="Franklin Gothic Medium"/>
              </a:rPr>
              <a:t>reflex</a:t>
            </a:r>
            <a:r>
              <a:rPr sz="1900" spc="-55" dirty="0">
                <a:latin typeface="Franklin Gothic Medium"/>
                <a:cs typeface="Franklin Gothic Medium"/>
              </a:rPr>
              <a:t> </a:t>
            </a:r>
            <a:r>
              <a:rPr sz="1900" spc="-10" dirty="0">
                <a:latin typeface="Franklin Gothic Medium"/>
                <a:cs typeface="Franklin Gothic Medium"/>
              </a:rPr>
              <a:t>pathway</a:t>
            </a:r>
            <a:endParaRPr sz="1900">
              <a:latin typeface="Franklin Gothic Medium"/>
              <a:cs typeface="Franklin Gothic Medium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35800" y="138976"/>
            <a:ext cx="2038984" cy="114689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ostur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27875" y="1962148"/>
            <a:ext cx="2016125" cy="489584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30200" y="507238"/>
            <a:ext cx="41529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0" dirty="0">
                <a:solidFill>
                  <a:srgbClr val="CC0000"/>
                </a:solidFill>
              </a:rPr>
              <a:t>Cardinal</a:t>
            </a:r>
            <a:r>
              <a:rPr sz="3600" spc="-145" dirty="0">
                <a:solidFill>
                  <a:srgbClr val="CC0000"/>
                </a:solidFill>
              </a:rPr>
              <a:t> </a:t>
            </a:r>
            <a:r>
              <a:rPr sz="3600" dirty="0">
                <a:solidFill>
                  <a:srgbClr val="CC0000"/>
                </a:solidFill>
              </a:rPr>
              <a:t>sign:</a:t>
            </a:r>
            <a:r>
              <a:rPr sz="3600" spc="-145" dirty="0">
                <a:solidFill>
                  <a:srgbClr val="CC0000"/>
                </a:solidFill>
              </a:rPr>
              <a:t> </a:t>
            </a:r>
            <a:r>
              <a:rPr sz="3600" spc="-45" dirty="0">
                <a:solidFill>
                  <a:srgbClr val="CC0000"/>
                </a:solidFill>
              </a:rPr>
              <a:t>Rigidity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105867" y="1780794"/>
            <a:ext cx="7444105" cy="4291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6240" indent="-383540">
              <a:lnSpc>
                <a:spcPct val="100000"/>
              </a:lnSpc>
              <a:spcBef>
                <a:spcPts val="105"/>
              </a:spcBef>
              <a:buChar char="■"/>
              <a:tabLst>
                <a:tab pos="396240" algn="l"/>
                <a:tab pos="2562225" algn="l"/>
              </a:tabLst>
            </a:pP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Increased</a:t>
            </a:r>
            <a:r>
              <a:rPr sz="20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stiffness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	-</a:t>
            </a:r>
            <a:r>
              <a:rPr sz="2000" spc="4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passive</a:t>
            </a:r>
            <a:r>
              <a:rPr sz="20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ROM</a:t>
            </a:r>
            <a:endParaRPr sz="20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1115"/>
              </a:spcBef>
              <a:buClr>
                <a:srgbClr val="181B0D"/>
              </a:buClr>
              <a:buFont typeface="Franklin Gothic Medium"/>
              <a:buChar char="■"/>
            </a:pPr>
            <a:endParaRPr sz="20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buChar char="■"/>
              <a:tabLst>
                <a:tab pos="396240" algn="l"/>
              </a:tabLst>
            </a:pPr>
            <a:r>
              <a:rPr sz="20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cogwheel</a:t>
            </a:r>
            <a:r>
              <a:rPr sz="20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and</a:t>
            </a:r>
            <a:r>
              <a:rPr sz="20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lead</a:t>
            </a:r>
            <a:r>
              <a:rPr sz="2000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pipe;</a:t>
            </a:r>
            <a:r>
              <a:rPr sz="20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cogwheel</a:t>
            </a:r>
            <a:r>
              <a:rPr sz="20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rigidity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is</a:t>
            </a:r>
            <a:r>
              <a:rPr sz="20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pathognomonic</a:t>
            </a:r>
            <a:r>
              <a:rPr sz="20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</a:t>
            </a:r>
            <a:r>
              <a:rPr sz="2000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PD</a:t>
            </a:r>
            <a:endParaRPr sz="20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1115"/>
              </a:spcBef>
              <a:buClr>
                <a:srgbClr val="181B0D"/>
              </a:buClr>
              <a:buFont typeface="Franklin Gothic Medium"/>
              <a:buChar char="■"/>
            </a:pPr>
            <a:endParaRPr sz="20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buChar char="■"/>
              <a:tabLst>
                <a:tab pos="396240" algn="l"/>
              </a:tabLst>
            </a:pP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unequal</a:t>
            </a:r>
            <a:r>
              <a:rPr sz="20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</a:t>
            </a:r>
            <a:r>
              <a:rPr sz="20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distribution</a:t>
            </a:r>
            <a:endParaRPr sz="20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1120"/>
              </a:spcBef>
              <a:buClr>
                <a:srgbClr val="181B0D"/>
              </a:buClr>
              <a:buFont typeface="Franklin Gothic Medium"/>
              <a:buChar char="■"/>
            </a:pPr>
            <a:endParaRPr sz="20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buChar char="■"/>
              <a:tabLst>
                <a:tab pos="396240" algn="l"/>
              </a:tabLst>
            </a:pP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decreases</a:t>
            </a:r>
            <a:r>
              <a:rPr sz="2000" spc="-10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ability</a:t>
            </a:r>
            <a:r>
              <a:rPr sz="20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to</a:t>
            </a:r>
            <a:r>
              <a:rPr sz="20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move</a:t>
            </a:r>
            <a:r>
              <a:rPr sz="20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easily</a:t>
            </a:r>
            <a:endParaRPr sz="20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1115"/>
              </a:spcBef>
              <a:buClr>
                <a:srgbClr val="181B0D"/>
              </a:buClr>
              <a:buFont typeface="Franklin Gothic Medium"/>
              <a:buChar char="■"/>
            </a:pPr>
            <a:endParaRPr sz="20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buChar char="■"/>
              <a:tabLst>
                <a:tab pos="396240" algn="l"/>
              </a:tabLst>
            </a:pPr>
            <a:r>
              <a:rPr sz="2000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Rigidity</a:t>
            </a:r>
            <a:r>
              <a:rPr sz="20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affecting</a:t>
            </a:r>
            <a:r>
              <a:rPr sz="20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neck,</a:t>
            </a:r>
            <a:r>
              <a:rPr sz="2000" spc="-1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trunk</a:t>
            </a:r>
            <a:r>
              <a:rPr sz="20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and</a:t>
            </a:r>
            <a:r>
              <a:rPr sz="20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knees</a:t>
            </a:r>
            <a:r>
              <a:rPr sz="2000" spc="-1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leads</a:t>
            </a:r>
            <a:r>
              <a:rPr sz="20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to</a:t>
            </a:r>
            <a:r>
              <a:rPr sz="20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stooped</a:t>
            </a:r>
            <a:r>
              <a:rPr sz="2000" spc="-9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posture</a:t>
            </a:r>
            <a:endParaRPr sz="20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1310"/>
              </a:spcBef>
              <a:buClr>
                <a:srgbClr val="181B0D"/>
              </a:buClr>
              <a:buFont typeface="Franklin Gothic Medium"/>
              <a:buChar char="■"/>
            </a:pPr>
            <a:endParaRPr sz="2000">
              <a:latin typeface="Franklin Gothic Medium"/>
              <a:cs typeface="Franklin Gothic Medium"/>
            </a:endParaRPr>
          </a:p>
          <a:p>
            <a:pPr marL="250190" marR="281940" indent="-238125">
              <a:lnSpc>
                <a:spcPts val="2260"/>
              </a:lnSpc>
              <a:spcBef>
                <a:spcPts val="5"/>
              </a:spcBef>
              <a:buChar char="■"/>
              <a:tabLst>
                <a:tab pos="250190" algn="l"/>
                <a:tab pos="396240" algn="l"/>
              </a:tabLst>
            </a:pP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	Not</a:t>
            </a:r>
            <a:r>
              <a:rPr sz="2000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constant</a:t>
            </a:r>
            <a:r>
              <a:rPr sz="20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–</a:t>
            </a:r>
            <a:r>
              <a:rPr sz="20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affected</a:t>
            </a:r>
            <a:r>
              <a:rPr sz="20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by</a:t>
            </a:r>
            <a:r>
              <a:rPr sz="20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stress,</a:t>
            </a:r>
            <a:r>
              <a:rPr sz="20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anxiety,</a:t>
            </a:r>
            <a:r>
              <a:rPr sz="20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movt</a:t>
            </a:r>
            <a:r>
              <a:rPr sz="20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</a:t>
            </a:r>
            <a:r>
              <a:rPr sz="20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contralateral </a:t>
            </a:r>
            <a:r>
              <a:rPr sz="20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limb,</a:t>
            </a:r>
            <a:r>
              <a:rPr sz="20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posture</a:t>
            </a:r>
            <a:endParaRPr sz="20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5767" rIns="0" bIns="0" rtlCol="0">
            <a:spAutoFit/>
          </a:bodyPr>
          <a:lstStyle/>
          <a:p>
            <a:pPr marL="509270">
              <a:lnSpc>
                <a:spcPct val="100000"/>
              </a:lnSpc>
              <a:spcBef>
                <a:spcPts val="100"/>
              </a:spcBef>
            </a:pPr>
            <a:r>
              <a:rPr sz="3600" spc="-20" dirty="0">
                <a:solidFill>
                  <a:srgbClr val="CC0000"/>
                </a:solidFill>
              </a:rPr>
              <a:t>Cardinal</a:t>
            </a:r>
            <a:r>
              <a:rPr sz="3600" spc="-145" dirty="0">
                <a:solidFill>
                  <a:srgbClr val="CC0000"/>
                </a:solidFill>
              </a:rPr>
              <a:t> </a:t>
            </a:r>
            <a:r>
              <a:rPr sz="3600" dirty="0">
                <a:solidFill>
                  <a:srgbClr val="CC0000"/>
                </a:solidFill>
              </a:rPr>
              <a:t>sign:</a:t>
            </a:r>
            <a:r>
              <a:rPr sz="3600" spc="-140" dirty="0">
                <a:solidFill>
                  <a:srgbClr val="CC0000"/>
                </a:solidFill>
              </a:rPr>
              <a:t> </a:t>
            </a:r>
            <a:r>
              <a:rPr sz="3600" spc="-25" dirty="0">
                <a:solidFill>
                  <a:srgbClr val="CC0000"/>
                </a:solidFill>
              </a:rPr>
              <a:t>Bradykinesia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107744" y="2293747"/>
            <a:ext cx="6773545" cy="350647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396240" marR="499745" indent="-384175">
              <a:lnSpc>
                <a:spcPts val="2260"/>
              </a:lnSpc>
              <a:spcBef>
                <a:spcPts val="295"/>
              </a:spcBef>
              <a:buChar char="■"/>
              <a:tabLst>
                <a:tab pos="396240" algn="l"/>
                <a:tab pos="1905635" algn="l"/>
              </a:tabLst>
            </a:pP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Bradykinesia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	-</a:t>
            </a:r>
            <a:r>
              <a:rPr sz="20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used</a:t>
            </a:r>
            <a:r>
              <a:rPr sz="20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interchangeably</a:t>
            </a:r>
            <a:r>
              <a:rPr sz="2000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with</a:t>
            </a:r>
            <a:r>
              <a:rPr sz="20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akinesia</a:t>
            </a:r>
            <a:r>
              <a:rPr sz="2000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and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hypokinesia</a:t>
            </a:r>
            <a:endParaRPr sz="2000">
              <a:latin typeface="Franklin Gothic Medium"/>
              <a:cs typeface="Franklin Gothic Medium"/>
            </a:endParaRPr>
          </a:p>
          <a:p>
            <a:pPr marL="926465" lvl="1" indent="-383540">
              <a:lnSpc>
                <a:spcPct val="100000"/>
              </a:lnSpc>
              <a:spcBef>
                <a:spcPts val="495"/>
              </a:spcBef>
              <a:buFont typeface="Franklin Gothic Medium"/>
              <a:buChar char="–"/>
              <a:tabLst>
                <a:tab pos="926465" algn="l"/>
              </a:tabLst>
            </a:pPr>
            <a:r>
              <a:rPr sz="2000" i="1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Hypokinesia</a:t>
            </a:r>
            <a:r>
              <a:rPr sz="2000" i="1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–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reduced</a:t>
            </a:r>
            <a:r>
              <a:rPr sz="2000" i="1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amplitude</a:t>
            </a:r>
            <a:r>
              <a:rPr sz="2000" i="1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</a:t>
            </a:r>
            <a:r>
              <a:rPr sz="2000" i="1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movement</a:t>
            </a:r>
            <a:endParaRPr sz="2000">
              <a:latin typeface="Franklin Gothic Medium"/>
              <a:cs typeface="Franklin Gothic Medium"/>
            </a:endParaRPr>
          </a:p>
          <a:p>
            <a:pPr marL="926465" lvl="1" indent="-383540">
              <a:lnSpc>
                <a:spcPct val="100000"/>
              </a:lnSpc>
              <a:spcBef>
                <a:spcPts val="555"/>
              </a:spcBef>
              <a:buFont typeface="Franklin Gothic Medium"/>
              <a:buChar char="–"/>
              <a:tabLst>
                <a:tab pos="926465" algn="l"/>
              </a:tabLst>
            </a:pPr>
            <a:r>
              <a:rPr sz="2000" i="1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Bradykinesia</a:t>
            </a:r>
            <a:r>
              <a:rPr sz="2000" i="1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–</a:t>
            </a:r>
            <a:r>
              <a:rPr sz="2000" i="1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slowness</a:t>
            </a:r>
            <a:r>
              <a:rPr sz="2000" i="1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</a:t>
            </a:r>
            <a:r>
              <a:rPr sz="2000" i="1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movement</a:t>
            </a:r>
            <a:endParaRPr sz="2000">
              <a:latin typeface="Franklin Gothic Medium"/>
              <a:cs typeface="Franklin Gothic Medium"/>
            </a:endParaRPr>
          </a:p>
          <a:p>
            <a:pPr marL="926465" marR="523875" lvl="1" indent="-384175">
              <a:lnSpc>
                <a:spcPts val="2260"/>
              </a:lnSpc>
              <a:spcBef>
                <a:spcPts val="755"/>
              </a:spcBef>
              <a:buFont typeface="Franklin Gothic Medium"/>
              <a:buChar char="–"/>
              <a:tabLst>
                <a:tab pos="926465" algn="l"/>
              </a:tabLst>
            </a:pPr>
            <a:r>
              <a:rPr sz="2000" i="1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Akinesia</a:t>
            </a:r>
            <a:r>
              <a:rPr sz="2000" i="1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–</a:t>
            </a:r>
            <a:r>
              <a:rPr sz="2000" i="1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loss</a:t>
            </a:r>
            <a:r>
              <a:rPr sz="2000" i="1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</a:t>
            </a:r>
            <a:r>
              <a:rPr sz="2000" i="1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movement,</a:t>
            </a:r>
            <a:r>
              <a:rPr sz="2000" i="1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slowness</a:t>
            </a:r>
            <a:r>
              <a:rPr sz="2000" i="1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to</a:t>
            </a:r>
            <a:r>
              <a:rPr sz="2000" i="1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initiate,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freezing</a:t>
            </a:r>
            <a:r>
              <a:rPr sz="2000" i="1" spc="3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while</a:t>
            </a:r>
            <a:r>
              <a:rPr sz="2000" i="1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moving</a:t>
            </a:r>
            <a:endParaRPr sz="2000">
              <a:latin typeface="Franklin Gothic Medium"/>
              <a:cs typeface="Franklin Gothic Medium"/>
            </a:endParaRPr>
          </a:p>
          <a:p>
            <a:pPr marL="926465" lvl="1" indent="-383540">
              <a:lnSpc>
                <a:spcPts val="2330"/>
              </a:lnSpc>
              <a:spcBef>
                <a:spcPts val="495"/>
              </a:spcBef>
              <a:buFont typeface="Franklin Gothic Medium"/>
              <a:buChar char="–"/>
              <a:tabLst>
                <a:tab pos="926465" algn="l"/>
                <a:tab pos="5349875" algn="l"/>
              </a:tabLst>
            </a:pP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Freezing</a:t>
            </a:r>
            <a:r>
              <a:rPr sz="2000" i="1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–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refers</a:t>
            </a:r>
            <a:r>
              <a:rPr sz="2000" i="1" spc="-10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to</a:t>
            </a:r>
            <a:r>
              <a:rPr sz="2000" i="1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the</a:t>
            </a:r>
            <a:r>
              <a:rPr sz="2000" i="1" spc="-9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difficulty</a:t>
            </a:r>
            <a:r>
              <a:rPr sz="2000" i="1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starting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	or</a:t>
            </a:r>
            <a:r>
              <a:rPr sz="2000" i="1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continuing</a:t>
            </a:r>
            <a:endParaRPr sz="2000">
              <a:latin typeface="Franklin Gothic Medium"/>
              <a:cs typeface="Franklin Gothic Medium"/>
            </a:endParaRPr>
          </a:p>
          <a:p>
            <a:pPr marL="926465">
              <a:lnSpc>
                <a:spcPts val="2330"/>
              </a:lnSpc>
            </a:pPr>
            <a:r>
              <a:rPr sz="2000" i="1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rhythmic</a:t>
            </a:r>
            <a:r>
              <a:rPr sz="2000" i="1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movement</a:t>
            </a:r>
            <a:r>
              <a:rPr sz="2000" i="1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e.g.</a:t>
            </a:r>
            <a:r>
              <a:rPr sz="2000" i="1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walking,</a:t>
            </a:r>
            <a:r>
              <a:rPr sz="2000" i="1" spc="-1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handwriting</a:t>
            </a:r>
            <a:r>
              <a:rPr sz="2000" i="1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,</a:t>
            </a:r>
            <a:r>
              <a:rPr sz="2000" i="1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speech</a:t>
            </a:r>
            <a:endParaRPr sz="20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1739"/>
              </a:spcBef>
            </a:pPr>
            <a:endParaRPr sz="20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buChar char="■"/>
              <a:tabLst>
                <a:tab pos="396240" algn="l"/>
              </a:tabLst>
            </a:pPr>
            <a:r>
              <a:rPr sz="2000" u="sng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</a:rPr>
              <a:t>It</a:t>
            </a:r>
            <a:r>
              <a:rPr sz="2000" u="sng" spc="-70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sz="2000" u="sng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</a:rPr>
              <a:t>is</a:t>
            </a:r>
            <a:r>
              <a:rPr sz="2000" u="sng" spc="-50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sz="2000" u="sng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</a:rPr>
              <a:t>the</a:t>
            </a:r>
            <a:r>
              <a:rPr sz="2000" u="sng" spc="-85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sz="2000" u="sng" spc="-30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</a:rPr>
              <a:t>most</a:t>
            </a:r>
            <a:r>
              <a:rPr sz="2000" u="sng" spc="-80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sz="2000" u="sng" spc="-10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</a:rPr>
              <a:t>disabling</a:t>
            </a:r>
            <a:r>
              <a:rPr sz="2000" u="sng" spc="-70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sz="2000" u="sng" spc="-35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</a:rPr>
              <a:t>manifestation</a:t>
            </a:r>
            <a:r>
              <a:rPr sz="2000" u="sng" spc="-70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sz="2000" u="sng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</a:rPr>
              <a:t>of</a:t>
            </a:r>
            <a:r>
              <a:rPr sz="2000" u="sng" spc="-65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sz="2000" u="sng" spc="-25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</a:rPr>
              <a:t>PD</a:t>
            </a:r>
            <a:endParaRPr sz="20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5767" rIns="0" bIns="0" rtlCol="0">
            <a:spAutoFit/>
          </a:bodyPr>
          <a:lstStyle/>
          <a:p>
            <a:pPr marL="509270">
              <a:lnSpc>
                <a:spcPct val="100000"/>
              </a:lnSpc>
              <a:spcBef>
                <a:spcPts val="100"/>
              </a:spcBef>
            </a:pPr>
            <a:r>
              <a:rPr sz="3600" spc="-20" dirty="0">
                <a:solidFill>
                  <a:srgbClr val="CC0000"/>
                </a:solidFill>
              </a:rPr>
              <a:t>Cardinal</a:t>
            </a:r>
            <a:r>
              <a:rPr sz="3600" spc="-175" dirty="0">
                <a:solidFill>
                  <a:srgbClr val="CC0000"/>
                </a:solidFill>
              </a:rPr>
              <a:t> </a:t>
            </a:r>
            <a:r>
              <a:rPr sz="3600" dirty="0">
                <a:solidFill>
                  <a:srgbClr val="CC0000"/>
                </a:solidFill>
              </a:rPr>
              <a:t>Sign:</a:t>
            </a:r>
            <a:r>
              <a:rPr sz="3600" spc="-170" dirty="0">
                <a:solidFill>
                  <a:srgbClr val="CC0000"/>
                </a:solidFill>
              </a:rPr>
              <a:t> </a:t>
            </a:r>
            <a:r>
              <a:rPr sz="3600" spc="-20" dirty="0">
                <a:solidFill>
                  <a:srgbClr val="CC0000"/>
                </a:solidFill>
              </a:rPr>
              <a:t>Freezing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107744" y="1852422"/>
            <a:ext cx="7611745" cy="4398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6240" indent="-383540">
              <a:lnSpc>
                <a:spcPts val="2330"/>
              </a:lnSpc>
              <a:spcBef>
                <a:spcPts val="105"/>
              </a:spcBef>
              <a:buChar char="■"/>
              <a:tabLst>
                <a:tab pos="396240" algn="l"/>
              </a:tabLst>
            </a:pPr>
            <a:r>
              <a:rPr sz="20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Freezing</a:t>
            </a:r>
            <a:r>
              <a:rPr sz="20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–</a:t>
            </a:r>
            <a:r>
              <a:rPr sz="20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refers</a:t>
            </a:r>
            <a:r>
              <a:rPr sz="20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to</a:t>
            </a:r>
            <a:r>
              <a:rPr sz="20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difficulty</a:t>
            </a:r>
            <a:r>
              <a:rPr sz="2000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starting</a:t>
            </a:r>
            <a:r>
              <a:rPr sz="20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or</a:t>
            </a:r>
            <a:r>
              <a:rPr sz="20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continuing</a:t>
            </a:r>
            <a:r>
              <a:rPr sz="20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rhythmic</a:t>
            </a:r>
            <a:endParaRPr sz="2000">
              <a:latin typeface="Franklin Gothic Medium"/>
              <a:cs typeface="Franklin Gothic Medium"/>
            </a:endParaRPr>
          </a:p>
          <a:p>
            <a:pPr marL="396240">
              <a:lnSpc>
                <a:spcPts val="2330"/>
              </a:lnSpc>
            </a:pPr>
            <a:r>
              <a:rPr sz="20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repetitive</a:t>
            </a:r>
            <a:r>
              <a:rPr sz="20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movements</a:t>
            </a:r>
            <a:endParaRPr sz="2000">
              <a:latin typeface="Franklin Gothic Medium"/>
              <a:cs typeface="Franklin Gothic Medium"/>
            </a:endParaRPr>
          </a:p>
          <a:p>
            <a:pPr marL="396240" marR="160655" indent="-384175">
              <a:lnSpc>
                <a:spcPts val="2260"/>
              </a:lnSpc>
              <a:spcBef>
                <a:spcPts val="1250"/>
              </a:spcBef>
              <a:buChar char="■"/>
              <a:tabLst>
                <a:tab pos="396240" algn="l"/>
              </a:tabLst>
            </a:pP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Schools</a:t>
            </a:r>
            <a:r>
              <a:rPr sz="2000" spc="-9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</a:t>
            </a:r>
            <a:r>
              <a:rPr sz="20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thought</a:t>
            </a:r>
            <a:r>
              <a:rPr sz="2000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exit</a:t>
            </a:r>
            <a:r>
              <a:rPr sz="20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which</a:t>
            </a:r>
            <a:r>
              <a:rPr sz="2000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considers</a:t>
            </a:r>
            <a:r>
              <a:rPr sz="2000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it</a:t>
            </a:r>
            <a:r>
              <a:rPr sz="20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</a:t>
            </a:r>
            <a:r>
              <a:rPr sz="20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distinct</a:t>
            </a:r>
            <a:r>
              <a:rPr sz="20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clinical</a:t>
            </a:r>
            <a:r>
              <a:rPr sz="20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sign</a:t>
            </a:r>
            <a:r>
              <a:rPr sz="20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 PD</a:t>
            </a:r>
            <a:endParaRPr sz="2000">
              <a:latin typeface="Franklin Gothic Medium"/>
              <a:cs typeface="Franklin Gothic Medium"/>
            </a:endParaRPr>
          </a:p>
          <a:p>
            <a:pPr marL="396240" indent="-383540">
              <a:lnSpc>
                <a:spcPts val="2330"/>
              </a:lnSpc>
              <a:spcBef>
                <a:spcPts val="1000"/>
              </a:spcBef>
              <a:buChar char="■"/>
              <a:tabLst>
                <a:tab pos="396240" algn="l"/>
              </a:tabLst>
            </a:pPr>
            <a:r>
              <a:rPr sz="20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Freezing</a:t>
            </a:r>
            <a:r>
              <a:rPr sz="20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</a:t>
            </a:r>
            <a:r>
              <a:rPr sz="20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Gait</a:t>
            </a:r>
            <a:r>
              <a:rPr sz="20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(FOG)</a:t>
            </a:r>
            <a:r>
              <a:rPr sz="20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is</a:t>
            </a:r>
            <a:r>
              <a:rPr sz="20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an</a:t>
            </a:r>
            <a:r>
              <a:rPr sz="20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episodic</a:t>
            </a:r>
            <a:r>
              <a:rPr sz="20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gait</a:t>
            </a:r>
            <a:r>
              <a:rPr sz="20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disturbance</a:t>
            </a:r>
            <a:r>
              <a:rPr sz="20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typically</a:t>
            </a:r>
            <a:endParaRPr sz="2000">
              <a:latin typeface="Franklin Gothic Medium"/>
              <a:cs typeface="Franklin Gothic Medium"/>
            </a:endParaRPr>
          </a:p>
          <a:p>
            <a:pPr marL="396240">
              <a:lnSpc>
                <a:spcPts val="2330"/>
              </a:lnSpc>
            </a:pPr>
            <a:r>
              <a:rPr sz="20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experienced</a:t>
            </a:r>
            <a:r>
              <a:rPr sz="20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when</a:t>
            </a:r>
            <a:r>
              <a:rPr sz="20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walking</a:t>
            </a:r>
            <a:endParaRPr sz="20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spcBef>
                <a:spcPts val="1055"/>
              </a:spcBef>
              <a:buChar char="■"/>
              <a:tabLst>
                <a:tab pos="396240" algn="l"/>
              </a:tabLst>
            </a:pPr>
            <a:r>
              <a:rPr sz="2000" u="sng" spc="-20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</a:rPr>
              <a:t>Festination</a:t>
            </a:r>
            <a:r>
              <a:rPr sz="2000" u="none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u="none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often</a:t>
            </a:r>
            <a:r>
              <a:rPr sz="2000" u="none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u="none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occurs</a:t>
            </a:r>
            <a:r>
              <a:rPr sz="2000" u="none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u="none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prior</a:t>
            </a:r>
            <a:r>
              <a:rPr sz="2000" u="none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u="none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to</a:t>
            </a:r>
            <a:r>
              <a:rPr sz="2000" u="none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u="none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freezing</a:t>
            </a:r>
            <a:endParaRPr sz="2000">
              <a:latin typeface="Franklin Gothic Medium"/>
              <a:cs typeface="Franklin Gothic Medium"/>
            </a:endParaRPr>
          </a:p>
          <a:p>
            <a:pPr marL="396240" indent="-383540">
              <a:lnSpc>
                <a:spcPts val="2330"/>
              </a:lnSpc>
              <a:spcBef>
                <a:spcPts val="1055"/>
              </a:spcBef>
              <a:buChar char="■"/>
              <a:tabLst>
                <a:tab pos="396240" algn="l"/>
              </a:tabLst>
            </a:pP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Feet</a:t>
            </a:r>
            <a:r>
              <a:rPr sz="2000" spc="-114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appears</a:t>
            </a:r>
            <a:r>
              <a:rPr sz="2000" spc="-1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glued</a:t>
            </a:r>
            <a:r>
              <a:rPr sz="20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to</a:t>
            </a:r>
            <a:r>
              <a:rPr sz="2000" spc="-9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the</a:t>
            </a:r>
            <a:r>
              <a:rPr sz="2000" spc="-9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floor</a:t>
            </a:r>
            <a:r>
              <a:rPr sz="2000" spc="-9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while</a:t>
            </a:r>
            <a:r>
              <a:rPr sz="2000" spc="-9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momentum</a:t>
            </a:r>
            <a:r>
              <a:rPr sz="20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carries</a:t>
            </a:r>
            <a:r>
              <a:rPr sz="20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body</a:t>
            </a:r>
            <a:r>
              <a:rPr sz="2000" spc="-10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mass</a:t>
            </a:r>
            <a:endParaRPr sz="2000">
              <a:latin typeface="Franklin Gothic Medium"/>
              <a:cs typeface="Franklin Gothic Medium"/>
            </a:endParaRPr>
          </a:p>
          <a:p>
            <a:pPr marL="396240">
              <a:lnSpc>
                <a:spcPts val="2330"/>
              </a:lnSpc>
            </a:pP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forward</a:t>
            </a:r>
            <a:endParaRPr sz="2000">
              <a:latin typeface="Franklin Gothic Medium"/>
              <a:cs typeface="Franklin Gothic Medium"/>
            </a:endParaRPr>
          </a:p>
          <a:p>
            <a:pPr marL="396240" marR="869315" indent="-384175">
              <a:lnSpc>
                <a:spcPts val="2260"/>
              </a:lnSpc>
              <a:spcBef>
                <a:spcPts val="1255"/>
              </a:spcBef>
              <a:buChar char="■"/>
              <a:tabLst>
                <a:tab pos="396240" algn="l"/>
              </a:tabLst>
            </a:pP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Occurs</a:t>
            </a:r>
            <a:r>
              <a:rPr sz="20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more</a:t>
            </a:r>
            <a:r>
              <a:rPr sz="20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frequently</a:t>
            </a:r>
            <a:r>
              <a:rPr sz="20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</a:t>
            </a:r>
            <a:r>
              <a:rPr sz="20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cluttered</a:t>
            </a:r>
            <a:r>
              <a:rPr sz="20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environments,</a:t>
            </a:r>
            <a:r>
              <a:rPr sz="20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stressful </a:t>
            </a:r>
            <a:r>
              <a:rPr sz="20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circumstances</a:t>
            </a:r>
            <a:r>
              <a:rPr sz="20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or</a:t>
            </a:r>
            <a:r>
              <a:rPr sz="20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when</a:t>
            </a:r>
            <a:r>
              <a:rPr sz="20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patient</a:t>
            </a:r>
            <a:r>
              <a:rPr sz="20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is</a:t>
            </a:r>
            <a:r>
              <a:rPr sz="20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distracted</a:t>
            </a:r>
            <a:endParaRPr sz="20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spcBef>
                <a:spcPts val="994"/>
              </a:spcBef>
              <a:buChar char="■"/>
              <a:tabLst>
                <a:tab pos="396240" algn="l"/>
              </a:tabLst>
            </a:pPr>
            <a:r>
              <a:rPr sz="2000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Likelihood</a:t>
            </a:r>
            <a:r>
              <a:rPr sz="2000" spc="-9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</a:t>
            </a:r>
            <a:r>
              <a:rPr sz="20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falls</a:t>
            </a:r>
            <a:r>
              <a:rPr sz="20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increases</a:t>
            </a:r>
            <a:endParaRPr sz="20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5767" rIns="0" bIns="0" rtlCol="0">
            <a:spAutoFit/>
          </a:bodyPr>
          <a:lstStyle/>
          <a:p>
            <a:pPr marL="50927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solidFill>
                  <a:srgbClr val="CC0000"/>
                </a:solidFill>
              </a:rPr>
              <a:t>Development</a:t>
            </a:r>
            <a:r>
              <a:rPr sz="3600" spc="-135" dirty="0">
                <a:solidFill>
                  <a:srgbClr val="CC0000"/>
                </a:solidFill>
              </a:rPr>
              <a:t> </a:t>
            </a:r>
            <a:r>
              <a:rPr sz="3600" dirty="0">
                <a:solidFill>
                  <a:srgbClr val="CC0000"/>
                </a:solidFill>
              </a:rPr>
              <a:t>of</a:t>
            </a:r>
            <a:r>
              <a:rPr sz="3600" spc="-114" dirty="0">
                <a:solidFill>
                  <a:srgbClr val="CC0000"/>
                </a:solidFill>
              </a:rPr>
              <a:t> </a:t>
            </a:r>
            <a:r>
              <a:rPr sz="3600" spc="-35" dirty="0">
                <a:solidFill>
                  <a:srgbClr val="CC0000"/>
                </a:solidFill>
              </a:rPr>
              <a:t>PD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107744" y="1710918"/>
            <a:ext cx="7461250" cy="4702175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396240" indent="-383540">
              <a:lnSpc>
                <a:spcPct val="100000"/>
              </a:lnSpc>
              <a:spcBef>
                <a:spcPts val="650"/>
              </a:spcBef>
              <a:buChar char="■"/>
              <a:tabLst>
                <a:tab pos="396240" algn="l"/>
              </a:tabLst>
            </a:pP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Early</a:t>
            </a:r>
            <a:r>
              <a:rPr sz="20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stage</a:t>
            </a:r>
            <a:r>
              <a:rPr sz="20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may</a:t>
            </a:r>
            <a:r>
              <a:rPr sz="20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be</a:t>
            </a:r>
            <a:r>
              <a:rPr sz="20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vague</a:t>
            </a:r>
            <a:r>
              <a:rPr sz="20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and</a:t>
            </a:r>
            <a:r>
              <a:rPr sz="20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non-specific:</a:t>
            </a:r>
            <a:endParaRPr sz="2000">
              <a:latin typeface="Franklin Gothic Medium"/>
              <a:cs typeface="Franklin Gothic Medium"/>
            </a:endParaRPr>
          </a:p>
          <a:p>
            <a:pPr marL="990600" lvl="1" indent="-447675">
              <a:lnSpc>
                <a:spcPts val="2330"/>
              </a:lnSpc>
              <a:spcBef>
                <a:spcPts val="550"/>
              </a:spcBef>
              <a:buFont typeface="Franklin Gothic Medium"/>
              <a:buChar char="–"/>
              <a:tabLst>
                <a:tab pos="990600" algn="l"/>
              </a:tabLst>
            </a:pP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e.g.</a:t>
            </a:r>
            <a:r>
              <a:rPr sz="2000" i="1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inexplicable</a:t>
            </a:r>
            <a:r>
              <a:rPr sz="2000" i="1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tiredness,</a:t>
            </a:r>
            <a:r>
              <a:rPr sz="2000" i="1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unwarranted</a:t>
            </a:r>
            <a:r>
              <a:rPr sz="2000" i="1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fatigability</a:t>
            </a:r>
            <a:r>
              <a:rPr sz="2000" i="1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and</a:t>
            </a:r>
            <a:r>
              <a:rPr sz="2000" i="1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mild</a:t>
            </a:r>
            <a:endParaRPr sz="2000">
              <a:latin typeface="Franklin Gothic Medium"/>
              <a:cs typeface="Franklin Gothic Medium"/>
            </a:endParaRPr>
          </a:p>
          <a:p>
            <a:pPr marL="926465">
              <a:lnSpc>
                <a:spcPts val="2330"/>
              </a:lnSpc>
            </a:pP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muscle</a:t>
            </a:r>
            <a:r>
              <a:rPr sz="2000" i="1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aches</a:t>
            </a:r>
            <a:r>
              <a:rPr sz="2000" i="1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and</a:t>
            </a:r>
            <a:r>
              <a:rPr sz="2000" i="1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cramps</a:t>
            </a:r>
            <a:endParaRPr sz="2000">
              <a:latin typeface="Franklin Gothic Medium"/>
              <a:cs typeface="Franklin Gothic Medium"/>
            </a:endParaRPr>
          </a:p>
          <a:p>
            <a:pPr marL="926465" lvl="1" indent="-383540">
              <a:lnSpc>
                <a:spcPts val="2330"/>
              </a:lnSpc>
              <a:spcBef>
                <a:spcPts val="555"/>
              </a:spcBef>
              <a:buFont typeface="Franklin Gothic Medium"/>
              <a:buChar char="–"/>
              <a:tabLst>
                <a:tab pos="926465" algn="l"/>
              </a:tabLst>
            </a:pPr>
            <a:r>
              <a:rPr sz="2000" i="1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Cognitive</a:t>
            </a:r>
            <a:r>
              <a:rPr sz="2000" i="1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impairment</a:t>
            </a:r>
            <a:r>
              <a:rPr sz="2000" i="1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affecting</a:t>
            </a:r>
            <a:r>
              <a:rPr sz="2000" i="1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executive</a:t>
            </a:r>
            <a:r>
              <a:rPr sz="2000" i="1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function</a:t>
            </a:r>
            <a:r>
              <a:rPr sz="2000" i="1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&amp;</a:t>
            </a:r>
            <a:r>
              <a:rPr sz="2000" i="1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memory</a:t>
            </a:r>
            <a:endParaRPr sz="2000">
              <a:latin typeface="Franklin Gothic Medium"/>
              <a:cs typeface="Franklin Gothic Medium"/>
            </a:endParaRPr>
          </a:p>
          <a:p>
            <a:pPr marL="926465">
              <a:lnSpc>
                <a:spcPts val="2330"/>
              </a:lnSpc>
            </a:pP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–</a:t>
            </a:r>
            <a:r>
              <a:rPr sz="2000" i="1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25%</a:t>
            </a:r>
            <a:r>
              <a:rPr sz="2000" i="1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</a:t>
            </a:r>
            <a:r>
              <a:rPr sz="2000" i="1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newly</a:t>
            </a:r>
            <a:r>
              <a:rPr sz="2000" i="1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diagnosed</a:t>
            </a:r>
            <a:r>
              <a:rPr sz="2000" i="1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cases</a:t>
            </a:r>
            <a:endParaRPr sz="2000">
              <a:latin typeface="Franklin Gothic Medium"/>
              <a:cs typeface="Franklin Gothic Medium"/>
            </a:endParaRPr>
          </a:p>
          <a:p>
            <a:pPr marL="926465" lvl="1" indent="-383540">
              <a:lnSpc>
                <a:spcPct val="100000"/>
              </a:lnSpc>
              <a:spcBef>
                <a:spcPts val="565"/>
              </a:spcBef>
              <a:buFont typeface="Franklin Gothic Medium"/>
              <a:buChar char="–"/>
              <a:tabLst>
                <a:tab pos="926465" algn="l"/>
              </a:tabLst>
            </a:pP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Excessive</a:t>
            </a:r>
            <a:r>
              <a:rPr sz="2000" i="1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levels</a:t>
            </a:r>
            <a:r>
              <a:rPr sz="2000" i="1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</a:t>
            </a:r>
            <a:r>
              <a:rPr sz="2000" i="1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physical</a:t>
            </a:r>
            <a:r>
              <a:rPr sz="2000" i="1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and</a:t>
            </a:r>
            <a:r>
              <a:rPr sz="2000" i="1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mental</a:t>
            </a:r>
            <a:r>
              <a:rPr sz="2000" i="1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fatigue</a:t>
            </a:r>
            <a:r>
              <a:rPr sz="2000" i="1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common</a:t>
            </a:r>
            <a:endParaRPr sz="2000">
              <a:latin typeface="Franklin Gothic Medium"/>
              <a:cs typeface="Franklin Gothic Medium"/>
            </a:endParaRPr>
          </a:p>
          <a:p>
            <a:pPr marL="926465" lvl="1" indent="-383540">
              <a:lnSpc>
                <a:spcPct val="100000"/>
              </a:lnSpc>
              <a:spcBef>
                <a:spcPts val="555"/>
              </a:spcBef>
              <a:buFont typeface="Franklin Gothic Medium"/>
              <a:buChar char="–"/>
              <a:tabLst>
                <a:tab pos="926465" algn="l"/>
              </a:tabLst>
            </a:pP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Depression</a:t>
            </a:r>
            <a:r>
              <a:rPr sz="2000" i="1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may</a:t>
            </a:r>
            <a:r>
              <a:rPr sz="2000" i="1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be</a:t>
            </a:r>
            <a:r>
              <a:rPr sz="2000" i="1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present</a:t>
            </a:r>
            <a:r>
              <a:rPr sz="2000" i="1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and</a:t>
            </a:r>
            <a:r>
              <a:rPr sz="2000" i="1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adds</a:t>
            </a:r>
            <a:r>
              <a:rPr sz="2000" i="1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to</a:t>
            </a:r>
            <a:r>
              <a:rPr sz="2000" i="1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reduced</a:t>
            </a:r>
            <a:r>
              <a:rPr sz="2000" i="1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QoL</a:t>
            </a:r>
            <a:endParaRPr sz="2000">
              <a:latin typeface="Franklin Gothic Medium"/>
              <a:cs typeface="Franklin Gothic Medium"/>
            </a:endParaRPr>
          </a:p>
          <a:p>
            <a:pPr lvl="1">
              <a:lnSpc>
                <a:spcPct val="100000"/>
              </a:lnSpc>
              <a:spcBef>
                <a:spcPts val="1739"/>
              </a:spcBef>
              <a:buClr>
                <a:srgbClr val="181B0D"/>
              </a:buClr>
              <a:buFont typeface="Franklin Gothic Medium"/>
              <a:buChar char="–"/>
            </a:pPr>
            <a:endParaRPr sz="20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buChar char="■"/>
              <a:tabLst>
                <a:tab pos="396240" algn="l"/>
              </a:tabLst>
            </a:pP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As</a:t>
            </a:r>
            <a:r>
              <a:rPr sz="2000" spc="-10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disease</a:t>
            </a:r>
            <a:r>
              <a:rPr sz="2000" spc="-1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progresses</a:t>
            </a:r>
            <a:endParaRPr sz="2000">
              <a:latin typeface="Franklin Gothic Medium"/>
              <a:cs typeface="Franklin Gothic Medium"/>
            </a:endParaRPr>
          </a:p>
          <a:p>
            <a:pPr marL="926465" lvl="1" indent="-383540">
              <a:lnSpc>
                <a:spcPct val="100000"/>
              </a:lnSpc>
              <a:spcBef>
                <a:spcPts val="565"/>
              </a:spcBef>
              <a:buFont typeface="Franklin Gothic Medium"/>
              <a:buChar char="–"/>
              <a:tabLst>
                <a:tab pos="926465" algn="l"/>
              </a:tabLst>
            </a:pPr>
            <a:r>
              <a:rPr sz="2000" i="1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Clinical</a:t>
            </a:r>
            <a:r>
              <a:rPr sz="2000" i="1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signs</a:t>
            </a:r>
            <a:r>
              <a:rPr sz="2000" i="1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and</a:t>
            </a:r>
            <a:r>
              <a:rPr sz="2000" i="1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symptoms</a:t>
            </a:r>
            <a:r>
              <a:rPr sz="2000" i="1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develops</a:t>
            </a:r>
            <a:endParaRPr sz="2000">
              <a:latin typeface="Franklin Gothic Medium"/>
              <a:cs typeface="Franklin Gothic Medium"/>
            </a:endParaRPr>
          </a:p>
          <a:p>
            <a:pPr marL="926465" lvl="1" indent="-383540">
              <a:lnSpc>
                <a:spcPct val="100000"/>
              </a:lnSpc>
              <a:spcBef>
                <a:spcPts val="555"/>
              </a:spcBef>
              <a:buFont typeface="Franklin Gothic Medium"/>
              <a:buChar char="–"/>
              <a:tabLst>
                <a:tab pos="926465" algn="l"/>
              </a:tabLst>
            </a:pP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Leads</a:t>
            </a:r>
            <a:r>
              <a:rPr sz="2000" i="1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to</a:t>
            </a:r>
            <a:r>
              <a:rPr sz="2000" i="1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embarrassing</a:t>
            </a:r>
            <a:r>
              <a:rPr sz="2000" i="1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and</a:t>
            </a:r>
            <a:r>
              <a:rPr sz="2000" i="1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upsetting</a:t>
            </a:r>
            <a:r>
              <a:rPr sz="2000" i="1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incidence</a:t>
            </a:r>
            <a:endParaRPr sz="2000">
              <a:latin typeface="Franklin Gothic Medium"/>
              <a:cs typeface="Franklin Gothic Medium"/>
            </a:endParaRPr>
          </a:p>
          <a:p>
            <a:pPr marL="926465" marR="632460" lvl="1" indent="-384175">
              <a:lnSpc>
                <a:spcPts val="2260"/>
              </a:lnSpc>
              <a:spcBef>
                <a:spcPts val="745"/>
              </a:spcBef>
              <a:buFont typeface="Franklin Gothic Medium"/>
              <a:buChar char="–"/>
              <a:tabLst>
                <a:tab pos="926465" algn="l"/>
              </a:tabLst>
            </a:pP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Movement</a:t>
            </a:r>
            <a:r>
              <a:rPr sz="2000" i="1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difficulties</a:t>
            </a:r>
            <a:r>
              <a:rPr sz="2000" i="1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compromises</a:t>
            </a:r>
            <a:r>
              <a:rPr sz="2000" i="1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independence</a:t>
            </a:r>
            <a:r>
              <a:rPr sz="2000" i="1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and </a:t>
            </a: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confidence</a:t>
            </a:r>
            <a:endParaRPr sz="20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07744" y="644397"/>
            <a:ext cx="29686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60" dirty="0">
                <a:solidFill>
                  <a:srgbClr val="CC0000"/>
                </a:solidFill>
              </a:rPr>
              <a:t>Problems</a:t>
            </a:r>
            <a:r>
              <a:rPr sz="3600" spc="-90" dirty="0">
                <a:solidFill>
                  <a:srgbClr val="CC0000"/>
                </a:solidFill>
              </a:rPr>
              <a:t> </a:t>
            </a:r>
            <a:r>
              <a:rPr sz="3600" dirty="0">
                <a:solidFill>
                  <a:srgbClr val="CC0000"/>
                </a:solidFill>
              </a:rPr>
              <a:t>in</a:t>
            </a:r>
            <a:r>
              <a:rPr sz="3600" spc="-75" dirty="0">
                <a:solidFill>
                  <a:srgbClr val="CC0000"/>
                </a:solidFill>
              </a:rPr>
              <a:t> </a:t>
            </a:r>
            <a:r>
              <a:rPr sz="3600" spc="-25" dirty="0">
                <a:solidFill>
                  <a:srgbClr val="CC0000"/>
                </a:solidFill>
              </a:rPr>
              <a:t>PD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607261"/>
            <a:ext cx="7891145" cy="2845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6875" indent="-384175">
              <a:lnSpc>
                <a:spcPts val="2330"/>
              </a:lnSpc>
              <a:spcBef>
                <a:spcPts val="105"/>
              </a:spcBef>
              <a:buChar char="■"/>
              <a:tabLst>
                <a:tab pos="396875" algn="l"/>
              </a:tabLst>
            </a:pPr>
            <a:r>
              <a:rPr sz="2000" u="sng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</a:rPr>
              <a:t>Loss</a:t>
            </a:r>
            <a:r>
              <a:rPr sz="2000" u="sng" spc="-80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sz="2000" u="sng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</a:rPr>
              <a:t>of</a:t>
            </a:r>
            <a:r>
              <a:rPr sz="2000" u="sng" spc="-60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sz="2000" u="sng" spc="-35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</a:rPr>
              <a:t>automaticity</a:t>
            </a:r>
            <a:r>
              <a:rPr sz="2000" u="none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: </a:t>
            </a:r>
            <a:r>
              <a:rPr sz="2000" u="none" dirty="0">
                <a:solidFill>
                  <a:srgbClr val="181B0D"/>
                </a:solidFill>
                <a:latin typeface="Franklin Gothic Medium"/>
                <a:cs typeface="Franklin Gothic Medium"/>
              </a:rPr>
              <a:t>-</a:t>
            </a:r>
            <a:r>
              <a:rPr sz="2000" u="none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u="none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inability</a:t>
            </a:r>
            <a:r>
              <a:rPr sz="2000" u="none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u="none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to</a:t>
            </a:r>
            <a:r>
              <a:rPr sz="2000" u="none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u="none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perform</a:t>
            </a:r>
            <a:r>
              <a:rPr sz="2000" u="none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u="none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movement</a:t>
            </a:r>
            <a:r>
              <a:rPr sz="2000" u="none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u="none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without</a:t>
            </a:r>
            <a:r>
              <a:rPr sz="2000" u="none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u="none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attention</a:t>
            </a:r>
            <a:endParaRPr sz="2000">
              <a:latin typeface="Franklin Gothic Medium"/>
              <a:cs typeface="Franklin Gothic Medium"/>
            </a:endParaRPr>
          </a:p>
          <a:p>
            <a:pPr marL="396875">
              <a:lnSpc>
                <a:spcPts val="2330"/>
              </a:lnSpc>
            </a:pP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directed</a:t>
            </a:r>
            <a:r>
              <a:rPr sz="20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towards</a:t>
            </a:r>
            <a:r>
              <a:rPr sz="20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the</a:t>
            </a:r>
            <a:r>
              <a:rPr sz="2000" spc="-9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movement</a:t>
            </a:r>
            <a:endParaRPr sz="2000">
              <a:latin typeface="Franklin Gothic Medium"/>
              <a:cs typeface="Franklin Gothic Medium"/>
            </a:endParaRPr>
          </a:p>
          <a:p>
            <a:pPr marL="927100" lvl="1" indent="-384175">
              <a:lnSpc>
                <a:spcPct val="100000"/>
              </a:lnSpc>
              <a:spcBef>
                <a:spcPts val="550"/>
              </a:spcBef>
              <a:buFont typeface="Franklin Gothic Medium"/>
              <a:buChar char="–"/>
              <a:tabLst>
                <a:tab pos="927100" algn="l"/>
              </a:tabLst>
            </a:pP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Habitual</a:t>
            </a:r>
            <a:r>
              <a:rPr sz="2000" i="1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behaviour</a:t>
            </a:r>
            <a:r>
              <a:rPr sz="2000" i="1" spc="-10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is</a:t>
            </a:r>
            <a:r>
              <a:rPr sz="2000" i="1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affected</a:t>
            </a:r>
            <a:endParaRPr sz="2000">
              <a:latin typeface="Franklin Gothic Medium"/>
              <a:cs typeface="Franklin Gothic Medium"/>
            </a:endParaRPr>
          </a:p>
          <a:p>
            <a:pPr marL="927100" lvl="1" indent="-384175">
              <a:lnSpc>
                <a:spcPct val="100000"/>
              </a:lnSpc>
              <a:spcBef>
                <a:spcPts val="555"/>
              </a:spcBef>
              <a:buFont typeface="Franklin Gothic Medium"/>
              <a:buChar char="–"/>
              <a:tabLst>
                <a:tab pos="927100" algn="l"/>
              </a:tabLst>
            </a:pPr>
            <a:r>
              <a:rPr sz="2000" i="1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Flexibility</a:t>
            </a:r>
            <a:r>
              <a:rPr sz="2000" i="1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</a:t>
            </a:r>
            <a:r>
              <a:rPr sz="2000" i="1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motor</a:t>
            </a:r>
            <a:r>
              <a:rPr sz="2000" i="1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behaviour</a:t>
            </a:r>
            <a:r>
              <a:rPr sz="2000" i="1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is</a:t>
            </a:r>
            <a:r>
              <a:rPr sz="2000" i="1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reduced</a:t>
            </a:r>
            <a:endParaRPr sz="2000">
              <a:latin typeface="Franklin Gothic Medium"/>
              <a:cs typeface="Franklin Gothic Medium"/>
            </a:endParaRPr>
          </a:p>
          <a:p>
            <a:pPr marL="927100" lvl="1" indent="-384175">
              <a:lnSpc>
                <a:spcPct val="100000"/>
              </a:lnSpc>
              <a:spcBef>
                <a:spcPts val="565"/>
              </a:spcBef>
              <a:buFont typeface="Franklin Gothic Medium"/>
              <a:buChar char="–"/>
              <a:tabLst>
                <a:tab pos="927100" algn="l"/>
              </a:tabLst>
            </a:pP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Dual</a:t>
            </a:r>
            <a:r>
              <a:rPr sz="2000" i="1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tasking</a:t>
            </a:r>
            <a:r>
              <a:rPr sz="2000" i="1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is</a:t>
            </a:r>
            <a:r>
              <a:rPr sz="2000" i="1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impaired</a:t>
            </a:r>
            <a:endParaRPr sz="2000">
              <a:latin typeface="Franklin Gothic Medium"/>
              <a:cs typeface="Franklin Gothic Medium"/>
            </a:endParaRPr>
          </a:p>
          <a:p>
            <a:pPr marL="927100" lvl="1" indent="-384175">
              <a:lnSpc>
                <a:spcPct val="100000"/>
              </a:lnSpc>
              <a:spcBef>
                <a:spcPts val="550"/>
              </a:spcBef>
              <a:buFont typeface="Franklin Gothic Medium"/>
              <a:buChar char="–"/>
              <a:tabLst>
                <a:tab pos="927100" algn="l"/>
              </a:tabLst>
            </a:pP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Exaggerated</a:t>
            </a:r>
            <a:r>
              <a:rPr sz="2000" i="1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dependence</a:t>
            </a:r>
            <a:r>
              <a:rPr sz="2000" i="1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on</a:t>
            </a:r>
            <a:r>
              <a:rPr sz="2000" i="1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external</a:t>
            </a:r>
            <a:r>
              <a:rPr sz="2000" i="1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motor</a:t>
            </a:r>
            <a:r>
              <a:rPr sz="2000" i="1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drive</a:t>
            </a:r>
            <a:endParaRPr sz="2000">
              <a:latin typeface="Franklin Gothic Medium"/>
              <a:cs typeface="Franklin Gothic Medium"/>
            </a:endParaRPr>
          </a:p>
          <a:p>
            <a:pPr marL="396875" marR="180975" indent="-384810">
              <a:lnSpc>
                <a:spcPts val="2260"/>
              </a:lnSpc>
              <a:spcBef>
                <a:spcPts val="1250"/>
              </a:spcBef>
              <a:buChar char="■"/>
              <a:tabLst>
                <a:tab pos="396875" algn="l"/>
              </a:tabLst>
            </a:pP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Contributes</a:t>
            </a:r>
            <a:r>
              <a:rPr sz="2000" spc="-1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to</a:t>
            </a:r>
            <a:r>
              <a:rPr sz="20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micrographia,</a:t>
            </a:r>
            <a:r>
              <a:rPr sz="2000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decreased</a:t>
            </a:r>
            <a:r>
              <a:rPr sz="2000" spc="-9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arm</a:t>
            </a:r>
            <a:r>
              <a:rPr sz="2000" spc="-9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swing,</a:t>
            </a:r>
            <a:r>
              <a:rPr sz="20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decreased</a:t>
            </a:r>
            <a:r>
              <a:rPr sz="2000" spc="-10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stride </a:t>
            </a:r>
            <a:r>
              <a:rPr sz="20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length,</a:t>
            </a:r>
            <a:r>
              <a:rPr sz="20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reduced</a:t>
            </a:r>
            <a:r>
              <a:rPr sz="20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facial</a:t>
            </a:r>
            <a:r>
              <a:rPr sz="20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expression</a:t>
            </a:r>
            <a:endParaRPr sz="20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2212" rIns="0" bIns="0" rtlCol="0">
            <a:spAutoFit/>
          </a:bodyPr>
          <a:lstStyle/>
          <a:p>
            <a:pPr marL="116205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CC0000"/>
                </a:solidFill>
              </a:rPr>
              <a:t>Motor</a:t>
            </a:r>
            <a:r>
              <a:rPr spc="-125" dirty="0">
                <a:solidFill>
                  <a:srgbClr val="CC0000"/>
                </a:solidFill>
              </a:rPr>
              <a:t> </a:t>
            </a:r>
            <a:r>
              <a:rPr spc="-10" dirty="0">
                <a:solidFill>
                  <a:srgbClr val="CC0000"/>
                </a:solidFill>
              </a:rPr>
              <a:t>control</a:t>
            </a:r>
            <a:r>
              <a:rPr spc="-130" dirty="0">
                <a:solidFill>
                  <a:srgbClr val="CC0000"/>
                </a:solidFill>
              </a:rPr>
              <a:t> </a:t>
            </a:r>
            <a:r>
              <a:rPr dirty="0">
                <a:solidFill>
                  <a:srgbClr val="CC0000"/>
                </a:solidFill>
              </a:rPr>
              <a:t>and</a:t>
            </a:r>
            <a:r>
              <a:rPr spc="-120" dirty="0">
                <a:solidFill>
                  <a:srgbClr val="CC0000"/>
                </a:solidFill>
              </a:rPr>
              <a:t> </a:t>
            </a:r>
            <a:r>
              <a:rPr spc="-55" dirty="0">
                <a:solidFill>
                  <a:srgbClr val="CC0000"/>
                </a:solidFill>
              </a:rPr>
              <a:t>motor</a:t>
            </a:r>
            <a:r>
              <a:rPr spc="-125" dirty="0">
                <a:solidFill>
                  <a:srgbClr val="CC0000"/>
                </a:solidFill>
              </a:rPr>
              <a:t> </a:t>
            </a:r>
            <a:r>
              <a:rPr spc="-25" dirty="0">
                <a:solidFill>
                  <a:srgbClr val="CC0000"/>
                </a:solidFill>
              </a:rPr>
              <a:t>performance</a:t>
            </a:r>
            <a:r>
              <a:rPr spc="-140" dirty="0">
                <a:solidFill>
                  <a:srgbClr val="CC0000"/>
                </a:solidFill>
              </a:rPr>
              <a:t> </a:t>
            </a:r>
            <a:r>
              <a:rPr spc="-10" dirty="0">
                <a:solidFill>
                  <a:srgbClr val="CC0000"/>
                </a:solidFill>
              </a:rPr>
              <a:t>deficits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79119" y="2045944"/>
            <a:ext cx="7016115" cy="200723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396240" indent="-383540">
              <a:lnSpc>
                <a:spcPct val="100000"/>
              </a:lnSpc>
              <a:spcBef>
                <a:spcPts val="1060"/>
              </a:spcBef>
              <a:buChar char="■"/>
              <a:tabLst>
                <a:tab pos="396240" algn="l"/>
              </a:tabLst>
            </a:pPr>
            <a:r>
              <a:rPr sz="20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Reaction</a:t>
            </a:r>
            <a:r>
              <a:rPr sz="2000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time</a:t>
            </a:r>
            <a:r>
              <a:rPr sz="20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and</a:t>
            </a:r>
            <a:r>
              <a:rPr sz="20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*movement</a:t>
            </a:r>
            <a:r>
              <a:rPr sz="20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time</a:t>
            </a:r>
            <a:r>
              <a:rPr sz="20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(delayed</a:t>
            </a:r>
            <a:r>
              <a:rPr sz="20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and</a:t>
            </a:r>
            <a:r>
              <a:rPr sz="20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prolonged)</a:t>
            </a:r>
            <a:endParaRPr sz="2000">
              <a:latin typeface="Franklin Gothic Medium"/>
              <a:cs typeface="Franklin Gothic Medium"/>
            </a:endParaRPr>
          </a:p>
          <a:p>
            <a:pPr marL="396240" indent="-383540">
              <a:lnSpc>
                <a:spcPts val="2280"/>
              </a:lnSpc>
              <a:spcBef>
                <a:spcPts val="960"/>
              </a:spcBef>
              <a:buChar char="■"/>
              <a:tabLst>
                <a:tab pos="396240" algn="l"/>
              </a:tabLst>
            </a:pP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Execution</a:t>
            </a:r>
            <a:r>
              <a:rPr sz="20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</a:t>
            </a:r>
            <a:r>
              <a:rPr sz="20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sequential</a:t>
            </a:r>
            <a:r>
              <a:rPr sz="20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movements</a:t>
            </a:r>
            <a:r>
              <a:rPr sz="2000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(slower</a:t>
            </a:r>
            <a:r>
              <a:rPr sz="20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and</a:t>
            </a:r>
            <a:r>
              <a:rPr sz="20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prolonged</a:t>
            </a:r>
            <a:endParaRPr sz="2000">
              <a:latin typeface="Franklin Gothic Medium"/>
              <a:cs typeface="Franklin Gothic Medium"/>
            </a:endParaRPr>
          </a:p>
          <a:p>
            <a:pPr marL="396240">
              <a:lnSpc>
                <a:spcPts val="2280"/>
              </a:lnSpc>
            </a:pP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transitions)</a:t>
            </a:r>
            <a:endParaRPr sz="20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spcBef>
                <a:spcPts val="960"/>
              </a:spcBef>
              <a:buChar char="■"/>
              <a:tabLst>
                <a:tab pos="396240" algn="l"/>
              </a:tabLst>
            </a:pP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Execution</a:t>
            </a:r>
            <a:r>
              <a:rPr sz="20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</a:t>
            </a:r>
            <a:r>
              <a:rPr sz="20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simultaneous</a:t>
            </a:r>
            <a:r>
              <a:rPr sz="20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movements</a:t>
            </a:r>
            <a:r>
              <a:rPr sz="2000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(striking</a:t>
            </a:r>
            <a:r>
              <a:rPr sz="20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feature</a:t>
            </a:r>
            <a:r>
              <a:rPr sz="20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</a:t>
            </a:r>
            <a:r>
              <a:rPr sz="20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PD)</a:t>
            </a:r>
            <a:endParaRPr sz="20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spcBef>
                <a:spcPts val="960"/>
              </a:spcBef>
              <a:buChar char="■"/>
              <a:tabLst>
                <a:tab pos="396240" algn="l"/>
              </a:tabLst>
            </a:pP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Micrographia</a:t>
            </a:r>
            <a:endParaRPr sz="2000">
              <a:latin typeface="Franklin Gothic Medium"/>
              <a:cs typeface="Franklin Gothic Medium"/>
            </a:endParaRPr>
          </a:p>
        </p:txBody>
      </p:sp>
      <p:pic>
        <p:nvPicPr>
          <p:cNvPr id="4" name="object 4" descr="micrographia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87900" y="4581525"/>
            <a:ext cx="3855974" cy="1752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4023" rIns="0" bIns="0" rtlCol="0">
            <a:spAutoFit/>
          </a:bodyPr>
          <a:lstStyle/>
          <a:p>
            <a:pPr marL="509270">
              <a:lnSpc>
                <a:spcPct val="100000"/>
              </a:lnSpc>
              <a:spcBef>
                <a:spcPts val="105"/>
              </a:spcBef>
            </a:pPr>
            <a:r>
              <a:rPr spc="-30" dirty="0">
                <a:solidFill>
                  <a:srgbClr val="CC0000"/>
                </a:solidFill>
              </a:rPr>
              <a:t>Postural</a:t>
            </a:r>
            <a:r>
              <a:rPr spc="-95" dirty="0">
                <a:solidFill>
                  <a:srgbClr val="CC0000"/>
                </a:solidFill>
              </a:rPr>
              <a:t> </a:t>
            </a:r>
            <a:r>
              <a:rPr spc="-30" dirty="0">
                <a:solidFill>
                  <a:srgbClr val="CC0000"/>
                </a:solidFill>
              </a:rPr>
              <a:t>Instability</a:t>
            </a:r>
            <a:r>
              <a:rPr spc="-75" dirty="0">
                <a:solidFill>
                  <a:srgbClr val="CC0000"/>
                </a:solidFill>
              </a:rPr>
              <a:t> </a:t>
            </a:r>
            <a:r>
              <a:rPr dirty="0">
                <a:solidFill>
                  <a:srgbClr val="CC0000"/>
                </a:solidFill>
              </a:rPr>
              <a:t>-</a:t>
            </a:r>
            <a:r>
              <a:rPr spc="-65" dirty="0">
                <a:solidFill>
                  <a:srgbClr val="CC0000"/>
                </a:solidFill>
              </a:rPr>
              <a:t> </a:t>
            </a:r>
            <a:r>
              <a:rPr spc="-10" dirty="0">
                <a:solidFill>
                  <a:srgbClr val="CC0000"/>
                </a:solidFill>
              </a:rPr>
              <a:t>Balance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0442" y="2068883"/>
            <a:ext cx="6827520" cy="391160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96240" indent="-383540">
              <a:lnSpc>
                <a:spcPct val="100000"/>
              </a:lnSpc>
              <a:spcBef>
                <a:spcPts val="605"/>
              </a:spcBef>
              <a:buChar char="■"/>
              <a:tabLst>
                <a:tab pos="396240" algn="l"/>
              </a:tabLst>
            </a:pPr>
            <a:r>
              <a:rPr sz="2600" spc="-25" dirty="0">
                <a:latin typeface="Franklin Gothic Medium"/>
                <a:cs typeface="Franklin Gothic Medium"/>
              </a:rPr>
              <a:t>Postural</a:t>
            </a:r>
            <a:r>
              <a:rPr sz="2600" spc="-120" dirty="0">
                <a:latin typeface="Franklin Gothic Medium"/>
                <a:cs typeface="Franklin Gothic Medium"/>
              </a:rPr>
              <a:t> </a:t>
            </a:r>
            <a:r>
              <a:rPr sz="2600" spc="-10" dirty="0">
                <a:latin typeface="Franklin Gothic Medium"/>
                <a:cs typeface="Franklin Gothic Medium"/>
              </a:rPr>
              <a:t>instability:</a:t>
            </a:r>
            <a:endParaRPr sz="2600">
              <a:latin typeface="Franklin Gothic Medium"/>
              <a:cs typeface="Franklin Gothic Medium"/>
            </a:endParaRPr>
          </a:p>
          <a:p>
            <a:pPr marL="927100" marR="215265" lvl="1" indent="-384810">
              <a:lnSpc>
                <a:spcPts val="2940"/>
              </a:lnSpc>
              <a:spcBef>
                <a:spcPts val="755"/>
              </a:spcBef>
              <a:buFont typeface="Franklin Gothic Medium"/>
              <a:buChar char="–"/>
              <a:tabLst>
                <a:tab pos="927100" algn="l"/>
              </a:tabLst>
            </a:pPr>
            <a:r>
              <a:rPr sz="2600" i="1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Contributing</a:t>
            </a:r>
            <a:r>
              <a:rPr sz="2600" i="1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factors:</a:t>
            </a:r>
            <a:r>
              <a:rPr sz="2600" i="1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i="1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rigidity,</a:t>
            </a:r>
            <a:r>
              <a:rPr sz="2600" i="1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decreased force</a:t>
            </a:r>
            <a:r>
              <a:rPr sz="2600" i="1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production,</a:t>
            </a:r>
            <a:r>
              <a:rPr sz="2600" i="1" spc="-1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loss</a:t>
            </a:r>
            <a:r>
              <a:rPr sz="2600" i="1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</a:t>
            </a:r>
            <a:r>
              <a:rPr sz="2600" i="1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ROM,</a:t>
            </a:r>
            <a:r>
              <a:rPr sz="2600" i="1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weakness</a:t>
            </a:r>
            <a:endParaRPr sz="2600">
              <a:latin typeface="Franklin Gothic Medium"/>
              <a:cs typeface="Franklin Gothic Medium"/>
            </a:endParaRPr>
          </a:p>
          <a:p>
            <a:pPr marL="927100" marR="842010" lvl="1" indent="-384810">
              <a:lnSpc>
                <a:spcPts val="2930"/>
              </a:lnSpc>
              <a:spcBef>
                <a:spcPts val="705"/>
              </a:spcBef>
              <a:buFont typeface="Franklin Gothic Medium"/>
              <a:buChar char="–"/>
              <a:tabLst>
                <a:tab pos="927100" algn="l"/>
              </a:tabLst>
            </a:pPr>
            <a:r>
              <a:rPr sz="26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Reduced</a:t>
            </a:r>
            <a:r>
              <a:rPr sz="2600" i="1" spc="-1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i="1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ability</a:t>
            </a:r>
            <a:r>
              <a:rPr sz="2600" i="1" spc="-114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to</a:t>
            </a:r>
            <a:r>
              <a:rPr sz="2600" i="1" spc="-114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i="1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make</a:t>
            </a:r>
            <a:r>
              <a:rPr sz="2600" i="1" spc="-9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appropriate responses</a:t>
            </a:r>
            <a:endParaRPr sz="2600">
              <a:latin typeface="Franklin Gothic Medium"/>
              <a:cs typeface="Franklin Gothic Medium"/>
            </a:endParaRPr>
          </a:p>
          <a:p>
            <a:pPr marL="927100" marR="10795" lvl="1" indent="-384810">
              <a:lnSpc>
                <a:spcPts val="2930"/>
              </a:lnSpc>
              <a:spcBef>
                <a:spcPts val="705"/>
              </a:spcBef>
              <a:buFont typeface="Franklin Gothic Medium"/>
              <a:buChar char="–"/>
              <a:tabLst>
                <a:tab pos="927100" algn="l"/>
              </a:tabLst>
            </a:pPr>
            <a:r>
              <a:rPr sz="2600" i="1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Inability</a:t>
            </a:r>
            <a:r>
              <a:rPr sz="2600" i="1" spc="-9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to</a:t>
            </a:r>
            <a:r>
              <a:rPr sz="2600" i="1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process</a:t>
            </a:r>
            <a:r>
              <a:rPr sz="2600" i="1" spc="-1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afferent</a:t>
            </a:r>
            <a:r>
              <a:rPr sz="2600" i="1" spc="-10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input</a:t>
            </a:r>
            <a:r>
              <a:rPr sz="2600" i="1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–</a:t>
            </a:r>
            <a:r>
              <a:rPr sz="2600" i="1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i="1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lack</a:t>
            </a:r>
            <a:r>
              <a:rPr sz="2600" i="1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i="1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 </a:t>
            </a:r>
            <a:r>
              <a:rPr sz="26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adaptability</a:t>
            </a:r>
            <a:endParaRPr sz="2600">
              <a:latin typeface="Franklin Gothic Medium"/>
              <a:cs typeface="Franklin Gothic Medium"/>
            </a:endParaRPr>
          </a:p>
          <a:p>
            <a:pPr marL="927100" lvl="1" indent="-384175">
              <a:lnSpc>
                <a:spcPct val="100000"/>
              </a:lnSpc>
              <a:spcBef>
                <a:spcPts val="450"/>
              </a:spcBef>
              <a:buFont typeface="Franklin Gothic Medium"/>
              <a:buChar char="–"/>
              <a:tabLst>
                <a:tab pos="927100" algn="l"/>
              </a:tabLst>
            </a:pPr>
            <a:r>
              <a:rPr sz="2600" i="1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Delayed</a:t>
            </a:r>
            <a:r>
              <a:rPr sz="2600" i="1" spc="-9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i="1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anticipatory</a:t>
            </a:r>
            <a:r>
              <a:rPr sz="2600" i="1" spc="-1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postural</a:t>
            </a:r>
            <a:r>
              <a:rPr sz="2600" i="1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adjustments</a:t>
            </a:r>
            <a:endParaRPr sz="2600">
              <a:latin typeface="Franklin Gothic Medium"/>
              <a:cs typeface="Franklin Gothic Medium"/>
            </a:endParaRPr>
          </a:p>
          <a:p>
            <a:pPr marL="927100" lvl="1" indent="-384175">
              <a:lnSpc>
                <a:spcPct val="100000"/>
              </a:lnSpc>
              <a:spcBef>
                <a:spcPts val="515"/>
              </a:spcBef>
              <a:buFont typeface="Franklin Gothic Medium"/>
              <a:buChar char="–"/>
              <a:tabLst>
                <a:tab pos="927100" algn="l"/>
              </a:tabLst>
            </a:pPr>
            <a:r>
              <a:rPr sz="26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Flexed</a:t>
            </a:r>
            <a:r>
              <a:rPr sz="2600" i="1" spc="-1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posture</a:t>
            </a:r>
            <a:endParaRPr sz="26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20320" marR="5080">
              <a:lnSpc>
                <a:spcPts val="3100"/>
              </a:lnSpc>
              <a:spcBef>
                <a:spcPts val="525"/>
              </a:spcBef>
            </a:pPr>
            <a:r>
              <a:rPr sz="2900" spc="-10" dirty="0">
                <a:solidFill>
                  <a:srgbClr val="CC0000"/>
                </a:solidFill>
              </a:rPr>
              <a:t>Motor</a:t>
            </a:r>
            <a:r>
              <a:rPr sz="2900" spc="-114" dirty="0">
                <a:solidFill>
                  <a:srgbClr val="CC0000"/>
                </a:solidFill>
              </a:rPr>
              <a:t> </a:t>
            </a:r>
            <a:r>
              <a:rPr sz="2900" spc="-20" dirty="0">
                <a:solidFill>
                  <a:srgbClr val="CC0000"/>
                </a:solidFill>
              </a:rPr>
              <a:t>control</a:t>
            </a:r>
            <a:r>
              <a:rPr sz="2900" spc="-135" dirty="0">
                <a:solidFill>
                  <a:srgbClr val="CC0000"/>
                </a:solidFill>
              </a:rPr>
              <a:t> </a:t>
            </a:r>
            <a:r>
              <a:rPr sz="2900" dirty="0">
                <a:solidFill>
                  <a:srgbClr val="CC0000"/>
                </a:solidFill>
              </a:rPr>
              <a:t>and</a:t>
            </a:r>
            <a:r>
              <a:rPr sz="2900" spc="-110" dirty="0">
                <a:solidFill>
                  <a:srgbClr val="CC0000"/>
                </a:solidFill>
              </a:rPr>
              <a:t> </a:t>
            </a:r>
            <a:r>
              <a:rPr sz="2900" spc="-55" dirty="0">
                <a:solidFill>
                  <a:srgbClr val="CC0000"/>
                </a:solidFill>
              </a:rPr>
              <a:t>motor</a:t>
            </a:r>
            <a:r>
              <a:rPr sz="2900" spc="-125" dirty="0">
                <a:solidFill>
                  <a:srgbClr val="CC0000"/>
                </a:solidFill>
              </a:rPr>
              <a:t> </a:t>
            </a:r>
            <a:r>
              <a:rPr sz="2900" spc="-25" dirty="0">
                <a:solidFill>
                  <a:srgbClr val="CC0000"/>
                </a:solidFill>
              </a:rPr>
              <a:t>performance</a:t>
            </a:r>
            <a:r>
              <a:rPr sz="2900" spc="-120" dirty="0">
                <a:solidFill>
                  <a:srgbClr val="CC0000"/>
                </a:solidFill>
              </a:rPr>
              <a:t> </a:t>
            </a:r>
            <a:r>
              <a:rPr sz="2900" dirty="0">
                <a:solidFill>
                  <a:srgbClr val="CC0000"/>
                </a:solidFill>
              </a:rPr>
              <a:t>deficits:</a:t>
            </a:r>
            <a:r>
              <a:rPr sz="2900" spc="-85" dirty="0">
                <a:solidFill>
                  <a:srgbClr val="CC0000"/>
                </a:solidFill>
              </a:rPr>
              <a:t> </a:t>
            </a:r>
            <a:r>
              <a:rPr sz="2900" spc="-20" dirty="0">
                <a:solidFill>
                  <a:srgbClr val="181B0D"/>
                </a:solidFill>
              </a:rPr>
              <a:t>Gait </a:t>
            </a:r>
            <a:r>
              <a:rPr sz="2900" spc="-10" dirty="0">
                <a:solidFill>
                  <a:srgbClr val="181B0D"/>
                </a:solidFill>
              </a:rPr>
              <a:t>disturbances:</a:t>
            </a:r>
            <a:endParaRPr sz="2900"/>
          </a:p>
        </p:txBody>
      </p:sp>
      <p:sp>
        <p:nvSpPr>
          <p:cNvPr id="3" name="object 3"/>
          <p:cNvSpPr txBox="1"/>
          <p:nvPr/>
        </p:nvSpPr>
        <p:spPr>
          <a:xfrm>
            <a:off x="618540" y="1356489"/>
            <a:ext cx="6267450" cy="447611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396240" indent="-383540">
              <a:lnSpc>
                <a:spcPct val="100000"/>
              </a:lnSpc>
              <a:spcBef>
                <a:spcPts val="720"/>
              </a:spcBef>
              <a:buChar char="■"/>
              <a:tabLst>
                <a:tab pos="396240" algn="l"/>
              </a:tabLst>
            </a:pPr>
            <a:r>
              <a:rPr sz="24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slowness</a:t>
            </a:r>
            <a:r>
              <a:rPr sz="24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</a:t>
            </a:r>
            <a:r>
              <a:rPr sz="24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movement</a:t>
            </a:r>
            <a:endParaRPr sz="24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spcBef>
                <a:spcPts val="625"/>
              </a:spcBef>
              <a:buChar char="■"/>
              <a:tabLst>
                <a:tab pos="396240" algn="l"/>
              </a:tabLst>
            </a:pPr>
            <a:r>
              <a:rPr sz="24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difficulty</a:t>
            </a:r>
            <a:r>
              <a:rPr sz="24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</a:t>
            </a:r>
            <a:r>
              <a:rPr sz="24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initiation</a:t>
            </a:r>
            <a:endParaRPr sz="24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spcBef>
                <a:spcPts val="625"/>
              </a:spcBef>
              <a:buChar char="■"/>
              <a:tabLst>
                <a:tab pos="396240" algn="l"/>
              </a:tabLst>
            </a:pP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decreased</a:t>
            </a:r>
            <a:r>
              <a:rPr sz="2400" spc="-1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stride</a:t>
            </a:r>
            <a:r>
              <a:rPr sz="2400" spc="-1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length</a:t>
            </a:r>
            <a:endParaRPr sz="24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spcBef>
                <a:spcPts val="625"/>
              </a:spcBef>
              <a:buChar char="■"/>
              <a:tabLst>
                <a:tab pos="396240" algn="l"/>
              </a:tabLst>
            </a:pP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decreased</a:t>
            </a:r>
            <a:r>
              <a:rPr sz="2400" spc="-1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reciprocal</a:t>
            </a:r>
            <a:r>
              <a:rPr sz="2400" spc="-1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arm</a:t>
            </a:r>
            <a:r>
              <a:rPr sz="2400" spc="-1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swing</a:t>
            </a:r>
            <a:endParaRPr sz="24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spcBef>
                <a:spcPts val="625"/>
              </a:spcBef>
              <a:buChar char="■"/>
              <a:tabLst>
                <a:tab pos="396240" algn="l"/>
              </a:tabLst>
            </a:pPr>
            <a:r>
              <a:rPr sz="24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small</a:t>
            </a:r>
            <a:r>
              <a:rPr sz="2400" spc="-114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shuffling</a:t>
            </a:r>
            <a:r>
              <a:rPr sz="2400" spc="-1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steps</a:t>
            </a:r>
            <a:endParaRPr sz="24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spcBef>
                <a:spcPts val="625"/>
              </a:spcBef>
              <a:buChar char="■"/>
              <a:tabLst>
                <a:tab pos="396240" algn="l"/>
              </a:tabLst>
            </a:pP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Loss</a:t>
            </a:r>
            <a:r>
              <a:rPr sz="2400" spc="-9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</a:t>
            </a:r>
            <a:r>
              <a:rPr sz="24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normal</a:t>
            </a:r>
            <a:r>
              <a:rPr sz="2400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heel-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toe</a:t>
            </a:r>
            <a:r>
              <a:rPr sz="24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progression</a:t>
            </a:r>
            <a:endParaRPr sz="24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spcBef>
                <a:spcPts val="625"/>
              </a:spcBef>
              <a:buChar char="■"/>
              <a:tabLst>
                <a:tab pos="396240" algn="l"/>
              </a:tabLst>
            </a:pPr>
            <a:r>
              <a:rPr sz="24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festinating</a:t>
            </a:r>
            <a:r>
              <a:rPr sz="2400" spc="-10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gait</a:t>
            </a:r>
            <a:r>
              <a:rPr sz="2400" spc="-1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/</a:t>
            </a:r>
            <a:r>
              <a:rPr sz="2400" spc="-10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propulsive</a:t>
            </a:r>
            <a:r>
              <a:rPr sz="2400" spc="-1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gait</a:t>
            </a:r>
            <a:endParaRPr sz="24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spcBef>
                <a:spcPts val="620"/>
              </a:spcBef>
              <a:buChar char="■"/>
              <a:tabLst>
                <a:tab pos="396240" algn="l"/>
              </a:tabLst>
            </a:pPr>
            <a:r>
              <a:rPr sz="24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turning</a:t>
            </a:r>
            <a:r>
              <a:rPr sz="24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or</a:t>
            </a:r>
            <a:r>
              <a:rPr sz="24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changing</a:t>
            </a:r>
            <a:r>
              <a:rPr sz="24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direction</a:t>
            </a:r>
            <a:r>
              <a:rPr sz="2400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is</a:t>
            </a:r>
            <a:r>
              <a:rPr sz="24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difficult</a:t>
            </a:r>
            <a:endParaRPr sz="24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spcBef>
                <a:spcPts val="630"/>
              </a:spcBef>
              <a:buChar char="■"/>
              <a:tabLst>
                <a:tab pos="396240" algn="l"/>
              </a:tabLst>
            </a:pPr>
            <a:r>
              <a:rPr sz="24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Ability</a:t>
            </a:r>
            <a:r>
              <a:rPr sz="2400" spc="-9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to</a:t>
            </a:r>
            <a:r>
              <a:rPr sz="2400" spc="-1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dual</a:t>
            </a:r>
            <a:r>
              <a:rPr sz="2400" spc="-10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task</a:t>
            </a:r>
            <a:r>
              <a:rPr sz="2400" spc="-114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impaired</a:t>
            </a:r>
            <a:endParaRPr sz="24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spcBef>
                <a:spcPts val="625"/>
              </a:spcBef>
              <a:buChar char="■"/>
              <a:tabLst>
                <a:tab pos="396240" algn="l"/>
              </a:tabLst>
            </a:pP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Gait</a:t>
            </a:r>
            <a:r>
              <a:rPr sz="2400" spc="-1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ability</a:t>
            </a:r>
            <a:r>
              <a:rPr sz="2400" spc="-10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varies</a:t>
            </a:r>
            <a:r>
              <a:rPr sz="2400" spc="-10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with</a:t>
            </a:r>
            <a:r>
              <a:rPr sz="2400" spc="-10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environmental</a:t>
            </a:r>
            <a:r>
              <a:rPr sz="2400" spc="-9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demand</a:t>
            </a:r>
            <a:endParaRPr sz="2400">
              <a:latin typeface="Franklin Gothic Medium"/>
              <a:cs typeface="Franklin Gothic Medium"/>
            </a:endParaRPr>
          </a:p>
        </p:txBody>
      </p:sp>
      <p:grpSp>
        <p:nvGrpSpPr>
          <p:cNvPr id="4" name="object 4" descr="gait_before"/>
          <p:cNvGrpSpPr/>
          <p:nvPr/>
        </p:nvGrpSpPr>
        <p:grpSpPr>
          <a:xfrm>
            <a:off x="7164323" y="1665223"/>
            <a:ext cx="1656080" cy="3527425"/>
            <a:chOff x="7164323" y="1665223"/>
            <a:chExt cx="1656080" cy="3527425"/>
          </a:xfrm>
        </p:grpSpPr>
        <p:pic>
          <p:nvPicPr>
            <p:cNvPr id="5" name="object 5" descr="gait_before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64323" y="1665223"/>
              <a:ext cx="1655699" cy="3527425"/>
            </a:xfrm>
            <a:prstGeom prst="rect">
              <a:avLst/>
            </a:prstGeom>
          </p:spPr>
        </p:pic>
        <p:sp>
          <p:nvSpPr>
            <p:cNvPr id="6" name="object 6">
              <a:hlinkClick r:id="rId2"/>
            </p:cNvPr>
            <p:cNvSpPr/>
            <p:nvPr/>
          </p:nvSpPr>
          <p:spPr>
            <a:xfrm>
              <a:off x="7308849" y="4437125"/>
              <a:ext cx="1224280" cy="503555"/>
            </a:xfrm>
            <a:custGeom>
              <a:avLst/>
              <a:gdLst/>
              <a:ahLst/>
              <a:cxnLst/>
              <a:rect l="l" t="t" r="r" b="b"/>
              <a:pathLst>
                <a:path w="1224279" h="503554">
                  <a:moveTo>
                    <a:pt x="0" y="251587"/>
                  </a:moveTo>
                  <a:lnTo>
                    <a:pt x="14112" y="197618"/>
                  </a:lnTo>
                  <a:lnTo>
                    <a:pt x="54461" y="147682"/>
                  </a:lnTo>
                  <a:lnTo>
                    <a:pt x="118063" y="103007"/>
                  </a:lnTo>
                  <a:lnTo>
                    <a:pt x="157651" y="83026"/>
                  </a:lnTo>
                  <a:lnTo>
                    <a:pt x="201933" y="64820"/>
                  </a:lnTo>
                  <a:lnTo>
                    <a:pt x="250536" y="48544"/>
                  </a:lnTo>
                  <a:lnTo>
                    <a:pt x="303087" y="34351"/>
                  </a:lnTo>
                  <a:lnTo>
                    <a:pt x="359214" y="22394"/>
                  </a:lnTo>
                  <a:lnTo>
                    <a:pt x="418543" y="12827"/>
                  </a:lnTo>
                  <a:lnTo>
                    <a:pt x="480701" y="5803"/>
                  </a:lnTo>
                  <a:lnTo>
                    <a:pt x="545315" y="1476"/>
                  </a:lnTo>
                  <a:lnTo>
                    <a:pt x="612013" y="0"/>
                  </a:lnTo>
                  <a:lnTo>
                    <a:pt x="678688" y="1476"/>
                  </a:lnTo>
                  <a:lnTo>
                    <a:pt x="743286" y="5803"/>
                  </a:lnTo>
                  <a:lnTo>
                    <a:pt x="805433" y="12826"/>
                  </a:lnTo>
                  <a:lnTo>
                    <a:pt x="864756" y="22394"/>
                  </a:lnTo>
                  <a:lnTo>
                    <a:pt x="920881" y="34351"/>
                  </a:lnTo>
                  <a:lnTo>
                    <a:pt x="973434" y="48544"/>
                  </a:lnTo>
                  <a:lnTo>
                    <a:pt x="1022042" y="64820"/>
                  </a:lnTo>
                  <a:lnTo>
                    <a:pt x="1066330" y="83026"/>
                  </a:lnTo>
                  <a:lnTo>
                    <a:pt x="1105926" y="103007"/>
                  </a:lnTo>
                  <a:lnTo>
                    <a:pt x="1140455" y="124610"/>
                  </a:lnTo>
                  <a:lnTo>
                    <a:pt x="1192819" y="172069"/>
                  </a:lnTo>
                  <a:lnTo>
                    <a:pt x="1220434" y="224175"/>
                  </a:lnTo>
                  <a:lnTo>
                    <a:pt x="1224026" y="251587"/>
                  </a:lnTo>
                  <a:lnTo>
                    <a:pt x="1220434" y="278998"/>
                  </a:lnTo>
                  <a:lnTo>
                    <a:pt x="1192819" y="331104"/>
                  </a:lnTo>
                  <a:lnTo>
                    <a:pt x="1140455" y="378563"/>
                  </a:lnTo>
                  <a:lnTo>
                    <a:pt x="1105926" y="400166"/>
                  </a:lnTo>
                  <a:lnTo>
                    <a:pt x="1066330" y="420147"/>
                  </a:lnTo>
                  <a:lnTo>
                    <a:pt x="1022042" y="438353"/>
                  </a:lnTo>
                  <a:lnTo>
                    <a:pt x="973434" y="454629"/>
                  </a:lnTo>
                  <a:lnTo>
                    <a:pt x="920881" y="468822"/>
                  </a:lnTo>
                  <a:lnTo>
                    <a:pt x="864756" y="480779"/>
                  </a:lnTo>
                  <a:lnTo>
                    <a:pt x="805433" y="490346"/>
                  </a:lnTo>
                  <a:lnTo>
                    <a:pt x="743286" y="497370"/>
                  </a:lnTo>
                  <a:lnTo>
                    <a:pt x="678688" y="501697"/>
                  </a:lnTo>
                  <a:lnTo>
                    <a:pt x="612013" y="503174"/>
                  </a:lnTo>
                  <a:lnTo>
                    <a:pt x="545315" y="501697"/>
                  </a:lnTo>
                  <a:lnTo>
                    <a:pt x="480701" y="497370"/>
                  </a:lnTo>
                  <a:lnTo>
                    <a:pt x="418543" y="490347"/>
                  </a:lnTo>
                  <a:lnTo>
                    <a:pt x="359214" y="480779"/>
                  </a:lnTo>
                  <a:lnTo>
                    <a:pt x="303087" y="468822"/>
                  </a:lnTo>
                  <a:lnTo>
                    <a:pt x="250536" y="454629"/>
                  </a:lnTo>
                  <a:lnTo>
                    <a:pt x="201933" y="438353"/>
                  </a:lnTo>
                  <a:lnTo>
                    <a:pt x="157651" y="420147"/>
                  </a:lnTo>
                  <a:lnTo>
                    <a:pt x="118063" y="400166"/>
                  </a:lnTo>
                  <a:lnTo>
                    <a:pt x="83542" y="378563"/>
                  </a:lnTo>
                  <a:lnTo>
                    <a:pt x="31194" y="331104"/>
                  </a:lnTo>
                  <a:lnTo>
                    <a:pt x="3590" y="278998"/>
                  </a:lnTo>
                  <a:lnTo>
                    <a:pt x="0" y="251587"/>
                  </a:lnTo>
                  <a:close/>
                </a:path>
              </a:pathLst>
            </a:custGeom>
            <a:ln w="317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5940" y="226568"/>
            <a:ext cx="182245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CC0000"/>
                </a:solidFill>
              </a:rPr>
              <a:t>Falls</a:t>
            </a:r>
            <a:r>
              <a:rPr spc="-150" dirty="0">
                <a:solidFill>
                  <a:srgbClr val="CC0000"/>
                </a:solidFill>
              </a:rPr>
              <a:t> </a:t>
            </a:r>
            <a:r>
              <a:rPr dirty="0">
                <a:solidFill>
                  <a:srgbClr val="CC0000"/>
                </a:solidFill>
              </a:rPr>
              <a:t>in</a:t>
            </a:r>
            <a:r>
              <a:rPr spc="-130" dirty="0">
                <a:solidFill>
                  <a:srgbClr val="CC0000"/>
                </a:solidFill>
              </a:rPr>
              <a:t> </a:t>
            </a:r>
            <a:r>
              <a:rPr spc="-25" dirty="0">
                <a:solidFill>
                  <a:srgbClr val="CC0000"/>
                </a:solidFill>
              </a:rPr>
              <a:t>PD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0816" y="1040129"/>
            <a:ext cx="8502015" cy="3514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240" indent="-383540">
              <a:lnSpc>
                <a:spcPct val="100000"/>
              </a:lnSpc>
              <a:spcBef>
                <a:spcPts val="100"/>
              </a:spcBef>
              <a:buChar char="■"/>
              <a:tabLst>
                <a:tab pos="396240" algn="l"/>
              </a:tabLst>
            </a:pPr>
            <a:r>
              <a:rPr sz="24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Greater</a:t>
            </a:r>
            <a:r>
              <a:rPr sz="2400" spc="-1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incidence</a:t>
            </a:r>
            <a:r>
              <a:rPr sz="2400" spc="-1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than</a:t>
            </a:r>
            <a:r>
              <a:rPr sz="24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neurologically</a:t>
            </a:r>
            <a:r>
              <a:rPr sz="24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intact</a:t>
            </a:r>
            <a:r>
              <a:rPr sz="2400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adults</a:t>
            </a:r>
            <a:endParaRPr sz="24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160"/>
              </a:spcBef>
              <a:buClr>
                <a:srgbClr val="181B0D"/>
              </a:buClr>
              <a:buFont typeface="Franklin Gothic Medium"/>
              <a:buChar char="■"/>
            </a:pPr>
            <a:endParaRPr sz="2400">
              <a:latin typeface="Franklin Gothic Medium"/>
              <a:cs typeface="Franklin Gothic Medium"/>
            </a:endParaRPr>
          </a:p>
          <a:p>
            <a:pPr marL="396240" marR="5080" indent="-384175">
              <a:lnSpc>
                <a:spcPts val="2590"/>
              </a:lnSpc>
              <a:spcBef>
                <a:spcPts val="5"/>
              </a:spcBef>
              <a:buChar char="■"/>
              <a:tabLst>
                <a:tab pos="396240" algn="l"/>
                <a:tab pos="4129404" algn="l"/>
                <a:tab pos="5584825" algn="l"/>
              </a:tabLst>
            </a:pP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Injuries</a:t>
            </a:r>
            <a:r>
              <a:rPr sz="2400" spc="-9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particularly</a:t>
            </a:r>
            <a:r>
              <a:rPr sz="2400" spc="-9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fractures</a:t>
            </a:r>
            <a:r>
              <a:rPr sz="2400" spc="-10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common</a:t>
            </a:r>
            <a:r>
              <a:rPr sz="24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-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	5</a:t>
            </a:r>
            <a:r>
              <a:rPr sz="24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to</a:t>
            </a:r>
            <a:r>
              <a:rPr sz="24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9</a:t>
            </a:r>
            <a:r>
              <a:rPr sz="24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times</a:t>
            </a:r>
            <a:r>
              <a:rPr sz="2400" spc="-9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the</a:t>
            </a:r>
            <a:r>
              <a:rPr sz="24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risk</a:t>
            </a:r>
            <a:r>
              <a:rPr sz="24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 </a:t>
            </a:r>
            <a:r>
              <a:rPr sz="24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age-</a:t>
            </a:r>
            <a:r>
              <a:rPr sz="24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matched</a:t>
            </a:r>
            <a:r>
              <a:rPr sz="24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adults</a:t>
            </a:r>
            <a:r>
              <a:rPr sz="24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without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	PD</a:t>
            </a:r>
            <a:r>
              <a:rPr sz="2400" spc="-1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to</a:t>
            </a:r>
            <a:r>
              <a:rPr sz="2400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sustain</a:t>
            </a:r>
            <a:r>
              <a:rPr sz="2400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</a:t>
            </a:r>
            <a:r>
              <a:rPr sz="24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hip</a:t>
            </a:r>
            <a:r>
              <a:rPr sz="24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fracture</a:t>
            </a:r>
            <a:endParaRPr sz="2400">
              <a:latin typeface="Franklin Gothic Medium"/>
              <a:cs typeface="Franklin Gothic Medium"/>
            </a:endParaRPr>
          </a:p>
          <a:p>
            <a:pPr marL="396240" marR="374015" indent="-384175">
              <a:lnSpc>
                <a:spcPct val="98400"/>
              </a:lnSpc>
              <a:spcBef>
                <a:spcPts val="2575"/>
              </a:spcBef>
              <a:buChar char="■"/>
              <a:tabLst>
                <a:tab pos="542925" algn="l"/>
              </a:tabLst>
            </a:pPr>
            <a:r>
              <a:rPr sz="2400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Environmental</a:t>
            </a:r>
            <a:r>
              <a:rPr sz="24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factors</a:t>
            </a:r>
            <a:r>
              <a:rPr sz="24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–</a:t>
            </a:r>
            <a:r>
              <a:rPr sz="24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moderately</a:t>
            </a:r>
            <a:r>
              <a:rPr sz="24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correlated</a:t>
            </a:r>
            <a:r>
              <a:rPr sz="2400" spc="-9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with</a:t>
            </a:r>
            <a:r>
              <a:rPr sz="24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falls; 	</a:t>
            </a:r>
            <a:r>
              <a:rPr sz="24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rapid</a:t>
            </a:r>
            <a:r>
              <a:rPr sz="2400" i="1" spc="-9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turns,</a:t>
            </a:r>
            <a:r>
              <a:rPr sz="2400" i="1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i="1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complex</a:t>
            </a:r>
            <a:r>
              <a:rPr sz="2400" i="1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tasks,</a:t>
            </a:r>
            <a:r>
              <a:rPr sz="2400" i="1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and</a:t>
            </a:r>
            <a:r>
              <a:rPr sz="2400" i="1" spc="-9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transfers:</a:t>
            </a:r>
            <a:r>
              <a:rPr sz="2400" i="1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highly</a:t>
            </a:r>
            <a:r>
              <a:rPr sz="2400" i="1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correlated 	with</a:t>
            </a:r>
            <a:r>
              <a:rPr sz="2400" i="1" spc="-114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falls</a:t>
            </a:r>
            <a:endParaRPr sz="24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spcBef>
                <a:spcPts val="2570"/>
              </a:spcBef>
              <a:buChar char="■"/>
              <a:tabLst>
                <a:tab pos="396240" algn="l"/>
              </a:tabLst>
            </a:pP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Fear</a:t>
            </a:r>
            <a:r>
              <a:rPr sz="2400" spc="-10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</a:t>
            </a:r>
            <a:r>
              <a:rPr sz="2400" spc="-10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falling</a:t>
            </a:r>
            <a:endParaRPr sz="2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4023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CC0000"/>
                </a:solidFill>
              </a:rPr>
              <a:t>Motor</a:t>
            </a:r>
            <a:r>
              <a:rPr spc="-120" dirty="0">
                <a:solidFill>
                  <a:srgbClr val="CC0000"/>
                </a:solidFill>
              </a:rPr>
              <a:t> </a:t>
            </a:r>
            <a:r>
              <a:rPr spc="-10" dirty="0">
                <a:solidFill>
                  <a:srgbClr val="CC0000"/>
                </a:solidFill>
              </a:rPr>
              <a:t>control</a:t>
            </a:r>
            <a:r>
              <a:rPr spc="-120" dirty="0">
                <a:solidFill>
                  <a:srgbClr val="CC0000"/>
                </a:solidFill>
              </a:rPr>
              <a:t> </a:t>
            </a:r>
            <a:r>
              <a:rPr dirty="0">
                <a:solidFill>
                  <a:srgbClr val="CC0000"/>
                </a:solidFill>
              </a:rPr>
              <a:t>and</a:t>
            </a:r>
            <a:r>
              <a:rPr spc="-110" dirty="0">
                <a:solidFill>
                  <a:srgbClr val="CC0000"/>
                </a:solidFill>
              </a:rPr>
              <a:t> </a:t>
            </a:r>
            <a:r>
              <a:rPr spc="-60" dirty="0">
                <a:solidFill>
                  <a:srgbClr val="CC0000"/>
                </a:solidFill>
              </a:rPr>
              <a:t>motor</a:t>
            </a:r>
            <a:r>
              <a:rPr spc="-114" dirty="0">
                <a:solidFill>
                  <a:srgbClr val="CC0000"/>
                </a:solidFill>
              </a:rPr>
              <a:t> </a:t>
            </a:r>
            <a:r>
              <a:rPr spc="-30" dirty="0">
                <a:solidFill>
                  <a:srgbClr val="CC0000"/>
                </a:solidFill>
              </a:rPr>
              <a:t>performance</a:t>
            </a:r>
            <a:r>
              <a:rPr spc="-125" dirty="0">
                <a:solidFill>
                  <a:srgbClr val="CC0000"/>
                </a:solidFill>
              </a:rPr>
              <a:t> </a:t>
            </a:r>
            <a:r>
              <a:rPr spc="-10" dirty="0">
                <a:solidFill>
                  <a:srgbClr val="CC0000"/>
                </a:solidFill>
              </a:rPr>
              <a:t>deficits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406" y="1548283"/>
            <a:ext cx="4903470" cy="4521835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396240" indent="-383540">
              <a:lnSpc>
                <a:spcPct val="100000"/>
              </a:lnSpc>
              <a:spcBef>
                <a:spcPts val="944"/>
              </a:spcBef>
              <a:buChar char="■"/>
              <a:tabLst>
                <a:tab pos="396240" algn="l"/>
              </a:tabLst>
            </a:pPr>
            <a:r>
              <a:rPr sz="19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Respiratory</a:t>
            </a:r>
            <a:r>
              <a:rPr sz="19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function</a:t>
            </a:r>
            <a:endParaRPr sz="19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spcBef>
                <a:spcPts val="845"/>
              </a:spcBef>
              <a:buChar char="■"/>
              <a:tabLst>
                <a:tab pos="396240" algn="l"/>
              </a:tabLst>
            </a:pPr>
            <a:r>
              <a:rPr sz="19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Oromotor</a:t>
            </a:r>
            <a:r>
              <a:rPr sz="19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dysfunction</a:t>
            </a:r>
            <a:endParaRPr sz="1900">
              <a:latin typeface="Franklin Gothic Medium"/>
              <a:cs typeface="Franklin Gothic Medium"/>
            </a:endParaRPr>
          </a:p>
          <a:p>
            <a:pPr marL="927100" lvl="1" indent="-384175">
              <a:lnSpc>
                <a:spcPct val="100000"/>
              </a:lnSpc>
              <a:spcBef>
                <a:spcPts val="335"/>
              </a:spcBef>
              <a:buFont typeface="Franklin Gothic Medium"/>
              <a:buChar char="–"/>
              <a:tabLst>
                <a:tab pos="927100" algn="l"/>
              </a:tabLst>
            </a:pPr>
            <a:r>
              <a:rPr sz="1900" i="1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Excessive</a:t>
            </a:r>
            <a:r>
              <a:rPr sz="1900" i="1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drooling</a:t>
            </a:r>
            <a:r>
              <a:rPr sz="1900" i="1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(sialorrhea)</a:t>
            </a:r>
            <a:endParaRPr sz="1900">
              <a:latin typeface="Franklin Gothic Medium"/>
              <a:cs typeface="Franklin Gothic Medium"/>
            </a:endParaRPr>
          </a:p>
          <a:p>
            <a:pPr marL="927100" lvl="1" indent="-384175">
              <a:lnSpc>
                <a:spcPct val="100000"/>
              </a:lnSpc>
              <a:spcBef>
                <a:spcPts val="335"/>
              </a:spcBef>
              <a:buFont typeface="Franklin Gothic Medium"/>
              <a:buChar char="–"/>
              <a:tabLst>
                <a:tab pos="927100" algn="l"/>
              </a:tabLst>
            </a:pPr>
            <a:r>
              <a:rPr sz="1900" i="1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Hypokinetic</a:t>
            </a:r>
            <a:r>
              <a:rPr sz="1900" i="1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dysarthria</a:t>
            </a:r>
            <a:endParaRPr sz="1900">
              <a:latin typeface="Franklin Gothic Medium"/>
              <a:cs typeface="Franklin Gothic Medium"/>
            </a:endParaRPr>
          </a:p>
          <a:p>
            <a:pPr marL="927100" lvl="1" indent="-384175">
              <a:lnSpc>
                <a:spcPct val="100000"/>
              </a:lnSpc>
              <a:spcBef>
                <a:spcPts val="335"/>
              </a:spcBef>
              <a:buFont typeface="Franklin Gothic Medium"/>
              <a:buChar char="–"/>
              <a:tabLst>
                <a:tab pos="927100" algn="l"/>
              </a:tabLst>
            </a:pPr>
            <a:r>
              <a:rPr sz="19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Mutism:</a:t>
            </a:r>
            <a:r>
              <a:rPr sz="1900" i="1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advanced</a:t>
            </a:r>
            <a:r>
              <a:rPr sz="1900" i="1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i="1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cases</a:t>
            </a:r>
            <a:endParaRPr sz="19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spcBef>
                <a:spcPts val="830"/>
              </a:spcBef>
              <a:buChar char="■"/>
              <a:tabLst>
                <a:tab pos="396240" algn="l"/>
              </a:tabLst>
            </a:pPr>
            <a:r>
              <a:rPr sz="19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Visual</a:t>
            </a:r>
            <a:r>
              <a:rPr sz="19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and</a:t>
            </a:r>
            <a:r>
              <a:rPr sz="1900" spc="-9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sensorimotor</a:t>
            </a:r>
            <a:r>
              <a:rPr sz="1900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disturbances</a:t>
            </a:r>
            <a:r>
              <a:rPr sz="19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(75%)</a:t>
            </a:r>
            <a:endParaRPr sz="19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spcBef>
                <a:spcPts val="840"/>
              </a:spcBef>
              <a:buChar char="■"/>
              <a:tabLst>
                <a:tab pos="396240" algn="l"/>
              </a:tabLst>
            </a:pPr>
            <a:r>
              <a:rPr sz="1900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Adaptive</a:t>
            </a:r>
            <a:r>
              <a:rPr sz="19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motor</a:t>
            </a:r>
            <a:r>
              <a:rPr sz="19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behaviour</a:t>
            </a:r>
            <a:endParaRPr sz="1900">
              <a:latin typeface="Franklin Gothic Medium"/>
              <a:cs typeface="Franklin Gothic Medium"/>
            </a:endParaRPr>
          </a:p>
          <a:p>
            <a:pPr marL="927100" lvl="1" indent="-384175">
              <a:lnSpc>
                <a:spcPct val="100000"/>
              </a:lnSpc>
              <a:spcBef>
                <a:spcPts val="335"/>
              </a:spcBef>
              <a:buFont typeface="Franklin Gothic Medium"/>
              <a:buChar char="–"/>
              <a:tabLst>
                <a:tab pos="927100" algn="l"/>
              </a:tabLst>
            </a:pPr>
            <a:r>
              <a:rPr sz="19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Moving</a:t>
            </a:r>
            <a:r>
              <a:rPr sz="1900" i="1" spc="-1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slowly</a:t>
            </a:r>
            <a:endParaRPr sz="19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spcBef>
                <a:spcPts val="835"/>
              </a:spcBef>
              <a:buChar char="■"/>
              <a:tabLst>
                <a:tab pos="396240" algn="l"/>
              </a:tabLst>
            </a:pPr>
            <a:r>
              <a:rPr sz="19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Muscle</a:t>
            </a:r>
            <a:r>
              <a:rPr sz="19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weakness</a:t>
            </a:r>
            <a:endParaRPr sz="19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spcBef>
                <a:spcPts val="840"/>
              </a:spcBef>
              <a:buChar char="■"/>
              <a:tabLst>
                <a:tab pos="396240" algn="l"/>
              </a:tabLst>
            </a:pPr>
            <a:r>
              <a:rPr sz="19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Fatigue</a:t>
            </a:r>
            <a:r>
              <a:rPr sz="1900" spc="2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(58%)</a:t>
            </a:r>
            <a:endParaRPr sz="19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spcBef>
                <a:spcPts val="825"/>
              </a:spcBef>
              <a:buChar char="■"/>
              <a:tabLst>
                <a:tab pos="396240" algn="l"/>
              </a:tabLst>
            </a:pPr>
            <a:r>
              <a:rPr sz="19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Masked</a:t>
            </a:r>
            <a:r>
              <a:rPr sz="1900" spc="-9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face</a:t>
            </a:r>
            <a:endParaRPr sz="19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spcBef>
                <a:spcPts val="845"/>
              </a:spcBef>
              <a:buChar char="■"/>
              <a:tabLst>
                <a:tab pos="396240" algn="l"/>
              </a:tabLst>
            </a:pPr>
            <a:r>
              <a:rPr sz="19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Musculoskeletal</a:t>
            </a:r>
            <a:r>
              <a:rPr sz="1900" spc="-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changes</a:t>
            </a:r>
            <a:endParaRPr sz="19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5940" y="450595"/>
            <a:ext cx="8329295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20" dirty="0">
                <a:solidFill>
                  <a:srgbClr val="CC0000"/>
                </a:solidFill>
              </a:rPr>
              <a:t>Clinical</a:t>
            </a:r>
            <a:r>
              <a:rPr sz="2900" spc="-95" dirty="0">
                <a:solidFill>
                  <a:srgbClr val="CC0000"/>
                </a:solidFill>
              </a:rPr>
              <a:t> </a:t>
            </a:r>
            <a:r>
              <a:rPr sz="2900" spc="-45" dirty="0">
                <a:solidFill>
                  <a:srgbClr val="CC0000"/>
                </a:solidFill>
              </a:rPr>
              <a:t>manifestation:</a:t>
            </a:r>
            <a:r>
              <a:rPr sz="2900" spc="-90" dirty="0">
                <a:solidFill>
                  <a:srgbClr val="CC0000"/>
                </a:solidFill>
              </a:rPr>
              <a:t> </a:t>
            </a:r>
            <a:r>
              <a:rPr sz="2900" spc="-55" dirty="0">
                <a:solidFill>
                  <a:srgbClr val="CC0000"/>
                </a:solidFill>
              </a:rPr>
              <a:t>Common</a:t>
            </a:r>
            <a:r>
              <a:rPr sz="2900" spc="-85" dirty="0">
                <a:solidFill>
                  <a:srgbClr val="CC0000"/>
                </a:solidFill>
              </a:rPr>
              <a:t> </a:t>
            </a:r>
            <a:r>
              <a:rPr sz="2900" dirty="0">
                <a:solidFill>
                  <a:srgbClr val="CC0000"/>
                </a:solidFill>
              </a:rPr>
              <a:t>non-</a:t>
            </a:r>
            <a:r>
              <a:rPr sz="2900" spc="-60" dirty="0">
                <a:solidFill>
                  <a:srgbClr val="CC0000"/>
                </a:solidFill>
              </a:rPr>
              <a:t>motor</a:t>
            </a:r>
            <a:r>
              <a:rPr sz="2900" spc="-80" dirty="0">
                <a:solidFill>
                  <a:srgbClr val="CC0000"/>
                </a:solidFill>
              </a:rPr>
              <a:t> </a:t>
            </a:r>
            <a:r>
              <a:rPr sz="2900" spc="-10" dirty="0">
                <a:solidFill>
                  <a:srgbClr val="CC0000"/>
                </a:solidFill>
              </a:rPr>
              <a:t>symptoms</a:t>
            </a:r>
            <a:endParaRPr sz="2900"/>
          </a:p>
        </p:txBody>
      </p:sp>
      <p:sp>
        <p:nvSpPr>
          <p:cNvPr id="3" name="object 3"/>
          <p:cNvSpPr txBox="1"/>
          <p:nvPr/>
        </p:nvSpPr>
        <p:spPr>
          <a:xfrm>
            <a:off x="535940" y="1632330"/>
            <a:ext cx="4162425" cy="4622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875" indent="-384175">
              <a:lnSpc>
                <a:spcPct val="100000"/>
              </a:lnSpc>
              <a:spcBef>
                <a:spcPts val="100"/>
              </a:spcBef>
              <a:buChar char="■"/>
              <a:tabLst>
                <a:tab pos="396875" algn="l"/>
              </a:tabLst>
            </a:pPr>
            <a:r>
              <a:rPr sz="24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Depression</a:t>
            </a:r>
            <a:r>
              <a:rPr sz="2400" spc="-10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(40%)</a:t>
            </a:r>
            <a:endParaRPr sz="24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1055"/>
              </a:spcBef>
              <a:buClr>
                <a:srgbClr val="181B0D"/>
              </a:buClr>
              <a:buFont typeface="Franklin Gothic Medium"/>
              <a:buChar char="■"/>
            </a:pPr>
            <a:endParaRPr sz="2400">
              <a:latin typeface="Franklin Gothic Medium"/>
              <a:cs typeface="Franklin Gothic Medium"/>
            </a:endParaRPr>
          </a:p>
          <a:p>
            <a:pPr marL="396875" indent="-384175">
              <a:lnSpc>
                <a:spcPct val="100000"/>
              </a:lnSpc>
              <a:buChar char="■"/>
              <a:tabLst>
                <a:tab pos="396875" algn="l"/>
              </a:tabLst>
            </a:pPr>
            <a:r>
              <a:rPr sz="24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Cognitive</a:t>
            </a:r>
            <a:r>
              <a:rPr sz="2400" spc="-9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deficits</a:t>
            </a:r>
            <a:endParaRPr sz="24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1075"/>
              </a:spcBef>
              <a:buClr>
                <a:srgbClr val="181B0D"/>
              </a:buClr>
              <a:buFont typeface="Franklin Gothic Medium"/>
              <a:buChar char="■"/>
            </a:pPr>
            <a:endParaRPr sz="2400">
              <a:latin typeface="Franklin Gothic Medium"/>
              <a:cs typeface="Franklin Gothic Medium"/>
            </a:endParaRPr>
          </a:p>
          <a:p>
            <a:pPr marL="396875" indent="-384175">
              <a:lnSpc>
                <a:spcPct val="100000"/>
              </a:lnSpc>
              <a:buChar char="■"/>
              <a:tabLst>
                <a:tab pos="396875" algn="l"/>
              </a:tabLst>
            </a:pPr>
            <a:r>
              <a:rPr sz="2400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Dementia</a:t>
            </a:r>
            <a:r>
              <a:rPr sz="24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(40%)</a:t>
            </a:r>
            <a:endParaRPr sz="24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Clr>
                <a:srgbClr val="181B0D"/>
              </a:buClr>
              <a:buFont typeface="Franklin Gothic Medium"/>
              <a:buChar char="■"/>
            </a:pPr>
            <a:endParaRPr sz="2400">
              <a:latin typeface="Franklin Gothic Medium"/>
              <a:cs typeface="Franklin Gothic Medium"/>
            </a:endParaRPr>
          </a:p>
          <a:p>
            <a:pPr marL="396875" indent="-384175">
              <a:lnSpc>
                <a:spcPct val="100000"/>
              </a:lnSpc>
              <a:buChar char="■"/>
              <a:tabLst>
                <a:tab pos="396875" algn="l"/>
              </a:tabLst>
            </a:pPr>
            <a:r>
              <a:rPr sz="24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Autonomic</a:t>
            </a:r>
            <a:r>
              <a:rPr sz="24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dysfunction</a:t>
            </a:r>
            <a:r>
              <a:rPr sz="24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(60%)</a:t>
            </a:r>
            <a:endParaRPr sz="24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Clr>
                <a:srgbClr val="181B0D"/>
              </a:buClr>
              <a:buFont typeface="Franklin Gothic Medium"/>
              <a:buChar char="■"/>
            </a:pPr>
            <a:endParaRPr sz="2400">
              <a:latin typeface="Franklin Gothic Medium"/>
              <a:cs typeface="Franklin Gothic Medium"/>
            </a:endParaRPr>
          </a:p>
          <a:p>
            <a:pPr marL="396875" indent="-384175">
              <a:lnSpc>
                <a:spcPct val="100000"/>
              </a:lnSpc>
              <a:buChar char="■"/>
              <a:tabLst>
                <a:tab pos="396875" algn="l"/>
              </a:tabLst>
            </a:pPr>
            <a:r>
              <a:rPr sz="24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Cardiopulmonary</a:t>
            </a:r>
            <a:r>
              <a:rPr sz="24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dysfunction</a:t>
            </a:r>
            <a:endParaRPr sz="24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Clr>
                <a:srgbClr val="181B0D"/>
              </a:buClr>
              <a:buFont typeface="Franklin Gothic Medium"/>
              <a:buChar char="■"/>
            </a:pPr>
            <a:endParaRPr sz="2400">
              <a:latin typeface="Franklin Gothic Medium"/>
              <a:cs typeface="Franklin Gothic Medium"/>
            </a:endParaRPr>
          </a:p>
          <a:p>
            <a:pPr marL="396875" indent="-384175">
              <a:lnSpc>
                <a:spcPct val="100000"/>
              </a:lnSpc>
              <a:buChar char="■"/>
              <a:tabLst>
                <a:tab pos="396875" algn="l"/>
              </a:tabLst>
            </a:pP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Sleep</a:t>
            </a:r>
            <a:r>
              <a:rPr sz="2400" spc="-9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disturbances</a:t>
            </a:r>
            <a:r>
              <a:rPr sz="2400" spc="-9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(90%)</a:t>
            </a:r>
            <a:endParaRPr sz="2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4023" rIns="0" bIns="0" rtlCol="0">
            <a:spAutoFit/>
          </a:bodyPr>
          <a:lstStyle/>
          <a:p>
            <a:pPr marL="509270">
              <a:lnSpc>
                <a:spcPct val="100000"/>
              </a:lnSpc>
              <a:spcBef>
                <a:spcPts val="105"/>
              </a:spcBef>
            </a:pPr>
            <a:r>
              <a:rPr spc="-20" dirty="0">
                <a:solidFill>
                  <a:srgbClr val="CC0000"/>
                </a:solidFill>
              </a:rPr>
              <a:t>Living</a:t>
            </a:r>
            <a:r>
              <a:rPr spc="-145" dirty="0">
                <a:solidFill>
                  <a:srgbClr val="CC0000"/>
                </a:solidFill>
              </a:rPr>
              <a:t> </a:t>
            </a:r>
            <a:r>
              <a:rPr spc="-20" dirty="0">
                <a:solidFill>
                  <a:srgbClr val="CC0000"/>
                </a:solidFill>
              </a:rPr>
              <a:t>with</a:t>
            </a:r>
            <a:r>
              <a:rPr spc="-135" dirty="0">
                <a:solidFill>
                  <a:srgbClr val="CC0000"/>
                </a:solidFill>
              </a:rPr>
              <a:t> </a:t>
            </a:r>
            <a:r>
              <a:rPr spc="-30" dirty="0">
                <a:solidFill>
                  <a:srgbClr val="CC0000"/>
                </a:solidFill>
              </a:rPr>
              <a:t>Parkinson</a:t>
            </a:r>
            <a:r>
              <a:rPr spc="-145" dirty="0">
                <a:solidFill>
                  <a:srgbClr val="CC0000"/>
                </a:solidFill>
              </a:rPr>
              <a:t> </a:t>
            </a:r>
            <a:r>
              <a:rPr spc="-10" dirty="0">
                <a:solidFill>
                  <a:srgbClr val="CC0000"/>
                </a:solidFill>
              </a:rPr>
              <a:t>Disease</a:t>
            </a:r>
          </a:p>
        </p:txBody>
      </p:sp>
      <p:pic>
        <p:nvPicPr>
          <p:cNvPr id="3" name="object 3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03603" y="2060854"/>
            <a:ext cx="7200900" cy="386168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490977" y="6337808"/>
            <a:ext cx="5022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30" dirty="0">
                <a:solidFill>
                  <a:srgbClr val="77A1BA"/>
                </a:solidFill>
                <a:uFill>
                  <a:solidFill>
                    <a:srgbClr val="77A1BA"/>
                  </a:solidFill>
                </a:uFill>
                <a:latin typeface="Franklin Gothic Medium"/>
                <a:cs typeface="Franklin Gothic Medium"/>
                <a:hlinkClick r:id="rId2"/>
              </a:rPr>
              <a:t>https://healthtalk.org/parkinsons-</a:t>
            </a:r>
            <a:r>
              <a:rPr sz="1800" u="sng" spc="-10" dirty="0">
                <a:solidFill>
                  <a:srgbClr val="77A1BA"/>
                </a:solidFill>
                <a:uFill>
                  <a:solidFill>
                    <a:srgbClr val="77A1BA"/>
                  </a:solidFill>
                </a:uFill>
                <a:latin typeface="Franklin Gothic Medium"/>
                <a:cs typeface="Franklin Gothic Medium"/>
                <a:hlinkClick r:id="rId2"/>
              </a:rPr>
              <a:t>disease/overview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5940" y="240919"/>
            <a:ext cx="515048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solidFill>
                  <a:srgbClr val="CC0000"/>
                </a:solidFill>
              </a:rPr>
              <a:t>Diagnosis</a:t>
            </a:r>
            <a:r>
              <a:rPr spc="-85" dirty="0">
                <a:solidFill>
                  <a:srgbClr val="CC0000"/>
                </a:solidFill>
              </a:rPr>
              <a:t> </a:t>
            </a:r>
            <a:r>
              <a:rPr dirty="0">
                <a:solidFill>
                  <a:srgbClr val="CC0000"/>
                </a:solidFill>
              </a:rPr>
              <a:t>and</a:t>
            </a:r>
            <a:r>
              <a:rPr spc="-85" dirty="0">
                <a:solidFill>
                  <a:srgbClr val="CC0000"/>
                </a:solidFill>
              </a:rPr>
              <a:t> </a:t>
            </a:r>
            <a:r>
              <a:rPr dirty="0">
                <a:solidFill>
                  <a:srgbClr val="CC0000"/>
                </a:solidFill>
              </a:rPr>
              <a:t>disease</a:t>
            </a:r>
            <a:r>
              <a:rPr spc="-105" dirty="0">
                <a:solidFill>
                  <a:srgbClr val="CC0000"/>
                </a:solidFill>
              </a:rPr>
              <a:t> </a:t>
            </a:r>
            <a:r>
              <a:rPr spc="-10" dirty="0">
                <a:solidFill>
                  <a:srgbClr val="CC0000"/>
                </a:solidFill>
              </a:rPr>
              <a:t>course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0168" y="1549478"/>
            <a:ext cx="5624830" cy="2660650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396240" indent="-383540">
              <a:lnSpc>
                <a:spcPct val="100000"/>
              </a:lnSpc>
              <a:spcBef>
                <a:spcPts val="1160"/>
              </a:spcBef>
              <a:buChar char="■"/>
              <a:tabLst>
                <a:tab pos="396240" algn="l"/>
              </a:tabLst>
            </a:pP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Early</a:t>
            </a:r>
            <a:r>
              <a:rPr sz="2000" spc="-9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diagnosis</a:t>
            </a:r>
            <a:r>
              <a:rPr sz="2000" spc="-9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difficult</a:t>
            </a:r>
            <a:endParaRPr sz="20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spcBef>
                <a:spcPts val="1060"/>
              </a:spcBef>
              <a:buChar char="■"/>
              <a:tabLst>
                <a:tab pos="396240" algn="l"/>
              </a:tabLst>
            </a:pP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History</a:t>
            </a:r>
            <a:r>
              <a:rPr sz="20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and</a:t>
            </a:r>
            <a:r>
              <a:rPr sz="20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clinical</a:t>
            </a:r>
            <a:r>
              <a:rPr sz="20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examination</a:t>
            </a:r>
            <a:endParaRPr sz="20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spcBef>
                <a:spcPts val="1055"/>
              </a:spcBef>
              <a:buChar char="■"/>
              <a:tabLst>
                <a:tab pos="396240" algn="l"/>
              </a:tabLst>
            </a:pP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Lab</a:t>
            </a:r>
            <a:r>
              <a:rPr sz="20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test</a:t>
            </a:r>
            <a:r>
              <a:rPr sz="2000" spc="-9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and</a:t>
            </a:r>
            <a:r>
              <a:rPr sz="20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neuroimaging</a:t>
            </a:r>
            <a:r>
              <a:rPr sz="20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usually</a:t>
            </a:r>
            <a:r>
              <a:rPr sz="20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normal</a:t>
            </a:r>
            <a:endParaRPr sz="20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spcBef>
                <a:spcPts val="1055"/>
              </a:spcBef>
              <a:buChar char="■"/>
              <a:tabLst>
                <a:tab pos="396240" algn="l"/>
              </a:tabLst>
            </a:pPr>
            <a:r>
              <a:rPr sz="20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Slowly</a:t>
            </a:r>
            <a:r>
              <a:rPr sz="20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progressive</a:t>
            </a:r>
            <a:endParaRPr sz="20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spcBef>
                <a:spcPts val="1060"/>
              </a:spcBef>
              <a:buChar char="■"/>
              <a:tabLst>
                <a:tab pos="396240" algn="l"/>
              </a:tabLst>
            </a:pPr>
            <a:r>
              <a:rPr sz="20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Hoehn-</a:t>
            </a:r>
            <a:r>
              <a:rPr sz="20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Yahr</a:t>
            </a:r>
            <a:r>
              <a:rPr sz="20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classification</a:t>
            </a:r>
            <a:r>
              <a:rPr sz="20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</a:t>
            </a:r>
            <a:r>
              <a:rPr sz="20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disability</a:t>
            </a:r>
            <a:r>
              <a:rPr sz="20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scale</a:t>
            </a:r>
            <a:endParaRPr sz="20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spcBef>
                <a:spcPts val="1055"/>
              </a:spcBef>
              <a:buChar char="■"/>
              <a:tabLst>
                <a:tab pos="396240" algn="l"/>
              </a:tabLst>
            </a:pP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Mortality</a:t>
            </a:r>
            <a:r>
              <a:rPr sz="20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usually</a:t>
            </a:r>
            <a:r>
              <a:rPr sz="20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due</a:t>
            </a:r>
            <a:r>
              <a:rPr sz="20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to</a:t>
            </a:r>
            <a:r>
              <a:rPr sz="20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secondary</a:t>
            </a:r>
            <a:r>
              <a:rPr sz="2000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complications</a:t>
            </a:r>
            <a:endParaRPr sz="20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07744" y="652018"/>
            <a:ext cx="6974840" cy="948055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12700" marR="5080">
              <a:lnSpc>
                <a:spcPts val="3420"/>
              </a:lnSpc>
              <a:spcBef>
                <a:spcPts val="565"/>
              </a:spcBef>
            </a:pPr>
            <a:r>
              <a:rPr spc="-10" dirty="0">
                <a:solidFill>
                  <a:srgbClr val="CC0000"/>
                </a:solidFill>
              </a:rPr>
              <a:t>Clinical</a:t>
            </a:r>
            <a:r>
              <a:rPr spc="-155" dirty="0">
                <a:solidFill>
                  <a:srgbClr val="CC0000"/>
                </a:solidFill>
              </a:rPr>
              <a:t> </a:t>
            </a:r>
            <a:r>
              <a:rPr spc="-30" dirty="0">
                <a:solidFill>
                  <a:srgbClr val="CC0000"/>
                </a:solidFill>
              </a:rPr>
              <a:t>Staging</a:t>
            </a:r>
            <a:r>
              <a:rPr spc="-150" dirty="0">
                <a:solidFill>
                  <a:srgbClr val="CC0000"/>
                </a:solidFill>
              </a:rPr>
              <a:t> </a:t>
            </a:r>
            <a:r>
              <a:rPr dirty="0">
                <a:solidFill>
                  <a:srgbClr val="CC0000"/>
                </a:solidFill>
              </a:rPr>
              <a:t>of</a:t>
            </a:r>
            <a:r>
              <a:rPr spc="-140" dirty="0">
                <a:solidFill>
                  <a:srgbClr val="CC0000"/>
                </a:solidFill>
              </a:rPr>
              <a:t> </a:t>
            </a:r>
            <a:r>
              <a:rPr dirty="0">
                <a:solidFill>
                  <a:srgbClr val="CC0000"/>
                </a:solidFill>
              </a:rPr>
              <a:t>PD:</a:t>
            </a:r>
            <a:r>
              <a:rPr spc="-150" dirty="0">
                <a:solidFill>
                  <a:srgbClr val="CC0000"/>
                </a:solidFill>
              </a:rPr>
              <a:t> </a:t>
            </a:r>
            <a:r>
              <a:rPr dirty="0">
                <a:solidFill>
                  <a:srgbClr val="CC0000"/>
                </a:solidFill>
              </a:rPr>
              <a:t>Modified</a:t>
            </a:r>
            <a:r>
              <a:rPr spc="-150" dirty="0">
                <a:solidFill>
                  <a:srgbClr val="CC0000"/>
                </a:solidFill>
              </a:rPr>
              <a:t> </a:t>
            </a:r>
            <a:r>
              <a:rPr dirty="0">
                <a:solidFill>
                  <a:srgbClr val="CC0000"/>
                </a:solidFill>
              </a:rPr>
              <a:t>Hoehn</a:t>
            </a:r>
            <a:r>
              <a:rPr spc="-160" dirty="0">
                <a:solidFill>
                  <a:srgbClr val="CC0000"/>
                </a:solidFill>
              </a:rPr>
              <a:t> </a:t>
            </a:r>
            <a:r>
              <a:rPr spc="-50" dirty="0">
                <a:solidFill>
                  <a:srgbClr val="CC0000"/>
                </a:solidFill>
              </a:rPr>
              <a:t>&amp; </a:t>
            </a:r>
            <a:r>
              <a:rPr spc="-60" dirty="0">
                <a:solidFill>
                  <a:srgbClr val="CC0000"/>
                </a:solidFill>
              </a:rPr>
              <a:t>Yahn</a:t>
            </a:r>
            <a:r>
              <a:rPr spc="-135" dirty="0">
                <a:solidFill>
                  <a:srgbClr val="CC0000"/>
                </a:solidFill>
              </a:rPr>
              <a:t> </a:t>
            </a:r>
            <a:r>
              <a:rPr spc="-10" dirty="0">
                <a:solidFill>
                  <a:srgbClr val="CC0000"/>
                </a:solidFill>
              </a:rPr>
              <a:t>Scale</a:t>
            </a:r>
          </a:p>
        </p:txBody>
      </p:sp>
      <p:sp>
        <p:nvSpPr>
          <p:cNvPr id="3" name="object 3"/>
          <p:cNvSpPr/>
          <p:nvPr/>
        </p:nvSpPr>
        <p:spPr>
          <a:xfrm>
            <a:off x="6815201" y="3473119"/>
            <a:ext cx="2184400" cy="371475"/>
          </a:xfrm>
          <a:custGeom>
            <a:avLst/>
            <a:gdLst/>
            <a:ahLst/>
            <a:cxnLst/>
            <a:rect l="l" t="t" r="r" b="b"/>
            <a:pathLst>
              <a:path w="2184400" h="371475">
                <a:moveTo>
                  <a:pt x="2184285" y="0"/>
                </a:moveTo>
                <a:lnTo>
                  <a:pt x="1152385" y="0"/>
                </a:lnTo>
                <a:lnTo>
                  <a:pt x="0" y="0"/>
                </a:lnTo>
                <a:lnTo>
                  <a:pt x="0" y="370916"/>
                </a:lnTo>
                <a:lnTo>
                  <a:pt x="1152271" y="370916"/>
                </a:lnTo>
                <a:lnTo>
                  <a:pt x="2184285" y="370916"/>
                </a:lnTo>
                <a:lnTo>
                  <a:pt x="2184285" y="0"/>
                </a:lnTo>
                <a:close/>
              </a:path>
            </a:pathLst>
          </a:custGeom>
          <a:solidFill>
            <a:srgbClr val="EDED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815201" y="4214926"/>
            <a:ext cx="2184400" cy="371475"/>
          </a:xfrm>
          <a:custGeom>
            <a:avLst/>
            <a:gdLst/>
            <a:ahLst/>
            <a:cxnLst/>
            <a:rect l="l" t="t" r="r" b="b"/>
            <a:pathLst>
              <a:path w="2184400" h="371475">
                <a:moveTo>
                  <a:pt x="2184285" y="0"/>
                </a:moveTo>
                <a:lnTo>
                  <a:pt x="1152385" y="0"/>
                </a:lnTo>
                <a:lnTo>
                  <a:pt x="0" y="0"/>
                </a:lnTo>
                <a:lnTo>
                  <a:pt x="0" y="370916"/>
                </a:lnTo>
                <a:lnTo>
                  <a:pt x="1152271" y="370916"/>
                </a:lnTo>
                <a:lnTo>
                  <a:pt x="2184285" y="370916"/>
                </a:lnTo>
                <a:lnTo>
                  <a:pt x="2184285" y="0"/>
                </a:lnTo>
                <a:close/>
              </a:path>
            </a:pathLst>
          </a:custGeom>
          <a:solidFill>
            <a:srgbClr val="EDED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815201" y="4956733"/>
            <a:ext cx="2184400" cy="371475"/>
          </a:xfrm>
          <a:custGeom>
            <a:avLst/>
            <a:gdLst/>
            <a:ahLst/>
            <a:cxnLst/>
            <a:rect l="l" t="t" r="r" b="b"/>
            <a:pathLst>
              <a:path w="2184400" h="371475">
                <a:moveTo>
                  <a:pt x="2184285" y="0"/>
                </a:moveTo>
                <a:lnTo>
                  <a:pt x="1152385" y="0"/>
                </a:lnTo>
                <a:lnTo>
                  <a:pt x="0" y="0"/>
                </a:lnTo>
                <a:lnTo>
                  <a:pt x="0" y="370916"/>
                </a:lnTo>
                <a:lnTo>
                  <a:pt x="1152271" y="370916"/>
                </a:lnTo>
                <a:lnTo>
                  <a:pt x="2184285" y="370916"/>
                </a:lnTo>
                <a:lnTo>
                  <a:pt x="2184285" y="0"/>
                </a:lnTo>
                <a:close/>
              </a:path>
            </a:pathLst>
          </a:custGeom>
          <a:solidFill>
            <a:srgbClr val="EDEDE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808851" y="2181225"/>
          <a:ext cx="2273300" cy="3138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2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25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Stage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B8D85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2012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Median 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TtT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(mth)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B8D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Franklin Gothic Medium"/>
                          <a:cs typeface="Franklin Gothic Medium"/>
                        </a:rPr>
                        <a:t>1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BD9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Franklin Gothic Medium"/>
                          <a:cs typeface="Franklin Gothic Medium"/>
                        </a:rPr>
                        <a:t>-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Franklin Gothic Medium"/>
                          <a:cs typeface="Franklin Gothic Medium"/>
                        </a:rPr>
                        <a:t>2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C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Franklin Gothic Medium"/>
                          <a:cs typeface="Franklin Gothic Medium"/>
                        </a:rPr>
                        <a:t>20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Franklin Gothic Medium"/>
                          <a:cs typeface="Franklin Gothic Medium"/>
                        </a:rPr>
                        <a:t>2.5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BD9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Franklin Gothic Medium"/>
                          <a:cs typeface="Franklin Gothic Medium"/>
                        </a:rPr>
                        <a:t>62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Franklin Gothic Medium"/>
                          <a:cs typeface="Franklin Gothic Medium"/>
                        </a:rPr>
                        <a:t>3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C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Franklin Gothic Medium"/>
                          <a:cs typeface="Franklin Gothic Medium"/>
                        </a:rPr>
                        <a:t>25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Franklin Gothic Medium"/>
                          <a:cs typeface="Franklin Gothic Medium"/>
                        </a:rPr>
                        <a:t>4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BD9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Franklin Gothic Medium"/>
                          <a:cs typeface="Franklin Gothic Medium"/>
                        </a:rPr>
                        <a:t>24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Franklin Gothic Medium"/>
                          <a:cs typeface="Franklin Gothic Medium"/>
                        </a:rPr>
                        <a:t>5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C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Franklin Gothic Medium"/>
                          <a:cs typeface="Franklin Gothic Medium"/>
                        </a:rPr>
                        <a:t>26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6894956" y="5390769"/>
            <a:ext cx="16808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Zhao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YJ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et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al.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(2010)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22083" y="6557873"/>
            <a:ext cx="18923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Hoehn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M,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Yahr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M,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1967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8268" y="6495999"/>
            <a:ext cx="4871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H-</a:t>
            </a:r>
            <a:r>
              <a:rPr sz="1800" dirty="0">
                <a:latin typeface="Arial"/>
                <a:cs typeface="Arial"/>
              </a:rPr>
              <a:t>Y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scale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has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been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supplanted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into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UPDRS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4022" y="2102827"/>
            <a:ext cx="6219824" cy="3619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EEC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274320" cy="365760"/>
          </a:xfrm>
          <a:custGeom>
            <a:avLst/>
            <a:gdLst/>
            <a:ahLst/>
            <a:cxnLst/>
            <a:rect l="l" t="t" r="r" b="b"/>
            <a:pathLst>
              <a:path w="274320" h="365760">
                <a:moveTo>
                  <a:pt x="274320" y="0"/>
                </a:moveTo>
                <a:lnTo>
                  <a:pt x="0" y="0"/>
                </a:lnTo>
                <a:lnTo>
                  <a:pt x="0" y="365760"/>
                </a:lnTo>
                <a:lnTo>
                  <a:pt x="274320" y="365760"/>
                </a:lnTo>
                <a:lnTo>
                  <a:pt x="2743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69680" y="0"/>
            <a:ext cx="274320" cy="361315"/>
          </a:xfrm>
          <a:custGeom>
            <a:avLst/>
            <a:gdLst/>
            <a:ahLst/>
            <a:cxnLst/>
            <a:rect l="l" t="t" r="r" b="b"/>
            <a:pathLst>
              <a:path w="274320" h="361315">
                <a:moveTo>
                  <a:pt x="274320" y="0"/>
                </a:moveTo>
                <a:lnTo>
                  <a:pt x="0" y="0"/>
                </a:lnTo>
                <a:lnTo>
                  <a:pt x="0" y="361061"/>
                </a:lnTo>
                <a:lnTo>
                  <a:pt x="274320" y="361061"/>
                </a:lnTo>
                <a:lnTo>
                  <a:pt x="2743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494324"/>
            <a:ext cx="274320" cy="365760"/>
          </a:xfrm>
          <a:custGeom>
            <a:avLst/>
            <a:gdLst/>
            <a:ahLst/>
            <a:cxnLst/>
            <a:rect l="l" t="t" r="r" b="b"/>
            <a:pathLst>
              <a:path w="274320" h="365759">
                <a:moveTo>
                  <a:pt x="274320" y="0"/>
                </a:moveTo>
                <a:lnTo>
                  <a:pt x="0" y="0"/>
                </a:lnTo>
                <a:lnTo>
                  <a:pt x="0" y="365760"/>
                </a:lnTo>
                <a:lnTo>
                  <a:pt x="274320" y="365760"/>
                </a:lnTo>
                <a:lnTo>
                  <a:pt x="2743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120650" y="158800"/>
            <a:ext cx="9023350" cy="6701790"/>
            <a:chOff x="120650" y="158800"/>
            <a:chExt cx="9023350" cy="6701790"/>
          </a:xfrm>
        </p:grpSpPr>
        <p:sp>
          <p:nvSpPr>
            <p:cNvPr id="7" name="object 7"/>
            <p:cNvSpPr/>
            <p:nvPr/>
          </p:nvSpPr>
          <p:spPr>
            <a:xfrm>
              <a:off x="8869680" y="6494324"/>
              <a:ext cx="274320" cy="365760"/>
            </a:xfrm>
            <a:custGeom>
              <a:avLst/>
              <a:gdLst/>
              <a:ahLst/>
              <a:cxnLst/>
              <a:rect l="l" t="t" r="r" b="b"/>
              <a:pathLst>
                <a:path w="274320" h="365759">
                  <a:moveTo>
                    <a:pt x="274320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274320" y="36576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0650" y="158800"/>
              <a:ext cx="8902700" cy="6537959"/>
            </a:xfrm>
            <a:custGeom>
              <a:avLst/>
              <a:gdLst/>
              <a:ahLst/>
              <a:cxnLst/>
              <a:rect l="l" t="t" r="r" b="b"/>
              <a:pathLst>
                <a:path w="8902700" h="6537959">
                  <a:moveTo>
                    <a:pt x="8902700" y="0"/>
                  </a:moveTo>
                  <a:lnTo>
                    <a:pt x="0" y="0"/>
                  </a:lnTo>
                  <a:lnTo>
                    <a:pt x="0" y="6537833"/>
                  </a:lnTo>
                  <a:lnTo>
                    <a:pt x="8902700" y="6537833"/>
                  </a:lnTo>
                  <a:lnTo>
                    <a:pt x="8902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1950" y="1458467"/>
              <a:ext cx="8420100" cy="393636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EEC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238494" y="2908172"/>
            <a:ext cx="2272665" cy="140779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344805" marR="5080" indent="-332740">
              <a:lnSpc>
                <a:spcPts val="5120"/>
              </a:lnSpc>
              <a:spcBef>
                <a:spcPts val="805"/>
              </a:spcBef>
            </a:pPr>
            <a:r>
              <a:rPr sz="4800" spc="-1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STAGING </a:t>
            </a:r>
            <a:r>
              <a:rPr sz="48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</a:t>
            </a:r>
            <a:r>
              <a:rPr sz="4800" spc="-114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48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PD</a:t>
            </a:r>
            <a:endParaRPr sz="4800">
              <a:latin typeface="Franklin Gothic Medium"/>
              <a:cs typeface="Franklin Gothic Medium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86867" y="633983"/>
            <a:ext cx="5340985" cy="5791200"/>
            <a:chOff x="486867" y="633983"/>
            <a:chExt cx="5340985" cy="5791200"/>
          </a:xfrm>
        </p:grpSpPr>
        <p:sp>
          <p:nvSpPr>
            <p:cNvPr id="5" name="object 5"/>
            <p:cNvSpPr/>
            <p:nvPr/>
          </p:nvSpPr>
          <p:spPr>
            <a:xfrm>
              <a:off x="486867" y="633983"/>
              <a:ext cx="5340985" cy="5791200"/>
            </a:xfrm>
            <a:custGeom>
              <a:avLst/>
              <a:gdLst/>
              <a:ahLst/>
              <a:cxnLst/>
              <a:rect l="l" t="t" r="r" b="b"/>
              <a:pathLst>
                <a:path w="5340985" h="5791200">
                  <a:moveTo>
                    <a:pt x="2456738" y="385826"/>
                  </a:moveTo>
                  <a:lnTo>
                    <a:pt x="2456459" y="336473"/>
                  </a:lnTo>
                  <a:lnTo>
                    <a:pt x="2456586" y="97764"/>
                  </a:lnTo>
                  <a:lnTo>
                    <a:pt x="2456230" y="0"/>
                  </a:lnTo>
                  <a:lnTo>
                    <a:pt x="0" y="0"/>
                  </a:lnTo>
                  <a:lnTo>
                    <a:pt x="0" y="4408551"/>
                  </a:lnTo>
                  <a:lnTo>
                    <a:pt x="304330" y="4408551"/>
                  </a:lnTo>
                  <a:lnTo>
                    <a:pt x="304330" y="384429"/>
                  </a:lnTo>
                  <a:lnTo>
                    <a:pt x="2456738" y="385826"/>
                  </a:lnTo>
                  <a:close/>
                </a:path>
                <a:path w="5340985" h="5791200">
                  <a:moveTo>
                    <a:pt x="5340401" y="1382776"/>
                  </a:moveTo>
                  <a:lnTo>
                    <a:pt x="5036109" y="1382776"/>
                  </a:lnTo>
                  <a:lnTo>
                    <a:pt x="5036109" y="5406136"/>
                  </a:lnTo>
                  <a:lnTo>
                    <a:pt x="2884093" y="5406136"/>
                  </a:lnTo>
                  <a:lnTo>
                    <a:pt x="2884093" y="5790946"/>
                  </a:lnTo>
                  <a:lnTo>
                    <a:pt x="5340401" y="5790946"/>
                  </a:lnTo>
                  <a:lnTo>
                    <a:pt x="5340401" y="5406136"/>
                  </a:lnTo>
                  <a:lnTo>
                    <a:pt x="5340401" y="1382776"/>
                  </a:lnTo>
                  <a:close/>
                </a:path>
              </a:pathLst>
            </a:custGeom>
            <a:solidFill>
              <a:srgbClr val="181B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 descr="What are the different stages of Parkinson's disease? (Online Video)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4262" y="2329560"/>
              <a:ext cx="4244467" cy="239814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4023" rIns="0" bIns="0" rtlCol="0">
            <a:spAutoFit/>
          </a:bodyPr>
          <a:lstStyle/>
          <a:p>
            <a:pPr marL="50927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CC0000"/>
                </a:solidFill>
              </a:rPr>
              <a:t>Unified</a:t>
            </a:r>
            <a:r>
              <a:rPr spc="-150" dirty="0">
                <a:solidFill>
                  <a:srgbClr val="CC0000"/>
                </a:solidFill>
              </a:rPr>
              <a:t> </a:t>
            </a:r>
            <a:r>
              <a:rPr spc="-30" dirty="0">
                <a:solidFill>
                  <a:srgbClr val="CC0000"/>
                </a:solidFill>
              </a:rPr>
              <a:t>Parkinson</a:t>
            </a:r>
            <a:r>
              <a:rPr spc="-140" dirty="0">
                <a:solidFill>
                  <a:srgbClr val="CC0000"/>
                </a:solidFill>
              </a:rPr>
              <a:t> </a:t>
            </a:r>
            <a:r>
              <a:rPr spc="-35" dirty="0">
                <a:solidFill>
                  <a:srgbClr val="CC0000"/>
                </a:solidFill>
              </a:rPr>
              <a:t>Rating</a:t>
            </a:r>
            <a:r>
              <a:rPr spc="-155" dirty="0">
                <a:solidFill>
                  <a:srgbClr val="CC0000"/>
                </a:solidFill>
              </a:rPr>
              <a:t> </a:t>
            </a:r>
            <a:r>
              <a:rPr dirty="0">
                <a:solidFill>
                  <a:srgbClr val="CC0000"/>
                </a:solidFill>
              </a:rPr>
              <a:t>Scale</a:t>
            </a:r>
            <a:r>
              <a:rPr spc="-140" dirty="0">
                <a:solidFill>
                  <a:srgbClr val="CC0000"/>
                </a:solidFill>
              </a:rPr>
              <a:t> </a:t>
            </a:r>
            <a:r>
              <a:rPr spc="-10" dirty="0">
                <a:solidFill>
                  <a:srgbClr val="CC0000"/>
                </a:solidFill>
              </a:rPr>
              <a:t>(</a:t>
            </a:r>
            <a:r>
              <a:rPr u="sng" spc="-10" dirty="0">
                <a:solidFill>
                  <a:srgbClr val="77A1BA"/>
                </a:solidFill>
                <a:uFill>
                  <a:solidFill>
                    <a:srgbClr val="77A1BA"/>
                  </a:solidFill>
                </a:uFill>
                <a:hlinkClick r:id="rId2"/>
              </a:rPr>
              <a:t>UPDRS</a:t>
            </a:r>
            <a:r>
              <a:rPr u="none" spc="-10" dirty="0">
                <a:solidFill>
                  <a:srgbClr val="CC0000"/>
                </a:solidFill>
              </a:rPr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73643"/>
            <a:ext cx="8108950" cy="375666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19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UDPRS</a:t>
            </a:r>
            <a:endParaRPr sz="1900">
              <a:latin typeface="Franklin Gothic Medium"/>
              <a:cs typeface="Franklin Gothic Medium"/>
            </a:endParaRPr>
          </a:p>
          <a:p>
            <a:pPr marL="396875" indent="-384175">
              <a:lnSpc>
                <a:spcPct val="100000"/>
              </a:lnSpc>
              <a:spcBef>
                <a:spcPts val="615"/>
              </a:spcBef>
              <a:buChar char="■"/>
              <a:tabLst>
                <a:tab pos="396875" algn="l"/>
              </a:tabLst>
            </a:pPr>
            <a:r>
              <a:rPr sz="19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Part</a:t>
            </a:r>
            <a:r>
              <a:rPr sz="19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I:</a:t>
            </a:r>
            <a:r>
              <a:rPr sz="19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evaluation</a:t>
            </a:r>
            <a:r>
              <a:rPr sz="19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</a:t>
            </a:r>
            <a:r>
              <a:rPr sz="19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mentation,</a:t>
            </a:r>
            <a:r>
              <a:rPr sz="19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behaviour,</a:t>
            </a:r>
            <a:r>
              <a:rPr sz="19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and</a:t>
            </a:r>
            <a:r>
              <a:rPr sz="19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mood</a:t>
            </a:r>
            <a:endParaRPr sz="1900">
              <a:latin typeface="Franklin Gothic Medium"/>
              <a:cs typeface="Franklin Gothic Medium"/>
            </a:endParaRPr>
          </a:p>
          <a:p>
            <a:pPr marL="396875" marR="5080" indent="-384810">
              <a:lnSpc>
                <a:spcPct val="73900"/>
              </a:lnSpc>
              <a:spcBef>
                <a:spcPts val="1210"/>
              </a:spcBef>
              <a:buChar char="■"/>
              <a:tabLst>
                <a:tab pos="396875" algn="l"/>
              </a:tabLst>
            </a:pPr>
            <a:r>
              <a:rPr sz="19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Part</a:t>
            </a:r>
            <a:r>
              <a:rPr sz="19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II:</a:t>
            </a:r>
            <a:r>
              <a:rPr sz="19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self-evaluation</a:t>
            </a:r>
            <a:r>
              <a:rPr sz="19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</a:t>
            </a:r>
            <a:r>
              <a:rPr sz="19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the</a:t>
            </a:r>
            <a:r>
              <a:rPr sz="19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activities</a:t>
            </a:r>
            <a:r>
              <a:rPr sz="19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</a:t>
            </a:r>
            <a:r>
              <a:rPr sz="19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daily</a:t>
            </a:r>
            <a:r>
              <a:rPr sz="19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life</a:t>
            </a:r>
            <a:r>
              <a:rPr sz="19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(ADLs)</a:t>
            </a:r>
            <a:r>
              <a:rPr sz="19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including</a:t>
            </a:r>
            <a:r>
              <a:rPr sz="19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speech, </a:t>
            </a:r>
            <a:r>
              <a:rPr sz="19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swallowing,</a:t>
            </a:r>
            <a:r>
              <a:rPr sz="19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handwriting,</a:t>
            </a:r>
            <a:r>
              <a:rPr sz="19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dressing,</a:t>
            </a:r>
            <a:r>
              <a:rPr sz="1900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hygiene,</a:t>
            </a:r>
            <a:r>
              <a:rPr sz="19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falling,</a:t>
            </a:r>
            <a:r>
              <a:rPr sz="19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salivating,</a:t>
            </a:r>
            <a:r>
              <a:rPr sz="19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turning</a:t>
            </a:r>
            <a:r>
              <a:rPr sz="1900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</a:t>
            </a:r>
            <a:r>
              <a:rPr sz="19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bed, </a:t>
            </a:r>
            <a:r>
              <a:rPr sz="19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walking,</a:t>
            </a:r>
            <a:r>
              <a:rPr sz="1900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and</a:t>
            </a:r>
            <a:r>
              <a:rPr sz="19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cutting</a:t>
            </a:r>
            <a:r>
              <a:rPr sz="19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food</a:t>
            </a:r>
            <a:endParaRPr sz="1900">
              <a:latin typeface="Franklin Gothic Medium"/>
              <a:cs typeface="Franklin Gothic Medium"/>
            </a:endParaRPr>
          </a:p>
          <a:p>
            <a:pPr marL="396875" indent="-384175">
              <a:lnSpc>
                <a:spcPct val="100000"/>
              </a:lnSpc>
              <a:spcBef>
                <a:spcPts val="600"/>
              </a:spcBef>
              <a:buChar char="■"/>
              <a:tabLst>
                <a:tab pos="396875" algn="l"/>
              </a:tabLst>
            </a:pPr>
            <a:r>
              <a:rPr sz="19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Part</a:t>
            </a:r>
            <a:r>
              <a:rPr sz="19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III:</a:t>
            </a:r>
            <a:r>
              <a:rPr sz="19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clinician-</a:t>
            </a:r>
            <a:r>
              <a:rPr sz="19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scored</a:t>
            </a:r>
            <a:r>
              <a:rPr sz="19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monitored</a:t>
            </a:r>
            <a:r>
              <a:rPr sz="19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motor</a:t>
            </a:r>
            <a:r>
              <a:rPr sz="19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evaluation</a:t>
            </a:r>
            <a:endParaRPr sz="1900">
              <a:latin typeface="Franklin Gothic Medium"/>
              <a:cs typeface="Franklin Gothic Medium"/>
            </a:endParaRPr>
          </a:p>
          <a:p>
            <a:pPr marL="396875" indent="-384175">
              <a:lnSpc>
                <a:spcPct val="100000"/>
              </a:lnSpc>
              <a:spcBef>
                <a:spcPts val="615"/>
              </a:spcBef>
              <a:buChar char="■"/>
              <a:tabLst>
                <a:tab pos="396875" algn="l"/>
              </a:tabLst>
            </a:pPr>
            <a:r>
              <a:rPr sz="19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Part</a:t>
            </a:r>
            <a:r>
              <a:rPr sz="19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IV:</a:t>
            </a:r>
            <a:r>
              <a:rPr sz="19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complications</a:t>
            </a:r>
            <a:r>
              <a:rPr sz="19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</a:t>
            </a:r>
            <a:r>
              <a:rPr sz="19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therapy</a:t>
            </a:r>
            <a:endParaRPr sz="1900">
              <a:latin typeface="Franklin Gothic Medium"/>
              <a:cs typeface="Franklin Gothic Medium"/>
            </a:endParaRPr>
          </a:p>
          <a:p>
            <a:pPr marL="396875" indent="-384175">
              <a:lnSpc>
                <a:spcPct val="100000"/>
              </a:lnSpc>
              <a:spcBef>
                <a:spcPts val="610"/>
              </a:spcBef>
              <a:buChar char="■"/>
              <a:tabLst>
                <a:tab pos="396875" algn="l"/>
              </a:tabLst>
            </a:pPr>
            <a:r>
              <a:rPr sz="19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Part</a:t>
            </a:r>
            <a:r>
              <a:rPr sz="19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V:</a:t>
            </a:r>
            <a:r>
              <a:rPr sz="19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Hoehn</a:t>
            </a:r>
            <a:r>
              <a:rPr sz="19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and</a:t>
            </a:r>
            <a:r>
              <a:rPr sz="19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Yahr</a:t>
            </a:r>
            <a:r>
              <a:rPr sz="19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staging</a:t>
            </a:r>
            <a:r>
              <a:rPr sz="19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</a:t>
            </a:r>
            <a:r>
              <a:rPr sz="19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severity</a:t>
            </a:r>
            <a:r>
              <a:rPr sz="1900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</a:t>
            </a:r>
            <a:r>
              <a:rPr sz="19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Parkinson's</a:t>
            </a:r>
            <a:r>
              <a:rPr sz="1900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disease</a:t>
            </a:r>
            <a:endParaRPr sz="1900">
              <a:latin typeface="Franklin Gothic Medium"/>
              <a:cs typeface="Franklin Gothic Medium"/>
            </a:endParaRPr>
          </a:p>
          <a:p>
            <a:pPr marL="396875" indent="-384175">
              <a:lnSpc>
                <a:spcPct val="100000"/>
              </a:lnSpc>
              <a:spcBef>
                <a:spcPts val="600"/>
              </a:spcBef>
              <a:buChar char="■"/>
              <a:tabLst>
                <a:tab pos="396875" algn="l"/>
              </a:tabLst>
            </a:pPr>
            <a:r>
              <a:rPr sz="19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Part</a:t>
            </a:r>
            <a:r>
              <a:rPr sz="19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VI:</a:t>
            </a:r>
            <a:r>
              <a:rPr sz="19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Schwab</a:t>
            </a:r>
            <a:r>
              <a:rPr sz="19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and</a:t>
            </a:r>
            <a:r>
              <a:rPr sz="19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England</a:t>
            </a:r>
            <a:r>
              <a:rPr sz="1900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ADL</a:t>
            </a:r>
            <a:r>
              <a:rPr sz="19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scale</a:t>
            </a:r>
            <a:endParaRPr sz="19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1340"/>
              </a:spcBef>
            </a:pPr>
            <a:endParaRPr sz="190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</a:pPr>
            <a:r>
              <a:rPr sz="19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MDC</a:t>
            </a:r>
            <a:r>
              <a:rPr sz="19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–</a:t>
            </a:r>
            <a:r>
              <a:rPr sz="19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UPDRS</a:t>
            </a:r>
            <a:endParaRPr sz="1900">
              <a:latin typeface="Franklin Gothic Medium"/>
              <a:cs typeface="Franklin Gothic Medi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5206588"/>
            <a:ext cx="4906010" cy="149161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96875" indent="-384175">
              <a:lnSpc>
                <a:spcPct val="100000"/>
              </a:lnSpc>
              <a:spcBef>
                <a:spcPts val="695"/>
              </a:spcBef>
              <a:buChar char="■"/>
              <a:tabLst>
                <a:tab pos="396875" algn="l"/>
              </a:tabLst>
            </a:pPr>
            <a:r>
              <a:rPr sz="19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Part</a:t>
            </a:r>
            <a:r>
              <a:rPr sz="19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</a:t>
            </a:r>
            <a:r>
              <a:rPr sz="19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(non-</a:t>
            </a:r>
            <a:r>
              <a:rPr sz="19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motor</a:t>
            </a:r>
            <a:r>
              <a:rPr sz="19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experiences</a:t>
            </a:r>
            <a:r>
              <a:rPr sz="19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</a:t>
            </a:r>
            <a:r>
              <a:rPr sz="19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daily</a:t>
            </a:r>
            <a:r>
              <a:rPr sz="19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living),</a:t>
            </a:r>
            <a:endParaRPr sz="1900">
              <a:latin typeface="Franklin Gothic Medium"/>
              <a:cs typeface="Franklin Gothic Medium"/>
            </a:endParaRPr>
          </a:p>
          <a:p>
            <a:pPr marL="396875" indent="-384175">
              <a:lnSpc>
                <a:spcPct val="100000"/>
              </a:lnSpc>
              <a:spcBef>
                <a:spcPts val="600"/>
              </a:spcBef>
              <a:buChar char="■"/>
              <a:tabLst>
                <a:tab pos="396875" algn="l"/>
              </a:tabLst>
            </a:pPr>
            <a:r>
              <a:rPr sz="19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Part</a:t>
            </a:r>
            <a:r>
              <a:rPr sz="1900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II</a:t>
            </a:r>
            <a:r>
              <a:rPr sz="1900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(motor</a:t>
            </a:r>
            <a:r>
              <a:rPr sz="1900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experiences</a:t>
            </a:r>
            <a:r>
              <a:rPr sz="19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</a:t>
            </a:r>
            <a:r>
              <a:rPr sz="19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daily</a:t>
            </a:r>
            <a:r>
              <a:rPr sz="19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living),</a:t>
            </a:r>
            <a:endParaRPr sz="1900">
              <a:latin typeface="Franklin Gothic Medium"/>
              <a:cs typeface="Franklin Gothic Medium"/>
            </a:endParaRPr>
          </a:p>
          <a:p>
            <a:pPr marL="396875" indent="-384175">
              <a:lnSpc>
                <a:spcPct val="100000"/>
              </a:lnSpc>
              <a:spcBef>
                <a:spcPts val="615"/>
              </a:spcBef>
              <a:buChar char="■"/>
              <a:tabLst>
                <a:tab pos="396875" algn="l"/>
              </a:tabLst>
            </a:pPr>
            <a:r>
              <a:rPr sz="19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Part</a:t>
            </a:r>
            <a:r>
              <a:rPr sz="1900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III</a:t>
            </a:r>
            <a:r>
              <a:rPr sz="1900" spc="-9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(motor</a:t>
            </a:r>
            <a:r>
              <a:rPr sz="19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examination)</a:t>
            </a:r>
            <a:r>
              <a:rPr sz="1900" spc="-9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and</a:t>
            </a:r>
            <a:endParaRPr sz="1900">
              <a:latin typeface="Franklin Gothic Medium"/>
              <a:cs typeface="Franklin Gothic Medium"/>
            </a:endParaRPr>
          </a:p>
          <a:p>
            <a:pPr marL="396875" indent="-384175">
              <a:lnSpc>
                <a:spcPct val="100000"/>
              </a:lnSpc>
              <a:spcBef>
                <a:spcPts val="610"/>
              </a:spcBef>
              <a:buChar char="■"/>
              <a:tabLst>
                <a:tab pos="396875" algn="l"/>
              </a:tabLst>
            </a:pPr>
            <a:r>
              <a:rPr sz="19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Part</a:t>
            </a:r>
            <a:r>
              <a:rPr sz="19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IV</a:t>
            </a:r>
            <a:r>
              <a:rPr sz="19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(motor</a:t>
            </a:r>
            <a:r>
              <a:rPr sz="19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9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complications).</a:t>
            </a:r>
            <a:endParaRPr sz="1900">
              <a:latin typeface="Franklin Gothic Medium"/>
              <a:cs typeface="Franklin Gothic Mediu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80479" y="6549949"/>
            <a:ext cx="16287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"/>
                <a:cs typeface="Arial"/>
              </a:rPr>
              <a:t>(Fahn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et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al.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1987)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5940" y="240919"/>
            <a:ext cx="376555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CC0000"/>
                </a:solidFill>
              </a:rPr>
              <a:t>Medical</a:t>
            </a:r>
            <a:r>
              <a:rPr spc="-150" dirty="0">
                <a:solidFill>
                  <a:srgbClr val="CC0000"/>
                </a:solidFill>
              </a:rPr>
              <a:t> </a:t>
            </a:r>
            <a:r>
              <a:rPr spc="-30" dirty="0">
                <a:solidFill>
                  <a:srgbClr val="CC0000"/>
                </a:solidFill>
              </a:rPr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79119" y="1001115"/>
            <a:ext cx="7052309" cy="531050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96240" indent="-383540">
              <a:lnSpc>
                <a:spcPct val="100000"/>
              </a:lnSpc>
              <a:spcBef>
                <a:spcPts val="675"/>
              </a:spcBef>
              <a:buChar char="■"/>
              <a:tabLst>
                <a:tab pos="396240" algn="l"/>
              </a:tabLst>
            </a:pP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No</a:t>
            </a:r>
            <a:r>
              <a:rPr sz="20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cure</a:t>
            </a:r>
            <a:r>
              <a:rPr sz="2000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for</a:t>
            </a:r>
            <a:r>
              <a:rPr sz="20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PD</a:t>
            </a:r>
            <a:endParaRPr sz="20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spcBef>
                <a:spcPts val="575"/>
              </a:spcBef>
              <a:buChar char="■"/>
              <a:tabLst>
                <a:tab pos="396240" algn="l"/>
              </a:tabLst>
            </a:pPr>
            <a:r>
              <a:rPr sz="2000" spc="-30" dirty="0">
                <a:solidFill>
                  <a:srgbClr val="CC0000"/>
                </a:solidFill>
                <a:latin typeface="Franklin Gothic Medium"/>
                <a:cs typeface="Franklin Gothic Medium"/>
              </a:rPr>
              <a:t>Pharmacological</a:t>
            </a:r>
            <a:r>
              <a:rPr sz="2000" spc="-50" dirty="0">
                <a:solidFill>
                  <a:srgbClr val="CC0000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CC0000"/>
                </a:solidFill>
                <a:latin typeface="Franklin Gothic Medium"/>
                <a:cs typeface="Franklin Gothic Medium"/>
              </a:rPr>
              <a:t>management:</a:t>
            </a:r>
            <a:endParaRPr sz="2000">
              <a:latin typeface="Franklin Gothic Medium"/>
              <a:cs typeface="Franklin Gothic Medium"/>
            </a:endParaRPr>
          </a:p>
          <a:p>
            <a:pPr marL="469900">
              <a:lnSpc>
                <a:spcPct val="100000"/>
              </a:lnSpc>
              <a:spcBef>
                <a:spcPts val="70"/>
              </a:spcBef>
            </a:pP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–</a:t>
            </a: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Levodopa</a:t>
            </a:r>
            <a:r>
              <a:rPr sz="2000" i="1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(L-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dopa)</a:t>
            </a:r>
            <a:r>
              <a:rPr sz="2000" i="1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–</a:t>
            </a:r>
            <a:r>
              <a:rPr sz="2000" i="1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mainstay</a:t>
            </a: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</a:t>
            </a:r>
            <a:r>
              <a:rPr sz="2000" i="1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therapy</a:t>
            </a:r>
            <a:endParaRPr sz="2000">
              <a:latin typeface="Franklin Gothic Medium"/>
              <a:cs typeface="Franklin Gothic Medium"/>
            </a:endParaRPr>
          </a:p>
          <a:p>
            <a:pPr marL="1383665" lvl="1" indent="-383540">
              <a:lnSpc>
                <a:spcPct val="100000"/>
              </a:lnSpc>
              <a:spcBef>
                <a:spcPts val="250"/>
              </a:spcBef>
              <a:buChar char="■"/>
              <a:tabLst>
                <a:tab pos="1383665" algn="l"/>
              </a:tabLst>
            </a:pPr>
            <a:r>
              <a:rPr sz="15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Usually</a:t>
            </a:r>
            <a:r>
              <a:rPr sz="15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5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reserved</a:t>
            </a:r>
            <a:r>
              <a:rPr sz="15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5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for</a:t>
            </a:r>
            <a:r>
              <a:rPr sz="1500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5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patients</a:t>
            </a:r>
            <a:r>
              <a:rPr sz="15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5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</a:t>
            </a:r>
            <a:r>
              <a:rPr sz="15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5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middle</a:t>
            </a:r>
            <a:r>
              <a:rPr sz="1500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5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&amp;</a:t>
            </a:r>
            <a:r>
              <a:rPr sz="15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5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late</a:t>
            </a:r>
            <a:r>
              <a:rPr sz="15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5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stages</a:t>
            </a:r>
            <a:endParaRPr sz="1500">
              <a:latin typeface="Franklin Gothic Medium"/>
              <a:cs typeface="Franklin Gothic Medium"/>
            </a:endParaRPr>
          </a:p>
          <a:p>
            <a:pPr marL="1383665" lvl="1" indent="-383540">
              <a:lnSpc>
                <a:spcPts val="1565"/>
              </a:lnSpc>
              <a:spcBef>
                <a:spcPts val="229"/>
              </a:spcBef>
              <a:buChar char="■"/>
              <a:tabLst>
                <a:tab pos="1383665" algn="l"/>
              </a:tabLst>
            </a:pPr>
            <a:r>
              <a:rPr sz="15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Initial</a:t>
            </a:r>
            <a:r>
              <a:rPr sz="1500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500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improvement</a:t>
            </a:r>
            <a:r>
              <a:rPr sz="15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5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often</a:t>
            </a:r>
            <a:r>
              <a:rPr sz="15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5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dramatic</a:t>
            </a:r>
            <a:r>
              <a:rPr sz="1500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5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“honeymoon</a:t>
            </a:r>
            <a:r>
              <a:rPr sz="15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5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period”;</a:t>
            </a:r>
            <a:r>
              <a:rPr sz="15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5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long</a:t>
            </a:r>
            <a:r>
              <a:rPr sz="15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5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term</a:t>
            </a:r>
            <a:r>
              <a:rPr sz="1500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5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use</a:t>
            </a:r>
            <a:endParaRPr sz="1500">
              <a:latin typeface="Franklin Gothic Medium"/>
              <a:cs typeface="Franklin Gothic Medium"/>
            </a:endParaRPr>
          </a:p>
          <a:p>
            <a:pPr marL="1384300">
              <a:lnSpc>
                <a:spcPts val="1565"/>
              </a:lnSpc>
            </a:pPr>
            <a:r>
              <a:rPr sz="15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effectiveness</a:t>
            </a:r>
            <a:r>
              <a:rPr sz="15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5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deteriorates</a:t>
            </a:r>
            <a:endParaRPr sz="1500">
              <a:latin typeface="Franklin Gothic Medium"/>
              <a:cs typeface="Franklin Gothic Medium"/>
            </a:endParaRPr>
          </a:p>
          <a:p>
            <a:pPr marL="1383665" lvl="1" indent="-383540">
              <a:lnSpc>
                <a:spcPct val="100000"/>
              </a:lnSpc>
              <a:spcBef>
                <a:spcPts val="240"/>
              </a:spcBef>
              <a:buChar char="■"/>
              <a:tabLst>
                <a:tab pos="1383665" algn="l"/>
              </a:tabLst>
            </a:pPr>
            <a:r>
              <a:rPr sz="15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End-</a:t>
            </a:r>
            <a:r>
              <a:rPr sz="15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of-</a:t>
            </a:r>
            <a:r>
              <a:rPr sz="15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dose</a:t>
            </a:r>
            <a:r>
              <a:rPr sz="1500" spc="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5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deterioration</a:t>
            </a:r>
            <a:r>
              <a:rPr sz="1500" spc="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5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;</a:t>
            </a:r>
            <a:r>
              <a:rPr sz="1500" spc="-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5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On-</a:t>
            </a:r>
            <a:r>
              <a:rPr sz="15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off</a:t>
            </a:r>
            <a:r>
              <a:rPr sz="1500" spc="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5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phenomenon</a:t>
            </a:r>
            <a:endParaRPr sz="1500">
              <a:latin typeface="Franklin Gothic Medium"/>
              <a:cs typeface="Franklin Gothic Medium"/>
            </a:endParaRPr>
          </a:p>
          <a:p>
            <a:pPr marL="469900">
              <a:lnSpc>
                <a:spcPct val="100000"/>
              </a:lnSpc>
              <a:spcBef>
                <a:spcPts val="65"/>
              </a:spcBef>
            </a:pP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–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COMT</a:t>
            </a:r>
            <a:r>
              <a:rPr sz="2000" i="1" spc="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–</a:t>
            </a:r>
            <a:r>
              <a:rPr sz="2000" i="1" spc="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catecholamine-</a:t>
            </a: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O-methyltransferase</a:t>
            </a:r>
            <a:endParaRPr sz="2000">
              <a:latin typeface="Franklin Gothic Medium"/>
              <a:cs typeface="Franklin Gothic Medium"/>
            </a:endParaRPr>
          </a:p>
          <a:p>
            <a:pPr marL="469900">
              <a:lnSpc>
                <a:spcPct val="100000"/>
              </a:lnSpc>
              <a:spcBef>
                <a:spcPts val="70"/>
              </a:spcBef>
            </a:pP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–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Monoamine</a:t>
            </a:r>
            <a:r>
              <a:rPr sz="2000" i="1" spc="-114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oxidase</a:t>
            </a:r>
            <a:r>
              <a:rPr sz="2000" i="1" spc="-1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(MAO)</a:t>
            </a:r>
            <a:endParaRPr sz="2000">
              <a:latin typeface="Franklin Gothic Medium"/>
              <a:cs typeface="Franklin Gothic Medium"/>
            </a:endParaRPr>
          </a:p>
          <a:p>
            <a:pPr marL="469900">
              <a:lnSpc>
                <a:spcPct val="100000"/>
              </a:lnSpc>
              <a:spcBef>
                <a:spcPts val="75"/>
              </a:spcBef>
            </a:pP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–</a:t>
            </a: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Amantadine</a:t>
            </a:r>
            <a:endParaRPr sz="2000">
              <a:latin typeface="Franklin Gothic Medium"/>
              <a:cs typeface="Franklin Gothic Medium"/>
            </a:endParaRPr>
          </a:p>
          <a:p>
            <a:pPr marL="469900">
              <a:lnSpc>
                <a:spcPct val="100000"/>
              </a:lnSpc>
              <a:spcBef>
                <a:spcPts val="85"/>
              </a:spcBef>
            </a:pP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–</a:t>
            </a:r>
            <a:r>
              <a:rPr sz="20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0033CC"/>
                </a:solidFill>
                <a:latin typeface="Franklin Gothic Medium"/>
                <a:cs typeface="Franklin Gothic Medium"/>
              </a:rPr>
              <a:t>Side</a:t>
            </a:r>
            <a:r>
              <a:rPr sz="2000" i="1" spc="-55" dirty="0">
                <a:solidFill>
                  <a:srgbClr val="0033CC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0033CC"/>
                </a:solidFill>
                <a:latin typeface="Franklin Gothic Medium"/>
                <a:cs typeface="Franklin Gothic Medium"/>
              </a:rPr>
              <a:t>effects</a:t>
            </a:r>
            <a:r>
              <a:rPr sz="2000" i="1" spc="-60" dirty="0">
                <a:solidFill>
                  <a:srgbClr val="0033CC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0033CC"/>
                </a:solidFill>
                <a:latin typeface="Franklin Gothic Medium"/>
                <a:cs typeface="Franklin Gothic Medium"/>
              </a:rPr>
              <a:t>are</a:t>
            </a:r>
            <a:r>
              <a:rPr sz="2000" i="1" spc="-50" dirty="0">
                <a:solidFill>
                  <a:srgbClr val="0033CC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20" dirty="0">
                <a:solidFill>
                  <a:srgbClr val="0033CC"/>
                </a:solidFill>
                <a:latin typeface="Franklin Gothic Medium"/>
                <a:cs typeface="Franklin Gothic Medium"/>
              </a:rPr>
              <a:t>common</a:t>
            </a:r>
            <a:r>
              <a:rPr sz="2000" i="1" spc="-65" dirty="0">
                <a:solidFill>
                  <a:srgbClr val="0033CC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10" dirty="0">
                <a:solidFill>
                  <a:srgbClr val="0033CC"/>
                </a:solidFill>
                <a:latin typeface="Franklin Gothic Medium"/>
                <a:cs typeface="Franklin Gothic Medium"/>
              </a:rPr>
              <a:t>with</a:t>
            </a:r>
            <a:r>
              <a:rPr sz="2000" i="1" spc="-50" dirty="0">
                <a:solidFill>
                  <a:srgbClr val="0033CC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0033CC"/>
                </a:solidFill>
                <a:latin typeface="Franklin Gothic Medium"/>
                <a:cs typeface="Franklin Gothic Medium"/>
              </a:rPr>
              <a:t>drug</a:t>
            </a:r>
            <a:r>
              <a:rPr sz="2000" i="1" spc="-55" dirty="0">
                <a:solidFill>
                  <a:srgbClr val="0033CC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10" dirty="0">
                <a:solidFill>
                  <a:srgbClr val="0033CC"/>
                </a:solidFill>
                <a:latin typeface="Franklin Gothic Medium"/>
                <a:cs typeface="Franklin Gothic Medium"/>
              </a:rPr>
              <a:t>management</a:t>
            </a:r>
            <a:endParaRPr sz="20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2000">
              <a:latin typeface="Franklin Gothic Medium"/>
              <a:cs typeface="Franklin Gothic Medium"/>
            </a:endParaRPr>
          </a:p>
          <a:p>
            <a:pPr marL="166370" indent="-161925">
              <a:lnSpc>
                <a:spcPct val="100000"/>
              </a:lnSpc>
              <a:buSzPct val="92500"/>
              <a:buChar char="■"/>
              <a:tabLst>
                <a:tab pos="166370" algn="l"/>
              </a:tabLst>
            </a:pP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Surgery</a:t>
            </a:r>
            <a:r>
              <a:rPr sz="2000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is</a:t>
            </a:r>
            <a:r>
              <a:rPr sz="20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considered</a:t>
            </a:r>
            <a:r>
              <a:rPr sz="2000" spc="-9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(more</a:t>
            </a:r>
            <a:r>
              <a:rPr sz="2000" spc="-9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advanced</a:t>
            </a:r>
            <a:r>
              <a:rPr sz="20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cases)</a:t>
            </a:r>
            <a:endParaRPr sz="20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480"/>
              </a:spcBef>
              <a:buFont typeface="Franklin Gothic Medium"/>
              <a:buChar char="■"/>
            </a:pPr>
            <a:endParaRPr sz="2000">
              <a:latin typeface="Franklin Gothic Medium"/>
              <a:cs typeface="Franklin Gothic Medium"/>
            </a:endParaRPr>
          </a:p>
          <a:p>
            <a:pPr marL="166370" indent="-161925">
              <a:lnSpc>
                <a:spcPct val="100000"/>
              </a:lnSpc>
              <a:spcBef>
                <a:spcPts val="5"/>
              </a:spcBef>
              <a:buSzPct val="92500"/>
              <a:buChar char="■"/>
              <a:tabLst>
                <a:tab pos="166370" algn="l"/>
              </a:tabLst>
            </a:pP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Deep</a:t>
            </a:r>
            <a:r>
              <a:rPr sz="20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brain</a:t>
            </a:r>
            <a:r>
              <a:rPr sz="20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stimulation</a:t>
            </a:r>
            <a:r>
              <a:rPr sz="20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(DBS)</a:t>
            </a:r>
            <a:endParaRPr sz="20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575"/>
              </a:spcBef>
              <a:buFont typeface="Franklin Gothic Medium"/>
              <a:buChar char="■"/>
            </a:pPr>
            <a:endParaRPr sz="2000">
              <a:latin typeface="Franklin Gothic Medium"/>
              <a:cs typeface="Franklin Gothic Medium"/>
            </a:endParaRPr>
          </a:p>
          <a:p>
            <a:pPr marL="166370" indent="-161925">
              <a:lnSpc>
                <a:spcPct val="100000"/>
              </a:lnSpc>
              <a:buSzPct val="92500"/>
              <a:buChar char="■"/>
              <a:tabLst>
                <a:tab pos="166370" algn="l"/>
              </a:tabLst>
            </a:pPr>
            <a:r>
              <a:rPr sz="2000" spc="-20" dirty="0">
                <a:solidFill>
                  <a:srgbClr val="CC0000"/>
                </a:solidFill>
                <a:latin typeface="Franklin Gothic Medium"/>
                <a:cs typeface="Franklin Gothic Medium"/>
              </a:rPr>
              <a:t>Nutritional</a:t>
            </a:r>
            <a:r>
              <a:rPr sz="2000" spc="-45" dirty="0">
                <a:solidFill>
                  <a:srgbClr val="CC0000"/>
                </a:solidFill>
                <a:latin typeface="Franklin Gothic Medium"/>
                <a:cs typeface="Franklin Gothic Medium"/>
              </a:rPr>
              <a:t> </a:t>
            </a:r>
            <a:r>
              <a:rPr sz="2000" spc="-40" dirty="0">
                <a:solidFill>
                  <a:srgbClr val="CC0000"/>
                </a:solidFill>
                <a:latin typeface="Franklin Gothic Medium"/>
                <a:cs typeface="Franklin Gothic Medium"/>
              </a:rPr>
              <a:t>management, </a:t>
            </a:r>
            <a:r>
              <a:rPr sz="2000" spc="-10" dirty="0">
                <a:solidFill>
                  <a:srgbClr val="CC0000"/>
                </a:solidFill>
                <a:latin typeface="Franklin Gothic Medium"/>
                <a:cs typeface="Franklin Gothic Medium"/>
              </a:rPr>
              <a:t>surgical</a:t>
            </a:r>
            <a:r>
              <a:rPr sz="2000" spc="-45" dirty="0">
                <a:solidFill>
                  <a:srgbClr val="CC0000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CC0000"/>
                </a:solidFill>
                <a:latin typeface="Franklin Gothic Medium"/>
                <a:cs typeface="Franklin Gothic Medium"/>
              </a:rPr>
              <a:t>management</a:t>
            </a:r>
            <a:endParaRPr sz="20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http://www.wecareindia.com/images/inner/neurosurgery/deep-brain-stimulation-surgery2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9630" y="813498"/>
            <a:ext cx="5380736" cy="580541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35965" y="235457"/>
            <a:ext cx="785495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Subthalamic</a:t>
            </a:r>
            <a:r>
              <a:rPr spc="-5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nucleus</a:t>
            </a:r>
            <a:r>
              <a:rPr spc="-6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deep</a:t>
            </a:r>
            <a:r>
              <a:rPr spc="-5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brain</a:t>
            </a:r>
            <a:r>
              <a:rPr spc="-4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stimulation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18540" y="455752"/>
            <a:ext cx="311785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CC0000"/>
                </a:solidFill>
              </a:rPr>
              <a:t>Subjective</a:t>
            </a:r>
            <a:r>
              <a:rPr spc="-110" dirty="0">
                <a:solidFill>
                  <a:srgbClr val="CC0000"/>
                </a:solidFill>
              </a:rPr>
              <a:t> </a:t>
            </a:r>
            <a:r>
              <a:rPr spc="-10" dirty="0">
                <a:solidFill>
                  <a:srgbClr val="CC0000"/>
                </a:solidFill>
              </a:rPr>
              <a:t>History</a:t>
            </a:r>
          </a:p>
        </p:txBody>
      </p:sp>
      <p:sp>
        <p:nvSpPr>
          <p:cNvPr id="3" name="object 3"/>
          <p:cNvSpPr/>
          <p:nvPr/>
        </p:nvSpPr>
        <p:spPr>
          <a:xfrm>
            <a:off x="611555" y="2122703"/>
            <a:ext cx="8425180" cy="628015"/>
          </a:xfrm>
          <a:custGeom>
            <a:avLst/>
            <a:gdLst/>
            <a:ahLst/>
            <a:cxnLst/>
            <a:rect l="l" t="t" r="r" b="b"/>
            <a:pathLst>
              <a:path w="8425180" h="628014">
                <a:moveTo>
                  <a:pt x="8424875" y="0"/>
                </a:moveTo>
                <a:lnTo>
                  <a:pt x="1685036" y="0"/>
                </a:lnTo>
                <a:lnTo>
                  <a:pt x="0" y="0"/>
                </a:lnTo>
                <a:lnTo>
                  <a:pt x="0" y="627862"/>
                </a:lnTo>
                <a:lnTo>
                  <a:pt x="1684985" y="627862"/>
                </a:lnTo>
                <a:lnTo>
                  <a:pt x="8424875" y="627862"/>
                </a:lnTo>
                <a:lnTo>
                  <a:pt x="8424875" y="0"/>
                </a:lnTo>
                <a:close/>
              </a:path>
            </a:pathLst>
          </a:custGeom>
          <a:solidFill>
            <a:srgbClr val="EDED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11555" y="3378428"/>
            <a:ext cx="8425180" cy="885190"/>
          </a:xfrm>
          <a:custGeom>
            <a:avLst/>
            <a:gdLst/>
            <a:ahLst/>
            <a:cxnLst/>
            <a:rect l="l" t="t" r="r" b="b"/>
            <a:pathLst>
              <a:path w="8425180" h="885189">
                <a:moveTo>
                  <a:pt x="8424875" y="0"/>
                </a:moveTo>
                <a:lnTo>
                  <a:pt x="1685036" y="0"/>
                </a:lnTo>
                <a:lnTo>
                  <a:pt x="0" y="0"/>
                </a:lnTo>
                <a:lnTo>
                  <a:pt x="0" y="884707"/>
                </a:lnTo>
                <a:lnTo>
                  <a:pt x="1684985" y="884707"/>
                </a:lnTo>
                <a:lnTo>
                  <a:pt x="8424875" y="884707"/>
                </a:lnTo>
                <a:lnTo>
                  <a:pt x="8424875" y="0"/>
                </a:lnTo>
                <a:close/>
              </a:path>
            </a:pathLst>
          </a:custGeom>
          <a:solidFill>
            <a:srgbClr val="EDED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11555" y="4726063"/>
            <a:ext cx="8425180" cy="544830"/>
          </a:xfrm>
          <a:custGeom>
            <a:avLst/>
            <a:gdLst/>
            <a:ahLst/>
            <a:cxnLst/>
            <a:rect l="l" t="t" r="r" b="b"/>
            <a:pathLst>
              <a:path w="8425180" h="544829">
                <a:moveTo>
                  <a:pt x="8424875" y="0"/>
                </a:moveTo>
                <a:lnTo>
                  <a:pt x="1685036" y="0"/>
                </a:lnTo>
                <a:lnTo>
                  <a:pt x="0" y="0"/>
                </a:lnTo>
                <a:lnTo>
                  <a:pt x="0" y="544690"/>
                </a:lnTo>
                <a:lnTo>
                  <a:pt x="1684985" y="544690"/>
                </a:lnTo>
                <a:lnTo>
                  <a:pt x="8424875" y="544690"/>
                </a:lnTo>
                <a:lnTo>
                  <a:pt x="8424875" y="0"/>
                </a:lnTo>
                <a:close/>
              </a:path>
            </a:pathLst>
          </a:custGeom>
          <a:solidFill>
            <a:srgbClr val="EDED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11555" y="5815444"/>
            <a:ext cx="8425180" cy="463550"/>
          </a:xfrm>
          <a:custGeom>
            <a:avLst/>
            <a:gdLst/>
            <a:ahLst/>
            <a:cxnLst/>
            <a:rect l="l" t="t" r="r" b="b"/>
            <a:pathLst>
              <a:path w="8425180" h="463550">
                <a:moveTo>
                  <a:pt x="8424875" y="0"/>
                </a:moveTo>
                <a:lnTo>
                  <a:pt x="1685036" y="0"/>
                </a:lnTo>
                <a:lnTo>
                  <a:pt x="0" y="0"/>
                </a:lnTo>
                <a:lnTo>
                  <a:pt x="0" y="462965"/>
                </a:lnTo>
                <a:lnTo>
                  <a:pt x="1684985" y="462965"/>
                </a:lnTo>
                <a:lnTo>
                  <a:pt x="8424875" y="462965"/>
                </a:lnTo>
                <a:lnTo>
                  <a:pt x="8424875" y="0"/>
                </a:lnTo>
                <a:close/>
              </a:path>
            </a:pathLst>
          </a:custGeom>
          <a:solidFill>
            <a:srgbClr val="EDEDE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05205" y="1190371"/>
          <a:ext cx="8514080" cy="5541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2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0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291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50" spc="-10" dirty="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Parameter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B8D8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50" spc="-35" dirty="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What</a:t>
                      </a:r>
                      <a:r>
                        <a:rPr sz="1350" spc="-50" dirty="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dirty="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to</a:t>
                      </a:r>
                      <a:r>
                        <a:rPr sz="1350" spc="-35" dirty="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look</a:t>
                      </a:r>
                      <a:r>
                        <a:rPr sz="1350" spc="-55" dirty="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20" dirty="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for?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B8D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Problems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B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50" spc="-20" dirty="0">
                          <a:latin typeface="Franklin Gothic Medium"/>
                          <a:cs typeface="Franklin Gothic Medium"/>
                        </a:rPr>
                        <a:t>Patients</a:t>
                      </a:r>
                      <a:r>
                        <a:rPr sz="1350" spc="-3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stated</a:t>
                      </a:r>
                      <a:r>
                        <a:rPr sz="1350" spc="-4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problems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380">
                <a:tc>
                  <a:txBody>
                    <a:bodyPr/>
                    <a:lstStyle/>
                    <a:p>
                      <a:pPr marL="91440" marR="61468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Course</a:t>
                      </a:r>
                      <a:r>
                        <a:rPr sz="1350" spc="-6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of</a:t>
                      </a:r>
                      <a:r>
                        <a:rPr sz="1350" spc="-3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25" dirty="0">
                          <a:latin typeface="Franklin Gothic Medium"/>
                          <a:cs typeface="Franklin Gothic Medium"/>
                        </a:rPr>
                        <a:t>the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disease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Onset,</a:t>
                      </a:r>
                      <a:r>
                        <a:rPr sz="1350" spc="-3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how</a:t>
                      </a:r>
                      <a:r>
                        <a:rPr sz="1350" spc="-5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long,</a:t>
                      </a:r>
                      <a:r>
                        <a:rPr sz="1350" spc="-4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results</a:t>
                      </a:r>
                      <a:r>
                        <a:rPr sz="1350" spc="-4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of</a:t>
                      </a:r>
                      <a:r>
                        <a:rPr sz="1350" spc="-4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earlier</a:t>
                      </a:r>
                      <a:r>
                        <a:rPr sz="1350" spc="-4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diagnostics,</a:t>
                      </a:r>
                      <a:r>
                        <a:rPr sz="1350" spc="-6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20" dirty="0">
                          <a:latin typeface="Franklin Gothic Medium"/>
                          <a:cs typeface="Franklin Gothic Medium"/>
                        </a:rPr>
                        <a:t>severity</a:t>
                      </a:r>
                      <a:r>
                        <a:rPr sz="1350" spc="-4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and</a:t>
                      </a:r>
                      <a:r>
                        <a:rPr sz="1350" spc="-2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nature</a:t>
                      </a:r>
                      <a:r>
                        <a:rPr sz="1350" spc="-5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of</a:t>
                      </a:r>
                      <a:r>
                        <a:rPr sz="1350" spc="-4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the</a:t>
                      </a:r>
                      <a:r>
                        <a:rPr sz="1350" spc="-4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condition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3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Participation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problems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B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Relationships,</a:t>
                      </a:r>
                      <a:r>
                        <a:rPr sz="1350" spc="-6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profession,</a:t>
                      </a:r>
                      <a:r>
                        <a:rPr sz="1350" spc="-5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work,</a:t>
                      </a:r>
                      <a:r>
                        <a:rPr sz="1350" spc="-5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social</a:t>
                      </a:r>
                      <a:r>
                        <a:rPr sz="1350" spc="-6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life</a:t>
                      </a:r>
                      <a:r>
                        <a:rPr sz="1350" spc="-3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and</a:t>
                      </a:r>
                      <a:r>
                        <a:rPr sz="1350" spc="-4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leisure</a:t>
                      </a:r>
                      <a:r>
                        <a:rPr sz="1350" spc="-5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activities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4555">
                <a:tc>
                  <a:txBody>
                    <a:bodyPr/>
                    <a:lstStyle/>
                    <a:p>
                      <a:pPr marL="91440" marR="27876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25" dirty="0">
                          <a:latin typeface="Franklin Gothic Medium"/>
                          <a:cs typeface="Franklin Gothic Medium"/>
                        </a:rPr>
                        <a:t>Impairments</a:t>
                      </a:r>
                      <a:r>
                        <a:rPr sz="1350" spc="-1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50" dirty="0">
                          <a:latin typeface="Franklin Gothic Medium"/>
                          <a:cs typeface="Franklin Gothic Medium"/>
                        </a:rPr>
                        <a:t>&amp; </a:t>
                      </a:r>
                      <a:r>
                        <a:rPr sz="1350" spc="-20" dirty="0">
                          <a:latin typeface="Franklin Gothic Medium"/>
                          <a:cs typeface="Franklin Gothic Medium"/>
                        </a:rPr>
                        <a:t>activity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20" dirty="0">
                          <a:latin typeface="Franklin Gothic Medium"/>
                          <a:cs typeface="Franklin Gothic Medium"/>
                        </a:rPr>
                        <a:t>limitations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C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09296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25" dirty="0">
                          <a:latin typeface="Franklin Gothic Medium"/>
                          <a:cs typeface="Franklin Gothic Medium"/>
                        </a:rPr>
                        <a:t>Impairments</a:t>
                      </a:r>
                      <a:r>
                        <a:rPr sz="1350" spc="-2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–</a:t>
                      </a:r>
                      <a:r>
                        <a:rPr sz="1350" spc="-1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20" dirty="0">
                          <a:latin typeface="Franklin Gothic Medium"/>
                          <a:cs typeface="Franklin Gothic Medium"/>
                        </a:rPr>
                        <a:t>Freezing,</a:t>
                      </a:r>
                      <a:r>
                        <a:rPr sz="1350" spc="-25" dirty="0">
                          <a:latin typeface="Franklin Gothic Medium"/>
                          <a:cs typeface="Franklin Gothic Medium"/>
                        </a:rPr>
                        <a:t> rigidity,</a:t>
                      </a:r>
                      <a:r>
                        <a:rPr sz="1350" spc="-3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25" dirty="0">
                          <a:latin typeface="Franklin Gothic Medium"/>
                          <a:cs typeface="Franklin Gothic Medium"/>
                        </a:rPr>
                        <a:t>tremor, 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posture,</a:t>
                      </a:r>
                      <a:r>
                        <a:rPr sz="1350" spc="-2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balance,</a:t>
                      </a:r>
                      <a:r>
                        <a:rPr sz="1350" spc="-5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falls, </a:t>
                      </a:r>
                      <a:r>
                        <a:rPr sz="1350" spc="-25" dirty="0">
                          <a:latin typeface="Franklin Gothic Medium"/>
                          <a:cs typeface="Franklin Gothic Medium"/>
                        </a:rPr>
                        <a:t>Activity:</a:t>
                      </a:r>
                      <a:r>
                        <a:rPr sz="1350" spc="-6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transfers,</a:t>
                      </a:r>
                      <a:r>
                        <a:rPr sz="1350" spc="-2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reaching</a:t>
                      </a:r>
                      <a:r>
                        <a:rPr sz="1350" spc="-5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&amp;</a:t>
                      </a:r>
                      <a:r>
                        <a:rPr sz="1350" spc="-2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grasping,</a:t>
                      </a:r>
                      <a:r>
                        <a:rPr sz="1350" spc="-20" dirty="0">
                          <a:latin typeface="Franklin Gothic Medium"/>
                          <a:cs typeface="Franklin Gothic Medium"/>
                        </a:rPr>
                        <a:t> gait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Other:</a:t>
                      </a:r>
                      <a:r>
                        <a:rPr sz="1350" spc="-4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influence</a:t>
                      </a:r>
                      <a:r>
                        <a:rPr sz="1350" spc="-5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of</a:t>
                      </a:r>
                      <a:r>
                        <a:rPr sz="1350" spc="-3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tiredness,</a:t>
                      </a:r>
                      <a:r>
                        <a:rPr sz="1350" spc="-3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20" dirty="0">
                          <a:latin typeface="Franklin Gothic Medium"/>
                          <a:cs typeface="Franklin Gothic Medium"/>
                        </a:rPr>
                        <a:t>time</a:t>
                      </a:r>
                      <a:r>
                        <a:rPr sz="1350" spc="-2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of</a:t>
                      </a:r>
                      <a:r>
                        <a:rPr sz="1350" spc="-4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the</a:t>
                      </a:r>
                      <a:r>
                        <a:rPr sz="1350" spc="-2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20" dirty="0">
                          <a:latin typeface="Franklin Gothic Medium"/>
                          <a:cs typeface="Franklin Gothic Medium"/>
                        </a:rPr>
                        <a:t>day</a:t>
                      </a:r>
                      <a:r>
                        <a:rPr sz="1350" spc="-4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and</a:t>
                      </a:r>
                      <a:r>
                        <a:rPr sz="1350" spc="-3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20" dirty="0">
                          <a:latin typeface="Franklin Gothic Medium"/>
                          <a:cs typeface="Franklin Gothic Medium"/>
                        </a:rPr>
                        <a:t>medication</a:t>
                      </a:r>
                      <a:r>
                        <a:rPr sz="1350" spc="-4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on</a:t>
                      </a:r>
                      <a:r>
                        <a:rPr sz="1350" spc="-3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symptoms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25" dirty="0">
                          <a:latin typeface="Franklin Gothic Medium"/>
                          <a:cs typeface="Franklin Gothic Medium"/>
                        </a:rPr>
                        <a:t>Physical</a:t>
                      </a:r>
                      <a:r>
                        <a:rPr sz="1350" spc="-1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activity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B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20" dirty="0">
                          <a:latin typeface="Franklin Gothic Medium"/>
                          <a:cs typeface="Franklin Gothic Medium"/>
                        </a:rPr>
                        <a:t>Frequency,</a:t>
                      </a:r>
                      <a:r>
                        <a:rPr sz="1350" spc="-4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20" dirty="0">
                          <a:latin typeface="Franklin Gothic Medium"/>
                          <a:cs typeface="Franklin Gothic Medium"/>
                        </a:rPr>
                        <a:t>Intensity,</a:t>
                      </a:r>
                      <a:r>
                        <a:rPr sz="1350" spc="-1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Time</a:t>
                      </a:r>
                      <a:r>
                        <a:rPr sz="1350" spc="-4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and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30" dirty="0">
                          <a:latin typeface="Franklin Gothic Medium"/>
                          <a:cs typeface="Franklin Gothic Medium"/>
                        </a:rPr>
                        <a:t>Type</a:t>
                      </a:r>
                      <a:r>
                        <a:rPr sz="1350" spc="-4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(FITT)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41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Falls</a:t>
                      </a:r>
                      <a:r>
                        <a:rPr sz="1350" spc="-7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20" dirty="0">
                          <a:latin typeface="Franklin Gothic Medium"/>
                          <a:cs typeface="Franklin Gothic Medium"/>
                        </a:rPr>
                        <a:t>Risk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Incidence</a:t>
                      </a:r>
                      <a:r>
                        <a:rPr sz="1350" spc="-6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of</a:t>
                      </a:r>
                      <a:r>
                        <a:rPr sz="1350" spc="-4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falls</a:t>
                      </a:r>
                      <a:r>
                        <a:rPr sz="1350" spc="-4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and</a:t>
                      </a:r>
                      <a:r>
                        <a:rPr sz="1350" spc="-2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near</a:t>
                      </a:r>
                      <a:r>
                        <a:rPr sz="1350" spc="-4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falls</a:t>
                      </a:r>
                      <a:r>
                        <a:rPr sz="1350" spc="-3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–</a:t>
                      </a:r>
                      <a:r>
                        <a:rPr sz="1350" spc="-3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use</a:t>
                      </a:r>
                      <a:r>
                        <a:rPr sz="1350" spc="-3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history</a:t>
                      </a:r>
                      <a:r>
                        <a:rPr sz="1350" spc="-2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of</a:t>
                      </a:r>
                      <a:r>
                        <a:rPr sz="1350" spc="-5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fall</a:t>
                      </a:r>
                      <a:r>
                        <a:rPr sz="1350" spc="-4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questionnaire</a:t>
                      </a:r>
                      <a:r>
                        <a:rPr sz="1350" spc="-6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or</a:t>
                      </a:r>
                      <a:r>
                        <a:rPr sz="1350" spc="-2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Falls</a:t>
                      </a:r>
                      <a:r>
                        <a:rPr sz="1350" spc="-3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Efficacy</a:t>
                      </a:r>
                      <a:r>
                        <a:rPr sz="1350" spc="-6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Scale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41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Co-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Morbidity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BD9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444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Pressure</a:t>
                      </a:r>
                      <a:r>
                        <a:rPr sz="1350" spc="-3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sores,</a:t>
                      </a:r>
                      <a:r>
                        <a:rPr sz="1350" spc="-3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osteoporosis</a:t>
                      </a:r>
                      <a:r>
                        <a:rPr sz="1350" spc="-4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and</a:t>
                      </a:r>
                      <a:r>
                        <a:rPr sz="1350" spc="-3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25" dirty="0">
                          <a:latin typeface="Franklin Gothic Medium"/>
                          <a:cs typeface="Franklin Gothic Medium"/>
                        </a:rPr>
                        <a:t>mobility</a:t>
                      </a:r>
                      <a:r>
                        <a:rPr sz="1350" spc="-3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–</a:t>
                      </a:r>
                      <a:r>
                        <a:rPr sz="1350" spc="-25" dirty="0">
                          <a:latin typeface="Franklin Gothic Medium"/>
                          <a:cs typeface="Franklin Gothic Medium"/>
                        </a:rPr>
                        <a:t>limiting</a:t>
                      </a:r>
                      <a:r>
                        <a:rPr sz="1350" spc="-3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disorders</a:t>
                      </a:r>
                      <a:r>
                        <a:rPr sz="1350" spc="-4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e.g</a:t>
                      </a:r>
                      <a:r>
                        <a:rPr sz="1350" spc="-20" dirty="0">
                          <a:latin typeface="Franklin Gothic Medium"/>
                          <a:cs typeface="Franklin Gothic Medium"/>
                        </a:rPr>
                        <a:t> OA,</a:t>
                      </a:r>
                      <a:r>
                        <a:rPr sz="1350" spc="-1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20" dirty="0">
                          <a:latin typeface="Franklin Gothic Medium"/>
                          <a:cs typeface="Franklin Gothic Medium"/>
                        </a:rPr>
                        <a:t>RA, 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heart</a:t>
                      </a:r>
                      <a:r>
                        <a:rPr sz="1350" spc="-4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failure, COPD.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291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Treatment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Current</a:t>
                      </a:r>
                      <a:r>
                        <a:rPr sz="1350" spc="-3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20" dirty="0">
                          <a:latin typeface="Franklin Gothic Medium"/>
                          <a:cs typeface="Franklin Gothic Medium"/>
                        </a:rPr>
                        <a:t>treatment</a:t>
                      </a:r>
                      <a:r>
                        <a:rPr sz="1350" spc="-6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(e.g.</a:t>
                      </a:r>
                      <a:r>
                        <a:rPr sz="1350" spc="-2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20" dirty="0">
                          <a:latin typeface="Franklin Gothic Medium"/>
                          <a:cs typeface="Franklin Gothic Medium"/>
                        </a:rPr>
                        <a:t>medication</a:t>
                      </a:r>
                      <a:r>
                        <a:rPr sz="1350" spc="-5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OR</a:t>
                      </a:r>
                      <a:r>
                        <a:rPr sz="1350" spc="-4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20" dirty="0">
                          <a:latin typeface="Franklin Gothic Medium"/>
                          <a:cs typeface="Franklin Gothic Medium"/>
                        </a:rPr>
                        <a:t>Rehab</a:t>
                      </a:r>
                      <a:r>
                        <a:rPr sz="1350" spc="-4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&amp;</a:t>
                      </a:r>
                      <a:r>
                        <a:rPr sz="1350" spc="-3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outcome)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291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Other</a:t>
                      </a:r>
                      <a:r>
                        <a:rPr sz="1350" spc="-5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factors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B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Cognition,</a:t>
                      </a:r>
                      <a:r>
                        <a:rPr sz="1350" spc="-2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personal</a:t>
                      </a:r>
                      <a:r>
                        <a:rPr sz="1350" spc="-2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and</a:t>
                      </a:r>
                      <a:r>
                        <a:rPr sz="1350" spc="-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20" dirty="0">
                          <a:latin typeface="Franklin Gothic Medium"/>
                          <a:cs typeface="Franklin Gothic Medium"/>
                        </a:rPr>
                        <a:t>external</a:t>
                      </a:r>
                      <a:r>
                        <a:rPr sz="1350" spc="-3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factors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50442" y="298831"/>
            <a:ext cx="567372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>
                <a:solidFill>
                  <a:srgbClr val="CC0000"/>
                </a:solidFill>
              </a:rPr>
              <a:t>Examination</a:t>
            </a:r>
            <a:r>
              <a:rPr spc="-155" dirty="0">
                <a:solidFill>
                  <a:srgbClr val="CC0000"/>
                </a:solidFill>
              </a:rPr>
              <a:t> </a:t>
            </a:r>
            <a:r>
              <a:rPr dirty="0">
                <a:solidFill>
                  <a:srgbClr val="CC0000"/>
                </a:solidFill>
              </a:rPr>
              <a:t>of</a:t>
            </a:r>
            <a:r>
              <a:rPr spc="-130" dirty="0">
                <a:solidFill>
                  <a:srgbClr val="CC0000"/>
                </a:solidFill>
              </a:rPr>
              <a:t> </a:t>
            </a:r>
            <a:r>
              <a:rPr dirty="0">
                <a:solidFill>
                  <a:srgbClr val="CC0000"/>
                </a:solidFill>
              </a:rPr>
              <a:t>the</a:t>
            </a:r>
            <a:r>
              <a:rPr spc="-150" dirty="0">
                <a:solidFill>
                  <a:srgbClr val="CC0000"/>
                </a:solidFill>
              </a:rPr>
              <a:t> </a:t>
            </a:r>
            <a:r>
              <a:rPr spc="-10" dirty="0">
                <a:solidFill>
                  <a:srgbClr val="CC0000"/>
                </a:solidFill>
              </a:rPr>
              <a:t>client</a:t>
            </a:r>
            <a:r>
              <a:rPr spc="-145" dirty="0">
                <a:solidFill>
                  <a:srgbClr val="CC0000"/>
                </a:solidFill>
              </a:rPr>
              <a:t> </a:t>
            </a:r>
            <a:r>
              <a:rPr spc="-20" dirty="0">
                <a:solidFill>
                  <a:srgbClr val="CC0000"/>
                </a:solidFill>
              </a:rPr>
              <a:t>with</a:t>
            </a:r>
            <a:r>
              <a:rPr spc="-130" dirty="0">
                <a:solidFill>
                  <a:srgbClr val="CC0000"/>
                </a:solidFill>
              </a:rPr>
              <a:t> </a:t>
            </a:r>
            <a:r>
              <a:rPr spc="-25" dirty="0">
                <a:solidFill>
                  <a:srgbClr val="CC0000"/>
                </a:solidFill>
              </a:rPr>
              <a:t>PD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406" y="855370"/>
            <a:ext cx="8167370" cy="582739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396240" indent="-383540">
              <a:lnSpc>
                <a:spcPct val="100000"/>
              </a:lnSpc>
              <a:spcBef>
                <a:spcPts val="305"/>
              </a:spcBef>
              <a:buChar char="■"/>
              <a:tabLst>
                <a:tab pos="396240" algn="l"/>
              </a:tabLst>
            </a:pPr>
            <a:r>
              <a:rPr sz="16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Gait</a:t>
            </a:r>
            <a:r>
              <a:rPr sz="1600" spc="-9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assessment</a:t>
            </a:r>
            <a:endParaRPr sz="1600">
              <a:latin typeface="Franklin Gothic Medium"/>
              <a:cs typeface="Franklin Gothic Medium"/>
            </a:endParaRPr>
          </a:p>
          <a:p>
            <a:pPr marL="927100" lvl="1" indent="-384175">
              <a:lnSpc>
                <a:spcPct val="100000"/>
              </a:lnSpc>
              <a:spcBef>
                <a:spcPts val="200"/>
              </a:spcBef>
              <a:buFont typeface="Franklin Gothic Medium"/>
              <a:buChar char="–"/>
              <a:tabLst>
                <a:tab pos="927100" algn="l"/>
              </a:tabLst>
            </a:pPr>
            <a:r>
              <a:rPr sz="16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Speed</a:t>
            </a:r>
            <a:r>
              <a:rPr sz="1600" i="1" spc="-1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and</a:t>
            </a:r>
            <a:r>
              <a:rPr sz="1600" i="1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distance,</a:t>
            </a:r>
            <a:r>
              <a:rPr sz="1600" i="1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forward</a:t>
            </a:r>
            <a:r>
              <a:rPr sz="1600" i="1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and</a:t>
            </a:r>
            <a:r>
              <a:rPr sz="1600" i="1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backward </a:t>
            </a:r>
            <a:r>
              <a:rPr sz="16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,</a:t>
            </a:r>
            <a:r>
              <a:rPr sz="1600" i="1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stride</a:t>
            </a:r>
            <a:r>
              <a:rPr sz="1600" i="1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length,</a:t>
            </a:r>
            <a:r>
              <a:rPr sz="1600" i="1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cadence</a:t>
            </a:r>
            <a:endParaRPr sz="1600">
              <a:latin typeface="Franklin Gothic Medium"/>
              <a:cs typeface="Franklin Gothic Medium"/>
            </a:endParaRPr>
          </a:p>
          <a:p>
            <a:pPr marL="927100" lvl="1" indent="-384175">
              <a:lnSpc>
                <a:spcPct val="100000"/>
              </a:lnSpc>
              <a:spcBef>
                <a:spcPts val="195"/>
              </a:spcBef>
              <a:buFont typeface="Franklin Gothic Medium"/>
              <a:buChar char="–"/>
              <a:tabLst>
                <a:tab pos="927100" algn="l"/>
              </a:tabLst>
            </a:pPr>
            <a:r>
              <a:rPr sz="1600" i="1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Ability</a:t>
            </a:r>
            <a:r>
              <a:rPr sz="1600" i="1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to</a:t>
            </a:r>
            <a:r>
              <a:rPr sz="1600" i="1" spc="-9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alter</a:t>
            </a:r>
            <a:r>
              <a:rPr sz="1600" i="1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speed</a:t>
            </a:r>
            <a:endParaRPr sz="1600">
              <a:latin typeface="Franklin Gothic Medium"/>
              <a:cs typeface="Franklin Gothic Medium"/>
            </a:endParaRPr>
          </a:p>
          <a:p>
            <a:pPr lvl="1">
              <a:lnSpc>
                <a:spcPct val="100000"/>
              </a:lnSpc>
              <a:spcBef>
                <a:spcPts val="480"/>
              </a:spcBef>
              <a:buClr>
                <a:srgbClr val="181B0D"/>
              </a:buClr>
              <a:buFont typeface="Franklin Gothic Medium"/>
              <a:buChar char="–"/>
            </a:pPr>
            <a:endParaRPr sz="16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buChar char="■"/>
              <a:tabLst>
                <a:tab pos="396240" algn="l"/>
              </a:tabLst>
            </a:pPr>
            <a:r>
              <a:rPr sz="16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Transfers</a:t>
            </a:r>
            <a:endParaRPr sz="1600">
              <a:latin typeface="Franklin Gothic Medium"/>
              <a:cs typeface="Franklin Gothic Medium"/>
            </a:endParaRPr>
          </a:p>
          <a:p>
            <a:pPr marL="927100" marR="5080" lvl="1" indent="-384810">
              <a:lnSpc>
                <a:spcPct val="73700"/>
              </a:lnSpc>
              <a:spcBef>
                <a:spcPts val="710"/>
              </a:spcBef>
              <a:buFont typeface="Franklin Gothic Medium"/>
              <a:buChar char="–"/>
              <a:tabLst>
                <a:tab pos="927100" algn="l"/>
              </a:tabLst>
            </a:pPr>
            <a:r>
              <a:rPr sz="16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sitting,</a:t>
            </a:r>
            <a:r>
              <a:rPr sz="1600" i="1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sit</a:t>
            </a:r>
            <a:r>
              <a:rPr sz="1600" i="1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to</a:t>
            </a:r>
            <a:r>
              <a:rPr sz="1600" i="1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stand,</a:t>
            </a:r>
            <a:r>
              <a:rPr sz="1600" i="1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stand</a:t>
            </a:r>
            <a:r>
              <a:rPr sz="1600" i="1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to</a:t>
            </a:r>
            <a:r>
              <a:rPr sz="1600" i="1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sit,</a:t>
            </a:r>
            <a:r>
              <a:rPr sz="1600" i="1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lying</a:t>
            </a:r>
            <a:r>
              <a:rPr sz="1600" i="1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to</a:t>
            </a:r>
            <a:r>
              <a:rPr sz="1600" i="1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sitting</a:t>
            </a:r>
            <a:r>
              <a:rPr sz="1600" i="1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and</a:t>
            </a:r>
            <a:r>
              <a:rPr sz="1600" i="1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back</a:t>
            </a:r>
            <a:r>
              <a:rPr sz="1600" i="1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again,</a:t>
            </a:r>
            <a:r>
              <a:rPr sz="1600" i="1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rolling</a:t>
            </a:r>
            <a:r>
              <a:rPr sz="1600" i="1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</a:t>
            </a:r>
            <a:r>
              <a:rPr sz="1600" i="1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bed,</a:t>
            </a:r>
            <a:r>
              <a:rPr sz="1600" i="1" spc="3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getting </a:t>
            </a:r>
            <a:r>
              <a:rPr sz="16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</a:t>
            </a:r>
            <a:r>
              <a:rPr sz="1600" i="1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and</a:t>
            </a:r>
            <a:r>
              <a:rPr sz="1600" i="1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out</a:t>
            </a:r>
            <a:r>
              <a:rPr sz="1600" i="1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</a:t>
            </a:r>
            <a:r>
              <a:rPr sz="1600" i="1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car</a:t>
            </a:r>
            <a:endParaRPr sz="1600">
              <a:latin typeface="Franklin Gothic Medium"/>
              <a:cs typeface="Franklin Gothic Medium"/>
            </a:endParaRPr>
          </a:p>
          <a:p>
            <a:pPr lvl="1">
              <a:lnSpc>
                <a:spcPct val="100000"/>
              </a:lnSpc>
              <a:spcBef>
                <a:spcPts val="475"/>
              </a:spcBef>
              <a:buClr>
                <a:srgbClr val="181B0D"/>
              </a:buClr>
              <a:buFont typeface="Franklin Gothic Medium"/>
              <a:buChar char="–"/>
            </a:pPr>
            <a:endParaRPr sz="16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buChar char="■"/>
              <a:tabLst>
                <a:tab pos="396240" algn="l"/>
              </a:tabLst>
            </a:pPr>
            <a:r>
              <a:rPr sz="16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Passive</a:t>
            </a:r>
            <a:r>
              <a:rPr sz="16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ROM</a:t>
            </a:r>
            <a:endParaRPr sz="1600">
              <a:latin typeface="Franklin Gothic Medium"/>
              <a:cs typeface="Franklin Gothic Medium"/>
            </a:endParaRPr>
          </a:p>
          <a:p>
            <a:pPr marL="927100" lvl="1" indent="-384175">
              <a:lnSpc>
                <a:spcPct val="100000"/>
              </a:lnSpc>
              <a:spcBef>
                <a:spcPts val="209"/>
              </a:spcBef>
              <a:buFont typeface="Franklin Gothic Medium"/>
              <a:buChar char="–"/>
              <a:tabLst>
                <a:tab pos="927100" algn="l"/>
              </a:tabLst>
            </a:pPr>
            <a:r>
              <a:rPr sz="16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Spine,</a:t>
            </a:r>
            <a:r>
              <a:rPr sz="1600" i="1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UL</a:t>
            </a:r>
            <a:r>
              <a:rPr sz="1600" i="1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&amp;</a:t>
            </a:r>
            <a:r>
              <a:rPr sz="1600" i="1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LL</a:t>
            </a:r>
            <a:r>
              <a:rPr sz="1600" i="1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joints,</a:t>
            </a:r>
            <a:r>
              <a:rPr sz="1600" i="1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muscles</a:t>
            </a:r>
            <a:r>
              <a:rPr sz="1600" i="1" spc="-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–</a:t>
            </a:r>
            <a:r>
              <a:rPr sz="1600" i="1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calf,</a:t>
            </a:r>
            <a:r>
              <a:rPr sz="1600" i="1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hamstrings</a:t>
            </a:r>
            <a:r>
              <a:rPr sz="1600" i="1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etc</a:t>
            </a:r>
            <a:endParaRPr sz="1600">
              <a:latin typeface="Franklin Gothic Medium"/>
              <a:cs typeface="Franklin Gothic Medium"/>
            </a:endParaRPr>
          </a:p>
          <a:p>
            <a:pPr lvl="1">
              <a:lnSpc>
                <a:spcPct val="100000"/>
              </a:lnSpc>
              <a:spcBef>
                <a:spcPts val="475"/>
              </a:spcBef>
              <a:buClr>
                <a:srgbClr val="181B0D"/>
              </a:buClr>
              <a:buFont typeface="Franklin Gothic Medium"/>
              <a:buChar char="–"/>
            </a:pPr>
            <a:endParaRPr sz="16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buChar char="■"/>
              <a:tabLst>
                <a:tab pos="396240" algn="l"/>
              </a:tabLst>
            </a:pPr>
            <a:r>
              <a:rPr sz="16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Postural</a:t>
            </a:r>
            <a:r>
              <a:rPr sz="1600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alignment</a:t>
            </a:r>
            <a:endParaRPr sz="1600">
              <a:latin typeface="Franklin Gothic Medium"/>
              <a:cs typeface="Franklin Gothic Medium"/>
            </a:endParaRPr>
          </a:p>
          <a:p>
            <a:pPr marL="927100" lvl="1" indent="-384175">
              <a:lnSpc>
                <a:spcPct val="100000"/>
              </a:lnSpc>
              <a:spcBef>
                <a:spcPts val="195"/>
              </a:spcBef>
              <a:buFont typeface="Franklin Gothic Medium"/>
              <a:buChar char="–"/>
              <a:tabLst>
                <a:tab pos="927100" algn="l"/>
              </a:tabLst>
            </a:pPr>
            <a:r>
              <a:rPr sz="16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Tragus</a:t>
            </a:r>
            <a:r>
              <a:rPr sz="1600" i="1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to</a:t>
            </a:r>
            <a:r>
              <a:rPr sz="1600" i="1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wall</a:t>
            </a:r>
            <a:r>
              <a:rPr sz="1600" i="1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distance</a:t>
            </a:r>
            <a:endParaRPr sz="1600">
              <a:latin typeface="Franklin Gothic Medium"/>
              <a:cs typeface="Franklin Gothic Medium"/>
            </a:endParaRPr>
          </a:p>
          <a:p>
            <a:pPr lvl="1">
              <a:lnSpc>
                <a:spcPct val="100000"/>
              </a:lnSpc>
              <a:spcBef>
                <a:spcPts val="475"/>
              </a:spcBef>
              <a:buClr>
                <a:srgbClr val="181B0D"/>
              </a:buClr>
              <a:buFont typeface="Franklin Gothic Medium"/>
              <a:buChar char="–"/>
            </a:pPr>
            <a:endParaRPr sz="16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spcBef>
                <a:spcPts val="5"/>
              </a:spcBef>
              <a:buChar char="■"/>
              <a:tabLst>
                <a:tab pos="396240" algn="l"/>
              </a:tabLst>
            </a:pPr>
            <a:r>
              <a:rPr sz="16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General</a:t>
            </a:r>
            <a:r>
              <a:rPr sz="16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Strength</a:t>
            </a:r>
            <a:endParaRPr sz="1600">
              <a:latin typeface="Franklin Gothic Medium"/>
              <a:cs typeface="Franklin Gothic Medium"/>
            </a:endParaRPr>
          </a:p>
          <a:p>
            <a:pPr marL="927100" lvl="1" indent="-384175">
              <a:lnSpc>
                <a:spcPct val="100000"/>
              </a:lnSpc>
              <a:spcBef>
                <a:spcPts val="200"/>
              </a:spcBef>
              <a:buFont typeface="Franklin Gothic Medium"/>
              <a:buChar char="–"/>
              <a:tabLst>
                <a:tab pos="927100" algn="l"/>
              </a:tabLst>
            </a:pPr>
            <a:r>
              <a:rPr sz="16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Trunk,</a:t>
            </a:r>
            <a:r>
              <a:rPr sz="1600" i="1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knee,</a:t>
            </a:r>
            <a:r>
              <a:rPr sz="1600" i="1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ankle,</a:t>
            </a:r>
            <a:r>
              <a:rPr sz="1600" i="1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hip</a:t>
            </a:r>
            <a:r>
              <a:rPr sz="1600" i="1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muscle</a:t>
            </a:r>
            <a:r>
              <a:rPr sz="1600" i="1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groups</a:t>
            </a:r>
            <a:r>
              <a:rPr sz="1600" i="1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etc</a:t>
            </a:r>
            <a:endParaRPr sz="1600">
              <a:latin typeface="Franklin Gothic Medium"/>
              <a:cs typeface="Franklin Gothic Medium"/>
            </a:endParaRPr>
          </a:p>
          <a:p>
            <a:pPr lvl="1">
              <a:lnSpc>
                <a:spcPct val="100000"/>
              </a:lnSpc>
              <a:spcBef>
                <a:spcPts val="480"/>
              </a:spcBef>
              <a:buClr>
                <a:srgbClr val="181B0D"/>
              </a:buClr>
              <a:buFont typeface="Franklin Gothic Medium"/>
              <a:buChar char="–"/>
            </a:pPr>
            <a:endParaRPr sz="16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buChar char="■"/>
              <a:tabLst>
                <a:tab pos="396240" algn="l"/>
              </a:tabLst>
            </a:pPr>
            <a:r>
              <a:rPr sz="16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Chest</a:t>
            </a:r>
            <a:r>
              <a:rPr sz="16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expansion</a:t>
            </a:r>
            <a:endParaRPr sz="1600">
              <a:latin typeface="Franklin Gothic Medium"/>
              <a:cs typeface="Franklin Gothic Medium"/>
            </a:endParaRPr>
          </a:p>
          <a:p>
            <a:pPr marL="927100" lvl="1" indent="-384175">
              <a:lnSpc>
                <a:spcPct val="100000"/>
              </a:lnSpc>
              <a:spcBef>
                <a:spcPts val="190"/>
              </a:spcBef>
              <a:buFont typeface="Franklin Gothic Medium"/>
              <a:buChar char="–"/>
              <a:tabLst>
                <a:tab pos="927100" algn="l"/>
              </a:tabLst>
            </a:pPr>
            <a:r>
              <a:rPr sz="1600" i="1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Functional</a:t>
            </a:r>
            <a:r>
              <a:rPr sz="1600" i="1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capacity</a:t>
            </a:r>
            <a:r>
              <a:rPr sz="1600" i="1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and</a:t>
            </a:r>
            <a:r>
              <a:rPr sz="1600" i="1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vital</a:t>
            </a:r>
            <a:r>
              <a:rPr sz="1600" i="1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capacity</a:t>
            </a:r>
            <a:endParaRPr sz="1600">
              <a:latin typeface="Franklin Gothic Medium"/>
              <a:cs typeface="Franklin Gothic Medium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181B0D"/>
              </a:buClr>
              <a:buFont typeface="Franklin Gothic Medium"/>
              <a:buChar char="–"/>
            </a:pPr>
            <a:endParaRPr sz="16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buChar char="■"/>
              <a:tabLst>
                <a:tab pos="396240" algn="l"/>
              </a:tabLst>
            </a:pPr>
            <a:r>
              <a:rPr sz="16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Balance</a:t>
            </a:r>
            <a:endParaRPr sz="1600">
              <a:latin typeface="Franklin Gothic Medium"/>
              <a:cs typeface="Franklin Gothic Medium"/>
            </a:endParaRPr>
          </a:p>
          <a:p>
            <a:pPr marL="977265" lvl="1" indent="-434340">
              <a:lnSpc>
                <a:spcPct val="100000"/>
              </a:lnSpc>
              <a:spcBef>
                <a:spcPts val="190"/>
              </a:spcBef>
              <a:buFont typeface="Franklin Gothic Medium"/>
              <a:buChar char="–"/>
              <a:tabLst>
                <a:tab pos="977265" algn="l"/>
              </a:tabLst>
            </a:pPr>
            <a:r>
              <a:rPr sz="16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static</a:t>
            </a:r>
            <a:r>
              <a:rPr sz="1600" i="1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&amp;</a:t>
            </a:r>
            <a:r>
              <a:rPr sz="1600" i="1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dynamic</a:t>
            </a:r>
            <a:r>
              <a:rPr sz="1600" i="1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balance,</a:t>
            </a:r>
            <a:r>
              <a:rPr sz="1600" i="1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multi-</a:t>
            </a:r>
            <a:r>
              <a:rPr sz="16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tasking,</a:t>
            </a:r>
            <a:r>
              <a:rPr sz="1600" i="1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freezing</a:t>
            </a:r>
            <a:r>
              <a:rPr sz="1600" i="1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-</a:t>
            </a:r>
            <a:r>
              <a:rPr sz="1600" i="1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causes</a:t>
            </a:r>
            <a:endParaRPr sz="16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181B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433184" y="1413459"/>
            <a:ext cx="2048510" cy="716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20"/>
              </a:lnSpc>
              <a:spcBef>
                <a:spcPts val="100"/>
              </a:spcBef>
            </a:pPr>
            <a:r>
              <a:rPr sz="2400" spc="-10" dirty="0">
                <a:solidFill>
                  <a:srgbClr val="EEECE2"/>
                </a:solidFill>
              </a:rPr>
              <a:t>Quick</a:t>
            </a:r>
            <a:r>
              <a:rPr sz="2400" spc="-125" dirty="0">
                <a:solidFill>
                  <a:srgbClr val="EEECE2"/>
                </a:solidFill>
              </a:rPr>
              <a:t> </a:t>
            </a:r>
            <a:r>
              <a:rPr sz="2400" spc="-10" dirty="0">
                <a:solidFill>
                  <a:srgbClr val="EEECE2"/>
                </a:solidFill>
              </a:rPr>
              <a:t>diagnosis</a:t>
            </a:r>
            <a:endParaRPr sz="2400"/>
          </a:p>
          <a:p>
            <a:pPr marL="12700">
              <a:lnSpc>
                <a:spcPts val="2720"/>
              </a:lnSpc>
            </a:pPr>
            <a:r>
              <a:rPr sz="2400" spc="-20" dirty="0">
                <a:solidFill>
                  <a:srgbClr val="EEECE2"/>
                </a:solidFill>
              </a:rPr>
              <a:t>card</a:t>
            </a:r>
            <a:endParaRPr sz="24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5703" y="899629"/>
            <a:ext cx="5175250" cy="505879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433184" y="2301367"/>
            <a:ext cx="2124075" cy="10414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ts val="1625"/>
              </a:lnSpc>
              <a:spcBef>
                <a:spcPts val="105"/>
              </a:spcBef>
            </a:pPr>
            <a:r>
              <a:rPr sz="1400" u="sng" spc="-20" dirty="0">
                <a:solidFill>
                  <a:srgbClr val="77A1BA"/>
                </a:solidFill>
                <a:uFill>
                  <a:solidFill>
                    <a:srgbClr val="77A1BA"/>
                  </a:solidFill>
                </a:uFill>
                <a:latin typeface="Franklin Gothic Medium"/>
                <a:cs typeface="Franklin Gothic Medium"/>
                <a:hlinkClick r:id="rId3"/>
              </a:rPr>
              <a:t>https://www.parkinsons.org</a:t>
            </a:r>
            <a:endParaRPr sz="1400">
              <a:latin typeface="Franklin Gothic Medium"/>
              <a:cs typeface="Franklin Gothic Medium"/>
            </a:endParaRPr>
          </a:p>
          <a:p>
            <a:pPr marR="56515" algn="r">
              <a:lnSpc>
                <a:spcPts val="1580"/>
              </a:lnSpc>
            </a:pPr>
            <a:r>
              <a:rPr sz="1400" u="sng" spc="-10" dirty="0">
                <a:solidFill>
                  <a:srgbClr val="77A1BA"/>
                </a:solidFill>
                <a:uFill>
                  <a:solidFill>
                    <a:srgbClr val="77A1BA"/>
                  </a:solidFill>
                </a:uFill>
                <a:latin typeface="Franklin Gothic Medium"/>
                <a:cs typeface="Franklin Gothic Medium"/>
                <a:hlinkClick r:id="rId3"/>
              </a:rPr>
              <a:t>.uk/sites/default/files</a:t>
            </a:r>
            <a:endParaRPr sz="1400">
              <a:latin typeface="Franklin Gothic Medium"/>
              <a:cs typeface="Franklin Gothic Medium"/>
            </a:endParaRPr>
          </a:p>
          <a:p>
            <a:pPr marL="396875">
              <a:lnSpc>
                <a:spcPts val="1585"/>
              </a:lnSpc>
            </a:pPr>
            <a:r>
              <a:rPr sz="1400" u="sng" spc="-10" dirty="0">
                <a:solidFill>
                  <a:srgbClr val="77A1BA"/>
                </a:solidFill>
                <a:uFill>
                  <a:solidFill>
                    <a:srgbClr val="77A1BA"/>
                  </a:solidFill>
                </a:uFill>
                <a:latin typeface="Franklin Gothic Medium"/>
                <a:cs typeface="Franklin Gothic Medium"/>
                <a:hlinkClick r:id="rId3"/>
              </a:rPr>
              <a:t>/2017-</a:t>
            </a:r>
            <a:endParaRPr sz="1400">
              <a:latin typeface="Franklin Gothic Medium"/>
              <a:cs typeface="Franklin Gothic Medium"/>
            </a:endParaRPr>
          </a:p>
          <a:p>
            <a:pPr marL="396875">
              <a:lnSpc>
                <a:spcPts val="1580"/>
              </a:lnSpc>
            </a:pPr>
            <a:r>
              <a:rPr sz="1400" u="sng" spc="-10" dirty="0">
                <a:solidFill>
                  <a:srgbClr val="77A1BA"/>
                </a:solidFill>
                <a:uFill>
                  <a:solidFill>
                    <a:srgbClr val="77A1BA"/>
                  </a:solidFill>
                </a:uFill>
                <a:latin typeface="Franklin Gothic Medium"/>
                <a:cs typeface="Franklin Gothic Medium"/>
                <a:hlinkClick r:id="rId3"/>
              </a:rPr>
              <a:t>12/quickreferencecar</a:t>
            </a:r>
            <a:endParaRPr sz="1400">
              <a:latin typeface="Franklin Gothic Medium"/>
              <a:cs typeface="Franklin Gothic Medium"/>
            </a:endParaRPr>
          </a:p>
          <a:p>
            <a:pPr marL="396875">
              <a:lnSpc>
                <a:spcPts val="1625"/>
              </a:lnSpc>
            </a:pPr>
            <a:r>
              <a:rPr sz="1400" u="sng" spc="-10" dirty="0">
                <a:solidFill>
                  <a:srgbClr val="77A1BA"/>
                </a:solidFill>
                <a:uFill>
                  <a:solidFill>
                    <a:srgbClr val="77A1BA"/>
                  </a:solidFill>
                </a:uFill>
                <a:latin typeface="Franklin Gothic Medium"/>
                <a:cs typeface="Franklin Gothic Medium"/>
                <a:hlinkClick r:id="rId3"/>
              </a:rPr>
              <a:t>ds_physio.pdf</a:t>
            </a:r>
            <a:endParaRPr sz="1400">
              <a:latin typeface="Franklin Gothic Medium"/>
              <a:cs typeface="Franklin Gothic Medium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987542" y="640079"/>
            <a:ext cx="1722120" cy="3675379"/>
          </a:xfrm>
          <a:custGeom>
            <a:avLst/>
            <a:gdLst/>
            <a:ahLst/>
            <a:cxnLst/>
            <a:rect l="l" t="t" r="r" b="b"/>
            <a:pathLst>
              <a:path w="1722120" h="3675379">
                <a:moveTo>
                  <a:pt x="1721980" y="320040"/>
                </a:moveTo>
                <a:lnTo>
                  <a:pt x="1721891" y="266700"/>
                </a:lnTo>
                <a:lnTo>
                  <a:pt x="1721764" y="266700"/>
                </a:lnTo>
                <a:lnTo>
                  <a:pt x="1721764" y="0"/>
                </a:lnTo>
                <a:lnTo>
                  <a:pt x="0" y="0"/>
                </a:lnTo>
                <a:lnTo>
                  <a:pt x="0" y="266700"/>
                </a:lnTo>
                <a:lnTo>
                  <a:pt x="0" y="320040"/>
                </a:lnTo>
                <a:lnTo>
                  <a:pt x="0" y="321310"/>
                </a:lnTo>
                <a:lnTo>
                  <a:pt x="0" y="3675380"/>
                </a:lnTo>
                <a:lnTo>
                  <a:pt x="213360" y="3675380"/>
                </a:lnTo>
                <a:lnTo>
                  <a:pt x="213360" y="321310"/>
                </a:lnTo>
                <a:lnTo>
                  <a:pt x="213360" y="320040"/>
                </a:lnTo>
                <a:lnTo>
                  <a:pt x="548601" y="320040"/>
                </a:lnTo>
                <a:lnTo>
                  <a:pt x="548601" y="321310"/>
                </a:lnTo>
                <a:lnTo>
                  <a:pt x="1721980" y="321310"/>
                </a:lnTo>
                <a:lnTo>
                  <a:pt x="1721980" y="320040"/>
                </a:lnTo>
                <a:close/>
              </a:path>
            </a:pathLst>
          </a:custGeom>
          <a:solidFill>
            <a:srgbClr val="EEECE2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4023" rIns="0" bIns="0" rtlCol="0">
            <a:spAutoFit/>
          </a:bodyPr>
          <a:lstStyle/>
          <a:p>
            <a:pPr marL="509270">
              <a:lnSpc>
                <a:spcPct val="100000"/>
              </a:lnSpc>
              <a:spcBef>
                <a:spcPts val="105"/>
              </a:spcBef>
            </a:pPr>
            <a:r>
              <a:rPr spc="-30" dirty="0">
                <a:solidFill>
                  <a:srgbClr val="CC0000"/>
                </a:solidFill>
              </a:rPr>
              <a:t>Outcome</a:t>
            </a:r>
            <a:r>
              <a:rPr spc="-145" dirty="0">
                <a:solidFill>
                  <a:srgbClr val="CC0000"/>
                </a:solidFill>
              </a:rPr>
              <a:t> </a:t>
            </a:r>
            <a:r>
              <a:rPr spc="-10" dirty="0">
                <a:solidFill>
                  <a:srgbClr val="CC0000"/>
                </a:solidFill>
              </a:rPr>
              <a:t>measures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99328" y="6481673"/>
            <a:ext cx="25704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PD-</a:t>
            </a:r>
            <a:r>
              <a:rPr sz="1800" dirty="0">
                <a:latin typeface="Arial"/>
                <a:cs typeface="Arial"/>
              </a:rPr>
              <a:t>EDGE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TASK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FORCE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11555" y="1417700"/>
            <a:ext cx="8207375" cy="4507230"/>
            <a:chOff x="611555" y="1417700"/>
            <a:chExt cx="8207375" cy="45072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1555" y="1417700"/>
              <a:ext cx="8206994" cy="450684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45807" y="5080787"/>
              <a:ext cx="5688965" cy="719455"/>
            </a:xfrm>
            <a:custGeom>
              <a:avLst/>
              <a:gdLst/>
              <a:ahLst/>
              <a:cxnLst/>
              <a:rect l="l" t="t" r="r" b="b"/>
              <a:pathLst>
                <a:path w="5688965" h="719454">
                  <a:moveTo>
                    <a:pt x="5688584" y="0"/>
                  </a:moveTo>
                  <a:lnTo>
                    <a:pt x="0" y="0"/>
                  </a:lnTo>
                  <a:lnTo>
                    <a:pt x="0" y="719137"/>
                  </a:lnTo>
                  <a:lnTo>
                    <a:pt x="5688584" y="719137"/>
                  </a:lnTo>
                  <a:lnTo>
                    <a:pt x="56885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57759" y="480059"/>
            <a:ext cx="8428990" cy="5897880"/>
            <a:chOff x="357759" y="480059"/>
            <a:chExt cx="8428990" cy="5897880"/>
          </a:xfrm>
        </p:grpSpPr>
        <p:sp>
          <p:nvSpPr>
            <p:cNvPr id="4" name="object 4"/>
            <p:cNvSpPr/>
            <p:nvPr/>
          </p:nvSpPr>
          <p:spPr>
            <a:xfrm>
              <a:off x="357759" y="480059"/>
              <a:ext cx="8428990" cy="5897880"/>
            </a:xfrm>
            <a:custGeom>
              <a:avLst/>
              <a:gdLst/>
              <a:ahLst/>
              <a:cxnLst/>
              <a:rect l="l" t="t" r="r" b="b"/>
              <a:pathLst>
                <a:path w="8428990" h="5897880">
                  <a:moveTo>
                    <a:pt x="8428482" y="0"/>
                  </a:moveTo>
                  <a:lnTo>
                    <a:pt x="0" y="0"/>
                  </a:lnTo>
                  <a:lnTo>
                    <a:pt x="0" y="5897880"/>
                  </a:lnTo>
                  <a:lnTo>
                    <a:pt x="8428482" y="5897880"/>
                  </a:lnTo>
                  <a:lnTo>
                    <a:pt x="84284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7463" y="1008367"/>
              <a:ext cx="7969122" cy="484124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5969889" y="5933033"/>
            <a:ext cx="22974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Franklin Gothic Medium"/>
                <a:cs typeface="Franklin Gothic Medium"/>
              </a:rPr>
              <a:t>Jenkinson</a:t>
            </a:r>
            <a:r>
              <a:rPr sz="1800" spc="-40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C</a:t>
            </a:r>
            <a:r>
              <a:rPr sz="1800" spc="-45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et</a:t>
            </a:r>
            <a:r>
              <a:rPr sz="1800" spc="-40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al.</a:t>
            </a:r>
            <a:r>
              <a:rPr sz="1800" spc="-35" dirty="0">
                <a:latin typeface="Franklin Gothic Medium"/>
                <a:cs typeface="Franklin Gothic Medium"/>
              </a:rPr>
              <a:t> </a:t>
            </a:r>
            <a:r>
              <a:rPr sz="1800" spc="-20" dirty="0">
                <a:latin typeface="Franklin Gothic Medium"/>
                <a:cs typeface="Franklin Gothic Medium"/>
              </a:rPr>
              <a:t>2007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9590" y="299161"/>
            <a:ext cx="78193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CC0000"/>
                </a:solidFill>
              </a:rPr>
              <a:t>Phases,</a:t>
            </a:r>
            <a:r>
              <a:rPr spc="-190" dirty="0">
                <a:solidFill>
                  <a:srgbClr val="CC0000"/>
                </a:solidFill>
              </a:rPr>
              <a:t> </a:t>
            </a:r>
            <a:r>
              <a:rPr spc="-20" dirty="0">
                <a:solidFill>
                  <a:srgbClr val="CC0000"/>
                </a:solidFill>
              </a:rPr>
              <a:t>physio</a:t>
            </a:r>
            <a:r>
              <a:rPr spc="-175" dirty="0">
                <a:solidFill>
                  <a:srgbClr val="CC0000"/>
                </a:solidFill>
              </a:rPr>
              <a:t> </a:t>
            </a:r>
            <a:r>
              <a:rPr spc="-10" dirty="0">
                <a:solidFill>
                  <a:srgbClr val="CC0000"/>
                </a:solidFill>
              </a:rPr>
              <a:t>goals</a:t>
            </a:r>
            <a:r>
              <a:rPr spc="-180" dirty="0">
                <a:solidFill>
                  <a:srgbClr val="CC0000"/>
                </a:solidFill>
              </a:rPr>
              <a:t> </a:t>
            </a:r>
            <a:r>
              <a:rPr dirty="0">
                <a:solidFill>
                  <a:srgbClr val="CC0000"/>
                </a:solidFill>
              </a:rPr>
              <a:t>&amp;</a:t>
            </a:r>
            <a:r>
              <a:rPr spc="-150" dirty="0">
                <a:solidFill>
                  <a:srgbClr val="CC0000"/>
                </a:solidFill>
              </a:rPr>
              <a:t> </a:t>
            </a:r>
            <a:r>
              <a:rPr dirty="0">
                <a:solidFill>
                  <a:srgbClr val="CC0000"/>
                </a:solidFill>
              </a:rPr>
              <a:t>possible</a:t>
            </a:r>
            <a:r>
              <a:rPr spc="-185" dirty="0">
                <a:solidFill>
                  <a:srgbClr val="CC0000"/>
                </a:solidFill>
              </a:rPr>
              <a:t> </a:t>
            </a:r>
            <a:r>
              <a:rPr spc="-10" dirty="0">
                <a:solidFill>
                  <a:srgbClr val="CC0000"/>
                </a:solidFill>
              </a:rPr>
              <a:t>interventions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9559" y="1188688"/>
            <a:ext cx="2225040" cy="177609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687705">
              <a:lnSpc>
                <a:spcPct val="100000"/>
              </a:lnSpc>
              <a:spcBef>
                <a:spcPts val="675"/>
              </a:spcBef>
            </a:pPr>
            <a:r>
              <a:rPr sz="2400" dirty="0">
                <a:solidFill>
                  <a:srgbClr val="FF0000"/>
                </a:solidFill>
                <a:latin typeface="Franklin Gothic Medium"/>
                <a:cs typeface="Franklin Gothic Medium"/>
              </a:rPr>
              <a:t>HY</a:t>
            </a:r>
            <a:r>
              <a:rPr sz="2400" spc="-45" dirty="0">
                <a:solidFill>
                  <a:srgbClr val="FF0000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FF0000"/>
                </a:solidFill>
                <a:latin typeface="Franklin Gothic Medium"/>
                <a:cs typeface="Franklin Gothic Medium"/>
              </a:rPr>
              <a:t>1</a:t>
            </a:r>
            <a:r>
              <a:rPr sz="2400" spc="-15" dirty="0">
                <a:solidFill>
                  <a:srgbClr val="FF0000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FF0000"/>
                </a:solidFill>
                <a:latin typeface="Franklin Gothic Medium"/>
                <a:cs typeface="Franklin Gothic Medium"/>
              </a:rPr>
              <a:t>-</a:t>
            </a:r>
            <a:r>
              <a:rPr sz="2400" spc="-15" dirty="0">
                <a:solidFill>
                  <a:srgbClr val="FF0000"/>
                </a:solidFill>
                <a:latin typeface="Franklin Gothic Medium"/>
                <a:cs typeface="Franklin Gothic Medium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Franklin Gothic Medium"/>
                <a:cs typeface="Franklin Gothic Medium"/>
              </a:rPr>
              <a:t>2.5</a:t>
            </a:r>
            <a:endParaRPr sz="2400">
              <a:latin typeface="Franklin Gothic Medium"/>
              <a:cs typeface="Franklin Gothic Medium"/>
            </a:endParaRPr>
          </a:p>
          <a:p>
            <a:pPr marL="396240" marR="5080" indent="-384175">
              <a:lnSpc>
                <a:spcPct val="120000"/>
              </a:lnSpc>
              <a:spcBef>
                <a:spcPts val="5"/>
              </a:spcBef>
            </a:pPr>
            <a:r>
              <a:rPr sz="2000" spc="-40" dirty="0">
                <a:solidFill>
                  <a:srgbClr val="000066"/>
                </a:solidFill>
                <a:latin typeface="Franklin Gothic Medium"/>
                <a:cs typeface="Franklin Gothic Medium"/>
              </a:rPr>
              <a:t>Treatment</a:t>
            </a:r>
            <a:r>
              <a:rPr sz="2000" spc="-65" dirty="0">
                <a:solidFill>
                  <a:srgbClr val="000066"/>
                </a:solidFill>
                <a:latin typeface="Franklin Gothic Medium"/>
                <a:cs typeface="Franklin Gothic Medium"/>
              </a:rPr>
              <a:t> </a:t>
            </a:r>
            <a:r>
              <a:rPr sz="2000" spc="-20" dirty="0">
                <a:solidFill>
                  <a:srgbClr val="000066"/>
                </a:solidFill>
                <a:latin typeface="Franklin Gothic Medium"/>
                <a:cs typeface="Franklin Gothic Medium"/>
              </a:rPr>
              <a:t>goal </a:t>
            </a:r>
            <a:r>
              <a:rPr sz="20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Prevent</a:t>
            </a:r>
            <a:r>
              <a:rPr sz="2000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inactivity</a:t>
            </a:r>
            <a:endParaRPr sz="2000">
              <a:latin typeface="Franklin Gothic Medium"/>
              <a:cs typeface="Franklin Gothic Medium"/>
            </a:endParaRPr>
          </a:p>
          <a:p>
            <a:pPr marL="396240" marR="107950">
              <a:lnSpc>
                <a:spcPct val="70000"/>
              </a:lnSpc>
              <a:spcBef>
                <a:spcPts val="1200"/>
              </a:spcBef>
            </a:pPr>
            <a:r>
              <a:rPr sz="20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Prevent</a:t>
            </a:r>
            <a:r>
              <a:rPr sz="2000" spc="-9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fear</a:t>
            </a:r>
            <a:r>
              <a:rPr sz="2000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 </a:t>
            </a:r>
            <a:r>
              <a:rPr sz="20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moving</a:t>
            </a:r>
            <a:r>
              <a:rPr sz="2000" spc="-9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&amp;</a:t>
            </a:r>
            <a:r>
              <a:rPr sz="2000" spc="-1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falling</a:t>
            </a:r>
            <a:endParaRPr sz="2000">
              <a:latin typeface="Franklin Gothic Medium"/>
              <a:cs typeface="Franklin Gothic Medi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73607" y="2999994"/>
            <a:ext cx="21653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Maintain</a:t>
            </a:r>
            <a:r>
              <a:rPr sz="2000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or</a:t>
            </a:r>
            <a:r>
              <a:rPr sz="20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improve</a:t>
            </a:r>
            <a:endParaRPr sz="2000">
              <a:latin typeface="Franklin Gothic Medium"/>
              <a:cs typeface="Franklin Gothic Mediu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3607" y="3213354"/>
            <a:ext cx="18319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physical</a:t>
            </a:r>
            <a:r>
              <a:rPr sz="20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capacity</a:t>
            </a:r>
            <a:endParaRPr sz="2000">
              <a:latin typeface="Franklin Gothic Medium"/>
              <a:cs typeface="Franklin Gothic Medium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9559" y="3816858"/>
            <a:ext cx="13131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000066"/>
                </a:solidFill>
                <a:latin typeface="Franklin Gothic Medium"/>
                <a:cs typeface="Franklin Gothic Medium"/>
              </a:rPr>
              <a:t>Intervention</a:t>
            </a:r>
            <a:endParaRPr sz="2000">
              <a:latin typeface="Franklin Gothic Medium"/>
              <a:cs typeface="Franklin Gothic Medium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73607" y="4122590"/>
            <a:ext cx="2265045" cy="255651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8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Promote</a:t>
            </a:r>
            <a:r>
              <a:rPr sz="18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active</a:t>
            </a:r>
            <a:r>
              <a:rPr sz="18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lifestyle</a:t>
            </a:r>
            <a:endParaRPr sz="1800">
              <a:latin typeface="Franklin Gothic Medium"/>
              <a:cs typeface="Franklin Gothic Medium"/>
            </a:endParaRPr>
          </a:p>
          <a:p>
            <a:pPr marL="12700">
              <a:lnSpc>
                <a:spcPts val="1835"/>
              </a:lnSpc>
              <a:spcBef>
                <a:spcPts val="555"/>
              </a:spcBef>
            </a:pPr>
            <a:r>
              <a:rPr sz="18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Supply</a:t>
            </a:r>
            <a:r>
              <a:rPr sz="18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info</a:t>
            </a:r>
            <a:r>
              <a:rPr sz="1800" spc="-9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to</a:t>
            </a:r>
            <a:r>
              <a:rPr sz="1800" spc="-9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prevent</a:t>
            </a:r>
            <a:endParaRPr sz="1800">
              <a:latin typeface="Franklin Gothic Medium"/>
              <a:cs typeface="Franklin Gothic Medium"/>
            </a:endParaRPr>
          </a:p>
          <a:p>
            <a:pPr marL="12700" marR="368935">
              <a:lnSpc>
                <a:spcPct val="70000"/>
              </a:lnSpc>
              <a:spcBef>
                <a:spcPts val="325"/>
              </a:spcBef>
            </a:pPr>
            <a:r>
              <a:rPr sz="18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inactivity</a:t>
            </a:r>
            <a:r>
              <a:rPr sz="18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&amp;</a:t>
            </a:r>
            <a:r>
              <a:rPr sz="18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improve </a:t>
            </a:r>
            <a:r>
              <a:rPr sz="18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physical</a:t>
            </a:r>
            <a:r>
              <a:rPr sz="1800" spc="-9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capacity</a:t>
            </a:r>
            <a:endParaRPr sz="1800">
              <a:latin typeface="Franklin Gothic Medium"/>
              <a:cs typeface="Franklin Gothic Medium"/>
            </a:endParaRPr>
          </a:p>
          <a:p>
            <a:pPr marL="12700">
              <a:lnSpc>
                <a:spcPts val="1835"/>
              </a:lnSpc>
              <a:spcBef>
                <a:spcPts val="550"/>
              </a:spcBef>
            </a:pPr>
            <a:r>
              <a:rPr sz="1800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Active</a:t>
            </a:r>
            <a:r>
              <a:rPr sz="18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(group)</a:t>
            </a:r>
            <a:endParaRPr sz="1800">
              <a:latin typeface="Franklin Gothic Medium"/>
              <a:cs typeface="Franklin Gothic Medium"/>
            </a:endParaRPr>
          </a:p>
          <a:p>
            <a:pPr marL="12700">
              <a:lnSpc>
                <a:spcPts val="1510"/>
              </a:lnSpc>
            </a:pPr>
            <a:r>
              <a:rPr sz="18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exercises</a:t>
            </a:r>
            <a:r>
              <a:rPr sz="18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to</a:t>
            </a:r>
            <a:r>
              <a:rPr sz="18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improve</a:t>
            </a:r>
            <a:endParaRPr sz="1800">
              <a:latin typeface="Franklin Gothic Medium"/>
              <a:cs typeface="Franklin Gothic Medium"/>
            </a:endParaRPr>
          </a:p>
          <a:p>
            <a:pPr marL="12700">
              <a:lnSpc>
                <a:spcPts val="1515"/>
              </a:lnSpc>
            </a:pPr>
            <a:r>
              <a:rPr sz="18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balance,</a:t>
            </a:r>
            <a:r>
              <a:rPr sz="18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muscle</a:t>
            </a:r>
            <a:endParaRPr sz="1800">
              <a:latin typeface="Franklin Gothic Medium"/>
              <a:cs typeface="Franklin Gothic Medium"/>
            </a:endParaRPr>
          </a:p>
          <a:p>
            <a:pPr marL="12700" marR="257810">
              <a:lnSpc>
                <a:spcPct val="70000"/>
              </a:lnSpc>
              <a:spcBef>
                <a:spcPts val="325"/>
              </a:spcBef>
            </a:pPr>
            <a:r>
              <a:rPr sz="1800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power,</a:t>
            </a:r>
            <a:r>
              <a:rPr sz="18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joint</a:t>
            </a:r>
            <a:r>
              <a:rPr sz="18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mobility, </a:t>
            </a:r>
            <a:r>
              <a:rPr sz="18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and</a:t>
            </a:r>
            <a:r>
              <a:rPr sz="18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aerobic</a:t>
            </a:r>
            <a:r>
              <a:rPr sz="18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capacity</a:t>
            </a:r>
            <a:endParaRPr sz="180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18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Involve</a:t>
            </a:r>
            <a:r>
              <a:rPr sz="18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partner</a:t>
            </a:r>
            <a:r>
              <a:rPr sz="18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or</a:t>
            </a:r>
            <a:r>
              <a:rPr sz="18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carer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71005" y="1214907"/>
            <a:ext cx="2663190" cy="1958339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32080" algn="ctr">
              <a:lnSpc>
                <a:spcPct val="100000"/>
              </a:lnSpc>
              <a:spcBef>
                <a:spcPts val="720"/>
              </a:spcBef>
            </a:pP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HY</a:t>
            </a:r>
            <a:r>
              <a:rPr sz="2400" b="1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50" dirty="0">
                <a:solidFill>
                  <a:srgbClr val="FF0000"/>
                </a:solidFill>
                <a:latin typeface="Arial"/>
                <a:cs typeface="Arial"/>
              </a:rPr>
              <a:t>5</a:t>
            </a:r>
            <a:endParaRPr sz="24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525"/>
              </a:spcBef>
            </a:pPr>
            <a:r>
              <a:rPr sz="2000" spc="-20" dirty="0">
                <a:solidFill>
                  <a:srgbClr val="000066"/>
                </a:solidFill>
                <a:latin typeface="Franklin Gothic Medium"/>
                <a:cs typeface="Franklin Gothic Medium"/>
              </a:rPr>
              <a:t>Added</a:t>
            </a:r>
            <a:r>
              <a:rPr sz="2000" spc="-70" dirty="0">
                <a:solidFill>
                  <a:srgbClr val="000066"/>
                </a:solidFill>
                <a:latin typeface="Franklin Gothic Medium"/>
                <a:cs typeface="Franklin Gothic Medium"/>
              </a:rPr>
              <a:t> </a:t>
            </a:r>
            <a:r>
              <a:rPr sz="2000" spc="-35" dirty="0">
                <a:solidFill>
                  <a:srgbClr val="000066"/>
                </a:solidFill>
                <a:latin typeface="Franklin Gothic Medium"/>
                <a:cs typeface="Franklin Gothic Medium"/>
              </a:rPr>
              <a:t>treatment</a:t>
            </a:r>
            <a:r>
              <a:rPr sz="2000" spc="-70" dirty="0">
                <a:solidFill>
                  <a:srgbClr val="000066"/>
                </a:solidFill>
                <a:latin typeface="Franklin Gothic Medium"/>
                <a:cs typeface="Franklin Gothic Medium"/>
              </a:rPr>
              <a:t> </a:t>
            </a:r>
            <a:r>
              <a:rPr sz="2000" spc="-20" dirty="0">
                <a:solidFill>
                  <a:srgbClr val="000066"/>
                </a:solidFill>
                <a:latin typeface="Franklin Gothic Medium"/>
                <a:cs typeface="Franklin Gothic Medium"/>
              </a:rPr>
              <a:t>goal</a:t>
            </a:r>
            <a:endParaRPr sz="2000">
              <a:latin typeface="Franklin Gothic Medium"/>
              <a:cs typeface="Franklin Gothic Medium"/>
            </a:endParaRPr>
          </a:p>
          <a:p>
            <a:pPr marL="396240" marR="5080" algn="just">
              <a:lnSpc>
                <a:spcPct val="135600"/>
              </a:lnSpc>
              <a:spcBef>
                <a:spcPts val="5"/>
              </a:spcBef>
            </a:pPr>
            <a:r>
              <a:rPr sz="18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Maintain</a:t>
            </a:r>
            <a:r>
              <a:rPr sz="18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vital</a:t>
            </a:r>
            <a:r>
              <a:rPr sz="18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functions </a:t>
            </a:r>
            <a:r>
              <a:rPr sz="18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Prevent</a:t>
            </a:r>
            <a:r>
              <a:rPr sz="18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pressure</a:t>
            </a:r>
            <a:r>
              <a:rPr sz="18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sores </a:t>
            </a:r>
            <a:r>
              <a:rPr sz="18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Prevent</a:t>
            </a:r>
            <a:r>
              <a:rPr sz="18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contractures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71005" y="3622390"/>
            <a:ext cx="2676525" cy="221551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2000" spc="-20" dirty="0">
                <a:solidFill>
                  <a:srgbClr val="000066"/>
                </a:solidFill>
                <a:latin typeface="Franklin Gothic Medium"/>
                <a:cs typeface="Franklin Gothic Medium"/>
              </a:rPr>
              <a:t>Added</a:t>
            </a:r>
            <a:r>
              <a:rPr sz="2000" spc="-100" dirty="0">
                <a:solidFill>
                  <a:srgbClr val="000066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000066"/>
                </a:solidFill>
                <a:latin typeface="Franklin Gothic Medium"/>
                <a:cs typeface="Franklin Gothic Medium"/>
              </a:rPr>
              <a:t>Intervention</a:t>
            </a:r>
            <a:endParaRPr sz="2000">
              <a:latin typeface="Franklin Gothic Medium"/>
              <a:cs typeface="Franklin Gothic Medium"/>
            </a:endParaRPr>
          </a:p>
          <a:p>
            <a:pPr marL="396240" marR="163830">
              <a:lnSpc>
                <a:spcPct val="80000"/>
              </a:lnSpc>
              <a:spcBef>
                <a:spcPts val="1210"/>
              </a:spcBef>
            </a:pPr>
            <a:r>
              <a:rPr sz="18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Postural</a:t>
            </a:r>
            <a:r>
              <a:rPr sz="18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adjustments: </a:t>
            </a:r>
            <a:r>
              <a:rPr sz="18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bed,</a:t>
            </a:r>
            <a:r>
              <a:rPr sz="1800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wheelchair</a:t>
            </a:r>
            <a:endParaRPr sz="1800">
              <a:latin typeface="Franklin Gothic Medium"/>
              <a:cs typeface="Franklin Gothic Medium"/>
            </a:endParaRPr>
          </a:p>
          <a:p>
            <a:pPr marL="396240">
              <a:lnSpc>
                <a:spcPct val="100000"/>
              </a:lnSpc>
              <a:spcBef>
                <a:spcPts val="770"/>
              </a:spcBef>
            </a:pPr>
            <a:r>
              <a:rPr sz="18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Assisted</a:t>
            </a:r>
            <a:r>
              <a:rPr sz="18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active</a:t>
            </a:r>
            <a:r>
              <a:rPr sz="18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exercise</a:t>
            </a:r>
            <a:endParaRPr sz="1800">
              <a:latin typeface="Franklin Gothic Medium"/>
              <a:cs typeface="Franklin Gothic Medium"/>
            </a:endParaRPr>
          </a:p>
          <a:p>
            <a:pPr marL="396240" marR="186055">
              <a:lnSpc>
                <a:spcPct val="80000"/>
              </a:lnSpc>
              <a:spcBef>
                <a:spcPts val="1200"/>
              </a:spcBef>
            </a:pPr>
            <a:r>
              <a:rPr sz="18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Supply</a:t>
            </a:r>
            <a:r>
              <a:rPr sz="18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info</a:t>
            </a:r>
            <a:r>
              <a:rPr sz="1800" spc="-9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to</a:t>
            </a:r>
            <a:r>
              <a:rPr sz="1800" spc="-9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prevent </a:t>
            </a:r>
            <a:r>
              <a:rPr sz="18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pressure</a:t>
            </a:r>
            <a:r>
              <a:rPr sz="1800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sores</a:t>
            </a:r>
            <a:r>
              <a:rPr sz="1800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and </a:t>
            </a:r>
            <a:r>
              <a:rPr sz="18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contractures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74873" y="1142623"/>
            <a:ext cx="2499360" cy="180530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841375">
              <a:lnSpc>
                <a:spcPct val="100000"/>
              </a:lnSpc>
              <a:spcBef>
                <a:spcPts val="715"/>
              </a:spcBef>
            </a:pP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HY</a:t>
            </a:r>
            <a:r>
              <a:rPr sz="2400" b="1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2</a:t>
            </a:r>
            <a:r>
              <a:rPr sz="24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sz="24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50" dirty="0">
                <a:solidFill>
                  <a:srgbClr val="FF0000"/>
                </a:solidFill>
                <a:latin typeface="Arial"/>
                <a:cs typeface="Arial"/>
              </a:rPr>
              <a:t>4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2000" spc="-20" dirty="0">
                <a:solidFill>
                  <a:srgbClr val="000066"/>
                </a:solidFill>
                <a:latin typeface="Franklin Gothic Medium"/>
                <a:cs typeface="Franklin Gothic Medium"/>
              </a:rPr>
              <a:t>Added</a:t>
            </a:r>
            <a:r>
              <a:rPr sz="2000" spc="-70" dirty="0">
                <a:solidFill>
                  <a:srgbClr val="000066"/>
                </a:solidFill>
                <a:latin typeface="Franklin Gothic Medium"/>
                <a:cs typeface="Franklin Gothic Medium"/>
              </a:rPr>
              <a:t> </a:t>
            </a:r>
            <a:r>
              <a:rPr sz="2000" spc="-35" dirty="0">
                <a:solidFill>
                  <a:srgbClr val="000066"/>
                </a:solidFill>
                <a:latin typeface="Franklin Gothic Medium"/>
                <a:cs typeface="Franklin Gothic Medium"/>
              </a:rPr>
              <a:t>treatment</a:t>
            </a:r>
            <a:r>
              <a:rPr sz="2000" spc="-70" dirty="0">
                <a:solidFill>
                  <a:srgbClr val="000066"/>
                </a:solidFill>
                <a:latin typeface="Franklin Gothic Medium"/>
                <a:cs typeface="Franklin Gothic Medium"/>
              </a:rPr>
              <a:t> </a:t>
            </a:r>
            <a:r>
              <a:rPr sz="2000" spc="-20" dirty="0">
                <a:solidFill>
                  <a:srgbClr val="000066"/>
                </a:solidFill>
                <a:latin typeface="Franklin Gothic Medium"/>
                <a:cs typeface="Franklin Gothic Medium"/>
              </a:rPr>
              <a:t>goal</a:t>
            </a:r>
            <a:endParaRPr sz="2000">
              <a:latin typeface="Franklin Gothic Medium"/>
              <a:cs typeface="Franklin Gothic Medium"/>
            </a:endParaRPr>
          </a:p>
          <a:p>
            <a:pPr marL="396240">
              <a:lnSpc>
                <a:spcPct val="100000"/>
              </a:lnSpc>
              <a:spcBef>
                <a:spcPts val="775"/>
              </a:spcBef>
            </a:pPr>
            <a:r>
              <a:rPr sz="18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Prevent</a:t>
            </a:r>
            <a:r>
              <a:rPr sz="18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falling</a:t>
            </a:r>
            <a:endParaRPr sz="1800">
              <a:latin typeface="Franklin Gothic Medium"/>
              <a:cs typeface="Franklin Gothic Medium"/>
            </a:endParaRPr>
          </a:p>
          <a:p>
            <a:pPr marL="396240">
              <a:lnSpc>
                <a:spcPts val="1945"/>
              </a:lnSpc>
              <a:spcBef>
                <a:spcPts val="770"/>
              </a:spcBef>
            </a:pPr>
            <a:r>
              <a:rPr sz="18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Reduce</a:t>
            </a:r>
            <a:r>
              <a:rPr sz="18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limitations</a:t>
            </a:r>
            <a:r>
              <a:rPr sz="18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on</a:t>
            </a:r>
            <a:endParaRPr sz="1800">
              <a:latin typeface="Franklin Gothic Medium"/>
              <a:cs typeface="Franklin Gothic Medium"/>
            </a:endParaRPr>
          </a:p>
          <a:p>
            <a:pPr marL="396240">
              <a:lnSpc>
                <a:spcPts val="1945"/>
              </a:lnSpc>
            </a:pPr>
            <a:r>
              <a:rPr sz="18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core</a:t>
            </a:r>
            <a:r>
              <a:rPr sz="1800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areas:</a:t>
            </a:r>
            <a:r>
              <a:rPr sz="18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transfers,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58921" y="2867405"/>
            <a:ext cx="2200910" cy="51943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530"/>
              </a:spcBef>
            </a:pPr>
            <a:r>
              <a:rPr sz="18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posture,</a:t>
            </a:r>
            <a:r>
              <a:rPr sz="18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reaching</a:t>
            </a:r>
            <a:r>
              <a:rPr sz="18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&amp; </a:t>
            </a:r>
            <a:r>
              <a:rPr sz="18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grasping,</a:t>
            </a:r>
            <a:r>
              <a:rPr sz="1800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balance,</a:t>
            </a:r>
            <a:r>
              <a:rPr sz="1800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gait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74873" y="3426439"/>
            <a:ext cx="2671445" cy="75946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2000" b="1" dirty="0">
                <a:solidFill>
                  <a:srgbClr val="000066"/>
                </a:solidFill>
                <a:latin typeface="Arial"/>
                <a:cs typeface="Arial"/>
              </a:rPr>
              <a:t>Added</a:t>
            </a:r>
            <a:r>
              <a:rPr sz="2000" b="1" spc="-65" dirty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0066"/>
                </a:solidFill>
                <a:latin typeface="Arial"/>
                <a:cs typeface="Arial"/>
              </a:rPr>
              <a:t>Intervention</a:t>
            </a:r>
            <a:endParaRPr sz="2000">
              <a:latin typeface="Arial"/>
              <a:cs typeface="Arial"/>
            </a:endParaRPr>
          </a:p>
          <a:p>
            <a:pPr marL="396240">
              <a:lnSpc>
                <a:spcPct val="100000"/>
              </a:lnSpc>
              <a:spcBef>
                <a:spcPts val="575"/>
              </a:spcBef>
            </a:pPr>
            <a:r>
              <a:rPr sz="1800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Active</a:t>
            </a:r>
            <a:r>
              <a:rPr sz="1800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&amp;</a:t>
            </a:r>
            <a:r>
              <a:rPr sz="1800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functional-</a:t>
            </a:r>
            <a:r>
              <a:rPr sz="18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task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58921" y="4105147"/>
            <a:ext cx="2154555" cy="229362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 marR="259079">
              <a:lnSpc>
                <a:spcPct val="80000"/>
              </a:lnSpc>
              <a:spcBef>
                <a:spcPts val="530"/>
              </a:spcBef>
            </a:pPr>
            <a:r>
              <a:rPr sz="18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exercises</a:t>
            </a:r>
            <a:r>
              <a:rPr sz="18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(at</a:t>
            </a:r>
            <a:r>
              <a:rPr sz="18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home) </a:t>
            </a:r>
            <a:r>
              <a:rPr sz="18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using:</a:t>
            </a:r>
            <a:endParaRPr sz="180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8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General</a:t>
            </a:r>
            <a:r>
              <a:rPr sz="18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strategies</a:t>
            </a:r>
            <a:endParaRPr sz="1800">
              <a:latin typeface="Franklin Gothic Medium"/>
              <a:cs typeface="Franklin Gothic Medium"/>
            </a:endParaRPr>
          </a:p>
          <a:p>
            <a:pPr marL="12700" marR="5080">
              <a:lnSpc>
                <a:spcPts val="1730"/>
              </a:lnSpc>
              <a:spcBef>
                <a:spcPts val="1180"/>
              </a:spcBef>
            </a:pPr>
            <a:r>
              <a:rPr sz="18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PD</a:t>
            </a:r>
            <a:r>
              <a:rPr sz="1800" spc="-9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specific</a:t>
            </a:r>
            <a:r>
              <a:rPr sz="1800" spc="-10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strategies: </a:t>
            </a:r>
            <a:r>
              <a:rPr sz="18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Cognitive </a:t>
            </a:r>
            <a:r>
              <a:rPr sz="18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movement, Cueing</a:t>
            </a:r>
            <a:endParaRPr sz="1800">
              <a:latin typeface="Franklin Gothic Medium"/>
              <a:cs typeface="Franklin Gothic Medium"/>
            </a:endParaRPr>
          </a:p>
          <a:p>
            <a:pPr marL="12700" marR="106045">
              <a:lnSpc>
                <a:spcPct val="80000"/>
              </a:lnSpc>
              <a:spcBef>
                <a:spcPts val="1215"/>
              </a:spcBef>
            </a:pPr>
            <a:r>
              <a:rPr sz="18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Supply</a:t>
            </a:r>
            <a:r>
              <a:rPr sz="18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info</a:t>
            </a:r>
            <a:r>
              <a:rPr sz="1800" spc="-9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to</a:t>
            </a:r>
            <a:r>
              <a:rPr sz="1800" spc="-9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reduce multitasking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EECE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292608" y="432816"/>
            <a:ext cx="8554720" cy="6024880"/>
            <a:chOff x="292608" y="432816"/>
            <a:chExt cx="8554720" cy="60248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608" y="432816"/>
              <a:ext cx="8554212" cy="602437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57759" y="480060"/>
              <a:ext cx="8428990" cy="5897880"/>
            </a:xfrm>
            <a:custGeom>
              <a:avLst/>
              <a:gdLst/>
              <a:ahLst/>
              <a:cxnLst/>
              <a:rect l="l" t="t" r="r" b="b"/>
              <a:pathLst>
                <a:path w="8428990" h="5897880">
                  <a:moveTo>
                    <a:pt x="8428482" y="0"/>
                  </a:moveTo>
                  <a:lnTo>
                    <a:pt x="0" y="0"/>
                  </a:lnTo>
                  <a:lnTo>
                    <a:pt x="0" y="5897880"/>
                  </a:lnTo>
                  <a:lnTo>
                    <a:pt x="8428482" y="5897880"/>
                  </a:lnTo>
                  <a:lnTo>
                    <a:pt x="84284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5588" y="672592"/>
              <a:ext cx="6752843" cy="538530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18107" y="4507611"/>
              <a:ext cx="6252210" cy="939165"/>
            </a:xfrm>
            <a:custGeom>
              <a:avLst/>
              <a:gdLst/>
              <a:ahLst/>
              <a:cxnLst/>
              <a:rect l="l" t="t" r="r" b="b"/>
              <a:pathLst>
                <a:path w="6252209" h="939164">
                  <a:moveTo>
                    <a:pt x="6251829" y="0"/>
                  </a:moveTo>
                  <a:lnTo>
                    <a:pt x="6248654" y="0"/>
                  </a:lnTo>
                  <a:lnTo>
                    <a:pt x="6248654" y="3175"/>
                  </a:lnTo>
                  <a:lnTo>
                    <a:pt x="6248654" y="935990"/>
                  </a:lnTo>
                  <a:lnTo>
                    <a:pt x="3175" y="935990"/>
                  </a:lnTo>
                  <a:lnTo>
                    <a:pt x="3175" y="3175"/>
                  </a:lnTo>
                  <a:lnTo>
                    <a:pt x="6248654" y="3175"/>
                  </a:lnTo>
                  <a:lnTo>
                    <a:pt x="6248654" y="0"/>
                  </a:lnTo>
                  <a:lnTo>
                    <a:pt x="3175" y="0"/>
                  </a:lnTo>
                  <a:lnTo>
                    <a:pt x="0" y="0"/>
                  </a:lnTo>
                  <a:lnTo>
                    <a:pt x="0" y="3175"/>
                  </a:lnTo>
                  <a:lnTo>
                    <a:pt x="0" y="935990"/>
                  </a:lnTo>
                  <a:lnTo>
                    <a:pt x="0" y="939165"/>
                  </a:lnTo>
                  <a:lnTo>
                    <a:pt x="3175" y="939165"/>
                  </a:lnTo>
                  <a:lnTo>
                    <a:pt x="6248654" y="939165"/>
                  </a:lnTo>
                  <a:lnTo>
                    <a:pt x="6251829" y="939165"/>
                  </a:lnTo>
                  <a:lnTo>
                    <a:pt x="6251829" y="935990"/>
                  </a:lnTo>
                  <a:lnTo>
                    <a:pt x="6251829" y="3175"/>
                  </a:lnTo>
                  <a:lnTo>
                    <a:pt x="62518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719443" y="6572504"/>
            <a:ext cx="21526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Franklin Gothic Medium"/>
                <a:cs typeface="Franklin Gothic Medium"/>
              </a:rPr>
              <a:t>Frazzitta</a:t>
            </a:r>
            <a:r>
              <a:rPr sz="1800" spc="-40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G</a:t>
            </a:r>
            <a:r>
              <a:rPr sz="1800" spc="-40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et</a:t>
            </a:r>
            <a:r>
              <a:rPr sz="1800" spc="-30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al.</a:t>
            </a:r>
            <a:r>
              <a:rPr sz="1800" spc="-35" dirty="0">
                <a:latin typeface="Franklin Gothic Medium"/>
                <a:cs typeface="Franklin Gothic Medium"/>
              </a:rPr>
              <a:t> </a:t>
            </a:r>
            <a:r>
              <a:rPr sz="1800" spc="-20" dirty="0">
                <a:latin typeface="Franklin Gothic Medium"/>
                <a:cs typeface="Franklin Gothic Medium"/>
              </a:rPr>
              <a:t>2015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37489" y="226568"/>
            <a:ext cx="844423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CC0000"/>
                </a:solidFill>
              </a:rPr>
              <a:t>General</a:t>
            </a:r>
            <a:r>
              <a:rPr spc="-125" dirty="0">
                <a:solidFill>
                  <a:srgbClr val="CC0000"/>
                </a:solidFill>
              </a:rPr>
              <a:t> </a:t>
            </a:r>
            <a:r>
              <a:rPr spc="-25" dirty="0">
                <a:solidFill>
                  <a:srgbClr val="CC0000"/>
                </a:solidFill>
              </a:rPr>
              <a:t>Principles</a:t>
            </a:r>
            <a:r>
              <a:rPr spc="-125" dirty="0">
                <a:solidFill>
                  <a:srgbClr val="CC0000"/>
                </a:solidFill>
              </a:rPr>
              <a:t> </a:t>
            </a:r>
            <a:r>
              <a:rPr dirty="0">
                <a:solidFill>
                  <a:srgbClr val="CC0000"/>
                </a:solidFill>
              </a:rPr>
              <a:t>of</a:t>
            </a:r>
            <a:r>
              <a:rPr spc="-110" dirty="0">
                <a:solidFill>
                  <a:srgbClr val="CC0000"/>
                </a:solidFill>
              </a:rPr>
              <a:t> </a:t>
            </a:r>
            <a:r>
              <a:rPr spc="-40" dirty="0">
                <a:solidFill>
                  <a:srgbClr val="CC0000"/>
                </a:solidFill>
              </a:rPr>
              <a:t>physiotherapy</a:t>
            </a:r>
            <a:r>
              <a:rPr spc="-130" dirty="0">
                <a:solidFill>
                  <a:srgbClr val="CC0000"/>
                </a:solidFill>
              </a:rPr>
              <a:t> </a:t>
            </a:r>
            <a:r>
              <a:rPr spc="-25" dirty="0">
                <a:solidFill>
                  <a:srgbClr val="CC0000"/>
                </a:solidFill>
              </a:rPr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4065" y="1715769"/>
            <a:ext cx="7585075" cy="3846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6240" indent="-383540">
              <a:lnSpc>
                <a:spcPct val="100000"/>
              </a:lnSpc>
              <a:spcBef>
                <a:spcPts val="95"/>
              </a:spcBef>
              <a:buChar char="■"/>
              <a:tabLst>
                <a:tab pos="396240" algn="l"/>
              </a:tabLst>
            </a:pPr>
            <a:r>
              <a:rPr sz="28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Improve</a:t>
            </a:r>
            <a:r>
              <a:rPr sz="2800" spc="-1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8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functional</a:t>
            </a:r>
            <a:r>
              <a:rPr sz="2800" spc="-1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8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independence</a:t>
            </a:r>
            <a:endParaRPr sz="2800">
              <a:latin typeface="Franklin Gothic Medium"/>
              <a:cs typeface="Franklin Gothic Medium"/>
            </a:endParaRPr>
          </a:p>
          <a:p>
            <a:pPr marL="927100" lvl="1" indent="-384175">
              <a:lnSpc>
                <a:spcPct val="100000"/>
              </a:lnSpc>
              <a:spcBef>
                <a:spcPts val="2375"/>
              </a:spcBef>
              <a:buFont typeface="Franklin Gothic Medium"/>
              <a:buChar char="–"/>
              <a:tabLst>
                <a:tab pos="927100" algn="l"/>
              </a:tabLst>
            </a:pPr>
            <a:r>
              <a:rPr sz="28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6</a:t>
            </a:r>
            <a:r>
              <a:rPr sz="2800" i="1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8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core</a:t>
            </a:r>
            <a:r>
              <a:rPr sz="2800" i="1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8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areas</a:t>
            </a:r>
            <a:endParaRPr sz="2800">
              <a:latin typeface="Franklin Gothic Medium"/>
              <a:cs typeface="Franklin Gothic Medium"/>
            </a:endParaRPr>
          </a:p>
          <a:p>
            <a:pPr marL="1384300" marR="5080" lvl="2" indent="-384175">
              <a:lnSpc>
                <a:spcPct val="150000"/>
              </a:lnSpc>
              <a:spcBef>
                <a:spcPts val="755"/>
              </a:spcBef>
              <a:buChar char="■"/>
              <a:tabLst>
                <a:tab pos="1384300" algn="l"/>
              </a:tabLst>
            </a:pPr>
            <a:r>
              <a:rPr sz="26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transfers,</a:t>
            </a:r>
            <a:r>
              <a:rPr sz="2600" spc="-9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posture,</a:t>
            </a:r>
            <a:r>
              <a:rPr sz="2600" spc="-9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reaching</a:t>
            </a:r>
            <a:r>
              <a:rPr sz="26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and</a:t>
            </a:r>
            <a:r>
              <a:rPr sz="26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grasping, balance</a:t>
            </a:r>
            <a:r>
              <a:rPr sz="2600" spc="-114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and</a:t>
            </a:r>
            <a:r>
              <a:rPr sz="2600" spc="-1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falls,</a:t>
            </a:r>
            <a:r>
              <a:rPr sz="2600" spc="-1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gait,</a:t>
            </a:r>
            <a:r>
              <a:rPr sz="2600" spc="-1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physical</a:t>
            </a:r>
            <a:r>
              <a:rPr sz="2600" spc="-1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capacity</a:t>
            </a:r>
            <a:r>
              <a:rPr sz="2600" spc="-9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6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and </a:t>
            </a:r>
            <a:r>
              <a:rPr sz="26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inactivity</a:t>
            </a:r>
            <a:endParaRPr sz="26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spcBef>
                <a:spcPts val="2835"/>
              </a:spcBef>
              <a:buChar char="■"/>
              <a:tabLst>
                <a:tab pos="396240" algn="l"/>
              </a:tabLst>
            </a:pPr>
            <a:r>
              <a:rPr sz="2800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Provision</a:t>
            </a:r>
            <a:r>
              <a:rPr sz="2800" spc="-1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8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</a:t>
            </a:r>
            <a:r>
              <a:rPr sz="2800" spc="-10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8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advice:</a:t>
            </a:r>
            <a:r>
              <a:rPr sz="2800" spc="-1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8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safety</a:t>
            </a:r>
            <a:r>
              <a:rPr sz="2800" spc="-9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8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at</a:t>
            </a:r>
            <a:r>
              <a:rPr sz="2800" spc="-10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8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home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43854" y="6552692"/>
            <a:ext cx="24504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Franklin Gothic Medium"/>
                <a:cs typeface="Franklin Gothic Medium"/>
              </a:rPr>
              <a:t>Hammarlund</a:t>
            </a:r>
            <a:r>
              <a:rPr sz="1800" spc="-45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et</a:t>
            </a:r>
            <a:r>
              <a:rPr sz="1800" spc="-75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al.,</a:t>
            </a:r>
            <a:r>
              <a:rPr sz="1800" spc="-65" dirty="0">
                <a:latin typeface="Franklin Gothic Medium"/>
                <a:cs typeface="Franklin Gothic Medium"/>
              </a:rPr>
              <a:t> </a:t>
            </a:r>
            <a:r>
              <a:rPr sz="1800" spc="-20" dirty="0">
                <a:latin typeface="Franklin Gothic Medium"/>
                <a:cs typeface="Franklin Gothic Medium"/>
              </a:rPr>
              <a:t>2014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39" y="154635"/>
            <a:ext cx="68592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>
                <a:solidFill>
                  <a:srgbClr val="CC0000"/>
                </a:solidFill>
              </a:rPr>
              <a:t>Contemporary</a:t>
            </a:r>
            <a:r>
              <a:rPr spc="-125" dirty="0">
                <a:solidFill>
                  <a:srgbClr val="CC0000"/>
                </a:solidFill>
              </a:rPr>
              <a:t> </a:t>
            </a:r>
            <a:r>
              <a:rPr spc="-40" dirty="0">
                <a:solidFill>
                  <a:srgbClr val="CC0000"/>
                </a:solidFill>
              </a:rPr>
              <a:t>physiotherapy</a:t>
            </a:r>
            <a:r>
              <a:rPr spc="-120" dirty="0">
                <a:solidFill>
                  <a:srgbClr val="CC0000"/>
                </a:solidFill>
              </a:rPr>
              <a:t> </a:t>
            </a:r>
            <a:r>
              <a:rPr spc="-10" dirty="0">
                <a:solidFill>
                  <a:srgbClr val="CC0000"/>
                </a:solidFill>
              </a:rPr>
              <a:t>philosophy</a:t>
            </a:r>
          </a:p>
        </p:txBody>
      </p:sp>
      <p:sp>
        <p:nvSpPr>
          <p:cNvPr id="3" name="object 3"/>
          <p:cNvSpPr/>
          <p:nvPr/>
        </p:nvSpPr>
        <p:spPr>
          <a:xfrm>
            <a:off x="726312" y="2625217"/>
            <a:ext cx="2905125" cy="18415"/>
          </a:xfrm>
          <a:custGeom>
            <a:avLst/>
            <a:gdLst/>
            <a:ahLst/>
            <a:cxnLst/>
            <a:rect l="l" t="t" r="r" b="b"/>
            <a:pathLst>
              <a:path w="2905125" h="18414">
                <a:moveTo>
                  <a:pt x="2904744" y="0"/>
                </a:moveTo>
                <a:lnTo>
                  <a:pt x="0" y="0"/>
                </a:lnTo>
                <a:lnTo>
                  <a:pt x="0" y="18287"/>
                </a:lnTo>
                <a:lnTo>
                  <a:pt x="2904744" y="18287"/>
                </a:lnTo>
                <a:lnTo>
                  <a:pt x="2904744" y="0"/>
                </a:lnTo>
                <a:close/>
              </a:path>
            </a:pathLst>
          </a:custGeom>
          <a:solidFill>
            <a:srgbClr val="77A1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9590" y="1123949"/>
            <a:ext cx="7908925" cy="15582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6240" indent="-383540">
              <a:lnSpc>
                <a:spcPct val="100000"/>
              </a:lnSpc>
              <a:spcBef>
                <a:spcPts val="95"/>
              </a:spcBef>
              <a:buChar char="■"/>
              <a:tabLst>
                <a:tab pos="396240" algn="l"/>
              </a:tabLst>
            </a:pPr>
            <a:r>
              <a:rPr sz="2800" dirty="0">
                <a:solidFill>
                  <a:srgbClr val="CC0000"/>
                </a:solidFill>
                <a:latin typeface="Franklin Gothic Medium"/>
                <a:cs typeface="Franklin Gothic Medium"/>
              </a:rPr>
              <a:t>Core</a:t>
            </a:r>
            <a:r>
              <a:rPr sz="2800" spc="-65" dirty="0">
                <a:solidFill>
                  <a:srgbClr val="CC0000"/>
                </a:solidFill>
                <a:latin typeface="Franklin Gothic Medium"/>
                <a:cs typeface="Franklin Gothic Medium"/>
              </a:rPr>
              <a:t> </a:t>
            </a:r>
            <a:r>
              <a:rPr sz="2800" spc="-20" dirty="0">
                <a:solidFill>
                  <a:srgbClr val="CC0000"/>
                </a:solidFill>
                <a:latin typeface="Franklin Gothic Medium"/>
                <a:cs typeface="Franklin Gothic Medium"/>
              </a:rPr>
              <a:t>areas</a:t>
            </a:r>
            <a:endParaRPr sz="28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2180"/>
              </a:spcBef>
              <a:buClr>
                <a:srgbClr val="CC0000"/>
              </a:buClr>
              <a:buFont typeface="Franklin Gothic Medium"/>
              <a:buChar char="■"/>
            </a:pPr>
            <a:endParaRPr sz="28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buClr>
                <a:srgbClr val="CC0000"/>
              </a:buClr>
              <a:buChar char="■"/>
              <a:tabLst>
                <a:tab pos="396240" algn="l"/>
              </a:tabLst>
            </a:pPr>
            <a:r>
              <a:rPr sz="2800" spc="-75" dirty="0">
                <a:solidFill>
                  <a:srgbClr val="77A1BA"/>
                </a:solidFill>
                <a:latin typeface="Franklin Gothic Medium"/>
                <a:cs typeface="Franklin Gothic Medium"/>
                <a:hlinkClick r:id="rId2" action="ppaction://hlinksldjump"/>
              </a:rPr>
              <a:t>Walking</a:t>
            </a:r>
            <a:r>
              <a:rPr sz="2800" spc="-100" dirty="0">
                <a:solidFill>
                  <a:srgbClr val="77A1BA"/>
                </a:solidFill>
                <a:latin typeface="Franklin Gothic Medium"/>
                <a:cs typeface="Franklin Gothic Medium"/>
                <a:hlinkClick r:id="rId2" action="ppaction://hlinksldjump"/>
              </a:rPr>
              <a:t> </a:t>
            </a:r>
            <a:r>
              <a:rPr sz="2800" dirty="0">
                <a:solidFill>
                  <a:srgbClr val="77A1BA"/>
                </a:solidFill>
                <a:latin typeface="Franklin Gothic Medium"/>
                <a:cs typeface="Franklin Gothic Medium"/>
                <a:hlinkClick r:id="rId2" action="ppaction://hlinksldjump"/>
              </a:rPr>
              <a:t>&amp;</a:t>
            </a:r>
            <a:r>
              <a:rPr sz="2800" spc="-155" dirty="0">
                <a:solidFill>
                  <a:srgbClr val="77A1BA"/>
                </a:solidFill>
                <a:latin typeface="Franklin Gothic Medium"/>
                <a:cs typeface="Franklin Gothic Medium"/>
                <a:hlinkClick r:id="rId2" action="ppaction://hlinksldjump"/>
              </a:rPr>
              <a:t> </a:t>
            </a:r>
            <a:r>
              <a:rPr sz="2800" dirty="0">
                <a:solidFill>
                  <a:srgbClr val="77A1BA"/>
                </a:solidFill>
                <a:latin typeface="Franklin Gothic Medium"/>
                <a:cs typeface="Franklin Gothic Medium"/>
                <a:hlinkClick r:id="rId2" action="ppaction://hlinksldjump"/>
              </a:rPr>
              <a:t>Balance</a:t>
            </a:r>
            <a:r>
              <a:rPr sz="2800" spc="-120" dirty="0">
                <a:solidFill>
                  <a:srgbClr val="77A1BA"/>
                </a:solidFill>
                <a:latin typeface="Franklin Gothic Medium"/>
                <a:cs typeface="Franklin Gothic Medium"/>
              </a:rPr>
              <a:t> </a:t>
            </a:r>
            <a:r>
              <a:rPr sz="28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training</a:t>
            </a:r>
            <a:r>
              <a:rPr sz="2800" spc="-1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8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have</a:t>
            </a:r>
            <a:r>
              <a:rPr sz="2800" spc="-1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8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beneficial</a:t>
            </a:r>
            <a:r>
              <a:rPr sz="2800" spc="-1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8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effects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9590" y="2659785"/>
            <a:ext cx="2266950" cy="1172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56600"/>
              </a:lnSpc>
              <a:spcBef>
                <a:spcPts val="105"/>
              </a:spcBef>
            </a:pPr>
            <a:r>
              <a:rPr sz="16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(Ashburn</a:t>
            </a:r>
            <a:r>
              <a:rPr sz="16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et</a:t>
            </a:r>
            <a:r>
              <a:rPr sz="16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al.</a:t>
            </a:r>
            <a:r>
              <a:rPr sz="16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2007; </a:t>
            </a:r>
            <a:r>
              <a:rPr sz="16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Nieuwboer</a:t>
            </a:r>
            <a:r>
              <a:rPr sz="16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et</a:t>
            </a:r>
            <a:r>
              <a:rPr sz="1600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al.</a:t>
            </a:r>
            <a:r>
              <a:rPr sz="16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2007 Hackney</a:t>
            </a:r>
            <a:r>
              <a:rPr sz="16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&amp;</a:t>
            </a:r>
            <a:r>
              <a:rPr sz="16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Earhart,</a:t>
            </a:r>
            <a:r>
              <a:rPr sz="16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2008)</a:t>
            </a:r>
            <a:endParaRPr sz="1600">
              <a:latin typeface="Franklin Gothic Medium"/>
              <a:cs typeface="Franklin Gothic Medium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26312" y="4877689"/>
            <a:ext cx="2529840" cy="18415"/>
          </a:xfrm>
          <a:custGeom>
            <a:avLst/>
            <a:gdLst/>
            <a:ahLst/>
            <a:cxnLst/>
            <a:rect l="l" t="t" r="r" b="b"/>
            <a:pathLst>
              <a:path w="2529840" h="18414">
                <a:moveTo>
                  <a:pt x="2529840" y="0"/>
                </a:moveTo>
                <a:lnTo>
                  <a:pt x="0" y="0"/>
                </a:lnTo>
                <a:lnTo>
                  <a:pt x="0" y="18287"/>
                </a:lnTo>
                <a:lnTo>
                  <a:pt x="2529840" y="18287"/>
                </a:lnTo>
                <a:lnTo>
                  <a:pt x="2529840" y="0"/>
                </a:lnTo>
                <a:close/>
              </a:path>
            </a:pathLst>
          </a:custGeom>
          <a:solidFill>
            <a:srgbClr val="77A1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29590" y="4483049"/>
            <a:ext cx="3128645" cy="165481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396240" marR="5080" indent="-384175">
              <a:lnSpc>
                <a:spcPct val="94000"/>
              </a:lnSpc>
              <a:spcBef>
                <a:spcPts val="300"/>
              </a:spcBef>
              <a:buClr>
                <a:srgbClr val="CC0000"/>
              </a:buClr>
              <a:buChar char="■"/>
              <a:tabLst>
                <a:tab pos="396240" algn="l"/>
              </a:tabLst>
            </a:pPr>
            <a:r>
              <a:rPr sz="2800" spc="-25" dirty="0">
                <a:solidFill>
                  <a:srgbClr val="77A1BA"/>
                </a:solidFill>
                <a:latin typeface="Franklin Gothic Medium"/>
                <a:cs typeface="Franklin Gothic Medium"/>
                <a:hlinkClick r:id="rId3" action="ppaction://hlinksldjump"/>
              </a:rPr>
              <a:t>Strategies</a:t>
            </a:r>
            <a:r>
              <a:rPr sz="2800" spc="-120" dirty="0">
                <a:solidFill>
                  <a:srgbClr val="77A1BA"/>
                </a:solidFill>
                <a:latin typeface="Franklin Gothic Medium"/>
                <a:cs typeface="Franklin Gothic Medium"/>
                <a:hlinkClick r:id="rId3" action="ppaction://hlinksldjump"/>
              </a:rPr>
              <a:t> </a:t>
            </a:r>
            <a:r>
              <a:rPr sz="2800" dirty="0">
                <a:solidFill>
                  <a:srgbClr val="77A1BA"/>
                </a:solidFill>
                <a:latin typeface="Franklin Gothic Medium"/>
                <a:cs typeface="Franklin Gothic Medium"/>
                <a:hlinkClick r:id="rId3" action="ppaction://hlinksldjump"/>
              </a:rPr>
              <a:t>to</a:t>
            </a:r>
            <a:r>
              <a:rPr sz="2800" spc="-90" dirty="0">
                <a:solidFill>
                  <a:srgbClr val="77A1BA"/>
                </a:solidFill>
                <a:latin typeface="Franklin Gothic Medium"/>
                <a:cs typeface="Franklin Gothic Medium"/>
                <a:hlinkClick r:id="rId3" action="ppaction://hlinksldjump"/>
              </a:rPr>
              <a:t> </a:t>
            </a:r>
            <a:r>
              <a:rPr sz="2800" spc="-25" dirty="0">
                <a:solidFill>
                  <a:srgbClr val="77A1BA"/>
                </a:solidFill>
                <a:latin typeface="Franklin Gothic Medium"/>
                <a:cs typeface="Franklin Gothic Medium"/>
                <a:hlinkClick r:id="rId3" action="ppaction://hlinksldjump"/>
              </a:rPr>
              <a:t>cue</a:t>
            </a:r>
            <a:r>
              <a:rPr sz="2800" spc="-25" dirty="0">
                <a:solidFill>
                  <a:srgbClr val="77A1BA"/>
                </a:solidFill>
                <a:latin typeface="Franklin Gothic Medium"/>
                <a:cs typeface="Franklin Gothic Medium"/>
              </a:rPr>
              <a:t> </a:t>
            </a:r>
            <a:r>
              <a:rPr sz="2800" u="sng" spc="-45" dirty="0">
                <a:solidFill>
                  <a:srgbClr val="77A1BA"/>
                </a:solidFill>
                <a:uFill>
                  <a:solidFill>
                    <a:srgbClr val="77A1BA"/>
                  </a:solidFill>
                </a:uFill>
                <a:latin typeface="Franklin Gothic Medium"/>
                <a:cs typeface="Franklin Gothic Medium"/>
                <a:hlinkClick r:id="rId3" action="ppaction://hlinksldjump"/>
              </a:rPr>
              <a:t>movement</a:t>
            </a:r>
            <a:r>
              <a:rPr sz="2800" u="none" spc="-45" dirty="0">
                <a:solidFill>
                  <a:srgbClr val="CC0000"/>
                </a:solidFill>
                <a:latin typeface="Franklin Gothic Medium"/>
                <a:cs typeface="Franklin Gothic Medium"/>
              </a:rPr>
              <a:t>:</a:t>
            </a:r>
            <a:r>
              <a:rPr sz="2800" u="none" spc="-130" dirty="0">
                <a:solidFill>
                  <a:srgbClr val="CC0000"/>
                </a:solidFill>
                <a:latin typeface="Franklin Gothic Medium"/>
                <a:cs typeface="Franklin Gothic Medium"/>
              </a:rPr>
              <a:t> </a:t>
            </a:r>
            <a:r>
              <a:rPr sz="2800" u="none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visual, </a:t>
            </a:r>
            <a:r>
              <a:rPr sz="2800" u="none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auditory,</a:t>
            </a:r>
            <a:r>
              <a:rPr sz="2800" u="none" spc="-1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800" u="none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tactile, cognitive</a:t>
            </a:r>
            <a:endParaRPr sz="2800">
              <a:latin typeface="Franklin Gothic Medium"/>
              <a:cs typeface="Franklin Gothic Medium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686811" y="1401825"/>
            <a:ext cx="6457315" cy="5455285"/>
            <a:chOff x="2686811" y="1401825"/>
            <a:chExt cx="6457315" cy="5455285"/>
          </a:xfrm>
        </p:grpSpPr>
        <p:pic>
          <p:nvPicPr>
            <p:cNvPr id="9" name="object 9" descr="mso149E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08625" y="2825592"/>
              <a:ext cx="3635375" cy="403110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724144" y="4456937"/>
              <a:ext cx="2160905" cy="1944370"/>
            </a:xfrm>
            <a:custGeom>
              <a:avLst/>
              <a:gdLst/>
              <a:ahLst/>
              <a:cxnLst/>
              <a:rect l="l" t="t" r="r" b="b"/>
              <a:pathLst>
                <a:path w="2160904" h="1944370">
                  <a:moveTo>
                    <a:pt x="0" y="972185"/>
                  </a:moveTo>
                  <a:lnTo>
                    <a:pt x="1176" y="926417"/>
                  </a:lnTo>
                  <a:lnTo>
                    <a:pt x="4669" y="881194"/>
                  </a:lnTo>
                  <a:lnTo>
                    <a:pt x="10428" y="836562"/>
                  </a:lnTo>
                  <a:lnTo>
                    <a:pt x="18401" y="792569"/>
                  </a:lnTo>
                  <a:lnTo>
                    <a:pt x="28535" y="749261"/>
                  </a:lnTo>
                  <a:lnTo>
                    <a:pt x="40780" y="706684"/>
                  </a:lnTo>
                  <a:lnTo>
                    <a:pt x="55082" y="664886"/>
                  </a:lnTo>
                  <a:lnTo>
                    <a:pt x="71390" y="623913"/>
                  </a:lnTo>
                  <a:lnTo>
                    <a:pt x="89653" y="583811"/>
                  </a:lnTo>
                  <a:lnTo>
                    <a:pt x="109818" y="544628"/>
                  </a:lnTo>
                  <a:lnTo>
                    <a:pt x="131833" y="506409"/>
                  </a:lnTo>
                  <a:lnTo>
                    <a:pt x="155647" y="469202"/>
                  </a:lnTo>
                  <a:lnTo>
                    <a:pt x="181207" y="433054"/>
                  </a:lnTo>
                  <a:lnTo>
                    <a:pt x="208462" y="398010"/>
                  </a:lnTo>
                  <a:lnTo>
                    <a:pt x="237360" y="364118"/>
                  </a:lnTo>
                  <a:lnTo>
                    <a:pt x="267849" y="331425"/>
                  </a:lnTo>
                  <a:lnTo>
                    <a:pt x="299877" y="299976"/>
                  </a:lnTo>
                  <a:lnTo>
                    <a:pt x="333392" y="269819"/>
                  </a:lnTo>
                  <a:lnTo>
                    <a:pt x="368342" y="241001"/>
                  </a:lnTo>
                  <a:lnTo>
                    <a:pt x="404676" y="213567"/>
                  </a:lnTo>
                  <a:lnTo>
                    <a:pt x="442340" y="187565"/>
                  </a:lnTo>
                  <a:lnTo>
                    <a:pt x="481285" y="163042"/>
                  </a:lnTo>
                  <a:lnTo>
                    <a:pt x="521457" y="140043"/>
                  </a:lnTo>
                  <a:lnTo>
                    <a:pt x="562805" y="118616"/>
                  </a:lnTo>
                  <a:lnTo>
                    <a:pt x="605277" y="98808"/>
                  </a:lnTo>
                  <a:lnTo>
                    <a:pt x="648820" y="80664"/>
                  </a:lnTo>
                  <a:lnTo>
                    <a:pt x="693384" y="64232"/>
                  </a:lnTo>
                  <a:lnTo>
                    <a:pt x="738916" y="49559"/>
                  </a:lnTo>
                  <a:lnTo>
                    <a:pt x="785364" y="36691"/>
                  </a:lnTo>
                  <a:lnTo>
                    <a:pt x="832677" y="25674"/>
                  </a:lnTo>
                  <a:lnTo>
                    <a:pt x="880802" y="16556"/>
                  </a:lnTo>
                  <a:lnTo>
                    <a:pt x="929687" y="9382"/>
                  </a:lnTo>
                  <a:lnTo>
                    <a:pt x="979282" y="4201"/>
                  </a:lnTo>
                  <a:lnTo>
                    <a:pt x="1029533" y="1058"/>
                  </a:lnTo>
                  <a:lnTo>
                    <a:pt x="1080388" y="0"/>
                  </a:lnTo>
                  <a:lnTo>
                    <a:pt x="1131255" y="1058"/>
                  </a:lnTo>
                  <a:lnTo>
                    <a:pt x="1181516" y="4201"/>
                  </a:lnTo>
                  <a:lnTo>
                    <a:pt x="1231120" y="9382"/>
                  </a:lnTo>
                  <a:lnTo>
                    <a:pt x="1280014" y="16556"/>
                  </a:lnTo>
                  <a:lnTo>
                    <a:pt x="1328147" y="25674"/>
                  </a:lnTo>
                  <a:lnTo>
                    <a:pt x="1375468" y="36691"/>
                  </a:lnTo>
                  <a:lnTo>
                    <a:pt x="1421923" y="49559"/>
                  </a:lnTo>
                  <a:lnTo>
                    <a:pt x="1467462" y="64232"/>
                  </a:lnTo>
                  <a:lnTo>
                    <a:pt x="1512032" y="80664"/>
                  </a:lnTo>
                  <a:lnTo>
                    <a:pt x="1555581" y="98808"/>
                  </a:lnTo>
                  <a:lnTo>
                    <a:pt x="1598058" y="118616"/>
                  </a:lnTo>
                  <a:lnTo>
                    <a:pt x="1639411" y="140043"/>
                  </a:lnTo>
                  <a:lnTo>
                    <a:pt x="1679587" y="163042"/>
                  </a:lnTo>
                  <a:lnTo>
                    <a:pt x="1718536" y="187565"/>
                  </a:lnTo>
                  <a:lnTo>
                    <a:pt x="1756205" y="213567"/>
                  </a:lnTo>
                  <a:lnTo>
                    <a:pt x="1792542" y="241001"/>
                  </a:lnTo>
                  <a:lnTo>
                    <a:pt x="1827495" y="269819"/>
                  </a:lnTo>
                  <a:lnTo>
                    <a:pt x="1861013" y="299976"/>
                  </a:lnTo>
                  <a:lnTo>
                    <a:pt x="1893043" y="331425"/>
                  </a:lnTo>
                  <a:lnTo>
                    <a:pt x="1923534" y="364118"/>
                  </a:lnTo>
                  <a:lnTo>
                    <a:pt x="1952433" y="398010"/>
                  </a:lnTo>
                  <a:lnTo>
                    <a:pt x="1979690" y="433054"/>
                  </a:lnTo>
                  <a:lnTo>
                    <a:pt x="2005252" y="469202"/>
                  </a:lnTo>
                  <a:lnTo>
                    <a:pt x="2029067" y="506409"/>
                  </a:lnTo>
                  <a:lnTo>
                    <a:pt x="2051083" y="544628"/>
                  </a:lnTo>
                  <a:lnTo>
                    <a:pt x="2071249" y="583811"/>
                  </a:lnTo>
                  <a:lnTo>
                    <a:pt x="2089512" y="623913"/>
                  </a:lnTo>
                  <a:lnTo>
                    <a:pt x="2105821" y="664886"/>
                  </a:lnTo>
                  <a:lnTo>
                    <a:pt x="2120124" y="706684"/>
                  </a:lnTo>
                  <a:lnTo>
                    <a:pt x="2132368" y="749261"/>
                  </a:lnTo>
                  <a:lnTo>
                    <a:pt x="2142503" y="792569"/>
                  </a:lnTo>
                  <a:lnTo>
                    <a:pt x="2150476" y="836562"/>
                  </a:lnTo>
                  <a:lnTo>
                    <a:pt x="2156235" y="881194"/>
                  </a:lnTo>
                  <a:lnTo>
                    <a:pt x="2159728" y="926417"/>
                  </a:lnTo>
                  <a:lnTo>
                    <a:pt x="2160904" y="972185"/>
                  </a:lnTo>
                  <a:lnTo>
                    <a:pt x="2159728" y="1017942"/>
                  </a:lnTo>
                  <a:lnTo>
                    <a:pt x="2156235" y="1063155"/>
                  </a:lnTo>
                  <a:lnTo>
                    <a:pt x="2150476" y="1107777"/>
                  </a:lnTo>
                  <a:lnTo>
                    <a:pt x="2142503" y="1151761"/>
                  </a:lnTo>
                  <a:lnTo>
                    <a:pt x="2132368" y="1195061"/>
                  </a:lnTo>
                  <a:lnTo>
                    <a:pt x="2120124" y="1237630"/>
                  </a:lnTo>
                  <a:lnTo>
                    <a:pt x="2105821" y="1279421"/>
                  </a:lnTo>
                  <a:lnTo>
                    <a:pt x="2089512" y="1320387"/>
                  </a:lnTo>
                  <a:lnTo>
                    <a:pt x="2071249" y="1360483"/>
                  </a:lnTo>
                  <a:lnTo>
                    <a:pt x="2051083" y="1399661"/>
                  </a:lnTo>
                  <a:lnTo>
                    <a:pt x="2029067" y="1437874"/>
                  </a:lnTo>
                  <a:lnTo>
                    <a:pt x="2005252" y="1475076"/>
                  </a:lnTo>
                  <a:lnTo>
                    <a:pt x="1979690" y="1511220"/>
                  </a:lnTo>
                  <a:lnTo>
                    <a:pt x="1952433" y="1546259"/>
                  </a:lnTo>
                  <a:lnTo>
                    <a:pt x="1923534" y="1580147"/>
                  </a:lnTo>
                  <a:lnTo>
                    <a:pt x="1893043" y="1612837"/>
                  </a:lnTo>
                  <a:lnTo>
                    <a:pt x="1861013" y="1644283"/>
                  </a:lnTo>
                  <a:lnTo>
                    <a:pt x="1827495" y="1674437"/>
                  </a:lnTo>
                  <a:lnTo>
                    <a:pt x="1792542" y="1703253"/>
                  </a:lnTo>
                  <a:lnTo>
                    <a:pt x="1756205" y="1730685"/>
                  </a:lnTo>
                  <a:lnTo>
                    <a:pt x="1718536" y="1756685"/>
                  </a:lnTo>
                  <a:lnTo>
                    <a:pt x="1679587" y="1781207"/>
                  </a:lnTo>
                  <a:lnTo>
                    <a:pt x="1639411" y="1804204"/>
                  </a:lnTo>
                  <a:lnTo>
                    <a:pt x="1598058" y="1825630"/>
                  </a:lnTo>
                  <a:lnTo>
                    <a:pt x="1555581" y="1845437"/>
                  </a:lnTo>
                  <a:lnTo>
                    <a:pt x="1512032" y="1863580"/>
                  </a:lnTo>
                  <a:lnTo>
                    <a:pt x="1467462" y="1880011"/>
                  </a:lnTo>
                  <a:lnTo>
                    <a:pt x="1421923" y="1894684"/>
                  </a:lnTo>
                  <a:lnTo>
                    <a:pt x="1375468" y="1907552"/>
                  </a:lnTo>
                  <a:lnTo>
                    <a:pt x="1328147" y="1918569"/>
                  </a:lnTo>
                  <a:lnTo>
                    <a:pt x="1280014" y="1927687"/>
                  </a:lnTo>
                  <a:lnTo>
                    <a:pt x="1231120" y="1934860"/>
                  </a:lnTo>
                  <a:lnTo>
                    <a:pt x="1181516" y="1940041"/>
                  </a:lnTo>
                  <a:lnTo>
                    <a:pt x="1131255" y="1943184"/>
                  </a:lnTo>
                  <a:lnTo>
                    <a:pt x="1080388" y="1944243"/>
                  </a:lnTo>
                  <a:lnTo>
                    <a:pt x="1029533" y="1943184"/>
                  </a:lnTo>
                  <a:lnTo>
                    <a:pt x="979282" y="1940041"/>
                  </a:lnTo>
                  <a:lnTo>
                    <a:pt x="929687" y="1934860"/>
                  </a:lnTo>
                  <a:lnTo>
                    <a:pt x="880802" y="1927687"/>
                  </a:lnTo>
                  <a:lnTo>
                    <a:pt x="832677" y="1918569"/>
                  </a:lnTo>
                  <a:lnTo>
                    <a:pt x="785364" y="1907552"/>
                  </a:lnTo>
                  <a:lnTo>
                    <a:pt x="738916" y="1894684"/>
                  </a:lnTo>
                  <a:lnTo>
                    <a:pt x="693384" y="1880011"/>
                  </a:lnTo>
                  <a:lnTo>
                    <a:pt x="648820" y="1863580"/>
                  </a:lnTo>
                  <a:lnTo>
                    <a:pt x="605277" y="1845437"/>
                  </a:lnTo>
                  <a:lnTo>
                    <a:pt x="562805" y="1825630"/>
                  </a:lnTo>
                  <a:lnTo>
                    <a:pt x="521457" y="1804204"/>
                  </a:lnTo>
                  <a:lnTo>
                    <a:pt x="481285" y="1781207"/>
                  </a:lnTo>
                  <a:lnTo>
                    <a:pt x="442340" y="1756685"/>
                  </a:lnTo>
                  <a:lnTo>
                    <a:pt x="404676" y="1730685"/>
                  </a:lnTo>
                  <a:lnTo>
                    <a:pt x="368342" y="1703253"/>
                  </a:lnTo>
                  <a:lnTo>
                    <a:pt x="333392" y="1674437"/>
                  </a:lnTo>
                  <a:lnTo>
                    <a:pt x="299877" y="1644283"/>
                  </a:lnTo>
                  <a:lnTo>
                    <a:pt x="267849" y="1612837"/>
                  </a:lnTo>
                  <a:lnTo>
                    <a:pt x="237360" y="1580147"/>
                  </a:lnTo>
                  <a:lnTo>
                    <a:pt x="208462" y="1546259"/>
                  </a:lnTo>
                  <a:lnTo>
                    <a:pt x="181207" y="1511220"/>
                  </a:lnTo>
                  <a:lnTo>
                    <a:pt x="155647" y="1475076"/>
                  </a:lnTo>
                  <a:lnTo>
                    <a:pt x="131833" y="1437874"/>
                  </a:lnTo>
                  <a:lnTo>
                    <a:pt x="109818" y="1399661"/>
                  </a:lnTo>
                  <a:lnTo>
                    <a:pt x="89653" y="1360483"/>
                  </a:lnTo>
                  <a:lnTo>
                    <a:pt x="71390" y="1320387"/>
                  </a:lnTo>
                  <a:lnTo>
                    <a:pt x="55082" y="1279421"/>
                  </a:lnTo>
                  <a:lnTo>
                    <a:pt x="40780" y="1237630"/>
                  </a:lnTo>
                  <a:lnTo>
                    <a:pt x="28535" y="1195061"/>
                  </a:lnTo>
                  <a:lnTo>
                    <a:pt x="18401" y="1151761"/>
                  </a:lnTo>
                  <a:lnTo>
                    <a:pt x="10428" y="1107777"/>
                  </a:lnTo>
                  <a:lnTo>
                    <a:pt x="4669" y="1063155"/>
                  </a:lnTo>
                  <a:lnTo>
                    <a:pt x="1176" y="1017942"/>
                  </a:lnTo>
                  <a:lnTo>
                    <a:pt x="0" y="972185"/>
                  </a:lnTo>
                  <a:close/>
                </a:path>
              </a:pathLst>
            </a:custGeom>
            <a:ln w="317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686811" y="1401825"/>
              <a:ext cx="3037840" cy="3683635"/>
            </a:xfrm>
            <a:custGeom>
              <a:avLst/>
              <a:gdLst/>
              <a:ahLst/>
              <a:cxnLst/>
              <a:rect l="l" t="t" r="r" b="b"/>
              <a:pathLst>
                <a:path w="3037840" h="3683635">
                  <a:moveTo>
                    <a:pt x="2957287" y="3613532"/>
                  </a:moveTo>
                  <a:lnTo>
                    <a:pt x="2930271" y="3635755"/>
                  </a:lnTo>
                  <a:lnTo>
                    <a:pt x="3037332" y="3683380"/>
                  </a:lnTo>
                  <a:lnTo>
                    <a:pt x="3024411" y="3626993"/>
                  </a:lnTo>
                  <a:lnTo>
                    <a:pt x="2968371" y="3626993"/>
                  </a:lnTo>
                  <a:lnTo>
                    <a:pt x="2957287" y="3613532"/>
                  </a:lnTo>
                  <a:close/>
                </a:path>
                <a:path w="3037840" h="3683635">
                  <a:moveTo>
                    <a:pt x="2984186" y="3591404"/>
                  </a:moveTo>
                  <a:lnTo>
                    <a:pt x="2957287" y="3613532"/>
                  </a:lnTo>
                  <a:lnTo>
                    <a:pt x="2968371" y="3626993"/>
                  </a:lnTo>
                  <a:lnTo>
                    <a:pt x="2995295" y="3604895"/>
                  </a:lnTo>
                  <a:lnTo>
                    <a:pt x="2984186" y="3591404"/>
                  </a:lnTo>
                  <a:close/>
                </a:path>
                <a:path w="3037840" h="3683635">
                  <a:moveTo>
                    <a:pt x="3011170" y="3569207"/>
                  </a:moveTo>
                  <a:lnTo>
                    <a:pt x="2984186" y="3591404"/>
                  </a:lnTo>
                  <a:lnTo>
                    <a:pt x="2995295" y="3604895"/>
                  </a:lnTo>
                  <a:lnTo>
                    <a:pt x="2968371" y="3626993"/>
                  </a:lnTo>
                  <a:lnTo>
                    <a:pt x="3024411" y="3626993"/>
                  </a:lnTo>
                  <a:lnTo>
                    <a:pt x="3011170" y="3569207"/>
                  </a:lnTo>
                  <a:close/>
                </a:path>
                <a:path w="3037840" h="3683635">
                  <a:moveTo>
                    <a:pt x="27050" y="0"/>
                  </a:moveTo>
                  <a:lnTo>
                    <a:pt x="0" y="22098"/>
                  </a:lnTo>
                  <a:lnTo>
                    <a:pt x="2957287" y="3613532"/>
                  </a:lnTo>
                  <a:lnTo>
                    <a:pt x="2984186" y="3591404"/>
                  </a:lnTo>
                  <a:lnTo>
                    <a:pt x="270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5940" y="240919"/>
            <a:ext cx="6795134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CC0000"/>
                </a:solidFill>
              </a:rPr>
              <a:t>Gait</a:t>
            </a:r>
            <a:r>
              <a:rPr spc="-114" dirty="0">
                <a:solidFill>
                  <a:srgbClr val="CC0000"/>
                </a:solidFill>
              </a:rPr>
              <a:t> </a:t>
            </a:r>
            <a:r>
              <a:rPr spc="-35" dirty="0">
                <a:solidFill>
                  <a:srgbClr val="CC0000"/>
                </a:solidFill>
              </a:rPr>
              <a:t>training</a:t>
            </a:r>
            <a:r>
              <a:rPr spc="-114" dirty="0">
                <a:solidFill>
                  <a:srgbClr val="CC0000"/>
                </a:solidFill>
              </a:rPr>
              <a:t> </a:t>
            </a:r>
            <a:r>
              <a:rPr spc="-25" dirty="0">
                <a:solidFill>
                  <a:srgbClr val="CC0000"/>
                </a:solidFill>
              </a:rPr>
              <a:t>according</a:t>
            </a:r>
            <a:r>
              <a:rPr spc="-130" dirty="0">
                <a:solidFill>
                  <a:srgbClr val="CC0000"/>
                </a:solidFill>
              </a:rPr>
              <a:t> </a:t>
            </a:r>
            <a:r>
              <a:rPr dirty="0">
                <a:solidFill>
                  <a:srgbClr val="CC0000"/>
                </a:solidFill>
              </a:rPr>
              <a:t>to</a:t>
            </a:r>
            <a:r>
              <a:rPr spc="-114" dirty="0">
                <a:solidFill>
                  <a:srgbClr val="CC0000"/>
                </a:solidFill>
              </a:rPr>
              <a:t> </a:t>
            </a:r>
            <a:r>
              <a:rPr dirty="0">
                <a:solidFill>
                  <a:srgbClr val="CC0000"/>
                </a:solidFill>
              </a:rPr>
              <a:t>disease</a:t>
            </a:r>
            <a:r>
              <a:rPr spc="-114" dirty="0">
                <a:solidFill>
                  <a:srgbClr val="CC0000"/>
                </a:solidFill>
              </a:rPr>
              <a:t> </a:t>
            </a:r>
            <a:r>
              <a:rPr spc="-10" dirty="0">
                <a:solidFill>
                  <a:srgbClr val="CC0000"/>
                </a:solidFill>
              </a:rPr>
              <a:t>stage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67361"/>
            <a:ext cx="6946265" cy="279336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2800" spc="-40" dirty="0">
                <a:solidFill>
                  <a:srgbClr val="CC0000"/>
                </a:solidFill>
                <a:latin typeface="Franklin Gothic Medium"/>
                <a:cs typeface="Franklin Gothic Medium"/>
              </a:rPr>
              <a:t>Newly</a:t>
            </a:r>
            <a:r>
              <a:rPr sz="2800" spc="-100" dirty="0">
                <a:solidFill>
                  <a:srgbClr val="CC0000"/>
                </a:solidFill>
                <a:latin typeface="Franklin Gothic Medium"/>
                <a:cs typeface="Franklin Gothic Medium"/>
              </a:rPr>
              <a:t> </a:t>
            </a:r>
            <a:r>
              <a:rPr sz="2800" spc="-10" dirty="0">
                <a:solidFill>
                  <a:srgbClr val="CC0000"/>
                </a:solidFill>
                <a:latin typeface="Franklin Gothic Medium"/>
                <a:cs typeface="Franklin Gothic Medium"/>
              </a:rPr>
              <a:t>diagnosed:</a:t>
            </a:r>
            <a:endParaRPr sz="2800">
              <a:latin typeface="Franklin Gothic Medium"/>
              <a:cs typeface="Franklin Gothic Medium"/>
            </a:endParaRPr>
          </a:p>
          <a:p>
            <a:pPr marL="396875" indent="-384175">
              <a:lnSpc>
                <a:spcPct val="100000"/>
              </a:lnSpc>
              <a:spcBef>
                <a:spcPts val="1000"/>
              </a:spcBef>
              <a:buChar char="■"/>
              <a:tabLst>
                <a:tab pos="396875" algn="l"/>
              </a:tabLst>
            </a:pPr>
            <a:r>
              <a:rPr sz="28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repetitive</a:t>
            </a:r>
            <a:r>
              <a:rPr sz="2800" spc="-114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8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task</a:t>
            </a:r>
            <a:r>
              <a:rPr sz="2800" spc="-1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8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practice</a:t>
            </a:r>
            <a:endParaRPr sz="2800">
              <a:latin typeface="Franklin Gothic Medium"/>
              <a:cs typeface="Franklin Gothic Medium"/>
            </a:endParaRPr>
          </a:p>
          <a:p>
            <a:pPr marL="396875" indent="-384175">
              <a:lnSpc>
                <a:spcPct val="100000"/>
              </a:lnSpc>
              <a:spcBef>
                <a:spcPts val="994"/>
              </a:spcBef>
              <a:buChar char="■"/>
              <a:tabLst>
                <a:tab pos="396875" algn="l"/>
              </a:tabLst>
            </a:pPr>
            <a:r>
              <a:rPr sz="28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cueing</a:t>
            </a:r>
            <a:r>
              <a:rPr sz="2800" spc="-1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8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strategies</a:t>
            </a:r>
            <a:endParaRPr sz="2800">
              <a:latin typeface="Franklin Gothic Medium"/>
              <a:cs typeface="Franklin Gothic Medium"/>
            </a:endParaRPr>
          </a:p>
          <a:p>
            <a:pPr marL="396875" indent="-384175">
              <a:lnSpc>
                <a:spcPct val="100000"/>
              </a:lnSpc>
              <a:spcBef>
                <a:spcPts val="1000"/>
              </a:spcBef>
              <a:buChar char="■"/>
              <a:tabLst>
                <a:tab pos="396875" algn="l"/>
              </a:tabLst>
            </a:pPr>
            <a:r>
              <a:rPr sz="28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dual</a:t>
            </a:r>
            <a:r>
              <a:rPr sz="2800" spc="-1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8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tasking</a:t>
            </a:r>
            <a:r>
              <a:rPr sz="2800" spc="-1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8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(if</a:t>
            </a:r>
            <a:r>
              <a:rPr sz="2800" spc="-114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8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sufficient</a:t>
            </a:r>
            <a:r>
              <a:rPr sz="2800" spc="-1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8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cognitive</a:t>
            </a:r>
            <a:r>
              <a:rPr sz="2800" spc="-10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8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ability)</a:t>
            </a:r>
            <a:endParaRPr sz="2800">
              <a:latin typeface="Franklin Gothic Medium"/>
              <a:cs typeface="Franklin Gothic Medium"/>
            </a:endParaRPr>
          </a:p>
          <a:p>
            <a:pPr marL="396875" indent="-384175">
              <a:lnSpc>
                <a:spcPct val="100000"/>
              </a:lnSpc>
              <a:spcBef>
                <a:spcPts val="994"/>
              </a:spcBef>
              <a:buChar char="■"/>
              <a:tabLst>
                <a:tab pos="396875" algn="l"/>
              </a:tabLst>
            </a:pPr>
            <a:r>
              <a:rPr sz="2800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treadmill</a:t>
            </a:r>
            <a:r>
              <a:rPr sz="2800" spc="-10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8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training</a:t>
            </a:r>
            <a:r>
              <a:rPr sz="2800" spc="-1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8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with/without</a:t>
            </a:r>
            <a:r>
              <a:rPr sz="2800" spc="-1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8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musical</a:t>
            </a:r>
            <a:r>
              <a:rPr sz="2800" spc="-1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8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beat</a:t>
            </a:r>
            <a:endParaRPr sz="2800">
              <a:latin typeface="Franklin Gothic Medium"/>
              <a:cs typeface="Franklin Gothic Medium"/>
            </a:endParaRPr>
          </a:p>
        </p:txBody>
      </p:sp>
      <p:pic>
        <p:nvPicPr>
          <p:cNvPr id="4" name="object 4" descr="Jessica Russell walking test subject through physical therapy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43726" y="3789362"/>
            <a:ext cx="2343023" cy="27432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35940" y="5112766"/>
            <a:ext cx="42360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RESCUE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TRIAL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CUEING</a:t>
            </a:r>
            <a:r>
              <a:rPr sz="1800" spc="-10" dirty="0">
                <a:latin typeface="Arial"/>
                <a:cs typeface="Arial"/>
              </a:rPr>
              <a:t> (Nieuwboer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et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al. </a:t>
            </a:r>
            <a:r>
              <a:rPr sz="1800" spc="-20" dirty="0">
                <a:latin typeface="Arial"/>
                <a:cs typeface="Arial"/>
              </a:rPr>
              <a:t>2007)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5940" y="240919"/>
            <a:ext cx="6795134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CC0000"/>
                </a:solidFill>
              </a:rPr>
              <a:t>Gait</a:t>
            </a:r>
            <a:r>
              <a:rPr spc="-114" dirty="0">
                <a:solidFill>
                  <a:srgbClr val="CC0000"/>
                </a:solidFill>
              </a:rPr>
              <a:t> </a:t>
            </a:r>
            <a:r>
              <a:rPr spc="-35" dirty="0">
                <a:solidFill>
                  <a:srgbClr val="CC0000"/>
                </a:solidFill>
              </a:rPr>
              <a:t>training</a:t>
            </a:r>
            <a:r>
              <a:rPr spc="-114" dirty="0">
                <a:solidFill>
                  <a:srgbClr val="CC0000"/>
                </a:solidFill>
              </a:rPr>
              <a:t> </a:t>
            </a:r>
            <a:r>
              <a:rPr spc="-25" dirty="0">
                <a:solidFill>
                  <a:srgbClr val="CC0000"/>
                </a:solidFill>
              </a:rPr>
              <a:t>according</a:t>
            </a:r>
            <a:r>
              <a:rPr spc="-130" dirty="0">
                <a:solidFill>
                  <a:srgbClr val="CC0000"/>
                </a:solidFill>
              </a:rPr>
              <a:t> </a:t>
            </a:r>
            <a:r>
              <a:rPr dirty="0">
                <a:solidFill>
                  <a:srgbClr val="CC0000"/>
                </a:solidFill>
              </a:rPr>
              <a:t>to</a:t>
            </a:r>
            <a:r>
              <a:rPr spc="-114" dirty="0">
                <a:solidFill>
                  <a:srgbClr val="CC0000"/>
                </a:solidFill>
              </a:rPr>
              <a:t> </a:t>
            </a:r>
            <a:r>
              <a:rPr dirty="0">
                <a:solidFill>
                  <a:srgbClr val="CC0000"/>
                </a:solidFill>
              </a:rPr>
              <a:t>disease</a:t>
            </a:r>
            <a:r>
              <a:rPr spc="-114" dirty="0">
                <a:solidFill>
                  <a:srgbClr val="CC0000"/>
                </a:solidFill>
              </a:rPr>
              <a:t> </a:t>
            </a:r>
            <a:r>
              <a:rPr spc="-10" dirty="0">
                <a:solidFill>
                  <a:srgbClr val="CC0000"/>
                </a:solidFill>
              </a:rPr>
              <a:t>stage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07465"/>
            <a:ext cx="7423150" cy="370967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2800" spc="-35" dirty="0">
                <a:solidFill>
                  <a:srgbClr val="CC0000"/>
                </a:solidFill>
                <a:latin typeface="Franklin Gothic Medium"/>
                <a:cs typeface="Franklin Gothic Medium"/>
              </a:rPr>
              <a:t>After</a:t>
            </a:r>
            <a:r>
              <a:rPr sz="2800" spc="-140" dirty="0">
                <a:solidFill>
                  <a:srgbClr val="CC0000"/>
                </a:solidFill>
                <a:latin typeface="Franklin Gothic Medium"/>
                <a:cs typeface="Franklin Gothic Medium"/>
              </a:rPr>
              <a:t> </a:t>
            </a:r>
            <a:r>
              <a:rPr sz="2800" dirty="0">
                <a:solidFill>
                  <a:srgbClr val="CC0000"/>
                </a:solidFill>
                <a:latin typeface="Franklin Gothic Medium"/>
                <a:cs typeface="Franklin Gothic Medium"/>
              </a:rPr>
              <a:t>starting</a:t>
            </a:r>
            <a:r>
              <a:rPr sz="2800" spc="-155" dirty="0">
                <a:solidFill>
                  <a:srgbClr val="CC0000"/>
                </a:solidFill>
                <a:latin typeface="Franklin Gothic Medium"/>
                <a:cs typeface="Franklin Gothic Medium"/>
              </a:rPr>
              <a:t> </a:t>
            </a:r>
            <a:r>
              <a:rPr sz="2800" spc="-10" dirty="0">
                <a:solidFill>
                  <a:srgbClr val="CC0000"/>
                </a:solidFill>
                <a:latin typeface="Franklin Gothic Medium"/>
                <a:cs typeface="Franklin Gothic Medium"/>
              </a:rPr>
              <a:t>Levodopa:</a:t>
            </a:r>
            <a:endParaRPr sz="2800">
              <a:latin typeface="Franklin Gothic Medium"/>
              <a:cs typeface="Franklin Gothic Medium"/>
            </a:endParaRPr>
          </a:p>
          <a:p>
            <a:pPr marL="396875" indent="-384175">
              <a:lnSpc>
                <a:spcPct val="100000"/>
              </a:lnSpc>
              <a:spcBef>
                <a:spcPts val="994"/>
              </a:spcBef>
              <a:buChar char="■"/>
              <a:tabLst>
                <a:tab pos="396875" algn="l"/>
              </a:tabLst>
            </a:pPr>
            <a:r>
              <a:rPr sz="28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Assessment </a:t>
            </a:r>
            <a:r>
              <a:rPr sz="28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during</a:t>
            </a:r>
            <a:r>
              <a:rPr sz="28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8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“on”/”off”</a:t>
            </a:r>
            <a:r>
              <a:rPr sz="28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8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phase</a:t>
            </a:r>
            <a:endParaRPr sz="2800">
              <a:latin typeface="Franklin Gothic Medium"/>
              <a:cs typeface="Franklin Gothic Medium"/>
            </a:endParaRPr>
          </a:p>
          <a:p>
            <a:pPr marL="396875" indent="-384175">
              <a:lnSpc>
                <a:spcPct val="100000"/>
              </a:lnSpc>
              <a:spcBef>
                <a:spcPts val="1000"/>
              </a:spcBef>
              <a:buChar char="■"/>
              <a:tabLst>
                <a:tab pos="396875" algn="l"/>
              </a:tabLst>
            </a:pPr>
            <a:r>
              <a:rPr sz="28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Education</a:t>
            </a:r>
            <a:r>
              <a:rPr sz="2800" spc="-1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8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about</a:t>
            </a:r>
            <a:r>
              <a:rPr sz="2800" spc="-114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8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presence/timing</a:t>
            </a:r>
            <a:r>
              <a:rPr sz="2800" spc="-9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8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</a:t>
            </a:r>
            <a:r>
              <a:rPr sz="2800" spc="-114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800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symptoms</a:t>
            </a:r>
            <a:endParaRPr sz="2800">
              <a:latin typeface="Franklin Gothic Medium"/>
              <a:cs typeface="Franklin Gothic Medium"/>
            </a:endParaRPr>
          </a:p>
          <a:p>
            <a:pPr marL="396875" indent="-384175">
              <a:lnSpc>
                <a:spcPct val="100000"/>
              </a:lnSpc>
              <a:spcBef>
                <a:spcPts val="994"/>
              </a:spcBef>
              <a:buChar char="■"/>
              <a:tabLst>
                <a:tab pos="396875" algn="l"/>
              </a:tabLst>
            </a:pPr>
            <a:r>
              <a:rPr sz="28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Approaches</a:t>
            </a:r>
            <a:endParaRPr sz="2800">
              <a:latin typeface="Franklin Gothic Medium"/>
              <a:cs typeface="Franklin Gothic Medium"/>
            </a:endParaRPr>
          </a:p>
          <a:p>
            <a:pPr marL="927100" lvl="1" indent="-384175">
              <a:lnSpc>
                <a:spcPct val="100000"/>
              </a:lnSpc>
              <a:spcBef>
                <a:spcPts val="505"/>
              </a:spcBef>
              <a:buFont typeface="Franklin Gothic Medium"/>
              <a:buChar char="–"/>
              <a:tabLst>
                <a:tab pos="927100" algn="l"/>
              </a:tabLst>
            </a:pPr>
            <a:r>
              <a:rPr sz="2800" i="1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Attentional</a:t>
            </a:r>
            <a:r>
              <a:rPr sz="2800" i="1" spc="-1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8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strategies</a:t>
            </a:r>
            <a:endParaRPr sz="2800">
              <a:latin typeface="Franklin Gothic Medium"/>
              <a:cs typeface="Franklin Gothic Medium"/>
            </a:endParaRPr>
          </a:p>
          <a:p>
            <a:pPr marL="927100" lvl="1" indent="-384175">
              <a:lnSpc>
                <a:spcPct val="100000"/>
              </a:lnSpc>
              <a:spcBef>
                <a:spcPts val="495"/>
              </a:spcBef>
              <a:buFont typeface="Franklin Gothic Medium"/>
              <a:buChar char="–"/>
              <a:tabLst>
                <a:tab pos="927100" algn="l"/>
              </a:tabLst>
            </a:pPr>
            <a:r>
              <a:rPr sz="28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Cueing</a:t>
            </a:r>
            <a:r>
              <a:rPr sz="2800" i="1" spc="-1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8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strategies</a:t>
            </a:r>
            <a:endParaRPr sz="2800">
              <a:latin typeface="Franklin Gothic Medium"/>
              <a:cs typeface="Franklin Gothic Medium"/>
            </a:endParaRPr>
          </a:p>
          <a:p>
            <a:pPr marL="927100" lvl="1" indent="-384175">
              <a:lnSpc>
                <a:spcPct val="100000"/>
              </a:lnSpc>
              <a:spcBef>
                <a:spcPts val="505"/>
              </a:spcBef>
              <a:buFont typeface="Franklin Gothic Medium"/>
              <a:buChar char="–"/>
              <a:tabLst>
                <a:tab pos="927100" algn="l"/>
              </a:tabLst>
            </a:pPr>
            <a:r>
              <a:rPr sz="2800" i="1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Cognitive</a:t>
            </a:r>
            <a:r>
              <a:rPr sz="2800" i="1" spc="-1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8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strategies</a:t>
            </a:r>
            <a:endParaRPr sz="2800">
              <a:latin typeface="Franklin Gothic Medium"/>
              <a:cs typeface="Franklin Gothic Medium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433189" y="3652646"/>
            <a:ext cx="4387215" cy="2872105"/>
            <a:chOff x="4433189" y="3652646"/>
            <a:chExt cx="4387215" cy="2872105"/>
          </a:xfrm>
        </p:grpSpPr>
        <p:pic>
          <p:nvPicPr>
            <p:cNvPr id="5" name="object 5" descr="problem_chair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72225" y="4365624"/>
              <a:ext cx="2447925" cy="21590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433189" y="3652646"/>
              <a:ext cx="797560" cy="1758950"/>
            </a:xfrm>
            <a:custGeom>
              <a:avLst/>
              <a:gdLst/>
              <a:ahLst/>
              <a:cxnLst/>
              <a:rect l="l" t="t" r="r" b="b"/>
              <a:pathLst>
                <a:path w="797560" h="1758950">
                  <a:moveTo>
                    <a:pt x="797560" y="1720596"/>
                  </a:moveTo>
                  <a:lnTo>
                    <a:pt x="787908" y="1715770"/>
                  </a:lnTo>
                  <a:lnTo>
                    <a:pt x="754913" y="1699285"/>
                  </a:lnTo>
                  <a:lnTo>
                    <a:pt x="755281" y="1697634"/>
                  </a:lnTo>
                  <a:lnTo>
                    <a:pt x="797560" y="1720596"/>
                  </a:lnTo>
                  <a:lnTo>
                    <a:pt x="790282" y="1671320"/>
                  </a:lnTo>
                  <a:lnTo>
                    <a:pt x="785114" y="1636268"/>
                  </a:lnTo>
                  <a:lnTo>
                    <a:pt x="766254" y="1649488"/>
                  </a:lnTo>
                  <a:lnTo>
                    <a:pt x="768985" y="1637538"/>
                  </a:lnTo>
                  <a:lnTo>
                    <a:pt x="748665" y="1642491"/>
                  </a:lnTo>
                  <a:lnTo>
                    <a:pt x="738797" y="1628394"/>
                  </a:lnTo>
                  <a:lnTo>
                    <a:pt x="738797" y="1644904"/>
                  </a:lnTo>
                  <a:lnTo>
                    <a:pt x="736625" y="1645424"/>
                  </a:lnTo>
                  <a:lnTo>
                    <a:pt x="735253" y="1639836"/>
                  </a:lnTo>
                  <a:lnTo>
                    <a:pt x="738797" y="1644904"/>
                  </a:lnTo>
                  <a:lnTo>
                    <a:pt x="738797" y="1628394"/>
                  </a:lnTo>
                  <a:lnTo>
                    <a:pt x="729018" y="1614411"/>
                  </a:lnTo>
                  <a:lnTo>
                    <a:pt x="333248" y="0"/>
                  </a:lnTo>
                  <a:lnTo>
                    <a:pt x="323977" y="2298"/>
                  </a:lnTo>
                  <a:lnTo>
                    <a:pt x="713867" y="1592770"/>
                  </a:lnTo>
                  <a:lnTo>
                    <a:pt x="145415" y="780542"/>
                  </a:lnTo>
                  <a:lnTo>
                    <a:pt x="137668" y="786003"/>
                  </a:lnTo>
                  <a:lnTo>
                    <a:pt x="720102" y="1618208"/>
                  </a:lnTo>
                  <a:lnTo>
                    <a:pt x="727341" y="1647685"/>
                  </a:lnTo>
                  <a:lnTo>
                    <a:pt x="694944" y="1655572"/>
                  </a:lnTo>
                  <a:lnTo>
                    <a:pt x="721360" y="1686737"/>
                  </a:lnTo>
                  <a:lnTo>
                    <a:pt x="721360" y="1715770"/>
                  </a:lnTo>
                  <a:lnTo>
                    <a:pt x="0" y="1715770"/>
                  </a:lnTo>
                  <a:lnTo>
                    <a:pt x="0" y="1725295"/>
                  </a:lnTo>
                  <a:lnTo>
                    <a:pt x="721360" y="1725295"/>
                  </a:lnTo>
                  <a:lnTo>
                    <a:pt x="721360" y="1758696"/>
                  </a:lnTo>
                  <a:lnTo>
                    <a:pt x="788162" y="1725295"/>
                  </a:lnTo>
                  <a:lnTo>
                    <a:pt x="797560" y="17205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784475" y="5729122"/>
            <a:ext cx="322643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33CC"/>
                </a:solidFill>
                <a:latin typeface="Arial"/>
                <a:cs typeface="Arial"/>
              </a:rPr>
              <a:t>Used</a:t>
            </a:r>
            <a:r>
              <a:rPr sz="2400" spc="-40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33CC"/>
                </a:solidFill>
                <a:latin typeface="Arial"/>
                <a:cs typeface="Arial"/>
              </a:rPr>
              <a:t>for</a:t>
            </a:r>
            <a:r>
              <a:rPr sz="2400" spc="-50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0033CC"/>
                </a:solidFill>
                <a:latin typeface="Arial"/>
                <a:cs typeface="Arial"/>
              </a:rPr>
              <a:t>other </a:t>
            </a:r>
            <a:r>
              <a:rPr sz="2400" dirty="0">
                <a:solidFill>
                  <a:srgbClr val="0033CC"/>
                </a:solidFill>
                <a:latin typeface="Arial"/>
                <a:cs typeface="Arial"/>
              </a:rPr>
              <a:t>functional</a:t>
            </a:r>
            <a:r>
              <a:rPr sz="2400" spc="-140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33CC"/>
                </a:solidFill>
                <a:latin typeface="Arial"/>
                <a:cs typeface="Arial"/>
              </a:rPr>
              <a:t>activities</a:t>
            </a:r>
            <a:r>
              <a:rPr sz="2400" spc="-130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0033CC"/>
                </a:solidFill>
                <a:latin typeface="Arial"/>
                <a:cs typeface="Arial"/>
              </a:rPr>
              <a:t>also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5940" y="240919"/>
            <a:ext cx="6795134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CC0000"/>
                </a:solidFill>
              </a:rPr>
              <a:t>Gait</a:t>
            </a:r>
            <a:r>
              <a:rPr spc="-114" dirty="0">
                <a:solidFill>
                  <a:srgbClr val="CC0000"/>
                </a:solidFill>
              </a:rPr>
              <a:t> </a:t>
            </a:r>
            <a:r>
              <a:rPr spc="-35" dirty="0">
                <a:solidFill>
                  <a:srgbClr val="CC0000"/>
                </a:solidFill>
              </a:rPr>
              <a:t>training</a:t>
            </a:r>
            <a:r>
              <a:rPr spc="-114" dirty="0">
                <a:solidFill>
                  <a:srgbClr val="CC0000"/>
                </a:solidFill>
              </a:rPr>
              <a:t> </a:t>
            </a:r>
            <a:r>
              <a:rPr spc="-25" dirty="0">
                <a:solidFill>
                  <a:srgbClr val="CC0000"/>
                </a:solidFill>
              </a:rPr>
              <a:t>according</a:t>
            </a:r>
            <a:r>
              <a:rPr spc="-130" dirty="0">
                <a:solidFill>
                  <a:srgbClr val="CC0000"/>
                </a:solidFill>
              </a:rPr>
              <a:t> </a:t>
            </a:r>
            <a:r>
              <a:rPr dirty="0">
                <a:solidFill>
                  <a:srgbClr val="CC0000"/>
                </a:solidFill>
              </a:rPr>
              <a:t>to</a:t>
            </a:r>
            <a:r>
              <a:rPr spc="-114" dirty="0">
                <a:solidFill>
                  <a:srgbClr val="CC0000"/>
                </a:solidFill>
              </a:rPr>
              <a:t> </a:t>
            </a:r>
            <a:r>
              <a:rPr dirty="0">
                <a:solidFill>
                  <a:srgbClr val="CC0000"/>
                </a:solidFill>
              </a:rPr>
              <a:t>disease</a:t>
            </a:r>
            <a:r>
              <a:rPr spc="-114" dirty="0">
                <a:solidFill>
                  <a:srgbClr val="CC0000"/>
                </a:solidFill>
              </a:rPr>
              <a:t> </a:t>
            </a:r>
            <a:r>
              <a:rPr spc="-10" dirty="0">
                <a:solidFill>
                  <a:srgbClr val="CC0000"/>
                </a:solidFill>
              </a:rPr>
              <a:t>stage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35789"/>
            <a:ext cx="8070850" cy="5217795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2600" dirty="0">
                <a:solidFill>
                  <a:srgbClr val="CC0000"/>
                </a:solidFill>
                <a:latin typeface="Franklin Gothic Medium"/>
                <a:cs typeface="Franklin Gothic Medium"/>
              </a:rPr>
              <a:t>Five</a:t>
            </a:r>
            <a:r>
              <a:rPr sz="2600" spc="-130" dirty="0">
                <a:solidFill>
                  <a:srgbClr val="CC0000"/>
                </a:solidFill>
                <a:latin typeface="Franklin Gothic Medium"/>
                <a:cs typeface="Franklin Gothic Medium"/>
              </a:rPr>
              <a:t> </a:t>
            </a:r>
            <a:r>
              <a:rPr sz="2600" dirty="0">
                <a:solidFill>
                  <a:srgbClr val="CC0000"/>
                </a:solidFill>
                <a:latin typeface="Franklin Gothic Medium"/>
                <a:cs typeface="Franklin Gothic Medium"/>
              </a:rPr>
              <a:t>to</a:t>
            </a:r>
            <a:r>
              <a:rPr sz="2600" spc="-114" dirty="0">
                <a:solidFill>
                  <a:srgbClr val="CC0000"/>
                </a:solidFill>
                <a:latin typeface="Franklin Gothic Medium"/>
                <a:cs typeface="Franklin Gothic Medium"/>
              </a:rPr>
              <a:t> </a:t>
            </a:r>
            <a:r>
              <a:rPr sz="2600" spc="-20" dirty="0">
                <a:solidFill>
                  <a:srgbClr val="CC0000"/>
                </a:solidFill>
                <a:latin typeface="Franklin Gothic Medium"/>
                <a:cs typeface="Franklin Gothic Medium"/>
              </a:rPr>
              <a:t>eight</a:t>
            </a:r>
            <a:r>
              <a:rPr sz="2600" spc="-125" dirty="0">
                <a:solidFill>
                  <a:srgbClr val="CC0000"/>
                </a:solidFill>
                <a:latin typeface="Franklin Gothic Medium"/>
                <a:cs typeface="Franklin Gothic Medium"/>
              </a:rPr>
              <a:t> </a:t>
            </a:r>
            <a:r>
              <a:rPr sz="2600" dirty="0">
                <a:solidFill>
                  <a:srgbClr val="CC0000"/>
                </a:solidFill>
                <a:latin typeface="Franklin Gothic Medium"/>
                <a:cs typeface="Franklin Gothic Medium"/>
              </a:rPr>
              <a:t>years</a:t>
            </a:r>
            <a:r>
              <a:rPr sz="2600" spc="-130" dirty="0">
                <a:solidFill>
                  <a:srgbClr val="CC0000"/>
                </a:solidFill>
                <a:latin typeface="Franklin Gothic Medium"/>
                <a:cs typeface="Franklin Gothic Medium"/>
              </a:rPr>
              <a:t> </a:t>
            </a:r>
            <a:r>
              <a:rPr sz="2600" dirty="0">
                <a:solidFill>
                  <a:srgbClr val="CC0000"/>
                </a:solidFill>
                <a:latin typeface="Franklin Gothic Medium"/>
                <a:cs typeface="Franklin Gothic Medium"/>
              </a:rPr>
              <a:t>after</a:t>
            </a:r>
            <a:r>
              <a:rPr sz="2600" spc="-120" dirty="0">
                <a:solidFill>
                  <a:srgbClr val="CC0000"/>
                </a:solidFill>
                <a:latin typeface="Franklin Gothic Medium"/>
                <a:cs typeface="Franklin Gothic Medium"/>
              </a:rPr>
              <a:t> </a:t>
            </a:r>
            <a:r>
              <a:rPr sz="2600" spc="-10" dirty="0">
                <a:solidFill>
                  <a:srgbClr val="CC0000"/>
                </a:solidFill>
                <a:latin typeface="Franklin Gothic Medium"/>
                <a:cs typeface="Franklin Gothic Medium"/>
              </a:rPr>
              <a:t>starting</a:t>
            </a:r>
            <a:r>
              <a:rPr sz="2600" spc="-125" dirty="0">
                <a:solidFill>
                  <a:srgbClr val="CC0000"/>
                </a:solidFill>
                <a:latin typeface="Franklin Gothic Medium"/>
                <a:cs typeface="Franklin Gothic Medium"/>
              </a:rPr>
              <a:t> </a:t>
            </a:r>
            <a:r>
              <a:rPr sz="2600" spc="-10" dirty="0">
                <a:solidFill>
                  <a:srgbClr val="CC0000"/>
                </a:solidFill>
                <a:latin typeface="Franklin Gothic Medium"/>
                <a:cs typeface="Franklin Gothic Medium"/>
              </a:rPr>
              <a:t>medication:</a:t>
            </a:r>
            <a:endParaRPr sz="2600">
              <a:latin typeface="Franklin Gothic Medium"/>
              <a:cs typeface="Franklin Gothic Medium"/>
            </a:endParaRPr>
          </a:p>
          <a:p>
            <a:pPr marL="396875" indent="-384175">
              <a:lnSpc>
                <a:spcPct val="100000"/>
              </a:lnSpc>
              <a:spcBef>
                <a:spcPts val="690"/>
              </a:spcBef>
              <a:buChar char="■"/>
              <a:tabLst>
                <a:tab pos="396875" algn="l"/>
              </a:tabLst>
            </a:pPr>
            <a:r>
              <a:rPr sz="22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Cognitive</a:t>
            </a:r>
            <a:r>
              <a:rPr sz="2200" spc="-1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strategies</a:t>
            </a:r>
            <a:r>
              <a:rPr sz="22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continued</a:t>
            </a:r>
            <a:endParaRPr sz="2200">
              <a:latin typeface="Franklin Gothic Medium"/>
              <a:cs typeface="Franklin Gothic Medium"/>
            </a:endParaRPr>
          </a:p>
          <a:p>
            <a:pPr marL="396875" marR="373380" indent="-384810">
              <a:lnSpc>
                <a:spcPct val="80000"/>
              </a:lnSpc>
              <a:spcBef>
                <a:spcPts val="1200"/>
              </a:spcBef>
              <a:buChar char="■"/>
              <a:tabLst>
                <a:tab pos="396875" algn="l"/>
              </a:tabLst>
            </a:pPr>
            <a:r>
              <a:rPr sz="22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Monitoring</a:t>
            </a:r>
            <a:r>
              <a:rPr sz="2200" spc="-10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walking</a:t>
            </a:r>
            <a:r>
              <a:rPr sz="2200" spc="-9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patterns</a:t>
            </a:r>
            <a:r>
              <a:rPr sz="22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and</a:t>
            </a:r>
            <a:r>
              <a:rPr sz="2200" spc="-9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balance</a:t>
            </a:r>
            <a:r>
              <a:rPr sz="22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during</a:t>
            </a:r>
            <a:r>
              <a:rPr sz="2200" spc="-1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tasks</a:t>
            </a:r>
            <a:r>
              <a:rPr sz="22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to</a:t>
            </a:r>
            <a:r>
              <a:rPr sz="2200" spc="-9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avoid </a:t>
            </a:r>
            <a:r>
              <a:rPr sz="22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tripping</a:t>
            </a:r>
            <a:r>
              <a:rPr sz="22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and</a:t>
            </a:r>
            <a:r>
              <a:rPr sz="22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falling</a:t>
            </a:r>
            <a:endParaRPr sz="2200">
              <a:latin typeface="Franklin Gothic Medium"/>
              <a:cs typeface="Franklin Gothic Medium"/>
            </a:endParaRPr>
          </a:p>
          <a:p>
            <a:pPr marL="396875" indent="-384175">
              <a:lnSpc>
                <a:spcPct val="100000"/>
              </a:lnSpc>
              <a:spcBef>
                <a:spcPts val="675"/>
              </a:spcBef>
              <a:buChar char="■"/>
              <a:tabLst>
                <a:tab pos="396875" algn="l"/>
              </a:tabLst>
            </a:pPr>
            <a:r>
              <a:rPr sz="22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Teach</a:t>
            </a:r>
            <a:r>
              <a:rPr sz="22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separate</a:t>
            </a:r>
            <a:r>
              <a:rPr sz="2200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strategies</a:t>
            </a:r>
            <a:r>
              <a:rPr sz="2200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for</a:t>
            </a:r>
            <a:r>
              <a:rPr sz="22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when</a:t>
            </a:r>
            <a:r>
              <a:rPr sz="22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“on”</a:t>
            </a:r>
            <a:r>
              <a:rPr sz="22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or</a:t>
            </a:r>
            <a:r>
              <a:rPr sz="22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“off”</a:t>
            </a:r>
            <a:r>
              <a:rPr sz="22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medication</a:t>
            </a:r>
            <a:r>
              <a:rPr sz="22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cycle</a:t>
            </a:r>
            <a:endParaRPr sz="2200">
              <a:latin typeface="Franklin Gothic Medium"/>
              <a:cs typeface="Franklin Gothic Medium"/>
            </a:endParaRPr>
          </a:p>
          <a:p>
            <a:pPr marL="396875" indent="-384175">
              <a:lnSpc>
                <a:spcPct val="100000"/>
              </a:lnSpc>
              <a:spcBef>
                <a:spcPts val="675"/>
              </a:spcBef>
              <a:buChar char="■"/>
              <a:tabLst>
                <a:tab pos="396875" algn="l"/>
              </a:tabLst>
            </a:pPr>
            <a:r>
              <a:rPr sz="2200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Turning</a:t>
            </a:r>
            <a:r>
              <a:rPr sz="22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strategies</a:t>
            </a:r>
            <a:r>
              <a:rPr sz="22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(Hulbert</a:t>
            </a:r>
            <a:r>
              <a:rPr sz="22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et</a:t>
            </a:r>
            <a:r>
              <a:rPr sz="22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al.,</a:t>
            </a:r>
            <a:r>
              <a:rPr sz="22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2014)</a:t>
            </a:r>
            <a:endParaRPr sz="2200">
              <a:latin typeface="Franklin Gothic Medium"/>
              <a:cs typeface="Franklin Gothic Medium"/>
            </a:endParaRPr>
          </a:p>
          <a:p>
            <a:pPr marL="396875" indent="-384175">
              <a:lnSpc>
                <a:spcPct val="100000"/>
              </a:lnSpc>
              <a:spcBef>
                <a:spcPts val="670"/>
              </a:spcBef>
              <a:buChar char="■"/>
              <a:tabLst>
                <a:tab pos="396875" algn="l"/>
              </a:tabLst>
            </a:pPr>
            <a:r>
              <a:rPr sz="22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Avoid</a:t>
            </a:r>
            <a:r>
              <a:rPr sz="22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secondary</a:t>
            </a:r>
            <a:r>
              <a:rPr sz="22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tasks</a:t>
            </a:r>
            <a:endParaRPr sz="22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1964"/>
              </a:spcBef>
            </a:pPr>
            <a:endParaRPr sz="2200">
              <a:latin typeface="Franklin Gothic Medium"/>
              <a:cs typeface="Franklin Gothic Medium"/>
            </a:endParaRPr>
          </a:p>
          <a:p>
            <a:pPr marL="396875" marR="309245" indent="-384810">
              <a:lnSpc>
                <a:spcPct val="81200"/>
              </a:lnSpc>
            </a:pPr>
            <a:r>
              <a:rPr sz="2600" spc="-25" dirty="0">
                <a:solidFill>
                  <a:srgbClr val="CC0000"/>
                </a:solidFill>
                <a:latin typeface="Franklin Gothic Medium"/>
                <a:cs typeface="Franklin Gothic Medium"/>
              </a:rPr>
              <a:t>Advanced</a:t>
            </a:r>
            <a:r>
              <a:rPr sz="2600" spc="-140" dirty="0">
                <a:solidFill>
                  <a:srgbClr val="CC0000"/>
                </a:solidFill>
                <a:latin typeface="Franklin Gothic Medium"/>
                <a:cs typeface="Franklin Gothic Medium"/>
              </a:rPr>
              <a:t> </a:t>
            </a:r>
            <a:r>
              <a:rPr sz="2600" spc="-10" dirty="0">
                <a:solidFill>
                  <a:srgbClr val="CC0000"/>
                </a:solidFill>
                <a:latin typeface="Franklin Gothic Medium"/>
                <a:cs typeface="Franklin Gothic Medium"/>
              </a:rPr>
              <a:t>disease:</a:t>
            </a:r>
            <a:r>
              <a:rPr sz="2600" spc="-200" dirty="0">
                <a:solidFill>
                  <a:srgbClr val="CC0000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other</a:t>
            </a:r>
            <a:r>
              <a:rPr sz="2200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strategies</a:t>
            </a:r>
            <a:r>
              <a:rPr sz="22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plus</a:t>
            </a:r>
            <a:r>
              <a:rPr sz="22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scanning</a:t>
            </a:r>
            <a:r>
              <a:rPr sz="22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environment for</a:t>
            </a:r>
            <a:r>
              <a:rPr sz="2200" spc="-1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hazards;</a:t>
            </a:r>
            <a:r>
              <a:rPr sz="22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i="1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walking</a:t>
            </a:r>
            <a:r>
              <a:rPr sz="2200" i="1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aids:</a:t>
            </a:r>
            <a:r>
              <a:rPr sz="2200" i="1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4-wheeled</a:t>
            </a:r>
            <a:r>
              <a:rPr sz="2200" i="1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i="1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walking</a:t>
            </a:r>
            <a:r>
              <a:rPr sz="2200" i="1" spc="-9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frames</a:t>
            </a:r>
            <a:endParaRPr sz="22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1964"/>
              </a:spcBef>
            </a:pPr>
            <a:endParaRPr sz="2200">
              <a:latin typeface="Franklin Gothic Medium"/>
              <a:cs typeface="Franklin Gothic Medium"/>
            </a:endParaRPr>
          </a:p>
          <a:p>
            <a:pPr marL="396875" marR="750570" indent="-384810">
              <a:lnSpc>
                <a:spcPct val="81200"/>
              </a:lnSpc>
              <a:spcBef>
                <a:spcPts val="5"/>
              </a:spcBef>
            </a:pPr>
            <a:r>
              <a:rPr sz="2600" dirty="0">
                <a:solidFill>
                  <a:srgbClr val="CC0000"/>
                </a:solidFill>
                <a:latin typeface="Franklin Gothic Medium"/>
                <a:cs typeface="Franklin Gothic Medium"/>
              </a:rPr>
              <a:t>End-</a:t>
            </a:r>
            <a:r>
              <a:rPr sz="2600" spc="-10" dirty="0">
                <a:solidFill>
                  <a:srgbClr val="CC0000"/>
                </a:solidFill>
                <a:latin typeface="Franklin Gothic Medium"/>
                <a:cs typeface="Franklin Gothic Medium"/>
              </a:rPr>
              <a:t>stage</a:t>
            </a:r>
            <a:r>
              <a:rPr sz="2600" spc="-125" dirty="0">
                <a:solidFill>
                  <a:srgbClr val="CC0000"/>
                </a:solidFill>
                <a:latin typeface="Franklin Gothic Medium"/>
                <a:cs typeface="Franklin Gothic Medium"/>
              </a:rPr>
              <a:t> </a:t>
            </a:r>
            <a:r>
              <a:rPr sz="2600" spc="-55" dirty="0">
                <a:solidFill>
                  <a:srgbClr val="CC0000"/>
                </a:solidFill>
                <a:latin typeface="Franklin Gothic Medium"/>
                <a:cs typeface="Franklin Gothic Medium"/>
              </a:rPr>
              <a:t>management:</a:t>
            </a:r>
            <a:r>
              <a:rPr sz="2600" spc="-215" dirty="0">
                <a:solidFill>
                  <a:srgbClr val="CC0000"/>
                </a:solidFill>
                <a:latin typeface="Franklin Gothic Medium"/>
                <a:cs typeface="Franklin Gothic Medium"/>
              </a:rPr>
              <a:t> </a:t>
            </a:r>
            <a:r>
              <a:rPr sz="22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education</a:t>
            </a:r>
            <a:r>
              <a:rPr sz="2200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and</a:t>
            </a:r>
            <a:r>
              <a:rPr sz="2200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support</a:t>
            </a:r>
            <a:r>
              <a:rPr sz="22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to</a:t>
            </a:r>
            <a:r>
              <a:rPr sz="2200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enable </a:t>
            </a:r>
            <a:r>
              <a:rPr sz="22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participation</a:t>
            </a:r>
            <a:r>
              <a:rPr sz="22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</a:t>
            </a:r>
            <a:r>
              <a:rPr sz="22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daily</a:t>
            </a:r>
            <a:r>
              <a:rPr sz="22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life</a:t>
            </a:r>
            <a:endParaRPr sz="22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4023" rIns="0" bIns="0" rtlCol="0">
            <a:spAutoFit/>
          </a:bodyPr>
          <a:lstStyle/>
          <a:p>
            <a:pPr marL="509270">
              <a:lnSpc>
                <a:spcPct val="100000"/>
              </a:lnSpc>
              <a:spcBef>
                <a:spcPts val="105"/>
              </a:spcBef>
            </a:pPr>
            <a:r>
              <a:rPr spc="-45" dirty="0">
                <a:solidFill>
                  <a:srgbClr val="CC0000"/>
                </a:solidFill>
              </a:rPr>
              <a:t>Physiotherapy</a:t>
            </a:r>
            <a:r>
              <a:rPr spc="-155" dirty="0">
                <a:solidFill>
                  <a:srgbClr val="CC0000"/>
                </a:solidFill>
              </a:rPr>
              <a:t> </a:t>
            </a:r>
            <a:r>
              <a:rPr spc="-10" dirty="0">
                <a:solidFill>
                  <a:srgbClr val="CC0000"/>
                </a:solidFill>
              </a:rPr>
              <a:t>Interventions:</a:t>
            </a:r>
            <a:r>
              <a:rPr spc="-140" dirty="0">
                <a:solidFill>
                  <a:srgbClr val="CC0000"/>
                </a:solidFill>
              </a:rPr>
              <a:t> </a:t>
            </a:r>
            <a:r>
              <a:rPr spc="-10" dirty="0">
                <a:solidFill>
                  <a:srgbClr val="CC0000"/>
                </a:solidFill>
              </a:rPr>
              <a:t>Balance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7744" y="1708531"/>
            <a:ext cx="6878955" cy="387159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396240" marR="732155" indent="-384175">
              <a:lnSpc>
                <a:spcPts val="2260"/>
              </a:lnSpc>
              <a:spcBef>
                <a:spcPts val="295"/>
              </a:spcBef>
              <a:buChar char="■"/>
              <a:tabLst>
                <a:tab pos="396240" algn="l"/>
              </a:tabLst>
            </a:pPr>
            <a:r>
              <a:rPr sz="2000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Physiotherapy</a:t>
            </a:r>
            <a:r>
              <a:rPr sz="2000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intervention</a:t>
            </a:r>
            <a:r>
              <a:rPr sz="20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can</a:t>
            </a:r>
            <a:r>
              <a:rPr sz="20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improve</a:t>
            </a:r>
            <a:r>
              <a:rPr sz="20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balance</a:t>
            </a:r>
            <a:r>
              <a:rPr sz="20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</a:t>
            </a:r>
            <a:r>
              <a:rPr sz="20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PD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patients</a:t>
            </a:r>
            <a:endParaRPr sz="2000">
              <a:latin typeface="Franklin Gothic Medium"/>
              <a:cs typeface="Franklin Gothic Medium"/>
            </a:endParaRPr>
          </a:p>
          <a:p>
            <a:pPr marL="926465" marR="5080" lvl="1" indent="-384175">
              <a:lnSpc>
                <a:spcPts val="2260"/>
              </a:lnSpc>
              <a:spcBef>
                <a:spcPts val="685"/>
              </a:spcBef>
              <a:buChar char="–"/>
              <a:tabLst>
                <a:tab pos="926465" algn="l"/>
              </a:tabLst>
            </a:pPr>
            <a:r>
              <a:rPr sz="20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Progressive</a:t>
            </a:r>
            <a:r>
              <a:rPr sz="20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dual</a:t>
            </a:r>
            <a:r>
              <a:rPr sz="20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task</a:t>
            </a:r>
            <a:r>
              <a:rPr sz="2000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aquatic</a:t>
            </a:r>
            <a:r>
              <a:rPr sz="2000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exercises</a:t>
            </a:r>
            <a:r>
              <a:rPr sz="20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(Silva</a:t>
            </a:r>
            <a:r>
              <a:rPr sz="2000" i="1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AZD</a:t>
            </a:r>
            <a:r>
              <a:rPr sz="2000" i="1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et</a:t>
            </a:r>
            <a:r>
              <a:rPr sz="2000" i="1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al. </a:t>
            </a: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2019)</a:t>
            </a:r>
            <a:endParaRPr sz="2000">
              <a:latin typeface="Franklin Gothic Medium"/>
              <a:cs typeface="Franklin Gothic Medium"/>
            </a:endParaRPr>
          </a:p>
          <a:p>
            <a:pPr marL="926465" marR="910590" lvl="1" indent="-384175">
              <a:lnSpc>
                <a:spcPts val="2260"/>
              </a:lnSpc>
              <a:spcBef>
                <a:spcPts val="690"/>
              </a:spcBef>
              <a:buChar char="–"/>
              <a:tabLst>
                <a:tab pos="926465" algn="l"/>
              </a:tabLst>
            </a:pP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Therapist</a:t>
            </a:r>
            <a:r>
              <a:rPr sz="20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supervised</a:t>
            </a:r>
            <a:r>
              <a:rPr sz="20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and</a:t>
            </a:r>
            <a:r>
              <a:rPr sz="20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home-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based</a:t>
            </a:r>
            <a:r>
              <a:rPr sz="20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exercise </a:t>
            </a:r>
            <a:r>
              <a:rPr sz="2000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programme</a:t>
            </a:r>
            <a:r>
              <a:rPr sz="20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(Atterbury</a:t>
            </a:r>
            <a:r>
              <a:rPr sz="2000" i="1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&amp;</a:t>
            </a:r>
            <a:r>
              <a:rPr sz="2000" i="1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Welman</a:t>
            </a:r>
            <a:r>
              <a:rPr sz="2000" i="1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2017)</a:t>
            </a:r>
            <a:endParaRPr sz="2000">
              <a:latin typeface="Franklin Gothic Medium"/>
              <a:cs typeface="Franklin Gothic Medium"/>
            </a:endParaRPr>
          </a:p>
          <a:p>
            <a:pPr marL="926465" lvl="1" indent="-383540">
              <a:lnSpc>
                <a:spcPts val="2330"/>
              </a:lnSpc>
              <a:spcBef>
                <a:spcPts val="509"/>
              </a:spcBef>
              <a:buChar char="–"/>
              <a:tabLst>
                <a:tab pos="926465" algn="l"/>
              </a:tabLst>
            </a:pPr>
            <a:r>
              <a:rPr sz="20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Home</a:t>
            </a:r>
            <a:r>
              <a:rPr sz="2000" spc="-9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based</a:t>
            </a:r>
            <a:r>
              <a:rPr sz="20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exercises</a:t>
            </a:r>
            <a:r>
              <a:rPr sz="20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reduced</a:t>
            </a:r>
            <a:r>
              <a:rPr sz="20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falls</a:t>
            </a:r>
            <a:r>
              <a:rPr sz="20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rate</a:t>
            </a:r>
            <a:r>
              <a:rPr sz="20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</a:t>
            </a:r>
            <a:r>
              <a:rPr sz="20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falling</a:t>
            </a:r>
            <a:r>
              <a:rPr sz="20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PD</a:t>
            </a:r>
            <a:endParaRPr sz="2000">
              <a:latin typeface="Franklin Gothic Medium"/>
              <a:cs typeface="Franklin Gothic Medium"/>
            </a:endParaRPr>
          </a:p>
          <a:p>
            <a:pPr marL="926465">
              <a:lnSpc>
                <a:spcPts val="2330"/>
              </a:lnSpc>
            </a:pP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(Ashburn</a:t>
            </a:r>
            <a:r>
              <a:rPr sz="2000" i="1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</a:t>
            </a:r>
            <a:r>
              <a:rPr sz="2000" i="1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et</a:t>
            </a:r>
            <a:r>
              <a:rPr sz="2000" i="1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al.</a:t>
            </a:r>
            <a:r>
              <a:rPr sz="2000" i="1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2007)</a:t>
            </a:r>
            <a:endParaRPr sz="2000">
              <a:latin typeface="Franklin Gothic Medium"/>
              <a:cs typeface="Franklin Gothic Medium"/>
            </a:endParaRPr>
          </a:p>
          <a:p>
            <a:pPr marL="926465" marR="224154" lvl="1" indent="-384175">
              <a:lnSpc>
                <a:spcPts val="2260"/>
              </a:lnSpc>
              <a:spcBef>
                <a:spcPts val="745"/>
              </a:spcBef>
              <a:buChar char="–"/>
              <a:tabLst>
                <a:tab pos="926465" algn="l"/>
              </a:tabLst>
            </a:pPr>
            <a:r>
              <a:rPr sz="20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PwPD</a:t>
            </a:r>
            <a:r>
              <a:rPr sz="20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are</a:t>
            </a:r>
            <a:r>
              <a:rPr sz="20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able</a:t>
            </a:r>
            <a:r>
              <a:rPr sz="20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to</a:t>
            </a:r>
            <a:r>
              <a:rPr sz="20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improve</a:t>
            </a:r>
            <a:r>
              <a:rPr sz="20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their</a:t>
            </a:r>
            <a:r>
              <a:rPr sz="20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postural</a:t>
            </a:r>
            <a:r>
              <a:rPr sz="20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motor</a:t>
            </a:r>
            <a:r>
              <a:rPr sz="20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control </a:t>
            </a:r>
            <a:r>
              <a:rPr sz="20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through</a:t>
            </a:r>
            <a:r>
              <a:rPr sz="20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practice</a:t>
            </a:r>
            <a:r>
              <a:rPr sz="2000" spc="-1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(Pauls</a:t>
            </a:r>
            <a:r>
              <a:rPr sz="2000" i="1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SS</a:t>
            </a:r>
            <a:r>
              <a:rPr sz="2000" i="1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et</a:t>
            </a:r>
            <a:r>
              <a:rPr sz="2000" i="1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al.</a:t>
            </a:r>
            <a:r>
              <a:rPr sz="2000" i="1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2018)</a:t>
            </a:r>
            <a:endParaRPr sz="2000">
              <a:latin typeface="Franklin Gothic Medium"/>
              <a:cs typeface="Franklin Gothic Medium"/>
            </a:endParaRPr>
          </a:p>
          <a:p>
            <a:pPr marL="1383665" marR="47625" lvl="2" indent="-384175">
              <a:lnSpc>
                <a:spcPts val="2039"/>
              </a:lnSpc>
              <a:spcBef>
                <a:spcPts val="685"/>
              </a:spcBef>
              <a:buChar char="■"/>
              <a:tabLst>
                <a:tab pos="1383665" algn="l"/>
              </a:tabLst>
            </a:pPr>
            <a:r>
              <a:rPr sz="18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Worsening</a:t>
            </a:r>
            <a:r>
              <a:rPr sz="18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</a:t>
            </a:r>
            <a:r>
              <a:rPr sz="18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axial</a:t>
            </a:r>
            <a:r>
              <a:rPr sz="18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and</a:t>
            </a:r>
            <a:r>
              <a:rPr sz="18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cognitive</a:t>
            </a:r>
            <a:r>
              <a:rPr sz="18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symptoms</a:t>
            </a:r>
            <a:r>
              <a:rPr sz="18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may</a:t>
            </a:r>
            <a:r>
              <a:rPr sz="1800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result</a:t>
            </a:r>
            <a:r>
              <a:rPr sz="18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8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to </a:t>
            </a:r>
            <a:r>
              <a:rPr sz="18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diminished </a:t>
            </a:r>
            <a:r>
              <a:rPr sz="18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learning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39" y="154635"/>
            <a:ext cx="68592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>
                <a:solidFill>
                  <a:srgbClr val="CC0000"/>
                </a:solidFill>
              </a:rPr>
              <a:t>Contemporary</a:t>
            </a:r>
            <a:r>
              <a:rPr spc="-125" dirty="0">
                <a:solidFill>
                  <a:srgbClr val="CC0000"/>
                </a:solidFill>
              </a:rPr>
              <a:t> </a:t>
            </a:r>
            <a:r>
              <a:rPr spc="-40" dirty="0">
                <a:solidFill>
                  <a:srgbClr val="CC0000"/>
                </a:solidFill>
              </a:rPr>
              <a:t>physiotherapy</a:t>
            </a:r>
            <a:r>
              <a:rPr spc="-120" dirty="0">
                <a:solidFill>
                  <a:srgbClr val="CC0000"/>
                </a:solidFill>
              </a:rPr>
              <a:t> </a:t>
            </a:r>
            <a:r>
              <a:rPr spc="-10" dirty="0">
                <a:solidFill>
                  <a:srgbClr val="CC0000"/>
                </a:solidFill>
              </a:rPr>
              <a:t>philosophy</a:t>
            </a:r>
          </a:p>
        </p:txBody>
      </p:sp>
      <p:sp>
        <p:nvSpPr>
          <p:cNvPr id="3" name="object 3"/>
          <p:cNvSpPr/>
          <p:nvPr/>
        </p:nvSpPr>
        <p:spPr>
          <a:xfrm>
            <a:off x="726312" y="2625217"/>
            <a:ext cx="2905125" cy="18415"/>
          </a:xfrm>
          <a:custGeom>
            <a:avLst/>
            <a:gdLst/>
            <a:ahLst/>
            <a:cxnLst/>
            <a:rect l="l" t="t" r="r" b="b"/>
            <a:pathLst>
              <a:path w="2905125" h="18414">
                <a:moveTo>
                  <a:pt x="2904744" y="0"/>
                </a:moveTo>
                <a:lnTo>
                  <a:pt x="0" y="0"/>
                </a:lnTo>
                <a:lnTo>
                  <a:pt x="0" y="18287"/>
                </a:lnTo>
                <a:lnTo>
                  <a:pt x="2904744" y="18287"/>
                </a:lnTo>
                <a:lnTo>
                  <a:pt x="2904744" y="0"/>
                </a:lnTo>
                <a:close/>
              </a:path>
            </a:pathLst>
          </a:custGeom>
          <a:solidFill>
            <a:srgbClr val="77A1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9590" y="1123949"/>
            <a:ext cx="7908925" cy="15582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6240" indent="-383540">
              <a:lnSpc>
                <a:spcPct val="100000"/>
              </a:lnSpc>
              <a:spcBef>
                <a:spcPts val="95"/>
              </a:spcBef>
              <a:buChar char="■"/>
              <a:tabLst>
                <a:tab pos="396240" algn="l"/>
              </a:tabLst>
            </a:pPr>
            <a:r>
              <a:rPr sz="2800" dirty="0">
                <a:solidFill>
                  <a:srgbClr val="CC0000"/>
                </a:solidFill>
                <a:latin typeface="Franklin Gothic Medium"/>
                <a:cs typeface="Franklin Gothic Medium"/>
              </a:rPr>
              <a:t>Core</a:t>
            </a:r>
            <a:r>
              <a:rPr sz="2800" spc="-65" dirty="0">
                <a:solidFill>
                  <a:srgbClr val="CC0000"/>
                </a:solidFill>
                <a:latin typeface="Franklin Gothic Medium"/>
                <a:cs typeface="Franklin Gothic Medium"/>
              </a:rPr>
              <a:t> </a:t>
            </a:r>
            <a:r>
              <a:rPr sz="2800" spc="-20" dirty="0">
                <a:solidFill>
                  <a:srgbClr val="CC0000"/>
                </a:solidFill>
                <a:latin typeface="Franklin Gothic Medium"/>
                <a:cs typeface="Franklin Gothic Medium"/>
              </a:rPr>
              <a:t>areas</a:t>
            </a:r>
            <a:endParaRPr sz="28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2180"/>
              </a:spcBef>
              <a:buClr>
                <a:srgbClr val="CC0000"/>
              </a:buClr>
              <a:buFont typeface="Franklin Gothic Medium"/>
              <a:buChar char="■"/>
            </a:pPr>
            <a:endParaRPr sz="28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buClr>
                <a:srgbClr val="CC0000"/>
              </a:buClr>
              <a:buChar char="■"/>
              <a:tabLst>
                <a:tab pos="396240" algn="l"/>
              </a:tabLst>
            </a:pPr>
            <a:r>
              <a:rPr sz="2800" spc="-75" dirty="0">
                <a:solidFill>
                  <a:srgbClr val="77A1BA"/>
                </a:solidFill>
                <a:latin typeface="Franklin Gothic Medium"/>
                <a:cs typeface="Franklin Gothic Medium"/>
                <a:hlinkClick r:id="rId2" action="ppaction://hlinksldjump"/>
              </a:rPr>
              <a:t>Walking</a:t>
            </a:r>
            <a:r>
              <a:rPr sz="2800" spc="-100" dirty="0">
                <a:solidFill>
                  <a:srgbClr val="77A1BA"/>
                </a:solidFill>
                <a:latin typeface="Franklin Gothic Medium"/>
                <a:cs typeface="Franklin Gothic Medium"/>
                <a:hlinkClick r:id="rId2" action="ppaction://hlinksldjump"/>
              </a:rPr>
              <a:t> </a:t>
            </a:r>
            <a:r>
              <a:rPr sz="2800" dirty="0">
                <a:solidFill>
                  <a:srgbClr val="77A1BA"/>
                </a:solidFill>
                <a:latin typeface="Franklin Gothic Medium"/>
                <a:cs typeface="Franklin Gothic Medium"/>
                <a:hlinkClick r:id="rId2" action="ppaction://hlinksldjump"/>
              </a:rPr>
              <a:t>&amp;</a:t>
            </a:r>
            <a:r>
              <a:rPr sz="2800" spc="-155" dirty="0">
                <a:solidFill>
                  <a:srgbClr val="77A1BA"/>
                </a:solidFill>
                <a:latin typeface="Franklin Gothic Medium"/>
                <a:cs typeface="Franklin Gothic Medium"/>
                <a:hlinkClick r:id="rId2" action="ppaction://hlinksldjump"/>
              </a:rPr>
              <a:t> </a:t>
            </a:r>
            <a:r>
              <a:rPr sz="2800" dirty="0">
                <a:solidFill>
                  <a:srgbClr val="77A1BA"/>
                </a:solidFill>
                <a:latin typeface="Franklin Gothic Medium"/>
                <a:cs typeface="Franklin Gothic Medium"/>
                <a:hlinkClick r:id="rId2" action="ppaction://hlinksldjump"/>
              </a:rPr>
              <a:t>Balance</a:t>
            </a:r>
            <a:r>
              <a:rPr sz="2800" spc="-120" dirty="0">
                <a:solidFill>
                  <a:srgbClr val="77A1BA"/>
                </a:solidFill>
                <a:latin typeface="Franklin Gothic Medium"/>
                <a:cs typeface="Franklin Gothic Medium"/>
              </a:rPr>
              <a:t> </a:t>
            </a:r>
            <a:r>
              <a:rPr sz="28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training</a:t>
            </a:r>
            <a:r>
              <a:rPr sz="2800" spc="-1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8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have</a:t>
            </a:r>
            <a:r>
              <a:rPr sz="2800" spc="-1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8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beneficial</a:t>
            </a:r>
            <a:r>
              <a:rPr sz="2800" spc="-1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8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effects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9590" y="2659785"/>
            <a:ext cx="2266950" cy="1172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56600"/>
              </a:lnSpc>
              <a:spcBef>
                <a:spcPts val="105"/>
              </a:spcBef>
            </a:pPr>
            <a:r>
              <a:rPr sz="16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(Ashburn</a:t>
            </a:r>
            <a:r>
              <a:rPr sz="16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et</a:t>
            </a:r>
            <a:r>
              <a:rPr sz="16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al.</a:t>
            </a:r>
            <a:r>
              <a:rPr sz="16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2007; </a:t>
            </a:r>
            <a:r>
              <a:rPr sz="16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Nieuwboer</a:t>
            </a:r>
            <a:r>
              <a:rPr sz="16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et</a:t>
            </a:r>
            <a:r>
              <a:rPr sz="1600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al.</a:t>
            </a:r>
            <a:r>
              <a:rPr sz="16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2007 Hackney</a:t>
            </a:r>
            <a:r>
              <a:rPr sz="16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&amp;</a:t>
            </a:r>
            <a:r>
              <a:rPr sz="16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Earhart,</a:t>
            </a:r>
            <a:r>
              <a:rPr sz="16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6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2008)</a:t>
            </a:r>
            <a:endParaRPr sz="1600">
              <a:latin typeface="Franklin Gothic Medium"/>
              <a:cs typeface="Franklin Gothic Medium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26312" y="4877689"/>
            <a:ext cx="2529840" cy="18415"/>
          </a:xfrm>
          <a:custGeom>
            <a:avLst/>
            <a:gdLst/>
            <a:ahLst/>
            <a:cxnLst/>
            <a:rect l="l" t="t" r="r" b="b"/>
            <a:pathLst>
              <a:path w="2529840" h="18414">
                <a:moveTo>
                  <a:pt x="2529840" y="0"/>
                </a:moveTo>
                <a:lnTo>
                  <a:pt x="0" y="0"/>
                </a:lnTo>
                <a:lnTo>
                  <a:pt x="0" y="18287"/>
                </a:lnTo>
                <a:lnTo>
                  <a:pt x="2529840" y="18287"/>
                </a:lnTo>
                <a:lnTo>
                  <a:pt x="2529840" y="0"/>
                </a:lnTo>
                <a:close/>
              </a:path>
            </a:pathLst>
          </a:custGeom>
          <a:solidFill>
            <a:srgbClr val="77A1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29590" y="4483049"/>
            <a:ext cx="3128645" cy="165481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396240" marR="5080" indent="-384175">
              <a:lnSpc>
                <a:spcPct val="94000"/>
              </a:lnSpc>
              <a:spcBef>
                <a:spcPts val="300"/>
              </a:spcBef>
              <a:buClr>
                <a:srgbClr val="CC0000"/>
              </a:buClr>
              <a:buChar char="■"/>
              <a:tabLst>
                <a:tab pos="396240" algn="l"/>
              </a:tabLst>
            </a:pPr>
            <a:r>
              <a:rPr sz="2800" spc="-25" dirty="0">
                <a:solidFill>
                  <a:srgbClr val="77A1BA"/>
                </a:solidFill>
                <a:latin typeface="Franklin Gothic Medium"/>
                <a:cs typeface="Franklin Gothic Medium"/>
                <a:hlinkClick r:id="rId3" action="ppaction://hlinksldjump"/>
              </a:rPr>
              <a:t>Strategies</a:t>
            </a:r>
            <a:r>
              <a:rPr sz="2800" spc="-120" dirty="0">
                <a:solidFill>
                  <a:srgbClr val="77A1BA"/>
                </a:solidFill>
                <a:latin typeface="Franklin Gothic Medium"/>
                <a:cs typeface="Franklin Gothic Medium"/>
                <a:hlinkClick r:id="rId3" action="ppaction://hlinksldjump"/>
              </a:rPr>
              <a:t> </a:t>
            </a:r>
            <a:r>
              <a:rPr sz="2800" dirty="0">
                <a:solidFill>
                  <a:srgbClr val="77A1BA"/>
                </a:solidFill>
                <a:latin typeface="Franklin Gothic Medium"/>
                <a:cs typeface="Franklin Gothic Medium"/>
                <a:hlinkClick r:id="rId3" action="ppaction://hlinksldjump"/>
              </a:rPr>
              <a:t>to</a:t>
            </a:r>
            <a:r>
              <a:rPr sz="2800" spc="-90" dirty="0">
                <a:solidFill>
                  <a:srgbClr val="77A1BA"/>
                </a:solidFill>
                <a:latin typeface="Franklin Gothic Medium"/>
                <a:cs typeface="Franklin Gothic Medium"/>
                <a:hlinkClick r:id="rId3" action="ppaction://hlinksldjump"/>
              </a:rPr>
              <a:t> </a:t>
            </a:r>
            <a:r>
              <a:rPr sz="2800" spc="-25" dirty="0">
                <a:solidFill>
                  <a:srgbClr val="77A1BA"/>
                </a:solidFill>
                <a:latin typeface="Franklin Gothic Medium"/>
                <a:cs typeface="Franklin Gothic Medium"/>
                <a:hlinkClick r:id="rId3" action="ppaction://hlinksldjump"/>
              </a:rPr>
              <a:t>cue</a:t>
            </a:r>
            <a:r>
              <a:rPr sz="2800" spc="-25" dirty="0">
                <a:solidFill>
                  <a:srgbClr val="77A1BA"/>
                </a:solidFill>
                <a:latin typeface="Franklin Gothic Medium"/>
                <a:cs typeface="Franklin Gothic Medium"/>
              </a:rPr>
              <a:t> </a:t>
            </a:r>
            <a:r>
              <a:rPr sz="2800" u="sng" spc="-45" dirty="0">
                <a:solidFill>
                  <a:srgbClr val="77A1BA"/>
                </a:solidFill>
                <a:uFill>
                  <a:solidFill>
                    <a:srgbClr val="77A1BA"/>
                  </a:solidFill>
                </a:uFill>
                <a:latin typeface="Franklin Gothic Medium"/>
                <a:cs typeface="Franklin Gothic Medium"/>
                <a:hlinkClick r:id="rId3" action="ppaction://hlinksldjump"/>
              </a:rPr>
              <a:t>movement</a:t>
            </a:r>
            <a:r>
              <a:rPr sz="2800" u="none" spc="-45" dirty="0">
                <a:solidFill>
                  <a:srgbClr val="CC0000"/>
                </a:solidFill>
                <a:latin typeface="Franklin Gothic Medium"/>
                <a:cs typeface="Franklin Gothic Medium"/>
              </a:rPr>
              <a:t>:</a:t>
            </a:r>
            <a:r>
              <a:rPr sz="2800" u="none" spc="-130" dirty="0">
                <a:solidFill>
                  <a:srgbClr val="CC0000"/>
                </a:solidFill>
                <a:latin typeface="Franklin Gothic Medium"/>
                <a:cs typeface="Franklin Gothic Medium"/>
              </a:rPr>
              <a:t> </a:t>
            </a:r>
            <a:r>
              <a:rPr sz="2800" u="none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visual, </a:t>
            </a:r>
            <a:r>
              <a:rPr sz="2800" u="none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auditory,</a:t>
            </a:r>
            <a:r>
              <a:rPr sz="2800" u="none" spc="-1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800" u="none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tactile, cognitive</a:t>
            </a:r>
            <a:endParaRPr sz="2800">
              <a:latin typeface="Franklin Gothic Medium"/>
              <a:cs typeface="Franklin Gothic Medium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686811" y="1401825"/>
            <a:ext cx="6457315" cy="5455285"/>
            <a:chOff x="2686811" y="1401825"/>
            <a:chExt cx="6457315" cy="5455285"/>
          </a:xfrm>
        </p:grpSpPr>
        <p:pic>
          <p:nvPicPr>
            <p:cNvPr id="9" name="object 9" descr="mso149E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08625" y="2825592"/>
              <a:ext cx="3635375" cy="403110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724144" y="4456937"/>
              <a:ext cx="2160905" cy="1944370"/>
            </a:xfrm>
            <a:custGeom>
              <a:avLst/>
              <a:gdLst/>
              <a:ahLst/>
              <a:cxnLst/>
              <a:rect l="l" t="t" r="r" b="b"/>
              <a:pathLst>
                <a:path w="2160904" h="1944370">
                  <a:moveTo>
                    <a:pt x="0" y="972185"/>
                  </a:moveTo>
                  <a:lnTo>
                    <a:pt x="1176" y="926417"/>
                  </a:lnTo>
                  <a:lnTo>
                    <a:pt x="4669" y="881194"/>
                  </a:lnTo>
                  <a:lnTo>
                    <a:pt x="10428" y="836562"/>
                  </a:lnTo>
                  <a:lnTo>
                    <a:pt x="18401" y="792569"/>
                  </a:lnTo>
                  <a:lnTo>
                    <a:pt x="28535" y="749261"/>
                  </a:lnTo>
                  <a:lnTo>
                    <a:pt x="40780" y="706684"/>
                  </a:lnTo>
                  <a:lnTo>
                    <a:pt x="55082" y="664886"/>
                  </a:lnTo>
                  <a:lnTo>
                    <a:pt x="71390" y="623913"/>
                  </a:lnTo>
                  <a:lnTo>
                    <a:pt x="89653" y="583811"/>
                  </a:lnTo>
                  <a:lnTo>
                    <a:pt x="109818" y="544628"/>
                  </a:lnTo>
                  <a:lnTo>
                    <a:pt x="131833" y="506409"/>
                  </a:lnTo>
                  <a:lnTo>
                    <a:pt x="155647" y="469202"/>
                  </a:lnTo>
                  <a:lnTo>
                    <a:pt x="181207" y="433054"/>
                  </a:lnTo>
                  <a:lnTo>
                    <a:pt x="208462" y="398010"/>
                  </a:lnTo>
                  <a:lnTo>
                    <a:pt x="237360" y="364118"/>
                  </a:lnTo>
                  <a:lnTo>
                    <a:pt x="267849" y="331425"/>
                  </a:lnTo>
                  <a:lnTo>
                    <a:pt x="299877" y="299976"/>
                  </a:lnTo>
                  <a:lnTo>
                    <a:pt x="333392" y="269819"/>
                  </a:lnTo>
                  <a:lnTo>
                    <a:pt x="368342" y="241001"/>
                  </a:lnTo>
                  <a:lnTo>
                    <a:pt x="404676" y="213567"/>
                  </a:lnTo>
                  <a:lnTo>
                    <a:pt x="442340" y="187565"/>
                  </a:lnTo>
                  <a:lnTo>
                    <a:pt x="481285" y="163042"/>
                  </a:lnTo>
                  <a:lnTo>
                    <a:pt x="521457" y="140043"/>
                  </a:lnTo>
                  <a:lnTo>
                    <a:pt x="562805" y="118616"/>
                  </a:lnTo>
                  <a:lnTo>
                    <a:pt x="605277" y="98808"/>
                  </a:lnTo>
                  <a:lnTo>
                    <a:pt x="648820" y="80664"/>
                  </a:lnTo>
                  <a:lnTo>
                    <a:pt x="693384" y="64232"/>
                  </a:lnTo>
                  <a:lnTo>
                    <a:pt x="738916" y="49559"/>
                  </a:lnTo>
                  <a:lnTo>
                    <a:pt x="785364" y="36691"/>
                  </a:lnTo>
                  <a:lnTo>
                    <a:pt x="832677" y="25674"/>
                  </a:lnTo>
                  <a:lnTo>
                    <a:pt x="880802" y="16556"/>
                  </a:lnTo>
                  <a:lnTo>
                    <a:pt x="929687" y="9382"/>
                  </a:lnTo>
                  <a:lnTo>
                    <a:pt x="979282" y="4201"/>
                  </a:lnTo>
                  <a:lnTo>
                    <a:pt x="1029533" y="1058"/>
                  </a:lnTo>
                  <a:lnTo>
                    <a:pt x="1080388" y="0"/>
                  </a:lnTo>
                  <a:lnTo>
                    <a:pt x="1131255" y="1058"/>
                  </a:lnTo>
                  <a:lnTo>
                    <a:pt x="1181516" y="4201"/>
                  </a:lnTo>
                  <a:lnTo>
                    <a:pt x="1231120" y="9382"/>
                  </a:lnTo>
                  <a:lnTo>
                    <a:pt x="1280014" y="16556"/>
                  </a:lnTo>
                  <a:lnTo>
                    <a:pt x="1328147" y="25674"/>
                  </a:lnTo>
                  <a:lnTo>
                    <a:pt x="1375468" y="36691"/>
                  </a:lnTo>
                  <a:lnTo>
                    <a:pt x="1421923" y="49559"/>
                  </a:lnTo>
                  <a:lnTo>
                    <a:pt x="1467462" y="64232"/>
                  </a:lnTo>
                  <a:lnTo>
                    <a:pt x="1512032" y="80664"/>
                  </a:lnTo>
                  <a:lnTo>
                    <a:pt x="1555581" y="98808"/>
                  </a:lnTo>
                  <a:lnTo>
                    <a:pt x="1598058" y="118616"/>
                  </a:lnTo>
                  <a:lnTo>
                    <a:pt x="1639411" y="140043"/>
                  </a:lnTo>
                  <a:lnTo>
                    <a:pt x="1679587" y="163042"/>
                  </a:lnTo>
                  <a:lnTo>
                    <a:pt x="1718536" y="187565"/>
                  </a:lnTo>
                  <a:lnTo>
                    <a:pt x="1756205" y="213567"/>
                  </a:lnTo>
                  <a:lnTo>
                    <a:pt x="1792542" y="241001"/>
                  </a:lnTo>
                  <a:lnTo>
                    <a:pt x="1827495" y="269819"/>
                  </a:lnTo>
                  <a:lnTo>
                    <a:pt x="1861013" y="299976"/>
                  </a:lnTo>
                  <a:lnTo>
                    <a:pt x="1893043" y="331425"/>
                  </a:lnTo>
                  <a:lnTo>
                    <a:pt x="1923534" y="364118"/>
                  </a:lnTo>
                  <a:lnTo>
                    <a:pt x="1952433" y="398010"/>
                  </a:lnTo>
                  <a:lnTo>
                    <a:pt x="1979690" y="433054"/>
                  </a:lnTo>
                  <a:lnTo>
                    <a:pt x="2005252" y="469202"/>
                  </a:lnTo>
                  <a:lnTo>
                    <a:pt x="2029067" y="506409"/>
                  </a:lnTo>
                  <a:lnTo>
                    <a:pt x="2051083" y="544628"/>
                  </a:lnTo>
                  <a:lnTo>
                    <a:pt x="2071249" y="583811"/>
                  </a:lnTo>
                  <a:lnTo>
                    <a:pt x="2089512" y="623913"/>
                  </a:lnTo>
                  <a:lnTo>
                    <a:pt x="2105821" y="664886"/>
                  </a:lnTo>
                  <a:lnTo>
                    <a:pt x="2120124" y="706684"/>
                  </a:lnTo>
                  <a:lnTo>
                    <a:pt x="2132368" y="749261"/>
                  </a:lnTo>
                  <a:lnTo>
                    <a:pt x="2142503" y="792569"/>
                  </a:lnTo>
                  <a:lnTo>
                    <a:pt x="2150476" y="836562"/>
                  </a:lnTo>
                  <a:lnTo>
                    <a:pt x="2156235" y="881194"/>
                  </a:lnTo>
                  <a:lnTo>
                    <a:pt x="2159728" y="926417"/>
                  </a:lnTo>
                  <a:lnTo>
                    <a:pt x="2160904" y="972185"/>
                  </a:lnTo>
                  <a:lnTo>
                    <a:pt x="2159728" y="1017942"/>
                  </a:lnTo>
                  <a:lnTo>
                    <a:pt x="2156235" y="1063155"/>
                  </a:lnTo>
                  <a:lnTo>
                    <a:pt x="2150476" y="1107777"/>
                  </a:lnTo>
                  <a:lnTo>
                    <a:pt x="2142503" y="1151761"/>
                  </a:lnTo>
                  <a:lnTo>
                    <a:pt x="2132368" y="1195061"/>
                  </a:lnTo>
                  <a:lnTo>
                    <a:pt x="2120124" y="1237630"/>
                  </a:lnTo>
                  <a:lnTo>
                    <a:pt x="2105821" y="1279421"/>
                  </a:lnTo>
                  <a:lnTo>
                    <a:pt x="2089512" y="1320387"/>
                  </a:lnTo>
                  <a:lnTo>
                    <a:pt x="2071249" y="1360483"/>
                  </a:lnTo>
                  <a:lnTo>
                    <a:pt x="2051083" y="1399661"/>
                  </a:lnTo>
                  <a:lnTo>
                    <a:pt x="2029067" y="1437874"/>
                  </a:lnTo>
                  <a:lnTo>
                    <a:pt x="2005252" y="1475076"/>
                  </a:lnTo>
                  <a:lnTo>
                    <a:pt x="1979690" y="1511220"/>
                  </a:lnTo>
                  <a:lnTo>
                    <a:pt x="1952433" y="1546259"/>
                  </a:lnTo>
                  <a:lnTo>
                    <a:pt x="1923534" y="1580147"/>
                  </a:lnTo>
                  <a:lnTo>
                    <a:pt x="1893043" y="1612837"/>
                  </a:lnTo>
                  <a:lnTo>
                    <a:pt x="1861013" y="1644283"/>
                  </a:lnTo>
                  <a:lnTo>
                    <a:pt x="1827495" y="1674437"/>
                  </a:lnTo>
                  <a:lnTo>
                    <a:pt x="1792542" y="1703253"/>
                  </a:lnTo>
                  <a:lnTo>
                    <a:pt x="1756205" y="1730685"/>
                  </a:lnTo>
                  <a:lnTo>
                    <a:pt x="1718536" y="1756685"/>
                  </a:lnTo>
                  <a:lnTo>
                    <a:pt x="1679587" y="1781207"/>
                  </a:lnTo>
                  <a:lnTo>
                    <a:pt x="1639411" y="1804204"/>
                  </a:lnTo>
                  <a:lnTo>
                    <a:pt x="1598058" y="1825630"/>
                  </a:lnTo>
                  <a:lnTo>
                    <a:pt x="1555581" y="1845437"/>
                  </a:lnTo>
                  <a:lnTo>
                    <a:pt x="1512032" y="1863580"/>
                  </a:lnTo>
                  <a:lnTo>
                    <a:pt x="1467462" y="1880011"/>
                  </a:lnTo>
                  <a:lnTo>
                    <a:pt x="1421923" y="1894684"/>
                  </a:lnTo>
                  <a:lnTo>
                    <a:pt x="1375468" y="1907552"/>
                  </a:lnTo>
                  <a:lnTo>
                    <a:pt x="1328147" y="1918569"/>
                  </a:lnTo>
                  <a:lnTo>
                    <a:pt x="1280014" y="1927687"/>
                  </a:lnTo>
                  <a:lnTo>
                    <a:pt x="1231120" y="1934860"/>
                  </a:lnTo>
                  <a:lnTo>
                    <a:pt x="1181516" y="1940041"/>
                  </a:lnTo>
                  <a:lnTo>
                    <a:pt x="1131255" y="1943184"/>
                  </a:lnTo>
                  <a:lnTo>
                    <a:pt x="1080388" y="1944243"/>
                  </a:lnTo>
                  <a:lnTo>
                    <a:pt x="1029533" y="1943184"/>
                  </a:lnTo>
                  <a:lnTo>
                    <a:pt x="979282" y="1940041"/>
                  </a:lnTo>
                  <a:lnTo>
                    <a:pt x="929687" y="1934860"/>
                  </a:lnTo>
                  <a:lnTo>
                    <a:pt x="880802" y="1927687"/>
                  </a:lnTo>
                  <a:lnTo>
                    <a:pt x="832677" y="1918569"/>
                  </a:lnTo>
                  <a:lnTo>
                    <a:pt x="785364" y="1907552"/>
                  </a:lnTo>
                  <a:lnTo>
                    <a:pt x="738916" y="1894684"/>
                  </a:lnTo>
                  <a:lnTo>
                    <a:pt x="693384" y="1880011"/>
                  </a:lnTo>
                  <a:lnTo>
                    <a:pt x="648820" y="1863580"/>
                  </a:lnTo>
                  <a:lnTo>
                    <a:pt x="605277" y="1845437"/>
                  </a:lnTo>
                  <a:lnTo>
                    <a:pt x="562805" y="1825630"/>
                  </a:lnTo>
                  <a:lnTo>
                    <a:pt x="521457" y="1804204"/>
                  </a:lnTo>
                  <a:lnTo>
                    <a:pt x="481285" y="1781207"/>
                  </a:lnTo>
                  <a:lnTo>
                    <a:pt x="442340" y="1756685"/>
                  </a:lnTo>
                  <a:lnTo>
                    <a:pt x="404676" y="1730685"/>
                  </a:lnTo>
                  <a:lnTo>
                    <a:pt x="368342" y="1703253"/>
                  </a:lnTo>
                  <a:lnTo>
                    <a:pt x="333392" y="1674437"/>
                  </a:lnTo>
                  <a:lnTo>
                    <a:pt x="299877" y="1644283"/>
                  </a:lnTo>
                  <a:lnTo>
                    <a:pt x="267849" y="1612837"/>
                  </a:lnTo>
                  <a:lnTo>
                    <a:pt x="237360" y="1580147"/>
                  </a:lnTo>
                  <a:lnTo>
                    <a:pt x="208462" y="1546259"/>
                  </a:lnTo>
                  <a:lnTo>
                    <a:pt x="181207" y="1511220"/>
                  </a:lnTo>
                  <a:lnTo>
                    <a:pt x="155647" y="1475076"/>
                  </a:lnTo>
                  <a:lnTo>
                    <a:pt x="131833" y="1437874"/>
                  </a:lnTo>
                  <a:lnTo>
                    <a:pt x="109818" y="1399661"/>
                  </a:lnTo>
                  <a:lnTo>
                    <a:pt x="89653" y="1360483"/>
                  </a:lnTo>
                  <a:lnTo>
                    <a:pt x="71390" y="1320387"/>
                  </a:lnTo>
                  <a:lnTo>
                    <a:pt x="55082" y="1279421"/>
                  </a:lnTo>
                  <a:lnTo>
                    <a:pt x="40780" y="1237630"/>
                  </a:lnTo>
                  <a:lnTo>
                    <a:pt x="28535" y="1195061"/>
                  </a:lnTo>
                  <a:lnTo>
                    <a:pt x="18401" y="1151761"/>
                  </a:lnTo>
                  <a:lnTo>
                    <a:pt x="10428" y="1107777"/>
                  </a:lnTo>
                  <a:lnTo>
                    <a:pt x="4669" y="1063155"/>
                  </a:lnTo>
                  <a:lnTo>
                    <a:pt x="1176" y="1017942"/>
                  </a:lnTo>
                  <a:lnTo>
                    <a:pt x="0" y="972185"/>
                  </a:lnTo>
                  <a:close/>
                </a:path>
              </a:pathLst>
            </a:custGeom>
            <a:ln w="317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686811" y="1401825"/>
              <a:ext cx="3037840" cy="3683635"/>
            </a:xfrm>
            <a:custGeom>
              <a:avLst/>
              <a:gdLst/>
              <a:ahLst/>
              <a:cxnLst/>
              <a:rect l="l" t="t" r="r" b="b"/>
              <a:pathLst>
                <a:path w="3037840" h="3683635">
                  <a:moveTo>
                    <a:pt x="2957287" y="3613532"/>
                  </a:moveTo>
                  <a:lnTo>
                    <a:pt x="2930271" y="3635755"/>
                  </a:lnTo>
                  <a:lnTo>
                    <a:pt x="3037332" y="3683380"/>
                  </a:lnTo>
                  <a:lnTo>
                    <a:pt x="3024411" y="3626993"/>
                  </a:lnTo>
                  <a:lnTo>
                    <a:pt x="2968371" y="3626993"/>
                  </a:lnTo>
                  <a:lnTo>
                    <a:pt x="2957287" y="3613532"/>
                  </a:lnTo>
                  <a:close/>
                </a:path>
                <a:path w="3037840" h="3683635">
                  <a:moveTo>
                    <a:pt x="2984186" y="3591404"/>
                  </a:moveTo>
                  <a:lnTo>
                    <a:pt x="2957287" y="3613532"/>
                  </a:lnTo>
                  <a:lnTo>
                    <a:pt x="2968371" y="3626993"/>
                  </a:lnTo>
                  <a:lnTo>
                    <a:pt x="2995295" y="3604895"/>
                  </a:lnTo>
                  <a:lnTo>
                    <a:pt x="2984186" y="3591404"/>
                  </a:lnTo>
                  <a:close/>
                </a:path>
                <a:path w="3037840" h="3683635">
                  <a:moveTo>
                    <a:pt x="3011170" y="3569207"/>
                  </a:moveTo>
                  <a:lnTo>
                    <a:pt x="2984186" y="3591404"/>
                  </a:lnTo>
                  <a:lnTo>
                    <a:pt x="2995295" y="3604895"/>
                  </a:lnTo>
                  <a:lnTo>
                    <a:pt x="2968371" y="3626993"/>
                  </a:lnTo>
                  <a:lnTo>
                    <a:pt x="3024411" y="3626993"/>
                  </a:lnTo>
                  <a:lnTo>
                    <a:pt x="3011170" y="3569207"/>
                  </a:lnTo>
                  <a:close/>
                </a:path>
                <a:path w="3037840" h="3683635">
                  <a:moveTo>
                    <a:pt x="27050" y="0"/>
                  </a:moveTo>
                  <a:lnTo>
                    <a:pt x="0" y="22098"/>
                  </a:lnTo>
                  <a:lnTo>
                    <a:pt x="2957287" y="3613532"/>
                  </a:lnTo>
                  <a:lnTo>
                    <a:pt x="2984186" y="3591404"/>
                  </a:lnTo>
                  <a:lnTo>
                    <a:pt x="270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07744" y="82676"/>
            <a:ext cx="6650355" cy="94869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12700" marR="5080">
              <a:lnSpc>
                <a:spcPts val="3420"/>
              </a:lnSpc>
              <a:spcBef>
                <a:spcPts val="565"/>
              </a:spcBef>
            </a:pPr>
            <a:r>
              <a:rPr spc="-45" dirty="0">
                <a:solidFill>
                  <a:srgbClr val="CC0000"/>
                </a:solidFill>
              </a:rPr>
              <a:t>Physiotherapy</a:t>
            </a:r>
            <a:r>
              <a:rPr spc="-155" dirty="0">
                <a:solidFill>
                  <a:srgbClr val="CC0000"/>
                </a:solidFill>
              </a:rPr>
              <a:t> </a:t>
            </a:r>
            <a:r>
              <a:rPr spc="-10" dirty="0">
                <a:solidFill>
                  <a:srgbClr val="CC0000"/>
                </a:solidFill>
              </a:rPr>
              <a:t>Interventions:</a:t>
            </a:r>
            <a:r>
              <a:rPr spc="-140" dirty="0">
                <a:solidFill>
                  <a:srgbClr val="CC0000"/>
                </a:solidFill>
              </a:rPr>
              <a:t> </a:t>
            </a:r>
            <a:r>
              <a:rPr spc="-10" dirty="0">
                <a:solidFill>
                  <a:srgbClr val="CC0000"/>
                </a:solidFill>
              </a:rPr>
              <a:t>strategies </a:t>
            </a:r>
            <a:r>
              <a:rPr dirty="0">
                <a:solidFill>
                  <a:srgbClr val="CC0000"/>
                </a:solidFill>
              </a:rPr>
              <a:t>to</a:t>
            </a:r>
            <a:r>
              <a:rPr spc="-85" dirty="0">
                <a:solidFill>
                  <a:srgbClr val="CC0000"/>
                </a:solidFill>
              </a:rPr>
              <a:t> </a:t>
            </a:r>
            <a:r>
              <a:rPr dirty="0">
                <a:solidFill>
                  <a:srgbClr val="CC0000"/>
                </a:solidFill>
              </a:rPr>
              <a:t>cue</a:t>
            </a:r>
            <a:r>
              <a:rPr spc="-100" dirty="0">
                <a:solidFill>
                  <a:srgbClr val="CC0000"/>
                </a:solidFill>
              </a:rPr>
              <a:t> </a:t>
            </a:r>
            <a:r>
              <a:rPr spc="-10" dirty="0">
                <a:solidFill>
                  <a:srgbClr val="CC0000"/>
                </a:solidFill>
              </a:rPr>
              <a:t>movement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25423" y="1215370"/>
            <a:ext cx="6141085" cy="181356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396240" indent="-383540">
              <a:lnSpc>
                <a:spcPct val="100000"/>
              </a:lnSpc>
              <a:spcBef>
                <a:spcPts val="645"/>
              </a:spcBef>
              <a:buClr>
                <a:srgbClr val="181B0D"/>
              </a:buClr>
              <a:buChar char="■"/>
              <a:tabLst>
                <a:tab pos="396240" algn="l"/>
              </a:tabLst>
            </a:pPr>
            <a:r>
              <a:rPr sz="2000" u="sng" dirty="0">
                <a:solidFill>
                  <a:srgbClr val="947999"/>
                </a:solidFill>
                <a:uFill>
                  <a:solidFill>
                    <a:srgbClr val="947999"/>
                  </a:solidFill>
                </a:uFill>
                <a:latin typeface="Franklin Gothic Medium"/>
                <a:cs typeface="Franklin Gothic Medium"/>
                <a:hlinkClick r:id="rId2"/>
              </a:rPr>
              <a:t>Cues</a:t>
            </a:r>
            <a:r>
              <a:rPr sz="2000" u="none" dirty="0">
                <a:solidFill>
                  <a:srgbClr val="181B0D"/>
                </a:solidFill>
                <a:latin typeface="Franklin Gothic Medium"/>
                <a:cs typeface="Franklin Gothic Medium"/>
              </a:rPr>
              <a:t>:</a:t>
            </a:r>
            <a:r>
              <a:rPr sz="2000" u="none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u="none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Classified</a:t>
            </a:r>
            <a:r>
              <a:rPr sz="2000" u="none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u="none" dirty="0">
                <a:solidFill>
                  <a:srgbClr val="181B0D"/>
                </a:solidFill>
                <a:latin typeface="Franklin Gothic Medium"/>
                <a:cs typeface="Franklin Gothic Medium"/>
              </a:rPr>
              <a:t>based</a:t>
            </a:r>
            <a:r>
              <a:rPr sz="2000" u="none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u="none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</a:t>
            </a:r>
            <a:r>
              <a:rPr sz="2000" u="none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u="none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terms</a:t>
            </a:r>
            <a:r>
              <a:rPr sz="2000" u="none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u="none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of:</a:t>
            </a:r>
            <a:endParaRPr sz="2000">
              <a:latin typeface="Franklin Gothic Medium"/>
              <a:cs typeface="Franklin Gothic Medium"/>
            </a:endParaRPr>
          </a:p>
          <a:p>
            <a:pPr marL="926465" lvl="1" indent="-383540">
              <a:lnSpc>
                <a:spcPct val="100000"/>
              </a:lnSpc>
              <a:spcBef>
                <a:spcPts val="555"/>
              </a:spcBef>
              <a:buFont typeface="Franklin Gothic Medium"/>
              <a:buChar char="–"/>
              <a:tabLst>
                <a:tab pos="926465" algn="l"/>
              </a:tabLst>
            </a:pPr>
            <a:r>
              <a:rPr sz="2000" i="1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Modality:</a:t>
            </a:r>
            <a:r>
              <a:rPr sz="2000" i="1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visual,</a:t>
            </a:r>
            <a:r>
              <a:rPr sz="2000" i="1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auditory</a:t>
            </a:r>
            <a:r>
              <a:rPr sz="2000" i="1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or</a:t>
            </a:r>
            <a:r>
              <a:rPr sz="2000" i="1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somatosensory</a:t>
            </a:r>
            <a:endParaRPr sz="2000">
              <a:latin typeface="Franklin Gothic Medium"/>
              <a:cs typeface="Franklin Gothic Medium"/>
            </a:endParaRPr>
          </a:p>
          <a:p>
            <a:pPr marL="926465" lvl="1" indent="-383540">
              <a:lnSpc>
                <a:spcPct val="100000"/>
              </a:lnSpc>
              <a:spcBef>
                <a:spcPts val="555"/>
              </a:spcBef>
              <a:buFont typeface="Franklin Gothic Medium"/>
              <a:buChar char="–"/>
              <a:tabLst>
                <a:tab pos="926465" algn="l"/>
              </a:tabLst>
            </a:pPr>
            <a:r>
              <a:rPr sz="2000" i="1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Parameter:</a:t>
            </a:r>
            <a:r>
              <a:rPr sz="2000" i="1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timing</a:t>
            </a:r>
            <a:r>
              <a:rPr sz="2000" i="1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or</a:t>
            </a:r>
            <a:r>
              <a:rPr sz="2000" i="1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spatial</a:t>
            </a:r>
            <a:endParaRPr sz="2000">
              <a:latin typeface="Franklin Gothic Medium"/>
              <a:cs typeface="Franklin Gothic Medium"/>
            </a:endParaRPr>
          </a:p>
          <a:p>
            <a:pPr marL="927100" marR="5080" lvl="1" indent="-384175">
              <a:lnSpc>
                <a:spcPts val="2260"/>
              </a:lnSpc>
              <a:spcBef>
                <a:spcPts val="755"/>
              </a:spcBef>
              <a:buFont typeface="Franklin Gothic Medium"/>
              <a:buChar char="–"/>
              <a:tabLst>
                <a:tab pos="927100" algn="l"/>
              </a:tabLst>
            </a:pP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Specification:</a:t>
            </a:r>
            <a:r>
              <a:rPr sz="2000" i="1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specific</a:t>
            </a:r>
            <a:r>
              <a:rPr sz="2000" i="1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step</a:t>
            </a:r>
            <a:r>
              <a:rPr sz="2000" i="1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length</a:t>
            </a:r>
            <a:r>
              <a:rPr sz="2000" i="1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(in</a:t>
            </a:r>
            <a:r>
              <a:rPr sz="2000" i="1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cm)</a:t>
            </a:r>
            <a:r>
              <a:rPr sz="2000" i="1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or</a:t>
            </a:r>
            <a:r>
              <a:rPr sz="2000" i="1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i="1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step </a:t>
            </a:r>
            <a:r>
              <a:rPr sz="20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frequency</a:t>
            </a:r>
            <a:endParaRPr sz="2000">
              <a:latin typeface="Franklin Gothic Medium"/>
              <a:cs typeface="Franklin Gothic Medium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8700" y="4553546"/>
            <a:ext cx="7792084" cy="694690"/>
          </a:xfrm>
          <a:custGeom>
            <a:avLst/>
            <a:gdLst/>
            <a:ahLst/>
            <a:cxnLst/>
            <a:rect l="l" t="t" r="r" b="b"/>
            <a:pathLst>
              <a:path w="7792084" h="694689">
                <a:moveTo>
                  <a:pt x="7791831" y="0"/>
                </a:moveTo>
                <a:lnTo>
                  <a:pt x="6063615" y="0"/>
                </a:lnTo>
                <a:lnTo>
                  <a:pt x="3471291" y="0"/>
                </a:lnTo>
                <a:lnTo>
                  <a:pt x="1599057" y="0"/>
                </a:lnTo>
                <a:lnTo>
                  <a:pt x="0" y="0"/>
                </a:lnTo>
                <a:lnTo>
                  <a:pt x="0" y="694347"/>
                </a:lnTo>
                <a:lnTo>
                  <a:pt x="1599057" y="694347"/>
                </a:lnTo>
                <a:lnTo>
                  <a:pt x="3471291" y="694347"/>
                </a:lnTo>
                <a:lnTo>
                  <a:pt x="6063615" y="694347"/>
                </a:lnTo>
                <a:lnTo>
                  <a:pt x="7791831" y="694347"/>
                </a:lnTo>
                <a:lnTo>
                  <a:pt x="7791831" y="0"/>
                </a:lnTo>
                <a:close/>
              </a:path>
            </a:pathLst>
          </a:custGeom>
          <a:solidFill>
            <a:srgbClr val="EDED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8700" y="6162344"/>
            <a:ext cx="7792084" cy="502920"/>
          </a:xfrm>
          <a:custGeom>
            <a:avLst/>
            <a:gdLst/>
            <a:ahLst/>
            <a:cxnLst/>
            <a:rect l="l" t="t" r="r" b="b"/>
            <a:pathLst>
              <a:path w="7792084" h="502920">
                <a:moveTo>
                  <a:pt x="7791831" y="0"/>
                </a:moveTo>
                <a:lnTo>
                  <a:pt x="6063615" y="0"/>
                </a:lnTo>
                <a:lnTo>
                  <a:pt x="3471291" y="0"/>
                </a:lnTo>
                <a:lnTo>
                  <a:pt x="1599057" y="0"/>
                </a:lnTo>
                <a:lnTo>
                  <a:pt x="0" y="0"/>
                </a:lnTo>
                <a:lnTo>
                  <a:pt x="0" y="502920"/>
                </a:lnTo>
                <a:lnTo>
                  <a:pt x="1599057" y="502920"/>
                </a:lnTo>
                <a:lnTo>
                  <a:pt x="3471291" y="502920"/>
                </a:lnTo>
                <a:lnTo>
                  <a:pt x="6063615" y="502920"/>
                </a:lnTo>
                <a:lnTo>
                  <a:pt x="7791831" y="502920"/>
                </a:lnTo>
                <a:lnTo>
                  <a:pt x="7791831" y="0"/>
                </a:lnTo>
                <a:close/>
              </a:path>
            </a:pathLst>
          </a:custGeom>
          <a:solidFill>
            <a:srgbClr val="EDEDE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022350" y="3269488"/>
          <a:ext cx="7880984" cy="33889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98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1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20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78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32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50" spc="-10" dirty="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Modality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B8D8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50" spc="-10" dirty="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Parameter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B8D8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50" spc="-10" dirty="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Examples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B8D8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50" dirty="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Gait</a:t>
                      </a:r>
                      <a:r>
                        <a:rPr sz="1350" spc="-55" dirty="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parameters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B8D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Visual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BD9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67119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Step</a:t>
                      </a:r>
                      <a:r>
                        <a:rPr sz="1350" spc="-5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30" dirty="0">
                          <a:latin typeface="Franklin Gothic Medium"/>
                          <a:cs typeface="Franklin Gothic Medium"/>
                        </a:rPr>
                        <a:t>Amplitude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Step</a:t>
                      </a:r>
                      <a:r>
                        <a:rPr sz="1350" spc="-5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frequency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BD9"/>
                    </a:solidFill>
                  </a:tcPr>
                </a:tc>
                <a:tc>
                  <a:txBody>
                    <a:bodyPr/>
                    <a:lstStyle/>
                    <a:p>
                      <a:pPr marL="434340" indent="-342265">
                        <a:lnSpc>
                          <a:spcPct val="100000"/>
                        </a:lnSpc>
                        <a:spcBef>
                          <a:spcPts val="325"/>
                        </a:spcBef>
                        <a:buAutoNum type="arabicPeriod"/>
                        <a:tabLst>
                          <a:tab pos="434340" algn="l"/>
                        </a:tabLst>
                      </a:pP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Lines</a:t>
                      </a:r>
                      <a:r>
                        <a:rPr sz="1350" spc="-1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on</a:t>
                      </a:r>
                      <a:r>
                        <a:rPr sz="1350" spc="-1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floor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  <a:p>
                      <a:pPr marL="434340" indent="-342265">
                        <a:lnSpc>
                          <a:spcPct val="100000"/>
                        </a:lnSpc>
                        <a:buAutoNum type="arabicPeriod"/>
                        <a:tabLst>
                          <a:tab pos="434340" algn="l"/>
                        </a:tabLst>
                      </a:pPr>
                      <a:r>
                        <a:rPr sz="1350" spc="-20" dirty="0">
                          <a:latin typeface="Franklin Gothic Medium"/>
                          <a:cs typeface="Franklin Gothic Medium"/>
                        </a:rPr>
                        <a:t>Patterned</a:t>
                      </a:r>
                      <a:r>
                        <a:rPr sz="1350" spc="-3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carpet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  <a:p>
                      <a:pPr marL="434975" marR="343535" indent="-342900">
                        <a:lnSpc>
                          <a:spcPct val="100000"/>
                        </a:lnSpc>
                        <a:buAutoNum type="arabicPeriod"/>
                        <a:tabLst>
                          <a:tab pos="434975" algn="l"/>
                        </a:tabLst>
                      </a:pPr>
                      <a:r>
                        <a:rPr sz="1350" spc="-35" dirty="0">
                          <a:latin typeface="Franklin Gothic Medium"/>
                          <a:cs typeface="Franklin Gothic Medium"/>
                        </a:rPr>
                        <a:t>Walking</a:t>
                      </a:r>
                      <a:r>
                        <a:rPr sz="1350" spc="-5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stick</a:t>
                      </a:r>
                      <a:r>
                        <a:rPr sz="1350" spc="-6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20" dirty="0">
                          <a:latin typeface="Franklin Gothic Medium"/>
                          <a:cs typeface="Franklin Gothic Medium"/>
                        </a:rPr>
                        <a:t>with</a:t>
                      </a:r>
                      <a:r>
                        <a:rPr sz="1350" spc="-4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20" dirty="0">
                          <a:latin typeface="Franklin Gothic Medium"/>
                          <a:cs typeface="Franklin Gothic Medium"/>
                        </a:rPr>
                        <a:t>LASER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beams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BD9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46228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dirty="0">
                          <a:latin typeface="Times New Roman"/>
                          <a:cs typeface="Times New Roman"/>
                        </a:rPr>
                        <a:t>↑</a:t>
                      </a:r>
                      <a:r>
                        <a:rPr sz="13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Step</a:t>
                      </a:r>
                      <a:r>
                        <a:rPr sz="1350" spc="-3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20" dirty="0">
                          <a:latin typeface="Franklin Gothic Medium"/>
                          <a:cs typeface="Franklin Gothic Medium"/>
                        </a:rPr>
                        <a:t>size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Modify</a:t>
                      </a:r>
                      <a:r>
                        <a:rPr sz="1350" spc="-7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step</a:t>
                      </a:r>
                      <a:r>
                        <a:rPr sz="1350" spc="-4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20" dirty="0">
                          <a:latin typeface="Franklin Gothic Medium"/>
                          <a:cs typeface="Franklin Gothic Medium"/>
                        </a:rPr>
                        <a:t>rate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(cadence)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05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Auditory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Step</a:t>
                      </a:r>
                      <a:r>
                        <a:rPr sz="1350" spc="-4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frequency</a:t>
                      </a:r>
                      <a:r>
                        <a:rPr sz="1350" spc="-6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50" dirty="0">
                          <a:latin typeface="Franklin Gothic Medium"/>
                          <a:cs typeface="Franklin Gothic Medium"/>
                        </a:rPr>
                        <a:t>&amp;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amplitude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C"/>
                    </a:solidFill>
                  </a:tcPr>
                </a:tc>
                <a:tc>
                  <a:txBody>
                    <a:bodyPr/>
                    <a:lstStyle/>
                    <a:p>
                      <a:pPr marL="434340" indent="-342265">
                        <a:lnSpc>
                          <a:spcPct val="100000"/>
                        </a:lnSpc>
                        <a:spcBef>
                          <a:spcPts val="325"/>
                        </a:spcBef>
                        <a:buAutoNum type="arabicPeriod"/>
                        <a:tabLst>
                          <a:tab pos="434340" algn="l"/>
                        </a:tabLst>
                      </a:pPr>
                      <a:r>
                        <a:rPr sz="1350" spc="-25" dirty="0">
                          <a:latin typeface="Franklin Gothic Medium"/>
                          <a:cs typeface="Franklin Gothic Medium"/>
                        </a:rPr>
                        <a:t>Metronome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20" dirty="0">
                          <a:latin typeface="Franklin Gothic Medium"/>
                          <a:cs typeface="Franklin Gothic Medium"/>
                        </a:rPr>
                        <a:t>beat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  <a:p>
                      <a:pPr marL="434340" indent="-342265">
                        <a:lnSpc>
                          <a:spcPct val="100000"/>
                        </a:lnSpc>
                        <a:buAutoNum type="arabicPeriod"/>
                        <a:tabLst>
                          <a:tab pos="434340" algn="l"/>
                        </a:tabLst>
                      </a:pP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Musical</a:t>
                      </a:r>
                      <a:r>
                        <a:rPr sz="1350" spc="-3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rhythm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Modify</a:t>
                      </a:r>
                      <a:r>
                        <a:rPr sz="1350" spc="-7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step</a:t>
                      </a:r>
                      <a:r>
                        <a:rPr sz="1350" spc="-4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rates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350" dirty="0">
                          <a:latin typeface="Times New Roman"/>
                          <a:cs typeface="Times New Roman"/>
                        </a:rPr>
                        <a:t>↑</a:t>
                      </a:r>
                      <a:r>
                        <a:rPr sz="13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Step</a:t>
                      </a:r>
                      <a:r>
                        <a:rPr sz="1350" spc="-4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20" dirty="0">
                          <a:latin typeface="Franklin Gothic Medium"/>
                          <a:cs typeface="Franklin Gothic Medium"/>
                        </a:rPr>
                        <a:t>size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Somatosensory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B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Step</a:t>
                      </a:r>
                      <a:r>
                        <a:rPr sz="1350" spc="-5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frequency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BD9"/>
                    </a:solidFill>
                  </a:tcPr>
                </a:tc>
                <a:tc>
                  <a:txBody>
                    <a:bodyPr/>
                    <a:lstStyle/>
                    <a:p>
                      <a:pPr marL="434340" indent="-342265">
                        <a:lnSpc>
                          <a:spcPct val="100000"/>
                        </a:lnSpc>
                        <a:spcBef>
                          <a:spcPts val="330"/>
                        </a:spcBef>
                        <a:buAutoNum type="arabicPeriod"/>
                        <a:tabLst>
                          <a:tab pos="434340" algn="l"/>
                        </a:tabLst>
                      </a:pPr>
                      <a:r>
                        <a:rPr sz="1350" spc="-30" dirty="0">
                          <a:latin typeface="Franklin Gothic Medium"/>
                          <a:cs typeface="Franklin Gothic Medium"/>
                        </a:rPr>
                        <a:t>Rhythmic</a:t>
                      </a:r>
                      <a:r>
                        <a:rPr sz="1350" spc="-3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vibrations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  <a:p>
                      <a:pPr marL="434340" indent="-342265">
                        <a:lnSpc>
                          <a:spcPct val="100000"/>
                        </a:lnSpc>
                        <a:buAutoNum type="arabicPeriod"/>
                        <a:tabLst>
                          <a:tab pos="434340" algn="l"/>
                        </a:tabLst>
                      </a:pP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Electrical</a:t>
                      </a:r>
                      <a:r>
                        <a:rPr sz="1350" spc="-1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20" dirty="0">
                          <a:latin typeface="Franklin Gothic Medium"/>
                          <a:cs typeface="Franklin Gothic Medium"/>
                        </a:rPr>
                        <a:t>pulse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  <a:p>
                      <a:pPr marL="434340" indent="-342265">
                        <a:lnSpc>
                          <a:spcPct val="100000"/>
                        </a:lnSpc>
                        <a:buAutoNum type="arabicPeriod"/>
                        <a:tabLst>
                          <a:tab pos="434340" algn="l"/>
                        </a:tabLst>
                      </a:pP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Touch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  <a:p>
                      <a:pPr marL="434340" indent="-342265">
                        <a:lnSpc>
                          <a:spcPct val="100000"/>
                        </a:lnSpc>
                        <a:buAutoNum type="arabicPeriod"/>
                        <a:tabLst>
                          <a:tab pos="434340" algn="l"/>
                        </a:tabLst>
                      </a:pP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Treadmill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B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Modify</a:t>
                      </a:r>
                      <a:r>
                        <a:rPr sz="1350" spc="-7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step</a:t>
                      </a:r>
                      <a:r>
                        <a:rPr sz="1350" spc="-4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20" dirty="0">
                          <a:latin typeface="Franklin Gothic Medium"/>
                          <a:cs typeface="Franklin Gothic Medium"/>
                        </a:rPr>
                        <a:t>rate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Attention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Step</a:t>
                      </a:r>
                      <a:r>
                        <a:rPr sz="1350" spc="-6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amplitude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Concentrating</a:t>
                      </a:r>
                      <a:r>
                        <a:rPr sz="1350" spc="-4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dirty="0">
                          <a:latin typeface="Franklin Gothic Medium"/>
                          <a:cs typeface="Franklin Gothic Medium"/>
                        </a:rPr>
                        <a:t>on</a:t>
                      </a:r>
                      <a:r>
                        <a:rPr sz="1350" spc="-20" dirty="0">
                          <a:latin typeface="Franklin Gothic Medium"/>
                          <a:cs typeface="Franklin Gothic Medium"/>
                        </a:rPr>
                        <a:t> taking</a:t>
                      </a:r>
                      <a:r>
                        <a:rPr sz="1350" spc="-4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25" dirty="0">
                          <a:latin typeface="Franklin Gothic Medium"/>
                          <a:cs typeface="Franklin Gothic Medium"/>
                        </a:rPr>
                        <a:t>big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50" spc="-20" dirty="0">
                          <a:latin typeface="Franklin Gothic Medium"/>
                          <a:cs typeface="Franklin Gothic Medium"/>
                        </a:rPr>
                        <a:t>steps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dirty="0">
                          <a:latin typeface="Times New Roman"/>
                          <a:cs typeface="Times New Roman"/>
                        </a:rPr>
                        <a:t>↑</a:t>
                      </a:r>
                      <a:r>
                        <a:rPr sz="13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50" spc="-10" dirty="0">
                          <a:latin typeface="Franklin Gothic Medium"/>
                          <a:cs typeface="Franklin Gothic Medium"/>
                        </a:rPr>
                        <a:t>Step</a:t>
                      </a:r>
                      <a:r>
                        <a:rPr sz="1350" spc="-4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350" spc="-20" dirty="0">
                          <a:latin typeface="Franklin Gothic Medium"/>
                          <a:cs typeface="Franklin Gothic Medium"/>
                        </a:rPr>
                        <a:t>size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07744" y="627633"/>
            <a:ext cx="6343650" cy="129413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ts val="4700"/>
              </a:lnSpc>
              <a:spcBef>
                <a:spcPts val="740"/>
              </a:spcBef>
              <a:tabLst>
                <a:tab pos="4457065" algn="l"/>
              </a:tabLst>
            </a:pPr>
            <a:r>
              <a:rPr sz="4400" spc="-40" dirty="0">
                <a:solidFill>
                  <a:srgbClr val="181B0D"/>
                </a:solidFill>
              </a:rPr>
              <a:t>Example</a:t>
            </a:r>
            <a:r>
              <a:rPr sz="4400" spc="-175" dirty="0">
                <a:solidFill>
                  <a:srgbClr val="181B0D"/>
                </a:solidFill>
              </a:rPr>
              <a:t> </a:t>
            </a:r>
            <a:r>
              <a:rPr sz="4400" dirty="0">
                <a:solidFill>
                  <a:srgbClr val="181B0D"/>
                </a:solidFill>
              </a:rPr>
              <a:t>of</a:t>
            </a:r>
            <a:r>
              <a:rPr sz="4400" spc="-150" dirty="0">
                <a:solidFill>
                  <a:srgbClr val="181B0D"/>
                </a:solidFill>
              </a:rPr>
              <a:t> </a:t>
            </a:r>
            <a:r>
              <a:rPr sz="4400" spc="-10" dirty="0">
                <a:solidFill>
                  <a:srgbClr val="181B0D"/>
                </a:solidFill>
              </a:rPr>
              <a:t>cueing</a:t>
            </a:r>
            <a:r>
              <a:rPr sz="4400" dirty="0">
                <a:solidFill>
                  <a:srgbClr val="181B0D"/>
                </a:solidFill>
              </a:rPr>
              <a:t>	</a:t>
            </a:r>
            <a:r>
              <a:rPr sz="4400" spc="-70" dirty="0">
                <a:solidFill>
                  <a:srgbClr val="181B0D"/>
                </a:solidFill>
              </a:rPr>
              <a:t>strategy </a:t>
            </a:r>
            <a:r>
              <a:rPr sz="4400" dirty="0">
                <a:solidFill>
                  <a:srgbClr val="181B0D"/>
                </a:solidFill>
              </a:rPr>
              <a:t>for</a:t>
            </a:r>
            <a:r>
              <a:rPr sz="4400" spc="-240" dirty="0">
                <a:solidFill>
                  <a:srgbClr val="181B0D"/>
                </a:solidFill>
              </a:rPr>
              <a:t> </a:t>
            </a:r>
            <a:r>
              <a:rPr sz="4400" spc="-20" dirty="0">
                <a:solidFill>
                  <a:srgbClr val="181B0D"/>
                </a:solidFill>
              </a:rPr>
              <a:t>different</a:t>
            </a:r>
            <a:r>
              <a:rPr sz="4400" spc="-240" dirty="0">
                <a:solidFill>
                  <a:srgbClr val="181B0D"/>
                </a:solidFill>
              </a:rPr>
              <a:t> </a:t>
            </a:r>
            <a:r>
              <a:rPr sz="4400" spc="-20" dirty="0">
                <a:solidFill>
                  <a:srgbClr val="181B0D"/>
                </a:solidFill>
              </a:rPr>
              <a:t>gait</a:t>
            </a:r>
            <a:r>
              <a:rPr sz="4400" spc="-240" dirty="0">
                <a:solidFill>
                  <a:srgbClr val="181B0D"/>
                </a:solidFill>
              </a:rPr>
              <a:t> </a:t>
            </a:r>
            <a:r>
              <a:rPr sz="4400" spc="-10" dirty="0">
                <a:solidFill>
                  <a:srgbClr val="181B0D"/>
                </a:solidFill>
              </a:rPr>
              <a:t>problems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7600" y="1973338"/>
            <a:ext cx="7327900" cy="4389247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358775" cy="6858000"/>
          </a:xfrm>
          <a:custGeom>
            <a:avLst/>
            <a:gdLst/>
            <a:ahLst/>
            <a:cxnLst/>
            <a:rect l="l" t="t" r="r" b="b"/>
            <a:pathLst>
              <a:path w="358775" h="6858000">
                <a:moveTo>
                  <a:pt x="0" y="6858000"/>
                </a:moveTo>
                <a:lnTo>
                  <a:pt x="358571" y="6858000"/>
                </a:lnTo>
                <a:lnTo>
                  <a:pt x="35857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CE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58571" y="0"/>
            <a:ext cx="8785860" cy="6858634"/>
            <a:chOff x="358571" y="0"/>
            <a:chExt cx="8785860" cy="6858634"/>
          </a:xfrm>
        </p:grpSpPr>
        <p:sp>
          <p:nvSpPr>
            <p:cNvPr id="4" name="object 4"/>
            <p:cNvSpPr/>
            <p:nvPr/>
          </p:nvSpPr>
          <p:spPr>
            <a:xfrm>
              <a:off x="530021" y="0"/>
              <a:ext cx="8614410" cy="6858000"/>
            </a:xfrm>
            <a:custGeom>
              <a:avLst/>
              <a:gdLst/>
              <a:ahLst/>
              <a:cxnLst/>
              <a:rect l="l" t="t" r="r" b="b"/>
              <a:pathLst>
                <a:path w="8614410" h="6858000">
                  <a:moveTo>
                    <a:pt x="0" y="6858000"/>
                  </a:moveTo>
                  <a:lnTo>
                    <a:pt x="8613978" y="6858000"/>
                  </a:lnTo>
                  <a:lnTo>
                    <a:pt x="8613978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EEEC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8571" y="375"/>
              <a:ext cx="171450" cy="6858000"/>
            </a:xfrm>
            <a:custGeom>
              <a:avLst/>
              <a:gdLst/>
              <a:ahLst/>
              <a:cxnLst/>
              <a:rect l="l" t="t" r="r" b="b"/>
              <a:pathLst>
                <a:path w="171450" h="6858000">
                  <a:moveTo>
                    <a:pt x="17145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71450" y="6858000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181B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626" y="181610"/>
              <a:ext cx="8280908" cy="531876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131819" y="3716997"/>
              <a:ext cx="5473065" cy="923925"/>
            </a:xfrm>
            <a:custGeom>
              <a:avLst/>
              <a:gdLst/>
              <a:ahLst/>
              <a:cxnLst/>
              <a:rect l="l" t="t" r="r" b="b"/>
              <a:pathLst>
                <a:path w="5473065" h="923925">
                  <a:moveTo>
                    <a:pt x="0" y="923328"/>
                  </a:moveTo>
                  <a:lnTo>
                    <a:pt x="5472557" y="923328"/>
                  </a:lnTo>
                  <a:lnTo>
                    <a:pt x="5472557" y="0"/>
                  </a:lnTo>
                  <a:lnTo>
                    <a:pt x="0" y="0"/>
                  </a:lnTo>
                  <a:lnTo>
                    <a:pt x="0" y="923328"/>
                  </a:lnTo>
                  <a:close/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16991" y="5728208"/>
            <a:ext cx="7773670" cy="1084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</a:tabLst>
            </a:pPr>
            <a:r>
              <a:rPr sz="1800" dirty="0">
                <a:latin typeface="Franklin Gothic Medium"/>
                <a:cs typeface="Franklin Gothic Medium"/>
              </a:rPr>
              <a:t>Cue</a:t>
            </a:r>
            <a:r>
              <a:rPr sz="1800" spc="-65" dirty="0">
                <a:latin typeface="Franklin Gothic Medium"/>
                <a:cs typeface="Franklin Gothic Medium"/>
              </a:rPr>
              <a:t> </a:t>
            </a:r>
            <a:r>
              <a:rPr sz="1800" spc="-20" dirty="0">
                <a:latin typeface="Franklin Gothic Medium"/>
                <a:cs typeface="Franklin Gothic Medium"/>
              </a:rPr>
              <a:t>training</a:t>
            </a:r>
            <a:r>
              <a:rPr sz="1800" spc="-40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in</a:t>
            </a:r>
            <a:r>
              <a:rPr sz="1800" spc="-55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the</a:t>
            </a:r>
            <a:r>
              <a:rPr sz="1800" spc="-55" dirty="0">
                <a:latin typeface="Franklin Gothic Medium"/>
                <a:cs typeface="Franklin Gothic Medium"/>
              </a:rPr>
              <a:t> </a:t>
            </a:r>
            <a:r>
              <a:rPr sz="1800" spc="-10" dirty="0">
                <a:latin typeface="Franklin Gothic Medium"/>
                <a:cs typeface="Franklin Gothic Medium"/>
              </a:rPr>
              <a:t>home</a:t>
            </a:r>
            <a:r>
              <a:rPr sz="1800" spc="-45" dirty="0">
                <a:latin typeface="Franklin Gothic Medium"/>
                <a:cs typeface="Franklin Gothic Medium"/>
              </a:rPr>
              <a:t> </a:t>
            </a:r>
            <a:r>
              <a:rPr sz="1800" spc="-10" dirty="0">
                <a:latin typeface="Franklin Gothic Medium"/>
                <a:cs typeface="Franklin Gothic Medium"/>
              </a:rPr>
              <a:t>improves:</a:t>
            </a:r>
            <a:endParaRPr sz="1800">
              <a:latin typeface="Franklin Gothic Medium"/>
              <a:cs typeface="Franklin Gothic Medium"/>
            </a:endParaRPr>
          </a:p>
          <a:p>
            <a:pPr marL="756285" lvl="1" indent="-286385">
              <a:lnSpc>
                <a:spcPct val="100000"/>
              </a:lnSpc>
              <a:buFont typeface="Arial"/>
              <a:buChar char="•"/>
              <a:tabLst>
                <a:tab pos="756285" algn="l"/>
              </a:tabLst>
            </a:pPr>
            <a:r>
              <a:rPr sz="1800" dirty="0">
                <a:latin typeface="Franklin Gothic Medium"/>
                <a:cs typeface="Franklin Gothic Medium"/>
              </a:rPr>
              <a:t>Gait</a:t>
            </a:r>
            <a:r>
              <a:rPr sz="1800" spc="-65" dirty="0">
                <a:latin typeface="Franklin Gothic Medium"/>
                <a:cs typeface="Franklin Gothic Medium"/>
              </a:rPr>
              <a:t> </a:t>
            </a:r>
            <a:r>
              <a:rPr sz="1800" spc="-20" dirty="0">
                <a:latin typeface="Franklin Gothic Medium"/>
                <a:cs typeface="Franklin Gothic Medium"/>
              </a:rPr>
              <a:t>related</a:t>
            </a:r>
            <a:r>
              <a:rPr sz="1800" spc="-65" dirty="0">
                <a:latin typeface="Franklin Gothic Medium"/>
                <a:cs typeface="Franklin Gothic Medium"/>
              </a:rPr>
              <a:t> </a:t>
            </a:r>
            <a:r>
              <a:rPr sz="1800" spc="-30" dirty="0">
                <a:latin typeface="Franklin Gothic Medium"/>
                <a:cs typeface="Franklin Gothic Medium"/>
              </a:rPr>
              <a:t>mobility</a:t>
            </a:r>
            <a:r>
              <a:rPr sz="1800" spc="-55" dirty="0">
                <a:latin typeface="Franklin Gothic Medium"/>
                <a:cs typeface="Franklin Gothic Medium"/>
              </a:rPr>
              <a:t> </a:t>
            </a:r>
            <a:r>
              <a:rPr sz="1800" spc="-10" dirty="0">
                <a:latin typeface="Franklin Gothic Medium"/>
                <a:cs typeface="Franklin Gothic Medium"/>
              </a:rPr>
              <a:t>(Nieuwboer</a:t>
            </a:r>
            <a:r>
              <a:rPr sz="1800" spc="-75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et</a:t>
            </a:r>
            <a:r>
              <a:rPr sz="1800" spc="-60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al.</a:t>
            </a:r>
            <a:r>
              <a:rPr sz="1800" spc="-70" dirty="0">
                <a:latin typeface="Franklin Gothic Medium"/>
                <a:cs typeface="Franklin Gothic Medium"/>
              </a:rPr>
              <a:t> </a:t>
            </a:r>
            <a:r>
              <a:rPr sz="1800" spc="-10" dirty="0">
                <a:latin typeface="Franklin Gothic Medium"/>
                <a:cs typeface="Franklin Gothic Medium"/>
              </a:rPr>
              <a:t>2007)</a:t>
            </a:r>
            <a:endParaRPr sz="1800">
              <a:latin typeface="Franklin Gothic Medium"/>
              <a:cs typeface="Franklin Gothic Medium"/>
            </a:endParaRPr>
          </a:p>
          <a:p>
            <a:pPr marL="756285" lvl="1" indent="-286385">
              <a:lnSpc>
                <a:spcPts val="2010"/>
              </a:lnSpc>
              <a:buFont typeface="Arial"/>
              <a:buChar char="•"/>
              <a:tabLst>
                <a:tab pos="756285" algn="l"/>
              </a:tabLst>
            </a:pPr>
            <a:r>
              <a:rPr sz="1800" spc="-25" dirty="0">
                <a:latin typeface="Franklin Gothic Medium"/>
                <a:cs typeface="Franklin Gothic Medium"/>
              </a:rPr>
              <a:t>Physical</a:t>
            </a:r>
            <a:r>
              <a:rPr sz="1800" spc="-60" dirty="0">
                <a:latin typeface="Franklin Gothic Medium"/>
                <a:cs typeface="Franklin Gothic Medium"/>
              </a:rPr>
              <a:t> </a:t>
            </a:r>
            <a:r>
              <a:rPr sz="1800" spc="-25" dirty="0">
                <a:latin typeface="Franklin Gothic Medium"/>
                <a:cs typeface="Franklin Gothic Medium"/>
              </a:rPr>
              <a:t>activity</a:t>
            </a:r>
            <a:r>
              <a:rPr sz="1800" spc="-65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in</a:t>
            </a:r>
            <a:r>
              <a:rPr sz="1800" spc="-60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PD</a:t>
            </a:r>
            <a:r>
              <a:rPr sz="1800" spc="-60" dirty="0">
                <a:latin typeface="Franklin Gothic Medium"/>
                <a:cs typeface="Franklin Gothic Medium"/>
              </a:rPr>
              <a:t> </a:t>
            </a:r>
            <a:r>
              <a:rPr sz="1800" spc="-10" dirty="0">
                <a:latin typeface="Franklin Gothic Medium"/>
                <a:cs typeface="Franklin Gothic Medium"/>
              </a:rPr>
              <a:t>patients</a:t>
            </a:r>
            <a:r>
              <a:rPr sz="1800" spc="-55" dirty="0">
                <a:latin typeface="Franklin Gothic Medium"/>
                <a:cs typeface="Franklin Gothic Medium"/>
              </a:rPr>
              <a:t> </a:t>
            </a:r>
            <a:r>
              <a:rPr sz="1800" spc="-10" dirty="0">
                <a:latin typeface="Franklin Gothic Medium"/>
                <a:cs typeface="Franklin Gothic Medium"/>
              </a:rPr>
              <a:t>(Lim</a:t>
            </a:r>
            <a:r>
              <a:rPr sz="1800" spc="-55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I</a:t>
            </a:r>
            <a:r>
              <a:rPr sz="1800" spc="-60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et</a:t>
            </a:r>
            <a:r>
              <a:rPr sz="1800" spc="-70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al.</a:t>
            </a:r>
            <a:r>
              <a:rPr sz="1800" spc="-55" dirty="0">
                <a:latin typeface="Franklin Gothic Medium"/>
                <a:cs typeface="Franklin Gothic Medium"/>
              </a:rPr>
              <a:t> </a:t>
            </a:r>
            <a:r>
              <a:rPr sz="1800" spc="-10" dirty="0">
                <a:latin typeface="Franklin Gothic Medium"/>
                <a:cs typeface="Franklin Gothic Medium"/>
              </a:rPr>
              <a:t>2010)</a:t>
            </a:r>
            <a:endParaRPr sz="1800">
              <a:latin typeface="Franklin Gothic Medium"/>
              <a:cs typeface="Franklin Gothic Medium"/>
            </a:endParaRPr>
          </a:p>
          <a:p>
            <a:pPr marL="5747385">
              <a:lnSpc>
                <a:spcPts val="2010"/>
              </a:lnSpc>
            </a:pPr>
            <a:r>
              <a:rPr sz="1800" spc="-20" dirty="0">
                <a:latin typeface="Franklin Gothic Medium"/>
                <a:cs typeface="Franklin Gothic Medium"/>
              </a:rPr>
              <a:t>Rocha</a:t>
            </a:r>
            <a:r>
              <a:rPr sz="1800" spc="-95" dirty="0">
                <a:latin typeface="Franklin Gothic Medium"/>
                <a:cs typeface="Franklin Gothic Medium"/>
              </a:rPr>
              <a:t> </a:t>
            </a:r>
            <a:r>
              <a:rPr sz="1800" spc="-150" dirty="0">
                <a:latin typeface="Franklin Gothic Medium"/>
                <a:cs typeface="Franklin Gothic Medium"/>
              </a:rPr>
              <a:t>PA</a:t>
            </a:r>
            <a:r>
              <a:rPr sz="1800" dirty="0">
                <a:latin typeface="Franklin Gothic Medium"/>
                <a:cs typeface="Franklin Gothic Medium"/>
              </a:rPr>
              <a:t> et</a:t>
            </a:r>
            <a:r>
              <a:rPr sz="1800" spc="-40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al.</a:t>
            </a:r>
            <a:r>
              <a:rPr sz="1800" spc="-45" dirty="0">
                <a:latin typeface="Franklin Gothic Medium"/>
                <a:cs typeface="Franklin Gothic Medium"/>
              </a:rPr>
              <a:t> </a:t>
            </a:r>
            <a:r>
              <a:rPr sz="1800" spc="-20" dirty="0">
                <a:latin typeface="Franklin Gothic Medium"/>
                <a:cs typeface="Franklin Gothic Medium"/>
              </a:rPr>
              <a:t>2014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39" y="154635"/>
            <a:ext cx="68592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>
                <a:solidFill>
                  <a:srgbClr val="CC0000"/>
                </a:solidFill>
              </a:rPr>
              <a:t>Contemporary</a:t>
            </a:r>
            <a:r>
              <a:rPr spc="-125" dirty="0">
                <a:solidFill>
                  <a:srgbClr val="CC0000"/>
                </a:solidFill>
              </a:rPr>
              <a:t> </a:t>
            </a:r>
            <a:r>
              <a:rPr spc="-40" dirty="0">
                <a:solidFill>
                  <a:srgbClr val="CC0000"/>
                </a:solidFill>
              </a:rPr>
              <a:t>physiotherapy</a:t>
            </a:r>
            <a:r>
              <a:rPr spc="-120" dirty="0">
                <a:solidFill>
                  <a:srgbClr val="CC0000"/>
                </a:solidFill>
              </a:rPr>
              <a:t> </a:t>
            </a:r>
            <a:r>
              <a:rPr spc="-10" dirty="0">
                <a:solidFill>
                  <a:srgbClr val="CC0000"/>
                </a:solidFill>
              </a:rPr>
              <a:t>philosophy</a:t>
            </a:r>
          </a:p>
        </p:txBody>
      </p:sp>
      <p:sp>
        <p:nvSpPr>
          <p:cNvPr id="3" name="object 3"/>
          <p:cNvSpPr/>
          <p:nvPr/>
        </p:nvSpPr>
        <p:spPr>
          <a:xfrm>
            <a:off x="726312" y="2242692"/>
            <a:ext cx="2486025" cy="15240"/>
          </a:xfrm>
          <a:custGeom>
            <a:avLst/>
            <a:gdLst/>
            <a:ahLst/>
            <a:cxnLst/>
            <a:rect l="l" t="t" r="r" b="b"/>
            <a:pathLst>
              <a:path w="2486025" h="15239">
                <a:moveTo>
                  <a:pt x="2485644" y="0"/>
                </a:moveTo>
                <a:lnTo>
                  <a:pt x="0" y="0"/>
                </a:lnTo>
                <a:lnTo>
                  <a:pt x="0" y="15240"/>
                </a:lnTo>
                <a:lnTo>
                  <a:pt x="2485644" y="15240"/>
                </a:lnTo>
                <a:lnTo>
                  <a:pt x="2485644" y="0"/>
                </a:lnTo>
                <a:close/>
              </a:path>
            </a:pathLst>
          </a:custGeom>
          <a:solidFill>
            <a:srgbClr val="77A1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9590" y="1056894"/>
            <a:ext cx="6840855" cy="1237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240" indent="-383540">
              <a:lnSpc>
                <a:spcPct val="100000"/>
              </a:lnSpc>
              <a:spcBef>
                <a:spcPts val="100"/>
              </a:spcBef>
              <a:buChar char="■"/>
              <a:tabLst>
                <a:tab pos="396240" algn="l"/>
              </a:tabLst>
            </a:pPr>
            <a:r>
              <a:rPr sz="2400" dirty="0">
                <a:solidFill>
                  <a:srgbClr val="CC0000"/>
                </a:solidFill>
                <a:latin typeface="Franklin Gothic Medium"/>
                <a:cs typeface="Franklin Gothic Medium"/>
              </a:rPr>
              <a:t>Core</a:t>
            </a:r>
            <a:r>
              <a:rPr sz="2400" spc="-90" dirty="0">
                <a:solidFill>
                  <a:srgbClr val="CC0000"/>
                </a:solidFill>
                <a:latin typeface="Franklin Gothic Medium"/>
                <a:cs typeface="Franklin Gothic Medium"/>
              </a:rPr>
              <a:t> </a:t>
            </a:r>
            <a:r>
              <a:rPr sz="2400" spc="-10" dirty="0">
                <a:solidFill>
                  <a:srgbClr val="CC0000"/>
                </a:solidFill>
                <a:latin typeface="Franklin Gothic Medium"/>
                <a:cs typeface="Franklin Gothic Medium"/>
              </a:rPr>
              <a:t>areas</a:t>
            </a:r>
            <a:endParaRPr sz="24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1055"/>
              </a:spcBef>
              <a:buClr>
                <a:srgbClr val="CC0000"/>
              </a:buClr>
              <a:buFont typeface="Franklin Gothic Medium"/>
              <a:buChar char="■"/>
            </a:pPr>
            <a:endParaRPr sz="24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buClr>
                <a:srgbClr val="CC0000"/>
              </a:buClr>
              <a:buChar char="■"/>
              <a:tabLst>
                <a:tab pos="396240" algn="l"/>
              </a:tabLst>
            </a:pPr>
            <a:r>
              <a:rPr sz="2400" spc="-70" dirty="0">
                <a:solidFill>
                  <a:srgbClr val="77A1BA"/>
                </a:solidFill>
                <a:latin typeface="Franklin Gothic Medium"/>
                <a:cs typeface="Franklin Gothic Medium"/>
                <a:hlinkClick r:id="rId2" action="ppaction://hlinksldjump"/>
              </a:rPr>
              <a:t>Walking</a:t>
            </a:r>
            <a:r>
              <a:rPr sz="2400" spc="-80" dirty="0">
                <a:solidFill>
                  <a:srgbClr val="77A1BA"/>
                </a:solidFill>
                <a:latin typeface="Franklin Gothic Medium"/>
                <a:cs typeface="Franklin Gothic Medium"/>
                <a:hlinkClick r:id="rId2" action="ppaction://hlinksldjump"/>
              </a:rPr>
              <a:t> </a:t>
            </a:r>
            <a:r>
              <a:rPr sz="2400" dirty="0">
                <a:solidFill>
                  <a:srgbClr val="77A1BA"/>
                </a:solidFill>
                <a:latin typeface="Franklin Gothic Medium"/>
                <a:cs typeface="Franklin Gothic Medium"/>
                <a:hlinkClick r:id="rId2" action="ppaction://hlinksldjump"/>
              </a:rPr>
              <a:t>&amp;</a:t>
            </a:r>
            <a:r>
              <a:rPr sz="2400" spc="-140" dirty="0">
                <a:solidFill>
                  <a:srgbClr val="77A1BA"/>
                </a:solidFill>
                <a:latin typeface="Franklin Gothic Medium"/>
                <a:cs typeface="Franklin Gothic Medium"/>
                <a:hlinkClick r:id="rId2" action="ppaction://hlinksldjump"/>
              </a:rPr>
              <a:t> </a:t>
            </a:r>
            <a:r>
              <a:rPr sz="2400" dirty="0">
                <a:solidFill>
                  <a:srgbClr val="77A1BA"/>
                </a:solidFill>
                <a:latin typeface="Franklin Gothic Medium"/>
                <a:cs typeface="Franklin Gothic Medium"/>
                <a:hlinkClick r:id="rId2" action="ppaction://hlinksldjump"/>
              </a:rPr>
              <a:t>Balance</a:t>
            </a:r>
            <a:r>
              <a:rPr sz="2400" spc="-114" dirty="0">
                <a:solidFill>
                  <a:srgbClr val="77A1BA"/>
                </a:solidFill>
                <a:latin typeface="Franklin Gothic Medium"/>
                <a:cs typeface="Franklin Gothic Medium"/>
              </a:rPr>
              <a:t> </a:t>
            </a:r>
            <a:r>
              <a:rPr sz="24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training</a:t>
            </a:r>
            <a:r>
              <a:rPr sz="2400" spc="-1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have</a:t>
            </a:r>
            <a:r>
              <a:rPr sz="2400" spc="-9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beneficial</a:t>
            </a:r>
            <a:r>
              <a:rPr sz="2400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effects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9590" y="2270861"/>
            <a:ext cx="1988185" cy="958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5700"/>
              </a:lnSpc>
              <a:spcBef>
                <a:spcPts val="100"/>
              </a:spcBef>
            </a:pPr>
            <a:r>
              <a:rPr sz="14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(Ashburn</a:t>
            </a:r>
            <a:r>
              <a:rPr sz="14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et</a:t>
            </a:r>
            <a:r>
              <a:rPr sz="14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al.</a:t>
            </a:r>
            <a:r>
              <a:rPr sz="14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4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2007; </a:t>
            </a:r>
            <a:r>
              <a:rPr sz="14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Nieuwboer</a:t>
            </a:r>
            <a:r>
              <a:rPr sz="14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et</a:t>
            </a:r>
            <a:r>
              <a:rPr sz="14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al.</a:t>
            </a:r>
            <a:r>
              <a:rPr sz="1400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4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2007 Hackney</a:t>
            </a:r>
            <a:r>
              <a:rPr sz="14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&amp;</a:t>
            </a:r>
            <a:r>
              <a:rPr sz="1400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Earhart,</a:t>
            </a:r>
            <a:r>
              <a:rPr sz="14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4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2008)</a:t>
            </a:r>
            <a:endParaRPr sz="1400">
              <a:latin typeface="Franklin Gothic Medium"/>
              <a:cs typeface="Franklin Gothic Medium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26312" y="3906901"/>
            <a:ext cx="2164080" cy="15240"/>
          </a:xfrm>
          <a:custGeom>
            <a:avLst/>
            <a:gdLst/>
            <a:ahLst/>
            <a:cxnLst/>
            <a:rect l="l" t="t" r="r" b="b"/>
            <a:pathLst>
              <a:path w="2164080" h="15239">
                <a:moveTo>
                  <a:pt x="2164080" y="0"/>
                </a:moveTo>
                <a:lnTo>
                  <a:pt x="0" y="0"/>
                </a:lnTo>
                <a:lnTo>
                  <a:pt x="0" y="15240"/>
                </a:lnTo>
                <a:lnTo>
                  <a:pt x="2164080" y="15240"/>
                </a:lnTo>
                <a:lnTo>
                  <a:pt x="2164080" y="0"/>
                </a:lnTo>
                <a:close/>
              </a:path>
            </a:pathLst>
          </a:custGeom>
          <a:solidFill>
            <a:srgbClr val="77A1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29590" y="3567429"/>
            <a:ext cx="25711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240" indent="-38354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Char char="■"/>
              <a:tabLst>
                <a:tab pos="396240" algn="l"/>
              </a:tabLst>
            </a:pPr>
            <a:r>
              <a:rPr sz="2400" spc="-25" dirty="0">
                <a:solidFill>
                  <a:srgbClr val="77A1BA"/>
                </a:solidFill>
                <a:latin typeface="Franklin Gothic Medium"/>
                <a:cs typeface="Franklin Gothic Medium"/>
                <a:hlinkClick r:id="rId3" action="ppaction://hlinksldjump"/>
              </a:rPr>
              <a:t>Strategies</a:t>
            </a:r>
            <a:r>
              <a:rPr sz="2400" spc="-95" dirty="0">
                <a:solidFill>
                  <a:srgbClr val="77A1BA"/>
                </a:solidFill>
                <a:latin typeface="Franklin Gothic Medium"/>
                <a:cs typeface="Franklin Gothic Medium"/>
                <a:hlinkClick r:id="rId3" action="ppaction://hlinksldjump"/>
              </a:rPr>
              <a:t> </a:t>
            </a:r>
            <a:r>
              <a:rPr sz="2400" dirty="0">
                <a:solidFill>
                  <a:srgbClr val="77A1BA"/>
                </a:solidFill>
                <a:latin typeface="Franklin Gothic Medium"/>
                <a:cs typeface="Franklin Gothic Medium"/>
                <a:hlinkClick r:id="rId3" action="ppaction://hlinksldjump"/>
              </a:rPr>
              <a:t>to</a:t>
            </a:r>
            <a:r>
              <a:rPr sz="2400" spc="-85" dirty="0">
                <a:solidFill>
                  <a:srgbClr val="77A1BA"/>
                </a:solidFill>
                <a:latin typeface="Franklin Gothic Medium"/>
                <a:cs typeface="Franklin Gothic Medium"/>
                <a:hlinkClick r:id="rId3" action="ppaction://hlinksldjump"/>
              </a:rPr>
              <a:t> </a:t>
            </a:r>
            <a:r>
              <a:rPr sz="2400" spc="-25" dirty="0">
                <a:solidFill>
                  <a:srgbClr val="77A1BA"/>
                </a:solidFill>
                <a:latin typeface="Franklin Gothic Medium"/>
                <a:cs typeface="Franklin Gothic Medium"/>
                <a:hlinkClick r:id="rId3" action="ppaction://hlinksldjump"/>
              </a:rPr>
              <a:t>cue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3638" y="3838702"/>
            <a:ext cx="2357120" cy="66103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 marR="5080">
              <a:lnSpc>
                <a:spcPct val="73800"/>
              </a:lnSpc>
              <a:spcBef>
                <a:spcPts val="855"/>
              </a:spcBef>
            </a:pPr>
            <a:r>
              <a:rPr sz="2400" u="sng" spc="-45" dirty="0">
                <a:solidFill>
                  <a:srgbClr val="77A1BA"/>
                </a:solidFill>
                <a:uFill>
                  <a:solidFill>
                    <a:srgbClr val="77A1BA"/>
                  </a:solidFill>
                </a:uFill>
                <a:latin typeface="Franklin Gothic Medium"/>
                <a:cs typeface="Franklin Gothic Medium"/>
                <a:hlinkClick r:id="rId3" action="ppaction://hlinksldjump"/>
              </a:rPr>
              <a:t>movement</a:t>
            </a:r>
            <a:r>
              <a:rPr sz="2400" u="none" spc="-45" dirty="0">
                <a:solidFill>
                  <a:srgbClr val="CC0000"/>
                </a:solidFill>
                <a:latin typeface="Franklin Gothic Medium"/>
                <a:cs typeface="Franklin Gothic Medium"/>
              </a:rPr>
              <a:t>:</a:t>
            </a:r>
            <a:r>
              <a:rPr sz="2400" u="none" spc="-75" dirty="0">
                <a:solidFill>
                  <a:srgbClr val="CC0000"/>
                </a:solidFill>
                <a:latin typeface="Franklin Gothic Medium"/>
                <a:cs typeface="Franklin Gothic Medium"/>
              </a:rPr>
              <a:t> </a:t>
            </a:r>
            <a:r>
              <a:rPr sz="2400" u="none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visual, </a:t>
            </a:r>
            <a:r>
              <a:rPr sz="2400" u="none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auditory,</a:t>
            </a:r>
            <a:r>
              <a:rPr sz="2400" u="none" spc="-9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u="none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tactile,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47508" y="4108450"/>
            <a:ext cx="11658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cognitive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9590" y="4956175"/>
            <a:ext cx="3391535" cy="1468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240" indent="-383540">
              <a:lnSpc>
                <a:spcPts val="2855"/>
              </a:lnSpc>
              <a:spcBef>
                <a:spcPts val="100"/>
              </a:spcBef>
              <a:buChar char="■"/>
              <a:tabLst>
                <a:tab pos="396240" algn="l"/>
              </a:tabLst>
            </a:pPr>
            <a:r>
              <a:rPr sz="24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Transfers</a:t>
            </a:r>
            <a:r>
              <a:rPr sz="24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training</a:t>
            </a:r>
            <a:endParaRPr sz="2400">
              <a:latin typeface="Franklin Gothic Medium"/>
              <a:cs typeface="Franklin Gothic Medium"/>
            </a:endParaRPr>
          </a:p>
          <a:p>
            <a:pPr marL="927100" lvl="1" indent="-384175">
              <a:lnSpc>
                <a:spcPts val="2825"/>
              </a:lnSpc>
              <a:buFont typeface="Franklin Gothic Medium"/>
              <a:buChar char="–"/>
              <a:tabLst>
                <a:tab pos="927100" algn="l"/>
              </a:tabLst>
            </a:pPr>
            <a:r>
              <a:rPr sz="24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Sit</a:t>
            </a:r>
            <a:r>
              <a:rPr sz="2400" i="1" spc="-1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to</a:t>
            </a:r>
            <a:r>
              <a:rPr sz="2400" i="1" spc="-9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stand</a:t>
            </a:r>
            <a:endParaRPr sz="2400">
              <a:latin typeface="Franklin Gothic Medium"/>
              <a:cs typeface="Franklin Gothic Medium"/>
            </a:endParaRPr>
          </a:p>
          <a:p>
            <a:pPr marL="927100" lvl="1" indent="-384175">
              <a:lnSpc>
                <a:spcPts val="2825"/>
              </a:lnSpc>
              <a:buFont typeface="Franklin Gothic Medium"/>
              <a:buChar char="–"/>
              <a:tabLst>
                <a:tab pos="927100" algn="l"/>
              </a:tabLst>
            </a:pPr>
            <a:r>
              <a:rPr sz="24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Turning</a:t>
            </a:r>
            <a:r>
              <a:rPr sz="2400" i="1" spc="-9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over</a:t>
            </a:r>
            <a:r>
              <a:rPr sz="2400" i="1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</a:t>
            </a:r>
            <a:r>
              <a:rPr sz="2400" i="1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i="1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bed</a:t>
            </a:r>
            <a:endParaRPr sz="2400">
              <a:latin typeface="Franklin Gothic Medium"/>
              <a:cs typeface="Franklin Gothic Medium"/>
            </a:endParaRPr>
          </a:p>
          <a:p>
            <a:pPr marL="927100" lvl="1" indent="-384175">
              <a:lnSpc>
                <a:spcPts val="2855"/>
              </a:lnSpc>
              <a:buFont typeface="Franklin Gothic Medium"/>
              <a:buChar char="–"/>
              <a:tabLst>
                <a:tab pos="927100" algn="l"/>
              </a:tabLst>
            </a:pPr>
            <a:r>
              <a:rPr sz="24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Dual</a:t>
            </a:r>
            <a:r>
              <a:rPr sz="2400" i="1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Tasking</a:t>
            </a:r>
            <a:endParaRPr sz="2400">
              <a:latin typeface="Franklin Gothic Medium"/>
              <a:cs typeface="Franklin Gothic Medium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686811" y="1401825"/>
            <a:ext cx="6457315" cy="5455285"/>
            <a:chOff x="2686811" y="1401825"/>
            <a:chExt cx="6457315" cy="5455285"/>
          </a:xfrm>
        </p:grpSpPr>
        <p:pic>
          <p:nvPicPr>
            <p:cNvPr id="12" name="object 12" descr="mso149E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08625" y="2825592"/>
              <a:ext cx="3635375" cy="403110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724144" y="4456937"/>
              <a:ext cx="2160905" cy="1944370"/>
            </a:xfrm>
            <a:custGeom>
              <a:avLst/>
              <a:gdLst/>
              <a:ahLst/>
              <a:cxnLst/>
              <a:rect l="l" t="t" r="r" b="b"/>
              <a:pathLst>
                <a:path w="2160904" h="1944370">
                  <a:moveTo>
                    <a:pt x="0" y="972185"/>
                  </a:moveTo>
                  <a:lnTo>
                    <a:pt x="1176" y="926417"/>
                  </a:lnTo>
                  <a:lnTo>
                    <a:pt x="4669" y="881194"/>
                  </a:lnTo>
                  <a:lnTo>
                    <a:pt x="10428" y="836562"/>
                  </a:lnTo>
                  <a:lnTo>
                    <a:pt x="18401" y="792569"/>
                  </a:lnTo>
                  <a:lnTo>
                    <a:pt x="28535" y="749261"/>
                  </a:lnTo>
                  <a:lnTo>
                    <a:pt x="40780" y="706684"/>
                  </a:lnTo>
                  <a:lnTo>
                    <a:pt x="55082" y="664886"/>
                  </a:lnTo>
                  <a:lnTo>
                    <a:pt x="71390" y="623913"/>
                  </a:lnTo>
                  <a:lnTo>
                    <a:pt x="89653" y="583811"/>
                  </a:lnTo>
                  <a:lnTo>
                    <a:pt x="109818" y="544628"/>
                  </a:lnTo>
                  <a:lnTo>
                    <a:pt x="131833" y="506409"/>
                  </a:lnTo>
                  <a:lnTo>
                    <a:pt x="155647" y="469202"/>
                  </a:lnTo>
                  <a:lnTo>
                    <a:pt x="181207" y="433054"/>
                  </a:lnTo>
                  <a:lnTo>
                    <a:pt x="208462" y="398010"/>
                  </a:lnTo>
                  <a:lnTo>
                    <a:pt x="237360" y="364118"/>
                  </a:lnTo>
                  <a:lnTo>
                    <a:pt x="267849" y="331425"/>
                  </a:lnTo>
                  <a:lnTo>
                    <a:pt x="299877" y="299976"/>
                  </a:lnTo>
                  <a:lnTo>
                    <a:pt x="333392" y="269819"/>
                  </a:lnTo>
                  <a:lnTo>
                    <a:pt x="368342" y="241001"/>
                  </a:lnTo>
                  <a:lnTo>
                    <a:pt x="404676" y="213567"/>
                  </a:lnTo>
                  <a:lnTo>
                    <a:pt x="442340" y="187565"/>
                  </a:lnTo>
                  <a:lnTo>
                    <a:pt x="481285" y="163042"/>
                  </a:lnTo>
                  <a:lnTo>
                    <a:pt x="521457" y="140043"/>
                  </a:lnTo>
                  <a:lnTo>
                    <a:pt x="562805" y="118616"/>
                  </a:lnTo>
                  <a:lnTo>
                    <a:pt x="605277" y="98808"/>
                  </a:lnTo>
                  <a:lnTo>
                    <a:pt x="648820" y="80664"/>
                  </a:lnTo>
                  <a:lnTo>
                    <a:pt x="693384" y="64232"/>
                  </a:lnTo>
                  <a:lnTo>
                    <a:pt x="738916" y="49559"/>
                  </a:lnTo>
                  <a:lnTo>
                    <a:pt x="785364" y="36691"/>
                  </a:lnTo>
                  <a:lnTo>
                    <a:pt x="832677" y="25674"/>
                  </a:lnTo>
                  <a:lnTo>
                    <a:pt x="880802" y="16556"/>
                  </a:lnTo>
                  <a:lnTo>
                    <a:pt x="929687" y="9382"/>
                  </a:lnTo>
                  <a:lnTo>
                    <a:pt x="979282" y="4201"/>
                  </a:lnTo>
                  <a:lnTo>
                    <a:pt x="1029533" y="1058"/>
                  </a:lnTo>
                  <a:lnTo>
                    <a:pt x="1080388" y="0"/>
                  </a:lnTo>
                  <a:lnTo>
                    <a:pt x="1131255" y="1058"/>
                  </a:lnTo>
                  <a:lnTo>
                    <a:pt x="1181516" y="4201"/>
                  </a:lnTo>
                  <a:lnTo>
                    <a:pt x="1231120" y="9382"/>
                  </a:lnTo>
                  <a:lnTo>
                    <a:pt x="1280014" y="16556"/>
                  </a:lnTo>
                  <a:lnTo>
                    <a:pt x="1328147" y="25674"/>
                  </a:lnTo>
                  <a:lnTo>
                    <a:pt x="1375468" y="36691"/>
                  </a:lnTo>
                  <a:lnTo>
                    <a:pt x="1421923" y="49559"/>
                  </a:lnTo>
                  <a:lnTo>
                    <a:pt x="1467462" y="64232"/>
                  </a:lnTo>
                  <a:lnTo>
                    <a:pt x="1512032" y="80664"/>
                  </a:lnTo>
                  <a:lnTo>
                    <a:pt x="1555581" y="98808"/>
                  </a:lnTo>
                  <a:lnTo>
                    <a:pt x="1598058" y="118616"/>
                  </a:lnTo>
                  <a:lnTo>
                    <a:pt x="1639411" y="140043"/>
                  </a:lnTo>
                  <a:lnTo>
                    <a:pt x="1679587" y="163042"/>
                  </a:lnTo>
                  <a:lnTo>
                    <a:pt x="1718536" y="187565"/>
                  </a:lnTo>
                  <a:lnTo>
                    <a:pt x="1756205" y="213567"/>
                  </a:lnTo>
                  <a:lnTo>
                    <a:pt x="1792542" y="241001"/>
                  </a:lnTo>
                  <a:lnTo>
                    <a:pt x="1827495" y="269819"/>
                  </a:lnTo>
                  <a:lnTo>
                    <a:pt x="1861013" y="299976"/>
                  </a:lnTo>
                  <a:lnTo>
                    <a:pt x="1893043" y="331425"/>
                  </a:lnTo>
                  <a:lnTo>
                    <a:pt x="1923534" y="364118"/>
                  </a:lnTo>
                  <a:lnTo>
                    <a:pt x="1952433" y="398010"/>
                  </a:lnTo>
                  <a:lnTo>
                    <a:pt x="1979690" y="433054"/>
                  </a:lnTo>
                  <a:lnTo>
                    <a:pt x="2005252" y="469202"/>
                  </a:lnTo>
                  <a:lnTo>
                    <a:pt x="2029067" y="506409"/>
                  </a:lnTo>
                  <a:lnTo>
                    <a:pt x="2051083" y="544628"/>
                  </a:lnTo>
                  <a:lnTo>
                    <a:pt x="2071249" y="583811"/>
                  </a:lnTo>
                  <a:lnTo>
                    <a:pt x="2089512" y="623913"/>
                  </a:lnTo>
                  <a:lnTo>
                    <a:pt x="2105821" y="664886"/>
                  </a:lnTo>
                  <a:lnTo>
                    <a:pt x="2120124" y="706684"/>
                  </a:lnTo>
                  <a:lnTo>
                    <a:pt x="2132368" y="749261"/>
                  </a:lnTo>
                  <a:lnTo>
                    <a:pt x="2142503" y="792569"/>
                  </a:lnTo>
                  <a:lnTo>
                    <a:pt x="2150476" y="836562"/>
                  </a:lnTo>
                  <a:lnTo>
                    <a:pt x="2156235" y="881194"/>
                  </a:lnTo>
                  <a:lnTo>
                    <a:pt x="2159728" y="926417"/>
                  </a:lnTo>
                  <a:lnTo>
                    <a:pt x="2160904" y="972185"/>
                  </a:lnTo>
                  <a:lnTo>
                    <a:pt x="2159728" y="1017942"/>
                  </a:lnTo>
                  <a:lnTo>
                    <a:pt x="2156235" y="1063155"/>
                  </a:lnTo>
                  <a:lnTo>
                    <a:pt x="2150476" y="1107777"/>
                  </a:lnTo>
                  <a:lnTo>
                    <a:pt x="2142503" y="1151761"/>
                  </a:lnTo>
                  <a:lnTo>
                    <a:pt x="2132368" y="1195061"/>
                  </a:lnTo>
                  <a:lnTo>
                    <a:pt x="2120124" y="1237630"/>
                  </a:lnTo>
                  <a:lnTo>
                    <a:pt x="2105821" y="1279421"/>
                  </a:lnTo>
                  <a:lnTo>
                    <a:pt x="2089512" y="1320387"/>
                  </a:lnTo>
                  <a:lnTo>
                    <a:pt x="2071249" y="1360483"/>
                  </a:lnTo>
                  <a:lnTo>
                    <a:pt x="2051083" y="1399661"/>
                  </a:lnTo>
                  <a:lnTo>
                    <a:pt x="2029067" y="1437874"/>
                  </a:lnTo>
                  <a:lnTo>
                    <a:pt x="2005252" y="1475076"/>
                  </a:lnTo>
                  <a:lnTo>
                    <a:pt x="1979690" y="1511220"/>
                  </a:lnTo>
                  <a:lnTo>
                    <a:pt x="1952433" y="1546259"/>
                  </a:lnTo>
                  <a:lnTo>
                    <a:pt x="1923534" y="1580147"/>
                  </a:lnTo>
                  <a:lnTo>
                    <a:pt x="1893043" y="1612837"/>
                  </a:lnTo>
                  <a:lnTo>
                    <a:pt x="1861013" y="1644283"/>
                  </a:lnTo>
                  <a:lnTo>
                    <a:pt x="1827495" y="1674437"/>
                  </a:lnTo>
                  <a:lnTo>
                    <a:pt x="1792542" y="1703253"/>
                  </a:lnTo>
                  <a:lnTo>
                    <a:pt x="1756205" y="1730685"/>
                  </a:lnTo>
                  <a:lnTo>
                    <a:pt x="1718536" y="1756685"/>
                  </a:lnTo>
                  <a:lnTo>
                    <a:pt x="1679587" y="1781207"/>
                  </a:lnTo>
                  <a:lnTo>
                    <a:pt x="1639411" y="1804204"/>
                  </a:lnTo>
                  <a:lnTo>
                    <a:pt x="1598058" y="1825630"/>
                  </a:lnTo>
                  <a:lnTo>
                    <a:pt x="1555581" y="1845437"/>
                  </a:lnTo>
                  <a:lnTo>
                    <a:pt x="1512032" y="1863580"/>
                  </a:lnTo>
                  <a:lnTo>
                    <a:pt x="1467462" y="1880011"/>
                  </a:lnTo>
                  <a:lnTo>
                    <a:pt x="1421923" y="1894684"/>
                  </a:lnTo>
                  <a:lnTo>
                    <a:pt x="1375468" y="1907552"/>
                  </a:lnTo>
                  <a:lnTo>
                    <a:pt x="1328147" y="1918569"/>
                  </a:lnTo>
                  <a:lnTo>
                    <a:pt x="1280014" y="1927687"/>
                  </a:lnTo>
                  <a:lnTo>
                    <a:pt x="1231120" y="1934860"/>
                  </a:lnTo>
                  <a:lnTo>
                    <a:pt x="1181516" y="1940041"/>
                  </a:lnTo>
                  <a:lnTo>
                    <a:pt x="1131255" y="1943184"/>
                  </a:lnTo>
                  <a:lnTo>
                    <a:pt x="1080388" y="1944243"/>
                  </a:lnTo>
                  <a:lnTo>
                    <a:pt x="1029533" y="1943184"/>
                  </a:lnTo>
                  <a:lnTo>
                    <a:pt x="979282" y="1940041"/>
                  </a:lnTo>
                  <a:lnTo>
                    <a:pt x="929687" y="1934860"/>
                  </a:lnTo>
                  <a:lnTo>
                    <a:pt x="880802" y="1927687"/>
                  </a:lnTo>
                  <a:lnTo>
                    <a:pt x="832677" y="1918569"/>
                  </a:lnTo>
                  <a:lnTo>
                    <a:pt x="785364" y="1907552"/>
                  </a:lnTo>
                  <a:lnTo>
                    <a:pt x="738916" y="1894684"/>
                  </a:lnTo>
                  <a:lnTo>
                    <a:pt x="693384" y="1880011"/>
                  </a:lnTo>
                  <a:lnTo>
                    <a:pt x="648820" y="1863580"/>
                  </a:lnTo>
                  <a:lnTo>
                    <a:pt x="605277" y="1845437"/>
                  </a:lnTo>
                  <a:lnTo>
                    <a:pt x="562805" y="1825630"/>
                  </a:lnTo>
                  <a:lnTo>
                    <a:pt x="521457" y="1804204"/>
                  </a:lnTo>
                  <a:lnTo>
                    <a:pt x="481285" y="1781207"/>
                  </a:lnTo>
                  <a:lnTo>
                    <a:pt x="442340" y="1756685"/>
                  </a:lnTo>
                  <a:lnTo>
                    <a:pt x="404676" y="1730685"/>
                  </a:lnTo>
                  <a:lnTo>
                    <a:pt x="368342" y="1703253"/>
                  </a:lnTo>
                  <a:lnTo>
                    <a:pt x="333392" y="1674437"/>
                  </a:lnTo>
                  <a:lnTo>
                    <a:pt x="299877" y="1644283"/>
                  </a:lnTo>
                  <a:lnTo>
                    <a:pt x="267849" y="1612837"/>
                  </a:lnTo>
                  <a:lnTo>
                    <a:pt x="237360" y="1580147"/>
                  </a:lnTo>
                  <a:lnTo>
                    <a:pt x="208462" y="1546259"/>
                  </a:lnTo>
                  <a:lnTo>
                    <a:pt x="181207" y="1511220"/>
                  </a:lnTo>
                  <a:lnTo>
                    <a:pt x="155647" y="1475076"/>
                  </a:lnTo>
                  <a:lnTo>
                    <a:pt x="131833" y="1437874"/>
                  </a:lnTo>
                  <a:lnTo>
                    <a:pt x="109818" y="1399661"/>
                  </a:lnTo>
                  <a:lnTo>
                    <a:pt x="89653" y="1360483"/>
                  </a:lnTo>
                  <a:lnTo>
                    <a:pt x="71390" y="1320387"/>
                  </a:lnTo>
                  <a:lnTo>
                    <a:pt x="55082" y="1279421"/>
                  </a:lnTo>
                  <a:lnTo>
                    <a:pt x="40780" y="1237630"/>
                  </a:lnTo>
                  <a:lnTo>
                    <a:pt x="28535" y="1195061"/>
                  </a:lnTo>
                  <a:lnTo>
                    <a:pt x="18401" y="1151761"/>
                  </a:lnTo>
                  <a:lnTo>
                    <a:pt x="10428" y="1107777"/>
                  </a:lnTo>
                  <a:lnTo>
                    <a:pt x="4669" y="1063155"/>
                  </a:lnTo>
                  <a:lnTo>
                    <a:pt x="1176" y="1017942"/>
                  </a:lnTo>
                  <a:lnTo>
                    <a:pt x="0" y="972185"/>
                  </a:lnTo>
                  <a:close/>
                </a:path>
              </a:pathLst>
            </a:custGeom>
            <a:ln w="317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686811" y="1401825"/>
              <a:ext cx="3037840" cy="3683635"/>
            </a:xfrm>
            <a:custGeom>
              <a:avLst/>
              <a:gdLst/>
              <a:ahLst/>
              <a:cxnLst/>
              <a:rect l="l" t="t" r="r" b="b"/>
              <a:pathLst>
                <a:path w="3037840" h="3683635">
                  <a:moveTo>
                    <a:pt x="2957287" y="3613532"/>
                  </a:moveTo>
                  <a:lnTo>
                    <a:pt x="2930271" y="3635755"/>
                  </a:lnTo>
                  <a:lnTo>
                    <a:pt x="3037332" y="3683380"/>
                  </a:lnTo>
                  <a:lnTo>
                    <a:pt x="3024411" y="3626993"/>
                  </a:lnTo>
                  <a:lnTo>
                    <a:pt x="2968371" y="3626993"/>
                  </a:lnTo>
                  <a:lnTo>
                    <a:pt x="2957287" y="3613532"/>
                  </a:lnTo>
                  <a:close/>
                </a:path>
                <a:path w="3037840" h="3683635">
                  <a:moveTo>
                    <a:pt x="2984186" y="3591404"/>
                  </a:moveTo>
                  <a:lnTo>
                    <a:pt x="2957287" y="3613532"/>
                  </a:lnTo>
                  <a:lnTo>
                    <a:pt x="2968371" y="3626993"/>
                  </a:lnTo>
                  <a:lnTo>
                    <a:pt x="2995295" y="3604895"/>
                  </a:lnTo>
                  <a:lnTo>
                    <a:pt x="2984186" y="3591404"/>
                  </a:lnTo>
                  <a:close/>
                </a:path>
                <a:path w="3037840" h="3683635">
                  <a:moveTo>
                    <a:pt x="3011170" y="3569207"/>
                  </a:moveTo>
                  <a:lnTo>
                    <a:pt x="2984186" y="3591404"/>
                  </a:lnTo>
                  <a:lnTo>
                    <a:pt x="2995295" y="3604895"/>
                  </a:lnTo>
                  <a:lnTo>
                    <a:pt x="2968371" y="3626993"/>
                  </a:lnTo>
                  <a:lnTo>
                    <a:pt x="3024411" y="3626993"/>
                  </a:lnTo>
                  <a:lnTo>
                    <a:pt x="3011170" y="3569207"/>
                  </a:lnTo>
                  <a:close/>
                </a:path>
                <a:path w="3037840" h="3683635">
                  <a:moveTo>
                    <a:pt x="27050" y="0"/>
                  </a:moveTo>
                  <a:lnTo>
                    <a:pt x="0" y="22098"/>
                  </a:lnTo>
                  <a:lnTo>
                    <a:pt x="2957287" y="3613532"/>
                  </a:lnTo>
                  <a:lnTo>
                    <a:pt x="2984186" y="3591404"/>
                  </a:lnTo>
                  <a:lnTo>
                    <a:pt x="270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22070" y="226568"/>
            <a:ext cx="68580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>
                <a:solidFill>
                  <a:srgbClr val="CC0000"/>
                </a:solidFill>
              </a:rPr>
              <a:t>Contemporary</a:t>
            </a:r>
            <a:r>
              <a:rPr spc="-110" dirty="0">
                <a:solidFill>
                  <a:srgbClr val="CC0000"/>
                </a:solidFill>
              </a:rPr>
              <a:t> </a:t>
            </a:r>
            <a:r>
              <a:rPr spc="-40" dirty="0">
                <a:solidFill>
                  <a:srgbClr val="CC0000"/>
                </a:solidFill>
              </a:rPr>
              <a:t>physiotherapy</a:t>
            </a:r>
            <a:r>
              <a:rPr spc="-110" dirty="0">
                <a:solidFill>
                  <a:srgbClr val="CC0000"/>
                </a:solidFill>
              </a:rPr>
              <a:t> </a:t>
            </a:r>
            <a:r>
              <a:rPr spc="-10" dirty="0">
                <a:solidFill>
                  <a:srgbClr val="CC0000"/>
                </a:solidFill>
              </a:rPr>
              <a:t>philosophy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3516" y="1453110"/>
            <a:ext cx="7049770" cy="500316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396875" indent="-384175">
              <a:lnSpc>
                <a:spcPct val="100000"/>
              </a:lnSpc>
              <a:spcBef>
                <a:spcPts val="380"/>
              </a:spcBef>
              <a:buClr>
                <a:srgbClr val="CC0000"/>
              </a:buClr>
              <a:buChar char="■"/>
              <a:tabLst>
                <a:tab pos="396875" algn="l"/>
              </a:tabLst>
            </a:pPr>
            <a:r>
              <a:rPr sz="2800" u="sng" spc="-25" dirty="0">
                <a:solidFill>
                  <a:srgbClr val="77A1BA"/>
                </a:solidFill>
                <a:uFill>
                  <a:solidFill>
                    <a:srgbClr val="77A1BA"/>
                  </a:solidFill>
                </a:uFill>
                <a:latin typeface="Franklin Gothic Medium"/>
                <a:cs typeface="Franklin Gothic Medium"/>
              </a:rPr>
              <a:t>Musculoskeletal</a:t>
            </a:r>
            <a:r>
              <a:rPr sz="2800" u="sng" spc="-40" dirty="0">
                <a:solidFill>
                  <a:srgbClr val="77A1BA"/>
                </a:solidFill>
                <a:uFill>
                  <a:solidFill>
                    <a:srgbClr val="77A1BA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sz="2800" u="sng" spc="-10" dirty="0">
                <a:solidFill>
                  <a:srgbClr val="77A1BA"/>
                </a:solidFill>
                <a:uFill>
                  <a:solidFill>
                    <a:srgbClr val="77A1BA"/>
                  </a:solidFill>
                </a:uFill>
                <a:latin typeface="Franklin Gothic Medium"/>
                <a:cs typeface="Franklin Gothic Medium"/>
              </a:rPr>
              <a:t>integrity</a:t>
            </a:r>
            <a:endParaRPr sz="2800">
              <a:latin typeface="Franklin Gothic Medium"/>
              <a:cs typeface="Franklin Gothic Medium"/>
            </a:endParaRPr>
          </a:p>
          <a:p>
            <a:pPr marL="927100" marR="480059" lvl="1" indent="-384175">
              <a:lnSpc>
                <a:spcPts val="2420"/>
              </a:lnSpc>
              <a:spcBef>
                <a:spcPts val="710"/>
              </a:spcBef>
              <a:buFont typeface="Franklin Gothic Medium"/>
              <a:buChar char="–"/>
              <a:tabLst>
                <a:tab pos="927100" algn="l"/>
              </a:tabLst>
            </a:pPr>
            <a:r>
              <a:rPr sz="2400" i="1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Flexibility</a:t>
            </a:r>
            <a:r>
              <a:rPr sz="2400" i="1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i="1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exercises</a:t>
            </a:r>
            <a:r>
              <a:rPr sz="2400" i="1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–</a:t>
            </a:r>
            <a:r>
              <a:rPr sz="2400" i="1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i="1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active</a:t>
            </a:r>
            <a:r>
              <a:rPr sz="2400" i="1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+</a:t>
            </a:r>
            <a:r>
              <a:rPr sz="2400" i="1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passive</a:t>
            </a:r>
            <a:r>
              <a:rPr sz="2400" i="1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i="1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ROM, </a:t>
            </a:r>
            <a:r>
              <a:rPr sz="24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stretching</a:t>
            </a:r>
            <a:endParaRPr sz="2400">
              <a:latin typeface="Franklin Gothic Medium"/>
              <a:cs typeface="Franklin Gothic Medium"/>
            </a:endParaRPr>
          </a:p>
          <a:p>
            <a:pPr marL="927100" lvl="1" indent="-384175">
              <a:lnSpc>
                <a:spcPts val="2645"/>
              </a:lnSpc>
              <a:spcBef>
                <a:spcPts val="240"/>
              </a:spcBef>
              <a:buFont typeface="Franklin Gothic Medium"/>
              <a:buChar char="–"/>
              <a:tabLst>
                <a:tab pos="927100" algn="l"/>
              </a:tabLst>
            </a:pPr>
            <a:r>
              <a:rPr sz="24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Strengthening</a:t>
            </a:r>
            <a:r>
              <a:rPr sz="2400" i="1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i="1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exercises</a:t>
            </a:r>
            <a:r>
              <a:rPr sz="2400" i="1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–</a:t>
            </a:r>
            <a:r>
              <a:rPr sz="2400" i="1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(Keus</a:t>
            </a:r>
            <a:r>
              <a:rPr sz="2400" i="1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SHJ</a:t>
            </a:r>
            <a:r>
              <a:rPr sz="2400" i="1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et</a:t>
            </a:r>
            <a:r>
              <a:rPr sz="2400" i="1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i="1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al.</a:t>
            </a:r>
            <a:endParaRPr sz="2400">
              <a:latin typeface="Franklin Gothic Medium"/>
              <a:cs typeface="Franklin Gothic Medium"/>
            </a:endParaRPr>
          </a:p>
          <a:p>
            <a:pPr marL="927100">
              <a:lnSpc>
                <a:spcPts val="2645"/>
              </a:lnSpc>
            </a:pPr>
            <a:r>
              <a:rPr sz="24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2009)</a:t>
            </a:r>
            <a:r>
              <a:rPr sz="2400" i="1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i="1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2015</a:t>
            </a:r>
            <a:endParaRPr sz="2400">
              <a:latin typeface="Franklin Gothic Medium"/>
              <a:cs typeface="Franklin Gothic Medium"/>
            </a:endParaRPr>
          </a:p>
          <a:p>
            <a:pPr marL="1384300" marR="5080" lvl="2" indent="-384175">
              <a:lnSpc>
                <a:spcPts val="2220"/>
              </a:lnSpc>
              <a:spcBef>
                <a:spcPts val="705"/>
              </a:spcBef>
              <a:buChar char="■"/>
              <a:tabLst>
                <a:tab pos="1384300" algn="l"/>
              </a:tabLst>
            </a:pPr>
            <a:r>
              <a:rPr sz="22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Roeder</a:t>
            </a:r>
            <a:r>
              <a:rPr sz="22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L</a:t>
            </a:r>
            <a:r>
              <a:rPr sz="22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et</a:t>
            </a:r>
            <a:r>
              <a:rPr sz="22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al.</a:t>
            </a:r>
            <a:r>
              <a:rPr sz="22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meta-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analysis</a:t>
            </a:r>
            <a:r>
              <a:rPr sz="22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showed</a:t>
            </a:r>
            <a:r>
              <a:rPr sz="2200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benefit</a:t>
            </a:r>
            <a:r>
              <a:rPr sz="22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for </a:t>
            </a:r>
            <a:r>
              <a:rPr sz="22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muscle</a:t>
            </a:r>
            <a:r>
              <a:rPr sz="2200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strength</a:t>
            </a:r>
            <a:endParaRPr sz="2200">
              <a:latin typeface="Franklin Gothic Medium"/>
              <a:cs typeface="Franklin Gothic Medium"/>
            </a:endParaRPr>
          </a:p>
          <a:p>
            <a:pPr marL="1384300" marR="295910" lvl="2" indent="-384175">
              <a:lnSpc>
                <a:spcPct val="84100"/>
              </a:lnSpc>
              <a:spcBef>
                <a:spcPts val="690"/>
              </a:spcBef>
              <a:buChar char="■"/>
              <a:tabLst>
                <a:tab pos="1384300" algn="l"/>
              </a:tabLst>
            </a:pPr>
            <a:r>
              <a:rPr sz="22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Shulman</a:t>
            </a:r>
            <a:r>
              <a:rPr sz="22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LM</a:t>
            </a:r>
            <a:r>
              <a:rPr sz="22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et</a:t>
            </a:r>
            <a:r>
              <a:rPr sz="22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al.</a:t>
            </a:r>
            <a:r>
              <a:rPr sz="22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(2013)</a:t>
            </a:r>
            <a:r>
              <a:rPr sz="22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–</a:t>
            </a:r>
            <a:r>
              <a:rPr sz="22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found</a:t>
            </a:r>
            <a:r>
              <a:rPr sz="22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3</a:t>
            </a:r>
            <a:r>
              <a:rPr sz="22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types exercises</a:t>
            </a:r>
            <a:r>
              <a:rPr sz="22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improved</a:t>
            </a:r>
            <a:r>
              <a:rPr sz="22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distance</a:t>
            </a:r>
            <a:r>
              <a:rPr sz="22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</a:t>
            </a:r>
            <a:r>
              <a:rPr sz="2200" spc="-1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6mins</a:t>
            </a:r>
            <a:r>
              <a:rPr sz="2200" spc="-9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walking </a:t>
            </a:r>
            <a:r>
              <a:rPr sz="22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test,</a:t>
            </a:r>
            <a:endParaRPr sz="2200">
              <a:latin typeface="Franklin Gothic Medium"/>
              <a:cs typeface="Franklin Gothic Medium"/>
            </a:endParaRPr>
          </a:p>
          <a:p>
            <a:pPr marL="1457325">
              <a:lnSpc>
                <a:spcPts val="2430"/>
              </a:lnSpc>
              <a:spcBef>
                <a:spcPts val="280"/>
              </a:spcBef>
              <a:tabLst>
                <a:tab pos="1841500" algn="l"/>
              </a:tabLst>
            </a:pPr>
            <a:r>
              <a:rPr sz="22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–</a:t>
            </a:r>
            <a:r>
              <a:rPr sz="22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	</a:t>
            </a:r>
            <a:r>
              <a:rPr sz="22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high</a:t>
            </a:r>
            <a:r>
              <a:rPr sz="2200" i="1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i="1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intensity</a:t>
            </a:r>
            <a:r>
              <a:rPr sz="2200" i="1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treadmill/low</a:t>
            </a:r>
            <a:endParaRPr sz="2200">
              <a:latin typeface="Franklin Gothic Medium"/>
              <a:cs typeface="Franklin Gothic Medium"/>
            </a:endParaRPr>
          </a:p>
          <a:p>
            <a:pPr marL="1841500">
              <a:lnSpc>
                <a:spcPts val="2430"/>
              </a:lnSpc>
            </a:pPr>
            <a:r>
              <a:rPr sz="2200" i="1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intensity/stretching</a:t>
            </a:r>
            <a:r>
              <a:rPr sz="2200" i="1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with</a:t>
            </a:r>
            <a:r>
              <a:rPr sz="2200" i="1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resistance</a:t>
            </a:r>
            <a:r>
              <a:rPr sz="2200" i="1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2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training</a:t>
            </a:r>
            <a:endParaRPr sz="2200">
              <a:latin typeface="Franklin Gothic Medium"/>
              <a:cs typeface="Franklin Gothic Medium"/>
            </a:endParaRPr>
          </a:p>
          <a:p>
            <a:pPr marL="396875" marR="26670" indent="-384810">
              <a:lnSpc>
                <a:spcPts val="2830"/>
              </a:lnSpc>
              <a:spcBef>
                <a:spcPts val="1175"/>
              </a:spcBef>
              <a:buClr>
                <a:srgbClr val="CC0000"/>
              </a:buClr>
              <a:buChar char="■"/>
              <a:tabLst>
                <a:tab pos="396875" algn="l"/>
              </a:tabLst>
            </a:pPr>
            <a:r>
              <a:rPr sz="2800" u="sng" spc="-10" dirty="0">
                <a:solidFill>
                  <a:srgbClr val="77A1BA"/>
                </a:solidFill>
                <a:uFill>
                  <a:solidFill>
                    <a:srgbClr val="77A1BA"/>
                  </a:solidFill>
                </a:uFill>
                <a:latin typeface="Franklin Gothic Medium"/>
                <a:cs typeface="Franklin Gothic Medium"/>
                <a:hlinkClick r:id="rId2" action="ppaction://hlinksldjump"/>
              </a:rPr>
              <a:t>Exercise</a:t>
            </a:r>
            <a:r>
              <a:rPr sz="2800" u="sng" spc="-105" dirty="0">
                <a:solidFill>
                  <a:srgbClr val="77A1BA"/>
                </a:solidFill>
                <a:uFill>
                  <a:solidFill>
                    <a:srgbClr val="77A1BA"/>
                  </a:solidFill>
                </a:uFill>
                <a:latin typeface="Franklin Gothic Medium"/>
                <a:cs typeface="Franklin Gothic Medium"/>
                <a:hlinkClick r:id="rId2" action="ppaction://hlinksldjump"/>
              </a:rPr>
              <a:t> </a:t>
            </a:r>
            <a:r>
              <a:rPr sz="2800" u="sng" dirty="0">
                <a:solidFill>
                  <a:srgbClr val="77A1BA"/>
                </a:solidFill>
                <a:uFill>
                  <a:solidFill>
                    <a:srgbClr val="77A1BA"/>
                  </a:solidFill>
                </a:uFill>
                <a:latin typeface="Franklin Gothic Medium"/>
                <a:cs typeface="Franklin Gothic Medium"/>
                <a:hlinkClick r:id="rId2" action="ppaction://hlinksldjump"/>
              </a:rPr>
              <a:t>to</a:t>
            </a:r>
            <a:r>
              <a:rPr sz="2800" u="sng" spc="-95" dirty="0">
                <a:solidFill>
                  <a:srgbClr val="77A1BA"/>
                </a:solidFill>
                <a:uFill>
                  <a:solidFill>
                    <a:srgbClr val="77A1BA"/>
                  </a:solidFill>
                </a:uFill>
                <a:latin typeface="Franklin Gothic Medium"/>
                <a:cs typeface="Franklin Gothic Medium"/>
                <a:hlinkClick r:id="rId2" action="ppaction://hlinksldjump"/>
              </a:rPr>
              <a:t> </a:t>
            </a:r>
            <a:r>
              <a:rPr sz="2800" u="sng" spc="-45" dirty="0">
                <a:solidFill>
                  <a:srgbClr val="77A1BA"/>
                </a:solidFill>
                <a:uFill>
                  <a:solidFill>
                    <a:srgbClr val="77A1BA"/>
                  </a:solidFill>
                </a:uFill>
                <a:latin typeface="Franklin Gothic Medium"/>
                <a:cs typeface="Franklin Gothic Medium"/>
                <a:hlinkClick r:id="rId2" action="ppaction://hlinksldjump"/>
              </a:rPr>
              <a:t>promote</a:t>
            </a:r>
            <a:r>
              <a:rPr sz="2800" u="sng" spc="-114" dirty="0">
                <a:solidFill>
                  <a:srgbClr val="77A1BA"/>
                </a:solidFill>
                <a:uFill>
                  <a:solidFill>
                    <a:srgbClr val="77A1BA"/>
                  </a:solidFill>
                </a:uFill>
                <a:latin typeface="Franklin Gothic Medium"/>
                <a:cs typeface="Franklin Gothic Medium"/>
                <a:hlinkClick r:id="rId2" action="ppaction://hlinksldjump"/>
              </a:rPr>
              <a:t> </a:t>
            </a:r>
            <a:r>
              <a:rPr sz="2800" u="sng" spc="-25" dirty="0">
                <a:solidFill>
                  <a:srgbClr val="77A1BA"/>
                </a:solidFill>
                <a:uFill>
                  <a:solidFill>
                    <a:srgbClr val="77A1BA"/>
                  </a:solidFill>
                </a:uFill>
                <a:latin typeface="Franklin Gothic Medium"/>
                <a:cs typeface="Franklin Gothic Medium"/>
                <a:hlinkClick r:id="rId2" action="ppaction://hlinksldjump"/>
              </a:rPr>
              <a:t>physical</a:t>
            </a:r>
            <a:r>
              <a:rPr sz="2800" u="sng" spc="-110" dirty="0">
                <a:solidFill>
                  <a:srgbClr val="77A1BA"/>
                </a:solidFill>
                <a:uFill>
                  <a:solidFill>
                    <a:srgbClr val="77A1BA"/>
                  </a:solidFill>
                </a:uFill>
                <a:latin typeface="Franklin Gothic Medium"/>
                <a:cs typeface="Franklin Gothic Medium"/>
                <a:hlinkClick r:id="rId2" action="ppaction://hlinksldjump"/>
              </a:rPr>
              <a:t> </a:t>
            </a:r>
            <a:r>
              <a:rPr sz="2800" u="sng" spc="-20" dirty="0">
                <a:solidFill>
                  <a:srgbClr val="77A1BA"/>
                </a:solidFill>
                <a:uFill>
                  <a:solidFill>
                    <a:srgbClr val="77A1BA"/>
                  </a:solidFill>
                </a:uFill>
                <a:latin typeface="Franklin Gothic Medium"/>
                <a:cs typeface="Franklin Gothic Medium"/>
                <a:hlinkClick r:id="rId2" action="ppaction://hlinksldjump"/>
              </a:rPr>
              <a:t>activity</a:t>
            </a:r>
            <a:r>
              <a:rPr sz="2800" u="sng" spc="-85" dirty="0">
                <a:solidFill>
                  <a:srgbClr val="77A1BA"/>
                </a:solidFill>
                <a:uFill>
                  <a:solidFill>
                    <a:srgbClr val="77A1BA"/>
                  </a:solidFill>
                </a:uFill>
                <a:latin typeface="Franklin Gothic Medium"/>
                <a:cs typeface="Franklin Gothic Medium"/>
                <a:hlinkClick r:id="rId2" action="ppaction://hlinksldjump"/>
              </a:rPr>
              <a:t> </a:t>
            </a:r>
            <a:r>
              <a:rPr sz="2800" u="sng" dirty="0">
                <a:solidFill>
                  <a:srgbClr val="77A1BA"/>
                </a:solidFill>
                <a:uFill>
                  <a:solidFill>
                    <a:srgbClr val="77A1BA"/>
                  </a:solidFill>
                </a:uFill>
                <a:latin typeface="Franklin Gothic Medium"/>
                <a:cs typeface="Franklin Gothic Medium"/>
                <a:hlinkClick r:id="rId2" action="ppaction://hlinksldjump"/>
              </a:rPr>
              <a:t>–</a:t>
            </a:r>
            <a:r>
              <a:rPr sz="2800" u="sng" spc="-80" dirty="0">
                <a:solidFill>
                  <a:srgbClr val="77A1BA"/>
                </a:solidFill>
                <a:uFill>
                  <a:solidFill>
                    <a:srgbClr val="77A1BA"/>
                  </a:solidFill>
                </a:uFill>
                <a:latin typeface="Franklin Gothic Medium"/>
                <a:cs typeface="Franklin Gothic Medium"/>
                <a:hlinkClick r:id="rId2" action="ppaction://hlinksldjump"/>
              </a:rPr>
              <a:t> </a:t>
            </a:r>
            <a:r>
              <a:rPr sz="2800" u="sng" spc="-10" dirty="0">
                <a:solidFill>
                  <a:srgbClr val="77A1BA"/>
                </a:solidFill>
                <a:uFill>
                  <a:solidFill>
                    <a:srgbClr val="77A1BA"/>
                  </a:solidFill>
                </a:uFill>
                <a:latin typeface="Franklin Gothic Medium"/>
                <a:cs typeface="Franklin Gothic Medium"/>
                <a:hlinkClick r:id="rId2" action="ppaction://hlinksldjump"/>
              </a:rPr>
              <a:t>tango</a:t>
            </a:r>
            <a:r>
              <a:rPr sz="2800" u="none" spc="-10" dirty="0">
                <a:solidFill>
                  <a:srgbClr val="77A1BA"/>
                </a:solidFill>
                <a:latin typeface="Franklin Gothic Medium"/>
                <a:cs typeface="Franklin Gothic Medium"/>
              </a:rPr>
              <a:t> </a:t>
            </a:r>
            <a:r>
              <a:rPr sz="2800" u="sng" dirty="0">
                <a:solidFill>
                  <a:srgbClr val="77A1BA"/>
                </a:solidFill>
                <a:uFill>
                  <a:solidFill>
                    <a:srgbClr val="77A1BA"/>
                  </a:solidFill>
                </a:uFill>
                <a:latin typeface="Franklin Gothic Medium"/>
                <a:cs typeface="Franklin Gothic Medium"/>
                <a:hlinkClick r:id="rId2" action="ppaction://hlinksldjump"/>
              </a:rPr>
              <a:t>dancing,</a:t>
            </a:r>
            <a:r>
              <a:rPr sz="2800" u="sng" spc="-130" dirty="0">
                <a:solidFill>
                  <a:srgbClr val="77A1BA"/>
                </a:solidFill>
                <a:uFill>
                  <a:solidFill>
                    <a:srgbClr val="77A1BA"/>
                  </a:solidFill>
                </a:uFill>
                <a:latin typeface="Franklin Gothic Medium"/>
                <a:cs typeface="Franklin Gothic Medium"/>
                <a:hlinkClick r:id="rId2" action="ppaction://hlinksldjump"/>
              </a:rPr>
              <a:t> </a:t>
            </a:r>
            <a:r>
              <a:rPr sz="2800" u="sng" spc="-20" dirty="0">
                <a:solidFill>
                  <a:srgbClr val="77A1BA"/>
                </a:solidFill>
                <a:uFill>
                  <a:solidFill>
                    <a:srgbClr val="77A1BA"/>
                  </a:solidFill>
                </a:uFill>
                <a:latin typeface="Franklin Gothic Medium"/>
                <a:cs typeface="Franklin Gothic Medium"/>
                <a:hlinkClick r:id="rId2" action="ppaction://hlinksldjump"/>
              </a:rPr>
              <a:t>boxing,</a:t>
            </a:r>
            <a:r>
              <a:rPr sz="2800" u="sng" spc="-140" dirty="0">
                <a:solidFill>
                  <a:srgbClr val="77A1BA"/>
                </a:solidFill>
                <a:uFill>
                  <a:solidFill>
                    <a:srgbClr val="77A1BA"/>
                  </a:solidFill>
                </a:uFill>
                <a:latin typeface="Franklin Gothic Medium"/>
                <a:cs typeface="Franklin Gothic Medium"/>
                <a:hlinkClick r:id="rId2" action="ppaction://hlinksldjump"/>
              </a:rPr>
              <a:t> </a:t>
            </a:r>
            <a:r>
              <a:rPr sz="2800" u="sng" spc="-10" dirty="0">
                <a:solidFill>
                  <a:srgbClr val="77A1BA"/>
                </a:solidFill>
                <a:uFill>
                  <a:solidFill>
                    <a:srgbClr val="77A1BA"/>
                  </a:solidFill>
                </a:uFill>
                <a:latin typeface="Franklin Gothic Medium"/>
                <a:cs typeface="Franklin Gothic Medium"/>
                <a:hlinkClick r:id="rId2" action="ppaction://hlinksldjump"/>
              </a:rPr>
              <a:t>active</a:t>
            </a:r>
            <a:r>
              <a:rPr sz="2800" u="sng" spc="-145" dirty="0">
                <a:solidFill>
                  <a:srgbClr val="77A1BA"/>
                </a:solidFill>
                <a:uFill>
                  <a:solidFill>
                    <a:srgbClr val="77A1BA"/>
                  </a:solidFill>
                </a:uFill>
                <a:latin typeface="Franklin Gothic Medium"/>
                <a:cs typeface="Franklin Gothic Medium"/>
                <a:hlinkClick r:id="rId2" action="ppaction://hlinksldjump"/>
              </a:rPr>
              <a:t> </a:t>
            </a:r>
            <a:r>
              <a:rPr sz="2800" u="sng" spc="-10" dirty="0">
                <a:solidFill>
                  <a:srgbClr val="77A1BA"/>
                </a:solidFill>
                <a:uFill>
                  <a:solidFill>
                    <a:srgbClr val="77A1BA"/>
                  </a:solidFill>
                </a:uFill>
                <a:latin typeface="Franklin Gothic Medium"/>
                <a:cs typeface="Franklin Gothic Medium"/>
                <a:hlinkClick r:id="rId2" action="ppaction://hlinksldjump"/>
              </a:rPr>
              <a:t>cycling</a:t>
            </a:r>
            <a:endParaRPr sz="2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8571" y="3474720"/>
            <a:ext cx="171450" cy="3383915"/>
          </a:xfrm>
          <a:custGeom>
            <a:avLst/>
            <a:gdLst/>
            <a:ahLst/>
            <a:cxnLst/>
            <a:rect l="l" t="t" r="r" b="b"/>
            <a:pathLst>
              <a:path w="171450" h="3383915">
                <a:moveTo>
                  <a:pt x="0" y="3383655"/>
                </a:moveTo>
                <a:lnTo>
                  <a:pt x="171450" y="3383655"/>
                </a:lnTo>
                <a:lnTo>
                  <a:pt x="171450" y="0"/>
                </a:lnTo>
                <a:lnTo>
                  <a:pt x="0" y="0"/>
                </a:lnTo>
                <a:lnTo>
                  <a:pt x="0" y="3383655"/>
                </a:lnTo>
                <a:close/>
              </a:path>
            </a:pathLst>
          </a:custGeom>
          <a:solidFill>
            <a:srgbClr val="181B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58571" y="375"/>
            <a:ext cx="171450" cy="3383279"/>
          </a:xfrm>
          <a:custGeom>
            <a:avLst/>
            <a:gdLst/>
            <a:ahLst/>
            <a:cxnLst/>
            <a:rect l="l" t="t" r="r" b="b"/>
            <a:pathLst>
              <a:path w="171450" h="3383279">
                <a:moveTo>
                  <a:pt x="0" y="3382904"/>
                </a:moveTo>
                <a:lnTo>
                  <a:pt x="171450" y="3382904"/>
                </a:lnTo>
                <a:lnTo>
                  <a:pt x="171450" y="0"/>
                </a:lnTo>
                <a:lnTo>
                  <a:pt x="0" y="0"/>
                </a:lnTo>
                <a:lnTo>
                  <a:pt x="0" y="3382904"/>
                </a:lnTo>
                <a:close/>
              </a:path>
            </a:pathLst>
          </a:custGeom>
          <a:solidFill>
            <a:srgbClr val="181B0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374" y="321818"/>
            <a:ext cx="2927096" cy="29051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2900" y="3642829"/>
            <a:ext cx="4070096" cy="273710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0" y="0"/>
            <a:ext cx="4606290" cy="6858000"/>
          </a:xfrm>
          <a:custGeom>
            <a:avLst/>
            <a:gdLst/>
            <a:ahLst/>
            <a:cxnLst/>
            <a:rect l="l" t="t" r="r" b="b"/>
            <a:pathLst>
              <a:path w="4606290" h="6858000">
                <a:moveTo>
                  <a:pt x="4606290" y="0"/>
                </a:moveTo>
                <a:lnTo>
                  <a:pt x="4537710" y="0"/>
                </a:lnTo>
                <a:lnTo>
                  <a:pt x="4537710" y="3383292"/>
                </a:lnTo>
                <a:lnTo>
                  <a:pt x="0" y="3383292"/>
                </a:lnTo>
                <a:lnTo>
                  <a:pt x="0" y="3474720"/>
                </a:lnTo>
                <a:lnTo>
                  <a:pt x="4537710" y="3474720"/>
                </a:lnTo>
                <a:lnTo>
                  <a:pt x="4537710" y="6858000"/>
                </a:lnTo>
                <a:lnTo>
                  <a:pt x="4606290" y="6858000"/>
                </a:lnTo>
                <a:lnTo>
                  <a:pt x="460629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31003" y="1264158"/>
            <a:ext cx="4070096" cy="4185158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7882890" y="6091770"/>
            <a:ext cx="594995" cy="579120"/>
            <a:chOff x="7882890" y="6091770"/>
            <a:chExt cx="594995" cy="579120"/>
          </a:xfrm>
        </p:grpSpPr>
        <p:sp>
          <p:nvSpPr>
            <p:cNvPr id="9" name="object 9"/>
            <p:cNvSpPr/>
            <p:nvPr/>
          </p:nvSpPr>
          <p:spPr>
            <a:xfrm>
              <a:off x="7884414" y="6093294"/>
              <a:ext cx="576580" cy="576580"/>
            </a:xfrm>
            <a:custGeom>
              <a:avLst/>
              <a:gdLst/>
              <a:ahLst/>
              <a:cxnLst/>
              <a:rect l="l" t="t" r="r" b="b"/>
              <a:pathLst>
                <a:path w="576579" h="576579">
                  <a:moveTo>
                    <a:pt x="576071" y="0"/>
                  </a:moveTo>
                  <a:lnTo>
                    <a:pt x="0" y="288036"/>
                  </a:lnTo>
                  <a:lnTo>
                    <a:pt x="576071" y="576059"/>
                  </a:lnTo>
                  <a:lnTo>
                    <a:pt x="576071" y="0"/>
                  </a:lnTo>
                  <a:close/>
                </a:path>
              </a:pathLst>
            </a:custGeom>
            <a:solidFill>
              <a:srgbClr val="8B8D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882890" y="6091770"/>
              <a:ext cx="594995" cy="579120"/>
            </a:xfrm>
            <a:custGeom>
              <a:avLst/>
              <a:gdLst/>
              <a:ahLst/>
              <a:cxnLst/>
              <a:rect l="l" t="t" r="r" b="b"/>
              <a:pathLst>
                <a:path w="594995" h="579120">
                  <a:moveTo>
                    <a:pt x="544194" y="561645"/>
                  </a:moveTo>
                  <a:lnTo>
                    <a:pt x="544194" y="579107"/>
                  </a:lnTo>
                  <a:lnTo>
                    <a:pt x="559816" y="569455"/>
                  </a:lnTo>
                  <a:lnTo>
                    <a:pt x="544194" y="561645"/>
                  </a:lnTo>
                  <a:close/>
                </a:path>
                <a:path w="594995" h="579120">
                  <a:moveTo>
                    <a:pt x="579119" y="557529"/>
                  </a:moveTo>
                  <a:lnTo>
                    <a:pt x="559816" y="569455"/>
                  </a:lnTo>
                  <a:lnTo>
                    <a:pt x="579119" y="579107"/>
                  </a:lnTo>
                  <a:lnTo>
                    <a:pt x="579119" y="557529"/>
                  </a:lnTo>
                  <a:close/>
                </a:path>
                <a:path w="594995" h="579120">
                  <a:moveTo>
                    <a:pt x="544194" y="522604"/>
                  </a:moveTo>
                  <a:lnTo>
                    <a:pt x="544194" y="561645"/>
                  </a:lnTo>
                  <a:lnTo>
                    <a:pt x="559816" y="569455"/>
                  </a:lnTo>
                  <a:lnTo>
                    <a:pt x="579119" y="557529"/>
                  </a:lnTo>
                  <a:lnTo>
                    <a:pt x="579119" y="540067"/>
                  </a:lnTo>
                  <a:lnTo>
                    <a:pt x="544194" y="522604"/>
                  </a:lnTo>
                  <a:close/>
                </a:path>
                <a:path w="594995" h="579120">
                  <a:moveTo>
                    <a:pt x="78104" y="289559"/>
                  </a:moveTo>
                  <a:lnTo>
                    <a:pt x="39041" y="309079"/>
                  </a:lnTo>
                  <a:lnTo>
                    <a:pt x="544194" y="561645"/>
                  </a:lnTo>
                  <a:lnTo>
                    <a:pt x="544194" y="522604"/>
                  </a:lnTo>
                  <a:lnTo>
                    <a:pt x="78104" y="289559"/>
                  </a:lnTo>
                  <a:close/>
                </a:path>
                <a:path w="594995" h="579120">
                  <a:moveTo>
                    <a:pt x="579119" y="540067"/>
                  </a:moveTo>
                  <a:lnTo>
                    <a:pt x="579119" y="557529"/>
                  </a:lnTo>
                  <a:lnTo>
                    <a:pt x="594740" y="547877"/>
                  </a:lnTo>
                  <a:lnTo>
                    <a:pt x="579119" y="540067"/>
                  </a:lnTo>
                  <a:close/>
                </a:path>
                <a:path w="594995" h="579120">
                  <a:moveTo>
                    <a:pt x="579119" y="39052"/>
                  </a:moveTo>
                  <a:lnTo>
                    <a:pt x="544194" y="56513"/>
                  </a:lnTo>
                  <a:lnTo>
                    <a:pt x="544194" y="522604"/>
                  </a:lnTo>
                  <a:lnTo>
                    <a:pt x="579119" y="540067"/>
                  </a:lnTo>
                  <a:lnTo>
                    <a:pt x="579119" y="39052"/>
                  </a:lnTo>
                  <a:close/>
                </a:path>
                <a:path w="594995" h="579120">
                  <a:moveTo>
                    <a:pt x="15620" y="297370"/>
                  </a:moveTo>
                  <a:lnTo>
                    <a:pt x="15620" y="320789"/>
                  </a:lnTo>
                  <a:lnTo>
                    <a:pt x="39041" y="309079"/>
                  </a:lnTo>
                  <a:lnTo>
                    <a:pt x="15620" y="297370"/>
                  </a:lnTo>
                  <a:close/>
                </a:path>
                <a:path w="594995" h="579120">
                  <a:moveTo>
                    <a:pt x="39052" y="270033"/>
                  </a:moveTo>
                  <a:lnTo>
                    <a:pt x="15620" y="281749"/>
                  </a:lnTo>
                  <a:lnTo>
                    <a:pt x="15620" y="297370"/>
                  </a:lnTo>
                  <a:lnTo>
                    <a:pt x="39041" y="309079"/>
                  </a:lnTo>
                  <a:lnTo>
                    <a:pt x="78082" y="289559"/>
                  </a:lnTo>
                  <a:lnTo>
                    <a:pt x="39052" y="270033"/>
                  </a:lnTo>
                  <a:close/>
                </a:path>
                <a:path w="594995" h="579120">
                  <a:moveTo>
                    <a:pt x="15620" y="281749"/>
                  </a:moveTo>
                  <a:lnTo>
                    <a:pt x="0" y="289559"/>
                  </a:lnTo>
                  <a:lnTo>
                    <a:pt x="15620" y="297370"/>
                  </a:lnTo>
                  <a:lnTo>
                    <a:pt x="15620" y="281749"/>
                  </a:lnTo>
                  <a:close/>
                </a:path>
                <a:path w="594995" h="579120">
                  <a:moveTo>
                    <a:pt x="544194" y="17462"/>
                  </a:moveTo>
                  <a:lnTo>
                    <a:pt x="39052" y="270033"/>
                  </a:lnTo>
                  <a:lnTo>
                    <a:pt x="78104" y="289559"/>
                  </a:lnTo>
                  <a:lnTo>
                    <a:pt x="544194" y="56513"/>
                  </a:lnTo>
                  <a:lnTo>
                    <a:pt x="544194" y="17462"/>
                  </a:lnTo>
                  <a:close/>
                </a:path>
                <a:path w="594995" h="579120">
                  <a:moveTo>
                    <a:pt x="15620" y="258317"/>
                  </a:moveTo>
                  <a:lnTo>
                    <a:pt x="15620" y="281749"/>
                  </a:lnTo>
                  <a:lnTo>
                    <a:pt x="39052" y="270033"/>
                  </a:lnTo>
                  <a:lnTo>
                    <a:pt x="15620" y="258317"/>
                  </a:lnTo>
                  <a:close/>
                </a:path>
                <a:path w="594995" h="579120">
                  <a:moveTo>
                    <a:pt x="559813" y="9653"/>
                  </a:moveTo>
                  <a:lnTo>
                    <a:pt x="544194" y="17462"/>
                  </a:lnTo>
                  <a:lnTo>
                    <a:pt x="544194" y="56513"/>
                  </a:lnTo>
                  <a:lnTo>
                    <a:pt x="579119" y="39052"/>
                  </a:lnTo>
                  <a:lnTo>
                    <a:pt x="579119" y="21586"/>
                  </a:lnTo>
                  <a:lnTo>
                    <a:pt x="559813" y="9653"/>
                  </a:lnTo>
                  <a:close/>
                </a:path>
                <a:path w="594995" h="579120">
                  <a:moveTo>
                    <a:pt x="579119" y="21586"/>
                  </a:moveTo>
                  <a:lnTo>
                    <a:pt x="579119" y="39052"/>
                  </a:lnTo>
                  <a:lnTo>
                    <a:pt x="594740" y="31241"/>
                  </a:lnTo>
                  <a:lnTo>
                    <a:pt x="579119" y="21586"/>
                  </a:lnTo>
                  <a:close/>
                </a:path>
                <a:path w="594995" h="579120">
                  <a:moveTo>
                    <a:pt x="579119" y="0"/>
                  </a:moveTo>
                  <a:lnTo>
                    <a:pt x="559813" y="9653"/>
                  </a:lnTo>
                  <a:lnTo>
                    <a:pt x="579119" y="21586"/>
                  </a:lnTo>
                  <a:lnTo>
                    <a:pt x="579119" y="0"/>
                  </a:lnTo>
                  <a:close/>
                </a:path>
                <a:path w="594995" h="579120">
                  <a:moveTo>
                    <a:pt x="544194" y="0"/>
                  </a:moveTo>
                  <a:lnTo>
                    <a:pt x="544194" y="17462"/>
                  </a:lnTo>
                  <a:lnTo>
                    <a:pt x="559813" y="9653"/>
                  </a:lnTo>
                  <a:lnTo>
                    <a:pt x="544194" y="0"/>
                  </a:lnTo>
                  <a:close/>
                </a:path>
              </a:pathLst>
            </a:custGeom>
            <a:solidFill>
              <a:srgbClr val="646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5940" y="240919"/>
            <a:ext cx="46609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Exercise</a:t>
            </a:r>
            <a:r>
              <a:rPr spc="-175" dirty="0"/>
              <a:t> </a:t>
            </a:r>
            <a:r>
              <a:rPr dirty="0"/>
              <a:t>for</a:t>
            </a:r>
            <a:r>
              <a:rPr spc="-160" dirty="0"/>
              <a:t> </a:t>
            </a:r>
            <a:r>
              <a:rPr spc="-10" dirty="0"/>
              <a:t>people</a:t>
            </a:r>
            <a:r>
              <a:rPr spc="-180" dirty="0"/>
              <a:t> </a:t>
            </a:r>
            <a:r>
              <a:rPr spc="-20" dirty="0"/>
              <a:t>with</a:t>
            </a:r>
            <a:r>
              <a:rPr spc="-165" dirty="0"/>
              <a:t> </a:t>
            </a:r>
            <a:r>
              <a:rPr spc="-25" dirty="0"/>
              <a:t>PD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39750" y="1808226"/>
            <a:ext cx="7800975" cy="2916555"/>
            <a:chOff x="539750" y="1808226"/>
            <a:chExt cx="7800975" cy="2916555"/>
          </a:xfrm>
        </p:grpSpPr>
        <p:pic>
          <p:nvPicPr>
            <p:cNvPr id="4" name="object 4" descr="punching ba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9750" y="1808226"/>
              <a:ext cx="4319524" cy="2916174"/>
            </a:xfrm>
            <a:prstGeom prst="rect">
              <a:avLst/>
            </a:prstGeom>
          </p:spPr>
        </p:pic>
        <p:pic>
          <p:nvPicPr>
            <p:cNvPr id="5" name="object 5" descr="http://2.bp.blogspot.com/_FeAhe9aAXkI/TCOLmLmoImI/AAAAAAAAAEs/-3LeHPcty24/s320/TangoReportage-27.jp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92725" y="1844675"/>
              <a:ext cx="3048000" cy="228600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618540" y="4825060"/>
            <a:ext cx="3342004" cy="819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Indianapolis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Rock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Steady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Gym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– </a:t>
            </a:r>
            <a:r>
              <a:rPr sz="1800" dirty="0">
                <a:latin typeface="Arial"/>
                <a:cs typeface="Arial"/>
              </a:rPr>
              <a:t>boxing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people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with </a:t>
            </a:r>
            <a:r>
              <a:rPr sz="1800" spc="-25" dirty="0">
                <a:latin typeface="Arial"/>
                <a:cs typeface="Arial"/>
              </a:rPr>
              <a:t>PD </a:t>
            </a:r>
            <a:r>
              <a:rPr sz="1600" dirty="0">
                <a:latin typeface="Arial"/>
                <a:cs typeface="Arial"/>
              </a:rPr>
              <a:t>(Combs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et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al.,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2011)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72227" y="4248734"/>
            <a:ext cx="30632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Tango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dancing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people</a:t>
            </a:r>
            <a:r>
              <a:rPr sz="1800" spc="-20" dirty="0">
                <a:latin typeface="Arial"/>
                <a:cs typeface="Arial"/>
              </a:rPr>
              <a:t> with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"/>
                <a:cs typeface="Arial"/>
              </a:rPr>
              <a:t>PD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(Duncan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Earhart,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2012)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43854" y="5977839"/>
            <a:ext cx="29794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Dance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PD: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Meta-analyses: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"/>
                <a:cs typeface="Arial"/>
              </a:rPr>
              <a:t>Shanahan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al.,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2015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9396" y="6121704"/>
            <a:ext cx="42989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u="sng" spc="-30" dirty="0">
                <a:solidFill>
                  <a:srgbClr val="947999"/>
                </a:solidFill>
                <a:uFill>
                  <a:solidFill>
                    <a:srgbClr val="947999"/>
                  </a:solidFill>
                </a:uFill>
                <a:latin typeface="Franklin Gothic Medium"/>
                <a:cs typeface="Franklin Gothic Medium"/>
                <a:hlinkClick r:id="rId4"/>
              </a:rPr>
              <a:t>http://www.youtube.com/watch?v=1cb3x6d</a:t>
            </a:r>
            <a:r>
              <a:rPr sz="1800" u="none" spc="-30" dirty="0">
                <a:solidFill>
                  <a:srgbClr val="947999"/>
                </a:solidFill>
                <a:latin typeface="Franklin Gothic Medium"/>
                <a:cs typeface="Franklin Gothic Medium"/>
              </a:rPr>
              <a:t> </a:t>
            </a:r>
            <a:r>
              <a:rPr sz="1800" u="sng" spc="-20" dirty="0">
                <a:solidFill>
                  <a:srgbClr val="947999"/>
                </a:solidFill>
                <a:uFill>
                  <a:solidFill>
                    <a:srgbClr val="947999"/>
                  </a:solidFill>
                </a:uFill>
                <a:latin typeface="Franklin Gothic Medium"/>
                <a:cs typeface="Franklin Gothic Medium"/>
                <a:hlinkClick r:id="rId4"/>
              </a:rPr>
              <a:t>dwCQ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4023" rIns="0" bIns="0" rtlCol="0">
            <a:spAutoFit/>
          </a:bodyPr>
          <a:lstStyle/>
          <a:p>
            <a:pPr marL="509270">
              <a:lnSpc>
                <a:spcPct val="100000"/>
              </a:lnSpc>
              <a:spcBef>
                <a:spcPts val="105"/>
              </a:spcBef>
            </a:pPr>
            <a:r>
              <a:rPr spc="-55" dirty="0"/>
              <a:t>Aerobic</a:t>
            </a:r>
            <a:r>
              <a:rPr spc="-95" dirty="0"/>
              <a:t> </a:t>
            </a:r>
            <a:r>
              <a:rPr spc="-30" dirty="0"/>
              <a:t>training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2440" y="1607261"/>
            <a:ext cx="8162925" cy="3709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4175" marR="788670" indent="-384175" algn="ctr">
              <a:lnSpc>
                <a:spcPts val="2330"/>
              </a:lnSpc>
              <a:spcBef>
                <a:spcPts val="105"/>
              </a:spcBef>
              <a:buChar char="■"/>
              <a:tabLst>
                <a:tab pos="384175" algn="l"/>
              </a:tabLst>
            </a:pPr>
            <a:r>
              <a:rPr sz="20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PwPD</a:t>
            </a:r>
            <a:r>
              <a:rPr sz="20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improve</a:t>
            </a:r>
            <a:r>
              <a:rPr sz="2000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VO</a:t>
            </a:r>
            <a:r>
              <a:rPr sz="1950" baseline="-21367" dirty="0">
                <a:solidFill>
                  <a:srgbClr val="181B0D"/>
                </a:solidFill>
                <a:latin typeface="Franklin Gothic Medium"/>
                <a:cs typeface="Franklin Gothic Medium"/>
              </a:rPr>
              <a:t>2</a:t>
            </a:r>
            <a:r>
              <a:rPr sz="1950" spc="135" baseline="-21367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max</a:t>
            </a:r>
            <a:r>
              <a:rPr sz="20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with</a:t>
            </a:r>
            <a:r>
              <a:rPr sz="20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either</a:t>
            </a:r>
            <a:r>
              <a:rPr sz="20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low</a:t>
            </a:r>
            <a:r>
              <a:rPr sz="2000" spc="-9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intensity</a:t>
            </a:r>
            <a:r>
              <a:rPr sz="20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or</a:t>
            </a:r>
            <a:r>
              <a:rPr sz="20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high</a:t>
            </a:r>
            <a:r>
              <a:rPr sz="20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intensity</a:t>
            </a:r>
            <a:endParaRPr sz="2000">
              <a:latin typeface="Franklin Gothic Medium"/>
              <a:cs typeface="Franklin Gothic Medium"/>
            </a:endParaRPr>
          </a:p>
          <a:p>
            <a:pPr marR="760095" algn="ctr">
              <a:lnSpc>
                <a:spcPts val="2330"/>
              </a:lnSpc>
            </a:pP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aerobic</a:t>
            </a:r>
            <a:r>
              <a:rPr sz="20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exs</a:t>
            </a:r>
            <a:r>
              <a:rPr sz="20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(Shulman</a:t>
            </a:r>
            <a:r>
              <a:rPr sz="20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et</a:t>
            </a:r>
            <a:r>
              <a:rPr sz="20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al.</a:t>
            </a:r>
            <a:r>
              <a:rPr sz="20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2013;</a:t>
            </a:r>
            <a:r>
              <a:rPr sz="20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Schenkman</a:t>
            </a:r>
            <a:r>
              <a:rPr sz="2000" spc="-9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</a:t>
            </a:r>
            <a:r>
              <a:rPr sz="20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et</a:t>
            </a:r>
            <a:r>
              <a:rPr sz="20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al</a:t>
            </a:r>
            <a:r>
              <a:rPr sz="20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2012)</a:t>
            </a:r>
            <a:endParaRPr sz="20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</a:pPr>
            <a:endParaRPr sz="20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000">
              <a:latin typeface="Franklin Gothic Medium"/>
              <a:cs typeface="Franklin Gothic Medium"/>
            </a:endParaRPr>
          </a:p>
          <a:p>
            <a:pPr marL="460375" marR="81280" indent="-384810">
              <a:lnSpc>
                <a:spcPct val="94000"/>
              </a:lnSpc>
              <a:buChar char="■"/>
              <a:tabLst>
                <a:tab pos="460375" algn="l"/>
              </a:tabLst>
            </a:pP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Large</a:t>
            </a:r>
            <a:r>
              <a:rPr sz="2000" spc="-1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study</a:t>
            </a:r>
            <a:r>
              <a:rPr sz="20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</a:t>
            </a:r>
            <a:r>
              <a:rPr sz="2000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aerobic</a:t>
            </a:r>
            <a:r>
              <a:rPr sz="20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walking</a:t>
            </a:r>
            <a:r>
              <a:rPr sz="20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trial</a:t>
            </a:r>
            <a:r>
              <a:rPr sz="20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found</a:t>
            </a:r>
            <a:r>
              <a:rPr sz="2000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improvement</a:t>
            </a:r>
            <a:r>
              <a:rPr sz="20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</a:t>
            </a:r>
            <a:r>
              <a:rPr sz="20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u="sng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</a:rPr>
              <a:t>VO</a:t>
            </a:r>
            <a:r>
              <a:rPr sz="1950" u="sng" baseline="-21367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</a:rPr>
              <a:t>2</a:t>
            </a:r>
            <a:r>
              <a:rPr sz="2000" u="sng" spc="-70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sz="2000" u="sng" spc="-20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</a:rPr>
              <a:t>max,</a:t>
            </a:r>
            <a:r>
              <a:rPr sz="2000" u="none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u="sng" spc="-50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</a:rPr>
              <a:t>motor</a:t>
            </a:r>
            <a:r>
              <a:rPr sz="2000" u="sng" spc="-75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sz="2000" u="sng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</a:rPr>
              <a:t>signs,</a:t>
            </a:r>
            <a:r>
              <a:rPr sz="2000" u="sng" spc="-65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sz="2000" u="sng" spc="-35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</a:rPr>
              <a:t>walking</a:t>
            </a:r>
            <a:r>
              <a:rPr sz="2000" u="sng" spc="-60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sz="2000" u="sng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</a:rPr>
              <a:t>speed,</a:t>
            </a:r>
            <a:r>
              <a:rPr sz="2000" u="sng" spc="-85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sz="2000" u="sng" spc="-20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</a:rPr>
              <a:t>executive</a:t>
            </a:r>
            <a:r>
              <a:rPr sz="2000" u="sng" spc="-60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sz="2000" u="sng" spc="-10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</a:rPr>
              <a:t>function,</a:t>
            </a:r>
            <a:r>
              <a:rPr sz="2000" u="sng" spc="-65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sz="2000" u="sng" spc="-10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</a:rPr>
              <a:t>fatigue,</a:t>
            </a:r>
            <a:r>
              <a:rPr sz="2000" u="sng" spc="-50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sz="2000" u="sng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</a:rPr>
              <a:t>depression</a:t>
            </a:r>
            <a:r>
              <a:rPr sz="2000" u="sng" spc="-80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sz="2000" u="sng" spc="-25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</a:rPr>
              <a:t>and</a:t>
            </a:r>
            <a:r>
              <a:rPr sz="2000" u="none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u="sng" spc="-20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</a:rPr>
              <a:t>quality</a:t>
            </a:r>
            <a:r>
              <a:rPr sz="2000" u="sng" spc="-35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sz="2000" u="sng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</a:rPr>
              <a:t>of</a:t>
            </a:r>
            <a:r>
              <a:rPr sz="2000" u="sng" spc="-75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sz="2000" u="sng" spc="-20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</a:rPr>
              <a:t>life</a:t>
            </a:r>
            <a:r>
              <a:rPr sz="2000" u="sng" spc="-55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sz="2000" u="none" dirty="0">
                <a:solidFill>
                  <a:srgbClr val="181B0D"/>
                </a:solidFill>
                <a:latin typeface="Franklin Gothic Medium"/>
                <a:cs typeface="Franklin Gothic Medium"/>
              </a:rPr>
              <a:t>(Uc</a:t>
            </a:r>
            <a:r>
              <a:rPr sz="2000" u="none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u="none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et</a:t>
            </a:r>
            <a:r>
              <a:rPr sz="2000" u="none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u="none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al.</a:t>
            </a:r>
            <a:r>
              <a:rPr sz="2000" u="none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u="none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2014)</a:t>
            </a:r>
            <a:endParaRPr sz="20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2245"/>
              </a:spcBef>
              <a:buClr>
                <a:srgbClr val="181B0D"/>
              </a:buClr>
              <a:buFont typeface="Franklin Gothic Medium"/>
              <a:buChar char="■"/>
            </a:pPr>
            <a:endParaRPr sz="2000">
              <a:latin typeface="Franklin Gothic Medium"/>
              <a:cs typeface="Franklin Gothic Medium"/>
            </a:endParaRPr>
          </a:p>
          <a:p>
            <a:pPr marL="460375" indent="-384175">
              <a:lnSpc>
                <a:spcPct val="100000"/>
              </a:lnSpc>
              <a:buChar char="■"/>
              <a:tabLst>
                <a:tab pos="460375" algn="l"/>
              </a:tabLst>
            </a:pP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Need</a:t>
            </a:r>
            <a:r>
              <a:rPr sz="2000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to</a:t>
            </a:r>
            <a:r>
              <a:rPr sz="20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exercise</a:t>
            </a:r>
            <a:r>
              <a:rPr sz="20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at</a:t>
            </a:r>
            <a:r>
              <a:rPr sz="20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least</a:t>
            </a:r>
            <a:r>
              <a:rPr sz="20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at</a:t>
            </a:r>
            <a:r>
              <a:rPr sz="20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moderate</a:t>
            </a:r>
            <a:r>
              <a:rPr sz="20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intensity</a:t>
            </a:r>
            <a:r>
              <a:rPr sz="20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(65</a:t>
            </a:r>
            <a:r>
              <a:rPr sz="20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-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70%</a:t>
            </a:r>
            <a:r>
              <a:rPr sz="20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HR</a:t>
            </a:r>
            <a:r>
              <a:rPr sz="20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max)</a:t>
            </a:r>
            <a:endParaRPr sz="20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1335"/>
              </a:spcBef>
              <a:buClr>
                <a:srgbClr val="181B0D"/>
              </a:buClr>
              <a:buFont typeface="Franklin Gothic Medium"/>
              <a:buChar char="■"/>
            </a:pPr>
            <a:endParaRPr sz="2000">
              <a:latin typeface="Franklin Gothic Medium"/>
              <a:cs typeface="Franklin Gothic Medium"/>
            </a:endParaRPr>
          </a:p>
          <a:p>
            <a:pPr marL="460375" indent="-384175">
              <a:lnSpc>
                <a:spcPct val="100000"/>
              </a:lnSpc>
              <a:buChar char="■"/>
              <a:tabLst>
                <a:tab pos="460375" algn="l"/>
              </a:tabLst>
            </a:pP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The</a:t>
            </a:r>
            <a:r>
              <a:rPr sz="20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jury</a:t>
            </a:r>
            <a:r>
              <a:rPr sz="20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is</a:t>
            </a:r>
            <a:r>
              <a:rPr sz="20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still</a:t>
            </a:r>
            <a:r>
              <a:rPr sz="20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out</a:t>
            </a:r>
            <a:r>
              <a:rPr sz="20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on</a:t>
            </a:r>
            <a:r>
              <a:rPr sz="20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the</a:t>
            </a:r>
            <a:r>
              <a:rPr sz="20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effect</a:t>
            </a:r>
            <a:r>
              <a:rPr sz="20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</a:t>
            </a:r>
            <a:r>
              <a:rPr sz="20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aerobic</a:t>
            </a:r>
            <a:r>
              <a:rPr sz="20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exercise</a:t>
            </a:r>
            <a:r>
              <a:rPr sz="20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on</a:t>
            </a:r>
            <a:r>
              <a:rPr sz="20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motor</a:t>
            </a:r>
            <a:r>
              <a:rPr sz="20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signs</a:t>
            </a:r>
            <a:endParaRPr sz="2000">
              <a:latin typeface="Franklin Gothic Medium"/>
              <a:cs typeface="Franklin Gothic Medium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558785" y="5983757"/>
            <a:ext cx="593090" cy="507365"/>
            <a:chOff x="7558785" y="5983757"/>
            <a:chExt cx="593090" cy="507365"/>
          </a:xfrm>
        </p:grpSpPr>
        <p:sp>
          <p:nvSpPr>
            <p:cNvPr id="5" name="object 5"/>
            <p:cNvSpPr/>
            <p:nvPr/>
          </p:nvSpPr>
          <p:spPr>
            <a:xfrm>
              <a:off x="7560309" y="5985281"/>
              <a:ext cx="576580" cy="504190"/>
            </a:xfrm>
            <a:custGeom>
              <a:avLst/>
              <a:gdLst/>
              <a:ahLst/>
              <a:cxnLst/>
              <a:rect l="l" t="t" r="r" b="b"/>
              <a:pathLst>
                <a:path w="576579" h="504189">
                  <a:moveTo>
                    <a:pt x="576072" y="0"/>
                  </a:moveTo>
                  <a:lnTo>
                    <a:pt x="0" y="252031"/>
                  </a:lnTo>
                  <a:lnTo>
                    <a:pt x="576072" y="504063"/>
                  </a:lnTo>
                  <a:lnTo>
                    <a:pt x="576072" y="0"/>
                  </a:lnTo>
                  <a:close/>
                </a:path>
              </a:pathLst>
            </a:custGeom>
            <a:solidFill>
              <a:srgbClr val="8B8D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558785" y="5983757"/>
              <a:ext cx="593090" cy="507365"/>
            </a:xfrm>
            <a:custGeom>
              <a:avLst/>
              <a:gdLst/>
              <a:ahLst/>
              <a:cxnLst/>
              <a:rect l="l" t="t" r="r" b="b"/>
              <a:pathLst>
                <a:path w="593090" h="507364">
                  <a:moveTo>
                    <a:pt x="544195" y="491819"/>
                  </a:moveTo>
                  <a:lnTo>
                    <a:pt x="544195" y="507110"/>
                  </a:lnTo>
                  <a:lnTo>
                    <a:pt x="558196" y="497950"/>
                  </a:lnTo>
                  <a:lnTo>
                    <a:pt x="544195" y="491819"/>
                  </a:lnTo>
                  <a:close/>
                </a:path>
                <a:path w="593090" h="507364">
                  <a:moveTo>
                    <a:pt x="579120" y="484260"/>
                  </a:moveTo>
                  <a:lnTo>
                    <a:pt x="558196" y="497950"/>
                  </a:lnTo>
                  <a:lnTo>
                    <a:pt x="579120" y="507110"/>
                  </a:lnTo>
                  <a:lnTo>
                    <a:pt x="579120" y="484260"/>
                  </a:lnTo>
                  <a:close/>
                </a:path>
                <a:path w="593090" h="507364">
                  <a:moveTo>
                    <a:pt x="544195" y="453712"/>
                  </a:moveTo>
                  <a:lnTo>
                    <a:pt x="544195" y="491819"/>
                  </a:lnTo>
                  <a:lnTo>
                    <a:pt x="558196" y="497950"/>
                  </a:lnTo>
                  <a:lnTo>
                    <a:pt x="579120" y="484260"/>
                  </a:lnTo>
                  <a:lnTo>
                    <a:pt x="579120" y="469003"/>
                  </a:lnTo>
                  <a:lnTo>
                    <a:pt x="544195" y="453712"/>
                  </a:lnTo>
                  <a:close/>
                </a:path>
                <a:path w="593090" h="507364">
                  <a:moveTo>
                    <a:pt x="87038" y="253555"/>
                  </a:moveTo>
                  <a:lnTo>
                    <a:pt x="43519" y="272609"/>
                  </a:lnTo>
                  <a:lnTo>
                    <a:pt x="544195" y="491819"/>
                  </a:lnTo>
                  <a:lnTo>
                    <a:pt x="544195" y="453712"/>
                  </a:lnTo>
                  <a:lnTo>
                    <a:pt x="87038" y="253555"/>
                  </a:lnTo>
                  <a:close/>
                </a:path>
                <a:path w="593090" h="507364">
                  <a:moveTo>
                    <a:pt x="579120" y="469003"/>
                  </a:moveTo>
                  <a:lnTo>
                    <a:pt x="579120" y="484260"/>
                  </a:lnTo>
                  <a:lnTo>
                    <a:pt x="593090" y="475119"/>
                  </a:lnTo>
                  <a:lnTo>
                    <a:pt x="579120" y="469003"/>
                  </a:lnTo>
                  <a:close/>
                </a:path>
                <a:path w="593090" h="507364">
                  <a:moveTo>
                    <a:pt x="579120" y="38107"/>
                  </a:moveTo>
                  <a:lnTo>
                    <a:pt x="544195" y="53398"/>
                  </a:lnTo>
                  <a:lnTo>
                    <a:pt x="544195" y="453712"/>
                  </a:lnTo>
                  <a:lnTo>
                    <a:pt x="579120" y="469003"/>
                  </a:lnTo>
                  <a:lnTo>
                    <a:pt x="579120" y="38107"/>
                  </a:lnTo>
                  <a:close/>
                </a:path>
                <a:path w="593090" h="507364">
                  <a:moveTo>
                    <a:pt x="13970" y="259671"/>
                  </a:moveTo>
                  <a:lnTo>
                    <a:pt x="13970" y="285546"/>
                  </a:lnTo>
                  <a:lnTo>
                    <a:pt x="43519" y="272609"/>
                  </a:lnTo>
                  <a:lnTo>
                    <a:pt x="13970" y="259671"/>
                  </a:lnTo>
                  <a:close/>
                </a:path>
                <a:path w="593090" h="507364">
                  <a:moveTo>
                    <a:pt x="43519" y="234501"/>
                  </a:moveTo>
                  <a:lnTo>
                    <a:pt x="13970" y="247439"/>
                  </a:lnTo>
                  <a:lnTo>
                    <a:pt x="13970" y="259671"/>
                  </a:lnTo>
                  <a:lnTo>
                    <a:pt x="43519" y="272609"/>
                  </a:lnTo>
                  <a:lnTo>
                    <a:pt x="87038" y="253555"/>
                  </a:lnTo>
                  <a:lnTo>
                    <a:pt x="43519" y="234501"/>
                  </a:lnTo>
                  <a:close/>
                </a:path>
                <a:path w="593090" h="507364">
                  <a:moveTo>
                    <a:pt x="13970" y="247439"/>
                  </a:moveTo>
                  <a:lnTo>
                    <a:pt x="0" y="253555"/>
                  </a:lnTo>
                  <a:lnTo>
                    <a:pt x="13970" y="259671"/>
                  </a:lnTo>
                  <a:lnTo>
                    <a:pt x="13970" y="247439"/>
                  </a:lnTo>
                  <a:close/>
                </a:path>
                <a:path w="593090" h="507364">
                  <a:moveTo>
                    <a:pt x="544195" y="15291"/>
                  </a:moveTo>
                  <a:lnTo>
                    <a:pt x="43519" y="234501"/>
                  </a:lnTo>
                  <a:lnTo>
                    <a:pt x="87038" y="253555"/>
                  </a:lnTo>
                  <a:lnTo>
                    <a:pt x="544195" y="53398"/>
                  </a:lnTo>
                  <a:lnTo>
                    <a:pt x="544195" y="15291"/>
                  </a:lnTo>
                  <a:close/>
                </a:path>
                <a:path w="593090" h="507364">
                  <a:moveTo>
                    <a:pt x="13970" y="221564"/>
                  </a:moveTo>
                  <a:lnTo>
                    <a:pt x="13970" y="247439"/>
                  </a:lnTo>
                  <a:lnTo>
                    <a:pt x="43519" y="234501"/>
                  </a:lnTo>
                  <a:lnTo>
                    <a:pt x="13970" y="221564"/>
                  </a:lnTo>
                  <a:close/>
                </a:path>
                <a:path w="593090" h="507364">
                  <a:moveTo>
                    <a:pt x="558196" y="9160"/>
                  </a:moveTo>
                  <a:lnTo>
                    <a:pt x="544195" y="15291"/>
                  </a:lnTo>
                  <a:lnTo>
                    <a:pt x="544195" y="53398"/>
                  </a:lnTo>
                  <a:lnTo>
                    <a:pt x="579120" y="38107"/>
                  </a:lnTo>
                  <a:lnTo>
                    <a:pt x="579120" y="22850"/>
                  </a:lnTo>
                  <a:lnTo>
                    <a:pt x="558196" y="9160"/>
                  </a:lnTo>
                  <a:close/>
                </a:path>
                <a:path w="593090" h="507364">
                  <a:moveTo>
                    <a:pt x="579120" y="22850"/>
                  </a:moveTo>
                  <a:lnTo>
                    <a:pt x="579120" y="38107"/>
                  </a:lnTo>
                  <a:lnTo>
                    <a:pt x="593090" y="31991"/>
                  </a:lnTo>
                  <a:lnTo>
                    <a:pt x="579120" y="22850"/>
                  </a:lnTo>
                  <a:close/>
                </a:path>
                <a:path w="593090" h="507364">
                  <a:moveTo>
                    <a:pt x="579120" y="0"/>
                  </a:moveTo>
                  <a:lnTo>
                    <a:pt x="558196" y="9160"/>
                  </a:lnTo>
                  <a:lnTo>
                    <a:pt x="579120" y="22850"/>
                  </a:lnTo>
                  <a:lnTo>
                    <a:pt x="579120" y="0"/>
                  </a:lnTo>
                  <a:close/>
                </a:path>
                <a:path w="593090" h="507364">
                  <a:moveTo>
                    <a:pt x="544195" y="0"/>
                  </a:moveTo>
                  <a:lnTo>
                    <a:pt x="544195" y="15291"/>
                  </a:lnTo>
                  <a:lnTo>
                    <a:pt x="558196" y="9160"/>
                  </a:lnTo>
                  <a:lnTo>
                    <a:pt x="544195" y="0"/>
                  </a:lnTo>
                  <a:close/>
                </a:path>
              </a:pathLst>
            </a:custGeom>
            <a:solidFill>
              <a:srgbClr val="646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9590" y="354838"/>
            <a:ext cx="621474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35" dirty="0">
                <a:solidFill>
                  <a:srgbClr val="CC0000"/>
                </a:solidFill>
              </a:rPr>
              <a:t>Contemporary</a:t>
            </a:r>
            <a:r>
              <a:rPr sz="2900" spc="-105" dirty="0">
                <a:solidFill>
                  <a:srgbClr val="CC0000"/>
                </a:solidFill>
              </a:rPr>
              <a:t> </a:t>
            </a:r>
            <a:r>
              <a:rPr sz="2900" spc="-40" dirty="0">
                <a:solidFill>
                  <a:srgbClr val="CC0000"/>
                </a:solidFill>
              </a:rPr>
              <a:t>physiotherapy</a:t>
            </a:r>
            <a:r>
              <a:rPr sz="2900" spc="-100" dirty="0">
                <a:solidFill>
                  <a:srgbClr val="CC0000"/>
                </a:solidFill>
              </a:rPr>
              <a:t> </a:t>
            </a:r>
            <a:r>
              <a:rPr sz="2900" spc="-10" dirty="0">
                <a:solidFill>
                  <a:srgbClr val="CC0000"/>
                </a:solidFill>
              </a:rPr>
              <a:t>philosophy</a:t>
            </a:r>
            <a:endParaRPr sz="2900"/>
          </a:p>
        </p:txBody>
      </p:sp>
      <p:sp>
        <p:nvSpPr>
          <p:cNvPr id="3" name="object 3"/>
          <p:cNvSpPr txBox="1"/>
          <p:nvPr/>
        </p:nvSpPr>
        <p:spPr>
          <a:xfrm>
            <a:off x="329590" y="1003553"/>
            <a:ext cx="7861300" cy="3100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240" indent="-38354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Char char="■"/>
              <a:tabLst>
                <a:tab pos="396240" algn="l"/>
              </a:tabLst>
            </a:pPr>
            <a:r>
              <a:rPr sz="2400" u="sng" spc="-10" dirty="0">
                <a:solidFill>
                  <a:srgbClr val="947999"/>
                </a:solidFill>
                <a:uFill>
                  <a:solidFill>
                    <a:srgbClr val="947999"/>
                  </a:solidFill>
                </a:uFill>
                <a:latin typeface="Franklin Gothic Medium"/>
                <a:cs typeface="Franklin Gothic Medium"/>
                <a:hlinkClick r:id="rId2" action="ppaction://hlinksldjump"/>
              </a:rPr>
              <a:t>Falls</a:t>
            </a:r>
            <a:r>
              <a:rPr sz="2400" u="sng" spc="-114" dirty="0">
                <a:solidFill>
                  <a:srgbClr val="947999"/>
                </a:solidFill>
                <a:uFill>
                  <a:solidFill>
                    <a:srgbClr val="947999"/>
                  </a:solidFill>
                </a:uFill>
                <a:latin typeface="Franklin Gothic Medium"/>
                <a:cs typeface="Franklin Gothic Medium"/>
                <a:hlinkClick r:id="rId2" action="ppaction://hlinksldjump"/>
              </a:rPr>
              <a:t> </a:t>
            </a:r>
            <a:r>
              <a:rPr sz="2400" u="sng" spc="-10" dirty="0">
                <a:solidFill>
                  <a:srgbClr val="947999"/>
                </a:solidFill>
                <a:uFill>
                  <a:solidFill>
                    <a:srgbClr val="947999"/>
                  </a:solidFill>
                </a:uFill>
                <a:latin typeface="Franklin Gothic Medium"/>
                <a:cs typeface="Franklin Gothic Medium"/>
                <a:hlinkClick r:id="rId2" action="ppaction://hlinksldjump"/>
              </a:rPr>
              <a:t>prevention</a:t>
            </a:r>
            <a:endParaRPr sz="2400">
              <a:latin typeface="Franklin Gothic Medium"/>
              <a:cs typeface="Franklin Gothic Medium"/>
            </a:endParaRPr>
          </a:p>
          <a:p>
            <a:pPr marL="927100" lvl="1" indent="-384175">
              <a:lnSpc>
                <a:spcPct val="100000"/>
              </a:lnSpc>
              <a:spcBef>
                <a:spcPts val="120"/>
              </a:spcBef>
              <a:buFont typeface="Franklin Gothic Medium"/>
              <a:buChar char="–"/>
              <a:tabLst>
                <a:tab pos="927100" algn="l"/>
              </a:tabLst>
            </a:pPr>
            <a:r>
              <a:rPr sz="2400" i="1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Patient</a:t>
            </a:r>
            <a:r>
              <a:rPr sz="2400" i="1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education</a:t>
            </a:r>
            <a:endParaRPr sz="2400">
              <a:latin typeface="Franklin Gothic Medium"/>
              <a:cs typeface="Franklin Gothic Medium"/>
            </a:endParaRPr>
          </a:p>
          <a:p>
            <a:pPr marL="927100" lvl="1" indent="-384175">
              <a:lnSpc>
                <a:spcPct val="100000"/>
              </a:lnSpc>
              <a:spcBef>
                <a:spcPts val="135"/>
              </a:spcBef>
              <a:buFont typeface="Franklin Gothic Medium"/>
              <a:buChar char="–"/>
              <a:tabLst>
                <a:tab pos="927100" algn="l"/>
              </a:tabLst>
            </a:pPr>
            <a:r>
              <a:rPr sz="24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Balance</a:t>
            </a:r>
            <a:r>
              <a:rPr sz="2400" i="1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training</a:t>
            </a:r>
            <a:endParaRPr sz="2400">
              <a:latin typeface="Franklin Gothic Medium"/>
              <a:cs typeface="Franklin Gothic Medium"/>
            </a:endParaRPr>
          </a:p>
          <a:p>
            <a:pPr marL="927100" lvl="1" indent="-384175">
              <a:lnSpc>
                <a:spcPct val="100000"/>
              </a:lnSpc>
              <a:spcBef>
                <a:spcPts val="120"/>
              </a:spcBef>
              <a:buFont typeface="Franklin Gothic Medium"/>
              <a:buChar char="–"/>
              <a:tabLst>
                <a:tab pos="927100" algn="l"/>
              </a:tabLst>
            </a:pPr>
            <a:r>
              <a:rPr sz="24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Exercises</a:t>
            </a:r>
            <a:endParaRPr sz="2400">
              <a:latin typeface="Franklin Gothic Medium"/>
              <a:cs typeface="Franklin Gothic Medium"/>
            </a:endParaRPr>
          </a:p>
          <a:p>
            <a:pPr lvl="1">
              <a:lnSpc>
                <a:spcPct val="100000"/>
              </a:lnSpc>
              <a:spcBef>
                <a:spcPts val="1405"/>
              </a:spcBef>
              <a:buClr>
                <a:srgbClr val="181B0D"/>
              </a:buClr>
              <a:buFont typeface="Franklin Gothic Medium"/>
              <a:buChar char="–"/>
            </a:pPr>
            <a:endParaRPr sz="24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buChar char="■"/>
              <a:tabLst>
                <a:tab pos="396240" algn="l"/>
              </a:tabLst>
            </a:pPr>
            <a:r>
              <a:rPr sz="2400" spc="-30" dirty="0">
                <a:latin typeface="Franklin Gothic Medium"/>
                <a:cs typeface="Franklin Gothic Medium"/>
              </a:rPr>
              <a:t>Patient</a:t>
            </a:r>
            <a:r>
              <a:rPr sz="2400" spc="-7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and</a:t>
            </a:r>
            <a:r>
              <a:rPr sz="2400" spc="-50" dirty="0">
                <a:latin typeface="Franklin Gothic Medium"/>
                <a:cs typeface="Franklin Gothic Medium"/>
              </a:rPr>
              <a:t> </a:t>
            </a:r>
            <a:r>
              <a:rPr sz="2400" spc="-65" dirty="0">
                <a:latin typeface="Franklin Gothic Medium"/>
                <a:cs typeface="Franklin Gothic Medium"/>
              </a:rPr>
              <a:t>family</a:t>
            </a:r>
            <a:r>
              <a:rPr sz="2400" spc="-7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education</a:t>
            </a:r>
            <a:endParaRPr sz="2400">
              <a:latin typeface="Franklin Gothic Medium"/>
              <a:cs typeface="Franklin Gothic Medium"/>
            </a:endParaRPr>
          </a:p>
          <a:p>
            <a:pPr marL="927100" marR="5080" lvl="1" indent="-384810">
              <a:lnSpc>
                <a:spcPts val="2300"/>
              </a:lnSpc>
              <a:spcBef>
                <a:spcPts val="680"/>
              </a:spcBef>
              <a:buFont typeface="Franklin Gothic Medium"/>
              <a:buChar char="–"/>
              <a:tabLst>
                <a:tab pos="927100" algn="l"/>
              </a:tabLst>
            </a:pPr>
            <a:r>
              <a:rPr sz="2400" i="1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Refer</a:t>
            </a:r>
            <a:r>
              <a:rPr sz="2400" i="1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patient</a:t>
            </a:r>
            <a:r>
              <a:rPr sz="2400" i="1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to</a:t>
            </a:r>
            <a:r>
              <a:rPr sz="2400" i="1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support</a:t>
            </a:r>
            <a:r>
              <a:rPr sz="2400" i="1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groups</a:t>
            </a:r>
            <a:r>
              <a:rPr sz="2400" i="1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i="1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e.g.</a:t>
            </a:r>
            <a:r>
              <a:rPr sz="2400" i="1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i="1" u="sng" spc="-25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  <a:hlinkClick r:id="rId3"/>
              </a:rPr>
              <a:t>Parkinson</a:t>
            </a:r>
            <a:r>
              <a:rPr sz="2400" i="1" u="sng" spc="-55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  <a:hlinkClick r:id="rId3"/>
              </a:rPr>
              <a:t> </a:t>
            </a:r>
            <a:r>
              <a:rPr sz="2400" i="1" u="sng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  <a:hlinkClick r:id="rId3"/>
              </a:rPr>
              <a:t>UK</a:t>
            </a:r>
            <a:r>
              <a:rPr sz="2400" i="1" u="none" dirty="0">
                <a:solidFill>
                  <a:srgbClr val="181B0D"/>
                </a:solidFill>
                <a:latin typeface="Franklin Gothic Medium"/>
                <a:cs typeface="Franklin Gothic Medium"/>
              </a:rPr>
              <a:t>,</a:t>
            </a:r>
            <a:r>
              <a:rPr sz="2400" i="1" u="none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i="1" u="sng" spc="-25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  <a:hlinkClick r:id="rId4"/>
              </a:rPr>
              <a:t>PD</a:t>
            </a:r>
            <a:r>
              <a:rPr sz="2400" i="1" u="none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i="1" u="sng" spc="-10" dirty="0">
                <a:solidFill>
                  <a:srgbClr val="181B0D"/>
                </a:solidFill>
                <a:uFill>
                  <a:solidFill>
                    <a:srgbClr val="181B0D"/>
                  </a:solidFill>
                </a:uFill>
                <a:latin typeface="Franklin Gothic Medium"/>
                <a:cs typeface="Franklin Gothic Medium"/>
                <a:hlinkClick r:id="rId4"/>
              </a:rPr>
              <a:t>warrior</a:t>
            </a:r>
            <a:endParaRPr sz="2400">
              <a:latin typeface="Franklin Gothic Medium"/>
              <a:cs typeface="Franklin Gothic Medium"/>
            </a:endParaRPr>
          </a:p>
        </p:txBody>
      </p:sp>
      <p:pic>
        <p:nvPicPr>
          <p:cNvPr id="4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65200" y="4254563"/>
            <a:ext cx="3187446" cy="201739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67021" y="4295825"/>
            <a:ext cx="3606800" cy="1934844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5940" y="234188"/>
            <a:ext cx="775271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0" dirty="0"/>
              <a:t>Exercise</a:t>
            </a:r>
            <a:r>
              <a:rPr sz="2900" spc="-140" dirty="0"/>
              <a:t> </a:t>
            </a:r>
            <a:r>
              <a:rPr sz="2900" dirty="0"/>
              <a:t>for</a:t>
            </a:r>
            <a:r>
              <a:rPr sz="2900" spc="-105" dirty="0"/>
              <a:t> </a:t>
            </a:r>
            <a:r>
              <a:rPr sz="2900" dirty="0"/>
              <a:t>falls</a:t>
            </a:r>
            <a:r>
              <a:rPr sz="2900" spc="-100" dirty="0"/>
              <a:t> </a:t>
            </a:r>
            <a:r>
              <a:rPr sz="2900" spc="-25" dirty="0"/>
              <a:t>prevention</a:t>
            </a:r>
            <a:r>
              <a:rPr sz="2900" spc="-125" dirty="0"/>
              <a:t> </a:t>
            </a:r>
            <a:r>
              <a:rPr sz="2900" spc="-20" dirty="0"/>
              <a:t>(Canning</a:t>
            </a:r>
            <a:r>
              <a:rPr sz="2900" spc="-114" dirty="0"/>
              <a:t> </a:t>
            </a:r>
            <a:r>
              <a:rPr sz="2900" dirty="0"/>
              <a:t>et</a:t>
            </a:r>
            <a:r>
              <a:rPr sz="2900" spc="-110" dirty="0"/>
              <a:t> </a:t>
            </a:r>
            <a:r>
              <a:rPr sz="2900" dirty="0"/>
              <a:t>al.,</a:t>
            </a:r>
            <a:r>
              <a:rPr sz="2900" spc="-114" dirty="0"/>
              <a:t> </a:t>
            </a:r>
            <a:r>
              <a:rPr sz="2900" spc="-10" dirty="0"/>
              <a:t>2015)</a:t>
            </a:r>
            <a:endParaRPr sz="2900"/>
          </a:p>
        </p:txBody>
      </p:sp>
      <p:sp>
        <p:nvSpPr>
          <p:cNvPr id="3" name="object 3"/>
          <p:cNvSpPr txBox="1"/>
          <p:nvPr/>
        </p:nvSpPr>
        <p:spPr>
          <a:xfrm>
            <a:off x="535940" y="1275969"/>
            <a:ext cx="7632700" cy="152781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396875" marR="5080" indent="-384810">
              <a:lnSpc>
                <a:spcPts val="2260"/>
              </a:lnSpc>
              <a:spcBef>
                <a:spcPts val="295"/>
              </a:spcBef>
              <a:buChar char="■"/>
              <a:tabLst>
                <a:tab pos="396875" algn="l"/>
              </a:tabLst>
            </a:pPr>
            <a:r>
              <a:rPr sz="20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An</a:t>
            </a:r>
            <a:r>
              <a:rPr sz="20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exercise</a:t>
            </a:r>
            <a:r>
              <a:rPr sz="2000" spc="-9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program</a:t>
            </a:r>
            <a:r>
              <a:rPr sz="20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targeting</a:t>
            </a:r>
            <a:r>
              <a:rPr sz="20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balance,</a:t>
            </a:r>
            <a:r>
              <a:rPr sz="2000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leg</a:t>
            </a:r>
            <a:r>
              <a:rPr sz="20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strength,</a:t>
            </a:r>
            <a:r>
              <a:rPr sz="2000" spc="-9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and</a:t>
            </a:r>
            <a:r>
              <a:rPr sz="2000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freezing</a:t>
            </a:r>
            <a:r>
              <a:rPr sz="2000" spc="-9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gait</a:t>
            </a:r>
            <a:r>
              <a:rPr sz="20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did</a:t>
            </a:r>
            <a:r>
              <a:rPr sz="2000" spc="-9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not</a:t>
            </a:r>
            <a:r>
              <a:rPr sz="2000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reduce</a:t>
            </a:r>
            <a:r>
              <a:rPr sz="20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falls</a:t>
            </a:r>
            <a:r>
              <a:rPr sz="20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but</a:t>
            </a:r>
            <a:r>
              <a:rPr sz="20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improved</a:t>
            </a:r>
            <a:r>
              <a:rPr sz="20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physical</a:t>
            </a:r>
            <a:r>
              <a:rPr sz="20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and</a:t>
            </a:r>
            <a:r>
              <a:rPr sz="20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psychological health.</a:t>
            </a:r>
            <a:endParaRPr sz="20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180"/>
              </a:spcBef>
              <a:buClr>
                <a:srgbClr val="181B0D"/>
              </a:buClr>
              <a:buFont typeface="Franklin Gothic Medium"/>
              <a:buChar char="■"/>
            </a:pPr>
            <a:endParaRPr sz="2000">
              <a:latin typeface="Franklin Gothic Medium"/>
              <a:cs typeface="Franklin Gothic Medium"/>
            </a:endParaRPr>
          </a:p>
          <a:p>
            <a:pPr marL="396875" indent="-384175">
              <a:lnSpc>
                <a:spcPct val="100000"/>
              </a:lnSpc>
              <a:spcBef>
                <a:spcPts val="5"/>
              </a:spcBef>
              <a:buChar char="■"/>
              <a:tabLst>
                <a:tab pos="396875" algn="l"/>
              </a:tabLst>
            </a:pP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Falls</a:t>
            </a:r>
            <a:r>
              <a:rPr sz="2000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decreased</a:t>
            </a:r>
            <a:r>
              <a:rPr sz="20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</a:t>
            </a:r>
            <a:r>
              <a:rPr sz="20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people</a:t>
            </a:r>
            <a:r>
              <a:rPr sz="2000" spc="-9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with</a:t>
            </a:r>
            <a:r>
              <a:rPr sz="2000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milder</a:t>
            </a:r>
            <a:r>
              <a:rPr sz="20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Parkinson</a:t>
            </a:r>
            <a:r>
              <a:rPr sz="2000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disease</a:t>
            </a:r>
            <a:r>
              <a:rPr sz="20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only.</a:t>
            </a:r>
            <a:endParaRPr sz="20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5940" y="226568"/>
            <a:ext cx="219011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Walking</a:t>
            </a:r>
            <a:r>
              <a:rPr spc="-95" dirty="0"/>
              <a:t> </a:t>
            </a:r>
            <a:r>
              <a:rPr spc="-20" dirty="0"/>
              <a:t>aids</a:t>
            </a:r>
          </a:p>
        </p:txBody>
      </p:sp>
      <p:pic>
        <p:nvPicPr>
          <p:cNvPr id="3" name="object 3" descr="Economy Lightweight Aluminium Folding Rollator 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6985" y="1423924"/>
            <a:ext cx="2657475" cy="38766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915160" y="5327396"/>
            <a:ext cx="6337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00AF50"/>
                </a:solidFill>
                <a:latin typeface="Arial"/>
                <a:cs typeface="Arial"/>
              </a:rPr>
              <a:t>YES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572000" y="1484249"/>
            <a:ext cx="4332605" cy="4897755"/>
            <a:chOff x="4572000" y="1484249"/>
            <a:chExt cx="4332605" cy="4897755"/>
          </a:xfrm>
        </p:grpSpPr>
        <p:pic>
          <p:nvPicPr>
            <p:cNvPr id="6" name="object 6" descr="http://www.ustep.com/images/walker2.jp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2000" y="1628775"/>
              <a:ext cx="1935099" cy="2305050"/>
            </a:xfrm>
            <a:prstGeom prst="rect">
              <a:avLst/>
            </a:prstGeom>
          </p:spPr>
        </p:pic>
        <p:pic>
          <p:nvPicPr>
            <p:cNvPr id="7" name="object 7" descr="Collapsible Walking Stick with Wooden Handle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32651" y="1484249"/>
              <a:ext cx="2171573" cy="2171700"/>
            </a:xfrm>
            <a:prstGeom prst="rect">
              <a:avLst/>
            </a:prstGeom>
          </p:spPr>
        </p:pic>
        <p:pic>
          <p:nvPicPr>
            <p:cNvPr id="8" name="object 8" descr="Product Image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2000" y="4149725"/>
              <a:ext cx="2095500" cy="20955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291836" y="2277237"/>
              <a:ext cx="627380" cy="627380"/>
            </a:xfrm>
            <a:custGeom>
              <a:avLst/>
              <a:gdLst/>
              <a:ahLst/>
              <a:cxnLst/>
              <a:rect l="l" t="t" r="r" b="b"/>
              <a:pathLst>
                <a:path w="627379" h="627380">
                  <a:moveTo>
                    <a:pt x="475234" y="0"/>
                  </a:moveTo>
                  <a:lnTo>
                    <a:pt x="313689" y="161543"/>
                  </a:lnTo>
                  <a:lnTo>
                    <a:pt x="152018" y="0"/>
                  </a:lnTo>
                  <a:lnTo>
                    <a:pt x="0" y="152018"/>
                  </a:lnTo>
                  <a:lnTo>
                    <a:pt x="161543" y="313563"/>
                  </a:lnTo>
                  <a:lnTo>
                    <a:pt x="0" y="475107"/>
                  </a:lnTo>
                  <a:lnTo>
                    <a:pt x="152018" y="627126"/>
                  </a:lnTo>
                  <a:lnTo>
                    <a:pt x="313689" y="465582"/>
                  </a:lnTo>
                  <a:lnTo>
                    <a:pt x="475234" y="627126"/>
                  </a:lnTo>
                  <a:lnTo>
                    <a:pt x="627252" y="475107"/>
                  </a:lnTo>
                  <a:lnTo>
                    <a:pt x="465709" y="313563"/>
                  </a:lnTo>
                  <a:lnTo>
                    <a:pt x="627252" y="152018"/>
                  </a:lnTo>
                  <a:lnTo>
                    <a:pt x="47523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291836" y="2277237"/>
              <a:ext cx="627380" cy="627380"/>
            </a:xfrm>
            <a:custGeom>
              <a:avLst/>
              <a:gdLst/>
              <a:ahLst/>
              <a:cxnLst/>
              <a:rect l="l" t="t" r="r" b="b"/>
              <a:pathLst>
                <a:path w="627379" h="627380">
                  <a:moveTo>
                    <a:pt x="0" y="152018"/>
                  </a:moveTo>
                  <a:lnTo>
                    <a:pt x="152018" y="0"/>
                  </a:lnTo>
                  <a:lnTo>
                    <a:pt x="313689" y="161543"/>
                  </a:lnTo>
                  <a:lnTo>
                    <a:pt x="475234" y="0"/>
                  </a:lnTo>
                  <a:lnTo>
                    <a:pt x="627252" y="152018"/>
                  </a:lnTo>
                  <a:lnTo>
                    <a:pt x="465709" y="313563"/>
                  </a:lnTo>
                  <a:lnTo>
                    <a:pt x="627252" y="475107"/>
                  </a:lnTo>
                  <a:lnTo>
                    <a:pt x="475234" y="627126"/>
                  </a:lnTo>
                  <a:lnTo>
                    <a:pt x="313689" y="465582"/>
                  </a:lnTo>
                  <a:lnTo>
                    <a:pt x="152018" y="627126"/>
                  </a:lnTo>
                  <a:lnTo>
                    <a:pt x="0" y="475107"/>
                  </a:lnTo>
                  <a:lnTo>
                    <a:pt x="161543" y="313563"/>
                  </a:lnTo>
                  <a:lnTo>
                    <a:pt x="0" y="15201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523860" y="2348611"/>
              <a:ext cx="627380" cy="627380"/>
            </a:xfrm>
            <a:custGeom>
              <a:avLst/>
              <a:gdLst/>
              <a:ahLst/>
              <a:cxnLst/>
              <a:rect l="l" t="t" r="r" b="b"/>
              <a:pathLst>
                <a:path w="627379" h="627380">
                  <a:moveTo>
                    <a:pt x="475234" y="0"/>
                  </a:moveTo>
                  <a:lnTo>
                    <a:pt x="313690" y="161543"/>
                  </a:lnTo>
                  <a:lnTo>
                    <a:pt x="152019" y="0"/>
                  </a:lnTo>
                  <a:lnTo>
                    <a:pt x="0" y="152018"/>
                  </a:lnTo>
                  <a:lnTo>
                    <a:pt x="161544" y="313689"/>
                  </a:lnTo>
                  <a:lnTo>
                    <a:pt x="0" y="475234"/>
                  </a:lnTo>
                  <a:lnTo>
                    <a:pt x="152019" y="627252"/>
                  </a:lnTo>
                  <a:lnTo>
                    <a:pt x="313690" y="465709"/>
                  </a:lnTo>
                  <a:lnTo>
                    <a:pt x="475234" y="627252"/>
                  </a:lnTo>
                  <a:lnTo>
                    <a:pt x="627253" y="475234"/>
                  </a:lnTo>
                  <a:lnTo>
                    <a:pt x="465709" y="313689"/>
                  </a:lnTo>
                  <a:lnTo>
                    <a:pt x="627253" y="152018"/>
                  </a:lnTo>
                  <a:lnTo>
                    <a:pt x="47523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523860" y="2348611"/>
              <a:ext cx="627380" cy="627380"/>
            </a:xfrm>
            <a:custGeom>
              <a:avLst/>
              <a:gdLst/>
              <a:ahLst/>
              <a:cxnLst/>
              <a:rect l="l" t="t" r="r" b="b"/>
              <a:pathLst>
                <a:path w="627379" h="627380">
                  <a:moveTo>
                    <a:pt x="0" y="152018"/>
                  </a:moveTo>
                  <a:lnTo>
                    <a:pt x="152019" y="0"/>
                  </a:lnTo>
                  <a:lnTo>
                    <a:pt x="313690" y="161543"/>
                  </a:lnTo>
                  <a:lnTo>
                    <a:pt x="475234" y="0"/>
                  </a:lnTo>
                  <a:lnTo>
                    <a:pt x="627253" y="152018"/>
                  </a:lnTo>
                  <a:lnTo>
                    <a:pt x="465709" y="313689"/>
                  </a:lnTo>
                  <a:lnTo>
                    <a:pt x="627253" y="475234"/>
                  </a:lnTo>
                  <a:lnTo>
                    <a:pt x="475234" y="627252"/>
                  </a:lnTo>
                  <a:lnTo>
                    <a:pt x="313690" y="465709"/>
                  </a:lnTo>
                  <a:lnTo>
                    <a:pt x="152019" y="627252"/>
                  </a:lnTo>
                  <a:lnTo>
                    <a:pt x="0" y="475234"/>
                  </a:lnTo>
                  <a:lnTo>
                    <a:pt x="161544" y="313689"/>
                  </a:lnTo>
                  <a:lnTo>
                    <a:pt x="0" y="15201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20462" y="4725162"/>
              <a:ext cx="627380" cy="627380"/>
            </a:xfrm>
            <a:custGeom>
              <a:avLst/>
              <a:gdLst/>
              <a:ahLst/>
              <a:cxnLst/>
              <a:rect l="l" t="t" r="r" b="b"/>
              <a:pathLst>
                <a:path w="627379" h="627379">
                  <a:moveTo>
                    <a:pt x="475107" y="0"/>
                  </a:moveTo>
                  <a:lnTo>
                    <a:pt x="313563" y="161544"/>
                  </a:lnTo>
                  <a:lnTo>
                    <a:pt x="152018" y="0"/>
                  </a:lnTo>
                  <a:lnTo>
                    <a:pt x="0" y="152019"/>
                  </a:lnTo>
                  <a:lnTo>
                    <a:pt x="161543" y="313563"/>
                  </a:lnTo>
                  <a:lnTo>
                    <a:pt x="0" y="475106"/>
                  </a:lnTo>
                  <a:lnTo>
                    <a:pt x="152018" y="627126"/>
                  </a:lnTo>
                  <a:lnTo>
                    <a:pt x="313563" y="465581"/>
                  </a:lnTo>
                  <a:lnTo>
                    <a:pt x="475107" y="627126"/>
                  </a:lnTo>
                  <a:lnTo>
                    <a:pt x="627126" y="475106"/>
                  </a:lnTo>
                  <a:lnTo>
                    <a:pt x="465582" y="313563"/>
                  </a:lnTo>
                  <a:lnTo>
                    <a:pt x="627126" y="152019"/>
                  </a:lnTo>
                  <a:lnTo>
                    <a:pt x="47510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220462" y="4725162"/>
              <a:ext cx="627380" cy="627380"/>
            </a:xfrm>
            <a:custGeom>
              <a:avLst/>
              <a:gdLst/>
              <a:ahLst/>
              <a:cxnLst/>
              <a:rect l="l" t="t" r="r" b="b"/>
              <a:pathLst>
                <a:path w="627379" h="627379">
                  <a:moveTo>
                    <a:pt x="0" y="152019"/>
                  </a:moveTo>
                  <a:lnTo>
                    <a:pt x="152018" y="0"/>
                  </a:lnTo>
                  <a:lnTo>
                    <a:pt x="313563" y="161544"/>
                  </a:lnTo>
                  <a:lnTo>
                    <a:pt x="475107" y="0"/>
                  </a:lnTo>
                  <a:lnTo>
                    <a:pt x="627126" y="152019"/>
                  </a:lnTo>
                  <a:lnTo>
                    <a:pt x="465582" y="313563"/>
                  </a:lnTo>
                  <a:lnTo>
                    <a:pt x="627126" y="475106"/>
                  </a:lnTo>
                  <a:lnTo>
                    <a:pt x="475107" y="627126"/>
                  </a:lnTo>
                  <a:lnTo>
                    <a:pt x="313563" y="465581"/>
                  </a:lnTo>
                  <a:lnTo>
                    <a:pt x="152018" y="627126"/>
                  </a:lnTo>
                  <a:lnTo>
                    <a:pt x="0" y="475106"/>
                  </a:lnTo>
                  <a:lnTo>
                    <a:pt x="161543" y="313563"/>
                  </a:lnTo>
                  <a:lnTo>
                    <a:pt x="0" y="15201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 descr="http://t0.gstatic.com/images?q=tbn:ANd9GcQNrxG0L6WlF6P20u_mD66MqSlIdWNrONMIOe-rT0xG9j0XgUu6tQ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04025" y="4005325"/>
              <a:ext cx="1871599" cy="237642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379461" y="4652137"/>
              <a:ext cx="627380" cy="627380"/>
            </a:xfrm>
            <a:custGeom>
              <a:avLst/>
              <a:gdLst/>
              <a:ahLst/>
              <a:cxnLst/>
              <a:rect l="l" t="t" r="r" b="b"/>
              <a:pathLst>
                <a:path w="627379" h="627379">
                  <a:moveTo>
                    <a:pt x="475107" y="0"/>
                  </a:moveTo>
                  <a:lnTo>
                    <a:pt x="313563" y="161544"/>
                  </a:lnTo>
                  <a:lnTo>
                    <a:pt x="152019" y="0"/>
                  </a:lnTo>
                  <a:lnTo>
                    <a:pt x="0" y="152019"/>
                  </a:lnTo>
                  <a:lnTo>
                    <a:pt x="161544" y="313563"/>
                  </a:lnTo>
                  <a:lnTo>
                    <a:pt x="0" y="475106"/>
                  </a:lnTo>
                  <a:lnTo>
                    <a:pt x="152019" y="627126"/>
                  </a:lnTo>
                  <a:lnTo>
                    <a:pt x="313563" y="465581"/>
                  </a:lnTo>
                  <a:lnTo>
                    <a:pt x="475107" y="627126"/>
                  </a:lnTo>
                  <a:lnTo>
                    <a:pt x="627126" y="475106"/>
                  </a:lnTo>
                  <a:lnTo>
                    <a:pt x="465582" y="313563"/>
                  </a:lnTo>
                  <a:lnTo>
                    <a:pt x="627126" y="152019"/>
                  </a:lnTo>
                  <a:lnTo>
                    <a:pt x="47510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379461" y="4652137"/>
              <a:ext cx="627380" cy="627380"/>
            </a:xfrm>
            <a:custGeom>
              <a:avLst/>
              <a:gdLst/>
              <a:ahLst/>
              <a:cxnLst/>
              <a:rect l="l" t="t" r="r" b="b"/>
              <a:pathLst>
                <a:path w="627379" h="627379">
                  <a:moveTo>
                    <a:pt x="0" y="152019"/>
                  </a:moveTo>
                  <a:lnTo>
                    <a:pt x="152019" y="0"/>
                  </a:lnTo>
                  <a:lnTo>
                    <a:pt x="313563" y="161544"/>
                  </a:lnTo>
                  <a:lnTo>
                    <a:pt x="475107" y="0"/>
                  </a:lnTo>
                  <a:lnTo>
                    <a:pt x="627126" y="152019"/>
                  </a:lnTo>
                  <a:lnTo>
                    <a:pt x="465582" y="313563"/>
                  </a:lnTo>
                  <a:lnTo>
                    <a:pt x="627126" y="475106"/>
                  </a:lnTo>
                  <a:lnTo>
                    <a:pt x="475107" y="627126"/>
                  </a:lnTo>
                  <a:lnTo>
                    <a:pt x="313563" y="465581"/>
                  </a:lnTo>
                  <a:lnTo>
                    <a:pt x="152019" y="627126"/>
                  </a:lnTo>
                  <a:lnTo>
                    <a:pt x="0" y="475106"/>
                  </a:lnTo>
                  <a:lnTo>
                    <a:pt x="161544" y="313563"/>
                  </a:lnTo>
                  <a:lnTo>
                    <a:pt x="0" y="15201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415532" y="6337198"/>
            <a:ext cx="2437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Kegelmeyer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et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al.,</a:t>
            </a:r>
            <a:r>
              <a:rPr sz="1800" spc="-20" dirty="0">
                <a:latin typeface="Arial"/>
                <a:cs typeface="Arial"/>
              </a:rPr>
              <a:t> 2013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EEC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433184" y="1258570"/>
            <a:ext cx="2050414" cy="87376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 marR="5080">
              <a:lnSpc>
                <a:spcPct val="89100"/>
              </a:lnSpc>
              <a:spcBef>
                <a:spcPts val="365"/>
              </a:spcBef>
            </a:pPr>
            <a:r>
              <a:rPr sz="2000" spc="-20" dirty="0">
                <a:solidFill>
                  <a:srgbClr val="181B0D"/>
                </a:solidFill>
              </a:rPr>
              <a:t>Recent</a:t>
            </a:r>
            <a:r>
              <a:rPr sz="2000" spc="-75" dirty="0">
                <a:solidFill>
                  <a:srgbClr val="181B0D"/>
                </a:solidFill>
              </a:rPr>
              <a:t> </a:t>
            </a:r>
            <a:r>
              <a:rPr sz="2000" spc="-20" dirty="0">
                <a:solidFill>
                  <a:srgbClr val="181B0D"/>
                </a:solidFill>
              </a:rPr>
              <a:t>meta-</a:t>
            </a:r>
            <a:r>
              <a:rPr sz="2000" spc="-10" dirty="0">
                <a:solidFill>
                  <a:srgbClr val="181B0D"/>
                </a:solidFill>
              </a:rPr>
              <a:t>analysis</a:t>
            </a:r>
            <a:r>
              <a:rPr sz="2000" spc="-100" dirty="0">
                <a:solidFill>
                  <a:srgbClr val="181B0D"/>
                </a:solidFill>
              </a:rPr>
              <a:t> </a:t>
            </a:r>
            <a:r>
              <a:rPr sz="2000" dirty="0">
                <a:solidFill>
                  <a:srgbClr val="181B0D"/>
                </a:solidFill>
              </a:rPr>
              <a:t>of</a:t>
            </a:r>
            <a:r>
              <a:rPr sz="2000" spc="-75" dirty="0">
                <a:solidFill>
                  <a:srgbClr val="181B0D"/>
                </a:solidFill>
              </a:rPr>
              <a:t> </a:t>
            </a:r>
            <a:r>
              <a:rPr sz="2000" spc="-10" dirty="0">
                <a:solidFill>
                  <a:srgbClr val="181B0D"/>
                </a:solidFill>
              </a:rPr>
              <a:t>present treatment</a:t>
            </a:r>
            <a:endParaRPr sz="20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5703" y="1022464"/>
            <a:ext cx="5175250" cy="481304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433184" y="2301367"/>
            <a:ext cx="123253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Conventional</a:t>
            </a:r>
            <a:r>
              <a:rPr sz="14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4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PT</a:t>
            </a:r>
            <a:endParaRPr sz="1400">
              <a:latin typeface="Franklin Gothic Medium"/>
              <a:cs typeface="Franklin Gothic Medium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33184" y="2526919"/>
            <a:ext cx="14478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•</a:t>
            </a:r>
            <a:endParaRPr sz="1400">
              <a:latin typeface="Franklin Gothic Medium"/>
              <a:cs typeface="Franklin Gothic Medium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17614" y="2526919"/>
            <a:ext cx="1729105" cy="44069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 indent="530225">
              <a:lnSpc>
                <a:spcPts val="1580"/>
              </a:lnSpc>
              <a:spcBef>
                <a:spcPts val="240"/>
              </a:spcBef>
            </a:pPr>
            <a:r>
              <a:rPr sz="14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improved</a:t>
            </a:r>
            <a:r>
              <a:rPr sz="14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14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motor </a:t>
            </a:r>
            <a:r>
              <a:rPr sz="14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symptoms,</a:t>
            </a:r>
            <a:endParaRPr sz="1400">
              <a:latin typeface="Franklin Gothic Medium"/>
              <a:cs typeface="Franklin Gothic Medium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987542" y="640079"/>
            <a:ext cx="1722120" cy="3675379"/>
          </a:xfrm>
          <a:custGeom>
            <a:avLst/>
            <a:gdLst/>
            <a:ahLst/>
            <a:cxnLst/>
            <a:rect l="l" t="t" r="r" b="b"/>
            <a:pathLst>
              <a:path w="1722120" h="3675379">
                <a:moveTo>
                  <a:pt x="1721980" y="320040"/>
                </a:moveTo>
                <a:lnTo>
                  <a:pt x="1721891" y="266700"/>
                </a:lnTo>
                <a:lnTo>
                  <a:pt x="1721764" y="266700"/>
                </a:lnTo>
                <a:lnTo>
                  <a:pt x="1721764" y="0"/>
                </a:lnTo>
                <a:lnTo>
                  <a:pt x="0" y="0"/>
                </a:lnTo>
                <a:lnTo>
                  <a:pt x="0" y="266700"/>
                </a:lnTo>
                <a:lnTo>
                  <a:pt x="0" y="320040"/>
                </a:lnTo>
                <a:lnTo>
                  <a:pt x="0" y="321310"/>
                </a:lnTo>
                <a:lnTo>
                  <a:pt x="0" y="3675380"/>
                </a:lnTo>
                <a:lnTo>
                  <a:pt x="213360" y="3675380"/>
                </a:lnTo>
                <a:lnTo>
                  <a:pt x="213360" y="321310"/>
                </a:lnTo>
                <a:lnTo>
                  <a:pt x="213360" y="320040"/>
                </a:lnTo>
                <a:lnTo>
                  <a:pt x="548601" y="320040"/>
                </a:lnTo>
                <a:lnTo>
                  <a:pt x="548601" y="321310"/>
                </a:lnTo>
                <a:lnTo>
                  <a:pt x="1721980" y="321310"/>
                </a:lnTo>
                <a:lnTo>
                  <a:pt x="1721980" y="320040"/>
                </a:lnTo>
                <a:close/>
              </a:path>
            </a:pathLst>
          </a:custGeom>
          <a:solidFill>
            <a:srgbClr val="181B0D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5940" y="233298"/>
            <a:ext cx="18783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60" dirty="0">
                <a:solidFill>
                  <a:srgbClr val="CC0000"/>
                </a:solidFill>
              </a:rPr>
              <a:t>Summary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145844" y="1076705"/>
            <a:ext cx="7297420" cy="511048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94970" marR="647700" indent="-382905" algn="just">
              <a:lnSpc>
                <a:spcPct val="80000"/>
              </a:lnSpc>
              <a:spcBef>
                <a:spcPts val="675"/>
              </a:spcBef>
              <a:buChar char="■"/>
              <a:tabLst>
                <a:tab pos="396240" algn="l"/>
              </a:tabLst>
            </a:pP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PD</a:t>
            </a:r>
            <a:r>
              <a:rPr sz="24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is</a:t>
            </a:r>
            <a:r>
              <a:rPr sz="24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</a:t>
            </a:r>
            <a:r>
              <a:rPr sz="24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chronic,</a:t>
            </a:r>
            <a:r>
              <a:rPr sz="24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progressive</a:t>
            </a:r>
            <a:r>
              <a:rPr sz="24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disorder</a:t>
            </a:r>
            <a:r>
              <a:rPr sz="2400" spc="-1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</a:t>
            </a:r>
            <a:r>
              <a:rPr sz="24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the</a:t>
            </a:r>
            <a:r>
              <a:rPr sz="24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basal 	</a:t>
            </a:r>
            <a:r>
              <a:rPr sz="24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ganglia</a:t>
            </a:r>
            <a:r>
              <a:rPr sz="2400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characterised</a:t>
            </a:r>
            <a:r>
              <a:rPr sz="2400" spc="-10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by</a:t>
            </a:r>
            <a:r>
              <a:rPr sz="24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the</a:t>
            </a:r>
            <a:r>
              <a:rPr sz="2400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cardinal</a:t>
            </a:r>
            <a:r>
              <a:rPr sz="2400" spc="-9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features</a:t>
            </a:r>
            <a:r>
              <a:rPr sz="24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 	</a:t>
            </a:r>
            <a:r>
              <a:rPr sz="2400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rigidity,</a:t>
            </a:r>
            <a:r>
              <a:rPr sz="24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4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tremor,</a:t>
            </a:r>
            <a:r>
              <a:rPr sz="24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and</a:t>
            </a:r>
            <a:r>
              <a:rPr sz="2400" spc="-5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bradykinesia</a:t>
            </a:r>
            <a:endParaRPr sz="24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1964"/>
              </a:spcBef>
              <a:buClr>
                <a:srgbClr val="181B0D"/>
              </a:buClr>
              <a:buFont typeface="Franklin Gothic Medium"/>
              <a:buChar char="■"/>
            </a:pPr>
            <a:endParaRPr sz="2400">
              <a:latin typeface="Franklin Gothic Medium"/>
              <a:cs typeface="Franklin Gothic Medium"/>
            </a:endParaRPr>
          </a:p>
          <a:p>
            <a:pPr marL="394970" marR="730250" indent="-382905" algn="just">
              <a:lnSpc>
                <a:spcPts val="2300"/>
              </a:lnSpc>
              <a:spcBef>
                <a:spcPts val="5"/>
              </a:spcBef>
              <a:buChar char="■"/>
              <a:tabLst>
                <a:tab pos="396240" algn="l"/>
              </a:tabLst>
            </a:pPr>
            <a:r>
              <a:rPr sz="2400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Pharmacological</a:t>
            </a:r>
            <a:r>
              <a:rPr sz="2400" spc="-8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interventions</a:t>
            </a:r>
            <a:r>
              <a:rPr sz="24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have</a:t>
            </a:r>
            <a:r>
              <a:rPr sz="24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become</a:t>
            </a:r>
            <a:r>
              <a:rPr sz="24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the 	</a:t>
            </a:r>
            <a:r>
              <a:rPr sz="2400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mainstay</a:t>
            </a:r>
            <a:r>
              <a:rPr sz="2400" spc="-10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</a:t>
            </a:r>
            <a:r>
              <a:rPr sz="2400" spc="-7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treatment</a:t>
            </a:r>
            <a:endParaRPr sz="24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2005"/>
              </a:spcBef>
              <a:buClr>
                <a:srgbClr val="181B0D"/>
              </a:buClr>
              <a:buFont typeface="Franklin Gothic Medium"/>
              <a:buChar char="■"/>
            </a:pPr>
            <a:endParaRPr sz="2400">
              <a:latin typeface="Franklin Gothic Medium"/>
              <a:cs typeface="Franklin Gothic Medium"/>
            </a:endParaRPr>
          </a:p>
          <a:p>
            <a:pPr marL="396240" marR="73660" indent="-384175">
              <a:lnSpc>
                <a:spcPct val="80000"/>
              </a:lnSpc>
              <a:buChar char="■"/>
              <a:tabLst>
                <a:tab pos="396240" algn="l"/>
              </a:tabLst>
            </a:pPr>
            <a:r>
              <a:rPr sz="2400" spc="-4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Physiotherapy</a:t>
            </a:r>
            <a:r>
              <a:rPr sz="24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interventions</a:t>
            </a:r>
            <a:r>
              <a:rPr sz="24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focus</a:t>
            </a:r>
            <a:r>
              <a:rPr sz="24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on</a:t>
            </a:r>
            <a:r>
              <a:rPr sz="24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5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management</a:t>
            </a:r>
            <a:r>
              <a:rPr sz="24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 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strength,</a:t>
            </a:r>
            <a:r>
              <a:rPr sz="2400" spc="-114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ROM,</a:t>
            </a:r>
            <a:r>
              <a:rPr sz="2400" spc="-10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endurance</a:t>
            </a:r>
            <a:r>
              <a:rPr sz="2400" spc="-10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and</a:t>
            </a:r>
            <a:r>
              <a:rPr sz="2400" spc="-10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functional</a:t>
            </a:r>
            <a:r>
              <a:rPr sz="2400" spc="-10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skills, 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balance,</a:t>
            </a:r>
            <a:r>
              <a:rPr sz="2400" spc="-10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gait</a:t>
            </a:r>
            <a:r>
              <a:rPr sz="2400" spc="-114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according</a:t>
            </a:r>
            <a:r>
              <a:rPr sz="2400" spc="-114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to</a:t>
            </a:r>
            <a:r>
              <a:rPr sz="2400" spc="-10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disease</a:t>
            </a:r>
            <a:r>
              <a:rPr sz="2400" spc="-1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stage</a:t>
            </a:r>
            <a:endParaRPr sz="24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1985"/>
              </a:spcBef>
              <a:buClr>
                <a:srgbClr val="181B0D"/>
              </a:buClr>
              <a:buFont typeface="Franklin Gothic Medium"/>
              <a:buChar char="■"/>
            </a:pPr>
            <a:endParaRPr sz="2400">
              <a:latin typeface="Franklin Gothic Medium"/>
              <a:cs typeface="Franklin Gothic Medium"/>
            </a:endParaRPr>
          </a:p>
          <a:p>
            <a:pPr marL="396240" marR="5080" indent="-384175">
              <a:lnSpc>
                <a:spcPct val="80000"/>
              </a:lnSpc>
              <a:spcBef>
                <a:spcPts val="5"/>
              </a:spcBef>
              <a:buChar char="■"/>
              <a:tabLst>
                <a:tab pos="396240" algn="l"/>
              </a:tabLst>
            </a:pP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MDT</a:t>
            </a:r>
            <a:r>
              <a:rPr sz="2400" spc="-1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3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involvement</a:t>
            </a:r>
            <a:r>
              <a:rPr sz="2400" spc="-10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at</a:t>
            </a:r>
            <a:r>
              <a:rPr sz="2400" spc="-10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all</a:t>
            </a:r>
            <a:r>
              <a:rPr sz="2400" spc="-10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stages</a:t>
            </a:r>
            <a:r>
              <a:rPr sz="2400" spc="-1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to</a:t>
            </a:r>
            <a:r>
              <a:rPr sz="2400" spc="-10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provide</a:t>
            </a:r>
            <a:r>
              <a:rPr sz="2400" spc="-12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psychosocial 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support</a:t>
            </a:r>
            <a:r>
              <a:rPr sz="24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as</a:t>
            </a:r>
            <a:r>
              <a:rPr sz="24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needed</a:t>
            </a:r>
            <a:r>
              <a:rPr sz="24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and</a:t>
            </a:r>
            <a:r>
              <a:rPr sz="24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to</a:t>
            </a:r>
            <a:r>
              <a:rPr sz="2400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direct</a:t>
            </a:r>
            <a:r>
              <a:rPr sz="2400" spc="-8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2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patient</a:t>
            </a:r>
            <a:r>
              <a:rPr sz="2400" spc="-7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towards </a:t>
            </a:r>
            <a:r>
              <a:rPr sz="2400" spc="-3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maintenance</a:t>
            </a:r>
            <a:r>
              <a:rPr sz="2400" spc="-65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of</a:t>
            </a:r>
            <a:r>
              <a:rPr sz="2400" spc="-6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 </a:t>
            </a:r>
            <a:r>
              <a:rPr sz="2400" spc="-10" dirty="0">
                <a:solidFill>
                  <a:srgbClr val="181B0D"/>
                </a:solidFill>
                <a:latin typeface="Franklin Gothic Medium"/>
                <a:cs typeface="Franklin Gothic Medium"/>
              </a:rPr>
              <a:t>function</a:t>
            </a:r>
            <a:endParaRPr sz="2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3014</Words>
  <Application>Microsoft Macintosh PowerPoint</Application>
  <PresentationFormat>On-screen Show (4:3)</PresentationFormat>
  <Paragraphs>544</Paragraphs>
  <Slides>59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4" baseType="lpstr">
      <vt:lpstr>Arial</vt:lpstr>
      <vt:lpstr>Calibri</vt:lpstr>
      <vt:lpstr>Franklin Gothic Medium</vt:lpstr>
      <vt:lpstr>Times New Roman</vt:lpstr>
      <vt:lpstr>Office Theme</vt:lpstr>
      <vt:lpstr>PowerPoint Presentation</vt:lpstr>
      <vt:lpstr>Learning outcomes</vt:lpstr>
      <vt:lpstr>PowerPoint Presentation</vt:lpstr>
      <vt:lpstr>Definitions</vt:lpstr>
      <vt:lpstr>Causes of Parkinsonism</vt:lpstr>
      <vt:lpstr>Parkinson Disease (Parkinson’s)</vt:lpstr>
      <vt:lpstr>Aetiology of PD</vt:lpstr>
      <vt:lpstr>Pathophysiology</vt:lpstr>
      <vt:lpstr>PowerPoint Presentation</vt:lpstr>
      <vt:lpstr>Later distribution of Lewy bodies in the cortex</vt:lpstr>
      <vt:lpstr>Diagnosing Parkinson Disease</vt:lpstr>
      <vt:lpstr>Cardinal Features – Clinical features</vt:lpstr>
      <vt:lpstr>Cardinal sign: Resting Tremor</vt:lpstr>
      <vt:lpstr>Cardinal sign: Rigidity</vt:lpstr>
      <vt:lpstr>Cardinal sign: Bradykinesia</vt:lpstr>
      <vt:lpstr>Cardinal Sign: Freezing</vt:lpstr>
      <vt:lpstr>Development of PD</vt:lpstr>
      <vt:lpstr>Problems in PD</vt:lpstr>
      <vt:lpstr>Motor control and motor performance deficits</vt:lpstr>
      <vt:lpstr>Postural Instability - Balance</vt:lpstr>
      <vt:lpstr>Motor control and motor performance deficits: Gait disturbances:</vt:lpstr>
      <vt:lpstr>Falls in PD</vt:lpstr>
      <vt:lpstr>Motor control and motor performance deficits</vt:lpstr>
      <vt:lpstr>Clinical manifestation: Common non-motor symptoms</vt:lpstr>
      <vt:lpstr>Living with Parkinson Disease</vt:lpstr>
      <vt:lpstr>Diagnosis and disease course</vt:lpstr>
      <vt:lpstr>Clinical Staging of PD: Modified Hoehn &amp; Yahn Scale</vt:lpstr>
      <vt:lpstr>PowerPoint Presentation</vt:lpstr>
      <vt:lpstr>PowerPoint Presentation</vt:lpstr>
      <vt:lpstr>Unified Parkinson Rating Scale (UPDRS)</vt:lpstr>
      <vt:lpstr>Medical Management</vt:lpstr>
      <vt:lpstr>Subthalamic nucleus deep brain stimulation</vt:lpstr>
      <vt:lpstr>Subjective History</vt:lpstr>
      <vt:lpstr>Examination of the client with PD</vt:lpstr>
      <vt:lpstr>Quick diagnosis card</vt:lpstr>
      <vt:lpstr>Outcome measures</vt:lpstr>
      <vt:lpstr>PowerPoint Presentation</vt:lpstr>
      <vt:lpstr>Phases, physio goals &amp; possible interventions</vt:lpstr>
      <vt:lpstr>PowerPoint Presentation</vt:lpstr>
      <vt:lpstr>General Principles of physiotherapy management</vt:lpstr>
      <vt:lpstr>Contemporary physiotherapy philosophy</vt:lpstr>
      <vt:lpstr>Gait training according to disease stage</vt:lpstr>
      <vt:lpstr>Gait training according to disease stage</vt:lpstr>
      <vt:lpstr>Gait training according to disease stage</vt:lpstr>
      <vt:lpstr>Physiotherapy Interventions: Balance</vt:lpstr>
      <vt:lpstr>Contemporary physiotherapy philosophy</vt:lpstr>
      <vt:lpstr>Physiotherapy Interventions: strategies to cue movement</vt:lpstr>
      <vt:lpstr>Example of cueing strategy for different gait problems</vt:lpstr>
      <vt:lpstr>PowerPoint Presentation</vt:lpstr>
      <vt:lpstr>Contemporary physiotherapy philosophy</vt:lpstr>
      <vt:lpstr>Contemporary physiotherapy philosophy</vt:lpstr>
      <vt:lpstr>PowerPoint Presentation</vt:lpstr>
      <vt:lpstr>Exercise for people with PD</vt:lpstr>
      <vt:lpstr>Aerobic training</vt:lpstr>
      <vt:lpstr>Contemporary physiotherapy philosophy</vt:lpstr>
      <vt:lpstr>Exercise for falls prevention (Canning et al., 2015)</vt:lpstr>
      <vt:lpstr>Walking aids</vt:lpstr>
      <vt:lpstr>Recent meta-analysis of present treatment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Parkinson’s Disease</dc:title>
  <dc:creator>Isaac Sorinola</dc:creator>
  <cp:lastModifiedBy>Michelle Lussier</cp:lastModifiedBy>
  <cp:revision>2</cp:revision>
  <dcterms:created xsi:type="dcterms:W3CDTF">2026-02-03T16:31:27Z</dcterms:created>
  <dcterms:modified xsi:type="dcterms:W3CDTF">2026-02-05T12:27:16Z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2025-04-02T00:00:00Z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2026-02-03T00:00:00Z</vt:filetime>
  </property>
  <property fmtid="{D5CDD505-2E9C-101B-9397-08002B2CF9AE}" pid="5" name="Producer">
    <vt:lpwstr>Microsoft® PowerPoint® for Microsoft 365</vt:lpwstr>
  </property>
</Properties>
</file>