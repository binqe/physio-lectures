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62"/>
            <a:ext cx="12189460" cy="6859905"/>
          </a:xfrm>
          <a:custGeom>
            <a:avLst/>
            <a:gdLst/>
            <a:ahLst/>
            <a:cxnLst/>
            <a:rect l="l" t="t" r="r" b="b"/>
            <a:pathLst>
              <a:path w="12189460" h="6859905">
                <a:moveTo>
                  <a:pt x="12188952" y="0"/>
                </a:moveTo>
                <a:lnTo>
                  <a:pt x="0" y="0"/>
                </a:lnTo>
                <a:lnTo>
                  <a:pt x="0" y="6859778"/>
                </a:lnTo>
                <a:lnTo>
                  <a:pt x="12188952" y="6859778"/>
                </a:lnTo>
                <a:lnTo>
                  <a:pt x="121889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8951" cy="14451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12871" y="776173"/>
            <a:ext cx="8024622" cy="1191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67859" y="1093739"/>
            <a:ext cx="6521450" cy="4795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iencedirect.com/topics/neuroscience/neuroplasticity" TargetMode="External"/><Relationship Id="rId3" Type="http://schemas.openxmlformats.org/officeDocument/2006/relationships/hyperlink" Target="https://www.sciencedirect.com/topics/neuroscience/neuroscience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organismalbio.biosci.gatech.edu/chemical-and-electrical-signals/neurons/" TargetMode="External"/><Relationship Id="rId7" Type="http://schemas.openxmlformats.org/officeDocument/2006/relationships/hyperlink" Target="https://creativecommons.org/licenses/by-nc-sa/3.0/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youtube.com/watch?v=5afKQfCD4GE" TargetMode="External"/><Relationship Id="rId3" Type="http://schemas.openxmlformats.org/officeDocument/2006/relationships/hyperlink" Target="http://www.sciencedirect.com/science/article/pii/S0006899325002021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71972"/>
            <a:ext cx="12188951" cy="24860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0975" y="2650756"/>
            <a:ext cx="6429375" cy="937894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950" spc="120"/>
              <a:t>NEUROPLASTICITY</a:t>
            </a:r>
            <a:endParaRPr sz="5950"/>
          </a:p>
        </p:txBody>
      </p:sp>
      <p:sp>
        <p:nvSpPr>
          <p:cNvPr id="4" name="object 4" descr=""/>
          <p:cNvSpPr txBox="1"/>
          <p:nvPr/>
        </p:nvSpPr>
        <p:spPr>
          <a:xfrm>
            <a:off x="1450975" y="3526396"/>
            <a:ext cx="2120900" cy="758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1850" spc="60">
                <a:solidFill>
                  <a:srgbClr val="FFFFFF"/>
                </a:solidFill>
                <a:latin typeface="Trebuchet MS"/>
                <a:cs typeface="Trebuchet MS"/>
              </a:rPr>
              <a:t>Dr</a:t>
            </a:r>
            <a:r>
              <a:rPr dirty="0" sz="18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50" spc="95">
                <a:solidFill>
                  <a:srgbClr val="FFFFFF"/>
                </a:solidFill>
                <a:latin typeface="Trebuchet MS"/>
                <a:cs typeface="Trebuchet MS"/>
              </a:rPr>
              <a:t>Michelle</a:t>
            </a:r>
            <a:r>
              <a:rPr dirty="0" sz="18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Trebuchet MS"/>
                <a:cs typeface="Trebuchet MS"/>
              </a:rPr>
              <a:t>Lussier PT5000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750" rIns="0" bIns="0" rtlCol="0" vert="horz">
            <a:spAutoFit/>
          </a:bodyPr>
          <a:lstStyle/>
          <a:p>
            <a:pPr marL="1357630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WHAT</a:t>
            </a:r>
            <a:r>
              <a:rPr dirty="0" spc="-170"/>
              <a:t> </a:t>
            </a:r>
            <a:r>
              <a:rPr dirty="0"/>
              <a:t>IS</a:t>
            </a:r>
            <a:r>
              <a:rPr dirty="0" spc="-170"/>
              <a:t> </a:t>
            </a:r>
            <a:r>
              <a:rPr dirty="0" spc="110"/>
              <a:t>NEUROPLASTICITY?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857" y="2112136"/>
            <a:ext cx="10549890" cy="365252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algn="just" marL="12700" marR="1933575">
              <a:lnSpc>
                <a:spcPts val="3460"/>
              </a:lnSpc>
              <a:spcBef>
                <a:spcPts val="935"/>
              </a:spcBef>
            </a:pPr>
            <a:r>
              <a:rPr dirty="0" u="sng" sz="3600" spc="55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2"/>
              </a:rPr>
              <a:t>Neuroplasticity</a:t>
            </a:r>
            <a:r>
              <a:rPr dirty="0" sz="3600" spc="5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36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1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3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55">
                <a:solidFill>
                  <a:srgbClr val="FFFFFF"/>
                </a:solidFill>
                <a:latin typeface="Trebuchet MS"/>
                <a:cs typeface="Trebuchet MS"/>
              </a:rPr>
              <a:t>brain’s</a:t>
            </a:r>
            <a:r>
              <a:rPr dirty="0" sz="36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290">
                <a:solidFill>
                  <a:srgbClr val="FFFFFF"/>
                </a:solidFill>
                <a:latin typeface="Trebuchet MS"/>
                <a:cs typeface="Trebuchet MS"/>
              </a:rPr>
              <a:t>capacity</a:t>
            </a:r>
            <a:r>
              <a:rPr dirty="0" sz="36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75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dirty="0" sz="3600" spc="135">
                <a:solidFill>
                  <a:srgbClr val="FFFFFF"/>
                </a:solidFill>
                <a:latin typeface="Trebuchet MS"/>
                <a:cs typeface="Trebuchet MS"/>
              </a:rPr>
              <a:t>reorganize</a:t>
            </a:r>
            <a:r>
              <a:rPr dirty="0" sz="36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20">
                <a:solidFill>
                  <a:srgbClr val="FFFFFF"/>
                </a:solidFill>
                <a:latin typeface="Trebuchet MS"/>
                <a:cs typeface="Trebuchet MS"/>
              </a:rPr>
              <a:t>itself</a:t>
            </a:r>
            <a:r>
              <a:rPr dirty="0" sz="36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295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36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10">
                <a:solidFill>
                  <a:srgbClr val="FFFFFF"/>
                </a:solidFill>
                <a:latin typeface="Trebuchet MS"/>
                <a:cs typeface="Trebuchet MS"/>
              </a:rPr>
              <a:t>forming</a:t>
            </a:r>
            <a:r>
              <a:rPr dirty="0" sz="36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295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dirty="0" sz="3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95">
                <a:solidFill>
                  <a:srgbClr val="FFFFFF"/>
                </a:solidFill>
                <a:latin typeface="Trebuchet MS"/>
                <a:cs typeface="Trebuchet MS"/>
              </a:rPr>
              <a:t>neural </a:t>
            </a:r>
            <a:r>
              <a:rPr dirty="0" sz="3600" spc="165">
                <a:solidFill>
                  <a:srgbClr val="FFFFFF"/>
                </a:solidFill>
                <a:latin typeface="Trebuchet MS"/>
                <a:cs typeface="Trebuchet MS"/>
              </a:rPr>
              <a:t>connections,</a:t>
            </a:r>
            <a:r>
              <a:rPr dirty="0" sz="36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95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36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14">
                <a:solidFill>
                  <a:srgbClr val="FFFFFF"/>
                </a:solidFill>
                <a:latin typeface="Trebuchet MS"/>
                <a:cs typeface="Trebuchet MS"/>
              </a:rPr>
              <a:t>central</a:t>
            </a:r>
            <a:r>
              <a:rPr dirty="0" sz="36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0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endParaRPr sz="3600">
              <a:latin typeface="Trebuchet MS"/>
              <a:cs typeface="Trebuchet MS"/>
            </a:endParaRPr>
          </a:p>
          <a:p>
            <a:pPr marL="12700" marR="5080">
              <a:lnSpc>
                <a:spcPct val="80100"/>
              </a:lnSpc>
              <a:spcBef>
                <a:spcPts val="30"/>
              </a:spcBef>
            </a:pPr>
            <a:r>
              <a:rPr dirty="0" sz="3600" spc="245">
                <a:solidFill>
                  <a:srgbClr val="FFFFFF"/>
                </a:solidFill>
                <a:latin typeface="Trebuchet MS"/>
                <a:cs typeface="Trebuchet MS"/>
              </a:rPr>
              <a:t>modern</a:t>
            </a:r>
            <a:r>
              <a:rPr dirty="0" sz="36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u="sng" sz="3600" spc="170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3"/>
              </a:rPr>
              <a:t>neuroscience</a:t>
            </a:r>
            <a:r>
              <a:rPr dirty="0" sz="3600" spc="17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r>
              <a:rPr dirty="0" sz="36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445">
                <a:solidFill>
                  <a:srgbClr val="FFFFFF"/>
                </a:solidFill>
                <a:latin typeface="Trebuchet MS"/>
                <a:cs typeface="Trebuchet MS"/>
              </a:rPr>
              <a:t>Once</a:t>
            </a:r>
            <a:r>
              <a:rPr dirty="0" sz="36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200">
                <a:solidFill>
                  <a:srgbClr val="FFFFFF"/>
                </a:solidFill>
                <a:latin typeface="Trebuchet MS"/>
                <a:cs typeface="Trebuchet MS"/>
              </a:rPr>
              <a:t>believed</a:t>
            </a:r>
            <a:r>
              <a:rPr dirty="0" sz="36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36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260">
                <a:solidFill>
                  <a:srgbClr val="FFFFFF"/>
                </a:solidFill>
                <a:latin typeface="Trebuchet MS"/>
                <a:cs typeface="Trebuchet MS"/>
              </a:rPr>
              <a:t>occur </a:t>
            </a:r>
            <a:r>
              <a:rPr dirty="0" sz="3600" spc="100">
                <a:solidFill>
                  <a:srgbClr val="FFFFFF"/>
                </a:solidFill>
                <a:latin typeface="Trebuchet MS"/>
                <a:cs typeface="Trebuchet MS"/>
              </a:rPr>
              <a:t>only</a:t>
            </a:r>
            <a:r>
              <a:rPr dirty="0" sz="36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40">
                <a:solidFill>
                  <a:srgbClr val="FFFFFF"/>
                </a:solidFill>
                <a:latin typeface="Trebuchet MS"/>
                <a:cs typeface="Trebuchet MS"/>
              </a:rPr>
              <a:t>during</a:t>
            </a:r>
            <a:r>
              <a:rPr dirty="0" sz="36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85">
                <a:solidFill>
                  <a:srgbClr val="FFFFFF"/>
                </a:solidFill>
                <a:latin typeface="Trebuchet MS"/>
                <a:cs typeface="Trebuchet MS"/>
              </a:rPr>
              <a:t>early</a:t>
            </a:r>
            <a:r>
              <a:rPr dirty="0" sz="36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95">
                <a:solidFill>
                  <a:srgbClr val="FFFFFF"/>
                </a:solidFill>
                <a:latin typeface="Trebuchet MS"/>
                <a:cs typeface="Trebuchet MS"/>
              </a:rPr>
              <a:t>development,</a:t>
            </a:r>
            <a:r>
              <a:rPr dirty="0" sz="36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65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dirty="0" sz="36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300">
                <a:solidFill>
                  <a:srgbClr val="FFFFFF"/>
                </a:solidFill>
                <a:latin typeface="Trebuchet MS"/>
                <a:cs typeface="Trebuchet MS"/>
              </a:rPr>
              <a:t>now </a:t>
            </a:r>
            <a:r>
              <a:rPr dirty="0" sz="3600" spc="150">
                <a:solidFill>
                  <a:srgbClr val="FFFFFF"/>
                </a:solidFill>
                <a:latin typeface="Trebuchet MS"/>
                <a:cs typeface="Trebuchet MS"/>
              </a:rPr>
              <a:t>shows</a:t>
            </a:r>
            <a:r>
              <a:rPr dirty="0" sz="3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75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3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FFFFFF"/>
                </a:solidFill>
                <a:latin typeface="Trebuchet MS"/>
                <a:cs typeface="Trebuchet MS"/>
              </a:rPr>
              <a:t>plasticity</a:t>
            </a:r>
            <a:r>
              <a:rPr dirty="0" sz="36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50">
                <a:solidFill>
                  <a:srgbClr val="FFFFFF"/>
                </a:solidFill>
                <a:latin typeface="Trebuchet MS"/>
                <a:cs typeface="Trebuchet MS"/>
              </a:rPr>
              <a:t>continues</a:t>
            </a:r>
            <a:r>
              <a:rPr dirty="0" sz="36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60">
                <a:solidFill>
                  <a:srgbClr val="FFFFFF"/>
                </a:solidFill>
                <a:latin typeface="Trebuchet MS"/>
                <a:cs typeface="Trebuchet MS"/>
              </a:rPr>
              <a:t>throughout</a:t>
            </a:r>
            <a:r>
              <a:rPr dirty="0" sz="3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8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3600">
                <a:solidFill>
                  <a:srgbClr val="FFFFFF"/>
                </a:solidFill>
                <a:latin typeface="Trebuchet MS"/>
                <a:cs typeface="Trebuchet MS"/>
              </a:rPr>
              <a:t>lifespan,</a:t>
            </a:r>
            <a:r>
              <a:rPr dirty="0" sz="3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40">
                <a:solidFill>
                  <a:srgbClr val="FFFFFF"/>
                </a:solidFill>
                <a:latin typeface="Trebuchet MS"/>
                <a:cs typeface="Trebuchet MS"/>
              </a:rPr>
              <a:t>supporting</a:t>
            </a:r>
            <a:r>
              <a:rPr dirty="0" sz="3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75">
                <a:solidFill>
                  <a:srgbClr val="FFFFFF"/>
                </a:solidFill>
                <a:latin typeface="Trebuchet MS"/>
                <a:cs typeface="Trebuchet MS"/>
              </a:rPr>
              <a:t>learning,</a:t>
            </a:r>
            <a:r>
              <a:rPr dirty="0" sz="36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35">
                <a:solidFill>
                  <a:srgbClr val="FFFFFF"/>
                </a:solidFill>
                <a:latin typeface="Trebuchet MS"/>
                <a:cs typeface="Trebuchet MS"/>
              </a:rPr>
              <a:t>memory,</a:t>
            </a:r>
            <a:r>
              <a:rPr dirty="0" sz="3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40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dirty="0" sz="3600" spc="170">
                <a:solidFill>
                  <a:srgbClr val="FFFFFF"/>
                </a:solidFill>
                <a:latin typeface="Trebuchet MS"/>
                <a:cs typeface="Trebuchet MS"/>
              </a:rPr>
              <a:t>recovery</a:t>
            </a:r>
            <a:r>
              <a:rPr dirty="0" sz="36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55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dirty="0" sz="36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95">
                <a:solidFill>
                  <a:srgbClr val="FFFFFF"/>
                </a:solidFill>
                <a:latin typeface="Trebuchet MS"/>
                <a:cs typeface="Trebuchet MS"/>
              </a:rPr>
              <a:t>injury</a:t>
            </a:r>
            <a:r>
              <a:rPr dirty="0" sz="36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36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105">
                <a:solidFill>
                  <a:srgbClr val="FFFFFF"/>
                </a:solidFill>
                <a:latin typeface="Trebuchet MS"/>
                <a:cs typeface="Trebuchet MS"/>
              </a:rPr>
              <a:t>disease.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750" rIns="0" bIns="0" rtlCol="0" vert="horz">
            <a:spAutoFit/>
          </a:bodyPr>
          <a:lstStyle/>
          <a:p>
            <a:pPr marL="1357630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WHAT</a:t>
            </a:r>
            <a:r>
              <a:rPr dirty="0" spc="-170"/>
              <a:t> </a:t>
            </a:r>
            <a:r>
              <a:rPr dirty="0"/>
              <a:t>IS</a:t>
            </a:r>
            <a:r>
              <a:rPr dirty="0" spc="-170"/>
              <a:t> </a:t>
            </a:r>
            <a:r>
              <a:rPr dirty="0" spc="110"/>
              <a:t>NEUROPLASTICITY?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857" y="2157603"/>
            <a:ext cx="10540365" cy="386524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241300" marR="5080" indent="-229235">
              <a:lnSpc>
                <a:spcPct val="792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20" b="1">
                <a:solidFill>
                  <a:srgbClr val="FFFFFF"/>
                </a:solidFill>
                <a:latin typeface="Tahoma"/>
                <a:cs typeface="Tahoma"/>
              </a:rPr>
              <a:t>Definition:</a:t>
            </a:r>
            <a:r>
              <a:rPr dirty="0" sz="22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2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FFFFFF"/>
                </a:solidFill>
                <a:latin typeface="Trebuchet MS"/>
                <a:cs typeface="Trebuchet MS"/>
              </a:rPr>
              <a:t>ability</a:t>
            </a:r>
            <a:r>
              <a:rPr dirty="0" sz="22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7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2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8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2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70">
                <a:solidFill>
                  <a:srgbClr val="FFFFFF"/>
                </a:solidFill>
                <a:latin typeface="Trebuchet MS"/>
                <a:cs typeface="Trebuchet MS"/>
              </a:rPr>
              <a:t>central</a:t>
            </a:r>
            <a:r>
              <a:rPr dirty="0" sz="22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100">
                <a:solidFill>
                  <a:srgbClr val="FFFFFF"/>
                </a:solidFill>
                <a:latin typeface="Trebuchet MS"/>
                <a:cs typeface="Trebuchet MS"/>
              </a:rPr>
              <a:t>nervous</a:t>
            </a:r>
            <a:r>
              <a:rPr dirty="0" sz="22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5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dirty="0" sz="22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140">
                <a:solidFill>
                  <a:srgbClr val="FFFFFF"/>
                </a:solidFill>
                <a:latin typeface="Trebuchet MS"/>
                <a:cs typeface="Trebuchet MS"/>
              </a:rPr>
              <a:t>(CNS)</a:t>
            </a:r>
            <a:r>
              <a:rPr dirty="0" sz="22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5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2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250">
                <a:solidFill>
                  <a:srgbClr val="FFFFFF"/>
                </a:solidFill>
                <a:latin typeface="Trebuchet MS"/>
                <a:cs typeface="Trebuchet MS"/>
              </a:rPr>
              <a:t>change</a:t>
            </a:r>
            <a:r>
              <a:rPr dirty="0" sz="22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Trebuchet MS"/>
                <a:cs typeface="Trebuchet MS"/>
              </a:rPr>
              <a:t>its </a:t>
            </a:r>
            <a:r>
              <a:rPr dirty="0" sz="2200">
                <a:solidFill>
                  <a:srgbClr val="FFFFFF"/>
                </a:solidFill>
                <a:latin typeface="Trebuchet MS"/>
                <a:cs typeface="Trebuchet MS"/>
              </a:rPr>
              <a:t>structural</a:t>
            </a:r>
            <a:r>
              <a:rPr dirty="0" sz="22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26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2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65">
                <a:solidFill>
                  <a:srgbClr val="FFFFFF"/>
                </a:solidFill>
                <a:latin typeface="Trebuchet MS"/>
                <a:cs typeface="Trebuchet MS"/>
              </a:rPr>
              <a:t>functional</a:t>
            </a:r>
            <a:r>
              <a:rPr dirty="0" sz="22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85">
                <a:solidFill>
                  <a:srgbClr val="FFFFFF"/>
                </a:solidFill>
                <a:latin typeface="Trebuchet MS"/>
                <a:cs typeface="Trebuchet MS"/>
              </a:rPr>
              <a:t>organization</a:t>
            </a:r>
            <a:r>
              <a:rPr dirty="0" sz="22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2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105">
                <a:solidFill>
                  <a:srgbClr val="FFFFFF"/>
                </a:solidFill>
                <a:latin typeface="Trebuchet MS"/>
                <a:cs typeface="Trebuchet MS"/>
              </a:rPr>
              <a:t>response</a:t>
            </a:r>
            <a:r>
              <a:rPr dirty="0" sz="22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5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85">
                <a:solidFill>
                  <a:srgbClr val="FFFFFF"/>
                </a:solidFill>
                <a:latin typeface="Trebuchet MS"/>
                <a:cs typeface="Trebuchet MS"/>
              </a:rPr>
              <a:t>experience,</a:t>
            </a:r>
            <a:r>
              <a:rPr dirty="0" sz="22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45">
                <a:solidFill>
                  <a:srgbClr val="FFFFFF"/>
                </a:solidFill>
                <a:latin typeface="Trebuchet MS"/>
                <a:cs typeface="Trebuchet MS"/>
              </a:rPr>
              <a:t>learning,</a:t>
            </a:r>
            <a:r>
              <a:rPr dirty="0" sz="22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Trebuchet MS"/>
                <a:cs typeface="Trebuchet MS"/>
              </a:rPr>
              <a:t>or </a:t>
            </a:r>
            <a:r>
              <a:rPr dirty="0" sz="2200" spc="-10">
                <a:solidFill>
                  <a:srgbClr val="FFFFFF"/>
                </a:solidFill>
                <a:latin typeface="Trebuchet MS"/>
                <a:cs typeface="Trebuchet MS"/>
              </a:rPr>
              <a:t>injury</a:t>
            </a:r>
            <a:endParaRPr sz="2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0" b="1">
                <a:solidFill>
                  <a:srgbClr val="FFFFFF"/>
                </a:solidFill>
                <a:latin typeface="Tahoma"/>
                <a:cs typeface="Tahoma"/>
              </a:rPr>
              <a:t>Mechanisms:</a:t>
            </a:r>
            <a:endParaRPr sz="2200">
              <a:latin typeface="Tahoma"/>
              <a:cs typeface="Tahoma"/>
            </a:endParaRPr>
          </a:p>
          <a:p>
            <a:pPr lvl="1" marL="698500" indent="-228600">
              <a:lnSpc>
                <a:spcPts val="2140"/>
              </a:lnSpc>
              <a:spcBef>
                <a:spcPts val="1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 spc="-55" b="1">
                <a:solidFill>
                  <a:srgbClr val="FFFFFF"/>
                </a:solidFill>
                <a:latin typeface="Tahoma"/>
                <a:cs typeface="Tahoma"/>
              </a:rPr>
              <a:t>Synaptogenesis:</a:t>
            </a:r>
            <a:r>
              <a:rPr dirty="0" sz="2000" spc="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114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65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connections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40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neurons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support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4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endParaRPr sz="2000">
              <a:latin typeface="Trebuchet MS"/>
              <a:cs typeface="Trebuchet MS"/>
            </a:endParaRPr>
          </a:p>
          <a:p>
            <a:pPr marL="698500">
              <a:lnSpc>
                <a:spcPts val="2140"/>
              </a:lnSpc>
            </a:pP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skills.</a:t>
            </a:r>
            <a:endParaRPr sz="2000">
              <a:latin typeface="Trebuchet MS"/>
              <a:cs typeface="Trebuchet MS"/>
            </a:endParaRPr>
          </a:p>
          <a:p>
            <a:pPr lvl="1" marL="698500" indent="-228600">
              <a:lnSpc>
                <a:spcPts val="2175"/>
              </a:lnSpc>
              <a:spcBef>
                <a:spcPts val="5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 b="1">
                <a:solidFill>
                  <a:srgbClr val="FFFFFF"/>
                </a:solidFill>
                <a:latin typeface="Tahoma"/>
                <a:cs typeface="Tahoma"/>
              </a:rPr>
              <a:t>Cortical </a:t>
            </a:r>
            <a:r>
              <a:rPr dirty="0" sz="2000" spc="-35" b="1">
                <a:solidFill>
                  <a:srgbClr val="FFFFFF"/>
                </a:solidFill>
                <a:latin typeface="Tahoma"/>
                <a:cs typeface="Tahoma"/>
              </a:rPr>
              <a:t>Remapping:</a:t>
            </a:r>
            <a:r>
              <a:rPr dirty="0" sz="2000" spc="-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Areas</a:t>
            </a:r>
            <a:r>
              <a:rPr dirty="0" sz="20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brain</a:t>
            </a:r>
            <a:r>
              <a:rPr dirty="0" sz="20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"taking</a:t>
            </a:r>
            <a:r>
              <a:rPr dirty="0" sz="20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over"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functions</a:t>
            </a:r>
            <a:r>
              <a:rPr dirty="0" sz="20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0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54">
                <a:solidFill>
                  <a:srgbClr val="FFFFFF"/>
                </a:solidFill>
                <a:latin typeface="Trebuchet MS"/>
                <a:cs typeface="Trebuchet MS"/>
              </a:rPr>
              <a:t>damaged</a:t>
            </a:r>
            <a:endParaRPr sz="2000">
              <a:latin typeface="Trebuchet MS"/>
              <a:cs typeface="Trebuchet MS"/>
            </a:endParaRPr>
          </a:p>
          <a:p>
            <a:pPr marL="698500">
              <a:lnSpc>
                <a:spcPts val="2165"/>
              </a:lnSpc>
            </a:pP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sections.</a:t>
            </a:r>
            <a:endParaRPr sz="2000">
              <a:latin typeface="Trebuchet MS"/>
              <a:cs typeface="Trebuchet MS"/>
            </a:endParaRPr>
          </a:p>
          <a:p>
            <a:pPr lvl="1" marL="698500" marR="112395" indent="-228600">
              <a:lnSpc>
                <a:spcPts val="1950"/>
              </a:lnSpc>
              <a:spcBef>
                <a:spcPts val="43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 spc="-55" b="1">
                <a:solidFill>
                  <a:srgbClr val="FFFFFF"/>
                </a:solidFill>
                <a:latin typeface="Tahoma"/>
                <a:cs typeface="Tahoma"/>
              </a:rPr>
              <a:t>Functional</a:t>
            </a:r>
            <a:r>
              <a:rPr dirty="0" sz="2000" spc="-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Tahoma"/>
                <a:cs typeface="Tahoma"/>
              </a:rPr>
              <a:t>Compensation:</a:t>
            </a:r>
            <a:r>
              <a:rPr dirty="0" sz="20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dirty="0" sz="20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different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neuromotor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processes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55">
                <a:solidFill>
                  <a:srgbClr val="FFFFFF"/>
                </a:solidFill>
                <a:latin typeface="Trebuchet MS"/>
                <a:cs typeface="Trebuchet MS"/>
              </a:rPr>
              <a:t>achieve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2000" spc="175">
                <a:solidFill>
                  <a:srgbClr val="FFFFFF"/>
                </a:solidFill>
                <a:latin typeface="Trebuchet MS"/>
                <a:cs typeface="Trebuchet MS"/>
              </a:rPr>
              <a:t>same</a:t>
            </a:r>
            <a:r>
              <a:rPr dirty="0" sz="20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action</a:t>
            </a:r>
            <a:r>
              <a:rPr dirty="0" sz="20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(Motor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Equivalence).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FFFFFF"/>
              </a:buClr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ts val="2405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b="1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dirty="0" sz="2200" spc="-75" b="1">
                <a:solidFill>
                  <a:srgbClr val="FFFFFF"/>
                </a:solidFill>
                <a:latin typeface="Tahoma"/>
                <a:cs typeface="Tahoma"/>
              </a:rPr>
              <a:t> Principle:</a:t>
            </a:r>
            <a:r>
              <a:rPr dirty="0" sz="220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00" spc="85">
                <a:solidFill>
                  <a:srgbClr val="FFFFFF"/>
                </a:solidFill>
                <a:latin typeface="Trebuchet MS"/>
                <a:cs typeface="Trebuchet MS"/>
              </a:rPr>
              <a:t>"Neurons</a:t>
            </a:r>
            <a:r>
              <a:rPr dirty="0" sz="22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55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22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-65">
                <a:solidFill>
                  <a:srgbClr val="FFFFFF"/>
                </a:solidFill>
                <a:latin typeface="Trebuchet MS"/>
                <a:cs typeface="Trebuchet MS"/>
              </a:rPr>
              <a:t>fire</a:t>
            </a:r>
            <a:r>
              <a:rPr dirty="0" sz="2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60">
                <a:solidFill>
                  <a:srgbClr val="FFFFFF"/>
                </a:solidFill>
                <a:latin typeface="Trebuchet MS"/>
                <a:cs typeface="Trebuchet MS"/>
              </a:rPr>
              <a:t>together,</a:t>
            </a:r>
            <a:r>
              <a:rPr dirty="0" sz="22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FFFFFF"/>
                </a:solidFill>
                <a:latin typeface="Trebuchet MS"/>
                <a:cs typeface="Trebuchet MS"/>
              </a:rPr>
              <a:t>wire</a:t>
            </a:r>
            <a:r>
              <a:rPr dirty="0" sz="2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114">
                <a:solidFill>
                  <a:srgbClr val="FFFFFF"/>
                </a:solidFill>
                <a:latin typeface="Trebuchet MS"/>
                <a:cs typeface="Trebuchet MS"/>
              </a:rPr>
              <a:t>together"—repeated,</a:t>
            </a:r>
            <a:r>
              <a:rPr dirty="0" sz="22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110">
                <a:solidFill>
                  <a:srgbClr val="FFFFFF"/>
                </a:solidFill>
                <a:latin typeface="Trebuchet MS"/>
                <a:cs typeface="Trebuchet MS"/>
              </a:rPr>
              <a:t>goal-</a:t>
            </a:r>
            <a:endParaRPr sz="2200">
              <a:latin typeface="Trebuchet MS"/>
              <a:cs typeface="Trebuchet MS"/>
            </a:endParaRPr>
          </a:p>
          <a:p>
            <a:pPr marL="241300">
              <a:lnSpc>
                <a:spcPts val="2405"/>
              </a:lnSpc>
            </a:pPr>
            <a:r>
              <a:rPr dirty="0" sz="2200" spc="100">
                <a:solidFill>
                  <a:srgbClr val="FFFFFF"/>
                </a:solidFill>
                <a:latin typeface="Trebuchet MS"/>
                <a:cs typeface="Trebuchet MS"/>
              </a:rPr>
              <a:t>directed</a:t>
            </a:r>
            <a:r>
              <a:rPr dirty="0" sz="22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125">
                <a:solidFill>
                  <a:srgbClr val="FFFFFF"/>
                </a:solidFill>
                <a:latin typeface="Trebuchet MS"/>
                <a:cs typeface="Trebuchet MS"/>
              </a:rPr>
              <a:t>action</a:t>
            </a:r>
            <a:r>
              <a:rPr dirty="0" sz="22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FFFFFF"/>
                </a:solidFill>
                <a:latin typeface="Trebuchet MS"/>
                <a:cs typeface="Trebuchet MS"/>
              </a:rPr>
              <a:t>drives</a:t>
            </a:r>
            <a:r>
              <a:rPr dirty="0" sz="22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9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dirty="0" sz="22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200">
                <a:solidFill>
                  <a:srgbClr val="FFFFFF"/>
                </a:solidFill>
                <a:latin typeface="Trebuchet MS"/>
                <a:cs typeface="Trebuchet MS"/>
              </a:rPr>
              <a:t>changes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24027" y="2062505"/>
            <a:ext cx="6400800" cy="4134485"/>
            <a:chOff x="224027" y="2062505"/>
            <a:chExt cx="6400800" cy="4134485"/>
          </a:xfrm>
        </p:grpSpPr>
        <p:sp>
          <p:nvSpPr>
            <p:cNvPr id="3" name="object 3" descr=""/>
            <p:cNvSpPr/>
            <p:nvPr/>
          </p:nvSpPr>
          <p:spPr>
            <a:xfrm>
              <a:off x="224027" y="2062505"/>
              <a:ext cx="6400800" cy="4134485"/>
            </a:xfrm>
            <a:custGeom>
              <a:avLst/>
              <a:gdLst/>
              <a:ahLst/>
              <a:cxnLst/>
              <a:rect l="l" t="t" r="r" b="b"/>
              <a:pathLst>
                <a:path w="6400800" h="4134485">
                  <a:moveTo>
                    <a:pt x="6400800" y="0"/>
                  </a:moveTo>
                  <a:lnTo>
                    <a:pt x="0" y="0"/>
                  </a:lnTo>
                  <a:lnTo>
                    <a:pt x="0" y="4134104"/>
                  </a:lnTo>
                  <a:lnTo>
                    <a:pt x="6400800" y="4134104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0703" y="2624327"/>
              <a:ext cx="4585716" cy="20894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4711" y="2634106"/>
              <a:ext cx="4462272" cy="19664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3432" y="3364991"/>
              <a:ext cx="2610612" cy="26654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8836" y="3381641"/>
              <a:ext cx="2482938" cy="254237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5170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105"/>
              </a:spcBef>
            </a:pPr>
            <a:r>
              <a:rPr dirty="0" sz="3600" spc="530"/>
              <a:t>A</a:t>
            </a:r>
            <a:r>
              <a:rPr dirty="0" sz="3600" spc="-85"/>
              <a:t> </a:t>
            </a:r>
            <a:r>
              <a:rPr dirty="0" sz="3600" spc="-254"/>
              <a:t>BIT</a:t>
            </a:r>
            <a:r>
              <a:rPr dirty="0" sz="3600" spc="-105"/>
              <a:t> </a:t>
            </a:r>
            <a:r>
              <a:rPr dirty="0" sz="3600" spc="380"/>
              <a:t>MORE</a:t>
            </a:r>
            <a:r>
              <a:rPr dirty="0" sz="3600" spc="-140"/>
              <a:t> </a:t>
            </a:r>
            <a:r>
              <a:rPr dirty="0" sz="3600" spc="535"/>
              <a:t>ON</a:t>
            </a:r>
            <a:r>
              <a:rPr dirty="0" sz="3600" spc="-80"/>
              <a:t> </a:t>
            </a:r>
            <a:r>
              <a:rPr dirty="0" sz="3600" spc="385"/>
              <a:t>HOW</a:t>
            </a:r>
            <a:r>
              <a:rPr dirty="0" sz="3600" spc="-80"/>
              <a:t> </a:t>
            </a:r>
            <a:r>
              <a:rPr dirty="0" sz="3600" spc="-385"/>
              <a:t>IT</a:t>
            </a:r>
            <a:r>
              <a:rPr dirty="0" sz="3600" spc="-40"/>
              <a:t> </a:t>
            </a:r>
            <a:r>
              <a:rPr dirty="0" sz="3600" spc="160"/>
              <a:t>HAPPENS</a:t>
            </a:r>
            <a:r>
              <a:rPr dirty="0" sz="3600" spc="-80"/>
              <a:t> </a:t>
            </a:r>
            <a:r>
              <a:rPr dirty="0" sz="3600" spc="-25"/>
              <a:t>(1)</a:t>
            </a:r>
            <a:endParaRPr sz="3600"/>
          </a:p>
        </p:txBody>
      </p:sp>
      <p:sp>
        <p:nvSpPr>
          <p:cNvPr id="9" name="object 9" descr=""/>
          <p:cNvSpPr txBox="1"/>
          <p:nvPr/>
        </p:nvSpPr>
        <p:spPr>
          <a:xfrm>
            <a:off x="7107046" y="2319972"/>
            <a:ext cx="4548505" cy="31153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25"/>
              </a:spcBef>
            </a:pPr>
            <a:r>
              <a:rPr dirty="0" sz="2350" spc="-10" b="1">
                <a:solidFill>
                  <a:srgbClr val="FFFFFF"/>
                </a:solidFill>
                <a:latin typeface="Tahoma"/>
                <a:cs typeface="Tahoma"/>
              </a:rPr>
              <a:t>Synaptogenesis</a:t>
            </a:r>
            <a:endParaRPr sz="2350">
              <a:latin typeface="Tahoma"/>
              <a:cs typeface="Tahoma"/>
            </a:endParaRPr>
          </a:p>
          <a:p>
            <a:pPr marL="12700" marR="5080">
              <a:lnSpc>
                <a:spcPct val="93100"/>
              </a:lnSpc>
              <a:spcBef>
                <a:spcPts val="2145"/>
              </a:spcBef>
            </a:pPr>
            <a:r>
              <a:rPr dirty="0" sz="1550" spc="-55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155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55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5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05">
                <a:solidFill>
                  <a:srgbClr val="FFFFFF"/>
                </a:solidFill>
                <a:latin typeface="Trebuchet MS"/>
                <a:cs typeface="Trebuchet MS"/>
              </a:rPr>
              <a:t>process</a:t>
            </a:r>
            <a:r>
              <a:rPr dirty="0" sz="155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5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80">
                <a:solidFill>
                  <a:srgbClr val="FFFFFF"/>
                </a:solidFill>
                <a:latin typeface="Trebuchet MS"/>
                <a:cs typeface="Trebuchet MS"/>
              </a:rPr>
              <a:t>forming</a:t>
            </a:r>
            <a:r>
              <a:rPr dirty="0" sz="15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55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dirty="0" sz="15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90">
                <a:solidFill>
                  <a:srgbClr val="FFFFFF"/>
                </a:solidFill>
                <a:latin typeface="Trebuchet MS"/>
                <a:cs typeface="Trebuchet MS"/>
              </a:rPr>
              <a:t>synapses </a:t>
            </a:r>
            <a:r>
              <a:rPr dirty="0" sz="1550" spc="135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60">
                <a:solidFill>
                  <a:srgbClr val="FFFFFF"/>
                </a:solidFill>
                <a:latin typeface="Trebuchet MS"/>
                <a:cs typeface="Trebuchet MS"/>
              </a:rPr>
              <a:t>neurons.</a:t>
            </a:r>
            <a:r>
              <a:rPr dirty="0" sz="15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Trebuchet MS"/>
                <a:cs typeface="Trebuchet MS"/>
              </a:rPr>
              <a:t>Think</a:t>
            </a:r>
            <a:r>
              <a:rPr dirty="0" sz="15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8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114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25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dirty="0" sz="155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5">
                <a:solidFill>
                  <a:srgbClr val="FFFFFF"/>
                </a:solidFill>
                <a:latin typeface="Trebuchet MS"/>
                <a:cs typeface="Trebuchet MS"/>
              </a:rPr>
              <a:t>building</a:t>
            </a:r>
            <a:r>
              <a:rPr dirty="0" sz="15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30">
                <a:solidFill>
                  <a:srgbClr val="FFFFFF"/>
                </a:solidFill>
                <a:latin typeface="Trebuchet MS"/>
                <a:cs typeface="Trebuchet MS"/>
              </a:rPr>
              <a:t>new </a:t>
            </a:r>
            <a:r>
              <a:rPr dirty="0" sz="1550" spc="120">
                <a:solidFill>
                  <a:srgbClr val="FFFFFF"/>
                </a:solidFill>
                <a:latin typeface="Trebuchet MS"/>
                <a:cs typeface="Trebuchet MS"/>
              </a:rPr>
              <a:t>roads</a:t>
            </a:r>
            <a:r>
              <a:rPr dirty="0" sz="15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55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45">
                <a:solidFill>
                  <a:srgbClr val="FFFFFF"/>
                </a:solidFill>
                <a:latin typeface="Trebuchet MS"/>
                <a:cs typeface="Trebuchet MS"/>
              </a:rPr>
              <a:t>connect</a:t>
            </a:r>
            <a:r>
              <a:rPr dirty="0" sz="15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cities</a:t>
            </a:r>
            <a:r>
              <a:rPr dirty="0" sz="15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55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15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50">
                <a:solidFill>
                  <a:srgbClr val="FFFFFF"/>
                </a:solidFill>
                <a:latin typeface="Trebuchet MS"/>
                <a:cs typeface="Trebuchet MS"/>
              </a:rPr>
              <a:t>previously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10">
                <a:solidFill>
                  <a:srgbClr val="FFFFFF"/>
                </a:solidFill>
                <a:latin typeface="Trebuchet MS"/>
                <a:cs typeface="Trebuchet MS"/>
              </a:rPr>
              <a:t>had</a:t>
            </a:r>
            <a:r>
              <a:rPr dirty="0" sz="15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50">
                <a:solidFill>
                  <a:srgbClr val="FFFFFF"/>
                </a:solidFill>
                <a:latin typeface="Trebuchet MS"/>
                <a:cs typeface="Trebuchet MS"/>
              </a:rPr>
              <a:t>no </a:t>
            </a:r>
            <a:r>
              <a:rPr dirty="0" sz="1550" spc="55">
                <a:solidFill>
                  <a:srgbClr val="FFFFFF"/>
                </a:solidFill>
                <a:latin typeface="Trebuchet MS"/>
                <a:cs typeface="Trebuchet MS"/>
              </a:rPr>
              <a:t>direct</a:t>
            </a:r>
            <a:r>
              <a:rPr dirty="0" sz="155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55">
                <a:solidFill>
                  <a:srgbClr val="FFFFFF"/>
                </a:solidFill>
                <a:latin typeface="Trebuchet MS"/>
                <a:cs typeface="Trebuchet MS"/>
              </a:rPr>
              <a:t>path.</a:t>
            </a:r>
            <a:endParaRPr sz="1550">
              <a:latin typeface="Trebuchet MS"/>
              <a:cs typeface="Trebuchet MS"/>
            </a:endParaRPr>
          </a:p>
          <a:p>
            <a:pPr marL="12700" marR="55880">
              <a:lnSpc>
                <a:spcPct val="93100"/>
              </a:lnSpc>
              <a:spcBef>
                <a:spcPts val="1005"/>
              </a:spcBef>
            </a:pPr>
            <a:r>
              <a:rPr dirty="0" sz="1550" spc="65">
                <a:solidFill>
                  <a:srgbClr val="FFFFFF"/>
                </a:solidFill>
                <a:latin typeface="Trebuchet MS"/>
                <a:cs typeface="Trebuchet MS"/>
              </a:rPr>
              <a:t>Clinical</a:t>
            </a:r>
            <a:r>
              <a:rPr dirty="0" sz="15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Trigger:</a:t>
            </a:r>
            <a:r>
              <a:rPr dirty="0" sz="15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35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155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55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60">
                <a:solidFill>
                  <a:srgbClr val="FFFFFF"/>
                </a:solidFill>
                <a:latin typeface="Trebuchet MS"/>
                <a:cs typeface="Trebuchet MS"/>
              </a:rPr>
              <a:t>driven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4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1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95">
                <a:solidFill>
                  <a:srgbClr val="FFFFFF"/>
                </a:solidFill>
                <a:latin typeface="Trebuchet MS"/>
                <a:cs typeface="Trebuchet MS"/>
              </a:rPr>
              <a:t>High</a:t>
            </a:r>
            <a:r>
              <a:rPr dirty="0" sz="15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Trebuchet MS"/>
                <a:cs typeface="Trebuchet MS"/>
              </a:rPr>
              <a:t>Intensity </a:t>
            </a:r>
            <a:r>
              <a:rPr dirty="0" sz="1550" spc="90">
                <a:solidFill>
                  <a:srgbClr val="FFFFFF"/>
                </a:solidFill>
                <a:latin typeface="Trebuchet MS"/>
                <a:cs typeface="Trebuchet MS"/>
              </a:rPr>
              <a:t>Practice</a:t>
            </a:r>
            <a:r>
              <a:rPr dirty="0" sz="15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1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 Task</a:t>
            </a:r>
            <a:r>
              <a:rPr dirty="0" sz="155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80">
                <a:solidFill>
                  <a:srgbClr val="FFFFFF"/>
                </a:solidFill>
                <a:latin typeface="Trebuchet MS"/>
                <a:cs typeface="Trebuchet MS"/>
              </a:rPr>
              <a:t>Specificity—</a:t>
            </a:r>
            <a:r>
              <a:rPr dirty="0" sz="155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5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5">
                <a:solidFill>
                  <a:srgbClr val="FFFFFF"/>
                </a:solidFill>
                <a:latin typeface="Trebuchet MS"/>
                <a:cs typeface="Trebuchet MS"/>
              </a:rPr>
              <a:t>brain</a:t>
            </a:r>
            <a:r>
              <a:rPr dirty="0" sz="155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won't </a:t>
            </a:r>
            <a:r>
              <a:rPr dirty="0" sz="1550" spc="65">
                <a:solidFill>
                  <a:srgbClr val="FFFFFF"/>
                </a:solidFill>
                <a:latin typeface="Trebuchet MS"/>
                <a:cs typeface="Trebuchet MS"/>
              </a:rPr>
              <a:t>build</a:t>
            </a:r>
            <a:r>
              <a:rPr dirty="0" sz="15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6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55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00">
                <a:solidFill>
                  <a:srgbClr val="FFFFFF"/>
                </a:solidFill>
                <a:latin typeface="Trebuchet MS"/>
                <a:cs typeface="Trebuchet MS"/>
              </a:rPr>
              <a:t>"road"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114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15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05">
                <a:solidFill>
                  <a:srgbClr val="FFFFFF"/>
                </a:solidFill>
                <a:latin typeface="Trebuchet MS"/>
                <a:cs typeface="Trebuchet MS"/>
              </a:rPr>
              <a:t>doesn't</a:t>
            </a:r>
            <a:r>
              <a:rPr dirty="0" sz="15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think</a:t>
            </a:r>
            <a:r>
              <a:rPr dirty="0" sz="155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you'll</a:t>
            </a:r>
            <a:r>
              <a:rPr dirty="0" sz="155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Trebuchet MS"/>
                <a:cs typeface="Trebuchet MS"/>
              </a:rPr>
              <a:t>use.</a:t>
            </a:r>
            <a:endParaRPr sz="1550">
              <a:latin typeface="Trebuchet MS"/>
              <a:cs typeface="Trebuchet MS"/>
            </a:endParaRPr>
          </a:p>
          <a:p>
            <a:pPr algn="just" marL="12700" marR="882650">
              <a:lnSpc>
                <a:spcPts val="1730"/>
              </a:lnSpc>
              <a:spcBef>
                <a:spcPts val="1045"/>
              </a:spcBef>
            </a:pP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55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95">
                <a:solidFill>
                  <a:srgbClr val="FFFFFF"/>
                </a:solidFill>
                <a:latin typeface="Trebuchet MS"/>
                <a:cs typeface="Trebuchet MS"/>
              </a:rPr>
              <a:t>Goal:</a:t>
            </a:r>
            <a:r>
              <a:rPr dirty="0" sz="155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55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65">
                <a:solidFill>
                  <a:srgbClr val="FFFFFF"/>
                </a:solidFill>
                <a:latin typeface="Trebuchet MS"/>
                <a:cs typeface="Trebuchet MS"/>
              </a:rPr>
              <a:t>move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dirty="0" sz="15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6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55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80">
                <a:solidFill>
                  <a:srgbClr val="FFFFFF"/>
                </a:solidFill>
                <a:latin typeface="Trebuchet MS"/>
                <a:cs typeface="Trebuchet MS"/>
              </a:rPr>
              <a:t>temporary </a:t>
            </a:r>
            <a:r>
              <a:rPr dirty="0" sz="1550" spc="90">
                <a:solidFill>
                  <a:srgbClr val="FFFFFF"/>
                </a:solidFill>
                <a:latin typeface="Trebuchet MS"/>
                <a:cs typeface="Trebuchet MS"/>
              </a:rPr>
              <a:t>"Performance"</a:t>
            </a:r>
            <a:r>
              <a:rPr dirty="0" sz="155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00">
                <a:solidFill>
                  <a:srgbClr val="FFFFFF"/>
                </a:solidFill>
                <a:latin typeface="Trebuchet MS"/>
                <a:cs typeface="Trebuchet MS"/>
              </a:rPr>
              <a:t>change</a:t>
            </a:r>
            <a:r>
              <a:rPr dirty="0" sz="155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55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6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Trebuchet MS"/>
                <a:cs typeface="Trebuchet MS"/>
              </a:rPr>
              <a:t>relatively </a:t>
            </a:r>
            <a:r>
              <a:rPr dirty="0" sz="1550" spc="125">
                <a:solidFill>
                  <a:srgbClr val="FFFFFF"/>
                </a:solidFill>
                <a:latin typeface="Trebuchet MS"/>
                <a:cs typeface="Trebuchet MS"/>
              </a:rPr>
              <a:t>permanent</a:t>
            </a:r>
            <a:r>
              <a:rPr dirty="0" sz="15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65">
                <a:solidFill>
                  <a:srgbClr val="FFFFFF"/>
                </a:solidFill>
                <a:latin typeface="Trebuchet MS"/>
                <a:cs typeface="Trebuchet MS"/>
              </a:rPr>
              <a:t>"Learning"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40">
                <a:solidFill>
                  <a:srgbClr val="FFFFFF"/>
                </a:solidFill>
                <a:latin typeface="Trebuchet MS"/>
                <a:cs typeface="Trebuchet MS"/>
              </a:rPr>
              <a:t>state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96621" y="6332921"/>
            <a:ext cx="3411854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900" spc="-50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6"/>
              </a:rPr>
              <a:t>This</a:t>
            </a:r>
            <a:r>
              <a:rPr dirty="0" u="sng" sz="900" spc="135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dirty="0" u="sng" sz="900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6"/>
              </a:rPr>
              <a:t>Photo</a:t>
            </a:r>
            <a:r>
              <a:rPr dirty="0" sz="900" spc="80">
                <a:solidFill>
                  <a:srgbClr val="EF522B"/>
                </a:solidFill>
                <a:latin typeface="Trebuchet MS"/>
                <a:cs typeface="Trebuchet MS"/>
              </a:rPr>
              <a:t> </a:t>
            </a:r>
            <a:r>
              <a:rPr dirty="0" sz="900" spc="95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9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900" spc="45">
                <a:solidFill>
                  <a:srgbClr val="FFFFFF"/>
                </a:solidFill>
                <a:latin typeface="Trebuchet MS"/>
                <a:cs typeface="Trebuchet MS"/>
              </a:rPr>
              <a:t>Unknown</a:t>
            </a:r>
            <a:r>
              <a:rPr dirty="0" sz="9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FFFFFF"/>
                </a:solidFill>
                <a:latin typeface="Trebuchet MS"/>
                <a:cs typeface="Trebuchet MS"/>
              </a:rPr>
              <a:t>Author</a:t>
            </a:r>
            <a:r>
              <a:rPr dirty="0" sz="9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9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FFFFFF"/>
                </a:solidFill>
                <a:latin typeface="Trebuchet MS"/>
                <a:cs typeface="Trebuchet MS"/>
              </a:rPr>
              <a:t>licensed</a:t>
            </a:r>
            <a:r>
              <a:rPr dirty="0" sz="9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900" spc="50">
                <a:solidFill>
                  <a:srgbClr val="FFFFFF"/>
                </a:solidFill>
                <a:latin typeface="Trebuchet MS"/>
                <a:cs typeface="Trebuchet MS"/>
              </a:rPr>
              <a:t>under</a:t>
            </a:r>
            <a:r>
              <a:rPr dirty="0" sz="9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u="sng" sz="900" spc="195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7"/>
              </a:rPr>
              <a:t>CC</a:t>
            </a:r>
            <a:r>
              <a:rPr dirty="0" u="sng" sz="900" spc="80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dirty="0" u="sng" sz="900" spc="-10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7"/>
              </a:rPr>
              <a:t>BY</a:t>
            </a:r>
            <a:r>
              <a:rPr dirty="0" u="sng" sz="900" spc="-10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7"/>
              </a:rPr>
              <a:t>-</a:t>
            </a:r>
            <a:r>
              <a:rPr dirty="0" u="sng" sz="900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7"/>
              </a:rPr>
              <a:t>SA</a:t>
            </a:r>
            <a:r>
              <a:rPr dirty="0" u="sng" sz="900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7"/>
              </a:rPr>
              <a:t>-</a:t>
            </a:r>
            <a:r>
              <a:rPr dirty="0" u="sng" sz="900" spc="90">
                <a:solidFill>
                  <a:srgbClr val="EF522B"/>
                </a:solidFill>
                <a:uFill>
                  <a:solidFill>
                    <a:srgbClr val="EF522B"/>
                  </a:solidFill>
                </a:uFill>
                <a:latin typeface="Trebuchet MS"/>
                <a:cs typeface="Trebuchet MS"/>
                <a:hlinkClick r:id="rId7"/>
              </a:rPr>
              <a:t>NC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24027" y="2062505"/>
            <a:ext cx="6400800" cy="4134485"/>
          </a:xfrm>
          <a:prstGeom prst="rect">
            <a:avLst/>
          </a:prstGeom>
          <a:ln w="12700">
            <a:solidFill>
              <a:srgbClr val="5D0D09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350">
              <a:latin typeface="Times New Roman"/>
              <a:cs typeface="Times New Roman"/>
            </a:endParaRPr>
          </a:p>
          <a:p>
            <a:pPr marL="4674235" marR="360680">
              <a:lnSpc>
                <a:spcPct val="102400"/>
              </a:lnSpc>
            </a:pPr>
            <a:r>
              <a:rPr dirty="0" sz="1350">
                <a:latin typeface="Trebuchet MS"/>
                <a:cs typeface="Trebuchet MS"/>
              </a:rPr>
              <a:t>‘’old</a:t>
            </a:r>
            <a:r>
              <a:rPr dirty="0" sz="1350" spc="220">
                <a:latin typeface="Trebuchet MS"/>
                <a:cs typeface="Trebuchet MS"/>
              </a:rPr>
              <a:t> </a:t>
            </a:r>
            <a:r>
              <a:rPr dirty="0" sz="1350" spc="-25">
                <a:latin typeface="Trebuchet MS"/>
                <a:cs typeface="Trebuchet MS"/>
              </a:rPr>
              <a:t>or </a:t>
            </a:r>
            <a:r>
              <a:rPr dirty="0" sz="1350" spc="210">
                <a:latin typeface="Trebuchet MS"/>
                <a:cs typeface="Trebuchet MS"/>
              </a:rPr>
              <a:t>damaged</a:t>
            </a:r>
            <a:r>
              <a:rPr dirty="0" sz="1350" spc="20">
                <a:latin typeface="Trebuchet MS"/>
                <a:cs typeface="Trebuchet MS"/>
              </a:rPr>
              <a:t> </a:t>
            </a:r>
            <a:r>
              <a:rPr dirty="0" sz="1350" spc="-10">
                <a:latin typeface="Trebuchet MS"/>
                <a:cs typeface="Trebuchet MS"/>
              </a:rPr>
              <a:t>cell’’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350">
              <a:latin typeface="Trebuchet MS"/>
              <a:cs typeface="Trebuchet MS"/>
            </a:endParaRPr>
          </a:p>
          <a:p>
            <a:pPr marL="2221865" marR="2825750">
              <a:lnSpc>
                <a:spcPct val="102400"/>
              </a:lnSpc>
            </a:pPr>
            <a:r>
              <a:rPr dirty="0" sz="1350" spc="90">
                <a:latin typeface="Trebuchet MS"/>
                <a:cs typeface="Trebuchet MS"/>
              </a:rPr>
              <a:t>‘’New</a:t>
            </a:r>
            <a:r>
              <a:rPr dirty="0" sz="1350" spc="-35">
                <a:latin typeface="Trebuchet MS"/>
                <a:cs typeface="Trebuchet MS"/>
              </a:rPr>
              <a:t> </a:t>
            </a:r>
            <a:r>
              <a:rPr dirty="0" sz="1350" spc="125">
                <a:latin typeface="Trebuchet MS"/>
                <a:cs typeface="Trebuchet MS"/>
              </a:rPr>
              <a:t>pathway </a:t>
            </a:r>
            <a:r>
              <a:rPr dirty="0" sz="1350" spc="110">
                <a:latin typeface="Trebuchet MS"/>
                <a:cs typeface="Trebuchet MS"/>
              </a:rPr>
              <a:t>made’’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5170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105"/>
              </a:spcBef>
            </a:pPr>
            <a:r>
              <a:rPr dirty="0" sz="3600" spc="530"/>
              <a:t>A</a:t>
            </a:r>
            <a:r>
              <a:rPr dirty="0" sz="3600" spc="-85"/>
              <a:t> </a:t>
            </a:r>
            <a:r>
              <a:rPr dirty="0" sz="3600" spc="-254"/>
              <a:t>BIT</a:t>
            </a:r>
            <a:r>
              <a:rPr dirty="0" sz="3600" spc="-105"/>
              <a:t> </a:t>
            </a:r>
            <a:r>
              <a:rPr dirty="0" sz="3600" spc="380"/>
              <a:t>MORE</a:t>
            </a:r>
            <a:r>
              <a:rPr dirty="0" sz="3600" spc="-140"/>
              <a:t> </a:t>
            </a:r>
            <a:r>
              <a:rPr dirty="0" sz="3600" spc="535"/>
              <a:t>ON</a:t>
            </a:r>
            <a:r>
              <a:rPr dirty="0" sz="3600" spc="-80"/>
              <a:t> </a:t>
            </a:r>
            <a:r>
              <a:rPr dirty="0" sz="3600" spc="385"/>
              <a:t>HOW</a:t>
            </a:r>
            <a:r>
              <a:rPr dirty="0" sz="3600" spc="-80"/>
              <a:t> </a:t>
            </a:r>
            <a:r>
              <a:rPr dirty="0" sz="3600" spc="-385"/>
              <a:t>IT</a:t>
            </a:r>
            <a:r>
              <a:rPr dirty="0" sz="3600" spc="-40"/>
              <a:t> </a:t>
            </a:r>
            <a:r>
              <a:rPr dirty="0" sz="3600" spc="160"/>
              <a:t>HAPPENS</a:t>
            </a:r>
            <a:r>
              <a:rPr dirty="0" sz="3600" spc="-80"/>
              <a:t> </a:t>
            </a:r>
            <a:r>
              <a:rPr dirty="0" sz="3600" spc="-25"/>
              <a:t>(2)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7107046" y="2319972"/>
            <a:ext cx="4562475" cy="37744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25"/>
              </a:spcBef>
            </a:pPr>
            <a:r>
              <a:rPr dirty="0" sz="2350" b="1">
                <a:solidFill>
                  <a:srgbClr val="FFFFFF"/>
                </a:solidFill>
                <a:latin typeface="Tahoma"/>
                <a:cs typeface="Tahoma"/>
              </a:rPr>
              <a:t>Cortical</a:t>
            </a:r>
            <a:r>
              <a:rPr dirty="0" sz="2350" spc="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350" spc="-10" b="1">
                <a:solidFill>
                  <a:srgbClr val="FFFFFF"/>
                </a:solidFill>
                <a:latin typeface="Tahoma"/>
                <a:cs typeface="Tahoma"/>
              </a:rPr>
              <a:t>Remapping</a:t>
            </a:r>
            <a:endParaRPr sz="2350">
              <a:latin typeface="Tahoma"/>
              <a:cs typeface="Tahoma"/>
            </a:endParaRPr>
          </a:p>
          <a:p>
            <a:pPr marL="12700" marR="55880">
              <a:lnSpc>
                <a:spcPct val="93100"/>
              </a:lnSpc>
              <a:spcBef>
                <a:spcPts val="2145"/>
              </a:spcBef>
            </a:pPr>
            <a:r>
              <a:rPr dirty="0" sz="1550" spc="85">
                <a:solidFill>
                  <a:srgbClr val="FFFFFF"/>
                </a:solidFill>
                <a:latin typeface="Trebuchet MS"/>
                <a:cs typeface="Trebuchet MS"/>
              </a:rPr>
              <a:t>Also</a:t>
            </a:r>
            <a:r>
              <a:rPr dirty="0" sz="15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25">
                <a:solidFill>
                  <a:srgbClr val="FFFFFF"/>
                </a:solidFill>
                <a:latin typeface="Trebuchet MS"/>
                <a:cs typeface="Trebuchet MS"/>
              </a:rPr>
              <a:t>known</a:t>
            </a:r>
            <a:r>
              <a:rPr dirty="0" sz="155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25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dirty="0" sz="155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29">
                <a:solidFill>
                  <a:srgbClr val="FFFFFF"/>
                </a:solidFill>
                <a:latin typeface="Trebuchet MS"/>
                <a:cs typeface="Trebuchet MS"/>
              </a:rPr>
              <a:t>map</a:t>
            </a:r>
            <a:r>
              <a:rPr dirty="0" sz="155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05">
                <a:solidFill>
                  <a:srgbClr val="FFFFFF"/>
                </a:solidFill>
                <a:latin typeface="Trebuchet MS"/>
                <a:cs typeface="Trebuchet MS"/>
              </a:rPr>
              <a:t>expansion</a:t>
            </a:r>
            <a:r>
              <a:rPr dirty="0" sz="155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35">
                <a:solidFill>
                  <a:srgbClr val="FFFFFF"/>
                </a:solidFill>
                <a:latin typeface="Trebuchet MS"/>
                <a:cs typeface="Trebuchet MS"/>
              </a:rPr>
              <a:t>or 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reassignment.</a:t>
            </a:r>
            <a:r>
              <a:rPr dirty="0" sz="15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8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dirty="0" sz="155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6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5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80">
                <a:solidFill>
                  <a:srgbClr val="FFFFFF"/>
                </a:solidFill>
                <a:latin typeface="Trebuchet MS"/>
                <a:cs typeface="Trebuchet MS"/>
              </a:rPr>
              <a:t>specific</a:t>
            </a:r>
            <a:r>
              <a:rPr dirty="0" sz="15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60">
                <a:solidFill>
                  <a:srgbClr val="FFFFFF"/>
                </a:solidFill>
                <a:latin typeface="Trebuchet MS"/>
                <a:cs typeface="Trebuchet MS"/>
              </a:rPr>
              <a:t>area</a:t>
            </a:r>
            <a:r>
              <a:rPr dirty="0" sz="15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5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5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65">
                <a:solidFill>
                  <a:srgbClr val="FFFFFF"/>
                </a:solidFill>
                <a:latin typeface="Trebuchet MS"/>
                <a:cs typeface="Trebuchet MS"/>
              </a:rPr>
              <a:t>brain</a:t>
            </a:r>
            <a:r>
              <a:rPr dirty="0" sz="155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dirty="0" sz="1550" spc="195">
                <a:solidFill>
                  <a:srgbClr val="FFFFFF"/>
                </a:solidFill>
                <a:latin typeface="Trebuchet MS"/>
                <a:cs typeface="Trebuchet MS"/>
              </a:rPr>
              <a:t>damaged,</a:t>
            </a:r>
            <a:r>
              <a:rPr dirty="0" sz="15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55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surrounding</a:t>
            </a:r>
            <a:r>
              <a:rPr dirty="0" sz="155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80">
                <a:solidFill>
                  <a:srgbClr val="FFFFFF"/>
                </a:solidFill>
                <a:latin typeface="Trebuchet MS"/>
                <a:cs typeface="Trebuchet MS"/>
              </a:rPr>
              <a:t>healthy</a:t>
            </a:r>
            <a:r>
              <a:rPr dirty="0" sz="155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tissue</a:t>
            </a:r>
            <a:r>
              <a:rPr dirty="0" sz="15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04">
                <a:solidFill>
                  <a:srgbClr val="FFFFFF"/>
                </a:solidFill>
                <a:latin typeface="Trebuchet MS"/>
                <a:cs typeface="Trebuchet MS"/>
              </a:rPr>
              <a:t>can </a:t>
            </a:r>
            <a:r>
              <a:rPr dirty="0" sz="1550" spc="195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dirty="0" sz="155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45">
                <a:solidFill>
                  <a:srgbClr val="FFFFFF"/>
                </a:solidFill>
                <a:latin typeface="Trebuchet MS"/>
                <a:cs typeface="Trebuchet MS"/>
              </a:rPr>
              <a:t>"recruited"</a:t>
            </a:r>
            <a:r>
              <a:rPr dirty="0" sz="15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5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95">
                <a:solidFill>
                  <a:srgbClr val="FFFFFF"/>
                </a:solidFill>
                <a:latin typeface="Trebuchet MS"/>
                <a:cs typeface="Trebuchet MS"/>
              </a:rPr>
              <a:t>take</a:t>
            </a:r>
            <a:r>
              <a:rPr dirty="0" sz="15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05">
                <a:solidFill>
                  <a:srgbClr val="FFFFFF"/>
                </a:solidFill>
                <a:latin typeface="Trebuchet MS"/>
                <a:cs typeface="Trebuchet MS"/>
              </a:rPr>
              <a:t>over</a:t>
            </a:r>
            <a:r>
              <a:rPr dirty="0" sz="155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9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155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Trebuchet MS"/>
                <a:cs typeface="Trebuchet MS"/>
              </a:rPr>
              <a:t>duties.</a:t>
            </a:r>
            <a:endParaRPr sz="1550">
              <a:latin typeface="Trebuchet MS"/>
              <a:cs typeface="Trebuchet MS"/>
            </a:endParaRPr>
          </a:p>
          <a:p>
            <a:pPr marL="12700" marR="68580">
              <a:lnSpc>
                <a:spcPct val="93100"/>
              </a:lnSpc>
              <a:spcBef>
                <a:spcPts val="1005"/>
              </a:spcBef>
            </a:pPr>
            <a:r>
              <a:rPr dirty="0" sz="1550" spc="-35" b="1">
                <a:solidFill>
                  <a:srgbClr val="FFFFFF"/>
                </a:solidFill>
                <a:latin typeface="Tahoma"/>
                <a:cs typeface="Tahoma"/>
              </a:rPr>
              <a:t>How</a:t>
            </a:r>
            <a:r>
              <a:rPr dirty="0" sz="1550" spc="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-95" b="1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dirty="0" sz="1550" spc="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-80" b="1">
                <a:solidFill>
                  <a:srgbClr val="FFFFFF"/>
                </a:solidFill>
                <a:latin typeface="Tahoma"/>
                <a:cs typeface="Tahoma"/>
              </a:rPr>
              <a:t>works:</a:t>
            </a:r>
            <a:r>
              <a:rPr dirty="0" sz="1550" spc="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Through</a:t>
            </a:r>
            <a:r>
              <a:rPr dirty="0" sz="15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5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"Use</a:t>
            </a:r>
            <a:r>
              <a:rPr dirty="0" sz="15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12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15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155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05">
                <a:solidFill>
                  <a:srgbClr val="FFFFFF"/>
                </a:solidFill>
                <a:latin typeface="Trebuchet MS"/>
                <a:cs typeface="Trebuchet MS"/>
              </a:rPr>
              <a:t>Improve</a:t>
            </a:r>
            <a:r>
              <a:rPr dirty="0" sz="15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Trebuchet MS"/>
                <a:cs typeface="Trebuchet MS"/>
              </a:rPr>
              <a:t>it"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principle,</a:t>
            </a:r>
            <a:r>
              <a:rPr dirty="0" sz="155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80">
                <a:solidFill>
                  <a:srgbClr val="FFFFFF"/>
                </a:solidFill>
                <a:latin typeface="Trebuchet MS"/>
                <a:cs typeface="Trebuchet MS"/>
              </a:rPr>
              <a:t>brain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10">
                <a:solidFill>
                  <a:srgbClr val="FFFFFF"/>
                </a:solidFill>
                <a:latin typeface="Trebuchet MS"/>
                <a:cs typeface="Trebuchet MS"/>
              </a:rPr>
              <a:t>rededicates</a:t>
            </a:r>
            <a:r>
              <a:rPr dirty="0" sz="15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1550" spc="65">
                <a:solidFill>
                  <a:srgbClr val="FFFFFF"/>
                </a:solidFill>
                <a:latin typeface="Trebuchet MS"/>
                <a:cs typeface="Trebuchet MS"/>
              </a:rPr>
              <a:t> neural</a:t>
            </a:r>
            <a:r>
              <a:rPr dirty="0" sz="155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Trebuchet MS"/>
                <a:cs typeface="Trebuchet MS"/>
              </a:rPr>
              <a:t>real </a:t>
            </a:r>
            <a:r>
              <a:rPr dirty="0" sz="1550" spc="75">
                <a:solidFill>
                  <a:srgbClr val="FFFFFF"/>
                </a:solidFill>
                <a:latin typeface="Trebuchet MS"/>
                <a:cs typeface="Trebuchet MS"/>
              </a:rPr>
              <a:t>estate</a:t>
            </a:r>
            <a:r>
              <a:rPr dirty="0" sz="155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7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1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75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5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10">
                <a:solidFill>
                  <a:srgbClr val="FFFFFF"/>
                </a:solidFill>
                <a:latin typeface="Trebuchet MS"/>
                <a:cs typeface="Trebuchet MS"/>
              </a:rPr>
              <a:t>which</a:t>
            </a:r>
            <a:r>
              <a:rPr dirty="0" sz="155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50">
                <a:solidFill>
                  <a:srgbClr val="FFFFFF"/>
                </a:solidFill>
                <a:latin typeface="Trebuchet MS"/>
                <a:cs typeface="Trebuchet MS"/>
              </a:rPr>
              <a:t>parts</a:t>
            </a:r>
            <a:r>
              <a:rPr dirty="0" sz="155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1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15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20">
                <a:solidFill>
                  <a:srgbClr val="FFFFFF"/>
                </a:solidFill>
                <a:latin typeface="Trebuchet MS"/>
                <a:cs typeface="Trebuchet MS"/>
              </a:rPr>
              <a:t>being </a:t>
            </a:r>
            <a:r>
              <a:rPr dirty="0" sz="1550" spc="60">
                <a:solidFill>
                  <a:srgbClr val="FFFFFF"/>
                </a:solidFill>
                <a:latin typeface="Trebuchet MS"/>
                <a:cs typeface="Trebuchet MS"/>
              </a:rPr>
              <a:t>stimulated</a:t>
            </a:r>
            <a:r>
              <a:rPr dirty="0" sz="15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4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15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sensory</a:t>
            </a:r>
            <a:r>
              <a:rPr dirty="0" sz="155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9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5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5">
                <a:solidFill>
                  <a:srgbClr val="FFFFFF"/>
                </a:solidFill>
                <a:latin typeface="Trebuchet MS"/>
                <a:cs typeface="Trebuchet MS"/>
              </a:rPr>
              <a:t>motor</a:t>
            </a:r>
            <a:r>
              <a:rPr dirty="0" sz="155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50">
                <a:solidFill>
                  <a:srgbClr val="FFFFFF"/>
                </a:solidFill>
                <a:latin typeface="Trebuchet MS"/>
                <a:cs typeface="Trebuchet MS"/>
              </a:rPr>
              <a:t>neurons.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93100"/>
              </a:lnSpc>
            </a:pPr>
            <a:r>
              <a:rPr dirty="0" sz="1550" spc="-105" b="1">
                <a:solidFill>
                  <a:srgbClr val="FFFFFF"/>
                </a:solidFill>
                <a:latin typeface="Tahoma"/>
                <a:cs typeface="Tahoma"/>
              </a:rPr>
              <a:t>Risk:</a:t>
            </a:r>
            <a:r>
              <a:rPr dirty="0" sz="155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-6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155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5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6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5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10">
                <a:solidFill>
                  <a:srgbClr val="FFFFFF"/>
                </a:solidFill>
                <a:latin typeface="Trebuchet MS"/>
                <a:cs typeface="Trebuchet MS"/>
              </a:rPr>
              <a:t>double-</a:t>
            </a:r>
            <a:r>
              <a:rPr dirty="0" sz="1550" spc="220">
                <a:solidFill>
                  <a:srgbClr val="FFFFFF"/>
                </a:solidFill>
                <a:latin typeface="Trebuchet MS"/>
                <a:cs typeface="Trebuchet MS"/>
              </a:rPr>
              <a:t>edged</a:t>
            </a:r>
            <a:r>
              <a:rPr dirty="0" sz="15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60">
                <a:solidFill>
                  <a:srgbClr val="FFFFFF"/>
                </a:solidFill>
                <a:latin typeface="Trebuchet MS"/>
                <a:cs typeface="Trebuchet MS"/>
              </a:rPr>
              <a:t>sword;</a:t>
            </a:r>
            <a:r>
              <a:rPr dirty="0" sz="15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9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dirty="0" sz="15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6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5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60">
                <a:solidFill>
                  <a:srgbClr val="FFFFFF"/>
                </a:solidFill>
                <a:latin typeface="Trebuchet MS"/>
                <a:cs typeface="Trebuchet MS"/>
              </a:rPr>
              <a:t>patient </a:t>
            </a:r>
            <a:r>
              <a:rPr dirty="0" sz="1550" spc="65">
                <a:solidFill>
                  <a:srgbClr val="FFFFFF"/>
                </a:solidFill>
                <a:latin typeface="Trebuchet MS"/>
                <a:cs typeface="Trebuchet MS"/>
              </a:rPr>
              <a:t>stops</a:t>
            </a:r>
            <a:r>
              <a:rPr dirty="0" sz="155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25">
                <a:solidFill>
                  <a:srgbClr val="FFFFFF"/>
                </a:solidFill>
                <a:latin typeface="Trebuchet MS"/>
                <a:cs typeface="Trebuchet MS"/>
              </a:rPr>
              <a:t>moving</a:t>
            </a:r>
            <a:r>
              <a:rPr dirty="0" sz="15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26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5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limb</a:t>
            </a:r>
            <a:r>
              <a:rPr dirty="0" sz="15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("Use</a:t>
            </a:r>
            <a:r>
              <a:rPr dirty="0" sz="15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9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15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55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15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Lose</a:t>
            </a:r>
            <a:r>
              <a:rPr dirty="0" sz="155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70">
                <a:solidFill>
                  <a:srgbClr val="FFFFFF"/>
                </a:solidFill>
                <a:latin typeface="Trebuchet MS"/>
                <a:cs typeface="Trebuchet MS"/>
              </a:rPr>
              <a:t>it"),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4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550" spc="145">
                <a:solidFill>
                  <a:srgbClr val="FFFFFF"/>
                </a:solidFill>
                <a:latin typeface="Trebuchet MS"/>
                <a:cs typeface="Trebuchet MS"/>
              </a:rPr>
              <a:t>area</a:t>
            </a:r>
            <a:r>
              <a:rPr dirty="0" sz="15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8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55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7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5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65">
                <a:solidFill>
                  <a:srgbClr val="FFFFFF"/>
                </a:solidFill>
                <a:latin typeface="Trebuchet MS"/>
                <a:cs typeface="Trebuchet MS"/>
              </a:rPr>
              <a:t>brain</a:t>
            </a:r>
            <a:r>
              <a:rPr dirty="0" sz="15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80">
                <a:solidFill>
                  <a:srgbClr val="FFFFFF"/>
                </a:solidFill>
                <a:latin typeface="Trebuchet MS"/>
                <a:cs typeface="Trebuchet MS"/>
              </a:rPr>
              <a:t>once</a:t>
            </a:r>
            <a:r>
              <a:rPr dirty="0" sz="15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45">
                <a:solidFill>
                  <a:srgbClr val="FFFFFF"/>
                </a:solidFill>
                <a:latin typeface="Trebuchet MS"/>
                <a:cs typeface="Trebuchet MS"/>
              </a:rPr>
              <a:t>dedicated</a:t>
            </a:r>
            <a:r>
              <a:rPr dirty="0" sz="155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5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55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15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Trebuchet MS"/>
                <a:cs typeface="Trebuchet MS"/>
              </a:rPr>
              <a:t>limb </a:t>
            </a:r>
            <a:r>
              <a:rPr dirty="0" sz="1550" spc="-55">
                <a:solidFill>
                  <a:srgbClr val="FFFFFF"/>
                </a:solidFill>
                <a:latin typeface="Trebuchet MS"/>
                <a:cs typeface="Trebuchet MS"/>
              </a:rPr>
              <a:t>will</a:t>
            </a:r>
            <a:r>
              <a:rPr dirty="0" sz="15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95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dirty="0" sz="155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80">
                <a:solidFill>
                  <a:srgbClr val="FFFFFF"/>
                </a:solidFill>
                <a:latin typeface="Trebuchet MS"/>
                <a:cs typeface="Trebuchet MS"/>
              </a:rPr>
              <a:t>"colonized"</a:t>
            </a:r>
            <a:r>
              <a:rPr dirty="0" sz="1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14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15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60">
                <a:solidFill>
                  <a:srgbClr val="FFFFFF"/>
                </a:solidFill>
                <a:latin typeface="Trebuchet MS"/>
                <a:cs typeface="Trebuchet MS"/>
              </a:rPr>
              <a:t>other</a:t>
            </a:r>
            <a:r>
              <a:rPr dirty="0" sz="1550" spc="-10">
                <a:solidFill>
                  <a:srgbClr val="FFFFFF"/>
                </a:solidFill>
                <a:latin typeface="Trebuchet MS"/>
                <a:cs typeface="Trebuchet MS"/>
              </a:rPr>
              <a:t> functions.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63" y="1893265"/>
            <a:ext cx="4809744" cy="402437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34416" y="6125133"/>
            <a:ext cx="6129655" cy="3937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950"/>
              </a:lnSpc>
              <a:spcBef>
                <a:spcPts val="90"/>
              </a:spcBef>
            </a:pP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Picture</a:t>
            </a:r>
            <a:r>
              <a:rPr dirty="0" sz="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from: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55">
                <a:solidFill>
                  <a:srgbClr val="FFFFFF"/>
                </a:solidFill>
                <a:latin typeface="Trebuchet MS"/>
                <a:cs typeface="Trebuchet MS"/>
              </a:rPr>
              <a:t>Andoh,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FFFF"/>
                </a:solidFill>
                <a:latin typeface="Trebuchet MS"/>
                <a:cs typeface="Trebuchet MS"/>
              </a:rPr>
              <a:t>J.,</a:t>
            </a:r>
            <a:r>
              <a:rPr dirty="0" sz="8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Milde,</a:t>
            </a:r>
            <a:r>
              <a:rPr dirty="0" sz="8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C.,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Diers,</a:t>
            </a:r>
            <a:r>
              <a:rPr dirty="0" sz="8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M.,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Bekrater-</a:t>
            </a:r>
            <a:r>
              <a:rPr dirty="0" sz="800" spc="50">
                <a:solidFill>
                  <a:srgbClr val="FFFFFF"/>
                </a:solidFill>
                <a:latin typeface="Trebuchet MS"/>
                <a:cs typeface="Trebuchet MS"/>
              </a:rPr>
              <a:t>Bodmann,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FFFF"/>
                </a:solidFill>
                <a:latin typeface="Trebuchet MS"/>
                <a:cs typeface="Trebuchet MS"/>
              </a:rPr>
              <a:t>R.,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Trojan,</a:t>
            </a:r>
            <a:r>
              <a:rPr dirty="0" sz="8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75">
                <a:solidFill>
                  <a:srgbClr val="FFFFFF"/>
                </a:solidFill>
                <a:latin typeface="Trebuchet MS"/>
                <a:cs typeface="Trebuchet MS"/>
              </a:rPr>
              <a:t>J.,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Fuchs,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FFFFFF"/>
                </a:solidFill>
                <a:latin typeface="Trebuchet MS"/>
                <a:cs typeface="Trebuchet MS"/>
              </a:rPr>
              <a:t>X.,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Becker,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FFFF"/>
                </a:solidFill>
                <a:latin typeface="Trebuchet MS"/>
                <a:cs typeface="Trebuchet MS"/>
              </a:rPr>
              <a:t>S.,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Desch,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Trebuchet MS"/>
                <a:cs typeface="Trebuchet MS"/>
              </a:rPr>
              <a:t>S.</a:t>
            </a:r>
            <a:r>
              <a:rPr dirty="0" sz="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7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8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Flor,</a:t>
            </a:r>
            <a:r>
              <a:rPr dirty="0" sz="8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FFFF"/>
                </a:solidFill>
                <a:latin typeface="Trebuchet MS"/>
                <a:cs typeface="Trebuchet MS"/>
              </a:rPr>
              <a:t>H.,</a:t>
            </a:r>
            <a:r>
              <a:rPr dirty="0" sz="8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2020.</a:t>
            </a:r>
            <a:endParaRPr sz="800">
              <a:latin typeface="Trebuchet MS"/>
              <a:cs typeface="Trebuchet MS"/>
            </a:endParaRPr>
          </a:p>
          <a:p>
            <a:pPr marL="12700">
              <a:lnSpc>
                <a:spcPts val="950"/>
              </a:lnSpc>
            </a:pP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Assessment</a:t>
            </a:r>
            <a:r>
              <a:rPr dirty="0" sz="80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8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cortical</a:t>
            </a:r>
            <a:r>
              <a:rPr dirty="0" sz="80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reorganization</a:t>
            </a:r>
            <a:r>
              <a:rPr dirty="0" sz="800" spc="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7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800" spc="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preserved</a:t>
            </a:r>
            <a:r>
              <a:rPr dirty="0" sz="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function</a:t>
            </a:r>
            <a:r>
              <a:rPr dirty="0" sz="800" spc="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800" spc="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65">
                <a:solidFill>
                  <a:srgbClr val="FFFFFF"/>
                </a:solidFill>
                <a:latin typeface="Trebuchet MS"/>
                <a:cs typeface="Trebuchet MS"/>
              </a:rPr>
              <a:t>phantom</a:t>
            </a:r>
            <a:r>
              <a:rPr dirty="0" sz="8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limb</a:t>
            </a:r>
            <a:r>
              <a:rPr dirty="0" sz="800" spc="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pain:</a:t>
            </a:r>
            <a:r>
              <a:rPr dirty="0" sz="800" spc="2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11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40">
                <a:solidFill>
                  <a:srgbClr val="FFFFFF"/>
                </a:solidFill>
                <a:latin typeface="Trebuchet MS"/>
                <a:cs typeface="Trebuchet MS"/>
              </a:rPr>
              <a:t>methodological</a:t>
            </a:r>
            <a:endParaRPr sz="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 spc="10">
                <a:solidFill>
                  <a:srgbClr val="FFFFFF"/>
                </a:solidFill>
                <a:latin typeface="Trebuchet MS"/>
                <a:cs typeface="Trebuchet MS"/>
              </a:rPr>
              <a:t>perspective.</a:t>
            </a:r>
            <a:r>
              <a:rPr dirty="0" sz="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i="1">
                <a:solidFill>
                  <a:srgbClr val="FFFFFF"/>
                </a:solidFill>
                <a:latin typeface="Trebuchet MS"/>
                <a:cs typeface="Trebuchet MS"/>
              </a:rPr>
              <a:t>Scientific</a:t>
            </a:r>
            <a:r>
              <a:rPr dirty="0" sz="800" spc="-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10" i="1">
                <a:solidFill>
                  <a:srgbClr val="FFFFFF"/>
                </a:solidFill>
                <a:latin typeface="Trebuchet MS"/>
                <a:cs typeface="Trebuchet MS"/>
              </a:rPr>
              <a:t>Reports</a:t>
            </a:r>
            <a:r>
              <a:rPr dirty="0" sz="800" spc="1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i="1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(1),</a:t>
            </a:r>
            <a:r>
              <a:rPr dirty="0" sz="80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p.11504.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5170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105"/>
              </a:spcBef>
            </a:pPr>
            <a:r>
              <a:rPr dirty="0" sz="3600" spc="530"/>
              <a:t>A</a:t>
            </a:r>
            <a:r>
              <a:rPr dirty="0" sz="3600" spc="-85"/>
              <a:t> </a:t>
            </a:r>
            <a:r>
              <a:rPr dirty="0" sz="3600" spc="-254"/>
              <a:t>BIT</a:t>
            </a:r>
            <a:r>
              <a:rPr dirty="0" sz="3600" spc="-105"/>
              <a:t> </a:t>
            </a:r>
            <a:r>
              <a:rPr dirty="0" sz="3600" spc="380"/>
              <a:t>MORE</a:t>
            </a:r>
            <a:r>
              <a:rPr dirty="0" sz="3600" spc="-140"/>
              <a:t> </a:t>
            </a:r>
            <a:r>
              <a:rPr dirty="0" sz="3600" spc="535"/>
              <a:t>ON</a:t>
            </a:r>
            <a:r>
              <a:rPr dirty="0" sz="3600" spc="-80"/>
              <a:t> </a:t>
            </a:r>
            <a:r>
              <a:rPr dirty="0" sz="3600" spc="385"/>
              <a:t>HOW</a:t>
            </a:r>
            <a:r>
              <a:rPr dirty="0" sz="3600" spc="-80"/>
              <a:t> </a:t>
            </a:r>
            <a:r>
              <a:rPr dirty="0" sz="3600" spc="-385"/>
              <a:t>IT</a:t>
            </a:r>
            <a:r>
              <a:rPr dirty="0" sz="3600" spc="-40"/>
              <a:t> </a:t>
            </a:r>
            <a:r>
              <a:rPr dirty="0" sz="3600" spc="160"/>
              <a:t>HAPPENS</a:t>
            </a:r>
            <a:r>
              <a:rPr dirty="0" sz="3600" spc="-80"/>
              <a:t> </a:t>
            </a:r>
            <a:r>
              <a:rPr dirty="0" sz="3600" spc="-25"/>
              <a:t>(3)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6663055" y="1990153"/>
            <a:ext cx="5073015" cy="4100829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2878455">
              <a:lnSpc>
                <a:spcPts val="2600"/>
              </a:lnSpc>
              <a:spcBef>
                <a:spcPts val="395"/>
              </a:spcBef>
            </a:pPr>
            <a:r>
              <a:rPr dirty="0" sz="2350" spc="-10" b="1">
                <a:solidFill>
                  <a:srgbClr val="FFFFFF"/>
                </a:solidFill>
                <a:latin typeface="Tahoma"/>
                <a:cs typeface="Tahoma"/>
              </a:rPr>
              <a:t>Functional Compensation</a:t>
            </a:r>
            <a:endParaRPr sz="2350">
              <a:latin typeface="Tahoma"/>
              <a:cs typeface="Tahoma"/>
            </a:endParaRPr>
          </a:p>
          <a:p>
            <a:pPr marL="12700" marR="152400">
              <a:lnSpc>
                <a:spcPct val="80200"/>
              </a:lnSpc>
              <a:spcBef>
                <a:spcPts val="2070"/>
              </a:spcBef>
            </a:pPr>
            <a:r>
              <a:rPr dirty="0" sz="1800" spc="-9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less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4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fixing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"broken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road"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95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more</a:t>
            </a:r>
            <a:r>
              <a:rPr dirty="0" sz="18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4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finding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27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8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different</a:t>
            </a: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route</a:t>
            </a:r>
            <a:r>
              <a:rPr dirty="0" sz="18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800" spc="140">
                <a:solidFill>
                  <a:srgbClr val="FFFFFF"/>
                </a:solidFill>
                <a:latin typeface="Trebuchet MS"/>
                <a:cs typeface="Trebuchet MS"/>
              </a:rPr>
              <a:t>same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destination.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slides,</a:t>
            </a:r>
            <a:r>
              <a:rPr dirty="0" sz="18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18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aligns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perfectly</a:t>
            </a:r>
            <a:r>
              <a:rPr dirty="0" sz="18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8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30">
                <a:solidFill>
                  <a:srgbClr val="FFFFFF"/>
                </a:solidFill>
                <a:latin typeface="Trebuchet MS"/>
                <a:cs typeface="Trebuchet MS"/>
              </a:rPr>
              <a:t>concepts</a:t>
            </a: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80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ahoma"/>
                <a:cs typeface="Tahoma"/>
              </a:rPr>
              <a:t>Equivalence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80200"/>
              </a:lnSpc>
              <a:spcBef>
                <a:spcPts val="1005"/>
              </a:spcBef>
            </a:pPr>
            <a:r>
              <a:rPr dirty="0" sz="1800" spc="-20" b="1">
                <a:solidFill>
                  <a:srgbClr val="FFFFFF"/>
                </a:solidFill>
                <a:latin typeface="Tahoma"/>
                <a:cs typeface="Tahoma"/>
              </a:rPr>
              <a:t>Movement</a:t>
            </a:r>
            <a:r>
              <a:rPr dirty="0" sz="180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Tahoma"/>
                <a:cs typeface="Tahoma"/>
              </a:rPr>
              <a:t>Equivalence:</a:t>
            </a:r>
            <a:r>
              <a:rPr dirty="0" sz="1800" spc="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patient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60">
                <a:solidFill>
                  <a:srgbClr val="FFFFFF"/>
                </a:solidFill>
                <a:latin typeface="Trebuchet MS"/>
                <a:cs typeface="Trebuchet MS"/>
              </a:rPr>
              <a:t>changes 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70">
                <a:solidFill>
                  <a:srgbClr val="FFFFFF"/>
                </a:solidFill>
                <a:latin typeface="Trebuchet MS"/>
                <a:cs typeface="Trebuchet MS"/>
              </a:rPr>
              <a:t>way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they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50">
                <a:solidFill>
                  <a:srgbClr val="FFFFFF"/>
                </a:solidFill>
                <a:latin typeface="Trebuchet MS"/>
                <a:cs typeface="Trebuchet MS"/>
              </a:rPr>
              <a:t>move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(biomechanical 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strategies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patterns)</a:t>
            </a: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14">
                <a:solidFill>
                  <a:srgbClr val="FFFFFF"/>
                </a:solidFill>
                <a:latin typeface="Trebuchet MS"/>
                <a:cs typeface="Trebuchet MS"/>
              </a:rPr>
              <a:t>accomplish</a:t>
            </a: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800" spc="140">
                <a:solidFill>
                  <a:srgbClr val="FFFFFF"/>
                </a:solidFill>
                <a:latin typeface="Trebuchet MS"/>
                <a:cs typeface="Trebuchet MS"/>
              </a:rPr>
              <a:t>same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task.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132080">
              <a:lnSpc>
                <a:spcPct val="80100"/>
              </a:lnSpc>
            </a:pPr>
            <a:r>
              <a:rPr dirty="0" sz="1800" spc="-70" b="1">
                <a:solidFill>
                  <a:srgbClr val="FFFFFF"/>
                </a:solidFill>
                <a:latin typeface="Tahoma"/>
                <a:cs typeface="Tahoma"/>
              </a:rPr>
              <a:t>Motor</a:t>
            </a:r>
            <a:r>
              <a:rPr dirty="0" sz="18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Tahoma"/>
                <a:cs typeface="Tahoma"/>
              </a:rPr>
              <a:t>Equivalence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patient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60">
                <a:solidFill>
                  <a:srgbClr val="FFFFFF"/>
                </a:solidFill>
                <a:latin typeface="Trebuchet MS"/>
                <a:cs typeface="Trebuchet MS"/>
              </a:rPr>
              <a:t>changes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neuromotor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processes</a:t>
            </a:r>
            <a:r>
              <a:rPr dirty="0" sz="1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(the</a:t>
            </a:r>
            <a:r>
              <a:rPr dirty="0" sz="180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brain</a:t>
            </a:r>
            <a:r>
              <a:rPr dirty="0" sz="18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05">
                <a:solidFill>
                  <a:srgbClr val="FFFFFF"/>
                </a:solidFill>
                <a:latin typeface="Trebuchet MS"/>
                <a:cs typeface="Trebuchet MS"/>
              </a:rPr>
              <a:t>areas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or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nerves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utilized)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40">
                <a:solidFill>
                  <a:srgbClr val="FFFFFF"/>
                </a:solidFill>
                <a:latin typeface="Trebuchet MS"/>
                <a:cs typeface="Trebuchet MS"/>
              </a:rPr>
              <a:t>produce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40">
                <a:solidFill>
                  <a:srgbClr val="FFFFFF"/>
                </a:solidFill>
                <a:latin typeface="Trebuchet MS"/>
                <a:cs typeface="Trebuchet MS"/>
              </a:rPr>
              <a:t>same </a:t>
            </a: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outcome.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5" y="2414676"/>
            <a:ext cx="5806440" cy="32651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algn="r" marR="11430">
              <a:lnSpc>
                <a:spcPts val="4565"/>
              </a:lnSpc>
              <a:spcBef>
                <a:spcPts val="140"/>
              </a:spcBef>
            </a:pPr>
            <a:r>
              <a:rPr dirty="0" spc="335"/>
              <a:t>WINDOWS</a:t>
            </a:r>
            <a:r>
              <a:rPr dirty="0" spc="-110"/>
              <a:t> </a:t>
            </a:r>
            <a:r>
              <a:rPr dirty="0" spc="300"/>
              <a:t>OF</a:t>
            </a:r>
            <a:r>
              <a:rPr dirty="0" spc="-125"/>
              <a:t> </a:t>
            </a:r>
            <a:r>
              <a:rPr dirty="0" spc="75"/>
              <a:t>OPPORTUNITY</a:t>
            </a:r>
            <a:r>
              <a:rPr dirty="0" spc="-50"/>
              <a:t> </a:t>
            </a:r>
            <a:r>
              <a:rPr dirty="0" spc="204"/>
              <a:t>FOR</a:t>
            </a:r>
          </a:p>
          <a:p>
            <a:pPr algn="r" marR="5080">
              <a:lnSpc>
                <a:spcPts val="4565"/>
              </a:lnSpc>
            </a:pPr>
            <a:r>
              <a:rPr dirty="0" spc="140"/>
              <a:t>PHYSIOS</a:t>
            </a:r>
            <a:r>
              <a:rPr dirty="0" spc="-114"/>
              <a:t> </a:t>
            </a:r>
            <a:r>
              <a:rPr dirty="0" spc="140"/>
              <a:t>(WHEN)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857" y="2545714"/>
            <a:ext cx="10979785" cy="30187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70" b="1">
                <a:solidFill>
                  <a:srgbClr val="FFFFFF"/>
                </a:solidFill>
                <a:latin typeface="Tahoma"/>
                <a:cs typeface="Tahoma"/>
              </a:rPr>
              <a:t>Maximizing</a:t>
            </a:r>
            <a:r>
              <a:rPr dirty="0" sz="28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800" spc="-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175" b="1">
                <a:solidFill>
                  <a:srgbClr val="FFFFFF"/>
                </a:solidFill>
                <a:latin typeface="Tahoma"/>
                <a:cs typeface="Tahoma"/>
              </a:rPr>
              <a:t>"Plastic"</a:t>
            </a:r>
            <a:r>
              <a:rPr dirty="0" sz="28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ahoma"/>
                <a:cs typeface="Tahoma"/>
              </a:rPr>
              <a:t>Brain</a:t>
            </a:r>
            <a:endParaRPr sz="2800">
              <a:latin typeface="Tahoma"/>
              <a:cs typeface="Tahoma"/>
            </a:endParaRPr>
          </a:p>
          <a:p>
            <a:pPr marL="239395" marR="589915" indent="-227329">
              <a:lnSpc>
                <a:spcPct val="99800"/>
              </a:lnSpc>
              <a:spcBef>
                <a:spcPts val="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40" b="1">
                <a:solidFill>
                  <a:srgbClr val="FFFFFF"/>
                </a:solidFill>
                <a:latin typeface="Tahoma"/>
                <a:cs typeface="Tahoma"/>
              </a:rPr>
              <a:t>Critical</a:t>
            </a:r>
            <a:r>
              <a:rPr dirty="0" sz="280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285" b="1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280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130" b="1">
                <a:solidFill>
                  <a:srgbClr val="FFFFFF"/>
                </a:solidFill>
                <a:latin typeface="Tahoma"/>
                <a:cs typeface="Tahoma"/>
              </a:rPr>
              <a:t>Sensitive</a:t>
            </a:r>
            <a:r>
              <a:rPr dirty="0" sz="2800" spc="-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125" b="1">
                <a:solidFill>
                  <a:srgbClr val="FFFFFF"/>
                </a:solidFill>
                <a:latin typeface="Tahoma"/>
                <a:cs typeface="Tahoma"/>
              </a:rPr>
              <a:t>Periods:</a:t>
            </a:r>
            <a:r>
              <a:rPr dirty="0" sz="280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FFFF"/>
                </a:solidFill>
                <a:latin typeface="Trebuchet MS"/>
                <a:cs typeface="Trebuchet MS"/>
              </a:rPr>
              <a:t>Early</a:t>
            </a:r>
            <a:r>
              <a:rPr dirty="0" sz="2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185">
                <a:solidFill>
                  <a:srgbClr val="FFFFFF"/>
                </a:solidFill>
                <a:latin typeface="Trebuchet MS"/>
                <a:cs typeface="Trebuchet MS"/>
              </a:rPr>
              <a:t>development</a:t>
            </a:r>
            <a:r>
              <a:rPr dirty="0" sz="2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45">
                <a:solidFill>
                  <a:srgbClr val="FFFFFF"/>
                </a:solidFill>
                <a:latin typeface="Trebuchet MS"/>
                <a:cs typeface="Trebuchet MS"/>
              </a:rPr>
              <a:t>represents</a:t>
            </a:r>
            <a:r>
              <a:rPr dirty="0" sz="2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39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dirty="0" sz="2800" spc="39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800" spc="245">
                <a:solidFill>
                  <a:srgbClr val="FFFFFF"/>
                </a:solidFill>
                <a:latin typeface="Trebuchet MS"/>
                <a:cs typeface="Trebuchet MS"/>
              </a:rPr>
              <a:t>peak</a:t>
            </a:r>
            <a:r>
              <a:rPr dirty="0" sz="28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110">
                <a:solidFill>
                  <a:srgbClr val="FFFFFF"/>
                </a:solidFill>
                <a:latin typeface="Trebuchet MS"/>
                <a:cs typeface="Trebuchet MS"/>
              </a:rPr>
              <a:t>"window"</a:t>
            </a:r>
            <a:r>
              <a:rPr dirty="0" sz="28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135">
                <a:solidFill>
                  <a:srgbClr val="FFFFFF"/>
                </a:solidFill>
                <a:latin typeface="Trebuchet MS"/>
                <a:cs typeface="Trebuchet MS"/>
              </a:rPr>
              <a:t>where</a:t>
            </a:r>
            <a:r>
              <a:rPr dirty="0" sz="2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9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280">
                <a:solidFill>
                  <a:srgbClr val="FFFFFF"/>
                </a:solidFill>
                <a:latin typeface="Trebuchet MS"/>
                <a:cs typeface="Trebuchet MS"/>
              </a:rPr>
              <a:t>CNS</a:t>
            </a:r>
            <a:r>
              <a:rPr dirty="0" sz="2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5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8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65">
                <a:solidFill>
                  <a:srgbClr val="FFFFFF"/>
                </a:solidFill>
                <a:latin typeface="Trebuchet MS"/>
                <a:cs typeface="Trebuchet MS"/>
              </a:rPr>
              <a:t>highly</a:t>
            </a:r>
            <a:r>
              <a:rPr dirty="0" sz="2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229">
                <a:solidFill>
                  <a:srgbClr val="FFFFFF"/>
                </a:solidFill>
                <a:latin typeface="Trebuchet MS"/>
                <a:cs typeface="Trebuchet MS"/>
              </a:rPr>
              <a:t>adaptable</a:t>
            </a:r>
            <a:r>
              <a:rPr dirty="0" sz="2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8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dirty="0" sz="2800" spc="8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800" spc="105">
                <a:solidFill>
                  <a:srgbClr val="FFFFFF"/>
                </a:solidFill>
                <a:latin typeface="Trebuchet MS"/>
                <a:cs typeface="Trebuchet MS"/>
              </a:rPr>
              <a:t>environmental</a:t>
            </a:r>
            <a:r>
              <a:rPr dirty="0" sz="28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33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FFFFFF"/>
                </a:solidFill>
                <a:latin typeface="Trebuchet MS"/>
                <a:cs typeface="Trebuchet MS"/>
              </a:rPr>
              <a:t>task</a:t>
            </a:r>
            <a:r>
              <a:rPr dirty="0" sz="28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180">
                <a:solidFill>
                  <a:srgbClr val="FFFFFF"/>
                </a:solidFill>
                <a:latin typeface="Trebuchet MS"/>
                <a:cs typeface="Trebuchet MS"/>
              </a:rPr>
              <a:t>demands.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>
              <a:lnSpc>
                <a:spcPct val="99800"/>
              </a:lnSpc>
              <a:spcBef>
                <a:spcPts val="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75" b="1">
                <a:solidFill>
                  <a:srgbClr val="FFFFFF"/>
                </a:solidFill>
                <a:latin typeface="Tahoma"/>
                <a:cs typeface="Tahoma"/>
              </a:rPr>
              <a:t>Post-</a:t>
            </a:r>
            <a:r>
              <a:rPr dirty="0" sz="2800" spc="-245" b="1">
                <a:solidFill>
                  <a:srgbClr val="FFFFFF"/>
                </a:solidFill>
                <a:latin typeface="Tahoma"/>
                <a:cs typeface="Tahoma"/>
              </a:rPr>
              <a:t>Injury</a:t>
            </a:r>
            <a:r>
              <a:rPr dirty="0" sz="2800" spc="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FFFFFF"/>
                </a:solidFill>
                <a:latin typeface="Tahoma"/>
                <a:cs typeface="Tahoma"/>
              </a:rPr>
              <a:t>"Spontaneous"</a:t>
            </a:r>
            <a:r>
              <a:rPr dirty="0" sz="280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 spc="-40" b="1">
                <a:solidFill>
                  <a:srgbClr val="FFFFFF"/>
                </a:solidFill>
                <a:latin typeface="Tahoma"/>
                <a:cs typeface="Tahoma"/>
              </a:rPr>
              <a:t>Recovery:</a:t>
            </a:r>
            <a:r>
              <a:rPr dirty="0" sz="28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8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9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70">
                <a:solidFill>
                  <a:srgbClr val="FFFFFF"/>
                </a:solidFill>
                <a:latin typeface="Trebuchet MS"/>
                <a:cs typeface="Trebuchet MS"/>
              </a:rPr>
              <a:t>early</a:t>
            </a:r>
            <a:r>
              <a:rPr dirty="0" sz="2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155">
                <a:solidFill>
                  <a:srgbClr val="FFFFFF"/>
                </a:solidFill>
                <a:latin typeface="Trebuchet MS"/>
                <a:cs typeface="Trebuchet MS"/>
              </a:rPr>
              <a:t>stages</a:t>
            </a:r>
            <a:r>
              <a:rPr dirty="0" sz="28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Trebuchet MS"/>
                <a:cs typeface="Trebuchet MS"/>
              </a:rPr>
              <a:t>after </a:t>
            </a:r>
            <a:r>
              <a:rPr dirty="0" sz="2800" spc="-1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800" spc="130">
                <a:solidFill>
                  <a:srgbClr val="FFFFFF"/>
                </a:solidFill>
                <a:latin typeface="Trebuchet MS"/>
                <a:cs typeface="Trebuchet MS"/>
              </a:rPr>
              <a:t>neurological</a:t>
            </a:r>
            <a:r>
              <a:rPr dirty="0" sz="28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55">
                <a:solidFill>
                  <a:srgbClr val="FFFFFF"/>
                </a:solidFill>
                <a:latin typeface="Trebuchet MS"/>
                <a:cs typeface="Trebuchet MS"/>
              </a:rPr>
              <a:t>insult</a:t>
            </a:r>
            <a:r>
              <a:rPr dirty="0" sz="2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40">
                <a:solidFill>
                  <a:srgbClr val="FFFFFF"/>
                </a:solidFill>
                <a:latin typeface="Trebuchet MS"/>
                <a:cs typeface="Trebuchet MS"/>
              </a:rPr>
              <a:t>(like</a:t>
            </a:r>
            <a:r>
              <a:rPr dirty="0" sz="2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FFFFFF"/>
                </a:solidFill>
                <a:latin typeface="Trebuchet MS"/>
                <a:cs typeface="Trebuchet MS"/>
              </a:rPr>
              <a:t>stroke</a:t>
            </a:r>
            <a:r>
              <a:rPr dirty="0" sz="2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5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2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80">
                <a:solidFill>
                  <a:srgbClr val="FFFFFF"/>
                </a:solidFill>
                <a:latin typeface="Trebuchet MS"/>
                <a:cs typeface="Trebuchet MS"/>
              </a:rPr>
              <a:t>TBI),</a:t>
            </a:r>
            <a:r>
              <a:rPr dirty="0" sz="2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60">
                <a:solidFill>
                  <a:srgbClr val="FFFFFF"/>
                </a:solidFill>
                <a:latin typeface="Trebuchet MS"/>
                <a:cs typeface="Trebuchet MS"/>
              </a:rPr>
              <a:t>there</a:t>
            </a:r>
            <a:r>
              <a:rPr dirty="0" sz="2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5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8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44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8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125">
                <a:solidFill>
                  <a:srgbClr val="FFFFFF"/>
                </a:solidFill>
                <a:latin typeface="Trebuchet MS"/>
                <a:cs typeface="Trebuchet MS"/>
              </a:rPr>
              <a:t>biological</a:t>
            </a:r>
            <a:r>
              <a:rPr dirty="0" sz="28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75">
                <a:solidFill>
                  <a:srgbClr val="FFFFFF"/>
                </a:solidFill>
                <a:latin typeface="Trebuchet MS"/>
                <a:cs typeface="Trebuchet MS"/>
              </a:rPr>
              <a:t>prime </a:t>
            </a:r>
            <a:r>
              <a:rPr dirty="0" sz="2800" spc="75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800">
                <a:solidFill>
                  <a:srgbClr val="FFFFFF"/>
                </a:solidFill>
                <a:latin typeface="Trebuchet MS"/>
                <a:cs typeface="Trebuchet MS"/>
              </a:rPr>
              <a:t>time</a:t>
            </a:r>
            <a:r>
              <a:rPr dirty="0" sz="2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130">
                <a:solidFill>
                  <a:srgbClr val="FFFFFF"/>
                </a:solidFill>
                <a:latin typeface="Trebuchet MS"/>
                <a:cs typeface="Trebuchet MS"/>
              </a:rPr>
              <a:t>recovery</a:t>
            </a:r>
            <a:r>
              <a:rPr dirty="0" sz="28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95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35">
                <a:solidFill>
                  <a:srgbClr val="FFFFFF"/>
                </a:solidFill>
                <a:latin typeface="Trebuchet MS"/>
                <a:cs typeface="Trebuchet MS"/>
              </a:rPr>
              <a:t>function.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algn="r" marR="11430">
              <a:lnSpc>
                <a:spcPts val="4565"/>
              </a:lnSpc>
              <a:spcBef>
                <a:spcPts val="140"/>
              </a:spcBef>
            </a:pPr>
            <a:r>
              <a:rPr dirty="0" spc="335"/>
              <a:t>WINDOWS</a:t>
            </a:r>
            <a:r>
              <a:rPr dirty="0" spc="-110"/>
              <a:t> </a:t>
            </a:r>
            <a:r>
              <a:rPr dirty="0" spc="300"/>
              <a:t>OF</a:t>
            </a:r>
            <a:r>
              <a:rPr dirty="0" spc="-125"/>
              <a:t> </a:t>
            </a:r>
            <a:r>
              <a:rPr dirty="0" spc="75"/>
              <a:t>OPPORTUNITY</a:t>
            </a:r>
            <a:r>
              <a:rPr dirty="0" spc="-50"/>
              <a:t> </a:t>
            </a:r>
            <a:r>
              <a:rPr dirty="0" spc="204"/>
              <a:t>FOR</a:t>
            </a:r>
          </a:p>
          <a:p>
            <a:pPr algn="r" marR="5080">
              <a:lnSpc>
                <a:spcPts val="4565"/>
              </a:lnSpc>
            </a:pPr>
            <a:r>
              <a:rPr dirty="0" spc="140"/>
              <a:t>PHYSIOS</a:t>
            </a:r>
            <a:r>
              <a:rPr dirty="0" spc="-114"/>
              <a:t> </a:t>
            </a:r>
            <a:r>
              <a:rPr dirty="0" spc="140"/>
              <a:t>(WHEN)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857" y="2590147"/>
            <a:ext cx="10984865" cy="286194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55">
                <a:solidFill>
                  <a:srgbClr val="FFFFFF"/>
                </a:solidFill>
                <a:latin typeface="Trebuchet MS"/>
                <a:cs typeface="Trebuchet MS"/>
              </a:rPr>
              <a:t>Pediatric</a:t>
            </a:r>
            <a:r>
              <a:rPr dirty="0" sz="2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50">
                <a:solidFill>
                  <a:srgbClr val="FFFFFF"/>
                </a:solidFill>
                <a:latin typeface="Trebuchet MS"/>
                <a:cs typeface="Trebuchet MS"/>
              </a:rPr>
              <a:t>Focus:</a:t>
            </a:r>
            <a:endParaRPr sz="2200">
              <a:latin typeface="Trebuchet MS"/>
              <a:cs typeface="Trebuchet MS"/>
            </a:endParaRPr>
          </a:p>
          <a:p>
            <a:pPr lvl="1" marL="698500" indent="-22860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35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years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0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life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represent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85">
                <a:solidFill>
                  <a:srgbClr val="FFFFFF"/>
                </a:solidFill>
                <a:latin typeface="Trebuchet MS"/>
                <a:cs typeface="Trebuchet MS"/>
              </a:rPr>
              <a:t>peak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neuroplasticity</a:t>
            </a:r>
            <a:r>
              <a:rPr dirty="0" sz="20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3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Trebuchet MS"/>
                <a:cs typeface="Trebuchet MS"/>
              </a:rPr>
              <a:t>motor</a:t>
            </a:r>
            <a:r>
              <a:rPr dirty="0" sz="20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foundation.</a:t>
            </a:r>
            <a:endParaRPr sz="2000">
              <a:latin typeface="Trebuchet MS"/>
              <a:cs typeface="Trebuchet MS"/>
            </a:endParaRPr>
          </a:p>
          <a:p>
            <a:pPr lvl="1" marL="698500" indent="-228600">
              <a:lnSpc>
                <a:spcPts val="2280"/>
              </a:lnSpc>
              <a:spcBef>
                <a:spcPts val="2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Significant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improvements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0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gross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motor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function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3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20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typically</a:t>
            </a:r>
            <a:r>
              <a:rPr dirty="0" sz="20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observed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95">
                <a:solidFill>
                  <a:srgbClr val="FFFFFF"/>
                </a:solidFill>
                <a:latin typeface="Trebuchet MS"/>
                <a:cs typeface="Trebuchet MS"/>
              </a:rPr>
              <a:t>up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45">
                <a:solidFill>
                  <a:srgbClr val="FFFFFF"/>
                </a:solidFill>
                <a:latin typeface="Trebuchet MS"/>
                <a:cs typeface="Trebuchet MS"/>
              </a:rPr>
              <a:t>age</a:t>
            </a:r>
            <a:endParaRPr sz="2000">
              <a:latin typeface="Trebuchet MS"/>
              <a:cs typeface="Trebuchet MS"/>
            </a:endParaRPr>
          </a:p>
          <a:p>
            <a:pPr marL="698500">
              <a:lnSpc>
                <a:spcPts val="2280"/>
              </a:lnSpc>
            </a:pP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6–7.</a:t>
            </a:r>
            <a:endParaRPr sz="2000">
              <a:latin typeface="Trebuchet MS"/>
              <a:cs typeface="Trebuchet MS"/>
            </a:endParaRPr>
          </a:p>
          <a:p>
            <a:pPr lvl="1" marL="698500" indent="-228600">
              <a:lnSpc>
                <a:spcPts val="228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dirty="0" sz="20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10">
                <a:solidFill>
                  <a:srgbClr val="FFFFFF"/>
                </a:solidFill>
                <a:latin typeface="Trebuchet MS"/>
                <a:cs typeface="Trebuchet MS"/>
              </a:rPr>
              <a:t>ages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r>
              <a:rPr dirty="0" sz="20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3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12,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25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0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prime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time</a:t>
            </a:r>
            <a:r>
              <a:rPr dirty="0" sz="20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children</a:t>
            </a:r>
            <a:r>
              <a:rPr dirty="0" sz="20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10">
                <a:solidFill>
                  <a:srgbClr val="FFFFFF"/>
                </a:solidFill>
                <a:latin typeface="Trebuchet MS"/>
                <a:cs typeface="Trebuchet MS"/>
              </a:rPr>
              <a:t>acquire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35">
                <a:solidFill>
                  <a:srgbClr val="FFFFFF"/>
                </a:solidFill>
                <a:latin typeface="Trebuchet MS"/>
                <a:cs typeface="Trebuchet MS"/>
              </a:rPr>
              <a:t>complex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14">
                <a:solidFill>
                  <a:srgbClr val="FFFFFF"/>
                </a:solidFill>
                <a:latin typeface="Trebuchet MS"/>
                <a:cs typeface="Trebuchet MS"/>
              </a:rPr>
              <a:t>skills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like</a:t>
            </a:r>
            <a:endParaRPr sz="2000">
              <a:latin typeface="Trebuchet MS"/>
              <a:cs typeface="Trebuchet MS"/>
            </a:endParaRPr>
          </a:p>
          <a:p>
            <a:pPr marL="698500">
              <a:lnSpc>
                <a:spcPts val="2280"/>
              </a:lnSpc>
            </a:pP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swimming,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cycling,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gymnastics</a:t>
            </a:r>
            <a:endParaRPr sz="2000">
              <a:latin typeface="Trebuchet MS"/>
              <a:cs typeface="Trebuchet MS"/>
            </a:endParaRPr>
          </a:p>
          <a:p>
            <a:pPr algn="just" lvl="1" marL="696595" marR="41275" indent="-226695">
              <a:lnSpc>
                <a:spcPct val="9010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 spc="145">
                <a:solidFill>
                  <a:srgbClr val="FFFFFF"/>
                </a:solidFill>
                <a:latin typeface="Trebuchet MS"/>
                <a:cs typeface="Trebuchet MS"/>
              </a:rPr>
              <a:t>Bone</a:t>
            </a:r>
            <a:r>
              <a:rPr dirty="0" sz="20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Density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Loading: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Puberty</a:t>
            </a:r>
            <a:r>
              <a:rPr dirty="0" sz="20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(approx.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10">
                <a:solidFill>
                  <a:srgbClr val="FFFFFF"/>
                </a:solidFill>
                <a:latin typeface="Trebuchet MS"/>
                <a:cs typeface="Trebuchet MS"/>
              </a:rPr>
              <a:t>ages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10–14).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5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25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sensitive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period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skeletal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10">
                <a:solidFill>
                  <a:srgbClr val="FFFFFF"/>
                </a:solidFill>
                <a:latin typeface="Trebuchet MS"/>
                <a:cs typeface="Trebuchet MS"/>
              </a:rPr>
              <a:t>where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impact-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loading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exercises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04">
                <a:solidFill>
                  <a:srgbClr val="FFFFFF"/>
                </a:solidFill>
                <a:latin typeface="Trebuchet MS"/>
                <a:cs typeface="Trebuchet MS"/>
              </a:rPr>
              <a:t>have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greatest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lifelong</a:t>
            </a:r>
            <a:r>
              <a:rPr dirty="0" sz="20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effect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50">
                <a:solidFill>
                  <a:srgbClr val="FFFFFF"/>
                </a:solidFill>
                <a:latin typeface="Trebuchet MS"/>
                <a:cs typeface="Trebuchet MS"/>
              </a:rPr>
              <a:t>on </a:t>
            </a:r>
            <a:r>
              <a:rPr dirty="0" sz="2000" spc="15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000" spc="200">
                <a:solidFill>
                  <a:srgbClr val="FFFFFF"/>
                </a:solidFill>
                <a:latin typeface="Trebuchet MS"/>
                <a:cs typeface="Trebuchet MS"/>
              </a:rPr>
              <a:t>bone</a:t>
            </a:r>
            <a:r>
              <a:rPr dirty="0" sz="200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mineral</a:t>
            </a:r>
            <a:r>
              <a:rPr dirty="0" sz="200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density.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2871" y="776173"/>
            <a:ext cx="8024495" cy="119126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algn="r" marR="11430">
              <a:lnSpc>
                <a:spcPts val="4565"/>
              </a:lnSpc>
              <a:spcBef>
                <a:spcPts val="140"/>
              </a:spcBef>
            </a:pPr>
            <a:r>
              <a:rPr dirty="0" spc="335"/>
              <a:t>WINDOWS</a:t>
            </a:r>
            <a:r>
              <a:rPr dirty="0" spc="-110"/>
              <a:t> </a:t>
            </a:r>
            <a:r>
              <a:rPr dirty="0" spc="300"/>
              <a:t>OF</a:t>
            </a:r>
            <a:r>
              <a:rPr dirty="0" spc="-125"/>
              <a:t> </a:t>
            </a:r>
            <a:r>
              <a:rPr dirty="0" spc="75"/>
              <a:t>OPPORTUNITY</a:t>
            </a:r>
            <a:r>
              <a:rPr dirty="0" spc="-50"/>
              <a:t> </a:t>
            </a:r>
            <a:r>
              <a:rPr dirty="0" spc="204"/>
              <a:t>FOR</a:t>
            </a:r>
          </a:p>
          <a:p>
            <a:pPr algn="r" marR="5080">
              <a:lnSpc>
                <a:spcPts val="4565"/>
              </a:lnSpc>
            </a:pPr>
            <a:r>
              <a:rPr dirty="0" spc="140"/>
              <a:t>PHYSIOS</a:t>
            </a:r>
            <a:r>
              <a:rPr dirty="0" spc="-114"/>
              <a:t> </a:t>
            </a:r>
            <a:r>
              <a:rPr dirty="0" spc="140"/>
              <a:t>(WHEN)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5223" y="1862216"/>
            <a:ext cx="10922635" cy="472249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 spc="70">
                <a:solidFill>
                  <a:srgbClr val="FFFFFF"/>
                </a:solidFill>
                <a:latin typeface="Trebuchet MS"/>
                <a:cs typeface="Trebuchet MS"/>
              </a:rPr>
              <a:t>Adult</a:t>
            </a:r>
            <a:r>
              <a:rPr dirty="0" sz="22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105">
                <a:solidFill>
                  <a:srgbClr val="FFFFFF"/>
                </a:solidFill>
                <a:latin typeface="Trebuchet MS"/>
                <a:cs typeface="Trebuchet MS"/>
              </a:rPr>
              <a:t>Focus</a:t>
            </a:r>
            <a:endParaRPr sz="2200">
              <a:latin typeface="Trebuchet MS"/>
              <a:cs typeface="Trebuchet MS"/>
            </a:endParaRPr>
          </a:p>
          <a:p>
            <a:pPr lvl="1" marL="698500" indent="-22923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brain's</a:t>
            </a:r>
            <a:r>
              <a:rPr dirty="0" sz="20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55">
                <a:solidFill>
                  <a:srgbClr val="FFFFFF"/>
                </a:solidFill>
                <a:latin typeface="Trebuchet MS"/>
                <a:cs typeface="Trebuchet MS"/>
              </a:rPr>
              <a:t>capacity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rewire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itself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40">
                <a:solidFill>
                  <a:srgbClr val="FFFFFF"/>
                </a:solidFill>
                <a:latin typeface="Trebuchet MS"/>
                <a:cs typeface="Trebuchet MS"/>
              </a:rPr>
              <a:t>peaks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Trebuchet MS"/>
                <a:cs typeface="Trebuchet MS"/>
              </a:rPr>
              <a:t>approximately</a:t>
            </a:r>
            <a:r>
              <a:rPr dirty="0" sz="20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weeks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after</a:t>
            </a:r>
            <a:r>
              <a:rPr dirty="0" sz="20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stroke.</a:t>
            </a:r>
            <a:endParaRPr sz="2000">
              <a:latin typeface="Trebuchet MS"/>
              <a:cs typeface="Trebuchet MS"/>
            </a:endParaRPr>
          </a:p>
          <a:p>
            <a:pPr lvl="1" marL="698500" indent="-229235">
              <a:lnSpc>
                <a:spcPts val="228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"spontaneous"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recovery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occurs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within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25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months,</a:t>
            </a:r>
            <a:r>
              <a:rPr dirty="0" sz="20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making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early,</a:t>
            </a:r>
            <a:endParaRPr sz="2000">
              <a:latin typeface="Trebuchet MS"/>
              <a:cs typeface="Trebuchet MS"/>
            </a:endParaRPr>
          </a:p>
          <a:p>
            <a:pPr marL="698500">
              <a:lnSpc>
                <a:spcPts val="2280"/>
              </a:lnSpc>
            </a:pP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intensive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Trebuchet MS"/>
                <a:cs typeface="Trebuchet MS"/>
              </a:rPr>
              <a:t>physiotherapy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effective.</a:t>
            </a:r>
            <a:endParaRPr sz="20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 spc="-10">
                <a:solidFill>
                  <a:srgbClr val="FFFFFF"/>
                </a:solidFill>
                <a:latin typeface="Trebuchet MS"/>
                <a:cs typeface="Trebuchet MS"/>
              </a:rPr>
              <a:t>Stroke</a:t>
            </a:r>
            <a:endParaRPr sz="2200">
              <a:latin typeface="Trebuchet MS"/>
              <a:cs typeface="Trebuchet MS"/>
            </a:endParaRPr>
          </a:p>
          <a:p>
            <a:pPr lvl="1" marL="698500" marR="742315" indent="-229235">
              <a:lnSpc>
                <a:spcPts val="2160"/>
              </a:lnSpc>
              <a:spcBef>
                <a:spcPts val="5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Hyper-</a:t>
            </a:r>
            <a:r>
              <a:rPr dirty="0" sz="2000" spc="165">
                <a:solidFill>
                  <a:srgbClr val="FFFFFF"/>
                </a:solidFill>
                <a:latin typeface="Trebuchet MS"/>
                <a:cs typeface="Trebuchet MS"/>
              </a:rPr>
              <a:t>Acute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40">
                <a:solidFill>
                  <a:srgbClr val="FFFFFF"/>
                </a:solidFill>
                <a:latin typeface="Trebuchet MS"/>
                <a:cs typeface="Trebuchet MS"/>
              </a:rPr>
              <a:t>Window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Trebuchet MS"/>
                <a:cs typeface="Trebuchet MS"/>
              </a:rPr>
              <a:t>(0–48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hours):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brain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0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"survival</a:t>
            </a:r>
            <a:r>
              <a:rPr dirty="0" sz="20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FFFFFF"/>
                </a:solidFill>
                <a:latin typeface="Trebuchet MS"/>
                <a:cs typeface="Trebuchet MS"/>
              </a:rPr>
              <a:t>mode."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Therapy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focuses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7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preventing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further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70">
                <a:solidFill>
                  <a:srgbClr val="FFFFFF"/>
                </a:solidFill>
                <a:latin typeface="Trebuchet MS"/>
                <a:cs typeface="Trebuchet MS"/>
              </a:rPr>
              <a:t>damage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3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basic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investigatory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 focus.</a:t>
            </a:r>
            <a:endParaRPr sz="2000">
              <a:latin typeface="Trebuchet MS"/>
              <a:cs typeface="Trebuchet MS"/>
            </a:endParaRPr>
          </a:p>
          <a:p>
            <a:pPr lvl="1" marL="698500" marR="395605" indent="-229235">
              <a:lnSpc>
                <a:spcPct val="90100"/>
              </a:lnSpc>
              <a:spcBef>
                <a:spcPts val="48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50">
                <a:solidFill>
                  <a:srgbClr val="FFFFFF"/>
                </a:solidFill>
                <a:latin typeface="Trebuchet MS"/>
                <a:cs typeface="Trebuchet MS"/>
              </a:rPr>
              <a:t>Acute</a:t>
            </a:r>
            <a:r>
              <a:rPr dirty="0" sz="20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40">
                <a:solidFill>
                  <a:srgbClr val="FFFFFF"/>
                </a:solidFill>
                <a:latin typeface="Trebuchet MS"/>
                <a:cs typeface="Trebuchet MS"/>
              </a:rPr>
              <a:t>Window</a:t>
            </a:r>
            <a:r>
              <a:rPr dirty="0" sz="20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(2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50">
                <a:solidFill>
                  <a:srgbClr val="FFFFFF"/>
                </a:solidFill>
                <a:latin typeface="Trebuchet MS"/>
                <a:cs typeface="Trebuchet MS"/>
              </a:rPr>
              <a:t>days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weeks):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14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85">
                <a:solidFill>
                  <a:srgbClr val="FFFFFF"/>
                </a:solidFill>
                <a:latin typeface="Trebuchet MS"/>
                <a:cs typeface="Trebuchet MS"/>
              </a:rPr>
              <a:t>peak</a:t>
            </a:r>
            <a:r>
              <a:rPr dirty="0" sz="20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Post-Stroke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Plasticity.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Levels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growth-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promoting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65">
                <a:solidFill>
                  <a:srgbClr val="FFFFFF"/>
                </a:solidFill>
                <a:latin typeface="Trebuchet MS"/>
                <a:cs typeface="Trebuchet MS"/>
              </a:rPr>
              <a:t>genes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3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20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their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highest.</a:t>
            </a:r>
            <a:r>
              <a:rPr dirty="0" sz="20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5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25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"window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opportunity"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where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high-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intensity</a:t>
            </a:r>
            <a:r>
              <a:rPr dirty="0" sz="20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FFFFFF"/>
                </a:solidFill>
                <a:latin typeface="Trebuchet MS"/>
                <a:cs typeface="Trebuchet MS"/>
              </a:rPr>
              <a:t>practice</a:t>
            </a:r>
            <a:r>
              <a:rPr dirty="0" sz="20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5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drive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significant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cortical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remapping.</a:t>
            </a:r>
            <a:endParaRPr sz="2000">
              <a:latin typeface="Trebuchet MS"/>
              <a:cs typeface="Trebuchet MS"/>
            </a:endParaRPr>
          </a:p>
          <a:p>
            <a:pPr lvl="1" marL="698500" marR="5080" indent="-229235">
              <a:lnSpc>
                <a:spcPct val="90100"/>
              </a:lnSpc>
              <a:spcBef>
                <a:spcPts val="434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Sub-</a:t>
            </a:r>
            <a:r>
              <a:rPr dirty="0" sz="2000" spc="165">
                <a:solidFill>
                  <a:srgbClr val="FFFFFF"/>
                </a:solidFill>
                <a:latin typeface="Trebuchet MS"/>
                <a:cs typeface="Trebuchet MS"/>
              </a:rPr>
              <a:t>Acute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35">
                <a:solidFill>
                  <a:srgbClr val="FFFFFF"/>
                </a:solidFill>
                <a:latin typeface="Trebuchet MS"/>
                <a:cs typeface="Trebuchet MS"/>
              </a:rPr>
              <a:t>Window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(2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weeks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months):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10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dirty="0" sz="20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"spontaneous"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recovery</a:t>
            </a:r>
            <a:r>
              <a:rPr dirty="0" sz="20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occurs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here.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After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months,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"window"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FFFFFF"/>
                </a:solidFill>
                <a:latin typeface="Trebuchet MS"/>
                <a:cs typeface="Trebuchet MS"/>
              </a:rPr>
              <a:t>doesn't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close,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but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brain</a:t>
            </a:r>
            <a:r>
              <a:rPr dirty="0" sz="20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enters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75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"chronic"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state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where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95">
                <a:solidFill>
                  <a:srgbClr val="FFFFFF"/>
                </a:solidFill>
                <a:latin typeface="Trebuchet MS"/>
                <a:cs typeface="Trebuchet MS"/>
              </a:rPr>
              <a:t>changes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require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significantly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more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repetitions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(e.g.,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 300+ reps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10">
                <a:solidFill>
                  <a:srgbClr val="FFFFFF"/>
                </a:solidFill>
                <a:latin typeface="Trebuchet MS"/>
                <a:cs typeface="Trebuchet MS"/>
              </a:rPr>
              <a:t>mentioned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slides)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55">
                <a:solidFill>
                  <a:srgbClr val="FFFFFF"/>
                </a:solidFill>
                <a:latin typeface="Trebuchet MS"/>
                <a:cs typeface="Trebuchet MS"/>
              </a:rPr>
              <a:t>achieve</a:t>
            </a:r>
            <a:r>
              <a:rPr dirty="0" sz="20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55">
                <a:solidFill>
                  <a:srgbClr val="FFFFFF"/>
                </a:solidFill>
                <a:latin typeface="Trebuchet MS"/>
                <a:cs typeface="Trebuchet MS"/>
              </a:rPr>
              <a:t>same</a:t>
            </a:r>
            <a:r>
              <a:rPr dirty="0" sz="20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result.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733" y="1538351"/>
            <a:ext cx="3480435" cy="2336800"/>
          </a:xfrm>
          <a:prstGeom prst="rect"/>
        </p:spPr>
        <p:txBody>
          <a:bodyPr wrap="square" lIns="0" tIns="75565" rIns="0" bIns="0" rtlCol="0" vert="horz">
            <a:spAutoFit/>
          </a:bodyPr>
          <a:lstStyle/>
          <a:p>
            <a:pPr algn="r" marL="29845" marR="5080" indent="-17780">
              <a:lnSpc>
                <a:spcPct val="90100"/>
              </a:lnSpc>
              <a:spcBef>
                <a:spcPts val="595"/>
              </a:spcBef>
            </a:pPr>
            <a:r>
              <a:rPr dirty="0" sz="4100" spc="350"/>
              <a:t>WINDOWS</a:t>
            </a:r>
            <a:r>
              <a:rPr dirty="0" sz="4100" spc="-110"/>
              <a:t> </a:t>
            </a:r>
            <a:r>
              <a:rPr dirty="0" sz="4100" spc="300"/>
              <a:t>OF </a:t>
            </a:r>
            <a:r>
              <a:rPr dirty="0" sz="4100" spc="75"/>
              <a:t>OPPORTUNITY </a:t>
            </a:r>
            <a:r>
              <a:rPr dirty="0" sz="4100" spc="229"/>
              <a:t>FOR</a:t>
            </a:r>
            <a:r>
              <a:rPr dirty="0" sz="4100" spc="-130"/>
              <a:t> </a:t>
            </a:r>
            <a:r>
              <a:rPr dirty="0" sz="4100" spc="130"/>
              <a:t>PHYSIOS</a:t>
            </a:r>
            <a:endParaRPr sz="4100"/>
          </a:p>
          <a:p>
            <a:pPr algn="r" marR="9525">
              <a:lnSpc>
                <a:spcPts val="4400"/>
              </a:lnSpc>
            </a:pPr>
            <a:r>
              <a:rPr dirty="0" sz="4100" spc="135"/>
              <a:t>(WHEN)</a:t>
            </a:r>
            <a:endParaRPr sz="4100"/>
          </a:p>
        </p:txBody>
      </p:sp>
      <p:sp>
        <p:nvSpPr>
          <p:cNvPr id="3" name="object 3" descr=""/>
          <p:cNvSpPr/>
          <p:nvPr/>
        </p:nvSpPr>
        <p:spPr>
          <a:xfrm>
            <a:off x="4645659" y="1084643"/>
            <a:ext cx="7295515" cy="4688840"/>
          </a:xfrm>
          <a:custGeom>
            <a:avLst/>
            <a:gdLst/>
            <a:ahLst/>
            <a:cxnLst/>
            <a:rect l="l" t="t" r="r" b="b"/>
            <a:pathLst>
              <a:path w="7295515" h="4688840">
                <a:moveTo>
                  <a:pt x="7295134" y="0"/>
                </a:moveTo>
                <a:lnTo>
                  <a:pt x="0" y="0"/>
                </a:lnTo>
                <a:lnTo>
                  <a:pt x="0" y="4688713"/>
                </a:lnTo>
                <a:lnTo>
                  <a:pt x="7295134" y="4688713"/>
                </a:lnTo>
                <a:lnTo>
                  <a:pt x="7295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636134" y="1075055"/>
          <a:ext cx="7390765" cy="4686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7775"/>
                <a:gridCol w="2507615"/>
                <a:gridCol w="2269490"/>
              </a:tblGrid>
              <a:tr h="36385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Condition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Optimal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Window</a:t>
                      </a:r>
                      <a:r>
                        <a:rPr dirty="0" sz="12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Neuroplasticity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Clinical</a:t>
                      </a:r>
                      <a:r>
                        <a:rPr dirty="0" sz="12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Goal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63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02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Cerebral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Palsy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(Pediatric)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L w="190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Birth</a:t>
                      </a:r>
                      <a:r>
                        <a:rPr dirty="0" sz="1200" spc="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-7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1200" spc="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years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(Primary);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</a:t>
                      </a:r>
                      <a:r>
                        <a:rPr dirty="0" sz="120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(Secondary)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6446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07314" marR="33718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Influence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foundational</a:t>
                      </a:r>
                      <a:r>
                        <a:rPr dirty="0" sz="12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motor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models</a:t>
                      </a:r>
                      <a:r>
                        <a:rPr dirty="0" sz="12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during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critical development.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660">
                    <a:lnL w="63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Stroke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(Adult)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90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4826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2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days</a:t>
                      </a:r>
                      <a:r>
                        <a:rPr dirty="0" sz="12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 3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months</a:t>
                      </a:r>
                      <a:r>
                        <a:rPr dirty="0" sz="1200" spc="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(Peak</a:t>
                      </a:r>
                      <a:r>
                        <a:rPr dirty="0" sz="12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2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approx.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7314" marR="1930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Capitalize</a:t>
                      </a:r>
                      <a:r>
                        <a:rPr dirty="0" sz="1200" spc="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growth-promoting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genes</a:t>
                      </a:r>
                      <a:r>
                        <a:rPr dirty="0" sz="12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cortical</a:t>
                      </a:r>
                      <a:r>
                        <a:rPr dirty="0" sz="1200" spc="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remapping.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63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Phantom</a:t>
                      </a:r>
                      <a:r>
                        <a:rPr dirty="0" sz="12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Limb</a:t>
                      </a:r>
                      <a:r>
                        <a:rPr dirty="0" sz="1200" spc="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90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59372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Acute</a:t>
                      </a:r>
                      <a:r>
                        <a:rPr dirty="0" sz="12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post-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amputation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(pre-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maladaptive</a:t>
                      </a:r>
                      <a:r>
                        <a:rPr dirty="0" sz="1200" spc="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remapping)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76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7314" marR="9715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Prevent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sensory</a:t>
                      </a:r>
                      <a:r>
                        <a:rPr dirty="0" sz="12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"colonization" 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200" spc="-6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cortex</a:t>
                      </a:r>
                      <a:r>
                        <a:rPr dirty="0" sz="1200" spc="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2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neighboring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areas.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7630">
                    <a:lnL w="63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Traumatic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Brain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Injury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90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First</a:t>
                      </a:r>
                      <a:r>
                        <a:rPr dirty="0" sz="12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r>
                        <a:rPr dirty="0" sz="1200" spc="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months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post-injury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7314" marR="230504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Drive</a:t>
                      </a:r>
                      <a:r>
                        <a:rPr dirty="0" sz="12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synaptogenesis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bypass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damaged</a:t>
                      </a:r>
                      <a:r>
                        <a:rPr dirty="0" sz="1200" spc="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axonal</a:t>
                      </a:r>
                      <a:r>
                        <a:rPr dirty="0" sz="12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8265">
                    <a:lnL w="63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23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Spinal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Cord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Injury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L w="190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First</a:t>
                      </a:r>
                      <a:r>
                        <a:rPr dirty="0" sz="12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r>
                        <a:rPr dirty="0" sz="1200" spc="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months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7314" marR="59309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Strengthen</a:t>
                      </a:r>
                      <a:r>
                        <a:rPr dirty="0" sz="120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spared</a:t>
                      </a:r>
                      <a:r>
                        <a:rPr dirty="0" sz="1200" spc="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neural pathways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functional compensation.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6995">
                    <a:lnL w="63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23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Parkinson’s</a:t>
                      </a:r>
                      <a:r>
                        <a:rPr dirty="0" sz="12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Disease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6520">
                    <a:lnL w="190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Continuous/Lifelong</a:t>
                      </a:r>
                      <a:r>
                        <a:rPr dirty="0" sz="1200" spc="8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(Maintenance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focus)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7314" marR="46545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1200" spc="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"salience-dependent"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plasticity</a:t>
                      </a:r>
                      <a:r>
                        <a:rPr dirty="0" sz="1200" spc="-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slow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functional degradation.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8265">
                    <a:lnL w="63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Chronic</a:t>
                      </a: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Pain/CRPS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190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40195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</a:t>
                      </a: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3–6</a:t>
                      </a:r>
                      <a:r>
                        <a:rPr dirty="0" sz="12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months</a:t>
                      </a:r>
                      <a:r>
                        <a:rPr dirty="0" sz="12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(to</a:t>
                      </a:r>
                      <a:r>
                        <a:rPr dirty="0" sz="1200" spc="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prevent chronicity)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144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7314" marR="32575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Re-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map</a:t>
                      </a:r>
                      <a:r>
                        <a:rPr dirty="0" sz="1200" spc="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distorted</a:t>
                      </a:r>
                      <a:r>
                        <a:rPr dirty="0" sz="12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sensory representation</a:t>
                      </a:r>
                      <a:r>
                        <a:rPr dirty="0" sz="1200" spc="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20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CNS.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1440">
                    <a:lnL w="63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algn="r" marR="8255">
              <a:lnSpc>
                <a:spcPts val="4565"/>
              </a:lnSpc>
              <a:spcBef>
                <a:spcPts val="140"/>
              </a:spcBef>
            </a:pPr>
            <a:r>
              <a:rPr dirty="0" spc="335"/>
              <a:t>WINDOWS</a:t>
            </a:r>
            <a:r>
              <a:rPr dirty="0" spc="-110"/>
              <a:t> </a:t>
            </a:r>
            <a:r>
              <a:rPr dirty="0" spc="300"/>
              <a:t>OF</a:t>
            </a:r>
            <a:r>
              <a:rPr dirty="0" spc="-125"/>
              <a:t> </a:t>
            </a:r>
            <a:r>
              <a:rPr dirty="0" spc="75"/>
              <a:t>OPPORTUNITY</a:t>
            </a:r>
            <a:r>
              <a:rPr dirty="0" spc="-50"/>
              <a:t> </a:t>
            </a:r>
            <a:r>
              <a:rPr dirty="0" spc="204"/>
              <a:t>FOR</a:t>
            </a:r>
          </a:p>
          <a:p>
            <a:pPr algn="r" marR="5080">
              <a:lnSpc>
                <a:spcPts val="4565"/>
              </a:lnSpc>
            </a:pPr>
            <a:r>
              <a:rPr dirty="0" spc="140"/>
              <a:t>PHYSIOS</a:t>
            </a:r>
            <a:r>
              <a:rPr dirty="0" spc="-114"/>
              <a:t> </a:t>
            </a:r>
            <a:r>
              <a:rPr dirty="0" spc="245"/>
              <a:t>(HOW)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857" y="2241639"/>
            <a:ext cx="10438130" cy="357949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3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Therapist's</a:t>
            </a:r>
            <a:r>
              <a:rPr dirty="0" sz="2350" spc="1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90">
                <a:solidFill>
                  <a:srgbClr val="FFFFFF"/>
                </a:solidFill>
                <a:latin typeface="Trebuchet MS"/>
                <a:cs typeface="Trebuchet MS"/>
              </a:rPr>
              <a:t>Role…</a:t>
            </a:r>
            <a:endParaRPr sz="2350">
              <a:latin typeface="Trebuchet MS"/>
              <a:cs typeface="Trebuchet MS"/>
            </a:endParaRPr>
          </a:p>
          <a:p>
            <a:pPr marL="240665" indent="-227965">
              <a:lnSpc>
                <a:spcPts val="2565"/>
              </a:lnSpc>
              <a:spcBef>
                <a:spcPts val="4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350" spc="120">
                <a:solidFill>
                  <a:srgbClr val="FFFFFF"/>
                </a:solidFill>
                <a:latin typeface="Trebuchet MS"/>
                <a:cs typeface="Trebuchet MS"/>
              </a:rPr>
              <a:t>High</a:t>
            </a:r>
            <a:r>
              <a:rPr dirty="0" sz="23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Trebuchet MS"/>
                <a:cs typeface="Trebuchet MS"/>
              </a:rPr>
              <a:t>Intensity:</a:t>
            </a:r>
            <a:r>
              <a:rPr dirty="0" sz="23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Plasticity</a:t>
            </a:r>
            <a:r>
              <a:rPr dirty="0" sz="23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45">
                <a:solidFill>
                  <a:srgbClr val="FFFFFF"/>
                </a:solidFill>
                <a:latin typeface="Trebuchet MS"/>
                <a:cs typeface="Trebuchet MS"/>
              </a:rPr>
              <a:t>requires</a:t>
            </a:r>
            <a:r>
              <a:rPr dirty="0" sz="23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45">
                <a:solidFill>
                  <a:srgbClr val="FFFFFF"/>
                </a:solidFill>
                <a:latin typeface="Trebuchet MS"/>
                <a:cs typeface="Trebuchet MS"/>
              </a:rPr>
              <a:t>high</a:t>
            </a:r>
            <a:r>
              <a:rPr dirty="0" sz="23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05">
                <a:solidFill>
                  <a:srgbClr val="FFFFFF"/>
                </a:solidFill>
                <a:latin typeface="Trebuchet MS"/>
                <a:cs typeface="Trebuchet MS"/>
              </a:rPr>
              <a:t>repetition—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e.g.,</a:t>
            </a:r>
            <a:r>
              <a:rPr dirty="0" sz="23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80">
                <a:solidFill>
                  <a:srgbClr val="FFFFFF"/>
                </a:solidFill>
                <a:latin typeface="Trebuchet MS"/>
                <a:cs typeface="Trebuchet MS"/>
              </a:rPr>
              <a:t>300</a:t>
            </a:r>
            <a:r>
              <a:rPr dirty="0" sz="23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95">
                <a:solidFill>
                  <a:srgbClr val="FFFFFF"/>
                </a:solidFill>
                <a:latin typeface="Trebuchet MS"/>
                <a:cs typeface="Trebuchet MS"/>
              </a:rPr>
              <a:t>reps</a:t>
            </a:r>
            <a:r>
              <a:rPr dirty="0" sz="2350" spc="-25">
                <a:solidFill>
                  <a:srgbClr val="FFFFFF"/>
                </a:solidFill>
                <a:latin typeface="Trebuchet MS"/>
                <a:cs typeface="Trebuchet MS"/>
              </a:rPr>
              <a:t> for</a:t>
            </a:r>
            <a:endParaRPr sz="2350">
              <a:latin typeface="Trebuchet MS"/>
              <a:cs typeface="Trebuchet MS"/>
            </a:endParaRPr>
          </a:p>
          <a:p>
            <a:pPr marL="241300">
              <a:lnSpc>
                <a:spcPts val="2565"/>
              </a:lnSpc>
            </a:pPr>
            <a:r>
              <a:rPr dirty="0" sz="2350" spc="165">
                <a:solidFill>
                  <a:srgbClr val="FFFFFF"/>
                </a:solidFill>
                <a:latin typeface="Trebuchet MS"/>
                <a:cs typeface="Trebuchet MS"/>
              </a:rPr>
              <a:t>upper</a:t>
            </a:r>
            <a:r>
              <a:rPr dirty="0" sz="235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limbs</a:t>
            </a:r>
            <a:r>
              <a:rPr dirty="0" sz="23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5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23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2,000</a:t>
            </a:r>
            <a:r>
              <a:rPr dirty="0" sz="23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80">
                <a:solidFill>
                  <a:srgbClr val="FFFFFF"/>
                </a:solidFill>
                <a:latin typeface="Trebuchet MS"/>
                <a:cs typeface="Trebuchet MS"/>
              </a:rPr>
              <a:t>steps</a:t>
            </a:r>
            <a:r>
              <a:rPr dirty="0" sz="23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35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8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35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75">
                <a:solidFill>
                  <a:srgbClr val="FFFFFF"/>
                </a:solidFill>
                <a:latin typeface="Trebuchet MS"/>
                <a:cs typeface="Trebuchet MS"/>
              </a:rPr>
              <a:t>lower</a:t>
            </a:r>
            <a:r>
              <a:rPr dirty="0" sz="23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Trebuchet MS"/>
                <a:cs typeface="Trebuchet MS"/>
              </a:rPr>
              <a:t>limb.</a:t>
            </a:r>
            <a:endParaRPr sz="2350">
              <a:latin typeface="Trebuchet MS"/>
              <a:cs typeface="Trebuchet MS"/>
            </a:endParaRPr>
          </a:p>
          <a:p>
            <a:pPr marL="240665" indent="-227965">
              <a:lnSpc>
                <a:spcPts val="2565"/>
              </a:lnSpc>
              <a:spcBef>
                <a:spcPts val="4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350" spc="150">
                <a:solidFill>
                  <a:srgbClr val="FFFFFF"/>
                </a:solidFill>
                <a:latin typeface="Trebuchet MS"/>
                <a:cs typeface="Trebuchet MS"/>
              </a:rPr>
              <a:t>Challenge:</a:t>
            </a:r>
            <a:r>
              <a:rPr dirty="0" sz="235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3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55">
                <a:solidFill>
                  <a:srgbClr val="FFFFFF"/>
                </a:solidFill>
                <a:latin typeface="Trebuchet MS"/>
                <a:cs typeface="Trebuchet MS"/>
              </a:rPr>
              <a:t>task</a:t>
            </a:r>
            <a:r>
              <a:rPr dirty="0" sz="23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8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dirty="0" sz="23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29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dirty="0" sz="23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difficult</a:t>
            </a:r>
            <a:r>
              <a:rPr dirty="0" sz="235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235">
                <a:solidFill>
                  <a:srgbClr val="FFFFFF"/>
                </a:solidFill>
                <a:latin typeface="Trebuchet MS"/>
                <a:cs typeface="Trebuchet MS"/>
              </a:rPr>
              <a:t>enough</a:t>
            </a:r>
            <a:r>
              <a:rPr dirty="0" sz="235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7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3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60">
                <a:solidFill>
                  <a:srgbClr val="FFFFFF"/>
                </a:solidFill>
                <a:latin typeface="Trebuchet MS"/>
                <a:cs typeface="Trebuchet MS"/>
              </a:rPr>
              <a:t>require</a:t>
            </a:r>
            <a:r>
              <a:rPr dirty="0" sz="235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215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dirty="0" sz="23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neural</a:t>
            </a:r>
            <a:endParaRPr sz="2350">
              <a:latin typeface="Trebuchet MS"/>
              <a:cs typeface="Trebuchet MS"/>
            </a:endParaRPr>
          </a:p>
          <a:p>
            <a:pPr marL="241300">
              <a:lnSpc>
                <a:spcPts val="2565"/>
              </a:lnSpc>
            </a:pP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strategies,</a:t>
            </a:r>
            <a:r>
              <a:rPr dirty="0" sz="235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often</a:t>
            </a:r>
            <a:r>
              <a:rPr dirty="0" sz="2350" spc="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80">
                <a:solidFill>
                  <a:srgbClr val="FFFFFF"/>
                </a:solidFill>
                <a:latin typeface="Trebuchet MS"/>
                <a:cs typeface="Trebuchet MS"/>
              </a:rPr>
              <a:t>involving</a:t>
            </a:r>
            <a:r>
              <a:rPr dirty="0" sz="2350" spc="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25">
                <a:solidFill>
                  <a:srgbClr val="FFFFFF"/>
                </a:solidFill>
                <a:latin typeface="Trebuchet MS"/>
                <a:cs typeface="Trebuchet MS"/>
              </a:rPr>
              <a:t>dual-</a:t>
            </a:r>
            <a:r>
              <a:rPr dirty="0" sz="2350" spc="40">
                <a:solidFill>
                  <a:srgbClr val="FFFFFF"/>
                </a:solidFill>
                <a:latin typeface="Trebuchet MS"/>
                <a:cs typeface="Trebuchet MS"/>
              </a:rPr>
              <a:t>tasking.</a:t>
            </a:r>
            <a:endParaRPr sz="2350">
              <a:latin typeface="Trebuchet MS"/>
              <a:cs typeface="Trebuchet MS"/>
            </a:endParaRPr>
          </a:p>
          <a:p>
            <a:pPr marL="240029" marR="427355" indent="-227965">
              <a:lnSpc>
                <a:spcPts val="231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350" spc="100">
                <a:solidFill>
                  <a:srgbClr val="FFFFFF"/>
                </a:solidFill>
                <a:latin typeface="Trebuchet MS"/>
                <a:cs typeface="Trebuchet MS"/>
              </a:rPr>
              <a:t>Salience:</a:t>
            </a:r>
            <a:r>
              <a:rPr dirty="0" sz="23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Activities</a:t>
            </a:r>
            <a:r>
              <a:rPr dirty="0" sz="23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8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dirty="0" sz="23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29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dirty="0" sz="235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30">
                <a:solidFill>
                  <a:srgbClr val="FFFFFF"/>
                </a:solidFill>
                <a:latin typeface="Trebuchet MS"/>
                <a:cs typeface="Trebuchet MS"/>
              </a:rPr>
              <a:t>meaningful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 (e.g.,</a:t>
            </a:r>
            <a:r>
              <a:rPr dirty="0" sz="23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65">
                <a:solidFill>
                  <a:srgbClr val="FFFFFF"/>
                </a:solidFill>
                <a:latin typeface="Trebuchet MS"/>
                <a:cs typeface="Trebuchet MS"/>
              </a:rPr>
              <a:t>reaching</a:t>
            </a:r>
            <a:r>
              <a:rPr dirty="0" sz="23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3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60">
                <a:solidFill>
                  <a:srgbClr val="FFFFFF"/>
                </a:solidFill>
                <a:latin typeface="Trebuchet MS"/>
                <a:cs typeface="Trebuchet MS"/>
              </a:rPr>
              <a:t>food)</a:t>
            </a:r>
            <a:r>
              <a:rPr dirty="0" sz="235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45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dirty="0" sz="2350" spc="45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350" spc="50">
                <a:solidFill>
                  <a:srgbClr val="FFFFFF"/>
                </a:solidFill>
                <a:latin typeface="Trebuchet MS"/>
                <a:cs typeface="Trebuchet MS"/>
              </a:rPr>
              <a:t>trigger</a:t>
            </a:r>
            <a:r>
              <a:rPr dirty="0" sz="235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8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3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25">
                <a:solidFill>
                  <a:srgbClr val="FFFFFF"/>
                </a:solidFill>
                <a:latin typeface="Trebuchet MS"/>
                <a:cs typeface="Trebuchet MS"/>
              </a:rPr>
              <a:t>cognitive</a:t>
            </a:r>
            <a:r>
              <a:rPr dirty="0" sz="23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40">
                <a:solidFill>
                  <a:srgbClr val="FFFFFF"/>
                </a:solidFill>
                <a:latin typeface="Trebuchet MS"/>
                <a:cs typeface="Trebuchet MS"/>
              </a:rPr>
              <a:t>processes</a:t>
            </a:r>
            <a:r>
              <a:rPr dirty="0" sz="23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50">
                <a:solidFill>
                  <a:srgbClr val="FFFFFF"/>
                </a:solidFill>
                <a:latin typeface="Trebuchet MS"/>
                <a:cs typeface="Trebuchet MS"/>
              </a:rPr>
              <a:t>essential</a:t>
            </a:r>
            <a:r>
              <a:rPr dirty="0" sz="23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35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10">
                <a:solidFill>
                  <a:srgbClr val="FFFFFF"/>
                </a:solidFill>
                <a:latin typeface="Trebuchet MS"/>
                <a:cs typeface="Trebuchet MS"/>
              </a:rPr>
              <a:t>motor</a:t>
            </a:r>
            <a:r>
              <a:rPr dirty="0" sz="23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40">
                <a:solidFill>
                  <a:srgbClr val="FFFFFF"/>
                </a:solidFill>
                <a:latin typeface="Trebuchet MS"/>
                <a:cs typeface="Trebuchet MS"/>
              </a:rPr>
              <a:t>control.</a:t>
            </a:r>
            <a:endParaRPr sz="2350">
              <a:latin typeface="Trebuchet MS"/>
              <a:cs typeface="Trebuchet MS"/>
            </a:endParaRPr>
          </a:p>
          <a:p>
            <a:pPr marL="240029" marR="5080" indent="-227965">
              <a:lnSpc>
                <a:spcPts val="231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350" spc="95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dirty="0" sz="23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-20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235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5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23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05">
                <a:solidFill>
                  <a:srgbClr val="FFFFFF"/>
                </a:solidFill>
                <a:latin typeface="Trebuchet MS"/>
                <a:cs typeface="Trebuchet MS"/>
              </a:rPr>
              <a:t>Lose</a:t>
            </a:r>
            <a:r>
              <a:rPr dirty="0" sz="23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-190">
                <a:solidFill>
                  <a:srgbClr val="FFFFFF"/>
                </a:solidFill>
                <a:latin typeface="Trebuchet MS"/>
                <a:cs typeface="Trebuchet MS"/>
              </a:rPr>
              <a:t>it:</a:t>
            </a:r>
            <a:r>
              <a:rPr dirty="0" sz="23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-5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dirty="0" sz="235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8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3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25">
                <a:solidFill>
                  <a:srgbClr val="FFFFFF"/>
                </a:solidFill>
                <a:latin typeface="Trebuchet MS"/>
                <a:cs typeface="Trebuchet MS"/>
              </a:rPr>
              <a:t>"window"</a:t>
            </a:r>
            <a:r>
              <a:rPr dirty="0" sz="2350" spc="-85">
                <a:solidFill>
                  <a:srgbClr val="FFFFFF"/>
                </a:solidFill>
                <a:latin typeface="Trebuchet MS"/>
                <a:cs typeface="Trebuchet MS"/>
              </a:rPr>
              <a:t> is</a:t>
            </a:r>
            <a:r>
              <a:rPr dirty="0" sz="23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95">
                <a:solidFill>
                  <a:srgbClr val="FFFFFF"/>
                </a:solidFill>
                <a:latin typeface="Trebuchet MS"/>
                <a:cs typeface="Trebuchet MS"/>
              </a:rPr>
              <a:t>missed</a:t>
            </a:r>
            <a:r>
              <a:rPr dirty="0" sz="23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5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235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8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3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50">
                <a:solidFill>
                  <a:srgbClr val="FFFFFF"/>
                </a:solidFill>
                <a:latin typeface="Trebuchet MS"/>
                <a:cs typeface="Trebuchet MS"/>
              </a:rPr>
              <a:t>limb</a:t>
            </a:r>
            <a:r>
              <a:rPr dirty="0" sz="235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-85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3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0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dirty="0" sz="23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10">
                <a:solidFill>
                  <a:srgbClr val="FFFFFF"/>
                </a:solidFill>
                <a:latin typeface="Trebuchet MS"/>
                <a:cs typeface="Trebuchet MS"/>
              </a:rPr>
              <a:t>used,</a:t>
            </a:r>
            <a:r>
              <a:rPr dirty="0" sz="23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7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2350" spc="75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350" spc="85">
                <a:solidFill>
                  <a:srgbClr val="FFFFFF"/>
                </a:solidFill>
                <a:latin typeface="Trebuchet MS"/>
                <a:cs typeface="Trebuchet MS"/>
              </a:rPr>
              <a:t>brain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200">
                <a:solidFill>
                  <a:srgbClr val="FFFFFF"/>
                </a:solidFill>
                <a:latin typeface="Trebuchet MS"/>
                <a:cs typeface="Trebuchet MS"/>
              </a:rPr>
              <a:t>area</a:t>
            </a:r>
            <a:r>
              <a:rPr dirty="0" sz="23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260">
                <a:solidFill>
                  <a:srgbClr val="FFFFFF"/>
                </a:solidFill>
                <a:latin typeface="Trebuchet MS"/>
                <a:cs typeface="Trebuchet MS"/>
              </a:rPr>
              <a:t>may</a:t>
            </a:r>
            <a:r>
              <a:rPr dirty="0" sz="23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29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dirty="0" sz="23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30">
                <a:solidFill>
                  <a:srgbClr val="FFFFFF"/>
                </a:solidFill>
                <a:latin typeface="Trebuchet MS"/>
                <a:cs typeface="Trebuchet MS"/>
              </a:rPr>
              <a:t>taken</a:t>
            </a:r>
            <a:r>
              <a:rPr dirty="0" sz="235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30">
                <a:solidFill>
                  <a:srgbClr val="FFFFFF"/>
                </a:solidFill>
                <a:latin typeface="Trebuchet MS"/>
                <a:cs typeface="Trebuchet MS"/>
              </a:rPr>
              <a:t>over</a:t>
            </a:r>
            <a:r>
              <a:rPr dirty="0" sz="23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215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23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75">
                <a:solidFill>
                  <a:srgbClr val="FFFFFF"/>
                </a:solidFill>
                <a:latin typeface="Trebuchet MS"/>
                <a:cs typeface="Trebuchet MS"/>
              </a:rPr>
              <a:t>other</a:t>
            </a:r>
            <a:r>
              <a:rPr dirty="0" sz="23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50">
                <a:solidFill>
                  <a:srgbClr val="FFFFFF"/>
                </a:solidFill>
                <a:latin typeface="Trebuchet MS"/>
                <a:cs typeface="Trebuchet MS"/>
              </a:rPr>
              <a:t>functions,</a:t>
            </a:r>
            <a:r>
              <a:rPr dirty="0" sz="235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65">
                <a:solidFill>
                  <a:srgbClr val="FFFFFF"/>
                </a:solidFill>
                <a:latin typeface="Trebuchet MS"/>
                <a:cs typeface="Trebuchet MS"/>
              </a:rPr>
              <a:t>leading</a:t>
            </a:r>
            <a:r>
              <a:rPr dirty="0" sz="235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7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3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05">
                <a:solidFill>
                  <a:srgbClr val="FFFFFF"/>
                </a:solidFill>
                <a:latin typeface="Trebuchet MS"/>
                <a:cs typeface="Trebuchet MS"/>
              </a:rPr>
              <a:t>"learned </a:t>
            </a:r>
            <a:r>
              <a:rPr dirty="0" sz="2350" spc="105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350" spc="140">
                <a:solidFill>
                  <a:srgbClr val="FFFFFF"/>
                </a:solidFill>
                <a:latin typeface="Trebuchet MS"/>
                <a:cs typeface="Trebuchet MS"/>
              </a:rPr>
              <a:t>non-</a:t>
            </a:r>
            <a:r>
              <a:rPr dirty="0" sz="2350" spc="-20">
                <a:solidFill>
                  <a:srgbClr val="FFFFFF"/>
                </a:solidFill>
                <a:latin typeface="Trebuchet MS"/>
                <a:cs typeface="Trebuchet MS"/>
              </a:rPr>
              <a:t>use".</a:t>
            </a:r>
            <a:endParaRPr sz="2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750" rIns="0" bIns="0" rtlCol="0" vert="horz">
            <a:spAutoFit/>
          </a:bodyPr>
          <a:lstStyle/>
          <a:p>
            <a:pPr marL="5069205">
              <a:lnSpc>
                <a:spcPct val="100000"/>
              </a:lnSpc>
              <a:spcBef>
                <a:spcPts val="140"/>
              </a:spcBef>
            </a:pPr>
            <a:r>
              <a:rPr dirty="0" spc="370"/>
              <a:t>CASE</a:t>
            </a:r>
            <a:r>
              <a:rPr dirty="0" spc="-120"/>
              <a:t> </a:t>
            </a:r>
            <a:r>
              <a:rPr dirty="0" spc="-10"/>
              <a:t>STUDY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5688" y="1902422"/>
            <a:ext cx="8037575" cy="45365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71414" y="920750"/>
            <a:ext cx="6532245" cy="0"/>
          </a:xfrm>
          <a:custGeom>
            <a:avLst/>
            <a:gdLst/>
            <a:ahLst/>
            <a:cxnLst/>
            <a:rect l="l" t="t" r="r" b="b"/>
            <a:pathLst>
              <a:path w="6532245" h="0">
                <a:moveTo>
                  <a:pt x="0" y="0"/>
                </a:moveTo>
                <a:lnTo>
                  <a:pt x="6531863" y="0"/>
                </a:lnTo>
              </a:path>
            </a:pathLst>
          </a:custGeom>
          <a:ln w="12700">
            <a:solidFill>
              <a:srgbClr val="DF2D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857" y="1815211"/>
            <a:ext cx="2377440" cy="50927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50" spc="310"/>
              <a:t>CASE</a:t>
            </a:r>
            <a:r>
              <a:rPr dirty="0" sz="3150" spc="-40"/>
              <a:t> </a:t>
            </a:r>
            <a:r>
              <a:rPr dirty="0" sz="3150" spc="-10"/>
              <a:t>STUDY</a:t>
            </a:r>
            <a:endParaRPr sz="3150"/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005959" y="1093739"/>
          <a:ext cx="6521450" cy="4795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5805"/>
                <a:gridCol w="4450080"/>
              </a:tblGrid>
              <a:tr h="366395">
                <a:tc>
                  <a:txBody>
                    <a:bodyPr/>
                    <a:lstStyle/>
                    <a:p>
                      <a:pPr marL="31750">
                        <a:lnSpc>
                          <a:spcPts val="1500"/>
                        </a:lnSpc>
                      </a:pPr>
                      <a:r>
                        <a:rPr dirty="0" sz="15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Variable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ts val="1500"/>
                        </a:lnSpc>
                      </a:pPr>
                      <a:r>
                        <a:rPr dirty="0" sz="15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Observation</a:t>
                      </a:r>
                      <a:r>
                        <a:rPr dirty="0" sz="1550" spc="1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550" spc="1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Video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021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5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Individual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 marT="137160"/>
                </a:tc>
                <a:tc>
                  <a:txBody>
                    <a:bodyPr/>
                    <a:lstStyle/>
                    <a:p>
                      <a:pPr marL="156845" marR="281940">
                        <a:lnSpc>
                          <a:spcPct val="102800"/>
                        </a:lnSpc>
                        <a:spcBef>
                          <a:spcPts val="89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Spasticity</a:t>
                      </a:r>
                      <a:r>
                        <a:rPr dirty="0" sz="1550" spc="10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550" spc="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"dyscontrol"</a:t>
                      </a:r>
                      <a:r>
                        <a:rPr dirty="0" sz="1550" spc="1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lead</a:t>
                      </a:r>
                      <a:r>
                        <a:rPr dirty="0" sz="1550" spc="1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550" spc="1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50" spc="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tendency</a:t>
                      </a:r>
                      <a:r>
                        <a:rPr dirty="0" sz="1550" spc="1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lean</a:t>
                      </a:r>
                      <a:r>
                        <a:rPr dirty="0" sz="1550" spc="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backward</a:t>
                      </a:r>
                      <a:r>
                        <a:rPr dirty="0" sz="1550" spc="1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(extensor</a:t>
                      </a:r>
                      <a:r>
                        <a:rPr dirty="0" sz="1550" spc="1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thrust)</a:t>
                      </a:r>
                      <a:r>
                        <a:rPr dirty="0" sz="1550" spc="1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rather</a:t>
                      </a:r>
                      <a:r>
                        <a:rPr dirty="0" sz="1550" spc="1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than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forward</a:t>
                      </a:r>
                      <a:r>
                        <a:rPr dirty="0" sz="1550" spc="9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during</a:t>
                      </a:r>
                      <a:r>
                        <a:rPr dirty="0" sz="1550" spc="114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550" spc="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transition.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 marT="113030"/>
                </a:tc>
              </a:tr>
              <a:tr h="1088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5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Task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 marT="141605"/>
                </a:tc>
                <a:tc>
                  <a:txBody>
                    <a:bodyPr/>
                    <a:lstStyle/>
                    <a:p>
                      <a:pPr marL="156845" marR="124460">
                        <a:lnSpc>
                          <a:spcPct val="102800"/>
                        </a:lnSpc>
                        <a:spcBef>
                          <a:spcPts val="919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50" spc="9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sit-to-stand</a:t>
                      </a:r>
                      <a:r>
                        <a:rPr dirty="0" sz="1550" spc="7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action</a:t>
                      </a:r>
                      <a:r>
                        <a:rPr dirty="0" sz="1550" spc="114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focused</a:t>
                      </a:r>
                      <a:r>
                        <a:rPr dirty="0" sz="1550" spc="114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550" spc="1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transitioning</a:t>
                      </a:r>
                      <a:r>
                        <a:rPr dirty="0" sz="1550" spc="1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from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seated</a:t>
                      </a:r>
                      <a:r>
                        <a:rPr dirty="0" sz="1550" spc="9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standing</a:t>
                      </a:r>
                      <a:r>
                        <a:rPr dirty="0" sz="1550" spc="10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minimal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assistance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550" spc="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knees.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 marT="116839"/>
                </a:tc>
              </a:tr>
              <a:tr h="1151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5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Environment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 marT="203835"/>
                </a:tc>
                <a:tc>
                  <a:txBody>
                    <a:bodyPr/>
                    <a:lstStyle/>
                    <a:p>
                      <a:pPr marL="156845" marR="24130">
                        <a:lnSpc>
                          <a:spcPct val="102699"/>
                        </a:lnSpc>
                        <a:spcBef>
                          <a:spcPts val="1415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50" spc="8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high-salience</a:t>
                      </a:r>
                      <a:r>
                        <a:rPr dirty="0" sz="1550" spc="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setting</a:t>
                      </a:r>
                      <a:r>
                        <a:rPr dirty="0" sz="1550" spc="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1550" spc="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50" spc="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piano</a:t>
                      </a:r>
                      <a:r>
                        <a:rPr dirty="0" sz="1550" spc="9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550" spc="9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50" spc="9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motivator;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550" spc="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therapist</a:t>
                      </a:r>
                      <a:r>
                        <a:rPr dirty="0" sz="1550" spc="114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provides</a:t>
                      </a:r>
                      <a:r>
                        <a:rPr dirty="0" sz="1550" spc="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traction</a:t>
                      </a:r>
                      <a:r>
                        <a:rPr dirty="0" sz="1550" spc="1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550" spc="114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550" spc="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knees</a:t>
                      </a:r>
                      <a:r>
                        <a:rPr dirty="0" sz="1550" spc="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facilitate</a:t>
                      </a:r>
                      <a:r>
                        <a:rPr dirty="0" sz="1550" spc="7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550" spc="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"nose</a:t>
                      </a:r>
                      <a:r>
                        <a:rPr dirty="0" sz="1550" spc="7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</a:t>
                      </a:r>
                      <a:r>
                        <a:rPr dirty="0" sz="1550" spc="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toes"</a:t>
                      </a:r>
                      <a:r>
                        <a:rPr dirty="0" sz="1550" spc="8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forward</a:t>
                      </a:r>
                      <a:r>
                        <a:rPr dirty="0" sz="1550" spc="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weight</a:t>
                      </a:r>
                      <a:r>
                        <a:rPr dirty="0" sz="1550" spc="114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shift.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 marT="179705"/>
                </a:tc>
              </a:tr>
              <a:tr h="1167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5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Neuroplasticity</a:t>
                      </a:r>
                      <a:r>
                        <a:rPr dirty="0" sz="1550" spc="1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Focus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6845" marR="241300">
                        <a:lnSpc>
                          <a:spcPct val="103400"/>
                        </a:lnSpc>
                        <a:spcBef>
                          <a:spcPts val="1400"/>
                        </a:spcBef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1550" spc="10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goal-directed</a:t>
                      </a:r>
                      <a:r>
                        <a:rPr dirty="0" sz="1550" spc="18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repetition</a:t>
                      </a:r>
                      <a:r>
                        <a:rPr dirty="0" sz="1550" spc="8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550" spc="8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drive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synaptogenesis</a:t>
                      </a:r>
                      <a:r>
                        <a:rPr dirty="0" sz="1550" spc="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550" spc="1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move</a:t>
                      </a:r>
                      <a:r>
                        <a:rPr dirty="0" sz="1550" spc="9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550" spc="1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temporary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dirty="0" sz="1550" spc="1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550" spc="1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50" spc="1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permanent,</a:t>
                      </a:r>
                      <a:r>
                        <a:rPr dirty="0" sz="1550" spc="1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economical</a:t>
                      </a:r>
                      <a:r>
                        <a:rPr dirty="0" sz="1550" spc="1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skilled action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B="0" marT="17780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750" rIns="0" bIns="0" rtlCol="0" vert="horz">
            <a:spAutoFit/>
          </a:bodyPr>
          <a:lstStyle/>
          <a:p>
            <a:pPr marL="5069205">
              <a:lnSpc>
                <a:spcPct val="100000"/>
              </a:lnSpc>
              <a:spcBef>
                <a:spcPts val="140"/>
              </a:spcBef>
            </a:pPr>
            <a:r>
              <a:rPr dirty="0" spc="370"/>
              <a:t>CASE</a:t>
            </a:r>
            <a:r>
              <a:rPr dirty="0" spc="-120"/>
              <a:t> </a:t>
            </a:r>
            <a:r>
              <a:rPr dirty="0" spc="-10"/>
              <a:t>STUDY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43177" y="2194179"/>
            <a:ext cx="10041890" cy="361251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41300" marR="98425" indent="-229235">
              <a:lnSpc>
                <a:spcPct val="90100"/>
              </a:lnSpc>
              <a:spcBef>
                <a:spcPts val="3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video,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Alexis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performs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approximately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three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20">
                <a:solidFill>
                  <a:srgbClr val="FFFFFF"/>
                </a:solidFill>
                <a:latin typeface="Trebuchet MS"/>
                <a:cs typeface="Trebuchet MS"/>
              </a:rPr>
              <a:t>sit-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to-</a:t>
            </a:r>
            <a:r>
              <a:rPr dirty="0" sz="2000" spc="105">
                <a:solidFill>
                  <a:srgbClr val="FFFFFF"/>
                </a:solidFill>
                <a:latin typeface="Trebuchet MS"/>
                <a:cs typeface="Trebuchet MS"/>
              </a:rPr>
              <a:t>stand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repetitions.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40">
                <a:solidFill>
                  <a:srgbClr val="FFFFFF"/>
                </a:solidFill>
                <a:latin typeface="Trebuchet MS"/>
                <a:cs typeface="Trebuchet MS"/>
              </a:rPr>
              <a:t>Based </a:t>
            </a:r>
            <a:r>
              <a:rPr dirty="0" sz="2000" spc="175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"High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Repetition"</a:t>
            </a:r>
            <a:r>
              <a:rPr dirty="0" sz="20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requirements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neuroplasticity,</a:t>
            </a:r>
            <a:r>
              <a:rPr dirty="0" sz="20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75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would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you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structure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45-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minute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session</a:t>
            </a:r>
            <a:r>
              <a:rPr dirty="0" sz="20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ensure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Alexis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30">
                <a:solidFill>
                  <a:srgbClr val="FFFFFF"/>
                </a:solidFill>
                <a:latin typeface="Trebuchet MS"/>
                <a:cs typeface="Trebuchet MS"/>
              </a:rPr>
              <a:t>reaches</a:t>
            </a:r>
            <a:r>
              <a:rPr dirty="0" sz="20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20">
                <a:solidFill>
                  <a:srgbClr val="FFFFFF"/>
                </a:solidFill>
                <a:latin typeface="Trebuchet MS"/>
                <a:cs typeface="Trebuchet MS"/>
              </a:rPr>
              <a:t>dosage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30">
                <a:solidFill>
                  <a:srgbClr val="FFFFFF"/>
                </a:solidFill>
                <a:latin typeface="Trebuchet MS"/>
                <a:cs typeface="Trebuchet MS"/>
              </a:rPr>
              <a:t>moves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5">
                <a:solidFill>
                  <a:srgbClr val="FFFFFF"/>
                </a:solidFill>
                <a:latin typeface="Trebuchet MS"/>
                <a:cs typeface="Trebuchet MS"/>
              </a:rPr>
              <a:t>her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from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temporary</a:t>
            </a:r>
            <a:r>
              <a:rPr dirty="0" sz="20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performance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permanent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FFFFFF"/>
                </a:solidFill>
                <a:latin typeface="Trebuchet MS"/>
                <a:cs typeface="Trebuchet MS"/>
              </a:rPr>
              <a:t>learning?</a:t>
            </a:r>
            <a:endParaRPr sz="2000">
              <a:latin typeface="Trebuchet MS"/>
              <a:cs typeface="Trebuchet MS"/>
            </a:endParaRPr>
          </a:p>
          <a:p>
            <a:pPr marL="241300" marR="151130" indent="-229235">
              <a:lnSpc>
                <a:spcPct val="902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165">
                <a:solidFill>
                  <a:srgbClr val="FFFFFF"/>
                </a:solidFill>
                <a:latin typeface="Trebuchet MS"/>
                <a:cs typeface="Trebuchet MS"/>
              </a:rPr>
              <a:t>•</a:t>
            </a:r>
            <a:r>
              <a:rPr dirty="0" sz="20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therapist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uses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traction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knees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45">
                <a:solidFill>
                  <a:srgbClr val="FFFFFF"/>
                </a:solidFill>
                <a:latin typeface="Trebuchet MS"/>
                <a:cs typeface="Trebuchet MS"/>
              </a:rPr>
              <a:t>guide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Alexis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into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"nose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FFFFFF"/>
                </a:solidFill>
                <a:latin typeface="Trebuchet MS"/>
                <a:cs typeface="Trebuchet MS"/>
              </a:rPr>
              <a:t>over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toes"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position.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3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dirty="0" sz="20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task</a:t>
            </a:r>
            <a:r>
              <a:rPr dirty="0" sz="20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00">
                <a:solidFill>
                  <a:srgbClr val="FFFFFF"/>
                </a:solidFill>
                <a:latin typeface="Trebuchet MS"/>
                <a:cs typeface="Trebuchet MS"/>
              </a:rPr>
              <a:t>becomes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too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easy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Alexis,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75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35">
                <a:solidFill>
                  <a:srgbClr val="FFFFFF"/>
                </a:solidFill>
                <a:latin typeface="Trebuchet MS"/>
                <a:cs typeface="Trebuchet MS"/>
              </a:rPr>
              <a:t>could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45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modify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Environmental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Constraints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(regulatory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factors)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increase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40">
                <a:solidFill>
                  <a:srgbClr val="FFFFFF"/>
                </a:solidFill>
                <a:latin typeface="Trebuchet MS"/>
                <a:cs typeface="Trebuchet MS"/>
              </a:rPr>
              <a:t>challenge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04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force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her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15">
                <a:solidFill>
                  <a:srgbClr val="FFFFFF"/>
                </a:solidFill>
                <a:latin typeface="Trebuchet MS"/>
                <a:cs typeface="Trebuchet MS"/>
              </a:rPr>
              <a:t>CNS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to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reorganize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5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stability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3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mobility 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patterns?</a:t>
            </a:r>
            <a:endParaRPr sz="2000">
              <a:latin typeface="Trebuchet MS"/>
              <a:cs typeface="Trebuchet MS"/>
            </a:endParaRPr>
          </a:p>
          <a:p>
            <a:pPr marL="241300" marR="5080" indent="-229235">
              <a:lnSpc>
                <a:spcPct val="9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145">
                <a:solidFill>
                  <a:srgbClr val="FFFFFF"/>
                </a:solidFill>
                <a:latin typeface="Trebuchet MS"/>
                <a:cs typeface="Trebuchet MS"/>
              </a:rPr>
              <a:t>Why</a:t>
            </a:r>
            <a:r>
              <a:rPr dirty="0" sz="20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0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60">
                <a:solidFill>
                  <a:srgbClr val="FFFFFF"/>
                </a:solidFill>
                <a:latin typeface="Trebuchet MS"/>
                <a:cs typeface="Trebuchet MS"/>
              </a:rPr>
              <a:t>piano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more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effective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driving</a:t>
            </a:r>
            <a:r>
              <a:rPr dirty="0" sz="20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neuroplasticity</a:t>
            </a:r>
            <a:r>
              <a:rPr dirty="0" sz="20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10">
                <a:solidFill>
                  <a:srgbClr val="FFFFFF"/>
                </a:solidFill>
                <a:latin typeface="Trebuchet MS"/>
                <a:cs typeface="Trebuchet MS"/>
              </a:rPr>
              <a:t>than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simply 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asking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Alexis</a:t>
            </a:r>
            <a:r>
              <a:rPr dirty="0" sz="20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perform</a:t>
            </a:r>
            <a:r>
              <a:rPr dirty="0" sz="20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14">
                <a:solidFill>
                  <a:srgbClr val="FFFFFF"/>
                </a:solidFill>
                <a:latin typeface="Trebuchet MS"/>
                <a:cs typeface="Trebuchet MS"/>
              </a:rPr>
              <a:t>"anatomical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10">
                <a:solidFill>
                  <a:srgbClr val="FFFFFF"/>
                </a:solidFill>
                <a:latin typeface="Trebuchet MS"/>
                <a:cs typeface="Trebuchet MS"/>
              </a:rPr>
              <a:t>movements"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like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FFFFFF"/>
                </a:solidFill>
                <a:latin typeface="Trebuchet MS"/>
                <a:cs typeface="Trebuchet MS"/>
              </a:rPr>
              <a:t>leg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Trebuchet MS"/>
                <a:cs typeface="Trebuchet MS"/>
              </a:rPr>
              <a:t>extensions?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Discuss </a:t>
            </a:r>
            <a:r>
              <a:rPr dirty="0" sz="2000" spc="175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investigatory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10">
                <a:solidFill>
                  <a:srgbClr val="FFFFFF"/>
                </a:solidFill>
                <a:latin typeface="Trebuchet MS"/>
                <a:cs typeface="Trebuchet MS"/>
              </a:rPr>
              <a:t>behavior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reaching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toy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helps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FFFFFF"/>
                </a:solidFill>
                <a:latin typeface="Trebuchet MS"/>
                <a:cs typeface="Trebuchet MS"/>
              </a:rPr>
              <a:t>focus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her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attention </a:t>
            </a:r>
            <a:r>
              <a:rPr dirty="0" sz="2000" spc="23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0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10">
                <a:solidFill>
                  <a:srgbClr val="FFFFFF"/>
                </a:solidFill>
                <a:latin typeface="Trebuchet MS"/>
                <a:cs typeface="Trebuchet MS"/>
              </a:rPr>
              <a:t>gather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sensory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information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04">
                <a:solidFill>
                  <a:srgbClr val="FFFFFF"/>
                </a:solidFill>
                <a:latin typeface="Trebuchet MS"/>
                <a:cs typeface="Trebuchet MS"/>
              </a:rPr>
              <a:t>needed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select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0">
                <a:solidFill>
                  <a:srgbClr val="FFFFFF"/>
                </a:solidFill>
                <a:latin typeface="Trebuchet MS"/>
                <a:cs typeface="Trebuchet MS"/>
              </a:rPr>
              <a:t>correct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movement.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750" rIns="0" bIns="0" rtlCol="0" vert="horz">
            <a:spAutoFit/>
          </a:bodyPr>
          <a:lstStyle/>
          <a:p>
            <a:pPr marL="5008880">
              <a:lnSpc>
                <a:spcPct val="100000"/>
              </a:lnSpc>
              <a:spcBef>
                <a:spcPts val="140"/>
              </a:spcBef>
            </a:pPr>
            <a:r>
              <a:rPr dirty="0" spc="120"/>
              <a:t>REFERENCES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857" y="2167064"/>
            <a:ext cx="10834370" cy="3886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2135"/>
              </a:lnSpc>
              <a:spcBef>
                <a:spcPts val="11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140">
                <a:solidFill>
                  <a:srgbClr val="FFFFFF"/>
                </a:solidFill>
                <a:latin typeface="Trebuchet MS"/>
                <a:cs typeface="Trebuchet MS"/>
              </a:rPr>
              <a:t>Andoh,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Trebuchet MS"/>
                <a:cs typeface="Trebuchet MS"/>
              </a:rPr>
              <a:t>J.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et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al.</a:t>
            </a:r>
            <a:r>
              <a:rPr dirty="0" sz="20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(2020)</a:t>
            </a:r>
            <a:r>
              <a:rPr dirty="0" sz="20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Trebuchet MS"/>
                <a:cs typeface="Trebuchet MS"/>
              </a:rPr>
              <a:t>'Assessment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cortical</a:t>
            </a:r>
            <a:r>
              <a:rPr dirty="0" sz="20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reorganization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3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0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preserved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function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ts val="1910"/>
              </a:lnSpc>
            </a:pPr>
            <a:r>
              <a:rPr dirty="0" sz="2000" spc="155">
                <a:solidFill>
                  <a:srgbClr val="FFFFFF"/>
                </a:solidFill>
                <a:latin typeface="Trebuchet MS"/>
                <a:cs typeface="Trebuchet MS"/>
              </a:rPr>
              <a:t>phantom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limb</a:t>
            </a:r>
            <a:r>
              <a:rPr dirty="0" sz="20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pain: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methodological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perspective',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Scientific</a:t>
            </a:r>
            <a:r>
              <a:rPr dirty="0" sz="20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Reports,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10(1),</a:t>
            </a:r>
            <a:endParaRPr sz="2000">
              <a:latin typeface="Trebuchet MS"/>
              <a:cs typeface="Trebuchet MS"/>
            </a:endParaRPr>
          </a:p>
          <a:p>
            <a:pPr marL="241300" marR="267970">
              <a:lnSpc>
                <a:spcPct val="79600"/>
              </a:lnSpc>
              <a:spcBef>
                <a:spcPts val="265"/>
              </a:spcBef>
              <a:tabLst>
                <a:tab pos="833755" algn="l"/>
              </a:tabLst>
            </a:pP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p.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Philadelphia: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Wolters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Kluwer)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'Evidence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0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Window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80">
                <a:solidFill>
                  <a:srgbClr val="FFFFFF"/>
                </a:solidFill>
                <a:latin typeface="Trebuchet MS"/>
                <a:cs typeface="Trebuchet MS"/>
              </a:rPr>
              <a:t>Enhanced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Plasticity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inWolters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Kluweror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Cortex</a:t>
            </a:r>
            <a:r>
              <a:rPr dirty="0" sz="20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Following</a:t>
            </a:r>
            <a:r>
              <a:rPr dirty="0" sz="20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Ischemic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Stroke',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Neurorehabilitation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1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Neural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Repair,</a:t>
            </a:r>
            <a:r>
              <a:rPr dirty="0" sz="2000" spc="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35(4).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2000">
              <a:latin typeface="Trebuchet MS"/>
              <a:cs typeface="Trebuchet MS"/>
            </a:endParaRPr>
          </a:p>
          <a:p>
            <a:pPr marL="241300" marR="80010" indent="-229235">
              <a:lnSpc>
                <a:spcPct val="811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Pediatric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Physical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Therapy</a:t>
            </a:r>
            <a:r>
              <a:rPr dirty="0" sz="20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Exercises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(2023) </a:t>
            </a:r>
            <a:r>
              <a:rPr dirty="0" sz="2000" spc="155">
                <a:solidFill>
                  <a:srgbClr val="FFFFFF"/>
                </a:solidFill>
                <a:latin typeface="Trebuchet MS"/>
                <a:cs typeface="Trebuchet MS"/>
              </a:rPr>
              <a:t>#18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75">
                <a:solidFill>
                  <a:srgbClr val="FFFFFF"/>
                </a:solidFill>
                <a:latin typeface="Trebuchet MS"/>
                <a:cs typeface="Trebuchet MS"/>
              </a:rPr>
              <a:t>Moving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0">
                <a:solidFill>
                  <a:srgbClr val="FFFFFF"/>
                </a:solidFill>
                <a:latin typeface="Trebuchet MS"/>
                <a:cs typeface="Trebuchet MS"/>
              </a:rPr>
              <a:t>Sit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0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FFFFFF"/>
                </a:solidFill>
                <a:latin typeface="Trebuchet MS"/>
                <a:cs typeface="Trebuchet MS"/>
              </a:rPr>
              <a:t>Stand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2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35">
                <a:solidFill>
                  <a:srgbClr val="FFFFFF"/>
                </a:solidFill>
                <a:latin typeface="Trebuchet MS"/>
                <a:cs typeface="Trebuchet MS"/>
              </a:rPr>
              <a:t>Knee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Support: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Pediatric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5">
                <a:solidFill>
                  <a:srgbClr val="FFFFFF"/>
                </a:solidFill>
                <a:latin typeface="Trebuchet MS"/>
                <a:cs typeface="Trebuchet MS"/>
              </a:rPr>
              <a:t>PT</a:t>
            </a:r>
            <a:r>
              <a:rPr dirty="0" sz="20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0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Trebuchet MS"/>
                <a:cs typeface="Trebuchet MS"/>
              </a:rPr>
              <a:t>Child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20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65">
                <a:solidFill>
                  <a:srgbClr val="FFFFFF"/>
                </a:solidFill>
                <a:latin typeface="Trebuchet MS"/>
                <a:cs typeface="Trebuchet MS"/>
              </a:rPr>
              <a:t>Moderate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Cerebral</a:t>
            </a:r>
            <a:r>
              <a:rPr dirty="0" sz="20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Palsy.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17</a:t>
            </a:r>
            <a:r>
              <a:rPr dirty="0" sz="20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September.</a:t>
            </a:r>
            <a:r>
              <a:rPr dirty="0" sz="20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FFFFFF"/>
                </a:solidFill>
                <a:latin typeface="Trebuchet MS"/>
                <a:cs typeface="Trebuchet MS"/>
              </a:rPr>
              <a:t>Available</a:t>
            </a:r>
            <a:r>
              <a:rPr dirty="0" sz="20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at: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https://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  <a:hlinkClick r:id="rId2"/>
              </a:rPr>
              <a:t>www.youtube.com/watch?v=5afKQfCD4GE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(Accessed: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85">
                <a:solidFill>
                  <a:srgbClr val="FFFFFF"/>
                </a:solidFill>
                <a:latin typeface="Trebuchet MS"/>
                <a:cs typeface="Trebuchet MS"/>
              </a:rPr>
              <a:t>March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2026).</a:t>
            </a:r>
            <a:endParaRPr sz="2000">
              <a:latin typeface="Trebuchet MS"/>
              <a:cs typeface="Trebuchet MS"/>
            </a:endParaRPr>
          </a:p>
          <a:p>
            <a:pPr marL="241300" marR="191135" indent="-229235">
              <a:lnSpc>
                <a:spcPct val="81100"/>
              </a:lnSpc>
              <a:spcBef>
                <a:spcPts val="9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ScienceDirect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(2025)</a:t>
            </a:r>
            <a:r>
              <a:rPr dirty="0" sz="20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'Neuroplasticity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3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0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0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FFFFFF"/>
                </a:solidFill>
                <a:latin typeface="Trebuchet MS"/>
                <a:cs typeface="Trebuchet MS"/>
              </a:rPr>
              <a:t>evolving</a:t>
            </a:r>
            <a:r>
              <a:rPr dirty="0" sz="20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brain',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Brain</a:t>
            </a:r>
            <a:r>
              <a:rPr dirty="0" sz="20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FFFFFF"/>
                </a:solidFill>
                <a:latin typeface="Trebuchet MS"/>
                <a:cs typeface="Trebuchet MS"/>
              </a:rPr>
              <a:t>Research,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1850.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Available</a:t>
            </a:r>
            <a:r>
              <a:rPr dirty="0" sz="20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at: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https://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  <a:hlinkClick r:id="rId3"/>
              </a:rPr>
              <a:t>www.sciencedirect.com/science/article/pii/S0006899325002021</a:t>
            </a:r>
            <a:r>
              <a:rPr dirty="0" sz="2000" spc="500">
                <a:solidFill>
                  <a:srgbClr val="FFFFFF"/>
                </a:solidFill>
                <a:latin typeface="Trebuchet MS"/>
                <a:cs typeface="Trebuchet MS"/>
              </a:rPr>
              <a:t>   </a:t>
            </a:r>
            <a:r>
              <a:rPr dirty="0" sz="2000" spc="130">
                <a:solidFill>
                  <a:srgbClr val="FFFFFF"/>
                </a:solidFill>
                <a:latin typeface="Trebuchet MS"/>
                <a:cs typeface="Trebuchet MS"/>
              </a:rPr>
              <a:t>(Accessed:</a:t>
            </a:r>
            <a:r>
              <a:rPr dirty="0" sz="20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20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95">
                <a:solidFill>
                  <a:srgbClr val="FFFFFF"/>
                </a:solidFill>
                <a:latin typeface="Trebuchet MS"/>
                <a:cs typeface="Trebuchet MS"/>
              </a:rPr>
              <a:t>March</a:t>
            </a:r>
            <a:r>
              <a:rPr dirty="0" sz="20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2026).</a:t>
            </a:r>
            <a:endParaRPr sz="2000">
              <a:latin typeface="Trebuchet MS"/>
              <a:cs typeface="Trebuchet MS"/>
            </a:endParaRPr>
          </a:p>
          <a:p>
            <a:pPr marL="241300" marR="240029" indent="-229235">
              <a:lnSpc>
                <a:spcPts val="1950"/>
              </a:lnSpc>
              <a:spcBef>
                <a:spcPts val="9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114">
                <a:solidFill>
                  <a:srgbClr val="FFFFFF"/>
                </a:solidFill>
                <a:latin typeface="Trebuchet MS"/>
                <a:cs typeface="Trebuchet MS"/>
              </a:rPr>
              <a:t>Shumway-</a:t>
            </a:r>
            <a:r>
              <a:rPr dirty="0" sz="2000" spc="130">
                <a:solidFill>
                  <a:srgbClr val="FFFFFF"/>
                </a:solidFill>
                <a:latin typeface="Trebuchet MS"/>
                <a:cs typeface="Trebuchet MS"/>
              </a:rPr>
              <a:t>Cook,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FFFFFF"/>
                </a:solidFill>
                <a:latin typeface="Trebuchet MS"/>
                <a:cs typeface="Trebuchet MS"/>
              </a:rPr>
              <a:t>A.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23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0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Woollacott,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Trebuchet MS"/>
                <a:cs typeface="Trebuchet MS"/>
              </a:rPr>
              <a:t>M.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75">
                <a:solidFill>
                  <a:srgbClr val="FFFFFF"/>
                </a:solidFill>
                <a:latin typeface="Trebuchet MS"/>
                <a:cs typeface="Trebuchet MS"/>
              </a:rPr>
              <a:t>H.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 (2023)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FFFFFF"/>
                </a:solidFill>
                <a:latin typeface="Trebuchet MS"/>
                <a:cs typeface="Trebuchet MS"/>
              </a:rPr>
              <a:t>Motor</a:t>
            </a:r>
            <a:r>
              <a:rPr dirty="0" sz="20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Control: Translating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10">
                <a:solidFill>
                  <a:srgbClr val="FFFFFF"/>
                </a:solidFill>
                <a:latin typeface="Trebuchet MS"/>
                <a:cs typeface="Trebuchet MS"/>
              </a:rPr>
              <a:t>Research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into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rebuchet MS"/>
                <a:cs typeface="Trebuchet MS"/>
              </a:rPr>
              <a:t>Clinical</a:t>
            </a:r>
            <a:r>
              <a:rPr dirty="0" sz="20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Practice.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6th</a:t>
            </a:r>
            <a:r>
              <a:rPr dirty="0" sz="20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FFFFFF"/>
                </a:solidFill>
                <a:latin typeface="Trebuchet MS"/>
                <a:cs typeface="Trebuchet MS"/>
              </a:rPr>
              <a:t>edn.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rebuchet MS"/>
                <a:cs typeface="Trebuchet MS"/>
              </a:rPr>
              <a:t>Philadelphia:</a:t>
            </a:r>
            <a:r>
              <a:rPr dirty="0" sz="20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FFFFFF"/>
                </a:solidFill>
                <a:latin typeface="Trebuchet MS"/>
                <a:cs typeface="Trebuchet MS"/>
              </a:rPr>
              <a:t>Wolters</a:t>
            </a:r>
            <a:r>
              <a:rPr dirty="0" sz="20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Trebuchet MS"/>
                <a:cs typeface="Trebuchet MS"/>
              </a:rPr>
              <a:t>Kluwer.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Michelle Lussier</dc:creator>
  <dcterms:created xsi:type="dcterms:W3CDTF">2026-03-03T12:25:34Z</dcterms:created>
  <dcterms:modified xsi:type="dcterms:W3CDTF">2026-03-03T12:25:34Z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2026-03-02T00:00:00Z</vt:filetime>
  </property>
  <property fmtid="{D5CDD505-2E9C-101B-9397-08002B2CF9AE}" pid="3" name="LastSaved">
    <vt:filetime>2026-03-03T00:00:00Z</vt:filetime>
  </property>
</Properties>
</file>