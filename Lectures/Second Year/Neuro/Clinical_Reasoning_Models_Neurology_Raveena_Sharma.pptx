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8"/>
  </p:normalViewPr>
  <p:slideViewPr>
    <p:cSldViewPr snapToGrid="0" snapToObjects="1">
      <p:cViewPr varScale="1">
        <p:scale>
          <a:sx n="109" d="100"/>
          <a:sy n="109" d="100"/>
        </p:scale>
        <p:origin x="1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70ABE-0792-4260-9D87-69111EDEB0BB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65DA31-E0B1-424F-9B48-FFFE5F71FA30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Clinical reasoning is the process by which physiotherapists assess, diagnose, and plan interventions.</a:t>
          </a:r>
        </a:p>
      </dgm:t>
    </dgm:pt>
    <dgm:pt modelId="{DAD26375-1AAA-4853-A6A8-A5FAA774E6B2}" type="parTrans" cxnId="{4B1842E8-0C67-44C0-8DBE-E872F6ABFB2F}">
      <dgm:prSet/>
      <dgm:spPr/>
      <dgm:t>
        <a:bodyPr/>
        <a:lstStyle/>
        <a:p>
          <a:endParaRPr lang="en-US"/>
        </a:p>
      </dgm:t>
    </dgm:pt>
    <dgm:pt modelId="{780B0743-E117-421D-96DB-1B727C32D80B}" type="sibTrans" cxnId="{4B1842E8-0C67-44C0-8DBE-E872F6ABFB2F}">
      <dgm:prSet/>
      <dgm:spPr/>
      <dgm:t>
        <a:bodyPr/>
        <a:lstStyle/>
        <a:p>
          <a:endParaRPr lang="en-US"/>
        </a:p>
      </dgm:t>
    </dgm:pt>
    <dgm:pt modelId="{695D483D-DB6E-4E2C-B1F9-09DFEE641FD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It combines:</a:t>
          </a:r>
        </a:p>
      </dgm:t>
    </dgm:pt>
    <dgm:pt modelId="{B163A48B-8C8E-4571-ADFC-BD901B75F689}" type="parTrans" cxnId="{E628383B-350D-410E-B899-7D6725848064}">
      <dgm:prSet/>
      <dgm:spPr/>
      <dgm:t>
        <a:bodyPr/>
        <a:lstStyle/>
        <a:p>
          <a:endParaRPr lang="en-US"/>
        </a:p>
      </dgm:t>
    </dgm:pt>
    <dgm:pt modelId="{1ED10595-7410-44CA-848A-BF6E4E89DA30}" type="sibTrans" cxnId="{E628383B-350D-410E-B899-7D6725848064}">
      <dgm:prSet/>
      <dgm:spPr/>
      <dgm:t>
        <a:bodyPr/>
        <a:lstStyle/>
        <a:p>
          <a:endParaRPr lang="en-US"/>
        </a:p>
      </dgm:t>
    </dgm:pt>
    <dgm:pt modelId="{9BAB6BC9-20B3-4A0E-8C9F-4AE241B0C84D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Clinical knowledge (pathology, rehab science)</a:t>
          </a:r>
        </a:p>
      </dgm:t>
    </dgm:pt>
    <dgm:pt modelId="{1D73C00E-DE74-4751-90DD-1E10C634F3CF}" type="parTrans" cxnId="{EDC8FEEE-ED82-48A9-80B9-8A25C153E258}">
      <dgm:prSet/>
      <dgm:spPr/>
      <dgm:t>
        <a:bodyPr/>
        <a:lstStyle/>
        <a:p>
          <a:endParaRPr lang="en-US"/>
        </a:p>
      </dgm:t>
    </dgm:pt>
    <dgm:pt modelId="{A57F6659-ADB2-4BB8-AFA0-EE88DC98BD95}" type="sibTrans" cxnId="{EDC8FEEE-ED82-48A9-80B9-8A25C153E258}">
      <dgm:prSet/>
      <dgm:spPr/>
      <dgm:t>
        <a:bodyPr/>
        <a:lstStyle/>
        <a:p>
          <a:endParaRPr lang="en-US"/>
        </a:p>
      </dgm:t>
    </dgm:pt>
    <dgm:pt modelId="{204A8EF2-611F-4044-9C8F-2446F2F9EE79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Evidence-based practice</a:t>
          </a:r>
        </a:p>
      </dgm:t>
    </dgm:pt>
    <dgm:pt modelId="{2D25BD0C-5A1C-47FE-A44A-15E26775ED69}" type="parTrans" cxnId="{B2537C6C-52EB-4925-972D-EC3C61682BA1}">
      <dgm:prSet/>
      <dgm:spPr/>
      <dgm:t>
        <a:bodyPr/>
        <a:lstStyle/>
        <a:p>
          <a:endParaRPr lang="en-US"/>
        </a:p>
      </dgm:t>
    </dgm:pt>
    <dgm:pt modelId="{4BDDF7B6-4C75-476F-9B8A-5DCD7190B84E}" type="sibTrans" cxnId="{B2537C6C-52EB-4925-972D-EC3C61682BA1}">
      <dgm:prSet/>
      <dgm:spPr/>
      <dgm:t>
        <a:bodyPr/>
        <a:lstStyle/>
        <a:p>
          <a:endParaRPr lang="en-US"/>
        </a:p>
      </dgm:t>
    </dgm:pt>
    <dgm:pt modelId="{A4BFABAA-AAE4-4DE0-B909-79B1BDE16E72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Patient goals and values</a:t>
          </a:r>
        </a:p>
      </dgm:t>
    </dgm:pt>
    <dgm:pt modelId="{ECAEA4CB-3371-4B5C-BCF0-F305BE790796}" type="parTrans" cxnId="{F197782F-89F1-4BC6-9C2E-D696272C326E}">
      <dgm:prSet/>
      <dgm:spPr/>
      <dgm:t>
        <a:bodyPr/>
        <a:lstStyle/>
        <a:p>
          <a:endParaRPr lang="en-US"/>
        </a:p>
      </dgm:t>
    </dgm:pt>
    <dgm:pt modelId="{ADC67BB2-4B78-45D9-AB12-EA60C6757325}" type="sibTrans" cxnId="{F197782F-89F1-4BC6-9C2E-D696272C326E}">
      <dgm:prSet/>
      <dgm:spPr/>
      <dgm:t>
        <a:bodyPr/>
        <a:lstStyle/>
        <a:p>
          <a:endParaRPr lang="en-US"/>
        </a:p>
      </dgm:t>
    </dgm:pt>
    <dgm:pt modelId="{FFA42202-4A43-41DC-A4F7-2F07B713D085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Supports safe, effective, and person-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centred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care.</a:t>
          </a:r>
        </a:p>
      </dgm:t>
    </dgm:pt>
    <dgm:pt modelId="{DF914D99-AAE4-4E25-9882-188ABD8EE34B}" type="parTrans" cxnId="{1B76C345-35E1-4DF0-8175-6444B4EA0E5A}">
      <dgm:prSet/>
      <dgm:spPr/>
      <dgm:t>
        <a:bodyPr/>
        <a:lstStyle/>
        <a:p>
          <a:endParaRPr lang="en-US"/>
        </a:p>
      </dgm:t>
    </dgm:pt>
    <dgm:pt modelId="{6A9075BF-2F6C-4A1B-95A7-B35B48274185}" type="sibTrans" cxnId="{1B76C345-35E1-4DF0-8175-6444B4EA0E5A}">
      <dgm:prSet/>
      <dgm:spPr/>
      <dgm:t>
        <a:bodyPr/>
        <a:lstStyle/>
        <a:p>
          <a:endParaRPr lang="en-US"/>
        </a:p>
      </dgm:t>
    </dgm:pt>
    <dgm:pt modelId="{2E877CF0-3C1B-9E4A-A7D9-7339983B4F5A}" type="pres">
      <dgm:prSet presAssocID="{D8D70ABE-0792-4260-9D87-69111EDEB0BB}" presName="linear" presStyleCnt="0">
        <dgm:presLayoutVars>
          <dgm:animLvl val="lvl"/>
          <dgm:resizeHandles val="exact"/>
        </dgm:presLayoutVars>
      </dgm:prSet>
      <dgm:spPr/>
    </dgm:pt>
    <dgm:pt modelId="{7A072997-B8A7-E44B-A715-83A43E02E154}" type="pres">
      <dgm:prSet presAssocID="{7A65DA31-E0B1-424F-9B48-FFFE5F71FA3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8802BCC-2CCB-C747-B698-A21DE94601C6}" type="pres">
      <dgm:prSet presAssocID="{780B0743-E117-421D-96DB-1B727C32D80B}" presName="spacer" presStyleCnt="0"/>
      <dgm:spPr/>
    </dgm:pt>
    <dgm:pt modelId="{5A2F4BF7-F1E1-7D4F-BA90-D1F0554DC675}" type="pres">
      <dgm:prSet presAssocID="{695D483D-DB6E-4E2C-B1F9-09DFEE641FD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1735EC9-1432-914A-9DA3-6E5F69A7E9F9}" type="pres">
      <dgm:prSet presAssocID="{1ED10595-7410-44CA-848A-BF6E4E89DA30}" presName="spacer" presStyleCnt="0"/>
      <dgm:spPr/>
    </dgm:pt>
    <dgm:pt modelId="{18D581B3-AAC8-024C-A38F-6491CC40A2DD}" type="pres">
      <dgm:prSet presAssocID="{9BAB6BC9-20B3-4A0E-8C9F-4AE241B0C84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B79EC7E-7E12-C44F-BAE2-4EAA437F6043}" type="pres">
      <dgm:prSet presAssocID="{A57F6659-ADB2-4BB8-AFA0-EE88DC98BD95}" presName="spacer" presStyleCnt="0"/>
      <dgm:spPr/>
    </dgm:pt>
    <dgm:pt modelId="{9BBBC185-C122-F948-BDFD-61802041E97F}" type="pres">
      <dgm:prSet presAssocID="{204A8EF2-611F-4044-9C8F-2446F2F9EE7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A22B5FB-9D4C-6E4D-8274-042BF8F1B30C}" type="pres">
      <dgm:prSet presAssocID="{4BDDF7B6-4C75-476F-9B8A-5DCD7190B84E}" presName="spacer" presStyleCnt="0"/>
      <dgm:spPr/>
    </dgm:pt>
    <dgm:pt modelId="{595E0DA2-08D8-9040-9E8D-03B185B9144F}" type="pres">
      <dgm:prSet presAssocID="{A4BFABAA-AAE4-4DE0-B909-79B1BDE16E72}" presName="parentText" presStyleLbl="node1" presStyleIdx="4" presStyleCnt="6" custLinFactNeighborX="-9579" custLinFactNeighborY="45996">
        <dgm:presLayoutVars>
          <dgm:chMax val="0"/>
          <dgm:bulletEnabled val="1"/>
        </dgm:presLayoutVars>
      </dgm:prSet>
      <dgm:spPr/>
    </dgm:pt>
    <dgm:pt modelId="{81B707BC-7F1F-4B4A-B1FB-9AAAE7971219}" type="pres">
      <dgm:prSet presAssocID="{ADC67BB2-4B78-45D9-AB12-EA60C6757325}" presName="spacer" presStyleCnt="0"/>
      <dgm:spPr/>
    </dgm:pt>
    <dgm:pt modelId="{B63159A0-2090-C749-9872-4A18F42589EE}" type="pres">
      <dgm:prSet presAssocID="{FFA42202-4A43-41DC-A4F7-2F07B713D08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0CAE42D-6D2B-DF4D-8E20-63A85090C5D8}" type="presOf" srcId="{D8D70ABE-0792-4260-9D87-69111EDEB0BB}" destId="{2E877CF0-3C1B-9E4A-A7D9-7339983B4F5A}" srcOrd="0" destOrd="0" presId="urn:microsoft.com/office/officeart/2005/8/layout/vList2"/>
    <dgm:cxn modelId="{F197782F-89F1-4BC6-9C2E-D696272C326E}" srcId="{D8D70ABE-0792-4260-9D87-69111EDEB0BB}" destId="{A4BFABAA-AAE4-4DE0-B909-79B1BDE16E72}" srcOrd="4" destOrd="0" parTransId="{ECAEA4CB-3371-4B5C-BCF0-F305BE790796}" sibTransId="{ADC67BB2-4B78-45D9-AB12-EA60C6757325}"/>
    <dgm:cxn modelId="{E628383B-350D-410E-B899-7D6725848064}" srcId="{D8D70ABE-0792-4260-9D87-69111EDEB0BB}" destId="{695D483D-DB6E-4E2C-B1F9-09DFEE641FD8}" srcOrd="1" destOrd="0" parTransId="{B163A48B-8C8E-4571-ADFC-BD901B75F689}" sibTransId="{1ED10595-7410-44CA-848A-BF6E4E89DA30}"/>
    <dgm:cxn modelId="{1B76C345-35E1-4DF0-8175-6444B4EA0E5A}" srcId="{D8D70ABE-0792-4260-9D87-69111EDEB0BB}" destId="{FFA42202-4A43-41DC-A4F7-2F07B713D085}" srcOrd="5" destOrd="0" parTransId="{DF914D99-AAE4-4E25-9882-188ABD8EE34B}" sibTransId="{6A9075BF-2F6C-4A1B-95A7-B35B48274185}"/>
    <dgm:cxn modelId="{904B495B-6188-574A-B335-7EA5EAD248CD}" type="presOf" srcId="{9BAB6BC9-20B3-4A0E-8C9F-4AE241B0C84D}" destId="{18D581B3-AAC8-024C-A38F-6491CC40A2DD}" srcOrd="0" destOrd="0" presId="urn:microsoft.com/office/officeart/2005/8/layout/vList2"/>
    <dgm:cxn modelId="{B2537C6C-52EB-4925-972D-EC3C61682BA1}" srcId="{D8D70ABE-0792-4260-9D87-69111EDEB0BB}" destId="{204A8EF2-611F-4044-9C8F-2446F2F9EE79}" srcOrd="3" destOrd="0" parTransId="{2D25BD0C-5A1C-47FE-A44A-15E26775ED69}" sibTransId="{4BDDF7B6-4C75-476F-9B8A-5DCD7190B84E}"/>
    <dgm:cxn modelId="{2A39B871-FBD8-E64B-BBC4-58D8C92BFF0D}" type="presOf" srcId="{FFA42202-4A43-41DC-A4F7-2F07B713D085}" destId="{B63159A0-2090-C749-9872-4A18F42589EE}" srcOrd="0" destOrd="0" presId="urn:microsoft.com/office/officeart/2005/8/layout/vList2"/>
    <dgm:cxn modelId="{2FC66E8D-B0D2-A545-94CA-B5C7282DC692}" type="presOf" srcId="{695D483D-DB6E-4E2C-B1F9-09DFEE641FD8}" destId="{5A2F4BF7-F1E1-7D4F-BA90-D1F0554DC675}" srcOrd="0" destOrd="0" presId="urn:microsoft.com/office/officeart/2005/8/layout/vList2"/>
    <dgm:cxn modelId="{FCFFD2AC-7E1D-4B4B-B361-A66E337B1552}" type="presOf" srcId="{7A65DA31-E0B1-424F-9B48-FFFE5F71FA30}" destId="{7A072997-B8A7-E44B-A715-83A43E02E154}" srcOrd="0" destOrd="0" presId="urn:microsoft.com/office/officeart/2005/8/layout/vList2"/>
    <dgm:cxn modelId="{31C998B7-99C2-5342-AB66-BDF4BBDFA206}" type="presOf" srcId="{204A8EF2-611F-4044-9C8F-2446F2F9EE79}" destId="{9BBBC185-C122-F948-BDFD-61802041E97F}" srcOrd="0" destOrd="0" presId="urn:microsoft.com/office/officeart/2005/8/layout/vList2"/>
    <dgm:cxn modelId="{4B1842E8-0C67-44C0-8DBE-E872F6ABFB2F}" srcId="{D8D70ABE-0792-4260-9D87-69111EDEB0BB}" destId="{7A65DA31-E0B1-424F-9B48-FFFE5F71FA30}" srcOrd="0" destOrd="0" parTransId="{DAD26375-1AAA-4853-A6A8-A5FAA774E6B2}" sibTransId="{780B0743-E117-421D-96DB-1B727C32D80B}"/>
    <dgm:cxn modelId="{EDC8FEEE-ED82-48A9-80B9-8A25C153E258}" srcId="{D8D70ABE-0792-4260-9D87-69111EDEB0BB}" destId="{9BAB6BC9-20B3-4A0E-8C9F-4AE241B0C84D}" srcOrd="2" destOrd="0" parTransId="{1D73C00E-DE74-4751-90DD-1E10C634F3CF}" sibTransId="{A57F6659-ADB2-4BB8-AFA0-EE88DC98BD95}"/>
    <dgm:cxn modelId="{C6BD8CF0-9CC6-154B-B019-1DE4DA879148}" type="presOf" srcId="{A4BFABAA-AAE4-4DE0-B909-79B1BDE16E72}" destId="{595E0DA2-08D8-9040-9E8D-03B185B9144F}" srcOrd="0" destOrd="0" presId="urn:microsoft.com/office/officeart/2005/8/layout/vList2"/>
    <dgm:cxn modelId="{49FB3339-DE1B-7547-87E0-1E8CAB43030D}" type="presParOf" srcId="{2E877CF0-3C1B-9E4A-A7D9-7339983B4F5A}" destId="{7A072997-B8A7-E44B-A715-83A43E02E154}" srcOrd="0" destOrd="0" presId="urn:microsoft.com/office/officeart/2005/8/layout/vList2"/>
    <dgm:cxn modelId="{72A45D79-3FC9-D54F-A75B-E41DA728AB86}" type="presParOf" srcId="{2E877CF0-3C1B-9E4A-A7D9-7339983B4F5A}" destId="{38802BCC-2CCB-C747-B698-A21DE94601C6}" srcOrd="1" destOrd="0" presId="urn:microsoft.com/office/officeart/2005/8/layout/vList2"/>
    <dgm:cxn modelId="{B2B7845F-B8D2-BA49-A14C-976D3E338ED1}" type="presParOf" srcId="{2E877CF0-3C1B-9E4A-A7D9-7339983B4F5A}" destId="{5A2F4BF7-F1E1-7D4F-BA90-D1F0554DC675}" srcOrd="2" destOrd="0" presId="urn:microsoft.com/office/officeart/2005/8/layout/vList2"/>
    <dgm:cxn modelId="{D92EDFC3-6802-CE4F-B391-1A4A7E31F538}" type="presParOf" srcId="{2E877CF0-3C1B-9E4A-A7D9-7339983B4F5A}" destId="{B1735EC9-1432-914A-9DA3-6E5F69A7E9F9}" srcOrd="3" destOrd="0" presId="urn:microsoft.com/office/officeart/2005/8/layout/vList2"/>
    <dgm:cxn modelId="{225E8C8C-6C3F-4945-8A31-B70A8A7B1FF8}" type="presParOf" srcId="{2E877CF0-3C1B-9E4A-A7D9-7339983B4F5A}" destId="{18D581B3-AAC8-024C-A38F-6491CC40A2DD}" srcOrd="4" destOrd="0" presId="urn:microsoft.com/office/officeart/2005/8/layout/vList2"/>
    <dgm:cxn modelId="{84F575FD-2837-FA4B-83AC-58C5A17CD715}" type="presParOf" srcId="{2E877CF0-3C1B-9E4A-A7D9-7339983B4F5A}" destId="{8B79EC7E-7E12-C44F-BAE2-4EAA437F6043}" srcOrd="5" destOrd="0" presId="urn:microsoft.com/office/officeart/2005/8/layout/vList2"/>
    <dgm:cxn modelId="{F6BCF20D-17BA-764E-8F05-2A6C5A19951F}" type="presParOf" srcId="{2E877CF0-3C1B-9E4A-A7D9-7339983B4F5A}" destId="{9BBBC185-C122-F948-BDFD-61802041E97F}" srcOrd="6" destOrd="0" presId="urn:microsoft.com/office/officeart/2005/8/layout/vList2"/>
    <dgm:cxn modelId="{2B32DBB5-30F5-F948-9893-FED4ED12048C}" type="presParOf" srcId="{2E877CF0-3C1B-9E4A-A7D9-7339983B4F5A}" destId="{BA22B5FB-9D4C-6E4D-8274-042BF8F1B30C}" srcOrd="7" destOrd="0" presId="urn:microsoft.com/office/officeart/2005/8/layout/vList2"/>
    <dgm:cxn modelId="{CE107B45-5143-704A-AAD8-24CE395CC8FA}" type="presParOf" srcId="{2E877CF0-3C1B-9E4A-A7D9-7339983B4F5A}" destId="{595E0DA2-08D8-9040-9E8D-03B185B9144F}" srcOrd="8" destOrd="0" presId="urn:microsoft.com/office/officeart/2005/8/layout/vList2"/>
    <dgm:cxn modelId="{6A8A0FE9-FDCC-2F46-8B19-35C451E345FD}" type="presParOf" srcId="{2E877CF0-3C1B-9E4A-A7D9-7339983B4F5A}" destId="{81B707BC-7F1F-4B4A-B1FB-9AAAE7971219}" srcOrd="9" destOrd="0" presId="urn:microsoft.com/office/officeart/2005/8/layout/vList2"/>
    <dgm:cxn modelId="{53C85D99-5C11-8242-A646-7BB888085ECD}" type="presParOf" srcId="{2E877CF0-3C1B-9E4A-A7D9-7339983B4F5A}" destId="{B63159A0-2090-C749-9872-4A18F42589E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452B8F-9E02-443E-81A9-6095A02B9319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73E3CD-EB0C-4AC7-B4E7-F1FD159D5D43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Hypothetico-Deductive Reasoning (HDR): Forming and testing hypotheses systematically</a:t>
          </a:r>
          <a:r>
            <a:rPr lang="en-US" dirty="0"/>
            <a:t>.</a:t>
          </a:r>
        </a:p>
      </dgm:t>
    </dgm:pt>
    <dgm:pt modelId="{2C246B7E-7705-4146-AB20-2B5CA81407B3}" type="parTrans" cxnId="{D049BED6-F2D7-4E5F-90DD-0B507E9FC8C6}">
      <dgm:prSet/>
      <dgm:spPr/>
      <dgm:t>
        <a:bodyPr/>
        <a:lstStyle/>
        <a:p>
          <a:endParaRPr lang="en-US"/>
        </a:p>
      </dgm:t>
    </dgm:pt>
    <dgm:pt modelId="{CA113F42-53A6-4B09-AD69-F03EA917BC95}" type="sibTrans" cxnId="{D049BED6-F2D7-4E5F-90DD-0B507E9FC8C6}">
      <dgm:prSet/>
      <dgm:spPr/>
      <dgm:t>
        <a:bodyPr/>
        <a:lstStyle/>
        <a:p>
          <a:endParaRPr lang="en-US"/>
        </a:p>
      </dgm:t>
    </dgm:pt>
    <dgm:pt modelId="{E90FB2B7-BC1D-4A4C-9C3B-5C012948B8B1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Pattern Recognition: Using prior experience to identify familiar patterns</a:t>
          </a:r>
          <a:r>
            <a:rPr lang="en-US" dirty="0"/>
            <a:t>.</a:t>
          </a:r>
        </a:p>
      </dgm:t>
    </dgm:pt>
    <dgm:pt modelId="{C6AE8C35-9566-4653-96E7-36327DE480F9}" type="parTrans" cxnId="{BC0E576E-7166-4C67-BC26-6D2CBE79D53D}">
      <dgm:prSet/>
      <dgm:spPr/>
      <dgm:t>
        <a:bodyPr/>
        <a:lstStyle/>
        <a:p>
          <a:endParaRPr lang="en-US"/>
        </a:p>
      </dgm:t>
    </dgm:pt>
    <dgm:pt modelId="{37C164B0-59C1-4DB4-9BCB-4ABEBE052C56}" type="sibTrans" cxnId="{BC0E576E-7166-4C67-BC26-6D2CBE79D53D}">
      <dgm:prSet/>
      <dgm:spPr/>
      <dgm:t>
        <a:bodyPr/>
        <a:lstStyle/>
        <a:p>
          <a:endParaRPr lang="en-US"/>
        </a:p>
      </dgm:t>
    </dgm:pt>
    <dgm:pt modelId="{4F5A03A5-845D-4E22-A9D3-62F74B3401F7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Narrative Reasoning: Understanding the patient's story and context.</a:t>
          </a:r>
        </a:p>
      </dgm:t>
    </dgm:pt>
    <dgm:pt modelId="{4049C2E6-7E33-4D5F-B580-BE57A6BF6EE9}" type="parTrans" cxnId="{8B98F925-362E-4E50-BCC4-1050B1190149}">
      <dgm:prSet/>
      <dgm:spPr/>
      <dgm:t>
        <a:bodyPr/>
        <a:lstStyle/>
        <a:p>
          <a:endParaRPr lang="en-US"/>
        </a:p>
      </dgm:t>
    </dgm:pt>
    <dgm:pt modelId="{26994511-4FC8-49B0-8666-F447A9AA1ADC}" type="sibTrans" cxnId="{8B98F925-362E-4E50-BCC4-1050B1190149}">
      <dgm:prSet/>
      <dgm:spPr/>
      <dgm:t>
        <a:bodyPr/>
        <a:lstStyle/>
        <a:p>
          <a:endParaRPr lang="en-US"/>
        </a:p>
      </dgm:t>
    </dgm:pt>
    <dgm:pt modelId="{635C2F56-3915-41FB-B081-85A94EC48CBC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ICF Framework: Integrates impairment, activity, and participation levels for holistic care</a:t>
          </a:r>
          <a:r>
            <a:rPr lang="en-US" dirty="0"/>
            <a:t>.</a:t>
          </a:r>
        </a:p>
      </dgm:t>
    </dgm:pt>
    <dgm:pt modelId="{FE3CCFB3-56B9-4272-81B0-6CAAA7C12859}" type="parTrans" cxnId="{AF37D57C-60CF-419E-A36C-563AA82295FB}">
      <dgm:prSet/>
      <dgm:spPr/>
      <dgm:t>
        <a:bodyPr/>
        <a:lstStyle/>
        <a:p>
          <a:endParaRPr lang="en-US"/>
        </a:p>
      </dgm:t>
    </dgm:pt>
    <dgm:pt modelId="{C99116C0-AE44-4918-8B15-44EADAF27CE7}" type="sibTrans" cxnId="{AF37D57C-60CF-419E-A36C-563AA82295FB}">
      <dgm:prSet/>
      <dgm:spPr/>
      <dgm:t>
        <a:bodyPr/>
        <a:lstStyle/>
        <a:p>
          <a:endParaRPr lang="en-US"/>
        </a:p>
      </dgm:t>
    </dgm:pt>
    <dgm:pt modelId="{B09FC957-0EDE-1C4D-B993-7CE020A9F296}" type="pres">
      <dgm:prSet presAssocID="{94452B8F-9E02-443E-81A9-6095A02B9319}" presName="linear" presStyleCnt="0">
        <dgm:presLayoutVars>
          <dgm:animLvl val="lvl"/>
          <dgm:resizeHandles val="exact"/>
        </dgm:presLayoutVars>
      </dgm:prSet>
      <dgm:spPr/>
    </dgm:pt>
    <dgm:pt modelId="{F04C552B-9C72-5642-AB8D-5CFBA5F7A174}" type="pres">
      <dgm:prSet presAssocID="{3873E3CD-EB0C-4AC7-B4E7-F1FD159D5D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2B8CAF-FF35-D741-8585-AA63EE6386F4}" type="pres">
      <dgm:prSet presAssocID="{CA113F42-53A6-4B09-AD69-F03EA917BC95}" presName="spacer" presStyleCnt="0"/>
      <dgm:spPr/>
    </dgm:pt>
    <dgm:pt modelId="{984CEBA7-CA11-EF4F-8083-9AF8B9EB231C}" type="pres">
      <dgm:prSet presAssocID="{E90FB2B7-BC1D-4A4C-9C3B-5C012948B8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9AAF92-8FBD-9C47-A1FB-58D2AC36E4F4}" type="pres">
      <dgm:prSet presAssocID="{37C164B0-59C1-4DB4-9BCB-4ABEBE052C56}" presName="spacer" presStyleCnt="0"/>
      <dgm:spPr/>
    </dgm:pt>
    <dgm:pt modelId="{6B2A2236-07F0-6B49-996F-66506962A18F}" type="pres">
      <dgm:prSet presAssocID="{4F5A03A5-845D-4E22-A9D3-62F74B3401F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6A85C0-58C4-0848-800C-8DF055F52491}" type="pres">
      <dgm:prSet presAssocID="{26994511-4FC8-49B0-8666-F447A9AA1ADC}" presName="spacer" presStyleCnt="0"/>
      <dgm:spPr/>
    </dgm:pt>
    <dgm:pt modelId="{609C4C05-6DCF-6849-9220-4E8B2EBB4281}" type="pres">
      <dgm:prSet presAssocID="{635C2F56-3915-41FB-B081-85A94EC48C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C13611-E47A-C444-9CAC-1DEAE6CF0D3B}" type="presOf" srcId="{94452B8F-9E02-443E-81A9-6095A02B9319}" destId="{B09FC957-0EDE-1C4D-B993-7CE020A9F296}" srcOrd="0" destOrd="0" presId="urn:microsoft.com/office/officeart/2005/8/layout/vList2"/>
    <dgm:cxn modelId="{8B98F925-362E-4E50-BCC4-1050B1190149}" srcId="{94452B8F-9E02-443E-81A9-6095A02B9319}" destId="{4F5A03A5-845D-4E22-A9D3-62F74B3401F7}" srcOrd="2" destOrd="0" parTransId="{4049C2E6-7E33-4D5F-B580-BE57A6BF6EE9}" sibTransId="{26994511-4FC8-49B0-8666-F447A9AA1ADC}"/>
    <dgm:cxn modelId="{08E6446D-47D7-A64D-92A7-32E55952AED2}" type="presOf" srcId="{4F5A03A5-845D-4E22-A9D3-62F74B3401F7}" destId="{6B2A2236-07F0-6B49-996F-66506962A18F}" srcOrd="0" destOrd="0" presId="urn:microsoft.com/office/officeart/2005/8/layout/vList2"/>
    <dgm:cxn modelId="{BC0E576E-7166-4C67-BC26-6D2CBE79D53D}" srcId="{94452B8F-9E02-443E-81A9-6095A02B9319}" destId="{E90FB2B7-BC1D-4A4C-9C3B-5C012948B8B1}" srcOrd="1" destOrd="0" parTransId="{C6AE8C35-9566-4653-96E7-36327DE480F9}" sibTransId="{37C164B0-59C1-4DB4-9BCB-4ABEBE052C56}"/>
    <dgm:cxn modelId="{8AE9F86E-7577-C34A-B5F7-A7E04A7979A2}" type="presOf" srcId="{635C2F56-3915-41FB-B081-85A94EC48CBC}" destId="{609C4C05-6DCF-6849-9220-4E8B2EBB4281}" srcOrd="0" destOrd="0" presId="urn:microsoft.com/office/officeart/2005/8/layout/vList2"/>
    <dgm:cxn modelId="{AF37D57C-60CF-419E-A36C-563AA82295FB}" srcId="{94452B8F-9E02-443E-81A9-6095A02B9319}" destId="{635C2F56-3915-41FB-B081-85A94EC48CBC}" srcOrd="3" destOrd="0" parTransId="{FE3CCFB3-56B9-4272-81B0-6CAAA7C12859}" sibTransId="{C99116C0-AE44-4918-8B15-44EADAF27CE7}"/>
    <dgm:cxn modelId="{62F9AE95-40A3-D546-B382-C5D50C61116F}" type="presOf" srcId="{E90FB2B7-BC1D-4A4C-9C3B-5C012948B8B1}" destId="{984CEBA7-CA11-EF4F-8083-9AF8B9EB231C}" srcOrd="0" destOrd="0" presId="urn:microsoft.com/office/officeart/2005/8/layout/vList2"/>
    <dgm:cxn modelId="{1A6BDE98-8387-EF4A-A4D1-35EAF21A6438}" type="presOf" srcId="{3873E3CD-EB0C-4AC7-B4E7-F1FD159D5D43}" destId="{F04C552B-9C72-5642-AB8D-5CFBA5F7A174}" srcOrd="0" destOrd="0" presId="urn:microsoft.com/office/officeart/2005/8/layout/vList2"/>
    <dgm:cxn modelId="{D049BED6-F2D7-4E5F-90DD-0B507E9FC8C6}" srcId="{94452B8F-9E02-443E-81A9-6095A02B9319}" destId="{3873E3CD-EB0C-4AC7-B4E7-F1FD159D5D43}" srcOrd="0" destOrd="0" parTransId="{2C246B7E-7705-4146-AB20-2B5CA81407B3}" sibTransId="{CA113F42-53A6-4B09-AD69-F03EA917BC95}"/>
    <dgm:cxn modelId="{DE278724-8AC7-624C-B1CB-74173B5A2A82}" type="presParOf" srcId="{B09FC957-0EDE-1C4D-B993-7CE020A9F296}" destId="{F04C552B-9C72-5642-AB8D-5CFBA5F7A174}" srcOrd="0" destOrd="0" presId="urn:microsoft.com/office/officeart/2005/8/layout/vList2"/>
    <dgm:cxn modelId="{5FD27E1B-ECCF-F048-8DE4-D8FD36C1B9C0}" type="presParOf" srcId="{B09FC957-0EDE-1C4D-B993-7CE020A9F296}" destId="{8F2B8CAF-FF35-D741-8585-AA63EE6386F4}" srcOrd="1" destOrd="0" presId="urn:microsoft.com/office/officeart/2005/8/layout/vList2"/>
    <dgm:cxn modelId="{EB46D7CB-F226-A04A-9572-371400364E61}" type="presParOf" srcId="{B09FC957-0EDE-1C4D-B993-7CE020A9F296}" destId="{984CEBA7-CA11-EF4F-8083-9AF8B9EB231C}" srcOrd="2" destOrd="0" presId="urn:microsoft.com/office/officeart/2005/8/layout/vList2"/>
    <dgm:cxn modelId="{0E13DD0A-CE31-474F-8127-8B6BA92866B4}" type="presParOf" srcId="{B09FC957-0EDE-1C4D-B993-7CE020A9F296}" destId="{249AAF92-8FBD-9C47-A1FB-58D2AC36E4F4}" srcOrd="3" destOrd="0" presId="urn:microsoft.com/office/officeart/2005/8/layout/vList2"/>
    <dgm:cxn modelId="{B1806984-C791-094F-A98C-00243F916009}" type="presParOf" srcId="{B09FC957-0EDE-1C4D-B993-7CE020A9F296}" destId="{6B2A2236-07F0-6B49-996F-66506962A18F}" srcOrd="4" destOrd="0" presId="urn:microsoft.com/office/officeart/2005/8/layout/vList2"/>
    <dgm:cxn modelId="{7E692015-AA4D-124F-ACCF-1DC3E979C49B}" type="presParOf" srcId="{B09FC957-0EDE-1C4D-B993-7CE020A9F296}" destId="{046A85C0-58C4-0848-800C-8DF055F52491}" srcOrd="5" destOrd="0" presId="urn:microsoft.com/office/officeart/2005/8/layout/vList2"/>
    <dgm:cxn modelId="{57CFCA95-86C8-D54B-B9A4-1FDE9A67D92E}" type="presParOf" srcId="{B09FC957-0EDE-1C4D-B993-7CE020A9F296}" destId="{609C4C05-6DCF-6849-9220-4E8B2EBB42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072997-B8A7-E44B-A715-83A43E02E154}">
      <dsp:nvSpPr>
        <dsp:cNvPr id="0" name=""/>
        <dsp:cNvSpPr/>
      </dsp:nvSpPr>
      <dsp:spPr>
        <a:xfrm>
          <a:off x="0" y="119253"/>
          <a:ext cx="7932419" cy="617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Clinical reasoning is the process by which physiotherapists assess, diagnose, and plan interventions.</a:t>
          </a:r>
        </a:p>
      </dsp:txBody>
      <dsp:txXfrm>
        <a:off x="30157" y="149410"/>
        <a:ext cx="7872105" cy="557446"/>
      </dsp:txXfrm>
    </dsp:sp>
    <dsp:sp modelId="{5A2F4BF7-F1E1-7D4F-BA90-D1F0554DC675}">
      <dsp:nvSpPr>
        <dsp:cNvPr id="0" name=""/>
        <dsp:cNvSpPr/>
      </dsp:nvSpPr>
      <dsp:spPr>
        <a:xfrm>
          <a:off x="0" y="783094"/>
          <a:ext cx="7932419" cy="617760"/>
        </a:xfrm>
        <a:prstGeom prst="roundRect">
          <a:avLst/>
        </a:prstGeom>
        <a:solidFill>
          <a:schemeClr val="accent2">
            <a:hueOff val="505987"/>
            <a:satOff val="-9572"/>
            <a:lumOff val="-6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It combines:</a:t>
          </a:r>
        </a:p>
      </dsp:txBody>
      <dsp:txXfrm>
        <a:off x="30157" y="813251"/>
        <a:ext cx="7872105" cy="557446"/>
      </dsp:txXfrm>
    </dsp:sp>
    <dsp:sp modelId="{18D581B3-AAC8-024C-A38F-6491CC40A2DD}">
      <dsp:nvSpPr>
        <dsp:cNvPr id="0" name=""/>
        <dsp:cNvSpPr/>
      </dsp:nvSpPr>
      <dsp:spPr>
        <a:xfrm>
          <a:off x="0" y="1446934"/>
          <a:ext cx="7932419" cy="617760"/>
        </a:xfrm>
        <a:prstGeom prst="roundRect">
          <a:avLst/>
        </a:prstGeom>
        <a:solidFill>
          <a:schemeClr val="accent2">
            <a:hueOff val="1011974"/>
            <a:satOff val="-19145"/>
            <a:lumOff val="-13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Clinical knowledge (pathology, rehab science)</a:t>
          </a:r>
        </a:p>
      </dsp:txBody>
      <dsp:txXfrm>
        <a:off x="30157" y="1477091"/>
        <a:ext cx="7872105" cy="557446"/>
      </dsp:txXfrm>
    </dsp:sp>
    <dsp:sp modelId="{9BBBC185-C122-F948-BDFD-61802041E97F}">
      <dsp:nvSpPr>
        <dsp:cNvPr id="0" name=""/>
        <dsp:cNvSpPr/>
      </dsp:nvSpPr>
      <dsp:spPr>
        <a:xfrm>
          <a:off x="0" y="2110774"/>
          <a:ext cx="7932419" cy="617760"/>
        </a:xfrm>
        <a:prstGeom prst="roundRect">
          <a:avLst/>
        </a:prstGeom>
        <a:solidFill>
          <a:schemeClr val="accent2">
            <a:hueOff val="1517960"/>
            <a:satOff val="-28717"/>
            <a:lumOff val="-200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Evidence-based practice</a:t>
          </a:r>
        </a:p>
      </dsp:txBody>
      <dsp:txXfrm>
        <a:off x="30157" y="2140931"/>
        <a:ext cx="7872105" cy="557446"/>
      </dsp:txXfrm>
    </dsp:sp>
    <dsp:sp modelId="{595E0DA2-08D8-9040-9E8D-03B185B9144F}">
      <dsp:nvSpPr>
        <dsp:cNvPr id="0" name=""/>
        <dsp:cNvSpPr/>
      </dsp:nvSpPr>
      <dsp:spPr>
        <a:xfrm>
          <a:off x="0" y="2795808"/>
          <a:ext cx="7932419" cy="617760"/>
        </a:xfrm>
        <a:prstGeom prst="roundRect">
          <a:avLst/>
        </a:prstGeom>
        <a:solidFill>
          <a:schemeClr val="accent2">
            <a:hueOff val="2023947"/>
            <a:satOff val="-38290"/>
            <a:lumOff val="-266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Patient goals and values</a:t>
          </a:r>
        </a:p>
      </dsp:txBody>
      <dsp:txXfrm>
        <a:off x="30157" y="2825965"/>
        <a:ext cx="7872105" cy="557446"/>
      </dsp:txXfrm>
    </dsp:sp>
    <dsp:sp modelId="{B63159A0-2090-C749-9872-4A18F42589EE}">
      <dsp:nvSpPr>
        <dsp:cNvPr id="0" name=""/>
        <dsp:cNvSpPr/>
      </dsp:nvSpPr>
      <dsp:spPr>
        <a:xfrm>
          <a:off x="0" y="3438454"/>
          <a:ext cx="7932419" cy="617760"/>
        </a:xfrm>
        <a:prstGeom prst="roundRect">
          <a:avLst/>
        </a:prstGeom>
        <a:solidFill>
          <a:schemeClr val="accent2">
            <a:hueOff val="2529934"/>
            <a:satOff val="-47862"/>
            <a:lumOff val="-33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Supports safe, effective, and person-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centred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care.</a:t>
          </a:r>
        </a:p>
      </dsp:txBody>
      <dsp:txXfrm>
        <a:off x="30157" y="3468611"/>
        <a:ext cx="7872105" cy="557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C552B-9C72-5642-AB8D-5CFBA5F7A174}">
      <dsp:nvSpPr>
        <dsp:cNvPr id="0" name=""/>
        <dsp:cNvSpPr/>
      </dsp:nvSpPr>
      <dsp:spPr>
        <a:xfrm>
          <a:off x="0" y="49233"/>
          <a:ext cx="7932419" cy="965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Hypothetico-Deductive Reasoning (HDR): Forming and testing hypotheses systematically</a:t>
          </a:r>
          <a:r>
            <a:rPr lang="en-US" sz="2500" kern="1200" dirty="0"/>
            <a:t>.</a:t>
          </a:r>
        </a:p>
      </dsp:txBody>
      <dsp:txXfrm>
        <a:off x="47120" y="96353"/>
        <a:ext cx="7838179" cy="871010"/>
      </dsp:txXfrm>
    </dsp:sp>
    <dsp:sp modelId="{984CEBA7-CA11-EF4F-8083-9AF8B9EB231C}">
      <dsp:nvSpPr>
        <dsp:cNvPr id="0" name=""/>
        <dsp:cNvSpPr/>
      </dsp:nvSpPr>
      <dsp:spPr>
        <a:xfrm>
          <a:off x="0" y="1086484"/>
          <a:ext cx="7932419" cy="965250"/>
        </a:xfrm>
        <a:prstGeom prst="roundRect">
          <a:avLst/>
        </a:prstGeom>
        <a:solidFill>
          <a:schemeClr val="accent2">
            <a:hueOff val="843311"/>
            <a:satOff val="-15954"/>
            <a:lumOff val="-11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Pattern Recognition: Using prior experience to identify familiar patterns</a:t>
          </a:r>
          <a:r>
            <a:rPr lang="en-US" sz="2500" kern="1200" dirty="0"/>
            <a:t>.</a:t>
          </a:r>
        </a:p>
      </dsp:txBody>
      <dsp:txXfrm>
        <a:off x="47120" y="1133604"/>
        <a:ext cx="7838179" cy="871010"/>
      </dsp:txXfrm>
    </dsp:sp>
    <dsp:sp modelId="{6B2A2236-07F0-6B49-996F-66506962A18F}">
      <dsp:nvSpPr>
        <dsp:cNvPr id="0" name=""/>
        <dsp:cNvSpPr/>
      </dsp:nvSpPr>
      <dsp:spPr>
        <a:xfrm>
          <a:off x="0" y="2123734"/>
          <a:ext cx="7932419" cy="965250"/>
        </a:xfrm>
        <a:prstGeom prst="roundRect">
          <a:avLst/>
        </a:prstGeom>
        <a:solidFill>
          <a:schemeClr val="accent2">
            <a:hueOff val="1686623"/>
            <a:satOff val="-31908"/>
            <a:lumOff val="-22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Narrative Reasoning: Understanding the patient's story and context.</a:t>
          </a:r>
        </a:p>
      </dsp:txBody>
      <dsp:txXfrm>
        <a:off x="47120" y="2170854"/>
        <a:ext cx="7838179" cy="871010"/>
      </dsp:txXfrm>
    </dsp:sp>
    <dsp:sp modelId="{609C4C05-6DCF-6849-9220-4E8B2EBB4281}">
      <dsp:nvSpPr>
        <dsp:cNvPr id="0" name=""/>
        <dsp:cNvSpPr/>
      </dsp:nvSpPr>
      <dsp:spPr>
        <a:xfrm>
          <a:off x="0" y="3160983"/>
          <a:ext cx="7932419" cy="965250"/>
        </a:xfrm>
        <a:prstGeom prst="roundRect">
          <a:avLst/>
        </a:prstGeom>
        <a:solidFill>
          <a:schemeClr val="accent2">
            <a:hueOff val="2529934"/>
            <a:satOff val="-47862"/>
            <a:lumOff val="-333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ICF Framework: Integrates impairment, activity, and participation levels for holistic care</a:t>
          </a:r>
          <a:r>
            <a:rPr lang="en-US" sz="2500" kern="1200" dirty="0"/>
            <a:t>.</a:t>
          </a:r>
        </a:p>
      </dsp:txBody>
      <dsp:txXfrm>
        <a:off x="47120" y="3208103"/>
        <a:ext cx="7838179" cy="871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2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5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4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8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0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8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6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7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Clinical Reasoning Models in Neurological Physiotherapy &amp; Care Pathways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by: Raveena </a:t>
            </a:r>
            <a:r>
              <a:rPr dirty="0" err="1"/>
              <a:t>Sharma,</a:t>
            </a:r>
            <a:r>
              <a:rPr dirty="0"/>
              <a:t> Advanced Clinical Practitioner</a:t>
            </a:r>
            <a:r>
              <a:rPr lang="en-GB" dirty="0"/>
              <a:t> ACP ( PHYSIO ) </a:t>
            </a:r>
          </a:p>
          <a:p>
            <a:r>
              <a:rPr lang="en-GB" dirty="0"/>
              <a:t>NIHR Fellow Imperial collage of London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960120"/>
            <a:ext cx="2899271" cy="4171278"/>
          </a:xfrm>
        </p:spPr>
        <p:txBody>
          <a:bodyPr>
            <a:normAutofit/>
          </a:bodyPr>
          <a:lstStyle/>
          <a:p>
            <a:pPr algn="r"/>
            <a:r>
              <a:rPr lang="en-GB" sz="3800" dirty="0">
                <a:solidFill>
                  <a:schemeClr val="tx1"/>
                </a:solidFill>
              </a:rPr>
              <a:t>Learning Objectives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64197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7373" y="960120"/>
            <a:ext cx="4133850" cy="417127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By the end of this session you will be able to: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Describe key clinical reasoning models in neurological physiotherapy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Explain how these models guide assessment, goal setting, and intervention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Differentiate between impairment-, activity-, and participation-focused reasoning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Apply reasoning models to neurological case examples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Outline typical care pathways and MDT roles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Discuss barriers and facilitators to neurological rehab access</a:t>
            </a:r>
          </a:p>
          <a:p>
            <a:pPr>
              <a:lnSpc>
                <a:spcPct val="110000"/>
              </a:lnSpc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Integrate EBP, patient values, and expertise in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465" y="798881"/>
            <a:ext cx="6505070" cy="10489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What is Clinical Reasoning?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4D33C1-E8CA-74CD-DCEE-68D366D1D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089818"/>
              </p:ext>
            </p:extLst>
          </p:nvPr>
        </p:nvGraphicFramePr>
        <p:xfrm>
          <a:off x="605791" y="1990976"/>
          <a:ext cx="7932419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465" y="798881"/>
            <a:ext cx="6505070" cy="1048945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Key Clinical Reasoning 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239320-EAA1-7C3B-4717-F82286525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969651"/>
              </p:ext>
            </p:extLst>
          </p:nvPr>
        </p:nvGraphicFramePr>
        <p:xfrm>
          <a:off x="605791" y="1990976"/>
          <a:ext cx="7932419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960120"/>
            <a:ext cx="2899271" cy="4171278"/>
          </a:xfrm>
        </p:spPr>
        <p:txBody>
          <a:bodyPr>
            <a:normAutofit/>
          </a:bodyPr>
          <a:lstStyle/>
          <a:p>
            <a:pPr algn="r"/>
            <a:r>
              <a:rPr lang="en-GB" sz="3800" dirty="0">
                <a:solidFill>
                  <a:schemeClr val="tx1"/>
                </a:solidFill>
              </a:rPr>
              <a:t>Hypothetico-Deductive Model (HDR)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64197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2"/>
          <p:cNvSpPr>
            <a:spLocks noGrp="1"/>
          </p:cNvSpPr>
          <p:nvPr>
            <p:ph idx="1"/>
          </p:nvPr>
        </p:nvSpPr>
        <p:spPr>
          <a:xfrm>
            <a:off x="3737373" y="960120"/>
            <a:ext cx="4133850" cy="417127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dirty="0"/>
              <a:t>Process:</a:t>
            </a: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Gather data</a:t>
            </a: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Generate hypotheses</a:t>
            </a: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Test and confirm/refute</a:t>
            </a: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Reach reasoning outcome</a:t>
            </a:r>
          </a:p>
          <a:p>
            <a:pPr>
              <a:lnSpc>
                <a:spcPct val="110000"/>
              </a:lnSpc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Advantages: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Logical and structured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Disadvantages:</a:t>
            </a: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Time-consuming for novices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Example: Stroke patient with weakness →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hypothesise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UMN lesion → test and confirm via imaging.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Used by experienced clinicians.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Quickly matches patient presentation to known 'illness scripts'.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Recognising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Parkinsonian gait pattern.</a:t>
            </a: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✅ Quick, efficient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⚠️ Risk of bias if pattern incomplete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Focuses on patient's story, emotions, and values.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Informs shared decision-making and motivation.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Example: Young adult with MS anxious about independence → goals include emotional resilience and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ICF Framework in Neurology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International Classification of Functioning, Disability and Health (ICF):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Body functions/structures → e.g., spasticity, weakness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Activity → e.g., walking, transfers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Participation → e.g., work, social life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Environmental factors → e.g., home adaptations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Supports holistic and goal-oriented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Reasoning Focus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Impairment-focused: Address specific deficits (e.g., strength, tone)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Activity-focused: Improve task performance (e.g., transfers)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Participation-focused: Enhance life roles (e.g., work, community reintegration)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Balanced reasoning integrates all three.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Models to Neurological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Stroke: HDR for lesion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localisation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; ICF for function goals.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Parkinson’s Disease: Pattern recognition in gait; narrative for independence goals.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•Multiple Sclerosis: Distinguish relapse vs progression; narrative supports coping.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Spinal Cord Injury: Impairment (tone), Activity (transfers), Participation (community).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Neurological Care Pathways (UK)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Stages: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Acute care –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Stabilisation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and early MDT involvement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Inpatient rehab – Intensive, goal-directed therapy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Community services – Home-based, adaptive strategies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Long-term management – Maintenance, education, relapse prevention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Multidisciplinary Team (MDT)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Physiotherapist: Mobility, function, recovery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OT: ADLs, environmental adaptation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SLT: Communication, swallowing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Neuropsychologist: Mood, cognition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Nurse: Education, monitoring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Social worker: Support access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GP/Consultant: Medical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Barriers &amp; Facilitators to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Barriers: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Socioeconomic inequality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Geographical variation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Long waiting lists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Facilitators: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Early referral, MDT integration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Tele-rehab, home visits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NICE guideline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standardisation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Evidence-Based Practice in Neurology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Integrates: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Research evidence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Clinical expertise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Patient values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Example: Evidence-based gait training tailored to patient’s lifestyle and goals.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Effective reasoning blends: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Patient narrative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Enables accurate assessment,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personalised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care, and improved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15</TotalTime>
  <Words>668</Words>
  <Application>Microsoft Macintosh PowerPoint</Application>
  <PresentationFormat>On-screen Show (4:3)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 Light</vt:lpstr>
      <vt:lpstr>Rockwell</vt:lpstr>
      <vt:lpstr>Wingdings</vt:lpstr>
      <vt:lpstr>Atlas</vt:lpstr>
      <vt:lpstr>Clinical Reasoning Models in Neurological Physiotherapy &amp; Care Pathways</vt:lpstr>
      <vt:lpstr>Learning Objectives</vt:lpstr>
      <vt:lpstr>What is Clinical Reasoning?</vt:lpstr>
      <vt:lpstr>Key Clinical Reasoning Models</vt:lpstr>
      <vt:lpstr>Hypothetico-Deductive Model (HDR)</vt:lpstr>
      <vt:lpstr>Pattern Recognition</vt:lpstr>
      <vt:lpstr>Narrative Reasoning</vt:lpstr>
      <vt:lpstr>ICF Framework in Neurology</vt:lpstr>
      <vt:lpstr>Reasoning Focus Types</vt:lpstr>
      <vt:lpstr>Applying Models to Neurological Cases</vt:lpstr>
      <vt:lpstr>Neurological Care Pathways (UK)</vt:lpstr>
      <vt:lpstr>Multidisciplinary Team (MDT) Roles</vt:lpstr>
      <vt:lpstr>Barriers &amp; Facilitators to Access</vt:lpstr>
      <vt:lpstr>Evidence-Based Practice in Neurology</vt:lpstr>
      <vt:lpstr>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Raveena (CENTRAL LONDON COMMUNITY HEALTHCARE NHS TRUST)</cp:lastModifiedBy>
  <cp:revision>3</cp:revision>
  <dcterms:created xsi:type="dcterms:W3CDTF">2013-01-27T09:14:16Z</dcterms:created>
  <dcterms:modified xsi:type="dcterms:W3CDTF">2025-10-10T12:28:11Z</dcterms:modified>
  <cp:category/>
</cp:coreProperties>
</file>