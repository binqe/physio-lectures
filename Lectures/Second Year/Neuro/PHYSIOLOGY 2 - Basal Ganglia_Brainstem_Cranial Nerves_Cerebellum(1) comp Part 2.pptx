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ink/ink1.xml" ContentType="application/inkml+xml"/>
  <Override PartName="/ppt/ink/ink2.xml" ContentType="application/inkml+xml"/>
  <Override PartName="/ppt/notesMasters/notesMaster1.xml" ContentType="application/vnd.openxmlformats-officedocument.presentationml.notesMaster+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5"/>
  </p:notesMasterIdLst>
  <p:sldIdLst>
    <p:sldId id="661" r:id="rId53"/>
    <p:sldId id="662" r:id="rId54"/>
    <p:sldId id="663" r:id="rId55"/>
    <p:sldId id="664" r:id="rId56"/>
    <p:sldId id="665" r:id="rId57"/>
    <p:sldId id="666" r:id="rId58"/>
    <p:sldId id="667" r:id="rId59"/>
    <p:sldId id="639" r:id="rId60"/>
    <p:sldId id="637" r:id="rId61"/>
    <p:sldId id="635" r:id="rId62"/>
    <p:sldId id="636" r:id="rId63"/>
    <p:sldId id="668" r:id="rId64"/>
    <p:sldId id="669" r:id="rId65"/>
    <p:sldId id="670" r:id="rId66"/>
    <p:sldId id="671" r:id="rId67"/>
    <p:sldId id="672" r:id="rId68"/>
    <p:sldId id="673" r:id="rId69"/>
    <p:sldId id="674" r:id="rId70"/>
    <p:sldId id="638" r:id="rId71"/>
    <p:sldId id="675" r:id="rId72"/>
    <p:sldId id="676" r:id="rId73"/>
    <p:sldId id="677" r:id="rId74"/>
    <p:sldId id="678" r:id="rId75"/>
    <p:sldId id="679" r:id="rId76"/>
    <p:sldId id="680" r:id="rId77"/>
    <p:sldId id="681" r:id="rId78"/>
    <p:sldId id="682" r:id="rId79"/>
    <p:sldId id="683" r:id="rId80"/>
    <p:sldId id="624" r:id="rId81"/>
    <p:sldId id="684" r:id="rId82"/>
    <p:sldId id="685" r:id="rId83"/>
    <p:sldId id="686" r:id="rId84"/>
    <p:sldId id="256" r:id="rId85"/>
    <p:sldId id="260" r:id="rId86"/>
    <p:sldId id="258" r:id="rId87"/>
    <p:sldId id="259" r:id="rId88"/>
    <p:sldId id="262" r:id="rId89"/>
    <p:sldId id="266" r:id="rId90"/>
    <p:sldId id="265" r:id="rId91"/>
    <p:sldId id="263" r:id="rId92"/>
    <p:sldId id="271" r:id="rId93"/>
    <p:sldId id="270" r:id="rId94"/>
    <p:sldId id="267" r:id="rId95"/>
    <p:sldId id="273" r:id="rId96"/>
    <p:sldId id="272" r:id="rId97"/>
    <p:sldId id="274" r:id="rId98"/>
    <p:sldId id="264" r:id="rId99"/>
    <p:sldId id="275" r:id="rId100"/>
    <p:sldId id="269" r:id="rId101"/>
    <p:sldId id="268" r:id="rId102"/>
    <p:sldId id="276" r:id="rId103"/>
    <p:sldId id="690" r:id="rId10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78BE8F"/>
    <a:srgbClr val="E8B4B4"/>
    <a:srgbClr val="AFBC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D8614C-30B7-429A-A535-4E23E79AA955}" v="32" dt="2025-11-18T08:17:07.4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34" d="100"/>
          <a:sy n="34" d="100"/>
        </p:scale>
        <p:origin x="49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notesMaster" Target="notesMasters/notesMaster1.xml"/><Relationship Id="rId106" Type="http://schemas.openxmlformats.org/officeDocument/2006/relationships/presProps" Target="presProps.xml"/><Relationship Id="rId107" Type="http://schemas.openxmlformats.org/officeDocument/2006/relationships/viewProps" Target="viewProps.xml"/><Relationship Id="rId108" Type="http://schemas.openxmlformats.org/officeDocument/2006/relationships/theme" Target="theme/theme1.xml"/><Relationship Id="rId109" Type="http://schemas.openxmlformats.org/officeDocument/2006/relationships/tableStyles" Target="tableStyles.xml"/><Relationship Id="rId110" Type="http://schemas.microsoft.com/office/2015/10/relationships/revisionInfo" Target="revisionInfo.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3:38:07.288"/>
    </inkml:context>
    <inkml:brush xml:id="br0">
      <inkml:brushProperty name="width" value="0.05" units="cm"/>
      <inkml:brushProperty name="height" value="0.05" units="cm"/>
    </inkml:brush>
  </inkml:definitions>
  <inkml:trace contextRef="#ctx0" brushRef="#br0">0 96 8751 0 0,'0'0'4720'0'0,"3"-35"-5816"0"0,8 17-1728 0 0,-3-4 328 0 0,0 1-64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4:04:44.703"/>
    </inkml:context>
    <inkml:brush xml:id="br0">
      <inkml:brushProperty name="width" value="0.05" units="cm"/>
      <inkml:brushProperty name="height" value="0.05" units="cm"/>
    </inkml:brush>
  </inkml:definitions>
  <inkml:trace contextRef="#ctx0" brushRef="#br0">0 1 11975 0 0,'0'0'1280'0'0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1FE3A9-EB88-4F3E-BC13-21D01E6DF49C}" type="datetimeFigureOut">
              <a:rPr lang="en-GB" smtClean="0"/>
              <a:t>18/11/2025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4AEA9A-0A32-49E6-8689-C373B0AE9683}" type="slidenum">
              <a:rPr lang="en-GB" smtClean="0"/>
              <a:t>‹#›</a:t>
            </a:fld>
            <a:endParaRPr lang="en-GB"/>
          </a:p>
        </p:txBody>
      </p:sp>
    </p:spTree>
    <p:extLst>
      <p:ext uri="{BB962C8B-B14F-4D97-AF65-F5344CB8AC3E}">
        <p14:creationId xmlns:p14="http://schemas.microsoft.com/office/powerpoint/2010/main" val="2936051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 cerebellum is made up of two hemispheres connected by</a:t>
            </a:r>
          </a:p>
          <a:p>
            <a:r>
              <a:rPr lang="en-GB" sz="1200" b="0" i="0" u="none" strike="noStrike" kern="1200" baseline="0" dirty="0">
                <a:solidFill>
                  <a:schemeClr val="tx1"/>
                </a:solidFill>
                <a:latin typeface="+mn-lt"/>
                <a:ea typeface="+mn-ea"/>
                <a:cs typeface="+mn-cs"/>
              </a:rPr>
              <a:t>the vermis in the midline (Fig. 3.16). The vermis is distinct</a:t>
            </a:r>
          </a:p>
          <a:p>
            <a:r>
              <a:rPr lang="en-GB" sz="1200" b="0" i="0" u="none" strike="noStrike" kern="1200" baseline="0" dirty="0">
                <a:solidFill>
                  <a:schemeClr val="tx1"/>
                </a:solidFill>
                <a:latin typeface="+mn-lt"/>
                <a:ea typeface="+mn-ea"/>
                <a:cs typeface="+mn-cs"/>
              </a:rPr>
              <a:t>only on the undersurface, where it occupies the floor of a</a:t>
            </a:r>
          </a:p>
          <a:p>
            <a:r>
              <a:rPr lang="en-GB" sz="1200" b="0" i="0" u="none" strike="noStrike" kern="1200" baseline="0" dirty="0">
                <a:solidFill>
                  <a:schemeClr val="tx1"/>
                </a:solidFill>
                <a:latin typeface="+mn-lt"/>
                <a:ea typeface="+mn-ea"/>
                <a:cs typeface="+mn-cs"/>
              </a:rPr>
              <a:t>deep groove, the vallecula. The hemispheres show numerous</a:t>
            </a:r>
          </a:p>
          <a:p>
            <a:r>
              <a:rPr lang="en-GB" sz="1200" b="0" i="0" u="none" strike="noStrike" kern="1200" baseline="0" dirty="0">
                <a:solidFill>
                  <a:schemeClr val="tx1"/>
                </a:solidFill>
                <a:latin typeface="+mn-lt"/>
                <a:ea typeface="+mn-ea"/>
                <a:cs typeface="+mn-cs"/>
              </a:rPr>
              <a:t>deep fissures, with folia in between. About 80% of the cortex</a:t>
            </a:r>
          </a:p>
          <a:p>
            <a:r>
              <a:rPr lang="en-GB" sz="1200" b="0" i="0" u="none" strike="noStrike" kern="1200" baseline="0" dirty="0">
                <a:solidFill>
                  <a:schemeClr val="tx1"/>
                </a:solidFill>
                <a:latin typeface="+mn-lt"/>
                <a:ea typeface="+mn-ea"/>
                <a:cs typeface="+mn-cs"/>
              </a:rPr>
              <a:t>(surface grey matter) is hidden from view on the surfaces of</a:t>
            </a:r>
          </a:p>
          <a:p>
            <a:r>
              <a:rPr lang="en-GB" sz="1200" b="0" i="0" u="none" strike="noStrike" kern="1200" baseline="0" dirty="0">
                <a:solidFill>
                  <a:schemeClr val="tx1"/>
                </a:solidFill>
                <a:latin typeface="+mn-lt"/>
                <a:ea typeface="+mn-ea"/>
                <a:cs typeface="+mn-cs"/>
              </a:rPr>
              <a:t>the folia.</a:t>
            </a:r>
          </a:p>
          <a:p>
            <a:r>
              <a:rPr lang="en-GB" sz="1200" b="0" i="0" u="none" strike="noStrike" kern="1200" baseline="0" dirty="0">
                <a:solidFill>
                  <a:schemeClr val="tx1"/>
                </a:solidFill>
                <a:latin typeface="+mn-lt"/>
                <a:ea typeface="+mn-ea"/>
                <a:cs typeface="+mn-cs"/>
              </a:rPr>
              <a:t>The oldest part of the cerebellum (present even in fishes) is the</a:t>
            </a:r>
          </a:p>
          <a:p>
            <a:r>
              <a:rPr lang="en-GB" sz="1200" b="0" i="0" u="none" strike="noStrike" kern="1200" baseline="0" dirty="0">
                <a:solidFill>
                  <a:schemeClr val="tx1"/>
                </a:solidFill>
                <a:latin typeface="+mn-lt"/>
                <a:ea typeface="+mn-ea"/>
                <a:cs typeface="+mn-cs"/>
              </a:rPr>
              <a:t>flocculonodular lobe consisting of the nodule of the vermis and</a:t>
            </a:r>
          </a:p>
          <a:p>
            <a:r>
              <a:rPr lang="en-GB" sz="1200" b="0" i="0" u="none" strike="noStrike" kern="1200" baseline="0" dirty="0">
                <a:solidFill>
                  <a:schemeClr val="tx1"/>
                </a:solidFill>
                <a:latin typeface="+mn-lt"/>
                <a:ea typeface="+mn-ea"/>
                <a:cs typeface="+mn-cs"/>
              </a:rPr>
              <a:t>the flocculus in the hemisphere on each side. More recent is the</a:t>
            </a:r>
          </a:p>
          <a:p>
            <a:r>
              <a:rPr lang="en-GB" sz="1200" b="0" i="0" u="none" strike="noStrike" kern="1200" baseline="0" dirty="0">
                <a:solidFill>
                  <a:schemeClr val="tx1"/>
                </a:solidFill>
                <a:latin typeface="+mn-lt"/>
                <a:ea typeface="+mn-ea"/>
                <a:cs typeface="+mn-cs"/>
              </a:rPr>
              <a:t>anterior lobe, which is bounded posteriorly by the primary fissure</a:t>
            </a:r>
          </a:p>
          <a:p>
            <a:r>
              <a:rPr lang="en-GB" sz="1200" b="0" i="0" u="none" strike="noStrike" kern="1200" baseline="0" dirty="0">
                <a:solidFill>
                  <a:schemeClr val="tx1"/>
                </a:solidFill>
                <a:latin typeface="+mn-lt"/>
                <a:ea typeface="+mn-ea"/>
                <a:cs typeface="+mn-cs"/>
              </a:rPr>
              <a:t>and contains the </a:t>
            </a:r>
            <a:r>
              <a:rPr lang="en-GB" sz="1200" b="0" i="0" u="none" strike="noStrike" kern="1200" baseline="0" dirty="0" err="1">
                <a:solidFill>
                  <a:schemeClr val="tx1"/>
                </a:solidFill>
                <a:latin typeface="+mn-lt"/>
                <a:ea typeface="+mn-ea"/>
                <a:cs typeface="+mn-cs"/>
              </a:rPr>
              <a:t>pyramis</a:t>
            </a:r>
            <a:r>
              <a:rPr lang="en-GB" sz="1200" b="0" i="0" u="none" strike="noStrike" kern="1200" baseline="0" dirty="0">
                <a:solidFill>
                  <a:schemeClr val="tx1"/>
                </a:solidFill>
                <a:latin typeface="+mn-lt"/>
                <a:ea typeface="+mn-ea"/>
                <a:cs typeface="+mn-cs"/>
              </a:rPr>
              <a:t> and the uvula. The most recent is</a:t>
            </a:r>
          </a:p>
          <a:p>
            <a:r>
              <a:rPr lang="en-GB" sz="1200" b="0" i="0" u="none" strike="noStrike" kern="1200" baseline="0" dirty="0">
                <a:solidFill>
                  <a:schemeClr val="tx1"/>
                </a:solidFill>
                <a:latin typeface="+mn-lt"/>
                <a:ea typeface="+mn-ea"/>
                <a:cs typeface="+mn-cs"/>
              </a:rPr>
              <a:t>the posterior lobe. Prominent features of the posterior lobe are</a:t>
            </a:r>
          </a:p>
          <a:p>
            <a:r>
              <a:rPr lang="en-GB" sz="1200" b="0" i="0" u="none" strike="noStrike" kern="1200" baseline="0" dirty="0">
                <a:solidFill>
                  <a:schemeClr val="tx1"/>
                </a:solidFill>
                <a:latin typeface="+mn-lt"/>
                <a:ea typeface="+mn-ea"/>
                <a:cs typeface="+mn-cs"/>
              </a:rPr>
              <a:t>the tonsils. The tonsils lie directly above the foramen magnum of</a:t>
            </a:r>
          </a:p>
          <a:p>
            <a:r>
              <a:rPr lang="en-GB" sz="1200" b="0" i="0" u="none" strike="noStrike" kern="1200" baseline="0" dirty="0">
                <a:solidFill>
                  <a:schemeClr val="tx1"/>
                </a:solidFill>
                <a:latin typeface="+mn-lt"/>
                <a:ea typeface="+mn-ea"/>
                <a:cs typeface="+mn-cs"/>
              </a:rPr>
              <a:t>the skull; if the intracranial pressure is raised (e.g., by a brain</a:t>
            </a:r>
          </a:p>
          <a:p>
            <a:r>
              <a:rPr lang="en-GB" sz="1200" b="0" i="0" u="none" strike="noStrike" kern="1200" baseline="0" dirty="0">
                <a:solidFill>
                  <a:schemeClr val="tx1"/>
                </a:solidFill>
                <a:latin typeface="+mn-lt"/>
                <a:ea typeface="+mn-ea"/>
                <a:cs typeface="+mn-cs"/>
              </a:rPr>
              <a:t>tumour), one or both tonsils may descend into the foramen and</a:t>
            </a:r>
          </a:p>
          <a:p>
            <a:r>
              <a:rPr lang="en-GB" sz="1200" b="0" i="0" u="none" strike="noStrike" kern="1200" baseline="0" dirty="0">
                <a:solidFill>
                  <a:schemeClr val="tx1"/>
                </a:solidFill>
                <a:latin typeface="+mn-lt"/>
                <a:ea typeface="+mn-ea"/>
                <a:cs typeface="+mn-cs"/>
              </a:rPr>
              <a:t>pose a threat to life by compressing the medulla oblongata.</a:t>
            </a:r>
          </a:p>
          <a:p>
            <a:r>
              <a:rPr lang="en-GB" sz="1200" b="0" i="0" u="none" strike="noStrike" kern="1200" baseline="0" dirty="0">
                <a:solidFill>
                  <a:schemeClr val="tx1"/>
                </a:solidFill>
                <a:latin typeface="+mn-lt"/>
                <a:ea typeface="+mn-ea"/>
                <a:cs typeface="+mn-cs"/>
              </a:rPr>
              <a:t>The white matter contains several deep nuclei. The largest of</a:t>
            </a:r>
          </a:p>
          <a:p>
            <a:r>
              <a:rPr lang="en-GB" sz="1200" b="0" i="0" u="none" strike="noStrike" kern="1200" baseline="0" dirty="0">
                <a:solidFill>
                  <a:schemeClr val="tx1"/>
                </a:solidFill>
                <a:latin typeface="+mn-lt"/>
                <a:ea typeface="+mn-ea"/>
                <a:cs typeface="+mn-cs"/>
              </a:rPr>
              <a:t>these is the dentate nucleus</a:t>
            </a:r>
            <a:endParaRPr lang="en-GB" dirty="0"/>
          </a:p>
        </p:txBody>
      </p:sp>
      <p:sp>
        <p:nvSpPr>
          <p:cNvPr id="4" name="Slide Number Placeholder 3"/>
          <p:cNvSpPr>
            <a:spLocks noGrp="1"/>
          </p:cNvSpPr>
          <p:nvPr>
            <p:ph type="sldNum" sz="quarter" idx="5"/>
          </p:nvPr>
        </p:nvSpPr>
        <p:spPr/>
        <p:txBody>
          <a:bodyPr/>
          <a:lstStyle/>
          <a:p>
            <a:fld id="{4A4AEA9A-0A32-49E6-8689-C373B0AE9683}" type="slidenum">
              <a:rPr lang="en-GB" smtClean="0"/>
              <a:t>86</a:t>
            </a:fld>
            <a:endParaRPr lang="en-GB"/>
          </a:p>
        </p:txBody>
      </p:sp>
    </p:spTree>
    <p:extLst>
      <p:ext uri="{BB962C8B-B14F-4D97-AF65-F5344CB8AC3E}">
        <p14:creationId xmlns:p14="http://schemas.microsoft.com/office/powerpoint/2010/main" val="2031903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Phylogenetically, the initial development of the cerebellum (in</a:t>
            </a:r>
          </a:p>
          <a:p>
            <a:r>
              <a:rPr lang="en-GB" sz="1200" b="0" i="0" u="none" strike="noStrike" kern="1200" baseline="0" dirty="0">
                <a:solidFill>
                  <a:schemeClr val="tx1"/>
                </a:solidFill>
                <a:latin typeface="+mn-lt"/>
                <a:ea typeface="+mn-ea"/>
                <a:cs typeface="+mn-cs"/>
              </a:rPr>
              <a:t>fish) took place in relation to the vestibular labyrinth. With the</a:t>
            </a:r>
          </a:p>
          <a:p>
            <a:r>
              <a:rPr lang="en-GB" sz="1200" b="0" i="0" u="none" strike="noStrike" kern="1200" baseline="0" dirty="0">
                <a:solidFill>
                  <a:schemeClr val="tx1"/>
                </a:solidFill>
                <a:latin typeface="+mn-lt"/>
                <a:ea typeface="+mn-ea"/>
                <a:cs typeface="+mn-cs"/>
              </a:rPr>
              <a:t>development of quadrupedal locomotion, the anterior lobes of</a:t>
            </a:r>
          </a:p>
          <a:p>
            <a:r>
              <a:rPr lang="en-GB" sz="1200" b="0" i="0" u="none" strike="noStrike" kern="1200" baseline="0" dirty="0">
                <a:solidFill>
                  <a:schemeClr val="tx1"/>
                </a:solidFill>
                <a:latin typeface="+mn-lt"/>
                <a:ea typeface="+mn-ea"/>
                <a:cs typeface="+mn-cs"/>
              </a:rPr>
              <a:t>the cerebellum (in particular) became richly connected to the</a:t>
            </a:r>
          </a:p>
          <a:p>
            <a:r>
              <a:rPr lang="en-GB" sz="1200" b="0" i="0" u="none" strike="noStrike" kern="1200" baseline="0" dirty="0">
                <a:solidFill>
                  <a:schemeClr val="tx1"/>
                </a:solidFill>
                <a:latin typeface="+mn-lt"/>
                <a:ea typeface="+mn-ea"/>
                <a:cs typeface="+mn-cs"/>
              </a:rPr>
              <a:t>spinal cord. Assumption of the erect posture and achievement</a:t>
            </a:r>
          </a:p>
          <a:p>
            <a:r>
              <a:rPr lang="en-GB" sz="1200" b="0" i="0" u="none" strike="noStrike" kern="1200" baseline="0" dirty="0">
                <a:solidFill>
                  <a:schemeClr val="tx1"/>
                </a:solidFill>
                <a:latin typeface="+mn-lt"/>
                <a:ea typeface="+mn-ea"/>
                <a:cs typeface="+mn-cs"/>
              </a:rPr>
              <a:t>of a whole new range of physical and cognitive skills have been</a:t>
            </a:r>
          </a:p>
          <a:p>
            <a:r>
              <a:rPr lang="en-GB" sz="1200" b="0" i="0" u="none" strike="noStrike" kern="1200" baseline="0" dirty="0">
                <a:solidFill>
                  <a:schemeClr val="tx1"/>
                </a:solidFill>
                <a:latin typeface="+mn-lt"/>
                <a:ea typeface="+mn-ea"/>
                <a:cs typeface="+mn-cs"/>
              </a:rPr>
              <a:t>accompanied by the appearance of massive linkages between</a:t>
            </a:r>
          </a:p>
          <a:p>
            <a:r>
              <a:rPr lang="en-GB" sz="1200" b="0" i="0" u="none" strike="noStrike" kern="1200" baseline="0" dirty="0">
                <a:solidFill>
                  <a:schemeClr val="tx1"/>
                </a:solidFill>
                <a:latin typeface="+mn-lt"/>
                <a:ea typeface="+mn-ea"/>
                <a:cs typeface="+mn-cs"/>
              </a:rPr>
              <a:t>the anterior and posterior lobes of the cerebellum and the cerebral</a:t>
            </a:r>
          </a:p>
          <a:p>
            <a:r>
              <a:rPr lang="en-GB" sz="1200" b="0" i="0" u="none" strike="noStrike" kern="1200" baseline="0" dirty="0">
                <a:solidFill>
                  <a:schemeClr val="tx1"/>
                </a:solidFill>
                <a:latin typeface="+mn-lt"/>
                <a:ea typeface="+mn-ea"/>
                <a:cs typeface="+mn-cs"/>
              </a:rPr>
              <a:t>cortex. In general, cerebellar connections with the vestibular</a:t>
            </a:r>
          </a:p>
          <a:p>
            <a:r>
              <a:rPr lang="en-GB" sz="1200" b="0" i="0" u="none" strike="noStrike" kern="1200" baseline="0" dirty="0">
                <a:solidFill>
                  <a:schemeClr val="tx1"/>
                </a:solidFill>
                <a:latin typeface="+mn-lt"/>
                <a:ea typeface="+mn-ea"/>
                <a:cs typeface="+mn-cs"/>
              </a:rPr>
              <a:t>system, spinal cord, and cerebral cortex are arranged such</a:t>
            </a:r>
          </a:p>
          <a:p>
            <a:r>
              <a:rPr lang="en-GB" sz="1200" b="0" i="0" u="none" strike="noStrike" kern="1200" baseline="0" dirty="0">
                <a:solidFill>
                  <a:schemeClr val="tx1"/>
                </a:solidFill>
                <a:latin typeface="+mn-lt"/>
                <a:ea typeface="+mn-ea"/>
                <a:cs typeface="+mn-cs"/>
              </a:rPr>
              <a:t>that each cerebellar hemisphere is primarily concerned with the</a:t>
            </a:r>
          </a:p>
          <a:p>
            <a:r>
              <a:rPr lang="en-GB" sz="1200" b="0" i="0" u="none" strike="noStrike" kern="1200" baseline="0" dirty="0">
                <a:solidFill>
                  <a:schemeClr val="tx1"/>
                </a:solidFill>
                <a:latin typeface="+mn-lt"/>
                <a:ea typeface="+mn-ea"/>
                <a:cs typeface="+mn-cs"/>
              </a:rPr>
              <a:t>coordination of movements ipsilaterally.</a:t>
            </a:r>
          </a:p>
          <a:p>
            <a:r>
              <a:rPr lang="en-GB" sz="1200" b="0" i="0" u="none" strike="noStrike" kern="1200" baseline="0" dirty="0">
                <a:solidFill>
                  <a:schemeClr val="tx1"/>
                </a:solidFill>
                <a:latin typeface="+mn-lt"/>
                <a:ea typeface="+mn-ea"/>
                <a:cs typeface="+mn-cs"/>
              </a:rPr>
              <a:t>The gross anatomy of the cerebellum is described briefly in</a:t>
            </a:r>
          </a:p>
          <a:p>
            <a:r>
              <a:rPr lang="en-GB" sz="1200" b="0" i="0" u="none" strike="noStrike" kern="1200" baseline="0" dirty="0">
                <a:solidFill>
                  <a:schemeClr val="tx1"/>
                </a:solidFill>
                <a:latin typeface="+mn-lt"/>
                <a:ea typeface="+mn-ea"/>
                <a:cs typeface="+mn-cs"/>
              </a:rPr>
              <a:t>Chapter 3, where it may be reviewed at this time.</a:t>
            </a:r>
          </a:p>
          <a:p>
            <a:r>
              <a:rPr lang="en-GB" sz="1200" b="0" i="0" u="none" strike="noStrike" kern="1200" baseline="0" dirty="0">
                <a:solidFill>
                  <a:schemeClr val="tx1"/>
                </a:solidFill>
                <a:latin typeface="+mn-lt"/>
                <a:ea typeface="+mn-ea"/>
                <a:cs typeface="+mn-cs"/>
              </a:rPr>
              <a:t>FUNCTIONAL</a:t>
            </a:r>
            <a:endParaRPr lang="en-GB" dirty="0"/>
          </a:p>
        </p:txBody>
      </p:sp>
      <p:sp>
        <p:nvSpPr>
          <p:cNvPr id="4" name="Slide Number Placeholder 3"/>
          <p:cNvSpPr>
            <a:spLocks noGrp="1"/>
          </p:cNvSpPr>
          <p:nvPr>
            <p:ph type="sldNum" sz="quarter" idx="5"/>
          </p:nvPr>
        </p:nvSpPr>
        <p:spPr/>
        <p:txBody>
          <a:bodyPr/>
          <a:lstStyle/>
          <a:p>
            <a:fld id="{4A4AEA9A-0A32-49E6-8689-C373B0AE9683}" type="slidenum">
              <a:rPr lang="en-GB" smtClean="0"/>
              <a:t>87</a:t>
            </a:fld>
            <a:endParaRPr lang="en-GB"/>
          </a:p>
        </p:txBody>
      </p:sp>
    </p:spTree>
    <p:extLst>
      <p:ext uri="{BB962C8B-B14F-4D97-AF65-F5344CB8AC3E}">
        <p14:creationId xmlns:p14="http://schemas.microsoft.com/office/powerpoint/2010/main" val="36260271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Video 1—Friedreich's Ataxia: A patient with Friedreich's ataxia, a gait disorder due to both cerebellar and proprioceptive ataxia, has imbalance, staggers, and has difficulties in making a half-turn. Because of difficulties with tandem walking, the patient requires the intermittent support of a wall. The patient has dysmetria during nose--finger and finger chase tests, and instability in a standing position with the feet together because of cerebellar ataxia. There is an obvious loss of balance when the patient's eyes are closed because of the proprioceptive component of the ataxia. Saccadic ocular pursuit and square-wave jerks due to fixation instability are shown, as well as diffuse abolition of the reflexes and right extensor plantar reflex. Video 2—Ataxia with Oculomotor Apraxia Type 1: </a:t>
            </a:r>
            <a:r>
              <a:rPr lang="en-GB" sz="1200" b="0" i="0" kern="1200" dirty="0" err="1">
                <a:solidFill>
                  <a:schemeClr val="tx1"/>
                </a:solidFill>
                <a:effectLst/>
                <a:latin typeface="+mn-lt"/>
                <a:ea typeface="+mn-ea"/>
                <a:cs typeface="+mn-cs"/>
              </a:rPr>
              <a:t>Choreic</a:t>
            </a:r>
            <a:r>
              <a:rPr lang="en-GB" sz="1200" b="0" i="0" kern="1200" dirty="0">
                <a:solidFill>
                  <a:schemeClr val="tx1"/>
                </a:solidFill>
                <a:effectLst/>
                <a:latin typeface="+mn-lt"/>
                <a:ea typeface="+mn-ea"/>
                <a:cs typeface="+mn-cs"/>
              </a:rPr>
              <a:t> movement of the hands and trunk with cervical dystonia in a patient with ataxia with oculomotor apraxia type 1. Video 3—Ataxia Telangiectasia: Right horizontal gaze-evoked nystagmus and nasal as well as temporal telangiectasias in a patient with ataxia telangiectasia. Video 4—Oculomotor Apraxia Type 1: Oculocephalic dissociation in a patient with ataxia with oculomotor apraxia type 1. During the rotation of the head, a dissociation is expressed as a delay between the movement of the eyes following that of the head.</a:t>
            </a:r>
            <a:endParaRPr lang="en-GB" dirty="0"/>
          </a:p>
        </p:txBody>
      </p:sp>
      <p:sp>
        <p:nvSpPr>
          <p:cNvPr id="4" name="Slide Number Placeholder 3"/>
          <p:cNvSpPr>
            <a:spLocks noGrp="1"/>
          </p:cNvSpPr>
          <p:nvPr>
            <p:ph type="sldNum" sz="quarter" idx="5"/>
          </p:nvPr>
        </p:nvSpPr>
        <p:spPr/>
        <p:txBody>
          <a:bodyPr/>
          <a:lstStyle/>
          <a:p>
            <a:fld id="{4A4AEA9A-0A32-49E6-8689-C373B0AE9683}" type="slidenum">
              <a:rPr lang="en-GB" smtClean="0"/>
              <a:t>102</a:t>
            </a:fld>
            <a:endParaRPr lang="en-GB"/>
          </a:p>
        </p:txBody>
      </p:sp>
    </p:spTree>
    <p:extLst>
      <p:ext uri="{BB962C8B-B14F-4D97-AF65-F5344CB8AC3E}">
        <p14:creationId xmlns:p14="http://schemas.microsoft.com/office/powerpoint/2010/main" val="3643817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FB710-20EB-755E-2F66-CDFCD3153888}"/>
              </a:ext>
            </a:extLst>
          </p:cNvPr>
          <p:cNvSpPr>
            <a:spLocks noGrp="1"/>
          </p:cNvSpPr>
          <p:nvPr>
            <p:ph type="ctrTitle"/>
          </p:nvPr>
        </p:nvSpPr>
        <p:spPr>
          <a:xfrm>
            <a:off x="1524000" y="2177494"/>
            <a:ext cx="9144000" cy="1826926"/>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E2B8A0C-4C3F-F485-7CD2-E28F35B3337F}"/>
              </a:ext>
            </a:extLst>
          </p:cNvPr>
          <p:cNvSpPr>
            <a:spLocks noGrp="1"/>
          </p:cNvSpPr>
          <p:nvPr>
            <p:ph type="subTitle" idx="1"/>
          </p:nvPr>
        </p:nvSpPr>
        <p:spPr>
          <a:xfrm>
            <a:off x="1524000" y="4056521"/>
            <a:ext cx="9144000" cy="43212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ED3423F-16F5-87E9-1C27-524EA93F0D8B}"/>
              </a:ext>
            </a:extLst>
          </p:cNvPr>
          <p:cNvSpPr>
            <a:spLocks noGrp="1"/>
          </p:cNvSpPr>
          <p:nvPr>
            <p:ph type="dt" sz="half" idx="10"/>
          </p:nvPr>
        </p:nvSpPr>
        <p:spPr/>
        <p:txBody>
          <a:bodyPr/>
          <a:lstStyle/>
          <a:p>
            <a:fld id="{A448CD4E-74DE-4763-B638-F941B4F9A25A}" type="datetimeFigureOut">
              <a:rPr lang="en-GB" smtClean="0"/>
              <a:t>18/11/2025</a:t>
            </a:fld>
            <a:endParaRPr lang="en-GB"/>
          </a:p>
        </p:txBody>
      </p:sp>
      <p:sp>
        <p:nvSpPr>
          <p:cNvPr id="5" name="Footer Placeholder 4">
            <a:extLst>
              <a:ext uri="{FF2B5EF4-FFF2-40B4-BE49-F238E27FC236}">
                <a16:creationId xmlns:a16="http://schemas.microsoft.com/office/drawing/2014/main" id="{621BFA95-18B6-1658-17F3-6E812F26403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A9F7E06-79B9-1394-27BC-33C01A013879}"/>
              </a:ext>
            </a:extLst>
          </p:cNvPr>
          <p:cNvSpPr>
            <a:spLocks noGrp="1"/>
          </p:cNvSpPr>
          <p:nvPr>
            <p:ph type="sldNum" sz="quarter" idx="12"/>
          </p:nvPr>
        </p:nvSpPr>
        <p:spPr/>
        <p:txBody>
          <a:bodyPr/>
          <a:lstStyle/>
          <a:p>
            <a:fld id="{62A24C5C-1799-4F07-ACF9-6CDD4409CC49}" type="slidenum">
              <a:rPr lang="en-GB" smtClean="0"/>
              <a:t>‹#›</a:t>
            </a:fld>
            <a:endParaRPr lang="en-GB"/>
          </a:p>
        </p:txBody>
      </p:sp>
      <p:sp>
        <p:nvSpPr>
          <p:cNvPr id="7" name="Subtitle 2">
            <a:extLst>
              <a:ext uri="{FF2B5EF4-FFF2-40B4-BE49-F238E27FC236}">
                <a16:creationId xmlns:a16="http://schemas.microsoft.com/office/drawing/2014/main" id="{085E3E08-1DB3-1044-943A-0296AC06FE59}"/>
              </a:ext>
            </a:extLst>
          </p:cNvPr>
          <p:cNvSpPr txBox="1">
            <a:spLocks/>
          </p:cNvSpPr>
          <p:nvPr userDrawn="1"/>
        </p:nvSpPr>
        <p:spPr>
          <a:xfrm>
            <a:off x="4077730" y="5441092"/>
            <a:ext cx="4036540" cy="1116270"/>
          </a:xfrm>
          <a:prstGeom prst="rect">
            <a:avLst/>
          </a:prstGeom>
        </p:spPr>
        <p:txBody>
          <a:bodyPr vert="horz" lIns="91440" tIns="45720" rIns="91440" bIns="45720" rtlCol="0" anchor="ct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50000"/>
              </a:lnSpc>
              <a:buNone/>
            </a:pPr>
            <a:r>
              <a:rPr lang="en-GB" sz="1600" b="1" i="1" dirty="0"/>
              <a:t>Vincenzo Mastrolia</a:t>
            </a:r>
          </a:p>
          <a:p>
            <a:pPr marL="0" indent="0" algn="ctr">
              <a:lnSpc>
                <a:spcPct val="50000"/>
              </a:lnSpc>
              <a:buNone/>
            </a:pPr>
            <a:r>
              <a:rPr lang="en-GB" sz="1600" i="1" dirty="0"/>
              <a:t>Research Associate</a:t>
            </a:r>
          </a:p>
          <a:p>
            <a:pPr marL="0" indent="0" algn="ctr">
              <a:lnSpc>
                <a:spcPct val="100000"/>
              </a:lnSpc>
              <a:buNone/>
            </a:pPr>
            <a:r>
              <a:rPr lang="en-GB" sz="1600" i="1" dirty="0"/>
              <a:t>Department of Physiology, Development and Neuroscience</a:t>
            </a:r>
          </a:p>
          <a:p>
            <a:pPr marL="0" indent="0" algn="ctr">
              <a:lnSpc>
                <a:spcPct val="50000"/>
              </a:lnSpc>
              <a:buNone/>
            </a:pPr>
            <a:r>
              <a:rPr lang="en-GB" sz="1600" i="1" dirty="0"/>
              <a:t>University of Cambridge</a:t>
            </a:r>
          </a:p>
        </p:txBody>
      </p:sp>
      <p:sp>
        <p:nvSpPr>
          <p:cNvPr id="8" name="TextBox 7">
            <a:extLst>
              <a:ext uri="{FF2B5EF4-FFF2-40B4-BE49-F238E27FC236}">
                <a16:creationId xmlns:a16="http://schemas.microsoft.com/office/drawing/2014/main" id="{E88D1699-9107-02FE-80A6-BEBCD9284613}"/>
              </a:ext>
            </a:extLst>
          </p:cNvPr>
          <p:cNvSpPr txBox="1"/>
          <p:nvPr userDrawn="1"/>
        </p:nvSpPr>
        <p:spPr>
          <a:xfrm>
            <a:off x="4062591" y="80396"/>
            <a:ext cx="4066819" cy="646331"/>
          </a:xfrm>
          <a:prstGeom prst="rect">
            <a:avLst/>
          </a:prstGeom>
          <a:noFill/>
        </p:spPr>
        <p:txBody>
          <a:bodyPr wrap="none" rtlCol="0">
            <a:spAutoFit/>
          </a:bodyPr>
          <a:lstStyle/>
          <a:p>
            <a:r>
              <a:rPr lang="en-GB" sz="3600" dirty="0"/>
              <a:t>PT5050 PHYSIOLOGY</a:t>
            </a:r>
          </a:p>
        </p:txBody>
      </p:sp>
      <p:pic>
        <p:nvPicPr>
          <p:cNvPr id="9" name="Picture 8" descr="A black text on a black background&#10;&#10;AI-generated content may be incorrect.">
            <a:extLst>
              <a:ext uri="{FF2B5EF4-FFF2-40B4-BE49-F238E27FC236}">
                <a16:creationId xmlns:a16="http://schemas.microsoft.com/office/drawing/2014/main" id="{EC3DCE54-BA6F-59DE-ED21-002D2EE1F9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00998" y="5669727"/>
            <a:ext cx="3047510" cy="634522"/>
          </a:xfrm>
          <a:prstGeom prst="rect">
            <a:avLst/>
          </a:prstGeom>
        </p:spPr>
      </p:pic>
      <p:pic>
        <p:nvPicPr>
          <p:cNvPr id="10" name="Picture 9" descr="A diagram of a graph&#10;&#10;AI-generated content may be incorrect.">
            <a:extLst>
              <a:ext uri="{FF2B5EF4-FFF2-40B4-BE49-F238E27FC236}">
                <a16:creationId xmlns:a16="http://schemas.microsoft.com/office/drawing/2014/main" id="{DADCE397-F61F-388E-63F9-B995E668BF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50912" y="5336018"/>
            <a:ext cx="2727804" cy="1292821"/>
          </a:xfrm>
          <a:prstGeom prst="rect">
            <a:avLst/>
          </a:prstGeom>
        </p:spPr>
      </p:pic>
      <p:cxnSp>
        <p:nvCxnSpPr>
          <p:cNvPr id="12" name="Straight Connector 11">
            <a:extLst>
              <a:ext uri="{FF2B5EF4-FFF2-40B4-BE49-F238E27FC236}">
                <a16:creationId xmlns:a16="http://schemas.microsoft.com/office/drawing/2014/main" id="{04C6164B-DB15-74F8-D208-E8D0341498C5}"/>
              </a:ext>
            </a:extLst>
          </p:cNvPr>
          <p:cNvCxnSpPr/>
          <p:nvPr userDrawn="1"/>
        </p:nvCxnSpPr>
        <p:spPr>
          <a:xfrm>
            <a:off x="1524000" y="4004420"/>
            <a:ext cx="9144000" cy="0"/>
          </a:xfrm>
          <a:prstGeom prst="line">
            <a:avLst/>
          </a:prstGeom>
          <a:ln w="57150">
            <a:gradFill flip="none" rotWithShape="1">
              <a:gsLst>
                <a:gs pos="100000">
                  <a:schemeClr val="bg1"/>
                </a:gs>
                <a:gs pos="0">
                  <a:schemeClr val="accent1">
                    <a:lumMod val="60000"/>
                  </a:schemeClr>
                </a:gs>
              </a:gsLst>
              <a:path path="circle">
                <a:fillToRect l="50000" t="50000" r="50000" b="50000"/>
              </a:path>
              <a:tileRect/>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3386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C5A3C-CFFD-2217-6C66-FDEDCAE6C4A1}"/>
              </a:ext>
            </a:extLst>
          </p:cNvPr>
          <p:cNvSpPr>
            <a:spLocks noGrp="1"/>
          </p:cNvSpPr>
          <p:nvPr>
            <p:ph type="title"/>
          </p:nvPr>
        </p:nvSpPr>
        <p:spPr>
          <a:xfrm>
            <a:off x="0" y="18255"/>
            <a:ext cx="12192000" cy="953295"/>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2885BB31-F824-60AD-5A99-ECFAACAA8D7C}"/>
              </a:ext>
            </a:extLst>
          </p:cNvPr>
          <p:cNvSpPr>
            <a:spLocks noGrp="1"/>
          </p:cNvSpPr>
          <p:nvPr>
            <p:ph idx="1"/>
          </p:nvPr>
        </p:nvSpPr>
        <p:spPr>
          <a:xfrm>
            <a:off x="285750" y="1253331"/>
            <a:ext cx="5810250" cy="5195094"/>
          </a:xfrm>
        </p:spPr>
        <p:txBody>
          <a:bodyPr>
            <a:normAutofit/>
          </a:bodyPr>
          <a:lstStyle>
            <a:lvl1pPr>
              <a:defRPr sz="2000"/>
            </a:lvl1pPr>
            <a:lvl2pPr>
              <a:buFont typeface="Calibri" panose="020F0502020204030204" pitchFamily="34" charset="0"/>
              <a:buChar cha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873CD282-6CF2-2CCA-B10D-9B51F42503B9}"/>
              </a:ext>
            </a:extLst>
          </p:cNvPr>
          <p:cNvSpPr>
            <a:spLocks noGrp="1"/>
          </p:cNvSpPr>
          <p:nvPr>
            <p:ph type="dt" sz="half" idx="10"/>
          </p:nvPr>
        </p:nvSpPr>
        <p:spPr/>
        <p:txBody>
          <a:bodyPr/>
          <a:lstStyle/>
          <a:p>
            <a:fld id="{A448CD4E-74DE-4763-B638-F941B4F9A25A}" type="datetimeFigureOut">
              <a:rPr lang="en-GB" smtClean="0"/>
              <a:t>18/11/2025</a:t>
            </a:fld>
            <a:endParaRPr lang="en-GB"/>
          </a:p>
        </p:txBody>
      </p:sp>
      <p:sp>
        <p:nvSpPr>
          <p:cNvPr id="5" name="Footer Placeholder 4">
            <a:extLst>
              <a:ext uri="{FF2B5EF4-FFF2-40B4-BE49-F238E27FC236}">
                <a16:creationId xmlns:a16="http://schemas.microsoft.com/office/drawing/2014/main" id="{46E8DF3F-B538-F619-ED1D-4DFC0F149A4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3B840AA-7866-74D3-E894-1744DF2A1A1A}"/>
              </a:ext>
            </a:extLst>
          </p:cNvPr>
          <p:cNvSpPr>
            <a:spLocks noGrp="1"/>
          </p:cNvSpPr>
          <p:nvPr>
            <p:ph type="sldNum" sz="quarter" idx="12"/>
          </p:nvPr>
        </p:nvSpPr>
        <p:spPr/>
        <p:txBody>
          <a:bodyPr/>
          <a:lstStyle/>
          <a:p>
            <a:fld id="{62A24C5C-1799-4F07-ACF9-6CDD4409CC49}" type="slidenum">
              <a:rPr lang="en-GB" smtClean="0"/>
              <a:t>‹#›</a:t>
            </a:fld>
            <a:endParaRPr lang="en-GB"/>
          </a:p>
        </p:txBody>
      </p:sp>
      <p:cxnSp>
        <p:nvCxnSpPr>
          <p:cNvPr id="8" name="Straight Connector 7">
            <a:extLst>
              <a:ext uri="{FF2B5EF4-FFF2-40B4-BE49-F238E27FC236}">
                <a16:creationId xmlns:a16="http://schemas.microsoft.com/office/drawing/2014/main" id="{A29C6DC9-B37C-468E-59DE-808B857C0E3F}"/>
              </a:ext>
            </a:extLst>
          </p:cNvPr>
          <p:cNvCxnSpPr/>
          <p:nvPr userDrawn="1"/>
        </p:nvCxnSpPr>
        <p:spPr>
          <a:xfrm>
            <a:off x="0" y="962025"/>
            <a:ext cx="12192000" cy="0"/>
          </a:xfrm>
          <a:prstGeom prst="line">
            <a:avLst/>
          </a:prstGeom>
          <a:ln w="50800">
            <a:gradFill flip="none" rotWithShape="1">
              <a:gsLst>
                <a:gs pos="0">
                  <a:schemeClr val="accent1">
                    <a:lumMod val="67000"/>
                  </a:schemeClr>
                </a:gs>
                <a:gs pos="100000">
                  <a:srgbClr val="FFFFFF"/>
                </a:gs>
              </a:gsLst>
              <a:lin ang="0" scaled="1"/>
              <a:tileRect/>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3050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3E32F-6BCD-475D-E956-38AFB9F92693}"/>
              </a:ext>
            </a:extLst>
          </p:cNvPr>
          <p:cNvSpPr>
            <a:spLocks noGrp="1"/>
          </p:cNvSpPr>
          <p:nvPr>
            <p:ph type="title"/>
          </p:nvPr>
        </p:nvSpPr>
        <p:spPr>
          <a:xfrm>
            <a:off x="161894" y="1976438"/>
            <a:ext cx="5143437"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3293DC9-0D4A-8EA3-24AA-82BD2850A4B6}"/>
              </a:ext>
            </a:extLst>
          </p:cNvPr>
          <p:cNvSpPr>
            <a:spLocks noGrp="1"/>
          </p:cNvSpPr>
          <p:nvPr>
            <p:ph type="body" idx="1"/>
          </p:nvPr>
        </p:nvSpPr>
        <p:spPr>
          <a:xfrm>
            <a:off x="161894" y="4856163"/>
            <a:ext cx="5143437"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C89293-B1AF-5FCF-F19D-9CB0D8E0560D}"/>
              </a:ext>
            </a:extLst>
          </p:cNvPr>
          <p:cNvSpPr>
            <a:spLocks noGrp="1"/>
          </p:cNvSpPr>
          <p:nvPr>
            <p:ph type="dt" sz="half" idx="10"/>
          </p:nvPr>
        </p:nvSpPr>
        <p:spPr/>
        <p:txBody>
          <a:bodyPr/>
          <a:lstStyle/>
          <a:p>
            <a:fld id="{A448CD4E-74DE-4763-B638-F941B4F9A25A}" type="datetimeFigureOut">
              <a:rPr lang="en-GB" smtClean="0"/>
              <a:t>18/11/2025</a:t>
            </a:fld>
            <a:endParaRPr lang="en-GB"/>
          </a:p>
        </p:txBody>
      </p:sp>
      <p:sp>
        <p:nvSpPr>
          <p:cNvPr id="5" name="Footer Placeholder 4">
            <a:extLst>
              <a:ext uri="{FF2B5EF4-FFF2-40B4-BE49-F238E27FC236}">
                <a16:creationId xmlns:a16="http://schemas.microsoft.com/office/drawing/2014/main" id="{D392F06F-70DC-5C08-8028-70B08EE04D3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5BCCA35-D6C8-5BC6-A14A-4E7CB2C7B4D4}"/>
              </a:ext>
            </a:extLst>
          </p:cNvPr>
          <p:cNvSpPr>
            <a:spLocks noGrp="1"/>
          </p:cNvSpPr>
          <p:nvPr>
            <p:ph type="sldNum" sz="quarter" idx="12"/>
          </p:nvPr>
        </p:nvSpPr>
        <p:spPr/>
        <p:txBody>
          <a:bodyPr/>
          <a:lstStyle/>
          <a:p>
            <a:fld id="{62A24C5C-1799-4F07-ACF9-6CDD4409CC49}" type="slidenum">
              <a:rPr lang="en-GB" smtClean="0"/>
              <a:t>‹#›</a:t>
            </a:fld>
            <a:endParaRPr lang="en-GB"/>
          </a:p>
        </p:txBody>
      </p:sp>
      <p:cxnSp>
        <p:nvCxnSpPr>
          <p:cNvPr id="8" name="Straight Connector 7">
            <a:extLst>
              <a:ext uri="{FF2B5EF4-FFF2-40B4-BE49-F238E27FC236}">
                <a16:creationId xmlns:a16="http://schemas.microsoft.com/office/drawing/2014/main" id="{9CB4231D-9B59-D41E-CFA0-203C44CB5920}"/>
              </a:ext>
            </a:extLst>
          </p:cNvPr>
          <p:cNvCxnSpPr/>
          <p:nvPr userDrawn="1"/>
        </p:nvCxnSpPr>
        <p:spPr>
          <a:xfrm>
            <a:off x="161894" y="4856163"/>
            <a:ext cx="5143437" cy="0"/>
          </a:xfrm>
          <a:prstGeom prst="line">
            <a:avLst/>
          </a:prstGeom>
          <a:ln w="76200">
            <a:gradFill flip="none" rotWithShape="1">
              <a:gsLst>
                <a:gs pos="0">
                  <a:schemeClr val="bg1"/>
                </a:gs>
                <a:gs pos="100000">
                  <a:schemeClr val="accent1">
                    <a:lumMod val="60000"/>
                  </a:schemeClr>
                </a:gs>
              </a:gsLst>
              <a:lin ang="10800000" scaled="0"/>
              <a:tileRect/>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5707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76D9E-C6C1-EB35-0201-4C7BF403C24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0DAC77E-25CB-76F8-A0CB-7BEFAD69A5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B6812D1-F8EE-F5B1-C98B-ED4E9688B0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853D75C-632C-FFDE-5A57-0687399CF1B1}"/>
              </a:ext>
            </a:extLst>
          </p:cNvPr>
          <p:cNvSpPr>
            <a:spLocks noGrp="1"/>
          </p:cNvSpPr>
          <p:nvPr>
            <p:ph type="dt" sz="half" idx="10"/>
          </p:nvPr>
        </p:nvSpPr>
        <p:spPr/>
        <p:txBody>
          <a:bodyPr/>
          <a:lstStyle/>
          <a:p>
            <a:fld id="{A448CD4E-74DE-4763-B638-F941B4F9A25A}" type="datetimeFigureOut">
              <a:rPr lang="en-GB" smtClean="0"/>
              <a:t>18/11/2025</a:t>
            </a:fld>
            <a:endParaRPr lang="en-GB"/>
          </a:p>
        </p:txBody>
      </p:sp>
      <p:sp>
        <p:nvSpPr>
          <p:cNvPr id="6" name="Footer Placeholder 5">
            <a:extLst>
              <a:ext uri="{FF2B5EF4-FFF2-40B4-BE49-F238E27FC236}">
                <a16:creationId xmlns:a16="http://schemas.microsoft.com/office/drawing/2014/main" id="{4A2DD2B5-10C3-D15B-16D6-16AF32008FE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5A8E803-2F36-AD5E-7F01-B3287D753815}"/>
              </a:ext>
            </a:extLst>
          </p:cNvPr>
          <p:cNvSpPr>
            <a:spLocks noGrp="1"/>
          </p:cNvSpPr>
          <p:nvPr>
            <p:ph type="sldNum" sz="quarter" idx="12"/>
          </p:nvPr>
        </p:nvSpPr>
        <p:spPr/>
        <p:txBody>
          <a:bodyPr/>
          <a:lstStyle/>
          <a:p>
            <a:fld id="{62A24C5C-1799-4F07-ACF9-6CDD4409CC49}" type="slidenum">
              <a:rPr lang="en-GB" smtClean="0"/>
              <a:t>‹#›</a:t>
            </a:fld>
            <a:endParaRPr lang="en-GB"/>
          </a:p>
        </p:txBody>
      </p:sp>
    </p:spTree>
    <p:extLst>
      <p:ext uri="{BB962C8B-B14F-4D97-AF65-F5344CB8AC3E}">
        <p14:creationId xmlns:p14="http://schemas.microsoft.com/office/powerpoint/2010/main" val="710159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8F0CB-3945-2DC5-7EDE-7C8415A4BD4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9081439-9907-F179-DF64-C77F84B8F6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6F988E-9E38-2CD1-FC6A-7C30EF137D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82A1EC5-1CD3-EC4F-821B-211A66E09A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04B572-B7E1-A5BC-259F-2F3D28C93C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570748C-5297-BF38-6C70-48E14071FCD3}"/>
              </a:ext>
            </a:extLst>
          </p:cNvPr>
          <p:cNvSpPr>
            <a:spLocks noGrp="1"/>
          </p:cNvSpPr>
          <p:nvPr>
            <p:ph type="dt" sz="half" idx="10"/>
          </p:nvPr>
        </p:nvSpPr>
        <p:spPr/>
        <p:txBody>
          <a:bodyPr/>
          <a:lstStyle/>
          <a:p>
            <a:fld id="{A448CD4E-74DE-4763-B638-F941B4F9A25A}" type="datetimeFigureOut">
              <a:rPr lang="en-GB" smtClean="0"/>
              <a:t>18/11/2025</a:t>
            </a:fld>
            <a:endParaRPr lang="en-GB"/>
          </a:p>
        </p:txBody>
      </p:sp>
      <p:sp>
        <p:nvSpPr>
          <p:cNvPr id="8" name="Footer Placeholder 7">
            <a:extLst>
              <a:ext uri="{FF2B5EF4-FFF2-40B4-BE49-F238E27FC236}">
                <a16:creationId xmlns:a16="http://schemas.microsoft.com/office/drawing/2014/main" id="{2F229714-906A-A2B8-5F23-A42CEE37B1F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CD03D1C-0ACC-5180-C510-FC2DDABF6B1A}"/>
              </a:ext>
            </a:extLst>
          </p:cNvPr>
          <p:cNvSpPr>
            <a:spLocks noGrp="1"/>
          </p:cNvSpPr>
          <p:nvPr>
            <p:ph type="sldNum" sz="quarter" idx="12"/>
          </p:nvPr>
        </p:nvSpPr>
        <p:spPr/>
        <p:txBody>
          <a:bodyPr/>
          <a:lstStyle/>
          <a:p>
            <a:fld id="{62A24C5C-1799-4F07-ACF9-6CDD4409CC49}" type="slidenum">
              <a:rPr lang="en-GB" smtClean="0"/>
              <a:t>‹#›</a:t>
            </a:fld>
            <a:endParaRPr lang="en-GB"/>
          </a:p>
        </p:txBody>
      </p:sp>
    </p:spTree>
    <p:extLst>
      <p:ext uri="{BB962C8B-B14F-4D97-AF65-F5344CB8AC3E}">
        <p14:creationId xmlns:p14="http://schemas.microsoft.com/office/powerpoint/2010/main" val="2890996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7FCCF-DB52-DC7B-6BB4-3BD4F09F83F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0804058-16AA-6B3F-2894-D1F90D41C177}"/>
              </a:ext>
            </a:extLst>
          </p:cNvPr>
          <p:cNvSpPr>
            <a:spLocks noGrp="1"/>
          </p:cNvSpPr>
          <p:nvPr>
            <p:ph type="dt" sz="half" idx="10"/>
          </p:nvPr>
        </p:nvSpPr>
        <p:spPr/>
        <p:txBody>
          <a:bodyPr/>
          <a:lstStyle/>
          <a:p>
            <a:fld id="{A448CD4E-74DE-4763-B638-F941B4F9A25A}" type="datetimeFigureOut">
              <a:rPr lang="en-GB" smtClean="0"/>
              <a:t>18/11/2025</a:t>
            </a:fld>
            <a:endParaRPr lang="en-GB"/>
          </a:p>
        </p:txBody>
      </p:sp>
      <p:sp>
        <p:nvSpPr>
          <p:cNvPr id="4" name="Footer Placeholder 3">
            <a:extLst>
              <a:ext uri="{FF2B5EF4-FFF2-40B4-BE49-F238E27FC236}">
                <a16:creationId xmlns:a16="http://schemas.microsoft.com/office/drawing/2014/main" id="{51AE9A42-4A75-BC1F-AA32-89697F3C0B3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1EA613F-CE6C-0F8C-1ABA-3B8358C42896}"/>
              </a:ext>
            </a:extLst>
          </p:cNvPr>
          <p:cNvSpPr>
            <a:spLocks noGrp="1"/>
          </p:cNvSpPr>
          <p:nvPr>
            <p:ph type="sldNum" sz="quarter" idx="12"/>
          </p:nvPr>
        </p:nvSpPr>
        <p:spPr/>
        <p:txBody>
          <a:bodyPr/>
          <a:lstStyle/>
          <a:p>
            <a:fld id="{62A24C5C-1799-4F07-ACF9-6CDD4409CC49}" type="slidenum">
              <a:rPr lang="en-GB" smtClean="0"/>
              <a:t>‹#›</a:t>
            </a:fld>
            <a:endParaRPr lang="en-GB"/>
          </a:p>
        </p:txBody>
      </p:sp>
    </p:spTree>
    <p:extLst>
      <p:ext uri="{BB962C8B-B14F-4D97-AF65-F5344CB8AC3E}">
        <p14:creationId xmlns:p14="http://schemas.microsoft.com/office/powerpoint/2010/main" val="4031002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49D6F6-0BCF-F913-A75C-9446A8EE36F7}"/>
              </a:ext>
            </a:extLst>
          </p:cNvPr>
          <p:cNvSpPr>
            <a:spLocks noGrp="1"/>
          </p:cNvSpPr>
          <p:nvPr>
            <p:ph type="dt" sz="half" idx="10"/>
          </p:nvPr>
        </p:nvSpPr>
        <p:spPr/>
        <p:txBody>
          <a:bodyPr/>
          <a:lstStyle/>
          <a:p>
            <a:fld id="{A448CD4E-74DE-4763-B638-F941B4F9A25A}" type="datetimeFigureOut">
              <a:rPr lang="en-GB" smtClean="0"/>
              <a:t>18/11/2025</a:t>
            </a:fld>
            <a:endParaRPr lang="en-GB"/>
          </a:p>
        </p:txBody>
      </p:sp>
      <p:sp>
        <p:nvSpPr>
          <p:cNvPr id="3" name="Footer Placeholder 2">
            <a:extLst>
              <a:ext uri="{FF2B5EF4-FFF2-40B4-BE49-F238E27FC236}">
                <a16:creationId xmlns:a16="http://schemas.microsoft.com/office/drawing/2014/main" id="{24E0D05D-4A29-6D83-20EB-F1F96FF7EC1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ADA9A7B-A4F0-6935-54C1-8CB84614EC7D}"/>
              </a:ext>
            </a:extLst>
          </p:cNvPr>
          <p:cNvSpPr>
            <a:spLocks noGrp="1"/>
          </p:cNvSpPr>
          <p:nvPr>
            <p:ph type="sldNum" sz="quarter" idx="12"/>
          </p:nvPr>
        </p:nvSpPr>
        <p:spPr/>
        <p:txBody>
          <a:bodyPr/>
          <a:lstStyle/>
          <a:p>
            <a:fld id="{62A24C5C-1799-4F07-ACF9-6CDD4409CC49}" type="slidenum">
              <a:rPr lang="en-GB" smtClean="0"/>
              <a:t>‹#›</a:t>
            </a:fld>
            <a:endParaRPr lang="en-GB"/>
          </a:p>
        </p:txBody>
      </p:sp>
    </p:spTree>
    <p:extLst>
      <p:ext uri="{BB962C8B-B14F-4D97-AF65-F5344CB8AC3E}">
        <p14:creationId xmlns:p14="http://schemas.microsoft.com/office/powerpoint/2010/main" val="1729222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CC6B0-8EC5-2EB4-9C81-FBC00E23D5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123C0DC-B257-B74B-8D66-6C4249AF29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4B3C0A4-E199-3B55-1196-C143282237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284B00-2D51-D4DA-A58B-94B8339B9F43}"/>
              </a:ext>
            </a:extLst>
          </p:cNvPr>
          <p:cNvSpPr>
            <a:spLocks noGrp="1"/>
          </p:cNvSpPr>
          <p:nvPr>
            <p:ph type="dt" sz="half" idx="10"/>
          </p:nvPr>
        </p:nvSpPr>
        <p:spPr/>
        <p:txBody>
          <a:bodyPr/>
          <a:lstStyle/>
          <a:p>
            <a:fld id="{A448CD4E-74DE-4763-B638-F941B4F9A25A}" type="datetimeFigureOut">
              <a:rPr lang="en-GB" smtClean="0"/>
              <a:t>18/11/2025</a:t>
            </a:fld>
            <a:endParaRPr lang="en-GB"/>
          </a:p>
        </p:txBody>
      </p:sp>
      <p:sp>
        <p:nvSpPr>
          <p:cNvPr id="6" name="Footer Placeholder 5">
            <a:extLst>
              <a:ext uri="{FF2B5EF4-FFF2-40B4-BE49-F238E27FC236}">
                <a16:creationId xmlns:a16="http://schemas.microsoft.com/office/drawing/2014/main" id="{A8DF051F-7F85-841C-1822-7703C03AFC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BCF49D4-7E6A-5DA6-73D2-F63AB482D0F5}"/>
              </a:ext>
            </a:extLst>
          </p:cNvPr>
          <p:cNvSpPr>
            <a:spLocks noGrp="1"/>
          </p:cNvSpPr>
          <p:nvPr>
            <p:ph type="sldNum" sz="quarter" idx="12"/>
          </p:nvPr>
        </p:nvSpPr>
        <p:spPr/>
        <p:txBody>
          <a:bodyPr/>
          <a:lstStyle/>
          <a:p>
            <a:fld id="{62A24C5C-1799-4F07-ACF9-6CDD4409CC49}" type="slidenum">
              <a:rPr lang="en-GB" smtClean="0"/>
              <a:t>‹#›</a:t>
            </a:fld>
            <a:endParaRPr lang="en-GB"/>
          </a:p>
        </p:txBody>
      </p:sp>
    </p:spTree>
    <p:extLst>
      <p:ext uri="{BB962C8B-B14F-4D97-AF65-F5344CB8AC3E}">
        <p14:creationId xmlns:p14="http://schemas.microsoft.com/office/powerpoint/2010/main" val="1791342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129AE-3C9F-454B-EE66-FAE059AEBB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A8C9591-637F-5802-E05E-2027BE6B76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611667D-C65B-6CC4-6752-FD189A9760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8C161B-A1C4-B43E-5381-15875F4EC154}"/>
              </a:ext>
            </a:extLst>
          </p:cNvPr>
          <p:cNvSpPr>
            <a:spLocks noGrp="1"/>
          </p:cNvSpPr>
          <p:nvPr>
            <p:ph type="dt" sz="half" idx="10"/>
          </p:nvPr>
        </p:nvSpPr>
        <p:spPr/>
        <p:txBody>
          <a:bodyPr/>
          <a:lstStyle/>
          <a:p>
            <a:fld id="{A448CD4E-74DE-4763-B638-F941B4F9A25A}" type="datetimeFigureOut">
              <a:rPr lang="en-GB" smtClean="0"/>
              <a:t>18/11/2025</a:t>
            </a:fld>
            <a:endParaRPr lang="en-GB"/>
          </a:p>
        </p:txBody>
      </p:sp>
      <p:sp>
        <p:nvSpPr>
          <p:cNvPr id="6" name="Footer Placeholder 5">
            <a:extLst>
              <a:ext uri="{FF2B5EF4-FFF2-40B4-BE49-F238E27FC236}">
                <a16:creationId xmlns:a16="http://schemas.microsoft.com/office/drawing/2014/main" id="{A8556D33-DDC7-F7CB-E8DF-891D3B660DC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BEE9086-C1E4-9D63-ECF4-0F750CAA78EE}"/>
              </a:ext>
            </a:extLst>
          </p:cNvPr>
          <p:cNvSpPr>
            <a:spLocks noGrp="1"/>
          </p:cNvSpPr>
          <p:nvPr>
            <p:ph type="sldNum" sz="quarter" idx="12"/>
          </p:nvPr>
        </p:nvSpPr>
        <p:spPr/>
        <p:txBody>
          <a:bodyPr/>
          <a:lstStyle/>
          <a:p>
            <a:fld id="{62A24C5C-1799-4F07-ACF9-6CDD4409CC49}" type="slidenum">
              <a:rPr lang="en-GB" smtClean="0"/>
              <a:t>‹#›</a:t>
            </a:fld>
            <a:endParaRPr lang="en-GB"/>
          </a:p>
        </p:txBody>
      </p:sp>
    </p:spTree>
    <p:extLst>
      <p:ext uri="{BB962C8B-B14F-4D97-AF65-F5344CB8AC3E}">
        <p14:creationId xmlns:p14="http://schemas.microsoft.com/office/powerpoint/2010/main" val="2398760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53F48-13CC-62BA-AF70-63F78596A95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48C2BED-A700-BA26-C987-34123EF8CF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318B62D-767C-FD5F-3550-2746CC289974}"/>
              </a:ext>
            </a:extLst>
          </p:cNvPr>
          <p:cNvSpPr>
            <a:spLocks noGrp="1"/>
          </p:cNvSpPr>
          <p:nvPr>
            <p:ph type="dt" sz="half" idx="10"/>
          </p:nvPr>
        </p:nvSpPr>
        <p:spPr/>
        <p:txBody>
          <a:bodyPr/>
          <a:lstStyle/>
          <a:p>
            <a:fld id="{A448CD4E-74DE-4763-B638-F941B4F9A25A}" type="datetimeFigureOut">
              <a:rPr lang="en-GB" smtClean="0"/>
              <a:t>18/11/2025</a:t>
            </a:fld>
            <a:endParaRPr lang="en-GB"/>
          </a:p>
        </p:txBody>
      </p:sp>
      <p:sp>
        <p:nvSpPr>
          <p:cNvPr id="5" name="Footer Placeholder 4">
            <a:extLst>
              <a:ext uri="{FF2B5EF4-FFF2-40B4-BE49-F238E27FC236}">
                <a16:creationId xmlns:a16="http://schemas.microsoft.com/office/drawing/2014/main" id="{008C189F-7CA5-10F0-29EF-85E71989D5C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361DD43-A82C-7780-F2F8-823C2484948C}"/>
              </a:ext>
            </a:extLst>
          </p:cNvPr>
          <p:cNvSpPr>
            <a:spLocks noGrp="1"/>
          </p:cNvSpPr>
          <p:nvPr>
            <p:ph type="sldNum" sz="quarter" idx="12"/>
          </p:nvPr>
        </p:nvSpPr>
        <p:spPr/>
        <p:txBody>
          <a:bodyPr/>
          <a:lstStyle/>
          <a:p>
            <a:fld id="{62A24C5C-1799-4F07-ACF9-6CDD4409CC49}" type="slidenum">
              <a:rPr lang="en-GB" smtClean="0"/>
              <a:t>‹#›</a:t>
            </a:fld>
            <a:endParaRPr lang="en-GB"/>
          </a:p>
        </p:txBody>
      </p:sp>
    </p:spTree>
    <p:extLst>
      <p:ext uri="{BB962C8B-B14F-4D97-AF65-F5344CB8AC3E}">
        <p14:creationId xmlns:p14="http://schemas.microsoft.com/office/powerpoint/2010/main" val="2111172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194439-AB64-C78B-AA9A-AEC17BD4028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9142A87-E09C-FCEB-E4B7-95A9DDB9B7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16912E7-5918-E1C3-E58E-ED887D1C0119}"/>
              </a:ext>
            </a:extLst>
          </p:cNvPr>
          <p:cNvSpPr>
            <a:spLocks noGrp="1"/>
          </p:cNvSpPr>
          <p:nvPr>
            <p:ph type="dt" sz="half" idx="10"/>
          </p:nvPr>
        </p:nvSpPr>
        <p:spPr/>
        <p:txBody>
          <a:bodyPr/>
          <a:lstStyle/>
          <a:p>
            <a:fld id="{A448CD4E-74DE-4763-B638-F941B4F9A25A}" type="datetimeFigureOut">
              <a:rPr lang="en-GB" smtClean="0"/>
              <a:t>18/11/2025</a:t>
            </a:fld>
            <a:endParaRPr lang="en-GB"/>
          </a:p>
        </p:txBody>
      </p:sp>
      <p:sp>
        <p:nvSpPr>
          <p:cNvPr id="5" name="Footer Placeholder 4">
            <a:extLst>
              <a:ext uri="{FF2B5EF4-FFF2-40B4-BE49-F238E27FC236}">
                <a16:creationId xmlns:a16="http://schemas.microsoft.com/office/drawing/2014/main" id="{302DBF9D-9FE6-73F6-4FC3-2432F1AAF1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8CDF6E7-F668-3FC9-71AC-DED427D8D08F}"/>
              </a:ext>
            </a:extLst>
          </p:cNvPr>
          <p:cNvSpPr>
            <a:spLocks noGrp="1"/>
          </p:cNvSpPr>
          <p:nvPr>
            <p:ph type="sldNum" sz="quarter" idx="12"/>
          </p:nvPr>
        </p:nvSpPr>
        <p:spPr/>
        <p:txBody>
          <a:bodyPr/>
          <a:lstStyle/>
          <a:p>
            <a:fld id="{62A24C5C-1799-4F07-ACF9-6CDD4409CC49}" type="slidenum">
              <a:rPr lang="en-GB" smtClean="0"/>
              <a:t>‹#›</a:t>
            </a:fld>
            <a:endParaRPr lang="en-GB"/>
          </a:p>
        </p:txBody>
      </p:sp>
    </p:spTree>
    <p:extLst>
      <p:ext uri="{BB962C8B-B14F-4D97-AF65-F5344CB8AC3E}">
        <p14:creationId xmlns:p14="http://schemas.microsoft.com/office/powerpoint/2010/main" val="331470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16389F-566E-A587-E8E0-6C25B2FE53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8606C76-C2DC-664E-C205-C422E71EF0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9AF02C3-196D-225A-2BF6-7FE3A8E0DD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48CD4E-74DE-4763-B638-F941B4F9A25A}" type="datetimeFigureOut">
              <a:rPr lang="en-GB" smtClean="0"/>
              <a:t>18/11/2025</a:t>
            </a:fld>
            <a:endParaRPr lang="en-GB"/>
          </a:p>
        </p:txBody>
      </p:sp>
      <p:sp>
        <p:nvSpPr>
          <p:cNvPr id="5" name="Footer Placeholder 4">
            <a:extLst>
              <a:ext uri="{FF2B5EF4-FFF2-40B4-BE49-F238E27FC236}">
                <a16:creationId xmlns:a16="http://schemas.microsoft.com/office/drawing/2014/main" id="{6C71245B-0154-348F-E407-A412DFCF09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D95E32C-0B74-6F0C-197F-3CB118ADAD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A24C5C-1799-4F07-ACF9-6CDD4409CC49}" type="slidenum">
              <a:rPr lang="en-GB" smtClean="0"/>
              <a:t>‹#›</a:t>
            </a:fld>
            <a:endParaRPr lang="en-GB"/>
          </a:p>
        </p:txBody>
      </p:sp>
    </p:spTree>
    <p:extLst>
      <p:ext uri="{BB962C8B-B14F-4D97-AF65-F5344CB8AC3E}">
        <p14:creationId xmlns:p14="http://schemas.microsoft.com/office/powerpoint/2010/main" val="4436917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png"/><Relationship Id="rId3" Type="http://schemas.microsoft.com/office/2007/relationships/hdphoto" Target="../media/hdphoto1.wdp"/><Relationship Id="rId4" Type="http://schemas.openxmlformats.org/officeDocument/2006/relationships/image" Target="../media/image46.png"/><Relationship Id="rId5" Type="http://schemas.openxmlformats.org/officeDocument/2006/relationships/image" Target="../media/image4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png"/><Relationship Id="rId3" Type="http://schemas.openxmlformats.org/officeDocument/2006/relationships/image" Target="../media/image5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 Id="rId3" Type="http://schemas.openxmlformats.org/officeDocument/2006/relationships/image" Target="../media/image58.png"/><Relationship Id="rId4" Type="http://schemas.openxmlformats.org/officeDocument/2006/relationships/image" Target="../media/image5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png"/><Relationship Id="rId3" Type="http://schemas.openxmlformats.org/officeDocument/2006/relationships/image" Target="../media/image4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1.emf"/><Relationship Id="rId3" Type="http://schemas.openxmlformats.org/officeDocument/2006/relationships/image" Target="../media/image48.png"/><Relationship Id="rId4" Type="http://schemas.openxmlformats.org/officeDocument/2006/relationships/image" Target="../media/image62.e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3.png"/><Relationship Id="rId3" Type="http://schemas.openxmlformats.org/officeDocument/2006/relationships/image" Target="../media/image4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emf"/><Relationship Id="rId3" Type="http://schemas.openxmlformats.org/officeDocument/2006/relationships/image" Target="../media/image4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 Id="rId3" Type="http://schemas.openxmlformats.org/officeDocument/2006/relationships/image" Target="../media/image58.png"/><Relationship Id="rId4" Type="http://schemas.openxmlformats.org/officeDocument/2006/relationships/image" Target="../media/image5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 Id="rId3" Type="http://schemas.openxmlformats.org/officeDocument/2006/relationships/image" Target="../media/image69.png"/><Relationship Id="rId4" Type="http://schemas.openxmlformats.org/officeDocument/2006/relationships/image" Target="../media/image7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emf"/><Relationship Id="rId3" Type="http://schemas.openxmlformats.org/officeDocument/2006/relationships/image" Target="../media/image72.emf"/><Relationship Id="rId4" Type="http://schemas.openxmlformats.org/officeDocument/2006/relationships/image" Target="../media/image4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 Id="rId3" Type="http://schemas.openxmlformats.org/officeDocument/2006/relationships/image" Target="../media/image69.png"/><Relationship Id="rId4" Type="http://schemas.openxmlformats.org/officeDocument/2006/relationships/image" Target="../media/image7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5.png"/><Relationship Id="rId3" Type="http://schemas.openxmlformats.org/officeDocument/2006/relationships/image" Target="../media/image7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7.emf"/><Relationship Id="rId3" Type="http://schemas.openxmlformats.org/officeDocument/2006/relationships/image" Target="../media/image78.emf"/><Relationship Id="rId4" Type="http://schemas.openxmlformats.org/officeDocument/2006/relationships/image" Target="../media/image79.png"/><Relationship Id="rId5" Type="http://schemas.openxmlformats.org/officeDocument/2006/relationships/image" Target="../media/image80.e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1.em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3.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4.emf"/><Relationship Id="rId3" Type="http://schemas.openxmlformats.org/officeDocument/2006/relationships/image" Target="../media/image85.emf"/></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6.png"/><Relationship Id="rId3" Type="http://schemas.openxmlformats.org/officeDocument/2006/relationships/image" Target="../media/image8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8.png"/><Relationship Id="rId3" Type="http://schemas.openxmlformats.org/officeDocument/2006/relationships/image" Target="../media/image8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ustomXml" Target="../ink/ink1.xml"/><Relationship Id="rId3" Type="http://schemas.openxmlformats.org/officeDocument/2006/relationships/image" Target="../media/image10.png"/><Relationship Id="rId4" Type="http://schemas.openxmlformats.org/officeDocument/2006/relationships/image" Target="../media/image90.jpe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1.emf"/><Relationship Id="rId4" Type="http://schemas.openxmlformats.org/officeDocument/2006/relationships/image" Target="../media/image92.png"/><Relationship Id="rId5" Type="http://schemas.openxmlformats.org/officeDocument/2006/relationships/image" Target="../media/image9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4.png"/><Relationship Id="rId4" Type="http://schemas.openxmlformats.org/officeDocument/2006/relationships/image" Target="../media/image9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6.emf"/><Relationship Id="rId3" Type="http://schemas.openxmlformats.org/officeDocument/2006/relationships/image" Target="../media/image97.emf"/></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8.pn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image" Target="../media/image10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2.png"/><Relationship Id="rId3" Type="http://schemas.openxmlformats.org/officeDocument/2006/relationships/customXml" Target="../ink/ink2.xml"/><Relationship Id="rId4" Type="http://schemas.openxmlformats.org/officeDocument/2006/relationships/image" Target="../media/image510.png"/><Relationship Id="rId5" Type="http://schemas.openxmlformats.org/officeDocument/2006/relationships/image" Target="../media/image103.png"/><Relationship Id="rId6" Type="http://schemas.openxmlformats.org/officeDocument/2006/relationships/image" Target="../media/image10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5.emf"/></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5.emf"/></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6.jpe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7.jpeg"/><Relationship Id="rId3" Type="http://schemas.openxmlformats.org/officeDocument/2006/relationships/image" Target="../media/image108.jpe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9.png"/><Relationship Id="rId3" Type="http://schemas.openxmlformats.org/officeDocument/2006/relationships/image" Target="../media/image110.jpe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1.png"/><Relationship Id="rId3" Type="http://schemas.openxmlformats.org/officeDocument/2006/relationships/image" Target="../media/image112.emf"/></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1.png"/><Relationship Id="rId3" Type="http://schemas.openxmlformats.org/officeDocument/2006/relationships/image" Target="../media/image112.emf"/></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3.emf"/></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4.jpe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video" Target="https://www.youtube.com/embed/-s77voH8nRI?feature=oembed" TargetMode="External"/><Relationship Id="rId2" Type="http://schemas.openxmlformats.org/officeDocument/2006/relationships/slideLayout" Target="../slideLayouts/slideLayout2.xml"/><Relationship Id="rId3" Type="http://schemas.openxmlformats.org/officeDocument/2006/relationships/notesSlide" Target="../notesSlides/notesSlide6.xml"/><Relationship Id="rId4" Type="http://schemas.openxmlformats.org/officeDocument/2006/relationships/image" Target="../media/image115.jpe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6.emf"/><Relationship Id="rId3" Type="http://schemas.openxmlformats.org/officeDocument/2006/relationships/image" Target="../media/image117.emf"/><Relationship Id="rId4" Type="http://schemas.openxmlformats.org/officeDocument/2006/relationships/image" Target="../media/image118.emf"/><Relationship Id="rId5" Type="http://schemas.openxmlformats.org/officeDocument/2006/relationships/image" Target="../media/image119.emf"/></Relationships>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5F1E8-6A19-140B-164A-ED814A9A85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DA00A3-07DB-CA70-97A4-B6D3470BF1C2}"/>
              </a:ext>
            </a:extLst>
          </p:cNvPr>
          <p:cNvSpPr>
            <a:spLocks noGrp="1"/>
          </p:cNvSpPr>
          <p:nvPr>
            <p:ph type="title"/>
          </p:nvPr>
        </p:nvSpPr>
        <p:spPr/>
        <p:txBody>
          <a:bodyPr/>
          <a:lstStyle/>
          <a:p>
            <a:r>
              <a:rPr lang="en-GB" dirty="0"/>
              <a:t>Cranial nerves of the medulla </a:t>
            </a:r>
            <a:r>
              <a:rPr lang="en-GB" dirty="0" err="1"/>
              <a:t>oblungata</a:t>
            </a:r>
            <a:endParaRPr lang="en-GB" dirty="0"/>
          </a:p>
        </p:txBody>
      </p:sp>
      <p:pic>
        <p:nvPicPr>
          <p:cNvPr id="4" name="Picture 3">
            <a:extLst>
              <a:ext uri="{FF2B5EF4-FFF2-40B4-BE49-F238E27FC236}">
                <a16:creationId xmlns:a16="http://schemas.microsoft.com/office/drawing/2014/main" id="{8B52FA64-792C-B706-0FFD-D758D8D20E95}"/>
              </a:ext>
            </a:extLst>
          </p:cNvPr>
          <p:cNvPicPr>
            <a:picLocks noChangeAspect="1"/>
          </p:cNvPicPr>
          <p:nvPr/>
        </p:nvPicPr>
        <p:blipFill>
          <a:blip r:embed="rId2">
            <a:alphaModFix amt="50000"/>
            <a:extLst>
              <a:ext uri="{BEBA8EAE-BF5A-486C-A8C5-ECC9F3942E4B}">
                <a14:imgProps xmlns:a14="http://schemas.microsoft.com/office/drawing/2010/main">
                  <a14:imgLayer r:embed="rId3">
                    <a14:imgEffect>
                      <a14:saturation sat="0"/>
                    </a14:imgEffect>
                  </a14:imgLayer>
                </a14:imgProps>
              </a:ext>
            </a:extLst>
          </a:blip>
          <a:srcRect b="48195"/>
          <a:stretch/>
        </p:blipFill>
        <p:spPr>
          <a:xfrm>
            <a:off x="350179" y="1532918"/>
            <a:ext cx="5459628" cy="4168922"/>
          </a:xfrm>
          <a:prstGeom prst="rect">
            <a:avLst/>
          </a:prstGeom>
        </p:spPr>
      </p:pic>
      <p:pic>
        <p:nvPicPr>
          <p:cNvPr id="5" name="Picture 4">
            <a:extLst>
              <a:ext uri="{FF2B5EF4-FFF2-40B4-BE49-F238E27FC236}">
                <a16:creationId xmlns:a16="http://schemas.microsoft.com/office/drawing/2014/main" id="{058A0C2B-DB10-86C2-D35D-FB5154B9E5AA}"/>
              </a:ext>
            </a:extLst>
          </p:cNvPr>
          <p:cNvPicPr>
            <a:picLocks noChangeAspect="1"/>
          </p:cNvPicPr>
          <p:nvPr/>
        </p:nvPicPr>
        <p:blipFill>
          <a:blip r:embed="rId2">
            <a:alphaModFix amt="70000"/>
            <a:extLst>
              <a:ext uri="{BEBA8EAE-BF5A-486C-A8C5-ECC9F3942E4B}">
                <a14:imgProps xmlns:a14="http://schemas.microsoft.com/office/drawing/2010/main">
                  <a14:imgLayer r:embed="rId3">
                    <a14:imgEffect>
                      <a14:saturation sat="0"/>
                    </a14:imgEffect>
                  </a14:imgLayer>
                </a14:imgProps>
              </a:ext>
            </a:extLst>
          </a:blip>
          <a:srcRect t="51944" b="4143"/>
          <a:stretch/>
        </p:blipFill>
        <p:spPr>
          <a:xfrm>
            <a:off x="6382191" y="2047875"/>
            <a:ext cx="5459630" cy="3533775"/>
          </a:xfrm>
          <a:prstGeom prst="rect">
            <a:avLst/>
          </a:prstGeom>
        </p:spPr>
      </p:pic>
      <p:pic>
        <p:nvPicPr>
          <p:cNvPr id="6" name="Picture 5" descr="A diagram of the body&#10;&#10;Description automatically generated">
            <a:extLst>
              <a:ext uri="{FF2B5EF4-FFF2-40B4-BE49-F238E27FC236}">
                <a16:creationId xmlns:a16="http://schemas.microsoft.com/office/drawing/2014/main" id="{B7F718C6-ACB4-061F-E20E-2C70C17D8E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75214" y="3777582"/>
            <a:ext cx="4781786" cy="1769160"/>
          </a:xfrm>
          <a:prstGeom prst="rect">
            <a:avLst/>
          </a:prstGeom>
        </p:spPr>
      </p:pic>
      <p:pic>
        <p:nvPicPr>
          <p:cNvPr id="9" name="Picture 8" descr="A diagram of the muscles of the body&#10;&#10;Description automatically generated">
            <a:extLst>
              <a:ext uri="{FF2B5EF4-FFF2-40B4-BE49-F238E27FC236}">
                <a16:creationId xmlns:a16="http://schemas.microsoft.com/office/drawing/2014/main" id="{143B0C49-84EF-695D-EF9A-9CE36EC34B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3708" y="3901254"/>
            <a:ext cx="5145236" cy="1760882"/>
          </a:xfrm>
          <a:prstGeom prst="rect">
            <a:avLst/>
          </a:prstGeom>
        </p:spPr>
      </p:pic>
    </p:spTree>
    <p:extLst>
      <p:ext uri="{BB962C8B-B14F-4D97-AF65-F5344CB8AC3E}">
        <p14:creationId xmlns:p14="http://schemas.microsoft.com/office/powerpoint/2010/main" val="27959286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F20E5-4215-0107-EBF1-AFA5690E9D81}"/>
              </a:ext>
            </a:extLst>
          </p:cNvPr>
          <p:cNvSpPr>
            <a:spLocks noGrp="1"/>
          </p:cNvSpPr>
          <p:nvPr>
            <p:ph type="title"/>
          </p:nvPr>
        </p:nvSpPr>
        <p:spPr/>
        <p:txBody>
          <a:bodyPr/>
          <a:lstStyle/>
          <a:p>
            <a:r>
              <a:rPr lang="en-GB" dirty="0"/>
              <a:t>XII - Hypoglossal</a:t>
            </a:r>
          </a:p>
        </p:txBody>
      </p:sp>
      <p:pic>
        <p:nvPicPr>
          <p:cNvPr id="5" name="Picture 4">
            <a:extLst>
              <a:ext uri="{FF2B5EF4-FFF2-40B4-BE49-F238E27FC236}">
                <a16:creationId xmlns:a16="http://schemas.microsoft.com/office/drawing/2014/main" id="{A0840649-2EEB-AE1D-7BC8-9EE0F11AE45E}"/>
              </a:ext>
            </a:extLst>
          </p:cNvPr>
          <p:cNvPicPr>
            <a:picLocks noChangeAspect="1"/>
          </p:cNvPicPr>
          <p:nvPr/>
        </p:nvPicPr>
        <p:blipFill>
          <a:blip r:embed="rId2"/>
          <a:srcRect b="25300"/>
          <a:stretch/>
        </p:blipFill>
        <p:spPr>
          <a:xfrm>
            <a:off x="736886" y="1221093"/>
            <a:ext cx="5987822" cy="4550794"/>
          </a:xfrm>
          <a:prstGeom prst="rect">
            <a:avLst/>
          </a:prstGeom>
        </p:spPr>
      </p:pic>
      <p:pic>
        <p:nvPicPr>
          <p:cNvPr id="6" name="Picture 5">
            <a:extLst>
              <a:ext uri="{FF2B5EF4-FFF2-40B4-BE49-F238E27FC236}">
                <a16:creationId xmlns:a16="http://schemas.microsoft.com/office/drawing/2014/main" id="{35843CE2-4717-FEFB-06EE-501D13BD11E8}"/>
              </a:ext>
            </a:extLst>
          </p:cNvPr>
          <p:cNvPicPr>
            <a:picLocks noChangeAspect="1"/>
          </p:cNvPicPr>
          <p:nvPr/>
        </p:nvPicPr>
        <p:blipFill>
          <a:blip r:embed="rId2"/>
          <a:srcRect t="80925"/>
          <a:stretch/>
        </p:blipFill>
        <p:spPr>
          <a:xfrm>
            <a:off x="5280529" y="2311556"/>
            <a:ext cx="6740599" cy="1308179"/>
          </a:xfrm>
          <a:prstGeom prst="rect">
            <a:avLst/>
          </a:prstGeom>
        </p:spPr>
      </p:pic>
      <p:sp>
        <p:nvSpPr>
          <p:cNvPr id="10" name="Oval 9">
            <a:extLst>
              <a:ext uri="{FF2B5EF4-FFF2-40B4-BE49-F238E27FC236}">
                <a16:creationId xmlns:a16="http://schemas.microsoft.com/office/drawing/2014/main" id="{0E3B76A9-4C51-8FB9-09B1-95441326F11B}"/>
              </a:ext>
            </a:extLst>
          </p:cNvPr>
          <p:cNvSpPr/>
          <p:nvPr/>
        </p:nvSpPr>
        <p:spPr>
          <a:xfrm>
            <a:off x="7028413" y="2984977"/>
            <a:ext cx="164706" cy="63475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60B154B8-88D9-72A0-6E87-3D1A93E6E390}"/>
              </a:ext>
            </a:extLst>
          </p:cNvPr>
          <p:cNvSpPr txBox="1"/>
          <p:nvPr/>
        </p:nvSpPr>
        <p:spPr>
          <a:xfrm>
            <a:off x="7340757" y="1856806"/>
            <a:ext cx="1438599" cy="461665"/>
          </a:xfrm>
          <a:prstGeom prst="rect">
            <a:avLst/>
          </a:prstGeom>
          <a:noFill/>
        </p:spPr>
        <p:txBody>
          <a:bodyPr wrap="none" rtlCol="0">
            <a:spAutoFit/>
          </a:bodyPr>
          <a:lstStyle/>
          <a:p>
            <a:r>
              <a:rPr lang="en-GB" sz="1200" dirty="0"/>
              <a:t>Exit from medulla:</a:t>
            </a:r>
          </a:p>
          <a:p>
            <a:r>
              <a:rPr lang="en-GB" sz="1200" dirty="0"/>
              <a:t>Pre-olivary sulcus</a:t>
            </a:r>
          </a:p>
        </p:txBody>
      </p:sp>
      <p:cxnSp>
        <p:nvCxnSpPr>
          <p:cNvPr id="12" name="Straight Connector 11">
            <a:extLst>
              <a:ext uri="{FF2B5EF4-FFF2-40B4-BE49-F238E27FC236}">
                <a16:creationId xmlns:a16="http://schemas.microsoft.com/office/drawing/2014/main" id="{55EC3F1A-E8B4-B6B5-E6F2-20E3ED6081EC}"/>
              </a:ext>
            </a:extLst>
          </p:cNvPr>
          <p:cNvCxnSpPr>
            <a:stCxn id="10" idx="0"/>
            <a:endCxn id="11" idx="1"/>
          </p:cNvCxnSpPr>
          <p:nvPr/>
        </p:nvCxnSpPr>
        <p:spPr>
          <a:xfrm flipV="1">
            <a:off x="7110766" y="2087639"/>
            <a:ext cx="229991" cy="89733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244764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03B9E-7744-E5FD-FE39-76F5B71E1308}"/>
              </a:ext>
            </a:extLst>
          </p:cNvPr>
          <p:cNvSpPr>
            <a:spLocks noGrp="1"/>
          </p:cNvSpPr>
          <p:nvPr>
            <p:ph type="title"/>
          </p:nvPr>
        </p:nvSpPr>
        <p:spPr/>
        <p:txBody>
          <a:bodyPr/>
          <a:lstStyle/>
          <a:p>
            <a:r>
              <a:rPr lang="en-GB" dirty="0"/>
              <a:t>XI - Accessory</a:t>
            </a:r>
          </a:p>
        </p:txBody>
      </p:sp>
      <p:pic>
        <p:nvPicPr>
          <p:cNvPr id="5" name="Content Placeholder 4">
            <a:extLst>
              <a:ext uri="{FF2B5EF4-FFF2-40B4-BE49-F238E27FC236}">
                <a16:creationId xmlns:a16="http://schemas.microsoft.com/office/drawing/2014/main" id="{DDDDB0CF-C3DB-B1AF-4D43-F312CDD64324}"/>
              </a:ext>
            </a:extLst>
          </p:cNvPr>
          <p:cNvPicPr>
            <a:picLocks noGrp="1" noChangeAspect="1"/>
          </p:cNvPicPr>
          <p:nvPr>
            <p:ph idx="1"/>
          </p:nvPr>
        </p:nvPicPr>
        <p:blipFill>
          <a:blip r:embed="rId2"/>
          <a:srcRect l="7471" b="25137"/>
          <a:stretch/>
        </p:blipFill>
        <p:spPr>
          <a:xfrm>
            <a:off x="148590" y="1314468"/>
            <a:ext cx="5652641" cy="5245358"/>
          </a:xfrm>
        </p:spPr>
      </p:pic>
      <p:pic>
        <p:nvPicPr>
          <p:cNvPr id="6" name="Content Placeholder 4">
            <a:extLst>
              <a:ext uri="{FF2B5EF4-FFF2-40B4-BE49-F238E27FC236}">
                <a16:creationId xmlns:a16="http://schemas.microsoft.com/office/drawing/2014/main" id="{9D91DEF9-3096-BDAF-980C-58E0D4B4751B}"/>
              </a:ext>
            </a:extLst>
          </p:cNvPr>
          <p:cNvPicPr>
            <a:picLocks noChangeAspect="1"/>
          </p:cNvPicPr>
          <p:nvPr/>
        </p:nvPicPr>
        <p:blipFill>
          <a:blip r:embed="rId2"/>
          <a:srcRect t="76973"/>
          <a:stretch/>
        </p:blipFill>
        <p:spPr>
          <a:xfrm>
            <a:off x="5687906" y="2363646"/>
            <a:ext cx="6109012" cy="1613430"/>
          </a:xfrm>
          <a:prstGeom prst="rect">
            <a:avLst/>
          </a:prstGeom>
        </p:spPr>
      </p:pic>
    </p:spTree>
    <p:extLst>
      <p:ext uri="{BB962C8B-B14F-4D97-AF65-F5344CB8AC3E}">
        <p14:creationId xmlns:p14="http://schemas.microsoft.com/office/powerpoint/2010/main" val="14109348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5C83D-FB1F-174B-901F-223E5F1DDEF0}"/>
              </a:ext>
            </a:extLst>
          </p:cNvPr>
          <p:cNvSpPr>
            <a:spLocks noGrp="1"/>
          </p:cNvSpPr>
          <p:nvPr>
            <p:ph type="title"/>
          </p:nvPr>
        </p:nvSpPr>
        <p:spPr/>
        <p:txBody>
          <a:bodyPr/>
          <a:lstStyle/>
          <a:p>
            <a:r>
              <a:rPr lang="en-GB" dirty="0"/>
              <a:t>X -  </a:t>
            </a:r>
            <a:r>
              <a:rPr lang="en-GB" dirty="0" err="1"/>
              <a:t>Vagus</a:t>
            </a:r>
            <a:endParaRPr lang="en-GB" dirty="0"/>
          </a:p>
        </p:txBody>
      </p:sp>
      <p:pic>
        <p:nvPicPr>
          <p:cNvPr id="5" name="Content Placeholder 4">
            <a:extLst>
              <a:ext uri="{FF2B5EF4-FFF2-40B4-BE49-F238E27FC236}">
                <a16:creationId xmlns:a16="http://schemas.microsoft.com/office/drawing/2014/main" id="{C3B0F298-680D-C29F-3BAD-323428AB0D27}"/>
              </a:ext>
            </a:extLst>
          </p:cNvPr>
          <p:cNvPicPr>
            <a:picLocks noGrp="1" noChangeAspect="1"/>
          </p:cNvPicPr>
          <p:nvPr>
            <p:ph idx="1"/>
          </p:nvPr>
        </p:nvPicPr>
        <p:blipFill>
          <a:blip r:embed="rId2"/>
          <a:srcRect b="37906"/>
          <a:stretch/>
        </p:blipFill>
        <p:spPr>
          <a:xfrm>
            <a:off x="47735" y="1170951"/>
            <a:ext cx="7000182" cy="4917792"/>
          </a:xfrm>
        </p:spPr>
      </p:pic>
      <p:grpSp>
        <p:nvGrpSpPr>
          <p:cNvPr id="3" name="Group 2">
            <a:extLst>
              <a:ext uri="{FF2B5EF4-FFF2-40B4-BE49-F238E27FC236}">
                <a16:creationId xmlns:a16="http://schemas.microsoft.com/office/drawing/2014/main" id="{7EAE915B-0968-2348-4DB2-5BC2D1100BF6}"/>
              </a:ext>
            </a:extLst>
          </p:cNvPr>
          <p:cNvGrpSpPr/>
          <p:nvPr/>
        </p:nvGrpSpPr>
        <p:grpSpPr>
          <a:xfrm>
            <a:off x="6779196" y="2184297"/>
            <a:ext cx="5374704" cy="2745042"/>
            <a:chOff x="6779196" y="2212723"/>
            <a:chExt cx="5374704" cy="2745042"/>
          </a:xfrm>
        </p:grpSpPr>
        <p:pic>
          <p:nvPicPr>
            <p:cNvPr id="6" name="Content Placeholder 4">
              <a:extLst>
                <a:ext uri="{FF2B5EF4-FFF2-40B4-BE49-F238E27FC236}">
                  <a16:creationId xmlns:a16="http://schemas.microsoft.com/office/drawing/2014/main" id="{99E9F4AC-157E-7E12-7EDA-3367674BC61A}"/>
                </a:ext>
              </a:extLst>
            </p:cNvPr>
            <p:cNvPicPr>
              <a:picLocks noChangeAspect="1"/>
            </p:cNvPicPr>
            <p:nvPr/>
          </p:nvPicPr>
          <p:blipFill>
            <a:blip r:embed="rId2"/>
            <a:srcRect t="62824" r="4620"/>
            <a:stretch/>
          </p:blipFill>
          <p:spPr>
            <a:xfrm>
              <a:off x="6779196" y="2587625"/>
              <a:ext cx="5374704" cy="2370140"/>
            </a:xfrm>
            <a:prstGeom prst="rect">
              <a:avLst/>
            </a:prstGeom>
          </p:spPr>
        </p:pic>
        <p:sp>
          <p:nvSpPr>
            <p:cNvPr id="7" name="Oval 6">
              <a:extLst>
                <a:ext uri="{FF2B5EF4-FFF2-40B4-BE49-F238E27FC236}">
                  <a16:creationId xmlns:a16="http://schemas.microsoft.com/office/drawing/2014/main" id="{B5BCBAA9-BDA6-A71A-24EE-FCEBA29608B5}"/>
                </a:ext>
              </a:extLst>
            </p:cNvPr>
            <p:cNvSpPr/>
            <p:nvPr/>
          </p:nvSpPr>
          <p:spPr>
            <a:xfrm>
              <a:off x="8331831" y="3340894"/>
              <a:ext cx="164706" cy="63475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853BEE46-F55C-173F-9299-1875EA451BEF}"/>
                </a:ext>
              </a:extLst>
            </p:cNvPr>
            <p:cNvSpPr txBox="1"/>
            <p:nvPr/>
          </p:nvSpPr>
          <p:spPr>
            <a:xfrm>
              <a:off x="8644175" y="2212723"/>
              <a:ext cx="1438599" cy="461665"/>
            </a:xfrm>
            <a:prstGeom prst="rect">
              <a:avLst/>
            </a:prstGeom>
            <a:noFill/>
          </p:spPr>
          <p:txBody>
            <a:bodyPr wrap="none" rtlCol="0">
              <a:spAutoFit/>
            </a:bodyPr>
            <a:lstStyle/>
            <a:p>
              <a:r>
                <a:rPr lang="en-GB" sz="1200" dirty="0"/>
                <a:t>Exit from medulla:</a:t>
              </a:r>
            </a:p>
            <a:p>
              <a:r>
                <a:rPr lang="en-GB" sz="1200" dirty="0"/>
                <a:t>Post-olivary sulcus</a:t>
              </a:r>
            </a:p>
          </p:txBody>
        </p:sp>
        <p:cxnSp>
          <p:nvCxnSpPr>
            <p:cNvPr id="9" name="Straight Connector 8">
              <a:extLst>
                <a:ext uri="{FF2B5EF4-FFF2-40B4-BE49-F238E27FC236}">
                  <a16:creationId xmlns:a16="http://schemas.microsoft.com/office/drawing/2014/main" id="{46B57000-E9F5-4341-99FB-C156C6028641}"/>
                </a:ext>
              </a:extLst>
            </p:cNvPr>
            <p:cNvCxnSpPr>
              <a:stCxn id="7" idx="0"/>
              <a:endCxn id="8" idx="1"/>
            </p:cNvCxnSpPr>
            <p:nvPr/>
          </p:nvCxnSpPr>
          <p:spPr>
            <a:xfrm flipV="1">
              <a:off x="8414184" y="2443556"/>
              <a:ext cx="229991" cy="89733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5272378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7CEE1-7455-12D8-8014-0672A415D8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72C824-539A-47CD-59C9-F00B5D6B49B3}"/>
              </a:ext>
            </a:extLst>
          </p:cNvPr>
          <p:cNvSpPr>
            <a:spLocks noGrp="1"/>
          </p:cNvSpPr>
          <p:nvPr>
            <p:ph type="title"/>
          </p:nvPr>
        </p:nvSpPr>
        <p:spPr/>
        <p:txBody>
          <a:bodyPr/>
          <a:lstStyle/>
          <a:p>
            <a:r>
              <a:rPr lang="en-GB" dirty="0"/>
              <a:t>X -  </a:t>
            </a:r>
            <a:r>
              <a:rPr lang="en-GB" dirty="0" err="1"/>
              <a:t>Vagus</a:t>
            </a:r>
            <a:endParaRPr lang="en-GB" dirty="0"/>
          </a:p>
        </p:txBody>
      </p:sp>
      <p:pic>
        <p:nvPicPr>
          <p:cNvPr id="4" name="Content Placeholder 17">
            <a:extLst>
              <a:ext uri="{FF2B5EF4-FFF2-40B4-BE49-F238E27FC236}">
                <a16:creationId xmlns:a16="http://schemas.microsoft.com/office/drawing/2014/main" id="{BA20D003-A715-A1E4-AB6D-B2DD933639D3}"/>
              </a:ext>
            </a:extLst>
          </p:cNvPr>
          <p:cNvPicPr>
            <a:picLocks noChangeAspect="1"/>
          </p:cNvPicPr>
          <p:nvPr/>
        </p:nvPicPr>
        <p:blipFill>
          <a:blip r:embed="rId2"/>
          <a:stretch>
            <a:fillRect/>
          </a:stretch>
        </p:blipFill>
        <p:spPr>
          <a:xfrm>
            <a:off x="6650462" y="1052343"/>
            <a:ext cx="5112026" cy="5559802"/>
          </a:xfrm>
          <a:prstGeom prst="rect">
            <a:avLst/>
          </a:prstGeom>
        </p:spPr>
      </p:pic>
      <p:pic>
        <p:nvPicPr>
          <p:cNvPr id="7" name="Content Placeholder 4">
            <a:extLst>
              <a:ext uri="{FF2B5EF4-FFF2-40B4-BE49-F238E27FC236}">
                <a16:creationId xmlns:a16="http://schemas.microsoft.com/office/drawing/2014/main" id="{973BA98F-05C8-5724-7DC8-4CF97E61C19D}"/>
              </a:ext>
            </a:extLst>
          </p:cNvPr>
          <p:cNvPicPr>
            <a:picLocks noGrp="1" noChangeAspect="1"/>
          </p:cNvPicPr>
          <p:nvPr>
            <p:ph idx="1"/>
          </p:nvPr>
        </p:nvPicPr>
        <p:blipFill>
          <a:blip r:embed="rId3"/>
          <a:srcRect b="37906"/>
          <a:stretch/>
        </p:blipFill>
        <p:spPr>
          <a:xfrm>
            <a:off x="47735" y="1170951"/>
            <a:ext cx="7000182" cy="4917792"/>
          </a:xfrm>
        </p:spPr>
      </p:pic>
    </p:spTree>
    <p:extLst>
      <p:ext uri="{BB962C8B-B14F-4D97-AF65-F5344CB8AC3E}">
        <p14:creationId xmlns:p14="http://schemas.microsoft.com/office/powerpoint/2010/main" val="23686927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916A4-B436-2879-D81B-55952FB280C4}"/>
              </a:ext>
            </a:extLst>
          </p:cNvPr>
          <p:cNvSpPr>
            <a:spLocks noGrp="1"/>
          </p:cNvSpPr>
          <p:nvPr>
            <p:ph type="title"/>
          </p:nvPr>
        </p:nvSpPr>
        <p:spPr/>
        <p:txBody>
          <a:bodyPr/>
          <a:lstStyle/>
          <a:p>
            <a:r>
              <a:rPr lang="en-GB" dirty="0"/>
              <a:t>IX - Glossopharyngeal nerve</a:t>
            </a:r>
          </a:p>
        </p:txBody>
      </p:sp>
      <p:pic>
        <p:nvPicPr>
          <p:cNvPr id="5" name="Content Placeholder 4">
            <a:extLst>
              <a:ext uri="{FF2B5EF4-FFF2-40B4-BE49-F238E27FC236}">
                <a16:creationId xmlns:a16="http://schemas.microsoft.com/office/drawing/2014/main" id="{038BBCD1-52E1-5801-3061-5A23ADC9F443}"/>
              </a:ext>
            </a:extLst>
          </p:cNvPr>
          <p:cNvPicPr>
            <a:picLocks noGrp="1" noChangeAspect="1"/>
          </p:cNvPicPr>
          <p:nvPr>
            <p:ph idx="1"/>
          </p:nvPr>
        </p:nvPicPr>
        <p:blipFill>
          <a:blip r:embed="rId2"/>
          <a:srcRect b="36754"/>
          <a:stretch/>
        </p:blipFill>
        <p:spPr>
          <a:xfrm>
            <a:off x="148590" y="1243032"/>
            <a:ext cx="6859466" cy="5004420"/>
          </a:xfrm>
        </p:spPr>
      </p:pic>
      <p:pic>
        <p:nvPicPr>
          <p:cNvPr id="6" name="Content Placeholder 4">
            <a:extLst>
              <a:ext uri="{FF2B5EF4-FFF2-40B4-BE49-F238E27FC236}">
                <a16:creationId xmlns:a16="http://schemas.microsoft.com/office/drawing/2014/main" id="{849AEABD-8392-C497-E7D5-8044F829AD2B}"/>
              </a:ext>
            </a:extLst>
          </p:cNvPr>
          <p:cNvPicPr>
            <a:picLocks noChangeAspect="1"/>
          </p:cNvPicPr>
          <p:nvPr/>
        </p:nvPicPr>
        <p:blipFill>
          <a:blip r:embed="rId2"/>
          <a:srcRect l="6217" t="65095" r="8995"/>
          <a:stretch/>
        </p:blipFill>
        <p:spPr>
          <a:xfrm>
            <a:off x="7008056" y="2586849"/>
            <a:ext cx="4878693" cy="2316786"/>
          </a:xfrm>
          <a:prstGeom prst="rect">
            <a:avLst/>
          </a:prstGeom>
        </p:spPr>
      </p:pic>
      <p:sp>
        <p:nvSpPr>
          <p:cNvPr id="7" name="Oval 6">
            <a:extLst>
              <a:ext uri="{FF2B5EF4-FFF2-40B4-BE49-F238E27FC236}">
                <a16:creationId xmlns:a16="http://schemas.microsoft.com/office/drawing/2014/main" id="{99275AD7-B84B-BC47-91A3-57146DEEF45B}"/>
              </a:ext>
            </a:extLst>
          </p:cNvPr>
          <p:cNvSpPr/>
          <p:nvPr/>
        </p:nvSpPr>
        <p:spPr>
          <a:xfrm>
            <a:off x="8331831" y="3340894"/>
            <a:ext cx="164706" cy="63475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D6FAA8EF-3C77-CCDA-68B0-06FAA2503DE1}"/>
              </a:ext>
            </a:extLst>
          </p:cNvPr>
          <p:cNvSpPr txBox="1"/>
          <p:nvPr/>
        </p:nvSpPr>
        <p:spPr>
          <a:xfrm>
            <a:off x="8644175" y="2212723"/>
            <a:ext cx="1438599" cy="461665"/>
          </a:xfrm>
          <a:prstGeom prst="rect">
            <a:avLst/>
          </a:prstGeom>
          <a:noFill/>
        </p:spPr>
        <p:txBody>
          <a:bodyPr wrap="none" rtlCol="0">
            <a:spAutoFit/>
          </a:bodyPr>
          <a:lstStyle/>
          <a:p>
            <a:r>
              <a:rPr lang="en-GB" sz="1200" dirty="0"/>
              <a:t>Exit from medulla:</a:t>
            </a:r>
          </a:p>
          <a:p>
            <a:r>
              <a:rPr lang="en-GB" sz="1200" dirty="0"/>
              <a:t>Post-olivary sulcus</a:t>
            </a:r>
          </a:p>
        </p:txBody>
      </p:sp>
      <p:cxnSp>
        <p:nvCxnSpPr>
          <p:cNvPr id="10" name="Straight Connector 9">
            <a:extLst>
              <a:ext uri="{FF2B5EF4-FFF2-40B4-BE49-F238E27FC236}">
                <a16:creationId xmlns:a16="http://schemas.microsoft.com/office/drawing/2014/main" id="{50C6A656-B72B-7C2E-4255-DEA9EC36F743}"/>
              </a:ext>
            </a:extLst>
          </p:cNvPr>
          <p:cNvCxnSpPr>
            <a:stCxn id="7" idx="0"/>
            <a:endCxn id="8" idx="1"/>
          </p:cNvCxnSpPr>
          <p:nvPr/>
        </p:nvCxnSpPr>
        <p:spPr>
          <a:xfrm flipV="1">
            <a:off x="8414184" y="2443556"/>
            <a:ext cx="229991" cy="89733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52396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D5CF8-B18E-F92A-CBE6-1DA4540CB678}"/>
              </a:ext>
            </a:extLst>
          </p:cNvPr>
          <p:cNvSpPr>
            <a:spLocks noGrp="1"/>
          </p:cNvSpPr>
          <p:nvPr>
            <p:ph type="title"/>
          </p:nvPr>
        </p:nvSpPr>
        <p:spPr/>
        <p:txBody>
          <a:bodyPr/>
          <a:lstStyle/>
          <a:p>
            <a:r>
              <a:rPr lang="en-GB" dirty="0"/>
              <a:t>Cranial nerves of the medulla</a:t>
            </a:r>
          </a:p>
        </p:txBody>
      </p:sp>
      <p:graphicFrame>
        <p:nvGraphicFramePr>
          <p:cNvPr id="8" name="Table 7">
            <a:extLst>
              <a:ext uri="{FF2B5EF4-FFF2-40B4-BE49-F238E27FC236}">
                <a16:creationId xmlns:a16="http://schemas.microsoft.com/office/drawing/2014/main" id="{CE8E05B4-2AE2-1B72-A912-C606B9246522}"/>
              </a:ext>
            </a:extLst>
          </p:cNvPr>
          <p:cNvGraphicFramePr>
            <a:graphicFrameLocks noGrp="1"/>
          </p:cNvGraphicFramePr>
          <p:nvPr/>
        </p:nvGraphicFramePr>
        <p:xfrm>
          <a:off x="465719" y="1397160"/>
          <a:ext cx="10938723" cy="5117698"/>
        </p:xfrm>
        <a:graphic>
          <a:graphicData uri="http://schemas.openxmlformats.org/drawingml/2006/table">
            <a:tbl>
              <a:tblPr firstRow="1" bandRow="1">
                <a:tableStyleId>{9D7B26C5-4107-4FEC-AEDC-1716B250A1EF}</a:tableStyleId>
              </a:tblPr>
              <a:tblGrid>
                <a:gridCol w="1067747">
                  <a:extLst>
                    <a:ext uri="{9D8B030D-6E8A-4147-A177-3AD203B41FA5}">
                      <a16:colId xmlns:a16="http://schemas.microsoft.com/office/drawing/2014/main" val="3880467983"/>
                    </a:ext>
                  </a:extLst>
                </a:gridCol>
                <a:gridCol w="2391071">
                  <a:extLst>
                    <a:ext uri="{9D8B030D-6E8A-4147-A177-3AD203B41FA5}">
                      <a16:colId xmlns:a16="http://schemas.microsoft.com/office/drawing/2014/main" val="1963411889"/>
                    </a:ext>
                  </a:extLst>
                </a:gridCol>
                <a:gridCol w="3061252">
                  <a:extLst>
                    <a:ext uri="{9D8B030D-6E8A-4147-A177-3AD203B41FA5}">
                      <a16:colId xmlns:a16="http://schemas.microsoft.com/office/drawing/2014/main" val="1299710248"/>
                    </a:ext>
                  </a:extLst>
                </a:gridCol>
                <a:gridCol w="4418653">
                  <a:extLst>
                    <a:ext uri="{9D8B030D-6E8A-4147-A177-3AD203B41FA5}">
                      <a16:colId xmlns:a16="http://schemas.microsoft.com/office/drawing/2014/main" val="2499284477"/>
                    </a:ext>
                  </a:extLst>
                </a:gridCol>
              </a:tblGrid>
              <a:tr h="385056">
                <a:tc>
                  <a:txBody>
                    <a:bodyPr/>
                    <a:lstStyle/>
                    <a:p>
                      <a:r>
                        <a:rPr lang="en-GB" sz="1600" dirty="0"/>
                        <a:t>Number</a:t>
                      </a:r>
                    </a:p>
                  </a:txBody>
                  <a:tcPr/>
                </a:tc>
                <a:tc>
                  <a:txBody>
                    <a:bodyPr/>
                    <a:lstStyle/>
                    <a:p>
                      <a:r>
                        <a:rPr lang="en-GB" sz="1600" dirty="0"/>
                        <a:t>Nerve</a:t>
                      </a:r>
                    </a:p>
                  </a:txBody>
                  <a:tcPr/>
                </a:tc>
                <a:tc>
                  <a:txBody>
                    <a:bodyPr/>
                    <a:lstStyle/>
                    <a:p>
                      <a:r>
                        <a:rPr lang="en-GB" sz="1600" dirty="0"/>
                        <a:t>Nuclei</a:t>
                      </a:r>
                    </a:p>
                  </a:txBody>
                  <a:tcPr/>
                </a:tc>
                <a:tc>
                  <a:txBody>
                    <a:bodyPr/>
                    <a:lstStyle/>
                    <a:p>
                      <a:r>
                        <a:rPr lang="en-GB" sz="1600" dirty="0"/>
                        <a:t>Targets</a:t>
                      </a:r>
                    </a:p>
                  </a:txBody>
                  <a:tcPr/>
                </a:tc>
                <a:extLst>
                  <a:ext uri="{0D108BD9-81ED-4DB2-BD59-A6C34878D82A}">
                    <a16:rowId xmlns:a16="http://schemas.microsoft.com/office/drawing/2014/main" val="4195276562"/>
                  </a:ext>
                </a:extLst>
              </a:tr>
              <a:tr h="374722">
                <a:tc>
                  <a:txBody>
                    <a:bodyPr/>
                    <a:lstStyle/>
                    <a:p>
                      <a:pPr algn="ctr"/>
                      <a:r>
                        <a:rPr lang="en-GB" sz="1400" b="1" dirty="0"/>
                        <a:t>XII</a:t>
                      </a:r>
                    </a:p>
                  </a:txBody>
                  <a:tcPr/>
                </a:tc>
                <a:tc>
                  <a:txBody>
                    <a:bodyPr/>
                    <a:lstStyle/>
                    <a:p>
                      <a:r>
                        <a:rPr lang="en-GB" sz="1400" dirty="0"/>
                        <a:t>Hypoglossal</a:t>
                      </a:r>
                    </a:p>
                  </a:txBody>
                  <a:tcPr/>
                </a:tc>
                <a:tc>
                  <a:txBody>
                    <a:bodyPr/>
                    <a:lstStyle/>
                    <a:p>
                      <a:pPr marL="285750" indent="-285750">
                        <a:buFont typeface="Arial" panose="020B0604020202020204" pitchFamily="34" charset="0"/>
                        <a:buChar char="•"/>
                      </a:pPr>
                      <a:r>
                        <a:rPr lang="en-GB" sz="1400" dirty="0">
                          <a:solidFill>
                            <a:srgbClr val="C00000"/>
                          </a:solidFill>
                        </a:rPr>
                        <a:t>Hypoglossal nucleus</a:t>
                      </a:r>
                    </a:p>
                  </a:txBody>
                  <a:tcPr/>
                </a:tc>
                <a:tc>
                  <a:txBody>
                    <a:bodyPr/>
                    <a:lstStyle/>
                    <a:p>
                      <a:pPr marL="285750" indent="-285750">
                        <a:buFont typeface="Arial" panose="020B0604020202020204" pitchFamily="34" charset="0"/>
                        <a:buChar char="•"/>
                      </a:pPr>
                      <a:r>
                        <a:rPr lang="en-GB" sz="1400" dirty="0">
                          <a:solidFill>
                            <a:srgbClr val="C00000"/>
                          </a:solidFill>
                        </a:rPr>
                        <a:t>Tongue muscles</a:t>
                      </a:r>
                    </a:p>
                  </a:txBody>
                  <a:tcPr/>
                </a:tc>
                <a:extLst>
                  <a:ext uri="{0D108BD9-81ED-4DB2-BD59-A6C34878D82A}">
                    <a16:rowId xmlns:a16="http://schemas.microsoft.com/office/drawing/2014/main" val="1781667687"/>
                  </a:ext>
                </a:extLst>
              </a:tr>
              <a:tr h="353402">
                <a:tc>
                  <a:txBody>
                    <a:bodyPr/>
                    <a:lstStyle/>
                    <a:p>
                      <a:pPr algn="ctr"/>
                      <a:r>
                        <a:rPr lang="en-GB" sz="1400" b="1" dirty="0"/>
                        <a:t>XI</a:t>
                      </a:r>
                    </a:p>
                  </a:txBody>
                  <a:tcPr/>
                </a:tc>
                <a:tc>
                  <a:txBody>
                    <a:bodyPr/>
                    <a:lstStyle/>
                    <a:p>
                      <a:r>
                        <a:rPr lang="en-GB" sz="1400" dirty="0"/>
                        <a:t>Accessory</a:t>
                      </a:r>
                    </a:p>
                  </a:txBody>
                  <a:tcPr/>
                </a:tc>
                <a:tc>
                  <a:txBody>
                    <a:bodyPr/>
                    <a:lstStyle/>
                    <a:p>
                      <a:pPr marL="285750" indent="-285750">
                        <a:buFont typeface="Arial" panose="020B0604020202020204" pitchFamily="34" charset="0"/>
                        <a:buChar char="•"/>
                      </a:pPr>
                      <a:r>
                        <a:rPr lang="en-GB" sz="1400" dirty="0">
                          <a:solidFill>
                            <a:srgbClr val="C00000"/>
                          </a:solidFill>
                        </a:rPr>
                        <a:t>Spinal accessory nucleus (anterior horn cells of upper cervical nerves)</a:t>
                      </a:r>
                    </a:p>
                  </a:txBody>
                  <a:tcPr/>
                </a:tc>
                <a:tc>
                  <a:txBody>
                    <a:bodyPr/>
                    <a:lstStyle/>
                    <a:p>
                      <a:pPr marL="285750" indent="-285750">
                        <a:buFont typeface="Arial" panose="020B0604020202020204" pitchFamily="34" charset="0"/>
                        <a:buChar char="•"/>
                      </a:pPr>
                      <a:r>
                        <a:rPr lang="en-GB" sz="1400" dirty="0">
                          <a:solidFill>
                            <a:srgbClr val="C00000"/>
                          </a:solidFill>
                        </a:rPr>
                        <a:t>Trapezius and sternocleidomastoid muscles</a:t>
                      </a:r>
                    </a:p>
                  </a:txBody>
                  <a:tcPr/>
                </a:tc>
                <a:extLst>
                  <a:ext uri="{0D108BD9-81ED-4DB2-BD59-A6C34878D82A}">
                    <a16:rowId xmlns:a16="http://schemas.microsoft.com/office/drawing/2014/main" val="4231388058"/>
                  </a:ext>
                </a:extLst>
              </a:tr>
              <a:tr h="1599003">
                <a:tc>
                  <a:txBody>
                    <a:bodyPr/>
                    <a:lstStyle/>
                    <a:p>
                      <a:pPr algn="ctr"/>
                      <a:r>
                        <a:rPr lang="en-GB" sz="1400" b="1" dirty="0"/>
                        <a:t>X</a:t>
                      </a:r>
                    </a:p>
                  </a:txBody>
                  <a:tcPr/>
                </a:tc>
                <a:tc>
                  <a:txBody>
                    <a:bodyPr/>
                    <a:lstStyle/>
                    <a:p>
                      <a:r>
                        <a:rPr lang="en-GB" sz="1400" dirty="0" err="1"/>
                        <a:t>Vagus</a:t>
                      </a:r>
                      <a:endParaRPr lang="en-GB" sz="1400" dirty="0"/>
                    </a:p>
                  </a:txBody>
                  <a:tcPr/>
                </a:tc>
                <a:tc>
                  <a:txBody>
                    <a:bodyPr/>
                    <a:lstStyle/>
                    <a:p>
                      <a:pPr marL="285750" indent="-285750">
                        <a:buFont typeface="Arial" panose="020B0604020202020204" pitchFamily="34" charset="0"/>
                        <a:buChar char="•"/>
                      </a:pPr>
                      <a:r>
                        <a:rPr lang="en-GB" sz="1400" dirty="0">
                          <a:solidFill>
                            <a:schemeClr val="accent6">
                              <a:lumMod val="75000"/>
                            </a:schemeClr>
                          </a:solidFill>
                        </a:rPr>
                        <a:t>Spinal trigeminal nucleus</a:t>
                      </a:r>
                    </a:p>
                    <a:p>
                      <a:pPr marL="285750" indent="-285750">
                        <a:buFont typeface="Arial" panose="020B0604020202020204" pitchFamily="34" charset="0"/>
                        <a:buChar char="•"/>
                      </a:pPr>
                      <a:r>
                        <a:rPr lang="en-GB" sz="1400" dirty="0">
                          <a:solidFill>
                            <a:schemeClr val="accent6">
                              <a:lumMod val="75000"/>
                            </a:schemeClr>
                          </a:solidFill>
                        </a:rPr>
                        <a:t>Nucleus solitarious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400" dirty="0">
                          <a:solidFill>
                            <a:srgbClr val="C00000"/>
                          </a:solidFill>
                        </a:rPr>
                        <a:t>Nucleus Ambiguous</a:t>
                      </a:r>
                    </a:p>
                    <a:p>
                      <a:pPr marL="285750" indent="-285750">
                        <a:buFont typeface="Arial" panose="020B0604020202020204" pitchFamily="34" charset="0"/>
                        <a:buChar char="•"/>
                      </a:pPr>
                      <a:r>
                        <a:rPr lang="en-GB" sz="1400" dirty="0"/>
                        <a:t>Dorsal motor nucleus of the </a:t>
                      </a:r>
                      <a:r>
                        <a:rPr lang="en-GB" sz="1400" dirty="0" err="1"/>
                        <a:t>vagus</a:t>
                      </a:r>
                      <a:endParaRPr lang="en-GB" sz="1400" dirty="0"/>
                    </a:p>
                  </a:txBody>
                  <a:tcPr/>
                </a:tc>
                <a:tc>
                  <a:txBody>
                    <a:bodyPr/>
                    <a:lstStyle/>
                    <a:p>
                      <a:pPr marL="285750" indent="-285750">
                        <a:buFont typeface="Arial" panose="020B0604020202020204" pitchFamily="34" charset="0"/>
                        <a:buChar char="•"/>
                      </a:pPr>
                      <a:r>
                        <a:rPr lang="en-GB" sz="1400" dirty="0">
                          <a:solidFill>
                            <a:schemeClr val="accent6">
                              <a:lumMod val="75000"/>
                            </a:schemeClr>
                          </a:solidFill>
                        </a:rPr>
                        <a:t>General sensation in larynx, epiglottis and small portion of external auditory meatus</a:t>
                      </a:r>
                    </a:p>
                    <a:p>
                      <a:pPr marL="285750" indent="-285750">
                        <a:buFont typeface="Arial" panose="020B0604020202020204" pitchFamily="34" charset="0"/>
                        <a:buChar char="•"/>
                      </a:pPr>
                      <a:r>
                        <a:rPr lang="en-GB" sz="1400" dirty="0">
                          <a:solidFill>
                            <a:schemeClr val="accent6">
                              <a:lumMod val="75000"/>
                            </a:schemeClr>
                          </a:solidFill>
                        </a:rPr>
                        <a:t>Taste from the epiglottis</a:t>
                      </a:r>
                    </a:p>
                    <a:p>
                      <a:pPr marL="285750" indent="-285750">
                        <a:buFont typeface="Arial" panose="020B0604020202020204" pitchFamily="34" charset="0"/>
                        <a:buChar char="•"/>
                      </a:pPr>
                      <a:r>
                        <a:rPr lang="en-GB" sz="1400" dirty="0">
                          <a:solidFill>
                            <a:schemeClr val="accent6">
                              <a:lumMod val="75000"/>
                            </a:schemeClr>
                          </a:solidFill>
                        </a:rPr>
                        <a:t>Chemoreception from the carotid sinus and aortic arch</a:t>
                      </a:r>
                    </a:p>
                    <a:p>
                      <a:pPr marL="285750" indent="-285750">
                        <a:buFont typeface="Arial" panose="020B0604020202020204" pitchFamily="34" charset="0"/>
                        <a:buChar char="•"/>
                      </a:pPr>
                      <a:r>
                        <a:rPr lang="en-GB" sz="1400" dirty="0">
                          <a:solidFill>
                            <a:schemeClr val="accent6">
                              <a:lumMod val="75000"/>
                            </a:schemeClr>
                          </a:solidFill>
                        </a:rPr>
                        <a:t>Diffuse visceral sensation from the thoracic and abdominal viscera</a:t>
                      </a:r>
                    </a:p>
                    <a:p>
                      <a:pPr marL="285750" indent="-285750">
                        <a:buFont typeface="Arial" panose="020B0604020202020204" pitchFamily="34" charset="0"/>
                        <a:buChar char="•"/>
                      </a:pPr>
                      <a:r>
                        <a:rPr lang="en-GB" sz="1400" dirty="0">
                          <a:solidFill>
                            <a:srgbClr val="C00000"/>
                          </a:solidFill>
                        </a:rPr>
                        <a:t>Muscles of the palate, pharynx, and larynx</a:t>
                      </a:r>
                    </a:p>
                    <a:p>
                      <a:pPr marL="285750" indent="-285750">
                        <a:buFont typeface="Arial" panose="020B0604020202020204" pitchFamily="34" charset="0"/>
                        <a:buChar char="•"/>
                      </a:pPr>
                      <a:r>
                        <a:rPr lang="en-GB" sz="1400" dirty="0">
                          <a:solidFill>
                            <a:schemeClr val="tx1"/>
                          </a:solidFill>
                        </a:rPr>
                        <a:t>Cardiac muscle of the heart and the smooth muscle of the respiratory system and digestive system</a:t>
                      </a:r>
                    </a:p>
                  </a:txBody>
                  <a:tcPr/>
                </a:tc>
                <a:extLst>
                  <a:ext uri="{0D108BD9-81ED-4DB2-BD59-A6C34878D82A}">
                    <a16:rowId xmlns:a16="http://schemas.microsoft.com/office/drawing/2014/main" val="2320478704"/>
                  </a:ext>
                </a:extLst>
              </a:tr>
              <a:tr h="1188000">
                <a:tc>
                  <a:txBody>
                    <a:bodyPr/>
                    <a:lstStyle/>
                    <a:p>
                      <a:pPr algn="ctr"/>
                      <a:r>
                        <a:rPr lang="en-GB" sz="1400" b="1" dirty="0"/>
                        <a:t>IX</a:t>
                      </a:r>
                    </a:p>
                  </a:txBody>
                  <a:tcPr/>
                </a:tc>
                <a:tc>
                  <a:txBody>
                    <a:bodyPr/>
                    <a:lstStyle/>
                    <a:p>
                      <a:r>
                        <a:rPr lang="en-GB" sz="1400" dirty="0"/>
                        <a:t>Glossopharyngeal</a:t>
                      </a:r>
                    </a:p>
                  </a:txBody>
                  <a:tcPr/>
                </a:tc>
                <a:tc>
                  <a:txBody>
                    <a:bodyPr/>
                    <a:lstStyle/>
                    <a:p>
                      <a:pPr marL="285750" indent="-285750">
                        <a:buFont typeface="Arial" panose="020B0604020202020204" pitchFamily="34" charset="0"/>
                        <a:buChar char="•"/>
                      </a:pPr>
                      <a:r>
                        <a:rPr lang="en-GB" sz="1400" dirty="0">
                          <a:solidFill>
                            <a:schemeClr val="accent6">
                              <a:lumMod val="75000"/>
                            </a:schemeClr>
                          </a:solidFill>
                        </a:rPr>
                        <a:t>Spinal trigeminal nucleus</a:t>
                      </a:r>
                    </a:p>
                    <a:p>
                      <a:pPr marL="285750" indent="-285750">
                        <a:buFont typeface="Arial" panose="020B0604020202020204" pitchFamily="34" charset="0"/>
                        <a:buChar char="•"/>
                      </a:pPr>
                      <a:r>
                        <a:rPr lang="en-GB" sz="1400" dirty="0">
                          <a:solidFill>
                            <a:schemeClr val="accent6">
                              <a:lumMod val="75000"/>
                            </a:schemeClr>
                          </a:solidFill>
                        </a:rPr>
                        <a:t>Nucleus solitarious</a:t>
                      </a:r>
                    </a:p>
                    <a:p>
                      <a:pPr marL="285750" indent="-285750">
                        <a:buFont typeface="Arial" panose="020B0604020202020204" pitchFamily="34" charset="0"/>
                        <a:buChar char="•"/>
                      </a:pPr>
                      <a:r>
                        <a:rPr lang="en-GB" sz="1400" dirty="0">
                          <a:solidFill>
                            <a:srgbClr val="C00000"/>
                          </a:solidFill>
                        </a:rPr>
                        <a:t>Nucleus Ambiguous</a:t>
                      </a:r>
                    </a:p>
                    <a:p>
                      <a:pPr marL="285750" indent="-285750">
                        <a:buFont typeface="Arial" panose="020B0604020202020204" pitchFamily="34" charset="0"/>
                        <a:buChar char="•"/>
                      </a:pPr>
                      <a:r>
                        <a:rPr lang="en-GB" sz="1400" dirty="0">
                          <a:solidFill>
                            <a:schemeClr val="tx1"/>
                          </a:solidFill>
                        </a:rPr>
                        <a:t>Inferior salivatory nucleus</a:t>
                      </a:r>
                    </a:p>
                  </a:txBody>
                  <a:tcPr/>
                </a:tc>
                <a:tc>
                  <a:txBody>
                    <a:bodyPr/>
                    <a:lstStyle/>
                    <a:p>
                      <a:pPr marL="285750" indent="-285750">
                        <a:buFont typeface="Arial" panose="020B0604020202020204" pitchFamily="34" charset="0"/>
                        <a:buChar char="•"/>
                      </a:pPr>
                      <a:r>
                        <a:rPr lang="en-GB" sz="1400" dirty="0">
                          <a:solidFill>
                            <a:schemeClr val="accent6">
                              <a:lumMod val="75000"/>
                            </a:schemeClr>
                          </a:solidFill>
                        </a:rPr>
                        <a:t>Taste and general sensation in posterior 1/3 tongue</a:t>
                      </a:r>
                    </a:p>
                    <a:p>
                      <a:pPr marL="285750" indent="-285750">
                        <a:buFont typeface="Arial" panose="020B0604020202020204" pitchFamily="34" charset="0"/>
                        <a:buChar char="•"/>
                      </a:pPr>
                      <a:r>
                        <a:rPr lang="en-GB" sz="1400" dirty="0">
                          <a:solidFill>
                            <a:schemeClr val="accent6">
                              <a:lumMod val="75000"/>
                            </a:schemeClr>
                          </a:solidFill>
                        </a:rPr>
                        <a:t>General sensation in nasal and oral pharynx</a:t>
                      </a:r>
                    </a:p>
                    <a:p>
                      <a:pPr marL="285750" indent="-285750">
                        <a:buFont typeface="Arial" panose="020B0604020202020204" pitchFamily="34" charset="0"/>
                        <a:buChar char="•"/>
                      </a:pPr>
                      <a:r>
                        <a:rPr lang="en-GB" sz="1400" dirty="0">
                          <a:solidFill>
                            <a:schemeClr val="accent6">
                              <a:lumMod val="75000"/>
                            </a:schemeClr>
                          </a:solidFill>
                        </a:rPr>
                        <a:t>Chemoreception from the carotid body</a:t>
                      </a:r>
                    </a:p>
                    <a:p>
                      <a:pPr marL="285750" indent="-285750">
                        <a:buFont typeface="Arial" panose="020B0604020202020204" pitchFamily="34" charset="0"/>
                        <a:buChar char="•"/>
                      </a:pPr>
                      <a:r>
                        <a:rPr lang="en-GB" sz="1400" dirty="0">
                          <a:solidFill>
                            <a:srgbClr val="C00000"/>
                          </a:solidFill>
                        </a:rPr>
                        <a:t>Stylopharyngeus muscle</a:t>
                      </a:r>
                    </a:p>
                    <a:p>
                      <a:pPr marL="285750" indent="-285750">
                        <a:buFont typeface="Arial" panose="020B0604020202020204" pitchFamily="34" charset="0"/>
                        <a:buChar char="•"/>
                      </a:pPr>
                      <a:r>
                        <a:rPr lang="en-GB" sz="1400" dirty="0">
                          <a:solidFill>
                            <a:schemeClr val="tx1"/>
                          </a:solidFill>
                        </a:rPr>
                        <a:t>Parotid salivary gland</a:t>
                      </a:r>
                    </a:p>
                  </a:txBody>
                  <a:tcPr/>
                </a:tc>
                <a:extLst>
                  <a:ext uri="{0D108BD9-81ED-4DB2-BD59-A6C34878D82A}">
                    <a16:rowId xmlns:a16="http://schemas.microsoft.com/office/drawing/2014/main" val="4270529215"/>
                  </a:ext>
                </a:extLst>
              </a:tr>
            </a:tbl>
          </a:graphicData>
        </a:graphic>
      </p:graphicFrame>
    </p:spTree>
    <p:extLst>
      <p:ext uri="{BB962C8B-B14F-4D97-AF65-F5344CB8AC3E}">
        <p14:creationId xmlns:p14="http://schemas.microsoft.com/office/powerpoint/2010/main" val="10528534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8DF2F-6FE4-F78A-AA7D-EE324FF82A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30F119-9778-816E-CD99-C9E5D40981F4}"/>
              </a:ext>
            </a:extLst>
          </p:cNvPr>
          <p:cNvSpPr>
            <a:spLocks noGrp="1"/>
          </p:cNvSpPr>
          <p:nvPr>
            <p:ph type="title"/>
          </p:nvPr>
        </p:nvSpPr>
        <p:spPr/>
        <p:txBody>
          <a:bodyPr>
            <a:normAutofit/>
          </a:bodyPr>
          <a:lstStyle/>
          <a:p>
            <a:r>
              <a:rPr lang="en-GB" dirty="0"/>
              <a:t>The pons</a:t>
            </a:r>
          </a:p>
        </p:txBody>
      </p:sp>
      <p:pic>
        <p:nvPicPr>
          <p:cNvPr id="5" name="Picture 4">
            <a:extLst>
              <a:ext uri="{FF2B5EF4-FFF2-40B4-BE49-F238E27FC236}">
                <a16:creationId xmlns:a16="http://schemas.microsoft.com/office/drawing/2014/main" id="{DE392CED-E9BC-AA6C-FF75-696255101CF8}"/>
              </a:ext>
            </a:extLst>
          </p:cNvPr>
          <p:cNvPicPr>
            <a:picLocks noChangeAspect="1"/>
          </p:cNvPicPr>
          <p:nvPr/>
        </p:nvPicPr>
        <p:blipFill>
          <a:blip r:embed="rId2">
            <a:grayscl/>
            <a:alphaModFix amt="70000"/>
          </a:blip>
          <a:srcRect b="48195"/>
          <a:stretch/>
        </p:blipFill>
        <p:spPr>
          <a:xfrm>
            <a:off x="350183" y="1568377"/>
            <a:ext cx="5459628" cy="4168922"/>
          </a:xfrm>
          <a:prstGeom prst="rect">
            <a:avLst/>
          </a:prstGeom>
        </p:spPr>
      </p:pic>
      <p:pic>
        <p:nvPicPr>
          <p:cNvPr id="6" name="Picture 5">
            <a:extLst>
              <a:ext uri="{FF2B5EF4-FFF2-40B4-BE49-F238E27FC236}">
                <a16:creationId xmlns:a16="http://schemas.microsoft.com/office/drawing/2014/main" id="{F04F9440-B625-22C1-E484-2F3086D1ED91}"/>
              </a:ext>
            </a:extLst>
          </p:cNvPr>
          <p:cNvPicPr>
            <a:picLocks noChangeAspect="1"/>
          </p:cNvPicPr>
          <p:nvPr/>
        </p:nvPicPr>
        <p:blipFill>
          <a:blip r:embed="rId2">
            <a:grayscl/>
            <a:alphaModFix amt="70000"/>
          </a:blip>
          <a:srcRect t="51944" b="4143"/>
          <a:stretch/>
        </p:blipFill>
        <p:spPr>
          <a:xfrm>
            <a:off x="6382191" y="2047875"/>
            <a:ext cx="5459630" cy="3533775"/>
          </a:xfrm>
          <a:prstGeom prst="rect">
            <a:avLst/>
          </a:prstGeom>
        </p:spPr>
      </p:pic>
      <p:pic>
        <p:nvPicPr>
          <p:cNvPr id="7" name="Picture 6" descr="A diagram of the muscles of the human body&#10;&#10;Description automatically generated">
            <a:extLst>
              <a:ext uri="{FF2B5EF4-FFF2-40B4-BE49-F238E27FC236}">
                <a16:creationId xmlns:a16="http://schemas.microsoft.com/office/drawing/2014/main" id="{C9911E65-F510-E82A-9FC9-DB9FA05710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5950" y="2820414"/>
            <a:ext cx="4643698" cy="1515366"/>
          </a:xfrm>
          <a:prstGeom prst="rect">
            <a:avLst/>
          </a:prstGeom>
        </p:spPr>
      </p:pic>
      <p:pic>
        <p:nvPicPr>
          <p:cNvPr id="9" name="Picture 8" descr="A diagram of a human body&#10;&#10;Description automatically generated">
            <a:extLst>
              <a:ext uri="{FF2B5EF4-FFF2-40B4-BE49-F238E27FC236}">
                <a16:creationId xmlns:a16="http://schemas.microsoft.com/office/drawing/2014/main" id="{D621D88B-67CC-44D9-6C7A-E70DC702ED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34297" y="2813383"/>
            <a:ext cx="5490978" cy="1446878"/>
          </a:xfrm>
          <a:prstGeom prst="rect">
            <a:avLst/>
          </a:prstGeom>
        </p:spPr>
      </p:pic>
    </p:spTree>
    <p:extLst>
      <p:ext uri="{BB962C8B-B14F-4D97-AF65-F5344CB8AC3E}">
        <p14:creationId xmlns:p14="http://schemas.microsoft.com/office/powerpoint/2010/main" val="14149514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47E76-8B12-6FBD-B761-C95A88C706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D3A09-7A70-62A2-28D1-FDAE14A12A82}"/>
              </a:ext>
            </a:extLst>
          </p:cNvPr>
          <p:cNvSpPr>
            <a:spLocks noGrp="1"/>
          </p:cNvSpPr>
          <p:nvPr>
            <p:ph type="title"/>
          </p:nvPr>
        </p:nvSpPr>
        <p:spPr/>
        <p:txBody>
          <a:bodyPr/>
          <a:lstStyle/>
          <a:p>
            <a:r>
              <a:rPr lang="en-GB" dirty="0"/>
              <a:t>The pons</a:t>
            </a:r>
          </a:p>
        </p:txBody>
      </p:sp>
      <p:pic>
        <p:nvPicPr>
          <p:cNvPr id="5" name="Picture 4">
            <a:extLst>
              <a:ext uri="{FF2B5EF4-FFF2-40B4-BE49-F238E27FC236}">
                <a16:creationId xmlns:a16="http://schemas.microsoft.com/office/drawing/2014/main" id="{07735B38-DB00-FA94-4B47-051968CB2CCA}"/>
              </a:ext>
            </a:extLst>
          </p:cNvPr>
          <p:cNvPicPr>
            <a:picLocks noChangeAspect="1"/>
          </p:cNvPicPr>
          <p:nvPr/>
        </p:nvPicPr>
        <p:blipFill>
          <a:blip r:embed="rId2"/>
          <a:stretch>
            <a:fillRect/>
          </a:stretch>
        </p:blipFill>
        <p:spPr>
          <a:xfrm>
            <a:off x="3815585" y="1381062"/>
            <a:ext cx="7318589" cy="4520402"/>
          </a:xfrm>
          <a:prstGeom prst="rect">
            <a:avLst/>
          </a:prstGeom>
        </p:spPr>
      </p:pic>
      <p:grpSp>
        <p:nvGrpSpPr>
          <p:cNvPr id="3" name="Group 2">
            <a:extLst>
              <a:ext uri="{FF2B5EF4-FFF2-40B4-BE49-F238E27FC236}">
                <a16:creationId xmlns:a16="http://schemas.microsoft.com/office/drawing/2014/main" id="{C0BA7804-A2A3-DEF4-9BEE-DB2A9AE17B57}"/>
              </a:ext>
            </a:extLst>
          </p:cNvPr>
          <p:cNvGrpSpPr/>
          <p:nvPr/>
        </p:nvGrpSpPr>
        <p:grpSpPr>
          <a:xfrm>
            <a:off x="148590" y="1263693"/>
            <a:ext cx="2880046" cy="2377570"/>
            <a:chOff x="1556001" y="2096809"/>
            <a:chExt cx="4138925" cy="3416815"/>
          </a:xfrm>
        </p:grpSpPr>
        <p:pic>
          <p:nvPicPr>
            <p:cNvPr id="4" name="Picture 3" descr="A drawing of a brain&#10;&#10;Description automatically generated">
              <a:extLst>
                <a:ext uri="{FF2B5EF4-FFF2-40B4-BE49-F238E27FC236}">
                  <a16:creationId xmlns:a16="http://schemas.microsoft.com/office/drawing/2014/main" id="{6BB6BF49-E6C4-BA82-7CCE-53AF1B23A2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6001" y="2096809"/>
              <a:ext cx="2983998" cy="3416815"/>
            </a:xfrm>
            <a:prstGeom prst="rect">
              <a:avLst/>
            </a:prstGeom>
          </p:spPr>
        </p:pic>
        <p:sp>
          <p:nvSpPr>
            <p:cNvPr id="6" name="TextBox 5">
              <a:extLst>
                <a:ext uri="{FF2B5EF4-FFF2-40B4-BE49-F238E27FC236}">
                  <a16:creationId xmlns:a16="http://schemas.microsoft.com/office/drawing/2014/main" id="{673E8646-DECE-4C19-8609-5135E8FBF630}"/>
                </a:ext>
              </a:extLst>
            </p:cNvPr>
            <p:cNvSpPr txBox="1"/>
            <p:nvPr/>
          </p:nvSpPr>
          <p:spPr>
            <a:xfrm>
              <a:off x="4638675" y="2814638"/>
              <a:ext cx="1056251" cy="369332"/>
            </a:xfrm>
            <a:prstGeom prst="rect">
              <a:avLst/>
            </a:prstGeom>
            <a:noFill/>
          </p:spPr>
          <p:txBody>
            <a:bodyPr wrap="none" rtlCol="0">
              <a:spAutoFit/>
            </a:bodyPr>
            <a:lstStyle/>
            <a:p>
              <a:r>
                <a:rPr lang="en-GB" dirty="0"/>
                <a:t>Midbrain</a:t>
              </a:r>
            </a:p>
          </p:txBody>
        </p:sp>
        <p:sp>
          <p:nvSpPr>
            <p:cNvPr id="8" name="TextBox 7">
              <a:extLst>
                <a:ext uri="{FF2B5EF4-FFF2-40B4-BE49-F238E27FC236}">
                  <a16:creationId xmlns:a16="http://schemas.microsoft.com/office/drawing/2014/main" id="{C7F6EB1E-9B6A-28D2-5DE5-130E80483BE1}"/>
                </a:ext>
              </a:extLst>
            </p:cNvPr>
            <p:cNvSpPr txBox="1"/>
            <p:nvPr/>
          </p:nvSpPr>
          <p:spPr>
            <a:xfrm>
              <a:off x="4191000" y="3489365"/>
              <a:ext cx="674544" cy="369332"/>
            </a:xfrm>
            <a:prstGeom prst="rect">
              <a:avLst/>
            </a:prstGeom>
            <a:noFill/>
          </p:spPr>
          <p:txBody>
            <a:bodyPr wrap="none" rtlCol="0">
              <a:spAutoFit/>
            </a:bodyPr>
            <a:lstStyle/>
            <a:p>
              <a:r>
                <a:rPr lang="en-GB" dirty="0"/>
                <a:t>Pons</a:t>
              </a:r>
            </a:p>
          </p:txBody>
        </p:sp>
        <p:sp>
          <p:nvSpPr>
            <p:cNvPr id="10" name="TextBox 9">
              <a:extLst>
                <a:ext uri="{FF2B5EF4-FFF2-40B4-BE49-F238E27FC236}">
                  <a16:creationId xmlns:a16="http://schemas.microsoft.com/office/drawing/2014/main" id="{C96A4A96-075E-6A55-A1B3-48846D7D6EE0}"/>
                </a:ext>
              </a:extLst>
            </p:cNvPr>
            <p:cNvSpPr txBox="1"/>
            <p:nvPr/>
          </p:nvSpPr>
          <p:spPr>
            <a:xfrm>
              <a:off x="3577521" y="4278392"/>
              <a:ext cx="1226811" cy="646331"/>
            </a:xfrm>
            <a:prstGeom prst="rect">
              <a:avLst/>
            </a:prstGeom>
            <a:noFill/>
          </p:spPr>
          <p:txBody>
            <a:bodyPr wrap="none" rtlCol="0">
              <a:spAutoFit/>
            </a:bodyPr>
            <a:lstStyle/>
            <a:p>
              <a:r>
                <a:rPr lang="en-GB" dirty="0"/>
                <a:t>Medulla</a:t>
              </a:r>
            </a:p>
            <a:p>
              <a:r>
                <a:rPr lang="en-GB" dirty="0" err="1"/>
                <a:t>Oblungata</a:t>
              </a:r>
              <a:endParaRPr lang="en-GB" dirty="0"/>
            </a:p>
          </p:txBody>
        </p:sp>
      </p:grpSp>
      <p:cxnSp>
        <p:nvCxnSpPr>
          <p:cNvPr id="11" name="Straight Connector 10">
            <a:extLst>
              <a:ext uri="{FF2B5EF4-FFF2-40B4-BE49-F238E27FC236}">
                <a16:creationId xmlns:a16="http://schemas.microsoft.com/office/drawing/2014/main" id="{C0C50B3D-784B-FECD-D8A0-C088A0F45E98}"/>
              </a:ext>
            </a:extLst>
          </p:cNvPr>
          <p:cNvCxnSpPr>
            <a:cxnSpLocks/>
          </p:cNvCxnSpPr>
          <p:nvPr/>
        </p:nvCxnSpPr>
        <p:spPr>
          <a:xfrm>
            <a:off x="715299" y="2281254"/>
            <a:ext cx="1218789" cy="416876"/>
          </a:xfrm>
          <a:prstGeom prst="line">
            <a:avLst/>
          </a:prstGeom>
          <a:ln w="38100"/>
        </p:spPr>
        <p:style>
          <a:lnRef idx="2">
            <a:schemeClr val="accent1"/>
          </a:lnRef>
          <a:fillRef idx="0">
            <a:schemeClr val="accent1"/>
          </a:fillRef>
          <a:effectRef idx="1">
            <a:schemeClr val="accent1"/>
          </a:effectRef>
          <a:fontRef idx="minor">
            <a:schemeClr val="tx1"/>
          </a:fontRef>
        </p:style>
      </p:cxnSp>
      <p:grpSp>
        <p:nvGrpSpPr>
          <p:cNvPr id="7" name="Group 6">
            <a:extLst>
              <a:ext uri="{FF2B5EF4-FFF2-40B4-BE49-F238E27FC236}">
                <a16:creationId xmlns:a16="http://schemas.microsoft.com/office/drawing/2014/main" id="{7802CACF-BF7A-EA8C-04CE-992A70F20A68}"/>
              </a:ext>
            </a:extLst>
          </p:cNvPr>
          <p:cNvGrpSpPr/>
          <p:nvPr/>
        </p:nvGrpSpPr>
        <p:grpSpPr>
          <a:xfrm>
            <a:off x="9217834" y="6283963"/>
            <a:ext cx="2531514" cy="369332"/>
            <a:chOff x="6025953" y="5898082"/>
            <a:chExt cx="2531514" cy="369332"/>
          </a:xfrm>
        </p:grpSpPr>
        <p:sp>
          <p:nvSpPr>
            <p:cNvPr id="9" name="Rectangle 8">
              <a:extLst>
                <a:ext uri="{FF2B5EF4-FFF2-40B4-BE49-F238E27FC236}">
                  <a16:creationId xmlns:a16="http://schemas.microsoft.com/office/drawing/2014/main" id="{87B9FE5E-4714-9609-717B-F1B7DC637951}"/>
                </a:ext>
              </a:extLst>
            </p:cNvPr>
            <p:cNvSpPr/>
            <p:nvPr/>
          </p:nvSpPr>
          <p:spPr>
            <a:xfrm>
              <a:off x="6025953" y="5957799"/>
              <a:ext cx="249898" cy="24989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0267F454-642D-8E9B-CF24-FBC23F38FDCA}"/>
                </a:ext>
              </a:extLst>
            </p:cNvPr>
            <p:cNvSpPr txBox="1"/>
            <p:nvPr/>
          </p:nvSpPr>
          <p:spPr>
            <a:xfrm>
              <a:off x="6344005" y="5898082"/>
              <a:ext cx="986424" cy="369332"/>
            </a:xfrm>
            <a:prstGeom prst="rect">
              <a:avLst/>
            </a:prstGeom>
            <a:noFill/>
          </p:spPr>
          <p:txBody>
            <a:bodyPr wrap="none" rtlCol="0">
              <a:spAutoFit/>
            </a:bodyPr>
            <a:lstStyle/>
            <a:p>
              <a:r>
                <a:rPr lang="en-GB" dirty="0"/>
                <a:t>Sensory</a:t>
              </a:r>
            </a:p>
          </p:txBody>
        </p:sp>
        <p:sp>
          <p:nvSpPr>
            <p:cNvPr id="13" name="Rectangle 12">
              <a:extLst>
                <a:ext uri="{FF2B5EF4-FFF2-40B4-BE49-F238E27FC236}">
                  <a16:creationId xmlns:a16="http://schemas.microsoft.com/office/drawing/2014/main" id="{6CC7B102-33C4-48FD-F99F-58C094C930E0}"/>
                </a:ext>
              </a:extLst>
            </p:cNvPr>
            <p:cNvSpPr/>
            <p:nvPr/>
          </p:nvSpPr>
          <p:spPr>
            <a:xfrm>
              <a:off x="7467601" y="5957799"/>
              <a:ext cx="249898" cy="24989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4D7BA7F5-1886-54DC-888D-B31D709F30C4}"/>
                </a:ext>
              </a:extLst>
            </p:cNvPr>
            <p:cNvSpPr txBox="1"/>
            <p:nvPr/>
          </p:nvSpPr>
          <p:spPr>
            <a:xfrm>
              <a:off x="7785653" y="5898082"/>
              <a:ext cx="771814" cy="369332"/>
            </a:xfrm>
            <a:prstGeom prst="rect">
              <a:avLst/>
            </a:prstGeom>
            <a:noFill/>
          </p:spPr>
          <p:txBody>
            <a:bodyPr wrap="none" rtlCol="0">
              <a:spAutoFit/>
            </a:bodyPr>
            <a:lstStyle/>
            <a:p>
              <a:r>
                <a:rPr lang="en-GB" dirty="0"/>
                <a:t>Motor</a:t>
              </a:r>
            </a:p>
          </p:txBody>
        </p:sp>
      </p:grpSp>
    </p:spTree>
    <p:extLst>
      <p:ext uri="{BB962C8B-B14F-4D97-AF65-F5344CB8AC3E}">
        <p14:creationId xmlns:p14="http://schemas.microsoft.com/office/powerpoint/2010/main" val="32942814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50E16-56F0-307E-CD1E-F4432EB09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7BAA3E-DA91-D380-A9B4-A0AFE18843C8}"/>
              </a:ext>
            </a:extLst>
          </p:cNvPr>
          <p:cNvSpPr>
            <a:spLocks noGrp="1"/>
          </p:cNvSpPr>
          <p:nvPr>
            <p:ph type="title"/>
          </p:nvPr>
        </p:nvSpPr>
        <p:spPr/>
        <p:txBody>
          <a:bodyPr/>
          <a:lstStyle/>
          <a:p>
            <a:r>
              <a:rPr lang="en-GB" dirty="0"/>
              <a:t>The pons</a:t>
            </a:r>
          </a:p>
        </p:txBody>
      </p:sp>
      <p:pic>
        <p:nvPicPr>
          <p:cNvPr id="7" name="Picture 6">
            <a:extLst>
              <a:ext uri="{FF2B5EF4-FFF2-40B4-BE49-F238E27FC236}">
                <a16:creationId xmlns:a16="http://schemas.microsoft.com/office/drawing/2014/main" id="{43A3215C-2EA9-2222-F313-D97B7DA80F55}"/>
              </a:ext>
            </a:extLst>
          </p:cNvPr>
          <p:cNvPicPr>
            <a:picLocks noChangeAspect="1"/>
          </p:cNvPicPr>
          <p:nvPr/>
        </p:nvPicPr>
        <p:blipFill>
          <a:blip r:embed="rId2"/>
          <a:srcRect r="12531"/>
          <a:stretch/>
        </p:blipFill>
        <p:spPr>
          <a:xfrm>
            <a:off x="6096000" y="4749521"/>
            <a:ext cx="4839602" cy="2103092"/>
          </a:xfrm>
          <a:prstGeom prst="rect">
            <a:avLst/>
          </a:prstGeom>
        </p:spPr>
      </p:pic>
      <p:grpSp>
        <p:nvGrpSpPr>
          <p:cNvPr id="3" name="Group 2">
            <a:extLst>
              <a:ext uri="{FF2B5EF4-FFF2-40B4-BE49-F238E27FC236}">
                <a16:creationId xmlns:a16="http://schemas.microsoft.com/office/drawing/2014/main" id="{D5378F63-0AFA-150D-3139-53999E6320EA}"/>
              </a:ext>
            </a:extLst>
          </p:cNvPr>
          <p:cNvGrpSpPr/>
          <p:nvPr/>
        </p:nvGrpSpPr>
        <p:grpSpPr>
          <a:xfrm>
            <a:off x="148590" y="1263693"/>
            <a:ext cx="2880046" cy="2377570"/>
            <a:chOff x="1556001" y="2096809"/>
            <a:chExt cx="4138925" cy="3416815"/>
          </a:xfrm>
        </p:grpSpPr>
        <p:pic>
          <p:nvPicPr>
            <p:cNvPr id="4" name="Picture 3" descr="A drawing of a brain&#10;&#10;Description automatically generated">
              <a:extLst>
                <a:ext uri="{FF2B5EF4-FFF2-40B4-BE49-F238E27FC236}">
                  <a16:creationId xmlns:a16="http://schemas.microsoft.com/office/drawing/2014/main" id="{4A810B74-E50E-145C-753A-1DA329DBF4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6001" y="2096809"/>
              <a:ext cx="2983998" cy="3416815"/>
            </a:xfrm>
            <a:prstGeom prst="rect">
              <a:avLst/>
            </a:prstGeom>
          </p:spPr>
        </p:pic>
        <p:sp>
          <p:nvSpPr>
            <p:cNvPr id="6" name="TextBox 5">
              <a:extLst>
                <a:ext uri="{FF2B5EF4-FFF2-40B4-BE49-F238E27FC236}">
                  <a16:creationId xmlns:a16="http://schemas.microsoft.com/office/drawing/2014/main" id="{B3A2D0D8-720B-BB27-0F60-F669F05DA93E}"/>
                </a:ext>
              </a:extLst>
            </p:cNvPr>
            <p:cNvSpPr txBox="1"/>
            <p:nvPr/>
          </p:nvSpPr>
          <p:spPr>
            <a:xfrm>
              <a:off x="4638675" y="2814638"/>
              <a:ext cx="1056251" cy="369332"/>
            </a:xfrm>
            <a:prstGeom prst="rect">
              <a:avLst/>
            </a:prstGeom>
            <a:noFill/>
          </p:spPr>
          <p:txBody>
            <a:bodyPr wrap="none" rtlCol="0">
              <a:spAutoFit/>
            </a:bodyPr>
            <a:lstStyle/>
            <a:p>
              <a:r>
                <a:rPr lang="en-GB" dirty="0"/>
                <a:t>Midbrain</a:t>
              </a:r>
            </a:p>
          </p:txBody>
        </p:sp>
        <p:sp>
          <p:nvSpPr>
            <p:cNvPr id="8" name="TextBox 7">
              <a:extLst>
                <a:ext uri="{FF2B5EF4-FFF2-40B4-BE49-F238E27FC236}">
                  <a16:creationId xmlns:a16="http://schemas.microsoft.com/office/drawing/2014/main" id="{54D05965-861E-84E3-3CF4-3E1272D9B92A}"/>
                </a:ext>
              </a:extLst>
            </p:cNvPr>
            <p:cNvSpPr txBox="1"/>
            <p:nvPr/>
          </p:nvSpPr>
          <p:spPr>
            <a:xfrm>
              <a:off x="4191000" y="3489365"/>
              <a:ext cx="674544" cy="369332"/>
            </a:xfrm>
            <a:prstGeom prst="rect">
              <a:avLst/>
            </a:prstGeom>
            <a:noFill/>
          </p:spPr>
          <p:txBody>
            <a:bodyPr wrap="none" rtlCol="0">
              <a:spAutoFit/>
            </a:bodyPr>
            <a:lstStyle/>
            <a:p>
              <a:r>
                <a:rPr lang="en-GB" dirty="0"/>
                <a:t>Pons</a:t>
              </a:r>
            </a:p>
          </p:txBody>
        </p:sp>
        <p:sp>
          <p:nvSpPr>
            <p:cNvPr id="10" name="TextBox 9">
              <a:extLst>
                <a:ext uri="{FF2B5EF4-FFF2-40B4-BE49-F238E27FC236}">
                  <a16:creationId xmlns:a16="http://schemas.microsoft.com/office/drawing/2014/main" id="{3492B12B-E364-BAFB-5E55-68CE29C960D4}"/>
                </a:ext>
              </a:extLst>
            </p:cNvPr>
            <p:cNvSpPr txBox="1"/>
            <p:nvPr/>
          </p:nvSpPr>
          <p:spPr>
            <a:xfrm>
              <a:off x="3577521" y="4278392"/>
              <a:ext cx="1226811" cy="646331"/>
            </a:xfrm>
            <a:prstGeom prst="rect">
              <a:avLst/>
            </a:prstGeom>
            <a:noFill/>
          </p:spPr>
          <p:txBody>
            <a:bodyPr wrap="none" rtlCol="0">
              <a:spAutoFit/>
            </a:bodyPr>
            <a:lstStyle/>
            <a:p>
              <a:r>
                <a:rPr lang="en-GB" dirty="0"/>
                <a:t>Medulla</a:t>
              </a:r>
            </a:p>
            <a:p>
              <a:r>
                <a:rPr lang="en-GB" dirty="0" err="1"/>
                <a:t>Oblungata</a:t>
              </a:r>
              <a:endParaRPr lang="en-GB" dirty="0"/>
            </a:p>
          </p:txBody>
        </p:sp>
      </p:grpSp>
      <p:cxnSp>
        <p:nvCxnSpPr>
          <p:cNvPr id="11" name="Straight Connector 10">
            <a:extLst>
              <a:ext uri="{FF2B5EF4-FFF2-40B4-BE49-F238E27FC236}">
                <a16:creationId xmlns:a16="http://schemas.microsoft.com/office/drawing/2014/main" id="{D57FE2AC-0015-3892-BD6A-3192E07AB498}"/>
              </a:ext>
            </a:extLst>
          </p:cNvPr>
          <p:cNvCxnSpPr>
            <a:cxnSpLocks/>
          </p:cNvCxnSpPr>
          <p:nvPr/>
        </p:nvCxnSpPr>
        <p:spPr>
          <a:xfrm>
            <a:off x="858230" y="2149903"/>
            <a:ext cx="1218789" cy="416876"/>
          </a:xfrm>
          <a:prstGeom prst="line">
            <a:avLst/>
          </a:prstGeom>
          <a:ln w="38100"/>
        </p:spPr>
        <p:style>
          <a:lnRef idx="2">
            <a:schemeClr val="accent1"/>
          </a:lnRef>
          <a:fillRef idx="0">
            <a:schemeClr val="accent1"/>
          </a:fillRef>
          <a:effectRef idx="1">
            <a:schemeClr val="accent1"/>
          </a:effectRef>
          <a:fontRef idx="minor">
            <a:schemeClr val="tx1"/>
          </a:fontRef>
        </p:style>
      </p:cxnSp>
      <p:pic>
        <p:nvPicPr>
          <p:cNvPr id="14" name="Picture 13">
            <a:extLst>
              <a:ext uri="{FF2B5EF4-FFF2-40B4-BE49-F238E27FC236}">
                <a16:creationId xmlns:a16="http://schemas.microsoft.com/office/drawing/2014/main" id="{786BEDA3-FADE-9986-1C0C-AA0A99702398}"/>
              </a:ext>
            </a:extLst>
          </p:cNvPr>
          <p:cNvPicPr>
            <a:picLocks noChangeAspect="1"/>
          </p:cNvPicPr>
          <p:nvPr/>
        </p:nvPicPr>
        <p:blipFill>
          <a:blip r:embed="rId4"/>
          <a:stretch>
            <a:fillRect/>
          </a:stretch>
        </p:blipFill>
        <p:spPr>
          <a:xfrm>
            <a:off x="4936608" y="1263693"/>
            <a:ext cx="6985048" cy="3485828"/>
          </a:xfrm>
          <a:prstGeom prst="rect">
            <a:avLst/>
          </a:prstGeom>
        </p:spPr>
      </p:pic>
      <p:grpSp>
        <p:nvGrpSpPr>
          <p:cNvPr id="5" name="Group 4">
            <a:extLst>
              <a:ext uri="{FF2B5EF4-FFF2-40B4-BE49-F238E27FC236}">
                <a16:creationId xmlns:a16="http://schemas.microsoft.com/office/drawing/2014/main" id="{6F40F9AD-E8B9-77D8-4E72-21FD54BFF105}"/>
              </a:ext>
            </a:extLst>
          </p:cNvPr>
          <p:cNvGrpSpPr/>
          <p:nvPr/>
        </p:nvGrpSpPr>
        <p:grpSpPr>
          <a:xfrm>
            <a:off x="289496" y="6283963"/>
            <a:ext cx="2531514" cy="369332"/>
            <a:chOff x="6025953" y="5898082"/>
            <a:chExt cx="2531514" cy="369332"/>
          </a:xfrm>
        </p:grpSpPr>
        <p:sp>
          <p:nvSpPr>
            <p:cNvPr id="9" name="Rectangle 8">
              <a:extLst>
                <a:ext uri="{FF2B5EF4-FFF2-40B4-BE49-F238E27FC236}">
                  <a16:creationId xmlns:a16="http://schemas.microsoft.com/office/drawing/2014/main" id="{FCD597EC-6181-E971-4716-3F6388D80F33}"/>
                </a:ext>
              </a:extLst>
            </p:cNvPr>
            <p:cNvSpPr/>
            <p:nvPr/>
          </p:nvSpPr>
          <p:spPr>
            <a:xfrm>
              <a:off x="6025953" y="5957799"/>
              <a:ext cx="249898" cy="24989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864D3D67-7C05-BA09-EAA9-34955F5400D5}"/>
                </a:ext>
              </a:extLst>
            </p:cNvPr>
            <p:cNvSpPr txBox="1"/>
            <p:nvPr/>
          </p:nvSpPr>
          <p:spPr>
            <a:xfrm>
              <a:off x="6344005" y="5898082"/>
              <a:ext cx="986424" cy="369332"/>
            </a:xfrm>
            <a:prstGeom prst="rect">
              <a:avLst/>
            </a:prstGeom>
            <a:noFill/>
          </p:spPr>
          <p:txBody>
            <a:bodyPr wrap="none" rtlCol="0">
              <a:spAutoFit/>
            </a:bodyPr>
            <a:lstStyle/>
            <a:p>
              <a:r>
                <a:rPr lang="en-GB" dirty="0"/>
                <a:t>Sensory</a:t>
              </a:r>
            </a:p>
          </p:txBody>
        </p:sp>
        <p:sp>
          <p:nvSpPr>
            <p:cNvPr id="13" name="Rectangle 12">
              <a:extLst>
                <a:ext uri="{FF2B5EF4-FFF2-40B4-BE49-F238E27FC236}">
                  <a16:creationId xmlns:a16="http://schemas.microsoft.com/office/drawing/2014/main" id="{9124FA31-6577-15D9-81BF-8218047A0328}"/>
                </a:ext>
              </a:extLst>
            </p:cNvPr>
            <p:cNvSpPr/>
            <p:nvPr/>
          </p:nvSpPr>
          <p:spPr>
            <a:xfrm>
              <a:off x="7467601" y="5957799"/>
              <a:ext cx="249898" cy="24989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AE03EA59-E5B8-999C-1C66-67C4C1C86437}"/>
                </a:ext>
              </a:extLst>
            </p:cNvPr>
            <p:cNvSpPr txBox="1"/>
            <p:nvPr/>
          </p:nvSpPr>
          <p:spPr>
            <a:xfrm>
              <a:off x="7785653" y="5898082"/>
              <a:ext cx="771814" cy="369332"/>
            </a:xfrm>
            <a:prstGeom prst="rect">
              <a:avLst/>
            </a:prstGeom>
            <a:noFill/>
          </p:spPr>
          <p:txBody>
            <a:bodyPr wrap="none" rtlCol="0">
              <a:spAutoFit/>
            </a:bodyPr>
            <a:lstStyle/>
            <a:p>
              <a:r>
                <a:rPr lang="en-GB" dirty="0"/>
                <a:t>Motor</a:t>
              </a:r>
            </a:p>
          </p:txBody>
        </p:sp>
      </p:grpSp>
    </p:spTree>
    <p:extLst>
      <p:ext uri="{BB962C8B-B14F-4D97-AF65-F5344CB8AC3E}">
        <p14:creationId xmlns:p14="http://schemas.microsoft.com/office/powerpoint/2010/main" val="13532947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1032-BDDF-95D0-15E6-BE95038840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94C9C-8494-2FC7-BF65-ECC35B590305}"/>
              </a:ext>
            </a:extLst>
          </p:cNvPr>
          <p:cNvSpPr>
            <a:spLocks noGrp="1"/>
          </p:cNvSpPr>
          <p:nvPr>
            <p:ph type="title"/>
          </p:nvPr>
        </p:nvSpPr>
        <p:spPr/>
        <p:txBody>
          <a:bodyPr/>
          <a:lstStyle/>
          <a:p>
            <a:r>
              <a:rPr lang="en-GB" dirty="0"/>
              <a:t>The pons</a:t>
            </a:r>
          </a:p>
        </p:txBody>
      </p:sp>
      <p:pic>
        <p:nvPicPr>
          <p:cNvPr id="9" name="Picture 8">
            <a:extLst>
              <a:ext uri="{FF2B5EF4-FFF2-40B4-BE49-F238E27FC236}">
                <a16:creationId xmlns:a16="http://schemas.microsoft.com/office/drawing/2014/main" id="{86820AF3-3915-7CB5-A360-BFD98F556694}"/>
              </a:ext>
            </a:extLst>
          </p:cNvPr>
          <p:cNvPicPr>
            <a:picLocks noChangeAspect="1"/>
          </p:cNvPicPr>
          <p:nvPr/>
        </p:nvPicPr>
        <p:blipFill>
          <a:blip r:embed="rId2"/>
          <a:stretch>
            <a:fillRect/>
          </a:stretch>
        </p:blipFill>
        <p:spPr>
          <a:xfrm>
            <a:off x="3028636" y="2100001"/>
            <a:ext cx="8325164" cy="4312130"/>
          </a:xfrm>
          <a:prstGeom prst="rect">
            <a:avLst/>
          </a:prstGeom>
        </p:spPr>
      </p:pic>
      <p:grpSp>
        <p:nvGrpSpPr>
          <p:cNvPr id="26" name="Group 25">
            <a:extLst>
              <a:ext uri="{FF2B5EF4-FFF2-40B4-BE49-F238E27FC236}">
                <a16:creationId xmlns:a16="http://schemas.microsoft.com/office/drawing/2014/main" id="{4BE1C108-B996-1A39-F592-6F0F012D145D}"/>
              </a:ext>
            </a:extLst>
          </p:cNvPr>
          <p:cNvGrpSpPr/>
          <p:nvPr/>
        </p:nvGrpSpPr>
        <p:grpSpPr>
          <a:xfrm>
            <a:off x="148590" y="1263693"/>
            <a:ext cx="2880046" cy="2377570"/>
            <a:chOff x="1556001" y="2096809"/>
            <a:chExt cx="4138925" cy="3416815"/>
          </a:xfrm>
        </p:grpSpPr>
        <p:pic>
          <p:nvPicPr>
            <p:cNvPr id="27" name="Picture 26" descr="A drawing of a brain&#10;&#10;Description automatically generated">
              <a:extLst>
                <a:ext uri="{FF2B5EF4-FFF2-40B4-BE49-F238E27FC236}">
                  <a16:creationId xmlns:a16="http://schemas.microsoft.com/office/drawing/2014/main" id="{19B9DFC7-FBFC-9E70-D68E-4D8E8BE13A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6001" y="2096809"/>
              <a:ext cx="2983998" cy="3416815"/>
            </a:xfrm>
            <a:prstGeom prst="rect">
              <a:avLst/>
            </a:prstGeom>
          </p:spPr>
        </p:pic>
        <p:sp>
          <p:nvSpPr>
            <p:cNvPr id="28" name="TextBox 27">
              <a:extLst>
                <a:ext uri="{FF2B5EF4-FFF2-40B4-BE49-F238E27FC236}">
                  <a16:creationId xmlns:a16="http://schemas.microsoft.com/office/drawing/2014/main" id="{5CF160F2-1194-69CD-CF5A-CC52A64C134F}"/>
                </a:ext>
              </a:extLst>
            </p:cNvPr>
            <p:cNvSpPr txBox="1"/>
            <p:nvPr/>
          </p:nvSpPr>
          <p:spPr>
            <a:xfrm>
              <a:off x="4638675" y="2814638"/>
              <a:ext cx="1056251" cy="369332"/>
            </a:xfrm>
            <a:prstGeom prst="rect">
              <a:avLst/>
            </a:prstGeom>
            <a:noFill/>
          </p:spPr>
          <p:txBody>
            <a:bodyPr wrap="none" rtlCol="0">
              <a:spAutoFit/>
            </a:bodyPr>
            <a:lstStyle/>
            <a:p>
              <a:r>
                <a:rPr lang="en-GB" dirty="0"/>
                <a:t>Midbrain</a:t>
              </a:r>
            </a:p>
          </p:txBody>
        </p:sp>
        <p:sp>
          <p:nvSpPr>
            <p:cNvPr id="29" name="TextBox 28">
              <a:extLst>
                <a:ext uri="{FF2B5EF4-FFF2-40B4-BE49-F238E27FC236}">
                  <a16:creationId xmlns:a16="http://schemas.microsoft.com/office/drawing/2014/main" id="{C6BDF0E5-8BCE-CDCB-7D4B-473B50864C0F}"/>
                </a:ext>
              </a:extLst>
            </p:cNvPr>
            <p:cNvSpPr txBox="1"/>
            <p:nvPr/>
          </p:nvSpPr>
          <p:spPr>
            <a:xfrm>
              <a:off x="4191000" y="3489365"/>
              <a:ext cx="674544" cy="369332"/>
            </a:xfrm>
            <a:prstGeom prst="rect">
              <a:avLst/>
            </a:prstGeom>
            <a:noFill/>
          </p:spPr>
          <p:txBody>
            <a:bodyPr wrap="none" rtlCol="0">
              <a:spAutoFit/>
            </a:bodyPr>
            <a:lstStyle/>
            <a:p>
              <a:r>
                <a:rPr lang="en-GB" dirty="0"/>
                <a:t>Pons</a:t>
              </a:r>
            </a:p>
          </p:txBody>
        </p:sp>
        <p:sp>
          <p:nvSpPr>
            <p:cNvPr id="30" name="TextBox 29">
              <a:extLst>
                <a:ext uri="{FF2B5EF4-FFF2-40B4-BE49-F238E27FC236}">
                  <a16:creationId xmlns:a16="http://schemas.microsoft.com/office/drawing/2014/main" id="{99881A20-E875-498F-7BA1-D11CA6A5AA9A}"/>
                </a:ext>
              </a:extLst>
            </p:cNvPr>
            <p:cNvSpPr txBox="1"/>
            <p:nvPr/>
          </p:nvSpPr>
          <p:spPr>
            <a:xfrm>
              <a:off x="3577521" y="4278392"/>
              <a:ext cx="1226811" cy="646331"/>
            </a:xfrm>
            <a:prstGeom prst="rect">
              <a:avLst/>
            </a:prstGeom>
            <a:noFill/>
          </p:spPr>
          <p:txBody>
            <a:bodyPr wrap="none" rtlCol="0">
              <a:spAutoFit/>
            </a:bodyPr>
            <a:lstStyle/>
            <a:p>
              <a:r>
                <a:rPr lang="en-GB" dirty="0"/>
                <a:t>Medulla</a:t>
              </a:r>
            </a:p>
            <a:p>
              <a:r>
                <a:rPr lang="en-GB" dirty="0" err="1"/>
                <a:t>Oblungata</a:t>
              </a:r>
              <a:endParaRPr lang="en-GB" dirty="0"/>
            </a:p>
          </p:txBody>
        </p:sp>
      </p:grpSp>
      <p:cxnSp>
        <p:nvCxnSpPr>
          <p:cNvPr id="31" name="Straight Connector 30">
            <a:extLst>
              <a:ext uri="{FF2B5EF4-FFF2-40B4-BE49-F238E27FC236}">
                <a16:creationId xmlns:a16="http://schemas.microsoft.com/office/drawing/2014/main" id="{7F5252CE-5E49-C70E-CA30-084DD48A150C}"/>
              </a:ext>
            </a:extLst>
          </p:cNvPr>
          <p:cNvCxnSpPr>
            <a:cxnSpLocks/>
          </p:cNvCxnSpPr>
          <p:nvPr/>
        </p:nvCxnSpPr>
        <p:spPr>
          <a:xfrm>
            <a:off x="945858" y="1948818"/>
            <a:ext cx="1030580" cy="360995"/>
          </a:xfrm>
          <a:prstGeom prst="line">
            <a:avLst/>
          </a:prstGeom>
          <a:ln w="38100"/>
        </p:spPr>
        <p:style>
          <a:lnRef idx="2">
            <a:schemeClr val="accent1"/>
          </a:lnRef>
          <a:fillRef idx="0">
            <a:schemeClr val="accent1"/>
          </a:fillRef>
          <a:effectRef idx="1">
            <a:schemeClr val="accent1"/>
          </a:effectRef>
          <a:fontRef idx="minor">
            <a:schemeClr val="tx1"/>
          </a:fontRef>
        </p:style>
      </p:cxnSp>
      <p:grpSp>
        <p:nvGrpSpPr>
          <p:cNvPr id="3" name="Group 2">
            <a:extLst>
              <a:ext uri="{FF2B5EF4-FFF2-40B4-BE49-F238E27FC236}">
                <a16:creationId xmlns:a16="http://schemas.microsoft.com/office/drawing/2014/main" id="{6B97DA7B-CAF5-C314-E090-51A0842A79D4}"/>
              </a:ext>
            </a:extLst>
          </p:cNvPr>
          <p:cNvGrpSpPr/>
          <p:nvPr/>
        </p:nvGrpSpPr>
        <p:grpSpPr>
          <a:xfrm>
            <a:off x="289496" y="6283963"/>
            <a:ext cx="2531514" cy="369332"/>
            <a:chOff x="6025953" y="5898082"/>
            <a:chExt cx="2531514" cy="369332"/>
          </a:xfrm>
        </p:grpSpPr>
        <p:sp>
          <p:nvSpPr>
            <p:cNvPr id="4" name="Rectangle 3">
              <a:extLst>
                <a:ext uri="{FF2B5EF4-FFF2-40B4-BE49-F238E27FC236}">
                  <a16:creationId xmlns:a16="http://schemas.microsoft.com/office/drawing/2014/main" id="{7F2D4F5E-1128-30DF-9C8B-3A8D2B8CF2C0}"/>
                </a:ext>
              </a:extLst>
            </p:cNvPr>
            <p:cNvSpPr/>
            <p:nvPr/>
          </p:nvSpPr>
          <p:spPr>
            <a:xfrm>
              <a:off x="6025953" y="5957799"/>
              <a:ext cx="249898" cy="24989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8A3E1651-1141-BDC9-9FB0-224E4725BE2D}"/>
                </a:ext>
              </a:extLst>
            </p:cNvPr>
            <p:cNvSpPr txBox="1"/>
            <p:nvPr/>
          </p:nvSpPr>
          <p:spPr>
            <a:xfrm>
              <a:off x="6344005" y="5898082"/>
              <a:ext cx="986424" cy="369332"/>
            </a:xfrm>
            <a:prstGeom prst="rect">
              <a:avLst/>
            </a:prstGeom>
            <a:noFill/>
          </p:spPr>
          <p:txBody>
            <a:bodyPr wrap="none" rtlCol="0">
              <a:spAutoFit/>
            </a:bodyPr>
            <a:lstStyle/>
            <a:p>
              <a:r>
                <a:rPr lang="en-GB" dirty="0"/>
                <a:t>Sensory</a:t>
              </a:r>
            </a:p>
          </p:txBody>
        </p:sp>
        <p:sp>
          <p:nvSpPr>
            <p:cNvPr id="6" name="Rectangle 5">
              <a:extLst>
                <a:ext uri="{FF2B5EF4-FFF2-40B4-BE49-F238E27FC236}">
                  <a16:creationId xmlns:a16="http://schemas.microsoft.com/office/drawing/2014/main" id="{7EB53F72-D860-0EB8-5DA4-E2A98C18D28B}"/>
                </a:ext>
              </a:extLst>
            </p:cNvPr>
            <p:cNvSpPr/>
            <p:nvPr/>
          </p:nvSpPr>
          <p:spPr>
            <a:xfrm>
              <a:off x="7467601" y="5957799"/>
              <a:ext cx="249898" cy="24989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2569CF99-DAE8-BD39-F9FB-F2C39EE3666B}"/>
                </a:ext>
              </a:extLst>
            </p:cNvPr>
            <p:cNvSpPr txBox="1"/>
            <p:nvPr/>
          </p:nvSpPr>
          <p:spPr>
            <a:xfrm>
              <a:off x="7785653" y="5898082"/>
              <a:ext cx="771814" cy="369332"/>
            </a:xfrm>
            <a:prstGeom prst="rect">
              <a:avLst/>
            </a:prstGeom>
            <a:noFill/>
          </p:spPr>
          <p:txBody>
            <a:bodyPr wrap="none" rtlCol="0">
              <a:spAutoFit/>
            </a:bodyPr>
            <a:lstStyle/>
            <a:p>
              <a:r>
                <a:rPr lang="en-GB" dirty="0"/>
                <a:t>Motor</a:t>
              </a:r>
            </a:p>
          </p:txBody>
        </p:sp>
      </p:grpSp>
    </p:spTree>
    <p:extLst>
      <p:ext uri="{BB962C8B-B14F-4D97-AF65-F5344CB8AC3E}">
        <p14:creationId xmlns:p14="http://schemas.microsoft.com/office/powerpoint/2010/main" val="20723355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FE9A4-A630-9C28-22EC-F5073F194301}"/>
              </a:ext>
            </a:extLst>
          </p:cNvPr>
          <p:cNvSpPr>
            <a:spLocks noGrp="1"/>
          </p:cNvSpPr>
          <p:nvPr>
            <p:ph type="title"/>
          </p:nvPr>
        </p:nvSpPr>
        <p:spPr/>
        <p:txBody>
          <a:bodyPr/>
          <a:lstStyle/>
          <a:p>
            <a:r>
              <a:rPr lang="en-GB" dirty="0"/>
              <a:t>The pons</a:t>
            </a:r>
          </a:p>
        </p:txBody>
      </p:sp>
      <p:pic>
        <p:nvPicPr>
          <p:cNvPr id="13" name="Picture 12">
            <a:extLst>
              <a:ext uri="{FF2B5EF4-FFF2-40B4-BE49-F238E27FC236}">
                <a16:creationId xmlns:a16="http://schemas.microsoft.com/office/drawing/2014/main" id="{38919984-0815-9E36-F9BB-2AA77B2E91DF}"/>
              </a:ext>
            </a:extLst>
          </p:cNvPr>
          <p:cNvPicPr>
            <a:picLocks noChangeAspect="1"/>
          </p:cNvPicPr>
          <p:nvPr/>
        </p:nvPicPr>
        <p:blipFill>
          <a:blip r:embed="rId2"/>
          <a:stretch>
            <a:fillRect/>
          </a:stretch>
        </p:blipFill>
        <p:spPr>
          <a:xfrm>
            <a:off x="2942911" y="2489692"/>
            <a:ext cx="8502352" cy="3675698"/>
          </a:xfrm>
          <a:prstGeom prst="rect">
            <a:avLst/>
          </a:prstGeom>
        </p:spPr>
      </p:pic>
      <p:grpSp>
        <p:nvGrpSpPr>
          <p:cNvPr id="32" name="Group 31">
            <a:extLst>
              <a:ext uri="{FF2B5EF4-FFF2-40B4-BE49-F238E27FC236}">
                <a16:creationId xmlns:a16="http://schemas.microsoft.com/office/drawing/2014/main" id="{F3CA5C6A-FC2A-E3BA-92D7-CC56F6BFE081}"/>
              </a:ext>
            </a:extLst>
          </p:cNvPr>
          <p:cNvGrpSpPr/>
          <p:nvPr/>
        </p:nvGrpSpPr>
        <p:grpSpPr>
          <a:xfrm>
            <a:off x="148590" y="1263693"/>
            <a:ext cx="2880046" cy="2377570"/>
            <a:chOff x="1556001" y="2096809"/>
            <a:chExt cx="4138925" cy="3416815"/>
          </a:xfrm>
        </p:grpSpPr>
        <p:pic>
          <p:nvPicPr>
            <p:cNvPr id="33" name="Picture 32" descr="A drawing of a brain&#10;&#10;Description automatically generated">
              <a:extLst>
                <a:ext uri="{FF2B5EF4-FFF2-40B4-BE49-F238E27FC236}">
                  <a16:creationId xmlns:a16="http://schemas.microsoft.com/office/drawing/2014/main" id="{B99D8599-E969-48A7-71F5-51C3D7A6E2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6001" y="2096809"/>
              <a:ext cx="2983998" cy="3416815"/>
            </a:xfrm>
            <a:prstGeom prst="rect">
              <a:avLst/>
            </a:prstGeom>
          </p:spPr>
        </p:pic>
        <p:sp>
          <p:nvSpPr>
            <p:cNvPr id="34" name="TextBox 33">
              <a:extLst>
                <a:ext uri="{FF2B5EF4-FFF2-40B4-BE49-F238E27FC236}">
                  <a16:creationId xmlns:a16="http://schemas.microsoft.com/office/drawing/2014/main" id="{571A6FF3-D282-9050-A11A-85DFF71CED62}"/>
                </a:ext>
              </a:extLst>
            </p:cNvPr>
            <p:cNvSpPr txBox="1"/>
            <p:nvPr/>
          </p:nvSpPr>
          <p:spPr>
            <a:xfrm>
              <a:off x="4638675" y="2814638"/>
              <a:ext cx="1056251" cy="369332"/>
            </a:xfrm>
            <a:prstGeom prst="rect">
              <a:avLst/>
            </a:prstGeom>
            <a:noFill/>
          </p:spPr>
          <p:txBody>
            <a:bodyPr wrap="none" rtlCol="0">
              <a:spAutoFit/>
            </a:bodyPr>
            <a:lstStyle/>
            <a:p>
              <a:r>
                <a:rPr lang="en-GB" dirty="0"/>
                <a:t>Midbrain</a:t>
              </a:r>
            </a:p>
          </p:txBody>
        </p:sp>
        <p:sp>
          <p:nvSpPr>
            <p:cNvPr id="35" name="TextBox 34">
              <a:extLst>
                <a:ext uri="{FF2B5EF4-FFF2-40B4-BE49-F238E27FC236}">
                  <a16:creationId xmlns:a16="http://schemas.microsoft.com/office/drawing/2014/main" id="{C4B4221E-72C4-EA81-4653-D122CF7E1BD2}"/>
                </a:ext>
              </a:extLst>
            </p:cNvPr>
            <p:cNvSpPr txBox="1"/>
            <p:nvPr/>
          </p:nvSpPr>
          <p:spPr>
            <a:xfrm>
              <a:off x="4191000" y="3489365"/>
              <a:ext cx="674544" cy="369332"/>
            </a:xfrm>
            <a:prstGeom prst="rect">
              <a:avLst/>
            </a:prstGeom>
            <a:noFill/>
          </p:spPr>
          <p:txBody>
            <a:bodyPr wrap="none" rtlCol="0">
              <a:spAutoFit/>
            </a:bodyPr>
            <a:lstStyle/>
            <a:p>
              <a:r>
                <a:rPr lang="en-GB" dirty="0"/>
                <a:t>Pons</a:t>
              </a:r>
            </a:p>
          </p:txBody>
        </p:sp>
        <p:sp>
          <p:nvSpPr>
            <p:cNvPr id="36" name="TextBox 35">
              <a:extLst>
                <a:ext uri="{FF2B5EF4-FFF2-40B4-BE49-F238E27FC236}">
                  <a16:creationId xmlns:a16="http://schemas.microsoft.com/office/drawing/2014/main" id="{96D87246-F214-6795-B89A-D252DB0BB07C}"/>
                </a:ext>
              </a:extLst>
            </p:cNvPr>
            <p:cNvSpPr txBox="1"/>
            <p:nvPr/>
          </p:nvSpPr>
          <p:spPr>
            <a:xfrm>
              <a:off x="3577521" y="4278392"/>
              <a:ext cx="1226811" cy="646331"/>
            </a:xfrm>
            <a:prstGeom prst="rect">
              <a:avLst/>
            </a:prstGeom>
            <a:noFill/>
          </p:spPr>
          <p:txBody>
            <a:bodyPr wrap="none" rtlCol="0">
              <a:spAutoFit/>
            </a:bodyPr>
            <a:lstStyle/>
            <a:p>
              <a:r>
                <a:rPr lang="en-GB" dirty="0"/>
                <a:t>Medulla</a:t>
              </a:r>
            </a:p>
            <a:p>
              <a:r>
                <a:rPr lang="en-GB" dirty="0" err="1"/>
                <a:t>Oblungata</a:t>
              </a:r>
              <a:endParaRPr lang="en-GB" dirty="0"/>
            </a:p>
          </p:txBody>
        </p:sp>
      </p:grpSp>
      <p:cxnSp>
        <p:nvCxnSpPr>
          <p:cNvPr id="37" name="Straight Connector 36">
            <a:extLst>
              <a:ext uri="{FF2B5EF4-FFF2-40B4-BE49-F238E27FC236}">
                <a16:creationId xmlns:a16="http://schemas.microsoft.com/office/drawing/2014/main" id="{F19E1BC2-27A4-E2F3-4E23-37D076C609BD}"/>
              </a:ext>
            </a:extLst>
          </p:cNvPr>
          <p:cNvCxnSpPr>
            <a:cxnSpLocks/>
          </p:cNvCxnSpPr>
          <p:nvPr/>
        </p:nvCxnSpPr>
        <p:spPr>
          <a:xfrm>
            <a:off x="1006198" y="1694115"/>
            <a:ext cx="1218789" cy="416876"/>
          </a:xfrm>
          <a:prstGeom prst="line">
            <a:avLst/>
          </a:prstGeom>
          <a:ln w="38100"/>
        </p:spPr>
        <p:style>
          <a:lnRef idx="2">
            <a:schemeClr val="accent1"/>
          </a:lnRef>
          <a:fillRef idx="0">
            <a:schemeClr val="accent1"/>
          </a:fillRef>
          <a:effectRef idx="1">
            <a:schemeClr val="accent1"/>
          </a:effectRef>
          <a:fontRef idx="minor">
            <a:schemeClr val="tx1"/>
          </a:fontRef>
        </p:style>
      </p:cxnSp>
      <p:grpSp>
        <p:nvGrpSpPr>
          <p:cNvPr id="3" name="Group 2">
            <a:extLst>
              <a:ext uri="{FF2B5EF4-FFF2-40B4-BE49-F238E27FC236}">
                <a16:creationId xmlns:a16="http://schemas.microsoft.com/office/drawing/2014/main" id="{7B237625-4A28-3C2A-EC99-6AAC4641E5CF}"/>
              </a:ext>
            </a:extLst>
          </p:cNvPr>
          <p:cNvGrpSpPr/>
          <p:nvPr/>
        </p:nvGrpSpPr>
        <p:grpSpPr>
          <a:xfrm>
            <a:off x="289496" y="6283963"/>
            <a:ext cx="2531514" cy="369332"/>
            <a:chOff x="6025953" y="5898082"/>
            <a:chExt cx="2531514" cy="369332"/>
          </a:xfrm>
        </p:grpSpPr>
        <p:sp>
          <p:nvSpPr>
            <p:cNvPr id="4" name="Rectangle 3">
              <a:extLst>
                <a:ext uri="{FF2B5EF4-FFF2-40B4-BE49-F238E27FC236}">
                  <a16:creationId xmlns:a16="http://schemas.microsoft.com/office/drawing/2014/main" id="{9024E430-42AB-94AF-4101-F6BD258FD4BC}"/>
                </a:ext>
              </a:extLst>
            </p:cNvPr>
            <p:cNvSpPr/>
            <p:nvPr/>
          </p:nvSpPr>
          <p:spPr>
            <a:xfrm>
              <a:off x="6025953" y="5957799"/>
              <a:ext cx="249898" cy="24989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4F98874E-FAF6-9DC7-2CCC-183040D3160E}"/>
                </a:ext>
              </a:extLst>
            </p:cNvPr>
            <p:cNvSpPr txBox="1"/>
            <p:nvPr/>
          </p:nvSpPr>
          <p:spPr>
            <a:xfrm>
              <a:off x="6344005" y="5898082"/>
              <a:ext cx="986424" cy="369332"/>
            </a:xfrm>
            <a:prstGeom prst="rect">
              <a:avLst/>
            </a:prstGeom>
            <a:noFill/>
          </p:spPr>
          <p:txBody>
            <a:bodyPr wrap="none" rtlCol="0">
              <a:spAutoFit/>
            </a:bodyPr>
            <a:lstStyle/>
            <a:p>
              <a:r>
                <a:rPr lang="en-GB" dirty="0"/>
                <a:t>Sensory</a:t>
              </a:r>
            </a:p>
          </p:txBody>
        </p:sp>
        <p:sp>
          <p:nvSpPr>
            <p:cNvPr id="6" name="Rectangle 5">
              <a:extLst>
                <a:ext uri="{FF2B5EF4-FFF2-40B4-BE49-F238E27FC236}">
                  <a16:creationId xmlns:a16="http://schemas.microsoft.com/office/drawing/2014/main" id="{C740DBAC-9F93-C89B-0EC8-227C03583CF6}"/>
                </a:ext>
              </a:extLst>
            </p:cNvPr>
            <p:cNvSpPr/>
            <p:nvPr/>
          </p:nvSpPr>
          <p:spPr>
            <a:xfrm>
              <a:off x="7467601" y="5957799"/>
              <a:ext cx="249898" cy="24989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94AAAFB1-720B-7D4E-8853-942065FC6008}"/>
                </a:ext>
              </a:extLst>
            </p:cNvPr>
            <p:cNvSpPr txBox="1"/>
            <p:nvPr/>
          </p:nvSpPr>
          <p:spPr>
            <a:xfrm>
              <a:off x="7785653" y="5898082"/>
              <a:ext cx="771814" cy="369332"/>
            </a:xfrm>
            <a:prstGeom prst="rect">
              <a:avLst/>
            </a:prstGeom>
            <a:noFill/>
          </p:spPr>
          <p:txBody>
            <a:bodyPr wrap="none" rtlCol="0">
              <a:spAutoFit/>
            </a:bodyPr>
            <a:lstStyle/>
            <a:p>
              <a:r>
                <a:rPr lang="en-GB" dirty="0"/>
                <a:t>Motor</a:t>
              </a:r>
            </a:p>
          </p:txBody>
        </p:sp>
      </p:grpSp>
    </p:spTree>
    <p:extLst>
      <p:ext uri="{BB962C8B-B14F-4D97-AF65-F5344CB8AC3E}">
        <p14:creationId xmlns:p14="http://schemas.microsoft.com/office/powerpoint/2010/main" val="23738570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925C2-7FAF-B662-7496-8334704318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AFCF19-CF62-08F4-D89D-DA8F63551B64}"/>
              </a:ext>
            </a:extLst>
          </p:cNvPr>
          <p:cNvSpPr>
            <a:spLocks noGrp="1"/>
          </p:cNvSpPr>
          <p:nvPr>
            <p:ph type="title"/>
          </p:nvPr>
        </p:nvSpPr>
        <p:spPr/>
        <p:txBody>
          <a:bodyPr>
            <a:normAutofit/>
          </a:bodyPr>
          <a:lstStyle/>
          <a:p>
            <a:r>
              <a:rPr lang="en-GB" dirty="0"/>
              <a:t>Cranial nerves of the pons</a:t>
            </a:r>
          </a:p>
        </p:txBody>
      </p:sp>
      <p:pic>
        <p:nvPicPr>
          <p:cNvPr id="5" name="Picture 4">
            <a:extLst>
              <a:ext uri="{FF2B5EF4-FFF2-40B4-BE49-F238E27FC236}">
                <a16:creationId xmlns:a16="http://schemas.microsoft.com/office/drawing/2014/main" id="{E4977A51-CB9B-A2E8-6695-D833DC3DBBD0}"/>
              </a:ext>
            </a:extLst>
          </p:cNvPr>
          <p:cNvPicPr>
            <a:picLocks noChangeAspect="1"/>
          </p:cNvPicPr>
          <p:nvPr/>
        </p:nvPicPr>
        <p:blipFill>
          <a:blip r:embed="rId2">
            <a:grayscl/>
            <a:alphaModFix amt="70000"/>
          </a:blip>
          <a:srcRect b="48195"/>
          <a:stretch/>
        </p:blipFill>
        <p:spPr>
          <a:xfrm>
            <a:off x="350183" y="1568377"/>
            <a:ext cx="5459628" cy="4168922"/>
          </a:xfrm>
          <a:prstGeom prst="rect">
            <a:avLst/>
          </a:prstGeom>
        </p:spPr>
      </p:pic>
      <p:pic>
        <p:nvPicPr>
          <p:cNvPr id="6" name="Picture 5">
            <a:extLst>
              <a:ext uri="{FF2B5EF4-FFF2-40B4-BE49-F238E27FC236}">
                <a16:creationId xmlns:a16="http://schemas.microsoft.com/office/drawing/2014/main" id="{B38F7762-4B15-5FE6-C5C0-4DA0FC1ED952}"/>
              </a:ext>
            </a:extLst>
          </p:cNvPr>
          <p:cNvPicPr>
            <a:picLocks noChangeAspect="1"/>
          </p:cNvPicPr>
          <p:nvPr/>
        </p:nvPicPr>
        <p:blipFill>
          <a:blip r:embed="rId2">
            <a:grayscl/>
            <a:alphaModFix amt="70000"/>
          </a:blip>
          <a:srcRect t="51944" b="4143"/>
          <a:stretch/>
        </p:blipFill>
        <p:spPr>
          <a:xfrm>
            <a:off x="6382191" y="2047875"/>
            <a:ext cx="5459630" cy="3533775"/>
          </a:xfrm>
          <a:prstGeom prst="rect">
            <a:avLst/>
          </a:prstGeom>
        </p:spPr>
      </p:pic>
      <p:pic>
        <p:nvPicPr>
          <p:cNvPr id="7" name="Picture 6" descr="A diagram of the muscles of the human body&#10;&#10;Description automatically generated">
            <a:extLst>
              <a:ext uri="{FF2B5EF4-FFF2-40B4-BE49-F238E27FC236}">
                <a16:creationId xmlns:a16="http://schemas.microsoft.com/office/drawing/2014/main" id="{36CAD6C6-B922-B13F-064D-8A106E2E25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5950" y="2820414"/>
            <a:ext cx="4643698" cy="1515366"/>
          </a:xfrm>
          <a:prstGeom prst="rect">
            <a:avLst/>
          </a:prstGeom>
        </p:spPr>
      </p:pic>
      <p:pic>
        <p:nvPicPr>
          <p:cNvPr id="9" name="Picture 8" descr="A diagram of a human body&#10;&#10;Description automatically generated">
            <a:extLst>
              <a:ext uri="{FF2B5EF4-FFF2-40B4-BE49-F238E27FC236}">
                <a16:creationId xmlns:a16="http://schemas.microsoft.com/office/drawing/2014/main" id="{90BF5B27-9BF8-D3B3-1214-6F97F216A2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34297" y="2813383"/>
            <a:ext cx="5490978" cy="1446878"/>
          </a:xfrm>
          <a:prstGeom prst="rect">
            <a:avLst/>
          </a:prstGeom>
        </p:spPr>
      </p:pic>
    </p:spTree>
    <p:extLst>
      <p:ext uri="{BB962C8B-B14F-4D97-AF65-F5344CB8AC3E}">
        <p14:creationId xmlns:p14="http://schemas.microsoft.com/office/powerpoint/2010/main" val="35315904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110CC-891E-22DB-A17E-9EF4A7F43F95}"/>
              </a:ext>
            </a:extLst>
          </p:cNvPr>
          <p:cNvSpPr>
            <a:spLocks noGrp="1"/>
          </p:cNvSpPr>
          <p:nvPr>
            <p:ph type="title"/>
          </p:nvPr>
        </p:nvSpPr>
        <p:spPr/>
        <p:txBody>
          <a:bodyPr/>
          <a:lstStyle/>
          <a:p>
            <a:r>
              <a:rPr lang="en-GB" dirty="0"/>
              <a:t>VIII - Vestibulocochlear</a:t>
            </a:r>
          </a:p>
        </p:txBody>
      </p:sp>
      <p:pic>
        <p:nvPicPr>
          <p:cNvPr id="5" name="Picture 4">
            <a:extLst>
              <a:ext uri="{FF2B5EF4-FFF2-40B4-BE49-F238E27FC236}">
                <a16:creationId xmlns:a16="http://schemas.microsoft.com/office/drawing/2014/main" id="{A1D7C35D-CFB6-D197-218E-DEB72B2DDE57}"/>
              </a:ext>
            </a:extLst>
          </p:cNvPr>
          <p:cNvPicPr>
            <a:picLocks noChangeAspect="1"/>
          </p:cNvPicPr>
          <p:nvPr/>
        </p:nvPicPr>
        <p:blipFill>
          <a:blip r:embed="rId2"/>
          <a:srcRect b="43369"/>
          <a:stretch/>
        </p:blipFill>
        <p:spPr>
          <a:xfrm>
            <a:off x="109852" y="1544824"/>
            <a:ext cx="7125536" cy="3987012"/>
          </a:xfrm>
          <a:prstGeom prst="rect">
            <a:avLst/>
          </a:prstGeom>
        </p:spPr>
      </p:pic>
      <p:pic>
        <p:nvPicPr>
          <p:cNvPr id="6" name="Picture 5">
            <a:extLst>
              <a:ext uri="{FF2B5EF4-FFF2-40B4-BE49-F238E27FC236}">
                <a16:creationId xmlns:a16="http://schemas.microsoft.com/office/drawing/2014/main" id="{A43336FD-C692-CCD2-A98E-4BF7BD36D78D}"/>
              </a:ext>
            </a:extLst>
          </p:cNvPr>
          <p:cNvPicPr>
            <a:picLocks noChangeAspect="1"/>
          </p:cNvPicPr>
          <p:nvPr/>
        </p:nvPicPr>
        <p:blipFill>
          <a:blip r:embed="rId2"/>
          <a:srcRect t="57769"/>
          <a:stretch/>
        </p:blipFill>
        <p:spPr>
          <a:xfrm>
            <a:off x="6946080" y="2175250"/>
            <a:ext cx="5136068" cy="2143066"/>
          </a:xfrm>
          <a:prstGeom prst="rect">
            <a:avLst/>
          </a:prstGeom>
        </p:spPr>
      </p:pic>
    </p:spTree>
    <p:extLst>
      <p:ext uri="{BB962C8B-B14F-4D97-AF65-F5344CB8AC3E}">
        <p14:creationId xmlns:p14="http://schemas.microsoft.com/office/powerpoint/2010/main" val="6708825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34465-CCE8-FE71-24BD-5C3D6348854E}"/>
              </a:ext>
            </a:extLst>
          </p:cNvPr>
          <p:cNvSpPr>
            <a:spLocks noGrp="1"/>
          </p:cNvSpPr>
          <p:nvPr>
            <p:ph type="title"/>
          </p:nvPr>
        </p:nvSpPr>
        <p:spPr/>
        <p:txBody>
          <a:bodyPr/>
          <a:lstStyle/>
          <a:p>
            <a:r>
              <a:rPr lang="en-GB" dirty="0"/>
              <a:t>VII - Facial</a:t>
            </a:r>
          </a:p>
        </p:txBody>
      </p:sp>
      <p:pic>
        <p:nvPicPr>
          <p:cNvPr id="5" name="Content Placeholder 4">
            <a:extLst>
              <a:ext uri="{FF2B5EF4-FFF2-40B4-BE49-F238E27FC236}">
                <a16:creationId xmlns:a16="http://schemas.microsoft.com/office/drawing/2014/main" id="{D36E4666-9471-992D-D715-F36D3CD43DE2}"/>
              </a:ext>
            </a:extLst>
          </p:cNvPr>
          <p:cNvPicPr>
            <a:picLocks noGrp="1" noChangeAspect="1"/>
          </p:cNvPicPr>
          <p:nvPr>
            <p:ph idx="1"/>
          </p:nvPr>
        </p:nvPicPr>
        <p:blipFill>
          <a:blip r:embed="rId2"/>
          <a:srcRect b="36493"/>
          <a:stretch/>
        </p:blipFill>
        <p:spPr>
          <a:xfrm>
            <a:off x="362662" y="1405343"/>
            <a:ext cx="6083926" cy="4546776"/>
          </a:xfrm>
        </p:spPr>
      </p:pic>
      <p:pic>
        <p:nvPicPr>
          <p:cNvPr id="6" name="Content Placeholder 4">
            <a:extLst>
              <a:ext uri="{FF2B5EF4-FFF2-40B4-BE49-F238E27FC236}">
                <a16:creationId xmlns:a16="http://schemas.microsoft.com/office/drawing/2014/main" id="{D6AE1EAE-F355-F767-73A6-513A7AF63E99}"/>
              </a:ext>
            </a:extLst>
          </p:cNvPr>
          <p:cNvPicPr>
            <a:picLocks noChangeAspect="1"/>
          </p:cNvPicPr>
          <p:nvPr/>
        </p:nvPicPr>
        <p:blipFill>
          <a:blip r:embed="rId2"/>
          <a:srcRect t="64443"/>
          <a:stretch/>
        </p:blipFill>
        <p:spPr>
          <a:xfrm>
            <a:off x="6466969" y="2518525"/>
            <a:ext cx="5545476" cy="2320412"/>
          </a:xfrm>
          <a:prstGeom prst="rect">
            <a:avLst/>
          </a:prstGeom>
        </p:spPr>
      </p:pic>
    </p:spTree>
    <p:extLst>
      <p:ext uri="{BB962C8B-B14F-4D97-AF65-F5344CB8AC3E}">
        <p14:creationId xmlns:p14="http://schemas.microsoft.com/office/powerpoint/2010/main" val="32524844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9BD72-EFE6-A180-C16F-3C6D59ABF5DE}"/>
              </a:ext>
            </a:extLst>
          </p:cNvPr>
          <p:cNvSpPr>
            <a:spLocks noGrp="1"/>
          </p:cNvSpPr>
          <p:nvPr>
            <p:ph type="title"/>
          </p:nvPr>
        </p:nvSpPr>
        <p:spPr/>
        <p:txBody>
          <a:bodyPr/>
          <a:lstStyle/>
          <a:p>
            <a:r>
              <a:rPr lang="en-GB" dirty="0"/>
              <a:t>VI - Abducens</a:t>
            </a:r>
          </a:p>
        </p:txBody>
      </p:sp>
      <p:pic>
        <p:nvPicPr>
          <p:cNvPr id="5" name="Content Placeholder 4">
            <a:extLst>
              <a:ext uri="{FF2B5EF4-FFF2-40B4-BE49-F238E27FC236}">
                <a16:creationId xmlns:a16="http://schemas.microsoft.com/office/drawing/2014/main" id="{0F1C0ED7-B52E-2663-5967-95FA4398B228}"/>
              </a:ext>
            </a:extLst>
          </p:cNvPr>
          <p:cNvPicPr>
            <a:picLocks noGrp="1" noChangeAspect="1"/>
          </p:cNvPicPr>
          <p:nvPr>
            <p:ph idx="1"/>
          </p:nvPr>
        </p:nvPicPr>
        <p:blipFill>
          <a:blip r:embed="rId2"/>
          <a:srcRect l="5764" r="15312" b="24652"/>
          <a:stretch/>
        </p:blipFill>
        <p:spPr>
          <a:xfrm>
            <a:off x="1215414" y="1819372"/>
            <a:ext cx="4339140" cy="4038922"/>
          </a:xfrm>
        </p:spPr>
      </p:pic>
      <p:pic>
        <p:nvPicPr>
          <p:cNvPr id="6" name="Content Placeholder 4">
            <a:extLst>
              <a:ext uri="{FF2B5EF4-FFF2-40B4-BE49-F238E27FC236}">
                <a16:creationId xmlns:a16="http://schemas.microsoft.com/office/drawing/2014/main" id="{CEE9B5BB-53CC-1B45-E5F3-73868968858C}"/>
              </a:ext>
            </a:extLst>
          </p:cNvPr>
          <p:cNvPicPr>
            <a:picLocks noChangeAspect="1"/>
          </p:cNvPicPr>
          <p:nvPr/>
        </p:nvPicPr>
        <p:blipFill>
          <a:blip r:embed="rId2"/>
          <a:srcRect t="79591"/>
          <a:stretch/>
        </p:blipFill>
        <p:spPr>
          <a:xfrm>
            <a:off x="6096000" y="3078822"/>
            <a:ext cx="5526630" cy="1099738"/>
          </a:xfrm>
          <a:prstGeom prst="rect">
            <a:avLst/>
          </a:prstGeom>
        </p:spPr>
      </p:pic>
    </p:spTree>
    <p:extLst>
      <p:ext uri="{BB962C8B-B14F-4D97-AF65-F5344CB8AC3E}">
        <p14:creationId xmlns:p14="http://schemas.microsoft.com/office/powerpoint/2010/main" val="14728763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31520-45DB-0C73-E0B8-138486350253}"/>
              </a:ext>
            </a:extLst>
          </p:cNvPr>
          <p:cNvSpPr>
            <a:spLocks noGrp="1"/>
          </p:cNvSpPr>
          <p:nvPr>
            <p:ph type="title"/>
          </p:nvPr>
        </p:nvSpPr>
        <p:spPr/>
        <p:txBody>
          <a:bodyPr/>
          <a:lstStyle/>
          <a:p>
            <a:r>
              <a:rPr lang="en-GB" dirty="0"/>
              <a:t>V - Trigeminal</a:t>
            </a:r>
          </a:p>
        </p:txBody>
      </p:sp>
      <p:pic>
        <p:nvPicPr>
          <p:cNvPr id="7" name="Picture 6">
            <a:extLst>
              <a:ext uri="{FF2B5EF4-FFF2-40B4-BE49-F238E27FC236}">
                <a16:creationId xmlns:a16="http://schemas.microsoft.com/office/drawing/2014/main" id="{575BFE5B-5DBE-BFFA-E05C-1103D3F64E5F}"/>
              </a:ext>
            </a:extLst>
          </p:cNvPr>
          <p:cNvPicPr>
            <a:picLocks noChangeAspect="1"/>
          </p:cNvPicPr>
          <p:nvPr/>
        </p:nvPicPr>
        <p:blipFill>
          <a:blip r:embed="rId2"/>
          <a:srcRect l="4580" b="40041"/>
          <a:stretch/>
        </p:blipFill>
        <p:spPr>
          <a:xfrm>
            <a:off x="283975" y="1567543"/>
            <a:ext cx="6411331" cy="4111960"/>
          </a:xfrm>
          <a:prstGeom prst="rect">
            <a:avLst/>
          </a:prstGeom>
        </p:spPr>
      </p:pic>
      <p:pic>
        <p:nvPicPr>
          <p:cNvPr id="8" name="Picture 7">
            <a:extLst>
              <a:ext uri="{FF2B5EF4-FFF2-40B4-BE49-F238E27FC236}">
                <a16:creationId xmlns:a16="http://schemas.microsoft.com/office/drawing/2014/main" id="{0815A8CD-5D40-498A-AAB4-F0089164991C}"/>
              </a:ext>
            </a:extLst>
          </p:cNvPr>
          <p:cNvPicPr>
            <a:picLocks noChangeAspect="1"/>
          </p:cNvPicPr>
          <p:nvPr/>
        </p:nvPicPr>
        <p:blipFill>
          <a:blip r:embed="rId2"/>
          <a:srcRect t="62692"/>
          <a:stretch/>
        </p:blipFill>
        <p:spPr>
          <a:xfrm>
            <a:off x="6595796" y="2577116"/>
            <a:ext cx="5495866" cy="2092814"/>
          </a:xfrm>
          <a:prstGeom prst="rect">
            <a:avLst/>
          </a:prstGeom>
        </p:spPr>
      </p:pic>
    </p:spTree>
    <p:extLst>
      <p:ext uri="{BB962C8B-B14F-4D97-AF65-F5344CB8AC3E}">
        <p14:creationId xmlns:p14="http://schemas.microsoft.com/office/powerpoint/2010/main" val="10096124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68D05-A4DF-6889-C550-0EE7E084E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39107E-F78A-35A9-257F-DD5D1E35E8C9}"/>
              </a:ext>
            </a:extLst>
          </p:cNvPr>
          <p:cNvSpPr>
            <a:spLocks noGrp="1"/>
          </p:cNvSpPr>
          <p:nvPr>
            <p:ph type="title"/>
          </p:nvPr>
        </p:nvSpPr>
        <p:spPr/>
        <p:txBody>
          <a:bodyPr/>
          <a:lstStyle/>
          <a:p>
            <a:r>
              <a:rPr lang="en-GB" dirty="0"/>
              <a:t>Cranial nerves of the pons</a:t>
            </a:r>
          </a:p>
        </p:txBody>
      </p:sp>
      <p:graphicFrame>
        <p:nvGraphicFramePr>
          <p:cNvPr id="8" name="Table 7">
            <a:extLst>
              <a:ext uri="{FF2B5EF4-FFF2-40B4-BE49-F238E27FC236}">
                <a16:creationId xmlns:a16="http://schemas.microsoft.com/office/drawing/2014/main" id="{34A1ACB0-6ED5-02EC-5235-06480507E892}"/>
              </a:ext>
            </a:extLst>
          </p:cNvPr>
          <p:cNvGraphicFramePr>
            <a:graphicFrameLocks noGrp="1"/>
          </p:cNvGraphicFramePr>
          <p:nvPr/>
        </p:nvGraphicFramePr>
        <p:xfrm>
          <a:off x="204462" y="1380119"/>
          <a:ext cx="11466918" cy="4026769"/>
        </p:xfrm>
        <a:graphic>
          <a:graphicData uri="http://schemas.openxmlformats.org/drawingml/2006/table">
            <a:tbl>
              <a:tblPr firstRow="1" bandRow="1">
                <a:tableStyleId>{9D7B26C5-4107-4FEC-AEDC-1716B250A1EF}</a:tableStyleId>
              </a:tblPr>
              <a:tblGrid>
                <a:gridCol w="976875">
                  <a:extLst>
                    <a:ext uri="{9D8B030D-6E8A-4147-A177-3AD203B41FA5}">
                      <a16:colId xmlns:a16="http://schemas.microsoft.com/office/drawing/2014/main" val="3880467983"/>
                    </a:ext>
                  </a:extLst>
                </a:gridCol>
                <a:gridCol w="1806082">
                  <a:extLst>
                    <a:ext uri="{9D8B030D-6E8A-4147-A177-3AD203B41FA5}">
                      <a16:colId xmlns:a16="http://schemas.microsoft.com/office/drawing/2014/main" val="1963411889"/>
                    </a:ext>
                  </a:extLst>
                </a:gridCol>
                <a:gridCol w="2356993">
                  <a:extLst>
                    <a:ext uri="{9D8B030D-6E8A-4147-A177-3AD203B41FA5}">
                      <a16:colId xmlns:a16="http://schemas.microsoft.com/office/drawing/2014/main" val="1299710248"/>
                    </a:ext>
                  </a:extLst>
                </a:gridCol>
                <a:gridCol w="6326968">
                  <a:extLst>
                    <a:ext uri="{9D8B030D-6E8A-4147-A177-3AD203B41FA5}">
                      <a16:colId xmlns:a16="http://schemas.microsoft.com/office/drawing/2014/main" val="2499284477"/>
                    </a:ext>
                  </a:extLst>
                </a:gridCol>
              </a:tblGrid>
              <a:tr h="357809">
                <a:tc>
                  <a:txBody>
                    <a:bodyPr/>
                    <a:lstStyle/>
                    <a:p>
                      <a:r>
                        <a:rPr lang="en-GB" sz="1600" dirty="0"/>
                        <a:t>Number</a:t>
                      </a:r>
                    </a:p>
                  </a:txBody>
                  <a:tcPr/>
                </a:tc>
                <a:tc>
                  <a:txBody>
                    <a:bodyPr/>
                    <a:lstStyle/>
                    <a:p>
                      <a:r>
                        <a:rPr lang="en-GB" sz="1600" dirty="0"/>
                        <a:t>Nerve</a:t>
                      </a:r>
                    </a:p>
                  </a:txBody>
                  <a:tcPr/>
                </a:tc>
                <a:tc>
                  <a:txBody>
                    <a:bodyPr/>
                    <a:lstStyle/>
                    <a:p>
                      <a:r>
                        <a:rPr lang="en-GB" sz="1600" dirty="0"/>
                        <a:t>Nuclei</a:t>
                      </a:r>
                    </a:p>
                  </a:txBody>
                  <a:tcPr/>
                </a:tc>
                <a:tc>
                  <a:txBody>
                    <a:bodyPr/>
                    <a:lstStyle/>
                    <a:p>
                      <a:r>
                        <a:rPr lang="en-GB" sz="1600" dirty="0"/>
                        <a:t>Targets</a:t>
                      </a:r>
                    </a:p>
                  </a:txBody>
                  <a:tcPr/>
                </a:tc>
                <a:extLst>
                  <a:ext uri="{0D108BD9-81ED-4DB2-BD59-A6C34878D82A}">
                    <a16:rowId xmlns:a16="http://schemas.microsoft.com/office/drawing/2014/main" val="4195276562"/>
                  </a:ext>
                </a:extLst>
              </a:tr>
              <a:tr h="584989">
                <a:tc>
                  <a:txBody>
                    <a:bodyPr/>
                    <a:lstStyle/>
                    <a:p>
                      <a:pPr algn="ctr"/>
                      <a:r>
                        <a:rPr lang="en-GB" sz="1400" b="1" dirty="0"/>
                        <a:t>VII</a:t>
                      </a:r>
                    </a:p>
                  </a:txBody>
                  <a:tcPr/>
                </a:tc>
                <a:tc>
                  <a:txBody>
                    <a:bodyPr/>
                    <a:lstStyle/>
                    <a:p>
                      <a:r>
                        <a:rPr lang="en-GB" sz="1400" dirty="0"/>
                        <a:t>Vestibulocochlear</a:t>
                      </a:r>
                    </a:p>
                  </a:txBody>
                  <a:tcPr/>
                </a:tc>
                <a:tc>
                  <a:txBody>
                    <a:bodyPr/>
                    <a:lstStyle/>
                    <a:p>
                      <a:pPr marL="285750" indent="-285750">
                        <a:buFont typeface="Arial" panose="020B0604020202020204" pitchFamily="34" charset="0"/>
                        <a:buChar char="•"/>
                      </a:pPr>
                      <a:r>
                        <a:rPr lang="en-GB" sz="1400" dirty="0">
                          <a:solidFill>
                            <a:schemeClr val="accent6">
                              <a:lumMod val="75000"/>
                            </a:schemeClr>
                          </a:solidFill>
                        </a:rPr>
                        <a:t>Vestibular nuclei</a:t>
                      </a:r>
                    </a:p>
                    <a:p>
                      <a:pPr marL="285750" indent="-285750">
                        <a:buFont typeface="Arial" panose="020B0604020202020204" pitchFamily="34" charset="0"/>
                        <a:buChar char="•"/>
                      </a:pPr>
                      <a:r>
                        <a:rPr lang="en-GB" sz="1400" dirty="0">
                          <a:solidFill>
                            <a:schemeClr val="accent6">
                              <a:lumMod val="75000"/>
                            </a:schemeClr>
                          </a:solidFill>
                        </a:rPr>
                        <a:t>Cochlear nuclei</a:t>
                      </a:r>
                    </a:p>
                  </a:txBody>
                  <a:tcPr/>
                </a:tc>
                <a:tc>
                  <a:txBody>
                    <a:bodyPr/>
                    <a:lstStyle/>
                    <a:p>
                      <a:pPr marL="285750" indent="-285750">
                        <a:buFont typeface="Arial" panose="020B0604020202020204" pitchFamily="34" charset="0"/>
                        <a:buChar char="•"/>
                      </a:pPr>
                      <a:r>
                        <a:rPr lang="en-GB" sz="1400" dirty="0">
                          <a:solidFill>
                            <a:schemeClr val="accent6">
                              <a:lumMod val="75000"/>
                            </a:schemeClr>
                          </a:solidFill>
                        </a:rPr>
                        <a:t>Semicircular canals or the maculae of the utricle and saccule</a:t>
                      </a:r>
                    </a:p>
                    <a:p>
                      <a:pPr marL="285750" indent="-285750">
                        <a:buFont typeface="Arial" panose="020B0604020202020204" pitchFamily="34" charset="0"/>
                        <a:buChar char="•"/>
                      </a:pPr>
                      <a:r>
                        <a:rPr lang="en-GB" sz="1400" dirty="0">
                          <a:solidFill>
                            <a:schemeClr val="accent6">
                              <a:lumMod val="75000"/>
                            </a:schemeClr>
                          </a:solidFill>
                        </a:rPr>
                        <a:t>Organ of Corti of the cochlea</a:t>
                      </a:r>
                    </a:p>
                  </a:txBody>
                  <a:tcPr/>
                </a:tc>
                <a:extLst>
                  <a:ext uri="{0D108BD9-81ED-4DB2-BD59-A6C34878D82A}">
                    <a16:rowId xmlns:a16="http://schemas.microsoft.com/office/drawing/2014/main" val="1781667687"/>
                  </a:ext>
                </a:extLst>
              </a:tr>
              <a:tr h="1433506">
                <a:tc>
                  <a:txBody>
                    <a:bodyPr/>
                    <a:lstStyle/>
                    <a:p>
                      <a:pPr algn="ctr"/>
                      <a:r>
                        <a:rPr lang="en-GB" sz="1400" b="1" dirty="0"/>
                        <a:t>VII</a:t>
                      </a:r>
                    </a:p>
                  </a:txBody>
                  <a:tcPr/>
                </a:tc>
                <a:tc>
                  <a:txBody>
                    <a:bodyPr/>
                    <a:lstStyle/>
                    <a:p>
                      <a:r>
                        <a:rPr lang="en-GB" sz="1400" dirty="0"/>
                        <a:t>Facial</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400" dirty="0">
                          <a:solidFill>
                            <a:schemeClr val="accent6">
                              <a:lumMod val="75000"/>
                            </a:schemeClr>
                          </a:solidFill>
                        </a:rPr>
                        <a:t>Spinal trigeminal nucleus</a:t>
                      </a:r>
                    </a:p>
                    <a:p>
                      <a:pPr marL="285750" indent="-285750">
                        <a:buFont typeface="Arial" panose="020B0604020202020204" pitchFamily="34" charset="0"/>
                        <a:buChar char="•"/>
                      </a:pPr>
                      <a:r>
                        <a:rPr lang="en-GB" sz="1400" dirty="0">
                          <a:solidFill>
                            <a:schemeClr val="accent6">
                              <a:lumMod val="75000"/>
                            </a:schemeClr>
                          </a:solidFill>
                        </a:rPr>
                        <a:t>Nucleus solitarious</a:t>
                      </a:r>
                    </a:p>
                    <a:p>
                      <a:pPr marL="285750" indent="-285750">
                        <a:buFont typeface="Arial" panose="020B0604020202020204" pitchFamily="34" charset="0"/>
                        <a:buChar char="•"/>
                      </a:pPr>
                      <a:r>
                        <a:rPr lang="en-GB" sz="1400" dirty="0">
                          <a:solidFill>
                            <a:srgbClr val="C00000"/>
                          </a:solidFill>
                        </a:rPr>
                        <a:t>Facial nucleus</a:t>
                      </a:r>
                    </a:p>
                    <a:p>
                      <a:pPr marL="285750" indent="-285750">
                        <a:buFont typeface="Arial" panose="020B0604020202020204" pitchFamily="34" charset="0"/>
                        <a:buChar char="•"/>
                      </a:pPr>
                      <a:r>
                        <a:rPr lang="en-GB" sz="1400" dirty="0">
                          <a:solidFill>
                            <a:schemeClr val="tx1"/>
                          </a:solidFill>
                        </a:rPr>
                        <a:t>Superior salivatory nucleus</a:t>
                      </a:r>
                    </a:p>
                  </a:txBody>
                  <a:tcPr/>
                </a:tc>
                <a:tc>
                  <a:txBody>
                    <a:bodyPr/>
                    <a:lstStyle/>
                    <a:p>
                      <a:pPr marL="285750" indent="-285750">
                        <a:buFont typeface="Arial" panose="020B0604020202020204" pitchFamily="34" charset="0"/>
                        <a:buChar char="•"/>
                      </a:pPr>
                      <a:r>
                        <a:rPr lang="en-GB" sz="1400" dirty="0">
                          <a:solidFill>
                            <a:schemeClr val="accent6">
                              <a:lumMod val="75000"/>
                            </a:schemeClr>
                          </a:solidFill>
                        </a:rPr>
                        <a:t>General sensation from a small portion of the external auditory meatus</a:t>
                      </a:r>
                    </a:p>
                    <a:p>
                      <a:pPr marL="285750" indent="-285750">
                        <a:buFont typeface="Arial" panose="020B0604020202020204" pitchFamily="34" charset="0"/>
                        <a:buChar char="•"/>
                      </a:pPr>
                      <a:r>
                        <a:rPr lang="en-GB" sz="1400" dirty="0">
                          <a:solidFill>
                            <a:schemeClr val="accent6">
                              <a:lumMod val="75000"/>
                            </a:schemeClr>
                          </a:solidFill>
                        </a:rPr>
                        <a:t>Taste from front 2/3 of the tongue</a:t>
                      </a:r>
                    </a:p>
                    <a:p>
                      <a:pPr marL="285750" indent="-285750">
                        <a:buFont typeface="Arial" panose="020B0604020202020204" pitchFamily="34" charset="0"/>
                        <a:buChar char="•"/>
                      </a:pPr>
                      <a:r>
                        <a:rPr lang="en-GB" sz="1400" dirty="0">
                          <a:solidFill>
                            <a:srgbClr val="C00000"/>
                          </a:solidFill>
                        </a:rPr>
                        <a:t>Stapedius muscle</a:t>
                      </a:r>
                    </a:p>
                    <a:p>
                      <a:pPr marL="285750" indent="-285750">
                        <a:buFont typeface="Arial" panose="020B0604020202020204" pitchFamily="34" charset="0"/>
                        <a:buChar char="•"/>
                      </a:pPr>
                      <a:r>
                        <a:rPr lang="en-GB" sz="1400" dirty="0">
                          <a:solidFill>
                            <a:srgbClr val="C00000"/>
                          </a:solidFill>
                        </a:rPr>
                        <a:t>Muscles of facial expression</a:t>
                      </a:r>
                    </a:p>
                    <a:p>
                      <a:pPr marL="285750" indent="-285750">
                        <a:buFont typeface="Arial" panose="020B0604020202020204" pitchFamily="34" charset="0"/>
                        <a:buChar char="•"/>
                      </a:pPr>
                      <a:r>
                        <a:rPr lang="en-GB" sz="1400" dirty="0">
                          <a:solidFill>
                            <a:srgbClr val="C00000"/>
                          </a:solidFill>
                        </a:rPr>
                        <a:t>Stylohyoid muscle and posterior belly of digastric muscle</a:t>
                      </a:r>
                    </a:p>
                    <a:p>
                      <a:pPr marL="285750" indent="-285750">
                        <a:buFont typeface="Arial" panose="020B0604020202020204" pitchFamily="34" charset="0"/>
                        <a:buChar char="•"/>
                      </a:pPr>
                      <a:r>
                        <a:rPr lang="en-GB" sz="1400" dirty="0">
                          <a:solidFill>
                            <a:schemeClr val="tx1"/>
                          </a:solidFill>
                        </a:rPr>
                        <a:t>Nasal mucosa, lacrimal gland, submandibular and sublingual salivary glands</a:t>
                      </a:r>
                    </a:p>
                  </a:txBody>
                  <a:tcPr/>
                </a:tc>
                <a:extLst>
                  <a:ext uri="{0D108BD9-81ED-4DB2-BD59-A6C34878D82A}">
                    <a16:rowId xmlns:a16="http://schemas.microsoft.com/office/drawing/2014/main" val="4231388058"/>
                  </a:ext>
                </a:extLst>
              </a:tr>
              <a:tr h="340771">
                <a:tc>
                  <a:txBody>
                    <a:bodyPr/>
                    <a:lstStyle/>
                    <a:p>
                      <a:pPr algn="ctr"/>
                      <a:r>
                        <a:rPr lang="en-GB" sz="1400" b="1" dirty="0"/>
                        <a:t>VI</a:t>
                      </a:r>
                    </a:p>
                  </a:txBody>
                  <a:tcPr/>
                </a:tc>
                <a:tc>
                  <a:txBody>
                    <a:bodyPr/>
                    <a:lstStyle/>
                    <a:p>
                      <a:r>
                        <a:rPr lang="en-GB" sz="1400" dirty="0"/>
                        <a:t>Abducens</a:t>
                      </a:r>
                    </a:p>
                  </a:txBody>
                  <a:tcPr/>
                </a:tc>
                <a:tc>
                  <a:txBody>
                    <a:bodyPr/>
                    <a:lstStyle/>
                    <a:p>
                      <a:pPr marL="285750" indent="-285750">
                        <a:buFont typeface="Arial" panose="020B0604020202020204" pitchFamily="34" charset="0"/>
                        <a:buChar char="•"/>
                      </a:pPr>
                      <a:r>
                        <a:rPr lang="en-GB" sz="1400" dirty="0">
                          <a:solidFill>
                            <a:srgbClr val="C00000"/>
                          </a:solidFill>
                        </a:rPr>
                        <a:t>Nucleus abducens</a:t>
                      </a:r>
                    </a:p>
                  </a:txBody>
                  <a:tcPr/>
                </a:tc>
                <a:tc>
                  <a:txBody>
                    <a:bodyPr/>
                    <a:lstStyle/>
                    <a:p>
                      <a:pPr marL="285750" indent="-285750">
                        <a:buFont typeface="Arial" panose="020B0604020202020204" pitchFamily="34" charset="0"/>
                        <a:buChar char="•"/>
                      </a:pPr>
                      <a:r>
                        <a:rPr lang="en-GB" sz="1400" dirty="0">
                          <a:solidFill>
                            <a:srgbClr val="C00000"/>
                          </a:solidFill>
                        </a:rPr>
                        <a:t>Lateral rectus muscle of the eye</a:t>
                      </a:r>
                    </a:p>
                  </a:txBody>
                  <a:tcPr/>
                </a:tc>
                <a:extLst>
                  <a:ext uri="{0D108BD9-81ED-4DB2-BD59-A6C34878D82A}">
                    <a16:rowId xmlns:a16="http://schemas.microsoft.com/office/drawing/2014/main" val="2320478704"/>
                  </a:ext>
                </a:extLst>
              </a:tr>
              <a:tr h="1020039">
                <a:tc>
                  <a:txBody>
                    <a:bodyPr/>
                    <a:lstStyle/>
                    <a:p>
                      <a:pPr algn="ctr"/>
                      <a:r>
                        <a:rPr lang="en-GB" sz="1400" b="1" dirty="0"/>
                        <a:t>V</a:t>
                      </a:r>
                    </a:p>
                  </a:txBody>
                  <a:tcPr/>
                </a:tc>
                <a:tc>
                  <a:txBody>
                    <a:bodyPr/>
                    <a:lstStyle/>
                    <a:p>
                      <a:r>
                        <a:rPr lang="en-GB" sz="1400" dirty="0"/>
                        <a:t>Trigeminal</a:t>
                      </a:r>
                    </a:p>
                  </a:txBody>
                  <a:tcPr/>
                </a:tc>
                <a:tc>
                  <a:txBody>
                    <a:bodyPr/>
                    <a:lstStyle/>
                    <a:p>
                      <a:pPr marL="285750" indent="-285750">
                        <a:buFont typeface="Arial" panose="020B0604020202020204" pitchFamily="34" charset="0"/>
                        <a:buChar char="•"/>
                      </a:pPr>
                      <a:r>
                        <a:rPr lang="en-GB" sz="1400" dirty="0">
                          <a:solidFill>
                            <a:schemeClr val="accent6">
                              <a:lumMod val="75000"/>
                            </a:schemeClr>
                          </a:solidFill>
                        </a:rPr>
                        <a:t>Main sensory nucleus</a:t>
                      </a:r>
                    </a:p>
                    <a:p>
                      <a:pPr marL="285750" indent="-285750">
                        <a:buFont typeface="Arial" panose="020B0604020202020204" pitchFamily="34" charset="0"/>
                        <a:buChar char="•"/>
                      </a:pPr>
                      <a:r>
                        <a:rPr lang="en-GB" sz="1400" dirty="0">
                          <a:solidFill>
                            <a:schemeClr val="accent6">
                              <a:lumMod val="75000"/>
                            </a:schemeClr>
                          </a:solidFill>
                        </a:rPr>
                        <a:t>Spinal trigeminal nucleus</a:t>
                      </a:r>
                    </a:p>
                    <a:p>
                      <a:pPr marL="285750" indent="-285750">
                        <a:buFont typeface="Arial" panose="020B0604020202020204" pitchFamily="34" charset="0"/>
                        <a:buChar char="•"/>
                      </a:pPr>
                      <a:r>
                        <a:rPr lang="en-GB" sz="1400" dirty="0">
                          <a:solidFill>
                            <a:srgbClr val="C00000"/>
                          </a:solidFill>
                        </a:rPr>
                        <a:t>Motor nucleus of trigeminal</a:t>
                      </a:r>
                    </a:p>
                  </a:txBody>
                  <a:tcPr/>
                </a:tc>
                <a:tc>
                  <a:txBody>
                    <a:bodyPr/>
                    <a:lstStyle/>
                    <a:p>
                      <a:pPr marL="285750" indent="-285750">
                        <a:buFont typeface="Arial" panose="020B0604020202020204" pitchFamily="34" charset="0"/>
                        <a:buChar char="•"/>
                      </a:pPr>
                      <a:r>
                        <a:rPr lang="en-GB" sz="1400" dirty="0">
                          <a:solidFill>
                            <a:schemeClr val="accent6">
                              <a:lumMod val="75000"/>
                            </a:schemeClr>
                          </a:solidFill>
                        </a:rPr>
                        <a:t>General sensation of the face</a:t>
                      </a:r>
                    </a:p>
                    <a:p>
                      <a:pPr marL="285750" indent="-285750">
                        <a:buFont typeface="Arial" panose="020B0604020202020204" pitchFamily="34" charset="0"/>
                        <a:buChar char="•"/>
                      </a:pPr>
                      <a:r>
                        <a:rPr lang="en-GB" sz="1400" dirty="0">
                          <a:solidFill>
                            <a:srgbClr val="C00000"/>
                          </a:solidFill>
                        </a:rPr>
                        <a:t>Temporalis, masseter, medial, and lateral Pterygoid mastication muscles</a:t>
                      </a:r>
                    </a:p>
                    <a:p>
                      <a:pPr marL="285750" indent="-285750">
                        <a:buFont typeface="Arial" panose="020B0604020202020204" pitchFamily="34" charset="0"/>
                        <a:buChar char="•"/>
                      </a:pPr>
                      <a:r>
                        <a:rPr lang="en-GB" sz="1400" dirty="0">
                          <a:solidFill>
                            <a:srgbClr val="C00000"/>
                          </a:solidFill>
                        </a:rPr>
                        <a:t>Mylohyoid, the anterior belly of the digastric, the tensor tympani, and the tensor </a:t>
                      </a:r>
                      <a:r>
                        <a:rPr lang="en-GB" sz="1400" dirty="0" err="1">
                          <a:solidFill>
                            <a:srgbClr val="C00000"/>
                          </a:solidFill>
                        </a:rPr>
                        <a:t>veli</a:t>
                      </a:r>
                      <a:r>
                        <a:rPr lang="en-GB" sz="1400" dirty="0">
                          <a:solidFill>
                            <a:srgbClr val="C00000"/>
                          </a:solidFill>
                        </a:rPr>
                        <a:t> palatini accessory muscles</a:t>
                      </a:r>
                    </a:p>
                  </a:txBody>
                  <a:tcPr/>
                </a:tc>
                <a:extLst>
                  <a:ext uri="{0D108BD9-81ED-4DB2-BD59-A6C34878D82A}">
                    <a16:rowId xmlns:a16="http://schemas.microsoft.com/office/drawing/2014/main" val="4270529215"/>
                  </a:ext>
                </a:extLst>
              </a:tr>
            </a:tbl>
          </a:graphicData>
        </a:graphic>
      </p:graphicFrame>
    </p:spTree>
    <p:extLst>
      <p:ext uri="{BB962C8B-B14F-4D97-AF65-F5344CB8AC3E}">
        <p14:creationId xmlns:p14="http://schemas.microsoft.com/office/powerpoint/2010/main" val="6053106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6BC27-3521-A68A-BBE7-E0F2982DD5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7BC67-CBD5-D2E5-8A33-94A26A96BCE6}"/>
              </a:ext>
            </a:extLst>
          </p:cNvPr>
          <p:cNvSpPr>
            <a:spLocks noGrp="1"/>
          </p:cNvSpPr>
          <p:nvPr>
            <p:ph type="title"/>
          </p:nvPr>
        </p:nvSpPr>
        <p:spPr/>
        <p:txBody>
          <a:bodyPr>
            <a:normAutofit/>
          </a:bodyPr>
          <a:lstStyle/>
          <a:p>
            <a:r>
              <a:rPr lang="en-GB" dirty="0"/>
              <a:t>The midbrain</a:t>
            </a:r>
          </a:p>
        </p:txBody>
      </p:sp>
      <p:pic>
        <p:nvPicPr>
          <p:cNvPr id="5" name="Picture 4">
            <a:extLst>
              <a:ext uri="{FF2B5EF4-FFF2-40B4-BE49-F238E27FC236}">
                <a16:creationId xmlns:a16="http://schemas.microsoft.com/office/drawing/2014/main" id="{3C72F075-8DEF-A10F-AD8F-4A9FD321E116}"/>
              </a:ext>
            </a:extLst>
          </p:cNvPr>
          <p:cNvPicPr>
            <a:picLocks noChangeAspect="1"/>
          </p:cNvPicPr>
          <p:nvPr/>
        </p:nvPicPr>
        <p:blipFill>
          <a:blip r:embed="rId2">
            <a:grayscl/>
            <a:alphaModFix amt="70000"/>
          </a:blip>
          <a:srcRect b="48195"/>
          <a:stretch/>
        </p:blipFill>
        <p:spPr>
          <a:xfrm>
            <a:off x="350183" y="1568377"/>
            <a:ext cx="5459628" cy="4168922"/>
          </a:xfrm>
          <a:prstGeom prst="rect">
            <a:avLst/>
          </a:prstGeom>
        </p:spPr>
      </p:pic>
      <p:pic>
        <p:nvPicPr>
          <p:cNvPr id="6" name="Picture 5">
            <a:extLst>
              <a:ext uri="{FF2B5EF4-FFF2-40B4-BE49-F238E27FC236}">
                <a16:creationId xmlns:a16="http://schemas.microsoft.com/office/drawing/2014/main" id="{55F44070-6A28-DA79-5540-BC028F7439E9}"/>
              </a:ext>
            </a:extLst>
          </p:cNvPr>
          <p:cNvPicPr>
            <a:picLocks noChangeAspect="1"/>
          </p:cNvPicPr>
          <p:nvPr/>
        </p:nvPicPr>
        <p:blipFill>
          <a:blip r:embed="rId2">
            <a:grayscl/>
            <a:alphaModFix amt="70000"/>
          </a:blip>
          <a:srcRect t="51944" b="4143"/>
          <a:stretch/>
        </p:blipFill>
        <p:spPr>
          <a:xfrm>
            <a:off x="6382191" y="2047875"/>
            <a:ext cx="5459630" cy="3533775"/>
          </a:xfrm>
          <a:prstGeom prst="rect">
            <a:avLst/>
          </a:prstGeom>
        </p:spPr>
      </p:pic>
      <p:pic>
        <p:nvPicPr>
          <p:cNvPr id="4" name="Picture 3" descr="A diagram of the internal organs of the human body&#10;&#10;Description automatically generated">
            <a:extLst>
              <a:ext uri="{FF2B5EF4-FFF2-40B4-BE49-F238E27FC236}">
                <a16:creationId xmlns:a16="http://schemas.microsoft.com/office/drawing/2014/main" id="{972D7B29-9D19-A364-A6AC-12A471569D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628" y="1671411"/>
            <a:ext cx="4971040" cy="1779814"/>
          </a:xfrm>
          <a:prstGeom prst="rect">
            <a:avLst/>
          </a:prstGeom>
        </p:spPr>
      </p:pic>
      <p:pic>
        <p:nvPicPr>
          <p:cNvPr id="8" name="Picture 7" descr="A diagram of the human body&#10;&#10;Description automatically generated">
            <a:extLst>
              <a:ext uri="{FF2B5EF4-FFF2-40B4-BE49-F238E27FC236}">
                <a16:creationId xmlns:a16="http://schemas.microsoft.com/office/drawing/2014/main" id="{C88CB151-6F9C-CD44-8FC6-822974553F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74962" y="1922173"/>
            <a:ext cx="4712188" cy="990690"/>
          </a:xfrm>
          <a:prstGeom prst="rect">
            <a:avLst/>
          </a:prstGeom>
        </p:spPr>
      </p:pic>
    </p:spTree>
    <p:extLst>
      <p:ext uri="{BB962C8B-B14F-4D97-AF65-F5344CB8AC3E}">
        <p14:creationId xmlns:p14="http://schemas.microsoft.com/office/powerpoint/2010/main" val="16133601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1F4D4-F046-DF7F-E5CE-AFDAFCFC3EF7}"/>
              </a:ext>
            </a:extLst>
          </p:cNvPr>
          <p:cNvSpPr>
            <a:spLocks noGrp="1"/>
          </p:cNvSpPr>
          <p:nvPr>
            <p:ph type="title"/>
          </p:nvPr>
        </p:nvSpPr>
        <p:spPr/>
        <p:txBody>
          <a:bodyPr/>
          <a:lstStyle/>
          <a:p>
            <a:r>
              <a:rPr lang="en-GB" dirty="0"/>
              <a:t>The midbrain</a:t>
            </a:r>
          </a:p>
        </p:txBody>
      </p:sp>
      <p:pic>
        <p:nvPicPr>
          <p:cNvPr id="5" name="Picture 4">
            <a:extLst>
              <a:ext uri="{FF2B5EF4-FFF2-40B4-BE49-F238E27FC236}">
                <a16:creationId xmlns:a16="http://schemas.microsoft.com/office/drawing/2014/main" id="{B05A4139-CF1B-4284-DFC7-792A1140C536}"/>
              </a:ext>
            </a:extLst>
          </p:cNvPr>
          <p:cNvPicPr>
            <a:picLocks noChangeAspect="1"/>
          </p:cNvPicPr>
          <p:nvPr/>
        </p:nvPicPr>
        <p:blipFill>
          <a:blip r:embed="rId2"/>
          <a:srcRect r="5004"/>
          <a:stretch/>
        </p:blipFill>
        <p:spPr>
          <a:xfrm>
            <a:off x="838200" y="3642988"/>
            <a:ext cx="5034916" cy="2855092"/>
          </a:xfrm>
          <a:prstGeom prst="rect">
            <a:avLst/>
          </a:prstGeom>
        </p:spPr>
      </p:pic>
      <p:pic>
        <p:nvPicPr>
          <p:cNvPr id="12" name="Picture 11">
            <a:extLst>
              <a:ext uri="{FF2B5EF4-FFF2-40B4-BE49-F238E27FC236}">
                <a16:creationId xmlns:a16="http://schemas.microsoft.com/office/drawing/2014/main" id="{4D2691BD-4EBB-6102-E015-C24D59D422DB}"/>
              </a:ext>
            </a:extLst>
          </p:cNvPr>
          <p:cNvPicPr>
            <a:picLocks noChangeAspect="1"/>
          </p:cNvPicPr>
          <p:nvPr/>
        </p:nvPicPr>
        <p:blipFill>
          <a:blip r:embed="rId3"/>
          <a:srcRect r="15388"/>
          <a:stretch/>
        </p:blipFill>
        <p:spPr>
          <a:xfrm>
            <a:off x="6492240" y="1543169"/>
            <a:ext cx="5257800" cy="4495798"/>
          </a:xfrm>
          <a:prstGeom prst="rect">
            <a:avLst/>
          </a:prstGeom>
        </p:spPr>
      </p:pic>
      <p:grpSp>
        <p:nvGrpSpPr>
          <p:cNvPr id="13" name="Group 12">
            <a:extLst>
              <a:ext uri="{FF2B5EF4-FFF2-40B4-BE49-F238E27FC236}">
                <a16:creationId xmlns:a16="http://schemas.microsoft.com/office/drawing/2014/main" id="{30E632B3-6651-A92F-9D5A-981C9816B3B0}"/>
              </a:ext>
            </a:extLst>
          </p:cNvPr>
          <p:cNvGrpSpPr/>
          <p:nvPr/>
        </p:nvGrpSpPr>
        <p:grpSpPr>
          <a:xfrm>
            <a:off x="148590" y="1263693"/>
            <a:ext cx="2880046" cy="2377570"/>
            <a:chOff x="1556001" y="2096809"/>
            <a:chExt cx="4138925" cy="3416815"/>
          </a:xfrm>
        </p:grpSpPr>
        <p:pic>
          <p:nvPicPr>
            <p:cNvPr id="14" name="Picture 13" descr="A drawing of a brain&#10;&#10;Description automatically generated">
              <a:extLst>
                <a:ext uri="{FF2B5EF4-FFF2-40B4-BE49-F238E27FC236}">
                  <a16:creationId xmlns:a16="http://schemas.microsoft.com/office/drawing/2014/main" id="{18E5F1D8-1203-A96E-213B-183EDD28D0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56001" y="2096809"/>
              <a:ext cx="2983998" cy="3416815"/>
            </a:xfrm>
            <a:prstGeom prst="rect">
              <a:avLst/>
            </a:prstGeom>
          </p:spPr>
        </p:pic>
        <p:sp>
          <p:nvSpPr>
            <p:cNvPr id="15" name="TextBox 14">
              <a:extLst>
                <a:ext uri="{FF2B5EF4-FFF2-40B4-BE49-F238E27FC236}">
                  <a16:creationId xmlns:a16="http://schemas.microsoft.com/office/drawing/2014/main" id="{9497379E-F918-6643-F3AA-2D77C4FF2DF4}"/>
                </a:ext>
              </a:extLst>
            </p:cNvPr>
            <p:cNvSpPr txBox="1"/>
            <p:nvPr/>
          </p:nvSpPr>
          <p:spPr>
            <a:xfrm>
              <a:off x="4638675" y="2814638"/>
              <a:ext cx="1056251" cy="369332"/>
            </a:xfrm>
            <a:prstGeom prst="rect">
              <a:avLst/>
            </a:prstGeom>
            <a:noFill/>
          </p:spPr>
          <p:txBody>
            <a:bodyPr wrap="none" rtlCol="0">
              <a:spAutoFit/>
            </a:bodyPr>
            <a:lstStyle/>
            <a:p>
              <a:r>
                <a:rPr lang="en-GB" dirty="0"/>
                <a:t>Midbrain</a:t>
              </a:r>
            </a:p>
          </p:txBody>
        </p:sp>
        <p:sp>
          <p:nvSpPr>
            <p:cNvPr id="16" name="TextBox 15">
              <a:extLst>
                <a:ext uri="{FF2B5EF4-FFF2-40B4-BE49-F238E27FC236}">
                  <a16:creationId xmlns:a16="http://schemas.microsoft.com/office/drawing/2014/main" id="{89C1D472-0802-8DB3-13E5-DA8E6DA4A891}"/>
                </a:ext>
              </a:extLst>
            </p:cNvPr>
            <p:cNvSpPr txBox="1"/>
            <p:nvPr/>
          </p:nvSpPr>
          <p:spPr>
            <a:xfrm>
              <a:off x="4191000" y="3489365"/>
              <a:ext cx="674544" cy="369332"/>
            </a:xfrm>
            <a:prstGeom prst="rect">
              <a:avLst/>
            </a:prstGeom>
            <a:noFill/>
          </p:spPr>
          <p:txBody>
            <a:bodyPr wrap="none" rtlCol="0">
              <a:spAutoFit/>
            </a:bodyPr>
            <a:lstStyle/>
            <a:p>
              <a:r>
                <a:rPr lang="en-GB" dirty="0"/>
                <a:t>Pons</a:t>
              </a:r>
            </a:p>
          </p:txBody>
        </p:sp>
        <p:sp>
          <p:nvSpPr>
            <p:cNvPr id="17" name="TextBox 16">
              <a:extLst>
                <a:ext uri="{FF2B5EF4-FFF2-40B4-BE49-F238E27FC236}">
                  <a16:creationId xmlns:a16="http://schemas.microsoft.com/office/drawing/2014/main" id="{6F2B8E4E-A825-99DE-3629-667180E352AB}"/>
                </a:ext>
              </a:extLst>
            </p:cNvPr>
            <p:cNvSpPr txBox="1"/>
            <p:nvPr/>
          </p:nvSpPr>
          <p:spPr>
            <a:xfrm>
              <a:off x="3577521" y="4278392"/>
              <a:ext cx="1226811" cy="646331"/>
            </a:xfrm>
            <a:prstGeom prst="rect">
              <a:avLst/>
            </a:prstGeom>
            <a:noFill/>
          </p:spPr>
          <p:txBody>
            <a:bodyPr wrap="none" rtlCol="0">
              <a:spAutoFit/>
            </a:bodyPr>
            <a:lstStyle/>
            <a:p>
              <a:r>
                <a:rPr lang="en-GB" dirty="0"/>
                <a:t>Medulla</a:t>
              </a:r>
            </a:p>
            <a:p>
              <a:r>
                <a:rPr lang="en-GB" dirty="0" err="1"/>
                <a:t>Oblungata</a:t>
              </a:r>
              <a:endParaRPr lang="en-GB" dirty="0"/>
            </a:p>
          </p:txBody>
        </p:sp>
      </p:grpSp>
      <p:cxnSp>
        <p:nvCxnSpPr>
          <p:cNvPr id="18" name="Straight Connector 17">
            <a:extLst>
              <a:ext uri="{FF2B5EF4-FFF2-40B4-BE49-F238E27FC236}">
                <a16:creationId xmlns:a16="http://schemas.microsoft.com/office/drawing/2014/main" id="{F6937741-D2E8-8D15-B087-9948B60CF545}"/>
              </a:ext>
            </a:extLst>
          </p:cNvPr>
          <p:cNvCxnSpPr>
            <a:cxnSpLocks/>
          </p:cNvCxnSpPr>
          <p:nvPr/>
        </p:nvCxnSpPr>
        <p:spPr>
          <a:xfrm>
            <a:off x="1040529" y="1401425"/>
            <a:ext cx="1218789" cy="416876"/>
          </a:xfrm>
          <a:prstGeom prst="line">
            <a:avLst/>
          </a:prstGeom>
          <a:ln w="38100"/>
        </p:spPr>
        <p:style>
          <a:lnRef idx="2">
            <a:schemeClr val="accent1"/>
          </a:lnRef>
          <a:fillRef idx="0">
            <a:schemeClr val="accent1"/>
          </a:fillRef>
          <a:effectRef idx="1">
            <a:schemeClr val="accent1"/>
          </a:effectRef>
          <a:fontRef idx="minor">
            <a:schemeClr val="tx1"/>
          </a:fontRef>
        </p:style>
      </p:cxnSp>
      <p:grpSp>
        <p:nvGrpSpPr>
          <p:cNvPr id="3" name="Group 2">
            <a:extLst>
              <a:ext uri="{FF2B5EF4-FFF2-40B4-BE49-F238E27FC236}">
                <a16:creationId xmlns:a16="http://schemas.microsoft.com/office/drawing/2014/main" id="{952CCB2F-3878-CE3A-C799-097704DC0382}"/>
              </a:ext>
            </a:extLst>
          </p:cNvPr>
          <p:cNvGrpSpPr/>
          <p:nvPr/>
        </p:nvGrpSpPr>
        <p:grpSpPr>
          <a:xfrm>
            <a:off x="9331265" y="6283963"/>
            <a:ext cx="2531514" cy="369332"/>
            <a:chOff x="6025953" y="5898082"/>
            <a:chExt cx="2531514" cy="369332"/>
          </a:xfrm>
        </p:grpSpPr>
        <p:sp>
          <p:nvSpPr>
            <p:cNvPr id="4" name="Rectangle 3">
              <a:extLst>
                <a:ext uri="{FF2B5EF4-FFF2-40B4-BE49-F238E27FC236}">
                  <a16:creationId xmlns:a16="http://schemas.microsoft.com/office/drawing/2014/main" id="{02AADCBC-FDBC-5738-E22B-C399E3243EC2}"/>
                </a:ext>
              </a:extLst>
            </p:cNvPr>
            <p:cNvSpPr/>
            <p:nvPr/>
          </p:nvSpPr>
          <p:spPr>
            <a:xfrm>
              <a:off x="6025953" y="5957799"/>
              <a:ext cx="249898" cy="24989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2349133D-F101-6FAD-E461-27570E77C669}"/>
                </a:ext>
              </a:extLst>
            </p:cNvPr>
            <p:cNvSpPr txBox="1"/>
            <p:nvPr/>
          </p:nvSpPr>
          <p:spPr>
            <a:xfrm>
              <a:off x="6344005" y="5898082"/>
              <a:ext cx="986424" cy="369332"/>
            </a:xfrm>
            <a:prstGeom prst="rect">
              <a:avLst/>
            </a:prstGeom>
            <a:noFill/>
          </p:spPr>
          <p:txBody>
            <a:bodyPr wrap="none" rtlCol="0">
              <a:spAutoFit/>
            </a:bodyPr>
            <a:lstStyle/>
            <a:p>
              <a:r>
                <a:rPr lang="en-GB" dirty="0"/>
                <a:t>Sensory</a:t>
              </a:r>
            </a:p>
          </p:txBody>
        </p:sp>
        <p:sp>
          <p:nvSpPr>
            <p:cNvPr id="7" name="Rectangle 6">
              <a:extLst>
                <a:ext uri="{FF2B5EF4-FFF2-40B4-BE49-F238E27FC236}">
                  <a16:creationId xmlns:a16="http://schemas.microsoft.com/office/drawing/2014/main" id="{80DAC13D-AA13-4634-2514-83704A963403}"/>
                </a:ext>
              </a:extLst>
            </p:cNvPr>
            <p:cNvSpPr/>
            <p:nvPr/>
          </p:nvSpPr>
          <p:spPr>
            <a:xfrm>
              <a:off x="7467601" y="5957799"/>
              <a:ext cx="249898" cy="24989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C6E97367-2AC3-818A-891A-816E257F9AA7}"/>
                </a:ext>
              </a:extLst>
            </p:cNvPr>
            <p:cNvSpPr txBox="1"/>
            <p:nvPr/>
          </p:nvSpPr>
          <p:spPr>
            <a:xfrm>
              <a:off x="7785653" y="5898082"/>
              <a:ext cx="771814" cy="369332"/>
            </a:xfrm>
            <a:prstGeom prst="rect">
              <a:avLst/>
            </a:prstGeom>
            <a:noFill/>
          </p:spPr>
          <p:txBody>
            <a:bodyPr wrap="none" rtlCol="0">
              <a:spAutoFit/>
            </a:bodyPr>
            <a:lstStyle/>
            <a:p>
              <a:r>
                <a:rPr lang="en-GB" dirty="0"/>
                <a:t>Motor</a:t>
              </a:r>
            </a:p>
          </p:txBody>
        </p:sp>
      </p:grpSp>
    </p:spTree>
    <p:extLst>
      <p:ext uri="{BB962C8B-B14F-4D97-AF65-F5344CB8AC3E}">
        <p14:creationId xmlns:p14="http://schemas.microsoft.com/office/powerpoint/2010/main" val="17927995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3A48C-5446-D82F-8EC4-E255D64570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719D79-D3AF-E1FC-1A63-F6843D887EF6}"/>
              </a:ext>
            </a:extLst>
          </p:cNvPr>
          <p:cNvSpPr>
            <a:spLocks noGrp="1"/>
          </p:cNvSpPr>
          <p:nvPr>
            <p:ph type="title"/>
          </p:nvPr>
        </p:nvSpPr>
        <p:spPr/>
        <p:txBody>
          <a:bodyPr>
            <a:normAutofit/>
          </a:bodyPr>
          <a:lstStyle/>
          <a:p>
            <a:r>
              <a:rPr lang="en-GB" dirty="0"/>
              <a:t>Cranial nerves of the midbrain</a:t>
            </a:r>
          </a:p>
        </p:txBody>
      </p:sp>
      <p:pic>
        <p:nvPicPr>
          <p:cNvPr id="5" name="Picture 4">
            <a:extLst>
              <a:ext uri="{FF2B5EF4-FFF2-40B4-BE49-F238E27FC236}">
                <a16:creationId xmlns:a16="http://schemas.microsoft.com/office/drawing/2014/main" id="{A0070802-2126-922D-BE2E-33F85D9484C6}"/>
              </a:ext>
            </a:extLst>
          </p:cNvPr>
          <p:cNvPicPr>
            <a:picLocks noChangeAspect="1"/>
          </p:cNvPicPr>
          <p:nvPr/>
        </p:nvPicPr>
        <p:blipFill>
          <a:blip r:embed="rId2">
            <a:grayscl/>
            <a:alphaModFix amt="70000"/>
          </a:blip>
          <a:srcRect b="48195"/>
          <a:stretch/>
        </p:blipFill>
        <p:spPr>
          <a:xfrm>
            <a:off x="350183" y="1568377"/>
            <a:ext cx="5459628" cy="4168922"/>
          </a:xfrm>
          <a:prstGeom prst="rect">
            <a:avLst/>
          </a:prstGeom>
        </p:spPr>
      </p:pic>
      <p:pic>
        <p:nvPicPr>
          <p:cNvPr id="6" name="Picture 5">
            <a:extLst>
              <a:ext uri="{FF2B5EF4-FFF2-40B4-BE49-F238E27FC236}">
                <a16:creationId xmlns:a16="http://schemas.microsoft.com/office/drawing/2014/main" id="{5909C20C-A658-F7FE-10E4-6EBCE7492432}"/>
              </a:ext>
            </a:extLst>
          </p:cNvPr>
          <p:cNvPicPr>
            <a:picLocks noChangeAspect="1"/>
          </p:cNvPicPr>
          <p:nvPr/>
        </p:nvPicPr>
        <p:blipFill>
          <a:blip r:embed="rId2">
            <a:grayscl/>
            <a:alphaModFix amt="70000"/>
          </a:blip>
          <a:srcRect t="51944" b="4143"/>
          <a:stretch/>
        </p:blipFill>
        <p:spPr>
          <a:xfrm>
            <a:off x="6382191" y="2047875"/>
            <a:ext cx="5459630" cy="3533775"/>
          </a:xfrm>
          <a:prstGeom prst="rect">
            <a:avLst/>
          </a:prstGeom>
        </p:spPr>
      </p:pic>
      <p:pic>
        <p:nvPicPr>
          <p:cNvPr id="4" name="Picture 3" descr="A diagram of the internal organs of the human body&#10;&#10;Description automatically generated">
            <a:extLst>
              <a:ext uri="{FF2B5EF4-FFF2-40B4-BE49-F238E27FC236}">
                <a16:creationId xmlns:a16="http://schemas.microsoft.com/office/drawing/2014/main" id="{3F47B1E4-B7D7-14EE-2321-B01466EEF4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628" y="1671411"/>
            <a:ext cx="4971040" cy="1779814"/>
          </a:xfrm>
          <a:prstGeom prst="rect">
            <a:avLst/>
          </a:prstGeom>
        </p:spPr>
      </p:pic>
      <p:pic>
        <p:nvPicPr>
          <p:cNvPr id="8" name="Picture 7" descr="A diagram of the human body&#10;&#10;Description automatically generated">
            <a:extLst>
              <a:ext uri="{FF2B5EF4-FFF2-40B4-BE49-F238E27FC236}">
                <a16:creationId xmlns:a16="http://schemas.microsoft.com/office/drawing/2014/main" id="{9E5CB014-62DA-F600-409E-E06FCFBF1C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74962" y="1922173"/>
            <a:ext cx="4712188" cy="990690"/>
          </a:xfrm>
          <a:prstGeom prst="rect">
            <a:avLst/>
          </a:prstGeom>
        </p:spPr>
      </p:pic>
    </p:spTree>
    <p:extLst>
      <p:ext uri="{BB962C8B-B14F-4D97-AF65-F5344CB8AC3E}">
        <p14:creationId xmlns:p14="http://schemas.microsoft.com/office/powerpoint/2010/main" val="3618534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206EA-9CCE-8FB5-111A-313912967AFC}"/>
              </a:ext>
            </a:extLst>
          </p:cNvPr>
          <p:cNvSpPr>
            <a:spLocks noGrp="1"/>
          </p:cNvSpPr>
          <p:nvPr>
            <p:ph type="title"/>
          </p:nvPr>
        </p:nvSpPr>
        <p:spPr/>
        <p:txBody>
          <a:bodyPr/>
          <a:lstStyle/>
          <a:p>
            <a:r>
              <a:rPr lang="it-IT" dirty="0"/>
              <a:t>IV </a:t>
            </a:r>
            <a:r>
              <a:rPr lang="en-GB" dirty="0"/>
              <a:t>- Trochlear</a:t>
            </a:r>
          </a:p>
        </p:txBody>
      </p:sp>
      <p:pic>
        <p:nvPicPr>
          <p:cNvPr id="14" name="Picture 13" descr="A profile of a person with a skull&#10;&#10;Description automatically generated">
            <a:extLst>
              <a:ext uri="{FF2B5EF4-FFF2-40B4-BE49-F238E27FC236}">
                <a16:creationId xmlns:a16="http://schemas.microsoft.com/office/drawing/2014/main" id="{AE4F3BD1-8940-CCF7-5CE1-2419B74CF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00" y="1407600"/>
            <a:ext cx="3991182" cy="4792441"/>
          </a:xfrm>
          <a:prstGeom prst="rect">
            <a:avLst/>
          </a:prstGeom>
        </p:spPr>
      </p:pic>
      <p:sp>
        <p:nvSpPr>
          <p:cNvPr id="4" name="Oval 3">
            <a:extLst>
              <a:ext uri="{FF2B5EF4-FFF2-40B4-BE49-F238E27FC236}">
                <a16:creationId xmlns:a16="http://schemas.microsoft.com/office/drawing/2014/main" id="{8547D945-938C-0C9E-49CC-E42B4AF0C86D}"/>
              </a:ext>
            </a:extLst>
          </p:cNvPr>
          <p:cNvSpPr/>
          <p:nvPr/>
        </p:nvSpPr>
        <p:spPr>
          <a:xfrm>
            <a:off x="1691640" y="1598295"/>
            <a:ext cx="101600" cy="101600"/>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Freeform: Shape 17">
            <a:extLst>
              <a:ext uri="{FF2B5EF4-FFF2-40B4-BE49-F238E27FC236}">
                <a16:creationId xmlns:a16="http://schemas.microsoft.com/office/drawing/2014/main" id="{FD2988A7-6F3D-1437-4CE3-F7AB1FA879C3}"/>
              </a:ext>
            </a:extLst>
          </p:cNvPr>
          <p:cNvSpPr/>
          <p:nvPr/>
        </p:nvSpPr>
        <p:spPr>
          <a:xfrm>
            <a:off x="1257288" y="1535863"/>
            <a:ext cx="2567000" cy="2772014"/>
          </a:xfrm>
          <a:custGeom>
            <a:avLst/>
            <a:gdLst>
              <a:gd name="connsiteX0" fmla="*/ 476262 w 2567000"/>
              <a:gd name="connsiteY0" fmla="*/ 97675 h 2772014"/>
              <a:gd name="connsiteX1" fmla="*/ 338150 w 2567000"/>
              <a:gd name="connsiteY1" fmla="*/ 7187 h 2772014"/>
              <a:gd name="connsiteX2" fmla="*/ 209562 w 2567000"/>
              <a:gd name="connsiteY2" fmla="*/ 31000 h 2772014"/>
              <a:gd name="connsiteX3" fmla="*/ 12 w 2567000"/>
              <a:gd name="connsiteY3" fmla="*/ 231025 h 2772014"/>
              <a:gd name="connsiteX4" fmla="*/ 219087 w 2567000"/>
              <a:gd name="connsiteY4" fmla="*/ 307225 h 2772014"/>
              <a:gd name="connsiteX5" fmla="*/ 495312 w 2567000"/>
              <a:gd name="connsiteY5" fmla="*/ 254837 h 2772014"/>
              <a:gd name="connsiteX6" fmla="*/ 700100 w 2567000"/>
              <a:gd name="connsiteY6" fmla="*/ 150062 h 2772014"/>
              <a:gd name="connsiteX7" fmla="*/ 919175 w 2567000"/>
              <a:gd name="connsiteY7" fmla="*/ 183400 h 2772014"/>
              <a:gd name="connsiteX8" fmla="*/ 1128725 w 2567000"/>
              <a:gd name="connsiteY8" fmla="*/ 350087 h 2772014"/>
              <a:gd name="connsiteX9" fmla="*/ 1338275 w 2567000"/>
              <a:gd name="connsiteY9" fmla="*/ 893012 h 2772014"/>
              <a:gd name="connsiteX10" fmla="*/ 1519250 w 2567000"/>
              <a:gd name="connsiteY10" fmla="*/ 1688350 h 2772014"/>
              <a:gd name="connsiteX11" fmla="*/ 1752612 w 2567000"/>
              <a:gd name="connsiteY11" fmla="*/ 2336050 h 2772014"/>
              <a:gd name="connsiteX12" fmla="*/ 1924062 w 2567000"/>
              <a:gd name="connsiteY12" fmla="*/ 2602750 h 2772014"/>
              <a:gd name="connsiteX13" fmla="*/ 2247912 w 2567000"/>
              <a:gd name="connsiteY13" fmla="*/ 2769437 h 2772014"/>
              <a:gd name="connsiteX14" fmla="*/ 2567000 w 2567000"/>
              <a:gd name="connsiteY14" fmla="*/ 2688475 h 2772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67000" h="2772014">
                <a:moveTo>
                  <a:pt x="476262" y="97675"/>
                </a:moveTo>
                <a:cubicBezTo>
                  <a:pt x="429431" y="57987"/>
                  <a:pt x="382600" y="18300"/>
                  <a:pt x="338150" y="7187"/>
                </a:cubicBezTo>
                <a:cubicBezTo>
                  <a:pt x="293700" y="-3926"/>
                  <a:pt x="265918" y="-6306"/>
                  <a:pt x="209562" y="31000"/>
                </a:cubicBezTo>
                <a:cubicBezTo>
                  <a:pt x="153206" y="68306"/>
                  <a:pt x="-1575" y="184988"/>
                  <a:pt x="12" y="231025"/>
                </a:cubicBezTo>
                <a:cubicBezTo>
                  <a:pt x="1599" y="277062"/>
                  <a:pt x="136537" y="303256"/>
                  <a:pt x="219087" y="307225"/>
                </a:cubicBezTo>
                <a:cubicBezTo>
                  <a:pt x="301637" y="311194"/>
                  <a:pt x="415143" y="281031"/>
                  <a:pt x="495312" y="254837"/>
                </a:cubicBezTo>
                <a:cubicBezTo>
                  <a:pt x="575481" y="228643"/>
                  <a:pt x="629456" y="161968"/>
                  <a:pt x="700100" y="150062"/>
                </a:cubicBezTo>
                <a:cubicBezTo>
                  <a:pt x="770744" y="138156"/>
                  <a:pt x="847738" y="150063"/>
                  <a:pt x="919175" y="183400"/>
                </a:cubicBezTo>
                <a:cubicBezTo>
                  <a:pt x="990612" y="216737"/>
                  <a:pt x="1058875" y="231818"/>
                  <a:pt x="1128725" y="350087"/>
                </a:cubicBezTo>
                <a:cubicBezTo>
                  <a:pt x="1198575" y="468356"/>
                  <a:pt x="1273188" y="669968"/>
                  <a:pt x="1338275" y="893012"/>
                </a:cubicBezTo>
                <a:cubicBezTo>
                  <a:pt x="1403362" y="1116056"/>
                  <a:pt x="1450194" y="1447844"/>
                  <a:pt x="1519250" y="1688350"/>
                </a:cubicBezTo>
                <a:cubicBezTo>
                  <a:pt x="1588306" y="1928856"/>
                  <a:pt x="1685143" y="2183650"/>
                  <a:pt x="1752612" y="2336050"/>
                </a:cubicBezTo>
                <a:cubicBezTo>
                  <a:pt x="1820081" y="2488450"/>
                  <a:pt x="1841512" y="2530519"/>
                  <a:pt x="1924062" y="2602750"/>
                </a:cubicBezTo>
                <a:cubicBezTo>
                  <a:pt x="2006612" y="2674981"/>
                  <a:pt x="2140756" y="2755150"/>
                  <a:pt x="2247912" y="2769437"/>
                </a:cubicBezTo>
                <a:cubicBezTo>
                  <a:pt x="2355068" y="2783724"/>
                  <a:pt x="2461034" y="2736099"/>
                  <a:pt x="2567000" y="2688475"/>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DD04A266-BC2A-4D08-2C32-2A05B6AA8B9A}"/>
              </a:ext>
            </a:extLst>
          </p:cNvPr>
          <p:cNvSpPr/>
          <p:nvPr/>
        </p:nvSpPr>
        <p:spPr>
          <a:xfrm>
            <a:off x="1638300" y="1541764"/>
            <a:ext cx="201612" cy="20161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29E31C85-E805-C2B4-5849-ADCCEFD5C438}"/>
              </a:ext>
            </a:extLst>
          </p:cNvPr>
          <p:cNvSpPr txBox="1"/>
          <p:nvPr/>
        </p:nvSpPr>
        <p:spPr>
          <a:xfrm>
            <a:off x="2431530" y="1402520"/>
            <a:ext cx="761747" cy="430887"/>
          </a:xfrm>
          <a:prstGeom prst="rect">
            <a:avLst/>
          </a:prstGeom>
          <a:noFill/>
        </p:spPr>
        <p:txBody>
          <a:bodyPr wrap="none" rtlCol="0">
            <a:spAutoFit/>
          </a:bodyPr>
          <a:lstStyle/>
          <a:p>
            <a:r>
              <a:rPr lang="en-GB" sz="1100" dirty="0"/>
              <a:t>Trochlear</a:t>
            </a:r>
          </a:p>
          <a:p>
            <a:r>
              <a:rPr lang="en-GB" sz="1100" dirty="0"/>
              <a:t>Nucleus</a:t>
            </a:r>
          </a:p>
        </p:txBody>
      </p:sp>
      <p:cxnSp>
        <p:nvCxnSpPr>
          <p:cNvPr id="21" name="Straight Connector 20">
            <a:extLst>
              <a:ext uri="{FF2B5EF4-FFF2-40B4-BE49-F238E27FC236}">
                <a16:creationId xmlns:a16="http://schemas.microsoft.com/office/drawing/2014/main" id="{38D34623-E99C-B637-C194-3B92499E6BA4}"/>
              </a:ext>
            </a:extLst>
          </p:cNvPr>
          <p:cNvCxnSpPr>
            <a:cxnSpLocks/>
            <a:endCxn id="20" idx="1"/>
          </p:cNvCxnSpPr>
          <p:nvPr/>
        </p:nvCxnSpPr>
        <p:spPr>
          <a:xfrm flipV="1">
            <a:off x="1826381" y="1617964"/>
            <a:ext cx="605149" cy="634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2" name="Group 21">
            <a:extLst>
              <a:ext uri="{FF2B5EF4-FFF2-40B4-BE49-F238E27FC236}">
                <a16:creationId xmlns:a16="http://schemas.microsoft.com/office/drawing/2014/main" id="{98B86759-9D47-4215-6386-06247083AEB8}"/>
              </a:ext>
            </a:extLst>
          </p:cNvPr>
          <p:cNvGrpSpPr/>
          <p:nvPr/>
        </p:nvGrpSpPr>
        <p:grpSpPr>
          <a:xfrm>
            <a:off x="5523364" y="2481934"/>
            <a:ext cx="6273077" cy="1523816"/>
            <a:chOff x="5523364" y="2481934"/>
            <a:chExt cx="6273077" cy="1523816"/>
          </a:xfrm>
        </p:grpSpPr>
        <p:sp>
          <p:nvSpPr>
            <p:cNvPr id="23" name="Rectangle 22">
              <a:extLst>
                <a:ext uri="{FF2B5EF4-FFF2-40B4-BE49-F238E27FC236}">
                  <a16:creationId xmlns:a16="http://schemas.microsoft.com/office/drawing/2014/main" id="{D5B3BBD4-6100-607E-BE62-63B69020DAB0}"/>
                </a:ext>
              </a:extLst>
            </p:cNvPr>
            <p:cNvSpPr/>
            <p:nvPr/>
          </p:nvSpPr>
          <p:spPr>
            <a:xfrm>
              <a:off x="5523364" y="2646198"/>
              <a:ext cx="908720" cy="249898"/>
            </a:xfrm>
            <a:prstGeom prst="rect">
              <a:avLst/>
            </a:prstGeom>
            <a:gradFill flip="none" rotWithShape="1">
              <a:gsLst>
                <a:gs pos="100000">
                  <a:srgbClr val="F6ECDD"/>
                </a:gs>
                <a:gs pos="0">
                  <a:schemeClr val="bg1"/>
                </a:gs>
              </a:gsLst>
              <a:path path="circle">
                <a:fillToRect l="50000" t="50000" r="50000" b="50000"/>
              </a:path>
              <a:tileRect/>
            </a:gradFill>
            <a:ln w="9525">
              <a:solidFill>
                <a:srgbClr val="C0B3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Midbrain</a:t>
              </a:r>
            </a:p>
          </p:txBody>
        </p:sp>
        <p:sp>
          <p:nvSpPr>
            <p:cNvPr id="24" name="TextBox 23">
              <a:extLst>
                <a:ext uri="{FF2B5EF4-FFF2-40B4-BE49-F238E27FC236}">
                  <a16:creationId xmlns:a16="http://schemas.microsoft.com/office/drawing/2014/main" id="{939E897A-8C4E-13C1-517A-C08586A62F73}"/>
                </a:ext>
              </a:extLst>
            </p:cNvPr>
            <p:cNvSpPr txBox="1"/>
            <p:nvPr/>
          </p:nvSpPr>
          <p:spPr>
            <a:xfrm>
              <a:off x="8655422" y="2941793"/>
              <a:ext cx="742578" cy="600164"/>
            </a:xfrm>
            <a:prstGeom prst="rect">
              <a:avLst/>
            </a:prstGeom>
            <a:noFill/>
          </p:spPr>
          <p:txBody>
            <a:bodyPr wrap="square" rtlCol="0">
              <a:spAutoFit/>
            </a:bodyPr>
            <a:lstStyle/>
            <a:p>
              <a:pPr algn="ctr"/>
              <a:r>
                <a:rPr lang="en-GB" sz="1100" dirty="0"/>
                <a:t>Superior orbital</a:t>
              </a:r>
            </a:p>
            <a:p>
              <a:pPr algn="ctr"/>
              <a:r>
                <a:rPr lang="en-GB" sz="1100" dirty="0"/>
                <a:t>fissure</a:t>
              </a:r>
            </a:p>
          </p:txBody>
        </p:sp>
        <p:sp>
          <p:nvSpPr>
            <p:cNvPr id="25" name="Oval 24">
              <a:extLst>
                <a:ext uri="{FF2B5EF4-FFF2-40B4-BE49-F238E27FC236}">
                  <a16:creationId xmlns:a16="http://schemas.microsoft.com/office/drawing/2014/main" id="{DBB62309-AA22-1348-0540-4863246C6717}"/>
                </a:ext>
              </a:extLst>
            </p:cNvPr>
            <p:cNvSpPr/>
            <p:nvPr/>
          </p:nvSpPr>
          <p:spPr>
            <a:xfrm>
              <a:off x="6868295" y="3358050"/>
              <a:ext cx="213360" cy="647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65E9829E-6299-7AD7-4F6E-5A02BB953A7B}"/>
                </a:ext>
              </a:extLst>
            </p:cNvPr>
            <p:cNvSpPr/>
            <p:nvPr/>
          </p:nvSpPr>
          <p:spPr>
            <a:xfrm>
              <a:off x="7656963" y="2525361"/>
              <a:ext cx="1069972" cy="408478"/>
            </a:xfrm>
            <a:prstGeom prst="rect">
              <a:avLst/>
            </a:prstGeom>
            <a:gradFill flip="none" rotWithShape="1">
              <a:gsLst>
                <a:gs pos="100000">
                  <a:srgbClr val="F6ECDD"/>
                </a:gs>
                <a:gs pos="0">
                  <a:schemeClr val="bg1"/>
                </a:gs>
              </a:gsLst>
              <a:path path="circle">
                <a:fillToRect l="50000" t="50000" r="50000" b="50000"/>
              </a:path>
              <a:tileRect/>
            </a:gradFill>
            <a:ln w="9525">
              <a:solidFill>
                <a:srgbClr val="C0B3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Cavernous sinus</a:t>
              </a:r>
            </a:p>
          </p:txBody>
        </p:sp>
        <p:grpSp>
          <p:nvGrpSpPr>
            <p:cNvPr id="27" name="Group 26">
              <a:extLst>
                <a:ext uri="{FF2B5EF4-FFF2-40B4-BE49-F238E27FC236}">
                  <a16:creationId xmlns:a16="http://schemas.microsoft.com/office/drawing/2014/main" id="{CFB2795A-B3AA-A422-F240-709836A0F58A}"/>
                </a:ext>
              </a:extLst>
            </p:cNvPr>
            <p:cNvGrpSpPr/>
            <p:nvPr/>
          </p:nvGrpSpPr>
          <p:grpSpPr>
            <a:xfrm>
              <a:off x="8933831" y="3518711"/>
              <a:ext cx="221456" cy="322226"/>
              <a:chOff x="9659506" y="3856427"/>
              <a:chExt cx="221456" cy="322226"/>
            </a:xfrm>
          </p:grpSpPr>
          <p:sp>
            <p:nvSpPr>
              <p:cNvPr id="49" name="Oval 48">
                <a:extLst>
                  <a:ext uri="{FF2B5EF4-FFF2-40B4-BE49-F238E27FC236}">
                    <a16:creationId xmlns:a16="http://schemas.microsoft.com/office/drawing/2014/main" id="{D719B00F-4043-902B-FE84-B2D68EC41B59}"/>
                  </a:ext>
                </a:extLst>
              </p:cNvPr>
              <p:cNvSpPr/>
              <p:nvPr/>
            </p:nvSpPr>
            <p:spPr>
              <a:xfrm>
                <a:off x="9709512" y="3856429"/>
                <a:ext cx="171450" cy="322223"/>
              </a:xfrm>
              <a:prstGeom prst="ellipse">
                <a:avLst/>
              </a:prstGeom>
              <a:solidFill>
                <a:srgbClr val="E2D2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Rectangle 49">
                <a:extLst>
                  <a:ext uri="{FF2B5EF4-FFF2-40B4-BE49-F238E27FC236}">
                    <a16:creationId xmlns:a16="http://schemas.microsoft.com/office/drawing/2014/main" id="{681A73DE-DBF8-56EF-CDF2-6F1A131E0431}"/>
                  </a:ext>
                </a:extLst>
              </p:cNvPr>
              <p:cNvSpPr/>
              <p:nvPr/>
            </p:nvSpPr>
            <p:spPr>
              <a:xfrm>
                <a:off x="9705975" y="3857625"/>
                <a:ext cx="98787" cy="321027"/>
              </a:xfrm>
              <a:prstGeom prst="rect">
                <a:avLst/>
              </a:prstGeom>
              <a:solidFill>
                <a:srgbClr val="E2D2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50">
                <a:extLst>
                  <a:ext uri="{FF2B5EF4-FFF2-40B4-BE49-F238E27FC236}">
                    <a16:creationId xmlns:a16="http://schemas.microsoft.com/office/drawing/2014/main" id="{EEF298DC-C3D5-B4E5-850D-62E5B1048031}"/>
                  </a:ext>
                </a:extLst>
              </p:cNvPr>
              <p:cNvSpPr/>
              <p:nvPr/>
            </p:nvSpPr>
            <p:spPr>
              <a:xfrm>
                <a:off x="9659506" y="3856427"/>
                <a:ext cx="171450" cy="322226"/>
              </a:xfrm>
              <a:prstGeom prst="ellipse">
                <a:avLst/>
              </a:prstGeom>
              <a:gradFill>
                <a:gsLst>
                  <a:gs pos="92000">
                    <a:srgbClr val="998377"/>
                  </a:gs>
                  <a:gs pos="0">
                    <a:schemeClr val="bg1"/>
                  </a:gs>
                </a:gsLst>
                <a:path path="circle">
                  <a:fillToRect l="50000" t="50000" r="50000" b="50000"/>
                </a:path>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8" name="Oval 27">
              <a:extLst>
                <a:ext uri="{FF2B5EF4-FFF2-40B4-BE49-F238E27FC236}">
                  <a16:creationId xmlns:a16="http://schemas.microsoft.com/office/drawing/2014/main" id="{AE35F5A7-6E02-5534-69FD-76A9B3A3D158}"/>
                </a:ext>
              </a:extLst>
            </p:cNvPr>
            <p:cNvSpPr/>
            <p:nvPr/>
          </p:nvSpPr>
          <p:spPr>
            <a:xfrm>
              <a:off x="6354214" y="3570299"/>
              <a:ext cx="155740" cy="155740"/>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9" name="Straight Arrow Connector 28">
              <a:extLst>
                <a:ext uri="{FF2B5EF4-FFF2-40B4-BE49-F238E27FC236}">
                  <a16:creationId xmlns:a16="http://schemas.microsoft.com/office/drawing/2014/main" id="{5C81B7AC-5151-6444-7A2D-9A6B5A319D9C}"/>
                </a:ext>
              </a:extLst>
            </p:cNvPr>
            <p:cNvCxnSpPr>
              <a:cxnSpLocks/>
              <a:stCxn id="28" idx="6"/>
            </p:cNvCxnSpPr>
            <p:nvPr/>
          </p:nvCxnSpPr>
          <p:spPr>
            <a:xfrm flipV="1">
              <a:off x="6509954" y="3638774"/>
              <a:ext cx="2979934" cy="9395"/>
            </a:xfrm>
            <a:prstGeom prst="straightConnector1">
              <a:avLst/>
            </a:prstGeom>
            <a:ln w="22225">
              <a:solidFill>
                <a:srgbClr val="C00000"/>
              </a:solidFill>
              <a:tailEnd type="non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72487896-F6A1-FDA7-0F3D-2AFEC5F71D24}"/>
                </a:ext>
              </a:extLst>
            </p:cNvPr>
            <p:cNvSpPr txBox="1"/>
            <p:nvPr/>
          </p:nvSpPr>
          <p:spPr>
            <a:xfrm>
              <a:off x="6601315" y="2481934"/>
              <a:ext cx="825867" cy="430887"/>
            </a:xfrm>
            <a:prstGeom prst="rect">
              <a:avLst/>
            </a:prstGeom>
            <a:noFill/>
          </p:spPr>
          <p:txBody>
            <a:bodyPr wrap="none" rtlCol="0">
              <a:spAutoFit/>
            </a:bodyPr>
            <a:lstStyle/>
            <a:p>
              <a:r>
                <a:rPr lang="en-GB" sz="1100" dirty="0"/>
                <a:t>Cerebellar</a:t>
              </a:r>
            </a:p>
            <a:p>
              <a:r>
                <a:rPr lang="en-GB" sz="1100" dirty="0"/>
                <a:t>peduncles</a:t>
              </a:r>
            </a:p>
          </p:txBody>
        </p:sp>
        <p:sp>
          <p:nvSpPr>
            <p:cNvPr id="31" name="Rectangle 30">
              <a:extLst>
                <a:ext uri="{FF2B5EF4-FFF2-40B4-BE49-F238E27FC236}">
                  <a16:creationId xmlns:a16="http://schemas.microsoft.com/office/drawing/2014/main" id="{04A60A54-C518-E661-4B25-B7B4832F2F94}"/>
                </a:ext>
              </a:extLst>
            </p:cNvPr>
            <p:cNvSpPr/>
            <p:nvPr/>
          </p:nvSpPr>
          <p:spPr>
            <a:xfrm>
              <a:off x="9369649" y="2604651"/>
              <a:ext cx="908720" cy="249898"/>
            </a:xfrm>
            <a:prstGeom prst="rect">
              <a:avLst/>
            </a:prstGeom>
            <a:gradFill flip="none" rotWithShape="1">
              <a:gsLst>
                <a:gs pos="100000">
                  <a:srgbClr val="F6ECDD"/>
                </a:gs>
                <a:gs pos="0">
                  <a:schemeClr val="bg1"/>
                </a:gs>
              </a:gsLst>
              <a:path path="circle">
                <a:fillToRect l="50000" t="50000" r="50000" b="50000"/>
              </a:path>
              <a:tileRect/>
            </a:gradFill>
            <a:ln w="9525">
              <a:solidFill>
                <a:srgbClr val="C0B3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Orbit</a:t>
              </a:r>
            </a:p>
          </p:txBody>
        </p:sp>
        <p:sp>
          <p:nvSpPr>
            <p:cNvPr id="32" name="Freeform: Shape 31">
              <a:extLst>
                <a:ext uri="{FF2B5EF4-FFF2-40B4-BE49-F238E27FC236}">
                  <a16:creationId xmlns:a16="http://schemas.microsoft.com/office/drawing/2014/main" id="{036F3EFD-1D43-8534-8159-9670777E1BA9}"/>
                </a:ext>
              </a:extLst>
            </p:cNvPr>
            <p:cNvSpPr/>
            <p:nvPr/>
          </p:nvSpPr>
          <p:spPr>
            <a:xfrm>
              <a:off x="9464260" y="3435785"/>
              <a:ext cx="919179" cy="203200"/>
            </a:xfrm>
            <a:custGeom>
              <a:avLst/>
              <a:gdLst>
                <a:gd name="connsiteX0" fmla="*/ 0 w 609600"/>
                <a:gd name="connsiteY0" fmla="*/ 203200 h 203200"/>
                <a:gd name="connsiteX1" fmla="*/ 283028 w 609600"/>
                <a:gd name="connsiteY1" fmla="*/ 36285 h 203200"/>
                <a:gd name="connsiteX2" fmla="*/ 609600 w 609600"/>
                <a:gd name="connsiteY2" fmla="*/ 0 h 203200"/>
                <a:gd name="connsiteX0" fmla="*/ 0 w 609600"/>
                <a:gd name="connsiteY0" fmla="*/ 203200 h 203200"/>
                <a:gd name="connsiteX1" fmla="*/ 283028 w 609600"/>
                <a:gd name="connsiteY1" fmla="*/ 36285 h 203200"/>
                <a:gd name="connsiteX2" fmla="*/ 609600 w 609600"/>
                <a:gd name="connsiteY2" fmla="*/ 0 h 203200"/>
              </a:gdLst>
              <a:ahLst/>
              <a:cxnLst>
                <a:cxn ang="0">
                  <a:pos x="connsiteX0" y="connsiteY0"/>
                </a:cxn>
                <a:cxn ang="0">
                  <a:pos x="connsiteX1" y="connsiteY1"/>
                </a:cxn>
                <a:cxn ang="0">
                  <a:pos x="connsiteX2" y="connsiteY2"/>
                </a:cxn>
              </a:cxnLst>
              <a:rect l="l" t="t" r="r" b="b"/>
              <a:pathLst>
                <a:path w="609600" h="203200">
                  <a:moveTo>
                    <a:pt x="0" y="203200"/>
                  </a:moveTo>
                  <a:cubicBezTo>
                    <a:pt x="152626" y="201763"/>
                    <a:pt x="181428" y="70152"/>
                    <a:pt x="283028" y="36285"/>
                  </a:cubicBezTo>
                  <a:cubicBezTo>
                    <a:pt x="384628" y="2418"/>
                    <a:pt x="497114" y="1209"/>
                    <a:pt x="609600" y="0"/>
                  </a:cubicBezTo>
                </a:path>
              </a:pathLst>
            </a:custGeom>
            <a:noFill/>
            <a:ln>
              <a:solidFill>
                <a:srgbClr val="C00000"/>
              </a:solidFill>
              <a:tailEnd type="stealth"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extBox 33">
              <a:extLst>
                <a:ext uri="{FF2B5EF4-FFF2-40B4-BE49-F238E27FC236}">
                  <a16:creationId xmlns:a16="http://schemas.microsoft.com/office/drawing/2014/main" id="{214D7A87-407E-5219-F2C8-1F996FB28C1F}"/>
                </a:ext>
              </a:extLst>
            </p:cNvPr>
            <p:cNvSpPr txBox="1"/>
            <p:nvPr/>
          </p:nvSpPr>
          <p:spPr>
            <a:xfrm>
              <a:off x="10449699" y="3298195"/>
              <a:ext cx="1346742" cy="261610"/>
            </a:xfrm>
            <a:prstGeom prst="rect">
              <a:avLst/>
            </a:prstGeom>
            <a:noFill/>
          </p:spPr>
          <p:txBody>
            <a:bodyPr wrap="square" rtlCol="0">
              <a:spAutoFit/>
            </a:bodyPr>
            <a:lstStyle/>
            <a:p>
              <a:r>
                <a:rPr lang="en-GB" sz="1100" dirty="0"/>
                <a:t>Superior oblique</a:t>
              </a:r>
            </a:p>
          </p:txBody>
        </p:sp>
        <p:cxnSp>
          <p:nvCxnSpPr>
            <p:cNvPr id="39" name="Straight Connector 38">
              <a:extLst>
                <a:ext uri="{FF2B5EF4-FFF2-40B4-BE49-F238E27FC236}">
                  <a16:creationId xmlns:a16="http://schemas.microsoft.com/office/drawing/2014/main" id="{52CAD570-2AB0-8592-0EAB-6C182A1CDAAA}"/>
                </a:ext>
              </a:extLst>
            </p:cNvPr>
            <p:cNvCxnSpPr>
              <a:cxnSpLocks/>
              <a:stCxn id="24" idx="3"/>
              <a:endCxn id="24" idx="3"/>
            </p:cNvCxnSpPr>
            <p:nvPr/>
          </p:nvCxnSpPr>
          <p:spPr>
            <a:xfrm>
              <a:off x="9398000" y="3241875"/>
              <a:ext cx="0" cy="0"/>
            </a:xfrm>
            <a:prstGeom prst="line">
              <a:avLst/>
            </a:prstGeom>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B651AA47-F970-9C5D-2CE6-8D87245F2715}"/>
                </a:ext>
              </a:extLst>
            </p:cNvPr>
            <p:cNvSpPr txBox="1"/>
            <p:nvPr/>
          </p:nvSpPr>
          <p:spPr>
            <a:xfrm>
              <a:off x="5873310" y="3117749"/>
              <a:ext cx="923651" cy="430887"/>
            </a:xfrm>
            <a:prstGeom prst="rect">
              <a:avLst/>
            </a:prstGeom>
            <a:noFill/>
          </p:spPr>
          <p:txBody>
            <a:bodyPr wrap="none" rtlCol="0">
              <a:spAutoFit/>
            </a:bodyPr>
            <a:lstStyle/>
            <a:p>
              <a:r>
                <a:rPr lang="en-GB" sz="1100" dirty="0"/>
                <a:t>Oculomotor</a:t>
              </a:r>
            </a:p>
            <a:p>
              <a:r>
                <a:rPr lang="en-GB" sz="1100" dirty="0"/>
                <a:t>Nucleus</a:t>
              </a:r>
            </a:p>
          </p:txBody>
        </p:sp>
        <p:sp>
          <p:nvSpPr>
            <p:cNvPr id="52" name="TextBox 51">
              <a:extLst>
                <a:ext uri="{FF2B5EF4-FFF2-40B4-BE49-F238E27FC236}">
                  <a16:creationId xmlns:a16="http://schemas.microsoft.com/office/drawing/2014/main" id="{1D9DE644-68B6-7586-65FF-E24E7891C50D}"/>
                </a:ext>
              </a:extLst>
            </p:cNvPr>
            <p:cNvSpPr txBox="1"/>
            <p:nvPr/>
          </p:nvSpPr>
          <p:spPr>
            <a:xfrm>
              <a:off x="10449699" y="3054049"/>
              <a:ext cx="1346742" cy="261610"/>
            </a:xfrm>
            <a:prstGeom prst="rect">
              <a:avLst/>
            </a:prstGeom>
            <a:noFill/>
          </p:spPr>
          <p:txBody>
            <a:bodyPr wrap="square" rtlCol="0">
              <a:spAutoFit/>
            </a:bodyPr>
            <a:lstStyle/>
            <a:p>
              <a:r>
                <a:rPr lang="en-GB" sz="1100" b="1" dirty="0"/>
                <a:t>Eye muscles</a:t>
              </a:r>
            </a:p>
          </p:txBody>
        </p:sp>
      </p:grpSp>
    </p:spTree>
    <p:extLst>
      <p:ext uri="{BB962C8B-B14F-4D97-AF65-F5344CB8AC3E}">
        <p14:creationId xmlns:p14="http://schemas.microsoft.com/office/powerpoint/2010/main" val="9151397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83115-508F-FE1C-A355-AF8F309DFE41}"/>
              </a:ext>
            </a:extLst>
          </p:cNvPr>
          <p:cNvSpPr>
            <a:spLocks noGrp="1"/>
          </p:cNvSpPr>
          <p:nvPr>
            <p:ph type="title"/>
          </p:nvPr>
        </p:nvSpPr>
        <p:spPr/>
        <p:txBody>
          <a:bodyPr/>
          <a:lstStyle/>
          <a:p>
            <a:r>
              <a:rPr lang="en-GB" dirty="0"/>
              <a:t>III - Oculomotor</a:t>
            </a:r>
          </a:p>
        </p:txBody>
      </p:sp>
      <p:pic>
        <p:nvPicPr>
          <p:cNvPr id="6" name="Content Placeholder 5" descr="A profile of a person with a skull&#10;&#10;Description automatically generated">
            <a:extLst>
              <a:ext uri="{FF2B5EF4-FFF2-40B4-BE49-F238E27FC236}">
                <a16:creationId xmlns:a16="http://schemas.microsoft.com/office/drawing/2014/main" id="{EE512A00-88C3-3BA4-8AD2-23FA3C513E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4800" y="1407600"/>
            <a:ext cx="3991182" cy="4792441"/>
          </a:xfrm>
        </p:spPr>
      </p:pic>
      <p:grpSp>
        <p:nvGrpSpPr>
          <p:cNvPr id="26" name="Group 25">
            <a:extLst>
              <a:ext uri="{FF2B5EF4-FFF2-40B4-BE49-F238E27FC236}">
                <a16:creationId xmlns:a16="http://schemas.microsoft.com/office/drawing/2014/main" id="{FAEA7A85-C4E5-59E5-302B-DA74967C05CB}"/>
              </a:ext>
            </a:extLst>
          </p:cNvPr>
          <p:cNvGrpSpPr/>
          <p:nvPr/>
        </p:nvGrpSpPr>
        <p:grpSpPr>
          <a:xfrm>
            <a:off x="1758950" y="1463675"/>
            <a:ext cx="2296418" cy="3034575"/>
            <a:chOff x="1758950" y="1463675"/>
            <a:chExt cx="2296418" cy="3034575"/>
          </a:xfrm>
        </p:grpSpPr>
        <p:sp>
          <p:nvSpPr>
            <p:cNvPr id="8" name="Oval 7">
              <a:extLst>
                <a:ext uri="{FF2B5EF4-FFF2-40B4-BE49-F238E27FC236}">
                  <a16:creationId xmlns:a16="http://schemas.microsoft.com/office/drawing/2014/main" id="{A8018E72-4961-E268-7238-DDD4F63FF9CA}"/>
                </a:ext>
              </a:extLst>
            </p:cNvPr>
            <p:cNvSpPr/>
            <p:nvPr/>
          </p:nvSpPr>
          <p:spPr>
            <a:xfrm>
              <a:off x="1758950" y="1463675"/>
              <a:ext cx="101600" cy="101600"/>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8">
              <a:extLst>
                <a:ext uri="{FF2B5EF4-FFF2-40B4-BE49-F238E27FC236}">
                  <a16:creationId xmlns:a16="http://schemas.microsoft.com/office/drawing/2014/main" id="{021297EA-C85D-BF2B-DDD9-3E5AA9F73CBB}"/>
                </a:ext>
              </a:extLst>
            </p:cNvPr>
            <p:cNvSpPr/>
            <p:nvPr/>
          </p:nvSpPr>
          <p:spPr>
            <a:xfrm>
              <a:off x="1816100" y="1517650"/>
              <a:ext cx="1403350" cy="2667000"/>
            </a:xfrm>
            <a:custGeom>
              <a:avLst/>
              <a:gdLst>
                <a:gd name="connsiteX0" fmla="*/ 0 w 1403350"/>
                <a:gd name="connsiteY0" fmla="*/ 0 h 2667000"/>
                <a:gd name="connsiteX1" fmla="*/ 311150 w 1403350"/>
                <a:gd name="connsiteY1" fmla="*/ 120650 h 2667000"/>
                <a:gd name="connsiteX2" fmla="*/ 730250 w 1403350"/>
                <a:gd name="connsiteY2" fmla="*/ 546100 h 2667000"/>
                <a:gd name="connsiteX3" fmla="*/ 768350 w 1403350"/>
                <a:gd name="connsiteY3" fmla="*/ 1517650 h 2667000"/>
                <a:gd name="connsiteX4" fmla="*/ 920750 w 1403350"/>
                <a:gd name="connsiteY4" fmla="*/ 2266950 h 2667000"/>
                <a:gd name="connsiteX5" fmla="*/ 1403350 w 1403350"/>
                <a:gd name="connsiteY5" fmla="*/ 2667000 h 266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3350" h="2667000">
                  <a:moveTo>
                    <a:pt x="0" y="0"/>
                  </a:moveTo>
                  <a:cubicBezTo>
                    <a:pt x="94721" y="14816"/>
                    <a:pt x="189442" y="29633"/>
                    <a:pt x="311150" y="120650"/>
                  </a:cubicBezTo>
                  <a:cubicBezTo>
                    <a:pt x="432858" y="211667"/>
                    <a:pt x="654050" y="313267"/>
                    <a:pt x="730250" y="546100"/>
                  </a:cubicBezTo>
                  <a:cubicBezTo>
                    <a:pt x="806450" y="778933"/>
                    <a:pt x="736600" y="1230842"/>
                    <a:pt x="768350" y="1517650"/>
                  </a:cubicBezTo>
                  <a:cubicBezTo>
                    <a:pt x="800100" y="1804458"/>
                    <a:pt x="814917" y="2075392"/>
                    <a:pt x="920750" y="2266950"/>
                  </a:cubicBezTo>
                  <a:cubicBezTo>
                    <a:pt x="1026583" y="2458508"/>
                    <a:pt x="1214966" y="2562754"/>
                    <a:pt x="1403350" y="2667000"/>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eeform: Shape 9">
              <a:extLst>
                <a:ext uri="{FF2B5EF4-FFF2-40B4-BE49-F238E27FC236}">
                  <a16:creationId xmlns:a16="http://schemas.microsoft.com/office/drawing/2014/main" id="{84286732-40E1-7401-EDD2-F0BA92840369}"/>
                </a:ext>
              </a:extLst>
            </p:cNvPr>
            <p:cNvSpPr/>
            <p:nvPr/>
          </p:nvSpPr>
          <p:spPr>
            <a:xfrm>
              <a:off x="3216275" y="4129283"/>
              <a:ext cx="581025" cy="65105"/>
            </a:xfrm>
            <a:custGeom>
              <a:avLst/>
              <a:gdLst>
                <a:gd name="connsiteX0" fmla="*/ 0 w 581025"/>
                <a:gd name="connsiteY0" fmla="*/ 52192 h 65105"/>
                <a:gd name="connsiteX1" fmla="*/ 257175 w 581025"/>
                <a:gd name="connsiteY1" fmla="*/ 61717 h 65105"/>
                <a:gd name="connsiteX2" fmla="*/ 458788 w 581025"/>
                <a:gd name="connsiteY2" fmla="*/ 1392 h 65105"/>
                <a:gd name="connsiteX3" fmla="*/ 581025 w 581025"/>
                <a:gd name="connsiteY3" fmla="*/ 25205 h 65105"/>
              </a:gdLst>
              <a:ahLst/>
              <a:cxnLst>
                <a:cxn ang="0">
                  <a:pos x="connsiteX0" y="connsiteY0"/>
                </a:cxn>
                <a:cxn ang="0">
                  <a:pos x="connsiteX1" y="connsiteY1"/>
                </a:cxn>
                <a:cxn ang="0">
                  <a:pos x="connsiteX2" y="connsiteY2"/>
                </a:cxn>
                <a:cxn ang="0">
                  <a:pos x="connsiteX3" y="connsiteY3"/>
                </a:cxn>
              </a:cxnLst>
              <a:rect l="l" t="t" r="r" b="b"/>
              <a:pathLst>
                <a:path w="581025" h="65105">
                  <a:moveTo>
                    <a:pt x="0" y="52192"/>
                  </a:moveTo>
                  <a:cubicBezTo>
                    <a:pt x="90355" y="61188"/>
                    <a:pt x="180710" y="70184"/>
                    <a:pt x="257175" y="61717"/>
                  </a:cubicBezTo>
                  <a:cubicBezTo>
                    <a:pt x="333640" y="53250"/>
                    <a:pt x="404813" y="7477"/>
                    <a:pt x="458788" y="1392"/>
                  </a:cubicBezTo>
                  <a:cubicBezTo>
                    <a:pt x="512763" y="-4693"/>
                    <a:pt x="546894" y="10256"/>
                    <a:pt x="581025" y="25205"/>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Shape 10">
              <a:extLst>
                <a:ext uri="{FF2B5EF4-FFF2-40B4-BE49-F238E27FC236}">
                  <a16:creationId xmlns:a16="http://schemas.microsoft.com/office/drawing/2014/main" id="{BC7206EA-6324-005A-24A3-037589EF5FBB}"/>
                </a:ext>
              </a:extLst>
            </p:cNvPr>
            <p:cNvSpPr/>
            <p:nvPr/>
          </p:nvSpPr>
          <p:spPr>
            <a:xfrm>
              <a:off x="3216275" y="4187825"/>
              <a:ext cx="414338" cy="112713"/>
            </a:xfrm>
            <a:custGeom>
              <a:avLst/>
              <a:gdLst>
                <a:gd name="connsiteX0" fmla="*/ 0 w 414338"/>
                <a:gd name="connsiteY0" fmla="*/ 0 h 112713"/>
                <a:gd name="connsiteX1" fmla="*/ 147638 w 414338"/>
                <a:gd name="connsiteY1" fmla="*/ 41275 h 112713"/>
                <a:gd name="connsiteX2" fmla="*/ 244475 w 414338"/>
                <a:gd name="connsiteY2" fmla="*/ 98425 h 112713"/>
                <a:gd name="connsiteX3" fmla="*/ 414338 w 414338"/>
                <a:gd name="connsiteY3" fmla="*/ 112713 h 112713"/>
              </a:gdLst>
              <a:ahLst/>
              <a:cxnLst>
                <a:cxn ang="0">
                  <a:pos x="connsiteX0" y="connsiteY0"/>
                </a:cxn>
                <a:cxn ang="0">
                  <a:pos x="connsiteX1" y="connsiteY1"/>
                </a:cxn>
                <a:cxn ang="0">
                  <a:pos x="connsiteX2" y="connsiteY2"/>
                </a:cxn>
                <a:cxn ang="0">
                  <a:pos x="connsiteX3" y="connsiteY3"/>
                </a:cxn>
              </a:cxnLst>
              <a:rect l="l" t="t" r="r" b="b"/>
              <a:pathLst>
                <a:path w="414338" h="112713">
                  <a:moveTo>
                    <a:pt x="0" y="0"/>
                  </a:moveTo>
                  <a:cubicBezTo>
                    <a:pt x="53446" y="12435"/>
                    <a:pt x="106892" y="24871"/>
                    <a:pt x="147638" y="41275"/>
                  </a:cubicBezTo>
                  <a:cubicBezTo>
                    <a:pt x="188384" y="57679"/>
                    <a:pt x="200025" y="86519"/>
                    <a:pt x="244475" y="98425"/>
                  </a:cubicBezTo>
                  <a:cubicBezTo>
                    <a:pt x="288925" y="110331"/>
                    <a:pt x="351631" y="111522"/>
                    <a:pt x="414338" y="112713"/>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reeform: Shape 11">
              <a:extLst>
                <a:ext uri="{FF2B5EF4-FFF2-40B4-BE49-F238E27FC236}">
                  <a16:creationId xmlns:a16="http://schemas.microsoft.com/office/drawing/2014/main" id="{9D2087AA-8C7F-7B47-342D-EE761E47C837}"/>
                </a:ext>
              </a:extLst>
            </p:cNvPr>
            <p:cNvSpPr/>
            <p:nvPr/>
          </p:nvSpPr>
          <p:spPr>
            <a:xfrm>
              <a:off x="3222625" y="4195763"/>
              <a:ext cx="449263" cy="213231"/>
            </a:xfrm>
            <a:custGeom>
              <a:avLst/>
              <a:gdLst>
                <a:gd name="connsiteX0" fmla="*/ 0 w 449263"/>
                <a:gd name="connsiteY0" fmla="*/ 0 h 213231"/>
                <a:gd name="connsiteX1" fmla="*/ 109538 w 449263"/>
                <a:gd name="connsiteY1" fmla="*/ 92075 h 213231"/>
                <a:gd name="connsiteX2" fmla="*/ 274638 w 449263"/>
                <a:gd name="connsiteY2" fmla="*/ 206375 h 213231"/>
                <a:gd name="connsiteX3" fmla="*/ 449263 w 449263"/>
                <a:gd name="connsiteY3" fmla="*/ 190500 h 213231"/>
              </a:gdLst>
              <a:ahLst/>
              <a:cxnLst>
                <a:cxn ang="0">
                  <a:pos x="connsiteX0" y="connsiteY0"/>
                </a:cxn>
                <a:cxn ang="0">
                  <a:pos x="connsiteX1" y="connsiteY1"/>
                </a:cxn>
                <a:cxn ang="0">
                  <a:pos x="connsiteX2" y="connsiteY2"/>
                </a:cxn>
                <a:cxn ang="0">
                  <a:pos x="connsiteX3" y="connsiteY3"/>
                </a:cxn>
              </a:cxnLst>
              <a:rect l="l" t="t" r="r" b="b"/>
              <a:pathLst>
                <a:path w="449263" h="213231">
                  <a:moveTo>
                    <a:pt x="0" y="0"/>
                  </a:moveTo>
                  <a:cubicBezTo>
                    <a:pt x="31882" y="28839"/>
                    <a:pt x="63765" y="57679"/>
                    <a:pt x="109538" y="92075"/>
                  </a:cubicBezTo>
                  <a:cubicBezTo>
                    <a:pt x="155311" y="126471"/>
                    <a:pt x="218017" y="189971"/>
                    <a:pt x="274638" y="206375"/>
                  </a:cubicBezTo>
                  <a:cubicBezTo>
                    <a:pt x="331259" y="222779"/>
                    <a:pt x="390261" y="206639"/>
                    <a:pt x="449263" y="190500"/>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Freeform: Shape 12">
              <a:extLst>
                <a:ext uri="{FF2B5EF4-FFF2-40B4-BE49-F238E27FC236}">
                  <a16:creationId xmlns:a16="http://schemas.microsoft.com/office/drawing/2014/main" id="{9288C00C-D2EF-E4C2-7F38-D4729B4CFB70}"/>
                </a:ext>
              </a:extLst>
            </p:cNvPr>
            <p:cNvSpPr/>
            <p:nvPr/>
          </p:nvSpPr>
          <p:spPr>
            <a:xfrm>
              <a:off x="3232150" y="4203700"/>
              <a:ext cx="601663" cy="294550"/>
            </a:xfrm>
            <a:custGeom>
              <a:avLst/>
              <a:gdLst>
                <a:gd name="connsiteX0" fmla="*/ 0 w 601663"/>
                <a:gd name="connsiteY0" fmla="*/ 0 h 294550"/>
                <a:gd name="connsiteX1" fmla="*/ 98425 w 601663"/>
                <a:gd name="connsiteY1" fmla="*/ 149225 h 294550"/>
                <a:gd name="connsiteX2" fmla="*/ 312738 w 601663"/>
                <a:gd name="connsiteY2" fmla="*/ 277813 h 294550"/>
                <a:gd name="connsiteX3" fmla="*/ 522288 w 601663"/>
                <a:gd name="connsiteY3" fmla="*/ 287338 h 294550"/>
                <a:gd name="connsiteX4" fmla="*/ 601663 w 601663"/>
                <a:gd name="connsiteY4" fmla="*/ 225425 h 29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1663" h="294550">
                  <a:moveTo>
                    <a:pt x="0" y="0"/>
                  </a:moveTo>
                  <a:cubicBezTo>
                    <a:pt x="23151" y="51461"/>
                    <a:pt x="46302" y="102923"/>
                    <a:pt x="98425" y="149225"/>
                  </a:cubicBezTo>
                  <a:cubicBezTo>
                    <a:pt x="150548" y="195527"/>
                    <a:pt x="242094" y="254794"/>
                    <a:pt x="312738" y="277813"/>
                  </a:cubicBezTo>
                  <a:cubicBezTo>
                    <a:pt x="383382" y="300832"/>
                    <a:pt x="474134" y="296069"/>
                    <a:pt x="522288" y="287338"/>
                  </a:cubicBezTo>
                  <a:cubicBezTo>
                    <a:pt x="570442" y="278607"/>
                    <a:pt x="586052" y="252016"/>
                    <a:pt x="601663" y="225425"/>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Freeform: Shape 13">
              <a:extLst>
                <a:ext uri="{FF2B5EF4-FFF2-40B4-BE49-F238E27FC236}">
                  <a16:creationId xmlns:a16="http://schemas.microsoft.com/office/drawing/2014/main" id="{48899187-79F1-72EA-4C9B-6A9278351C08}"/>
                </a:ext>
              </a:extLst>
            </p:cNvPr>
            <p:cNvSpPr/>
            <p:nvPr/>
          </p:nvSpPr>
          <p:spPr>
            <a:xfrm>
              <a:off x="3216275" y="4070827"/>
              <a:ext cx="839093" cy="101123"/>
            </a:xfrm>
            <a:custGeom>
              <a:avLst/>
              <a:gdLst>
                <a:gd name="connsiteX0" fmla="*/ 0 w 839093"/>
                <a:gd name="connsiteY0" fmla="*/ 99536 h 101123"/>
                <a:gd name="connsiteX1" fmla="*/ 188913 w 839093"/>
                <a:gd name="connsiteY1" fmla="*/ 75723 h 101123"/>
                <a:gd name="connsiteX2" fmla="*/ 411163 w 839093"/>
                <a:gd name="connsiteY2" fmla="*/ 7461 h 101123"/>
                <a:gd name="connsiteX3" fmla="*/ 647700 w 839093"/>
                <a:gd name="connsiteY3" fmla="*/ 4286 h 101123"/>
                <a:gd name="connsiteX4" fmla="*/ 819150 w 839093"/>
                <a:gd name="connsiteY4" fmla="*/ 29686 h 101123"/>
                <a:gd name="connsiteX5" fmla="*/ 828675 w 839093"/>
                <a:gd name="connsiteY5" fmla="*/ 101123 h 101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9093" h="101123">
                  <a:moveTo>
                    <a:pt x="0" y="99536"/>
                  </a:moveTo>
                  <a:cubicBezTo>
                    <a:pt x="60193" y="95302"/>
                    <a:pt x="120386" y="91069"/>
                    <a:pt x="188913" y="75723"/>
                  </a:cubicBezTo>
                  <a:cubicBezTo>
                    <a:pt x="257440" y="60377"/>
                    <a:pt x="334699" y="19367"/>
                    <a:pt x="411163" y="7461"/>
                  </a:cubicBezTo>
                  <a:cubicBezTo>
                    <a:pt x="487628" y="-4445"/>
                    <a:pt x="579702" y="582"/>
                    <a:pt x="647700" y="4286"/>
                  </a:cubicBezTo>
                  <a:cubicBezTo>
                    <a:pt x="715698" y="7990"/>
                    <a:pt x="788988" y="13547"/>
                    <a:pt x="819150" y="29686"/>
                  </a:cubicBezTo>
                  <a:cubicBezTo>
                    <a:pt x="849312" y="45825"/>
                    <a:pt x="838993" y="73474"/>
                    <a:pt x="828675" y="101123"/>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5" name="Oval 14">
            <a:extLst>
              <a:ext uri="{FF2B5EF4-FFF2-40B4-BE49-F238E27FC236}">
                <a16:creationId xmlns:a16="http://schemas.microsoft.com/office/drawing/2014/main" id="{A0E9EFB5-BDBE-789C-589E-66DDBD576EFA}"/>
              </a:ext>
            </a:extLst>
          </p:cNvPr>
          <p:cNvSpPr/>
          <p:nvPr/>
        </p:nvSpPr>
        <p:spPr>
          <a:xfrm>
            <a:off x="1708150" y="1412081"/>
            <a:ext cx="201612" cy="20161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07183885-ABAC-FF9D-F8B2-9551B677D968}"/>
              </a:ext>
            </a:extLst>
          </p:cNvPr>
          <p:cNvSpPr txBox="1"/>
          <p:nvPr/>
        </p:nvSpPr>
        <p:spPr>
          <a:xfrm>
            <a:off x="2501380" y="1272837"/>
            <a:ext cx="923651" cy="430887"/>
          </a:xfrm>
          <a:prstGeom prst="rect">
            <a:avLst/>
          </a:prstGeom>
          <a:noFill/>
        </p:spPr>
        <p:txBody>
          <a:bodyPr wrap="none" rtlCol="0">
            <a:spAutoFit/>
          </a:bodyPr>
          <a:lstStyle/>
          <a:p>
            <a:r>
              <a:rPr lang="en-GB" sz="1100" dirty="0"/>
              <a:t>Oculomotor</a:t>
            </a:r>
          </a:p>
          <a:p>
            <a:r>
              <a:rPr lang="en-GB" sz="1100" dirty="0"/>
              <a:t>Nucleus</a:t>
            </a:r>
          </a:p>
        </p:txBody>
      </p:sp>
      <p:cxnSp>
        <p:nvCxnSpPr>
          <p:cNvPr id="18" name="Straight Connector 17">
            <a:extLst>
              <a:ext uri="{FF2B5EF4-FFF2-40B4-BE49-F238E27FC236}">
                <a16:creationId xmlns:a16="http://schemas.microsoft.com/office/drawing/2014/main" id="{115D3AFB-97DB-C560-1C9E-AD1303708418}"/>
              </a:ext>
            </a:extLst>
          </p:cNvPr>
          <p:cNvCxnSpPr>
            <a:cxnSpLocks/>
            <a:endCxn id="16" idx="1"/>
          </p:cNvCxnSpPr>
          <p:nvPr/>
        </p:nvCxnSpPr>
        <p:spPr>
          <a:xfrm flipV="1">
            <a:off x="1896231" y="1488281"/>
            <a:ext cx="605149" cy="634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F547DF37-93CB-2A93-FB8A-98DA4DF2B15F}"/>
              </a:ext>
            </a:extLst>
          </p:cNvPr>
          <p:cNvSpPr/>
          <p:nvPr/>
        </p:nvSpPr>
        <p:spPr>
          <a:xfrm>
            <a:off x="1510622" y="1363663"/>
            <a:ext cx="201612" cy="20161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5" name="Group 24">
            <a:extLst>
              <a:ext uri="{FF2B5EF4-FFF2-40B4-BE49-F238E27FC236}">
                <a16:creationId xmlns:a16="http://schemas.microsoft.com/office/drawing/2014/main" id="{BC4B0436-E33A-0431-996C-1A9C48E43906}"/>
              </a:ext>
            </a:extLst>
          </p:cNvPr>
          <p:cNvGrpSpPr/>
          <p:nvPr/>
        </p:nvGrpSpPr>
        <p:grpSpPr>
          <a:xfrm>
            <a:off x="3184524" y="3810161"/>
            <a:ext cx="415926" cy="162796"/>
            <a:chOff x="3184524" y="3810161"/>
            <a:chExt cx="415926" cy="162796"/>
          </a:xfrm>
        </p:grpSpPr>
        <p:sp>
          <p:nvSpPr>
            <p:cNvPr id="22" name="Freeform: Shape 21">
              <a:extLst>
                <a:ext uri="{FF2B5EF4-FFF2-40B4-BE49-F238E27FC236}">
                  <a16:creationId xmlns:a16="http://schemas.microsoft.com/office/drawing/2014/main" id="{993C0197-E442-2F72-12C8-7317ABE484E9}"/>
                </a:ext>
              </a:extLst>
            </p:cNvPr>
            <p:cNvSpPr/>
            <p:nvPr/>
          </p:nvSpPr>
          <p:spPr>
            <a:xfrm>
              <a:off x="3184525" y="3810161"/>
              <a:ext cx="415925" cy="64927"/>
            </a:xfrm>
            <a:custGeom>
              <a:avLst/>
              <a:gdLst>
                <a:gd name="connsiteX0" fmla="*/ 0 w 415925"/>
                <a:gd name="connsiteY0" fmla="*/ 100063 h 100063"/>
                <a:gd name="connsiteX1" fmla="*/ 82550 w 415925"/>
                <a:gd name="connsiteY1" fmla="*/ 88950 h 100063"/>
                <a:gd name="connsiteX2" fmla="*/ 142875 w 415925"/>
                <a:gd name="connsiteY2" fmla="*/ 33388 h 100063"/>
                <a:gd name="connsiteX3" fmla="*/ 217488 w 415925"/>
                <a:gd name="connsiteY3" fmla="*/ 50 h 100063"/>
                <a:gd name="connsiteX4" fmla="*/ 298450 w 415925"/>
                <a:gd name="connsiteY4" fmla="*/ 27038 h 100063"/>
                <a:gd name="connsiteX5" fmla="*/ 325438 w 415925"/>
                <a:gd name="connsiteY5" fmla="*/ 73075 h 100063"/>
                <a:gd name="connsiteX6" fmla="*/ 415925 w 415925"/>
                <a:gd name="connsiteY6" fmla="*/ 93713 h 100063"/>
                <a:gd name="connsiteX0" fmla="*/ 0 w 415925"/>
                <a:gd name="connsiteY0" fmla="*/ 100045 h 100045"/>
                <a:gd name="connsiteX1" fmla="*/ 82550 w 415925"/>
                <a:gd name="connsiteY1" fmla="*/ 88932 h 100045"/>
                <a:gd name="connsiteX2" fmla="*/ 142875 w 415925"/>
                <a:gd name="connsiteY2" fmla="*/ 33370 h 100045"/>
                <a:gd name="connsiteX3" fmla="*/ 217488 w 415925"/>
                <a:gd name="connsiteY3" fmla="*/ 32 h 100045"/>
                <a:gd name="connsiteX4" fmla="*/ 284163 w 415925"/>
                <a:gd name="connsiteY4" fmla="*/ 28211 h 100045"/>
                <a:gd name="connsiteX5" fmla="*/ 325438 w 415925"/>
                <a:gd name="connsiteY5" fmla="*/ 73057 h 100045"/>
                <a:gd name="connsiteX6" fmla="*/ 415925 w 415925"/>
                <a:gd name="connsiteY6" fmla="*/ 93695 h 100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925" h="100045">
                  <a:moveTo>
                    <a:pt x="0" y="100045"/>
                  </a:moveTo>
                  <a:cubicBezTo>
                    <a:pt x="29369" y="100044"/>
                    <a:pt x="58738" y="100044"/>
                    <a:pt x="82550" y="88932"/>
                  </a:cubicBezTo>
                  <a:cubicBezTo>
                    <a:pt x="106363" y="77819"/>
                    <a:pt x="120385" y="48187"/>
                    <a:pt x="142875" y="33370"/>
                  </a:cubicBezTo>
                  <a:cubicBezTo>
                    <a:pt x="165365" y="18553"/>
                    <a:pt x="193940" y="892"/>
                    <a:pt x="217488" y="32"/>
                  </a:cubicBezTo>
                  <a:cubicBezTo>
                    <a:pt x="241036" y="-828"/>
                    <a:pt x="266171" y="16040"/>
                    <a:pt x="284163" y="28211"/>
                  </a:cubicBezTo>
                  <a:cubicBezTo>
                    <a:pt x="302155" y="40382"/>
                    <a:pt x="305859" y="61945"/>
                    <a:pt x="325438" y="73057"/>
                  </a:cubicBezTo>
                  <a:cubicBezTo>
                    <a:pt x="345017" y="84169"/>
                    <a:pt x="380471" y="88932"/>
                    <a:pt x="415925" y="93695"/>
                  </a:cubicBezTo>
                </a:path>
              </a:pathLst>
            </a:cu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Freeform: Shape 23">
              <a:extLst>
                <a:ext uri="{FF2B5EF4-FFF2-40B4-BE49-F238E27FC236}">
                  <a16:creationId xmlns:a16="http://schemas.microsoft.com/office/drawing/2014/main" id="{DE535A90-2E51-5CA0-AAC2-F0A4BADF839F}"/>
                </a:ext>
              </a:extLst>
            </p:cNvPr>
            <p:cNvSpPr/>
            <p:nvPr/>
          </p:nvSpPr>
          <p:spPr>
            <a:xfrm flipV="1">
              <a:off x="3184524" y="3908030"/>
              <a:ext cx="415925" cy="64927"/>
            </a:xfrm>
            <a:custGeom>
              <a:avLst/>
              <a:gdLst>
                <a:gd name="connsiteX0" fmla="*/ 0 w 415925"/>
                <a:gd name="connsiteY0" fmla="*/ 100063 h 100063"/>
                <a:gd name="connsiteX1" fmla="*/ 82550 w 415925"/>
                <a:gd name="connsiteY1" fmla="*/ 88950 h 100063"/>
                <a:gd name="connsiteX2" fmla="*/ 142875 w 415925"/>
                <a:gd name="connsiteY2" fmla="*/ 33388 h 100063"/>
                <a:gd name="connsiteX3" fmla="*/ 217488 w 415925"/>
                <a:gd name="connsiteY3" fmla="*/ 50 h 100063"/>
                <a:gd name="connsiteX4" fmla="*/ 298450 w 415925"/>
                <a:gd name="connsiteY4" fmla="*/ 27038 h 100063"/>
                <a:gd name="connsiteX5" fmla="*/ 325438 w 415925"/>
                <a:gd name="connsiteY5" fmla="*/ 73075 h 100063"/>
                <a:gd name="connsiteX6" fmla="*/ 415925 w 415925"/>
                <a:gd name="connsiteY6" fmla="*/ 93713 h 100063"/>
                <a:gd name="connsiteX0" fmla="*/ 0 w 415925"/>
                <a:gd name="connsiteY0" fmla="*/ 100045 h 100045"/>
                <a:gd name="connsiteX1" fmla="*/ 82550 w 415925"/>
                <a:gd name="connsiteY1" fmla="*/ 88932 h 100045"/>
                <a:gd name="connsiteX2" fmla="*/ 142875 w 415925"/>
                <a:gd name="connsiteY2" fmla="*/ 33370 h 100045"/>
                <a:gd name="connsiteX3" fmla="*/ 217488 w 415925"/>
                <a:gd name="connsiteY3" fmla="*/ 32 h 100045"/>
                <a:gd name="connsiteX4" fmla="*/ 284163 w 415925"/>
                <a:gd name="connsiteY4" fmla="*/ 28211 h 100045"/>
                <a:gd name="connsiteX5" fmla="*/ 325438 w 415925"/>
                <a:gd name="connsiteY5" fmla="*/ 73057 h 100045"/>
                <a:gd name="connsiteX6" fmla="*/ 415925 w 415925"/>
                <a:gd name="connsiteY6" fmla="*/ 93695 h 100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925" h="100045">
                  <a:moveTo>
                    <a:pt x="0" y="100045"/>
                  </a:moveTo>
                  <a:cubicBezTo>
                    <a:pt x="29369" y="100044"/>
                    <a:pt x="58738" y="100044"/>
                    <a:pt x="82550" y="88932"/>
                  </a:cubicBezTo>
                  <a:cubicBezTo>
                    <a:pt x="106363" y="77819"/>
                    <a:pt x="120385" y="48187"/>
                    <a:pt x="142875" y="33370"/>
                  </a:cubicBezTo>
                  <a:cubicBezTo>
                    <a:pt x="165365" y="18553"/>
                    <a:pt x="193940" y="892"/>
                    <a:pt x="217488" y="32"/>
                  </a:cubicBezTo>
                  <a:cubicBezTo>
                    <a:pt x="241036" y="-828"/>
                    <a:pt x="266171" y="16040"/>
                    <a:pt x="284163" y="28211"/>
                  </a:cubicBezTo>
                  <a:cubicBezTo>
                    <a:pt x="302155" y="40382"/>
                    <a:pt x="305859" y="61945"/>
                    <a:pt x="325438" y="73057"/>
                  </a:cubicBezTo>
                  <a:cubicBezTo>
                    <a:pt x="345017" y="84169"/>
                    <a:pt x="380471" y="88932"/>
                    <a:pt x="415925" y="93695"/>
                  </a:cubicBezTo>
                </a:path>
              </a:pathLst>
            </a:cu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6" name="Group 35">
            <a:extLst>
              <a:ext uri="{FF2B5EF4-FFF2-40B4-BE49-F238E27FC236}">
                <a16:creationId xmlns:a16="http://schemas.microsoft.com/office/drawing/2014/main" id="{677987E8-5FB4-9001-ADD2-21E7B03CBA57}"/>
              </a:ext>
            </a:extLst>
          </p:cNvPr>
          <p:cNvGrpSpPr/>
          <p:nvPr/>
        </p:nvGrpSpPr>
        <p:grpSpPr>
          <a:xfrm>
            <a:off x="1561422" y="1359827"/>
            <a:ext cx="1814000" cy="2584194"/>
            <a:chOff x="1561422" y="1359827"/>
            <a:chExt cx="1814000" cy="2584194"/>
          </a:xfrm>
        </p:grpSpPr>
        <p:sp>
          <p:nvSpPr>
            <p:cNvPr id="19" name="Oval 18">
              <a:extLst>
                <a:ext uri="{FF2B5EF4-FFF2-40B4-BE49-F238E27FC236}">
                  <a16:creationId xmlns:a16="http://schemas.microsoft.com/office/drawing/2014/main" id="{4BF68C19-405E-F297-3C6F-429895E3826F}"/>
                </a:ext>
              </a:extLst>
            </p:cNvPr>
            <p:cNvSpPr/>
            <p:nvPr/>
          </p:nvSpPr>
          <p:spPr>
            <a:xfrm>
              <a:off x="1561422" y="1415257"/>
              <a:ext cx="101600" cy="101600"/>
            </a:xfrm>
            <a:prstGeom prst="ellipse">
              <a:avLst/>
            </a:prstGeom>
            <a:solidFill>
              <a:srgbClr val="8A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Freeform: Shape 27">
              <a:extLst>
                <a:ext uri="{FF2B5EF4-FFF2-40B4-BE49-F238E27FC236}">
                  <a16:creationId xmlns:a16="http://schemas.microsoft.com/office/drawing/2014/main" id="{5E66B2CA-FACC-CC88-9CCD-14B9E89DE2B6}"/>
                </a:ext>
              </a:extLst>
            </p:cNvPr>
            <p:cNvSpPr/>
            <p:nvPr/>
          </p:nvSpPr>
          <p:spPr>
            <a:xfrm>
              <a:off x="1647825" y="1359827"/>
              <a:ext cx="1704975" cy="2535260"/>
            </a:xfrm>
            <a:custGeom>
              <a:avLst/>
              <a:gdLst>
                <a:gd name="connsiteX0" fmla="*/ 0 w 1704975"/>
                <a:gd name="connsiteY0" fmla="*/ 87973 h 2535260"/>
                <a:gd name="connsiteX1" fmla="*/ 128588 w 1704975"/>
                <a:gd name="connsiteY1" fmla="*/ 2248 h 2535260"/>
                <a:gd name="connsiteX2" fmla="*/ 295275 w 1704975"/>
                <a:gd name="connsiteY2" fmla="*/ 45111 h 2535260"/>
                <a:gd name="connsiteX3" fmla="*/ 533400 w 1704975"/>
                <a:gd name="connsiteY3" fmla="*/ 249898 h 2535260"/>
                <a:gd name="connsiteX4" fmla="*/ 747713 w 1704975"/>
                <a:gd name="connsiteY4" fmla="*/ 392773 h 2535260"/>
                <a:gd name="connsiteX5" fmla="*/ 952500 w 1704975"/>
                <a:gd name="connsiteY5" fmla="*/ 678523 h 2535260"/>
                <a:gd name="connsiteX6" fmla="*/ 1009650 w 1704975"/>
                <a:gd name="connsiteY6" fmla="*/ 1111911 h 2535260"/>
                <a:gd name="connsiteX7" fmla="*/ 985838 w 1704975"/>
                <a:gd name="connsiteY7" fmla="*/ 1502436 h 2535260"/>
                <a:gd name="connsiteX8" fmla="*/ 1019175 w 1704975"/>
                <a:gd name="connsiteY8" fmla="*/ 1983448 h 2535260"/>
                <a:gd name="connsiteX9" fmla="*/ 1090613 w 1704975"/>
                <a:gd name="connsiteY9" fmla="*/ 2307298 h 2535260"/>
                <a:gd name="connsiteX10" fmla="*/ 1223963 w 1704975"/>
                <a:gd name="connsiteY10" fmla="*/ 2488273 h 2535260"/>
                <a:gd name="connsiteX11" fmla="*/ 1533525 w 1704975"/>
                <a:gd name="connsiteY11" fmla="*/ 2531136 h 2535260"/>
                <a:gd name="connsiteX12" fmla="*/ 1704975 w 1704975"/>
                <a:gd name="connsiteY12" fmla="*/ 2531136 h 2535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04975" h="2535260">
                  <a:moveTo>
                    <a:pt x="0" y="87973"/>
                  </a:moveTo>
                  <a:cubicBezTo>
                    <a:pt x="39688" y="48682"/>
                    <a:pt x="79376" y="9392"/>
                    <a:pt x="128588" y="2248"/>
                  </a:cubicBezTo>
                  <a:cubicBezTo>
                    <a:pt x="177800" y="-4896"/>
                    <a:pt x="227806" y="3836"/>
                    <a:pt x="295275" y="45111"/>
                  </a:cubicBezTo>
                  <a:cubicBezTo>
                    <a:pt x="362744" y="86386"/>
                    <a:pt x="457994" y="191954"/>
                    <a:pt x="533400" y="249898"/>
                  </a:cubicBezTo>
                  <a:cubicBezTo>
                    <a:pt x="608806" y="307842"/>
                    <a:pt x="677863" y="321336"/>
                    <a:pt x="747713" y="392773"/>
                  </a:cubicBezTo>
                  <a:cubicBezTo>
                    <a:pt x="817563" y="464210"/>
                    <a:pt x="908844" y="558667"/>
                    <a:pt x="952500" y="678523"/>
                  </a:cubicBezTo>
                  <a:cubicBezTo>
                    <a:pt x="996156" y="798379"/>
                    <a:pt x="1004094" y="974592"/>
                    <a:pt x="1009650" y="1111911"/>
                  </a:cubicBezTo>
                  <a:cubicBezTo>
                    <a:pt x="1015206" y="1249230"/>
                    <a:pt x="984251" y="1357180"/>
                    <a:pt x="985838" y="1502436"/>
                  </a:cubicBezTo>
                  <a:cubicBezTo>
                    <a:pt x="987425" y="1647692"/>
                    <a:pt x="1001713" y="1849304"/>
                    <a:pt x="1019175" y="1983448"/>
                  </a:cubicBezTo>
                  <a:cubicBezTo>
                    <a:pt x="1036637" y="2117592"/>
                    <a:pt x="1056482" y="2223161"/>
                    <a:pt x="1090613" y="2307298"/>
                  </a:cubicBezTo>
                  <a:cubicBezTo>
                    <a:pt x="1124744" y="2391435"/>
                    <a:pt x="1150144" y="2450967"/>
                    <a:pt x="1223963" y="2488273"/>
                  </a:cubicBezTo>
                  <a:cubicBezTo>
                    <a:pt x="1297782" y="2525579"/>
                    <a:pt x="1453356" y="2523992"/>
                    <a:pt x="1533525" y="2531136"/>
                  </a:cubicBezTo>
                  <a:cubicBezTo>
                    <a:pt x="1613694" y="2538280"/>
                    <a:pt x="1659334" y="2534708"/>
                    <a:pt x="1704975" y="2531136"/>
                  </a:cubicBezTo>
                </a:path>
              </a:pathLst>
            </a:custGeom>
            <a:noFill/>
            <a:ln>
              <a:solidFill>
                <a:srgbClr val="8A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2" name="Straight Connector 31">
              <a:extLst>
                <a:ext uri="{FF2B5EF4-FFF2-40B4-BE49-F238E27FC236}">
                  <a16:creationId xmlns:a16="http://schemas.microsoft.com/office/drawing/2014/main" id="{10FD95D1-EC88-4FDB-8377-D96D3BD5FDBD}"/>
                </a:ext>
              </a:extLst>
            </p:cNvPr>
            <p:cNvCxnSpPr/>
            <p:nvPr/>
          </p:nvCxnSpPr>
          <p:spPr>
            <a:xfrm flipV="1">
              <a:off x="3352800" y="3842624"/>
              <a:ext cx="22622" cy="52463"/>
            </a:xfrm>
            <a:prstGeom prst="line">
              <a:avLst/>
            </a:prstGeom>
            <a:ln>
              <a:solidFill>
                <a:srgbClr val="8A0000"/>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5218BE5-7F9E-7628-D7F6-455772B8F561}"/>
                </a:ext>
              </a:extLst>
            </p:cNvPr>
            <p:cNvCxnSpPr>
              <a:cxnSpLocks/>
            </p:cNvCxnSpPr>
            <p:nvPr/>
          </p:nvCxnSpPr>
          <p:spPr>
            <a:xfrm>
              <a:off x="3352800" y="3891558"/>
              <a:ext cx="22622" cy="52463"/>
            </a:xfrm>
            <a:prstGeom prst="line">
              <a:avLst/>
            </a:prstGeom>
            <a:ln>
              <a:solidFill>
                <a:srgbClr val="8A0000"/>
              </a:solidFill>
            </a:ln>
          </p:spPr>
          <p:style>
            <a:lnRef idx="2">
              <a:schemeClr val="accent1"/>
            </a:lnRef>
            <a:fillRef idx="0">
              <a:schemeClr val="accent1"/>
            </a:fillRef>
            <a:effectRef idx="1">
              <a:schemeClr val="accent1"/>
            </a:effectRef>
            <a:fontRef idx="minor">
              <a:schemeClr val="tx1"/>
            </a:fontRef>
          </p:style>
        </p:cxnSp>
      </p:grpSp>
      <p:sp>
        <p:nvSpPr>
          <p:cNvPr id="37" name="TextBox 36">
            <a:extLst>
              <a:ext uri="{FF2B5EF4-FFF2-40B4-BE49-F238E27FC236}">
                <a16:creationId xmlns:a16="http://schemas.microsoft.com/office/drawing/2014/main" id="{AABF7226-2118-2DB3-E652-2916EF167B2C}"/>
              </a:ext>
            </a:extLst>
          </p:cNvPr>
          <p:cNvSpPr txBox="1"/>
          <p:nvPr/>
        </p:nvSpPr>
        <p:spPr>
          <a:xfrm>
            <a:off x="186484" y="1188198"/>
            <a:ext cx="847626" cy="600164"/>
          </a:xfrm>
          <a:prstGeom prst="rect">
            <a:avLst/>
          </a:prstGeom>
          <a:noFill/>
        </p:spPr>
        <p:txBody>
          <a:bodyPr wrap="square" rtlCol="0">
            <a:spAutoFit/>
          </a:bodyPr>
          <a:lstStyle/>
          <a:p>
            <a:r>
              <a:rPr lang="en-GB" sz="1100" dirty="0"/>
              <a:t>Edinger-Westphal</a:t>
            </a:r>
          </a:p>
          <a:p>
            <a:r>
              <a:rPr lang="en-GB" sz="1100" dirty="0"/>
              <a:t>Nucleus</a:t>
            </a:r>
          </a:p>
        </p:txBody>
      </p:sp>
      <p:cxnSp>
        <p:nvCxnSpPr>
          <p:cNvPr id="38" name="Straight Connector 37">
            <a:extLst>
              <a:ext uri="{FF2B5EF4-FFF2-40B4-BE49-F238E27FC236}">
                <a16:creationId xmlns:a16="http://schemas.microsoft.com/office/drawing/2014/main" id="{E1A43ACA-0357-DF44-DA21-6B16B0113661}"/>
              </a:ext>
            </a:extLst>
          </p:cNvPr>
          <p:cNvCxnSpPr>
            <a:cxnSpLocks/>
            <a:stCxn id="37" idx="3"/>
            <a:endCxn id="20" idx="2"/>
          </p:cNvCxnSpPr>
          <p:nvPr/>
        </p:nvCxnSpPr>
        <p:spPr>
          <a:xfrm flipV="1">
            <a:off x="1034110" y="1464469"/>
            <a:ext cx="476512" cy="2381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4021BD11-376A-AF70-D85E-11BE5B647A1F}"/>
              </a:ext>
            </a:extLst>
          </p:cNvPr>
          <p:cNvSpPr txBox="1"/>
          <p:nvPr/>
        </p:nvSpPr>
        <p:spPr>
          <a:xfrm>
            <a:off x="3071955" y="3422909"/>
            <a:ext cx="734496" cy="430887"/>
          </a:xfrm>
          <a:prstGeom prst="rect">
            <a:avLst/>
          </a:prstGeom>
          <a:noFill/>
        </p:spPr>
        <p:txBody>
          <a:bodyPr wrap="none" rtlCol="0">
            <a:spAutoFit/>
          </a:bodyPr>
          <a:lstStyle/>
          <a:p>
            <a:r>
              <a:rPr lang="en-GB" sz="1100" dirty="0"/>
              <a:t>Ciliary</a:t>
            </a:r>
          </a:p>
          <a:p>
            <a:r>
              <a:rPr lang="en-GB" sz="1100" dirty="0"/>
              <a:t>Ganglion</a:t>
            </a:r>
          </a:p>
        </p:txBody>
      </p:sp>
      <p:sp>
        <p:nvSpPr>
          <p:cNvPr id="45" name="Oval 44">
            <a:extLst>
              <a:ext uri="{FF2B5EF4-FFF2-40B4-BE49-F238E27FC236}">
                <a16:creationId xmlns:a16="http://schemas.microsoft.com/office/drawing/2014/main" id="{A677E892-6812-289C-91F7-42B2638C79DB}"/>
              </a:ext>
            </a:extLst>
          </p:cNvPr>
          <p:cNvSpPr/>
          <p:nvPr/>
        </p:nvSpPr>
        <p:spPr>
          <a:xfrm>
            <a:off x="3380298" y="3837025"/>
            <a:ext cx="101600" cy="101600"/>
          </a:xfrm>
          <a:prstGeom prst="ellipse">
            <a:avLst/>
          </a:prstGeom>
          <a:solidFill>
            <a:srgbClr val="8A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Freeform: Shape 48">
            <a:extLst>
              <a:ext uri="{FF2B5EF4-FFF2-40B4-BE49-F238E27FC236}">
                <a16:creationId xmlns:a16="http://schemas.microsoft.com/office/drawing/2014/main" id="{CA4FD503-5E5B-931F-92CE-D050A8CDD770}"/>
              </a:ext>
            </a:extLst>
          </p:cNvPr>
          <p:cNvSpPr/>
          <p:nvPr/>
        </p:nvSpPr>
        <p:spPr>
          <a:xfrm>
            <a:off x="3476625" y="3886200"/>
            <a:ext cx="756100" cy="381000"/>
          </a:xfrm>
          <a:custGeom>
            <a:avLst/>
            <a:gdLst>
              <a:gd name="connsiteX0" fmla="*/ 0 w 756100"/>
              <a:gd name="connsiteY0" fmla="*/ 0 h 381000"/>
              <a:gd name="connsiteX1" fmla="*/ 114300 w 756100"/>
              <a:gd name="connsiteY1" fmla="*/ 9525 h 381000"/>
              <a:gd name="connsiteX2" fmla="*/ 301625 w 756100"/>
              <a:gd name="connsiteY2" fmla="*/ 9525 h 381000"/>
              <a:gd name="connsiteX3" fmla="*/ 638175 w 756100"/>
              <a:gd name="connsiteY3" fmla="*/ 66675 h 381000"/>
              <a:gd name="connsiteX4" fmla="*/ 755650 w 756100"/>
              <a:gd name="connsiteY4" fmla="*/ 177800 h 381000"/>
              <a:gd name="connsiteX5" fmla="*/ 673100 w 756100"/>
              <a:gd name="connsiteY5" fmla="*/ 327025 h 381000"/>
              <a:gd name="connsiteX6" fmla="*/ 536575 w 756100"/>
              <a:gd name="connsiteY6" fmla="*/ 3810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6100" h="381000">
                <a:moveTo>
                  <a:pt x="0" y="0"/>
                </a:moveTo>
                <a:cubicBezTo>
                  <a:pt x="32014" y="3969"/>
                  <a:pt x="64029" y="7938"/>
                  <a:pt x="114300" y="9525"/>
                </a:cubicBezTo>
                <a:cubicBezTo>
                  <a:pt x="164571" y="11112"/>
                  <a:pt x="214313" y="0"/>
                  <a:pt x="301625" y="9525"/>
                </a:cubicBezTo>
                <a:cubicBezTo>
                  <a:pt x="388937" y="19050"/>
                  <a:pt x="562504" y="38629"/>
                  <a:pt x="638175" y="66675"/>
                </a:cubicBezTo>
                <a:cubicBezTo>
                  <a:pt x="713846" y="94721"/>
                  <a:pt x="749829" y="134408"/>
                  <a:pt x="755650" y="177800"/>
                </a:cubicBezTo>
                <a:cubicBezTo>
                  <a:pt x="761471" y="221192"/>
                  <a:pt x="709612" y="293158"/>
                  <a:pt x="673100" y="327025"/>
                </a:cubicBezTo>
                <a:cubicBezTo>
                  <a:pt x="636588" y="360892"/>
                  <a:pt x="586581" y="370946"/>
                  <a:pt x="536575" y="381000"/>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06" name="Group 105">
            <a:extLst>
              <a:ext uri="{FF2B5EF4-FFF2-40B4-BE49-F238E27FC236}">
                <a16:creationId xmlns:a16="http://schemas.microsoft.com/office/drawing/2014/main" id="{8DDC274A-1D2F-1480-EF59-FA3535E7B778}"/>
              </a:ext>
            </a:extLst>
          </p:cNvPr>
          <p:cNvGrpSpPr/>
          <p:nvPr/>
        </p:nvGrpSpPr>
        <p:grpSpPr>
          <a:xfrm>
            <a:off x="5523364" y="2481934"/>
            <a:ext cx="6329759" cy="2122970"/>
            <a:chOff x="5523364" y="2481934"/>
            <a:chExt cx="6329759" cy="2122970"/>
          </a:xfrm>
        </p:grpSpPr>
        <p:sp>
          <p:nvSpPr>
            <p:cNvPr id="53" name="Rectangle 52">
              <a:extLst>
                <a:ext uri="{FF2B5EF4-FFF2-40B4-BE49-F238E27FC236}">
                  <a16:creationId xmlns:a16="http://schemas.microsoft.com/office/drawing/2014/main" id="{D489F9EF-0C3B-EC5F-2352-63317D643E36}"/>
                </a:ext>
              </a:extLst>
            </p:cNvPr>
            <p:cNvSpPr/>
            <p:nvPr/>
          </p:nvSpPr>
          <p:spPr>
            <a:xfrm>
              <a:off x="5523364" y="2646198"/>
              <a:ext cx="908720" cy="249898"/>
            </a:xfrm>
            <a:prstGeom prst="rect">
              <a:avLst/>
            </a:prstGeom>
            <a:gradFill flip="none" rotWithShape="1">
              <a:gsLst>
                <a:gs pos="100000">
                  <a:srgbClr val="F6ECDD"/>
                </a:gs>
                <a:gs pos="0">
                  <a:schemeClr val="bg1"/>
                </a:gs>
              </a:gsLst>
              <a:path path="circle">
                <a:fillToRect l="50000" t="50000" r="50000" b="50000"/>
              </a:path>
              <a:tileRect/>
            </a:gradFill>
            <a:ln w="9525">
              <a:solidFill>
                <a:srgbClr val="C0B3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Midbrain</a:t>
              </a:r>
            </a:p>
          </p:txBody>
        </p:sp>
        <p:sp>
          <p:nvSpPr>
            <p:cNvPr id="54" name="TextBox 53">
              <a:extLst>
                <a:ext uri="{FF2B5EF4-FFF2-40B4-BE49-F238E27FC236}">
                  <a16:creationId xmlns:a16="http://schemas.microsoft.com/office/drawing/2014/main" id="{CE2AE3E7-E8AD-511C-205F-7A58629EA945}"/>
                </a:ext>
              </a:extLst>
            </p:cNvPr>
            <p:cNvSpPr txBox="1"/>
            <p:nvPr/>
          </p:nvSpPr>
          <p:spPr>
            <a:xfrm>
              <a:off x="8655422" y="2941793"/>
              <a:ext cx="742578" cy="600164"/>
            </a:xfrm>
            <a:prstGeom prst="rect">
              <a:avLst/>
            </a:prstGeom>
            <a:noFill/>
          </p:spPr>
          <p:txBody>
            <a:bodyPr wrap="square" rtlCol="0">
              <a:spAutoFit/>
            </a:bodyPr>
            <a:lstStyle/>
            <a:p>
              <a:pPr algn="ctr"/>
              <a:r>
                <a:rPr lang="en-GB" sz="1100" dirty="0"/>
                <a:t>Superior orbital</a:t>
              </a:r>
            </a:p>
            <a:p>
              <a:pPr algn="ctr"/>
              <a:r>
                <a:rPr lang="en-GB" sz="1100" dirty="0"/>
                <a:t>fissure</a:t>
              </a:r>
            </a:p>
          </p:txBody>
        </p:sp>
        <p:sp>
          <p:nvSpPr>
            <p:cNvPr id="55" name="Oval 54">
              <a:extLst>
                <a:ext uri="{FF2B5EF4-FFF2-40B4-BE49-F238E27FC236}">
                  <a16:creationId xmlns:a16="http://schemas.microsoft.com/office/drawing/2014/main" id="{7B468612-0E16-2DAA-A443-1C755ABC30FC}"/>
                </a:ext>
              </a:extLst>
            </p:cNvPr>
            <p:cNvSpPr/>
            <p:nvPr/>
          </p:nvSpPr>
          <p:spPr>
            <a:xfrm>
              <a:off x="6868295" y="3358050"/>
              <a:ext cx="213360" cy="647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ectangle 55">
              <a:extLst>
                <a:ext uri="{FF2B5EF4-FFF2-40B4-BE49-F238E27FC236}">
                  <a16:creationId xmlns:a16="http://schemas.microsoft.com/office/drawing/2014/main" id="{C7D716D3-4853-B69D-7043-4DD889A6605A}"/>
                </a:ext>
              </a:extLst>
            </p:cNvPr>
            <p:cNvSpPr/>
            <p:nvPr/>
          </p:nvSpPr>
          <p:spPr>
            <a:xfrm>
              <a:off x="7656963" y="2525361"/>
              <a:ext cx="1069972" cy="408478"/>
            </a:xfrm>
            <a:prstGeom prst="rect">
              <a:avLst/>
            </a:prstGeom>
            <a:gradFill flip="none" rotWithShape="1">
              <a:gsLst>
                <a:gs pos="100000">
                  <a:srgbClr val="F6ECDD"/>
                </a:gs>
                <a:gs pos="0">
                  <a:schemeClr val="bg1"/>
                </a:gs>
              </a:gsLst>
              <a:path path="circle">
                <a:fillToRect l="50000" t="50000" r="50000" b="50000"/>
              </a:path>
              <a:tileRect/>
            </a:gradFill>
            <a:ln w="9525">
              <a:solidFill>
                <a:srgbClr val="C0B3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Cavernous sinus</a:t>
              </a:r>
            </a:p>
          </p:txBody>
        </p:sp>
        <p:grpSp>
          <p:nvGrpSpPr>
            <p:cNvPr id="61" name="Group 60">
              <a:extLst>
                <a:ext uri="{FF2B5EF4-FFF2-40B4-BE49-F238E27FC236}">
                  <a16:creationId xmlns:a16="http://schemas.microsoft.com/office/drawing/2014/main" id="{9E855E56-6D43-A538-1650-A4B50DD30049}"/>
                </a:ext>
              </a:extLst>
            </p:cNvPr>
            <p:cNvGrpSpPr/>
            <p:nvPr/>
          </p:nvGrpSpPr>
          <p:grpSpPr>
            <a:xfrm>
              <a:off x="8933831" y="3518711"/>
              <a:ext cx="221456" cy="322226"/>
              <a:chOff x="9659506" y="3856427"/>
              <a:chExt cx="221456" cy="322226"/>
            </a:xfrm>
          </p:grpSpPr>
          <p:sp>
            <p:nvSpPr>
              <p:cNvPr id="59" name="Oval 58">
                <a:extLst>
                  <a:ext uri="{FF2B5EF4-FFF2-40B4-BE49-F238E27FC236}">
                    <a16:creationId xmlns:a16="http://schemas.microsoft.com/office/drawing/2014/main" id="{4828D87A-D69C-D6D6-1F45-BBF7A75CFDE8}"/>
                  </a:ext>
                </a:extLst>
              </p:cNvPr>
              <p:cNvSpPr/>
              <p:nvPr/>
            </p:nvSpPr>
            <p:spPr>
              <a:xfrm>
                <a:off x="9709512" y="3856429"/>
                <a:ext cx="171450" cy="322223"/>
              </a:xfrm>
              <a:prstGeom prst="ellipse">
                <a:avLst/>
              </a:prstGeom>
              <a:solidFill>
                <a:srgbClr val="E2D2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0" name="Rectangle 59">
                <a:extLst>
                  <a:ext uri="{FF2B5EF4-FFF2-40B4-BE49-F238E27FC236}">
                    <a16:creationId xmlns:a16="http://schemas.microsoft.com/office/drawing/2014/main" id="{D78E41ED-372C-63D2-3F91-927D3DE4A970}"/>
                  </a:ext>
                </a:extLst>
              </p:cNvPr>
              <p:cNvSpPr/>
              <p:nvPr/>
            </p:nvSpPr>
            <p:spPr>
              <a:xfrm>
                <a:off x="9705975" y="3857625"/>
                <a:ext cx="98787" cy="321027"/>
              </a:xfrm>
              <a:prstGeom prst="rect">
                <a:avLst/>
              </a:prstGeom>
              <a:solidFill>
                <a:srgbClr val="E2D2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Oval 56">
                <a:extLst>
                  <a:ext uri="{FF2B5EF4-FFF2-40B4-BE49-F238E27FC236}">
                    <a16:creationId xmlns:a16="http://schemas.microsoft.com/office/drawing/2014/main" id="{DB4EF232-5E96-C47D-6F0C-6EC627E1FCEC}"/>
                  </a:ext>
                </a:extLst>
              </p:cNvPr>
              <p:cNvSpPr/>
              <p:nvPr/>
            </p:nvSpPr>
            <p:spPr>
              <a:xfrm>
                <a:off x="9659506" y="3856427"/>
                <a:ext cx="171450" cy="322226"/>
              </a:xfrm>
              <a:prstGeom prst="ellipse">
                <a:avLst/>
              </a:prstGeom>
              <a:gradFill>
                <a:gsLst>
                  <a:gs pos="92000">
                    <a:srgbClr val="998377"/>
                  </a:gs>
                  <a:gs pos="0">
                    <a:schemeClr val="bg1"/>
                  </a:gs>
                </a:gsLst>
                <a:path path="circle">
                  <a:fillToRect l="50000" t="50000" r="50000" b="50000"/>
                </a:path>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62" name="Oval 61">
              <a:extLst>
                <a:ext uri="{FF2B5EF4-FFF2-40B4-BE49-F238E27FC236}">
                  <a16:creationId xmlns:a16="http://schemas.microsoft.com/office/drawing/2014/main" id="{5D038B88-AB48-352C-C010-1734AFD4B46D}"/>
                </a:ext>
              </a:extLst>
            </p:cNvPr>
            <p:cNvSpPr/>
            <p:nvPr/>
          </p:nvSpPr>
          <p:spPr>
            <a:xfrm>
              <a:off x="6354214" y="3570299"/>
              <a:ext cx="155740" cy="155740"/>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4" name="Straight Arrow Connector 63">
              <a:extLst>
                <a:ext uri="{FF2B5EF4-FFF2-40B4-BE49-F238E27FC236}">
                  <a16:creationId xmlns:a16="http://schemas.microsoft.com/office/drawing/2014/main" id="{7C195A48-4D3B-F92F-74B8-566CF7C3B231}"/>
                </a:ext>
              </a:extLst>
            </p:cNvPr>
            <p:cNvCxnSpPr>
              <a:cxnSpLocks/>
              <a:stCxn id="62" idx="6"/>
            </p:cNvCxnSpPr>
            <p:nvPr/>
          </p:nvCxnSpPr>
          <p:spPr>
            <a:xfrm flipV="1">
              <a:off x="6509954" y="3638774"/>
              <a:ext cx="2979934" cy="9395"/>
            </a:xfrm>
            <a:prstGeom prst="straightConnector1">
              <a:avLst/>
            </a:prstGeom>
            <a:ln w="22225">
              <a:solidFill>
                <a:srgbClr val="C00000"/>
              </a:solidFill>
              <a:tailEnd type="none"/>
            </a:ln>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CFE395A9-3AB1-EE0F-A567-7865B3D15F68}"/>
                </a:ext>
              </a:extLst>
            </p:cNvPr>
            <p:cNvSpPr txBox="1"/>
            <p:nvPr/>
          </p:nvSpPr>
          <p:spPr>
            <a:xfrm>
              <a:off x="6601315" y="2481934"/>
              <a:ext cx="825867" cy="430887"/>
            </a:xfrm>
            <a:prstGeom prst="rect">
              <a:avLst/>
            </a:prstGeom>
            <a:noFill/>
          </p:spPr>
          <p:txBody>
            <a:bodyPr wrap="none" rtlCol="0">
              <a:spAutoFit/>
            </a:bodyPr>
            <a:lstStyle/>
            <a:p>
              <a:r>
                <a:rPr lang="en-GB" sz="1100" dirty="0"/>
                <a:t>Cerebellar</a:t>
              </a:r>
            </a:p>
            <a:p>
              <a:r>
                <a:rPr lang="en-GB" sz="1100" dirty="0"/>
                <a:t>peduncles</a:t>
              </a:r>
            </a:p>
          </p:txBody>
        </p:sp>
        <p:sp>
          <p:nvSpPr>
            <p:cNvPr id="67" name="Rectangle 66">
              <a:extLst>
                <a:ext uri="{FF2B5EF4-FFF2-40B4-BE49-F238E27FC236}">
                  <a16:creationId xmlns:a16="http://schemas.microsoft.com/office/drawing/2014/main" id="{0ED709B4-B661-C7D3-E955-609CE67C0544}"/>
                </a:ext>
              </a:extLst>
            </p:cNvPr>
            <p:cNvSpPr/>
            <p:nvPr/>
          </p:nvSpPr>
          <p:spPr>
            <a:xfrm>
              <a:off x="9369649" y="2604651"/>
              <a:ext cx="908720" cy="249898"/>
            </a:xfrm>
            <a:prstGeom prst="rect">
              <a:avLst/>
            </a:prstGeom>
            <a:gradFill flip="none" rotWithShape="1">
              <a:gsLst>
                <a:gs pos="100000">
                  <a:srgbClr val="F6ECDD"/>
                </a:gs>
                <a:gs pos="0">
                  <a:schemeClr val="bg1"/>
                </a:gs>
              </a:gsLst>
              <a:path path="circle">
                <a:fillToRect l="50000" t="50000" r="50000" b="50000"/>
              </a:path>
              <a:tileRect/>
            </a:gradFill>
            <a:ln w="9525">
              <a:solidFill>
                <a:srgbClr val="C0B3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Orbit</a:t>
              </a:r>
            </a:p>
          </p:txBody>
        </p:sp>
        <p:sp>
          <p:nvSpPr>
            <p:cNvPr id="68" name="Freeform: Shape 67">
              <a:extLst>
                <a:ext uri="{FF2B5EF4-FFF2-40B4-BE49-F238E27FC236}">
                  <a16:creationId xmlns:a16="http://schemas.microsoft.com/office/drawing/2014/main" id="{F2D2600C-E0B1-E5F4-9986-58B744C0ACDE}"/>
                </a:ext>
              </a:extLst>
            </p:cNvPr>
            <p:cNvSpPr/>
            <p:nvPr/>
          </p:nvSpPr>
          <p:spPr>
            <a:xfrm>
              <a:off x="9464260" y="3435785"/>
              <a:ext cx="919179" cy="203200"/>
            </a:xfrm>
            <a:custGeom>
              <a:avLst/>
              <a:gdLst>
                <a:gd name="connsiteX0" fmla="*/ 0 w 609600"/>
                <a:gd name="connsiteY0" fmla="*/ 203200 h 203200"/>
                <a:gd name="connsiteX1" fmla="*/ 283028 w 609600"/>
                <a:gd name="connsiteY1" fmla="*/ 36285 h 203200"/>
                <a:gd name="connsiteX2" fmla="*/ 609600 w 609600"/>
                <a:gd name="connsiteY2" fmla="*/ 0 h 203200"/>
                <a:gd name="connsiteX0" fmla="*/ 0 w 609600"/>
                <a:gd name="connsiteY0" fmla="*/ 203200 h 203200"/>
                <a:gd name="connsiteX1" fmla="*/ 283028 w 609600"/>
                <a:gd name="connsiteY1" fmla="*/ 36285 h 203200"/>
                <a:gd name="connsiteX2" fmla="*/ 609600 w 609600"/>
                <a:gd name="connsiteY2" fmla="*/ 0 h 203200"/>
              </a:gdLst>
              <a:ahLst/>
              <a:cxnLst>
                <a:cxn ang="0">
                  <a:pos x="connsiteX0" y="connsiteY0"/>
                </a:cxn>
                <a:cxn ang="0">
                  <a:pos x="connsiteX1" y="connsiteY1"/>
                </a:cxn>
                <a:cxn ang="0">
                  <a:pos x="connsiteX2" y="connsiteY2"/>
                </a:cxn>
              </a:cxnLst>
              <a:rect l="l" t="t" r="r" b="b"/>
              <a:pathLst>
                <a:path w="609600" h="203200">
                  <a:moveTo>
                    <a:pt x="0" y="203200"/>
                  </a:moveTo>
                  <a:cubicBezTo>
                    <a:pt x="152626" y="201763"/>
                    <a:pt x="181428" y="70152"/>
                    <a:pt x="283028" y="36285"/>
                  </a:cubicBezTo>
                  <a:cubicBezTo>
                    <a:pt x="384628" y="2418"/>
                    <a:pt x="497114" y="1209"/>
                    <a:pt x="609600" y="0"/>
                  </a:cubicBezTo>
                </a:path>
              </a:pathLst>
            </a:custGeom>
            <a:noFill/>
            <a:ln>
              <a:solidFill>
                <a:srgbClr val="C00000"/>
              </a:solidFill>
              <a:tailEnd type="stealth"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Freeform: Shape 68">
              <a:extLst>
                <a:ext uri="{FF2B5EF4-FFF2-40B4-BE49-F238E27FC236}">
                  <a16:creationId xmlns:a16="http://schemas.microsoft.com/office/drawing/2014/main" id="{63547B66-0DF4-E5C5-C826-A346FB22A160}"/>
                </a:ext>
              </a:extLst>
            </p:cNvPr>
            <p:cNvSpPr/>
            <p:nvPr/>
          </p:nvSpPr>
          <p:spPr>
            <a:xfrm flipV="1">
              <a:off x="9467832" y="3640573"/>
              <a:ext cx="919179" cy="203200"/>
            </a:xfrm>
            <a:custGeom>
              <a:avLst/>
              <a:gdLst>
                <a:gd name="connsiteX0" fmla="*/ 0 w 609600"/>
                <a:gd name="connsiteY0" fmla="*/ 203200 h 203200"/>
                <a:gd name="connsiteX1" fmla="*/ 283028 w 609600"/>
                <a:gd name="connsiteY1" fmla="*/ 36285 h 203200"/>
                <a:gd name="connsiteX2" fmla="*/ 609600 w 609600"/>
                <a:gd name="connsiteY2" fmla="*/ 0 h 203200"/>
                <a:gd name="connsiteX0" fmla="*/ 0 w 609600"/>
                <a:gd name="connsiteY0" fmla="*/ 203200 h 203200"/>
                <a:gd name="connsiteX1" fmla="*/ 283028 w 609600"/>
                <a:gd name="connsiteY1" fmla="*/ 36285 h 203200"/>
                <a:gd name="connsiteX2" fmla="*/ 609600 w 609600"/>
                <a:gd name="connsiteY2" fmla="*/ 0 h 203200"/>
              </a:gdLst>
              <a:ahLst/>
              <a:cxnLst>
                <a:cxn ang="0">
                  <a:pos x="connsiteX0" y="connsiteY0"/>
                </a:cxn>
                <a:cxn ang="0">
                  <a:pos x="connsiteX1" y="connsiteY1"/>
                </a:cxn>
                <a:cxn ang="0">
                  <a:pos x="connsiteX2" y="connsiteY2"/>
                </a:cxn>
              </a:cxnLst>
              <a:rect l="l" t="t" r="r" b="b"/>
              <a:pathLst>
                <a:path w="609600" h="203200">
                  <a:moveTo>
                    <a:pt x="0" y="203200"/>
                  </a:moveTo>
                  <a:cubicBezTo>
                    <a:pt x="152626" y="201763"/>
                    <a:pt x="181428" y="70152"/>
                    <a:pt x="283028" y="36285"/>
                  </a:cubicBezTo>
                  <a:cubicBezTo>
                    <a:pt x="384628" y="2418"/>
                    <a:pt x="497114" y="1209"/>
                    <a:pt x="609600" y="0"/>
                  </a:cubicBezTo>
                </a:path>
              </a:pathLst>
            </a:custGeom>
            <a:noFill/>
            <a:ln>
              <a:solidFill>
                <a:srgbClr val="C00000"/>
              </a:solidFill>
              <a:tailEnd type="stealth"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0" name="TextBox 69">
              <a:extLst>
                <a:ext uri="{FF2B5EF4-FFF2-40B4-BE49-F238E27FC236}">
                  <a16:creationId xmlns:a16="http://schemas.microsoft.com/office/drawing/2014/main" id="{6FBCAD6C-CEA3-4B9D-375A-65A4CD8E386E}"/>
                </a:ext>
              </a:extLst>
            </p:cNvPr>
            <p:cNvSpPr txBox="1"/>
            <p:nvPr/>
          </p:nvSpPr>
          <p:spPr>
            <a:xfrm>
              <a:off x="10464319" y="2896744"/>
              <a:ext cx="1346742" cy="1277273"/>
            </a:xfrm>
            <a:prstGeom prst="rect">
              <a:avLst/>
            </a:prstGeom>
            <a:noFill/>
          </p:spPr>
          <p:txBody>
            <a:bodyPr wrap="square" rtlCol="0">
              <a:spAutoFit/>
            </a:bodyPr>
            <a:lstStyle/>
            <a:p>
              <a:r>
                <a:rPr lang="en-GB" sz="1100" dirty="0"/>
                <a:t>Superior rectus</a:t>
              </a:r>
            </a:p>
            <a:p>
              <a:r>
                <a:rPr lang="en-GB" sz="1100" dirty="0"/>
                <a:t>Medial rectus</a:t>
              </a:r>
            </a:p>
            <a:p>
              <a:r>
                <a:rPr lang="en-GB" sz="1100" dirty="0"/>
                <a:t>Inferior rectus</a:t>
              </a:r>
            </a:p>
            <a:p>
              <a:r>
                <a:rPr lang="en-GB" sz="1100" dirty="0"/>
                <a:t>Inferior oblique</a:t>
              </a:r>
            </a:p>
            <a:p>
              <a:endParaRPr lang="en-GB" sz="1100" dirty="0"/>
            </a:p>
            <a:p>
              <a:r>
                <a:rPr lang="en-GB" sz="1100" dirty="0"/>
                <a:t>Levator palpebrae superioris</a:t>
              </a:r>
            </a:p>
          </p:txBody>
        </p:sp>
        <p:sp>
          <p:nvSpPr>
            <p:cNvPr id="71" name="Oval 70">
              <a:extLst>
                <a:ext uri="{FF2B5EF4-FFF2-40B4-BE49-F238E27FC236}">
                  <a16:creationId xmlns:a16="http://schemas.microsoft.com/office/drawing/2014/main" id="{98D7313C-96DD-478C-BB06-D34B6297C3DD}"/>
                </a:ext>
              </a:extLst>
            </p:cNvPr>
            <p:cNvSpPr/>
            <p:nvPr/>
          </p:nvSpPr>
          <p:spPr>
            <a:xfrm>
              <a:off x="6143580" y="3672929"/>
              <a:ext cx="155740" cy="155740"/>
            </a:xfrm>
            <a:prstGeom prst="ellipse">
              <a:avLst/>
            </a:prstGeom>
            <a:solidFill>
              <a:srgbClr val="8A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2" name="Straight Arrow Connector 71">
              <a:extLst>
                <a:ext uri="{FF2B5EF4-FFF2-40B4-BE49-F238E27FC236}">
                  <a16:creationId xmlns:a16="http://schemas.microsoft.com/office/drawing/2014/main" id="{E0244467-6D9D-315A-918D-A6A07B307FB5}"/>
                </a:ext>
              </a:extLst>
            </p:cNvPr>
            <p:cNvCxnSpPr>
              <a:cxnSpLocks/>
              <a:stCxn id="71" idx="6"/>
            </p:cNvCxnSpPr>
            <p:nvPr/>
          </p:nvCxnSpPr>
          <p:spPr>
            <a:xfrm flipV="1">
              <a:off x="6299320" y="3741404"/>
              <a:ext cx="2979934" cy="9395"/>
            </a:xfrm>
            <a:prstGeom prst="straightConnector1">
              <a:avLst/>
            </a:prstGeom>
            <a:ln w="22225">
              <a:solidFill>
                <a:srgbClr val="8A0000"/>
              </a:solidFill>
              <a:tailEnd type="none"/>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972FEDCD-B50B-2B6E-79A8-30D52906C1C4}"/>
                </a:ext>
              </a:extLst>
            </p:cNvPr>
            <p:cNvSpPr txBox="1"/>
            <p:nvPr/>
          </p:nvSpPr>
          <p:spPr>
            <a:xfrm>
              <a:off x="10464319" y="4174017"/>
              <a:ext cx="1388804" cy="430887"/>
            </a:xfrm>
            <a:prstGeom prst="rect">
              <a:avLst/>
            </a:prstGeom>
            <a:noFill/>
          </p:spPr>
          <p:txBody>
            <a:bodyPr wrap="square" rtlCol="0">
              <a:spAutoFit/>
            </a:bodyPr>
            <a:lstStyle/>
            <a:p>
              <a:r>
                <a:rPr lang="en-GB" sz="1100" dirty="0"/>
                <a:t>Constrictor pupillae</a:t>
              </a:r>
            </a:p>
            <a:p>
              <a:r>
                <a:rPr lang="en-GB" sz="1100" dirty="0"/>
                <a:t>Ciliary</a:t>
              </a:r>
            </a:p>
          </p:txBody>
        </p:sp>
        <p:sp>
          <p:nvSpPr>
            <p:cNvPr id="80" name="Freeform: Shape 79">
              <a:extLst>
                <a:ext uri="{FF2B5EF4-FFF2-40B4-BE49-F238E27FC236}">
                  <a16:creationId xmlns:a16="http://schemas.microsoft.com/office/drawing/2014/main" id="{C29BBE50-2B96-2B0C-08C1-B6D673DA0D32}"/>
                </a:ext>
              </a:extLst>
            </p:cNvPr>
            <p:cNvSpPr/>
            <p:nvPr/>
          </p:nvSpPr>
          <p:spPr>
            <a:xfrm>
              <a:off x="9273779" y="3739993"/>
              <a:ext cx="321072" cy="256934"/>
            </a:xfrm>
            <a:custGeom>
              <a:avLst/>
              <a:gdLst>
                <a:gd name="connsiteX0" fmla="*/ 0 w 346075"/>
                <a:gd name="connsiteY0" fmla="*/ 15987 h 279512"/>
                <a:gd name="connsiteX1" fmla="*/ 174625 w 346075"/>
                <a:gd name="connsiteY1" fmla="*/ 28687 h 279512"/>
                <a:gd name="connsiteX2" fmla="*/ 346075 w 346075"/>
                <a:gd name="connsiteY2" fmla="*/ 279512 h 279512"/>
                <a:gd name="connsiteX0" fmla="*/ 0 w 346075"/>
                <a:gd name="connsiteY0" fmla="*/ 10097 h 273622"/>
                <a:gd name="connsiteX1" fmla="*/ 174625 w 346075"/>
                <a:gd name="connsiteY1" fmla="*/ 22797 h 273622"/>
                <a:gd name="connsiteX2" fmla="*/ 346075 w 346075"/>
                <a:gd name="connsiteY2" fmla="*/ 273622 h 273622"/>
                <a:gd name="connsiteX0" fmla="*/ 0 w 321072"/>
                <a:gd name="connsiteY0" fmla="*/ 14959 h 271340"/>
                <a:gd name="connsiteX1" fmla="*/ 149622 w 321072"/>
                <a:gd name="connsiteY1" fmla="*/ 20515 h 271340"/>
                <a:gd name="connsiteX2" fmla="*/ 321072 w 321072"/>
                <a:gd name="connsiteY2" fmla="*/ 271340 h 271340"/>
                <a:gd name="connsiteX0" fmla="*/ 0 w 321072"/>
                <a:gd name="connsiteY0" fmla="*/ 553 h 256934"/>
                <a:gd name="connsiteX1" fmla="*/ 161529 w 321072"/>
                <a:gd name="connsiteY1" fmla="*/ 32302 h 256934"/>
                <a:gd name="connsiteX2" fmla="*/ 321072 w 321072"/>
                <a:gd name="connsiteY2" fmla="*/ 256934 h 256934"/>
              </a:gdLst>
              <a:ahLst/>
              <a:cxnLst>
                <a:cxn ang="0">
                  <a:pos x="connsiteX0" y="connsiteY0"/>
                </a:cxn>
                <a:cxn ang="0">
                  <a:pos x="connsiteX1" y="connsiteY1"/>
                </a:cxn>
                <a:cxn ang="0">
                  <a:pos x="connsiteX2" y="connsiteY2"/>
                </a:cxn>
              </a:cxnLst>
              <a:rect l="l" t="t" r="r" b="b"/>
              <a:pathLst>
                <a:path w="321072" h="256934">
                  <a:moveTo>
                    <a:pt x="0" y="553"/>
                  </a:moveTo>
                  <a:cubicBezTo>
                    <a:pt x="78714" y="2802"/>
                    <a:pt x="103850" y="-11619"/>
                    <a:pt x="161529" y="32302"/>
                  </a:cubicBezTo>
                  <a:cubicBezTo>
                    <a:pt x="219208" y="76223"/>
                    <a:pt x="264186" y="153482"/>
                    <a:pt x="321072" y="256934"/>
                  </a:cubicBezTo>
                </a:path>
              </a:pathLst>
            </a:custGeom>
            <a:noFill/>
            <a:ln w="22225">
              <a:solidFill>
                <a:srgbClr val="8A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8" name="Straight Connector 87">
              <a:extLst>
                <a:ext uri="{FF2B5EF4-FFF2-40B4-BE49-F238E27FC236}">
                  <a16:creationId xmlns:a16="http://schemas.microsoft.com/office/drawing/2014/main" id="{B6BC59E0-E05F-68F6-B7AD-704C5A38B72E}"/>
                </a:ext>
              </a:extLst>
            </p:cNvPr>
            <p:cNvCxnSpPr>
              <a:cxnSpLocks/>
              <a:stCxn id="54" idx="3"/>
              <a:endCxn id="54" idx="3"/>
            </p:cNvCxnSpPr>
            <p:nvPr/>
          </p:nvCxnSpPr>
          <p:spPr>
            <a:xfrm>
              <a:off x="9398000" y="3241875"/>
              <a:ext cx="0" cy="0"/>
            </a:xfrm>
            <a:prstGeom prst="line">
              <a:avLst/>
            </a:prstGeom>
          </p:spPr>
          <p:style>
            <a:lnRef idx="2">
              <a:schemeClr val="accent1"/>
            </a:lnRef>
            <a:fillRef idx="0">
              <a:schemeClr val="accent1"/>
            </a:fillRef>
            <a:effectRef idx="1">
              <a:schemeClr val="accent1"/>
            </a:effectRef>
            <a:fontRef idx="minor">
              <a:schemeClr val="tx1"/>
            </a:fontRef>
          </p:style>
        </p:cxnSp>
        <p:grpSp>
          <p:nvGrpSpPr>
            <p:cNvPr id="96" name="Group 95">
              <a:extLst>
                <a:ext uri="{FF2B5EF4-FFF2-40B4-BE49-F238E27FC236}">
                  <a16:creationId xmlns:a16="http://schemas.microsoft.com/office/drawing/2014/main" id="{5A44869E-673B-47E4-26CC-7D4005193EF9}"/>
                </a:ext>
              </a:extLst>
            </p:cNvPr>
            <p:cNvGrpSpPr/>
            <p:nvPr/>
          </p:nvGrpSpPr>
          <p:grpSpPr>
            <a:xfrm rot="19883446">
              <a:off x="9553979" y="3995348"/>
              <a:ext cx="109870" cy="64100"/>
              <a:chOff x="6601315" y="5372100"/>
              <a:chExt cx="750995" cy="438150"/>
            </a:xfrm>
          </p:grpSpPr>
          <p:cxnSp>
            <p:nvCxnSpPr>
              <p:cNvPr id="94" name="Straight Connector 93">
                <a:extLst>
                  <a:ext uri="{FF2B5EF4-FFF2-40B4-BE49-F238E27FC236}">
                    <a16:creationId xmlns:a16="http://schemas.microsoft.com/office/drawing/2014/main" id="{BCA366B8-D91A-DFED-59B7-9EFBFEA78F08}"/>
                  </a:ext>
                </a:extLst>
              </p:cNvPr>
              <p:cNvCxnSpPr/>
              <p:nvPr/>
            </p:nvCxnSpPr>
            <p:spPr>
              <a:xfrm flipV="1">
                <a:off x="6601315" y="5372100"/>
                <a:ext cx="377335" cy="438150"/>
              </a:xfrm>
              <a:prstGeom prst="line">
                <a:avLst/>
              </a:prstGeom>
              <a:ln>
                <a:solidFill>
                  <a:srgbClr val="8A0000"/>
                </a:solidFill>
              </a:ln>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484502A1-77D2-A21D-18E4-5B06E5220089}"/>
                  </a:ext>
                </a:extLst>
              </p:cNvPr>
              <p:cNvCxnSpPr>
                <a:cxnSpLocks/>
              </p:cNvCxnSpPr>
              <p:nvPr/>
            </p:nvCxnSpPr>
            <p:spPr>
              <a:xfrm flipH="1" flipV="1">
                <a:off x="6974975" y="5372100"/>
                <a:ext cx="377335" cy="438150"/>
              </a:xfrm>
              <a:prstGeom prst="line">
                <a:avLst/>
              </a:prstGeom>
              <a:ln>
                <a:solidFill>
                  <a:srgbClr val="8A0000"/>
                </a:solidFill>
              </a:ln>
            </p:spPr>
            <p:style>
              <a:lnRef idx="2">
                <a:schemeClr val="accent1"/>
              </a:lnRef>
              <a:fillRef idx="0">
                <a:schemeClr val="accent1"/>
              </a:fillRef>
              <a:effectRef idx="1">
                <a:schemeClr val="accent1"/>
              </a:effectRef>
              <a:fontRef idx="minor">
                <a:schemeClr val="tx1"/>
              </a:fontRef>
            </p:style>
          </p:cxnSp>
        </p:grpSp>
        <p:grpSp>
          <p:nvGrpSpPr>
            <p:cNvPr id="99" name="Group 98">
              <a:extLst>
                <a:ext uri="{FF2B5EF4-FFF2-40B4-BE49-F238E27FC236}">
                  <a16:creationId xmlns:a16="http://schemas.microsoft.com/office/drawing/2014/main" id="{6EC9260B-B32A-578D-F6BA-9D27F0ED3869}"/>
                </a:ext>
              </a:extLst>
            </p:cNvPr>
            <p:cNvGrpSpPr/>
            <p:nvPr/>
          </p:nvGrpSpPr>
          <p:grpSpPr>
            <a:xfrm>
              <a:off x="9593331" y="4069643"/>
              <a:ext cx="790109" cy="304585"/>
              <a:chOff x="9593331" y="4069643"/>
              <a:chExt cx="790109" cy="304585"/>
            </a:xfrm>
          </p:grpSpPr>
          <p:sp>
            <p:nvSpPr>
              <p:cNvPr id="97" name="Oval 96">
                <a:extLst>
                  <a:ext uri="{FF2B5EF4-FFF2-40B4-BE49-F238E27FC236}">
                    <a16:creationId xmlns:a16="http://schemas.microsoft.com/office/drawing/2014/main" id="{DB5F8C17-8495-9BB7-B7EA-4E27CC28CBB6}"/>
                  </a:ext>
                </a:extLst>
              </p:cNvPr>
              <p:cNvSpPr/>
              <p:nvPr/>
            </p:nvSpPr>
            <p:spPr>
              <a:xfrm>
                <a:off x="9593331" y="4069643"/>
                <a:ext cx="155740" cy="155740"/>
              </a:xfrm>
              <a:prstGeom prst="ellipse">
                <a:avLst/>
              </a:prstGeom>
              <a:solidFill>
                <a:srgbClr val="8A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Freeform: Shape 97">
                <a:extLst>
                  <a:ext uri="{FF2B5EF4-FFF2-40B4-BE49-F238E27FC236}">
                    <a16:creationId xmlns:a16="http://schemas.microsoft.com/office/drawing/2014/main" id="{E5C28BB7-4BA1-C39C-E446-2410E509E240}"/>
                  </a:ext>
                </a:extLst>
              </p:cNvPr>
              <p:cNvSpPr/>
              <p:nvPr/>
            </p:nvSpPr>
            <p:spPr>
              <a:xfrm>
                <a:off x="9707165" y="4194388"/>
                <a:ext cx="676275" cy="179840"/>
              </a:xfrm>
              <a:custGeom>
                <a:avLst/>
                <a:gdLst>
                  <a:gd name="connsiteX0" fmla="*/ 0 w 676275"/>
                  <a:gd name="connsiteY0" fmla="*/ 0 h 179840"/>
                  <a:gd name="connsiteX1" fmla="*/ 234553 w 676275"/>
                  <a:gd name="connsiteY1" fmla="*/ 152400 h 179840"/>
                  <a:gd name="connsiteX2" fmla="*/ 676275 w 676275"/>
                  <a:gd name="connsiteY2" fmla="*/ 179785 h 179840"/>
                  <a:gd name="connsiteX3" fmla="*/ 676275 w 676275"/>
                  <a:gd name="connsiteY3" fmla="*/ 179785 h 179840"/>
                </a:gdLst>
                <a:ahLst/>
                <a:cxnLst>
                  <a:cxn ang="0">
                    <a:pos x="connsiteX0" y="connsiteY0"/>
                  </a:cxn>
                  <a:cxn ang="0">
                    <a:pos x="connsiteX1" y="connsiteY1"/>
                  </a:cxn>
                  <a:cxn ang="0">
                    <a:pos x="connsiteX2" y="connsiteY2"/>
                  </a:cxn>
                  <a:cxn ang="0">
                    <a:pos x="connsiteX3" y="connsiteY3"/>
                  </a:cxn>
                </a:cxnLst>
                <a:rect l="l" t="t" r="r" b="b"/>
                <a:pathLst>
                  <a:path w="676275" h="179840">
                    <a:moveTo>
                      <a:pt x="0" y="0"/>
                    </a:moveTo>
                    <a:cubicBezTo>
                      <a:pt x="60920" y="61218"/>
                      <a:pt x="121841" y="122436"/>
                      <a:pt x="234553" y="152400"/>
                    </a:cubicBezTo>
                    <a:cubicBezTo>
                      <a:pt x="347265" y="182364"/>
                      <a:pt x="676275" y="179785"/>
                      <a:pt x="676275" y="179785"/>
                    </a:cubicBezTo>
                    <a:lnTo>
                      <a:pt x="676275" y="179785"/>
                    </a:lnTo>
                  </a:path>
                </a:pathLst>
              </a:custGeom>
              <a:noFill/>
              <a:ln>
                <a:solidFill>
                  <a:srgbClr val="8A0000"/>
                </a:solidFill>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01" name="TextBox 100">
              <a:extLst>
                <a:ext uri="{FF2B5EF4-FFF2-40B4-BE49-F238E27FC236}">
                  <a16:creationId xmlns:a16="http://schemas.microsoft.com/office/drawing/2014/main" id="{FF3FACC4-0E5A-6963-C638-E921A9A21D07}"/>
                </a:ext>
              </a:extLst>
            </p:cNvPr>
            <p:cNvSpPr txBox="1"/>
            <p:nvPr/>
          </p:nvSpPr>
          <p:spPr>
            <a:xfrm>
              <a:off x="8985087" y="4147513"/>
              <a:ext cx="742578" cy="430887"/>
            </a:xfrm>
            <a:prstGeom prst="rect">
              <a:avLst/>
            </a:prstGeom>
            <a:noFill/>
          </p:spPr>
          <p:txBody>
            <a:bodyPr wrap="square" rtlCol="0">
              <a:spAutoFit/>
            </a:bodyPr>
            <a:lstStyle/>
            <a:p>
              <a:pPr algn="ctr"/>
              <a:r>
                <a:rPr lang="en-GB" sz="1100" dirty="0"/>
                <a:t>Celiac</a:t>
              </a:r>
            </a:p>
            <a:p>
              <a:pPr algn="ctr"/>
              <a:r>
                <a:rPr lang="en-GB" sz="1100" dirty="0"/>
                <a:t>ganglion</a:t>
              </a:r>
            </a:p>
          </p:txBody>
        </p:sp>
        <p:sp>
          <p:nvSpPr>
            <p:cNvPr id="102" name="TextBox 101">
              <a:extLst>
                <a:ext uri="{FF2B5EF4-FFF2-40B4-BE49-F238E27FC236}">
                  <a16:creationId xmlns:a16="http://schemas.microsoft.com/office/drawing/2014/main" id="{0813AA89-E572-BF88-0292-A6C2ED3DB81E}"/>
                </a:ext>
              </a:extLst>
            </p:cNvPr>
            <p:cNvSpPr txBox="1"/>
            <p:nvPr/>
          </p:nvSpPr>
          <p:spPr>
            <a:xfrm>
              <a:off x="5873310" y="3117749"/>
              <a:ext cx="923651" cy="430887"/>
            </a:xfrm>
            <a:prstGeom prst="rect">
              <a:avLst/>
            </a:prstGeom>
            <a:noFill/>
          </p:spPr>
          <p:txBody>
            <a:bodyPr wrap="none" rtlCol="0">
              <a:spAutoFit/>
            </a:bodyPr>
            <a:lstStyle/>
            <a:p>
              <a:r>
                <a:rPr lang="en-GB" sz="1100" dirty="0"/>
                <a:t>Oculomotor</a:t>
              </a:r>
            </a:p>
            <a:p>
              <a:r>
                <a:rPr lang="en-GB" sz="1100" dirty="0"/>
                <a:t>Nucleus</a:t>
              </a:r>
            </a:p>
          </p:txBody>
        </p:sp>
        <p:sp>
          <p:nvSpPr>
            <p:cNvPr id="103" name="TextBox 102">
              <a:extLst>
                <a:ext uri="{FF2B5EF4-FFF2-40B4-BE49-F238E27FC236}">
                  <a16:creationId xmlns:a16="http://schemas.microsoft.com/office/drawing/2014/main" id="{B5ABCEB9-233F-519C-A68B-D825F684093A}"/>
                </a:ext>
              </a:extLst>
            </p:cNvPr>
            <p:cNvSpPr txBox="1"/>
            <p:nvPr/>
          </p:nvSpPr>
          <p:spPr>
            <a:xfrm>
              <a:off x="5854201" y="3851326"/>
              <a:ext cx="847626" cy="600164"/>
            </a:xfrm>
            <a:prstGeom prst="rect">
              <a:avLst/>
            </a:prstGeom>
            <a:noFill/>
          </p:spPr>
          <p:txBody>
            <a:bodyPr wrap="square" rtlCol="0">
              <a:spAutoFit/>
            </a:bodyPr>
            <a:lstStyle/>
            <a:p>
              <a:r>
                <a:rPr lang="en-GB" sz="1100" dirty="0"/>
                <a:t>Edinger-Westphal</a:t>
              </a:r>
            </a:p>
            <a:p>
              <a:r>
                <a:rPr lang="en-GB" sz="1100" dirty="0"/>
                <a:t>Nucleus</a:t>
              </a:r>
            </a:p>
          </p:txBody>
        </p:sp>
      </p:grpSp>
      <p:sp>
        <p:nvSpPr>
          <p:cNvPr id="107" name="TextBox 106">
            <a:extLst>
              <a:ext uri="{FF2B5EF4-FFF2-40B4-BE49-F238E27FC236}">
                <a16:creationId xmlns:a16="http://schemas.microsoft.com/office/drawing/2014/main" id="{3D8FB14D-12E5-9266-B4B9-E55B48E69786}"/>
              </a:ext>
            </a:extLst>
          </p:cNvPr>
          <p:cNvSpPr txBox="1"/>
          <p:nvPr/>
        </p:nvSpPr>
        <p:spPr>
          <a:xfrm>
            <a:off x="10449699" y="2720345"/>
            <a:ext cx="1346742" cy="261610"/>
          </a:xfrm>
          <a:prstGeom prst="rect">
            <a:avLst/>
          </a:prstGeom>
          <a:noFill/>
        </p:spPr>
        <p:txBody>
          <a:bodyPr wrap="square" rtlCol="0">
            <a:spAutoFit/>
          </a:bodyPr>
          <a:lstStyle/>
          <a:p>
            <a:r>
              <a:rPr lang="en-GB" sz="1100" b="1" dirty="0"/>
              <a:t>Eye muscles</a:t>
            </a:r>
          </a:p>
        </p:txBody>
      </p:sp>
    </p:spTree>
    <p:extLst>
      <p:ext uri="{BB962C8B-B14F-4D97-AF65-F5344CB8AC3E}">
        <p14:creationId xmlns:p14="http://schemas.microsoft.com/office/powerpoint/2010/main" val="259297719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5F254-79CB-2E34-0442-E12460985C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9061D9-33A9-71BD-839E-B6A79E9259B4}"/>
              </a:ext>
            </a:extLst>
          </p:cNvPr>
          <p:cNvSpPr>
            <a:spLocks noGrp="1"/>
          </p:cNvSpPr>
          <p:nvPr>
            <p:ph type="title"/>
          </p:nvPr>
        </p:nvSpPr>
        <p:spPr/>
        <p:txBody>
          <a:bodyPr/>
          <a:lstStyle/>
          <a:p>
            <a:r>
              <a:rPr lang="en-GB" dirty="0"/>
              <a:t>Cranial nerves of the midbrain</a:t>
            </a:r>
          </a:p>
        </p:txBody>
      </p:sp>
      <p:graphicFrame>
        <p:nvGraphicFramePr>
          <p:cNvPr id="8" name="Table 7">
            <a:extLst>
              <a:ext uri="{FF2B5EF4-FFF2-40B4-BE49-F238E27FC236}">
                <a16:creationId xmlns:a16="http://schemas.microsoft.com/office/drawing/2014/main" id="{0EEAFA56-F100-BECD-5505-18FDBBA88664}"/>
              </a:ext>
            </a:extLst>
          </p:cNvPr>
          <p:cNvGraphicFramePr>
            <a:graphicFrameLocks noGrp="1"/>
          </p:cNvGraphicFramePr>
          <p:nvPr/>
        </p:nvGraphicFramePr>
        <p:xfrm>
          <a:off x="319945" y="1385799"/>
          <a:ext cx="11552109" cy="2488001"/>
        </p:xfrm>
        <a:graphic>
          <a:graphicData uri="http://schemas.openxmlformats.org/drawingml/2006/table">
            <a:tbl>
              <a:tblPr firstRow="1" bandRow="1">
                <a:tableStyleId>{9D7B26C5-4107-4FEC-AEDC-1716B250A1EF}</a:tableStyleId>
              </a:tblPr>
              <a:tblGrid>
                <a:gridCol w="948478">
                  <a:extLst>
                    <a:ext uri="{9D8B030D-6E8A-4147-A177-3AD203B41FA5}">
                      <a16:colId xmlns:a16="http://schemas.microsoft.com/office/drawing/2014/main" val="3880467983"/>
                    </a:ext>
                  </a:extLst>
                </a:gridCol>
                <a:gridCol w="1601620">
                  <a:extLst>
                    <a:ext uri="{9D8B030D-6E8A-4147-A177-3AD203B41FA5}">
                      <a16:colId xmlns:a16="http://schemas.microsoft.com/office/drawing/2014/main" val="1963411889"/>
                    </a:ext>
                  </a:extLst>
                </a:gridCol>
                <a:gridCol w="3475855">
                  <a:extLst>
                    <a:ext uri="{9D8B030D-6E8A-4147-A177-3AD203B41FA5}">
                      <a16:colId xmlns:a16="http://schemas.microsoft.com/office/drawing/2014/main" val="1299710248"/>
                    </a:ext>
                  </a:extLst>
                </a:gridCol>
                <a:gridCol w="5526156">
                  <a:extLst>
                    <a:ext uri="{9D8B030D-6E8A-4147-A177-3AD203B41FA5}">
                      <a16:colId xmlns:a16="http://schemas.microsoft.com/office/drawing/2014/main" val="2499284477"/>
                    </a:ext>
                  </a:extLst>
                </a:gridCol>
              </a:tblGrid>
              <a:tr h="374847">
                <a:tc>
                  <a:txBody>
                    <a:bodyPr/>
                    <a:lstStyle/>
                    <a:p>
                      <a:r>
                        <a:rPr lang="en-GB" sz="1600" dirty="0"/>
                        <a:t>Number</a:t>
                      </a:r>
                    </a:p>
                  </a:txBody>
                  <a:tcPr/>
                </a:tc>
                <a:tc>
                  <a:txBody>
                    <a:bodyPr/>
                    <a:lstStyle/>
                    <a:p>
                      <a:r>
                        <a:rPr lang="en-GB" sz="1600" dirty="0"/>
                        <a:t>Nerve</a:t>
                      </a:r>
                    </a:p>
                  </a:txBody>
                  <a:tcPr/>
                </a:tc>
                <a:tc>
                  <a:txBody>
                    <a:bodyPr/>
                    <a:lstStyle/>
                    <a:p>
                      <a:r>
                        <a:rPr lang="en-GB" sz="1600" dirty="0"/>
                        <a:t>Nuclei</a:t>
                      </a:r>
                    </a:p>
                  </a:txBody>
                  <a:tcPr/>
                </a:tc>
                <a:tc>
                  <a:txBody>
                    <a:bodyPr/>
                    <a:lstStyle/>
                    <a:p>
                      <a:r>
                        <a:rPr lang="en-GB" sz="1600" dirty="0"/>
                        <a:t>Targets</a:t>
                      </a:r>
                    </a:p>
                  </a:txBody>
                  <a:tcPr/>
                </a:tc>
                <a:extLst>
                  <a:ext uri="{0D108BD9-81ED-4DB2-BD59-A6C34878D82A}">
                    <a16:rowId xmlns:a16="http://schemas.microsoft.com/office/drawing/2014/main" val="4195276562"/>
                  </a:ext>
                </a:extLst>
              </a:tr>
              <a:tr h="528194">
                <a:tc>
                  <a:txBody>
                    <a:bodyPr/>
                    <a:lstStyle/>
                    <a:p>
                      <a:pPr algn="ctr"/>
                      <a:r>
                        <a:rPr lang="en-GB" sz="1400" b="1" dirty="0"/>
                        <a:t>IV</a:t>
                      </a:r>
                    </a:p>
                  </a:txBody>
                  <a:tcPr/>
                </a:tc>
                <a:tc>
                  <a:txBody>
                    <a:bodyPr/>
                    <a:lstStyle/>
                    <a:p>
                      <a:r>
                        <a:rPr lang="en-GB" sz="1400" dirty="0"/>
                        <a:t>Trochlear</a:t>
                      </a:r>
                    </a:p>
                  </a:txBody>
                  <a:tcPr/>
                </a:tc>
                <a:tc>
                  <a:txBody>
                    <a:bodyPr/>
                    <a:lstStyle/>
                    <a:p>
                      <a:pPr marL="285750" indent="-285750">
                        <a:buFont typeface="Arial" panose="020B0604020202020204" pitchFamily="34" charset="0"/>
                        <a:buChar char="•"/>
                      </a:pPr>
                      <a:r>
                        <a:rPr lang="en-GB" sz="1400" dirty="0">
                          <a:solidFill>
                            <a:srgbClr val="C00000"/>
                          </a:solidFill>
                        </a:rPr>
                        <a:t>Trochlear</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400" dirty="0">
                          <a:solidFill>
                            <a:srgbClr val="C00000"/>
                          </a:solidFill>
                        </a:rPr>
                        <a:t>Superior oblique muscle of the eye</a:t>
                      </a:r>
                    </a:p>
                    <a:p>
                      <a:pPr marL="285750" indent="-285750">
                        <a:buFont typeface="Arial" panose="020B0604020202020204" pitchFamily="34" charset="0"/>
                        <a:buChar char="•"/>
                      </a:pPr>
                      <a:endParaRPr lang="en-GB" sz="1400" dirty="0"/>
                    </a:p>
                  </a:txBody>
                  <a:tcPr/>
                </a:tc>
                <a:extLst>
                  <a:ext uri="{0D108BD9-81ED-4DB2-BD59-A6C34878D82A}">
                    <a16:rowId xmlns:a16="http://schemas.microsoft.com/office/drawing/2014/main" val="1781667687"/>
                  </a:ext>
                </a:extLst>
              </a:tr>
              <a:tr h="955292">
                <a:tc>
                  <a:txBody>
                    <a:bodyPr/>
                    <a:lstStyle/>
                    <a:p>
                      <a:pPr algn="ctr"/>
                      <a:r>
                        <a:rPr lang="en-GB" sz="1400" b="1" dirty="0"/>
                        <a:t>III</a:t>
                      </a:r>
                    </a:p>
                  </a:txBody>
                  <a:tcPr/>
                </a:tc>
                <a:tc>
                  <a:txBody>
                    <a:bodyPr/>
                    <a:lstStyle/>
                    <a:p>
                      <a:r>
                        <a:rPr lang="en-GB" sz="1400" dirty="0"/>
                        <a:t>Oculomotor</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400" dirty="0">
                          <a:solidFill>
                            <a:srgbClr val="C00000"/>
                          </a:solidFill>
                        </a:rPr>
                        <a:t>Oculomotor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400" dirty="0"/>
                        <a:t>Nucleus of Edinger‐Westphal</a:t>
                      </a:r>
                    </a:p>
                    <a:p>
                      <a:pPr marL="0" indent="0">
                        <a:buFont typeface="Arial" panose="020B0604020202020204" pitchFamily="34" charset="0"/>
                        <a:buNone/>
                      </a:pPr>
                      <a:endParaRPr lang="en-GB" sz="1400" dirty="0"/>
                    </a:p>
                  </a:txBody>
                  <a:tcPr/>
                </a:tc>
                <a:tc>
                  <a:txBody>
                    <a:bodyPr/>
                    <a:lstStyle/>
                    <a:p>
                      <a:pPr marL="285750" indent="-285750">
                        <a:buFont typeface="Arial" panose="020B0604020202020204" pitchFamily="34" charset="0"/>
                        <a:buChar char="•"/>
                      </a:pPr>
                      <a:r>
                        <a:rPr lang="en-GB" sz="1400" dirty="0">
                          <a:solidFill>
                            <a:srgbClr val="C00000"/>
                          </a:solidFill>
                        </a:rPr>
                        <a:t>Levator palpebrae superioris muscle of the eye</a:t>
                      </a:r>
                    </a:p>
                    <a:p>
                      <a:pPr marL="285750" indent="-285750">
                        <a:buFont typeface="Arial" panose="020B0604020202020204" pitchFamily="34" charset="0"/>
                        <a:buChar char="•"/>
                      </a:pPr>
                      <a:r>
                        <a:rPr lang="en-GB" sz="1400" dirty="0">
                          <a:solidFill>
                            <a:srgbClr val="C00000"/>
                          </a:solidFill>
                        </a:rPr>
                        <a:t>Superior rectus muscle of the eye</a:t>
                      </a:r>
                    </a:p>
                    <a:p>
                      <a:pPr marL="285750" indent="-285750">
                        <a:buFont typeface="Arial" panose="020B0604020202020204" pitchFamily="34" charset="0"/>
                        <a:buChar char="•"/>
                      </a:pPr>
                      <a:r>
                        <a:rPr lang="en-GB" sz="1400" dirty="0">
                          <a:solidFill>
                            <a:srgbClr val="C00000"/>
                          </a:solidFill>
                        </a:rPr>
                        <a:t>Medial rectus muscle of the eye</a:t>
                      </a:r>
                    </a:p>
                    <a:p>
                      <a:pPr marL="285750" indent="-285750">
                        <a:buFont typeface="Arial" panose="020B0604020202020204" pitchFamily="34" charset="0"/>
                        <a:buChar char="•"/>
                      </a:pPr>
                      <a:r>
                        <a:rPr lang="en-GB" sz="1400" dirty="0">
                          <a:solidFill>
                            <a:srgbClr val="C00000"/>
                          </a:solidFill>
                        </a:rPr>
                        <a:t>Inferior rectus muscle of the eye</a:t>
                      </a:r>
                    </a:p>
                    <a:p>
                      <a:pPr marL="285750" indent="-285750">
                        <a:buFont typeface="Arial" panose="020B0604020202020204" pitchFamily="34" charset="0"/>
                        <a:buChar char="•"/>
                      </a:pPr>
                      <a:r>
                        <a:rPr lang="en-GB" sz="1400" dirty="0">
                          <a:solidFill>
                            <a:srgbClr val="C00000"/>
                          </a:solidFill>
                        </a:rPr>
                        <a:t>Inferior oblique muscle of the eye</a:t>
                      </a:r>
                    </a:p>
                    <a:p>
                      <a:pPr marL="285750" indent="-285750">
                        <a:buFont typeface="Arial" panose="020B0604020202020204" pitchFamily="34" charset="0"/>
                        <a:buChar char="•"/>
                      </a:pPr>
                      <a:r>
                        <a:rPr lang="en-GB" sz="1400" dirty="0"/>
                        <a:t>Sphincter pupillae muscle and ciliary muscle</a:t>
                      </a:r>
                    </a:p>
                    <a:p>
                      <a:pPr marL="285750" indent="-285750">
                        <a:buFont typeface="Arial" panose="020B0604020202020204" pitchFamily="34" charset="0"/>
                        <a:buChar char="•"/>
                      </a:pPr>
                      <a:endParaRPr lang="en-GB" sz="1400" dirty="0"/>
                    </a:p>
                  </a:txBody>
                  <a:tcPr/>
                </a:tc>
                <a:extLst>
                  <a:ext uri="{0D108BD9-81ED-4DB2-BD59-A6C34878D82A}">
                    <a16:rowId xmlns:a16="http://schemas.microsoft.com/office/drawing/2014/main" val="4231388058"/>
                  </a:ext>
                </a:extLst>
              </a:tr>
            </a:tbl>
          </a:graphicData>
        </a:graphic>
      </p:graphicFrame>
    </p:spTree>
    <p:extLst>
      <p:ext uri="{BB962C8B-B14F-4D97-AF65-F5344CB8AC3E}">
        <p14:creationId xmlns:p14="http://schemas.microsoft.com/office/powerpoint/2010/main" val="23984175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671EE-D643-F158-50A0-3D6C804BC67E}"/>
              </a:ext>
            </a:extLst>
          </p:cNvPr>
          <p:cNvSpPr>
            <a:spLocks noGrp="1"/>
          </p:cNvSpPr>
          <p:nvPr>
            <p:ph type="title"/>
          </p:nvPr>
        </p:nvSpPr>
        <p:spPr/>
        <p:txBody>
          <a:bodyPr/>
          <a:lstStyle/>
          <a:p>
            <a:r>
              <a:rPr lang="en-GB" dirty="0"/>
              <a:t>Cranial nerves of the brainstem</a:t>
            </a:r>
          </a:p>
        </p:txBody>
      </p:sp>
      <p:grpSp>
        <p:nvGrpSpPr>
          <p:cNvPr id="4" name="Group 3">
            <a:extLst>
              <a:ext uri="{FF2B5EF4-FFF2-40B4-BE49-F238E27FC236}">
                <a16:creationId xmlns:a16="http://schemas.microsoft.com/office/drawing/2014/main" id="{56678584-6A0F-176A-94FE-5B76D14753AD}"/>
              </a:ext>
            </a:extLst>
          </p:cNvPr>
          <p:cNvGrpSpPr/>
          <p:nvPr/>
        </p:nvGrpSpPr>
        <p:grpSpPr>
          <a:xfrm>
            <a:off x="58536" y="1169978"/>
            <a:ext cx="12074928" cy="5463682"/>
            <a:chOff x="58536" y="1169978"/>
            <a:chExt cx="12074928" cy="5463682"/>
          </a:xfrm>
        </p:grpSpPr>
        <p:sp>
          <p:nvSpPr>
            <p:cNvPr id="3" name="Rectangle 2">
              <a:extLst>
                <a:ext uri="{FF2B5EF4-FFF2-40B4-BE49-F238E27FC236}">
                  <a16:creationId xmlns:a16="http://schemas.microsoft.com/office/drawing/2014/main" id="{74AC6655-D9DA-BBF3-D093-305926B37D54}"/>
                </a:ext>
              </a:extLst>
            </p:cNvPr>
            <p:cNvSpPr/>
            <p:nvPr/>
          </p:nvSpPr>
          <p:spPr>
            <a:xfrm>
              <a:off x="58536" y="1169978"/>
              <a:ext cx="12074928" cy="5463682"/>
            </a:xfrm>
            <a:prstGeom prst="rect">
              <a:avLst/>
            </a:prstGeom>
            <a:solidFill>
              <a:srgbClr val="E7E5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5141EA7B-8B99-EC47-1350-1A3A5342D4D0}"/>
                </a:ext>
              </a:extLst>
            </p:cNvPr>
            <p:cNvPicPr>
              <a:picLocks noChangeAspect="1"/>
            </p:cNvPicPr>
            <p:nvPr/>
          </p:nvPicPr>
          <p:blipFill>
            <a:blip r:embed="rId2"/>
            <a:stretch>
              <a:fillRect/>
            </a:stretch>
          </p:blipFill>
          <p:spPr>
            <a:xfrm>
              <a:off x="5251392" y="1931031"/>
              <a:ext cx="6882072" cy="4246612"/>
            </a:xfrm>
            <a:prstGeom prst="rect">
              <a:avLst/>
            </a:prstGeom>
          </p:spPr>
        </p:pic>
        <p:pic>
          <p:nvPicPr>
            <p:cNvPr id="11" name="Picture 10">
              <a:extLst>
                <a:ext uri="{FF2B5EF4-FFF2-40B4-BE49-F238E27FC236}">
                  <a16:creationId xmlns:a16="http://schemas.microsoft.com/office/drawing/2014/main" id="{27E03280-8DA7-DB34-0C9E-1FB5695E7001}"/>
                </a:ext>
              </a:extLst>
            </p:cNvPr>
            <p:cNvPicPr>
              <a:picLocks noChangeAspect="1"/>
            </p:cNvPicPr>
            <p:nvPr/>
          </p:nvPicPr>
          <p:blipFill>
            <a:blip r:embed="rId3"/>
            <a:stretch>
              <a:fillRect/>
            </a:stretch>
          </p:blipFill>
          <p:spPr>
            <a:xfrm>
              <a:off x="58536" y="1513216"/>
              <a:ext cx="5347854" cy="4881014"/>
            </a:xfrm>
            <a:prstGeom prst="rect">
              <a:avLst/>
            </a:prstGeom>
          </p:spPr>
        </p:pic>
      </p:grpSp>
    </p:spTree>
    <p:extLst>
      <p:ext uri="{BB962C8B-B14F-4D97-AF65-F5344CB8AC3E}">
        <p14:creationId xmlns:p14="http://schemas.microsoft.com/office/powerpoint/2010/main" val="20064772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80469-5414-4F16-A00B-B4989D33EDBB}"/>
              </a:ext>
            </a:extLst>
          </p:cNvPr>
          <p:cNvSpPr>
            <a:spLocks noGrp="1"/>
          </p:cNvSpPr>
          <p:nvPr>
            <p:ph type="title"/>
          </p:nvPr>
        </p:nvSpPr>
        <p:spPr/>
        <p:txBody>
          <a:bodyPr/>
          <a:lstStyle/>
          <a:p>
            <a:r>
              <a:rPr lang="en-GB" dirty="0"/>
              <a:t>The reticular formation and raphe nuclei</a:t>
            </a:r>
          </a:p>
        </p:txBody>
      </p:sp>
      <p:sp>
        <p:nvSpPr>
          <p:cNvPr id="7" name="Content Placeholder 6">
            <a:extLst>
              <a:ext uri="{FF2B5EF4-FFF2-40B4-BE49-F238E27FC236}">
                <a16:creationId xmlns:a16="http://schemas.microsoft.com/office/drawing/2014/main" id="{462FB3EA-2E21-4FD4-9DFA-5D85DB7BFDF5}"/>
              </a:ext>
            </a:extLst>
          </p:cNvPr>
          <p:cNvSpPr>
            <a:spLocks noGrp="1"/>
          </p:cNvSpPr>
          <p:nvPr>
            <p:ph idx="1"/>
          </p:nvPr>
        </p:nvSpPr>
        <p:spPr>
          <a:xfrm>
            <a:off x="3882337" y="6158987"/>
            <a:ext cx="4427326" cy="506413"/>
          </a:xfrm>
        </p:spPr>
        <p:txBody>
          <a:bodyPr>
            <a:normAutofit fontScale="92500"/>
          </a:bodyPr>
          <a:lstStyle/>
          <a:p>
            <a:pPr marL="0" indent="0" algn="ctr">
              <a:buNone/>
            </a:pPr>
            <a:r>
              <a:rPr lang="en-GB" b="1" dirty="0"/>
              <a:t>Major source of serotonin in the brain</a:t>
            </a:r>
          </a:p>
        </p:txBody>
      </p:sp>
      <p:grpSp>
        <p:nvGrpSpPr>
          <p:cNvPr id="12" name="Group 11">
            <a:extLst>
              <a:ext uri="{FF2B5EF4-FFF2-40B4-BE49-F238E27FC236}">
                <a16:creationId xmlns:a16="http://schemas.microsoft.com/office/drawing/2014/main" id="{473A636B-745D-005E-07E3-BDC49EB882DE}"/>
              </a:ext>
            </a:extLst>
          </p:cNvPr>
          <p:cNvGrpSpPr/>
          <p:nvPr/>
        </p:nvGrpSpPr>
        <p:grpSpPr>
          <a:xfrm>
            <a:off x="4248954" y="1235813"/>
            <a:ext cx="3534522" cy="2702013"/>
            <a:chOff x="8027204" y="2260600"/>
            <a:chExt cx="3534522" cy="2702013"/>
          </a:xfrm>
        </p:grpSpPr>
        <p:pic>
          <p:nvPicPr>
            <p:cNvPr id="5" name="Content Placeholder 4">
              <a:extLst>
                <a:ext uri="{FF2B5EF4-FFF2-40B4-BE49-F238E27FC236}">
                  <a16:creationId xmlns:a16="http://schemas.microsoft.com/office/drawing/2014/main" id="{6D07D482-6595-6D05-37E9-E9A464C932F4}"/>
                </a:ext>
              </a:extLst>
            </p:cNvPr>
            <p:cNvPicPr>
              <a:picLocks noChangeAspect="1"/>
            </p:cNvPicPr>
            <p:nvPr/>
          </p:nvPicPr>
          <p:blipFill>
            <a:blip r:embed="rId2"/>
            <a:stretch>
              <a:fillRect/>
            </a:stretch>
          </p:blipFill>
          <p:spPr>
            <a:xfrm>
              <a:off x="8027204" y="2260600"/>
              <a:ext cx="3534522" cy="2336800"/>
            </a:xfrm>
            <a:prstGeom prst="rect">
              <a:avLst/>
            </a:prstGeom>
          </p:spPr>
        </p:pic>
        <p:sp>
          <p:nvSpPr>
            <p:cNvPr id="9" name="TextBox 8">
              <a:extLst>
                <a:ext uri="{FF2B5EF4-FFF2-40B4-BE49-F238E27FC236}">
                  <a16:creationId xmlns:a16="http://schemas.microsoft.com/office/drawing/2014/main" id="{DEA0D0E2-914C-07BA-26CF-65C57B73B4EA}"/>
                </a:ext>
              </a:extLst>
            </p:cNvPr>
            <p:cNvSpPr txBox="1"/>
            <p:nvPr/>
          </p:nvSpPr>
          <p:spPr>
            <a:xfrm>
              <a:off x="9189958" y="4593281"/>
              <a:ext cx="1469158" cy="369332"/>
            </a:xfrm>
            <a:prstGeom prst="rect">
              <a:avLst/>
            </a:prstGeom>
            <a:noFill/>
          </p:spPr>
          <p:txBody>
            <a:bodyPr wrap="square" rtlCol="0">
              <a:spAutoFit/>
            </a:bodyPr>
            <a:lstStyle/>
            <a:p>
              <a:pPr algn="ctr"/>
              <a:r>
                <a:rPr lang="en-GB" dirty="0"/>
                <a:t>Midbrain</a:t>
              </a:r>
            </a:p>
          </p:txBody>
        </p:sp>
      </p:grpSp>
      <p:grpSp>
        <p:nvGrpSpPr>
          <p:cNvPr id="11" name="Group 10">
            <a:extLst>
              <a:ext uri="{FF2B5EF4-FFF2-40B4-BE49-F238E27FC236}">
                <a16:creationId xmlns:a16="http://schemas.microsoft.com/office/drawing/2014/main" id="{DD4BC30E-9C29-42E1-8C89-A4BF1A22B714}"/>
              </a:ext>
            </a:extLst>
          </p:cNvPr>
          <p:cNvGrpSpPr/>
          <p:nvPr/>
        </p:nvGrpSpPr>
        <p:grpSpPr>
          <a:xfrm>
            <a:off x="2405939" y="1907818"/>
            <a:ext cx="2715632" cy="2697594"/>
            <a:chOff x="4407468" y="2271219"/>
            <a:chExt cx="2715632" cy="2697594"/>
          </a:xfrm>
        </p:grpSpPr>
        <p:pic>
          <p:nvPicPr>
            <p:cNvPr id="4" name="Picture 3">
              <a:extLst>
                <a:ext uri="{FF2B5EF4-FFF2-40B4-BE49-F238E27FC236}">
                  <a16:creationId xmlns:a16="http://schemas.microsoft.com/office/drawing/2014/main" id="{346F3378-2D48-0694-24D4-E0C4A34F86C6}"/>
                </a:ext>
              </a:extLst>
            </p:cNvPr>
            <p:cNvPicPr>
              <a:picLocks noChangeAspect="1"/>
            </p:cNvPicPr>
            <p:nvPr/>
          </p:nvPicPr>
          <p:blipFill>
            <a:blip r:embed="rId3"/>
            <a:stretch>
              <a:fillRect/>
            </a:stretch>
          </p:blipFill>
          <p:spPr>
            <a:xfrm>
              <a:off x="4407468" y="2271219"/>
              <a:ext cx="2715632" cy="2296404"/>
            </a:xfrm>
            <a:prstGeom prst="rect">
              <a:avLst/>
            </a:prstGeom>
          </p:spPr>
        </p:pic>
        <p:sp>
          <p:nvSpPr>
            <p:cNvPr id="8" name="TextBox 7">
              <a:extLst>
                <a:ext uri="{FF2B5EF4-FFF2-40B4-BE49-F238E27FC236}">
                  <a16:creationId xmlns:a16="http://schemas.microsoft.com/office/drawing/2014/main" id="{E0ADA60F-1A67-50AD-27EA-66BFCA3DEE50}"/>
                </a:ext>
              </a:extLst>
            </p:cNvPr>
            <p:cNvSpPr txBox="1"/>
            <p:nvPr/>
          </p:nvSpPr>
          <p:spPr>
            <a:xfrm>
              <a:off x="5028168" y="4599481"/>
              <a:ext cx="1474232" cy="369332"/>
            </a:xfrm>
            <a:prstGeom prst="rect">
              <a:avLst/>
            </a:prstGeom>
            <a:noFill/>
          </p:spPr>
          <p:txBody>
            <a:bodyPr wrap="square" rtlCol="0">
              <a:spAutoFit/>
            </a:bodyPr>
            <a:lstStyle/>
            <a:p>
              <a:pPr algn="ctr"/>
              <a:r>
                <a:rPr lang="en-GB" dirty="0"/>
                <a:t>Pons</a:t>
              </a:r>
            </a:p>
          </p:txBody>
        </p:sp>
      </p:grpSp>
      <p:pic>
        <p:nvPicPr>
          <p:cNvPr id="16" name="Picture 15">
            <a:extLst>
              <a:ext uri="{FF2B5EF4-FFF2-40B4-BE49-F238E27FC236}">
                <a16:creationId xmlns:a16="http://schemas.microsoft.com/office/drawing/2014/main" id="{3FFCBB2B-5041-2055-7DB1-E66510C27490}"/>
              </a:ext>
            </a:extLst>
          </p:cNvPr>
          <p:cNvPicPr>
            <a:picLocks noChangeAspect="1"/>
          </p:cNvPicPr>
          <p:nvPr/>
        </p:nvPicPr>
        <p:blipFill>
          <a:blip r:embed="rId4"/>
          <a:stretch>
            <a:fillRect/>
          </a:stretch>
        </p:blipFill>
        <p:spPr>
          <a:xfrm>
            <a:off x="8098716" y="1194110"/>
            <a:ext cx="3465450" cy="4828803"/>
          </a:xfrm>
          <a:prstGeom prst="rect">
            <a:avLst/>
          </a:prstGeom>
        </p:spPr>
      </p:pic>
      <p:sp>
        <p:nvSpPr>
          <p:cNvPr id="13" name="TextBox 12">
            <a:extLst>
              <a:ext uri="{FF2B5EF4-FFF2-40B4-BE49-F238E27FC236}">
                <a16:creationId xmlns:a16="http://schemas.microsoft.com/office/drawing/2014/main" id="{AC86C230-C2B5-4890-BAC5-8E28EC336A83}"/>
              </a:ext>
            </a:extLst>
          </p:cNvPr>
          <p:cNvSpPr txBox="1"/>
          <p:nvPr/>
        </p:nvSpPr>
        <p:spPr>
          <a:xfrm>
            <a:off x="16796" y="4858159"/>
            <a:ext cx="8684135" cy="923330"/>
          </a:xfrm>
          <a:prstGeom prst="rect">
            <a:avLst/>
          </a:prstGeom>
          <a:noFill/>
        </p:spPr>
        <p:txBody>
          <a:bodyPr wrap="square" rtlCol="0">
            <a:spAutoFit/>
          </a:bodyPr>
          <a:lstStyle/>
          <a:p>
            <a:pPr algn="l"/>
            <a:r>
              <a:rPr lang="en-GB" dirty="0">
                <a:latin typeface="HelveticaLTStd-Roman"/>
              </a:rPr>
              <a:t>N</a:t>
            </a:r>
            <a:r>
              <a:rPr lang="en-GB" sz="1800" b="0" i="0" u="none" strike="noStrike" baseline="0" dirty="0">
                <a:latin typeface="HelveticaLTStd-Roman"/>
              </a:rPr>
              <a:t>umerous functions, including mediation of cardiovascular and respiratory functions, involvement in awareness (sleep, consciousness, alertness, habituation), pain modulation and maintenance of muscle tone, balance, and motor coordination.</a:t>
            </a:r>
            <a:endParaRPr lang="en-US" sz="1800" kern="1200" dirty="0">
              <a:solidFill>
                <a:schemeClr val="tx1"/>
              </a:solidFill>
              <a:latin typeface="+mn-lt"/>
              <a:ea typeface="+mn-ea"/>
              <a:cs typeface="+mn-cs"/>
            </a:endParaRPr>
          </a:p>
        </p:txBody>
      </p:sp>
      <p:grpSp>
        <p:nvGrpSpPr>
          <p:cNvPr id="10" name="Group 9">
            <a:extLst>
              <a:ext uri="{FF2B5EF4-FFF2-40B4-BE49-F238E27FC236}">
                <a16:creationId xmlns:a16="http://schemas.microsoft.com/office/drawing/2014/main" id="{8C7EB433-5CCF-9825-9F2D-F16A022C732D}"/>
              </a:ext>
            </a:extLst>
          </p:cNvPr>
          <p:cNvGrpSpPr/>
          <p:nvPr/>
        </p:nvGrpSpPr>
        <p:grpSpPr>
          <a:xfrm>
            <a:off x="148590" y="1178644"/>
            <a:ext cx="2956269" cy="2955187"/>
            <a:chOff x="598162" y="2258144"/>
            <a:chExt cx="2956269" cy="2955187"/>
          </a:xfrm>
        </p:grpSpPr>
        <p:pic>
          <p:nvPicPr>
            <p:cNvPr id="3" name="Picture 2">
              <a:extLst>
                <a:ext uri="{FF2B5EF4-FFF2-40B4-BE49-F238E27FC236}">
                  <a16:creationId xmlns:a16="http://schemas.microsoft.com/office/drawing/2014/main" id="{271095DC-0001-2A9C-975B-BD32BCB49FAA}"/>
                </a:ext>
              </a:extLst>
            </p:cNvPr>
            <p:cNvPicPr>
              <a:picLocks noChangeAspect="1"/>
            </p:cNvPicPr>
            <p:nvPr/>
          </p:nvPicPr>
          <p:blipFill>
            <a:blip r:embed="rId5"/>
            <a:stretch>
              <a:fillRect/>
            </a:stretch>
          </p:blipFill>
          <p:spPr>
            <a:xfrm>
              <a:off x="670897" y="2258144"/>
              <a:ext cx="2883534" cy="2305494"/>
            </a:xfrm>
            <a:prstGeom prst="rect">
              <a:avLst/>
            </a:prstGeom>
          </p:spPr>
        </p:pic>
        <p:sp>
          <p:nvSpPr>
            <p:cNvPr id="6" name="TextBox 5">
              <a:extLst>
                <a:ext uri="{FF2B5EF4-FFF2-40B4-BE49-F238E27FC236}">
                  <a16:creationId xmlns:a16="http://schemas.microsoft.com/office/drawing/2014/main" id="{DC675298-0874-8018-4F47-33BD479858FE}"/>
                </a:ext>
              </a:extLst>
            </p:cNvPr>
            <p:cNvSpPr txBox="1"/>
            <p:nvPr/>
          </p:nvSpPr>
          <p:spPr>
            <a:xfrm>
              <a:off x="598162" y="4567000"/>
              <a:ext cx="2748288" cy="646331"/>
            </a:xfrm>
            <a:prstGeom prst="rect">
              <a:avLst/>
            </a:prstGeom>
            <a:noFill/>
          </p:spPr>
          <p:txBody>
            <a:bodyPr wrap="square" rtlCol="0">
              <a:spAutoFit/>
            </a:bodyPr>
            <a:lstStyle/>
            <a:p>
              <a:pPr algn="ctr"/>
              <a:r>
                <a:rPr lang="en-GB" dirty="0"/>
                <a:t>Medulla</a:t>
              </a:r>
            </a:p>
            <a:p>
              <a:pPr algn="ctr"/>
              <a:r>
                <a:rPr lang="en-GB" dirty="0" err="1"/>
                <a:t>Oblungata</a:t>
              </a:r>
              <a:endParaRPr lang="en-GB" dirty="0"/>
            </a:p>
          </p:txBody>
        </p:sp>
      </p:grpSp>
    </p:spTree>
    <p:extLst>
      <p:ext uri="{BB962C8B-B14F-4D97-AF65-F5344CB8AC3E}">
        <p14:creationId xmlns:p14="http://schemas.microsoft.com/office/powerpoint/2010/main" val="269622584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84867-AAC1-45C8-E32D-B8E66DA1012D}"/>
              </a:ext>
            </a:extLst>
          </p:cNvPr>
          <p:cNvSpPr>
            <a:spLocks noGrp="1"/>
          </p:cNvSpPr>
          <p:nvPr>
            <p:ph type="title"/>
          </p:nvPr>
        </p:nvSpPr>
        <p:spPr/>
        <p:txBody>
          <a:bodyPr/>
          <a:lstStyle/>
          <a:p>
            <a:r>
              <a:rPr lang="en-GB" dirty="0"/>
              <a:t>II - Optic </a:t>
            </a:r>
          </a:p>
        </p:txBody>
      </p:sp>
      <p:pic>
        <p:nvPicPr>
          <p:cNvPr id="5" name="Picture 4">
            <a:extLst>
              <a:ext uri="{FF2B5EF4-FFF2-40B4-BE49-F238E27FC236}">
                <a16:creationId xmlns:a16="http://schemas.microsoft.com/office/drawing/2014/main" id="{B0DD5473-6DB0-7993-52EC-6FCF4747F516}"/>
              </a:ext>
            </a:extLst>
          </p:cNvPr>
          <p:cNvPicPr>
            <a:picLocks noChangeAspect="1"/>
          </p:cNvPicPr>
          <p:nvPr/>
        </p:nvPicPr>
        <p:blipFill>
          <a:blip r:embed="rId2"/>
          <a:srcRect b="37252"/>
          <a:stretch/>
        </p:blipFill>
        <p:spPr>
          <a:xfrm>
            <a:off x="225286" y="1311520"/>
            <a:ext cx="5528052" cy="5432870"/>
          </a:xfrm>
          <a:prstGeom prst="rect">
            <a:avLst/>
          </a:prstGeom>
        </p:spPr>
      </p:pic>
      <p:pic>
        <p:nvPicPr>
          <p:cNvPr id="6" name="Picture 5">
            <a:extLst>
              <a:ext uri="{FF2B5EF4-FFF2-40B4-BE49-F238E27FC236}">
                <a16:creationId xmlns:a16="http://schemas.microsoft.com/office/drawing/2014/main" id="{34950EEE-78E7-CA7E-7847-70351F1480C6}"/>
              </a:ext>
            </a:extLst>
          </p:cNvPr>
          <p:cNvPicPr>
            <a:picLocks noChangeAspect="1"/>
          </p:cNvPicPr>
          <p:nvPr/>
        </p:nvPicPr>
        <p:blipFill>
          <a:blip r:embed="rId2"/>
          <a:srcRect t="63051"/>
          <a:stretch/>
        </p:blipFill>
        <p:spPr>
          <a:xfrm>
            <a:off x="6244612" y="2215645"/>
            <a:ext cx="5528052" cy="3199124"/>
          </a:xfrm>
          <a:prstGeom prst="rect">
            <a:avLst/>
          </a:prstGeom>
        </p:spPr>
      </p:pic>
    </p:spTree>
    <p:extLst>
      <p:ext uri="{BB962C8B-B14F-4D97-AF65-F5344CB8AC3E}">
        <p14:creationId xmlns:p14="http://schemas.microsoft.com/office/powerpoint/2010/main" val="31188438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A8CE7-E2FA-8761-D851-B60F32BF0A68}"/>
              </a:ext>
            </a:extLst>
          </p:cNvPr>
          <p:cNvSpPr>
            <a:spLocks noGrp="1"/>
          </p:cNvSpPr>
          <p:nvPr>
            <p:ph type="title"/>
          </p:nvPr>
        </p:nvSpPr>
        <p:spPr/>
        <p:txBody>
          <a:bodyPr/>
          <a:lstStyle/>
          <a:p>
            <a:r>
              <a:rPr lang="en-GB" dirty="0"/>
              <a:t>I - Olfactory</a:t>
            </a:r>
          </a:p>
        </p:txBody>
      </p:sp>
      <p:pic>
        <p:nvPicPr>
          <p:cNvPr id="5" name="Picture 4">
            <a:extLst>
              <a:ext uri="{FF2B5EF4-FFF2-40B4-BE49-F238E27FC236}">
                <a16:creationId xmlns:a16="http://schemas.microsoft.com/office/drawing/2014/main" id="{6102599C-3ACD-682A-7EE0-FFE2F9FAD213}"/>
              </a:ext>
            </a:extLst>
          </p:cNvPr>
          <p:cNvPicPr>
            <a:picLocks noChangeAspect="1"/>
          </p:cNvPicPr>
          <p:nvPr/>
        </p:nvPicPr>
        <p:blipFill>
          <a:blip r:embed="rId2"/>
          <a:srcRect b="54120"/>
          <a:stretch/>
        </p:blipFill>
        <p:spPr>
          <a:xfrm>
            <a:off x="219290" y="2032946"/>
            <a:ext cx="6028480" cy="2931258"/>
          </a:xfrm>
          <a:prstGeom prst="rect">
            <a:avLst/>
          </a:prstGeom>
        </p:spPr>
      </p:pic>
      <p:pic>
        <p:nvPicPr>
          <p:cNvPr id="6" name="Picture 5">
            <a:extLst>
              <a:ext uri="{FF2B5EF4-FFF2-40B4-BE49-F238E27FC236}">
                <a16:creationId xmlns:a16="http://schemas.microsoft.com/office/drawing/2014/main" id="{F307D629-6A3E-F54F-21BB-32A41160B95A}"/>
              </a:ext>
            </a:extLst>
          </p:cNvPr>
          <p:cNvPicPr>
            <a:picLocks noChangeAspect="1"/>
          </p:cNvPicPr>
          <p:nvPr/>
        </p:nvPicPr>
        <p:blipFill>
          <a:blip r:embed="rId2"/>
          <a:srcRect t="46618" r="3408"/>
          <a:stretch/>
        </p:blipFill>
        <p:spPr>
          <a:xfrm>
            <a:off x="6137197" y="1723729"/>
            <a:ext cx="5823012" cy="3410542"/>
          </a:xfrm>
          <a:prstGeom prst="rect">
            <a:avLst/>
          </a:prstGeom>
        </p:spPr>
      </p:pic>
    </p:spTree>
    <p:extLst>
      <p:ext uri="{BB962C8B-B14F-4D97-AF65-F5344CB8AC3E}">
        <p14:creationId xmlns:p14="http://schemas.microsoft.com/office/powerpoint/2010/main" val="9426371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C48AC-C5A3-1F06-620F-DE8F969ED175}"/>
              </a:ext>
            </a:extLst>
          </p:cNvPr>
          <p:cNvSpPr>
            <a:spLocks noGrp="1"/>
          </p:cNvSpPr>
          <p:nvPr>
            <p:ph type="title"/>
          </p:nvPr>
        </p:nvSpPr>
        <p:spPr/>
        <p:txBody>
          <a:bodyPr/>
          <a:lstStyle/>
          <a:p>
            <a:r>
              <a:rPr lang="en-GB" dirty="0"/>
              <a:t>Cranial nerves</a:t>
            </a:r>
          </a:p>
        </p:txBody>
      </p:sp>
      <p:sp>
        <p:nvSpPr>
          <p:cNvPr id="14" name="Content Placeholder 13">
            <a:extLst>
              <a:ext uri="{FF2B5EF4-FFF2-40B4-BE49-F238E27FC236}">
                <a16:creationId xmlns:a16="http://schemas.microsoft.com/office/drawing/2014/main" id="{B81222F0-ED2C-FE6D-0058-3B0C8CF8FC3E}"/>
              </a:ext>
            </a:extLst>
          </p:cNvPr>
          <p:cNvSpPr>
            <a:spLocks noGrp="1"/>
          </p:cNvSpPr>
          <p:nvPr>
            <p:ph idx="1"/>
          </p:nvPr>
        </p:nvSpPr>
        <p:spPr>
          <a:xfrm>
            <a:off x="480391" y="1825625"/>
            <a:ext cx="2461591" cy="4351338"/>
          </a:xfrm>
        </p:spPr>
        <p:txBody>
          <a:bodyPr>
            <a:normAutofit fontScale="92500" lnSpcReduction="20000"/>
          </a:bodyPr>
          <a:lstStyle/>
          <a:p>
            <a:pPr marL="400050" indent="-400050">
              <a:buFont typeface="+mj-lt"/>
              <a:buAutoNum type="romanUcPeriod"/>
            </a:pPr>
            <a:r>
              <a:rPr lang="en-GB" dirty="0"/>
              <a:t>Olfactory</a:t>
            </a:r>
          </a:p>
          <a:p>
            <a:pPr marL="400050" indent="-400050">
              <a:buFont typeface="+mj-lt"/>
              <a:buAutoNum type="romanUcPeriod"/>
            </a:pPr>
            <a:r>
              <a:rPr lang="en-GB" dirty="0"/>
              <a:t>Optic</a:t>
            </a:r>
          </a:p>
          <a:p>
            <a:pPr marL="400050" indent="-400050">
              <a:buFont typeface="+mj-lt"/>
              <a:buAutoNum type="romanUcPeriod"/>
            </a:pPr>
            <a:r>
              <a:rPr lang="en-GB" dirty="0"/>
              <a:t>Oculomotor</a:t>
            </a:r>
          </a:p>
          <a:p>
            <a:pPr marL="400050" indent="-400050">
              <a:buFont typeface="+mj-lt"/>
              <a:buAutoNum type="romanUcPeriod"/>
            </a:pPr>
            <a:r>
              <a:rPr lang="en-GB" dirty="0"/>
              <a:t>Trochlear</a:t>
            </a:r>
          </a:p>
          <a:p>
            <a:pPr marL="400050" indent="-400050">
              <a:buFont typeface="+mj-lt"/>
              <a:buAutoNum type="romanUcPeriod"/>
            </a:pPr>
            <a:r>
              <a:rPr lang="en-GB" dirty="0"/>
              <a:t>Trigeminal</a:t>
            </a:r>
          </a:p>
          <a:p>
            <a:pPr marL="400050" indent="-400050">
              <a:buFont typeface="+mj-lt"/>
              <a:buAutoNum type="romanUcPeriod"/>
            </a:pPr>
            <a:r>
              <a:rPr lang="en-GB" dirty="0"/>
              <a:t>Abducens</a:t>
            </a:r>
          </a:p>
          <a:p>
            <a:pPr marL="400050" indent="-400050">
              <a:buFont typeface="+mj-lt"/>
              <a:buAutoNum type="romanUcPeriod"/>
            </a:pPr>
            <a:r>
              <a:rPr lang="en-GB" dirty="0"/>
              <a:t>Facial</a:t>
            </a:r>
          </a:p>
          <a:p>
            <a:pPr marL="400050" indent="-400050">
              <a:buFont typeface="+mj-lt"/>
              <a:buAutoNum type="romanUcPeriod"/>
            </a:pPr>
            <a:r>
              <a:rPr lang="en-GB" dirty="0"/>
              <a:t>Vestibulocochlear</a:t>
            </a:r>
          </a:p>
          <a:p>
            <a:pPr marL="400050" indent="-400050">
              <a:buFont typeface="+mj-lt"/>
              <a:buAutoNum type="romanUcPeriod"/>
            </a:pPr>
            <a:r>
              <a:rPr lang="en-GB" dirty="0"/>
              <a:t>Glossopharyngeal</a:t>
            </a:r>
          </a:p>
          <a:p>
            <a:pPr marL="400050" indent="-400050">
              <a:buFont typeface="+mj-lt"/>
              <a:buAutoNum type="romanUcPeriod"/>
            </a:pPr>
            <a:r>
              <a:rPr lang="en-GB" dirty="0" err="1"/>
              <a:t>Vagus</a:t>
            </a:r>
            <a:endParaRPr lang="en-GB" dirty="0"/>
          </a:p>
          <a:p>
            <a:pPr marL="400050" indent="-400050">
              <a:buFont typeface="+mj-lt"/>
              <a:buAutoNum type="romanUcPeriod"/>
            </a:pPr>
            <a:r>
              <a:rPr lang="en-GB" dirty="0"/>
              <a:t>Accessory</a:t>
            </a:r>
          </a:p>
          <a:p>
            <a:pPr marL="400050" indent="-400050">
              <a:buFont typeface="+mj-lt"/>
              <a:buAutoNum type="romanUcPeriod"/>
            </a:pPr>
            <a:r>
              <a:rPr lang="en-GB" dirty="0"/>
              <a:t>Hypoglossal</a:t>
            </a:r>
          </a:p>
          <a:p>
            <a:pPr marL="400050" indent="-400050">
              <a:buFont typeface="+mj-lt"/>
              <a:buAutoNum type="romanUcPeriod"/>
            </a:pPr>
            <a:endParaRPr lang="en-GB" dirty="0"/>
          </a:p>
          <a:p>
            <a:pPr marL="400050" indent="-400050">
              <a:buFont typeface="+mj-lt"/>
              <a:buAutoNum type="romanUcPeriod"/>
            </a:pPr>
            <a:endParaRPr lang="en-GB" dirty="0"/>
          </a:p>
        </p:txBody>
      </p:sp>
      <p:pic>
        <p:nvPicPr>
          <p:cNvPr id="3" name="object 3">
            <a:extLst>
              <a:ext uri="{FF2B5EF4-FFF2-40B4-BE49-F238E27FC236}">
                <a16:creationId xmlns:a16="http://schemas.microsoft.com/office/drawing/2014/main" id="{FB230B87-534D-87A6-3568-CA37DB824164}"/>
              </a:ext>
            </a:extLst>
          </p:cNvPr>
          <p:cNvPicPr>
            <a:picLocks/>
          </p:cNvPicPr>
          <p:nvPr/>
        </p:nvPicPr>
        <p:blipFill>
          <a:blip r:embed="rId2" cstate="print"/>
          <a:stretch>
            <a:fillRect/>
          </a:stretch>
        </p:blipFill>
        <p:spPr>
          <a:xfrm>
            <a:off x="3677154" y="1361394"/>
            <a:ext cx="7695192" cy="5078414"/>
          </a:xfrm>
          <a:prstGeom prst="rect">
            <a:avLst/>
          </a:prstGeom>
        </p:spPr>
      </p:pic>
    </p:spTree>
    <p:extLst>
      <p:ext uri="{BB962C8B-B14F-4D97-AF65-F5344CB8AC3E}">
        <p14:creationId xmlns:p14="http://schemas.microsoft.com/office/powerpoint/2010/main" val="294054333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107C4-C2D1-CA2B-4343-B51EB299A325}"/>
              </a:ext>
            </a:extLst>
          </p:cNvPr>
          <p:cNvSpPr>
            <a:spLocks noGrp="1"/>
          </p:cNvSpPr>
          <p:nvPr>
            <p:ph type="title"/>
          </p:nvPr>
        </p:nvSpPr>
        <p:spPr/>
        <p:txBody>
          <a:bodyPr/>
          <a:lstStyle/>
          <a:p>
            <a:r>
              <a:rPr lang="en-GB" dirty="0"/>
              <a:t>Cranial nerves and cranial cavity</a:t>
            </a:r>
          </a:p>
        </p:txBody>
      </p:sp>
      <p:pic>
        <p:nvPicPr>
          <p:cNvPr id="5" name="Content Placeholder 4">
            <a:extLst>
              <a:ext uri="{FF2B5EF4-FFF2-40B4-BE49-F238E27FC236}">
                <a16:creationId xmlns:a16="http://schemas.microsoft.com/office/drawing/2014/main" id="{45A6A57B-E5FF-7B26-E9DE-B34BB9701C47}"/>
              </a:ext>
            </a:extLst>
          </p:cNvPr>
          <p:cNvPicPr>
            <a:picLocks noGrp="1" noChangeAspect="1"/>
          </p:cNvPicPr>
          <p:nvPr>
            <p:ph idx="1"/>
          </p:nvPr>
        </p:nvPicPr>
        <p:blipFill>
          <a:blip r:embed="rId2"/>
          <a:stretch>
            <a:fillRect/>
          </a:stretch>
        </p:blipFill>
        <p:spPr>
          <a:xfrm>
            <a:off x="908245" y="1200437"/>
            <a:ext cx="4231706" cy="5454048"/>
          </a:xfrm>
        </p:spPr>
      </p:pic>
      <p:pic>
        <p:nvPicPr>
          <p:cNvPr id="7" name="Picture 6">
            <a:extLst>
              <a:ext uri="{FF2B5EF4-FFF2-40B4-BE49-F238E27FC236}">
                <a16:creationId xmlns:a16="http://schemas.microsoft.com/office/drawing/2014/main" id="{6432E0E6-3987-B026-AA75-9795087428A6}"/>
              </a:ext>
            </a:extLst>
          </p:cNvPr>
          <p:cNvPicPr>
            <a:picLocks noChangeAspect="1"/>
          </p:cNvPicPr>
          <p:nvPr/>
        </p:nvPicPr>
        <p:blipFill>
          <a:blip r:embed="rId3"/>
          <a:stretch>
            <a:fillRect/>
          </a:stretch>
        </p:blipFill>
        <p:spPr>
          <a:xfrm>
            <a:off x="6388466" y="1200437"/>
            <a:ext cx="4275724" cy="5482338"/>
          </a:xfrm>
          <a:prstGeom prst="rect">
            <a:avLst/>
          </a:prstGeom>
        </p:spPr>
      </p:pic>
    </p:spTree>
    <p:extLst>
      <p:ext uri="{BB962C8B-B14F-4D97-AF65-F5344CB8AC3E}">
        <p14:creationId xmlns:p14="http://schemas.microsoft.com/office/powerpoint/2010/main" val="42939693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F5B71-58BE-BC00-5C2B-4CA0507C1BA3}"/>
              </a:ext>
            </a:extLst>
          </p:cNvPr>
          <p:cNvSpPr>
            <a:spLocks noGrp="1"/>
          </p:cNvSpPr>
          <p:nvPr>
            <p:ph type="title"/>
          </p:nvPr>
        </p:nvSpPr>
        <p:spPr/>
        <p:txBody>
          <a:bodyPr/>
          <a:lstStyle/>
          <a:p>
            <a:r>
              <a:rPr lang="en-GB" dirty="0"/>
              <a:t>Clinical cases</a:t>
            </a:r>
          </a:p>
        </p:txBody>
      </p:sp>
      <p:pic>
        <p:nvPicPr>
          <p:cNvPr id="5" name="Content Placeholder 4">
            <a:extLst>
              <a:ext uri="{FF2B5EF4-FFF2-40B4-BE49-F238E27FC236}">
                <a16:creationId xmlns:a16="http://schemas.microsoft.com/office/drawing/2014/main" id="{A6990211-BD57-5942-A365-0E8669E07314}"/>
              </a:ext>
            </a:extLst>
          </p:cNvPr>
          <p:cNvPicPr>
            <a:picLocks noGrp="1" noChangeAspect="1"/>
          </p:cNvPicPr>
          <p:nvPr>
            <p:ph idx="1"/>
          </p:nvPr>
        </p:nvPicPr>
        <p:blipFill>
          <a:blip r:embed="rId2"/>
          <a:srcRect t="6831"/>
          <a:stretch/>
        </p:blipFill>
        <p:spPr>
          <a:xfrm>
            <a:off x="196415" y="1720889"/>
            <a:ext cx="5688467" cy="3930216"/>
          </a:xfrm>
        </p:spPr>
      </p:pic>
      <p:pic>
        <p:nvPicPr>
          <p:cNvPr id="7" name="Picture 6">
            <a:extLst>
              <a:ext uri="{FF2B5EF4-FFF2-40B4-BE49-F238E27FC236}">
                <a16:creationId xmlns:a16="http://schemas.microsoft.com/office/drawing/2014/main" id="{AA86A642-5374-A861-D9F6-ECE360819334}"/>
              </a:ext>
            </a:extLst>
          </p:cNvPr>
          <p:cNvPicPr>
            <a:picLocks noChangeAspect="1"/>
          </p:cNvPicPr>
          <p:nvPr/>
        </p:nvPicPr>
        <p:blipFill>
          <a:blip r:embed="rId3"/>
          <a:srcRect t="7539"/>
          <a:stretch/>
        </p:blipFill>
        <p:spPr>
          <a:xfrm>
            <a:off x="6015511" y="1760646"/>
            <a:ext cx="6061922" cy="4021726"/>
          </a:xfrm>
          <a:prstGeom prst="rect">
            <a:avLst/>
          </a:prstGeom>
        </p:spPr>
      </p:pic>
    </p:spTree>
    <p:extLst>
      <p:ext uri="{BB962C8B-B14F-4D97-AF65-F5344CB8AC3E}">
        <p14:creationId xmlns:p14="http://schemas.microsoft.com/office/powerpoint/2010/main" val="10765867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86766-2894-83F8-BB9B-060A1AE8524A}"/>
              </a:ext>
            </a:extLst>
          </p:cNvPr>
          <p:cNvSpPr>
            <a:spLocks noGrp="1"/>
          </p:cNvSpPr>
          <p:nvPr>
            <p:ph type="title"/>
          </p:nvPr>
        </p:nvSpPr>
        <p:spPr/>
        <p:txBody>
          <a:bodyPr/>
          <a:lstStyle/>
          <a:p>
            <a:r>
              <a:rPr lang="en-GB" dirty="0"/>
              <a:t>Clinical cases</a:t>
            </a:r>
          </a:p>
        </p:txBody>
      </p:sp>
      <p:pic>
        <p:nvPicPr>
          <p:cNvPr id="5" name="Picture 4">
            <a:extLst>
              <a:ext uri="{FF2B5EF4-FFF2-40B4-BE49-F238E27FC236}">
                <a16:creationId xmlns:a16="http://schemas.microsoft.com/office/drawing/2014/main" id="{27CD949C-3C49-67D2-2BFE-19E0EF91D33E}"/>
              </a:ext>
            </a:extLst>
          </p:cNvPr>
          <p:cNvPicPr>
            <a:picLocks noChangeAspect="1"/>
          </p:cNvPicPr>
          <p:nvPr/>
        </p:nvPicPr>
        <p:blipFill>
          <a:blip r:embed="rId2"/>
          <a:stretch>
            <a:fillRect/>
          </a:stretch>
        </p:blipFill>
        <p:spPr>
          <a:xfrm>
            <a:off x="62474" y="2221650"/>
            <a:ext cx="6213377" cy="2685513"/>
          </a:xfrm>
          <a:prstGeom prst="rect">
            <a:avLst/>
          </a:prstGeom>
        </p:spPr>
      </p:pic>
      <p:pic>
        <p:nvPicPr>
          <p:cNvPr id="7" name="Picture 6">
            <a:extLst>
              <a:ext uri="{FF2B5EF4-FFF2-40B4-BE49-F238E27FC236}">
                <a16:creationId xmlns:a16="http://schemas.microsoft.com/office/drawing/2014/main" id="{38E1A3ED-72FF-4DFD-FAEE-E6B284A01E0C}"/>
              </a:ext>
            </a:extLst>
          </p:cNvPr>
          <p:cNvPicPr>
            <a:picLocks noChangeAspect="1"/>
          </p:cNvPicPr>
          <p:nvPr/>
        </p:nvPicPr>
        <p:blipFill>
          <a:blip r:embed="rId3"/>
          <a:stretch>
            <a:fillRect/>
          </a:stretch>
        </p:blipFill>
        <p:spPr>
          <a:xfrm>
            <a:off x="6395120" y="1379607"/>
            <a:ext cx="5620065" cy="4916122"/>
          </a:xfrm>
          <a:prstGeom prst="rect">
            <a:avLst/>
          </a:prstGeom>
        </p:spPr>
      </p:pic>
    </p:spTree>
    <p:extLst>
      <p:ext uri="{BB962C8B-B14F-4D97-AF65-F5344CB8AC3E}">
        <p14:creationId xmlns:p14="http://schemas.microsoft.com/office/powerpoint/2010/main" val="16358725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2577D-EE17-20F5-5956-6DC72EF39618}"/>
              </a:ext>
            </a:extLst>
          </p:cNvPr>
          <p:cNvSpPr>
            <a:spLocks noGrp="1"/>
          </p:cNvSpPr>
          <p:nvPr>
            <p:ph type="title"/>
          </p:nvPr>
        </p:nvSpPr>
        <p:spPr/>
        <p:txBody>
          <a:bodyPr/>
          <a:lstStyle/>
          <a:p>
            <a:r>
              <a:rPr lang="en-GB" dirty="0"/>
              <a:t>Cerebellum</a:t>
            </a:r>
          </a:p>
        </p:txBody>
      </p:sp>
      <p:sp>
        <p:nvSpPr>
          <p:cNvPr id="4" name="Text Placeholder 3">
            <a:extLst>
              <a:ext uri="{FF2B5EF4-FFF2-40B4-BE49-F238E27FC236}">
                <a16:creationId xmlns:a16="http://schemas.microsoft.com/office/drawing/2014/main" id="{32AAD75F-8FAF-1816-3A13-7AC59C86943F}"/>
              </a:ext>
            </a:extLst>
          </p:cNvPr>
          <p:cNvSpPr>
            <a:spLocks noGrp="1"/>
          </p:cNvSpPr>
          <p:nvPr>
            <p:ph type="body" idx="1"/>
          </p:nvPr>
        </p:nvSpPr>
        <p:spPr/>
        <p:txBody>
          <a:bodyPr/>
          <a:lstStyle/>
          <a:p>
            <a:endParaRPr lang="en-GB"/>
          </a:p>
        </p:txBody>
      </p:sp>
      <p:pic>
        <p:nvPicPr>
          <p:cNvPr id="3" name="Picture 2">
            <a:extLst>
              <a:ext uri="{FF2B5EF4-FFF2-40B4-BE49-F238E27FC236}">
                <a16:creationId xmlns:a16="http://schemas.microsoft.com/office/drawing/2014/main" id="{F5760B75-0339-25CF-5302-1D32ED269D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8426" y="-14335"/>
            <a:ext cx="6886669" cy="68866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979318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1184" name="Ink 1183">
                <a:extLst>
                  <a:ext uri="{FF2B5EF4-FFF2-40B4-BE49-F238E27FC236}">
                    <a16:creationId xmlns:a16="http://schemas.microsoft.com/office/drawing/2014/main" id="{1B4A4552-EBD7-24FE-D450-D7D8018B3C8C}"/>
                  </a:ext>
                </a:extLst>
              </p14:cNvPr>
              <p14:cNvContentPartPr/>
              <p14:nvPr/>
            </p14:nvContentPartPr>
            <p14:xfrm>
              <a:off x="5451038" y="321594"/>
              <a:ext cx="10800" cy="34560"/>
            </p14:xfrm>
          </p:contentPart>
        </mc:Choice>
        <mc:Fallback xmlns="">
          <p:pic>
            <p:nvPicPr>
              <p:cNvPr id="1184" name="Ink 1183">
                <a:extLst>
                  <a:ext uri="{FF2B5EF4-FFF2-40B4-BE49-F238E27FC236}">
                    <a16:creationId xmlns:a16="http://schemas.microsoft.com/office/drawing/2014/main" id="{1B4A4552-EBD7-24FE-D450-D7D8018B3C8C}"/>
                  </a:ext>
                </a:extLst>
              </p:cNvPr>
              <p:cNvPicPr/>
              <p:nvPr/>
            </p:nvPicPr>
            <p:blipFill>
              <a:blip r:embed="rId3"/>
              <a:stretch>
                <a:fillRect/>
              </a:stretch>
            </p:blipFill>
            <p:spPr>
              <a:xfrm>
                <a:off x="5442038" y="312594"/>
                <a:ext cx="28440" cy="52200"/>
              </a:xfrm>
              <a:prstGeom prst="rect">
                <a:avLst/>
              </a:prstGeom>
            </p:spPr>
          </p:pic>
        </mc:Fallback>
      </mc:AlternateContent>
      <p:grpSp>
        <p:nvGrpSpPr>
          <p:cNvPr id="1247" name="Group 1246">
            <a:extLst>
              <a:ext uri="{FF2B5EF4-FFF2-40B4-BE49-F238E27FC236}">
                <a16:creationId xmlns:a16="http://schemas.microsoft.com/office/drawing/2014/main" id="{C51F8D82-0068-B073-1F19-FECAD366001A}"/>
              </a:ext>
            </a:extLst>
          </p:cNvPr>
          <p:cNvGrpSpPr/>
          <p:nvPr/>
        </p:nvGrpSpPr>
        <p:grpSpPr>
          <a:xfrm>
            <a:off x="7188451" y="1568141"/>
            <a:ext cx="3572433" cy="2868584"/>
            <a:chOff x="543208" y="2195662"/>
            <a:chExt cx="3572433" cy="2868584"/>
          </a:xfrm>
        </p:grpSpPr>
        <p:grpSp>
          <p:nvGrpSpPr>
            <p:cNvPr id="1241" name="Group 1240">
              <a:extLst>
                <a:ext uri="{FF2B5EF4-FFF2-40B4-BE49-F238E27FC236}">
                  <a16:creationId xmlns:a16="http://schemas.microsoft.com/office/drawing/2014/main" id="{34445999-E3B6-B002-EE38-476A2A82BED2}"/>
                </a:ext>
              </a:extLst>
            </p:cNvPr>
            <p:cNvGrpSpPr/>
            <p:nvPr/>
          </p:nvGrpSpPr>
          <p:grpSpPr>
            <a:xfrm>
              <a:off x="607169" y="2195662"/>
              <a:ext cx="3348609" cy="2104733"/>
              <a:chOff x="652436" y="321594"/>
              <a:chExt cx="3348609" cy="2104733"/>
            </a:xfrm>
          </p:grpSpPr>
          <p:sp>
            <p:nvSpPr>
              <p:cNvPr id="1237" name="Arc 1236">
                <a:extLst>
                  <a:ext uri="{FF2B5EF4-FFF2-40B4-BE49-F238E27FC236}">
                    <a16:creationId xmlns:a16="http://schemas.microsoft.com/office/drawing/2014/main" id="{9E253CA3-454D-5391-03FD-B4F2419B037E}"/>
                  </a:ext>
                </a:extLst>
              </p:cNvPr>
              <p:cNvSpPr/>
              <p:nvPr/>
            </p:nvSpPr>
            <p:spPr>
              <a:xfrm rot="13512914" flipH="1">
                <a:off x="1777033" y="1023422"/>
                <a:ext cx="1158256" cy="1163856"/>
              </a:xfrm>
              <a:prstGeom prst="arc">
                <a:avLst/>
              </a:prstGeom>
              <a:ln w="28575">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236" name="Arc 1235">
                <a:extLst>
                  <a:ext uri="{FF2B5EF4-FFF2-40B4-BE49-F238E27FC236}">
                    <a16:creationId xmlns:a16="http://schemas.microsoft.com/office/drawing/2014/main" id="{44A6AF05-03F5-4149-D26F-C344B4FA69CF}"/>
                  </a:ext>
                </a:extLst>
              </p:cNvPr>
              <p:cNvSpPr/>
              <p:nvPr/>
            </p:nvSpPr>
            <p:spPr>
              <a:xfrm rot="6082697" flipH="1">
                <a:off x="2616704" y="1111531"/>
                <a:ext cx="829244" cy="767891"/>
              </a:xfrm>
              <a:prstGeom prst="arc">
                <a:avLst/>
              </a:prstGeom>
              <a:ln w="28575">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231" name="Oval 1230">
                <a:extLst>
                  <a:ext uri="{FF2B5EF4-FFF2-40B4-BE49-F238E27FC236}">
                    <a16:creationId xmlns:a16="http://schemas.microsoft.com/office/drawing/2014/main" id="{CFF53F86-14DE-A2F4-1340-9D8587FE403B}"/>
                  </a:ext>
                </a:extLst>
              </p:cNvPr>
              <p:cNvSpPr/>
              <p:nvPr/>
            </p:nvSpPr>
            <p:spPr>
              <a:xfrm>
                <a:off x="1321805" y="321594"/>
                <a:ext cx="2009870" cy="875117"/>
              </a:xfrm>
              <a:prstGeom prst="ellipse">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GB" b="1" dirty="0"/>
                  <a:t>Cerebellum</a:t>
                </a:r>
              </a:p>
            </p:txBody>
          </p:sp>
          <p:sp>
            <p:nvSpPr>
              <p:cNvPr id="1232" name="Rectangle 1231">
                <a:extLst>
                  <a:ext uri="{FF2B5EF4-FFF2-40B4-BE49-F238E27FC236}">
                    <a16:creationId xmlns:a16="http://schemas.microsoft.com/office/drawing/2014/main" id="{8C371A38-39E3-C4E2-4402-B5F0083CF57E}"/>
                  </a:ext>
                </a:extLst>
              </p:cNvPr>
              <p:cNvSpPr/>
              <p:nvPr/>
            </p:nvSpPr>
            <p:spPr>
              <a:xfrm>
                <a:off x="652436" y="1658436"/>
                <a:ext cx="1023040" cy="76789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GB" dirty="0"/>
                  <a:t>Motor</a:t>
                </a:r>
              </a:p>
              <a:p>
                <a:pPr algn="ctr"/>
                <a:r>
                  <a:rPr lang="en-GB" dirty="0"/>
                  <a:t>Cortex</a:t>
                </a:r>
              </a:p>
            </p:txBody>
          </p:sp>
          <p:sp>
            <p:nvSpPr>
              <p:cNvPr id="1233" name="Rectangle 1232">
                <a:extLst>
                  <a:ext uri="{FF2B5EF4-FFF2-40B4-BE49-F238E27FC236}">
                    <a16:creationId xmlns:a16="http://schemas.microsoft.com/office/drawing/2014/main" id="{0C797A84-93E8-D661-22A0-5FF1690A3BF9}"/>
                  </a:ext>
                </a:extLst>
              </p:cNvPr>
              <p:cNvSpPr/>
              <p:nvPr/>
            </p:nvSpPr>
            <p:spPr>
              <a:xfrm>
                <a:off x="2978005" y="1658436"/>
                <a:ext cx="1023040" cy="7678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Body</a:t>
                </a:r>
              </a:p>
            </p:txBody>
          </p:sp>
          <p:sp>
            <p:nvSpPr>
              <p:cNvPr id="1235" name="Arc 1234">
                <a:extLst>
                  <a:ext uri="{FF2B5EF4-FFF2-40B4-BE49-F238E27FC236}">
                    <a16:creationId xmlns:a16="http://schemas.microsoft.com/office/drawing/2014/main" id="{754A7AA8-AD15-1F9F-60FD-F3E71487CB61}"/>
                  </a:ext>
                </a:extLst>
              </p:cNvPr>
              <p:cNvSpPr/>
              <p:nvPr/>
            </p:nvSpPr>
            <p:spPr>
              <a:xfrm rot="15517303">
                <a:off x="1207531" y="1111530"/>
                <a:ext cx="829244" cy="767891"/>
              </a:xfrm>
              <a:prstGeom prst="arc">
                <a:avLst/>
              </a:prstGeom>
              <a:ln w="28575">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238" name="Arc 1237">
                <a:extLst>
                  <a:ext uri="{FF2B5EF4-FFF2-40B4-BE49-F238E27FC236}">
                    <a16:creationId xmlns:a16="http://schemas.microsoft.com/office/drawing/2014/main" id="{0E6D9869-4254-69BA-B738-D4091A5C63B3}"/>
                  </a:ext>
                </a:extLst>
              </p:cNvPr>
              <p:cNvSpPr/>
              <p:nvPr/>
            </p:nvSpPr>
            <p:spPr>
              <a:xfrm rot="15517303" flipH="1" flipV="1">
                <a:off x="798799" y="812767"/>
                <a:ext cx="829244" cy="767891"/>
              </a:xfrm>
              <a:prstGeom prst="arc">
                <a:avLst/>
              </a:prstGeom>
              <a:ln w="28575">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242" name="Arc 1241">
                <a:extLst>
                  <a:ext uri="{FF2B5EF4-FFF2-40B4-BE49-F238E27FC236}">
                    <a16:creationId xmlns:a16="http://schemas.microsoft.com/office/drawing/2014/main" id="{CAD19B36-981F-7EEB-6C64-5A4C9B5FB143}"/>
                  </a:ext>
                </a:extLst>
              </p:cNvPr>
              <p:cNvSpPr/>
              <p:nvPr/>
            </p:nvSpPr>
            <p:spPr>
              <a:xfrm rot="13512914" flipH="1">
                <a:off x="1766471" y="1175822"/>
                <a:ext cx="1158256" cy="1163856"/>
              </a:xfrm>
              <a:prstGeom prst="arc">
                <a:avLst/>
              </a:prstGeom>
              <a:ln w="28575">
                <a:solidFill>
                  <a:schemeClr val="bg2">
                    <a:lumMod val="75000"/>
                  </a:schemeClr>
                </a:solidFill>
                <a:prstDash val="sysDash"/>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grpSp>
        <p:sp>
          <p:nvSpPr>
            <p:cNvPr id="1243" name="TextBox 1242">
              <a:extLst>
                <a:ext uri="{FF2B5EF4-FFF2-40B4-BE49-F238E27FC236}">
                  <a16:creationId xmlns:a16="http://schemas.microsoft.com/office/drawing/2014/main" id="{E19F07F0-9EE0-AE40-0F77-18C2873EF48F}"/>
                </a:ext>
              </a:extLst>
            </p:cNvPr>
            <p:cNvSpPr txBox="1"/>
            <p:nvPr/>
          </p:nvSpPr>
          <p:spPr>
            <a:xfrm>
              <a:off x="1831709" y="3429000"/>
              <a:ext cx="961802" cy="461665"/>
            </a:xfrm>
            <a:prstGeom prst="rect">
              <a:avLst/>
            </a:prstGeom>
            <a:noFill/>
          </p:spPr>
          <p:txBody>
            <a:bodyPr wrap="none" rtlCol="0">
              <a:spAutoFit/>
            </a:bodyPr>
            <a:lstStyle/>
            <a:p>
              <a:pPr algn="ctr"/>
              <a:r>
                <a:rPr lang="en-GB" sz="1200" dirty="0"/>
                <a:t>Present</a:t>
              </a:r>
            </a:p>
            <a:p>
              <a:pPr algn="ctr"/>
              <a:r>
                <a:rPr lang="en-GB" sz="1200" dirty="0"/>
                <a:t>Movements</a:t>
              </a:r>
            </a:p>
          </p:txBody>
        </p:sp>
        <p:sp>
          <p:nvSpPr>
            <p:cNvPr id="1244" name="TextBox 1243">
              <a:extLst>
                <a:ext uri="{FF2B5EF4-FFF2-40B4-BE49-F238E27FC236}">
                  <a16:creationId xmlns:a16="http://schemas.microsoft.com/office/drawing/2014/main" id="{48B6271C-F619-A5BC-2728-211D2A072AB9}"/>
                </a:ext>
              </a:extLst>
            </p:cNvPr>
            <p:cNvSpPr txBox="1"/>
            <p:nvPr/>
          </p:nvSpPr>
          <p:spPr>
            <a:xfrm>
              <a:off x="1831709" y="4233249"/>
              <a:ext cx="961802" cy="461665"/>
            </a:xfrm>
            <a:prstGeom prst="rect">
              <a:avLst/>
            </a:prstGeom>
            <a:noFill/>
          </p:spPr>
          <p:txBody>
            <a:bodyPr wrap="none" rtlCol="0">
              <a:spAutoFit/>
            </a:bodyPr>
            <a:lstStyle/>
            <a:p>
              <a:pPr algn="ctr"/>
              <a:r>
                <a:rPr lang="en-GB" sz="1200" dirty="0">
                  <a:solidFill>
                    <a:schemeClr val="bg2">
                      <a:lumMod val="75000"/>
                    </a:schemeClr>
                  </a:solidFill>
                </a:rPr>
                <a:t>Future</a:t>
              </a:r>
            </a:p>
            <a:p>
              <a:pPr algn="ctr"/>
              <a:r>
                <a:rPr lang="en-GB" sz="1200" dirty="0">
                  <a:solidFill>
                    <a:schemeClr val="bg2">
                      <a:lumMod val="75000"/>
                    </a:schemeClr>
                  </a:solidFill>
                </a:rPr>
                <a:t>Movements</a:t>
              </a:r>
            </a:p>
          </p:txBody>
        </p:sp>
        <p:sp>
          <p:nvSpPr>
            <p:cNvPr id="1245" name="TextBox 1244">
              <a:extLst>
                <a:ext uri="{FF2B5EF4-FFF2-40B4-BE49-F238E27FC236}">
                  <a16:creationId xmlns:a16="http://schemas.microsoft.com/office/drawing/2014/main" id="{B66B2C81-C78A-AC9C-F0F4-54236315F221}"/>
                </a:ext>
              </a:extLst>
            </p:cNvPr>
            <p:cNvSpPr txBox="1"/>
            <p:nvPr/>
          </p:nvSpPr>
          <p:spPr>
            <a:xfrm>
              <a:off x="543208" y="4325582"/>
              <a:ext cx="1099981" cy="738664"/>
            </a:xfrm>
            <a:prstGeom prst="rect">
              <a:avLst/>
            </a:prstGeom>
            <a:noFill/>
          </p:spPr>
          <p:txBody>
            <a:bodyPr wrap="none" rtlCol="0">
              <a:spAutoFit/>
            </a:bodyPr>
            <a:lstStyle/>
            <a:p>
              <a:pPr algn="ctr"/>
              <a:r>
                <a:rPr lang="en-GB" sz="1400" dirty="0"/>
                <a:t>Voluntary</a:t>
              </a:r>
            </a:p>
            <a:p>
              <a:pPr algn="ctr"/>
              <a:r>
                <a:rPr lang="en-GB" sz="1400" dirty="0"/>
                <a:t>Movement</a:t>
              </a:r>
            </a:p>
            <a:p>
              <a:pPr algn="ctr"/>
              <a:r>
                <a:rPr lang="en-GB" sz="1400" dirty="0"/>
                <a:t>Commands</a:t>
              </a:r>
            </a:p>
          </p:txBody>
        </p:sp>
        <p:sp>
          <p:nvSpPr>
            <p:cNvPr id="1246" name="TextBox 1245">
              <a:extLst>
                <a:ext uri="{FF2B5EF4-FFF2-40B4-BE49-F238E27FC236}">
                  <a16:creationId xmlns:a16="http://schemas.microsoft.com/office/drawing/2014/main" id="{D831DE91-D038-7BE7-49FB-DF8A034CA71B}"/>
                </a:ext>
              </a:extLst>
            </p:cNvPr>
            <p:cNvSpPr txBox="1"/>
            <p:nvPr/>
          </p:nvSpPr>
          <p:spPr>
            <a:xfrm>
              <a:off x="2803552" y="4325582"/>
              <a:ext cx="1312089" cy="738664"/>
            </a:xfrm>
            <a:prstGeom prst="rect">
              <a:avLst/>
            </a:prstGeom>
            <a:noFill/>
          </p:spPr>
          <p:txBody>
            <a:bodyPr wrap="none" rtlCol="0">
              <a:spAutoFit/>
            </a:bodyPr>
            <a:lstStyle/>
            <a:p>
              <a:pPr algn="ctr"/>
              <a:r>
                <a:rPr lang="en-GB" sz="1400" dirty="0"/>
                <a:t>Proprioceptive</a:t>
              </a:r>
            </a:p>
            <a:p>
              <a:pPr algn="ctr"/>
              <a:r>
                <a:rPr lang="en-GB" sz="1400" dirty="0"/>
                <a:t>Sensory</a:t>
              </a:r>
            </a:p>
            <a:p>
              <a:pPr algn="ctr"/>
              <a:r>
                <a:rPr lang="en-GB" sz="1400" dirty="0"/>
                <a:t>Information</a:t>
              </a:r>
            </a:p>
          </p:txBody>
        </p:sp>
      </p:grpSp>
      <p:sp>
        <p:nvSpPr>
          <p:cNvPr id="1248" name="Title 1247">
            <a:extLst>
              <a:ext uri="{FF2B5EF4-FFF2-40B4-BE49-F238E27FC236}">
                <a16:creationId xmlns:a16="http://schemas.microsoft.com/office/drawing/2014/main" id="{1B279F40-AA5F-D36B-D72C-3B124296B2B7}"/>
              </a:ext>
            </a:extLst>
          </p:cNvPr>
          <p:cNvSpPr>
            <a:spLocks noGrp="1"/>
          </p:cNvSpPr>
          <p:nvPr>
            <p:ph type="title"/>
          </p:nvPr>
        </p:nvSpPr>
        <p:spPr/>
        <p:txBody>
          <a:bodyPr/>
          <a:lstStyle/>
          <a:p>
            <a:r>
              <a:rPr lang="en-GB" dirty="0"/>
              <a:t>The cerebellum refines actions</a:t>
            </a:r>
          </a:p>
        </p:txBody>
      </p:sp>
      <p:sp>
        <p:nvSpPr>
          <p:cNvPr id="1249" name="Content Placeholder 1248">
            <a:extLst>
              <a:ext uri="{FF2B5EF4-FFF2-40B4-BE49-F238E27FC236}">
                <a16:creationId xmlns:a16="http://schemas.microsoft.com/office/drawing/2014/main" id="{4D303FE7-8390-7650-BD68-6BD3BFB4AE6C}"/>
              </a:ext>
            </a:extLst>
          </p:cNvPr>
          <p:cNvSpPr>
            <a:spLocks noGrp="1"/>
          </p:cNvSpPr>
          <p:nvPr>
            <p:ph idx="1"/>
          </p:nvPr>
        </p:nvSpPr>
        <p:spPr>
          <a:xfrm>
            <a:off x="6478509" y="4932853"/>
            <a:ext cx="5257800" cy="1575062"/>
          </a:xfrm>
        </p:spPr>
        <p:txBody>
          <a:bodyPr>
            <a:normAutofit/>
          </a:bodyPr>
          <a:lstStyle/>
          <a:p>
            <a:r>
              <a:rPr lang="en-GB" sz="2000" dirty="0"/>
              <a:t>Refinement and coordination of current body movement</a:t>
            </a:r>
          </a:p>
          <a:p>
            <a:r>
              <a:rPr lang="en-GB" sz="2000" dirty="0"/>
              <a:t>Refinement of future actions through learning</a:t>
            </a:r>
          </a:p>
        </p:txBody>
      </p:sp>
      <p:pic>
        <p:nvPicPr>
          <p:cNvPr id="1250" name="Picture 2" descr="Cerebellum: What It Is, Function &amp; Anatomy">
            <a:extLst>
              <a:ext uri="{FF2B5EF4-FFF2-40B4-BE49-F238E27FC236}">
                <a16:creationId xmlns:a16="http://schemas.microsoft.com/office/drawing/2014/main" id="{B41C2D09-12C0-1B1F-A312-52AD42EB96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5934" y="1891724"/>
            <a:ext cx="3960262"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560491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1E7E5-4CC4-CEAC-FDD6-9AEFE159C6D0}"/>
              </a:ext>
            </a:extLst>
          </p:cNvPr>
          <p:cNvSpPr>
            <a:spLocks noGrp="1"/>
          </p:cNvSpPr>
          <p:nvPr>
            <p:ph type="title"/>
          </p:nvPr>
        </p:nvSpPr>
        <p:spPr/>
        <p:txBody>
          <a:bodyPr/>
          <a:lstStyle/>
          <a:p>
            <a:r>
              <a:rPr lang="en-GB" dirty="0"/>
              <a:t>Gross cerebellar anatomy</a:t>
            </a:r>
          </a:p>
        </p:txBody>
      </p:sp>
      <p:sp>
        <p:nvSpPr>
          <p:cNvPr id="9" name="TextBox 8">
            <a:extLst>
              <a:ext uri="{FF2B5EF4-FFF2-40B4-BE49-F238E27FC236}">
                <a16:creationId xmlns:a16="http://schemas.microsoft.com/office/drawing/2014/main" id="{C061A73A-E396-9844-1C47-5E95899D79B1}"/>
              </a:ext>
            </a:extLst>
          </p:cNvPr>
          <p:cNvSpPr txBox="1"/>
          <p:nvPr/>
        </p:nvSpPr>
        <p:spPr>
          <a:xfrm>
            <a:off x="141020" y="6031017"/>
            <a:ext cx="7197056" cy="646331"/>
          </a:xfrm>
          <a:prstGeom prst="rect">
            <a:avLst/>
          </a:prstGeom>
          <a:noFill/>
        </p:spPr>
        <p:txBody>
          <a:bodyPr wrap="square">
            <a:spAutoFit/>
          </a:bodyPr>
          <a:lstStyle/>
          <a:p>
            <a:pPr algn="l"/>
            <a:r>
              <a:rPr lang="en-GB" sz="1800" b="0" i="0" u="none" strike="noStrike" baseline="0" dirty="0">
                <a:latin typeface="AdvOT1ef757c0"/>
              </a:rPr>
              <a:t>About 80% of the cortex (around 17 cm x 120 cm surface)</a:t>
            </a:r>
          </a:p>
          <a:p>
            <a:pPr algn="l"/>
            <a:r>
              <a:rPr lang="en-GB" sz="1800" b="0" i="0" u="none" strike="noStrike" baseline="0" dirty="0">
                <a:latin typeface="AdvOT1ef757c0"/>
              </a:rPr>
              <a:t>(surface grey matter) is hidden from view on the surfaces of the folia.</a:t>
            </a:r>
            <a:endParaRPr lang="en-GB" dirty="0"/>
          </a:p>
        </p:txBody>
      </p:sp>
      <p:pic>
        <p:nvPicPr>
          <p:cNvPr id="92" name="Picture 91">
            <a:extLst>
              <a:ext uri="{FF2B5EF4-FFF2-40B4-BE49-F238E27FC236}">
                <a16:creationId xmlns:a16="http://schemas.microsoft.com/office/drawing/2014/main" id="{EC11AB60-B399-2F89-2002-C0AE6974B650}"/>
              </a:ext>
            </a:extLst>
          </p:cNvPr>
          <p:cNvPicPr>
            <a:picLocks noChangeAspect="1"/>
          </p:cNvPicPr>
          <p:nvPr/>
        </p:nvPicPr>
        <p:blipFill>
          <a:blip r:embed="rId3"/>
          <a:stretch>
            <a:fillRect/>
          </a:stretch>
        </p:blipFill>
        <p:spPr>
          <a:xfrm>
            <a:off x="758272" y="2199409"/>
            <a:ext cx="4551411" cy="3346625"/>
          </a:xfrm>
          <a:prstGeom prst="rect">
            <a:avLst/>
          </a:prstGeom>
        </p:spPr>
      </p:pic>
      <p:grpSp>
        <p:nvGrpSpPr>
          <p:cNvPr id="99" name="Group 98">
            <a:extLst>
              <a:ext uri="{FF2B5EF4-FFF2-40B4-BE49-F238E27FC236}">
                <a16:creationId xmlns:a16="http://schemas.microsoft.com/office/drawing/2014/main" id="{8AD04D44-B13F-2A19-B48C-F2683477764D}"/>
              </a:ext>
            </a:extLst>
          </p:cNvPr>
          <p:cNvGrpSpPr/>
          <p:nvPr/>
        </p:nvGrpSpPr>
        <p:grpSpPr>
          <a:xfrm>
            <a:off x="6097794" y="1238059"/>
            <a:ext cx="5953186" cy="5122877"/>
            <a:chOff x="6130901" y="1784711"/>
            <a:chExt cx="5953186" cy="5122877"/>
          </a:xfrm>
        </p:grpSpPr>
        <p:grpSp>
          <p:nvGrpSpPr>
            <p:cNvPr id="93" name="Group 92">
              <a:extLst>
                <a:ext uri="{FF2B5EF4-FFF2-40B4-BE49-F238E27FC236}">
                  <a16:creationId xmlns:a16="http://schemas.microsoft.com/office/drawing/2014/main" id="{4DBC4F83-4930-24F9-7A9E-5D0E8BC81E1C}"/>
                </a:ext>
              </a:extLst>
            </p:cNvPr>
            <p:cNvGrpSpPr/>
            <p:nvPr/>
          </p:nvGrpSpPr>
          <p:grpSpPr>
            <a:xfrm>
              <a:off x="6508235" y="1784711"/>
              <a:ext cx="5575852" cy="4999823"/>
              <a:chOff x="238539" y="1794650"/>
              <a:chExt cx="5575852" cy="4999823"/>
            </a:xfrm>
          </p:grpSpPr>
          <p:pic>
            <p:nvPicPr>
              <p:cNvPr id="11" name="Picture 10" descr="A close up of a brain&#10;&#10;AI-generated content may be incorrect.">
                <a:extLst>
                  <a:ext uri="{FF2B5EF4-FFF2-40B4-BE49-F238E27FC236}">
                    <a16:creationId xmlns:a16="http://schemas.microsoft.com/office/drawing/2014/main" id="{198BC286-F01B-646A-1A20-220DA920D8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4705" y="4317886"/>
                <a:ext cx="3545068" cy="2111402"/>
              </a:xfrm>
              <a:prstGeom prst="rect">
                <a:avLst/>
              </a:prstGeom>
            </p:spPr>
          </p:pic>
          <p:pic>
            <p:nvPicPr>
              <p:cNvPr id="13" name="Picture 12" descr="A close up of a human body&#10;&#10;AI-generated content may be incorrect.">
                <a:extLst>
                  <a:ext uri="{FF2B5EF4-FFF2-40B4-BE49-F238E27FC236}">
                    <a16:creationId xmlns:a16="http://schemas.microsoft.com/office/drawing/2014/main" id="{774D75B0-D301-E4FB-F9E3-45D3B439D2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8541" y="2256315"/>
                <a:ext cx="3333928" cy="2085336"/>
              </a:xfrm>
              <a:prstGeom prst="rect">
                <a:avLst/>
              </a:prstGeom>
            </p:spPr>
          </p:pic>
          <p:sp>
            <p:nvSpPr>
              <p:cNvPr id="56" name="TextBox 55">
                <a:extLst>
                  <a:ext uri="{FF2B5EF4-FFF2-40B4-BE49-F238E27FC236}">
                    <a16:creationId xmlns:a16="http://schemas.microsoft.com/office/drawing/2014/main" id="{E289F345-3923-5FFC-46E6-BC2A3F1BB5F3}"/>
                  </a:ext>
                </a:extLst>
              </p:cNvPr>
              <p:cNvSpPr txBox="1"/>
              <p:nvPr/>
            </p:nvSpPr>
            <p:spPr>
              <a:xfrm>
                <a:off x="238539" y="2477997"/>
                <a:ext cx="872162" cy="369332"/>
              </a:xfrm>
              <a:prstGeom prst="rect">
                <a:avLst/>
              </a:prstGeom>
              <a:noFill/>
            </p:spPr>
            <p:txBody>
              <a:bodyPr wrap="none" rtlCol="0">
                <a:spAutoFit/>
              </a:bodyPr>
              <a:lstStyle/>
              <a:p>
                <a:r>
                  <a:rPr lang="en-GB" dirty="0"/>
                  <a:t>Vermis</a:t>
                </a:r>
              </a:p>
            </p:txBody>
          </p:sp>
          <p:cxnSp>
            <p:nvCxnSpPr>
              <p:cNvPr id="58" name="Straight Connector 57">
                <a:extLst>
                  <a:ext uri="{FF2B5EF4-FFF2-40B4-BE49-F238E27FC236}">
                    <a16:creationId xmlns:a16="http://schemas.microsoft.com/office/drawing/2014/main" id="{ABB01898-BE67-65C8-638C-3FE597C67496}"/>
                  </a:ext>
                </a:extLst>
              </p:cNvPr>
              <p:cNvCxnSpPr>
                <a:cxnSpLocks/>
                <a:stCxn id="56" idx="3"/>
              </p:cNvCxnSpPr>
              <p:nvPr/>
            </p:nvCxnSpPr>
            <p:spPr>
              <a:xfrm>
                <a:off x="1110701" y="2662663"/>
                <a:ext cx="1525749" cy="276999"/>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15461B25-EA3D-DB71-98EF-CD453F2BF5FB}"/>
                  </a:ext>
                </a:extLst>
              </p:cNvPr>
              <p:cNvSpPr txBox="1"/>
              <p:nvPr/>
            </p:nvSpPr>
            <p:spPr>
              <a:xfrm>
                <a:off x="3518915" y="1794650"/>
                <a:ext cx="1519390" cy="369332"/>
              </a:xfrm>
              <a:prstGeom prst="rect">
                <a:avLst/>
              </a:prstGeom>
              <a:noFill/>
            </p:spPr>
            <p:txBody>
              <a:bodyPr wrap="none" rtlCol="0">
                <a:spAutoFit/>
              </a:bodyPr>
              <a:lstStyle/>
              <a:p>
                <a:r>
                  <a:rPr lang="en-GB" dirty="0"/>
                  <a:t>Anterior Lobe</a:t>
                </a:r>
              </a:p>
            </p:txBody>
          </p:sp>
          <p:cxnSp>
            <p:nvCxnSpPr>
              <p:cNvPr id="60" name="Straight Connector 59">
                <a:extLst>
                  <a:ext uri="{FF2B5EF4-FFF2-40B4-BE49-F238E27FC236}">
                    <a16:creationId xmlns:a16="http://schemas.microsoft.com/office/drawing/2014/main" id="{86098752-CDD8-DC4F-6497-96BF481994B3}"/>
                  </a:ext>
                </a:extLst>
              </p:cNvPr>
              <p:cNvCxnSpPr>
                <a:cxnSpLocks/>
                <a:stCxn id="59" idx="1"/>
              </p:cNvCxnSpPr>
              <p:nvPr/>
            </p:nvCxnSpPr>
            <p:spPr>
              <a:xfrm flipH="1">
                <a:off x="3310730" y="1979316"/>
                <a:ext cx="208185" cy="622154"/>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44EB2ED3-7095-9E24-ACF8-679EA7318550}"/>
                  </a:ext>
                </a:extLst>
              </p:cNvPr>
              <p:cNvSpPr txBox="1"/>
              <p:nvPr/>
            </p:nvSpPr>
            <p:spPr>
              <a:xfrm>
                <a:off x="4077835" y="3705705"/>
                <a:ext cx="1618392" cy="369332"/>
              </a:xfrm>
              <a:prstGeom prst="rect">
                <a:avLst/>
              </a:prstGeom>
              <a:noFill/>
            </p:spPr>
            <p:txBody>
              <a:bodyPr wrap="none" rtlCol="0">
                <a:spAutoFit/>
              </a:bodyPr>
              <a:lstStyle/>
              <a:p>
                <a:r>
                  <a:rPr lang="en-GB" dirty="0"/>
                  <a:t>Posterior Lobe</a:t>
                </a:r>
              </a:p>
            </p:txBody>
          </p:sp>
          <p:cxnSp>
            <p:nvCxnSpPr>
              <p:cNvPr id="64" name="Straight Connector 63">
                <a:extLst>
                  <a:ext uri="{FF2B5EF4-FFF2-40B4-BE49-F238E27FC236}">
                    <a16:creationId xmlns:a16="http://schemas.microsoft.com/office/drawing/2014/main" id="{F47D0301-2107-E160-342D-D09D95D7FEF6}"/>
                  </a:ext>
                </a:extLst>
              </p:cNvPr>
              <p:cNvCxnSpPr>
                <a:cxnSpLocks/>
                <a:stCxn id="63" idx="1"/>
              </p:cNvCxnSpPr>
              <p:nvPr/>
            </p:nvCxnSpPr>
            <p:spPr>
              <a:xfrm flipH="1" flipV="1">
                <a:off x="3717235" y="3018277"/>
                <a:ext cx="360600" cy="872094"/>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F2B62777-CA63-365C-D10B-B47375EAA64C}"/>
                  </a:ext>
                </a:extLst>
              </p:cNvPr>
              <p:cNvSpPr txBox="1"/>
              <p:nvPr/>
            </p:nvSpPr>
            <p:spPr>
              <a:xfrm>
                <a:off x="4040208" y="2354886"/>
                <a:ext cx="1343766" cy="307777"/>
              </a:xfrm>
              <a:prstGeom prst="rect">
                <a:avLst/>
              </a:prstGeom>
              <a:noFill/>
            </p:spPr>
            <p:txBody>
              <a:bodyPr wrap="none" rtlCol="0">
                <a:spAutoFit/>
              </a:bodyPr>
              <a:lstStyle/>
              <a:p>
                <a:r>
                  <a:rPr lang="en-GB" sz="1400" dirty="0"/>
                  <a:t>Primary fissure</a:t>
                </a:r>
              </a:p>
            </p:txBody>
          </p:sp>
          <p:cxnSp>
            <p:nvCxnSpPr>
              <p:cNvPr id="68" name="Straight Connector 67">
                <a:extLst>
                  <a:ext uri="{FF2B5EF4-FFF2-40B4-BE49-F238E27FC236}">
                    <a16:creationId xmlns:a16="http://schemas.microsoft.com/office/drawing/2014/main" id="{D73C5468-9C5C-3F2C-4F87-B020E7F58C70}"/>
                  </a:ext>
                </a:extLst>
              </p:cNvPr>
              <p:cNvCxnSpPr>
                <a:cxnSpLocks/>
                <a:stCxn id="67" idx="1"/>
              </p:cNvCxnSpPr>
              <p:nvPr/>
            </p:nvCxnSpPr>
            <p:spPr>
              <a:xfrm flipH="1" flipV="1">
                <a:off x="3761737" y="2499430"/>
                <a:ext cx="278471" cy="9345"/>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497F9EE2-0FE6-BC19-D115-C790240BF6FC}"/>
                  </a:ext>
                </a:extLst>
              </p:cNvPr>
              <p:cNvSpPr txBox="1"/>
              <p:nvPr/>
            </p:nvSpPr>
            <p:spPr>
              <a:xfrm>
                <a:off x="238539" y="4511729"/>
                <a:ext cx="1022247" cy="369332"/>
              </a:xfrm>
              <a:prstGeom prst="rect">
                <a:avLst/>
              </a:prstGeom>
              <a:noFill/>
            </p:spPr>
            <p:txBody>
              <a:bodyPr wrap="square" rtlCol="0">
                <a:spAutoFit/>
              </a:bodyPr>
              <a:lstStyle/>
              <a:p>
                <a:r>
                  <a:rPr lang="en-GB" dirty="0"/>
                  <a:t>Nodule</a:t>
                </a:r>
              </a:p>
            </p:txBody>
          </p:sp>
          <p:cxnSp>
            <p:nvCxnSpPr>
              <p:cNvPr id="71" name="Straight Connector 70">
                <a:extLst>
                  <a:ext uri="{FF2B5EF4-FFF2-40B4-BE49-F238E27FC236}">
                    <a16:creationId xmlns:a16="http://schemas.microsoft.com/office/drawing/2014/main" id="{4A187555-1030-FFEA-8764-D19A3389E2F3}"/>
                  </a:ext>
                </a:extLst>
              </p:cNvPr>
              <p:cNvCxnSpPr>
                <a:cxnSpLocks/>
                <a:stCxn id="70" idx="3"/>
              </p:cNvCxnSpPr>
              <p:nvPr/>
            </p:nvCxnSpPr>
            <p:spPr>
              <a:xfrm>
                <a:off x="1260786" y="4696395"/>
                <a:ext cx="1336453" cy="210883"/>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0D79593E-3B67-63F5-6189-3576ECA90FDA}"/>
                  </a:ext>
                </a:extLst>
              </p:cNvPr>
              <p:cNvSpPr txBox="1"/>
              <p:nvPr/>
            </p:nvSpPr>
            <p:spPr>
              <a:xfrm>
                <a:off x="1968780" y="6425141"/>
                <a:ext cx="1313449" cy="369332"/>
              </a:xfrm>
              <a:prstGeom prst="rect">
                <a:avLst/>
              </a:prstGeom>
              <a:noFill/>
            </p:spPr>
            <p:txBody>
              <a:bodyPr wrap="square" rtlCol="0">
                <a:spAutoFit/>
              </a:bodyPr>
              <a:lstStyle/>
              <a:p>
                <a:pPr algn="ctr"/>
                <a:r>
                  <a:rPr lang="en-GB" dirty="0"/>
                  <a:t>Flocculus</a:t>
                </a:r>
              </a:p>
            </p:txBody>
          </p:sp>
          <p:cxnSp>
            <p:nvCxnSpPr>
              <p:cNvPr id="75" name="Straight Connector 74">
                <a:extLst>
                  <a:ext uri="{FF2B5EF4-FFF2-40B4-BE49-F238E27FC236}">
                    <a16:creationId xmlns:a16="http://schemas.microsoft.com/office/drawing/2014/main" id="{C3FCDCEB-CFED-5C57-E5E2-955CF4368AE3}"/>
                  </a:ext>
                </a:extLst>
              </p:cNvPr>
              <p:cNvCxnSpPr>
                <a:cxnSpLocks/>
                <a:stCxn id="11" idx="2"/>
              </p:cNvCxnSpPr>
              <p:nvPr/>
            </p:nvCxnSpPr>
            <p:spPr>
              <a:xfrm flipH="1" flipV="1">
                <a:off x="1771909" y="5426765"/>
                <a:ext cx="825330" cy="1002523"/>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E3711A41-3224-645F-D8E7-1DF92C8C7992}"/>
                  </a:ext>
                </a:extLst>
              </p:cNvPr>
              <p:cNvCxnSpPr>
                <a:cxnSpLocks/>
                <a:stCxn id="74" idx="0"/>
              </p:cNvCxnSpPr>
              <p:nvPr/>
            </p:nvCxnSpPr>
            <p:spPr>
              <a:xfrm flipV="1">
                <a:off x="2625505" y="5424692"/>
                <a:ext cx="853595" cy="1000449"/>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sp>
            <p:nvSpPr>
              <p:cNvPr id="86" name="TextBox 85">
                <a:extLst>
                  <a:ext uri="{FF2B5EF4-FFF2-40B4-BE49-F238E27FC236}">
                    <a16:creationId xmlns:a16="http://schemas.microsoft.com/office/drawing/2014/main" id="{26585B3B-CB0B-6E5B-80E1-9F99D2A5E6B1}"/>
                  </a:ext>
                </a:extLst>
              </p:cNvPr>
              <p:cNvSpPr txBox="1"/>
              <p:nvPr/>
            </p:nvSpPr>
            <p:spPr>
              <a:xfrm>
                <a:off x="4292469" y="4633530"/>
                <a:ext cx="1521922" cy="646331"/>
              </a:xfrm>
              <a:prstGeom prst="rect">
                <a:avLst/>
              </a:prstGeom>
              <a:noFill/>
            </p:spPr>
            <p:txBody>
              <a:bodyPr wrap="square" rtlCol="0">
                <a:spAutoFit/>
              </a:bodyPr>
              <a:lstStyle/>
              <a:p>
                <a:r>
                  <a:rPr lang="en-GB" dirty="0"/>
                  <a:t>Cerebellar</a:t>
                </a:r>
              </a:p>
              <a:p>
                <a:r>
                  <a:rPr lang="en-GB" dirty="0"/>
                  <a:t>Peduncles</a:t>
                </a:r>
              </a:p>
            </p:txBody>
          </p:sp>
          <p:cxnSp>
            <p:nvCxnSpPr>
              <p:cNvPr id="87" name="Straight Connector 86">
                <a:extLst>
                  <a:ext uri="{FF2B5EF4-FFF2-40B4-BE49-F238E27FC236}">
                    <a16:creationId xmlns:a16="http://schemas.microsoft.com/office/drawing/2014/main" id="{94919FB5-9F66-992B-C475-E59B7F59D5DB}"/>
                  </a:ext>
                </a:extLst>
              </p:cNvPr>
              <p:cNvCxnSpPr>
                <a:cxnSpLocks/>
                <a:stCxn id="86" idx="1"/>
              </p:cNvCxnSpPr>
              <p:nvPr/>
            </p:nvCxnSpPr>
            <p:spPr>
              <a:xfrm flipH="1">
                <a:off x="2951922" y="4956696"/>
                <a:ext cx="1340547" cy="241469"/>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grpSp>
        <p:sp>
          <p:nvSpPr>
            <p:cNvPr id="94" name="TextBox 93">
              <a:extLst>
                <a:ext uri="{FF2B5EF4-FFF2-40B4-BE49-F238E27FC236}">
                  <a16:creationId xmlns:a16="http://schemas.microsoft.com/office/drawing/2014/main" id="{70536111-19FE-2567-6BDE-9350747A6348}"/>
                </a:ext>
              </a:extLst>
            </p:cNvPr>
            <p:cNvSpPr txBox="1"/>
            <p:nvPr/>
          </p:nvSpPr>
          <p:spPr>
            <a:xfrm>
              <a:off x="6144533" y="3034118"/>
              <a:ext cx="958724" cy="307777"/>
            </a:xfrm>
            <a:prstGeom prst="rect">
              <a:avLst/>
            </a:prstGeom>
            <a:noFill/>
          </p:spPr>
          <p:txBody>
            <a:bodyPr wrap="none" rtlCol="0">
              <a:spAutoFit/>
            </a:bodyPr>
            <a:lstStyle/>
            <a:p>
              <a:r>
                <a:rPr lang="en-GB" sz="1400" dirty="0">
                  <a:solidFill>
                    <a:schemeClr val="bg2">
                      <a:lumMod val="50000"/>
                    </a:schemeClr>
                  </a:solidFill>
                </a:rPr>
                <a:t>Back view</a:t>
              </a:r>
            </a:p>
          </p:txBody>
        </p:sp>
        <p:sp>
          <p:nvSpPr>
            <p:cNvPr id="95" name="TextBox 94">
              <a:extLst>
                <a:ext uri="{FF2B5EF4-FFF2-40B4-BE49-F238E27FC236}">
                  <a16:creationId xmlns:a16="http://schemas.microsoft.com/office/drawing/2014/main" id="{E34B2E6B-3C2F-53EB-5912-B6F58042826A}"/>
                </a:ext>
              </a:extLst>
            </p:cNvPr>
            <p:cNvSpPr txBox="1"/>
            <p:nvPr/>
          </p:nvSpPr>
          <p:spPr>
            <a:xfrm>
              <a:off x="6130901" y="5491347"/>
              <a:ext cx="977127" cy="307777"/>
            </a:xfrm>
            <a:prstGeom prst="rect">
              <a:avLst/>
            </a:prstGeom>
            <a:noFill/>
          </p:spPr>
          <p:txBody>
            <a:bodyPr wrap="none" rtlCol="0">
              <a:spAutoFit/>
            </a:bodyPr>
            <a:lstStyle/>
            <a:p>
              <a:r>
                <a:rPr lang="en-GB" sz="1400" dirty="0">
                  <a:solidFill>
                    <a:schemeClr val="bg2">
                      <a:lumMod val="50000"/>
                    </a:schemeClr>
                  </a:solidFill>
                </a:rPr>
                <a:t>Front view</a:t>
              </a:r>
            </a:p>
          </p:txBody>
        </p:sp>
        <p:sp>
          <p:nvSpPr>
            <p:cNvPr id="97" name="TextBox 96">
              <a:extLst>
                <a:ext uri="{FF2B5EF4-FFF2-40B4-BE49-F238E27FC236}">
                  <a16:creationId xmlns:a16="http://schemas.microsoft.com/office/drawing/2014/main" id="{5B52A7E3-C918-F35A-FE8E-E0ABF49EA17F}"/>
                </a:ext>
              </a:extLst>
            </p:cNvPr>
            <p:cNvSpPr txBox="1"/>
            <p:nvPr/>
          </p:nvSpPr>
          <p:spPr>
            <a:xfrm>
              <a:off x="9788611" y="6599811"/>
              <a:ext cx="1443665" cy="307777"/>
            </a:xfrm>
            <a:prstGeom prst="rect">
              <a:avLst/>
            </a:prstGeom>
            <a:noFill/>
          </p:spPr>
          <p:txBody>
            <a:bodyPr wrap="none" rtlCol="0">
              <a:spAutoFit/>
            </a:bodyPr>
            <a:lstStyle/>
            <a:p>
              <a:r>
                <a:rPr lang="en-GB" sz="1400" dirty="0">
                  <a:solidFill>
                    <a:schemeClr val="bg2">
                      <a:lumMod val="50000"/>
                    </a:schemeClr>
                  </a:solidFill>
                </a:rPr>
                <a:t>Left hemisphere</a:t>
              </a:r>
            </a:p>
          </p:txBody>
        </p:sp>
        <p:sp>
          <p:nvSpPr>
            <p:cNvPr id="98" name="TextBox 97">
              <a:extLst>
                <a:ext uri="{FF2B5EF4-FFF2-40B4-BE49-F238E27FC236}">
                  <a16:creationId xmlns:a16="http://schemas.microsoft.com/office/drawing/2014/main" id="{3E28A863-1937-594B-8DCE-BACB79438C09}"/>
                </a:ext>
              </a:extLst>
            </p:cNvPr>
            <p:cNvSpPr txBox="1"/>
            <p:nvPr/>
          </p:nvSpPr>
          <p:spPr>
            <a:xfrm>
              <a:off x="6944316" y="6592408"/>
              <a:ext cx="1541576" cy="307777"/>
            </a:xfrm>
            <a:prstGeom prst="rect">
              <a:avLst/>
            </a:prstGeom>
            <a:noFill/>
          </p:spPr>
          <p:txBody>
            <a:bodyPr wrap="none" rtlCol="0">
              <a:spAutoFit/>
            </a:bodyPr>
            <a:lstStyle/>
            <a:p>
              <a:r>
                <a:rPr lang="en-GB" sz="1400" dirty="0">
                  <a:solidFill>
                    <a:schemeClr val="bg2">
                      <a:lumMod val="50000"/>
                    </a:schemeClr>
                  </a:solidFill>
                </a:rPr>
                <a:t>Right hemisphere</a:t>
              </a:r>
            </a:p>
          </p:txBody>
        </p:sp>
        <p:sp>
          <p:nvSpPr>
            <p:cNvPr id="3" name="TextBox 2">
              <a:extLst>
                <a:ext uri="{FF2B5EF4-FFF2-40B4-BE49-F238E27FC236}">
                  <a16:creationId xmlns:a16="http://schemas.microsoft.com/office/drawing/2014/main" id="{D874C1BD-FB1B-BA2E-DAA5-4084D72C3008}"/>
                </a:ext>
              </a:extLst>
            </p:cNvPr>
            <p:cNvSpPr txBox="1"/>
            <p:nvPr/>
          </p:nvSpPr>
          <p:spPr>
            <a:xfrm>
              <a:off x="6847641" y="2090997"/>
              <a:ext cx="1443665" cy="307777"/>
            </a:xfrm>
            <a:prstGeom prst="rect">
              <a:avLst/>
            </a:prstGeom>
            <a:noFill/>
          </p:spPr>
          <p:txBody>
            <a:bodyPr wrap="none" rtlCol="0">
              <a:spAutoFit/>
            </a:bodyPr>
            <a:lstStyle/>
            <a:p>
              <a:r>
                <a:rPr lang="en-GB" sz="1400" dirty="0">
                  <a:solidFill>
                    <a:schemeClr val="bg2">
                      <a:lumMod val="50000"/>
                    </a:schemeClr>
                  </a:solidFill>
                </a:rPr>
                <a:t>Left hemisphere</a:t>
              </a:r>
            </a:p>
          </p:txBody>
        </p:sp>
        <p:sp>
          <p:nvSpPr>
            <p:cNvPr id="4" name="TextBox 3">
              <a:extLst>
                <a:ext uri="{FF2B5EF4-FFF2-40B4-BE49-F238E27FC236}">
                  <a16:creationId xmlns:a16="http://schemas.microsoft.com/office/drawing/2014/main" id="{2F0E7458-F758-BD35-2C49-2639C41B83E0}"/>
                </a:ext>
              </a:extLst>
            </p:cNvPr>
            <p:cNvSpPr txBox="1"/>
            <p:nvPr/>
          </p:nvSpPr>
          <p:spPr>
            <a:xfrm>
              <a:off x="9740591" y="2083594"/>
              <a:ext cx="1541576" cy="307777"/>
            </a:xfrm>
            <a:prstGeom prst="rect">
              <a:avLst/>
            </a:prstGeom>
            <a:noFill/>
          </p:spPr>
          <p:txBody>
            <a:bodyPr wrap="none" rtlCol="0">
              <a:spAutoFit/>
            </a:bodyPr>
            <a:lstStyle/>
            <a:p>
              <a:r>
                <a:rPr lang="en-GB" sz="1400" dirty="0">
                  <a:solidFill>
                    <a:schemeClr val="bg2">
                      <a:lumMod val="50000"/>
                    </a:schemeClr>
                  </a:solidFill>
                </a:rPr>
                <a:t>Right hemisphere</a:t>
              </a:r>
            </a:p>
          </p:txBody>
        </p:sp>
      </p:grpSp>
    </p:spTree>
    <p:extLst>
      <p:ext uri="{BB962C8B-B14F-4D97-AF65-F5344CB8AC3E}">
        <p14:creationId xmlns:p14="http://schemas.microsoft.com/office/powerpoint/2010/main" val="410271045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150D-1EF6-A6F4-80E3-D8E6381A87B6}"/>
              </a:ext>
            </a:extLst>
          </p:cNvPr>
          <p:cNvSpPr>
            <a:spLocks noGrp="1"/>
          </p:cNvSpPr>
          <p:nvPr>
            <p:ph type="title"/>
          </p:nvPr>
        </p:nvSpPr>
        <p:spPr/>
        <p:txBody>
          <a:bodyPr/>
          <a:lstStyle/>
          <a:p>
            <a:r>
              <a:rPr lang="en-GB" dirty="0"/>
              <a:t>Different cerebellar areas and functions</a:t>
            </a:r>
          </a:p>
        </p:txBody>
      </p:sp>
      <p:pic>
        <p:nvPicPr>
          <p:cNvPr id="8" name="Content Placeholder 7" descr="A pink and green striped human body&#10;&#10;AI-generated content may be incorrect.">
            <a:extLst>
              <a:ext uri="{FF2B5EF4-FFF2-40B4-BE49-F238E27FC236}">
                <a16:creationId xmlns:a16="http://schemas.microsoft.com/office/drawing/2014/main" id="{919C6600-E55D-3F1F-366D-84C753898A5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06196" y="1948568"/>
            <a:ext cx="3898400" cy="2438405"/>
          </a:xfrm>
        </p:spPr>
      </p:pic>
      <p:grpSp>
        <p:nvGrpSpPr>
          <p:cNvPr id="94" name="Group 93">
            <a:extLst>
              <a:ext uri="{FF2B5EF4-FFF2-40B4-BE49-F238E27FC236}">
                <a16:creationId xmlns:a16="http://schemas.microsoft.com/office/drawing/2014/main" id="{1E0DB7BB-1A8E-B569-2479-6EEAFB2B1713}"/>
              </a:ext>
            </a:extLst>
          </p:cNvPr>
          <p:cNvGrpSpPr/>
          <p:nvPr/>
        </p:nvGrpSpPr>
        <p:grpSpPr>
          <a:xfrm>
            <a:off x="1317389" y="4790318"/>
            <a:ext cx="2476014" cy="1714828"/>
            <a:chOff x="1322138" y="4796129"/>
            <a:chExt cx="2476014" cy="1714828"/>
          </a:xfrm>
        </p:grpSpPr>
        <p:sp>
          <p:nvSpPr>
            <p:cNvPr id="4" name="Rectangle 3">
              <a:extLst>
                <a:ext uri="{FF2B5EF4-FFF2-40B4-BE49-F238E27FC236}">
                  <a16:creationId xmlns:a16="http://schemas.microsoft.com/office/drawing/2014/main" id="{269AA943-381B-B54C-B84F-B5B2ACCE3F5F}"/>
                </a:ext>
              </a:extLst>
            </p:cNvPr>
            <p:cNvSpPr/>
            <p:nvPr/>
          </p:nvSpPr>
          <p:spPr>
            <a:xfrm>
              <a:off x="1322138" y="4796129"/>
              <a:ext cx="2476014" cy="10778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err="1"/>
                <a:t>Vestibulocerebellum</a:t>
              </a:r>
              <a:endParaRPr lang="en-GB" b="1" dirty="0"/>
            </a:p>
            <a:p>
              <a:pPr algn="ctr"/>
              <a:r>
                <a:rPr lang="en-GB" dirty="0"/>
                <a:t>(Nodule + flocculus)</a:t>
              </a:r>
            </a:p>
          </p:txBody>
        </p:sp>
        <p:sp>
          <p:nvSpPr>
            <p:cNvPr id="89" name="TextBox 88">
              <a:extLst>
                <a:ext uri="{FF2B5EF4-FFF2-40B4-BE49-F238E27FC236}">
                  <a16:creationId xmlns:a16="http://schemas.microsoft.com/office/drawing/2014/main" id="{CC8C89FE-107E-3ED4-9D65-A967E2B15CC6}"/>
                </a:ext>
              </a:extLst>
            </p:cNvPr>
            <p:cNvSpPr txBox="1"/>
            <p:nvPr/>
          </p:nvSpPr>
          <p:spPr>
            <a:xfrm>
              <a:off x="1561901" y="5864626"/>
              <a:ext cx="2000869" cy="646331"/>
            </a:xfrm>
            <a:prstGeom prst="rect">
              <a:avLst/>
            </a:prstGeom>
            <a:noFill/>
          </p:spPr>
          <p:txBody>
            <a:bodyPr wrap="none" rtlCol="0">
              <a:spAutoFit/>
            </a:bodyPr>
            <a:lstStyle/>
            <a:p>
              <a:pPr algn="ctr"/>
              <a:r>
                <a:rPr lang="en-GB" dirty="0"/>
                <a:t>Equilibrium during</a:t>
              </a:r>
            </a:p>
            <a:p>
              <a:pPr algn="ctr"/>
              <a:r>
                <a:rPr lang="en-GB" dirty="0"/>
                <a:t>movement</a:t>
              </a:r>
            </a:p>
          </p:txBody>
        </p:sp>
      </p:grpSp>
      <p:grpSp>
        <p:nvGrpSpPr>
          <p:cNvPr id="96" name="Group 95">
            <a:extLst>
              <a:ext uri="{FF2B5EF4-FFF2-40B4-BE49-F238E27FC236}">
                <a16:creationId xmlns:a16="http://schemas.microsoft.com/office/drawing/2014/main" id="{6D7A4C35-4009-A350-CF21-B06F5D08F3B8}"/>
              </a:ext>
            </a:extLst>
          </p:cNvPr>
          <p:cNvGrpSpPr/>
          <p:nvPr/>
        </p:nvGrpSpPr>
        <p:grpSpPr>
          <a:xfrm>
            <a:off x="4697638" y="4790318"/>
            <a:ext cx="2472708" cy="1724578"/>
            <a:chOff x="4442214" y="4796129"/>
            <a:chExt cx="2472708" cy="1724578"/>
          </a:xfrm>
        </p:grpSpPr>
        <p:sp>
          <p:nvSpPr>
            <p:cNvPr id="5" name="Rectangle 4">
              <a:extLst>
                <a:ext uri="{FF2B5EF4-FFF2-40B4-BE49-F238E27FC236}">
                  <a16:creationId xmlns:a16="http://schemas.microsoft.com/office/drawing/2014/main" id="{FC3499CE-0FAC-88F7-E5BD-ECB4F242DA00}"/>
                </a:ext>
              </a:extLst>
            </p:cNvPr>
            <p:cNvSpPr/>
            <p:nvPr/>
          </p:nvSpPr>
          <p:spPr>
            <a:xfrm>
              <a:off x="4442214" y="4796129"/>
              <a:ext cx="2472708" cy="1077898"/>
            </a:xfrm>
            <a:prstGeom prst="rect">
              <a:avLst/>
            </a:prstGeom>
            <a:solidFill>
              <a:srgbClr val="78BE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err="1">
                  <a:solidFill>
                    <a:schemeClr val="tx1"/>
                  </a:solidFill>
                </a:rPr>
                <a:t>Spinocerebellum</a:t>
              </a:r>
              <a:endParaRPr lang="en-GB" b="1" dirty="0">
                <a:solidFill>
                  <a:schemeClr val="tx1"/>
                </a:solidFill>
              </a:endParaRPr>
            </a:p>
            <a:p>
              <a:pPr algn="ctr"/>
              <a:r>
                <a:rPr lang="en-GB" dirty="0">
                  <a:solidFill>
                    <a:schemeClr val="tx1"/>
                  </a:solidFill>
                </a:rPr>
                <a:t>(Intermediate zone +</a:t>
              </a:r>
            </a:p>
            <a:p>
              <a:pPr algn="ctr"/>
              <a:r>
                <a:rPr lang="en-GB" dirty="0">
                  <a:solidFill>
                    <a:schemeClr val="tx1"/>
                  </a:solidFill>
                </a:rPr>
                <a:t>Vermis)</a:t>
              </a:r>
            </a:p>
          </p:txBody>
        </p:sp>
        <p:sp>
          <p:nvSpPr>
            <p:cNvPr id="90" name="TextBox 89">
              <a:extLst>
                <a:ext uri="{FF2B5EF4-FFF2-40B4-BE49-F238E27FC236}">
                  <a16:creationId xmlns:a16="http://schemas.microsoft.com/office/drawing/2014/main" id="{4A029068-D8B3-4896-4CC0-C8CA3A038286}"/>
                </a:ext>
              </a:extLst>
            </p:cNvPr>
            <p:cNvSpPr txBox="1"/>
            <p:nvPr/>
          </p:nvSpPr>
          <p:spPr>
            <a:xfrm>
              <a:off x="4844097" y="5874376"/>
              <a:ext cx="1660455" cy="646331"/>
            </a:xfrm>
            <a:prstGeom prst="rect">
              <a:avLst/>
            </a:prstGeom>
            <a:noFill/>
          </p:spPr>
          <p:txBody>
            <a:bodyPr wrap="none" rtlCol="0">
              <a:spAutoFit/>
            </a:bodyPr>
            <a:lstStyle/>
            <a:p>
              <a:pPr algn="ctr"/>
              <a:r>
                <a:rPr lang="en-GB" dirty="0"/>
                <a:t>Proprioception</a:t>
              </a:r>
            </a:p>
            <a:p>
              <a:pPr algn="ctr"/>
              <a:r>
                <a:rPr lang="en-GB" dirty="0"/>
                <a:t>Movement</a:t>
              </a:r>
            </a:p>
          </p:txBody>
        </p:sp>
      </p:grpSp>
      <p:grpSp>
        <p:nvGrpSpPr>
          <p:cNvPr id="95" name="Group 94">
            <a:extLst>
              <a:ext uri="{FF2B5EF4-FFF2-40B4-BE49-F238E27FC236}">
                <a16:creationId xmlns:a16="http://schemas.microsoft.com/office/drawing/2014/main" id="{8CD8024C-88A3-B036-B374-9BABF0A19DCC}"/>
              </a:ext>
            </a:extLst>
          </p:cNvPr>
          <p:cNvGrpSpPr/>
          <p:nvPr/>
        </p:nvGrpSpPr>
        <p:grpSpPr>
          <a:xfrm>
            <a:off x="7886304" y="4790318"/>
            <a:ext cx="2852577" cy="1720639"/>
            <a:chOff x="7888702" y="4800068"/>
            <a:chExt cx="2852577" cy="1720639"/>
          </a:xfrm>
        </p:grpSpPr>
        <p:sp>
          <p:nvSpPr>
            <p:cNvPr id="6" name="Rectangle 5">
              <a:extLst>
                <a:ext uri="{FF2B5EF4-FFF2-40B4-BE49-F238E27FC236}">
                  <a16:creationId xmlns:a16="http://schemas.microsoft.com/office/drawing/2014/main" id="{2B29CD6A-16C7-2D6D-0A94-67BC6684F284}"/>
                </a:ext>
              </a:extLst>
            </p:cNvPr>
            <p:cNvSpPr/>
            <p:nvPr/>
          </p:nvSpPr>
          <p:spPr>
            <a:xfrm>
              <a:off x="8062177" y="4800068"/>
              <a:ext cx="2505616" cy="1073806"/>
            </a:xfrm>
            <a:prstGeom prst="rect">
              <a:avLst/>
            </a:prstGeom>
            <a:solidFill>
              <a:srgbClr val="E8B4B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Neocerebellum</a:t>
              </a:r>
            </a:p>
            <a:p>
              <a:pPr algn="ctr"/>
              <a:r>
                <a:rPr lang="en-GB" dirty="0">
                  <a:solidFill>
                    <a:schemeClr val="tx1"/>
                  </a:solidFill>
                </a:rPr>
                <a:t>(Lateral zone)</a:t>
              </a:r>
            </a:p>
          </p:txBody>
        </p:sp>
        <p:sp>
          <p:nvSpPr>
            <p:cNvPr id="91" name="TextBox 90">
              <a:extLst>
                <a:ext uri="{FF2B5EF4-FFF2-40B4-BE49-F238E27FC236}">
                  <a16:creationId xmlns:a16="http://schemas.microsoft.com/office/drawing/2014/main" id="{1100FD60-B348-9435-4FC4-505C7D5A3625}"/>
                </a:ext>
              </a:extLst>
            </p:cNvPr>
            <p:cNvSpPr txBox="1"/>
            <p:nvPr/>
          </p:nvSpPr>
          <p:spPr>
            <a:xfrm>
              <a:off x="7888702" y="5874376"/>
              <a:ext cx="2852577" cy="646331"/>
            </a:xfrm>
            <a:prstGeom prst="rect">
              <a:avLst/>
            </a:prstGeom>
            <a:noFill/>
          </p:spPr>
          <p:txBody>
            <a:bodyPr wrap="none" rtlCol="0">
              <a:spAutoFit/>
            </a:bodyPr>
            <a:lstStyle/>
            <a:p>
              <a:pPr algn="ctr"/>
              <a:r>
                <a:rPr lang="en-GB" dirty="0"/>
                <a:t>Planning and coordination</a:t>
              </a:r>
            </a:p>
            <a:p>
              <a:pPr algn="ctr"/>
              <a:r>
                <a:rPr lang="en-GB" dirty="0"/>
                <a:t>of future motor actions</a:t>
              </a:r>
            </a:p>
          </p:txBody>
        </p:sp>
      </p:grpSp>
      <p:sp>
        <p:nvSpPr>
          <p:cNvPr id="92" name="TextBox 91">
            <a:extLst>
              <a:ext uri="{FF2B5EF4-FFF2-40B4-BE49-F238E27FC236}">
                <a16:creationId xmlns:a16="http://schemas.microsoft.com/office/drawing/2014/main" id="{72D881EA-CACF-C4EC-B7F3-97876278102F}"/>
              </a:ext>
            </a:extLst>
          </p:cNvPr>
          <p:cNvSpPr txBox="1"/>
          <p:nvPr/>
        </p:nvSpPr>
        <p:spPr>
          <a:xfrm>
            <a:off x="2185448" y="1578723"/>
            <a:ext cx="958724" cy="307777"/>
          </a:xfrm>
          <a:prstGeom prst="rect">
            <a:avLst/>
          </a:prstGeom>
          <a:noFill/>
        </p:spPr>
        <p:txBody>
          <a:bodyPr wrap="none" rtlCol="0">
            <a:spAutoFit/>
          </a:bodyPr>
          <a:lstStyle/>
          <a:p>
            <a:pPr algn="ctr"/>
            <a:r>
              <a:rPr lang="en-GB" sz="1400" dirty="0">
                <a:solidFill>
                  <a:schemeClr val="bg2">
                    <a:lumMod val="50000"/>
                  </a:schemeClr>
                </a:solidFill>
              </a:rPr>
              <a:t>Back view</a:t>
            </a:r>
          </a:p>
        </p:txBody>
      </p:sp>
      <p:grpSp>
        <p:nvGrpSpPr>
          <p:cNvPr id="97" name="Group 96">
            <a:extLst>
              <a:ext uri="{FF2B5EF4-FFF2-40B4-BE49-F238E27FC236}">
                <a16:creationId xmlns:a16="http://schemas.microsoft.com/office/drawing/2014/main" id="{AA6CA7EF-C734-0D9B-E651-EDEB6CDF0C59}"/>
              </a:ext>
            </a:extLst>
          </p:cNvPr>
          <p:cNvGrpSpPr/>
          <p:nvPr/>
        </p:nvGrpSpPr>
        <p:grpSpPr>
          <a:xfrm>
            <a:off x="7239942" y="1578723"/>
            <a:ext cx="4145288" cy="2722964"/>
            <a:chOff x="6647456" y="1578723"/>
            <a:chExt cx="4145288" cy="2722964"/>
          </a:xfrm>
        </p:grpSpPr>
        <p:pic>
          <p:nvPicPr>
            <p:cNvPr id="10" name="Picture 9" descr="A close up of a brain&#10;&#10;AI-generated content may be incorrect.">
              <a:extLst>
                <a:ext uri="{FF2B5EF4-FFF2-40B4-BE49-F238E27FC236}">
                  <a16:creationId xmlns:a16="http://schemas.microsoft.com/office/drawing/2014/main" id="{0C6D1649-D899-2583-8F17-D86B011EEF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47456" y="1832802"/>
              <a:ext cx="4145288" cy="2468885"/>
            </a:xfrm>
            <a:prstGeom prst="rect">
              <a:avLst/>
            </a:prstGeom>
          </p:spPr>
        </p:pic>
        <p:sp>
          <p:nvSpPr>
            <p:cNvPr id="93" name="TextBox 92">
              <a:extLst>
                <a:ext uri="{FF2B5EF4-FFF2-40B4-BE49-F238E27FC236}">
                  <a16:creationId xmlns:a16="http://schemas.microsoft.com/office/drawing/2014/main" id="{9085DF2F-B373-874E-73D3-5CD8E19BC1AB}"/>
                </a:ext>
              </a:extLst>
            </p:cNvPr>
            <p:cNvSpPr txBox="1"/>
            <p:nvPr/>
          </p:nvSpPr>
          <p:spPr>
            <a:xfrm>
              <a:off x="8231537" y="1578723"/>
              <a:ext cx="977127" cy="307777"/>
            </a:xfrm>
            <a:prstGeom prst="rect">
              <a:avLst/>
            </a:prstGeom>
            <a:noFill/>
          </p:spPr>
          <p:txBody>
            <a:bodyPr wrap="none" rtlCol="0">
              <a:spAutoFit/>
            </a:bodyPr>
            <a:lstStyle/>
            <a:p>
              <a:pPr algn="ctr"/>
              <a:r>
                <a:rPr lang="en-GB" sz="1400" dirty="0">
                  <a:solidFill>
                    <a:schemeClr val="bg2">
                      <a:lumMod val="50000"/>
                    </a:schemeClr>
                  </a:solidFill>
                </a:rPr>
                <a:t>Front view</a:t>
              </a:r>
            </a:p>
          </p:txBody>
        </p:sp>
      </p:grpSp>
    </p:spTree>
    <p:extLst>
      <p:ext uri="{BB962C8B-B14F-4D97-AF65-F5344CB8AC3E}">
        <p14:creationId xmlns:p14="http://schemas.microsoft.com/office/powerpoint/2010/main" val="238520209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B3D00-89FF-D339-A745-7E8849263B3D}"/>
              </a:ext>
            </a:extLst>
          </p:cNvPr>
          <p:cNvSpPr>
            <a:spLocks noGrp="1"/>
          </p:cNvSpPr>
          <p:nvPr>
            <p:ph type="title"/>
          </p:nvPr>
        </p:nvSpPr>
        <p:spPr/>
        <p:txBody>
          <a:bodyPr/>
          <a:lstStyle/>
          <a:p>
            <a:r>
              <a:rPr lang="en-GB" dirty="0"/>
              <a:t>Different cerebellar areas and functions</a:t>
            </a:r>
          </a:p>
        </p:txBody>
      </p:sp>
      <p:pic>
        <p:nvPicPr>
          <p:cNvPr id="5" name="Content Placeholder 4">
            <a:extLst>
              <a:ext uri="{FF2B5EF4-FFF2-40B4-BE49-F238E27FC236}">
                <a16:creationId xmlns:a16="http://schemas.microsoft.com/office/drawing/2014/main" id="{E36272F0-B376-C475-3E9F-D03D15C4E86A}"/>
              </a:ext>
            </a:extLst>
          </p:cNvPr>
          <p:cNvPicPr>
            <a:picLocks noGrp="1" noChangeAspect="1"/>
          </p:cNvPicPr>
          <p:nvPr>
            <p:ph idx="1"/>
          </p:nvPr>
        </p:nvPicPr>
        <p:blipFill>
          <a:blip r:embed="rId2"/>
          <a:stretch>
            <a:fillRect/>
          </a:stretch>
        </p:blipFill>
        <p:spPr>
          <a:xfrm>
            <a:off x="1911024" y="1284143"/>
            <a:ext cx="5172501" cy="3958975"/>
          </a:xfrm>
          <a:prstGeom prst="rect">
            <a:avLst/>
          </a:prstGeom>
        </p:spPr>
      </p:pic>
      <p:pic>
        <p:nvPicPr>
          <p:cNvPr id="4" name="Picture 3">
            <a:extLst>
              <a:ext uri="{FF2B5EF4-FFF2-40B4-BE49-F238E27FC236}">
                <a16:creationId xmlns:a16="http://schemas.microsoft.com/office/drawing/2014/main" id="{23CF9C2C-D784-951E-FBC4-192D3D122DA7}"/>
              </a:ext>
            </a:extLst>
          </p:cNvPr>
          <p:cNvPicPr>
            <a:picLocks noChangeAspect="1"/>
          </p:cNvPicPr>
          <p:nvPr/>
        </p:nvPicPr>
        <p:blipFill>
          <a:blip r:embed="rId3"/>
          <a:stretch>
            <a:fillRect/>
          </a:stretch>
        </p:blipFill>
        <p:spPr>
          <a:xfrm>
            <a:off x="7830638" y="1696046"/>
            <a:ext cx="3776876" cy="3135168"/>
          </a:xfrm>
          <a:prstGeom prst="rect">
            <a:avLst/>
          </a:prstGeom>
        </p:spPr>
      </p:pic>
      <p:sp>
        <p:nvSpPr>
          <p:cNvPr id="3" name="TextBox 2">
            <a:extLst>
              <a:ext uri="{FF2B5EF4-FFF2-40B4-BE49-F238E27FC236}">
                <a16:creationId xmlns:a16="http://schemas.microsoft.com/office/drawing/2014/main" id="{190AA21B-C711-4DEE-248D-5C5C75F19858}"/>
              </a:ext>
            </a:extLst>
          </p:cNvPr>
          <p:cNvSpPr txBox="1"/>
          <p:nvPr/>
        </p:nvSpPr>
        <p:spPr>
          <a:xfrm>
            <a:off x="3561516" y="5243118"/>
            <a:ext cx="1660455" cy="923330"/>
          </a:xfrm>
          <a:prstGeom prst="rect">
            <a:avLst/>
          </a:prstGeom>
          <a:noFill/>
        </p:spPr>
        <p:txBody>
          <a:bodyPr wrap="none" rtlCol="0">
            <a:spAutoFit/>
          </a:bodyPr>
          <a:lstStyle/>
          <a:p>
            <a:r>
              <a:rPr lang="en-GB" b="1" u="sng" dirty="0"/>
              <a:t>Inputs:</a:t>
            </a:r>
          </a:p>
          <a:p>
            <a:r>
              <a:rPr lang="en-GB" dirty="0"/>
              <a:t>Proprioception</a:t>
            </a:r>
          </a:p>
          <a:p>
            <a:r>
              <a:rPr lang="en-GB" dirty="0"/>
              <a:t>Motor cortex</a:t>
            </a:r>
          </a:p>
        </p:txBody>
      </p:sp>
      <p:sp>
        <p:nvSpPr>
          <p:cNvPr id="38" name="TextBox 37">
            <a:extLst>
              <a:ext uri="{FF2B5EF4-FFF2-40B4-BE49-F238E27FC236}">
                <a16:creationId xmlns:a16="http://schemas.microsoft.com/office/drawing/2014/main" id="{D44C85F9-C15C-7FEA-F670-DC4D856BDF68}"/>
              </a:ext>
            </a:extLst>
          </p:cNvPr>
          <p:cNvSpPr txBox="1"/>
          <p:nvPr/>
        </p:nvSpPr>
        <p:spPr>
          <a:xfrm>
            <a:off x="269049" y="4419311"/>
            <a:ext cx="2755113" cy="1200329"/>
          </a:xfrm>
          <a:prstGeom prst="rect">
            <a:avLst/>
          </a:prstGeom>
          <a:noFill/>
        </p:spPr>
        <p:txBody>
          <a:bodyPr wrap="none" rtlCol="0">
            <a:spAutoFit/>
          </a:bodyPr>
          <a:lstStyle/>
          <a:p>
            <a:r>
              <a:rPr lang="en-GB" b="1" u="sng" dirty="0"/>
              <a:t>Inputs :</a:t>
            </a:r>
          </a:p>
          <a:p>
            <a:r>
              <a:rPr lang="en-GB" dirty="0"/>
              <a:t>Premotor area</a:t>
            </a:r>
          </a:p>
          <a:p>
            <a:r>
              <a:rPr lang="en-GB" dirty="0"/>
              <a:t>Somatosensory cortex</a:t>
            </a:r>
          </a:p>
          <a:p>
            <a:r>
              <a:rPr lang="en-GB" dirty="0"/>
              <a:t>Cortical associative areas</a:t>
            </a:r>
          </a:p>
        </p:txBody>
      </p:sp>
      <p:sp>
        <p:nvSpPr>
          <p:cNvPr id="73" name="TextBox 72">
            <a:extLst>
              <a:ext uri="{FF2B5EF4-FFF2-40B4-BE49-F238E27FC236}">
                <a16:creationId xmlns:a16="http://schemas.microsoft.com/office/drawing/2014/main" id="{71A66D6D-1A60-05C3-69F9-31A57536F0AF}"/>
              </a:ext>
            </a:extLst>
          </p:cNvPr>
          <p:cNvSpPr txBox="1"/>
          <p:nvPr/>
        </p:nvSpPr>
        <p:spPr>
          <a:xfrm>
            <a:off x="8769008" y="5094045"/>
            <a:ext cx="1900136" cy="923330"/>
          </a:xfrm>
          <a:prstGeom prst="rect">
            <a:avLst/>
          </a:prstGeom>
          <a:noFill/>
        </p:spPr>
        <p:txBody>
          <a:bodyPr wrap="none" rtlCol="0">
            <a:spAutoFit/>
          </a:bodyPr>
          <a:lstStyle/>
          <a:p>
            <a:pPr algn="ctr"/>
            <a:r>
              <a:rPr lang="en-GB" dirty="0"/>
              <a:t>Somatotopic</a:t>
            </a:r>
          </a:p>
          <a:p>
            <a:pPr algn="ctr"/>
            <a:r>
              <a:rPr lang="en-GB" dirty="0"/>
              <a:t>Organization of</a:t>
            </a:r>
          </a:p>
          <a:p>
            <a:pPr algn="ctr"/>
            <a:r>
              <a:rPr lang="en-GB" dirty="0"/>
              <a:t>Cerebellar cortex</a:t>
            </a:r>
          </a:p>
        </p:txBody>
      </p:sp>
    </p:spTree>
    <p:extLst>
      <p:ext uri="{BB962C8B-B14F-4D97-AF65-F5344CB8AC3E}">
        <p14:creationId xmlns:p14="http://schemas.microsoft.com/office/powerpoint/2010/main" val="136883872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C64D2-B68A-5AED-0CE6-A2F3860D9CB5}"/>
              </a:ext>
            </a:extLst>
          </p:cNvPr>
          <p:cNvSpPr>
            <a:spLocks noGrp="1"/>
          </p:cNvSpPr>
          <p:nvPr>
            <p:ph type="title"/>
          </p:nvPr>
        </p:nvSpPr>
        <p:spPr/>
        <p:txBody>
          <a:bodyPr/>
          <a:lstStyle/>
          <a:p>
            <a:r>
              <a:rPr lang="en-GB" dirty="0"/>
              <a:t>Deep cerebellar nuclei </a:t>
            </a:r>
          </a:p>
        </p:txBody>
      </p:sp>
      <p:pic>
        <p:nvPicPr>
          <p:cNvPr id="47" name="Content Placeholder 46">
            <a:extLst>
              <a:ext uri="{FF2B5EF4-FFF2-40B4-BE49-F238E27FC236}">
                <a16:creationId xmlns:a16="http://schemas.microsoft.com/office/drawing/2014/main" id="{A67552BD-38B3-363D-0226-C7808973F93E}"/>
              </a:ext>
            </a:extLst>
          </p:cNvPr>
          <p:cNvPicPr>
            <a:picLocks noGrp="1" noChangeAspect="1"/>
          </p:cNvPicPr>
          <p:nvPr>
            <p:ph idx="1"/>
          </p:nvPr>
        </p:nvPicPr>
        <p:blipFill>
          <a:blip r:embed="rId2"/>
          <a:srcRect t="18973"/>
          <a:stretch>
            <a:fillRect/>
          </a:stretch>
        </p:blipFill>
        <p:spPr>
          <a:xfrm>
            <a:off x="355626" y="2773016"/>
            <a:ext cx="3404323" cy="2736795"/>
          </a:xfrm>
          <a:prstGeom prst="rect">
            <a:avLst/>
          </a:prstGeom>
        </p:spPr>
      </p:pic>
      <p:grpSp>
        <p:nvGrpSpPr>
          <p:cNvPr id="54" name="Group 53">
            <a:extLst>
              <a:ext uri="{FF2B5EF4-FFF2-40B4-BE49-F238E27FC236}">
                <a16:creationId xmlns:a16="http://schemas.microsoft.com/office/drawing/2014/main" id="{FB79BE9C-1E14-365F-1FFF-B2BABA6F652D}"/>
              </a:ext>
            </a:extLst>
          </p:cNvPr>
          <p:cNvGrpSpPr/>
          <p:nvPr/>
        </p:nvGrpSpPr>
        <p:grpSpPr>
          <a:xfrm>
            <a:off x="4735925" y="2047753"/>
            <a:ext cx="2553848" cy="4187320"/>
            <a:chOff x="4735925" y="1763990"/>
            <a:chExt cx="2553848" cy="4187320"/>
          </a:xfrm>
        </p:grpSpPr>
        <p:pic>
          <p:nvPicPr>
            <p:cNvPr id="49" name="Picture 48">
              <a:extLst>
                <a:ext uri="{FF2B5EF4-FFF2-40B4-BE49-F238E27FC236}">
                  <a16:creationId xmlns:a16="http://schemas.microsoft.com/office/drawing/2014/main" id="{89D2F15B-F101-363F-ADF0-380925A7A731}"/>
                </a:ext>
              </a:extLst>
            </p:cNvPr>
            <p:cNvPicPr>
              <a:picLocks noChangeAspect="1"/>
            </p:cNvPicPr>
            <p:nvPr/>
          </p:nvPicPr>
          <p:blipFill>
            <a:blip r:embed="rId3"/>
            <a:srcRect t="18365"/>
            <a:stretch>
              <a:fillRect/>
            </a:stretch>
          </p:blipFill>
          <p:spPr>
            <a:xfrm>
              <a:off x="4763437" y="1763990"/>
              <a:ext cx="2526336" cy="2057009"/>
            </a:xfrm>
            <a:prstGeom prst="rect">
              <a:avLst/>
            </a:prstGeom>
          </p:spPr>
        </p:pic>
        <p:pic>
          <p:nvPicPr>
            <p:cNvPr id="51" name="Picture 50">
              <a:extLst>
                <a:ext uri="{FF2B5EF4-FFF2-40B4-BE49-F238E27FC236}">
                  <a16:creationId xmlns:a16="http://schemas.microsoft.com/office/drawing/2014/main" id="{5B9854CC-E247-9A6C-AAC2-C6AE54243BA9}"/>
                </a:ext>
              </a:extLst>
            </p:cNvPr>
            <p:cNvPicPr>
              <a:picLocks noChangeAspect="1"/>
            </p:cNvPicPr>
            <p:nvPr/>
          </p:nvPicPr>
          <p:blipFill>
            <a:blip r:embed="rId4"/>
            <a:srcRect t="18365"/>
            <a:stretch>
              <a:fillRect/>
            </a:stretch>
          </p:blipFill>
          <p:spPr>
            <a:xfrm>
              <a:off x="4735925" y="3894301"/>
              <a:ext cx="2549458" cy="2057009"/>
            </a:xfrm>
            <a:prstGeom prst="rect">
              <a:avLst/>
            </a:prstGeom>
          </p:spPr>
        </p:pic>
      </p:grpSp>
      <p:pic>
        <p:nvPicPr>
          <p:cNvPr id="53" name="Picture 52">
            <a:extLst>
              <a:ext uri="{FF2B5EF4-FFF2-40B4-BE49-F238E27FC236}">
                <a16:creationId xmlns:a16="http://schemas.microsoft.com/office/drawing/2014/main" id="{870C0BB8-8636-C278-F903-70A6034F70DD}"/>
              </a:ext>
            </a:extLst>
          </p:cNvPr>
          <p:cNvPicPr>
            <a:picLocks noChangeAspect="1"/>
          </p:cNvPicPr>
          <p:nvPr/>
        </p:nvPicPr>
        <p:blipFill>
          <a:blip r:embed="rId5"/>
          <a:srcRect t="18433"/>
          <a:stretch>
            <a:fillRect/>
          </a:stretch>
        </p:blipFill>
        <p:spPr>
          <a:xfrm>
            <a:off x="8432053" y="2773016"/>
            <a:ext cx="3472114" cy="2835795"/>
          </a:xfrm>
          <a:prstGeom prst="rect">
            <a:avLst/>
          </a:prstGeom>
        </p:spPr>
      </p:pic>
      <p:sp>
        <p:nvSpPr>
          <p:cNvPr id="55" name="TextBox 54">
            <a:extLst>
              <a:ext uri="{FF2B5EF4-FFF2-40B4-BE49-F238E27FC236}">
                <a16:creationId xmlns:a16="http://schemas.microsoft.com/office/drawing/2014/main" id="{4EE48366-F754-B66E-8BC8-A287238EF482}"/>
              </a:ext>
            </a:extLst>
          </p:cNvPr>
          <p:cNvSpPr txBox="1"/>
          <p:nvPr/>
        </p:nvSpPr>
        <p:spPr>
          <a:xfrm>
            <a:off x="1113183" y="2226365"/>
            <a:ext cx="1828449" cy="369332"/>
          </a:xfrm>
          <a:prstGeom prst="rect">
            <a:avLst/>
          </a:prstGeom>
          <a:noFill/>
        </p:spPr>
        <p:txBody>
          <a:bodyPr wrap="none" rtlCol="0">
            <a:spAutoFit/>
          </a:bodyPr>
          <a:lstStyle/>
          <a:p>
            <a:r>
              <a:rPr lang="en-GB" dirty="0"/>
              <a:t>Dentate nucleus</a:t>
            </a:r>
          </a:p>
        </p:txBody>
      </p:sp>
      <p:sp>
        <p:nvSpPr>
          <p:cNvPr id="56" name="TextBox 55">
            <a:extLst>
              <a:ext uri="{FF2B5EF4-FFF2-40B4-BE49-F238E27FC236}">
                <a16:creationId xmlns:a16="http://schemas.microsoft.com/office/drawing/2014/main" id="{B69217C1-427C-313C-2C6C-287B75C7377D}"/>
              </a:ext>
            </a:extLst>
          </p:cNvPr>
          <p:cNvSpPr txBox="1"/>
          <p:nvPr/>
        </p:nvSpPr>
        <p:spPr>
          <a:xfrm>
            <a:off x="4972245" y="1579324"/>
            <a:ext cx="2108719" cy="369332"/>
          </a:xfrm>
          <a:prstGeom prst="rect">
            <a:avLst/>
          </a:prstGeom>
          <a:noFill/>
        </p:spPr>
        <p:txBody>
          <a:bodyPr wrap="none" rtlCol="0">
            <a:spAutoFit/>
          </a:bodyPr>
          <a:lstStyle/>
          <a:p>
            <a:r>
              <a:rPr lang="en-GB" dirty="0"/>
              <a:t>Interposed nucleus</a:t>
            </a:r>
          </a:p>
        </p:txBody>
      </p:sp>
      <p:sp>
        <p:nvSpPr>
          <p:cNvPr id="57" name="TextBox 56">
            <a:extLst>
              <a:ext uri="{FF2B5EF4-FFF2-40B4-BE49-F238E27FC236}">
                <a16:creationId xmlns:a16="http://schemas.microsoft.com/office/drawing/2014/main" id="{5AE38A31-94F7-C2E2-259B-9C45FEAFEC1B}"/>
              </a:ext>
            </a:extLst>
          </p:cNvPr>
          <p:cNvSpPr txBox="1"/>
          <p:nvPr/>
        </p:nvSpPr>
        <p:spPr>
          <a:xfrm>
            <a:off x="9237086" y="2226365"/>
            <a:ext cx="1862048" cy="369332"/>
          </a:xfrm>
          <a:prstGeom prst="rect">
            <a:avLst/>
          </a:prstGeom>
          <a:noFill/>
        </p:spPr>
        <p:txBody>
          <a:bodyPr wrap="none" rtlCol="0">
            <a:spAutoFit/>
          </a:bodyPr>
          <a:lstStyle/>
          <a:p>
            <a:r>
              <a:rPr lang="en-GB" dirty="0"/>
              <a:t>Fastigial nucleus</a:t>
            </a:r>
          </a:p>
        </p:txBody>
      </p:sp>
      <p:sp>
        <p:nvSpPr>
          <p:cNvPr id="58" name="TextBox 57">
            <a:extLst>
              <a:ext uri="{FF2B5EF4-FFF2-40B4-BE49-F238E27FC236}">
                <a16:creationId xmlns:a16="http://schemas.microsoft.com/office/drawing/2014/main" id="{7C62027F-630E-39BF-96EA-F0CD1E26DC66}"/>
              </a:ext>
            </a:extLst>
          </p:cNvPr>
          <p:cNvSpPr txBox="1"/>
          <p:nvPr/>
        </p:nvSpPr>
        <p:spPr>
          <a:xfrm>
            <a:off x="6600063" y="2218271"/>
            <a:ext cx="961802" cy="461665"/>
          </a:xfrm>
          <a:prstGeom prst="rect">
            <a:avLst/>
          </a:prstGeom>
          <a:noFill/>
        </p:spPr>
        <p:txBody>
          <a:bodyPr wrap="none" rtlCol="0">
            <a:spAutoFit/>
          </a:bodyPr>
          <a:lstStyle/>
          <a:p>
            <a:pPr algn="r"/>
            <a:r>
              <a:rPr lang="en-GB" sz="1200" dirty="0"/>
              <a:t>Emboliform</a:t>
            </a:r>
          </a:p>
          <a:p>
            <a:pPr algn="r"/>
            <a:r>
              <a:rPr lang="en-GB" sz="1200" dirty="0"/>
              <a:t> nucleus</a:t>
            </a:r>
          </a:p>
        </p:txBody>
      </p:sp>
      <p:sp>
        <p:nvSpPr>
          <p:cNvPr id="59" name="TextBox 58">
            <a:extLst>
              <a:ext uri="{FF2B5EF4-FFF2-40B4-BE49-F238E27FC236}">
                <a16:creationId xmlns:a16="http://schemas.microsoft.com/office/drawing/2014/main" id="{A2CC7EDD-C90C-510F-7223-37957E85E4DA}"/>
              </a:ext>
            </a:extLst>
          </p:cNvPr>
          <p:cNvSpPr txBox="1"/>
          <p:nvPr/>
        </p:nvSpPr>
        <p:spPr>
          <a:xfrm>
            <a:off x="6809736" y="4436032"/>
            <a:ext cx="752129" cy="461665"/>
          </a:xfrm>
          <a:prstGeom prst="rect">
            <a:avLst/>
          </a:prstGeom>
          <a:noFill/>
        </p:spPr>
        <p:txBody>
          <a:bodyPr wrap="none" rtlCol="0">
            <a:spAutoFit/>
          </a:bodyPr>
          <a:lstStyle/>
          <a:p>
            <a:pPr algn="r"/>
            <a:r>
              <a:rPr lang="en-GB" sz="1200" dirty="0"/>
              <a:t>Globous</a:t>
            </a:r>
          </a:p>
          <a:p>
            <a:pPr algn="r"/>
            <a:r>
              <a:rPr lang="en-GB" sz="1200" dirty="0"/>
              <a:t> nucleus</a:t>
            </a:r>
          </a:p>
        </p:txBody>
      </p:sp>
    </p:spTree>
    <p:extLst>
      <p:ext uri="{BB962C8B-B14F-4D97-AF65-F5344CB8AC3E}">
        <p14:creationId xmlns:p14="http://schemas.microsoft.com/office/powerpoint/2010/main" val="40849619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F3390-905C-3E2E-5E2A-A38DEC79546D}"/>
              </a:ext>
            </a:extLst>
          </p:cNvPr>
          <p:cNvSpPr>
            <a:spLocks noGrp="1"/>
          </p:cNvSpPr>
          <p:nvPr>
            <p:ph type="title"/>
          </p:nvPr>
        </p:nvSpPr>
        <p:spPr/>
        <p:txBody>
          <a:bodyPr>
            <a:normAutofit fontScale="90000"/>
          </a:bodyPr>
          <a:lstStyle/>
          <a:p>
            <a:r>
              <a:rPr lang="en-GB" dirty="0"/>
              <a:t>Cerebellar peduncles: the gateways of the cerebellum</a:t>
            </a:r>
          </a:p>
        </p:txBody>
      </p:sp>
      <p:pic>
        <p:nvPicPr>
          <p:cNvPr id="18" name="Content Placeholder 17">
            <a:extLst>
              <a:ext uri="{FF2B5EF4-FFF2-40B4-BE49-F238E27FC236}">
                <a16:creationId xmlns:a16="http://schemas.microsoft.com/office/drawing/2014/main" id="{74E5BCD9-E218-82B8-1F0A-41E6E3AFF506}"/>
              </a:ext>
            </a:extLst>
          </p:cNvPr>
          <p:cNvPicPr>
            <a:picLocks noGrp="1" noChangeAspect="1"/>
          </p:cNvPicPr>
          <p:nvPr>
            <p:ph idx="1"/>
          </p:nvPr>
        </p:nvPicPr>
        <p:blipFill>
          <a:blip r:embed="rId2"/>
          <a:stretch>
            <a:fillRect/>
          </a:stretch>
        </p:blipFill>
        <p:spPr>
          <a:xfrm>
            <a:off x="838200" y="2202314"/>
            <a:ext cx="2885290" cy="2807008"/>
          </a:xfrm>
          <a:prstGeom prst="rect">
            <a:avLst/>
          </a:prstGeom>
        </p:spPr>
      </p:pic>
      <mc:AlternateContent xmlns:mc="http://schemas.openxmlformats.org/markup-compatibility/2006" xmlns:p14="http://schemas.microsoft.com/office/powerpoint/2010/main">
        <mc:Choice Requires="p14">
          <p:contentPart p14:bwMode="auto" r:id="rId3">
            <p14:nvContentPartPr>
              <p14:cNvPr id="16" name="Ink 15">
                <a:extLst>
                  <a:ext uri="{FF2B5EF4-FFF2-40B4-BE49-F238E27FC236}">
                    <a16:creationId xmlns:a16="http://schemas.microsoft.com/office/drawing/2014/main" id="{E927ACD2-3F65-5114-2730-6CEF1A566F32}"/>
                  </a:ext>
                </a:extLst>
              </p14:cNvPr>
              <p14:cNvContentPartPr/>
              <p14:nvPr/>
            </p14:nvContentPartPr>
            <p14:xfrm>
              <a:off x="11717558" y="6175679"/>
              <a:ext cx="360" cy="360"/>
            </p14:xfrm>
          </p:contentPart>
        </mc:Choice>
        <mc:Fallback xmlns="">
          <p:pic>
            <p:nvPicPr>
              <p:cNvPr id="16" name="Ink 15">
                <a:extLst>
                  <a:ext uri="{FF2B5EF4-FFF2-40B4-BE49-F238E27FC236}">
                    <a16:creationId xmlns:a16="http://schemas.microsoft.com/office/drawing/2014/main" id="{E927ACD2-3F65-5114-2730-6CEF1A566F32}"/>
                  </a:ext>
                </a:extLst>
              </p:cNvPr>
              <p:cNvPicPr/>
              <p:nvPr/>
            </p:nvPicPr>
            <p:blipFill>
              <a:blip r:embed="rId4"/>
              <a:stretch>
                <a:fillRect/>
              </a:stretch>
            </p:blipFill>
            <p:spPr>
              <a:xfrm>
                <a:off x="11708558" y="6167039"/>
                <a:ext cx="18000" cy="18000"/>
              </a:xfrm>
              <a:prstGeom prst="rect">
                <a:avLst/>
              </a:prstGeom>
            </p:spPr>
          </p:pic>
        </mc:Fallback>
      </mc:AlternateContent>
      <p:pic>
        <p:nvPicPr>
          <p:cNvPr id="20" name="Picture 19">
            <a:extLst>
              <a:ext uri="{FF2B5EF4-FFF2-40B4-BE49-F238E27FC236}">
                <a16:creationId xmlns:a16="http://schemas.microsoft.com/office/drawing/2014/main" id="{D3EFA2A8-B959-3710-5130-8D421F736468}"/>
              </a:ext>
            </a:extLst>
          </p:cNvPr>
          <p:cNvPicPr>
            <a:picLocks noChangeAspect="1"/>
          </p:cNvPicPr>
          <p:nvPr/>
        </p:nvPicPr>
        <p:blipFill>
          <a:blip r:embed="rId5"/>
          <a:stretch>
            <a:fillRect/>
          </a:stretch>
        </p:blipFill>
        <p:spPr>
          <a:xfrm>
            <a:off x="4662949" y="2202316"/>
            <a:ext cx="2866102" cy="2807006"/>
          </a:xfrm>
          <a:prstGeom prst="rect">
            <a:avLst/>
          </a:prstGeom>
        </p:spPr>
      </p:pic>
      <p:pic>
        <p:nvPicPr>
          <p:cNvPr id="22" name="Picture 21">
            <a:extLst>
              <a:ext uri="{FF2B5EF4-FFF2-40B4-BE49-F238E27FC236}">
                <a16:creationId xmlns:a16="http://schemas.microsoft.com/office/drawing/2014/main" id="{AAF6F3F8-FBC7-2BD2-4D0C-142E5EE6EEEE}"/>
              </a:ext>
            </a:extLst>
          </p:cNvPr>
          <p:cNvPicPr>
            <a:picLocks noChangeAspect="1"/>
          </p:cNvPicPr>
          <p:nvPr/>
        </p:nvPicPr>
        <p:blipFill>
          <a:blip r:embed="rId6"/>
          <a:stretch>
            <a:fillRect/>
          </a:stretch>
        </p:blipFill>
        <p:spPr>
          <a:xfrm>
            <a:off x="8468510" y="2202316"/>
            <a:ext cx="2840290" cy="2807006"/>
          </a:xfrm>
          <a:prstGeom prst="rect">
            <a:avLst/>
          </a:prstGeom>
        </p:spPr>
      </p:pic>
      <p:sp>
        <p:nvSpPr>
          <p:cNvPr id="23" name="TextBox 22">
            <a:extLst>
              <a:ext uri="{FF2B5EF4-FFF2-40B4-BE49-F238E27FC236}">
                <a16:creationId xmlns:a16="http://schemas.microsoft.com/office/drawing/2014/main" id="{647CBAB3-BD2F-A281-8E68-38110C28C6B0}"/>
              </a:ext>
            </a:extLst>
          </p:cNvPr>
          <p:cNvSpPr txBox="1"/>
          <p:nvPr/>
        </p:nvSpPr>
        <p:spPr>
          <a:xfrm>
            <a:off x="817679" y="5009322"/>
            <a:ext cx="2085892" cy="646331"/>
          </a:xfrm>
          <a:prstGeom prst="rect">
            <a:avLst/>
          </a:prstGeom>
          <a:noFill/>
        </p:spPr>
        <p:txBody>
          <a:bodyPr wrap="none" rtlCol="0">
            <a:spAutoFit/>
          </a:bodyPr>
          <a:lstStyle/>
          <a:p>
            <a:pPr algn="ctr"/>
            <a:r>
              <a:rPr lang="en-GB" dirty="0"/>
              <a:t>Superior cerebellar</a:t>
            </a:r>
          </a:p>
          <a:p>
            <a:pPr algn="ctr"/>
            <a:r>
              <a:rPr lang="en-GB" dirty="0"/>
              <a:t>peduncles</a:t>
            </a:r>
          </a:p>
        </p:txBody>
      </p:sp>
      <p:sp>
        <p:nvSpPr>
          <p:cNvPr id="24" name="TextBox 23">
            <a:extLst>
              <a:ext uri="{FF2B5EF4-FFF2-40B4-BE49-F238E27FC236}">
                <a16:creationId xmlns:a16="http://schemas.microsoft.com/office/drawing/2014/main" id="{A2E194C5-FEE5-D02F-9BE3-6FA933756E31}"/>
              </a:ext>
            </a:extLst>
          </p:cNvPr>
          <p:cNvSpPr txBox="1"/>
          <p:nvPr/>
        </p:nvSpPr>
        <p:spPr>
          <a:xfrm>
            <a:off x="4662949" y="5009321"/>
            <a:ext cx="1919180" cy="646331"/>
          </a:xfrm>
          <a:prstGeom prst="rect">
            <a:avLst/>
          </a:prstGeom>
          <a:noFill/>
        </p:spPr>
        <p:txBody>
          <a:bodyPr wrap="none" rtlCol="0">
            <a:spAutoFit/>
          </a:bodyPr>
          <a:lstStyle/>
          <a:p>
            <a:pPr algn="ctr"/>
            <a:r>
              <a:rPr lang="en-GB" dirty="0"/>
              <a:t>Middle cerebellar</a:t>
            </a:r>
          </a:p>
          <a:p>
            <a:pPr algn="ctr"/>
            <a:r>
              <a:rPr lang="en-GB" dirty="0"/>
              <a:t>peduncles</a:t>
            </a:r>
          </a:p>
        </p:txBody>
      </p:sp>
      <p:sp>
        <p:nvSpPr>
          <p:cNvPr id="25" name="TextBox 24">
            <a:extLst>
              <a:ext uri="{FF2B5EF4-FFF2-40B4-BE49-F238E27FC236}">
                <a16:creationId xmlns:a16="http://schemas.microsoft.com/office/drawing/2014/main" id="{F75E8C53-A4F5-1911-6E14-6133D5F75DC8}"/>
              </a:ext>
            </a:extLst>
          </p:cNvPr>
          <p:cNvSpPr txBox="1"/>
          <p:nvPr/>
        </p:nvSpPr>
        <p:spPr>
          <a:xfrm>
            <a:off x="8468510" y="5009321"/>
            <a:ext cx="1949894" cy="646331"/>
          </a:xfrm>
          <a:prstGeom prst="rect">
            <a:avLst/>
          </a:prstGeom>
          <a:noFill/>
        </p:spPr>
        <p:txBody>
          <a:bodyPr wrap="none" rtlCol="0">
            <a:spAutoFit/>
          </a:bodyPr>
          <a:lstStyle/>
          <a:p>
            <a:pPr algn="ctr"/>
            <a:r>
              <a:rPr lang="en-GB" dirty="0"/>
              <a:t>Inferior cerebellar</a:t>
            </a:r>
          </a:p>
          <a:p>
            <a:pPr algn="ctr"/>
            <a:r>
              <a:rPr lang="en-GB" dirty="0"/>
              <a:t>peduncles</a:t>
            </a:r>
          </a:p>
        </p:txBody>
      </p:sp>
    </p:spTree>
    <p:extLst>
      <p:ext uri="{BB962C8B-B14F-4D97-AF65-F5344CB8AC3E}">
        <p14:creationId xmlns:p14="http://schemas.microsoft.com/office/powerpoint/2010/main" val="226258763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92058-7282-6B61-E378-05908F2FFFF1}"/>
              </a:ext>
            </a:extLst>
          </p:cNvPr>
          <p:cNvSpPr>
            <a:spLocks noGrp="1"/>
          </p:cNvSpPr>
          <p:nvPr>
            <p:ph type="title"/>
          </p:nvPr>
        </p:nvSpPr>
        <p:spPr/>
        <p:txBody>
          <a:bodyPr/>
          <a:lstStyle/>
          <a:p>
            <a:r>
              <a:rPr lang="en-GB" dirty="0"/>
              <a:t>Cerebellar afferents: brain</a:t>
            </a:r>
          </a:p>
        </p:txBody>
      </p:sp>
      <p:sp>
        <p:nvSpPr>
          <p:cNvPr id="523" name="Content Placeholder 522">
            <a:extLst>
              <a:ext uri="{FF2B5EF4-FFF2-40B4-BE49-F238E27FC236}">
                <a16:creationId xmlns:a16="http://schemas.microsoft.com/office/drawing/2014/main" id="{F10ADA98-3B3C-F071-AF3D-FF25A2D2CF78}"/>
              </a:ext>
            </a:extLst>
          </p:cNvPr>
          <p:cNvSpPr>
            <a:spLocks noGrp="1"/>
          </p:cNvSpPr>
          <p:nvPr>
            <p:ph idx="1"/>
          </p:nvPr>
        </p:nvSpPr>
        <p:spPr/>
        <p:txBody>
          <a:bodyPr>
            <a:normAutofit/>
          </a:bodyPr>
          <a:lstStyle/>
          <a:p>
            <a:r>
              <a:rPr lang="en-GB" b="1" dirty="0" err="1"/>
              <a:t>Corticoponto</a:t>
            </a:r>
            <a:r>
              <a:rPr lang="en-GB" dirty="0" err="1"/>
              <a:t>cerebellar</a:t>
            </a:r>
            <a:endParaRPr lang="en-GB" dirty="0"/>
          </a:p>
          <a:p>
            <a:pPr lvl="1"/>
            <a:r>
              <a:rPr lang="en-GB" dirty="0"/>
              <a:t>From motor cortices and SSC to pontine nuclei and then to contralateral cerebellar lateral zones</a:t>
            </a:r>
          </a:p>
          <a:p>
            <a:r>
              <a:rPr lang="en-GB" b="1" dirty="0"/>
              <a:t>Olivo</a:t>
            </a:r>
            <a:r>
              <a:rPr lang="en-GB" dirty="0"/>
              <a:t>cerebellar</a:t>
            </a:r>
          </a:p>
          <a:p>
            <a:pPr lvl="1"/>
            <a:r>
              <a:rPr lang="en-GB" dirty="0"/>
              <a:t>Excited in the olives by projections from MC, basal ganglia, RF, and spinal cord</a:t>
            </a:r>
          </a:p>
          <a:p>
            <a:r>
              <a:rPr lang="en-GB" b="1" dirty="0" err="1"/>
              <a:t>Vestibulo</a:t>
            </a:r>
            <a:r>
              <a:rPr lang="en-GB" dirty="0" err="1"/>
              <a:t>cerebellar</a:t>
            </a:r>
            <a:endParaRPr lang="en-GB" dirty="0"/>
          </a:p>
          <a:p>
            <a:pPr lvl="1"/>
            <a:r>
              <a:rPr lang="en-GB" dirty="0"/>
              <a:t>Terminate in the fastigial nucleus and the flocculonodular lobe</a:t>
            </a:r>
          </a:p>
          <a:p>
            <a:r>
              <a:rPr lang="en-GB" b="1" dirty="0" err="1"/>
              <a:t>Reticulo</a:t>
            </a:r>
            <a:r>
              <a:rPr lang="en-GB" dirty="0" err="1"/>
              <a:t>cerebellar</a:t>
            </a:r>
            <a:endParaRPr lang="en-GB" dirty="0"/>
          </a:p>
          <a:p>
            <a:pPr lvl="1"/>
            <a:r>
              <a:rPr lang="en-GB" dirty="0"/>
              <a:t>Terminates mainly in the vermis</a:t>
            </a:r>
          </a:p>
        </p:txBody>
      </p:sp>
      <p:pic>
        <p:nvPicPr>
          <p:cNvPr id="521" name="Picture 520">
            <a:extLst>
              <a:ext uri="{FF2B5EF4-FFF2-40B4-BE49-F238E27FC236}">
                <a16:creationId xmlns:a16="http://schemas.microsoft.com/office/drawing/2014/main" id="{F4C6B009-9EE5-FD43-E606-E21FE7D8372C}"/>
              </a:ext>
            </a:extLst>
          </p:cNvPr>
          <p:cNvPicPr>
            <a:picLocks noChangeAspect="1"/>
          </p:cNvPicPr>
          <p:nvPr/>
        </p:nvPicPr>
        <p:blipFill>
          <a:blip r:embed="rId2"/>
          <a:stretch>
            <a:fillRect/>
          </a:stretch>
        </p:blipFill>
        <p:spPr>
          <a:xfrm>
            <a:off x="6096000" y="1518202"/>
            <a:ext cx="5731566" cy="4298674"/>
          </a:xfrm>
          <a:prstGeom prst="rect">
            <a:avLst/>
          </a:prstGeom>
        </p:spPr>
      </p:pic>
    </p:spTree>
    <p:extLst>
      <p:ext uri="{BB962C8B-B14F-4D97-AF65-F5344CB8AC3E}">
        <p14:creationId xmlns:p14="http://schemas.microsoft.com/office/powerpoint/2010/main" val="227668917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A3890-051D-D71C-901A-656DC1150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509C03-5790-BB5A-9570-8B7963556DEC}"/>
              </a:ext>
            </a:extLst>
          </p:cNvPr>
          <p:cNvSpPr>
            <a:spLocks noGrp="1"/>
          </p:cNvSpPr>
          <p:nvPr>
            <p:ph type="title"/>
          </p:nvPr>
        </p:nvSpPr>
        <p:spPr/>
        <p:txBody>
          <a:bodyPr/>
          <a:lstStyle/>
          <a:p>
            <a:r>
              <a:rPr lang="en-GB" dirty="0"/>
              <a:t>Cerebellar afferents: body</a:t>
            </a:r>
          </a:p>
        </p:txBody>
      </p:sp>
      <p:sp>
        <p:nvSpPr>
          <p:cNvPr id="3" name="Content Placeholder 2">
            <a:extLst>
              <a:ext uri="{FF2B5EF4-FFF2-40B4-BE49-F238E27FC236}">
                <a16:creationId xmlns:a16="http://schemas.microsoft.com/office/drawing/2014/main" id="{E406B657-6D2F-B51F-CB4C-EFE148723ADC}"/>
              </a:ext>
            </a:extLst>
          </p:cNvPr>
          <p:cNvSpPr>
            <a:spLocks noGrp="1"/>
          </p:cNvSpPr>
          <p:nvPr>
            <p:ph idx="1"/>
          </p:nvPr>
        </p:nvSpPr>
        <p:spPr/>
        <p:txBody>
          <a:bodyPr>
            <a:normAutofit/>
          </a:bodyPr>
          <a:lstStyle/>
          <a:p>
            <a:r>
              <a:rPr lang="en-GB" dirty="0"/>
              <a:t>Dorsal </a:t>
            </a:r>
            <a:r>
              <a:rPr lang="en-GB" b="1" dirty="0"/>
              <a:t>spino</a:t>
            </a:r>
            <a:r>
              <a:rPr lang="en-GB" dirty="0"/>
              <a:t>cerebellar tract</a:t>
            </a:r>
          </a:p>
          <a:p>
            <a:pPr lvl="1"/>
            <a:r>
              <a:rPr lang="en-GB" dirty="0"/>
              <a:t>Signals from muscle spindles, </a:t>
            </a:r>
            <a:r>
              <a:rPr lang="en-GB" dirty="0" err="1"/>
              <a:t>golgi</a:t>
            </a:r>
            <a:r>
              <a:rPr lang="en-GB" dirty="0"/>
              <a:t> tendons organs, skin tactile receptors, joint receptors</a:t>
            </a:r>
          </a:p>
          <a:p>
            <a:r>
              <a:rPr lang="en-GB" dirty="0"/>
              <a:t>Ventral </a:t>
            </a:r>
            <a:r>
              <a:rPr lang="en-GB" b="1" dirty="0"/>
              <a:t>spino</a:t>
            </a:r>
            <a:r>
              <a:rPr lang="en-GB" dirty="0"/>
              <a:t>cerebellar tract</a:t>
            </a:r>
          </a:p>
          <a:p>
            <a:pPr lvl="1"/>
            <a:r>
              <a:rPr lang="en-GB" dirty="0"/>
              <a:t>Corticospinal and rubrospinal tracts collaterals</a:t>
            </a:r>
          </a:p>
          <a:p>
            <a:pPr lvl="1"/>
            <a:r>
              <a:rPr lang="en-GB" dirty="0"/>
              <a:t>Ventral horns of the spinal cord motor pathways - </a:t>
            </a:r>
            <a:r>
              <a:rPr lang="en-GB" i="1" dirty="0"/>
              <a:t>efference copy of the anterior horn motor drive</a:t>
            </a:r>
            <a:endParaRPr lang="en-GB" dirty="0"/>
          </a:p>
          <a:p>
            <a:r>
              <a:rPr lang="en-GB" dirty="0"/>
              <a:t>Dorsal columns nuclei of the </a:t>
            </a:r>
            <a:r>
              <a:rPr lang="en-GB" b="1" dirty="0"/>
              <a:t>medulla</a:t>
            </a:r>
            <a:r>
              <a:rPr lang="en-GB" dirty="0"/>
              <a:t> (cuneatus and </a:t>
            </a:r>
            <a:r>
              <a:rPr lang="en-GB" dirty="0" err="1"/>
              <a:t>gracilis</a:t>
            </a:r>
            <a:r>
              <a:rPr lang="en-GB" dirty="0"/>
              <a:t>)</a:t>
            </a:r>
          </a:p>
          <a:p>
            <a:r>
              <a:rPr lang="en-GB" dirty="0" err="1"/>
              <a:t>Spinoreticular</a:t>
            </a:r>
            <a:r>
              <a:rPr lang="en-GB" dirty="0"/>
              <a:t> and </a:t>
            </a:r>
            <a:r>
              <a:rPr lang="en-GB" dirty="0" err="1"/>
              <a:t>spino</a:t>
            </a:r>
            <a:r>
              <a:rPr lang="en-GB" dirty="0"/>
              <a:t>-olivary pathways (relayed in the reticular formation and the olive)</a:t>
            </a:r>
          </a:p>
        </p:txBody>
      </p:sp>
      <p:pic>
        <p:nvPicPr>
          <p:cNvPr id="17" name="Picture 16">
            <a:extLst>
              <a:ext uri="{FF2B5EF4-FFF2-40B4-BE49-F238E27FC236}">
                <a16:creationId xmlns:a16="http://schemas.microsoft.com/office/drawing/2014/main" id="{7B56BF8F-40D7-7297-BE6C-9FB3DF525C90}"/>
              </a:ext>
            </a:extLst>
          </p:cNvPr>
          <p:cNvPicPr>
            <a:picLocks noChangeAspect="1"/>
          </p:cNvPicPr>
          <p:nvPr/>
        </p:nvPicPr>
        <p:blipFill>
          <a:blip r:embed="rId2"/>
          <a:stretch>
            <a:fillRect/>
          </a:stretch>
        </p:blipFill>
        <p:spPr>
          <a:xfrm>
            <a:off x="6096000" y="1518202"/>
            <a:ext cx="5731566" cy="4298674"/>
          </a:xfrm>
          <a:prstGeom prst="rect">
            <a:avLst/>
          </a:prstGeom>
        </p:spPr>
      </p:pic>
    </p:spTree>
    <p:extLst>
      <p:ext uri="{BB962C8B-B14F-4D97-AF65-F5344CB8AC3E}">
        <p14:creationId xmlns:p14="http://schemas.microsoft.com/office/powerpoint/2010/main" val="281375106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Micrograph of a rat cerebellum">
            <a:extLst>
              <a:ext uri="{FF2B5EF4-FFF2-40B4-BE49-F238E27FC236}">
                <a16:creationId xmlns:a16="http://schemas.microsoft.com/office/drawing/2014/main" id="{F8D39273-6478-92A4-9195-1B8AA5A4DE5B}"/>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7366" b="17366"/>
          <a:stretch>
            <a:fillRect/>
          </a:stretch>
        </p:blipFill>
        <p:spPr bwMode="auto">
          <a:xfrm>
            <a:off x="0" y="0"/>
            <a:ext cx="12265632"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5F61132-1E48-E9C4-CEB4-FA8E560DAA91}"/>
              </a:ext>
            </a:extLst>
          </p:cNvPr>
          <p:cNvSpPr>
            <a:spLocks noGrp="1"/>
          </p:cNvSpPr>
          <p:nvPr>
            <p:ph type="title"/>
          </p:nvPr>
        </p:nvSpPr>
        <p:spPr>
          <a:xfrm>
            <a:off x="2132845" y="2959446"/>
            <a:ext cx="10515600" cy="1325563"/>
          </a:xfrm>
        </p:spPr>
        <p:txBody>
          <a:bodyPr/>
          <a:lstStyle/>
          <a:p>
            <a:r>
              <a:rPr lang="en-GB" dirty="0">
                <a:solidFill>
                  <a:schemeClr val="bg1"/>
                </a:solidFill>
              </a:rPr>
              <a:t>Cells of the cerebellum</a:t>
            </a:r>
          </a:p>
        </p:txBody>
      </p:sp>
    </p:spTree>
    <p:extLst>
      <p:ext uri="{BB962C8B-B14F-4D97-AF65-F5344CB8AC3E}">
        <p14:creationId xmlns:p14="http://schemas.microsoft.com/office/powerpoint/2010/main" val="22898748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5EC14-CE33-0848-E3A3-5D0D693AE278}"/>
              </a:ext>
            </a:extLst>
          </p:cNvPr>
          <p:cNvSpPr>
            <a:spLocks noGrp="1"/>
          </p:cNvSpPr>
          <p:nvPr>
            <p:ph type="title"/>
          </p:nvPr>
        </p:nvSpPr>
        <p:spPr/>
        <p:txBody>
          <a:bodyPr/>
          <a:lstStyle/>
          <a:p>
            <a:r>
              <a:rPr lang="en-GB" dirty="0"/>
              <a:t>Neuronal circuitry: Purkinje cells</a:t>
            </a:r>
          </a:p>
        </p:txBody>
      </p:sp>
      <p:sp>
        <p:nvSpPr>
          <p:cNvPr id="3" name="Content Placeholder 2">
            <a:extLst>
              <a:ext uri="{FF2B5EF4-FFF2-40B4-BE49-F238E27FC236}">
                <a16:creationId xmlns:a16="http://schemas.microsoft.com/office/drawing/2014/main" id="{FE297077-EEC7-C0CC-B54A-1B393A1566BE}"/>
              </a:ext>
            </a:extLst>
          </p:cNvPr>
          <p:cNvSpPr>
            <a:spLocks noGrp="1"/>
          </p:cNvSpPr>
          <p:nvPr>
            <p:ph idx="1"/>
          </p:nvPr>
        </p:nvSpPr>
        <p:spPr/>
        <p:txBody>
          <a:bodyPr/>
          <a:lstStyle/>
          <a:p>
            <a:endParaRPr lang="en-GB"/>
          </a:p>
        </p:txBody>
      </p:sp>
      <p:pic>
        <p:nvPicPr>
          <p:cNvPr id="2050" name="Picture 2">
            <a:extLst>
              <a:ext uri="{FF2B5EF4-FFF2-40B4-BE49-F238E27FC236}">
                <a16:creationId xmlns:a16="http://schemas.microsoft.com/office/drawing/2014/main" id="{83C7078A-1510-AAD9-EE9A-BBEEE70623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9460" y="1020555"/>
            <a:ext cx="3757152" cy="547232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urkinje nerve cell, light micrograph">
            <a:extLst>
              <a:ext uri="{FF2B5EF4-FFF2-40B4-BE49-F238E27FC236}">
                <a16:creationId xmlns:a16="http://schemas.microsoft.com/office/drawing/2014/main" id="{4C436F65-5FE8-CF94-DBF1-08FF9629A1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6944" y="1134210"/>
            <a:ext cx="4726856" cy="5332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357189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92B3B-574A-1B6A-7DFC-C78903B49B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DDEB57-4CDA-1C8C-6B55-E22FE9F1D49B}"/>
              </a:ext>
            </a:extLst>
          </p:cNvPr>
          <p:cNvSpPr>
            <a:spLocks noGrp="1"/>
          </p:cNvSpPr>
          <p:nvPr>
            <p:ph type="title"/>
          </p:nvPr>
        </p:nvSpPr>
        <p:spPr/>
        <p:txBody>
          <a:bodyPr/>
          <a:lstStyle/>
          <a:p>
            <a:r>
              <a:rPr lang="en-GB" dirty="0"/>
              <a:t>Neuronal circuitry </a:t>
            </a:r>
          </a:p>
        </p:txBody>
      </p:sp>
      <p:sp>
        <p:nvSpPr>
          <p:cNvPr id="2109" name="TextBox 2108">
            <a:extLst>
              <a:ext uri="{FF2B5EF4-FFF2-40B4-BE49-F238E27FC236}">
                <a16:creationId xmlns:a16="http://schemas.microsoft.com/office/drawing/2014/main" id="{EF7F4939-A85E-6971-0826-BFD3B073DC24}"/>
              </a:ext>
            </a:extLst>
          </p:cNvPr>
          <p:cNvSpPr txBox="1"/>
          <p:nvPr/>
        </p:nvSpPr>
        <p:spPr>
          <a:xfrm>
            <a:off x="1267071" y="6308209"/>
            <a:ext cx="9337020" cy="461665"/>
          </a:xfrm>
          <a:prstGeom prst="rect">
            <a:avLst/>
          </a:prstGeom>
          <a:noFill/>
        </p:spPr>
        <p:txBody>
          <a:bodyPr wrap="square" rtlCol="0">
            <a:spAutoFit/>
          </a:bodyPr>
          <a:lstStyle/>
          <a:p>
            <a:pPr algn="ctr"/>
            <a:r>
              <a:rPr lang="en-GB" sz="2400" dirty="0"/>
              <a:t>30 million repeated functional units along the cerebellum</a:t>
            </a:r>
          </a:p>
        </p:txBody>
      </p:sp>
      <p:pic>
        <p:nvPicPr>
          <p:cNvPr id="2111" name="Picture 2110">
            <a:extLst>
              <a:ext uri="{FF2B5EF4-FFF2-40B4-BE49-F238E27FC236}">
                <a16:creationId xmlns:a16="http://schemas.microsoft.com/office/drawing/2014/main" id="{EE67B7E0-93A2-BCD9-8125-EDBBB15C3C77}"/>
              </a:ext>
            </a:extLst>
          </p:cNvPr>
          <p:cNvPicPr>
            <a:picLocks noChangeAspect="1"/>
          </p:cNvPicPr>
          <p:nvPr/>
        </p:nvPicPr>
        <p:blipFill>
          <a:blip r:embed="rId2"/>
          <a:stretch>
            <a:fillRect/>
          </a:stretch>
        </p:blipFill>
        <p:spPr>
          <a:xfrm>
            <a:off x="163556" y="1443945"/>
            <a:ext cx="6044599" cy="4464833"/>
          </a:xfrm>
          <a:prstGeom prst="rect">
            <a:avLst/>
          </a:prstGeom>
        </p:spPr>
      </p:pic>
      <p:pic>
        <p:nvPicPr>
          <p:cNvPr id="7170" name="Picture 2">
            <a:extLst>
              <a:ext uri="{FF2B5EF4-FFF2-40B4-BE49-F238E27FC236}">
                <a16:creationId xmlns:a16="http://schemas.microsoft.com/office/drawing/2014/main" id="{88038609-9391-75A9-32D5-E9A96EAEDB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3132" y="2163164"/>
            <a:ext cx="5362663" cy="37456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018562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97316-DFB0-BC68-4096-B50F0E8AE3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B879B5-D06B-A27D-1266-6D2C2DBE0B52}"/>
              </a:ext>
            </a:extLst>
          </p:cNvPr>
          <p:cNvSpPr>
            <a:spLocks noGrp="1"/>
          </p:cNvSpPr>
          <p:nvPr>
            <p:ph type="title"/>
          </p:nvPr>
        </p:nvSpPr>
        <p:spPr/>
        <p:txBody>
          <a:bodyPr/>
          <a:lstStyle/>
          <a:p>
            <a:r>
              <a:rPr lang="en-GB" dirty="0"/>
              <a:t>Neuronal circuitry </a:t>
            </a:r>
          </a:p>
        </p:txBody>
      </p:sp>
      <p:pic>
        <p:nvPicPr>
          <p:cNvPr id="43" name="Content Placeholder 42">
            <a:extLst>
              <a:ext uri="{FF2B5EF4-FFF2-40B4-BE49-F238E27FC236}">
                <a16:creationId xmlns:a16="http://schemas.microsoft.com/office/drawing/2014/main" id="{330BB8E7-9F20-AE54-385C-BDB118910028}"/>
              </a:ext>
            </a:extLst>
          </p:cNvPr>
          <p:cNvPicPr>
            <a:picLocks noGrp="1" noChangeAspect="1"/>
          </p:cNvPicPr>
          <p:nvPr>
            <p:ph idx="1"/>
          </p:nvPr>
        </p:nvPicPr>
        <p:blipFill>
          <a:blip r:embed="rId2"/>
          <a:stretch>
            <a:fillRect/>
          </a:stretch>
        </p:blipFill>
        <p:spPr>
          <a:xfrm>
            <a:off x="285750" y="1931512"/>
            <a:ext cx="5810250" cy="3837939"/>
          </a:xfrm>
          <a:prstGeom prst="rect">
            <a:avLst/>
          </a:prstGeom>
        </p:spPr>
      </p:pic>
      <p:sp>
        <p:nvSpPr>
          <p:cNvPr id="3" name="Content Placeholder 2">
            <a:extLst>
              <a:ext uri="{FF2B5EF4-FFF2-40B4-BE49-F238E27FC236}">
                <a16:creationId xmlns:a16="http://schemas.microsoft.com/office/drawing/2014/main" id="{B88E9080-00FF-D79F-839F-F95DC08FCD5D}"/>
              </a:ext>
            </a:extLst>
          </p:cNvPr>
          <p:cNvSpPr>
            <a:spLocks noGrp="1"/>
          </p:cNvSpPr>
          <p:nvPr>
            <p:ph sz="half" idx="4294967295"/>
          </p:nvPr>
        </p:nvSpPr>
        <p:spPr>
          <a:xfrm>
            <a:off x="6418263" y="1279525"/>
            <a:ext cx="5773737" cy="5213350"/>
          </a:xfrm>
        </p:spPr>
        <p:txBody>
          <a:bodyPr>
            <a:normAutofit lnSpcReduction="10000"/>
          </a:bodyPr>
          <a:lstStyle/>
          <a:p>
            <a:pPr marL="0" indent="0">
              <a:buNone/>
            </a:pPr>
            <a:r>
              <a:rPr lang="en-GB" sz="2400" b="1" u="sng" dirty="0"/>
              <a:t>Input cells:</a:t>
            </a:r>
          </a:p>
          <a:p>
            <a:r>
              <a:rPr lang="en-GB" sz="2400" dirty="0"/>
              <a:t>Purkinje cells - PC, inhibitory</a:t>
            </a:r>
          </a:p>
          <a:p>
            <a:r>
              <a:rPr lang="en-GB" sz="2400" dirty="0"/>
              <a:t>Granule cells - GC, excitatory</a:t>
            </a:r>
          </a:p>
          <a:p>
            <a:endParaRPr lang="en-GB" sz="2400" dirty="0"/>
          </a:p>
          <a:p>
            <a:pPr marL="0" indent="0">
              <a:buNone/>
            </a:pPr>
            <a:r>
              <a:rPr lang="en-GB" sz="2400" b="1" u="sng" dirty="0"/>
              <a:t>Output cells:</a:t>
            </a:r>
          </a:p>
          <a:p>
            <a:r>
              <a:rPr lang="en-GB" sz="2400" dirty="0"/>
              <a:t>Deep nuclei cells - DNC, excitatory</a:t>
            </a:r>
          </a:p>
          <a:p>
            <a:endParaRPr lang="en-GB" sz="2400" dirty="0"/>
          </a:p>
          <a:p>
            <a:pPr marL="0" indent="0">
              <a:buNone/>
            </a:pPr>
            <a:r>
              <a:rPr lang="en-GB" sz="2400" b="1" u="sng" dirty="0"/>
              <a:t>Projections (excitatory):</a:t>
            </a:r>
          </a:p>
          <a:p>
            <a:r>
              <a:rPr lang="en-GB" sz="2400" dirty="0"/>
              <a:t>Climbing </a:t>
            </a:r>
            <a:r>
              <a:rPr lang="en-GB" sz="2400" dirty="0" err="1"/>
              <a:t>fibers</a:t>
            </a:r>
            <a:r>
              <a:rPr lang="en-GB" sz="2400" dirty="0"/>
              <a:t> - CF (medulla’s inferior olives)</a:t>
            </a:r>
          </a:p>
          <a:p>
            <a:r>
              <a:rPr lang="en-GB" sz="2400" dirty="0"/>
              <a:t>Mossy </a:t>
            </a:r>
            <a:r>
              <a:rPr lang="en-GB" sz="2400" dirty="0" err="1"/>
              <a:t>fibers</a:t>
            </a:r>
            <a:r>
              <a:rPr lang="en-GB" sz="2400" dirty="0"/>
              <a:t> - MF (brain, brainstem, spinal cord)</a:t>
            </a:r>
          </a:p>
          <a:p>
            <a:r>
              <a:rPr lang="en-GB" sz="2400" dirty="0"/>
              <a:t>Parallel </a:t>
            </a:r>
            <a:r>
              <a:rPr lang="en-GB" sz="2400" dirty="0" err="1"/>
              <a:t>fibers</a:t>
            </a:r>
            <a:r>
              <a:rPr lang="en-GB" sz="2400" dirty="0"/>
              <a:t> - PF (from granule cells)</a:t>
            </a:r>
          </a:p>
          <a:p>
            <a:endParaRPr lang="en-GB" sz="2400" dirty="0"/>
          </a:p>
          <a:p>
            <a:endParaRPr lang="en-GB" sz="2400" dirty="0"/>
          </a:p>
          <a:p>
            <a:endParaRPr lang="en-GB" sz="2400" dirty="0"/>
          </a:p>
        </p:txBody>
      </p:sp>
      <p:pic>
        <p:nvPicPr>
          <p:cNvPr id="2108" name="Picture 2107">
            <a:extLst>
              <a:ext uri="{FF2B5EF4-FFF2-40B4-BE49-F238E27FC236}">
                <a16:creationId xmlns:a16="http://schemas.microsoft.com/office/drawing/2014/main" id="{7CF961B5-F85B-00FF-7816-DE2CA0B387FF}"/>
              </a:ext>
            </a:extLst>
          </p:cNvPr>
          <p:cNvPicPr>
            <a:picLocks noChangeAspect="1"/>
          </p:cNvPicPr>
          <p:nvPr/>
        </p:nvPicPr>
        <p:blipFill>
          <a:blip r:embed="rId3"/>
          <a:stretch>
            <a:fillRect/>
          </a:stretch>
        </p:blipFill>
        <p:spPr>
          <a:xfrm>
            <a:off x="6048233" y="3379341"/>
            <a:ext cx="95534" cy="99317"/>
          </a:xfrm>
          <a:prstGeom prst="rect">
            <a:avLst/>
          </a:prstGeom>
        </p:spPr>
      </p:pic>
    </p:spTree>
    <p:extLst>
      <p:ext uri="{BB962C8B-B14F-4D97-AF65-F5344CB8AC3E}">
        <p14:creationId xmlns:p14="http://schemas.microsoft.com/office/powerpoint/2010/main" val="311804296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AEFB5-CFDC-4A22-5587-5BC792E8B3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7A755-AE3B-CB5A-B127-0CFE9E334363}"/>
              </a:ext>
            </a:extLst>
          </p:cNvPr>
          <p:cNvSpPr>
            <a:spLocks noGrp="1"/>
          </p:cNvSpPr>
          <p:nvPr>
            <p:ph type="title"/>
          </p:nvPr>
        </p:nvSpPr>
        <p:spPr/>
        <p:txBody>
          <a:bodyPr/>
          <a:lstStyle/>
          <a:p>
            <a:r>
              <a:rPr lang="en-GB" dirty="0"/>
              <a:t>Neuronal circuitry </a:t>
            </a:r>
          </a:p>
        </p:txBody>
      </p:sp>
      <p:pic>
        <p:nvPicPr>
          <p:cNvPr id="10" name="Content Placeholder 42">
            <a:extLst>
              <a:ext uri="{FF2B5EF4-FFF2-40B4-BE49-F238E27FC236}">
                <a16:creationId xmlns:a16="http://schemas.microsoft.com/office/drawing/2014/main" id="{1549FCDE-E85E-8A42-3CED-48E4271904FC}"/>
              </a:ext>
            </a:extLst>
          </p:cNvPr>
          <p:cNvPicPr>
            <a:picLocks noGrp="1" noChangeAspect="1"/>
          </p:cNvPicPr>
          <p:nvPr>
            <p:ph idx="1"/>
          </p:nvPr>
        </p:nvPicPr>
        <p:blipFill>
          <a:blip r:embed="rId2"/>
          <a:stretch>
            <a:fillRect/>
          </a:stretch>
        </p:blipFill>
        <p:spPr>
          <a:xfrm>
            <a:off x="285750" y="1931512"/>
            <a:ext cx="5810250" cy="3837939"/>
          </a:xfrm>
          <a:prstGeom prst="rect">
            <a:avLst/>
          </a:prstGeom>
        </p:spPr>
      </p:pic>
      <p:sp>
        <p:nvSpPr>
          <p:cNvPr id="3" name="Content Placeholder 2">
            <a:extLst>
              <a:ext uri="{FF2B5EF4-FFF2-40B4-BE49-F238E27FC236}">
                <a16:creationId xmlns:a16="http://schemas.microsoft.com/office/drawing/2014/main" id="{00ED0F83-4047-A47C-213D-58987467E993}"/>
              </a:ext>
            </a:extLst>
          </p:cNvPr>
          <p:cNvSpPr>
            <a:spLocks noGrp="1"/>
          </p:cNvSpPr>
          <p:nvPr>
            <p:ph sz="half" idx="4294967295"/>
          </p:nvPr>
        </p:nvSpPr>
        <p:spPr>
          <a:xfrm>
            <a:off x="6418263" y="1279525"/>
            <a:ext cx="5773737" cy="4987925"/>
          </a:xfrm>
        </p:spPr>
        <p:txBody>
          <a:bodyPr>
            <a:normAutofit/>
          </a:bodyPr>
          <a:lstStyle/>
          <a:p>
            <a:pPr marL="0" indent="0">
              <a:buNone/>
            </a:pPr>
            <a:r>
              <a:rPr lang="en-GB" sz="2400" b="1" u="sng" dirty="0"/>
              <a:t>Synapses:</a:t>
            </a:r>
          </a:p>
          <a:p>
            <a:pPr marL="457200" indent="-457200">
              <a:buFont typeface="+mj-lt"/>
              <a:buAutoNum type="arabicPeriod"/>
            </a:pPr>
            <a:r>
              <a:rPr lang="en-GB" sz="2400" dirty="0"/>
              <a:t>CF </a:t>
            </a:r>
            <a:r>
              <a:rPr lang="en-GB" sz="2400" dirty="0">
                <a:sym typeface="Wingdings" panose="05000000000000000000" pitchFamily="2" charset="2"/>
              </a:rPr>
              <a:t> PC - Strong input (300 synapses/CF/PC, causing complex firing)</a:t>
            </a:r>
          </a:p>
          <a:p>
            <a:pPr marL="457200" indent="-457200">
              <a:buFont typeface="+mj-lt"/>
              <a:buAutoNum type="arabicPeriod"/>
            </a:pPr>
            <a:r>
              <a:rPr lang="en-GB" sz="2400" dirty="0">
                <a:sym typeface="Wingdings" panose="05000000000000000000" pitchFamily="2" charset="2"/>
              </a:rPr>
              <a:t>MF  GC</a:t>
            </a:r>
          </a:p>
          <a:p>
            <a:pPr marL="457200" indent="-457200">
              <a:buFont typeface="+mj-lt"/>
              <a:buAutoNum type="arabicPeriod"/>
            </a:pPr>
            <a:r>
              <a:rPr lang="en-GB" sz="2400" dirty="0">
                <a:sym typeface="Wingdings" panose="05000000000000000000" pitchFamily="2" charset="2"/>
              </a:rPr>
              <a:t>PF  PC - Weaker inputs but numerous (80000-20000 PF connect to 1 PC, causes simple firing)</a:t>
            </a:r>
          </a:p>
          <a:p>
            <a:pPr marL="457200" indent="-457200">
              <a:buFont typeface="+mj-lt"/>
              <a:buAutoNum type="arabicPeriod"/>
            </a:pPr>
            <a:r>
              <a:rPr lang="en-GB" sz="2400" dirty="0">
                <a:sym typeface="Wingdings" panose="05000000000000000000" pitchFamily="2" charset="2"/>
              </a:rPr>
              <a:t>CF  DNC</a:t>
            </a:r>
          </a:p>
          <a:p>
            <a:pPr marL="457200" indent="-457200">
              <a:buFont typeface="+mj-lt"/>
              <a:buAutoNum type="arabicPeriod"/>
            </a:pPr>
            <a:r>
              <a:rPr lang="en-GB" sz="2400" dirty="0">
                <a:sym typeface="Wingdings" panose="05000000000000000000" pitchFamily="2" charset="2"/>
              </a:rPr>
              <a:t>MF  DNC</a:t>
            </a:r>
          </a:p>
          <a:p>
            <a:pPr marL="457200" indent="-457200">
              <a:buFont typeface="+mj-lt"/>
              <a:buAutoNum type="arabicPeriod"/>
            </a:pPr>
            <a:r>
              <a:rPr lang="en-GB" sz="2400" dirty="0">
                <a:sym typeface="Wingdings" panose="05000000000000000000" pitchFamily="2" charset="2"/>
              </a:rPr>
              <a:t>PC  DNC - </a:t>
            </a:r>
            <a:r>
              <a:rPr lang="en-GB" sz="2400" b="1" dirty="0">
                <a:sym typeface="Wingdings" panose="05000000000000000000" pitchFamily="2" charset="2"/>
              </a:rPr>
              <a:t>Inhibitory</a:t>
            </a:r>
          </a:p>
          <a:p>
            <a:endParaRPr lang="en-GB" sz="2400" dirty="0"/>
          </a:p>
          <a:p>
            <a:endParaRPr lang="en-GB" sz="2400" dirty="0"/>
          </a:p>
          <a:p>
            <a:endParaRPr lang="en-GB" sz="2400" dirty="0"/>
          </a:p>
        </p:txBody>
      </p:sp>
      <p:pic>
        <p:nvPicPr>
          <p:cNvPr id="2108" name="Picture 2107">
            <a:extLst>
              <a:ext uri="{FF2B5EF4-FFF2-40B4-BE49-F238E27FC236}">
                <a16:creationId xmlns:a16="http://schemas.microsoft.com/office/drawing/2014/main" id="{2CD3B723-A97B-0018-E6C8-CB13AF7D6799}"/>
              </a:ext>
            </a:extLst>
          </p:cNvPr>
          <p:cNvPicPr>
            <a:picLocks noChangeAspect="1"/>
          </p:cNvPicPr>
          <p:nvPr/>
        </p:nvPicPr>
        <p:blipFill>
          <a:blip r:embed="rId3"/>
          <a:stretch>
            <a:fillRect/>
          </a:stretch>
        </p:blipFill>
        <p:spPr>
          <a:xfrm>
            <a:off x="6048233" y="3379341"/>
            <a:ext cx="95534" cy="99317"/>
          </a:xfrm>
          <a:prstGeom prst="rect">
            <a:avLst/>
          </a:prstGeom>
        </p:spPr>
      </p:pic>
      <p:sp>
        <p:nvSpPr>
          <p:cNvPr id="11" name="Oval 10">
            <a:extLst>
              <a:ext uri="{FF2B5EF4-FFF2-40B4-BE49-F238E27FC236}">
                <a16:creationId xmlns:a16="http://schemas.microsoft.com/office/drawing/2014/main" id="{CACBA2E9-10F3-46C6-007F-9522D5D2B352}"/>
              </a:ext>
            </a:extLst>
          </p:cNvPr>
          <p:cNvSpPr/>
          <p:nvPr/>
        </p:nvSpPr>
        <p:spPr>
          <a:xfrm>
            <a:off x="1261310" y="2137507"/>
            <a:ext cx="253496" cy="2534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1</a:t>
            </a:r>
          </a:p>
        </p:txBody>
      </p:sp>
      <p:sp>
        <p:nvSpPr>
          <p:cNvPr id="12" name="Oval 11">
            <a:extLst>
              <a:ext uri="{FF2B5EF4-FFF2-40B4-BE49-F238E27FC236}">
                <a16:creationId xmlns:a16="http://schemas.microsoft.com/office/drawing/2014/main" id="{03C105F1-FC31-4505-4E8D-CE30A79F201E}"/>
              </a:ext>
            </a:extLst>
          </p:cNvPr>
          <p:cNvSpPr/>
          <p:nvPr/>
        </p:nvSpPr>
        <p:spPr>
          <a:xfrm>
            <a:off x="1469020" y="4165988"/>
            <a:ext cx="253496" cy="2534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4</a:t>
            </a:r>
          </a:p>
        </p:txBody>
      </p:sp>
      <p:sp>
        <p:nvSpPr>
          <p:cNvPr id="13" name="Oval 12">
            <a:extLst>
              <a:ext uri="{FF2B5EF4-FFF2-40B4-BE49-F238E27FC236}">
                <a16:creationId xmlns:a16="http://schemas.microsoft.com/office/drawing/2014/main" id="{64E010A2-7E3E-4F3E-27F9-4C87178DBCC6}"/>
              </a:ext>
            </a:extLst>
          </p:cNvPr>
          <p:cNvSpPr/>
          <p:nvPr/>
        </p:nvSpPr>
        <p:spPr>
          <a:xfrm>
            <a:off x="3350980" y="3428999"/>
            <a:ext cx="253496" cy="2534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2</a:t>
            </a:r>
          </a:p>
        </p:txBody>
      </p:sp>
      <p:sp>
        <p:nvSpPr>
          <p:cNvPr id="14" name="Oval 13">
            <a:extLst>
              <a:ext uri="{FF2B5EF4-FFF2-40B4-BE49-F238E27FC236}">
                <a16:creationId xmlns:a16="http://schemas.microsoft.com/office/drawing/2014/main" id="{3DF19A53-ACC8-553D-9B01-6FBF72AD88FD}"/>
              </a:ext>
            </a:extLst>
          </p:cNvPr>
          <p:cNvSpPr/>
          <p:nvPr/>
        </p:nvSpPr>
        <p:spPr>
          <a:xfrm>
            <a:off x="2161091" y="2137507"/>
            <a:ext cx="253496" cy="2534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3</a:t>
            </a:r>
          </a:p>
        </p:txBody>
      </p:sp>
      <p:sp>
        <p:nvSpPr>
          <p:cNvPr id="15" name="Oval 14">
            <a:extLst>
              <a:ext uri="{FF2B5EF4-FFF2-40B4-BE49-F238E27FC236}">
                <a16:creationId xmlns:a16="http://schemas.microsoft.com/office/drawing/2014/main" id="{C196B102-9B6A-FB3C-3B8E-A2B0205CB417}"/>
              </a:ext>
            </a:extLst>
          </p:cNvPr>
          <p:cNvSpPr/>
          <p:nvPr/>
        </p:nvSpPr>
        <p:spPr>
          <a:xfrm>
            <a:off x="1595768" y="3596985"/>
            <a:ext cx="253496" cy="2534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6</a:t>
            </a:r>
          </a:p>
        </p:txBody>
      </p:sp>
      <p:sp>
        <p:nvSpPr>
          <p:cNvPr id="4" name="Oval 3">
            <a:extLst>
              <a:ext uri="{FF2B5EF4-FFF2-40B4-BE49-F238E27FC236}">
                <a16:creationId xmlns:a16="http://schemas.microsoft.com/office/drawing/2014/main" id="{C5C61ED4-6501-E209-8037-3BC9F1EA07EA}"/>
              </a:ext>
            </a:extLst>
          </p:cNvPr>
          <p:cNvSpPr/>
          <p:nvPr/>
        </p:nvSpPr>
        <p:spPr>
          <a:xfrm>
            <a:off x="2082440" y="3912492"/>
            <a:ext cx="253496" cy="2534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5</a:t>
            </a:r>
          </a:p>
        </p:txBody>
      </p:sp>
    </p:spTree>
    <p:extLst>
      <p:ext uri="{BB962C8B-B14F-4D97-AF65-F5344CB8AC3E}">
        <p14:creationId xmlns:p14="http://schemas.microsoft.com/office/powerpoint/2010/main" val="167810833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D5699-671C-1488-A65F-879E949CAD14}"/>
              </a:ext>
            </a:extLst>
          </p:cNvPr>
          <p:cNvSpPr>
            <a:spLocks noGrp="1"/>
          </p:cNvSpPr>
          <p:nvPr>
            <p:ph type="title"/>
          </p:nvPr>
        </p:nvSpPr>
        <p:spPr/>
        <p:txBody>
          <a:bodyPr/>
          <a:lstStyle/>
          <a:p>
            <a:r>
              <a:rPr lang="en-GB" dirty="0"/>
              <a:t>Cerebellar </a:t>
            </a:r>
            <a:r>
              <a:rPr lang="en-GB" dirty="0" err="1"/>
              <a:t>efferents</a:t>
            </a:r>
            <a:endParaRPr lang="en-GB" dirty="0"/>
          </a:p>
        </p:txBody>
      </p:sp>
      <p:sp>
        <p:nvSpPr>
          <p:cNvPr id="359" name="Rectangle: Rounded Corners 358">
            <a:extLst>
              <a:ext uri="{FF2B5EF4-FFF2-40B4-BE49-F238E27FC236}">
                <a16:creationId xmlns:a16="http://schemas.microsoft.com/office/drawing/2014/main" id="{9E04F771-E84D-6F2F-B5A6-11CFD35F9319}"/>
              </a:ext>
            </a:extLst>
          </p:cNvPr>
          <p:cNvSpPr/>
          <p:nvPr/>
        </p:nvSpPr>
        <p:spPr>
          <a:xfrm>
            <a:off x="756245" y="2075277"/>
            <a:ext cx="1756372" cy="60658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GB" dirty="0"/>
              <a:t>Cerebellar cortex</a:t>
            </a:r>
          </a:p>
        </p:txBody>
      </p:sp>
      <p:sp>
        <p:nvSpPr>
          <p:cNvPr id="360" name="Rectangle: Rounded Corners 359">
            <a:extLst>
              <a:ext uri="{FF2B5EF4-FFF2-40B4-BE49-F238E27FC236}">
                <a16:creationId xmlns:a16="http://schemas.microsoft.com/office/drawing/2014/main" id="{B994F85A-C85A-7798-F648-8A37CAFCAAA2}"/>
              </a:ext>
            </a:extLst>
          </p:cNvPr>
          <p:cNvSpPr/>
          <p:nvPr/>
        </p:nvSpPr>
        <p:spPr>
          <a:xfrm>
            <a:off x="389823" y="4049214"/>
            <a:ext cx="1244608" cy="6065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Afferents</a:t>
            </a:r>
          </a:p>
        </p:txBody>
      </p:sp>
      <p:sp>
        <p:nvSpPr>
          <p:cNvPr id="361" name="Rectangle: Rounded Corners 360">
            <a:extLst>
              <a:ext uri="{FF2B5EF4-FFF2-40B4-BE49-F238E27FC236}">
                <a16:creationId xmlns:a16="http://schemas.microsoft.com/office/drawing/2014/main" id="{8FA819A0-3AB4-C65A-5F29-0106EB04C493}"/>
              </a:ext>
            </a:extLst>
          </p:cNvPr>
          <p:cNvSpPr/>
          <p:nvPr/>
        </p:nvSpPr>
        <p:spPr>
          <a:xfrm>
            <a:off x="2610890" y="3557094"/>
            <a:ext cx="1059474" cy="60658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GB" dirty="0"/>
              <a:t>Deep </a:t>
            </a:r>
          </a:p>
          <a:p>
            <a:pPr algn="ctr"/>
            <a:r>
              <a:rPr lang="en-GB" dirty="0"/>
              <a:t>nuclei</a:t>
            </a:r>
          </a:p>
        </p:txBody>
      </p:sp>
      <p:cxnSp>
        <p:nvCxnSpPr>
          <p:cNvPr id="364" name="Straight Arrow Connector 363">
            <a:extLst>
              <a:ext uri="{FF2B5EF4-FFF2-40B4-BE49-F238E27FC236}">
                <a16:creationId xmlns:a16="http://schemas.microsoft.com/office/drawing/2014/main" id="{2FF8C8C9-1E86-0CB7-8A27-08806AB67B11}"/>
              </a:ext>
            </a:extLst>
          </p:cNvPr>
          <p:cNvCxnSpPr>
            <a:cxnSpLocks/>
          </p:cNvCxnSpPr>
          <p:nvPr/>
        </p:nvCxnSpPr>
        <p:spPr>
          <a:xfrm flipV="1">
            <a:off x="1188153" y="2696920"/>
            <a:ext cx="0" cy="135229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6" name="Straight Arrow Connector 365">
            <a:extLst>
              <a:ext uri="{FF2B5EF4-FFF2-40B4-BE49-F238E27FC236}">
                <a16:creationId xmlns:a16="http://schemas.microsoft.com/office/drawing/2014/main" id="{6A46E3D2-5DF9-23D0-CD80-A7AE84BBE991}"/>
              </a:ext>
            </a:extLst>
          </p:cNvPr>
          <p:cNvCxnSpPr>
            <a:cxnSpLocks/>
          </p:cNvCxnSpPr>
          <p:nvPr/>
        </p:nvCxnSpPr>
        <p:spPr>
          <a:xfrm>
            <a:off x="1945627" y="2681859"/>
            <a:ext cx="665263" cy="841575"/>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70" name="TextBox 369">
            <a:extLst>
              <a:ext uri="{FF2B5EF4-FFF2-40B4-BE49-F238E27FC236}">
                <a16:creationId xmlns:a16="http://schemas.microsoft.com/office/drawing/2014/main" id="{58C92C0E-4A75-E8A9-CB22-204DB45AE502}"/>
              </a:ext>
            </a:extLst>
          </p:cNvPr>
          <p:cNvSpPr txBox="1"/>
          <p:nvPr/>
        </p:nvSpPr>
        <p:spPr>
          <a:xfrm>
            <a:off x="2591491" y="4981721"/>
            <a:ext cx="1096653" cy="369332"/>
          </a:xfrm>
          <a:prstGeom prst="rect">
            <a:avLst/>
          </a:prstGeom>
          <a:noFill/>
        </p:spPr>
        <p:txBody>
          <a:bodyPr wrap="square" rtlCol="0">
            <a:spAutoFit/>
          </a:bodyPr>
          <a:lstStyle/>
          <a:p>
            <a:pPr algn="ctr"/>
            <a:r>
              <a:rPr lang="en-GB" dirty="0"/>
              <a:t>Output</a:t>
            </a:r>
          </a:p>
        </p:txBody>
      </p:sp>
      <p:cxnSp>
        <p:nvCxnSpPr>
          <p:cNvPr id="374" name="Straight Arrow Connector 373">
            <a:extLst>
              <a:ext uri="{FF2B5EF4-FFF2-40B4-BE49-F238E27FC236}">
                <a16:creationId xmlns:a16="http://schemas.microsoft.com/office/drawing/2014/main" id="{B65E1360-116A-96A6-D54C-AECB6890BC4E}"/>
              </a:ext>
            </a:extLst>
          </p:cNvPr>
          <p:cNvCxnSpPr>
            <a:cxnSpLocks/>
            <a:stCxn id="360" idx="3"/>
          </p:cNvCxnSpPr>
          <p:nvPr/>
        </p:nvCxnSpPr>
        <p:spPr>
          <a:xfrm flipV="1">
            <a:off x="1634431" y="3880805"/>
            <a:ext cx="878186" cy="4717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9" name="Straight Connector 388">
            <a:extLst>
              <a:ext uri="{FF2B5EF4-FFF2-40B4-BE49-F238E27FC236}">
                <a16:creationId xmlns:a16="http://schemas.microsoft.com/office/drawing/2014/main" id="{F49AE045-F8E0-E3A9-4C2C-F18C50DF84B8}"/>
              </a:ext>
            </a:extLst>
          </p:cNvPr>
          <p:cNvCxnSpPr>
            <a:cxnSpLocks/>
          </p:cNvCxnSpPr>
          <p:nvPr/>
        </p:nvCxnSpPr>
        <p:spPr>
          <a:xfrm flipV="1">
            <a:off x="6021764" y="1376127"/>
            <a:ext cx="0" cy="5060887"/>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cxnSp>
        <p:nvCxnSpPr>
          <p:cNvPr id="407" name="Straight Connector 406">
            <a:extLst>
              <a:ext uri="{FF2B5EF4-FFF2-40B4-BE49-F238E27FC236}">
                <a16:creationId xmlns:a16="http://schemas.microsoft.com/office/drawing/2014/main" id="{BFA66343-A88D-6EDA-2396-C142E141745D}"/>
              </a:ext>
            </a:extLst>
          </p:cNvPr>
          <p:cNvCxnSpPr>
            <a:cxnSpLocks/>
          </p:cNvCxnSpPr>
          <p:nvPr/>
        </p:nvCxnSpPr>
        <p:spPr>
          <a:xfrm flipV="1">
            <a:off x="10028887" y="1350602"/>
            <a:ext cx="0" cy="5086412"/>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5" name="Straight Arrow Connector 424">
            <a:extLst>
              <a:ext uri="{FF2B5EF4-FFF2-40B4-BE49-F238E27FC236}">
                <a16:creationId xmlns:a16="http://schemas.microsoft.com/office/drawing/2014/main" id="{67CB1763-9149-BA15-CE54-A12A86F6BC65}"/>
              </a:ext>
            </a:extLst>
          </p:cNvPr>
          <p:cNvCxnSpPr>
            <a:cxnSpLocks/>
            <a:stCxn id="361" idx="2"/>
            <a:endCxn id="370" idx="0"/>
          </p:cNvCxnSpPr>
          <p:nvPr/>
        </p:nvCxnSpPr>
        <p:spPr>
          <a:xfrm flipH="1">
            <a:off x="3139818" y="4163676"/>
            <a:ext cx="809" cy="818045"/>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9" name="Group 8">
            <a:extLst>
              <a:ext uri="{FF2B5EF4-FFF2-40B4-BE49-F238E27FC236}">
                <a16:creationId xmlns:a16="http://schemas.microsoft.com/office/drawing/2014/main" id="{EB6498D7-AD7A-8CCD-D4CB-18CE2D001FA4}"/>
              </a:ext>
            </a:extLst>
          </p:cNvPr>
          <p:cNvGrpSpPr/>
          <p:nvPr/>
        </p:nvGrpSpPr>
        <p:grpSpPr>
          <a:xfrm>
            <a:off x="4000694" y="1154895"/>
            <a:ext cx="1828800" cy="4941194"/>
            <a:chOff x="4000694" y="1154895"/>
            <a:chExt cx="1828800" cy="4941194"/>
          </a:xfrm>
        </p:grpSpPr>
        <p:sp>
          <p:nvSpPr>
            <p:cNvPr id="380" name="TextBox 379">
              <a:extLst>
                <a:ext uri="{FF2B5EF4-FFF2-40B4-BE49-F238E27FC236}">
                  <a16:creationId xmlns:a16="http://schemas.microsoft.com/office/drawing/2014/main" id="{F92FEBAD-3902-E58D-2E9C-F76DBF36CC6A}"/>
                </a:ext>
              </a:extLst>
            </p:cNvPr>
            <p:cNvSpPr txBox="1"/>
            <p:nvPr/>
          </p:nvSpPr>
          <p:spPr>
            <a:xfrm>
              <a:off x="4571184" y="2542412"/>
              <a:ext cx="872162" cy="369332"/>
            </a:xfrm>
            <a:prstGeom prst="rect">
              <a:avLst/>
            </a:prstGeom>
            <a:noFill/>
          </p:spPr>
          <p:txBody>
            <a:bodyPr wrap="none" rtlCol="0">
              <a:spAutoFit/>
            </a:bodyPr>
            <a:lstStyle/>
            <a:p>
              <a:r>
                <a:rPr lang="en-GB" dirty="0">
                  <a:solidFill>
                    <a:schemeClr val="accent2">
                      <a:lumMod val="75000"/>
                    </a:schemeClr>
                  </a:solidFill>
                </a:rPr>
                <a:t>Vermis</a:t>
              </a:r>
            </a:p>
          </p:txBody>
        </p:sp>
        <p:sp>
          <p:nvSpPr>
            <p:cNvPr id="381" name="TextBox 380">
              <a:extLst>
                <a:ext uri="{FF2B5EF4-FFF2-40B4-BE49-F238E27FC236}">
                  <a16:creationId xmlns:a16="http://schemas.microsoft.com/office/drawing/2014/main" id="{824EA72B-C604-BA69-B80B-370AA2A5EE6E}"/>
                </a:ext>
              </a:extLst>
            </p:cNvPr>
            <p:cNvSpPr txBox="1"/>
            <p:nvPr/>
          </p:nvSpPr>
          <p:spPr>
            <a:xfrm>
              <a:off x="4498632" y="3885729"/>
              <a:ext cx="1017266" cy="646331"/>
            </a:xfrm>
            <a:prstGeom prst="rect">
              <a:avLst/>
            </a:prstGeom>
            <a:noFill/>
          </p:spPr>
          <p:txBody>
            <a:bodyPr wrap="none" rtlCol="0">
              <a:spAutoFit/>
            </a:bodyPr>
            <a:lstStyle/>
            <a:p>
              <a:pPr algn="ctr"/>
              <a:r>
                <a:rPr lang="en-GB" dirty="0">
                  <a:solidFill>
                    <a:schemeClr val="accent3">
                      <a:lumMod val="75000"/>
                    </a:schemeClr>
                  </a:solidFill>
                </a:rPr>
                <a:t>Fastigial</a:t>
              </a:r>
            </a:p>
            <a:p>
              <a:pPr algn="ctr"/>
              <a:r>
                <a:rPr lang="en-GB" dirty="0">
                  <a:solidFill>
                    <a:schemeClr val="accent3">
                      <a:lumMod val="75000"/>
                    </a:schemeClr>
                  </a:solidFill>
                </a:rPr>
                <a:t>nuclei</a:t>
              </a:r>
            </a:p>
          </p:txBody>
        </p:sp>
        <p:sp>
          <p:nvSpPr>
            <p:cNvPr id="383" name="TextBox 382">
              <a:extLst>
                <a:ext uri="{FF2B5EF4-FFF2-40B4-BE49-F238E27FC236}">
                  <a16:creationId xmlns:a16="http://schemas.microsoft.com/office/drawing/2014/main" id="{427AFFBD-F231-BB85-FCB7-4D5A73EB1B38}"/>
                </a:ext>
              </a:extLst>
            </p:cNvPr>
            <p:cNvSpPr txBox="1"/>
            <p:nvPr/>
          </p:nvSpPr>
          <p:spPr>
            <a:xfrm>
              <a:off x="4442948" y="5449758"/>
              <a:ext cx="1119217" cy="646331"/>
            </a:xfrm>
            <a:prstGeom prst="rect">
              <a:avLst/>
            </a:prstGeom>
            <a:noFill/>
          </p:spPr>
          <p:txBody>
            <a:bodyPr wrap="none" rtlCol="0">
              <a:spAutoFit/>
            </a:bodyPr>
            <a:lstStyle/>
            <a:p>
              <a:pPr algn="ctr"/>
              <a:r>
                <a:rPr lang="en-GB" dirty="0"/>
                <a:t>Medulla</a:t>
              </a:r>
            </a:p>
            <a:p>
              <a:pPr algn="ctr"/>
              <a:r>
                <a:rPr lang="en-GB" dirty="0"/>
                <a:t>And pons</a:t>
              </a:r>
            </a:p>
          </p:txBody>
        </p:sp>
        <p:cxnSp>
          <p:nvCxnSpPr>
            <p:cNvPr id="384" name="Straight Arrow Connector 383">
              <a:extLst>
                <a:ext uri="{FF2B5EF4-FFF2-40B4-BE49-F238E27FC236}">
                  <a16:creationId xmlns:a16="http://schemas.microsoft.com/office/drawing/2014/main" id="{ED0144A0-8562-3C96-B04E-539422BD8617}"/>
                </a:ext>
              </a:extLst>
            </p:cNvPr>
            <p:cNvCxnSpPr>
              <a:cxnSpLocks/>
            </p:cNvCxnSpPr>
            <p:nvPr/>
          </p:nvCxnSpPr>
          <p:spPr>
            <a:xfrm>
              <a:off x="5009175" y="3028904"/>
              <a:ext cx="0" cy="78857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5" name="Straight Arrow Connector 384">
              <a:extLst>
                <a:ext uri="{FF2B5EF4-FFF2-40B4-BE49-F238E27FC236}">
                  <a16:creationId xmlns:a16="http://schemas.microsoft.com/office/drawing/2014/main" id="{02207455-4720-6E45-A58B-14CD3D6BD1D4}"/>
                </a:ext>
              </a:extLst>
            </p:cNvPr>
            <p:cNvCxnSpPr>
              <a:cxnSpLocks/>
            </p:cNvCxnSpPr>
            <p:nvPr/>
          </p:nvCxnSpPr>
          <p:spPr>
            <a:xfrm>
              <a:off x="5000589" y="4596624"/>
              <a:ext cx="0" cy="78857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86" name="Oval 385">
              <a:extLst>
                <a:ext uri="{FF2B5EF4-FFF2-40B4-BE49-F238E27FC236}">
                  <a16:creationId xmlns:a16="http://schemas.microsoft.com/office/drawing/2014/main" id="{8DD5FCBF-0DF5-0A82-E2FE-F1F934B14714}"/>
                </a:ext>
              </a:extLst>
            </p:cNvPr>
            <p:cNvSpPr/>
            <p:nvPr/>
          </p:nvSpPr>
          <p:spPr>
            <a:xfrm>
              <a:off x="4762822" y="1154895"/>
              <a:ext cx="488886" cy="488886"/>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GB" sz="2400" b="1" dirty="0"/>
                <a:t>1</a:t>
              </a:r>
            </a:p>
          </p:txBody>
        </p:sp>
        <p:sp>
          <p:nvSpPr>
            <p:cNvPr id="3" name="TextBox 2">
              <a:extLst>
                <a:ext uri="{FF2B5EF4-FFF2-40B4-BE49-F238E27FC236}">
                  <a16:creationId xmlns:a16="http://schemas.microsoft.com/office/drawing/2014/main" id="{EC9F237E-D253-A131-2442-EB41AB430952}"/>
                </a:ext>
              </a:extLst>
            </p:cNvPr>
            <p:cNvSpPr txBox="1"/>
            <p:nvPr/>
          </p:nvSpPr>
          <p:spPr>
            <a:xfrm>
              <a:off x="4000694" y="1662266"/>
              <a:ext cx="1828800" cy="646331"/>
            </a:xfrm>
            <a:prstGeom prst="rect">
              <a:avLst/>
            </a:prstGeom>
            <a:noFill/>
          </p:spPr>
          <p:txBody>
            <a:bodyPr wrap="square" rtlCol="0">
              <a:spAutoFit/>
            </a:bodyPr>
            <a:lstStyle/>
            <a:p>
              <a:pPr algn="ctr"/>
              <a:r>
                <a:rPr lang="en-US" sz="1800" b="1" kern="1200" dirty="0">
                  <a:solidFill>
                    <a:schemeClr val="tx1"/>
                  </a:solidFill>
                  <a:latin typeface="+mn-lt"/>
                  <a:ea typeface="+mn-ea"/>
                  <a:cs typeface="+mn-cs"/>
                </a:rPr>
                <a:t>Balance and posture</a:t>
              </a:r>
            </a:p>
          </p:txBody>
        </p:sp>
      </p:grpSp>
      <p:grpSp>
        <p:nvGrpSpPr>
          <p:cNvPr id="15" name="Group 14">
            <a:extLst>
              <a:ext uri="{FF2B5EF4-FFF2-40B4-BE49-F238E27FC236}">
                <a16:creationId xmlns:a16="http://schemas.microsoft.com/office/drawing/2014/main" id="{40678B2D-DA3D-52C4-1B28-4689FAC9645E}"/>
              </a:ext>
            </a:extLst>
          </p:cNvPr>
          <p:cNvGrpSpPr/>
          <p:nvPr/>
        </p:nvGrpSpPr>
        <p:grpSpPr>
          <a:xfrm>
            <a:off x="6214034" y="1129106"/>
            <a:ext cx="3622583" cy="5218193"/>
            <a:chOff x="5884901" y="1129106"/>
            <a:chExt cx="3622583" cy="5218193"/>
          </a:xfrm>
        </p:grpSpPr>
        <p:sp>
          <p:nvSpPr>
            <p:cNvPr id="393" name="TextBox 392">
              <a:extLst>
                <a:ext uri="{FF2B5EF4-FFF2-40B4-BE49-F238E27FC236}">
                  <a16:creationId xmlns:a16="http://schemas.microsoft.com/office/drawing/2014/main" id="{D5EFF4CB-EEA4-3F5F-1794-064FE51396CB}"/>
                </a:ext>
              </a:extLst>
            </p:cNvPr>
            <p:cNvSpPr txBox="1"/>
            <p:nvPr/>
          </p:nvSpPr>
          <p:spPr>
            <a:xfrm>
              <a:off x="5884901" y="5423969"/>
              <a:ext cx="1889684" cy="923330"/>
            </a:xfrm>
            <a:prstGeom prst="rect">
              <a:avLst/>
            </a:prstGeom>
            <a:noFill/>
          </p:spPr>
          <p:txBody>
            <a:bodyPr wrap="none" rtlCol="0">
              <a:spAutoFit/>
            </a:bodyPr>
            <a:lstStyle/>
            <a:p>
              <a:pPr algn="ctr"/>
              <a:r>
                <a:rPr lang="en-GB" dirty="0"/>
                <a:t>Ventrolateral and</a:t>
              </a:r>
            </a:p>
            <a:p>
              <a:pPr algn="ctr"/>
              <a:r>
                <a:rPr lang="en-GB" dirty="0" err="1"/>
                <a:t>Ventroanterior</a:t>
              </a:r>
              <a:r>
                <a:rPr lang="en-GB" dirty="0"/>
                <a:t> </a:t>
              </a:r>
            </a:p>
            <a:p>
              <a:pPr algn="ctr"/>
              <a:r>
                <a:rPr lang="en-GB" dirty="0"/>
                <a:t>thalamus</a:t>
              </a:r>
            </a:p>
          </p:txBody>
        </p:sp>
        <p:sp>
          <p:nvSpPr>
            <p:cNvPr id="404" name="TextBox 403">
              <a:extLst>
                <a:ext uri="{FF2B5EF4-FFF2-40B4-BE49-F238E27FC236}">
                  <a16:creationId xmlns:a16="http://schemas.microsoft.com/office/drawing/2014/main" id="{2D6F0448-E24E-6CA3-AE02-3A2BEED701A4}"/>
                </a:ext>
              </a:extLst>
            </p:cNvPr>
            <p:cNvSpPr txBox="1"/>
            <p:nvPr/>
          </p:nvSpPr>
          <p:spPr>
            <a:xfrm>
              <a:off x="7660504" y="2375141"/>
              <a:ext cx="1846980" cy="923330"/>
            </a:xfrm>
            <a:prstGeom prst="rect">
              <a:avLst/>
            </a:prstGeom>
            <a:noFill/>
          </p:spPr>
          <p:txBody>
            <a:bodyPr wrap="none" rtlCol="0">
              <a:spAutoFit/>
            </a:bodyPr>
            <a:lstStyle/>
            <a:p>
              <a:pPr algn="ctr"/>
              <a:r>
                <a:rPr lang="en-GB" dirty="0"/>
                <a:t>Red nucleus and</a:t>
              </a:r>
            </a:p>
            <a:p>
              <a:pPr algn="ctr"/>
              <a:r>
                <a:rPr lang="en-GB" dirty="0"/>
                <a:t>Reticular</a:t>
              </a:r>
            </a:p>
            <a:p>
              <a:pPr algn="ctr"/>
              <a:r>
                <a:rPr lang="en-GB" dirty="0"/>
                <a:t> formation</a:t>
              </a:r>
            </a:p>
          </p:txBody>
        </p:sp>
        <p:sp>
          <p:nvSpPr>
            <p:cNvPr id="391" name="TextBox 390">
              <a:extLst>
                <a:ext uri="{FF2B5EF4-FFF2-40B4-BE49-F238E27FC236}">
                  <a16:creationId xmlns:a16="http://schemas.microsoft.com/office/drawing/2014/main" id="{32971743-1D10-E50F-CCD3-4B3CFB29A754}"/>
                </a:ext>
              </a:extLst>
            </p:cNvPr>
            <p:cNvSpPr txBox="1"/>
            <p:nvPr/>
          </p:nvSpPr>
          <p:spPr>
            <a:xfrm>
              <a:off x="6151452" y="2371218"/>
              <a:ext cx="1464312" cy="646331"/>
            </a:xfrm>
            <a:prstGeom prst="rect">
              <a:avLst/>
            </a:prstGeom>
            <a:noFill/>
          </p:spPr>
          <p:txBody>
            <a:bodyPr wrap="none" rtlCol="0">
              <a:spAutoFit/>
            </a:bodyPr>
            <a:lstStyle/>
            <a:p>
              <a:pPr algn="ctr"/>
              <a:r>
                <a:rPr lang="en-GB" dirty="0">
                  <a:solidFill>
                    <a:schemeClr val="accent2">
                      <a:lumMod val="75000"/>
                    </a:schemeClr>
                  </a:solidFill>
                </a:rPr>
                <a:t>Intermediate</a:t>
              </a:r>
            </a:p>
            <a:p>
              <a:pPr algn="ctr"/>
              <a:r>
                <a:rPr lang="en-GB" dirty="0">
                  <a:solidFill>
                    <a:schemeClr val="accent2">
                      <a:lumMod val="75000"/>
                    </a:schemeClr>
                  </a:solidFill>
                </a:rPr>
                <a:t>zone</a:t>
              </a:r>
            </a:p>
          </p:txBody>
        </p:sp>
        <p:sp>
          <p:nvSpPr>
            <p:cNvPr id="392" name="TextBox 391">
              <a:extLst>
                <a:ext uri="{FF2B5EF4-FFF2-40B4-BE49-F238E27FC236}">
                  <a16:creationId xmlns:a16="http://schemas.microsoft.com/office/drawing/2014/main" id="{2B11ED3E-5C03-6017-2605-98C56A505CAC}"/>
                </a:ext>
              </a:extLst>
            </p:cNvPr>
            <p:cNvSpPr txBox="1"/>
            <p:nvPr/>
          </p:nvSpPr>
          <p:spPr>
            <a:xfrm>
              <a:off x="6202481" y="3859940"/>
              <a:ext cx="1263936" cy="646331"/>
            </a:xfrm>
            <a:prstGeom prst="rect">
              <a:avLst/>
            </a:prstGeom>
            <a:noFill/>
          </p:spPr>
          <p:txBody>
            <a:bodyPr wrap="none" rtlCol="0">
              <a:spAutoFit/>
            </a:bodyPr>
            <a:lstStyle/>
            <a:p>
              <a:pPr algn="ctr"/>
              <a:r>
                <a:rPr lang="en-GB" dirty="0">
                  <a:solidFill>
                    <a:schemeClr val="accent3">
                      <a:lumMod val="75000"/>
                    </a:schemeClr>
                  </a:solidFill>
                </a:rPr>
                <a:t>Interposed</a:t>
              </a:r>
            </a:p>
            <a:p>
              <a:pPr algn="ctr"/>
              <a:r>
                <a:rPr lang="en-GB" dirty="0">
                  <a:solidFill>
                    <a:schemeClr val="accent3">
                      <a:lumMod val="75000"/>
                    </a:schemeClr>
                  </a:solidFill>
                </a:rPr>
                <a:t>nucleus</a:t>
              </a:r>
            </a:p>
          </p:txBody>
        </p:sp>
        <p:cxnSp>
          <p:nvCxnSpPr>
            <p:cNvPr id="394" name="Straight Arrow Connector 393">
              <a:extLst>
                <a:ext uri="{FF2B5EF4-FFF2-40B4-BE49-F238E27FC236}">
                  <a16:creationId xmlns:a16="http://schemas.microsoft.com/office/drawing/2014/main" id="{478174CA-F47E-2A36-24F4-A221B78131A7}"/>
                </a:ext>
              </a:extLst>
            </p:cNvPr>
            <p:cNvCxnSpPr>
              <a:cxnSpLocks/>
            </p:cNvCxnSpPr>
            <p:nvPr/>
          </p:nvCxnSpPr>
          <p:spPr>
            <a:xfrm>
              <a:off x="6836357" y="3003115"/>
              <a:ext cx="0" cy="78857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5" name="Straight Arrow Connector 394">
              <a:extLst>
                <a:ext uri="{FF2B5EF4-FFF2-40B4-BE49-F238E27FC236}">
                  <a16:creationId xmlns:a16="http://schemas.microsoft.com/office/drawing/2014/main" id="{3BFEB02D-5466-0451-7A2A-75829BAE1F46}"/>
                </a:ext>
              </a:extLst>
            </p:cNvPr>
            <p:cNvCxnSpPr>
              <a:cxnSpLocks/>
            </p:cNvCxnSpPr>
            <p:nvPr/>
          </p:nvCxnSpPr>
          <p:spPr>
            <a:xfrm>
              <a:off x="6827771" y="4570835"/>
              <a:ext cx="0" cy="78857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96" name="Oval 395">
              <a:extLst>
                <a:ext uri="{FF2B5EF4-FFF2-40B4-BE49-F238E27FC236}">
                  <a16:creationId xmlns:a16="http://schemas.microsoft.com/office/drawing/2014/main" id="{F4DA4BED-7C42-049F-6B91-F4DE3CC4EB8A}"/>
                </a:ext>
              </a:extLst>
            </p:cNvPr>
            <p:cNvSpPr/>
            <p:nvPr/>
          </p:nvSpPr>
          <p:spPr>
            <a:xfrm>
              <a:off x="7485334" y="1129106"/>
              <a:ext cx="488886" cy="488886"/>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GB" sz="2400" b="1" dirty="0"/>
                <a:t>2</a:t>
              </a:r>
            </a:p>
          </p:txBody>
        </p:sp>
        <p:cxnSp>
          <p:nvCxnSpPr>
            <p:cNvPr id="397" name="Straight Arrow Connector 396">
              <a:extLst>
                <a:ext uri="{FF2B5EF4-FFF2-40B4-BE49-F238E27FC236}">
                  <a16:creationId xmlns:a16="http://schemas.microsoft.com/office/drawing/2014/main" id="{65407E50-0816-EC31-259A-465D1BE668B4}"/>
                </a:ext>
              </a:extLst>
            </p:cNvPr>
            <p:cNvCxnSpPr>
              <a:cxnSpLocks/>
            </p:cNvCxnSpPr>
            <p:nvPr/>
          </p:nvCxnSpPr>
          <p:spPr>
            <a:xfrm>
              <a:off x="7653445" y="5885634"/>
              <a:ext cx="487273"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00" name="TextBox 399">
              <a:extLst>
                <a:ext uri="{FF2B5EF4-FFF2-40B4-BE49-F238E27FC236}">
                  <a16:creationId xmlns:a16="http://schemas.microsoft.com/office/drawing/2014/main" id="{8CF53518-C516-6DDB-A2CC-0EC17218E4FC}"/>
                </a:ext>
              </a:extLst>
            </p:cNvPr>
            <p:cNvSpPr txBox="1"/>
            <p:nvPr/>
          </p:nvSpPr>
          <p:spPr>
            <a:xfrm>
              <a:off x="8161555" y="5699563"/>
              <a:ext cx="843693" cy="369332"/>
            </a:xfrm>
            <a:prstGeom prst="rect">
              <a:avLst/>
            </a:prstGeom>
            <a:noFill/>
          </p:spPr>
          <p:txBody>
            <a:bodyPr wrap="none" rtlCol="0">
              <a:spAutoFit/>
            </a:bodyPr>
            <a:lstStyle/>
            <a:p>
              <a:pPr algn="ctr"/>
              <a:r>
                <a:rPr lang="en-GB" dirty="0"/>
                <a:t>Cortex</a:t>
              </a:r>
            </a:p>
          </p:txBody>
        </p:sp>
        <p:cxnSp>
          <p:nvCxnSpPr>
            <p:cNvPr id="401" name="Straight Arrow Connector 400">
              <a:extLst>
                <a:ext uri="{FF2B5EF4-FFF2-40B4-BE49-F238E27FC236}">
                  <a16:creationId xmlns:a16="http://schemas.microsoft.com/office/drawing/2014/main" id="{72730575-3B24-B75C-09D4-115B8CFE4371}"/>
                </a:ext>
              </a:extLst>
            </p:cNvPr>
            <p:cNvCxnSpPr>
              <a:cxnSpLocks/>
            </p:cNvCxnSpPr>
            <p:nvPr/>
          </p:nvCxnSpPr>
          <p:spPr>
            <a:xfrm flipV="1">
              <a:off x="8570098" y="5191344"/>
              <a:ext cx="0" cy="401172"/>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02" name="TextBox 401">
              <a:extLst>
                <a:ext uri="{FF2B5EF4-FFF2-40B4-BE49-F238E27FC236}">
                  <a16:creationId xmlns:a16="http://schemas.microsoft.com/office/drawing/2014/main" id="{583AEC36-7C30-9C60-F7C8-A6AC0121786C}"/>
                </a:ext>
              </a:extLst>
            </p:cNvPr>
            <p:cNvSpPr txBox="1"/>
            <p:nvPr/>
          </p:nvSpPr>
          <p:spPr>
            <a:xfrm>
              <a:off x="7784188" y="4583305"/>
              <a:ext cx="1587294" cy="646331"/>
            </a:xfrm>
            <a:prstGeom prst="rect">
              <a:avLst/>
            </a:prstGeom>
            <a:noFill/>
          </p:spPr>
          <p:txBody>
            <a:bodyPr wrap="none" rtlCol="0">
              <a:spAutoFit/>
            </a:bodyPr>
            <a:lstStyle/>
            <a:p>
              <a:pPr algn="ctr"/>
              <a:r>
                <a:rPr lang="en-GB" dirty="0"/>
                <a:t>Thalamic</a:t>
              </a:r>
            </a:p>
            <a:p>
              <a:pPr algn="ctr"/>
              <a:r>
                <a:rPr lang="en-GB" dirty="0"/>
                <a:t>midline nuclei</a:t>
              </a:r>
            </a:p>
          </p:txBody>
        </p:sp>
        <p:sp>
          <p:nvSpPr>
            <p:cNvPr id="4" name="TextBox 3">
              <a:extLst>
                <a:ext uri="{FF2B5EF4-FFF2-40B4-BE49-F238E27FC236}">
                  <a16:creationId xmlns:a16="http://schemas.microsoft.com/office/drawing/2014/main" id="{9A05244C-77CF-F22E-4644-69E20EFE5DF7}"/>
                </a:ext>
              </a:extLst>
            </p:cNvPr>
            <p:cNvSpPr txBox="1"/>
            <p:nvPr/>
          </p:nvSpPr>
          <p:spPr>
            <a:xfrm>
              <a:off x="7828303" y="3794344"/>
              <a:ext cx="1499065" cy="369332"/>
            </a:xfrm>
            <a:prstGeom prst="rect">
              <a:avLst/>
            </a:prstGeom>
            <a:noFill/>
          </p:spPr>
          <p:txBody>
            <a:bodyPr wrap="none" rtlCol="0">
              <a:spAutoFit/>
            </a:bodyPr>
            <a:lstStyle/>
            <a:p>
              <a:pPr algn="ctr"/>
              <a:r>
                <a:rPr lang="en-GB" dirty="0"/>
                <a:t>Basal ganglia</a:t>
              </a:r>
            </a:p>
          </p:txBody>
        </p:sp>
        <p:cxnSp>
          <p:nvCxnSpPr>
            <p:cNvPr id="6" name="Straight Arrow Connector 5">
              <a:extLst>
                <a:ext uri="{FF2B5EF4-FFF2-40B4-BE49-F238E27FC236}">
                  <a16:creationId xmlns:a16="http://schemas.microsoft.com/office/drawing/2014/main" id="{A82FBB6F-8004-ADDE-89BC-1C16114F63D8}"/>
                </a:ext>
              </a:extLst>
            </p:cNvPr>
            <p:cNvCxnSpPr>
              <a:cxnSpLocks/>
              <a:stCxn id="402" idx="0"/>
              <a:endCxn id="4" idx="2"/>
            </p:cNvCxnSpPr>
            <p:nvPr/>
          </p:nvCxnSpPr>
          <p:spPr>
            <a:xfrm flipV="1">
              <a:off x="8577835" y="4163676"/>
              <a:ext cx="1" cy="419629"/>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5B76B9B2-1054-8792-500A-1BD8D61DD073}"/>
                </a:ext>
              </a:extLst>
            </p:cNvPr>
            <p:cNvCxnSpPr>
              <a:cxnSpLocks/>
              <a:stCxn id="4" idx="0"/>
              <a:endCxn id="404" idx="2"/>
            </p:cNvCxnSpPr>
            <p:nvPr/>
          </p:nvCxnSpPr>
          <p:spPr>
            <a:xfrm flipV="1">
              <a:off x="8577836" y="3298471"/>
              <a:ext cx="6158" cy="495873"/>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6075516-9E18-2978-D1E6-4BAF7FF4A49C}"/>
                </a:ext>
              </a:extLst>
            </p:cNvPr>
            <p:cNvSpPr txBox="1"/>
            <p:nvPr/>
          </p:nvSpPr>
          <p:spPr>
            <a:xfrm>
              <a:off x="6274532" y="1656886"/>
              <a:ext cx="2820335" cy="646331"/>
            </a:xfrm>
            <a:prstGeom prst="rect">
              <a:avLst/>
            </a:prstGeom>
            <a:noFill/>
          </p:spPr>
          <p:txBody>
            <a:bodyPr wrap="square" rtlCol="0">
              <a:spAutoFit/>
            </a:bodyPr>
            <a:lstStyle/>
            <a:p>
              <a:pPr algn="ctr"/>
              <a:r>
                <a:rPr lang="en-US" sz="1800" b="1" kern="1200" dirty="0">
                  <a:solidFill>
                    <a:schemeClr val="tx1"/>
                  </a:solidFill>
                  <a:latin typeface="+mn-lt"/>
                  <a:ea typeface="+mn-ea"/>
                  <a:cs typeface="+mn-cs"/>
                </a:rPr>
                <a:t>Agonist/antagonist muscles coordination</a:t>
              </a:r>
            </a:p>
          </p:txBody>
        </p:sp>
      </p:grpSp>
      <p:grpSp>
        <p:nvGrpSpPr>
          <p:cNvPr id="16" name="Group 15">
            <a:extLst>
              <a:ext uri="{FF2B5EF4-FFF2-40B4-BE49-F238E27FC236}">
                <a16:creationId xmlns:a16="http://schemas.microsoft.com/office/drawing/2014/main" id="{2E8C885A-0E7C-9163-9EF5-B8797967C9A6}"/>
              </a:ext>
            </a:extLst>
          </p:cNvPr>
          <p:cNvGrpSpPr/>
          <p:nvPr/>
        </p:nvGrpSpPr>
        <p:grpSpPr>
          <a:xfrm>
            <a:off x="10221156" y="1131441"/>
            <a:ext cx="1890117" cy="5439786"/>
            <a:chOff x="10221156" y="1131441"/>
            <a:chExt cx="1890117" cy="5439786"/>
          </a:xfrm>
        </p:grpSpPr>
        <p:sp>
          <p:nvSpPr>
            <p:cNvPr id="415" name="TextBox 414">
              <a:extLst>
                <a:ext uri="{FF2B5EF4-FFF2-40B4-BE49-F238E27FC236}">
                  <a16:creationId xmlns:a16="http://schemas.microsoft.com/office/drawing/2014/main" id="{7333A016-2FF4-2C47-0638-270B540101F4}"/>
                </a:ext>
              </a:extLst>
            </p:cNvPr>
            <p:cNvSpPr txBox="1"/>
            <p:nvPr/>
          </p:nvSpPr>
          <p:spPr>
            <a:xfrm>
              <a:off x="10221589" y="4823116"/>
              <a:ext cx="1889684" cy="923330"/>
            </a:xfrm>
            <a:prstGeom prst="rect">
              <a:avLst/>
            </a:prstGeom>
            <a:noFill/>
          </p:spPr>
          <p:txBody>
            <a:bodyPr wrap="none" rtlCol="0">
              <a:spAutoFit/>
            </a:bodyPr>
            <a:lstStyle/>
            <a:p>
              <a:pPr algn="ctr"/>
              <a:r>
                <a:rPr lang="en-GB" dirty="0"/>
                <a:t>Ventrolateral and</a:t>
              </a:r>
            </a:p>
            <a:p>
              <a:pPr algn="ctr"/>
              <a:r>
                <a:rPr lang="en-GB" dirty="0" err="1"/>
                <a:t>Ventroanterior</a:t>
              </a:r>
              <a:r>
                <a:rPr lang="en-GB" dirty="0"/>
                <a:t> </a:t>
              </a:r>
            </a:p>
            <a:p>
              <a:pPr algn="ctr"/>
              <a:r>
                <a:rPr lang="en-GB" dirty="0"/>
                <a:t>thalamus</a:t>
              </a:r>
            </a:p>
          </p:txBody>
        </p:sp>
        <p:cxnSp>
          <p:nvCxnSpPr>
            <p:cNvPr id="416" name="Straight Arrow Connector 415">
              <a:extLst>
                <a:ext uri="{FF2B5EF4-FFF2-40B4-BE49-F238E27FC236}">
                  <a16:creationId xmlns:a16="http://schemas.microsoft.com/office/drawing/2014/main" id="{DA211DB2-85E3-3F24-0EDE-E00D8A0FF7EF}"/>
                </a:ext>
              </a:extLst>
            </p:cNvPr>
            <p:cNvCxnSpPr>
              <a:cxnSpLocks/>
            </p:cNvCxnSpPr>
            <p:nvPr/>
          </p:nvCxnSpPr>
          <p:spPr>
            <a:xfrm>
              <a:off x="11159756" y="5746446"/>
              <a:ext cx="0" cy="455449"/>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17" name="TextBox 416">
              <a:extLst>
                <a:ext uri="{FF2B5EF4-FFF2-40B4-BE49-F238E27FC236}">
                  <a16:creationId xmlns:a16="http://schemas.microsoft.com/office/drawing/2014/main" id="{AB27B803-018C-F80D-BBB4-117DDDFD9826}"/>
                </a:ext>
              </a:extLst>
            </p:cNvPr>
            <p:cNvSpPr txBox="1"/>
            <p:nvPr/>
          </p:nvSpPr>
          <p:spPr>
            <a:xfrm>
              <a:off x="10737909" y="6201895"/>
              <a:ext cx="843693" cy="369332"/>
            </a:xfrm>
            <a:prstGeom prst="rect">
              <a:avLst/>
            </a:prstGeom>
            <a:noFill/>
          </p:spPr>
          <p:txBody>
            <a:bodyPr wrap="none" rtlCol="0">
              <a:spAutoFit/>
            </a:bodyPr>
            <a:lstStyle/>
            <a:p>
              <a:pPr algn="ctr"/>
              <a:r>
                <a:rPr lang="en-GB" dirty="0"/>
                <a:t>Cortex</a:t>
              </a:r>
            </a:p>
          </p:txBody>
        </p:sp>
        <p:sp>
          <p:nvSpPr>
            <p:cNvPr id="409" name="TextBox 408">
              <a:extLst>
                <a:ext uri="{FF2B5EF4-FFF2-40B4-BE49-F238E27FC236}">
                  <a16:creationId xmlns:a16="http://schemas.microsoft.com/office/drawing/2014/main" id="{5CF61CA1-E1A1-D48C-A3F6-6EE43F6FB060}"/>
                </a:ext>
              </a:extLst>
            </p:cNvPr>
            <p:cNvSpPr txBox="1"/>
            <p:nvPr/>
          </p:nvSpPr>
          <p:spPr>
            <a:xfrm>
              <a:off x="10730351" y="2371218"/>
              <a:ext cx="873124" cy="646331"/>
            </a:xfrm>
            <a:prstGeom prst="rect">
              <a:avLst/>
            </a:prstGeom>
            <a:noFill/>
          </p:spPr>
          <p:txBody>
            <a:bodyPr wrap="none" rtlCol="0">
              <a:spAutoFit/>
            </a:bodyPr>
            <a:lstStyle/>
            <a:p>
              <a:pPr algn="ctr"/>
              <a:r>
                <a:rPr lang="en-GB" dirty="0">
                  <a:solidFill>
                    <a:schemeClr val="accent2">
                      <a:lumMod val="75000"/>
                    </a:schemeClr>
                  </a:solidFill>
                </a:rPr>
                <a:t>Lateral</a:t>
              </a:r>
            </a:p>
            <a:p>
              <a:pPr algn="ctr"/>
              <a:r>
                <a:rPr lang="en-GB" dirty="0">
                  <a:solidFill>
                    <a:schemeClr val="accent2">
                      <a:lumMod val="75000"/>
                    </a:schemeClr>
                  </a:solidFill>
                </a:rPr>
                <a:t>zone</a:t>
              </a:r>
            </a:p>
          </p:txBody>
        </p:sp>
        <p:sp>
          <p:nvSpPr>
            <p:cNvPr id="410" name="TextBox 409">
              <a:extLst>
                <a:ext uri="{FF2B5EF4-FFF2-40B4-BE49-F238E27FC236}">
                  <a16:creationId xmlns:a16="http://schemas.microsoft.com/office/drawing/2014/main" id="{5FA6682E-8128-2D31-FCC9-08DA57584C73}"/>
                </a:ext>
              </a:extLst>
            </p:cNvPr>
            <p:cNvSpPr txBox="1"/>
            <p:nvPr/>
          </p:nvSpPr>
          <p:spPr>
            <a:xfrm>
              <a:off x="10674598" y="3582984"/>
              <a:ext cx="983667" cy="646331"/>
            </a:xfrm>
            <a:prstGeom prst="rect">
              <a:avLst/>
            </a:prstGeom>
            <a:noFill/>
          </p:spPr>
          <p:txBody>
            <a:bodyPr wrap="none" rtlCol="0">
              <a:spAutoFit/>
            </a:bodyPr>
            <a:lstStyle/>
            <a:p>
              <a:pPr algn="ctr"/>
              <a:r>
                <a:rPr lang="en-GB" dirty="0">
                  <a:solidFill>
                    <a:schemeClr val="accent3">
                      <a:lumMod val="75000"/>
                    </a:schemeClr>
                  </a:solidFill>
                </a:rPr>
                <a:t>Dentate</a:t>
              </a:r>
            </a:p>
            <a:p>
              <a:pPr algn="ctr"/>
              <a:r>
                <a:rPr lang="en-GB" dirty="0">
                  <a:solidFill>
                    <a:schemeClr val="accent3">
                      <a:lumMod val="75000"/>
                    </a:schemeClr>
                  </a:solidFill>
                </a:rPr>
                <a:t>nuclei</a:t>
              </a:r>
            </a:p>
          </p:txBody>
        </p:sp>
        <p:cxnSp>
          <p:nvCxnSpPr>
            <p:cNvPr id="412" name="Straight Arrow Connector 411">
              <a:extLst>
                <a:ext uri="{FF2B5EF4-FFF2-40B4-BE49-F238E27FC236}">
                  <a16:creationId xmlns:a16="http://schemas.microsoft.com/office/drawing/2014/main" id="{32F352D7-EC08-0167-00AA-3E5165EE92C4}"/>
                </a:ext>
              </a:extLst>
            </p:cNvPr>
            <p:cNvCxnSpPr>
              <a:cxnSpLocks/>
            </p:cNvCxnSpPr>
            <p:nvPr/>
          </p:nvCxnSpPr>
          <p:spPr>
            <a:xfrm>
              <a:off x="11168342" y="3005450"/>
              <a:ext cx="0" cy="547987"/>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3" name="Straight Arrow Connector 412">
              <a:extLst>
                <a:ext uri="{FF2B5EF4-FFF2-40B4-BE49-F238E27FC236}">
                  <a16:creationId xmlns:a16="http://schemas.microsoft.com/office/drawing/2014/main" id="{5EF4BBBF-A582-64C5-73F1-7253C131D47C}"/>
                </a:ext>
              </a:extLst>
            </p:cNvPr>
            <p:cNvCxnSpPr>
              <a:cxnSpLocks/>
            </p:cNvCxnSpPr>
            <p:nvPr/>
          </p:nvCxnSpPr>
          <p:spPr>
            <a:xfrm>
              <a:off x="11159756" y="4293879"/>
              <a:ext cx="0" cy="501249"/>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14" name="Oval 413">
              <a:extLst>
                <a:ext uri="{FF2B5EF4-FFF2-40B4-BE49-F238E27FC236}">
                  <a16:creationId xmlns:a16="http://schemas.microsoft.com/office/drawing/2014/main" id="{124D6494-D1E8-A6AC-86C6-0C3F3F06B1D5}"/>
                </a:ext>
              </a:extLst>
            </p:cNvPr>
            <p:cNvSpPr/>
            <p:nvPr/>
          </p:nvSpPr>
          <p:spPr>
            <a:xfrm>
              <a:off x="10921989" y="1131441"/>
              <a:ext cx="488886" cy="488886"/>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GB" sz="2400" b="1" dirty="0"/>
                <a:t>3</a:t>
              </a:r>
            </a:p>
          </p:txBody>
        </p:sp>
        <p:sp>
          <p:nvSpPr>
            <p:cNvPr id="14" name="TextBox 13">
              <a:extLst>
                <a:ext uri="{FF2B5EF4-FFF2-40B4-BE49-F238E27FC236}">
                  <a16:creationId xmlns:a16="http://schemas.microsoft.com/office/drawing/2014/main" id="{DBEBC21D-8792-EB61-E94C-68412DC3AE51}"/>
                </a:ext>
              </a:extLst>
            </p:cNvPr>
            <p:cNvSpPr txBox="1"/>
            <p:nvPr/>
          </p:nvSpPr>
          <p:spPr>
            <a:xfrm>
              <a:off x="10221156" y="1656885"/>
              <a:ext cx="1828800" cy="646331"/>
            </a:xfrm>
            <a:prstGeom prst="rect">
              <a:avLst/>
            </a:prstGeom>
            <a:noFill/>
          </p:spPr>
          <p:txBody>
            <a:bodyPr wrap="square" rtlCol="0">
              <a:spAutoFit/>
            </a:bodyPr>
            <a:lstStyle/>
            <a:p>
              <a:pPr algn="ctr"/>
              <a:r>
                <a:rPr lang="en-US" sz="1800" b="1" kern="1200" dirty="0">
                  <a:solidFill>
                    <a:schemeClr val="tx1"/>
                  </a:solidFill>
                  <a:latin typeface="+mn-lt"/>
                  <a:ea typeface="+mn-ea"/>
                  <a:cs typeface="+mn-cs"/>
                </a:rPr>
                <a:t>Sequential motor activities</a:t>
              </a:r>
            </a:p>
          </p:txBody>
        </p:sp>
      </p:grpSp>
    </p:spTree>
    <p:extLst>
      <p:ext uri="{BB962C8B-B14F-4D97-AF65-F5344CB8AC3E}">
        <p14:creationId xmlns:p14="http://schemas.microsoft.com/office/powerpoint/2010/main" val="275754041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C8CD8-AB89-2AAD-6D3B-AF4C357CA3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6D70A8-882E-80E4-84FD-BA3C054A9DBB}"/>
              </a:ext>
            </a:extLst>
          </p:cNvPr>
          <p:cNvSpPr>
            <a:spLocks noGrp="1"/>
          </p:cNvSpPr>
          <p:nvPr>
            <p:ph type="title"/>
          </p:nvPr>
        </p:nvSpPr>
        <p:spPr/>
        <p:txBody>
          <a:bodyPr/>
          <a:lstStyle/>
          <a:p>
            <a:r>
              <a:rPr lang="en-GB" dirty="0"/>
              <a:t>Cerebellar </a:t>
            </a:r>
            <a:r>
              <a:rPr lang="en-GB" dirty="0" err="1"/>
              <a:t>efferents</a:t>
            </a:r>
            <a:endParaRPr lang="en-GB" dirty="0"/>
          </a:p>
        </p:txBody>
      </p:sp>
      <p:sp>
        <p:nvSpPr>
          <p:cNvPr id="8" name="Content Placeholder 7">
            <a:extLst>
              <a:ext uri="{FF2B5EF4-FFF2-40B4-BE49-F238E27FC236}">
                <a16:creationId xmlns:a16="http://schemas.microsoft.com/office/drawing/2014/main" id="{1CF28724-298D-6043-5B19-C1EA6F29C73A}"/>
              </a:ext>
            </a:extLst>
          </p:cNvPr>
          <p:cNvSpPr>
            <a:spLocks noGrp="1"/>
          </p:cNvSpPr>
          <p:nvPr>
            <p:ph idx="1"/>
          </p:nvPr>
        </p:nvSpPr>
        <p:spPr/>
        <p:txBody>
          <a:bodyPr/>
          <a:lstStyle/>
          <a:p>
            <a:endParaRPr lang="en-GB"/>
          </a:p>
        </p:txBody>
      </p:sp>
      <p:sp>
        <p:nvSpPr>
          <p:cNvPr id="359" name="Rectangle: Rounded Corners 358">
            <a:extLst>
              <a:ext uri="{FF2B5EF4-FFF2-40B4-BE49-F238E27FC236}">
                <a16:creationId xmlns:a16="http://schemas.microsoft.com/office/drawing/2014/main" id="{17A4A395-F585-C96B-1090-C818F3137799}"/>
              </a:ext>
            </a:extLst>
          </p:cNvPr>
          <p:cNvSpPr/>
          <p:nvPr/>
        </p:nvSpPr>
        <p:spPr>
          <a:xfrm>
            <a:off x="756245" y="2075277"/>
            <a:ext cx="1756372" cy="60658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GB" dirty="0"/>
              <a:t>Cerebellar cortex</a:t>
            </a:r>
          </a:p>
        </p:txBody>
      </p:sp>
      <p:sp>
        <p:nvSpPr>
          <p:cNvPr id="360" name="Rectangle: Rounded Corners 359">
            <a:extLst>
              <a:ext uri="{FF2B5EF4-FFF2-40B4-BE49-F238E27FC236}">
                <a16:creationId xmlns:a16="http://schemas.microsoft.com/office/drawing/2014/main" id="{2451481D-EE19-BBA0-486E-1501FABC462C}"/>
              </a:ext>
            </a:extLst>
          </p:cNvPr>
          <p:cNvSpPr/>
          <p:nvPr/>
        </p:nvSpPr>
        <p:spPr>
          <a:xfrm>
            <a:off x="389823" y="4049214"/>
            <a:ext cx="1244608" cy="6065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Afferents</a:t>
            </a:r>
          </a:p>
        </p:txBody>
      </p:sp>
      <p:sp>
        <p:nvSpPr>
          <p:cNvPr id="361" name="Rectangle: Rounded Corners 360">
            <a:extLst>
              <a:ext uri="{FF2B5EF4-FFF2-40B4-BE49-F238E27FC236}">
                <a16:creationId xmlns:a16="http://schemas.microsoft.com/office/drawing/2014/main" id="{70578F07-3F0D-C38E-48FD-1D1C5C455196}"/>
              </a:ext>
            </a:extLst>
          </p:cNvPr>
          <p:cNvSpPr/>
          <p:nvPr/>
        </p:nvSpPr>
        <p:spPr>
          <a:xfrm>
            <a:off x="2610890" y="3557094"/>
            <a:ext cx="1059474" cy="60658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GB" dirty="0"/>
              <a:t>Deep </a:t>
            </a:r>
          </a:p>
          <a:p>
            <a:pPr algn="ctr"/>
            <a:r>
              <a:rPr lang="en-GB" dirty="0"/>
              <a:t>nuclei</a:t>
            </a:r>
          </a:p>
        </p:txBody>
      </p:sp>
      <p:cxnSp>
        <p:nvCxnSpPr>
          <p:cNvPr id="364" name="Straight Arrow Connector 363">
            <a:extLst>
              <a:ext uri="{FF2B5EF4-FFF2-40B4-BE49-F238E27FC236}">
                <a16:creationId xmlns:a16="http://schemas.microsoft.com/office/drawing/2014/main" id="{B3D545E4-82DE-92EB-6EF6-C96802B159BD}"/>
              </a:ext>
            </a:extLst>
          </p:cNvPr>
          <p:cNvCxnSpPr>
            <a:cxnSpLocks/>
          </p:cNvCxnSpPr>
          <p:nvPr/>
        </p:nvCxnSpPr>
        <p:spPr>
          <a:xfrm flipV="1">
            <a:off x="1188153" y="2696920"/>
            <a:ext cx="0" cy="135229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6" name="Straight Arrow Connector 365">
            <a:extLst>
              <a:ext uri="{FF2B5EF4-FFF2-40B4-BE49-F238E27FC236}">
                <a16:creationId xmlns:a16="http://schemas.microsoft.com/office/drawing/2014/main" id="{399BAB72-C35A-82E0-6552-C7238AA5B781}"/>
              </a:ext>
            </a:extLst>
          </p:cNvPr>
          <p:cNvCxnSpPr>
            <a:cxnSpLocks/>
          </p:cNvCxnSpPr>
          <p:nvPr/>
        </p:nvCxnSpPr>
        <p:spPr>
          <a:xfrm>
            <a:off x="1945627" y="2681859"/>
            <a:ext cx="665263" cy="841575"/>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70" name="TextBox 369">
            <a:extLst>
              <a:ext uri="{FF2B5EF4-FFF2-40B4-BE49-F238E27FC236}">
                <a16:creationId xmlns:a16="http://schemas.microsoft.com/office/drawing/2014/main" id="{C8BE3DB5-0C02-5F15-E166-309B1E7CF0FC}"/>
              </a:ext>
            </a:extLst>
          </p:cNvPr>
          <p:cNvSpPr txBox="1"/>
          <p:nvPr/>
        </p:nvSpPr>
        <p:spPr>
          <a:xfrm>
            <a:off x="2591491" y="4981721"/>
            <a:ext cx="1096653" cy="369332"/>
          </a:xfrm>
          <a:prstGeom prst="rect">
            <a:avLst/>
          </a:prstGeom>
          <a:noFill/>
        </p:spPr>
        <p:txBody>
          <a:bodyPr wrap="square" rtlCol="0">
            <a:spAutoFit/>
          </a:bodyPr>
          <a:lstStyle/>
          <a:p>
            <a:pPr algn="ctr"/>
            <a:r>
              <a:rPr lang="en-GB" dirty="0"/>
              <a:t>Output</a:t>
            </a:r>
          </a:p>
        </p:txBody>
      </p:sp>
      <p:cxnSp>
        <p:nvCxnSpPr>
          <p:cNvPr id="374" name="Straight Arrow Connector 373">
            <a:extLst>
              <a:ext uri="{FF2B5EF4-FFF2-40B4-BE49-F238E27FC236}">
                <a16:creationId xmlns:a16="http://schemas.microsoft.com/office/drawing/2014/main" id="{050EC374-4067-5C69-EEF3-429A96B4B02D}"/>
              </a:ext>
            </a:extLst>
          </p:cNvPr>
          <p:cNvCxnSpPr>
            <a:cxnSpLocks/>
            <a:stCxn id="360" idx="3"/>
          </p:cNvCxnSpPr>
          <p:nvPr/>
        </p:nvCxnSpPr>
        <p:spPr>
          <a:xfrm flipV="1">
            <a:off x="1634431" y="3880805"/>
            <a:ext cx="878186" cy="4717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25" name="Straight Arrow Connector 424">
            <a:extLst>
              <a:ext uri="{FF2B5EF4-FFF2-40B4-BE49-F238E27FC236}">
                <a16:creationId xmlns:a16="http://schemas.microsoft.com/office/drawing/2014/main" id="{0BA302B5-18BD-7B51-15D5-B9C732B36C40}"/>
              </a:ext>
            </a:extLst>
          </p:cNvPr>
          <p:cNvCxnSpPr>
            <a:cxnSpLocks/>
            <a:stCxn id="361" idx="2"/>
            <a:endCxn id="370" idx="0"/>
          </p:cNvCxnSpPr>
          <p:nvPr/>
        </p:nvCxnSpPr>
        <p:spPr>
          <a:xfrm flipH="1">
            <a:off x="3139818" y="4163676"/>
            <a:ext cx="809" cy="818045"/>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900008E4-540F-4366-9D23-16EF856B337F}"/>
              </a:ext>
            </a:extLst>
          </p:cNvPr>
          <p:cNvPicPr>
            <a:picLocks noChangeAspect="1"/>
          </p:cNvPicPr>
          <p:nvPr/>
        </p:nvPicPr>
        <p:blipFill>
          <a:blip r:embed="rId2"/>
          <a:stretch>
            <a:fillRect/>
          </a:stretch>
        </p:blipFill>
        <p:spPr>
          <a:xfrm>
            <a:off x="4236471" y="1315026"/>
            <a:ext cx="7493285" cy="5131558"/>
          </a:xfrm>
          <a:prstGeom prst="rect">
            <a:avLst/>
          </a:prstGeom>
        </p:spPr>
      </p:pic>
    </p:spTree>
    <p:extLst>
      <p:ext uri="{BB962C8B-B14F-4D97-AF65-F5344CB8AC3E}">
        <p14:creationId xmlns:p14="http://schemas.microsoft.com/office/powerpoint/2010/main" val="286551885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B24A4-0333-87BB-CB40-69D839FF8C97}"/>
              </a:ext>
            </a:extLst>
          </p:cNvPr>
          <p:cNvSpPr>
            <a:spLocks noGrp="1"/>
          </p:cNvSpPr>
          <p:nvPr>
            <p:ph type="title"/>
          </p:nvPr>
        </p:nvSpPr>
        <p:spPr/>
        <p:txBody>
          <a:bodyPr/>
          <a:lstStyle/>
          <a:p>
            <a:r>
              <a:rPr lang="en-GB" dirty="0"/>
              <a:t>Learning in the cerebellum</a:t>
            </a:r>
          </a:p>
        </p:txBody>
      </p:sp>
      <p:pic>
        <p:nvPicPr>
          <p:cNvPr id="5122" name="Picture 2">
            <a:extLst>
              <a:ext uri="{FF2B5EF4-FFF2-40B4-BE49-F238E27FC236}">
                <a16:creationId xmlns:a16="http://schemas.microsoft.com/office/drawing/2014/main" id="{E1358CCD-48C8-0FF1-2AA5-7D22288A87B6}"/>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45256"/>
          <a:stretch>
            <a:fillRect/>
          </a:stretch>
        </p:blipFill>
        <p:spPr bwMode="auto">
          <a:xfrm>
            <a:off x="7221516" y="2010014"/>
            <a:ext cx="3726507" cy="3365500"/>
          </a:xfrm>
          <a:prstGeom prst="rect">
            <a:avLst/>
          </a:prstGeom>
          <a:noFill/>
          <a:extLst>
            <a:ext uri="{909E8E84-426E-40DD-AFC4-6F175D3DCCD1}">
              <a14:hiddenFill xmlns:a14="http://schemas.microsoft.com/office/drawing/2010/main">
                <a:solidFill>
                  <a:srgbClr val="FFFFFF"/>
                </a:solidFill>
              </a14:hiddenFill>
            </a:ext>
          </a:extLst>
        </p:spPr>
      </p:pic>
      <p:sp>
        <p:nvSpPr>
          <p:cNvPr id="5222" name="TextBox 5221">
            <a:extLst>
              <a:ext uri="{FF2B5EF4-FFF2-40B4-BE49-F238E27FC236}">
                <a16:creationId xmlns:a16="http://schemas.microsoft.com/office/drawing/2014/main" id="{612C6ED1-1861-FB80-1ED5-D0A8890BCDDE}"/>
              </a:ext>
            </a:extLst>
          </p:cNvPr>
          <p:cNvSpPr txBox="1"/>
          <p:nvPr/>
        </p:nvSpPr>
        <p:spPr>
          <a:xfrm>
            <a:off x="1243977" y="2323090"/>
            <a:ext cx="1208664" cy="646331"/>
          </a:xfrm>
          <a:prstGeom prst="rect">
            <a:avLst/>
          </a:prstGeom>
          <a:noFill/>
        </p:spPr>
        <p:txBody>
          <a:bodyPr wrap="none" rtlCol="0">
            <a:spAutoFit/>
          </a:bodyPr>
          <a:lstStyle/>
          <a:p>
            <a:r>
              <a:rPr lang="en-GB" b="1" u="sng" dirty="0"/>
              <a:t>Attempt 1</a:t>
            </a:r>
          </a:p>
          <a:p>
            <a:r>
              <a:rPr lang="en-GB" dirty="0">
                <a:solidFill>
                  <a:srgbClr val="FF0000"/>
                </a:solidFill>
              </a:rPr>
              <a:t>Error </a:t>
            </a:r>
            <a:r>
              <a:rPr lang="en-GB" dirty="0">
                <a:solidFill>
                  <a:srgbClr val="FF0000"/>
                </a:solidFill>
                <a:latin typeface="Calibri" panose="020F0502020204030204" pitchFamily="34" charset="0"/>
                <a:ea typeface="Calibri" panose="020F0502020204030204" pitchFamily="34" charset="0"/>
                <a:cs typeface="Calibri" panose="020F0502020204030204" pitchFamily="34" charset="0"/>
              </a:rPr>
              <a:t>↑</a:t>
            </a:r>
            <a:endParaRPr lang="en-GB" dirty="0">
              <a:solidFill>
                <a:srgbClr val="FF0000"/>
              </a:solidFill>
            </a:endParaRPr>
          </a:p>
        </p:txBody>
      </p:sp>
      <p:sp>
        <p:nvSpPr>
          <p:cNvPr id="5223" name="TextBox 5222">
            <a:extLst>
              <a:ext uri="{FF2B5EF4-FFF2-40B4-BE49-F238E27FC236}">
                <a16:creationId xmlns:a16="http://schemas.microsoft.com/office/drawing/2014/main" id="{D5BD5B58-AAD1-43AA-00FC-8389623D4A75}"/>
              </a:ext>
            </a:extLst>
          </p:cNvPr>
          <p:cNvSpPr txBox="1"/>
          <p:nvPr/>
        </p:nvSpPr>
        <p:spPr>
          <a:xfrm>
            <a:off x="1243977" y="4729183"/>
            <a:ext cx="1375377" cy="646331"/>
          </a:xfrm>
          <a:prstGeom prst="rect">
            <a:avLst/>
          </a:prstGeom>
          <a:noFill/>
        </p:spPr>
        <p:txBody>
          <a:bodyPr wrap="none" rtlCol="0">
            <a:spAutoFit/>
          </a:bodyPr>
          <a:lstStyle/>
          <a:p>
            <a:r>
              <a:rPr lang="en-GB" b="1" u="sng" dirty="0"/>
              <a:t>Attempt ~N</a:t>
            </a:r>
          </a:p>
          <a:p>
            <a:r>
              <a:rPr lang="en-GB" dirty="0">
                <a:solidFill>
                  <a:srgbClr val="FF0000"/>
                </a:solidFill>
              </a:rPr>
              <a:t>Error </a:t>
            </a:r>
            <a:r>
              <a:rPr lang="en-GB" dirty="0">
                <a:solidFill>
                  <a:srgbClr val="FF0000"/>
                </a:solidFill>
                <a:latin typeface="Calibri" panose="020F0502020204030204" pitchFamily="34" charset="0"/>
                <a:ea typeface="Calibri" panose="020F0502020204030204" pitchFamily="34" charset="0"/>
                <a:cs typeface="Calibri" panose="020F0502020204030204" pitchFamily="34" charset="0"/>
              </a:rPr>
              <a:t>↓</a:t>
            </a:r>
            <a:endParaRPr lang="en-GB" dirty="0">
              <a:solidFill>
                <a:srgbClr val="FF0000"/>
              </a:solidFill>
            </a:endParaRPr>
          </a:p>
        </p:txBody>
      </p:sp>
      <p:grpSp>
        <p:nvGrpSpPr>
          <p:cNvPr id="5275" name="Group 5274">
            <a:extLst>
              <a:ext uri="{FF2B5EF4-FFF2-40B4-BE49-F238E27FC236}">
                <a16:creationId xmlns:a16="http://schemas.microsoft.com/office/drawing/2014/main" id="{31BCDE37-7CC5-7226-EB46-1E09A82AAF39}"/>
              </a:ext>
            </a:extLst>
          </p:cNvPr>
          <p:cNvGrpSpPr/>
          <p:nvPr/>
        </p:nvGrpSpPr>
        <p:grpSpPr>
          <a:xfrm>
            <a:off x="2778469" y="1690688"/>
            <a:ext cx="2380488" cy="1727603"/>
            <a:chOff x="2778469" y="1690688"/>
            <a:chExt cx="2380488" cy="1727603"/>
          </a:xfrm>
        </p:grpSpPr>
        <p:grpSp>
          <p:nvGrpSpPr>
            <p:cNvPr id="5253" name="Group 5252">
              <a:extLst>
                <a:ext uri="{FF2B5EF4-FFF2-40B4-BE49-F238E27FC236}">
                  <a16:creationId xmlns:a16="http://schemas.microsoft.com/office/drawing/2014/main" id="{4A8D3713-6C9A-5B0E-99A1-683D61A210AB}"/>
                </a:ext>
              </a:extLst>
            </p:cNvPr>
            <p:cNvGrpSpPr/>
            <p:nvPr/>
          </p:nvGrpSpPr>
          <p:grpSpPr>
            <a:xfrm>
              <a:off x="2778469" y="1690688"/>
              <a:ext cx="2380488" cy="1727603"/>
              <a:chOff x="7920837" y="1403287"/>
              <a:chExt cx="2380488" cy="1727603"/>
            </a:xfrm>
          </p:grpSpPr>
          <p:sp>
            <p:nvSpPr>
              <p:cNvPr id="5224" name="TextBox 5223">
                <a:extLst>
                  <a:ext uri="{FF2B5EF4-FFF2-40B4-BE49-F238E27FC236}">
                    <a16:creationId xmlns:a16="http://schemas.microsoft.com/office/drawing/2014/main" id="{057FEC59-468E-99CE-CF75-BE4A4CA4DEF1}"/>
                  </a:ext>
                </a:extLst>
              </p:cNvPr>
              <p:cNvSpPr txBox="1"/>
              <p:nvPr/>
            </p:nvSpPr>
            <p:spPr>
              <a:xfrm>
                <a:off x="8843678" y="1403287"/>
                <a:ext cx="478016" cy="369332"/>
              </a:xfrm>
              <a:prstGeom prst="rect">
                <a:avLst/>
              </a:prstGeom>
              <a:noFill/>
            </p:spPr>
            <p:txBody>
              <a:bodyPr wrap="none" rtlCol="0">
                <a:spAutoFit/>
              </a:bodyPr>
              <a:lstStyle/>
              <a:p>
                <a:r>
                  <a:rPr lang="en-GB" dirty="0"/>
                  <a:t>PC</a:t>
                </a:r>
              </a:p>
            </p:txBody>
          </p:sp>
          <p:sp>
            <p:nvSpPr>
              <p:cNvPr id="5225" name="TextBox 5224">
                <a:extLst>
                  <a:ext uri="{FF2B5EF4-FFF2-40B4-BE49-F238E27FC236}">
                    <a16:creationId xmlns:a16="http://schemas.microsoft.com/office/drawing/2014/main" id="{A497EDE6-A3F5-2E60-A697-2D17E8F24D88}"/>
                  </a:ext>
                </a:extLst>
              </p:cNvPr>
              <p:cNvSpPr txBox="1"/>
              <p:nvPr/>
            </p:nvSpPr>
            <p:spPr>
              <a:xfrm>
                <a:off x="7920837" y="2750023"/>
                <a:ext cx="466794" cy="369332"/>
              </a:xfrm>
              <a:prstGeom prst="rect">
                <a:avLst/>
              </a:prstGeom>
              <a:noFill/>
            </p:spPr>
            <p:txBody>
              <a:bodyPr wrap="none" rtlCol="0">
                <a:spAutoFit/>
              </a:bodyPr>
              <a:lstStyle/>
              <a:p>
                <a:r>
                  <a:rPr lang="en-GB" dirty="0"/>
                  <a:t>CF</a:t>
                </a:r>
              </a:p>
            </p:txBody>
          </p:sp>
          <p:sp>
            <p:nvSpPr>
              <p:cNvPr id="5226" name="TextBox 5225">
                <a:extLst>
                  <a:ext uri="{FF2B5EF4-FFF2-40B4-BE49-F238E27FC236}">
                    <a16:creationId xmlns:a16="http://schemas.microsoft.com/office/drawing/2014/main" id="{2FD6783D-DD60-89F7-C681-887D13CBE798}"/>
                  </a:ext>
                </a:extLst>
              </p:cNvPr>
              <p:cNvSpPr txBox="1"/>
              <p:nvPr/>
            </p:nvSpPr>
            <p:spPr>
              <a:xfrm>
                <a:off x="8766275" y="2756595"/>
                <a:ext cx="667170" cy="369332"/>
              </a:xfrm>
              <a:prstGeom prst="rect">
                <a:avLst/>
              </a:prstGeom>
              <a:noFill/>
            </p:spPr>
            <p:txBody>
              <a:bodyPr wrap="none" rtlCol="0">
                <a:spAutoFit/>
              </a:bodyPr>
              <a:lstStyle/>
              <a:p>
                <a:r>
                  <a:rPr lang="en-GB" dirty="0"/>
                  <a:t>DNC</a:t>
                </a:r>
              </a:p>
            </p:txBody>
          </p:sp>
          <p:sp>
            <p:nvSpPr>
              <p:cNvPr id="5227" name="TextBox 5226">
                <a:extLst>
                  <a:ext uri="{FF2B5EF4-FFF2-40B4-BE49-F238E27FC236}">
                    <a16:creationId xmlns:a16="http://schemas.microsoft.com/office/drawing/2014/main" id="{0F938134-339E-B1D9-B00F-B2F99F47D2DA}"/>
                  </a:ext>
                </a:extLst>
              </p:cNvPr>
              <p:cNvSpPr txBox="1"/>
              <p:nvPr/>
            </p:nvSpPr>
            <p:spPr>
              <a:xfrm>
                <a:off x="9812089" y="2761558"/>
                <a:ext cx="489236" cy="369332"/>
              </a:xfrm>
              <a:prstGeom prst="rect">
                <a:avLst/>
              </a:prstGeom>
              <a:noFill/>
            </p:spPr>
            <p:txBody>
              <a:bodyPr wrap="none" rtlCol="0">
                <a:spAutoFit/>
              </a:bodyPr>
              <a:lstStyle/>
              <a:p>
                <a:r>
                  <a:rPr lang="en-GB" dirty="0"/>
                  <a:t>MF</a:t>
                </a:r>
              </a:p>
            </p:txBody>
          </p:sp>
          <p:sp>
            <p:nvSpPr>
              <p:cNvPr id="5228" name="TextBox 5227">
                <a:extLst>
                  <a:ext uri="{FF2B5EF4-FFF2-40B4-BE49-F238E27FC236}">
                    <a16:creationId xmlns:a16="http://schemas.microsoft.com/office/drawing/2014/main" id="{46E72099-839D-F58E-92D5-499F8B8BA89F}"/>
                  </a:ext>
                </a:extLst>
              </p:cNvPr>
              <p:cNvSpPr txBox="1"/>
              <p:nvPr/>
            </p:nvSpPr>
            <p:spPr>
              <a:xfrm>
                <a:off x="9691787" y="2035689"/>
                <a:ext cx="508473" cy="369332"/>
              </a:xfrm>
              <a:prstGeom prst="rect">
                <a:avLst/>
              </a:prstGeom>
              <a:noFill/>
            </p:spPr>
            <p:txBody>
              <a:bodyPr wrap="none" rtlCol="0">
                <a:spAutoFit/>
              </a:bodyPr>
              <a:lstStyle/>
              <a:p>
                <a:r>
                  <a:rPr lang="en-GB" dirty="0"/>
                  <a:t>GC</a:t>
                </a:r>
              </a:p>
            </p:txBody>
          </p:sp>
          <p:cxnSp>
            <p:nvCxnSpPr>
              <p:cNvPr id="5230" name="Straight Arrow Connector 5229">
                <a:extLst>
                  <a:ext uri="{FF2B5EF4-FFF2-40B4-BE49-F238E27FC236}">
                    <a16:creationId xmlns:a16="http://schemas.microsoft.com/office/drawing/2014/main" id="{37344D86-BE98-76F6-AB9B-E1F29899B6FF}"/>
                  </a:ext>
                </a:extLst>
              </p:cNvPr>
              <p:cNvCxnSpPr>
                <a:cxnSpLocks/>
                <a:stCxn id="5227" idx="0"/>
                <a:endCxn id="5228" idx="2"/>
              </p:cNvCxnSpPr>
              <p:nvPr/>
            </p:nvCxnSpPr>
            <p:spPr>
              <a:xfrm flipH="1" flipV="1">
                <a:off x="9946024" y="2405021"/>
                <a:ext cx="110683" cy="356537"/>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31" name="Straight Arrow Connector 5230">
                <a:extLst>
                  <a:ext uri="{FF2B5EF4-FFF2-40B4-BE49-F238E27FC236}">
                    <a16:creationId xmlns:a16="http://schemas.microsoft.com/office/drawing/2014/main" id="{A25FFB41-51F8-03F5-246A-8D797670B3EC}"/>
                  </a:ext>
                </a:extLst>
              </p:cNvPr>
              <p:cNvCxnSpPr>
                <a:cxnSpLocks/>
                <a:stCxn id="5227" idx="1"/>
                <a:endCxn id="5226" idx="3"/>
              </p:cNvCxnSpPr>
              <p:nvPr/>
            </p:nvCxnSpPr>
            <p:spPr>
              <a:xfrm flipH="1" flipV="1">
                <a:off x="9433445" y="2941261"/>
                <a:ext cx="378644" cy="4963"/>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33" name="Straight Arrow Connector 5232">
                <a:extLst>
                  <a:ext uri="{FF2B5EF4-FFF2-40B4-BE49-F238E27FC236}">
                    <a16:creationId xmlns:a16="http://schemas.microsoft.com/office/drawing/2014/main" id="{0CC023E6-3E76-BE03-E78C-594D9238EFE0}"/>
                  </a:ext>
                </a:extLst>
              </p:cNvPr>
              <p:cNvCxnSpPr>
                <a:cxnSpLocks/>
                <a:endCxn id="5226" idx="1"/>
              </p:cNvCxnSpPr>
              <p:nvPr/>
            </p:nvCxnSpPr>
            <p:spPr>
              <a:xfrm flipV="1">
                <a:off x="8387631" y="2941261"/>
                <a:ext cx="378644" cy="310"/>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35" name="Straight Arrow Connector 5234">
                <a:extLst>
                  <a:ext uri="{FF2B5EF4-FFF2-40B4-BE49-F238E27FC236}">
                    <a16:creationId xmlns:a16="http://schemas.microsoft.com/office/drawing/2014/main" id="{38EAD0CF-74DD-D678-C916-D47A568D87F2}"/>
                  </a:ext>
                </a:extLst>
              </p:cNvPr>
              <p:cNvCxnSpPr>
                <a:cxnSpLocks/>
              </p:cNvCxnSpPr>
              <p:nvPr/>
            </p:nvCxnSpPr>
            <p:spPr>
              <a:xfrm flipV="1">
                <a:off x="8368767" y="1772619"/>
                <a:ext cx="578577" cy="97740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42" name="Connector: Elbow 5241">
                <a:extLst>
                  <a:ext uri="{FF2B5EF4-FFF2-40B4-BE49-F238E27FC236}">
                    <a16:creationId xmlns:a16="http://schemas.microsoft.com/office/drawing/2014/main" id="{C219EF65-0DB3-90BE-ADC5-082C275D173E}"/>
                  </a:ext>
                </a:extLst>
              </p:cNvPr>
              <p:cNvCxnSpPr>
                <a:stCxn id="5224" idx="3"/>
                <a:endCxn id="5228" idx="0"/>
              </p:cNvCxnSpPr>
              <p:nvPr/>
            </p:nvCxnSpPr>
            <p:spPr>
              <a:xfrm>
                <a:off x="9321694" y="1587953"/>
                <a:ext cx="624330" cy="447736"/>
              </a:xfrm>
              <a:prstGeom prst="bentConnector2">
                <a:avLst/>
              </a:prstGeom>
              <a:ln w="19050">
                <a:solidFill>
                  <a:schemeClr val="tx1"/>
                </a:solidFill>
                <a:prstDash val="sysDash"/>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44" name="Straight Arrow Connector 5243">
                <a:extLst>
                  <a:ext uri="{FF2B5EF4-FFF2-40B4-BE49-F238E27FC236}">
                    <a16:creationId xmlns:a16="http://schemas.microsoft.com/office/drawing/2014/main" id="{6910E9B5-1F56-7ADD-31DB-848D7A161A1A}"/>
                  </a:ext>
                </a:extLst>
              </p:cNvPr>
              <p:cNvCxnSpPr>
                <a:stCxn id="5224" idx="2"/>
                <a:endCxn id="5226" idx="0"/>
              </p:cNvCxnSpPr>
              <p:nvPr/>
            </p:nvCxnSpPr>
            <p:spPr>
              <a:xfrm>
                <a:off x="9082686" y="1772619"/>
                <a:ext cx="17174" cy="983976"/>
              </a:xfrm>
              <a:prstGeom prst="straightConnector1">
                <a:avLst/>
              </a:prstGeom>
              <a:ln w="19050">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5269" name="Oval 5268">
              <a:extLst>
                <a:ext uri="{FF2B5EF4-FFF2-40B4-BE49-F238E27FC236}">
                  <a16:creationId xmlns:a16="http://schemas.microsoft.com/office/drawing/2014/main" id="{848CB682-8A14-E297-7731-DEAE9C31BEB5}"/>
                </a:ext>
              </a:extLst>
            </p:cNvPr>
            <p:cNvSpPr/>
            <p:nvPr/>
          </p:nvSpPr>
          <p:spPr>
            <a:xfrm>
              <a:off x="3754000" y="1697485"/>
              <a:ext cx="356188" cy="356188"/>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5270" name="Rectangle: Rounded Corners 5269">
              <a:extLst>
                <a:ext uri="{FF2B5EF4-FFF2-40B4-BE49-F238E27FC236}">
                  <a16:creationId xmlns:a16="http://schemas.microsoft.com/office/drawing/2014/main" id="{705DF41A-F830-D951-AD95-72BB30D22099}"/>
                </a:ext>
              </a:extLst>
            </p:cNvPr>
            <p:cNvSpPr/>
            <p:nvPr/>
          </p:nvSpPr>
          <p:spPr>
            <a:xfrm>
              <a:off x="3690089" y="3098800"/>
              <a:ext cx="521837" cy="264009"/>
            </a:xfrm>
            <a:prstGeom prst="round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5271" name="Rectangle: Rounded Corners 5270">
              <a:extLst>
                <a:ext uri="{FF2B5EF4-FFF2-40B4-BE49-F238E27FC236}">
                  <a16:creationId xmlns:a16="http://schemas.microsoft.com/office/drawing/2014/main" id="{566E0C57-CA29-E3B9-A6C5-B8D08B08648D}"/>
                </a:ext>
              </a:extLst>
            </p:cNvPr>
            <p:cNvSpPr/>
            <p:nvPr/>
          </p:nvSpPr>
          <p:spPr>
            <a:xfrm>
              <a:off x="4540074" y="2375751"/>
              <a:ext cx="521837" cy="264009"/>
            </a:xfrm>
            <a:prstGeom prst="round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grpSp>
      <p:grpSp>
        <p:nvGrpSpPr>
          <p:cNvPr id="5276" name="Group 5275">
            <a:extLst>
              <a:ext uri="{FF2B5EF4-FFF2-40B4-BE49-F238E27FC236}">
                <a16:creationId xmlns:a16="http://schemas.microsoft.com/office/drawing/2014/main" id="{A47B358C-5809-F52B-88AA-FF45ABA526FC}"/>
              </a:ext>
            </a:extLst>
          </p:cNvPr>
          <p:cNvGrpSpPr/>
          <p:nvPr/>
        </p:nvGrpSpPr>
        <p:grpSpPr>
          <a:xfrm>
            <a:off x="2767248" y="4199178"/>
            <a:ext cx="2380488" cy="1727603"/>
            <a:chOff x="2767248" y="4199178"/>
            <a:chExt cx="2380488" cy="1727603"/>
          </a:xfrm>
        </p:grpSpPr>
        <p:grpSp>
          <p:nvGrpSpPr>
            <p:cNvPr id="5254" name="Group 5253">
              <a:extLst>
                <a:ext uri="{FF2B5EF4-FFF2-40B4-BE49-F238E27FC236}">
                  <a16:creationId xmlns:a16="http://schemas.microsoft.com/office/drawing/2014/main" id="{41C13ADE-A052-A5E6-A99C-529C5A162B86}"/>
                </a:ext>
              </a:extLst>
            </p:cNvPr>
            <p:cNvGrpSpPr/>
            <p:nvPr/>
          </p:nvGrpSpPr>
          <p:grpSpPr>
            <a:xfrm>
              <a:off x="2767248" y="4199178"/>
              <a:ext cx="2380488" cy="1727603"/>
              <a:chOff x="7920837" y="1403287"/>
              <a:chExt cx="2380488" cy="1727603"/>
            </a:xfrm>
          </p:grpSpPr>
          <p:sp>
            <p:nvSpPr>
              <p:cNvPr id="5255" name="TextBox 5254">
                <a:extLst>
                  <a:ext uri="{FF2B5EF4-FFF2-40B4-BE49-F238E27FC236}">
                    <a16:creationId xmlns:a16="http://schemas.microsoft.com/office/drawing/2014/main" id="{621D867E-371F-BFD1-ED4E-E5C75F45CB08}"/>
                  </a:ext>
                </a:extLst>
              </p:cNvPr>
              <p:cNvSpPr txBox="1"/>
              <p:nvPr/>
            </p:nvSpPr>
            <p:spPr>
              <a:xfrm>
                <a:off x="8843678" y="1403287"/>
                <a:ext cx="478016" cy="369332"/>
              </a:xfrm>
              <a:prstGeom prst="rect">
                <a:avLst/>
              </a:prstGeom>
              <a:noFill/>
            </p:spPr>
            <p:txBody>
              <a:bodyPr wrap="none" rtlCol="0">
                <a:spAutoFit/>
              </a:bodyPr>
              <a:lstStyle/>
              <a:p>
                <a:r>
                  <a:rPr lang="en-GB" dirty="0"/>
                  <a:t>PC</a:t>
                </a:r>
              </a:p>
            </p:txBody>
          </p:sp>
          <p:sp>
            <p:nvSpPr>
              <p:cNvPr id="5256" name="TextBox 5255">
                <a:extLst>
                  <a:ext uri="{FF2B5EF4-FFF2-40B4-BE49-F238E27FC236}">
                    <a16:creationId xmlns:a16="http://schemas.microsoft.com/office/drawing/2014/main" id="{4F3D793B-5085-7A88-A4B1-615172A28454}"/>
                  </a:ext>
                </a:extLst>
              </p:cNvPr>
              <p:cNvSpPr txBox="1"/>
              <p:nvPr/>
            </p:nvSpPr>
            <p:spPr>
              <a:xfrm>
                <a:off x="7920837" y="2750023"/>
                <a:ext cx="466794" cy="369332"/>
              </a:xfrm>
              <a:prstGeom prst="rect">
                <a:avLst/>
              </a:prstGeom>
              <a:noFill/>
            </p:spPr>
            <p:txBody>
              <a:bodyPr wrap="none" rtlCol="0">
                <a:spAutoFit/>
              </a:bodyPr>
              <a:lstStyle/>
              <a:p>
                <a:r>
                  <a:rPr lang="en-GB" dirty="0"/>
                  <a:t>CF</a:t>
                </a:r>
              </a:p>
            </p:txBody>
          </p:sp>
          <p:sp>
            <p:nvSpPr>
              <p:cNvPr id="5257" name="TextBox 5256">
                <a:extLst>
                  <a:ext uri="{FF2B5EF4-FFF2-40B4-BE49-F238E27FC236}">
                    <a16:creationId xmlns:a16="http://schemas.microsoft.com/office/drawing/2014/main" id="{4CCA7ADB-79E5-46BF-E627-A48309FB1E5A}"/>
                  </a:ext>
                </a:extLst>
              </p:cNvPr>
              <p:cNvSpPr txBox="1"/>
              <p:nvPr/>
            </p:nvSpPr>
            <p:spPr>
              <a:xfrm>
                <a:off x="8766275" y="2756595"/>
                <a:ext cx="667170" cy="369332"/>
              </a:xfrm>
              <a:prstGeom prst="rect">
                <a:avLst/>
              </a:prstGeom>
              <a:noFill/>
            </p:spPr>
            <p:txBody>
              <a:bodyPr wrap="none" rtlCol="0">
                <a:spAutoFit/>
              </a:bodyPr>
              <a:lstStyle/>
              <a:p>
                <a:r>
                  <a:rPr lang="en-GB" dirty="0"/>
                  <a:t>DNC</a:t>
                </a:r>
              </a:p>
            </p:txBody>
          </p:sp>
          <p:sp>
            <p:nvSpPr>
              <p:cNvPr id="5258" name="TextBox 5257">
                <a:extLst>
                  <a:ext uri="{FF2B5EF4-FFF2-40B4-BE49-F238E27FC236}">
                    <a16:creationId xmlns:a16="http://schemas.microsoft.com/office/drawing/2014/main" id="{E7197B14-E4BB-65F6-C0D0-6A4773AFA2A3}"/>
                  </a:ext>
                </a:extLst>
              </p:cNvPr>
              <p:cNvSpPr txBox="1"/>
              <p:nvPr/>
            </p:nvSpPr>
            <p:spPr>
              <a:xfrm>
                <a:off x="9812089" y="2761558"/>
                <a:ext cx="489236" cy="369332"/>
              </a:xfrm>
              <a:prstGeom prst="rect">
                <a:avLst/>
              </a:prstGeom>
              <a:noFill/>
            </p:spPr>
            <p:txBody>
              <a:bodyPr wrap="none" rtlCol="0">
                <a:spAutoFit/>
              </a:bodyPr>
              <a:lstStyle/>
              <a:p>
                <a:r>
                  <a:rPr lang="en-GB" dirty="0"/>
                  <a:t>MF</a:t>
                </a:r>
              </a:p>
            </p:txBody>
          </p:sp>
          <p:sp>
            <p:nvSpPr>
              <p:cNvPr id="5259" name="TextBox 5258">
                <a:extLst>
                  <a:ext uri="{FF2B5EF4-FFF2-40B4-BE49-F238E27FC236}">
                    <a16:creationId xmlns:a16="http://schemas.microsoft.com/office/drawing/2014/main" id="{ACE687C8-8942-D96C-199D-0A0538D61D73}"/>
                  </a:ext>
                </a:extLst>
              </p:cNvPr>
              <p:cNvSpPr txBox="1"/>
              <p:nvPr/>
            </p:nvSpPr>
            <p:spPr>
              <a:xfrm>
                <a:off x="9691787" y="2035689"/>
                <a:ext cx="508473" cy="369332"/>
              </a:xfrm>
              <a:prstGeom prst="rect">
                <a:avLst/>
              </a:prstGeom>
              <a:noFill/>
            </p:spPr>
            <p:txBody>
              <a:bodyPr wrap="none" rtlCol="0">
                <a:spAutoFit/>
              </a:bodyPr>
              <a:lstStyle/>
              <a:p>
                <a:r>
                  <a:rPr lang="en-GB" dirty="0"/>
                  <a:t>GC</a:t>
                </a:r>
              </a:p>
            </p:txBody>
          </p:sp>
          <p:cxnSp>
            <p:nvCxnSpPr>
              <p:cNvPr id="5260" name="Straight Arrow Connector 5259">
                <a:extLst>
                  <a:ext uri="{FF2B5EF4-FFF2-40B4-BE49-F238E27FC236}">
                    <a16:creationId xmlns:a16="http://schemas.microsoft.com/office/drawing/2014/main" id="{510138EE-F9BF-9242-08D4-8CBAB2539C9C}"/>
                  </a:ext>
                </a:extLst>
              </p:cNvPr>
              <p:cNvCxnSpPr>
                <a:cxnSpLocks/>
                <a:stCxn id="5258" idx="0"/>
                <a:endCxn id="5259" idx="2"/>
              </p:cNvCxnSpPr>
              <p:nvPr/>
            </p:nvCxnSpPr>
            <p:spPr>
              <a:xfrm flipH="1" flipV="1">
                <a:off x="9946024" y="2405021"/>
                <a:ext cx="110683" cy="356537"/>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61" name="Straight Arrow Connector 5260">
                <a:extLst>
                  <a:ext uri="{FF2B5EF4-FFF2-40B4-BE49-F238E27FC236}">
                    <a16:creationId xmlns:a16="http://schemas.microsoft.com/office/drawing/2014/main" id="{177B8C33-C175-7490-C446-0DD4CEE1E544}"/>
                  </a:ext>
                </a:extLst>
              </p:cNvPr>
              <p:cNvCxnSpPr>
                <a:cxnSpLocks/>
                <a:stCxn id="5258" idx="1"/>
                <a:endCxn id="5257" idx="3"/>
              </p:cNvCxnSpPr>
              <p:nvPr/>
            </p:nvCxnSpPr>
            <p:spPr>
              <a:xfrm flipH="1" flipV="1">
                <a:off x="9433445" y="2941261"/>
                <a:ext cx="378644" cy="4963"/>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62" name="Straight Arrow Connector 5261">
                <a:extLst>
                  <a:ext uri="{FF2B5EF4-FFF2-40B4-BE49-F238E27FC236}">
                    <a16:creationId xmlns:a16="http://schemas.microsoft.com/office/drawing/2014/main" id="{42332EF6-85AE-D828-555D-AA3598F6A586}"/>
                  </a:ext>
                </a:extLst>
              </p:cNvPr>
              <p:cNvCxnSpPr>
                <a:cxnSpLocks/>
                <a:endCxn id="5257" idx="1"/>
              </p:cNvCxnSpPr>
              <p:nvPr/>
            </p:nvCxnSpPr>
            <p:spPr>
              <a:xfrm flipV="1">
                <a:off x="8387631" y="2941261"/>
                <a:ext cx="378644" cy="310"/>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63" name="Straight Arrow Connector 5262">
                <a:extLst>
                  <a:ext uri="{FF2B5EF4-FFF2-40B4-BE49-F238E27FC236}">
                    <a16:creationId xmlns:a16="http://schemas.microsoft.com/office/drawing/2014/main" id="{A5C72B59-2219-D979-4C06-11D23A622A93}"/>
                  </a:ext>
                </a:extLst>
              </p:cNvPr>
              <p:cNvCxnSpPr>
                <a:cxnSpLocks/>
              </p:cNvCxnSpPr>
              <p:nvPr/>
            </p:nvCxnSpPr>
            <p:spPr>
              <a:xfrm flipV="1">
                <a:off x="8368767" y="1772619"/>
                <a:ext cx="578577" cy="977404"/>
              </a:xfrm>
              <a:prstGeom prst="straightConnector1">
                <a:avLst/>
              </a:prstGeom>
              <a:ln w="19050">
                <a:solidFill>
                  <a:schemeClr val="tx1"/>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5264" name="Connector: Elbow 5263">
                <a:extLst>
                  <a:ext uri="{FF2B5EF4-FFF2-40B4-BE49-F238E27FC236}">
                    <a16:creationId xmlns:a16="http://schemas.microsoft.com/office/drawing/2014/main" id="{0E2C1A2C-FBF2-76B2-BA87-D3D608420DCD}"/>
                  </a:ext>
                </a:extLst>
              </p:cNvPr>
              <p:cNvCxnSpPr>
                <a:stCxn id="5255" idx="3"/>
                <a:endCxn id="5259" idx="0"/>
              </p:cNvCxnSpPr>
              <p:nvPr/>
            </p:nvCxnSpPr>
            <p:spPr>
              <a:xfrm>
                <a:off x="9321694" y="1587953"/>
                <a:ext cx="624330" cy="447736"/>
              </a:xfrm>
              <a:prstGeom prst="bentConnector2">
                <a:avLst/>
              </a:prstGeom>
              <a:ln w="38100">
                <a:solidFill>
                  <a:schemeClr val="tx1"/>
                </a:solidFill>
                <a:prstDash val="solid"/>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65" name="Straight Arrow Connector 5264">
                <a:extLst>
                  <a:ext uri="{FF2B5EF4-FFF2-40B4-BE49-F238E27FC236}">
                    <a16:creationId xmlns:a16="http://schemas.microsoft.com/office/drawing/2014/main" id="{04C59CC7-1FE1-E67B-FE20-C9882084A05C}"/>
                  </a:ext>
                </a:extLst>
              </p:cNvPr>
              <p:cNvCxnSpPr>
                <a:stCxn id="5255" idx="2"/>
                <a:endCxn id="5257" idx="0"/>
              </p:cNvCxnSpPr>
              <p:nvPr/>
            </p:nvCxnSpPr>
            <p:spPr>
              <a:xfrm>
                <a:off x="9082686" y="1772619"/>
                <a:ext cx="17174" cy="983976"/>
              </a:xfrm>
              <a:prstGeom prst="straightConnector1">
                <a:avLst/>
              </a:prstGeom>
              <a:ln w="19050">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5272" name="Oval 5271">
              <a:extLst>
                <a:ext uri="{FF2B5EF4-FFF2-40B4-BE49-F238E27FC236}">
                  <a16:creationId xmlns:a16="http://schemas.microsoft.com/office/drawing/2014/main" id="{2E11AB2A-03BE-39B1-CCDE-1301DCE54574}"/>
                </a:ext>
              </a:extLst>
            </p:cNvPr>
            <p:cNvSpPr/>
            <p:nvPr/>
          </p:nvSpPr>
          <p:spPr>
            <a:xfrm>
              <a:off x="3743310" y="4203832"/>
              <a:ext cx="356188" cy="356188"/>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5273" name="Rectangle: Rounded Corners 5272">
              <a:extLst>
                <a:ext uri="{FF2B5EF4-FFF2-40B4-BE49-F238E27FC236}">
                  <a16:creationId xmlns:a16="http://schemas.microsoft.com/office/drawing/2014/main" id="{D094258E-85A6-0145-038E-C05C2D01C9D6}"/>
                </a:ext>
              </a:extLst>
            </p:cNvPr>
            <p:cNvSpPr/>
            <p:nvPr/>
          </p:nvSpPr>
          <p:spPr>
            <a:xfrm>
              <a:off x="3679399" y="5605147"/>
              <a:ext cx="521837" cy="264009"/>
            </a:xfrm>
            <a:prstGeom prst="round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5274" name="Rectangle: Rounded Corners 5273">
              <a:extLst>
                <a:ext uri="{FF2B5EF4-FFF2-40B4-BE49-F238E27FC236}">
                  <a16:creationId xmlns:a16="http://schemas.microsoft.com/office/drawing/2014/main" id="{8FB46896-C55F-3359-61A1-BCBEF5375229}"/>
                </a:ext>
              </a:extLst>
            </p:cNvPr>
            <p:cNvSpPr/>
            <p:nvPr/>
          </p:nvSpPr>
          <p:spPr>
            <a:xfrm>
              <a:off x="4529384" y="4882098"/>
              <a:ext cx="521837" cy="264009"/>
            </a:xfrm>
            <a:prstGeom prst="round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grpSp>
      <p:sp>
        <p:nvSpPr>
          <p:cNvPr id="3" name="TextBox 2">
            <a:extLst>
              <a:ext uri="{FF2B5EF4-FFF2-40B4-BE49-F238E27FC236}">
                <a16:creationId xmlns:a16="http://schemas.microsoft.com/office/drawing/2014/main" id="{FA3CE2ED-0534-7ECA-06D3-B1634AA4AD22}"/>
              </a:ext>
            </a:extLst>
          </p:cNvPr>
          <p:cNvSpPr txBox="1"/>
          <p:nvPr/>
        </p:nvSpPr>
        <p:spPr>
          <a:xfrm>
            <a:off x="4417908" y="1447827"/>
            <a:ext cx="960263" cy="369332"/>
          </a:xfrm>
          <a:prstGeom prst="rect">
            <a:avLst/>
          </a:prstGeom>
          <a:noFill/>
        </p:spPr>
        <p:txBody>
          <a:bodyPr wrap="non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a:t>
            </a:r>
            <a:r>
              <a:rPr lang="en-GB" dirty="0"/>
              <a:t>Delay</a:t>
            </a:r>
          </a:p>
        </p:txBody>
      </p:sp>
      <p:sp>
        <p:nvSpPr>
          <p:cNvPr id="4" name="TextBox 3">
            <a:extLst>
              <a:ext uri="{FF2B5EF4-FFF2-40B4-BE49-F238E27FC236}">
                <a16:creationId xmlns:a16="http://schemas.microsoft.com/office/drawing/2014/main" id="{AFC4DAF3-ECDA-BDA2-2A95-3E82CCB27A50}"/>
              </a:ext>
            </a:extLst>
          </p:cNvPr>
          <p:cNvSpPr txBox="1"/>
          <p:nvPr/>
        </p:nvSpPr>
        <p:spPr>
          <a:xfrm>
            <a:off x="4320860" y="3965528"/>
            <a:ext cx="960263" cy="369332"/>
          </a:xfrm>
          <a:prstGeom prst="rect">
            <a:avLst/>
          </a:prstGeom>
          <a:noFill/>
        </p:spPr>
        <p:txBody>
          <a:bodyPr wrap="non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a:t>
            </a:r>
            <a:r>
              <a:rPr lang="en-GB" dirty="0"/>
              <a:t>Delay</a:t>
            </a:r>
          </a:p>
        </p:txBody>
      </p:sp>
    </p:spTree>
    <p:extLst>
      <p:ext uri="{BB962C8B-B14F-4D97-AF65-F5344CB8AC3E}">
        <p14:creationId xmlns:p14="http://schemas.microsoft.com/office/powerpoint/2010/main" val="420254064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0BCCD-2B48-5DFE-E4F6-C767E340BD20}"/>
              </a:ext>
            </a:extLst>
          </p:cNvPr>
          <p:cNvSpPr>
            <a:spLocks noGrp="1"/>
          </p:cNvSpPr>
          <p:nvPr>
            <p:ph type="title"/>
          </p:nvPr>
        </p:nvSpPr>
        <p:spPr/>
        <p:txBody>
          <a:bodyPr/>
          <a:lstStyle/>
          <a:p>
            <a:r>
              <a:rPr lang="en-GB" dirty="0"/>
              <a:t>Basic cerebellar processing</a:t>
            </a:r>
          </a:p>
        </p:txBody>
      </p:sp>
      <p:grpSp>
        <p:nvGrpSpPr>
          <p:cNvPr id="8" name="Group 7">
            <a:extLst>
              <a:ext uri="{FF2B5EF4-FFF2-40B4-BE49-F238E27FC236}">
                <a16:creationId xmlns:a16="http://schemas.microsoft.com/office/drawing/2014/main" id="{0B7AE3D6-48BC-0628-BBFF-E509367EBA50}"/>
              </a:ext>
            </a:extLst>
          </p:cNvPr>
          <p:cNvGrpSpPr/>
          <p:nvPr/>
        </p:nvGrpSpPr>
        <p:grpSpPr>
          <a:xfrm>
            <a:off x="1913136" y="1626178"/>
            <a:ext cx="2928174" cy="1506411"/>
            <a:chOff x="1913136" y="1626178"/>
            <a:chExt cx="2928174" cy="1506411"/>
          </a:xfrm>
        </p:grpSpPr>
        <p:sp>
          <p:nvSpPr>
            <p:cNvPr id="140" name="Rectangle: Rounded Corners 139">
              <a:extLst>
                <a:ext uri="{FF2B5EF4-FFF2-40B4-BE49-F238E27FC236}">
                  <a16:creationId xmlns:a16="http://schemas.microsoft.com/office/drawing/2014/main" id="{357813CE-EC24-0A5F-AD89-7EB2A8193282}"/>
                </a:ext>
              </a:extLst>
            </p:cNvPr>
            <p:cNvSpPr/>
            <p:nvPr/>
          </p:nvSpPr>
          <p:spPr>
            <a:xfrm>
              <a:off x="2235715" y="1626178"/>
              <a:ext cx="2278614" cy="8600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Movement begins</a:t>
              </a:r>
            </a:p>
          </p:txBody>
        </p:sp>
        <p:sp>
          <p:nvSpPr>
            <p:cNvPr id="142" name="TextBox 141">
              <a:extLst>
                <a:ext uri="{FF2B5EF4-FFF2-40B4-BE49-F238E27FC236}">
                  <a16:creationId xmlns:a16="http://schemas.microsoft.com/office/drawing/2014/main" id="{4FA83DA6-D59B-178A-F230-88C9988933AC}"/>
                </a:ext>
              </a:extLst>
            </p:cNvPr>
            <p:cNvSpPr txBox="1"/>
            <p:nvPr/>
          </p:nvSpPr>
          <p:spPr>
            <a:xfrm>
              <a:off x="1913136" y="2486258"/>
              <a:ext cx="2928174" cy="646331"/>
            </a:xfrm>
            <a:prstGeom prst="rect">
              <a:avLst/>
            </a:prstGeom>
            <a:noFill/>
          </p:spPr>
          <p:txBody>
            <a:bodyPr wrap="none" rtlCol="0">
              <a:spAutoFit/>
            </a:bodyPr>
            <a:lstStyle/>
            <a:p>
              <a:pPr algn="ctr"/>
              <a:r>
                <a:rPr lang="en-GB" dirty="0"/>
                <a:t>Turn </a:t>
              </a:r>
              <a:r>
                <a:rPr lang="en-GB" b="1" dirty="0"/>
                <a:t>on</a:t>
              </a:r>
              <a:r>
                <a:rPr lang="en-GB" dirty="0"/>
                <a:t> agonist muscles</a:t>
              </a:r>
            </a:p>
            <a:p>
              <a:pPr algn="ctr"/>
              <a:r>
                <a:rPr lang="en-GB" dirty="0"/>
                <a:t>Turn </a:t>
              </a:r>
              <a:r>
                <a:rPr lang="en-GB" b="1" dirty="0"/>
                <a:t>off</a:t>
              </a:r>
              <a:r>
                <a:rPr lang="en-GB" dirty="0"/>
                <a:t> antagonist muscles</a:t>
              </a:r>
            </a:p>
          </p:txBody>
        </p:sp>
      </p:grpSp>
      <p:grpSp>
        <p:nvGrpSpPr>
          <p:cNvPr id="7" name="Group 6">
            <a:extLst>
              <a:ext uri="{FF2B5EF4-FFF2-40B4-BE49-F238E27FC236}">
                <a16:creationId xmlns:a16="http://schemas.microsoft.com/office/drawing/2014/main" id="{A39F6496-920E-7769-DD1D-2ECE56F5FFF0}"/>
              </a:ext>
            </a:extLst>
          </p:cNvPr>
          <p:cNvGrpSpPr/>
          <p:nvPr/>
        </p:nvGrpSpPr>
        <p:grpSpPr>
          <a:xfrm>
            <a:off x="6096000" y="1626178"/>
            <a:ext cx="2929777" cy="1506410"/>
            <a:chOff x="6096000" y="1626178"/>
            <a:chExt cx="2929777" cy="1506410"/>
          </a:xfrm>
        </p:grpSpPr>
        <p:sp>
          <p:nvSpPr>
            <p:cNvPr id="141" name="Rectangle: Rounded Corners 140">
              <a:extLst>
                <a:ext uri="{FF2B5EF4-FFF2-40B4-BE49-F238E27FC236}">
                  <a16:creationId xmlns:a16="http://schemas.microsoft.com/office/drawing/2014/main" id="{370A03DD-4893-148F-E223-3A299947C2BC}"/>
                </a:ext>
              </a:extLst>
            </p:cNvPr>
            <p:cNvSpPr/>
            <p:nvPr/>
          </p:nvSpPr>
          <p:spPr>
            <a:xfrm>
              <a:off x="6514793" y="1626178"/>
              <a:ext cx="2092190" cy="8600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Movement ends</a:t>
              </a:r>
            </a:p>
          </p:txBody>
        </p:sp>
        <p:sp>
          <p:nvSpPr>
            <p:cNvPr id="143" name="TextBox 142">
              <a:extLst>
                <a:ext uri="{FF2B5EF4-FFF2-40B4-BE49-F238E27FC236}">
                  <a16:creationId xmlns:a16="http://schemas.microsoft.com/office/drawing/2014/main" id="{88A54066-BE77-1EC4-B61A-BD81CA164C21}"/>
                </a:ext>
              </a:extLst>
            </p:cNvPr>
            <p:cNvSpPr txBox="1"/>
            <p:nvPr/>
          </p:nvSpPr>
          <p:spPr>
            <a:xfrm>
              <a:off x="6096000" y="2486257"/>
              <a:ext cx="2929777" cy="646331"/>
            </a:xfrm>
            <a:prstGeom prst="rect">
              <a:avLst/>
            </a:prstGeom>
            <a:noFill/>
          </p:spPr>
          <p:txBody>
            <a:bodyPr wrap="none" rtlCol="0">
              <a:spAutoFit/>
            </a:bodyPr>
            <a:lstStyle/>
            <a:p>
              <a:pPr algn="ctr"/>
              <a:r>
                <a:rPr lang="en-GB" dirty="0"/>
                <a:t>Turn </a:t>
              </a:r>
              <a:r>
                <a:rPr lang="en-GB" b="1" dirty="0"/>
                <a:t>off</a:t>
              </a:r>
              <a:r>
                <a:rPr lang="en-GB" dirty="0"/>
                <a:t> agonist muscles</a:t>
              </a:r>
            </a:p>
            <a:p>
              <a:pPr algn="ctr"/>
              <a:r>
                <a:rPr lang="en-GB" dirty="0"/>
                <a:t>Turn </a:t>
              </a:r>
              <a:r>
                <a:rPr lang="en-GB" b="1" dirty="0"/>
                <a:t>on</a:t>
              </a:r>
              <a:r>
                <a:rPr lang="en-GB" dirty="0"/>
                <a:t> antagonist muscles</a:t>
              </a:r>
            </a:p>
          </p:txBody>
        </p:sp>
      </p:grpSp>
      <p:cxnSp>
        <p:nvCxnSpPr>
          <p:cNvPr id="145" name="Straight Arrow Connector 144">
            <a:extLst>
              <a:ext uri="{FF2B5EF4-FFF2-40B4-BE49-F238E27FC236}">
                <a16:creationId xmlns:a16="http://schemas.microsoft.com/office/drawing/2014/main" id="{FBEC40C5-EAF3-1A7C-1571-61A914BE56FF}"/>
              </a:ext>
            </a:extLst>
          </p:cNvPr>
          <p:cNvCxnSpPr/>
          <p:nvPr/>
        </p:nvCxnSpPr>
        <p:spPr>
          <a:xfrm>
            <a:off x="4671951" y="2056218"/>
            <a:ext cx="1593409"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23980711-5E94-2244-E465-33A749AFA97E}"/>
              </a:ext>
            </a:extLst>
          </p:cNvPr>
          <p:cNvSpPr txBox="1"/>
          <p:nvPr/>
        </p:nvSpPr>
        <p:spPr>
          <a:xfrm>
            <a:off x="90308" y="1759631"/>
            <a:ext cx="1947136" cy="1200329"/>
          </a:xfrm>
          <a:prstGeom prst="rect">
            <a:avLst/>
          </a:prstGeom>
          <a:noFill/>
        </p:spPr>
        <p:txBody>
          <a:bodyPr wrap="none" rtlCol="0">
            <a:spAutoFit/>
          </a:bodyPr>
          <a:lstStyle/>
          <a:p>
            <a:pPr algn="ctr"/>
            <a:r>
              <a:rPr lang="en-GB" sz="2400" dirty="0">
                <a:solidFill>
                  <a:schemeClr val="bg2">
                    <a:lumMod val="50000"/>
                  </a:schemeClr>
                </a:solidFill>
              </a:rPr>
              <a:t>Motor</a:t>
            </a:r>
          </a:p>
          <a:p>
            <a:pPr algn="ctr"/>
            <a:r>
              <a:rPr lang="en-GB" sz="2400" i="1" dirty="0">
                <a:solidFill>
                  <a:schemeClr val="bg2">
                    <a:lumMod val="50000"/>
                  </a:schemeClr>
                </a:solidFill>
              </a:rPr>
              <a:t>Intermediate </a:t>
            </a:r>
          </a:p>
          <a:p>
            <a:pPr algn="ctr"/>
            <a:r>
              <a:rPr lang="en-GB" sz="2400" i="1" dirty="0">
                <a:solidFill>
                  <a:schemeClr val="bg2">
                    <a:lumMod val="50000"/>
                  </a:schemeClr>
                </a:solidFill>
              </a:rPr>
              <a:t>zone</a:t>
            </a:r>
          </a:p>
        </p:txBody>
      </p:sp>
      <p:cxnSp>
        <p:nvCxnSpPr>
          <p:cNvPr id="5" name="Straight Connector 4">
            <a:extLst>
              <a:ext uri="{FF2B5EF4-FFF2-40B4-BE49-F238E27FC236}">
                <a16:creationId xmlns:a16="http://schemas.microsoft.com/office/drawing/2014/main" id="{6CC8C4D9-3D2B-0457-0C95-F1D87E99AC84}"/>
              </a:ext>
            </a:extLst>
          </p:cNvPr>
          <p:cNvCxnSpPr/>
          <p:nvPr/>
        </p:nvCxnSpPr>
        <p:spPr>
          <a:xfrm>
            <a:off x="601734" y="3675298"/>
            <a:ext cx="11120284" cy="0"/>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F473E85-D4DC-718A-95B1-B7A516A25B38}"/>
              </a:ext>
            </a:extLst>
          </p:cNvPr>
          <p:cNvSpPr txBox="1"/>
          <p:nvPr/>
        </p:nvSpPr>
        <p:spPr>
          <a:xfrm>
            <a:off x="285966" y="4734768"/>
            <a:ext cx="1796069" cy="830997"/>
          </a:xfrm>
          <a:prstGeom prst="rect">
            <a:avLst/>
          </a:prstGeom>
          <a:noFill/>
        </p:spPr>
        <p:txBody>
          <a:bodyPr wrap="none" rtlCol="0">
            <a:spAutoFit/>
          </a:bodyPr>
          <a:lstStyle/>
          <a:p>
            <a:pPr algn="ctr"/>
            <a:r>
              <a:rPr lang="en-GB" sz="2400" dirty="0">
                <a:solidFill>
                  <a:schemeClr val="bg2">
                    <a:lumMod val="50000"/>
                  </a:schemeClr>
                </a:solidFill>
              </a:rPr>
              <a:t>Non-Motor</a:t>
            </a:r>
          </a:p>
          <a:p>
            <a:pPr algn="ctr"/>
            <a:r>
              <a:rPr lang="en-GB" sz="2400" i="1" dirty="0">
                <a:solidFill>
                  <a:schemeClr val="bg2">
                    <a:lumMod val="50000"/>
                  </a:schemeClr>
                </a:solidFill>
              </a:rPr>
              <a:t>Lateral zone</a:t>
            </a:r>
          </a:p>
        </p:txBody>
      </p:sp>
      <p:sp>
        <p:nvSpPr>
          <p:cNvPr id="9" name="TextBox 8">
            <a:extLst>
              <a:ext uri="{FF2B5EF4-FFF2-40B4-BE49-F238E27FC236}">
                <a16:creationId xmlns:a16="http://schemas.microsoft.com/office/drawing/2014/main" id="{BAB43D02-5660-3EB4-CBCA-FE65F4A267ED}"/>
              </a:ext>
            </a:extLst>
          </p:cNvPr>
          <p:cNvSpPr txBox="1"/>
          <p:nvPr/>
        </p:nvSpPr>
        <p:spPr>
          <a:xfrm>
            <a:off x="9275210" y="1626178"/>
            <a:ext cx="2580237" cy="1200329"/>
          </a:xfrm>
          <a:prstGeom prst="rect">
            <a:avLst/>
          </a:prstGeom>
          <a:noFill/>
        </p:spPr>
        <p:txBody>
          <a:bodyPr wrap="square" rtlCol="0">
            <a:spAutoFit/>
          </a:bodyPr>
          <a:lstStyle/>
          <a:p>
            <a:pPr marL="285750" indent="-285750">
              <a:buFont typeface="Arial" panose="020B0604020202020204" pitchFamily="34" charset="0"/>
              <a:buChar char="•"/>
            </a:pPr>
            <a:r>
              <a:rPr lang="en-GB" dirty="0"/>
              <a:t>Prevent overshooting movements</a:t>
            </a:r>
          </a:p>
          <a:p>
            <a:pPr marL="285750" indent="-285750">
              <a:buFont typeface="Arial" panose="020B0604020202020204" pitchFamily="34" charset="0"/>
              <a:buChar char="•"/>
            </a:pPr>
            <a:r>
              <a:rPr lang="en-GB" dirty="0"/>
              <a:t>Refine ballistic movements</a:t>
            </a:r>
          </a:p>
        </p:txBody>
      </p:sp>
      <p:grpSp>
        <p:nvGrpSpPr>
          <p:cNvPr id="14" name="Group 13">
            <a:extLst>
              <a:ext uri="{FF2B5EF4-FFF2-40B4-BE49-F238E27FC236}">
                <a16:creationId xmlns:a16="http://schemas.microsoft.com/office/drawing/2014/main" id="{DAC52699-9C41-80AB-27FF-5ABD9D976CC1}"/>
              </a:ext>
            </a:extLst>
          </p:cNvPr>
          <p:cNvGrpSpPr/>
          <p:nvPr/>
        </p:nvGrpSpPr>
        <p:grpSpPr>
          <a:xfrm>
            <a:off x="2652665" y="4498672"/>
            <a:ext cx="3862128" cy="1303187"/>
            <a:chOff x="2652665" y="3804867"/>
            <a:chExt cx="3862128" cy="1303187"/>
          </a:xfrm>
        </p:grpSpPr>
        <p:sp>
          <p:nvSpPr>
            <p:cNvPr id="10" name="Rectangle: Rounded Corners 9">
              <a:extLst>
                <a:ext uri="{FF2B5EF4-FFF2-40B4-BE49-F238E27FC236}">
                  <a16:creationId xmlns:a16="http://schemas.microsoft.com/office/drawing/2014/main" id="{D9163ABA-1EB0-7598-1555-D9A3300FE27A}"/>
                </a:ext>
              </a:extLst>
            </p:cNvPr>
            <p:cNvSpPr/>
            <p:nvPr/>
          </p:nvSpPr>
          <p:spPr>
            <a:xfrm>
              <a:off x="2652665" y="4092166"/>
              <a:ext cx="1584357" cy="6595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Cerebellum</a:t>
              </a:r>
            </a:p>
          </p:txBody>
        </p:sp>
        <p:sp>
          <p:nvSpPr>
            <p:cNvPr id="11" name="Rectangle: Rounded Corners 10">
              <a:extLst>
                <a:ext uri="{FF2B5EF4-FFF2-40B4-BE49-F238E27FC236}">
                  <a16:creationId xmlns:a16="http://schemas.microsoft.com/office/drawing/2014/main" id="{3301F9D2-CB2C-9BC9-F7E2-CC98A0AAD903}"/>
                </a:ext>
              </a:extLst>
            </p:cNvPr>
            <p:cNvSpPr/>
            <p:nvPr/>
          </p:nvSpPr>
          <p:spPr>
            <a:xfrm>
              <a:off x="4930436" y="4075266"/>
              <a:ext cx="1584357" cy="6595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Cortex</a:t>
              </a:r>
            </a:p>
          </p:txBody>
        </p:sp>
        <p:sp>
          <p:nvSpPr>
            <p:cNvPr id="12" name="Arc 11">
              <a:extLst>
                <a:ext uri="{FF2B5EF4-FFF2-40B4-BE49-F238E27FC236}">
                  <a16:creationId xmlns:a16="http://schemas.microsoft.com/office/drawing/2014/main" id="{347AEF3C-A22E-2DE4-C34E-B54F9D9EF4A5}"/>
                </a:ext>
              </a:extLst>
            </p:cNvPr>
            <p:cNvSpPr/>
            <p:nvPr/>
          </p:nvSpPr>
          <p:spPr>
            <a:xfrm rot="19407998">
              <a:off x="3858354" y="3940125"/>
              <a:ext cx="1311949" cy="1167929"/>
            </a:xfrm>
            <a:prstGeom prst="arc">
              <a:avLst>
                <a:gd name="adj1" fmla="val 16200000"/>
                <a:gd name="adj2" fmla="val 21011025"/>
              </a:avLst>
            </a:prstGeom>
            <a:ln w="381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3" name="Arc 12">
              <a:extLst>
                <a:ext uri="{FF2B5EF4-FFF2-40B4-BE49-F238E27FC236}">
                  <a16:creationId xmlns:a16="http://schemas.microsoft.com/office/drawing/2014/main" id="{91012CA5-F4E9-5289-90D6-2DB61F3B2BA4}"/>
                </a:ext>
              </a:extLst>
            </p:cNvPr>
            <p:cNvSpPr/>
            <p:nvPr/>
          </p:nvSpPr>
          <p:spPr>
            <a:xfrm rot="8789644">
              <a:off x="4002534" y="3804867"/>
              <a:ext cx="1311949" cy="1167929"/>
            </a:xfrm>
            <a:prstGeom prst="arc">
              <a:avLst>
                <a:gd name="adj1" fmla="val 16200000"/>
                <a:gd name="adj2" fmla="val 21011025"/>
              </a:avLst>
            </a:prstGeom>
            <a:ln w="381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grpSp>
      <p:sp>
        <p:nvSpPr>
          <p:cNvPr id="15" name="TextBox 14">
            <a:extLst>
              <a:ext uri="{FF2B5EF4-FFF2-40B4-BE49-F238E27FC236}">
                <a16:creationId xmlns:a16="http://schemas.microsoft.com/office/drawing/2014/main" id="{EAE4BD9F-66D6-ABE9-FD4A-C5BF4C0DA449}"/>
              </a:ext>
            </a:extLst>
          </p:cNvPr>
          <p:cNvSpPr txBox="1"/>
          <p:nvPr/>
        </p:nvSpPr>
        <p:spPr>
          <a:xfrm>
            <a:off x="7982068" y="4202231"/>
            <a:ext cx="3873379" cy="2031325"/>
          </a:xfrm>
          <a:prstGeom prst="rect">
            <a:avLst/>
          </a:prstGeom>
          <a:noFill/>
        </p:spPr>
        <p:txBody>
          <a:bodyPr wrap="square" rtlCol="0">
            <a:spAutoFit/>
          </a:bodyPr>
          <a:lstStyle/>
          <a:p>
            <a:pPr marL="285750" indent="-285750">
              <a:buFont typeface="Arial" panose="020B0604020202020204" pitchFamily="34" charset="0"/>
              <a:buChar char="•"/>
            </a:pPr>
            <a:r>
              <a:rPr lang="en-GB" dirty="0"/>
              <a:t>Planning and coordination of complex actions, including speech</a:t>
            </a:r>
          </a:p>
          <a:p>
            <a:pPr marL="285750" indent="-285750">
              <a:buFont typeface="Arial" panose="020B0604020202020204" pitchFamily="34" charset="0"/>
              <a:buChar char="•"/>
            </a:pPr>
            <a:r>
              <a:rPr lang="en-GB" dirty="0"/>
              <a:t>Planning and timing of sequential actions</a:t>
            </a:r>
          </a:p>
          <a:p>
            <a:pPr marL="285750" indent="-285750">
              <a:buFont typeface="Arial" panose="020B0604020202020204" pitchFamily="34" charset="0"/>
              <a:buChar char="•"/>
            </a:pPr>
            <a:r>
              <a:rPr lang="en-GB" dirty="0"/>
              <a:t>Prediction of progression of auditory and visual inputs</a:t>
            </a:r>
          </a:p>
        </p:txBody>
      </p:sp>
    </p:spTree>
    <p:extLst>
      <p:ext uri="{BB962C8B-B14F-4D97-AF65-F5344CB8AC3E}">
        <p14:creationId xmlns:p14="http://schemas.microsoft.com/office/powerpoint/2010/main" val="244990606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BB87F-A8A9-275F-FA47-123427A21BBB}"/>
              </a:ext>
            </a:extLst>
          </p:cNvPr>
          <p:cNvSpPr>
            <a:spLocks noGrp="1"/>
          </p:cNvSpPr>
          <p:nvPr>
            <p:ph type="title"/>
          </p:nvPr>
        </p:nvSpPr>
        <p:spPr/>
        <p:txBody>
          <a:bodyPr/>
          <a:lstStyle/>
          <a:p>
            <a:r>
              <a:rPr lang="en-GB" dirty="0"/>
              <a:t>Cerebellar disfunction</a:t>
            </a:r>
          </a:p>
        </p:txBody>
      </p:sp>
      <p:sp>
        <p:nvSpPr>
          <p:cNvPr id="3" name="Content Placeholder 2">
            <a:extLst>
              <a:ext uri="{FF2B5EF4-FFF2-40B4-BE49-F238E27FC236}">
                <a16:creationId xmlns:a16="http://schemas.microsoft.com/office/drawing/2014/main" id="{65EE190D-68FA-9BFC-C33A-365DA778F2E4}"/>
              </a:ext>
            </a:extLst>
          </p:cNvPr>
          <p:cNvSpPr>
            <a:spLocks noGrp="1"/>
          </p:cNvSpPr>
          <p:nvPr>
            <p:ph idx="1"/>
          </p:nvPr>
        </p:nvSpPr>
        <p:spPr>
          <a:xfrm>
            <a:off x="285750" y="1253331"/>
            <a:ext cx="6332334" cy="5195094"/>
          </a:xfrm>
        </p:spPr>
        <p:txBody>
          <a:bodyPr>
            <a:normAutofit/>
          </a:bodyPr>
          <a:lstStyle/>
          <a:p>
            <a:r>
              <a:rPr lang="en-GB" dirty="0"/>
              <a:t>Often damage to deep cerebellar nuclei</a:t>
            </a:r>
          </a:p>
          <a:p>
            <a:r>
              <a:rPr lang="en-GB" dirty="0"/>
              <a:t>Dysmetria  and ataxia</a:t>
            </a:r>
          </a:p>
          <a:p>
            <a:pPr lvl="1"/>
            <a:r>
              <a:rPr lang="en-GB" dirty="0"/>
              <a:t>Inability to predict extent of movements </a:t>
            </a:r>
            <a:r>
              <a:rPr lang="en-GB" dirty="0">
                <a:sym typeface="Wingdings" panose="05000000000000000000" pitchFamily="2" charset="2"/>
              </a:rPr>
              <a:t> </a:t>
            </a:r>
            <a:r>
              <a:rPr lang="en-GB" b="1" dirty="0">
                <a:sym typeface="Wingdings" panose="05000000000000000000" pitchFamily="2" charset="2"/>
              </a:rPr>
              <a:t>Dysmetria</a:t>
            </a:r>
            <a:endParaRPr lang="en-GB" b="1" dirty="0"/>
          </a:p>
          <a:p>
            <a:pPr lvl="1"/>
            <a:r>
              <a:rPr lang="en-GB" dirty="0"/>
              <a:t>Overshooting of movements and overcompensation of opposite movements </a:t>
            </a:r>
            <a:r>
              <a:rPr lang="en-GB" dirty="0">
                <a:sym typeface="Wingdings" panose="05000000000000000000" pitchFamily="2" charset="2"/>
              </a:rPr>
              <a:t> </a:t>
            </a:r>
            <a:r>
              <a:rPr lang="en-GB" b="1" dirty="0">
                <a:sym typeface="Wingdings" panose="05000000000000000000" pitchFamily="2" charset="2"/>
              </a:rPr>
              <a:t>Ataxia</a:t>
            </a:r>
          </a:p>
          <a:p>
            <a:pPr lvl="1"/>
            <a:r>
              <a:rPr lang="en-GB" dirty="0">
                <a:sym typeface="Wingdings" panose="05000000000000000000" pitchFamily="2" charset="2"/>
              </a:rPr>
              <a:t>Can also be caused by lesion of spinocerebellar tracts</a:t>
            </a:r>
          </a:p>
          <a:p>
            <a:r>
              <a:rPr lang="en-GB" dirty="0">
                <a:sym typeface="Wingdings" panose="05000000000000000000" pitchFamily="2" charset="2"/>
              </a:rPr>
              <a:t>Inability to perform rapid movement sequences  </a:t>
            </a:r>
            <a:r>
              <a:rPr lang="en-GB" b="1" dirty="0">
                <a:sym typeface="Wingdings" panose="05000000000000000000" pitchFamily="2" charset="2"/>
              </a:rPr>
              <a:t>Dysdiadochokinesia</a:t>
            </a:r>
          </a:p>
          <a:p>
            <a:r>
              <a:rPr lang="en-GB" dirty="0"/>
              <a:t>Difficulties in talking </a:t>
            </a:r>
            <a:r>
              <a:rPr lang="en-GB" dirty="0">
                <a:sym typeface="Wingdings" panose="05000000000000000000" pitchFamily="2" charset="2"/>
              </a:rPr>
              <a:t> Dysarthria</a:t>
            </a:r>
          </a:p>
          <a:p>
            <a:r>
              <a:rPr lang="en-GB" dirty="0"/>
              <a:t>Inability to fix eyes in one spot </a:t>
            </a:r>
            <a:r>
              <a:rPr lang="en-GB" dirty="0">
                <a:sym typeface="Wingdings" panose="05000000000000000000" pitchFamily="2" charset="2"/>
              </a:rPr>
              <a:t> </a:t>
            </a:r>
            <a:r>
              <a:rPr lang="en-GB" b="1" dirty="0">
                <a:sym typeface="Wingdings" panose="05000000000000000000" pitchFamily="2" charset="2"/>
              </a:rPr>
              <a:t>Cerebellar nystagmus </a:t>
            </a:r>
          </a:p>
          <a:p>
            <a:r>
              <a:rPr lang="en-GB" dirty="0">
                <a:sym typeface="Wingdings" panose="05000000000000000000" pitchFamily="2" charset="2"/>
              </a:rPr>
              <a:t>Loss of muscular tone  </a:t>
            </a:r>
            <a:r>
              <a:rPr lang="en-GB" b="1" dirty="0">
                <a:sym typeface="Wingdings" panose="05000000000000000000" pitchFamily="2" charset="2"/>
              </a:rPr>
              <a:t>Hypotonia</a:t>
            </a:r>
            <a:endParaRPr lang="en-GB" dirty="0">
              <a:sym typeface="Wingdings" panose="05000000000000000000" pitchFamily="2" charset="2"/>
            </a:endParaRPr>
          </a:p>
          <a:p>
            <a:endParaRPr lang="en-GB" dirty="0"/>
          </a:p>
        </p:txBody>
      </p:sp>
      <p:pic>
        <p:nvPicPr>
          <p:cNvPr id="4" name="Online Media 3" title="Four Examples of Ataxia | NEJM">
            <a:hlinkClick r:id="" action="ppaction://media"/>
            <a:extLst>
              <a:ext uri="{FF2B5EF4-FFF2-40B4-BE49-F238E27FC236}">
                <a16:creationId xmlns:a16="http://schemas.microsoft.com/office/drawing/2014/main" id="{CABD60CF-1EA1-9ED5-D34D-99D0E1A02231}"/>
              </a:ext>
            </a:extLst>
          </p:cNvPr>
          <p:cNvPicPr>
            <a:picLocks noRot="1" noChangeAspect="1"/>
          </p:cNvPicPr>
          <p:nvPr>
            <a:videoFile r:link="rId1"/>
          </p:nvPr>
        </p:nvPicPr>
        <p:blipFill>
          <a:blip r:embed="rId4"/>
          <a:stretch>
            <a:fillRect/>
          </a:stretch>
        </p:blipFill>
        <p:spPr>
          <a:xfrm>
            <a:off x="6749456" y="1814014"/>
            <a:ext cx="4944801" cy="3708600"/>
          </a:xfrm>
          <a:prstGeom prst="rect">
            <a:avLst/>
          </a:prstGeom>
        </p:spPr>
      </p:pic>
    </p:spTree>
    <p:extLst>
      <p:ext uri="{BB962C8B-B14F-4D97-AF65-F5344CB8AC3E}">
        <p14:creationId xmlns:p14="http://schemas.microsoft.com/office/powerpoint/2010/main" val="276696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8B5B55-F0E6-558D-0A03-D143B6DECFD5}"/>
              </a:ext>
            </a:extLst>
          </p:cNvPr>
          <p:cNvPicPr>
            <a:picLocks noChangeAspect="1"/>
          </p:cNvPicPr>
          <p:nvPr/>
        </p:nvPicPr>
        <p:blipFill>
          <a:blip r:embed="rId2"/>
          <a:stretch>
            <a:fillRect/>
          </a:stretch>
        </p:blipFill>
        <p:spPr>
          <a:xfrm>
            <a:off x="9487037" y="237370"/>
            <a:ext cx="2467926" cy="3129280"/>
          </a:xfrm>
          <a:prstGeom prst="rect">
            <a:avLst/>
          </a:prstGeom>
        </p:spPr>
      </p:pic>
      <p:pic>
        <p:nvPicPr>
          <p:cNvPr id="6" name="Picture 5">
            <a:extLst>
              <a:ext uri="{FF2B5EF4-FFF2-40B4-BE49-F238E27FC236}">
                <a16:creationId xmlns:a16="http://schemas.microsoft.com/office/drawing/2014/main" id="{DDE92F1D-B39A-3640-2CA8-BA257769EA94}"/>
              </a:ext>
            </a:extLst>
          </p:cNvPr>
          <p:cNvPicPr>
            <a:picLocks noChangeAspect="1"/>
          </p:cNvPicPr>
          <p:nvPr/>
        </p:nvPicPr>
        <p:blipFill>
          <a:blip r:embed="rId3"/>
          <a:stretch>
            <a:fillRect/>
          </a:stretch>
        </p:blipFill>
        <p:spPr>
          <a:xfrm>
            <a:off x="6952820" y="3491351"/>
            <a:ext cx="2456604" cy="3114924"/>
          </a:xfrm>
          <a:prstGeom prst="rect">
            <a:avLst/>
          </a:prstGeom>
        </p:spPr>
      </p:pic>
      <p:pic>
        <p:nvPicPr>
          <p:cNvPr id="7" name="Picture 6">
            <a:extLst>
              <a:ext uri="{FF2B5EF4-FFF2-40B4-BE49-F238E27FC236}">
                <a16:creationId xmlns:a16="http://schemas.microsoft.com/office/drawing/2014/main" id="{C352318D-2861-BC79-C0CF-D12053462778}"/>
              </a:ext>
            </a:extLst>
          </p:cNvPr>
          <p:cNvPicPr>
            <a:picLocks noChangeAspect="1"/>
          </p:cNvPicPr>
          <p:nvPr/>
        </p:nvPicPr>
        <p:blipFill>
          <a:blip r:embed="rId4"/>
          <a:stretch>
            <a:fillRect/>
          </a:stretch>
        </p:blipFill>
        <p:spPr>
          <a:xfrm>
            <a:off x="6952820" y="237370"/>
            <a:ext cx="2456604" cy="3129280"/>
          </a:xfrm>
          <a:prstGeom prst="rect">
            <a:avLst/>
          </a:prstGeom>
        </p:spPr>
      </p:pic>
      <p:pic>
        <p:nvPicPr>
          <p:cNvPr id="9" name="Picture 8">
            <a:extLst>
              <a:ext uri="{FF2B5EF4-FFF2-40B4-BE49-F238E27FC236}">
                <a16:creationId xmlns:a16="http://schemas.microsoft.com/office/drawing/2014/main" id="{1B867736-27E3-40BB-D8B1-EB44D0820590}"/>
              </a:ext>
            </a:extLst>
          </p:cNvPr>
          <p:cNvPicPr>
            <a:picLocks noChangeAspect="1"/>
          </p:cNvPicPr>
          <p:nvPr/>
        </p:nvPicPr>
        <p:blipFill>
          <a:blip r:embed="rId5"/>
          <a:stretch>
            <a:fillRect/>
          </a:stretch>
        </p:blipFill>
        <p:spPr>
          <a:xfrm>
            <a:off x="9510111" y="3491351"/>
            <a:ext cx="2444852" cy="3114924"/>
          </a:xfrm>
          <a:prstGeom prst="rect">
            <a:avLst/>
          </a:prstGeom>
        </p:spPr>
      </p:pic>
      <p:sp>
        <p:nvSpPr>
          <p:cNvPr id="10" name="TextBox 9">
            <a:extLst>
              <a:ext uri="{FF2B5EF4-FFF2-40B4-BE49-F238E27FC236}">
                <a16:creationId xmlns:a16="http://schemas.microsoft.com/office/drawing/2014/main" id="{09E3912C-34D7-83FD-B297-8CCCD76B201E}"/>
              </a:ext>
            </a:extLst>
          </p:cNvPr>
          <p:cNvSpPr txBox="1"/>
          <p:nvPr/>
        </p:nvSpPr>
        <p:spPr>
          <a:xfrm>
            <a:off x="972717" y="5671090"/>
            <a:ext cx="4436315" cy="646331"/>
          </a:xfrm>
          <a:prstGeom prst="rect">
            <a:avLst/>
          </a:prstGeom>
          <a:solidFill>
            <a:schemeClr val="tx2">
              <a:lumMod val="25000"/>
              <a:lumOff val="75000"/>
            </a:schemeClr>
          </a:solidFill>
        </p:spPr>
        <p:txBody>
          <a:bodyPr wrap="square" rtlCol="0">
            <a:spAutoFit/>
          </a:bodyPr>
          <a:lstStyle/>
          <a:p>
            <a:pPr algn="ctr"/>
            <a:r>
              <a:rPr lang="en-GB" dirty="0"/>
              <a:t>Contact:</a:t>
            </a:r>
            <a:br>
              <a:rPr lang="en-GB" dirty="0"/>
            </a:br>
            <a:r>
              <a:rPr lang="en-GB" b="1" dirty="0"/>
              <a:t>vm491@cam.ac.uk</a:t>
            </a:r>
          </a:p>
        </p:txBody>
      </p:sp>
      <p:sp>
        <p:nvSpPr>
          <p:cNvPr id="2" name="Title 1">
            <a:extLst>
              <a:ext uri="{FF2B5EF4-FFF2-40B4-BE49-F238E27FC236}">
                <a16:creationId xmlns:a16="http://schemas.microsoft.com/office/drawing/2014/main" id="{4D3533D0-DEC1-47C5-C946-6CF16A8E3A48}"/>
              </a:ext>
            </a:extLst>
          </p:cNvPr>
          <p:cNvSpPr>
            <a:spLocks noGrp="1"/>
          </p:cNvSpPr>
          <p:nvPr>
            <p:ph type="title"/>
          </p:nvPr>
        </p:nvSpPr>
        <p:spPr/>
        <p:txBody>
          <a:bodyPr/>
          <a:lstStyle/>
          <a:p>
            <a:r>
              <a:rPr lang="en-GB" dirty="0"/>
              <a:t>Questions?</a:t>
            </a:r>
          </a:p>
        </p:txBody>
      </p:sp>
      <p:sp>
        <p:nvSpPr>
          <p:cNvPr id="3" name="Content Placeholder 2">
            <a:extLst>
              <a:ext uri="{FF2B5EF4-FFF2-40B4-BE49-F238E27FC236}">
                <a16:creationId xmlns:a16="http://schemas.microsoft.com/office/drawing/2014/main" id="{4C76096B-7B8D-5C71-D1AD-2E82B874076B}"/>
              </a:ext>
            </a:extLst>
          </p:cNvPr>
          <p:cNvSpPr>
            <a:spLocks noGrp="1"/>
          </p:cNvSpPr>
          <p:nvPr>
            <p:ph idx="1"/>
          </p:nvPr>
        </p:nvSpPr>
        <p:spPr>
          <a:xfrm>
            <a:off x="285750" y="1253331"/>
            <a:ext cx="5810250" cy="4269283"/>
          </a:xfrm>
        </p:spPr>
        <p:txBody>
          <a:bodyPr/>
          <a:lstStyle/>
          <a:p>
            <a:r>
              <a:rPr lang="en-GB" dirty="0"/>
              <a:t>Specific reading:</a:t>
            </a:r>
          </a:p>
          <a:p>
            <a:pPr lvl="1"/>
            <a:r>
              <a:rPr lang="en-GB" b="1" dirty="0"/>
              <a:t>Clinical Neuroanatomy</a:t>
            </a:r>
            <a:r>
              <a:rPr lang="en-GB" dirty="0"/>
              <a:t>, </a:t>
            </a:r>
            <a:r>
              <a:rPr lang="en-GB" sz="1400" dirty="0">
                <a:latin typeface="Myriad-Roman"/>
              </a:rPr>
              <a:t>Hans J. ten </a:t>
            </a:r>
            <a:r>
              <a:rPr lang="en-GB" sz="1400" dirty="0" err="1">
                <a:latin typeface="Myriad-Roman"/>
              </a:rPr>
              <a:t>Donkelaar</a:t>
            </a:r>
            <a:r>
              <a:rPr lang="en-GB" sz="1400" dirty="0">
                <a:latin typeface="Myriad-Roman"/>
              </a:rPr>
              <a:t>, ISBN 978-3-642-19133-6</a:t>
            </a:r>
          </a:p>
          <a:p>
            <a:pPr lvl="1"/>
            <a:endParaRPr lang="en-GB" dirty="0"/>
          </a:p>
          <a:p>
            <a:pPr lvl="1"/>
            <a:r>
              <a:rPr lang="en-GB" b="1" dirty="0"/>
              <a:t>Clinical Neuroanatomy and Neuroscience</a:t>
            </a:r>
            <a:r>
              <a:rPr lang="en-GB" dirty="0"/>
              <a:t>, </a:t>
            </a:r>
            <a:r>
              <a:rPr lang="en-GB" dirty="0" err="1"/>
              <a:t>Estomih</a:t>
            </a:r>
            <a:r>
              <a:rPr lang="en-GB" dirty="0"/>
              <a:t> </a:t>
            </a:r>
            <a:r>
              <a:rPr lang="en-GB" dirty="0" err="1"/>
              <a:t>Mtui</a:t>
            </a:r>
            <a:r>
              <a:rPr lang="en-GB" dirty="0"/>
              <a:t> &amp; Gregory Gruener &amp; Peter Dockery, ISBN </a:t>
            </a:r>
            <a:r>
              <a:rPr lang="en-GB" dirty="0">
                <a:solidFill>
                  <a:srgbClr val="333333"/>
                </a:solidFill>
                <a:latin typeface="nexussanscompproregular"/>
              </a:rPr>
              <a:t>9780702079092</a:t>
            </a:r>
          </a:p>
          <a:p>
            <a:pPr lvl="1"/>
            <a:endParaRPr lang="en-GB" dirty="0">
              <a:solidFill>
                <a:srgbClr val="333333"/>
              </a:solidFill>
              <a:latin typeface="nexussanscompproregular"/>
            </a:endParaRPr>
          </a:p>
          <a:p>
            <a:pPr lvl="1"/>
            <a:r>
              <a:rPr lang="en-GB" dirty="0"/>
              <a:t>Thomas H. Champney - </a:t>
            </a:r>
            <a:r>
              <a:rPr lang="en-GB" b="1" dirty="0"/>
              <a:t>Essential Clinical Neuroanatomy </a:t>
            </a:r>
            <a:r>
              <a:rPr lang="en-GB" dirty="0"/>
              <a:t>1</a:t>
            </a:r>
            <a:r>
              <a:rPr lang="en-GB" baseline="30000" dirty="0"/>
              <a:t>th</a:t>
            </a:r>
            <a:r>
              <a:rPr lang="en-GB" dirty="0"/>
              <a:t> ed (2016) ISBN: 978-1-118-43993-7</a:t>
            </a:r>
          </a:p>
          <a:p>
            <a:pPr lvl="1"/>
            <a:endParaRPr lang="en-GB" dirty="0"/>
          </a:p>
          <a:p>
            <a:pPr lvl="1"/>
            <a:r>
              <a:rPr lang="en-GB" dirty="0"/>
              <a:t>Guyton and Hall Textbook of Medical Physiology 12</a:t>
            </a:r>
            <a:r>
              <a:rPr lang="en-GB" baseline="30000" dirty="0"/>
              <a:t>th</a:t>
            </a:r>
            <a:r>
              <a:rPr lang="en-GB" dirty="0"/>
              <a:t> ed (2011) ISBN: 978-1-4160-4574-8</a:t>
            </a:r>
          </a:p>
          <a:p>
            <a:pPr lvl="1"/>
            <a:endParaRPr lang="en-GB" dirty="0"/>
          </a:p>
          <a:p>
            <a:endParaRPr lang="en-GB" dirty="0"/>
          </a:p>
        </p:txBody>
      </p:sp>
    </p:spTree>
    <p:extLst>
      <p:ext uri="{BB962C8B-B14F-4D97-AF65-F5344CB8AC3E}">
        <p14:creationId xmlns:p14="http://schemas.microsoft.com/office/powerpoint/2010/main" val="20711553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4358</Words>
  <Application>Microsoft Office PowerPoint</Application>
  <PresentationFormat>Widescreen</PresentationFormat>
  <Paragraphs>994</Paragraphs>
  <Slides>103</Slides>
  <Notes>6</Notes>
  <HiddenSlides>0</HiddenSlides>
  <MMClips>8</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103</vt:i4>
      </vt:variant>
    </vt:vector>
  </HeadingPairs>
  <TitlesOfParts>
    <vt:vector size="121" baseType="lpstr">
      <vt:lpstr>AdvOT1ef757c0</vt:lpstr>
      <vt:lpstr>AdvOT596495f2</vt:lpstr>
      <vt:lpstr>AGaramondPro-Regular</vt:lpstr>
      <vt:lpstr>Aptos</vt:lpstr>
      <vt:lpstr>Aptos Display</vt:lpstr>
      <vt:lpstr>Arial</vt:lpstr>
      <vt:lpstr>BlinkMacSystemFont</vt:lpstr>
      <vt:lpstr>Calibri</vt:lpstr>
      <vt:lpstr>Calibri Light</vt:lpstr>
      <vt:lpstr>HelveticaLTStd-Roman</vt:lpstr>
      <vt:lpstr>Myriad-Roman</vt:lpstr>
      <vt:lpstr>NexusSans</vt:lpstr>
      <vt:lpstr>nexussanscompproregular</vt:lpstr>
      <vt:lpstr>Open Sans</vt:lpstr>
      <vt:lpstr>Symbol</vt:lpstr>
      <vt:lpstr>Times-Roman</vt:lpstr>
      <vt:lpstr>Wingdings</vt:lpstr>
      <vt:lpstr>Office Theme</vt:lpstr>
      <vt:lpstr>Basal Ganglia - Brainstem - Cranial Nerves - Cerebellum</vt:lpstr>
      <vt:lpstr>Learning outcomes</vt:lpstr>
      <vt:lpstr>Interpreting tissue sections</vt:lpstr>
      <vt:lpstr>The spinal cord</vt:lpstr>
      <vt:lpstr>Anatomy: thalamus</vt:lpstr>
      <vt:lpstr>The Brain</vt:lpstr>
      <vt:lpstr>Neuronal communication: the neurotransmitter</vt:lpstr>
      <vt:lpstr>Basal ganglia</vt:lpstr>
      <vt:lpstr>Basal Ganglia</vt:lpstr>
      <vt:lpstr>Anatomy</vt:lpstr>
      <vt:lpstr>Anatomy</vt:lpstr>
      <vt:lpstr>Anatomy</vt:lpstr>
      <vt:lpstr>Anatomy</vt:lpstr>
      <vt:lpstr>Anatomy</vt:lpstr>
      <vt:lpstr>Neuronal communication: the neurotransmitter</vt:lpstr>
      <vt:lpstr>Neuronal communication: the neurotransmitter</vt:lpstr>
      <vt:lpstr>Basal ganglia: Input/output</vt:lpstr>
      <vt:lpstr>Basal ganglia: Intrinsic connections</vt:lpstr>
      <vt:lpstr>Basal ganglia: Intrinsic connections</vt:lpstr>
      <vt:lpstr>Corticostriato-pallido-thalamocortical loop</vt:lpstr>
      <vt:lpstr>Corticostriato-pallido-thalamocortical loop</vt:lpstr>
      <vt:lpstr>Neuromodulation within the basal ganglia</vt:lpstr>
      <vt:lpstr>Neuromodulation within the basal ganglia: dopamine</vt:lpstr>
      <vt:lpstr>Neuromodulation within the basal ganglia: dopamine</vt:lpstr>
      <vt:lpstr>Neuromodulation within the basal ganglia: dopamine</vt:lpstr>
      <vt:lpstr>Multiple parallel pathways</vt:lpstr>
      <vt:lpstr>Lesions of the basal ganglia</vt:lpstr>
      <vt:lpstr>Parkinson’s disease</vt:lpstr>
      <vt:lpstr>Parkinson’s disease</vt:lpstr>
      <vt:lpstr>Parkinson’s disease</vt:lpstr>
      <vt:lpstr>Parkinson’s disease: unclear etiology</vt:lpstr>
      <vt:lpstr>Parkinson’s disease: mechanism</vt:lpstr>
      <vt:lpstr>Parkinson’s disease: mechanism</vt:lpstr>
      <vt:lpstr>Treatment</vt:lpstr>
      <vt:lpstr>Treatment</vt:lpstr>
      <vt:lpstr>Treatment</vt:lpstr>
      <vt:lpstr>Failings in current therapies</vt:lpstr>
      <vt:lpstr>Huntington’s Disease (Chorea)</vt:lpstr>
      <vt:lpstr>Huntington’s Disease (Chorea)</vt:lpstr>
      <vt:lpstr>Huntington’s Disease (Chorea)</vt:lpstr>
      <vt:lpstr>Huntington’s Disease (Chorea)</vt:lpstr>
      <vt:lpstr>Huntington’s Disease (Chorea): treatment</vt:lpstr>
      <vt:lpstr>Huntington’s Disease (Chorea): treatment</vt:lpstr>
      <vt:lpstr>Huntington’s Disease (Chorea): treatment</vt:lpstr>
      <vt:lpstr>Brainstem and cranial nerves</vt:lpstr>
      <vt:lpstr>The CNS - Brain</vt:lpstr>
      <vt:lpstr>The brainstem</vt:lpstr>
      <vt:lpstr>The brainstem</vt:lpstr>
      <vt:lpstr>The medulla oblungata</vt:lpstr>
      <vt:lpstr>The medulla oblungata</vt:lpstr>
      <vt:lpstr>The medulla oblungata</vt:lpstr>
      <vt:lpstr>Cranial nerves of the medulla oblungata</vt:lpstr>
      <vt:lpstr>XII - Hypoglossal</vt:lpstr>
      <vt:lpstr>XI - Accessory</vt:lpstr>
      <vt:lpstr>X -  Vagus</vt:lpstr>
      <vt:lpstr>X -  Vagus</vt:lpstr>
      <vt:lpstr>IX - Glossopharyngeal nerve</vt:lpstr>
      <vt:lpstr>Cranial nerves of the medulla</vt:lpstr>
      <vt:lpstr>The pons</vt:lpstr>
      <vt:lpstr>The pons</vt:lpstr>
      <vt:lpstr>The pons</vt:lpstr>
      <vt:lpstr>The pons</vt:lpstr>
      <vt:lpstr>The pons</vt:lpstr>
      <vt:lpstr>Cranial nerves of the pons</vt:lpstr>
      <vt:lpstr>VIII - Vestibulocochlear</vt:lpstr>
      <vt:lpstr>VII - Facial</vt:lpstr>
      <vt:lpstr>VI - Abducens</vt:lpstr>
      <vt:lpstr>V - Trigeminal</vt:lpstr>
      <vt:lpstr>Cranial nerves of the pons</vt:lpstr>
      <vt:lpstr>The midbrain</vt:lpstr>
      <vt:lpstr>The midbrain</vt:lpstr>
      <vt:lpstr>Cranial nerves of the midbrain</vt:lpstr>
      <vt:lpstr>IV - Trochlear</vt:lpstr>
      <vt:lpstr>III - Oculomotor</vt:lpstr>
      <vt:lpstr>Cranial nerves of the midbrain</vt:lpstr>
      <vt:lpstr>Cranial nerves of the brainstem</vt:lpstr>
      <vt:lpstr>The reticular formation and raphe nuclei</vt:lpstr>
      <vt:lpstr>II - Optic </vt:lpstr>
      <vt:lpstr>I - Olfactory</vt:lpstr>
      <vt:lpstr>Cranial nerves</vt:lpstr>
      <vt:lpstr>Cranial nerves and cranial cavity</vt:lpstr>
      <vt:lpstr>Clinical cases</vt:lpstr>
      <vt:lpstr>Clinical cases</vt:lpstr>
      <vt:lpstr>Cerebellum</vt:lpstr>
      <vt:lpstr>The cerebellum refines actions</vt:lpstr>
      <vt:lpstr>Gross cerebellar anatomy</vt:lpstr>
      <vt:lpstr>Different cerebellar areas and functions</vt:lpstr>
      <vt:lpstr>Different cerebellar areas and functions</vt:lpstr>
      <vt:lpstr>Deep cerebellar nuclei </vt:lpstr>
      <vt:lpstr>Cerebellar peduncles: the gateways of the cerebellum</vt:lpstr>
      <vt:lpstr>Cerebellar afferents: brain</vt:lpstr>
      <vt:lpstr>Cerebellar afferents: body</vt:lpstr>
      <vt:lpstr>Cells of the cerebellum</vt:lpstr>
      <vt:lpstr>Neuronal circuitry: Purkinje cells</vt:lpstr>
      <vt:lpstr>Neuronal circuitry </vt:lpstr>
      <vt:lpstr>Neuronal circuitry </vt:lpstr>
      <vt:lpstr>Neuronal circuitry </vt:lpstr>
      <vt:lpstr>Cerebellar efferents</vt:lpstr>
      <vt:lpstr>Cerebellar efferents</vt:lpstr>
      <vt:lpstr>Learning in the cerebellum</vt:lpstr>
      <vt:lpstr>Basic cerebellar processing</vt:lpstr>
      <vt:lpstr>Cerebellar disfunction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Vincenzo Mastrolia</dc:creator>
  <cp:lastModifiedBy>ELVIO MENDES</cp:lastModifiedBy>
  <cp:revision>5</cp:revision>
  <dcterms:created xsi:type="dcterms:W3CDTF">2025-11-01T16:26:58Z</dcterms:created>
  <dcterms:modified xsi:type="dcterms:W3CDTF">2025-11-18T11:17:01Z</dcterms:modified>
</cp:coreProperties>
</file>