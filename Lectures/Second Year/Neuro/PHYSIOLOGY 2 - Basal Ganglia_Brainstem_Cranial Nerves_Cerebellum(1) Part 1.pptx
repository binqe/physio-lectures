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5"/>
  </p:notesMasterIdLst>
  <p:sldIdLst>
    <p:sldId id="687" r:id="rId2"/>
    <p:sldId id="688" r:id="rId3"/>
    <p:sldId id="655" r:id="rId4"/>
    <p:sldId id="278" r:id="rId5"/>
    <p:sldId id="622" r:id="rId6"/>
    <p:sldId id="282" r:id="rId7"/>
    <p:sldId id="689" r:id="rId8"/>
    <p:sldId id="620" r:id="rId9"/>
    <p:sldId id="621" r:id="rId10"/>
    <p:sldId id="362" r:id="rId11"/>
    <p:sldId id="368" r:id="rId12"/>
    <p:sldId id="369" r:id="rId13"/>
    <p:sldId id="370" r:id="rId14"/>
    <p:sldId id="371" r:id="rId15"/>
    <p:sldId id="353" r:id="rId16"/>
    <p:sldId id="645" r:id="rId17"/>
    <p:sldId id="623" r:id="rId18"/>
    <p:sldId id="626" r:id="rId19"/>
    <p:sldId id="627" r:id="rId20"/>
    <p:sldId id="628" r:id="rId21"/>
    <p:sldId id="640" r:id="rId22"/>
    <p:sldId id="646" r:id="rId23"/>
    <p:sldId id="629" r:id="rId24"/>
    <p:sldId id="647" r:id="rId25"/>
    <p:sldId id="648" r:id="rId26"/>
    <p:sldId id="649" r:id="rId27"/>
    <p:sldId id="630" r:id="rId28"/>
    <p:sldId id="354" r:id="rId29"/>
    <p:sldId id="355" r:id="rId30"/>
    <p:sldId id="650" r:id="rId31"/>
    <p:sldId id="361" r:id="rId32"/>
    <p:sldId id="357" r:id="rId33"/>
    <p:sldId id="631" r:id="rId34"/>
    <p:sldId id="358" r:id="rId35"/>
    <p:sldId id="651" r:id="rId36"/>
    <p:sldId id="359" r:id="rId37"/>
    <p:sldId id="641" r:id="rId38"/>
    <p:sldId id="360" r:id="rId39"/>
    <p:sldId id="652" r:id="rId40"/>
    <p:sldId id="633" r:id="rId41"/>
    <p:sldId id="643" r:id="rId42"/>
    <p:sldId id="632" r:id="rId43"/>
    <p:sldId id="644" r:id="rId44"/>
    <p:sldId id="642" r:id="rId45"/>
    <p:sldId id="653" r:id="rId46"/>
    <p:sldId id="654" r:id="rId47"/>
    <p:sldId id="656" r:id="rId48"/>
    <p:sldId id="657" r:id="rId49"/>
    <p:sldId id="658" r:id="rId50"/>
    <p:sldId id="659" r:id="rId51"/>
    <p:sldId id="660" r:id="rId5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78BE8F"/>
    <a:srgbClr val="E8B4B4"/>
    <a:srgbClr val="AFBC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D8614C-30B7-429A-A535-4E23E79AA955}" v="32" dt="2025-11-18T08:17:07.4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420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105" Type="http://schemas.openxmlformats.org/officeDocument/2006/relationships/notesMaster" Target="notesMasters/notesMaster1.xml"/><Relationship Id="rId106" Type="http://schemas.openxmlformats.org/officeDocument/2006/relationships/presProps" Target="presProps.xml"/><Relationship Id="rId107" Type="http://schemas.openxmlformats.org/officeDocument/2006/relationships/viewProps" Target="viewProps.xml"/><Relationship Id="rId108" Type="http://schemas.openxmlformats.org/officeDocument/2006/relationships/theme" Target="theme/theme1.xml"/><Relationship Id="rId109" Type="http://schemas.openxmlformats.org/officeDocument/2006/relationships/tableStyles" Target="tableStyles.xml"/><Relationship Id="rId110" Type="http://schemas.microsoft.com/office/2016/11/relationships/changesInfo" Target="changesInfos/changesInfo1.xml"/><Relationship Id="rId111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ncenzo Mastrolia" userId="9c1b0f1d26c1a45c" providerId="LiveId" clId="{A0E56E0E-8736-43C6-8BBB-B469DBF6B590}"/>
    <pc:docChg chg="undo custSel addSld modSld sldOrd modMainMaster addSection delSection">
      <pc:chgData name="Vincenzo Mastrolia" userId="9c1b0f1d26c1a45c" providerId="LiveId" clId="{A0E56E0E-8736-43C6-8BBB-B469DBF6B590}" dt="2025-11-18T08:17:32.916" v="386" actId="1076"/>
      <pc:docMkLst>
        <pc:docMk/>
      </pc:docMkLst>
      <pc:sldChg chg="addSp delSp modSp">
        <pc:chgData name="Vincenzo Mastrolia" userId="9c1b0f1d26c1a45c" providerId="LiveId" clId="{A0E56E0E-8736-43C6-8BBB-B469DBF6B590}" dt="2025-11-17T14:59:43.818" v="17"/>
        <pc:sldMkLst>
          <pc:docMk/>
          <pc:sldMk cId="1819793181" sldId="256"/>
        </pc:sldMkLst>
        <pc:picChg chg="add mod">
          <ac:chgData name="Vincenzo Mastrolia" userId="9c1b0f1d26c1a45c" providerId="LiveId" clId="{A0E56E0E-8736-43C6-8BBB-B469DBF6B590}" dt="2025-11-17T14:59:43.818" v="17"/>
          <ac:picMkLst>
            <pc:docMk/>
            <pc:sldMk cId="1819793181" sldId="256"/>
            <ac:picMk id="3" creationId="{F5760B75-0339-25CF-5302-1D32ED269DEA}"/>
          </ac:picMkLst>
        </pc:picChg>
        <pc:picChg chg="del">
          <ac:chgData name="Vincenzo Mastrolia" userId="9c1b0f1d26c1a45c" providerId="LiveId" clId="{A0E56E0E-8736-43C6-8BBB-B469DBF6B590}" dt="2025-11-17T14:59:43.388" v="16" actId="478"/>
          <ac:picMkLst>
            <pc:docMk/>
            <pc:sldMk cId="1819793181" sldId="256"/>
            <ac:picMk id="1026" creationId="{CC15B0F7-F45F-4C85-F820-31CB67CAABE1}"/>
          </ac:picMkLst>
        </pc:picChg>
      </pc:sldChg>
      <pc:sldChg chg="addSp modSp mod">
        <pc:chgData name="Vincenzo Mastrolia" userId="9c1b0f1d26c1a45c" providerId="LiveId" clId="{A0E56E0E-8736-43C6-8BBB-B469DBF6B590}" dt="2025-11-18T08:17:32.916" v="386" actId="1076"/>
        <pc:sldMkLst>
          <pc:docMk/>
          <pc:sldMk cId="4102710457" sldId="258"/>
        </pc:sldMkLst>
        <pc:spChg chg="mod">
          <ac:chgData name="Vincenzo Mastrolia" userId="9c1b0f1d26c1a45c" providerId="LiveId" clId="{A0E56E0E-8736-43C6-8BBB-B469DBF6B590}" dt="2025-11-18T08:17:12.193" v="383" actId="1076"/>
          <ac:spMkLst>
            <pc:docMk/>
            <pc:sldMk cId="4102710457" sldId="258"/>
            <ac:spMk id="4" creationId="{2F0E7458-F758-BD35-2C49-2639C41B83E0}"/>
          </ac:spMkLst>
        </pc:spChg>
        <pc:spChg chg="mod">
          <ac:chgData name="Vincenzo Mastrolia" userId="9c1b0f1d26c1a45c" providerId="LiveId" clId="{A0E56E0E-8736-43C6-8BBB-B469DBF6B590}" dt="2025-11-18T08:17:07.476" v="382" actId="571"/>
          <ac:spMkLst>
            <pc:docMk/>
            <pc:sldMk cId="4102710457" sldId="258"/>
            <ac:spMk id="56" creationId="{E289F345-3923-5FFC-46E6-BC2A3F1BB5F3}"/>
          </ac:spMkLst>
        </pc:spChg>
        <pc:spChg chg="mod">
          <ac:chgData name="Vincenzo Mastrolia" userId="9c1b0f1d26c1a45c" providerId="LiveId" clId="{A0E56E0E-8736-43C6-8BBB-B469DBF6B590}" dt="2025-11-18T08:17:07.476" v="382" actId="571"/>
          <ac:spMkLst>
            <pc:docMk/>
            <pc:sldMk cId="4102710457" sldId="258"/>
            <ac:spMk id="59" creationId="{15461B25-EA3D-DB71-98EF-CD453F2BF5FB}"/>
          </ac:spMkLst>
        </pc:spChg>
        <pc:spChg chg="mod">
          <ac:chgData name="Vincenzo Mastrolia" userId="9c1b0f1d26c1a45c" providerId="LiveId" clId="{A0E56E0E-8736-43C6-8BBB-B469DBF6B590}" dt="2025-11-18T08:17:07.476" v="382" actId="571"/>
          <ac:spMkLst>
            <pc:docMk/>
            <pc:sldMk cId="4102710457" sldId="258"/>
            <ac:spMk id="63" creationId="{44EB2ED3-7095-9E24-ACF8-679EA7318550}"/>
          </ac:spMkLst>
        </pc:spChg>
        <pc:spChg chg="mod">
          <ac:chgData name="Vincenzo Mastrolia" userId="9c1b0f1d26c1a45c" providerId="LiveId" clId="{A0E56E0E-8736-43C6-8BBB-B469DBF6B590}" dt="2025-11-18T08:17:07.476" v="382" actId="571"/>
          <ac:spMkLst>
            <pc:docMk/>
            <pc:sldMk cId="4102710457" sldId="258"/>
            <ac:spMk id="67" creationId="{F2B62777-CA63-365C-D10B-B47375EAA64C}"/>
          </ac:spMkLst>
        </pc:spChg>
        <pc:spChg chg="mod">
          <ac:chgData name="Vincenzo Mastrolia" userId="9c1b0f1d26c1a45c" providerId="LiveId" clId="{A0E56E0E-8736-43C6-8BBB-B469DBF6B590}" dt="2025-11-18T08:17:07.476" v="382" actId="571"/>
          <ac:spMkLst>
            <pc:docMk/>
            <pc:sldMk cId="4102710457" sldId="258"/>
            <ac:spMk id="74" creationId="{0D79593E-3B67-63F5-6189-3576ECA90FDA}"/>
          </ac:spMkLst>
        </pc:spChg>
        <pc:spChg chg="mod">
          <ac:chgData name="Vincenzo Mastrolia" userId="9c1b0f1d26c1a45c" providerId="LiveId" clId="{A0E56E0E-8736-43C6-8BBB-B469DBF6B590}" dt="2025-11-18T08:17:07.476" v="382" actId="571"/>
          <ac:spMkLst>
            <pc:docMk/>
            <pc:sldMk cId="4102710457" sldId="258"/>
            <ac:spMk id="86" creationId="{26585B3B-CB0B-6E5B-80E1-9F99D2A5E6B1}"/>
          </ac:spMkLst>
        </pc:spChg>
        <pc:spChg chg="mod">
          <ac:chgData name="Vincenzo Mastrolia" userId="9c1b0f1d26c1a45c" providerId="LiveId" clId="{A0E56E0E-8736-43C6-8BBB-B469DBF6B590}" dt="2025-11-18T08:17:07.476" v="382" actId="571"/>
          <ac:spMkLst>
            <pc:docMk/>
            <pc:sldMk cId="4102710457" sldId="258"/>
            <ac:spMk id="94" creationId="{70536111-19FE-2567-6BDE-9350747A6348}"/>
          </ac:spMkLst>
        </pc:spChg>
        <pc:spChg chg="mod">
          <ac:chgData name="Vincenzo Mastrolia" userId="9c1b0f1d26c1a45c" providerId="LiveId" clId="{A0E56E0E-8736-43C6-8BBB-B469DBF6B590}" dt="2025-11-18T08:17:07.476" v="382" actId="571"/>
          <ac:spMkLst>
            <pc:docMk/>
            <pc:sldMk cId="4102710457" sldId="258"/>
            <ac:spMk id="95" creationId="{E34B2E6B-3C2F-53EB-5912-B6F58042826A}"/>
          </ac:spMkLst>
        </pc:spChg>
        <pc:spChg chg="mod">
          <ac:chgData name="Vincenzo Mastrolia" userId="9c1b0f1d26c1a45c" providerId="LiveId" clId="{A0E56E0E-8736-43C6-8BBB-B469DBF6B590}" dt="2025-11-18T08:17:32.916" v="386" actId="1076"/>
          <ac:spMkLst>
            <pc:docMk/>
            <pc:sldMk cId="4102710457" sldId="258"/>
            <ac:spMk id="97" creationId="{5B52A7E3-C918-F35A-FE8E-E0ABF49EA17F}"/>
          </ac:spMkLst>
        </pc:spChg>
        <pc:spChg chg="mod">
          <ac:chgData name="Vincenzo Mastrolia" userId="9c1b0f1d26c1a45c" providerId="LiveId" clId="{A0E56E0E-8736-43C6-8BBB-B469DBF6B590}" dt="2025-11-18T08:17:21.771" v="385" actId="1076"/>
          <ac:spMkLst>
            <pc:docMk/>
            <pc:sldMk cId="4102710457" sldId="258"/>
            <ac:spMk id="98" creationId="{3E28A863-1937-594B-8DCE-BACB79438C09}"/>
          </ac:spMkLst>
        </pc:spChg>
      </pc:sldChg>
      <pc:sldChg chg="modSp mod">
        <pc:chgData name="Vincenzo Mastrolia" userId="9c1b0f1d26c1a45c" providerId="LiveId" clId="{A0E56E0E-8736-43C6-8BBB-B469DBF6B590}" dt="2025-11-17T15:06:50.404" v="229" actId="27636"/>
        <pc:sldMkLst>
          <pc:docMk/>
          <pc:sldMk cId="276696443" sldId="276"/>
        </pc:sldMkLst>
        <pc:spChg chg="mod">
          <ac:chgData name="Vincenzo Mastrolia" userId="9c1b0f1d26c1a45c" providerId="LiveId" clId="{A0E56E0E-8736-43C6-8BBB-B469DBF6B590}" dt="2025-11-17T15:06:50.404" v="229" actId="27636"/>
          <ac:spMkLst>
            <pc:docMk/>
            <pc:sldMk cId="276696443" sldId="276"/>
            <ac:spMk id="3" creationId="{65EE190D-68FA-9BFC-C33A-365DA778F2E4}"/>
          </ac:spMkLst>
        </pc:spChg>
      </pc:sldChg>
      <pc:sldChg chg="add ord">
        <pc:chgData name="Vincenzo Mastrolia" userId="9c1b0f1d26c1a45c" providerId="LiveId" clId="{A0E56E0E-8736-43C6-8BBB-B469DBF6B590}" dt="2025-11-17T15:09:04.549" v="234"/>
        <pc:sldMkLst>
          <pc:docMk/>
          <pc:sldMk cId="807597747" sldId="278"/>
        </pc:sldMkLst>
      </pc:sldChg>
      <pc:sldChg chg="ord">
        <pc:chgData name="Vincenzo Mastrolia" userId="9c1b0f1d26c1a45c" providerId="LiveId" clId="{A0E56E0E-8736-43C6-8BBB-B469DBF6B590}" dt="2025-11-17T15:09:23.298" v="236"/>
        <pc:sldMkLst>
          <pc:docMk/>
          <pc:sldMk cId="2073630892" sldId="282"/>
        </pc:sldMkLst>
      </pc:sldChg>
      <pc:sldChg chg="delSp modAnim">
        <pc:chgData name="Vincenzo Mastrolia" userId="9c1b0f1d26c1a45c" providerId="LiveId" clId="{A0E56E0E-8736-43C6-8BBB-B469DBF6B590}" dt="2025-11-18T07:30:58.810" v="370" actId="478"/>
        <pc:sldMkLst>
          <pc:docMk/>
          <pc:sldMk cId="2571364044" sldId="353"/>
        </pc:sldMkLst>
        <pc:grpChg chg="del">
          <ac:chgData name="Vincenzo Mastrolia" userId="9c1b0f1d26c1a45c" providerId="LiveId" clId="{A0E56E0E-8736-43C6-8BBB-B469DBF6B590}" dt="2025-11-18T07:30:58.810" v="370" actId="478"/>
          <ac:grpSpMkLst>
            <pc:docMk/>
            <pc:sldMk cId="2571364044" sldId="353"/>
            <ac:grpSpMk id="4" creationId="{BFB0FAB8-9ABC-4B7F-B17A-D7FD41AC5E20}"/>
          </ac:grpSpMkLst>
        </pc:grpChg>
        <pc:grpChg chg="del">
          <ac:chgData name="Vincenzo Mastrolia" userId="9c1b0f1d26c1a45c" providerId="LiveId" clId="{A0E56E0E-8736-43C6-8BBB-B469DBF6B590}" dt="2025-11-18T07:30:58.810" v="370" actId="478"/>
          <ac:grpSpMkLst>
            <pc:docMk/>
            <pc:sldMk cId="2571364044" sldId="353"/>
            <ac:grpSpMk id="9" creationId="{69B27B69-2B69-4390-A5EF-EA9DCDE58865}"/>
          </ac:grpSpMkLst>
        </pc:grpChg>
      </pc:sldChg>
      <pc:sldChg chg="modSp mod">
        <pc:chgData name="Vincenzo Mastrolia" userId="9c1b0f1d26c1a45c" providerId="LiveId" clId="{A0E56E0E-8736-43C6-8BBB-B469DBF6B590}" dt="2025-11-17T15:06:50.245" v="216" actId="27636"/>
        <pc:sldMkLst>
          <pc:docMk/>
          <pc:sldMk cId="222443079" sldId="355"/>
        </pc:sldMkLst>
        <pc:spChg chg="mod">
          <ac:chgData name="Vincenzo Mastrolia" userId="9c1b0f1d26c1a45c" providerId="LiveId" clId="{A0E56E0E-8736-43C6-8BBB-B469DBF6B590}" dt="2025-11-17T15:06:50.245" v="216" actId="27636"/>
          <ac:spMkLst>
            <pc:docMk/>
            <pc:sldMk cId="222443079" sldId="355"/>
            <ac:spMk id="3" creationId="{2F0637AD-0299-3E04-EA43-E795852A15B8}"/>
          </ac:spMkLst>
        </pc:spChg>
      </pc:sldChg>
      <pc:sldChg chg="modSp mod">
        <pc:chgData name="Vincenzo Mastrolia" userId="9c1b0f1d26c1a45c" providerId="LiveId" clId="{A0E56E0E-8736-43C6-8BBB-B469DBF6B590}" dt="2025-11-17T15:06:50.261" v="218" actId="27636"/>
        <pc:sldMkLst>
          <pc:docMk/>
          <pc:sldMk cId="4241467266" sldId="357"/>
        </pc:sldMkLst>
        <pc:spChg chg="mod">
          <ac:chgData name="Vincenzo Mastrolia" userId="9c1b0f1d26c1a45c" providerId="LiveId" clId="{A0E56E0E-8736-43C6-8BBB-B469DBF6B590}" dt="2025-11-17T15:06:50.261" v="218" actId="27636"/>
          <ac:spMkLst>
            <pc:docMk/>
            <pc:sldMk cId="4241467266" sldId="357"/>
            <ac:spMk id="3" creationId="{E1ABD519-0AF1-C0BE-116D-43FF5B507FF9}"/>
          </ac:spMkLst>
        </pc:spChg>
      </pc:sldChg>
      <pc:sldChg chg="modSp mod">
        <pc:chgData name="Vincenzo Mastrolia" userId="9c1b0f1d26c1a45c" providerId="LiveId" clId="{A0E56E0E-8736-43C6-8BBB-B469DBF6B590}" dt="2025-11-17T15:06:50.277" v="220" actId="27636"/>
        <pc:sldMkLst>
          <pc:docMk/>
          <pc:sldMk cId="2537828283" sldId="358"/>
        </pc:sldMkLst>
        <pc:spChg chg="mod">
          <ac:chgData name="Vincenzo Mastrolia" userId="9c1b0f1d26c1a45c" providerId="LiveId" clId="{A0E56E0E-8736-43C6-8BBB-B469DBF6B590}" dt="2025-11-17T15:06:50.277" v="220" actId="27636"/>
          <ac:spMkLst>
            <pc:docMk/>
            <pc:sldMk cId="2537828283" sldId="358"/>
            <ac:spMk id="3" creationId="{97C2E9DA-A2FD-891D-B026-5BB93A2FB554}"/>
          </ac:spMkLst>
        </pc:spChg>
      </pc:sldChg>
      <pc:sldChg chg="modSp mod">
        <pc:chgData name="Vincenzo Mastrolia" userId="9c1b0f1d26c1a45c" providerId="LiveId" clId="{A0E56E0E-8736-43C6-8BBB-B469DBF6B590}" dt="2025-11-18T07:35:48.268" v="378" actId="14100"/>
        <pc:sldMkLst>
          <pc:docMk/>
          <pc:sldMk cId="207061712" sldId="359"/>
        </pc:sldMkLst>
        <pc:spChg chg="mod">
          <ac:chgData name="Vincenzo Mastrolia" userId="9c1b0f1d26c1a45c" providerId="LiveId" clId="{A0E56E0E-8736-43C6-8BBB-B469DBF6B590}" dt="2025-11-18T07:35:48.268" v="378" actId="14100"/>
          <ac:spMkLst>
            <pc:docMk/>
            <pc:sldMk cId="207061712" sldId="359"/>
            <ac:spMk id="5" creationId="{4524F792-C304-6B9E-B74B-62D196483216}"/>
          </ac:spMkLst>
        </pc:spChg>
      </pc:sldChg>
      <pc:sldChg chg="modSp mod">
        <pc:chgData name="Vincenzo Mastrolia" userId="9c1b0f1d26c1a45c" providerId="LiveId" clId="{A0E56E0E-8736-43C6-8BBB-B469DBF6B590}" dt="2025-11-17T15:06:50.309" v="222" actId="27636"/>
        <pc:sldMkLst>
          <pc:docMk/>
          <pc:sldMk cId="563093801" sldId="360"/>
        </pc:sldMkLst>
        <pc:spChg chg="mod">
          <ac:chgData name="Vincenzo Mastrolia" userId="9c1b0f1d26c1a45c" providerId="LiveId" clId="{A0E56E0E-8736-43C6-8BBB-B469DBF6B590}" dt="2025-11-17T15:06:50.309" v="222" actId="27636"/>
          <ac:spMkLst>
            <pc:docMk/>
            <pc:sldMk cId="563093801" sldId="360"/>
            <ac:spMk id="3" creationId="{29925196-E0F8-A7C3-715B-7FF52B43C564}"/>
          </ac:spMkLst>
        </pc:spChg>
      </pc:sldChg>
      <pc:sldChg chg="modSp mod">
        <pc:chgData name="Vincenzo Mastrolia" userId="9c1b0f1d26c1a45c" providerId="LiveId" clId="{A0E56E0E-8736-43C6-8BBB-B469DBF6B590}" dt="2025-11-17T15:06:50.261" v="217" actId="27636"/>
        <pc:sldMkLst>
          <pc:docMk/>
          <pc:sldMk cId="557763993" sldId="361"/>
        </pc:sldMkLst>
        <pc:spChg chg="mod">
          <ac:chgData name="Vincenzo Mastrolia" userId="9c1b0f1d26c1a45c" providerId="LiveId" clId="{A0E56E0E-8736-43C6-8BBB-B469DBF6B590}" dt="2025-11-17T15:06:50.261" v="217" actId="27636"/>
          <ac:spMkLst>
            <pc:docMk/>
            <pc:sldMk cId="557763993" sldId="361"/>
            <ac:spMk id="3" creationId="{77E84C87-1CA5-CC88-C727-FCC0A14E4E14}"/>
          </ac:spMkLst>
        </pc:spChg>
      </pc:sldChg>
      <pc:sldChg chg="modSp mod">
        <pc:chgData name="Vincenzo Mastrolia" userId="9c1b0f1d26c1a45c" providerId="LiveId" clId="{A0E56E0E-8736-43C6-8BBB-B469DBF6B590}" dt="2025-11-18T07:30:02.760" v="365" actId="1076"/>
        <pc:sldMkLst>
          <pc:docMk/>
          <pc:sldMk cId="3474808191" sldId="368"/>
        </pc:sldMkLst>
        <pc:picChg chg="mod">
          <ac:chgData name="Vincenzo Mastrolia" userId="9c1b0f1d26c1a45c" providerId="LiveId" clId="{A0E56E0E-8736-43C6-8BBB-B469DBF6B590}" dt="2025-11-18T07:30:02.760" v="365" actId="1076"/>
          <ac:picMkLst>
            <pc:docMk/>
            <pc:sldMk cId="3474808191" sldId="368"/>
            <ac:picMk id="12" creationId="{89E53222-CF52-A771-4D70-27F3A3C06CDF}"/>
          </ac:picMkLst>
        </pc:picChg>
        <pc:cxnChg chg="mod">
          <ac:chgData name="Vincenzo Mastrolia" userId="9c1b0f1d26c1a45c" providerId="LiveId" clId="{A0E56E0E-8736-43C6-8BBB-B469DBF6B590}" dt="2025-11-18T07:30:02.760" v="365" actId="1076"/>
          <ac:cxnSpMkLst>
            <pc:docMk/>
            <pc:sldMk cId="3474808191" sldId="368"/>
            <ac:cxnSpMk id="14" creationId="{C50CA7C6-0D0C-FC3F-25C1-E1907701A5D9}"/>
          </ac:cxnSpMkLst>
        </pc:cxnChg>
      </pc:sldChg>
      <pc:sldChg chg="modSp mod">
        <pc:chgData name="Vincenzo Mastrolia" userId="9c1b0f1d26c1a45c" providerId="LiveId" clId="{A0E56E0E-8736-43C6-8BBB-B469DBF6B590}" dt="2025-11-18T07:30:09.061" v="366" actId="1076"/>
        <pc:sldMkLst>
          <pc:docMk/>
          <pc:sldMk cId="434601010" sldId="369"/>
        </pc:sldMkLst>
        <pc:picChg chg="mod">
          <ac:chgData name="Vincenzo Mastrolia" userId="9c1b0f1d26c1a45c" providerId="LiveId" clId="{A0E56E0E-8736-43C6-8BBB-B469DBF6B590}" dt="2025-11-18T07:30:09.061" v="366" actId="1076"/>
          <ac:picMkLst>
            <pc:docMk/>
            <pc:sldMk cId="434601010" sldId="369"/>
            <ac:picMk id="11" creationId="{BA0F1CDE-269C-0837-5496-09416C204764}"/>
          </ac:picMkLst>
        </pc:picChg>
        <pc:cxnChg chg="mod">
          <ac:chgData name="Vincenzo Mastrolia" userId="9c1b0f1d26c1a45c" providerId="LiveId" clId="{A0E56E0E-8736-43C6-8BBB-B469DBF6B590}" dt="2025-11-18T07:30:09.061" v="366" actId="1076"/>
          <ac:cxnSpMkLst>
            <pc:docMk/>
            <pc:sldMk cId="434601010" sldId="369"/>
            <ac:cxnSpMk id="13" creationId="{B43FC031-6D11-B234-7144-D1A578226A93}"/>
          </ac:cxnSpMkLst>
        </pc:cxnChg>
      </pc:sldChg>
      <pc:sldChg chg="modSp mod">
        <pc:chgData name="Vincenzo Mastrolia" userId="9c1b0f1d26c1a45c" providerId="LiveId" clId="{A0E56E0E-8736-43C6-8BBB-B469DBF6B590}" dt="2025-11-18T07:30:28.643" v="368" actId="1076"/>
        <pc:sldMkLst>
          <pc:docMk/>
          <pc:sldMk cId="585572029" sldId="370"/>
        </pc:sldMkLst>
        <pc:spChg chg="mod">
          <ac:chgData name="Vincenzo Mastrolia" userId="9c1b0f1d26c1a45c" providerId="LiveId" clId="{A0E56E0E-8736-43C6-8BBB-B469DBF6B590}" dt="2025-11-18T07:29:34.827" v="364" actId="14100"/>
          <ac:spMkLst>
            <pc:docMk/>
            <pc:sldMk cId="585572029" sldId="370"/>
            <ac:spMk id="20" creationId="{FA5940FB-D9A5-C2FE-E58F-854BC6ADAF86}"/>
          </ac:spMkLst>
        </pc:spChg>
        <pc:picChg chg="mod">
          <ac:chgData name="Vincenzo Mastrolia" userId="9c1b0f1d26c1a45c" providerId="LiveId" clId="{A0E56E0E-8736-43C6-8BBB-B469DBF6B590}" dt="2025-11-18T07:30:28.643" v="368" actId="1076"/>
          <ac:picMkLst>
            <pc:docMk/>
            <pc:sldMk cId="585572029" sldId="370"/>
            <ac:picMk id="16" creationId="{F999A95F-D860-50ED-9D35-59E1B91963E3}"/>
          </ac:picMkLst>
        </pc:picChg>
        <pc:cxnChg chg="mod">
          <ac:chgData name="Vincenzo Mastrolia" userId="9c1b0f1d26c1a45c" providerId="LiveId" clId="{A0E56E0E-8736-43C6-8BBB-B469DBF6B590}" dt="2025-11-18T07:30:28.643" v="368" actId="1076"/>
          <ac:cxnSpMkLst>
            <pc:docMk/>
            <pc:sldMk cId="585572029" sldId="370"/>
            <ac:cxnSpMk id="17" creationId="{D1A3CB0F-3867-7234-A55E-29634A5BA03D}"/>
          </ac:cxnSpMkLst>
        </pc:cxnChg>
        <pc:cxnChg chg="mod">
          <ac:chgData name="Vincenzo Mastrolia" userId="9c1b0f1d26c1a45c" providerId="LiveId" clId="{A0E56E0E-8736-43C6-8BBB-B469DBF6B590}" dt="2025-11-18T07:29:34.827" v="364" actId="14100"/>
          <ac:cxnSpMkLst>
            <pc:docMk/>
            <pc:sldMk cId="585572029" sldId="370"/>
            <ac:cxnSpMk id="19" creationId="{EDE16C6B-0483-A74B-72E0-D8BD145BE8C1}"/>
          </ac:cxnSpMkLst>
        </pc:cxnChg>
      </pc:sldChg>
      <pc:sldChg chg="modSp mod">
        <pc:chgData name="Vincenzo Mastrolia" userId="9c1b0f1d26c1a45c" providerId="LiveId" clId="{A0E56E0E-8736-43C6-8BBB-B469DBF6B590}" dt="2025-11-18T07:30:34.127" v="369" actId="1076"/>
        <pc:sldMkLst>
          <pc:docMk/>
          <pc:sldMk cId="3021707343" sldId="371"/>
        </pc:sldMkLst>
        <pc:spChg chg="mod">
          <ac:chgData name="Vincenzo Mastrolia" userId="9c1b0f1d26c1a45c" providerId="LiveId" clId="{A0E56E0E-8736-43C6-8BBB-B469DBF6B590}" dt="2025-11-18T07:29:30.926" v="363" actId="14100"/>
          <ac:spMkLst>
            <pc:docMk/>
            <pc:sldMk cId="3021707343" sldId="371"/>
            <ac:spMk id="17" creationId="{B51B76A7-A025-637B-944E-40B071451C1B}"/>
          </ac:spMkLst>
        </pc:spChg>
        <pc:picChg chg="mod">
          <ac:chgData name="Vincenzo Mastrolia" userId="9c1b0f1d26c1a45c" providerId="LiveId" clId="{A0E56E0E-8736-43C6-8BBB-B469DBF6B590}" dt="2025-11-18T07:30:34.127" v="369" actId="1076"/>
          <ac:picMkLst>
            <pc:docMk/>
            <pc:sldMk cId="3021707343" sldId="371"/>
            <ac:picMk id="18" creationId="{CDFC960C-5B74-693D-10F8-D86FE2D2F90E}"/>
          </ac:picMkLst>
        </pc:picChg>
        <pc:cxnChg chg="mod">
          <ac:chgData name="Vincenzo Mastrolia" userId="9c1b0f1d26c1a45c" providerId="LiveId" clId="{A0E56E0E-8736-43C6-8BBB-B469DBF6B590}" dt="2025-11-18T07:29:30.926" v="363" actId="14100"/>
          <ac:cxnSpMkLst>
            <pc:docMk/>
            <pc:sldMk cId="3021707343" sldId="371"/>
            <ac:cxnSpMk id="16" creationId="{02A098F3-E38B-EC0B-3B2D-086B693891B0}"/>
          </ac:cxnSpMkLst>
        </pc:cxnChg>
        <pc:cxnChg chg="mod">
          <ac:chgData name="Vincenzo Mastrolia" userId="9c1b0f1d26c1a45c" providerId="LiveId" clId="{A0E56E0E-8736-43C6-8BBB-B469DBF6B590}" dt="2025-11-18T07:30:34.127" v="369" actId="1076"/>
          <ac:cxnSpMkLst>
            <pc:docMk/>
            <pc:sldMk cId="3021707343" sldId="371"/>
            <ac:cxnSpMk id="19" creationId="{7A7DF348-C0AD-621D-0E20-7D1CF8C3C3E8}"/>
          </ac:cxnSpMkLst>
        </pc:cxnChg>
      </pc:sldChg>
      <pc:sldChg chg="addSp modSp">
        <pc:chgData name="Vincenzo Mastrolia" userId="9c1b0f1d26c1a45c" providerId="LiveId" clId="{A0E56E0E-8736-43C6-8BBB-B469DBF6B590}" dt="2025-11-17T15:00:06.889" v="19"/>
        <pc:sldMkLst>
          <pc:docMk/>
          <pc:sldMk cId="2685521128" sldId="620"/>
        </pc:sldMkLst>
        <pc:picChg chg="add mod">
          <ac:chgData name="Vincenzo Mastrolia" userId="9c1b0f1d26c1a45c" providerId="LiveId" clId="{A0E56E0E-8736-43C6-8BBB-B469DBF6B590}" dt="2025-11-17T15:00:03.337" v="18"/>
          <ac:picMkLst>
            <pc:docMk/>
            <pc:sldMk cId="2685521128" sldId="620"/>
            <ac:picMk id="3" creationId="{AE7CBD3A-5F64-85CA-95B4-6E4D1CCC03D3}"/>
          </ac:picMkLst>
        </pc:picChg>
        <pc:picChg chg="add mod">
          <ac:chgData name="Vincenzo Mastrolia" userId="9c1b0f1d26c1a45c" providerId="LiveId" clId="{A0E56E0E-8736-43C6-8BBB-B469DBF6B590}" dt="2025-11-17T15:00:06.889" v="19"/>
          <ac:picMkLst>
            <pc:docMk/>
            <pc:sldMk cId="2685521128" sldId="620"/>
            <ac:picMk id="4" creationId="{AEC3431A-EA4A-83D9-7CFE-67549D8978AA}"/>
          </ac:picMkLst>
        </pc:picChg>
      </pc:sldChg>
      <pc:sldChg chg="modSp mod chgLayout">
        <pc:chgData name="Vincenzo Mastrolia" userId="9c1b0f1d26c1a45c" providerId="LiveId" clId="{A0E56E0E-8736-43C6-8BBB-B469DBF6B590}" dt="2025-11-17T15:05:15.684" v="172" actId="14100"/>
        <pc:sldMkLst>
          <pc:docMk/>
          <pc:sldMk cId="2253126343" sldId="621"/>
        </pc:sldMkLst>
        <pc:spChg chg="mod ord">
          <ac:chgData name="Vincenzo Mastrolia" userId="9c1b0f1d26c1a45c" providerId="LiveId" clId="{A0E56E0E-8736-43C6-8BBB-B469DBF6B590}" dt="2025-11-17T15:05:11.750" v="171" actId="700"/>
          <ac:spMkLst>
            <pc:docMk/>
            <pc:sldMk cId="2253126343" sldId="621"/>
            <ac:spMk id="2" creationId="{B0EF7CCE-EA42-58EC-AECE-F14BA4AFA624}"/>
          </ac:spMkLst>
        </pc:spChg>
        <pc:spChg chg="mod ord">
          <ac:chgData name="Vincenzo Mastrolia" userId="9c1b0f1d26c1a45c" providerId="LiveId" clId="{A0E56E0E-8736-43C6-8BBB-B469DBF6B590}" dt="2025-11-17T15:05:15.684" v="172" actId="14100"/>
          <ac:spMkLst>
            <pc:docMk/>
            <pc:sldMk cId="2253126343" sldId="621"/>
            <ac:spMk id="3" creationId="{C2618F13-4411-F3EF-F208-3AC0CE8C6F49}"/>
          </ac:spMkLst>
        </pc:spChg>
      </pc:sldChg>
      <pc:sldChg chg="modSp mod ord">
        <pc:chgData name="Vincenzo Mastrolia" userId="9c1b0f1d26c1a45c" providerId="LiveId" clId="{A0E56E0E-8736-43C6-8BBB-B469DBF6B590}" dt="2025-11-18T07:23:31.676" v="359" actId="1076"/>
        <pc:sldMkLst>
          <pc:docMk/>
          <pc:sldMk cId="3166101262" sldId="622"/>
        </pc:sldMkLst>
        <pc:spChg chg="mod">
          <ac:chgData name="Vincenzo Mastrolia" userId="9c1b0f1d26c1a45c" providerId="LiveId" clId="{A0E56E0E-8736-43C6-8BBB-B469DBF6B590}" dt="2025-11-18T07:23:31.676" v="359" actId="1076"/>
          <ac:spMkLst>
            <pc:docMk/>
            <pc:sldMk cId="3166101262" sldId="622"/>
            <ac:spMk id="5" creationId="{826A1C12-9DF4-C80F-88DD-94A34AA2557D}"/>
          </ac:spMkLst>
        </pc:spChg>
        <pc:spChg chg="mod">
          <ac:chgData name="Vincenzo Mastrolia" userId="9c1b0f1d26c1a45c" providerId="LiveId" clId="{A0E56E0E-8736-43C6-8BBB-B469DBF6B590}" dt="2025-11-18T07:23:28.975" v="358" actId="1076"/>
          <ac:spMkLst>
            <pc:docMk/>
            <pc:sldMk cId="3166101262" sldId="622"/>
            <ac:spMk id="6" creationId="{47DA9060-EA4D-993C-9C28-EE20DAE1A439}"/>
          </ac:spMkLst>
        </pc:spChg>
      </pc:sldChg>
      <pc:sldChg chg="modSp mod chgLayout">
        <pc:chgData name="Vincenzo Mastrolia" userId="9c1b0f1d26c1a45c" providerId="LiveId" clId="{A0E56E0E-8736-43C6-8BBB-B469DBF6B590}" dt="2025-11-18T07:31:15.527" v="371" actId="14100"/>
        <pc:sldMkLst>
          <pc:docMk/>
          <pc:sldMk cId="318582412" sldId="623"/>
        </pc:sldMkLst>
        <pc:spChg chg="mod ord">
          <ac:chgData name="Vincenzo Mastrolia" userId="9c1b0f1d26c1a45c" providerId="LiveId" clId="{A0E56E0E-8736-43C6-8BBB-B469DBF6B590}" dt="2025-11-18T07:29:15.550" v="360" actId="700"/>
          <ac:spMkLst>
            <pc:docMk/>
            <pc:sldMk cId="318582412" sldId="623"/>
            <ac:spMk id="9" creationId="{27528252-4E6A-014A-CA73-52EC88907B29}"/>
          </ac:spMkLst>
        </pc:spChg>
        <pc:spChg chg="mod">
          <ac:chgData name="Vincenzo Mastrolia" userId="9c1b0f1d26c1a45c" providerId="LiveId" clId="{A0E56E0E-8736-43C6-8BBB-B469DBF6B590}" dt="2025-11-18T07:29:24.627" v="362" actId="14100"/>
          <ac:spMkLst>
            <pc:docMk/>
            <pc:sldMk cId="318582412" sldId="623"/>
            <ac:spMk id="48" creationId="{65C5C9FF-626A-3E05-E759-B2A4BFE24B92}"/>
          </ac:spMkLst>
        </pc:spChg>
        <pc:spChg chg="mod">
          <ac:chgData name="Vincenzo Mastrolia" userId="9c1b0f1d26c1a45c" providerId="LiveId" clId="{A0E56E0E-8736-43C6-8BBB-B469DBF6B590}" dt="2025-11-18T07:31:15.527" v="371" actId="14100"/>
          <ac:spMkLst>
            <pc:docMk/>
            <pc:sldMk cId="318582412" sldId="623"/>
            <ac:spMk id="54" creationId="{270ADA44-49A9-C1CA-4AAE-435692CF1039}"/>
          </ac:spMkLst>
        </pc:spChg>
        <pc:spChg chg="mod ord">
          <ac:chgData name="Vincenzo Mastrolia" userId="9c1b0f1d26c1a45c" providerId="LiveId" clId="{A0E56E0E-8736-43C6-8BBB-B469DBF6B590}" dt="2025-11-18T07:29:19.568" v="361" actId="14100"/>
          <ac:spMkLst>
            <pc:docMk/>
            <pc:sldMk cId="318582412" sldId="623"/>
            <ac:spMk id="67" creationId="{4A4D225C-1418-5CA5-9073-F7C7EE384E98}"/>
          </ac:spMkLst>
        </pc:spChg>
        <pc:cxnChg chg="mod">
          <ac:chgData name="Vincenzo Mastrolia" userId="9c1b0f1d26c1a45c" providerId="LiveId" clId="{A0E56E0E-8736-43C6-8BBB-B469DBF6B590}" dt="2025-11-18T07:31:15.527" v="371" actId="14100"/>
          <ac:cxnSpMkLst>
            <pc:docMk/>
            <pc:sldMk cId="318582412" sldId="623"/>
            <ac:cxnSpMk id="45" creationId="{76E5704A-FBF0-340D-A744-1B833154F74A}"/>
          </ac:cxnSpMkLst>
        </pc:cxnChg>
        <pc:cxnChg chg="mod">
          <ac:chgData name="Vincenzo Mastrolia" userId="9c1b0f1d26c1a45c" providerId="LiveId" clId="{A0E56E0E-8736-43C6-8BBB-B469DBF6B590}" dt="2025-11-18T07:29:24.627" v="362" actId="14100"/>
          <ac:cxnSpMkLst>
            <pc:docMk/>
            <pc:sldMk cId="318582412" sldId="623"/>
            <ac:cxnSpMk id="47" creationId="{224481A7-4331-39E4-E16F-0F2A249F8CED}"/>
          </ac:cxnSpMkLst>
        </pc:cxnChg>
      </pc:sldChg>
      <pc:sldChg chg="modSp add mod">
        <pc:chgData name="Vincenzo Mastrolia" userId="9c1b0f1d26c1a45c" providerId="LiveId" clId="{A0E56E0E-8736-43C6-8BBB-B469DBF6B590}" dt="2025-11-17T15:06:50.388" v="228" actId="27636"/>
        <pc:sldMkLst>
          <pc:docMk/>
          <pc:sldMk cId="2940543335" sldId="624"/>
        </pc:sldMkLst>
        <pc:spChg chg="mod">
          <ac:chgData name="Vincenzo Mastrolia" userId="9c1b0f1d26c1a45c" providerId="LiveId" clId="{A0E56E0E-8736-43C6-8BBB-B469DBF6B590}" dt="2025-11-17T15:06:50.388" v="228" actId="27636"/>
          <ac:spMkLst>
            <pc:docMk/>
            <pc:sldMk cId="2940543335" sldId="624"/>
            <ac:spMk id="14" creationId="{B81222F0-ED2C-FE6D-0058-3B0C8CF8FC3E}"/>
          </ac:spMkLst>
        </pc:spChg>
      </pc:sldChg>
      <pc:sldChg chg="modSp mod">
        <pc:chgData name="Vincenzo Mastrolia" userId="9c1b0f1d26c1a45c" providerId="LiveId" clId="{A0E56E0E-8736-43C6-8BBB-B469DBF6B590}" dt="2025-11-18T07:31:24.017" v="373" actId="14100"/>
        <pc:sldMkLst>
          <pc:docMk/>
          <pc:sldMk cId="2193313255" sldId="626"/>
        </pc:sldMkLst>
        <pc:spChg chg="mod">
          <ac:chgData name="Vincenzo Mastrolia" userId="9c1b0f1d26c1a45c" providerId="LiveId" clId="{A0E56E0E-8736-43C6-8BBB-B469DBF6B590}" dt="2025-11-18T07:31:20.700" v="372" actId="14100"/>
          <ac:spMkLst>
            <pc:docMk/>
            <pc:sldMk cId="2193313255" sldId="626"/>
            <ac:spMk id="48" creationId="{65C5C9FF-626A-3E05-E759-B2A4BFE24B92}"/>
          </ac:spMkLst>
        </pc:spChg>
        <pc:spChg chg="mod">
          <ac:chgData name="Vincenzo Mastrolia" userId="9c1b0f1d26c1a45c" providerId="LiveId" clId="{A0E56E0E-8736-43C6-8BBB-B469DBF6B590}" dt="2025-11-18T07:31:24.017" v="373" actId="14100"/>
          <ac:spMkLst>
            <pc:docMk/>
            <pc:sldMk cId="2193313255" sldId="626"/>
            <ac:spMk id="54" creationId="{270ADA44-49A9-C1CA-4AAE-435692CF1039}"/>
          </ac:spMkLst>
        </pc:spChg>
        <pc:cxnChg chg="mod">
          <ac:chgData name="Vincenzo Mastrolia" userId="9c1b0f1d26c1a45c" providerId="LiveId" clId="{A0E56E0E-8736-43C6-8BBB-B469DBF6B590}" dt="2025-11-18T07:31:24.017" v="373" actId="14100"/>
          <ac:cxnSpMkLst>
            <pc:docMk/>
            <pc:sldMk cId="2193313255" sldId="626"/>
            <ac:cxnSpMk id="45" creationId="{76E5704A-FBF0-340D-A744-1B833154F74A}"/>
          </ac:cxnSpMkLst>
        </pc:cxnChg>
        <pc:cxnChg chg="mod">
          <ac:chgData name="Vincenzo Mastrolia" userId="9c1b0f1d26c1a45c" providerId="LiveId" clId="{A0E56E0E-8736-43C6-8BBB-B469DBF6B590}" dt="2025-11-18T07:31:20.700" v="372" actId="14100"/>
          <ac:cxnSpMkLst>
            <pc:docMk/>
            <pc:sldMk cId="2193313255" sldId="626"/>
            <ac:cxnSpMk id="47" creationId="{224481A7-4331-39E4-E16F-0F2A249F8CED}"/>
          </ac:cxnSpMkLst>
        </pc:cxnChg>
      </pc:sldChg>
      <pc:sldChg chg="modSp mod">
        <pc:chgData name="Vincenzo Mastrolia" userId="9c1b0f1d26c1a45c" providerId="LiveId" clId="{A0E56E0E-8736-43C6-8BBB-B469DBF6B590}" dt="2025-11-18T07:31:43.386" v="376" actId="14100"/>
        <pc:sldMkLst>
          <pc:docMk/>
          <pc:sldMk cId="1093134986" sldId="627"/>
        </pc:sldMkLst>
        <pc:spChg chg="mod">
          <ac:chgData name="Vincenzo Mastrolia" userId="9c1b0f1d26c1a45c" providerId="LiveId" clId="{A0E56E0E-8736-43C6-8BBB-B469DBF6B590}" dt="2025-11-18T07:31:43.386" v="376" actId="14100"/>
          <ac:spMkLst>
            <pc:docMk/>
            <pc:sldMk cId="1093134986" sldId="627"/>
            <ac:spMk id="48" creationId="{65C5C9FF-626A-3E05-E759-B2A4BFE24B92}"/>
          </ac:spMkLst>
        </pc:spChg>
        <pc:spChg chg="mod">
          <ac:chgData name="Vincenzo Mastrolia" userId="9c1b0f1d26c1a45c" providerId="LiveId" clId="{A0E56E0E-8736-43C6-8BBB-B469DBF6B590}" dt="2025-11-18T07:31:37.977" v="374" actId="14100"/>
          <ac:spMkLst>
            <pc:docMk/>
            <pc:sldMk cId="1093134986" sldId="627"/>
            <ac:spMk id="54" creationId="{270ADA44-49A9-C1CA-4AAE-435692CF1039}"/>
          </ac:spMkLst>
        </pc:spChg>
        <pc:cxnChg chg="mod">
          <ac:chgData name="Vincenzo Mastrolia" userId="9c1b0f1d26c1a45c" providerId="LiveId" clId="{A0E56E0E-8736-43C6-8BBB-B469DBF6B590}" dt="2025-11-18T07:31:37.977" v="374" actId="14100"/>
          <ac:cxnSpMkLst>
            <pc:docMk/>
            <pc:sldMk cId="1093134986" sldId="627"/>
            <ac:cxnSpMk id="45" creationId="{76E5704A-FBF0-340D-A744-1B833154F74A}"/>
          </ac:cxnSpMkLst>
        </pc:cxnChg>
        <pc:cxnChg chg="mod">
          <ac:chgData name="Vincenzo Mastrolia" userId="9c1b0f1d26c1a45c" providerId="LiveId" clId="{A0E56E0E-8736-43C6-8BBB-B469DBF6B590}" dt="2025-11-18T07:31:43.386" v="376" actId="14100"/>
          <ac:cxnSpMkLst>
            <pc:docMk/>
            <pc:sldMk cId="1093134986" sldId="627"/>
            <ac:cxnSpMk id="47" creationId="{224481A7-4331-39E4-E16F-0F2A249F8CED}"/>
          </ac:cxnSpMkLst>
        </pc:cxnChg>
      </pc:sldChg>
      <pc:sldChg chg="modSp mod">
        <pc:chgData name="Vincenzo Mastrolia" userId="9c1b0f1d26c1a45c" providerId="LiveId" clId="{A0E56E0E-8736-43C6-8BBB-B469DBF6B590}" dt="2025-11-17T15:06:50.213" v="213" actId="27636"/>
        <pc:sldMkLst>
          <pc:docMk/>
          <pc:sldMk cId="3234049641" sldId="628"/>
        </pc:sldMkLst>
        <pc:spChg chg="mod">
          <ac:chgData name="Vincenzo Mastrolia" userId="9c1b0f1d26c1a45c" providerId="LiveId" clId="{A0E56E0E-8736-43C6-8BBB-B469DBF6B590}" dt="2025-11-17T15:06:50.213" v="213" actId="27636"/>
          <ac:spMkLst>
            <pc:docMk/>
            <pc:sldMk cId="3234049641" sldId="628"/>
            <ac:spMk id="3" creationId="{103BDF61-BFB6-D624-45D7-63123C731C2B}"/>
          </ac:spMkLst>
        </pc:spChg>
      </pc:sldChg>
      <pc:sldChg chg="modSp mod">
        <pc:chgData name="Vincenzo Mastrolia" userId="9c1b0f1d26c1a45c" providerId="LiveId" clId="{A0E56E0E-8736-43C6-8BBB-B469DBF6B590}" dt="2025-11-18T07:33:08.327" v="377" actId="14100"/>
        <pc:sldMkLst>
          <pc:docMk/>
          <pc:sldMk cId="124424668" sldId="630"/>
        </pc:sldMkLst>
        <pc:spChg chg="mod">
          <ac:chgData name="Vincenzo Mastrolia" userId="9c1b0f1d26c1a45c" providerId="LiveId" clId="{A0E56E0E-8736-43C6-8BBB-B469DBF6B590}" dt="2025-11-18T07:33:08.327" v="377" actId="14100"/>
          <ac:spMkLst>
            <pc:docMk/>
            <pc:sldMk cId="124424668" sldId="630"/>
            <ac:spMk id="3" creationId="{9F4DAFBB-13D4-D953-2127-CDAF8DDC84D8}"/>
          </ac:spMkLst>
        </pc:spChg>
      </pc:sldChg>
      <pc:sldChg chg="modSp mod">
        <pc:chgData name="Vincenzo Mastrolia" userId="9c1b0f1d26c1a45c" providerId="LiveId" clId="{A0E56E0E-8736-43C6-8BBB-B469DBF6B590}" dt="2025-11-17T15:06:50.277" v="219" actId="27636"/>
        <pc:sldMkLst>
          <pc:docMk/>
          <pc:sldMk cId="4033334102" sldId="631"/>
        </pc:sldMkLst>
        <pc:spChg chg="mod">
          <ac:chgData name="Vincenzo Mastrolia" userId="9c1b0f1d26c1a45c" providerId="LiveId" clId="{A0E56E0E-8736-43C6-8BBB-B469DBF6B590}" dt="2025-11-17T15:06:50.277" v="219" actId="27636"/>
          <ac:spMkLst>
            <pc:docMk/>
            <pc:sldMk cId="4033334102" sldId="631"/>
            <ac:spMk id="3" creationId="{E1ABD519-0AF1-C0BE-116D-43FF5B507FF9}"/>
          </ac:spMkLst>
        </pc:spChg>
      </pc:sldChg>
      <pc:sldChg chg="modSp mod">
        <pc:chgData name="Vincenzo Mastrolia" userId="9c1b0f1d26c1a45c" providerId="LiveId" clId="{A0E56E0E-8736-43C6-8BBB-B469DBF6B590}" dt="2025-11-17T15:06:50.340" v="224" actId="27636"/>
        <pc:sldMkLst>
          <pc:docMk/>
          <pc:sldMk cId="3002881755" sldId="633"/>
        </pc:sldMkLst>
        <pc:spChg chg="mod">
          <ac:chgData name="Vincenzo Mastrolia" userId="9c1b0f1d26c1a45c" providerId="LiveId" clId="{A0E56E0E-8736-43C6-8BBB-B469DBF6B590}" dt="2025-11-17T15:06:50.340" v="224" actId="27636"/>
          <ac:spMkLst>
            <pc:docMk/>
            <pc:sldMk cId="3002881755" sldId="633"/>
            <ac:spMk id="3" creationId="{29925196-E0F8-A7C3-715B-7FF52B43C564}"/>
          </ac:spMkLst>
        </pc:spChg>
      </pc:sldChg>
      <pc:sldChg chg="add">
        <pc:chgData name="Vincenzo Mastrolia" userId="9c1b0f1d26c1a45c" providerId="LiveId" clId="{A0E56E0E-8736-43C6-8BBB-B469DBF6B590}" dt="2025-11-17T14:57:27.862" v="0"/>
        <pc:sldMkLst>
          <pc:docMk/>
          <pc:sldMk cId="1353294798" sldId="635"/>
        </pc:sldMkLst>
      </pc:sldChg>
      <pc:sldChg chg="add">
        <pc:chgData name="Vincenzo Mastrolia" userId="9c1b0f1d26c1a45c" providerId="LiveId" clId="{A0E56E0E-8736-43C6-8BBB-B469DBF6B590}" dt="2025-11-17T14:57:27.862" v="0"/>
        <pc:sldMkLst>
          <pc:docMk/>
          <pc:sldMk cId="2072335568" sldId="636"/>
        </pc:sldMkLst>
      </pc:sldChg>
      <pc:sldChg chg="add">
        <pc:chgData name="Vincenzo Mastrolia" userId="9c1b0f1d26c1a45c" providerId="LiveId" clId="{A0E56E0E-8736-43C6-8BBB-B469DBF6B590}" dt="2025-11-17T14:57:27.862" v="0"/>
        <pc:sldMkLst>
          <pc:docMk/>
          <pc:sldMk cId="3294281491" sldId="637"/>
        </pc:sldMkLst>
      </pc:sldChg>
      <pc:sldChg chg="add">
        <pc:chgData name="Vincenzo Mastrolia" userId="9c1b0f1d26c1a45c" providerId="LiveId" clId="{A0E56E0E-8736-43C6-8BBB-B469DBF6B590}" dt="2025-11-17T14:57:27.862" v="0"/>
        <pc:sldMkLst>
          <pc:docMk/>
          <pc:sldMk cId="1613360113" sldId="638"/>
        </pc:sldMkLst>
      </pc:sldChg>
      <pc:sldChg chg="modSp add mod">
        <pc:chgData name="Vincenzo Mastrolia" userId="9c1b0f1d26c1a45c" providerId="LiveId" clId="{A0E56E0E-8736-43C6-8BBB-B469DBF6B590}" dt="2025-11-18T07:44:50.347" v="381" actId="1076"/>
        <pc:sldMkLst>
          <pc:docMk/>
          <pc:sldMk cId="1414951496" sldId="639"/>
        </pc:sldMkLst>
        <pc:picChg chg="mod">
          <ac:chgData name="Vincenzo Mastrolia" userId="9c1b0f1d26c1a45c" providerId="LiveId" clId="{A0E56E0E-8736-43C6-8BBB-B469DBF6B590}" dt="2025-11-18T07:44:50.347" v="381" actId="1076"/>
          <ac:picMkLst>
            <pc:docMk/>
            <pc:sldMk cId="1414951496" sldId="639"/>
            <ac:picMk id="7" creationId="{C9911E65-F510-E82A-9FC9-DB9FA05710E8}"/>
          </ac:picMkLst>
        </pc:picChg>
      </pc:sldChg>
      <pc:sldChg chg="modSp mod">
        <pc:chgData name="Vincenzo Mastrolia" userId="9c1b0f1d26c1a45c" providerId="LiveId" clId="{A0E56E0E-8736-43C6-8BBB-B469DBF6B590}" dt="2025-11-17T15:06:50.229" v="214" actId="27636"/>
        <pc:sldMkLst>
          <pc:docMk/>
          <pc:sldMk cId="3374739588" sldId="640"/>
        </pc:sldMkLst>
        <pc:spChg chg="mod">
          <ac:chgData name="Vincenzo Mastrolia" userId="9c1b0f1d26c1a45c" providerId="LiveId" clId="{A0E56E0E-8736-43C6-8BBB-B469DBF6B590}" dt="2025-11-17T15:06:50.229" v="214" actId="27636"/>
          <ac:spMkLst>
            <pc:docMk/>
            <pc:sldMk cId="3374739588" sldId="640"/>
            <ac:spMk id="3" creationId="{103BDF61-BFB6-D624-45D7-63123C731C2B}"/>
          </ac:spMkLst>
        </pc:spChg>
      </pc:sldChg>
      <pc:sldChg chg="modSp mod">
        <pc:chgData name="Vincenzo Mastrolia" userId="9c1b0f1d26c1a45c" providerId="LiveId" clId="{A0E56E0E-8736-43C6-8BBB-B469DBF6B590}" dt="2025-11-17T15:06:50.340" v="225" actId="27636"/>
        <pc:sldMkLst>
          <pc:docMk/>
          <pc:sldMk cId="816102303" sldId="643"/>
        </pc:sldMkLst>
        <pc:spChg chg="mod">
          <ac:chgData name="Vincenzo Mastrolia" userId="9c1b0f1d26c1a45c" providerId="LiveId" clId="{A0E56E0E-8736-43C6-8BBB-B469DBF6B590}" dt="2025-11-17T15:06:50.340" v="225" actId="27636"/>
          <ac:spMkLst>
            <pc:docMk/>
            <pc:sldMk cId="816102303" sldId="643"/>
            <ac:spMk id="17" creationId="{B061BAED-4187-3198-F7BF-31194FB91254}"/>
          </ac:spMkLst>
        </pc:spChg>
      </pc:sldChg>
      <pc:sldChg chg="modSp mod">
        <pc:chgData name="Vincenzo Mastrolia" userId="9c1b0f1d26c1a45c" providerId="LiveId" clId="{A0E56E0E-8736-43C6-8BBB-B469DBF6B590}" dt="2025-11-17T15:06:50.245" v="215" actId="27636"/>
        <pc:sldMkLst>
          <pc:docMk/>
          <pc:sldMk cId="2754796693" sldId="647"/>
        </pc:sldMkLst>
        <pc:spChg chg="mod">
          <ac:chgData name="Vincenzo Mastrolia" userId="9c1b0f1d26c1a45c" providerId="LiveId" clId="{A0E56E0E-8736-43C6-8BBB-B469DBF6B590}" dt="2025-11-17T15:06:50.245" v="215" actId="27636"/>
          <ac:spMkLst>
            <pc:docMk/>
            <pc:sldMk cId="2754796693" sldId="647"/>
            <ac:spMk id="3" creationId="{9B540F68-9C6E-D96B-B3FD-74D96824EBCB}"/>
          </ac:spMkLst>
        </pc:spChg>
      </pc:sldChg>
      <pc:sldChg chg="modSp mod">
        <pc:chgData name="Vincenzo Mastrolia" userId="9c1b0f1d26c1a45c" providerId="LiveId" clId="{A0E56E0E-8736-43C6-8BBB-B469DBF6B590}" dt="2025-11-17T15:06:50.293" v="221" actId="27636"/>
        <pc:sldMkLst>
          <pc:docMk/>
          <pc:sldMk cId="2523700410" sldId="651"/>
        </pc:sldMkLst>
        <pc:spChg chg="mod">
          <ac:chgData name="Vincenzo Mastrolia" userId="9c1b0f1d26c1a45c" providerId="LiveId" clId="{A0E56E0E-8736-43C6-8BBB-B469DBF6B590}" dt="2025-11-17T15:06:50.293" v="221" actId="27636"/>
          <ac:spMkLst>
            <pc:docMk/>
            <pc:sldMk cId="2523700410" sldId="651"/>
            <ac:spMk id="3" creationId="{94E21A56-B2D7-5482-9A6F-36B70476977B}"/>
          </ac:spMkLst>
        </pc:spChg>
      </pc:sldChg>
      <pc:sldChg chg="modSp mod">
        <pc:chgData name="Vincenzo Mastrolia" userId="9c1b0f1d26c1a45c" providerId="LiveId" clId="{A0E56E0E-8736-43C6-8BBB-B469DBF6B590}" dt="2025-11-17T15:06:50.324" v="223" actId="27636"/>
        <pc:sldMkLst>
          <pc:docMk/>
          <pc:sldMk cId="1521861310" sldId="652"/>
        </pc:sldMkLst>
        <pc:spChg chg="mod">
          <ac:chgData name="Vincenzo Mastrolia" userId="9c1b0f1d26c1a45c" providerId="LiveId" clId="{A0E56E0E-8736-43C6-8BBB-B469DBF6B590}" dt="2025-11-17T15:06:50.324" v="223" actId="27636"/>
          <ac:spMkLst>
            <pc:docMk/>
            <pc:sldMk cId="1521861310" sldId="652"/>
            <ac:spMk id="3" creationId="{29925196-E0F8-A7C3-715B-7FF52B43C564}"/>
          </ac:spMkLst>
        </pc:spChg>
      </pc:sldChg>
      <pc:sldChg chg="addSp delSp modSp add mod modClrScheme chgLayout">
        <pc:chgData name="Vincenzo Mastrolia" userId="9c1b0f1d26c1a45c" providerId="LiveId" clId="{A0E56E0E-8736-43C6-8BBB-B469DBF6B590}" dt="2025-11-17T14:59:22.101" v="15" actId="1076"/>
        <pc:sldMkLst>
          <pc:docMk/>
          <pc:sldMk cId="263134858" sldId="653"/>
        </pc:sldMkLst>
        <pc:spChg chg="mod ord">
          <ac:chgData name="Vincenzo Mastrolia" userId="9c1b0f1d26c1a45c" providerId="LiveId" clId="{A0E56E0E-8736-43C6-8BBB-B469DBF6B590}" dt="2025-11-17T14:57:53.438" v="7" actId="700"/>
          <ac:spMkLst>
            <pc:docMk/>
            <pc:sldMk cId="263134858" sldId="653"/>
            <ac:spMk id="4" creationId="{2745A837-5DA2-3D07-A622-D5D1D29CBD4D}"/>
          </ac:spMkLst>
        </pc:spChg>
        <pc:spChg chg="del">
          <ac:chgData name="Vincenzo Mastrolia" userId="9c1b0f1d26c1a45c" providerId="LiveId" clId="{A0E56E0E-8736-43C6-8BBB-B469DBF6B590}" dt="2025-11-17T14:57:48.149" v="5" actId="478"/>
          <ac:spMkLst>
            <pc:docMk/>
            <pc:sldMk cId="263134858" sldId="653"/>
            <ac:spMk id="5" creationId="{89143F42-D5D5-7E9D-5D2C-07E58CCD514B}"/>
          </ac:spMkLst>
        </pc:spChg>
        <pc:spChg chg="del">
          <ac:chgData name="Vincenzo Mastrolia" userId="9c1b0f1d26c1a45c" providerId="LiveId" clId="{A0E56E0E-8736-43C6-8BBB-B469DBF6B590}" dt="2025-11-17T14:57:57.257" v="8" actId="478"/>
          <ac:spMkLst>
            <pc:docMk/>
            <pc:sldMk cId="263134858" sldId="653"/>
            <ac:spMk id="7" creationId="{C2E96277-5ADE-D7D0-E8B2-D7E25D5A9629}"/>
          </ac:spMkLst>
        </pc:spChg>
        <pc:spChg chg="del">
          <ac:chgData name="Vincenzo Mastrolia" userId="9c1b0f1d26c1a45c" providerId="LiveId" clId="{A0E56E0E-8736-43C6-8BBB-B469DBF6B590}" dt="2025-11-17T14:58:00.091" v="9" actId="478"/>
          <ac:spMkLst>
            <pc:docMk/>
            <pc:sldMk cId="263134858" sldId="653"/>
            <ac:spMk id="9" creationId="{91CF83BB-8267-5781-D4BF-5CCC5E53A11E}"/>
          </ac:spMkLst>
        </pc:spChg>
        <pc:spChg chg="add del mod ord">
          <ac:chgData name="Vincenzo Mastrolia" userId="9c1b0f1d26c1a45c" providerId="LiveId" clId="{A0E56E0E-8736-43C6-8BBB-B469DBF6B590}" dt="2025-11-17T14:57:53.438" v="7" actId="700"/>
          <ac:spMkLst>
            <pc:docMk/>
            <pc:sldMk cId="263134858" sldId="653"/>
            <ac:spMk id="10" creationId="{06DDED3E-0EDB-9226-009D-05284959EA46}"/>
          </ac:spMkLst>
        </pc:spChg>
        <pc:spChg chg="add mod ord">
          <ac:chgData name="Vincenzo Mastrolia" userId="9c1b0f1d26c1a45c" providerId="LiveId" clId="{A0E56E0E-8736-43C6-8BBB-B469DBF6B590}" dt="2025-11-17T14:57:53.438" v="7" actId="700"/>
          <ac:spMkLst>
            <pc:docMk/>
            <pc:sldMk cId="263134858" sldId="653"/>
            <ac:spMk id="11" creationId="{F906151B-307C-1907-4E67-22BFCAC54EE3}"/>
          </ac:spMkLst>
        </pc:spChg>
        <pc:picChg chg="del">
          <ac:chgData name="Vincenzo Mastrolia" userId="9c1b0f1d26c1a45c" providerId="LiveId" clId="{A0E56E0E-8736-43C6-8BBB-B469DBF6B590}" dt="2025-11-17T14:57:46.068" v="4" actId="478"/>
          <ac:picMkLst>
            <pc:docMk/>
            <pc:sldMk cId="263134858" sldId="653"/>
            <ac:picMk id="2" creationId="{D9F72082-ABDD-4E6B-8B3E-CFDE10542926}"/>
          </ac:picMkLst>
        </pc:picChg>
        <pc:picChg chg="del">
          <ac:chgData name="Vincenzo Mastrolia" userId="9c1b0f1d26c1a45c" providerId="LiveId" clId="{A0E56E0E-8736-43C6-8BBB-B469DBF6B590}" dt="2025-11-17T14:57:48.925" v="6" actId="478"/>
          <ac:picMkLst>
            <pc:docMk/>
            <pc:sldMk cId="263134858" sldId="653"/>
            <ac:picMk id="3" creationId="{C2A5032F-4E94-1BE8-3250-E4DE6D3635CD}"/>
          </ac:picMkLst>
        </pc:picChg>
        <pc:picChg chg="add mod">
          <ac:chgData name="Vincenzo Mastrolia" userId="9c1b0f1d26c1a45c" providerId="LiveId" clId="{A0E56E0E-8736-43C6-8BBB-B469DBF6B590}" dt="2025-11-17T14:59:22.101" v="15" actId="1076"/>
          <ac:picMkLst>
            <pc:docMk/>
            <pc:sldMk cId="263134858" sldId="653"/>
            <ac:picMk id="12" creationId="{A3968F28-BFF0-E8C4-567B-FF795B98458A}"/>
          </ac:picMkLst>
        </pc:picChg>
      </pc:sldChg>
      <pc:sldChg chg="add setBg">
        <pc:chgData name="Vincenzo Mastrolia" userId="9c1b0f1d26c1a45c" providerId="LiveId" clId="{A0E56E0E-8736-43C6-8BBB-B469DBF6B590}" dt="2025-11-17T14:57:27.862" v="0"/>
        <pc:sldMkLst>
          <pc:docMk/>
          <pc:sldMk cId="3675717813" sldId="654"/>
        </pc:sldMkLst>
      </pc:sldChg>
      <pc:sldChg chg="modSp add mod ord">
        <pc:chgData name="Vincenzo Mastrolia" userId="9c1b0f1d26c1a45c" providerId="LiveId" clId="{A0E56E0E-8736-43C6-8BBB-B469DBF6B590}" dt="2025-11-17T15:09:04.549" v="234"/>
        <pc:sldMkLst>
          <pc:docMk/>
          <pc:sldMk cId="2287246156" sldId="655"/>
        </pc:sldMkLst>
        <pc:spChg chg="mod">
          <ac:chgData name="Vincenzo Mastrolia" userId="9c1b0f1d26c1a45c" providerId="LiveId" clId="{A0E56E0E-8736-43C6-8BBB-B469DBF6B590}" dt="2025-11-17T15:06:50.372" v="226" actId="27636"/>
          <ac:spMkLst>
            <pc:docMk/>
            <pc:sldMk cId="2287246156" sldId="655"/>
            <ac:spMk id="3" creationId="{8E42E616-92FE-3AF5-CDA7-69895E7B94B5}"/>
          </ac:spMkLst>
        </pc:spChg>
      </pc:sldChg>
      <pc:sldChg chg="add">
        <pc:chgData name="Vincenzo Mastrolia" userId="9c1b0f1d26c1a45c" providerId="LiveId" clId="{A0E56E0E-8736-43C6-8BBB-B469DBF6B590}" dt="2025-11-17T14:57:27.862" v="0"/>
        <pc:sldMkLst>
          <pc:docMk/>
          <pc:sldMk cId="1854370387" sldId="656"/>
        </pc:sldMkLst>
      </pc:sldChg>
      <pc:sldChg chg="add">
        <pc:chgData name="Vincenzo Mastrolia" userId="9c1b0f1d26c1a45c" providerId="LiveId" clId="{A0E56E0E-8736-43C6-8BBB-B469DBF6B590}" dt="2025-11-17T14:57:27.862" v="0"/>
        <pc:sldMkLst>
          <pc:docMk/>
          <pc:sldMk cId="2254764779" sldId="657"/>
        </pc:sldMkLst>
      </pc:sldChg>
      <pc:sldChg chg="add setBg">
        <pc:chgData name="Vincenzo Mastrolia" userId="9c1b0f1d26c1a45c" providerId="LiveId" clId="{A0E56E0E-8736-43C6-8BBB-B469DBF6B590}" dt="2025-11-17T14:57:27.862" v="0"/>
        <pc:sldMkLst>
          <pc:docMk/>
          <pc:sldMk cId="531484798" sldId="658"/>
        </pc:sldMkLst>
      </pc:sldChg>
      <pc:sldChg chg="modSp add mod">
        <pc:chgData name="Vincenzo Mastrolia" userId="9c1b0f1d26c1a45c" providerId="LiveId" clId="{A0E56E0E-8736-43C6-8BBB-B469DBF6B590}" dt="2025-11-18T07:36:56.479" v="379" actId="14100"/>
        <pc:sldMkLst>
          <pc:docMk/>
          <pc:sldMk cId="3312799841" sldId="659"/>
        </pc:sldMkLst>
        <pc:picChg chg="mod">
          <ac:chgData name="Vincenzo Mastrolia" userId="9c1b0f1d26c1a45c" providerId="LiveId" clId="{A0E56E0E-8736-43C6-8BBB-B469DBF6B590}" dt="2025-11-18T07:36:56.479" v="379" actId="14100"/>
          <ac:picMkLst>
            <pc:docMk/>
            <pc:sldMk cId="3312799841" sldId="659"/>
            <ac:picMk id="11" creationId="{A03329FC-9933-A9C3-E258-1B87988D6DB3}"/>
          </ac:picMkLst>
        </pc:picChg>
      </pc:sldChg>
      <pc:sldChg chg="add">
        <pc:chgData name="Vincenzo Mastrolia" userId="9c1b0f1d26c1a45c" providerId="LiveId" clId="{A0E56E0E-8736-43C6-8BBB-B469DBF6B590}" dt="2025-11-17T14:57:27.862" v="0"/>
        <pc:sldMkLst>
          <pc:docMk/>
          <pc:sldMk cId="2859460411" sldId="660"/>
        </pc:sldMkLst>
      </pc:sldChg>
      <pc:sldChg chg="add">
        <pc:chgData name="Vincenzo Mastrolia" userId="9c1b0f1d26c1a45c" providerId="LiveId" clId="{A0E56E0E-8736-43C6-8BBB-B469DBF6B590}" dt="2025-11-17T14:57:27.862" v="0"/>
        <pc:sldMkLst>
          <pc:docMk/>
          <pc:sldMk cId="2795928675" sldId="661"/>
        </pc:sldMkLst>
      </pc:sldChg>
      <pc:sldChg chg="add">
        <pc:chgData name="Vincenzo Mastrolia" userId="9c1b0f1d26c1a45c" providerId="LiveId" clId="{A0E56E0E-8736-43C6-8BBB-B469DBF6B590}" dt="2025-11-17T14:57:27.862" v="0"/>
        <pc:sldMkLst>
          <pc:docMk/>
          <pc:sldMk cId="3624476449" sldId="662"/>
        </pc:sldMkLst>
      </pc:sldChg>
      <pc:sldChg chg="add">
        <pc:chgData name="Vincenzo Mastrolia" userId="9c1b0f1d26c1a45c" providerId="LiveId" clId="{A0E56E0E-8736-43C6-8BBB-B469DBF6B590}" dt="2025-11-17T14:57:27.862" v="0"/>
        <pc:sldMkLst>
          <pc:docMk/>
          <pc:sldMk cId="1410934871" sldId="663"/>
        </pc:sldMkLst>
      </pc:sldChg>
      <pc:sldChg chg="add">
        <pc:chgData name="Vincenzo Mastrolia" userId="9c1b0f1d26c1a45c" providerId="LiveId" clId="{A0E56E0E-8736-43C6-8BBB-B469DBF6B590}" dt="2025-11-17T14:57:27.862" v="0"/>
        <pc:sldMkLst>
          <pc:docMk/>
          <pc:sldMk cId="3527237878" sldId="664"/>
        </pc:sldMkLst>
      </pc:sldChg>
      <pc:sldChg chg="add">
        <pc:chgData name="Vincenzo Mastrolia" userId="9c1b0f1d26c1a45c" providerId="LiveId" clId="{A0E56E0E-8736-43C6-8BBB-B469DBF6B590}" dt="2025-11-17T14:57:27.862" v="0"/>
        <pc:sldMkLst>
          <pc:docMk/>
          <pc:sldMk cId="2368692725" sldId="665"/>
        </pc:sldMkLst>
      </pc:sldChg>
      <pc:sldChg chg="add">
        <pc:chgData name="Vincenzo Mastrolia" userId="9c1b0f1d26c1a45c" providerId="LiveId" clId="{A0E56E0E-8736-43C6-8BBB-B469DBF6B590}" dt="2025-11-17T14:57:27.862" v="0"/>
        <pc:sldMkLst>
          <pc:docMk/>
          <pc:sldMk cId="4225239601" sldId="666"/>
        </pc:sldMkLst>
      </pc:sldChg>
      <pc:sldChg chg="add">
        <pc:chgData name="Vincenzo Mastrolia" userId="9c1b0f1d26c1a45c" providerId="LiveId" clId="{A0E56E0E-8736-43C6-8BBB-B469DBF6B590}" dt="2025-11-17T14:57:27.862" v="0"/>
        <pc:sldMkLst>
          <pc:docMk/>
          <pc:sldMk cId="1052853489" sldId="667"/>
        </pc:sldMkLst>
      </pc:sldChg>
      <pc:sldChg chg="add">
        <pc:chgData name="Vincenzo Mastrolia" userId="9c1b0f1d26c1a45c" providerId="LiveId" clId="{A0E56E0E-8736-43C6-8BBB-B469DBF6B590}" dt="2025-11-17T14:57:27.862" v="0"/>
        <pc:sldMkLst>
          <pc:docMk/>
          <pc:sldMk cId="2373857016" sldId="668"/>
        </pc:sldMkLst>
      </pc:sldChg>
      <pc:sldChg chg="add">
        <pc:chgData name="Vincenzo Mastrolia" userId="9c1b0f1d26c1a45c" providerId="LiveId" clId="{A0E56E0E-8736-43C6-8BBB-B469DBF6B590}" dt="2025-11-17T14:57:27.862" v="0"/>
        <pc:sldMkLst>
          <pc:docMk/>
          <pc:sldMk cId="3531590469" sldId="669"/>
        </pc:sldMkLst>
      </pc:sldChg>
      <pc:sldChg chg="add">
        <pc:chgData name="Vincenzo Mastrolia" userId="9c1b0f1d26c1a45c" providerId="LiveId" clId="{A0E56E0E-8736-43C6-8BBB-B469DBF6B590}" dt="2025-11-17T14:57:27.862" v="0"/>
        <pc:sldMkLst>
          <pc:docMk/>
          <pc:sldMk cId="670882546" sldId="670"/>
        </pc:sldMkLst>
      </pc:sldChg>
      <pc:sldChg chg="add">
        <pc:chgData name="Vincenzo Mastrolia" userId="9c1b0f1d26c1a45c" providerId="LiveId" clId="{A0E56E0E-8736-43C6-8BBB-B469DBF6B590}" dt="2025-11-17T14:57:27.862" v="0"/>
        <pc:sldMkLst>
          <pc:docMk/>
          <pc:sldMk cId="3252484448" sldId="671"/>
        </pc:sldMkLst>
      </pc:sldChg>
      <pc:sldChg chg="add">
        <pc:chgData name="Vincenzo Mastrolia" userId="9c1b0f1d26c1a45c" providerId="LiveId" clId="{A0E56E0E-8736-43C6-8BBB-B469DBF6B590}" dt="2025-11-17T14:57:27.862" v="0"/>
        <pc:sldMkLst>
          <pc:docMk/>
          <pc:sldMk cId="1472876333" sldId="672"/>
        </pc:sldMkLst>
      </pc:sldChg>
      <pc:sldChg chg="add">
        <pc:chgData name="Vincenzo Mastrolia" userId="9c1b0f1d26c1a45c" providerId="LiveId" clId="{A0E56E0E-8736-43C6-8BBB-B469DBF6B590}" dt="2025-11-17T14:57:27.862" v="0"/>
        <pc:sldMkLst>
          <pc:docMk/>
          <pc:sldMk cId="1009612486" sldId="673"/>
        </pc:sldMkLst>
      </pc:sldChg>
      <pc:sldChg chg="add">
        <pc:chgData name="Vincenzo Mastrolia" userId="9c1b0f1d26c1a45c" providerId="LiveId" clId="{A0E56E0E-8736-43C6-8BBB-B469DBF6B590}" dt="2025-11-17T14:57:27.862" v="0"/>
        <pc:sldMkLst>
          <pc:docMk/>
          <pc:sldMk cId="605310660" sldId="674"/>
        </pc:sldMkLst>
      </pc:sldChg>
      <pc:sldChg chg="add">
        <pc:chgData name="Vincenzo Mastrolia" userId="9c1b0f1d26c1a45c" providerId="LiveId" clId="{A0E56E0E-8736-43C6-8BBB-B469DBF6B590}" dt="2025-11-17T14:57:27.862" v="0"/>
        <pc:sldMkLst>
          <pc:docMk/>
          <pc:sldMk cId="1792799570" sldId="675"/>
        </pc:sldMkLst>
      </pc:sldChg>
      <pc:sldChg chg="add">
        <pc:chgData name="Vincenzo Mastrolia" userId="9c1b0f1d26c1a45c" providerId="LiveId" clId="{A0E56E0E-8736-43C6-8BBB-B469DBF6B590}" dt="2025-11-17T14:57:27.862" v="0"/>
        <pc:sldMkLst>
          <pc:docMk/>
          <pc:sldMk cId="361853445" sldId="676"/>
        </pc:sldMkLst>
      </pc:sldChg>
      <pc:sldChg chg="add">
        <pc:chgData name="Vincenzo Mastrolia" userId="9c1b0f1d26c1a45c" providerId="LiveId" clId="{A0E56E0E-8736-43C6-8BBB-B469DBF6B590}" dt="2025-11-17T14:57:27.862" v="0"/>
        <pc:sldMkLst>
          <pc:docMk/>
          <pc:sldMk cId="915139792" sldId="677"/>
        </pc:sldMkLst>
      </pc:sldChg>
      <pc:sldChg chg="add">
        <pc:chgData name="Vincenzo Mastrolia" userId="9c1b0f1d26c1a45c" providerId="LiveId" clId="{A0E56E0E-8736-43C6-8BBB-B469DBF6B590}" dt="2025-11-17T14:57:27.862" v="0"/>
        <pc:sldMkLst>
          <pc:docMk/>
          <pc:sldMk cId="2592977197" sldId="678"/>
        </pc:sldMkLst>
      </pc:sldChg>
      <pc:sldChg chg="add">
        <pc:chgData name="Vincenzo Mastrolia" userId="9c1b0f1d26c1a45c" providerId="LiveId" clId="{A0E56E0E-8736-43C6-8BBB-B469DBF6B590}" dt="2025-11-17T14:57:27.862" v="0"/>
        <pc:sldMkLst>
          <pc:docMk/>
          <pc:sldMk cId="2398417536" sldId="679"/>
        </pc:sldMkLst>
      </pc:sldChg>
      <pc:sldChg chg="add">
        <pc:chgData name="Vincenzo Mastrolia" userId="9c1b0f1d26c1a45c" providerId="LiveId" clId="{A0E56E0E-8736-43C6-8BBB-B469DBF6B590}" dt="2025-11-17T14:57:27.862" v="0"/>
        <pc:sldMkLst>
          <pc:docMk/>
          <pc:sldMk cId="2006477231" sldId="680"/>
        </pc:sldMkLst>
      </pc:sldChg>
      <pc:sldChg chg="modSp add mod">
        <pc:chgData name="Vincenzo Mastrolia" userId="9c1b0f1d26c1a45c" providerId="LiveId" clId="{A0E56E0E-8736-43C6-8BBB-B469DBF6B590}" dt="2025-11-17T15:06:50.372" v="227" actId="27636"/>
        <pc:sldMkLst>
          <pc:docMk/>
          <pc:sldMk cId="2696225849" sldId="681"/>
        </pc:sldMkLst>
        <pc:spChg chg="mod">
          <ac:chgData name="Vincenzo Mastrolia" userId="9c1b0f1d26c1a45c" providerId="LiveId" clId="{A0E56E0E-8736-43C6-8BBB-B469DBF6B590}" dt="2025-11-17T15:06:50.372" v="227" actId="27636"/>
          <ac:spMkLst>
            <pc:docMk/>
            <pc:sldMk cId="2696225849" sldId="681"/>
            <ac:spMk id="7" creationId="{462FB3EA-2E21-4FD4-9DFA-5D85DB7BFDF5}"/>
          </ac:spMkLst>
        </pc:spChg>
      </pc:sldChg>
      <pc:sldChg chg="add">
        <pc:chgData name="Vincenzo Mastrolia" userId="9c1b0f1d26c1a45c" providerId="LiveId" clId="{A0E56E0E-8736-43C6-8BBB-B469DBF6B590}" dt="2025-11-17T14:57:27.862" v="0"/>
        <pc:sldMkLst>
          <pc:docMk/>
          <pc:sldMk cId="311884389" sldId="682"/>
        </pc:sldMkLst>
      </pc:sldChg>
      <pc:sldChg chg="add">
        <pc:chgData name="Vincenzo Mastrolia" userId="9c1b0f1d26c1a45c" providerId="LiveId" clId="{A0E56E0E-8736-43C6-8BBB-B469DBF6B590}" dt="2025-11-17T14:57:27.862" v="0"/>
        <pc:sldMkLst>
          <pc:docMk/>
          <pc:sldMk cId="942637118" sldId="683"/>
        </pc:sldMkLst>
      </pc:sldChg>
      <pc:sldChg chg="add">
        <pc:chgData name="Vincenzo Mastrolia" userId="9c1b0f1d26c1a45c" providerId="LiveId" clId="{A0E56E0E-8736-43C6-8BBB-B469DBF6B590}" dt="2025-11-17T14:57:27.862" v="0"/>
        <pc:sldMkLst>
          <pc:docMk/>
          <pc:sldMk cId="4293969394" sldId="684"/>
        </pc:sldMkLst>
      </pc:sldChg>
      <pc:sldChg chg="add">
        <pc:chgData name="Vincenzo Mastrolia" userId="9c1b0f1d26c1a45c" providerId="LiveId" clId="{A0E56E0E-8736-43C6-8BBB-B469DBF6B590}" dt="2025-11-17T14:57:27.862" v="0"/>
        <pc:sldMkLst>
          <pc:docMk/>
          <pc:sldMk cId="1076586735" sldId="685"/>
        </pc:sldMkLst>
      </pc:sldChg>
      <pc:sldChg chg="add">
        <pc:chgData name="Vincenzo Mastrolia" userId="9c1b0f1d26c1a45c" providerId="LiveId" clId="{A0E56E0E-8736-43C6-8BBB-B469DBF6B590}" dt="2025-11-17T14:57:27.862" v="0"/>
        <pc:sldMkLst>
          <pc:docMk/>
          <pc:sldMk cId="1635872503" sldId="686"/>
        </pc:sldMkLst>
      </pc:sldChg>
      <pc:sldChg chg="addSp delSp modSp new mod ord modClrScheme chgLayout">
        <pc:chgData name="Vincenzo Mastrolia" userId="9c1b0f1d26c1a45c" providerId="LiveId" clId="{A0E56E0E-8736-43C6-8BBB-B469DBF6B590}" dt="2025-11-17T15:04:53.733" v="170" actId="478"/>
        <pc:sldMkLst>
          <pc:docMk/>
          <pc:sldMk cId="1381857946" sldId="687"/>
        </pc:sldMkLst>
        <pc:spChg chg="del mod ord">
          <ac:chgData name="Vincenzo Mastrolia" userId="9c1b0f1d26c1a45c" providerId="LiveId" clId="{A0E56E0E-8736-43C6-8BBB-B469DBF6B590}" dt="2025-11-17T15:00:15.266" v="23" actId="700"/>
          <ac:spMkLst>
            <pc:docMk/>
            <pc:sldMk cId="1381857946" sldId="687"/>
            <ac:spMk id="2" creationId="{191BF7E7-52C5-449A-A691-36C91DCB35D9}"/>
          </ac:spMkLst>
        </pc:spChg>
        <pc:spChg chg="del mod ord">
          <ac:chgData name="Vincenzo Mastrolia" userId="9c1b0f1d26c1a45c" providerId="LiveId" clId="{A0E56E0E-8736-43C6-8BBB-B469DBF6B590}" dt="2025-11-17T15:00:15.266" v="23" actId="700"/>
          <ac:spMkLst>
            <pc:docMk/>
            <pc:sldMk cId="1381857946" sldId="687"/>
            <ac:spMk id="3" creationId="{4A7C1376-803C-693F-3485-C237DE2B656C}"/>
          </ac:spMkLst>
        </pc:spChg>
        <pc:spChg chg="add mod ord">
          <ac:chgData name="Vincenzo Mastrolia" userId="9c1b0f1d26c1a45c" providerId="LiveId" clId="{A0E56E0E-8736-43C6-8BBB-B469DBF6B590}" dt="2025-11-17T15:01:36.769" v="93" actId="27636"/>
          <ac:spMkLst>
            <pc:docMk/>
            <pc:sldMk cId="1381857946" sldId="687"/>
            <ac:spMk id="4" creationId="{32CDB022-F530-0FBA-AF4A-3BF16CE1C817}"/>
          </ac:spMkLst>
        </pc:spChg>
        <pc:spChg chg="add mod ord">
          <ac:chgData name="Vincenzo Mastrolia" userId="9c1b0f1d26c1a45c" providerId="LiveId" clId="{A0E56E0E-8736-43C6-8BBB-B469DBF6B590}" dt="2025-11-17T15:00:15.266" v="23" actId="700"/>
          <ac:spMkLst>
            <pc:docMk/>
            <pc:sldMk cId="1381857946" sldId="687"/>
            <ac:spMk id="5" creationId="{CC566543-C7D3-089D-0A75-C49C651EC473}"/>
          </ac:spMkLst>
        </pc:spChg>
        <pc:spChg chg="add del mod">
          <ac:chgData name="Vincenzo Mastrolia" userId="9c1b0f1d26c1a45c" providerId="LiveId" clId="{A0E56E0E-8736-43C6-8BBB-B469DBF6B590}" dt="2025-11-17T15:04:51.844" v="168" actId="478"/>
          <ac:spMkLst>
            <pc:docMk/>
            <pc:sldMk cId="1381857946" sldId="687"/>
            <ac:spMk id="6" creationId="{91C6CA7E-7E3A-125B-08C9-ABE79087A42A}"/>
          </ac:spMkLst>
        </pc:spChg>
        <pc:spChg chg="add del mod">
          <ac:chgData name="Vincenzo Mastrolia" userId="9c1b0f1d26c1a45c" providerId="LiveId" clId="{A0E56E0E-8736-43C6-8BBB-B469DBF6B590}" dt="2025-11-17T15:04:48.291" v="166" actId="478"/>
          <ac:spMkLst>
            <pc:docMk/>
            <pc:sldMk cId="1381857946" sldId="687"/>
            <ac:spMk id="7" creationId="{B24A1308-AE6D-41DD-8086-878728F0E79D}"/>
          </ac:spMkLst>
        </pc:spChg>
        <pc:picChg chg="add del mod">
          <ac:chgData name="Vincenzo Mastrolia" userId="9c1b0f1d26c1a45c" providerId="LiveId" clId="{A0E56E0E-8736-43C6-8BBB-B469DBF6B590}" dt="2025-11-17T15:04:52.638" v="169" actId="478"/>
          <ac:picMkLst>
            <pc:docMk/>
            <pc:sldMk cId="1381857946" sldId="687"/>
            <ac:picMk id="8" creationId="{24151788-FC95-4B47-A099-93315863F54D}"/>
          </ac:picMkLst>
        </pc:picChg>
        <pc:picChg chg="add del mod">
          <ac:chgData name="Vincenzo Mastrolia" userId="9c1b0f1d26c1a45c" providerId="LiveId" clId="{A0E56E0E-8736-43C6-8BBB-B469DBF6B590}" dt="2025-11-17T15:04:53.733" v="170" actId="478"/>
          <ac:picMkLst>
            <pc:docMk/>
            <pc:sldMk cId="1381857946" sldId="687"/>
            <ac:picMk id="9" creationId="{9F0E3C95-CDAB-E888-99CE-6888A7C8BE24}"/>
          </ac:picMkLst>
        </pc:picChg>
      </pc:sldChg>
      <pc:sldChg chg="modSp new mod chgLayout">
        <pc:chgData name="Vincenzo Mastrolia" userId="9c1b0f1d26c1a45c" providerId="LiveId" clId="{A0E56E0E-8736-43C6-8BBB-B469DBF6B590}" dt="2025-11-17T15:07:34.923" v="232" actId="14100"/>
        <pc:sldMkLst>
          <pc:docMk/>
          <pc:sldMk cId="1493413129" sldId="688"/>
        </pc:sldMkLst>
        <pc:spChg chg="mod ord">
          <ac:chgData name="Vincenzo Mastrolia" userId="9c1b0f1d26c1a45c" providerId="LiveId" clId="{A0E56E0E-8736-43C6-8BBB-B469DBF6B590}" dt="2025-11-17T15:07:32.005" v="231" actId="700"/>
          <ac:spMkLst>
            <pc:docMk/>
            <pc:sldMk cId="1493413129" sldId="688"/>
            <ac:spMk id="2" creationId="{A7EA4649-AC4C-468C-CAEE-ECB7C572A4EC}"/>
          </ac:spMkLst>
        </pc:spChg>
        <pc:spChg chg="mod ord">
          <ac:chgData name="Vincenzo Mastrolia" userId="9c1b0f1d26c1a45c" providerId="LiveId" clId="{A0E56E0E-8736-43C6-8BBB-B469DBF6B590}" dt="2025-11-17T15:07:34.923" v="232" actId="14100"/>
          <ac:spMkLst>
            <pc:docMk/>
            <pc:sldMk cId="1493413129" sldId="688"/>
            <ac:spMk id="3" creationId="{50F13F08-485F-5754-92C9-86A9028C95AB}"/>
          </ac:spMkLst>
        </pc:spChg>
      </pc:sldChg>
      <pc:sldChg chg="add">
        <pc:chgData name="Vincenzo Mastrolia" userId="9c1b0f1d26c1a45c" providerId="LiveId" clId="{A0E56E0E-8736-43C6-8BBB-B469DBF6B590}" dt="2025-11-17T15:10:22.745" v="237"/>
        <pc:sldMkLst>
          <pc:docMk/>
          <pc:sldMk cId="1787094691" sldId="689"/>
        </pc:sldMkLst>
      </pc:sldChg>
      <pc:sldChg chg="addSp delSp modSp new mod modClrScheme chgLayout">
        <pc:chgData name="Vincenzo Mastrolia" userId="9c1b0f1d26c1a45c" providerId="LiveId" clId="{A0E56E0E-8736-43C6-8BBB-B469DBF6B590}" dt="2025-11-17T22:48:44.917" v="357" actId="20577"/>
        <pc:sldMkLst>
          <pc:docMk/>
          <pc:sldMk cId="2071155306" sldId="690"/>
        </pc:sldMkLst>
        <pc:spChg chg="add mod ord">
          <ac:chgData name="Vincenzo Mastrolia" userId="9c1b0f1d26c1a45c" providerId="LiveId" clId="{A0E56E0E-8736-43C6-8BBB-B469DBF6B590}" dt="2025-11-17T22:48:44.917" v="357" actId="20577"/>
          <ac:spMkLst>
            <pc:docMk/>
            <pc:sldMk cId="2071155306" sldId="690"/>
            <ac:spMk id="2" creationId="{4D3533D0-DEC1-47C5-C946-6CF16A8E3A48}"/>
          </ac:spMkLst>
        </pc:spChg>
        <pc:spChg chg="del">
          <ac:chgData name="Vincenzo Mastrolia" userId="9c1b0f1d26c1a45c" providerId="LiveId" clId="{A0E56E0E-8736-43C6-8BBB-B469DBF6B590}" dt="2025-11-17T15:17:13.469" v="239" actId="700"/>
          <ac:spMkLst>
            <pc:docMk/>
            <pc:sldMk cId="2071155306" sldId="690"/>
            <ac:spMk id="2" creationId="{64A30100-793A-89E7-F17A-9F17B97D7B74}"/>
          </ac:spMkLst>
        </pc:spChg>
        <pc:spChg chg="add mod ord">
          <ac:chgData name="Vincenzo Mastrolia" userId="9c1b0f1d26c1a45c" providerId="LiveId" clId="{A0E56E0E-8736-43C6-8BBB-B469DBF6B590}" dt="2025-11-17T22:48:34.762" v="340" actId="14100"/>
          <ac:spMkLst>
            <pc:docMk/>
            <pc:sldMk cId="2071155306" sldId="690"/>
            <ac:spMk id="3" creationId="{4C76096B-7B8D-5C71-D1AD-2E82B874076B}"/>
          </ac:spMkLst>
        </pc:spChg>
        <pc:spChg chg="del">
          <ac:chgData name="Vincenzo Mastrolia" userId="9c1b0f1d26c1a45c" providerId="LiveId" clId="{A0E56E0E-8736-43C6-8BBB-B469DBF6B590}" dt="2025-11-17T15:17:13.469" v="239" actId="700"/>
          <ac:spMkLst>
            <pc:docMk/>
            <pc:sldMk cId="2071155306" sldId="690"/>
            <ac:spMk id="3" creationId="{9BA8B67F-EA69-40C0-0D8F-33614FDB1C52}"/>
          </ac:spMkLst>
        </pc:spChg>
        <pc:spChg chg="add del mod">
          <ac:chgData name="Vincenzo Mastrolia" userId="9c1b0f1d26c1a45c" providerId="LiveId" clId="{A0E56E0E-8736-43C6-8BBB-B469DBF6B590}" dt="2025-11-17T22:48:18.004" v="337" actId="478"/>
          <ac:spMkLst>
            <pc:docMk/>
            <pc:sldMk cId="2071155306" sldId="690"/>
            <ac:spMk id="4" creationId="{9516F523-AD26-4424-2D21-CB358733D938}"/>
          </ac:spMkLst>
        </pc:spChg>
        <pc:spChg chg="add mod">
          <ac:chgData name="Vincenzo Mastrolia" userId="9c1b0f1d26c1a45c" providerId="LiveId" clId="{A0E56E0E-8736-43C6-8BBB-B469DBF6B590}" dt="2025-11-17T22:48:37.704" v="347" actId="20577"/>
          <ac:spMkLst>
            <pc:docMk/>
            <pc:sldMk cId="2071155306" sldId="690"/>
            <ac:spMk id="10" creationId="{09E3912C-34D7-83FD-B297-8CCCD76B201E}"/>
          </ac:spMkLst>
        </pc:spChg>
        <pc:picChg chg="add mod">
          <ac:chgData name="Vincenzo Mastrolia" userId="9c1b0f1d26c1a45c" providerId="LiveId" clId="{A0E56E0E-8736-43C6-8BBB-B469DBF6B590}" dt="2025-11-17T15:37:29.830" v="265" actId="1076"/>
          <ac:picMkLst>
            <pc:docMk/>
            <pc:sldMk cId="2071155306" sldId="690"/>
            <ac:picMk id="5" creationId="{098B5B55-F0E6-558D-0A03-D143B6DECFD5}"/>
          </ac:picMkLst>
        </pc:picChg>
        <pc:picChg chg="add mod">
          <ac:chgData name="Vincenzo Mastrolia" userId="9c1b0f1d26c1a45c" providerId="LiveId" clId="{A0E56E0E-8736-43C6-8BBB-B469DBF6B590}" dt="2025-11-17T15:37:29.830" v="265" actId="1076"/>
          <ac:picMkLst>
            <pc:docMk/>
            <pc:sldMk cId="2071155306" sldId="690"/>
            <ac:picMk id="6" creationId="{DDE92F1D-B39A-3640-2CA8-BA257769EA94}"/>
          </ac:picMkLst>
        </pc:picChg>
        <pc:picChg chg="add mod">
          <ac:chgData name="Vincenzo Mastrolia" userId="9c1b0f1d26c1a45c" providerId="LiveId" clId="{A0E56E0E-8736-43C6-8BBB-B469DBF6B590}" dt="2025-11-17T15:37:29.830" v="265" actId="1076"/>
          <ac:picMkLst>
            <pc:docMk/>
            <pc:sldMk cId="2071155306" sldId="690"/>
            <ac:picMk id="7" creationId="{C352318D-2861-BC79-C0CF-D12053462778}"/>
          </ac:picMkLst>
        </pc:picChg>
        <pc:picChg chg="add mod">
          <ac:chgData name="Vincenzo Mastrolia" userId="9c1b0f1d26c1a45c" providerId="LiveId" clId="{A0E56E0E-8736-43C6-8BBB-B469DBF6B590}" dt="2025-11-17T15:37:29.830" v="265" actId="1076"/>
          <ac:picMkLst>
            <pc:docMk/>
            <pc:sldMk cId="2071155306" sldId="690"/>
            <ac:picMk id="9" creationId="{1B867736-27E3-40BB-D8B1-EB44D0820590}"/>
          </ac:picMkLst>
        </pc:picChg>
      </pc:sldChg>
      <pc:sldMasterChg chg="modSldLayout">
        <pc:chgData name="Vincenzo Mastrolia" userId="9c1b0f1d26c1a45c" providerId="LiveId" clId="{A0E56E0E-8736-43C6-8BBB-B469DBF6B590}" dt="2025-11-17T15:07:12.167" v="230" actId="12"/>
        <pc:sldMasterMkLst>
          <pc:docMk/>
          <pc:sldMasterMk cId="443691776" sldId="2147483648"/>
        </pc:sldMasterMkLst>
        <pc:sldLayoutChg chg="addSp modSp mod">
          <pc:chgData name="Vincenzo Mastrolia" userId="9c1b0f1d26c1a45c" providerId="LiveId" clId="{A0E56E0E-8736-43C6-8BBB-B469DBF6B590}" dt="2025-11-17T15:04:41.884" v="165" actId="1076"/>
          <pc:sldLayoutMkLst>
            <pc:docMk/>
            <pc:sldMasterMk cId="443691776" sldId="2147483648"/>
            <pc:sldLayoutMk cId="873386575" sldId="2147483649"/>
          </pc:sldLayoutMkLst>
          <pc:spChg chg="mod">
            <ac:chgData name="Vincenzo Mastrolia" userId="9c1b0f1d26c1a45c" providerId="LiveId" clId="{A0E56E0E-8736-43C6-8BBB-B469DBF6B590}" dt="2025-11-17T15:04:41.884" v="165" actId="1076"/>
            <ac:spMkLst>
              <pc:docMk/>
              <pc:sldMasterMk cId="443691776" sldId="2147483648"/>
              <pc:sldLayoutMk cId="873386575" sldId="2147483649"/>
              <ac:spMk id="2" creationId="{31EFB710-20EB-755E-2F66-CDFCD3153888}"/>
            </ac:spMkLst>
          </pc:spChg>
          <pc:spChg chg="mod">
            <ac:chgData name="Vincenzo Mastrolia" userId="9c1b0f1d26c1a45c" providerId="LiveId" clId="{A0E56E0E-8736-43C6-8BBB-B469DBF6B590}" dt="2025-11-17T15:04:41.884" v="165" actId="1076"/>
            <ac:spMkLst>
              <pc:docMk/>
              <pc:sldMasterMk cId="443691776" sldId="2147483648"/>
              <pc:sldLayoutMk cId="873386575" sldId="2147483649"/>
              <ac:spMk id="3" creationId="{1E2B8A0C-4C3F-F485-7CD2-E28F35B3337F}"/>
            </ac:spMkLst>
          </pc:spChg>
          <pc:spChg chg="add mod">
            <ac:chgData name="Vincenzo Mastrolia" userId="9c1b0f1d26c1a45c" providerId="LiveId" clId="{A0E56E0E-8736-43C6-8BBB-B469DBF6B590}" dt="2025-11-17T15:01:46.472" v="95" actId="122"/>
            <ac:spMkLst>
              <pc:docMk/>
              <pc:sldMasterMk cId="443691776" sldId="2147483648"/>
              <pc:sldLayoutMk cId="873386575" sldId="2147483649"/>
              <ac:spMk id="7" creationId="{085E3E08-1DB3-1044-943A-0296AC06FE59}"/>
            </ac:spMkLst>
          </pc:spChg>
          <pc:spChg chg="add mod">
            <ac:chgData name="Vincenzo Mastrolia" userId="9c1b0f1d26c1a45c" providerId="LiveId" clId="{A0E56E0E-8736-43C6-8BBB-B469DBF6B590}" dt="2025-11-17T15:04:34.681" v="164" actId="1076"/>
            <ac:spMkLst>
              <pc:docMk/>
              <pc:sldMasterMk cId="443691776" sldId="2147483648"/>
              <pc:sldLayoutMk cId="873386575" sldId="2147483649"/>
              <ac:spMk id="8" creationId="{E88D1699-9107-02FE-80A6-BEBCD9284613}"/>
            </ac:spMkLst>
          </pc:spChg>
          <pc:picChg chg="add mod">
            <ac:chgData name="Vincenzo Mastrolia" userId="9c1b0f1d26c1a45c" providerId="LiveId" clId="{A0E56E0E-8736-43C6-8BBB-B469DBF6B590}" dt="2025-11-17T15:01:22.800" v="88"/>
            <ac:picMkLst>
              <pc:docMk/>
              <pc:sldMasterMk cId="443691776" sldId="2147483648"/>
              <pc:sldLayoutMk cId="873386575" sldId="2147483649"/>
              <ac:picMk id="9" creationId="{EC3DCE54-BA6F-59DE-ED21-002D2EE1F95E}"/>
            </ac:picMkLst>
          </pc:picChg>
          <pc:picChg chg="add mod">
            <ac:chgData name="Vincenzo Mastrolia" userId="9c1b0f1d26c1a45c" providerId="LiveId" clId="{A0E56E0E-8736-43C6-8BBB-B469DBF6B590}" dt="2025-11-17T15:01:22.800" v="88"/>
            <ac:picMkLst>
              <pc:docMk/>
              <pc:sldMasterMk cId="443691776" sldId="2147483648"/>
              <pc:sldLayoutMk cId="873386575" sldId="2147483649"/>
              <ac:picMk id="10" creationId="{DADCE397-F61F-388E-63F9-B995E668BF50}"/>
            </ac:picMkLst>
          </pc:picChg>
          <pc:cxnChg chg="add mod">
            <ac:chgData name="Vincenzo Mastrolia" userId="9c1b0f1d26c1a45c" providerId="LiveId" clId="{A0E56E0E-8736-43C6-8BBB-B469DBF6B590}" dt="2025-11-17T15:04:41.884" v="165" actId="1076"/>
            <ac:cxnSpMkLst>
              <pc:docMk/>
              <pc:sldMasterMk cId="443691776" sldId="2147483648"/>
              <pc:sldLayoutMk cId="873386575" sldId="2147483649"/>
              <ac:cxnSpMk id="12" creationId="{04C6164B-DB15-74F8-D208-E8D0341498C5}"/>
            </ac:cxnSpMkLst>
          </pc:cxnChg>
        </pc:sldLayoutChg>
        <pc:sldLayoutChg chg="modSp mod">
          <pc:chgData name="Vincenzo Mastrolia" userId="9c1b0f1d26c1a45c" providerId="LiveId" clId="{A0E56E0E-8736-43C6-8BBB-B469DBF6B590}" dt="2025-11-17T15:07:12.167" v="230" actId="12"/>
          <pc:sldLayoutMkLst>
            <pc:docMk/>
            <pc:sldMasterMk cId="443691776" sldId="2147483648"/>
            <pc:sldLayoutMk cId="493050488" sldId="2147483650"/>
          </pc:sldLayoutMkLst>
          <pc:spChg chg="mod">
            <ac:chgData name="Vincenzo Mastrolia" userId="9c1b0f1d26c1a45c" providerId="LiveId" clId="{A0E56E0E-8736-43C6-8BBB-B469DBF6B590}" dt="2025-11-17T15:07:12.167" v="230" actId="12"/>
            <ac:spMkLst>
              <pc:docMk/>
              <pc:sldMasterMk cId="443691776" sldId="2147483648"/>
              <pc:sldLayoutMk cId="493050488" sldId="2147483650"/>
              <ac:spMk id="3" creationId="{2885BB31-F824-60AD-5A99-ECFAACAA8D7C}"/>
            </ac:spMkLst>
          </pc:spChg>
        </pc:sldLayoutChg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1FE3A9-EB88-4F3E-BC13-21D01E6DF49C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4AEA9A-0A32-49E6-8689-C373B0AE96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60519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AF3F3-6738-733A-5CA9-AFABDA9A9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E858E7-D80B-E1B7-B11C-757BCB002E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7F81D2-D381-0BE6-A2A6-623F53D086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62464F-3128-DC8C-4D48-F71E93545A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2444DE-498F-42A0-A0CF-E563CE03C681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11253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2444DE-498F-42A0-A0CF-E563CE03C681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42749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98B7B-FC65-172B-BB3E-3B72B59D8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9D1E8D-3A1C-5E52-D830-66ED3EB40F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95BD84-CD04-2E87-3E4F-C83359D0CB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533707-61CB-6753-A2C1-EBBC5DBF24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2444DE-498F-42A0-A0CF-E563CE03C681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385586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FB710-20EB-755E-2F66-CDFCD31538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77494"/>
            <a:ext cx="9144000" cy="182692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2B8A0C-4C3F-F485-7CD2-E28F35B333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56521"/>
            <a:ext cx="9144000" cy="432127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D3423F-16F5-87E9-1C27-524EA93F0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CD4E-74DE-4763-B638-F941B4F9A25A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1BFA95-18B6-1658-17F3-6E812F264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9F7E06-79B9-1394-27BC-33C01A013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24C5C-1799-4F07-ACF9-6CDD4409CC49}" type="slidenum">
              <a:rPr lang="en-GB" smtClean="0"/>
              <a:t>‹#›</a:t>
            </a:fld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085E3E08-1DB3-1044-943A-0296AC06FE59}"/>
              </a:ext>
            </a:extLst>
          </p:cNvPr>
          <p:cNvSpPr txBox="1">
            <a:spLocks/>
          </p:cNvSpPr>
          <p:nvPr userDrawn="1"/>
        </p:nvSpPr>
        <p:spPr>
          <a:xfrm>
            <a:off x="4077730" y="5441092"/>
            <a:ext cx="4036540" cy="11162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50000"/>
              </a:lnSpc>
              <a:buNone/>
            </a:pPr>
            <a:r>
              <a:rPr lang="en-GB" sz="1600" b="1" i="1" dirty="0"/>
              <a:t>Vincenzo Mastrolia</a:t>
            </a:r>
          </a:p>
          <a:p>
            <a:pPr marL="0" indent="0" algn="ctr">
              <a:lnSpc>
                <a:spcPct val="50000"/>
              </a:lnSpc>
              <a:buNone/>
            </a:pPr>
            <a:r>
              <a:rPr lang="en-GB" sz="1600" i="1" dirty="0"/>
              <a:t>Research Associate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GB" sz="1600" i="1" dirty="0"/>
              <a:t>Department of Physiology, Development and Neuroscience</a:t>
            </a:r>
          </a:p>
          <a:p>
            <a:pPr marL="0" indent="0" algn="ctr">
              <a:lnSpc>
                <a:spcPct val="50000"/>
              </a:lnSpc>
              <a:buNone/>
            </a:pPr>
            <a:r>
              <a:rPr lang="en-GB" sz="1600" i="1" dirty="0"/>
              <a:t>University of Cambridge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8D1699-9107-02FE-80A6-BEBCD9284613}"/>
              </a:ext>
            </a:extLst>
          </p:cNvPr>
          <p:cNvSpPr txBox="1"/>
          <p:nvPr userDrawn="1"/>
        </p:nvSpPr>
        <p:spPr>
          <a:xfrm>
            <a:off x="4062591" y="80396"/>
            <a:ext cx="40668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PT5050 PHYSIOLOGY</a:t>
            </a:r>
          </a:p>
        </p:txBody>
      </p:sp>
      <p:pic>
        <p:nvPicPr>
          <p:cNvPr id="9" name="Picture 8" descr="A black text on a black background&#10;&#10;AI-generated content may be incorrect.">
            <a:extLst>
              <a:ext uri="{FF2B5EF4-FFF2-40B4-BE49-F238E27FC236}">
                <a16:creationId xmlns:a16="http://schemas.microsoft.com/office/drawing/2014/main" id="{EC3DCE54-BA6F-59DE-ED21-002D2EE1F9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0998" y="5669727"/>
            <a:ext cx="3047510" cy="634522"/>
          </a:xfrm>
          <a:prstGeom prst="rect">
            <a:avLst/>
          </a:prstGeom>
        </p:spPr>
      </p:pic>
      <p:pic>
        <p:nvPicPr>
          <p:cNvPr id="10" name="Picture 9" descr="A diagram of a graph&#10;&#10;AI-generated content may be incorrect.">
            <a:extLst>
              <a:ext uri="{FF2B5EF4-FFF2-40B4-BE49-F238E27FC236}">
                <a16:creationId xmlns:a16="http://schemas.microsoft.com/office/drawing/2014/main" id="{DADCE397-F61F-388E-63F9-B995E668BF5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912" y="5336018"/>
            <a:ext cx="2727804" cy="1292821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4C6164B-DB15-74F8-D208-E8D0341498C5}"/>
              </a:ext>
            </a:extLst>
          </p:cNvPr>
          <p:cNvCxnSpPr/>
          <p:nvPr userDrawn="1"/>
        </p:nvCxnSpPr>
        <p:spPr>
          <a:xfrm>
            <a:off x="1524000" y="4004420"/>
            <a:ext cx="9144000" cy="0"/>
          </a:xfrm>
          <a:prstGeom prst="line">
            <a:avLst/>
          </a:prstGeom>
          <a:ln w="57150">
            <a:gradFill flip="none" rotWithShape="1">
              <a:gsLst>
                <a:gs pos="100000">
                  <a:schemeClr val="bg1"/>
                </a:gs>
                <a:gs pos="0">
                  <a:schemeClr val="accent1">
                    <a:lumMod val="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3386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C5A3C-CFFD-2217-6C66-FDEDCAE6C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953295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5BB31-F824-60AD-5A99-ECFAACAA8D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50" y="1253331"/>
            <a:ext cx="5810250" cy="519509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buFont typeface="Calibri" panose="020F0502020204030204" pitchFamily="34" charset="0"/>
              <a:buChar char="-"/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3CD282-6CF2-2CCA-B10D-9B51F4250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CD4E-74DE-4763-B638-F941B4F9A25A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E8DF3F-B538-F619-ED1D-4DFC0F149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B840AA-7866-74D3-E894-1744DF2A1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24C5C-1799-4F07-ACF9-6CDD4409CC49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29C6DC9-B37C-468E-59DE-808B857C0E3F}"/>
              </a:ext>
            </a:extLst>
          </p:cNvPr>
          <p:cNvCxnSpPr/>
          <p:nvPr userDrawn="1"/>
        </p:nvCxnSpPr>
        <p:spPr>
          <a:xfrm>
            <a:off x="0" y="962025"/>
            <a:ext cx="12192000" cy="0"/>
          </a:xfrm>
          <a:prstGeom prst="line">
            <a:avLst/>
          </a:prstGeom>
          <a:ln w="50800">
            <a:gradFill flip="none" rotWithShape="1">
              <a:gsLst>
                <a:gs pos="0">
                  <a:schemeClr val="accent1">
                    <a:lumMod val="67000"/>
                  </a:schemeClr>
                </a:gs>
                <a:gs pos="100000">
                  <a:srgbClr val="FFFFFF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30504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3E32F-6BCD-475D-E956-38AFB9F92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894" y="1976438"/>
            <a:ext cx="514343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93DC9-0D4A-8EA3-24AA-82BD2850A4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1894" y="4856163"/>
            <a:ext cx="514343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C89293-B1AF-5FCF-F19D-9CB0D8E05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CD4E-74DE-4763-B638-F941B4F9A25A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92F06F-70DC-5C08-8028-70B08EE04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BCCA35-D6C8-5BC6-A14A-4E7CB2C7B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24C5C-1799-4F07-ACF9-6CDD4409CC49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CB4231D-9B59-D41E-CFA0-203C44CB5920}"/>
              </a:ext>
            </a:extLst>
          </p:cNvPr>
          <p:cNvCxnSpPr/>
          <p:nvPr userDrawn="1"/>
        </p:nvCxnSpPr>
        <p:spPr>
          <a:xfrm>
            <a:off x="161894" y="4856163"/>
            <a:ext cx="5143437" cy="0"/>
          </a:xfrm>
          <a:prstGeom prst="line">
            <a:avLst/>
          </a:prstGeom>
          <a:ln w="76200">
            <a:gradFill flip="none" rotWithShape="1">
              <a:gsLst>
                <a:gs pos="0">
                  <a:schemeClr val="bg1"/>
                </a:gs>
                <a:gs pos="100000">
                  <a:schemeClr val="accent1">
                    <a:lumMod val="60000"/>
                  </a:schemeClr>
                </a:gs>
              </a:gsLst>
              <a:lin ang="10800000" scaled="0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5707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76D9E-C6C1-EB35-0201-4C7BF403C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DAC77E-25CB-76F8-A0CB-7BEFAD69A5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6812D1-F8EE-F5B1-C98B-ED4E9688B0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53D75C-632C-FFDE-5A57-0687399CF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CD4E-74DE-4763-B638-F941B4F9A25A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2DD2B5-10C3-D15B-16D6-16AF32008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A8E803-2F36-AD5E-7F01-B3287D753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24C5C-1799-4F07-ACF9-6CDD4409CC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0159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8F0CB-3945-2DC5-7EDE-7C8415A4B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081439-9907-F179-DF64-C77F84B8F6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6F988E-9E38-2CD1-FC6A-7C30EF137D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2A1EC5-1CD3-EC4F-821B-211A66E09A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04B572-B7E1-A5BC-259F-2F3D28C93C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70748C-5297-BF38-6C70-48E14071F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CD4E-74DE-4763-B638-F941B4F9A25A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229714-906A-A2B8-5F23-A42CEE37B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D03D1C-0ACC-5180-C510-FC2DDABF6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24C5C-1799-4F07-ACF9-6CDD4409CC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0996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7FCCF-DB52-DC7B-6BB4-3BD4F09F8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804058-16AA-6B3F-2894-D1F90D41C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CD4E-74DE-4763-B638-F941B4F9A25A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AE9A42-4A75-BC1F-AA32-89697F3C0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EA613F-CE6C-0F8C-1ABA-3B8358C42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24C5C-1799-4F07-ACF9-6CDD4409CC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10024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49D6F6-0BCF-F913-A75C-9446A8EE3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CD4E-74DE-4763-B638-F941B4F9A25A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E0D05D-4A29-6D83-20EB-F1F96FF7E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DA9A7B-A4F0-6935-54C1-8CB84614E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24C5C-1799-4F07-ACF9-6CDD4409CC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9222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CC6B0-8EC5-2EB4-9C81-FBC00E23D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3C0DC-B257-B74B-8D66-6C4249AF29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B3C0A4-E199-3B55-1196-C143282237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284B00-2D51-D4DA-A58B-94B8339B9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CD4E-74DE-4763-B638-F941B4F9A25A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DF051F-7F85-841C-1822-7703C03AF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CF49D4-7E6A-5DA6-73D2-F63AB482D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24C5C-1799-4F07-ACF9-6CDD4409CC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13424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129AE-3C9F-454B-EE66-FAE059AEB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8C9591-637F-5802-E05E-2027BE6B76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11667D-C65B-6CC4-6752-FD189A9760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8C161B-A1C4-B43E-5381-15875F4EC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CD4E-74DE-4763-B638-F941B4F9A25A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556D33-DDC7-F7CB-E8DF-891D3B660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EE9086-C1E4-9D63-ECF4-0F750CAA7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24C5C-1799-4F07-ACF9-6CDD4409CC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8760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53F48-13CC-62BA-AF70-63F78596A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8C2BED-A700-BA26-C987-34123EF8CF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18B62D-767C-FD5F-3550-2746CC289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CD4E-74DE-4763-B638-F941B4F9A25A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8C189F-7CA5-10F0-29EF-85E71989D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61DD43-A82C-7780-F2F8-823C24849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24C5C-1799-4F07-ACF9-6CDD4409CC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1172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194439-AB64-C78B-AA9A-AEC17BD40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142A87-E09C-FCEB-E4B7-95A9DDB9B7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912E7-5918-E1C3-E58E-ED887D1C0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CD4E-74DE-4763-B638-F941B4F9A25A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2DBF9D-9FE6-73F6-4FC3-2432F1AAF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CDF6E7-F668-3FC9-71AC-DED427D8D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24C5C-1799-4F07-ACF9-6CDD4409CC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4709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16389F-566E-A587-E8E0-6C25B2FE5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606C76-C2DC-664E-C205-C422E71EF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AF02C3-196D-225A-2BF6-7FE3A8E0DD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48CD4E-74DE-4763-B638-F941B4F9A25A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71245B-0154-348F-E407-A412DFCF09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95E32C-0B74-6F0C-197F-3CB118ADAD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A24C5C-1799-4F07-ACF9-6CDD4409CC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3691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em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em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jpeg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video" Target="NULL" TargetMode="External"/><Relationship Id="rId2" Type="http://schemas.microsoft.com/office/2007/relationships/media" Target="../media/media1.mp4"/><Relationship Id="rId3" Type="http://schemas.openxmlformats.org/officeDocument/2006/relationships/slideLayout" Target="../slideLayouts/slideLayout2.xml"/><Relationship Id="rId4" Type="http://schemas.openxmlformats.org/officeDocument/2006/relationships/image" Target="../media/image9.png"/><Relationship Id="rId5" Type="http://schemas.openxmlformats.org/officeDocument/2006/relationships/hyperlink" Target="https://www.brainfacts.org/3d-brain#intro=false&amp;focus=Brain-basal_ganglia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emf"/><Relationship Id="rId3" Type="http://schemas.openxmlformats.org/officeDocument/2006/relationships/image" Target="../media/image11.emf"/><Relationship Id="rId4" Type="http://schemas.openxmlformats.org/officeDocument/2006/relationships/image" Target="../media/image12.em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emf"/><Relationship Id="rId3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emf"/><Relationship Id="rId3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emf"/><Relationship Id="rId3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emf"/><Relationship Id="rId3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emf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emf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jpg"/><Relationship Id="rId3" Type="http://schemas.openxmlformats.org/officeDocument/2006/relationships/image" Target="../media/image22.jpeg"/><Relationship Id="rId4" Type="http://schemas.openxmlformats.org/officeDocument/2006/relationships/hyperlink" Target="https://www.news-medical.net/whitepaper/20200407/An-Overview-of-Dopamine-Receptors.aspx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video" Target="https://www.youtube.com/embed/J_wIDm1_ax4?start=15&amp;feature=oembed" TargetMode="External"/><Relationship Id="rId2" Type="http://schemas.openxmlformats.org/officeDocument/2006/relationships/video" Target="https://www.youtube.com/embed/fCL7RWaC3RA?feature=oembed" TargetMode="External"/><Relationship Id="rId3" Type="http://schemas.openxmlformats.org/officeDocument/2006/relationships/video" Target="https://www.youtube.com/embed/mSwo28t5t3k?feature=oembed" TargetMode="External"/><Relationship Id="rId4" Type="http://schemas.openxmlformats.org/officeDocument/2006/relationships/slideLayout" Target="../slideLayouts/slideLayout2.xml"/><Relationship Id="rId5" Type="http://schemas.openxmlformats.org/officeDocument/2006/relationships/image" Target="../media/image24.jpeg"/><Relationship Id="rId6" Type="http://schemas.openxmlformats.org/officeDocument/2006/relationships/image" Target="../media/image25.jpeg"/><Relationship Id="rId7" Type="http://schemas.openxmlformats.org/officeDocument/2006/relationships/image" Target="../media/image26.jpe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jpeg"/><Relationship Id="rId3" Type="http://schemas.openxmlformats.org/officeDocument/2006/relationships/image" Target="../media/image17.emf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jpe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video" Target="https://www.youtube.com/embed/e6H7-Bj7rNU?feature=oembed" TargetMode="Externa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29.jpe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jpe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jpeg"/><Relationship Id="rId3" Type="http://schemas.openxmlformats.org/officeDocument/2006/relationships/image" Target="../media/image31.jpe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jpe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video" Target="https://www.youtube.com/embed/RxWEilu-Mf4?start=14&amp;feature=oembed" TargetMode="Externa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33.jpe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doi.org/10.3390/ijms232415533" TargetMode="External"/><Relationship Id="rId3" Type="http://schemas.openxmlformats.org/officeDocument/2006/relationships/image" Target="../media/image35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emf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sciencedirect.com/journal/the-lancet-neurology/vol/21/issue/7" TargetMode="External"/><Relationship Id="rId3" Type="http://schemas.openxmlformats.org/officeDocument/2006/relationships/image" Target="../media/image39.jpe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jpeg"/><Relationship Id="rId3" Type="http://schemas.openxmlformats.org/officeDocument/2006/relationships/image" Target="../media/image40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/Relationships>
</file>

<file path=ppt/slides/_rels/slide47.xml.rels><?xml version='1.0' encoding='UTF-8' standalone='yes'?>
<Relationships xmlns="http://schemas.openxmlformats.org/package/2006/relationships"><Relationship Id="rId1" Type="http://schemas.microsoft.com/office/2007/relationships/media" Target="../media/media2.mp4"/><Relationship Id="rId2" Type="http://schemas.openxmlformats.org/officeDocument/2006/relationships/video" Target="../media/media2.mp4"/><Relationship Id="rId3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4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5.png"/><Relationship Id="rId3" Type="http://schemas.microsoft.com/office/2007/relationships/hdphoto" Target="../media/hdphoto1.wdp"/><Relationship Id="rId4" Type="http://schemas.openxmlformats.org/officeDocument/2006/relationships/image" Target="../media/image46.png"/><Relationship Id="rId5" Type="http://schemas.openxmlformats.org/officeDocument/2006/relationships/image" Target="../media/image47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Relationship Id="rId4" Type="http://schemas.openxmlformats.org/officeDocument/2006/relationships/image" Target="../media/image50.emf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8.png"/><Relationship Id="rId3" Type="http://schemas.openxmlformats.org/officeDocument/2006/relationships/image" Target="../media/image51.png"/><Relationship Id="rId4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2CDB022-F530-0FBA-AF4A-3BF16CE1C8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Basal Ganglia - Brainstem - Cranial Nerves - Cerebellum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CC566543-C7D3-089D-0A75-C49C651EC4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1857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A4649-AC4C-468C-CAEE-ECB7C572A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F13F08-485F-5754-92C9-86A9028C95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50" y="1253331"/>
            <a:ext cx="11501862" cy="5195094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GB" dirty="0"/>
              <a:t>Explain the anatomical and physiological roles of the basal ganglia and cerebellum in motor control and coordination.</a:t>
            </a:r>
          </a:p>
          <a:p>
            <a:pPr marL="457200" indent="-457200">
              <a:buFont typeface="+mj-lt"/>
              <a:buAutoNum type="arabicPeriod"/>
            </a:pPr>
            <a:endParaRPr lang="en-GB" dirty="0"/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Describe the functional organization of the brainstem and its integration with ascending and descending pathways.</a:t>
            </a:r>
          </a:p>
          <a:p>
            <a:pPr marL="457200" indent="-457200">
              <a:buFont typeface="+mj-lt"/>
              <a:buAutoNum type="arabicPeriod"/>
            </a:pPr>
            <a:endParaRPr lang="en-GB" dirty="0"/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Identify the cranial nerves, outlining their nuclei, functional components, and clinical relevance.</a:t>
            </a:r>
          </a:p>
          <a:p>
            <a:pPr marL="457200" indent="-457200">
              <a:buFont typeface="+mj-lt"/>
              <a:buAutoNum type="arabicPeriod"/>
            </a:pPr>
            <a:endParaRPr lang="en-GB" dirty="0"/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Evaluate how dysfunctions in these structures manifest in clinical presentations such as Parkinsonism, ataxia, or cranial nerve palsies.</a:t>
            </a:r>
          </a:p>
          <a:p>
            <a:pPr marL="457200" indent="-457200">
              <a:buFont typeface="+mj-lt"/>
              <a:buAutoNum type="arabicPeriod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93413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B993F-C55F-1495-8587-DE62A12CF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Interpreting tissue sections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42E616-92FE-3AF5-CDA7-69895E7B94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49" y="1253331"/>
            <a:ext cx="11275525" cy="5195094"/>
          </a:xfrm>
        </p:spPr>
        <p:txBody>
          <a:bodyPr>
            <a:normAutofit/>
          </a:bodyPr>
          <a:lstStyle/>
          <a:p>
            <a:r>
              <a:rPr lang="en-GB" b="1" dirty="0"/>
              <a:t>Nuclei</a:t>
            </a:r>
            <a:r>
              <a:rPr lang="en-GB" dirty="0"/>
              <a:t>: collections of neurons more densely packed together, with similar functions and projections</a:t>
            </a:r>
          </a:p>
          <a:p>
            <a:endParaRPr lang="en-GB" dirty="0"/>
          </a:p>
          <a:p>
            <a:r>
              <a:rPr lang="en-GB" b="1" dirty="0"/>
              <a:t>Tracts</a:t>
            </a:r>
            <a:r>
              <a:rPr lang="en-GB" dirty="0"/>
              <a:t>: bundles of neuronal projections, often ascending or descending the CNS and connecting different levels</a:t>
            </a:r>
          </a:p>
          <a:p>
            <a:endParaRPr lang="en-GB" dirty="0"/>
          </a:p>
          <a:p>
            <a:r>
              <a:rPr lang="en-GB" b="1" dirty="0"/>
              <a:t>Commissure</a:t>
            </a:r>
            <a:r>
              <a:rPr lang="en-GB" dirty="0"/>
              <a:t>: bundles of neuronal projections connecting areas between brain hemispheres</a:t>
            </a:r>
          </a:p>
          <a:p>
            <a:endParaRPr lang="en-GB" dirty="0"/>
          </a:p>
          <a:p>
            <a:r>
              <a:rPr lang="en-GB" b="1" dirty="0"/>
              <a:t>Association fibres</a:t>
            </a:r>
            <a:r>
              <a:rPr lang="en-GB" dirty="0"/>
              <a:t>: bundles of neuronal projections connecting areas within the same hemisphere</a:t>
            </a:r>
          </a:p>
          <a:p>
            <a:endParaRPr lang="en-GB" dirty="0"/>
          </a:p>
          <a:p>
            <a:r>
              <a:rPr lang="en-GB" b="1" dirty="0"/>
              <a:t>Projecting fibres</a:t>
            </a:r>
            <a:r>
              <a:rPr lang="en-GB" dirty="0"/>
              <a:t>: bundles of </a:t>
            </a:r>
            <a:r>
              <a:rPr lang="en-GB" dirty="0" err="1"/>
              <a:t>fibers</a:t>
            </a:r>
            <a:r>
              <a:rPr lang="en-GB" dirty="0"/>
              <a:t> connecting the cortex to brainstem, spinal cord, and subcortical nuclei</a:t>
            </a:r>
          </a:p>
        </p:txBody>
      </p:sp>
    </p:spTree>
    <p:extLst>
      <p:ext uri="{BB962C8B-B14F-4D97-AF65-F5344CB8AC3E}">
        <p14:creationId xmlns:p14="http://schemas.microsoft.com/office/powerpoint/2010/main" val="22872461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10092C2-B472-C711-A235-25EA1A8B7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cs typeface="Calibri Light"/>
              </a:rPr>
              <a:t>The </a:t>
            </a:r>
            <a:r>
              <a:rPr lang="it-IT" dirty="0" err="1">
                <a:cs typeface="Calibri Light"/>
              </a:rPr>
              <a:t>spinal</a:t>
            </a:r>
            <a:r>
              <a:rPr lang="it-IT" dirty="0">
                <a:cs typeface="Calibri Light"/>
              </a:rPr>
              <a:t> </a:t>
            </a:r>
            <a:r>
              <a:rPr lang="it-IT" dirty="0" err="1">
                <a:cs typeface="Calibri Light"/>
              </a:rPr>
              <a:t>cord</a:t>
            </a:r>
            <a:endParaRPr lang="it-IT" dirty="0" err="1"/>
          </a:p>
        </p:txBody>
      </p:sp>
      <p:pic>
        <p:nvPicPr>
          <p:cNvPr id="4" name="Immagine 4">
            <a:extLst>
              <a:ext uri="{FF2B5EF4-FFF2-40B4-BE49-F238E27FC236}">
                <a16:creationId xmlns:a16="http://schemas.microsoft.com/office/drawing/2014/main" id="{23E24F2D-C16A-E4E7-2518-99AE1CF237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8613" y="1414216"/>
            <a:ext cx="11735776" cy="4279218"/>
          </a:xfrm>
        </p:spPr>
      </p:pic>
    </p:spTree>
    <p:extLst>
      <p:ext uri="{BB962C8B-B14F-4D97-AF65-F5344CB8AC3E}">
        <p14:creationId xmlns:p14="http://schemas.microsoft.com/office/powerpoint/2010/main" val="807597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1E58B-6DCC-43E4-D6D3-4AE6337E7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Anatomy: thalamus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C23C99-949B-CFEF-966F-F4F352D5A7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50" y="1253331"/>
            <a:ext cx="5162552" cy="5195094"/>
          </a:xfrm>
        </p:spPr>
        <p:txBody>
          <a:bodyPr/>
          <a:lstStyle/>
          <a:p>
            <a:r>
              <a:rPr lang="en-GB" dirty="0"/>
              <a:t>The thalamus is part of the diencephalon</a:t>
            </a:r>
          </a:p>
          <a:p>
            <a:r>
              <a:rPr lang="en-GB" dirty="0"/>
              <a:t>The thalamus is divided in several nuclei according to the inputs it receives</a:t>
            </a:r>
          </a:p>
          <a:p>
            <a:endParaRPr lang="en-GB" dirty="0"/>
          </a:p>
          <a:p>
            <a:r>
              <a:rPr lang="en-GB" dirty="0"/>
              <a:t>The ventrolateral and </a:t>
            </a:r>
            <a:r>
              <a:rPr lang="en-GB" dirty="0" err="1"/>
              <a:t>ventroanterior</a:t>
            </a:r>
            <a:r>
              <a:rPr lang="en-GB" dirty="0"/>
              <a:t> nuclei are related to motor information</a:t>
            </a:r>
          </a:p>
          <a:p>
            <a:pPr lvl="1"/>
            <a:r>
              <a:rPr lang="en-GB" dirty="0"/>
              <a:t>Between the external and internal medullary laminae</a:t>
            </a:r>
          </a:p>
          <a:p>
            <a:pPr lvl="1"/>
            <a:endParaRPr lang="en-GB" dirty="0"/>
          </a:p>
          <a:p>
            <a:r>
              <a:rPr lang="en-GB" dirty="0"/>
              <a:t>Posterior nuclei are associated with somatosensory information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5ECDE9-9E78-5263-172E-90F72FF4E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8302" y="1716749"/>
            <a:ext cx="6457948" cy="384360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26A1C12-9DF4-C80F-88DD-94A34AA2557D}"/>
              </a:ext>
            </a:extLst>
          </p:cNvPr>
          <p:cNvSpPr/>
          <p:nvPr/>
        </p:nvSpPr>
        <p:spPr>
          <a:xfrm>
            <a:off x="7105651" y="3729369"/>
            <a:ext cx="1047750" cy="209550"/>
          </a:xfrm>
          <a:prstGeom prst="rect">
            <a:avLst/>
          </a:prstGeom>
          <a:noFill/>
          <a:ln w="38100">
            <a:solidFill>
              <a:srgbClr val="A3706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7DA9060-EA4D-993C-9C28-EE20DAE1A439}"/>
              </a:ext>
            </a:extLst>
          </p:cNvPr>
          <p:cNvSpPr/>
          <p:nvPr/>
        </p:nvSpPr>
        <p:spPr>
          <a:xfrm>
            <a:off x="7105651" y="4311518"/>
            <a:ext cx="1047750" cy="209550"/>
          </a:xfrm>
          <a:prstGeom prst="rect">
            <a:avLst/>
          </a:prstGeom>
          <a:noFill/>
          <a:ln w="38100">
            <a:solidFill>
              <a:srgbClr val="7593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61012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2FEDF-F073-0910-EC28-D73F753D7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Brain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913CF-13E6-E459-C00E-E6CBF1D141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Area 3,1,2  - somatosensory cortex</a:t>
            </a:r>
          </a:p>
          <a:p>
            <a:endParaRPr lang="en-GB" dirty="0"/>
          </a:p>
          <a:p>
            <a:r>
              <a:rPr lang="en-GB" dirty="0"/>
              <a:t>Area 4 - primary motor cortex</a:t>
            </a:r>
          </a:p>
          <a:p>
            <a:endParaRPr lang="en-GB" dirty="0"/>
          </a:p>
          <a:p>
            <a:r>
              <a:rPr lang="en-GB" dirty="0"/>
              <a:t>Area 6 - supplementary motor area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EF6E5B-3070-C880-75E5-4FDAC7E070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619" y="1523476"/>
            <a:ext cx="6651620" cy="4283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6308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DD59B-1CA2-09D5-1497-64B10C5AF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80846-2357-3F8E-EC2D-A09D0E916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Neuronal communication: the neurotransmitter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8BC89C04-021D-2A02-8062-38D3574027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2290" name="Picture 2" descr="Chemical Structures of Neurotransmitters">
            <a:extLst>
              <a:ext uri="{FF2B5EF4-FFF2-40B4-BE49-F238E27FC236}">
                <a16:creationId xmlns:a16="http://schemas.microsoft.com/office/drawing/2014/main" id="{0D9F2AA6-6865-34BD-E547-204BAE0893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08"/>
          <a:stretch/>
        </p:blipFill>
        <p:spPr bwMode="auto">
          <a:xfrm>
            <a:off x="2186694" y="1171023"/>
            <a:ext cx="7818612" cy="5341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A457162-F66E-9014-959A-FAD790AFFD12}"/>
              </a:ext>
            </a:extLst>
          </p:cNvPr>
          <p:cNvSpPr txBox="1"/>
          <p:nvPr/>
        </p:nvSpPr>
        <p:spPr>
          <a:xfrm>
            <a:off x="3774017" y="6457037"/>
            <a:ext cx="46439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/>
              <a:t>https://www.compoundchem.com/2015/07/30/neurotransmitters/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562B64C-514D-A210-D970-00F6793F6623}"/>
              </a:ext>
            </a:extLst>
          </p:cNvPr>
          <p:cNvGrpSpPr/>
          <p:nvPr/>
        </p:nvGrpSpPr>
        <p:grpSpPr>
          <a:xfrm>
            <a:off x="2514042" y="3911533"/>
            <a:ext cx="5348748" cy="1907878"/>
            <a:chOff x="812801" y="3839028"/>
            <a:chExt cx="5656035" cy="2017486"/>
          </a:xfrm>
        </p:grpSpPr>
        <p:pic>
          <p:nvPicPr>
            <p:cNvPr id="7" name="Picture 2" descr="Chemical Structures of Neurotransmitters">
              <a:extLst>
                <a:ext uri="{FF2B5EF4-FFF2-40B4-BE49-F238E27FC236}">
                  <a16:creationId xmlns:a16="http://schemas.microsoft.com/office/drawing/2014/main" id="{9FB937C1-0E97-4CC8-4B9A-2236D1D94D0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533" t="52816" r="72734" b="12650"/>
            <a:stretch/>
          </p:blipFill>
          <p:spPr bwMode="auto">
            <a:xfrm>
              <a:off x="812801" y="3839029"/>
              <a:ext cx="1879600" cy="20174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2" descr="Chemical Structures of Neurotransmitters">
              <a:extLst>
                <a:ext uri="{FF2B5EF4-FFF2-40B4-BE49-F238E27FC236}">
                  <a16:creationId xmlns:a16="http://schemas.microsoft.com/office/drawing/2014/main" id="{27BA724E-E389-F2B0-2DDF-629F086D89E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704" t="52816" r="27354" b="12650"/>
            <a:stretch/>
          </p:blipFill>
          <p:spPr bwMode="auto">
            <a:xfrm>
              <a:off x="4572000" y="3839028"/>
              <a:ext cx="1896836" cy="20174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13E88012-0664-7ACE-C349-87DABB548E03}"/>
              </a:ext>
            </a:extLst>
          </p:cNvPr>
          <p:cNvGrpSpPr/>
          <p:nvPr/>
        </p:nvGrpSpPr>
        <p:grpSpPr>
          <a:xfrm>
            <a:off x="2313684" y="3324142"/>
            <a:ext cx="5799836" cy="611216"/>
            <a:chOff x="569990" y="3235791"/>
            <a:chExt cx="6133039" cy="64633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B27FC86-99DC-C0BF-9CB5-8B2C7B358080}"/>
                </a:ext>
              </a:extLst>
            </p:cNvPr>
            <p:cNvSpPr txBox="1"/>
            <p:nvPr/>
          </p:nvSpPr>
          <p:spPr>
            <a:xfrm>
              <a:off x="569990" y="3235791"/>
              <a:ext cx="236522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Main inhibitory</a:t>
              </a:r>
            </a:p>
            <a:p>
              <a:pPr algn="ctr"/>
              <a:r>
                <a:rPr lang="en-GB" dirty="0"/>
                <a:t>neurotransmitter 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24C9E9D-552B-5444-E38E-B99B96098197}"/>
                </a:ext>
              </a:extLst>
            </p:cNvPr>
            <p:cNvSpPr txBox="1"/>
            <p:nvPr/>
          </p:nvSpPr>
          <p:spPr>
            <a:xfrm>
              <a:off x="4337807" y="3235791"/>
              <a:ext cx="236522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Main excitatory</a:t>
              </a:r>
            </a:p>
            <a:p>
              <a:pPr algn="ctr"/>
              <a:r>
                <a:rPr lang="en-GB" dirty="0"/>
                <a:t>neurotransmitter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87094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9A10E-2D84-6BF5-7AF9-E80CB9B97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894" y="4010025"/>
            <a:ext cx="5143437" cy="819150"/>
          </a:xfrm>
          <a:ln w="38100">
            <a:noFill/>
          </a:ln>
        </p:spPr>
        <p:txBody>
          <a:bodyPr anchor="ctr">
            <a:normAutofit fontScale="90000"/>
          </a:bodyPr>
          <a:lstStyle/>
          <a:p>
            <a:r>
              <a:rPr lang="en-GB" dirty="0"/>
              <a:t>Basal ganglia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11F83B-C14C-FC84-1E24-5D51BDCB87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2050" name="Picture 2" descr="Logos - London Metropolitan University">
            <a:extLst>
              <a:ext uri="{FF2B5EF4-FFF2-40B4-BE49-F238E27FC236}">
                <a16:creationId xmlns:a16="http://schemas.microsoft.com/office/drawing/2014/main" id="{9CE0B78A-1B3D-D07F-7321-1D09E5CC52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196" y="20637"/>
            <a:ext cx="2407608" cy="1401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D73698E7-670D-CF16-682D-E8257069FB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4803" y="-17223"/>
            <a:ext cx="6892446" cy="6892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55211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F7CCE-EA42-58EC-AECE-F14BA4AFA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Basal Ganglia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618F13-4411-F3EF-F208-3AC0CE8C6F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50" y="1253331"/>
            <a:ext cx="5344563" cy="5195094"/>
          </a:xfrm>
        </p:spPr>
        <p:txBody>
          <a:bodyPr>
            <a:normAutofit/>
          </a:bodyPr>
          <a:lstStyle/>
          <a:p>
            <a:pPr algn="l"/>
            <a:r>
              <a:rPr lang="en-GB" sz="1800" b="0" i="0" u="none" strike="noStrike" baseline="0" dirty="0">
                <a:latin typeface="AGaramondPro-Regular"/>
              </a:rPr>
              <a:t>The </a:t>
            </a:r>
            <a:r>
              <a:rPr lang="en-GB" sz="1800" b="1" i="0" u="none" strike="noStrike" baseline="0" dirty="0">
                <a:latin typeface="AGaramondPro-Regular"/>
              </a:rPr>
              <a:t>motor cortex </a:t>
            </a:r>
            <a:r>
              <a:rPr lang="en-GB" sz="1800" b="0" i="0" u="none" strike="noStrike" baseline="0" dirty="0">
                <a:latin typeface="AGaramondPro-Regular"/>
              </a:rPr>
              <a:t>is involved in the planning and direction of voluntary motor output</a:t>
            </a:r>
          </a:p>
          <a:p>
            <a:pPr algn="l"/>
            <a:r>
              <a:rPr lang="en-GB" sz="1800" b="0" i="0" u="none" strike="noStrike" baseline="0" dirty="0">
                <a:latin typeface="AGaramondPro-Regular"/>
              </a:rPr>
              <a:t>The </a:t>
            </a:r>
            <a:r>
              <a:rPr lang="en-GB" sz="1800" b="1" i="0" u="none" strike="noStrike" baseline="0" dirty="0">
                <a:latin typeface="AGaramondPro-Regular"/>
              </a:rPr>
              <a:t>cerebellum</a:t>
            </a:r>
            <a:r>
              <a:rPr lang="en-GB" sz="1800" b="0" i="0" u="none" strike="noStrike" baseline="0" dirty="0">
                <a:latin typeface="AGaramondPro-Regular"/>
              </a:rPr>
              <a:t> is responsible for integrating balance and other sensory components to produce complex motor activity</a:t>
            </a:r>
          </a:p>
          <a:p>
            <a:pPr algn="l"/>
            <a:r>
              <a:rPr lang="en-GB" sz="1800" b="0" i="0" u="none" strike="noStrike" baseline="0" dirty="0">
                <a:latin typeface="AGaramondPro-Regular"/>
              </a:rPr>
              <a:t>The </a:t>
            </a:r>
            <a:r>
              <a:rPr lang="en-GB" sz="1800" b="1" i="0" u="none" strike="noStrike" baseline="0" dirty="0">
                <a:latin typeface="AGaramondPro-Regular"/>
              </a:rPr>
              <a:t>basal ganglia </a:t>
            </a:r>
            <a:r>
              <a:rPr lang="en-GB" sz="1800" b="0" i="0" u="none" strike="noStrike" baseline="0" dirty="0">
                <a:latin typeface="AGaramondPro-Regular"/>
              </a:rPr>
              <a:t>act to initiate and maintain the proper speed and smoothness of motor activity.</a:t>
            </a:r>
            <a:endParaRPr lang="en-GB" sz="1800" b="1" dirty="0"/>
          </a:p>
          <a:p>
            <a:endParaRPr lang="en-GB" dirty="0"/>
          </a:p>
          <a:p>
            <a:r>
              <a:rPr lang="en-GB" dirty="0"/>
              <a:t>Control complex patterns of motor activity</a:t>
            </a:r>
          </a:p>
          <a:p>
            <a:pPr lvl="1"/>
            <a:r>
              <a:rPr lang="en-GB" dirty="0"/>
              <a:t>Writing, using scissors, hammering nails, most aspects of vocalization, controlled movement of the eyes</a:t>
            </a:r>
          </a:p>
        </p:txBody>
      </p:sp>
      <p:pic>
        <p:nvPicPr>
          <p:cNvPr id="4" name="Screen Recording 2">
            <a:hlinkClick r:id="" action="ppaction://media"/>
            <a:extLst>
              <a:ext uri="{FF2B5EF4-FFF2-40B4-BE49-F238E27FC236}">
                <a16:creationId xmlns:a16="http://schemas.microsoft.com/office/drawing/2014/main" id="{50DBD2CC-56ED-2A6D-B063-0B001596B1AB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end="14776.7"/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05040" y="1253331"/>
            <a:ext cx="6271332" cy="43513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A06BEB1-76DF-032C-27AF-2B12761305E3}"/>
              </a:ext>
            </a:extLst>
          </p:cNvPr>
          <p:cNvSpPr txBox="1"/>
          <p:nvPr/>
        </p:nvSpPr>
        <p:spPr>
          <a:xfrm>
            <a:off x="6561688" y="5665870"/>
            <a:ext cx="49351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hlinkClick r:id="rId5"/>
              </a:rPr>
              <a:t>https://www.brainfacts.org/3d-brain#intro=false&amp;focus=Brain-basal_ganglia</a:t>
            </a:r>
            <a:endParaRPr lang="en-GB" sz="1200" dirty="0"/>
          </a:p>
          <a:p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2253126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927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20000"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B1B71-C404-F2E1-C5DE-E1F61F6E7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Anatomy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5CAE4E-FBAA-086A-4AFE-D605E7E2A2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2396E2-2249-54D3-0EFE-4634D93ED6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5632" y="1159547"/>
            <a:ext cx="3758448" cy="26785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5C71D48-4B1D-94A3-1264-9107778DE2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566" y="3838107"/>
            <a:ext cx="5358580" cy="28052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F065BB1-808D-9738-BF38-8FDE6F411B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9915" y="1404718"/>
            <a:ext cx="5081650" cy="5173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2075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B9FFD-8B2A-BEC2-D34E-8580359BE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Anatomy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709F05-AF7D-25F3-9D90-50B6FF91C4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Striatum</a:t>
            </a:r>
          </a:p>
          <a:p>
            <a:pPr lvl="1"/>
            <a:r>
              <a:rPr lang="en-GB" dirty="0"/>
              <a:t>Caudate</a:t>
            </a:r>
          </a:p>
          <a:p>
            <a:pPr lvl="1"/>
            <a:r>
              <a:rPr lang="en-GB" dirty="0"/>
              <a:t>Putamen</a:t>
            </a:r>
          </a:p>
          <a:p>
            <a:endParaRPr lang="en-GB" dirty="0"/>
          </a:p>
          <a:p>
            <a:r>
              <a:rPr lang="en-GB" dirty="0"/>
              <a:t>Globus Pallidus (GP)</a:t>
            </a:r>
          </a:p>
          <a:p>
            <a:pPr lvl="1"/>
            <a:r>
              <a:rPr lang="en-GB" dirty="0"/>
              <a:t>Internal (</a:t>
            </a:r>
            <a:r>
              <a:rPr lang="en-GB" dirty="0" err="1"/>
              <a:t>GPi</a:t>
            </a:r>
            <a:r>
              <a:rPr lang="en-GB" dirty="0"/>
              <a:t>)</a:t>
            </a:r>
          </a:p>
          <a:p>
            <a:pPr lvl="1"/>
            <a:r>
              <a:rPr lang="en-GB" dirty="0"/>
              <a:t>External (</a:t>
            </a:r>
            <a:r>
              <a:rPr lang="en-GB" dirty="0" err="1"/>
              <a:t>GPe</a:t>
            </a:r>
            <a:r>
              <a:rPr lang="en-GB" dirty="0"/>
              <a:t>)</a:t>
            </a:r>
          </a:p>
          <a:p>
            <a:endParaRPr lang="en-GB" dirty="0"/>
          </a:p>
          <a:p>
            <a:r>
              <a:rPr lang="en-GB" dirty="0"/>
              <a:t>Substantia Nigra (SN)</a:t>
            </a:r>
          </a:p>
          <a:p>
            <a:pPr lvl="1"/>
            <a:r>
              <a:rPr lang="en-GB" dirty="0"/>
              <a:t>Pars compacta (</a:t>
            </a:r>
            <a:r>
              <a:rPr lang="en-GB" dirty="0" err="1"/>
              <a:t>SNc</a:t>
            </a:r>
            <a:r>
              <a:rPr lang="en-GB" dirty="0"/>
              <a:t>)</a:t>
            </a:r>
          </a:p>
          <a:p>
            <a:pPr lvl="1"/>
            <a:r>
              <a:rPr lang="en-GB" dirty="0"/>
              <a:t>Pars reticulata (</a:t>
            </a:r>
            <a:r>
              <a:rPr lang="en-GB" dirty="0" err="1"/>
              <a:t>SNr</a:t>
            </a:r>
            <a:r>
              <a:rPr lang="en-GB" dirty="0"/>
              <a:t>)</a:t>
            </a:r>
          </a:p>
          <a:p>
            <a:endParaRPr lang="en-GB" dirty="0"/>
          </a:p>
          <a:p>
            <a:r>
              <a:rPr lang="en-GB" dirty="0"/>
              <a:t>Subthalamic Nucleus (STN)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A5D01A-2E4F-A0DA-20A8-307282CFB9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4371" y="1530856"/>
            <a:ext cx="4261360" cy="42633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2DB57FB-B053-5AC8-02D7-B7CB251F1A0E}"/>
              </a:ext>
            </a:extLst>
          </p:cNvPr>
          <p:cNvSpPr txBox="1"/>
          <p:nvPr/>
        </p:nvSpPr>
        <p:spPr>
          <a:xfrm>
            <a:off x="7397304" y="1305481"/>
            <a:ext cx="1024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Caudate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B2F7788-C878-CD76-919A-ECC1E2B34C0E}"/>
              </a:ext>
            </a:extLst>
          </p:cNvPr>
          <p:cNvCxnSpPr>
            <a:cxnSpLocks/>
            <a:endCxn id="5" idx="2"/>
          </p:cNvCxnSpPr>
          <p:nvPr/>
        </p:nvCxnSpPr>
        <p:spPr>
          <a:xfrm flipH="1" flipV="1">
            <a:off x="7909578" y="1613258"/>
            <a:ext cx="755207" cy="993755"/>
          </a:xfrm>
          <a:prstGeom prst="line">
            <a:avLst/>
          </a:prstGeom>
          <a:ln w="28575">
            <a:solidFill>
              <a:srgbClr val="FFC000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C0947E9-8AB2-F32F-37B4-6525D7771367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9602448" y="4250376"/>
            <a:ext cx="115325" cy="1769205"/>
          </a:xfrm>
          <a:prstGeom prst="line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78DEFC4-3197-6D49-351C-794692A5FC9A}"/>
              </a:ext>
            </a:extLst>
          </p:cNvPr>
          <p:cNvSpPr txBox="1"/>
          <p:nvPr/>
        </p:nvSpPr>
        <p:spPr>
          <a:xfrm>
            <a:off x="9170290" y="6019581"/>
            <a:ext cx="10949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Putamen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D28C990-9D4B-D739-9450-1A65A9847B74}"/>
              </a:ext>
            </a:extLst>
          </p:cNvPr>
          <p:cNvCxnSpPr>
            <a:cxnSpLocks/>
            <a:endCxn id="10" idx="0"/>
          </p:cNvCxnSpPr>
          <p:nvPr/>
        </p:nvCxnSpPr>
        <p:spPr>
          <a:xfrm flipH="1">
            <a:off x="8204268" y="4202349"/>
            <a:ext cx="551617" cy="1647525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B5B4114-2A19-9205-B0D4-C19391A8DAFA}"/>
              </a:ext>
            </a:extLst>
          </p:cNvPr>
          <p:cNvSpPr txBox="1"/>
          <p:nvPr/>
        </p:nvSpPr>
        <p:spPr>
          <a:xfrm>
            <a:off x="7721257" y="5849874"/>
            <a:ext cx="9660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Globus</a:t>
            </a:r>
          </a:p>
          <a:p>
            <a:pPr algn="ctr"/>
            <a:r>
              <a:rPr lang="en-GB" sz="1400" dirty="0"/>
              <a:t>Pallidus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9E53222-CF52-A771-4D70-27F3A3C06C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7551" y="1609774"/>
            <a:ext cx="3566168" cy="1958816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50CA7C6-0D0C-FC3F-25C1-E1907701A5D9}"/>
              </a:ext>
            </a:extLst>
          </p:cNvPr>
          <p:cNvCxnSpPr/>
          <p:nvPr/>
        </p:nvCxnSpPr>
        <p:spPr>
          <a:xfrm>
            <a:off x="4794873" y="2306023"/>
            <a:ext cx="654828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48081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C4599-B0DB-3696-2723-101474C7D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Anatomy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64EC3-46C7-66B8-0CBB-5224548A30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Striatum</a:t>
            </a:r>
          </a:p>
          <a:p>
            <a:pPr lvl="1"/>
            <a:r>
              <a:rPr lang="en-GB" dirty="0"/>
              <a:t>Caudate</a:t>
            </a:r>
          </a:p>
          <a:p>
            <a:pPr lvl="1"/>
            <a:r>
              <a:rPr lang="en-GB" dirty="0"/>
              <a:t>Putamen</a:t>
            </a:r>
          </a:p>
          <a:p>
            <a:endParaRPr lang="en-GB" dirty="0"/>
          </a:p>
          <a:p>
            <a:r>
              <a:rPr lang="en-GB" dirty="0"/>
              <a:t>Globus Pallidus (GP)</a:t>
            </a:r>
          </a:p>
          <a:p>
            <a:pPr lvl="1"/>
            <a:r>
              <a:rPr lang="en-GB" dirty="0"/>
              <a:t>Internal (</a:t>
            </a:r>
            <a:r>
              <a:rPr lang="en-GB" dirty="0" err="1"/>
              <a:t>GPi</a:t>
            </a:r>
            <a:r>
              <a:rPr lang="en-GB" dirty="0"/>
              <a:t>)</a:t>
            </a:r>
          </a:p>
          <a:p>
            <a:pPr lvl="1"/>
            <a:r>
              <a:rPr lang="en-GB" dirty="0"/>
              <a:t>External (</a:t>
            </a:r>
            <a:r>
              <a:rPr lang="en-GB" dirty="0" err="1"/>
              <a:t>GPe</a:t>
            </a:r>
            <a:r>
              <a:rPr lang="en-GB" dirty="0"/>
              <a:t>)</a:t>
            </a:r>
          </a:p>
          <a:p>
            <a:endParaRPr lang="en-GB" dirty="0"/>
          </a:p>
          <a:p>
            <a:r>
              <a:rPr lang="en-GB" dirty="0"/>
              <a:t>Substantia Nigra (SN)</a:t>
            </a:r>
          </a:p>
          <a:p>
            <a:pPr lvl="1"/>
            <a:r>
              <a:rPr lang="en-GB" dirty="0"/>
              <a:t>Pars compacta (</a:t>
            </a:r>
            <a:r>
              <a:rPr lang="en-GB" dirty="0" err="1"/>
              <a:t>SNc</a:t>
            </a:r>
            <a:r>
              <a:rPr lang="en-GB" dirty="0"/>
              <a:t>)</a:t>
            </a:r>
          </a:p>
          <a:p>
            <a:pPr lvl="1"/>
            <a:r>
              <a:rPr lang="en-GB" dirty="0"/>
              <a:t>Pars reticulata (</a:t>
            </a:r>
            <a:r>
              <a:rPr lang="en-GB" dirty="0" err="1"/>
              <a:t>SNr</a:t>
            </a:r>
            <a:r>
              <a:rPr lang="en-GB" dirty="0"/>
              <a:t>)</a:t>
            </a:r>
          </a:p>
          <a:p>
            <a:endParaRPr lang="en-GB" dirty="0"/>
          </a:p>
          <a:p>
            <a:r>
              <a:rPr lang="en-GB" dirty="0"/>
              <a:t>Subthalamic Nucleus (STN)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74B2EC-98B3-4795-9E84-359E3DF4D7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6780" y="1509269"/>
            <a:ext cx="4267200" cy="426321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621E8AD-6970-FAD9-80B5-5AD39BD05024}"/>
              </a:ext>
            </a:extLst>
          </p:cNvPr>
          <p:cNvSpPr txBox="1"/>
          <p:nvPr/>
        </p:nvSpPr>
        <p:spPr>
          <a:xfrm>
            <a:off x="7397304" y="1305481"/>
            <a:ext cx="1024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Caudate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4FD98EF-AC1A-B397-547D-42E20FF7F209}"/>
              </a:ext>
            </a:extLst>
          </p:cNvPr>
          <p:cNvCxnSpPr>
            <a:cxnSpLocks/>
            <a:endCxn id="5" idx="2"/>
          </p:cNvCxnSpPr>
          <p:nvPr/>
        </p:nvCxnSpPr>
        <p:spPr>
          <a:xfrm flipH="1" flipV="1">
            <a:off x="7909578" y="1613258"/>
            <a:ext cx="755207" cy="993755"/>
          </a:xfrm>
          <a:prstGeom prst="line">
            <a:avLst/>
          </a:prstGeom>
          <a:ln w="28575">
            <a:solidFill>
              <a:srgbClr val="FFC000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B0A1F05-7525-8531-3099-4B5B653CF0B2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9602448" y="4250376"/>
            <a:ext cx="115325" cy="1769205"/>
          </a:xfrm>
          <a:prstGeom prst="line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D4D8324-EA9C-A0CD-4974-43E6B9161257}"/>
              </a:ext>
            </a:extLst>
          </p:cNvPr>
          <p:cNvSpPr txBox="1"/>
          <p:nvPr/>
        </p:nvSpPr>
        <p:spPr>
          <a:xfrm>
            <a:off x="9170290" y="6019581"/>
            <a:ext cx="10949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Putamen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55685D-4D7C-AB42-BF77-DDCFB0A5419B}"/>
              </a:ext>
            </a:extLst>
          </p:cNvPr>
          <p:cNvSpPr txBox="1"/>
          <p:nvPr/>
        </p:nvSpPr>
        <p:spPr>
          <a:xfrm>
            <a:off x="7353571" y="5849874"/>
            <a:ext cx="17013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Globus Pallidus</a:t>
            </a:r>
          </a:p>
          <a:p>
            <a:pPr algn="ctr"/>
            <a:r>
              <a:rPr lang="en-GB" sz="1400" dirty="0"/>
              <a:t>Interior + Exterior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4111237-E970-EFC3-5B99-64451B271B25}"/>
              </a:ext>
            </a:extLst>
          </p:cNvPr>
          <p:cNvGrpSpPr/>
          <p:nvPr/>
        </p:nvGrpSpPr>
        <p:grpSpPr>
          <a:xfrm>
            <a:off x="8204268" y="4352925"/>
            <a:ext cx="951638" cy="1496949"/>
            <a:chOff x="8204268" y="4352925"/>
            <a:chExt cx="951638" cy="1496949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5473BE7-1AF3-BEC2-9CF9-033B415461EA}"/>
                </a:ext>
              </a:extLst>
            </p:cNvPr>
            <p:cNvCxnSpPr>
              <a:cxnSpLocks/>
              <a:endCxn id="10" idx="0"/>
            </p:cNvCxnSpPr>
            <p:nvPr/>
          </p:nvCxnSpPr>
          <p:spPr>
            <a:xfrm flipH="1">
              <a:off x="8204268" y="4614863"/>
              <a:ext cx="687320" cy="1235011"/>
            </a:xfrm>
            <a:prstGeom prst="line">
              <a:avLst/>
            </a:prstGeom>
            <a:ln w="28575">
              <a:solidFill>
                <a:schemeClr val="bg1">
                  <a:lumMod val="85000"/>
                </a:schemeClr>
              </a:solidFill>
              <a:head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97EBAC7-BEBB-2A0D-1612-2EC4A76B1B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27269" y="4614863"/>
              <a:ext cx="528637" cy="0"/>
            </a:xfrm>
            <a:prstGeom prst="line">
              <a:avLst/>
            </a:prstGeom>
            <a:ln w="28575">
              <a:solidFill>
                <a:schemeClr val="bg1">
                  <a:lumMod val="85000"/>
                </a:schemeClr>
              </a:solidFill>
              <a:head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572FD5C-E5A0-2C17-05AC-81C2F847D4DE}"/>
                </a:ext>
              </a:extLst>
            </p:cNvPr>
            <p:cNvCxnSpPr>
              <a:cxnSpLocks/>
            </p:cNvCxnSpPr>
            <p:nvPr/>
          </p:nvCxnSpPr>
          <p:spPr>
            <a:xfrm>
              <a:off x="8643354" y="4352925"/>
              <a:ext cx="0" cy="261938"/>
            </a:xfrm>
            <a:prstGeom prst="line">
              <a:avLst/>
            </a:prstGeom>
            <a:ln w="28575">
              <a:solidFill>
                <a:schemeClr val="bg1">
                  <a:lumMod val="85000"/>
                </a:schemeClr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65DB007-D578-6984-A42A-5F9D64200AA7}"/>
                </a:ext>
              </a:extLst>
            </p:cNvPr>
            <p:cNvCxnSpPr>
              <a:cxnSpLocks/>
            </p:cNvCxnSpPr>
            <p:nvPr/>
          </p:nvCxnSpPr>
          <p:spPr>
            <a:xfrm>
              <a:off x="9147595" y="4352925"/>
              <a:ext cx="0" cy="261938"/>
            </a:xfrm>
            <a:prstGeom prst="line">
              <a:avLst/>
            </a:prstGeom>
            <a:ln w="28575">
              <a:solidFill>
                <a:schemeClr val="bg1">
                  <a:lumMod val="85000"/>
                </a:schemeClr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Left Bracket 20">
            <a:extLst>
              <a:ext uri="{FF2B5EF4-FFF2-40B4-BE49-F238E27FC236}">
                <a16:creationId xmlns:a16="http://schemas.microsoft.com/office/drawing/2014/main" id="{4327D1B2-6668-7EEC-93AF-F4668BF89C3F}"/>
              </a:ext>
            </a:extLst>
          </p:cNvPr>
          <p:cNvSpPr/>
          <p:nvPr/>
        </p:nvSpPr>
        <p:spPr>
          <a:xfrm rot="5400000">
            <a:off x="8181409" y="5461618"/>
            <a:ext cx="45719" cy="1347357"/>
          </a:xfrm>
          <a:prstGeom prst="leftBracket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16FDA59-40DF-8509-51F6-74C5F725D245}"/>
              </a:ext>
            </a:extLst>
          </p:cNvPr>
          <p:cNvSpPr txBox="1"/>
          <p:nvPr/>
        </p:nvSpPr>
        <p:spPr>
          <a:xfrm>
            <a:off x="6416524" y="1875821"/>
            <a:ext cx="1024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Thalamus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9148A0B-C608-4F7F-70DE-4900ECCADB98}"/>
              </a:ext>
            </a:extLst>
          </p:cNvPr>
          <p:cNvCxnSpPr>
            <a:cxnSpLocks/>
            <a:endCxn id="22" idx="2"/>
          </p:cNvCxnSpPr>
          <p:nvPr/>
        </p:nvCxnSpPr>
        <p:spPr>
          <a:xfrm flipH="1" flipV="1">
            <a:off x="6928798" y="2183598"/>
            <a:ext cx="755207" cy="993755"/>
          </a:xfrm>
          <a:prstGeom prst="line">
            <a:avLst/>
          </a:prstGeom>
          <a:ln w="28575">
            <a:solidFill>
              <a:schemeClr val="bg2">
                <a:lumMod val="25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BA0F1CDE-269C-0837-5496-09416C2047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5025" y="1609774"/>
            <a:ext cx="3566168" cy="1958816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43FC031-6D11-B234-7144-D1A578226A93}"/>
              </a:ext>
            </a:extLst>
          </p:cNvPr>
          <p:cNvCxnSpPr/>
          <p:nvPr/>
        </p:nvCxnSpPr>
        <p:spPr>
          <a:xfrm>
            <a:off x="4792347" y="2418110"/>
            <a:ext cx="654828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46010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FA097-F50D-1959-06E5-F18D9A8E1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Anatomy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CCF05-861B-EC01-7D8C-D36A14ED1B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Striatum</a:t>
            </a:r>
          </a:p>
          <a:p>
            <a:pPr lvl="1"/>
            <a:r>
              <a:rPr lang="en-GB" dirty="0"/>
              <a:t>Caudate</a:t>
            </a:r>
          </a:p>
          <a:p>
            <a:pPr lvl="1"/>
            <a:r>
              <a:rPr lang="en-GB" dirty="0"/>
              <a:t>Putamen</a:t>
            </a:r>
          </a:p>
          <a:p>
            <a:endParaRPr lang="en-GB" dirty="0"/>
          </a:p>
          <a:p>
            <a:r>
              <a:rPr lang="en-GB" dirty="0"/>
              <a:t>Globus Pallidus (GP)</a:t>
            </a:r>
          </a:p>
          <a:p>
            <a:pPr lvl="1"/>
            <a:r>
              <a:rPr lang="en-GB" dirty="0"/>
              <a:t>Internal (</a:t>
            </a:r>
            <a:r>
              <a:rPr lang="en-GB" dirty="0" err="1"/>
              <a:t>GPi</a:t>
            </a:r>
            <a:r>
              <a:rPr lang="en-GB" dirty="0"/>
              <a:t>)</a:t>
            </a:r>
          </a:p>
          <a:p>
            <a:pPr lvl="1"/>
            <a:r>
              <a:rPr lang="en-GB" dirty="0"/>
              <a:t>External (</a:t>
            </a:r>
            <a:r>
              <a:rPr lang="en-GB" dirty="0" err="1"/>
              <a:t>GPe</a:t>
            </a:r>
            <a:r>
              <a:rPr lang="en-GB" dirty="0"/>
              <a:t>)</a:t>
            </a:r>
          </a:p>
          <a:p>
            <a:endParaRPr lang="en-GB" dirty="0"/>
          </a:p>
          <a:p>
            <a:r>
              <a:rPr lang="en-GB" dirty="0"/>
              <a:t>Substantia Nigra (SN)</a:t>
            </a:r>
          </a:p>
          <a:p>
            <a:pPr lvl="1"/>
            <a:r>
              <a:rPr lang="en-GB" dirty="0"/>
              <a:t>Pars compacta (</a:t>
            </a:r>
            <a:r>
              <a:rPr lang="en-GB" dirty="0" err="1"/>
              <a:t>SNc</a:t>
            </a:r>
            <a:r>
              <a:rPr lang="en-GB" dirty="0"/>
              <a:t>)</a:t>
            </a:r>
          </a:p>
          <a:p>
            <a:pPr lvl="1"/>
            <a:r>
              <a:rPr lang="en-GB" dirty="0"/>
              <a:t>Pars reticulata (</a:t>
            </a:r>
            <a:r>
              <a:rPr lang="en-GB" dirty="0" err="1"/>
              <a:t>SNr</a:t>
            </a:r>
            <a:r>
              <a:rPr lang="en-GB" dirty="0"/>
              <a:t>)</a:t>
            </a:r>
          </a:p>
          <a:p>
            <a:endParaRPr lang="en-GB" dirty="0"/>
          </a:p>
          <a:p>
            <a:r>
              <a:rPr lang="en-GB" dirty="0"/>
              <a:t>Subthalamic Nucleus (STN)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8DE77B-6B05-0140-A395-35D9A3CAAF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6053" y="1498060"/>
            <a:ext cx="4267200" cy="420948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90D23EB-0AEB-DE63-4438-BBC2E8A8B565}"/>
              </a:ext>
            </a:extLst>
          </p:cNvPr>
          <p:cNvSpPr txBox="1"/>
          <p:nvPr/>
        </p:nvSpPr>
        <p:spPr>
          <a:xfrm>
            <a:off x="7897067" y="1072836"/>
            <a:ext cx="1024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Caudate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4A2239C-43A7-BE4F-20EF-3CADD345FBC2}"/>
              </a:ext>
            </a:extLst>
          </p:cNvPr>
          <p:cNvCxnSpPr>
            <a:cxnSpLocks/>
            <a:endCxn id="5" idx="2"/>
          </p:cNvCxnSpPr>
          <p:nvPr/>
        </p:nvCxnSpPr>
        <p:spPr>
          <a:xfrm flipH="1" flipV="1">
            <a:off x="8409341" y="1380613"/>
            <a:ext cx="755207" cy="993755"/>
          </a:xfrm>
          <a:prstGeom prst="line">
            <a:avLst/>
          </a:prstGeom>
          <a:ln w="28575">
            <a:solidFill>
              <a:srgbClr val="FFC000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E477DAA-C2B5-91FB-E10C-11A2AB9BD983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9899447" y="4291914"/>
            <a:ext cx="828655" cy="1927291"/>
          </a:xfrm>
          <a:prstGeom prst="line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C95747A-FED3-66B7-3F58-6C4FF0E70B51}"/>
              </a:ext>
            </a:extLst>
          </p:cNvPr>
          <p:cNvSpPr txBox="1"/>
          <p:nvPr/>
        </p:nvSpPr>
        <p:spPr>
          <a:xfrm>
            <a:off x="10180619" y="6219205"/>
            <a:ext cx="10949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Putamen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26601C4-FD4F-F697-C66B-B2A7C5CAC599}"/>
              </a:ext>
            </a:extLst>
          </p:cNvPr>
          <p:cNvGrpSpPr/>
          <p:nvPr/>
        </p:nvGrpSpPr>
        <p:grpSpPr>
          <a:xfrm>
            <a:off x="9048750" y="4586127"/>
            <a:ext cx="412892" cy="1539971"/>
            <a:chOff x="8743014" y="4352925"/>
            <a:chExt cx="412892" cy="1539971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534F3E2D-78C1-D87F-9E2D-35BD8DA55254}"/>
                </a:ext>
              </a:extLst>
            </p:cNvPr>
            <p:cNvCxnSpPr>
              <a:cxnSpLocks/>
              <a:endCxn id="9" idx="0"/>
            </p:cNvCxnSpPr>
            <p:nvPr/>
          </p:nvCxnSpPr>
          <p:spPr>
            <a:xfrm>
              <a:off x="8943772" y="4614863"/>
              <a:ext cx="125548" cy="1278033"/>
            </a:xfrm>
            <a:prstGeom prst="line">
              <a:avLst/>
            </a:prstGeom>
            <a:ln w="28575">
              <a:solidFill>
                <a:schemeClr val="bg1">
                  <a:lumMod val="85000"/>
                </a:schemeClr>
              </a:solidFill>
              <a:head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AAC7061-C1E6-0E91-102D-B0433F417D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43014" y="4614863"/>
              <a:ext cx="412892" cy="0"/>
            </a:xfrm>
            <a:prstGeom prst="line">
              <a:avLst/>
            </a:prstGeom>
            <a:ln w="28575">
              <a:solidFill>
                <a:schemeClr val="bg1">
                  <a:lumMod val="85000"/>
                </a:schemeClr>
              </a:solidFill>
              <a:head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30AE0DD-1195-0D87-900C-B6051FBE56A0}"/>
                </a:ext>
              </a:extLst>
            </p:cNvPr>
            <p:cNvCxnSpPr>
              <a:cxnSpLocks/>
            </p:cNvCxnSpPr>
            <p:nvPr/>
          </p:nvCxnSpPr>
          <p:spPr>
            <a:xfrm>
              <a:off x="8760035" y="4352925"/>
              <a:ext cx="0" cy="261938"/>
            </a:xfrm>
            <a:prstGeom prst="line">
              <a:avLst/>
            </a:prstGeom>
            <a:ln w="28575">
              <a:solidFill>
                <a:schemeClr val="bg1">
                  <a:lumMod val="85000"/>
                </a:schemeClr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00F1290-D5A1-C2D5-71A0-B715B220D609}"/>
                </a:ext>
              </a:extLst>
            </p:cNvPr>
            <p:cNvCxnSpPr>
              <a:cxnSpLocks/>
            </p:cNvCxnSpPr>
            <p:nvPr/>
          </p:nvCxnSpPr>
          <p:spPr>
            <a:xfrm>
              <a:off x="9147595" y="4352925"/>
              <a:ext cx="0" cy="261938"/>
            </a:xfrm>
            <a:prstGeom prst="line">
              <a:avLst/>
            </a:prstGeom>
            <a:ln w="28575">
              <a:solidFill>
                <a:schemeClr val="bg1">
                  <a:lumMod val="85000"/>
                </a:schemeClr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75C221D-7EF5-09DB-BD2D-75BE161EE7DF}"/>
              </a:ext>
            </a:extLst>
          </p:cNvPr>
          <p:cNvGrpSpPr/>
          <p:nvPr/>
        </p:nvGrpSpPr>
        <p:grpSpPr>
          <a:xfrm>
            <a:off x="8524359" y="6126098"/>
            <a:ext cx="1701394" cy="523220"/>
            <a:chOff x="7353571" y="5849874"/>
            <a:chExt cx="1701394" cy="52322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908DFF5-D2B7-ED65-A79C-4E0A8B22759A}"/>
                </a:ext>
              </a:extLst>
            </p:cNvPr>
            <p:cNvSpPr txBox="1"/>
            <p:nvPr/>
          </p:nvSpPr>
          <p:spPr>
            <a:xfrm>
              <a:off x="7353571" y="5849874"/>
              <a:ext cx="17013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dirty="0"/>
                <a:t>Globus Pallidus</a:t>
              </a:r>
            </a:p>
            <a:p>
              <a:pPr algn="ctr"/>
              <a:r>
                <a:rPr lang="en-GB" sz="1400" dirty="0"/>
                <a:t>Interior + Exterior</a:t>
              </a:r>
            </a:p>
          </p:txBody>
        </p:sp>
        <p:sp>
          <p:nvSpPr>
            <p:cNvPr id="15" name="Left Bracket 14">
              <a:extLst>
                <a:ext uri="{FF2B5EF4-FFF2-40B4-BE49-F238E27FC236}">
                  <a16:creationId xmlns:a16="http://schemas.microsoft.com/office/drawing/2014/main" id="{787CAAF0-E8D1-D003-D0BD-678B7468321A}"/>
                </a:ext>
              </a:extLst>
            </p:cNvPr>
            <p:cNvSpPr/>
            <p:nvPr/>
          </p:nvSpPr>
          <p:spPr>
            <a:xfrm rot="5400000">
              <a:off x="8181409" y="5461618"/>
              <a:ext cx="45719" cy="1347357"/>
            </a:xfrm>
            <a:prstGeom prst="leftBracket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DE16C6B-0483-A74B-72E0-D8BD145BE8C1}"/>
              </a:ext>
            </a:extLst>
          </p:cNvPr>
          <p:cNvCxnSpPr>
            <a:cxnSpLocks/>
            <a:endCxn id="20" idx="0"/>
          </p:cNvCxnSpPr>
          <p:nvPr/>
        </p:nvCxnSpPr>
        <p:spPr>
          <a:xfrm flipH="1">
            <a:off x="7951494" y="4670854"/>
            <a:ext cx="47424" cy="1493189"/>
          </a:xfrm>
          <a:prstGeom prst="line">
            <a:avLst/>
          </a:prstGeom>
          <a:ln w="28575">
            <a:solidFill>
              <a:schemeClr val="accent6">
                <a:lumMod val="60000"/>
                <a:lumOff val="4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A5940FB-D9A5-C2FE-E58F-854BC6ADAF86}"/>
              </a:ext>
            </a:extLst>
          </p:cNvPr>
          <p:cNvSpPr txBox="1"/>
          <p:nvPr/>
        </p:nvSpPr>
        <p:spPr>
          <a:xfrm>
            <a:off x="7333494" y="6164043"/>
            <a:ext cx="123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Subthalamic</a:t>
            </a:r>
            <a:br>
              <a:rPr lang="en-GB" sz="1400" dirty="0"/>
            </a:br>
            <a:r>
              <a:rPr lang="en-GB" sz="1400" dirty="0"/>
              <a:t>Nucleus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835C27B-0A7D-0136-AC2D-79A5D5E4B439}"/>
              </a:ext>
            </a:extLst>
          </p:cNvPr>
          <p:cNvSpPr txBox="1"/>
          <p:nvPr/>
        </p:nvSpPr>
        <p:spPr>
          <a:xfrm>
            <a:off x="6416524" y="1875821"/>
            <a:ext cx="1024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Thalamus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6E76DAD-FEC1-12D3-2654-8F06A6FB2793}"/>
              </a:ext>
            </a:extLst>
          </p:cNvPr>
          <p:cNvCxnSpPr>
            <a:cxnSpLocks/>
            <a:endCxn id="25" idx="2"/>
          </p:cNvCxnSpPr>
          <p:nvPr/>
        </p:nvCxnSpPr>
        <p:spPr>
          <a:xfrm flipH="1" flipV="1">
            <a:off x="6928798" y="2183598"/>
            <a:ext cx="1138877" cy="1035852"/>
          </a:xfrm>
          <a:prstGeom prst="line">
            <a:avLst/>
          </a:prstGeom>
          <a:ln w="28575">
            <a:solidFill>
              <a:schemeClr val="bg2">
                <a:lumMod val="25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F999A95F-D860-50ED-9D35-59E1B91963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6231" y="1609774"/>
            <a:ext cx="3566168" cy="1958816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1A3CB0F-3867-7234-A55E-29634A5BA03D}"/>
              </a:ext>
            </a:extLst>
          </p:cNvPr>
          <p:cNvCxnSpPr/>
          <p:nvPr/>
        </p:nvCxnSpPr>
        <p:spPr>
          <a:xfrm>
            <a:off x="4803553" y="2494802"/>
            <a:ext cx="654828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55720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8B880-25BC-6927-A3FC-AB72C7BD1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Anatomy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00DF1-6392-6641-8E41-718843C331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Striatum</a:t>
            </a:r>
          </a:p>
          <a:p>
            <a:pPr lvl="1"/>
            <a:r>
              <a:rPr lang="en-GB" dirty="0"/>
              <a:t>Caudate</a:t>
            </a:r>
          </a:p>
          <a:p>
            <a:pPr lvl="1"/>
            <a:r>
              <a:rPr lang="en-GB" dirty="0"/>
              <a:t>Putamen</a:t>
            </a:r>
          </a:p>
          <a:p>
            <a:endParaRPr lang="en-GB" dirty="0"/>
          </a:p>
          <a:p>
            <a:r>
              <a:rPr lang="en-GB" dirty="0"/>
              <a:t>Globus Pallidus (GP)</a:t>
            </a:r>
          </a:p>
          <a:p>
            <a:pPr lvl="1"/>
            <a:r>
              <a:rPr lang="en-GB" dirty="0"/>
              <a:t>Internal (</a:t>
            </a:r>
            <a:r>
              <a:rPr lang="en-GB" dirty="0" err="1"/>
              <a:t>GPi</a:t>
            </a:r>
            <a:r>
              <a:rPr lang="en-GB" dirty="0"/>
              <a:t>)</a:t>
            </a:r>
          </a:p>
          <a:p>
            <a:pPr lvl="1"/>
            <a:r>
              <a:rPr lang="en-GB" dirty="0"/>
              <a:t>External (</a:t>
            </a:r>
            <a:r>
              <a:rPr lang="en-GB" dirty="0" err="1"/>
              <a:t>GPe</a:t>
            </a:r>
            <a:r>
              <a:rPr lang="en-GB" dirty="0"/>
              <a:t>)</a:t>
            </a:r>
          </a:p>
          <a:p>
            <a:endParaRPr lang="en-GB" dirty="0"/>
          </a:p>
          <a:p>
            <a:r>
              <a:rPr lang="en-GB" dirty="0"/>
              <a:t>Substantia Nigra (SN)</a:t>
            </a:r>
          </a:p>
          <a:p>
            <a:pPr lvl="1"/>
            <a:r>
              <a:rPr lang="en-GB" dirty="0"/>
              <a:t>Pars compacta (</a:t>
            </a:r>
            <a:r>
              <a:rPr lang="en-GB" dirty="0" err="1"/>
              <a:t>SNc</a:t>
            </a:r>
            <a:r>
              <a:rPr lang="en-GB" dirty="0"/>
              <a:t>)</a:t>
            </a:r>
          </a:p>
          <a:p>
            <a:pPr lvl="1"/>
            <a:r>
              <a:rPr lang="en-GB" dirty="0"/>
              <a:t>Pars reticulata (</a:t>
            </a:r>
            <a:r>
              <a:rPr lang="en-GB" dirty="0" err="1"/>
              <a:t>SNr</a:t>
            </a:r>
            <a:r>
              <a:rPr lang="en-GB" dirty="0"/>
              <a:t>)</a:t>
            </a:r>
          </a:p>
          <a:p>
            <a:endParaRPr lang="en-GB" dirty="0"/>
          </a:p>
          <a:p>
            <a:r>
              <a:rPr lang="en-GB" dirty="0"/>
              <a:t>Subthalamic Nucleus (STN)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B8E553-91B4-0F2F-008E-9BFA06FA64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0245" y="1403530"/>
            <a:ext cx="4267200" cy="430501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D9939F1-FBCC-B6E2-85A6-5074C6AD5B87}"/>
              </a:ext>
            </a:extLst>
          </p:cNvPr>
          <p:cNvSpPr txBox="1"/>
          <p:nvPr/>
        </p:nvSpPr>
        <p:spPr>
          <a:xfrm>
            <a:off x="8055305" y="954425"/>
            <a:ext cx="1024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Caudate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95B7303-1731-7FDE-3446-D3E29035A1A8}"/>
              </a:ext>
            </a:extLst>
          </p:cNvPr>
          <p:cNvCxnSpPr>
            <a:cxnSpLocks/>
            <a:endCxn id="5" idx="2"/>
          </p:cNvCxnSpPr>
          <p:nvPr/>
        </p:nvCxnSpPr>
        <p:spPr>
          <a:xfrm flipH="1" flipV="1">
            <a:off x="8567579" y="1262202"/>
            <a:ext cx="755207" cy="993755"/>
          </a:xfrm>
          <a:prstGeom prst="line">
            <a:avLst/>
          </a:prstGeom>
          <a:ln w="28575">
            <a:solidFill>
              <a:srgbClr val="FFC000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65AA368-1A11-3F2D-35D3-AEE52F65CF45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9765136" y="4352925"/>
            <a:ext cx="1116946" cy="1605623"/>
          </a:xfrm>
          <a:prstGeom prst="line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2262F10-A285-060A-F677-BA079AC0DAC5}"/>
              </a:ext>
            </a:extLst>
          </p:cNvPr>
          <p:cNvSpPr txBox="1"/>
          <p:nvPr/>
        </p:nvSpPr>
        <p:spPr>
          <a:xfrm>
            <a:off x="10334599" y="5958548"/>
            <a:ext cx="10949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Putamen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8E4849-1A3F-7A2C-A6CA-3CDCC905DEF4}"/>
              </a:ext>
            </a:extLst>
          </p:cNvPr>
          <p:cNvSpPr txBox="1"/>
          <p:nvPr/>
        </p:nvSpPr>
        <p:spPr>
          <a:xfrm>
            <a:off x="8429884" y="6099862"/>
            <a:ext cx="17013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Globus Pallidus</a:t>
            </a:r>
          </a:p>
          <a:p>
            <a:pPr algn="ctr"/>
            <a:r>
              <a:rPr lang="en-GB" sz="1400" dirty="0"/>
              <a:t>Interior + Exterior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D2E12E6-2ABF-4B30-21E4-27B6E6143F10}"/>
              </a:ext>
            </a:extLst>
          </p:cNvPr>
          <p:cNvGrpSpPr/>
          <p:nvPr/>
        </p:nvGrpSpPr>
        <p:grpSpPr>
          <a:xfrm>
            <a:off x="9207366" y="4700588"/>
            <a:ext cx="150602" cy="1399273"/>
            <a:chOff x="8798929" y="4450600"/>
            <a:chExt cx="150602" cy="1399273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64B953A-03C5-7649-2D09-C0A2A9AF264B}"/>
                </a:ext>
              </a:extLst>
            </p:cNvPr>
            <p:cNvCxnSpPr>
              <a:cxnSpLocks/>
            </p:cNvCxnSpPr>
            <p:nvPr/>
          </p:nvCxnSpPr>
          <p:spPr>
            <a:xfrm>
              <a:off x="8872144" y="4614863"/>
              <a:ext cx="0" cy="1235010"/>
            </a:xfrm>
            <a:prstGeom prst="line">
              <a:avLst/>
            </a:prstGeom>
            <a:ln w="28575">
              <a:solidFill>
                <a:schemeClr val="bg1">
                  <a:lumMod val="85000"/>
                </a:schemeClr>
              </a:solidFill>
              <a:head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71A7035-E8ED-D0F6-3A77-D1BCBB934B7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98929" y="4614863"/>
              <a:ext cx="150602" cy="0"/>
            </a:xfrm>
            <a:prstGeom prst="line">
              <a:avLst/>
            </a:prstGeom>
            <a:ln w="28575">
              <a:solidFill>
                <a:schemeClr val="bg1">
                  <a:lumMod val="85000"/>
                </a:schemeClr>
              </a:solidFill>
              <a:head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8602E11-5144-CAEB-CE19-587B818576A1}"/>
                </a:ext>
              </a:extLst>
            </p:cNvPr>
            <p:cNvCxnSpPr>
              <a:cxnSpLocks/>
            </p:cNvCxnSpPr>
            <p:nvPr/>
          </p:nvCxnSpPr>
          <p:spPr>
            <a:xfrm>
              <a:off x="8798929" y="4450600"/>
              <a:ext cx="0" cy="164263"/>
            </a:xfrm>
            <a:prstGeom prst="line">
              <a:avLst/>
            </a:prstGeom>
            <a:ln w="28575">
              <a:solidFill>
                <a:schemeClr val="bg1">
                  <a:lumMod val="85000"/>
                </a:schemeClr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4EA1A31-F1CD-9B82-9AAA-41414F8228E9}"/>
                </a:ext>
              </a:extLst>
            </p:cNvPr>
            <p:cNvCxnSpPr>
              <a:cxnSpLocks/>
            </p:cNvCxnSpPr>
            <p:nvPr/>
          </p:nvCxnSpPr>
          <p:spPr>
            <a:xfrm>
              <a:off x="8941220" y="4450600"/>
              <a:ext cx="0" cy="164263"/>
            </a:xfrm>
            <a:prstGeom prst="line">
              <a:avLst/>
            </a:prstGeom>
            <a:ln w="28575">
              <a:solidFill>
                <a:schemeClr val="bg1">
                  <a:lumMod val="85000"/>
                </a:schemeClr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Left Bracket 14">
            <a:extLst>
              <a:ext uri="{FF2B5EF4-FFF2-40B4-BE49-F238E27FC236}">
                <a16:creationId xmlns:a16="http://schemas.microsoft.com/office/drawing/2014/main" id="{C1839537-3E24-0B1D-43E9-67070E749B9E}"/>
              </a:ext>
            </a:extLst>
          </p:cNvPr>
          <p:cNvSpPr/>
          <p:nvPr/>
        </p:nvSpPr>
        <p:spPr>
          <a:xfrm rot="5400000">
            <a:off x="9257721" y="5722275"/>
            <a:ext cx="45719" cy="1347357"/>
          </a:xfrm>
          <a:prstGeom prst="leftBracket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2A098F3-E38B-EC0B-3B2D-086B693891B0}"/>
              </a:ext>
            </a:extLst>
          </p:cNvPr>
          <p:cNvCxnSpPr>
            <a:cxnSpLocks/>
            <a:endCxn id="17" idx="0"/>
          </p:cNvCxnSpPr>
          <p:nvPr/>
        </p:nvCxnSpPr>
        <p:spPr>
          <a:xfrm flipH="1">
            <a:off x="7928161" y="4414838"/>
            <a:ext cx="325252" cy="1660174"/>
          </a:xfrm>
          <a:prstGeom prst="line">
            <a:avLst/>
          </a:prstGeom>
          <a:ln w="28575">
            <a:solidFill>
              <a:schemeClr val="accent6">
                <a:lumMod val="60000"/>
                <a:lumOff val="4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51B76A7-A025-637B-944E-40B071451C1B}"/>
              </a:ext>
            </a:extLst>
          </p:cNvPr>
          <p:cNvSpPr txBox="1"/>
          <p:nvPr/>
        </p:nvSpPr>
        <p:spPr>
          <a:xfrm>
            <a:off x="7318496" y="6075012"/>
            <a:ext cx="12193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Subthalamic</a:t>
            </a:r>
            <a:br>
              <a:rPr lang="en-GB" sz="1400" dirty="0"/>
            </a:br>
            <a:r>
              <a:rPr lang="en-GB" sz="1400" dirty="0"/>
              <a:t>Nucleus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FE09845-6692-F6F1-0DCD-936B8997E9FB}"/>
              </a:ext>
            </a:extLst>
          </p:cNvPr>
          <p:cNvCxnSpPr>
            <a:cxnSpLocks/>
            <a:endCxn id="32" idx="0"/>
          </p:cNvCxnSpPr>
          <p:nvPr/>
        </p:nvCxnSpPr>
        <p:spPr>
          <a:xfrm flipH="1">
            <a:off x="6731535" y="4942703"/>
            <a:ext cx="901263" cy="609089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951C070C-390E-FD4D-DEC6-01D59A77C36A}"/>
              </a:ext>
            </a:extLst>
          </p:cNvPr>
          <p:cNvSpPr txBox="1"/>
          <p:nvPr/>
        </p:nvSpPr>
        <p:spPr>
          <a:xfrm>
            <a:off x="6184052" y="5551792"/>
            <a:ext cx="10949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Substantia</a:t>
            </a:r>
          </a:p>
          <a:p>
            <a:pPr algn="ctr"/>
            <a:r>
              <a:rPr lang="en-GB" sz="1400" dirty="0"/>
              <a:t>Nigra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35F4582-5288-5E5B-7F44-781BDC6C70DA}"/>
              </a:ext>
            </a:extLst>
          </p:cNvPr>
          <p:cNvSpPr txBox="1"/>
          <p:nvPr/>
        </p:nvSpPr>
        <p:spPr>
          <a:xfrm>
            <a:off x="6416524" y="1875821"/>
            <a:ext cx="1024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Thalamus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1C376EB-DCA3-04B1-EA2E-527859062FFD}"/>
              </a:ext>
            </a:extLst>
          </p:cNvPr>
          <p:cNvCxnSpPr>
            <a:cxnSpLocks/>
            <a:endCxn id="35" idx="2"/>
          </p:cNvCxnSpPr>
          <p:nvPr/>
        </p:nvCxnSpPr>
        <p:spPr>
          <a:xfrm flipH="1" flipV="1">
            <a:off x="6928798" y="2183598"/>
            <a:ext cx="1324615" cy="892977"/>
          </a:xfrm>
          <a:prstGeom prst="line">
            <a:avLst/>
          </a:prstGeom>
          <a:ln w="28575">
            <a:solidFill>
              <a:schemeClr val="bg2">
                <a:lumMod val="25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CDFC960C-5B74-693D-10F8-D86FE2D2F9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6003" y="1609774"/>
            <a:ext cx="3566168" cy="1958816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A7DF348-C0AD-621D-0E20-7D1CF8C3C3E8}"/>
              </a:ext>
            </a:extLst>
          </p:cNvPr>
          <p:cNvCxnSpPr/>
          <p:nvPr/>
        </p:nvCxnSpPr>
        <p:spPr>
          <a:xfrm>
            <a:off x="4793325" y="2589192"/>
            <a:ext cx="654828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17073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B9022-94D5-4938-BD20-6B3C66065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Neuronal communication: the neurotransmitter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4412892-224B-4099-DCF2-292BB44A9E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2290" name="Picture 2" descr="Chemical Structures of Neurotransmitters">
            <a:extLst>
              <a:ext uri="{FF2B5EF4-FFF2-40B4-BE49-F238E27FC236}">
                <a16:creationId xmlns:a16="http://schemas.microsoft.com/office/drawing/2014/main" id="{13621924-7FD9-458B-991F-E787C0CC968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08"/>
          <a:stretch/>
        </p:blipFill>
        <p:spPr bwMode="auto">
          <a:xfrm>
            <a:off x="2186694" y="1171023"/>
            <a:ext cx="7818612" cy="5341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7C893CF-28F7-44C9-BB09-BF658AD7804D}"/>
              </a:ext>
            </a:extLst>
          </p:cNvPr>
          <p:cNvSpPr txBox="1"/>
          <p:nvPr/>
        </p:nvSpPr>
        <p:spPr>
          <a:xfrm>
            <a:off x="3774017" y="6457037"/>
            <a:ext cx="46439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/>
              <a:t>https://www.compoundchem.com/2015/07/30/neurotransmitters/</a:t>
            </a:r>
          </a:p>
        </p:txBody>
      </p:sp>
    </p:spTree>
    <p:extLst>
      <p:ext uri="{BB962C8B-B14F-4D97-AF65-F5344CB8AC3E}">
        <p14:creationId xmlns:p14="http://schemas.microsoft.com/office/powerpoint/2010/main" val="2571364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72BD3-1CF1-4A6E-4308-9C8F1BC18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CA180-195C-A5FD-138E-BD94B84FE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Neuronal communication: the neurotransmitter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51AE8F-6166-9307-DF3D-43F421BC22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2290" name="Picture 2" descr="Chemical Structures of Neurotransmitters">
            <a:extLst>
              <a:ext uri="{FF2B5EF4-FFF2-40B4-BE49-F238E27FC236}">
                <a16:creationId xmlns:a16="http://schemas.microsoft.com/office/drawing/2014/main" id="{6A36FE4C-A48C-2DB2-70B3-2356724CE3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17194" r="27281" b="47184"/>
          <a:stretch/>
        </p:blipFill>
        <p:spPr bwMode="auto">
          <a:xfrm>
            <a:off x="6107798" y="1952687"/>
            <a:ext cx="1751877" cy="1940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D3CF03C-4B54-D263-339A-40E2EA705A8E}"/>
              </a:ext>
            </a:extLst>
          </p:cNvPr>
          <p:cNvSpPr txBox="1"/>
          <p:nvPr/>
        </p:nvSpPr>
        <p:spPr>
          <a:xfrm>
            <a:off x="3774017" y="6457037"/>
            <a:ext cx="46439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/>
              <a:t>https://www.compoundchem.com/2015/07/30/neurotransmitters/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0A8FD8-AEB2-9DB1-34D7-FCC0B24CB0D9}"/>
              </a:ext>
            </a:extLst>
          </p:cNvPr>
          <p:cNvSpPr txBox="1"/>
          <p:nvPr/>
        </p:nvSpPr>
        <p:spPr>
          <a:xfrm>
            <a:off x="5861808" y="3805563"/>
            <a:ext cx="23652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Modulatory</a:t>
            </a:r>
          </a:p>
          <a:p>
            <a:pPr algn="ctr"/>
            <a:r>
              <a:rPr lang="en-GB" dirty="0"/>
              <a:t>neurotransmitter </a:t>
            </a:r>
          </a:p>
        </p:txBody>
      </p:sp>
    </p:spTree>
    <p:extLst>
      <p:ext uri="{BB962C8B-B14F-4D97-AF65-F5344CB8AC3E}">
        <p14:creationId xmlns:p14="http://schemas.microsoft.com/office/powerpoint/2010/main" val="2428928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27528252-4E6A-014A-CA73-52EC88907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Basal ganglia: Input/output</a:t>
            </a:r>
          </a:p>
        </p:txBody>
      </p:sp>
      <p:sp>
        <p:nvSpPr>
          <p:cNvPr id="67" name="Content Placeholder 66">
            <a:extLst>
              <a:ext uri="{FF2B5EF4-FFF2-40B4-BE49-F238E27FC236}">
                <a16:creationId xmlns:a16="http://schemas.microsoft.com/office/drawing/2014/main" id="{4A4D225C-1418-5CA5-9073-F7C7EE384E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50" y="1253331"/>
            <a:ext cx="5220319" cy="5195094"/>
          </a:xfrm>
        </p:spPr>
        <p:txBody>
          <a:bodyPr>
            <a:normAutofit/>
          </a:bodyPr>
          <a:lstStyle/>
          <a:p>
            <a:endParaRPr lang="en-GB" dirty="0"/>
          </a:p>
          <a:p>
            <a:r>
              <a:rPr lang="en-GB" dirty="0"/>
              <a:t>Cortex afferent (layer V) are predominantly 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excitatory</a:t>
            </a:r>
            <a:r>
              <a:rPr lang="en-GB" dirty="0"/>
              <a:t> (glutamate)</a:t>
            </a:r>
          </a:p>
          <a:p>
            <a:r>
              <a:rPr lang="en-GB" dirty="0"/>
              <a:t>Primary motor, premotor, supplementary motor and somatosensory cortices project mainly to the </a:t>
            </a:r>
            <a:r>
              <a:rPr lang="en-GB" b="1" dirty="0"/>
              <a:t>putamen</a:t>
            </a:r>
          </a:p>
          <a:p>
            <a:r>
              <a:rPr lang="en-GB" dirty="0"/>
              <a:t>Prefrontal cortex and many other associative areas project to the </a:t>
            </a:r>
            <a:r>
              <a:rPr lang="en-GB" b="1" dirty="0"/>
              <a:t>caudate</a:t>
            </a:r>
          </a:p>
          <a:p>
            <a:endParaRPr lang="en-GB" dirty="0"/>
          </a:p>
          <a:p>
            <a:r>
              <a:rPr lang="en-GB" dirty="0"/>
              <a:t>The information processed by the basal ganglia returns to the cortex (mainly supplementary motor area, but also somatosensory and motor) through the </a:t>
            </a:r>
            <a:r>
              <a:rPr lang="en-GB" b="1" dirty="0"/>
              <a:t>thalamus</a:t>
            </a:r>
            <a:r>
              <a:rPr lang="en-GB" dirty="0"/>
              <a:t> (</a:t>
            </a:r>
            <a:r>
              <a:rPr lang="en-GB" dirty="0" err="1"/>
              <a:t>ventroanterior</a:t>
            </a:r>
            <a:r>
              <a:rPr lang="en-GB" dirty="0"/>
              <a:t> and ventrolateral nuclei)</a:t>
            </a:r>
          </a:p>
          <a:p>
            <a:endParaRPr lang="en-GB" dirty="0"/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B6F6C0E1-2874-5EFE-30DC-C6B9864006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3676" y="1785375"/>
            <a:ext cx="4041782" cy="4102178"/>
          </a:xfrm>
          <a:prstGeom prst="rect">
            <a:avLst/>
          </a:prstGeom>
        </p:spPr>
      </p:pic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C9C814EC-F182-8C50-03EF-7DFB31D75CAB}"/>
              </a:ext>
            </a:extLst>
          </p:cNvPr>
          <p:cNvSpPr/>
          <p:nvPr/>
        </p:nvSpPr>
        <p:spPr>
          <a:xfrm>
            <a:off x="9137924" y="1307964"/>
            <a:ext cx="914458" cy="3025707"/>
          </a:xfrm>
          <a:custGeom>
            <a:avLst/>
            <a:gdLst>
              <a:gd name="connsiteX0" fmla="*/ 0 w 1276860"/>
              <a:gd name="connsiteY0" fmla="*/ 0 h 3180944"/>
              <a:gd name="connsiteX1" fmla="*/ 544748 w 1276860"/>
              <a:gd name="connsiteY1" fmla="*/ 321012 h 3180944"/>
              <a:gd name="connsiteX2" fmla="*/ 1011676 w 1276860"/>
              <a:gd name="connsiteY2" fmla="*/ 904672 h 3180944"/>
              <a:gd name="connsiteX3" fmla="*/ 1177046 w 1276860"/>
              <a:gd name="connsiteY3" fmla="*/ 1400783 h 3180944"/>
              <a:gd name="connsiteX4" fmla="*/ 1274323 w 1276860"/>
              <a:gd name="connsiteY4" fmla="*/ 1984442 h 3180944"/>
              <a:gd name="connsiteX5" fmla="*/ 1215957 w 1276860"/>
              <a:gd name="connsiteY5" fmla="*/ 2558374 h 3180944"/>
              <a:gd name="connsiteX6" fmla="*/ 894944 w 1276860"/>
              <a:gd name="connsiteY6" fmla="*/ 3064212 h 3180944"/>
              <a:gd name="connsiteX7" fmla="*/ 710119 w 1276860"/>
              <a:gd name="connsiteY7" fmla="*/ 3180944 h 3180944"/>
              <a:gd name="connsiteX0" fmla="*/ 0 w 1276860"/>
              <a:gd name="connsiteY0" fmla="*/ 0 h 3180944"/>
              <a:gd name="connsiteX1" fmla="*/ 1011676 w 1276860"/>
              <a:gd name="connsiteY1" fmla="*/ 904672 h 3180944"/>
              <a:gd name="connsiteX2" fmla="*/ 1177046 w 1276860"/>
              <a:gd name="connsiteY2" fmla="*/ 1400783 h 3180944"/>
              <a:gd name="connsiteX3" fmla="*/ 1274323 w 1276860"/>
              <a:gd name="connsiteY3" fmla="*/ 1984442 h 3180944"/>
              <a:gd name="connsiteX4" fmla="*/ 1215957 w 1276860"/>
              <a:gd name="connsiteY4" fmla="*/ 2558374 h 3180944"/>
              <a:gd name="connsiteX5" fmla="*/ 894944 w 1276860"/>
              <a:gd name="connsiteY5" fmla="*/ 3064212 h 3180944"/>
              <a:gd name="connsiteX6" fmla="*/ 710119 w 1276860"/>
              <a:gd name="connsiteY6" fmla="*/ 3180944 h 3180944"/>
              <a:gd name="connsiteX0" fmla="*/ 0 w 1276860"/>
              <a:gd name="connsiteY0" fmla="*/ 0 h 3180944"/>
              <a:gd name="connsiteX1" fmla="*/ 1011676 w 1276860"/>
              <a:gd name="connsiteY1" fmla="*/ 904672 h 3180944"/>
              <a:gd name="connsiteX2" fmla="*/ 1177046 w 1276860"/>
              <a:gd name="connsiteY2" fmla="*/ 1400783 h 3180944"/>
              <a:gd name="connsiteX3" fmla="*/ 1274323 w 1276860"/>
              <a:gd name="connsiteY3" fmla="*/ 1984442 h 3180944"/>
              <a:gd name="connsiteX4" fmla="*/ 1215957 w 1276860"/>
              <a:gd name="connsiteY4" fmla="*/ 2558374 h 3180944"/>
              <a:gd name="connsiteX5" fmla="*/ 894944 w 1276860"/>
              <a:gd name="connsiteY5" fmla="*/ 3064212 h 3180944"/>
              <a:gd name="connsiteX6" fmla="*/ 710119 w 1276860"/>
              <a:gd name="connsiteY6" fmla="*/ 3180944 h 3180944"/>
              <a:gd name="connsiteX0" fmla="*/ 0 w 1276860"/>
              <a:gd name="connsiteY0" fmla="*/ 0 h 3180944"/>
              <a:gd name="connsiteX1" fmla="*/ 1011676 w 1276860"/>
              <a:gd name="connsiteY1" fmla="*/ 904672 h 3180944"/>
              <a:gd name="connsiteX2" fmla="*/ 1177046 w 1276860"/>
              <a:gd name="connsiteY2" fmla="*/ 1400783 h 3180944"/>
              <a:gd name="connsiteX3" fmla="*/ 1274323 w 1276860"/>
              <a:gd name="connsiteY3" fmla="*/ 1984442 h 3180944"/>
              <a:gd name="connsiteX4" fmla="*/ 1215957 w 1276860"/>
              <a:gd name="connsiteY4" fmla="*/ 2558374 h 3180944"/>
              <a:gd name="connsiteX5" fmla="*/ 894944 w 1276860"/>
              <a:gd name="connsiteY5" fmla="*/ 3064212 h 3180944"/>
              <a:gd name="connsiteX6" fmla="*/ 710119 w 1276860"/>
              <a:gd name="connsiteY6" fmla="*/ 3180944 h 3180944"/>
              <a:gd name="connsiteX0" fmla="*/ 0 w 1288703"/>
              <a:gd name="connsiteY0" fmla="*/ 0 h 3180944"/>
              <a:gd name="connsiteX1" fmla="*/ 1011676 w 1288703"/>
              <a:gd name="connsiteY1" fmla="*/ 904672 h 3180944"/>
              <a:gd name="connsiteX2" fmla="*/ 1274323 w 1288703"/>
              <a:gd name="connsiteY2" fmla="*/ 1984442 h 3180944"/>
              <a:gd name="connsiteX3" fmla="*/ 1215957 w 1288703"/>
              <a:gd name="connsiteY3" fmla="*/ 2558374 h 3180944"/>
              <a:gd name="connsiteX4" fmla="*/ 894944 w 1288703"/>
              <a:gd name="connsiteY4" fmla="*/ 3064212 h 3180944"/>
              <a:gd name="connsiteX5" fmla="*/ 710119 w 1288703"/>
              <a:gd name="connsiteY5" fmla="*/ 3180944 h 3180944"/>
              <a:gd name="connsiteX0" fmla="*/ 0 w 1292974"/>
              <a:gd name="connsiteY0" fmla="*/ 0 h 3180944"/>
              <a:gd name="connsiteX1" fmla="*/ 1011676 w 1292974"/>
              <a:gd name="connsiteY1" fmla="*/ 904672 h 3180944"/>
              <a:gd name="connsiteX2" fmla="*/ 1274323 w 1292974"/>
              <a:gd name="connsiteY2" fmla="*/ 1984442 h 3180944"/>
              <a:gd name="connsiteX3" fmla="*/ 1215957 w 1292974"/>
              <a:gd name="connsiteY3" fmla="*/ 2558374 h 3180944"/>
              <a:gd name="connsiteX4" fmla="*/ 894944 w 1292974"/>
              <a:gd name="connsiteY4" fmla="*/ 3064212 h 3180944"/>
              <a:gd name="connsiteX5" fmla="*/ 710119 w 1292974"/>
              <a:gd name="connsiteY5" fmla="*/ 3180944 h 3180944"/>
              <a:gd name="connsiteX0" fmla="*/ 0 w 1277440"/>
              <a:gd name="connsiteY0" fmla="*/ 0 h 3180944"/>
              <a:gd name="connsiteX1" fmla="*/ 1011676 w 1277440"/>
              <a:gd name="connsiteY1" fmla="*/ 904672 h 3180944"/>
              <a:gd name="connsiteX2" fmla="*/ 1274323 w 1277440"/>
              <a:gd name="connsiteY2" fmla="*/ 1984442 h 3180944"/>
              <a:gd name="connsiteX3" fmla="*/ 894944 w 1277440"/>
              <a:gd name="connsiteY3" fmla="*/ 3064212 h 3180944"/>
              <a:gd name="connsiteX4" fmla="*/ 710119 w 1277440"/>
              <a:gd name="connsiteY4" fmla="*/ 3180944 h 3180944"/>
              <a:gd name="connsiteX0" fmla="*/ 0 w 1287073"/>
              <a:gd name="connsiteY0" fmla="*/ 0 h 3180944"/>
              <a:gd name="connsiteX1" fmla="*/ 1011676 w 1287073"/>
              <a:gd name="connsiteY1" fmla="*/ 904672 h 3180944"/>
              <a:gd name="connsiteX2" fmla="*/ 1274323 w 1287073"/>
              <a:gd name="connsiteY2" fmla="*/ 1984442 h 3180944"/>
              <a:gd name="connsiteX3" fmla="*/ 710119 w 1287073"/>
              <a:gd name="connsiteY3" fmla="*/ 3180944 h 3180944"/>
              <a:gd name="connsiteX0" fmla="*/ 0 w 1287073"/>
              <a:gd name="connsiteY0" fmla="*/ 0 h 3180944"/>
              <a:gd name="connsiteX1" fmla="*/ 1011676 w 1287073"/>
              <a:gd name="connsiteY1" fmla="*/ 904672 h 3180944"/>
              <a:gd name="connsiteX2" fmla="*/ 1274323 w 1287073"/>
              <a:gd name="connsiteY2" fmla="*/ 1984442 h 3180944"/>
              <a:gd name="connsiteX3" fmla="*/ 710119 w 1287073"/>
              <a:gd name="connsiteY3" fmla="*/ 3180944 h 3180944"/>
              <a:gd name="connsiteX0" fmla="*/ 0 w 1274323"/>
              <a:gd name="connsiteY0" fmla="*/ 0 h 3180944"/>
              <a:gd name="connsiteX1" fmla="*/ 1274323 w 1274323"/>
              <a:gd name="connsiteY1" fmla="*/ 1984442 h 3180944"/>
              <a:gd name="connsiteX2" fmla="*/ 710119 w 1274323"/>
              <a:gd name="connsiteY2" fmla="*/ 3180944 h 3180944"/>
              <a:gd name="connsiteX0" fmla="*/ 0 w 1303506"/>
              <a:gd name="connsiteY0" fmla="*/ 0 h 3180944"/>
              <a:gd name="connsiteX1" fmla="*/ 1303506 w 1303506"/>
              <a:gd name="connsiteY1" fmla="*/ 1566152 h 3180944"/>
              <a:gd name="connsiteX2" fmla="*/ 710119 w 1303506"/>
              <a:gd name="connsiteY2" fmla="*/ 3180944 h 3180944"/>
              <a:gd name="connsiteX0" fmla="*/ 0 w 1305191"/>
              <a:gd name="connsiteY0" fmla="*/ 0 h 3180944"/>
              <a:gd name="connsiteX1" fmla="*/ 1303506 w 1305191"/>
              <a:gd name="connsiteY1" fmla="*/ 1566152 h 3180944"/>
              <a:gd name="connsiteX2" fmla="*/ 710119 w 1305191"/>
              <a:gd name="connsiteY2" fmla="*/ 3180944 h 3180944"/>
              <a:gd name="connsiteX0" fmla="*/ 0 w 1307723"/>
              <a:gd name="connsiteY0" fmla="*/ 0 h 3180944"/>
              <a:gd name="connsiteX1" fmla="*/ 1303506 w 1307723"/>
              <a:gd name="connsiteY1" fmla="*/ 1566152 h 3180944"/>
              <a:gd name="connsiteX2" fmla="*/ 710119 w 1307723"/>
              <a:gd name="connsiteY2" fmla="*/ 3180944 h 3180944"/>
              <a:gd name="connsiteX0" fmla="*/ 0 w 1341041"/>
              <a:gd name="connsiteY0" fmla="*/ 0 h 3180944"/>
              <a:gd name="connsiteX1" fmla="*/ 1303506 w 1341041"/>
              <a:gd name="connsiteY1" fmla="*/ 1566152 h 3180944"/>
              <a:gd name="connsiteX2" fmla="*/ 710119 w 1341041"/>
              <a:gd name="connsiteY2" fmla="*/ 3180944 h 3180944"/>
              <a:gd name="connsiteX0" fmla="*/ 0 w 740159"/>
              <a:gd name="connsiteY0" fmla="*/ 0 h 3044757"/>
              <a:gd name="connsiteX1" fmla="*/ 739302 w 740159"/>
              <a:gd name="connsiteY1" fmla="*/ 1429965 h 3044757"/>
              <a:gd name="connsiteX2" fmla="*/ 145915 w 740159"/>
              <a:gd name="connsiteY2" fmla="*/ 3044757 h 3044757"/>
              <a:gd name="connsiteX0" fmla="*/ 16081 w 756240"/>
              <a:gd name="connsiteY0" fmla="*/ 0 h 3044757"/>
              <a:gd name="connsiteX1" fmla="*/ 755383 w 756240"/>
              <a:gd name="connsiteY1" fmla="*/ 1429965 h 3044757"/>
              <a:gd name="connsiteX2" fmla="*/ 161996 w 756240"/>
              <a:gd name="connsiteY2" fmla="*/ 3044757 h 3044757"/>
              <a:gd name="connsiteX0" fmla="*/ 0 w 740159"/>
              <a:gd name="connsiteY0" fmla="*/ 0 h 3044757"/>
              <a:gd name="connsiteX1" fmla="*/ 739302 w 740159"/>
              <a:gd name="connsiteY1" fmla="*/ 1429965 h 3044757"/>
              <a:gd name="connsiteX2" fmla="*/ 145915 w 740159"/>
              <a:gd name="connsiteY2" fmla="*/ 3044757 h 3044757"/>
              <a:gd name="connsiteX0" fmla="*/ 0 w 914458"/>
              <a:gd name="connsiteY0" fmla="*/ 0 h 3025707"/>
              <a:gd name="connsiteX1" fmla="*/ 910752 w 914458"/>
              <a:gd name="connsiteY1" fmla="*/ 1410915 h 3025707"/>
              <a:gd name="connsiteX2" fmla="*/ 317365 w 914458"/>
              <a:gd name="connsiteY2" fmla="*/ 3025707 h 3025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14458" h="3025707">
                <a:moveTo>
                  <a:pt x="0" y="0"/>
                </a:moveTo>
                <a:cubicBezTo>
                  <a:pt x="380798" y="414236"/>
                  <a:pt x="857858" y="906631"/>
                  <a:pt x="910752" y="1410915"/>
                </a:cubicBezTo>
                <a:cubicBezTo>
                  <a:pt x="963646" y="1915199"/>
                  <a:pt x="434908" y="2776436"/>
                  <a:pt x="317365" y="3025707"/>
                </a:cubicBezTo>
              </a:path>
            </a:pathLst>
          </a:custGeom>
          <a:noFill/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0963002-9E2F-288C-B7EF-721FA9ABACB6}"/>
              </a:ext>
            </a:extLst>
          </p:cNvPr>
          <p:cNvSpPr/>
          <p:nvPr/>
        </p:nvSpPr>
        <p:spPr>
          <a:xfrm>
            <a:off x="8866965" y="1374842"/>
            <a:ext cx="416628" cy="1275945"/>
          </a:xfrm>
          <a:custGeom>
            <a:avLst/>
            <a:gdLst>
              <a:gd name="connsiteX0" fmla="*/ 0 w 852361"/>
              <a:gd name="connsiteY0" fmla="*/ 0 h 1274323"/>
              <a:gd name="connsiteX1" fmla="*/ 836579 w 852361"/>
              <a:gd name="connsiteY1" fmla="*/ 661480 h 1274323"/>
              <a:gd name="connsiteX2" fmla="*/ 466928 w 852361"/>
              <a:gd name="connsiteY2" fmla="*/ 1274323 h 1274323"/>
              <a:gd name="connsiteX0" fmla="*/ 0 w 847398"/>
              <a:gd name="connsiteY0" fmla="*/ 0 h 1341901"/>
              <a:gd name="connsiteX1" fmla="*/ 836579 w 847398"/>
              <a:gd name="connsiteY1" fmla="*/ 661480 h 1341901"/>
              <a:gd name="connsiteX2" fmla="*/ 330741 w 847398"/>
              <a:gd name="connsiteY2" fmla="*/ 1341901 h 1341901"/>
              <a:gd name="connsiteX0" fmla="*/ 0 w 559907"/>
              <a:gd name="connsiteY0" fmla="*/ 0 h 1341901"/>
              <a:gd name="connsiteX1" fmla="*/ 525294 w 559907"/>
              <a:gd name="connsiteY1" fmla="*/ 603556 h 1341901"/>
              <a:gd name="connsiteX2" fmla="*/ 330741 w 559907"/>
              <a:gd name="connsiteY2" fmla="*/ 1341901 h 1341901"/>
              <a:gd name="connsiteX0" fmla="*/ 0 w 407507"/>
              <a:gd name="connsiteY0" fmla="*/ 0 h 1200108"/>
              <a:gd name="connsiteX1" fmla="*/ 372894 w 407507"/>
              <a:gd name="connsiteY1" fmla="*/ 461763 h 1200108"/>
              <a:gd name="connsiteX2" fmla="*/ 178341 w 407507"/>
              <a:gd name="connsiteY2" fmla="*/ 1200108 h 1200108"/>
              <a:gd name="connsiteX0" fmla="*/ 0 w 438971"/>
              <a:gd name="connsiteY0" fmla="*/ 0 h 1200108"/>
              <a:gd name="connsiteX1" fmla="*/ 410994 w 438971"/>
              <a:gd name="connsiteY1" fmla="*/ 584650 h 1200108"/>
              <a:gd name="connsiteX2" fmla="*/ 178341 w 438971"/>
              <a:gd name="connsiteY2" fmla="*/ 1200108 h 1200108"/>
              <a:gd name="connsiteX0" fmla="*/ 0 w 416475"/>
              <a:gd name="connsiteY0" fmla="*/ 0 h 1200108"/>
              <a:gd name="connsiteX1" fmla="*/ 410994 w 416475"/>
              <a:gd name="connsiteY1" fmla="*/ 584650 h 1200108"/>
              <a:gd name="connsiteX2" fmla="*/ 178341 w 416475"/>
              <a:gd name="connsiteY2" fmla="*/ 1200108 h 1200108"/>
              <a:gd name="connsiteX0" fmla="*/ 0 w 416475"/>
              <a:gd name="connsiteY0" fmla="*/ 0 h 1200108"/>
              <a:gd name="connsiteX1" fmla="*/ 410994 w 416475"/>
              <a:gd name="connsiteY1" fmla="*/ 584650 h 1200108"/>
              <a:gd name="connsiteX2" fmla="*/ 178341 w 416475"/>
              <a:gd name="connsiteY2" fmla="*/ 1200108 h 1200108"/>
              <a:gd name="connsiteX0" fmla="*/ 0 w 416475"/>
              <a:gd name="connsiteY0" fmla="*/ 0 h 1200108"/>
              <a:gd name="connsiteX1" fmla="*/ 410994 w 416475"/>
              <a:gd name="connsiteY1" fmla="*/ 584650 h 1200108"/>
              <a:gd name="connsiteX2" fmla="*/ 178341 w 416475"/>
              <a:gd name="connsiteY2" fmla="*/ 1200108 h 1200108"/>
              <a:gd name="connsiteX0" fmla="*/ 0 w 416475"/>
              <a:gd name="connsiteY0" fmla="*/ 0 h 1200108"/>
              <a:gd name="connsiteX1" fmla="*/ 410994 w 416475"/>
              <a:gd name="connsiteY1" fmla="*/ 584650 h 1200108"/>
              <a:gd name="connsiteX2" fmla="*/ 178341 w 416475"/>
              <a:gd name="connsiteY2" fmla="*/ 1200108 h 1200108"/>
              <a:gd name="connsiteX0" fmla="*/ 0 w 178341"/>
              <a:gd name="connsiteY0" fmla="*/ 0 h 1200108"/>
              <a:gd name="connsiteX1" fmla="*/ 178341 w 178341"/>
              <a:gd name="connsiteY1" fmla="*/ 1200108 h 1200108"/>
              <a:gd name="connsiteX0" fmla="*/ 0 w 305935"/>
              <a:gd name="connsiteY0" fmla="*/ 0 h 1200108"/>
              <a:gd name="connsiteX1" fmla="*/ 178341 w 305935"/>
              <a:gd name="connsiteY1" fmla="*/ 1200108 h 1200108"/>
              <a:gd name="connsiteX0" fmla="*/ 0 w 451205"/>
              <a:gd name="connsiteY0" fmla="*/ 0 h 1200108"/>
              <a:gd name="connsiteX1" fmla="*/ 178341 w 451205"/>
              <a:gd name="connsiteY1" fmla="*/ 1200108 h 1200108"/>
              <a:gd name="connsiteX0" fmla="*/ 0 w 416628"/>
              <a:gd name="connsiteY0" fmla="*/ 0 h 1266278"/>
              <a:gd name="connsiteX1" fmla="*/ 111666 w 416628"/>
              <a:gd name="connsiteY1" fmla="*/ 1266278 h 1266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16628" h="1266278">
                <a:moveTo>
                  <a:pt x="0" y="0"/>
                </a:moveTo>
                <a:cubicBezTo>
                  <a:pt x="602372" y="456753"/>
                  <a:pt x="471319" y="696091"/>
                  <a:pt x="111666" y="1266278"/>
                </a:cubicBezTo>
              </a:path>
            </a:pathLst>
          </a:custGeom>
          <a:noFill/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E75AC9C1-6A44-67B3-3280-1BBCD6C7EB7B}"/>
              </a:ext>
            </a:extLst>
          </p:cNvPr>
          <p:cNvSpPr/>
          <p:nvPr/>
        </p:nvSpPr>
        <p:spPr>
          <a:xfrm rot="20714201">
            <a:off x="8151827" y="1442376"/>
            <a:ext cx="687396" cy="1763841"/>
          </a:xfrm>
          <a:custGeom>
            <a:avLst/>
            <a:gdLst>
              <a:gd name="connsiteX0" fmla="*/ 301557 w 671013"/>
              <a:gd name="connsiteY0" fmla="*/ 1935804 h 1935804"/>
              <a:gd name="connsiteX1" fmla="*/ 593387 w 671013"/>
              <a:gd name="connsiteY1" fmla="*/ 1352145 h 1935804"/>
              <a:gd name="connsiteX2" fmla="*/ 622570 w 671013"/>
              <a:gd name="connsiteY2" fmla="*/ 680936 h 1935804"/>
              <a:gd name="connsiteX3" fmla="*/ 0 w 671013"/>
              <a:gd name="connsiteY3" fmla="*/ 0 h 1935804"/>
              <a:gd name="connsiteX0" fmla="*/ 301557 w 600647"/>
              <a:gd name="connsiteY0" fmla="*/ 1935804 h 1935804"/>
              <a:gd name="connsiteX1" fmla="*/ 593387 w 600647"/>
              <a:gd name="connsiteY1" fmla="*/ 1352145 h 1935804"/>
              <a:gd name="connsiteX2" fmla="*/ 0 w 600647"/>
              <a:gd name="connsiteY2" fmla="*/ 0 h 1935804"/>
              <a:gd name="connsiteX0" fmla="*/ 0 w 402609"/>
              <a:gd name="connsiteY0" fmla="*/ 1714991 h 1714991"/>
              <a:gd name="connsiteX1" fmla="*/ 291830 w 402609"/>
              <a:gd name="connsiteY1" fmla="*/ 1131332 h 1714991"/>
              <a:gd name="connsiteX2" fmla="*/ 349467 w 402609"/>
              <a:gd name="connsiteY2" fmla="*/ 0 h 1714991"/>
              <a:gd name="connsiteX0" fmla="*/ 0 w 478851"/>
              <a:gd name="connsiteY0" fmla="*/ 1714991 h 1714991"/>
              <a:gd name="connsiteX1" fmla="*/ 451898 w 478851"/>
              <a:gd name="connsiteY1" fmla="*/ 897710 h 1714991"/>
              <a:gd name="connsiteX2" fmla="*/ 349467 w 478851"/>
              <a:gd name="connsiteY2" fmla="*/ 0 h 1714991"/>
              <a:gd name="connsiteX0" fmla="*/ 0 w 721411"/>
              <a:gd name="connsiteY0" fmla="*/ 1763841 h 1763841"/>
              <a:gd name="connsiteX1" fmla="*/ 451898 w 721411"/>
              <a:gd name="connsiteY1" fmla="*/ 946560 h 1763841"/>
              <a:gd name="connsiteX2" fmla="*/ 687396 w 721411"/>
              <a:gd name="connsiteY2" fmla="*/ 0 h 1763841"/>
              <a:gd name="connsiteX0" fmla="*/ 0 w 687396"/>
              <a:gd name="connsiteY0" fmla="*/ 1763841 h 1763841"/>
              <a:gd name="connsiteX1" fmla="*/ 451898 w 687396"/>
              <a:gd name="connsiteY1" fmla="*/ 946560 h 1763841"/>
              <a:gd name="connsiteX2" fmla="*/ 687396 w 687396"/>
              <a:gd name="connsiteY2" fmla="*/ 0 h 1763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87396" h="1763841">
                <a:moveTo>
                  <a:pt x="0" y="1763841"/>
                </a:moveTo>
                <a:cubicBezTo>
                  <a:pt x="119164" y="1576584"/>
                  <a:pt x="337332" y="1240534"/>
                  <a:pt x="451898" y="946560"/>
                </a:cubicBezTo>
                <a:cubicBezTo>
                  <a:pt x="566464" y="652586"/>
                  <a:pt x="640310" y="443564"/>
                  <a:pt x="687396" y="0"/>
                </a:cubicBezTo>
              </a:path>
            </a:pathLst>
          </a:custGeom>
          <a:noFill/>
          <a:ln w="254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B120DC5-09E3-C1C7-44E3-0EA08304AB93}"/>
              </a:ext>
            </a:extLst>
          </p:cNvPr>
          <p:cNvSpPr txBox="1"/>
          <p:nvPr/>
        </p:nvSpPr>
        <p:spPr>
          <a:xfrm>
            <a:off x="10238314" y="1235819"/>
            <a:ext cx="1024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Caudate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84C8B38-1B79-D1CE-DAF3-9787212F5300}"/>
              </a:ext>
            </a:extLst>
          </p:cNvPr>
          <p:cNvCxnSpPr>
            <a:cxnSpLocks/>
            <a:endCxn id="36" idx="2"/>
          </p:cNvCxnSpPr>
          <p:nvPr/>
        </p:nvCxnSpPr>
        <p:spPr>
          <a:xfrm flipV="1">
            <a:off x="8948474" y="1543596"/>
            <a:ext cx="1802114" cy="1218654"/>
          </a:xfrm>
          <a:prstGeom prst="line">
            <a:avLst/>
          </a:prstGeom>
          <a:ln w="28575">
            <a:solidFill>
              <a:srgbClr val="FFC000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E6E2C76-4A43-A879-ABCC-589BA3F2E223}"/>
              </a:ext>
            </a:extLst>
          </p:cNvPr>
          <p:cNvCxnSpPr>
            <a:cxnSpLocks/>
            <a:endCxn id="39" idx="0"/>
          </p:cNvCxnSpPr>
          <p:nvPr/>
        </p:nvCxnSpPr>
        <p:spPr>
          <a:xfrm>
            <a:off x="9365086" y="4613670"/>
            <a:ext cx="1116946" cy="1605623"/>
          </a:xfrm>
          <a:prstGeom prst="line">
            <a:avLst/>
          </a:prstGeom>
          <a:ln w="28575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717C92E0-0F7C-B4F8-303D-C4AC648A4BB8}"/>
              </a:ext>
            </a:extLst>
          </p:cNvPr>
          <p:cNvSpPr txBox="1"/>
          <p:nvPr/>
        </p:nvSpPr>
        <p:spPr>
          <a:xfrm>
            <a:off x="9934549" y="6219293"/>
            <a:ext cx="10949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Putamen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BFA9340-253E-5470-2121-1A742F9077DD}"/>
              </a:ext>
            </a:extLst>
          </p:cNvPr>
          <p:cNvSpPr txBox="1"/>
          <p:nvPr/>
        </p:nvSpPr>
        <p:spPr>
          <a:xfrm>
            <a:off x="8255424" y="5988739"/>
            <a:ext cx="4885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 err="1"/>
              <a:t>GPi</a:t>
            </a:r>
            <a:endParaRPr lang="en-GB" sz="1400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D2C836E-4E39-4720-7DE9-F382F801BBC7}"/>
              </a:ext>
            </a:extLst>
          </p:cNvPr>
          <p:cNvGrpSpPr/>
          <p:nvPr/>
        </p:nvGrpSpPr>
        <p:grpSpPr>
          <a:xfrm>
            <a:off x="8512540" y="5019675"/>
            <a:ext cx="595293" cy="1045729"/>
            <a:chOff x="8491306" y="4508942"/>
            <a:chExt cx="595293" cy="1045729"/>
          </a:xfrm>
        </p:grpSpPr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BBFDE92F-4288-C9AE-C06B-6406BC7D7385}"/>
                </a:ext>
              </a:extLst>
            </p:cNvPr>
            <p:cNvCxnSpPr>
              <a:cxnSpLocks/>
              <a:endCxn id="40" idx="0"/>
            </p:cNvCxnSpPr>
            <p:nvPr/>
          </p:nvCxnSpPr>
          <p:spPr>
            <a:xfrm flipH="1">
              <a:off x="8491306" y="4508942"/>
              <a:ext cx="225508" cy="969064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76E5704A-FBF0-340D-A744-1B833154F74A}"/>
                </a:ext>
              </a:extLst>
            </p:cNvPr>
            <p:cNvCxnSpPr>
              <a:cxnSpLocks/>
              <a:endCxn id="54" idx="0"/>
            </p:cNvCxnSpPr>
            <p:nvPr/>
          </p:nvCxnSpPr>
          <p:spPr>
            <a:xfrm>
              <a:off x="8906189" y="4692715"/>
              <a:ext cx="180410" cy="861956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224481A7-4331-39E4-E16F-0F2A249F8CED}"/>
              </a:ext>
            </a:extLst>
          </p:cNvPr>
          <p:cNvCxnSpPr>
            <a:cxnSpLocks/>
            <a:endCxn id="48" idx="3"/>
          </p:cNvCxnSpPr>
          <p:nvPr/>
        </p:nvCxnSpPr>
        <p:spPr>
          <a:xfrm flipH="1">
            <a:off x="6614019" y="4680228"/>
            <a:ext cx="1233403" cy="19495"/>
          </a:xfrm>
          <a:prstGeom prst="line">
            <a:avLst/>
          </a:prstGeom>
          <a:ln w="28575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65C5C9FF-626A-3E05-E759-B2A4BFE24B92}"/>
              </a:ext>
            </a:extLst>
          </p:cNvPr>
          <p:cNvSpPr txBox="1"/>
          <p:nvPr/>
        </p:nvSpPr>
        <p:spPr>
          <a:xfrm>
            <a:off x="5341439" y="4438113"/>
            <a:ext cx="12725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Subthalamic</a:t>
            </a:r>
            <a:br>
              <a:rPr lang="en-GB" sz="1400" dirty="0"/>
            </a:br>
            <a:r>
              <a:rPr lang="en-GB" sz="1400" dirty="0"/>
              <a:t>Nucleus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4150295A-FB43-C03F-72CC-14DAE4A678FE}"/>
              </a:ext>
            </a:extLst>
          </p:cNvPr>
          <p:cNvCxnSpPr>
            <a:cxnSpLocks/>
          </p:cNvCxnSpPr>
          <p:nvPr/>
        </p:nvCxnSpPr>
        <p:spPr>
          <a:xfrm flipH="1">
            <a:off x="6331485" y="5203448"/>
            <a:ext cx="901263" cy="609089"/>
          </a:xfrm>
          <a:prstGeom prst="line">
            <a:avLst/>
          </a:prstGeom>
          <a:ln w="28575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ACE7AA8B-A2A5-86FB-89A1-6DCBF82EE9D9}"/>
              </a:ext>
            </a:extLst>
          </p:cNvPr>
          <p:cNvSpPr txBox="1"/>
          <p:nvPr/>
        </p:nvSpPr>
        <p:spPr>
          <a:xfrm>
            <a:off x="6016474" y="2136566"/>
            <a:ext cx="10245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Thalamus (VA &amp; VL)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F35C1DC8-3370-4B31-9FBA-D44F3764AE1B}"/>
              </a:ext>
            </a:extLst>
          </p:cNvPr>
          <p:cNvCxnSpPr>
            <a:cxnSpLocks/>
            <a:endCxn id="50" idx="2"/>
          </p:cNvCxnSpPr>
          <p:nvPr/>
        </p:nvCxnSpPr>
        <p:spPr>
          <a:xfrm flipH="1" flipV="1">
            <a:off x="6528748" y="2659786"/>
            <a:ext cx="1842124" cy="717621"/>
          </a:xfrm>
          <a:prstGeom prst="line">
            <a:avLst/>
          </a:prstGeom>
          <a:ln w="28575">
            <a:solidFill>
              <a:schemeClr val="bg2">
                <a:lumMod val="25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270ADA44-49A9-C1CA-4AAE-435692CF1039}"/>
              </a:ext>
            </a:extLst>
          </p:cNvPr>
          <p:cNvSpPr txBox="1"/>
          <p:nvPr/>
        </p:nvSpPr>
        <p:spPr>
          <a:xfrm>
            <a:off x="8779404" y="6065404"/>
            <a:ext cx="6568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 err="1"/>
              <a:t>GPe</a:t>
            </a:r>
            <a:endParaRPr lang="en-GB" sz="14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DF40ECA-215B-BFBF-361D-B30A7AA5B31C}"/>
              </a:ext>
            </a:extLst>
          </p:cNvPr>
          <p:cNvSpPr txBox="1"/>
          <p:nvPr/>
        </p:nvSpPr>
        <p:spPr>
          <a:xfrm>
            <a:off x="5519053" y="5812537"/>
            <a:ext cx="10949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Substantia</a:t>
            </a:r>
          </a:p>
          <a:p>
            <a:pPr algn="ctr"/>
            <a:r>
              <a:rPr lang="en-GB" sz="1400" dirty="0"/>
              <a:t>Nigra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06F5C55-B6DC-96C9-C2A3-9D6439412D1A}"/>
              </a:ext>
            </a:extLst>
          </p:cNvPr>
          <p:cNvSpPr txBox="1"/>
          <p:nvPr/>
        </p:nvSpPr>
        <p:spPr>
          <a:xfrm>
            <a:off x="8002456" y="912739"/>
            <a:ext cx="1433806" cy="307777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Cortex</a:t>
            </a:r>
          </a:p>
        </p:txBody>
      </p:sp>
    </p:spTree>
    <p:extLst>
      <p:ext uri="{BB962C8B-B14F-4D97-AF65-F5344CB8AC3E}">
        <p14:creationId xmlns:p14="http://schemas.microsoft.com/office/powerpoint/2010/main" val="3185824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27528252-4E6A-014A-CA73-52EC88907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Basal ganglia: Intrinsic connections</a:t>
            </a:r>
          </a:p>
        </p:txBody>
      </p:sp>
      <p:sp>
        <p:nvSpPr>
          <p:cNvPr id="67" name="Content Placeholder 66">
            <a:extLst>
              <a:ext uri="{FF2B5EF4-FFF2-40B4-BE49-F238E27FC236}">
                <a16:creationId xmlns:a16="http://schemas.microsoft.com/office/drawing/2014/main" id="{4A4D225C-1418-5CA5-9073-F7C7EE384E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Direct</a:t>
            </a:r>
            <a:r>
              <a:rPr lang="en-GB" dirty="0"/>
              <a:t> pathway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Striatum (</a:t>
            </a:r>
            <a:r>
              <a:rPr lang="en-GB" dirty="0">
                <a:solidFill>
                  <a:srgbClr val="FF0000"/>
                </a:solidFill>
                <a:sym typeface="Wingdings" panose="05000000000000000000" pitchFamily="2" charset="2"/>
              </a:rPr>
              <a:t>Inhibitory</a:t>
            </a:r>
            <a:r>
              <a:rPr lang="en-GB" dirty="0">
                <a:sym typeface="Wingdings" panose="05000000000000000000" pitchFamily="2" charset="2"/>
              </a:rPr>
              <a:t>)  </a:t>
            </a:r>
            <a:r>
              <a:rPr lang="en-GB" dirty="0" err="1">
                <a:sym typeface="Wingdings" panose="05000000000000000000" pitchFamily="2" charset="2"/>
              </a:rPr>
              <a:t>GPi</a:t>
            </a:r>
            <a:r>
              <a:rPr lang="en-GB" dirty="0">
                <a:sym typeface="Wingdings" panose="05000000000000000000" pitchFamily="2" charset="2"/>
              </a:rPr>
              <a:t>/</a:t>
            </a:r>
            <a:r>
              <a:rPr lang="en-GB" dirty="0" err="1">
                <a:sym typeface="Wingdings" panose="05000000000000000000" pitchFamily="2" charset="2"/>
              </a:rPr>
              <a:t>SNr</a:t>
            </a:r>
            <a:endParaRPr lang="en-GB" dirty="0">
              <a:sym typeface="Wingdings" panose="05000000000000000000" pitchFamily="2" charset="2"/>
            </a:endParaRPr>
          </a:p>
          <a:p>
            <a:pPr lvl="1"/>
            <a:r>
              <a:rPr lang="en-GB" dirty="0" err="1">
                <a:sym typeface="Wingdings" panose="05000000000000000000" pitchFamily="2" charset="2"/>
              </a:rPr>
              <a:t>GPi</a:t>
            </a:r>
            <a:r>
              <a:rPr lang="en-GB" dirty="0">
                <a:sym typeface="Wingdings" panose="05000000000000000000" pitchFamily="2" charset="2"/>
              </a:rPr>
              <a:t>/</a:t>
            </a:r>
            <a:r>
              <a:rPr lang="en-GB" dirty="0" err="1">
                <a:sym typeface="Wingdings" panose="05000000000000000000" pitchFamily="2" charset="2"/>
              </a:rPr>
              <a:t>SNr</a:t>
            </a:r>
            <a:r>
              <a:rPr lang="en-GB" dirty="0">
                <a:sym typeface="Wingdings" panose="05000000000000000000" pitchFamily="2" charset="2"/>
              </a:rPr>
              <a:t> (</a:t>
            </a:r>
            <a:r>
              <a:rPr lang="en-GB" dirty="0">
                <a:solidFill>
                  <a:srgbClr val="FF0000"/>
                </a:solidFill>
                <a:sym typeface="Wingdings" panose="05000000000000000000" pitchFamily="2" charset="2"/>
              </a:rPr>
              <a:t>Inhibitory</a:t>
            </a:r>
            <a:r>
              <a:rPr lang="en-GB" dirty="0">
                <a:sym typeface="Wingdings" panose="05000000000000000000" pitchFamily="2" charset="2"/>
              </a:rPr>
              <a:t>)  VA and VL Thalamus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VA/VL Thalamus (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  <a:sym typeface="Wingdings" panose="05000000000000000000" pitchFamily="2" charset="2"/>
              </a:rPr>
              <a:t>Excitatory</a:t>
            </a:r>
            <a:r>
              <a:rPr lang="en-GB" dirty="0">
                <a:sym typeface="Wingdings" panose="05000000000000000000" pitchFamily="2" charset="2"/>
              </a:rPr>
              <a:t>)  Cortex (prefrontal, premotor and SMA)</a:t>
            </a:r>
          </a:p>
          <a:p>
            <a:pPr marL="0" indent="0">
              <a:buNone/>
            </a:pPr>
            <a:endParaRPr lang="en-GB" dirty="0"/>
          </a:p>
          <a:p>
            <a:endParaRPr lang="en-GB" dirty="0"/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B6F6C0E1-2874-5EFE-30DC-C6B9864006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3676" y="1785375"/>
            <a:ext cx="4041782" cy="4102178"/>
          </a:xfrm>
          <a:prstGeom prst="rect">
            <a:avLst/>
          </a:prstGeom>
        </p:spPr>
      </p:pic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C9C814EC-F182-8C50-03EF-7DFB31D75CAB}"/>
              </a:ext>
            </a:extLst>
          </p:cNvPr>
          <p:cNvSpPr/>
          <p:nvPr/>
        </p:nvSpPr>
        <p:spPr>
          <a:xfrm>
            <a:off x="9137924" y="1307964"/>
            <a:ext cx="914458" cy="3025707"/>
          </a:xfrm>
          <a:custGeom>
            <a:avLst/>
            <a:gdLst>
              <a:gd name="connsiteX0" fmla="*/ 0 w 1276860"/>
              <a:gd name="connsiteY0" fmla="*/ 0 h 3180944"/>
              <a:gd name="connsiteX1" fmla="*/ 544748 w 1276860"/>
              <a:gd name="connsiteY1" fmla="*/ 321012 h 3180944"/>
              <a:gd name="connsiteX2" fmla="*/ 1011676 w 1276860"/>
              <a:gd name="connsiteY2" fmla="*/ 904672 h 3180944"/>
              <a:gd name="connsiteX3" fmla="*/ 1177046 w 1276860"/>
              <a:gd name="connsiteY3" fmla="*/ 1400783 h 3180944"/>
              <a:gd name="connsiteX4" fmla="*/ 1274323 w 1276860"/>
              <a:gd name="connsiteY4" fmla="*/ 1984442 h 3180944"/>
              <a:gd name="connsiteX5" fmla="*/ 1215957 w 1276860"/>
              <a:gd name="connsiteY5" fmla="*/ 2558374 h 3180944"/>
              <a:gd name="connsiteX6" fmla="*/ 894944 w 1276860"/>
              <a:gd name="connsiteY6" fmla="*/ 3064212 h 3180944"/>
              <a:gd name="connsiteX7" fmla="*/ 710119 w 1276860"/>
              <a:gd name="connsiteY7" fmla="*/ 3180944 h 3180944"/>
              <a:gd name="connsiteX0" fmla="*/ 0 w 1276860"/>
              <a:gd name="connsiteY0" fmla="*/ 0 h 3180944"/>
              <a:gd name="connsiteX1" fmla="*/ 1011676 w 1276860"/>
              <a:gd name="connsiteY1" fmla="*/ 904672 h 3180944"/>
              <a:gd name="connsiteX2" fmla="*/ 1177046 w 1276860"/>
              <a:gd name="connsiteY2" fmla="*/ 1400783 h 3180944"/>
              <a:gd name="connsiteX3" fmla="*/ 1274323 w 1276860"/>
              <a:gd name="connsiteY3" fmla="*/ 1984442 h 3180944"/>
              <a:gd name="connsiteX4" fmla="*/ 1215957 w 1276860"/>
              <a:gd name="connsiteY4" fmla="*/ 2558374 h 3180944"/>
              <a:gd name="connsiteX5" fmla="*/ 894944 w 1276860"/>
              <a:gd name="connsiteY5" fmla="*/ 3064212 h 3180944"/>
              <a:gd name="connsiteX6" fmla="*/ 710119 w 1276860"/>
              <a:gd name="connsiteY6" fmla="*/ 3180944 h 3180944"/>
              <a:gd name="connsiteX0" fmla="*/ 0 w 1276860"/>
              <a:gd name="connsiteY0" fmla="*/ 0 h 3180944"/>
              <a:gd name="connsiteX1" fmla="*/ 1011676 w 1276860"/>
              <a:gd name="connsiteY1" fmla="*/ 904672 h 3180944"/>
              <a:gd name="connsiteX2" fmla="*/ 1177046 w 1276860"/>
              <a:gd name="connsiteY2" fmla="*/ 1400783 h 3180944"/>
              <a:gd name="connsiteX3" fmla="*/ 1274323 w 1276860"/>
              <a:gd name="connsiteY3" fmla="*/ 1984442 h 3180944"/>
              <a:gd name="connsiteX4" fmla="*/ 1215957 w 1276860"/>
              <a:gd name="connsiteY4" fmla="*/ 2558374 h 3180944"/>
              <a:gd name="connsiteX5" fmla="*/ 894944 w 1276860"/>
              <a:gd name="connsiteY5" fmla="*/ 3064212 h 3180944"/>
              <a:gd name="connsiteX6" fmla="*/ 710119 w 1276860"/>
              <a:gd name="connsiteY6" fmla="*/ 3180944 h 3180944"/>
              <a:gd name="connsiteX0" fmla="*/ 0 w 1276860"/>
              <a:gd name="connsiteY0" fmla="*/ 0 h 3180944"/>
              <a:gd name="connsiteX1" fmla="*/ 1011676 w 1276860"/>
              <a:gd name="connsiteY1" fmla="*/ 904672 h 3180944"/>
              <a:gd name="connsiteX2" fmla="*/ 1177046 w 1276860"/>
              <a:gd name="connsiteY2" fmla="*/ 1400783 h 3180944"/>
              <a:gd name="connsiteX3" fmla="*/ 1274323 w 1276860"/>
              <a:gd name="connsiteY3" fmla="*/ 1984442 h 3180944"/>
              <a:gd name="connsiteX4" fmla="*/ 1215957 w 1276860"/>
              <a:gd name="connsiteY4" fmla="*/ 2558374 h 3180944"/>
              <a:gd name="connsiteX5" fmla="*/ 894944 w 1276860"/>
              <a:gd name="connsiteY5" fmla="*/ 3064212 h 3180944"/>
              <a:gd name="connsiteX6" fmla="*/ 710119 w 1276860"/>
              <a:gd name="connsiteY6" fmla="*/ 3180944 h 3180944"/>
              <a:gd name="connsiteX0" fmla="*/ 0 w 1288703"/>
              <a:gd name="connsiteY0" fmla="*/ 0 h 3180944"/>
              <a:gd name="connsiteX1" fmla="*/ 1011676 w 1288703"/>
              <a:gd name="connsiteY1" fmla="*/ 904672 h 3180944"/>
              <a:gd name="connsiteX2" fmla="*/ 1274323 w 1288703"/>
              <a:gd name="connsiteY2" fmla="*/ 1984442 h 3180944"/>
              <a:gd name="connsiteX3" fmla="*/ 1215957 w 1288703"/>
              <a:gd name="connsiteY3" fmla="*/ 2558374 h 3180944"/>
              <a:gd name="connsiteX4" fmla="*/ 894944 w 1288703"/>
              <a:gd name="connsiteY4" fmla="*/ 3064212 h 3180944"/>
              <a:gd name="connsiteX5" fmla="*/ 710119 w 1288703"/>
              <a:gd name="connsiteY5" fmla="*/ 3180944 h 3180944"/>
              <a:gd name="connsiteX0" fmla="*/ 0 w 1292974"/>
              <a:gd name="connsiteY0" fmla="*/ 0 h 3180944"/>
              <a:gd name="connsiteX1" fmla="*/ 1011676 w 1292974"/>
              <a:gd name="connsiteY1" fmla="*/ 904672 h 3180944"/>
              <a:gd name="connsiteX2" fmla="*/ 1274323 w 1292974"/>
              <a:gd name="connsiteY2" fmla="*/ 1984442 h 3180944"/>
              <a:gd name="connsiteX3" fmla="*/ 1215957 w 1292974"/>
              <a:gd name="connsiteY3" fmla="*/ 2558374 h 3180944"/>
              <a:gd name="connsiteX4" fmla="*/ 894944 w 1292974"/>
              <a:gd name="connsiteY4" fmla="*/ 3064212 h 3180944"/>
              <a:gd name="connsiteX5" fmla="*/ 710119 w 1292974"/>
              <a:gd name="connsiteY5" fmla="*/ 3180944 h 3180944"/>
              <a:gd name="connsiteX0" fmla="*/ 0 w 1277440"/>
              <a:gd name="connsiteY0" fmla="*/ 0 h 3180944"/>
              <a:gd name="connsiteX1" fmla="*/ 1011676 w 1277440"/>
              <a:gd name="connsiteY1" fmla="*/ 904672 h 3180944"/>
              <a:gd name="connsiteX2" fmla="*/ 1274323 w 1277440"/>
              <a:gd name="connsiteY2" fmla="*/ 1984442 h 3180944"/>
              <a:gd name="connsiteX3" fmla="*/ 894944 w 1277440"/>
              <a:gd name="connsiteY3" fmla="*/ 3064212 h 3180944"/>
              <a:gd name="connsiteX4" fmla="*/ 710119 w 1277440"/>
              <a:gd name="connsiteY4" fmla="*/ 3180944 h 3180944"/>
              <a:gd name="connsiteX0" fmla="*/ 0 w 1287073"/>
              <a:gd name="connsiteY0" fmla="*/ 0 h 3180944"/>
              <a:gd name="connsiteX1" fmla="*/ 1011676 w 1287073"/>
              <a:gd name="connsiteY1" fmla="*/ 904672 h 3180944"/>
              <a:gd name="connsiteX2" fmla="*/ 1274323 w 1287073"/>
              <a:gd name="connsiteY2" fmla="*/ 1984442 h 3180944"/>
              <a:gd name="connsiteX3" fmla="*/ 710119 w 1287073"/>
              <a:gd name="connsiteY3" fmla="*/ 3180944 h 3180944"/>
              <a:gd name="connsiteX0" fmla="*/ 0 w 1287073"/>
              <a:gd name="connsiteY0" fmla="*/ 0 h 3180944"/>
              <a:gd name="connsiteX1" fmla="*/ 1011676 w 1287073"/>
              <a:gd name="connsiteY1" fmla="*/ 904672 h 3180944"/>
              <a:gd name="connsiteX2" fmla="*/ 1274323 w 1287073"/>
              <a:gd name="connsiteY2" fmla="*/ 1984442 h 3180944"/>
              <a:gd name="connsiteX3" fmla="*/ 710119 w 1287073"/>
              <a:gd name="connsiteY3" fmla="*/ 3180944 h 3180944"/>
              <a:gd name="connsiteX0" fmla="*/ 0 w 1274323"/>
              <a:gd name="connsiteY0" fmla="*/ 0 h 3180944"/>
              <a:gd name="connsiteX1" fmla="*/ 1274323 w 1274323"/>
              <a:gd name="connsiteY1" fmla="*/ 1984442 h 3180944"/>
              <a:gd name="connsiteX2" fmla="*/ 710119 w 1274323"/>
              <a:gd name="connsiteY2" fmla="*/ 3180944 h 3180944"/>
              <a:gd name="connsiteX0" fmla="*/ 0 w 1303506"/>
              <a:gd name="connsiteY0" fmla="*/ 0 h 3180944"/>
              <a:gd name="connsiteX1" fmla="*/ 1303506 w 1303506"/>
              <a:gd name="connsiteY1" fmla="*/ 1566152 h 3180944"/>
              <a:gd name="connsiteX2" fmla="*/ 710119 w 1303506"/>
              <a:gd name="connsiteY2" fmla="*/ 3180944 h 3180944"/>
              <a:gd name="connsiteX0" fmla="*/ 0 w 1305191"/>
              <a:gd name="connsiteY0" fmla="*/ 0 h 3180944"/>
              <a:gd name="connsiteX1" fmla="*/ 1303506 w 1305191"/>
              <a:gd name="connsiteY1" fmla="*/ 1566152 h 3180944"/>
              <a:gd name="connsiteX2" fmla="*/ 710119 w 1305191"/>
              <a:gd name="connsiteY2" fmla="*/ 3180944 h 3180944"/>
              <a:gd name="connsiteX0" fmla="*/ 0 w 1307723"/>
              <a:gd name="connsiteY0" fmla="*/ 0 h 3180944"/>
              <a:gd name="connsiteX1" fmla="*/ 1303506 w 1307723"/>
              <a:gd name="connsiteY1" fmla="*/ 1566152 h 3180944"/>
              <a:gd name="connsiteX2" fmla="*/ 710119 w 1307723"/>
              <a:gd name="connsiteY2" fmla="*/ 3180944 h 3180944"/>
              <a:gd name="connsiteX0" fmla="*/ 0 w 1341041"/>
              <a:gd name="connsiteY0" fmla="*/ 0 h 3180944"/>
              <a:gd name="connsiteX1" fmla="*/ 1303506 w 1341041"/>
              <a:gd name="connsiteY1" fmla="*/ 1566152 h 3180944"/>
              <a:gd name="connsiteX2" fmla="*/ 710119 w 1341041"/>
              <a:gd name="connsiteY2" fmla="*/ 3180944 h 3180944"/>
              <a:gd name="connsiteX0" fmla="*/ 0 w 740159"/>
              <a:gd name="connsiteY0" fmla="*/ 0 h 3044757"/>
              <a:gd name="connsiteX1" fmla="*/ 739302 w 740159"/>
              <a:gd name="connsiteY1" fmla="*/ 1429965 h 3044757"/>
              <a:gd name="connsiteX2" fmla="*/ 145915 w 740159"/>
              <a:gd name="connsiteY2" fmla="*/ 3044757 h 3044757"/>
              <a:gd name="connsiteX0" fmla="*/ 16081 w 756240"/>
              <a:gd name="connsiteY0" fmla="*/ 0 h 3044757"/>
              <a:gd name="connsiteX1" fmla="*/ 755383 w 756240"/>
              <a:gd name="connsiteY1" fmla="*/ 1429965 h 3044757"/>
              <a:gd name="connsiteX2" fmla="*/ 161996 w 756240"/>
              <a:gd name="connsiteY2" fmla="*/ 3044757 h 3044757"/>
              <a:gd name="connsiteX0" fmla="*/ 0 w 740159"/>
              <a:gd name="connsiteY0" fmla="*/ 0 h 3044757"/>
              <a:gd name="connsiteX1" fmla="*/ 739302 w 740159"/>
              <a:gd name="connsiteY1" fmla="*/ 1429965 h 3044757"/>
              <a:gd name="connsiteX2" fmla="*/ 145915 w 740159"/>
              <a:gd name="connsiteY2" fmla="*/ 3044757 h 3044757"/>
              <a:gd name="connsiteX0" fmla="*/ 0 w 914458"/>
              <a:gd name="connsiteY0" fmla="*/ 0 h 3025707"/>
              <a:gd name="connsiteX1" fmla="*/ 910752 w 914458"/>
              <a:gd name="connsiteY1" fmla="*/ 1410915 h 3025707"/>
              <a:gd name="connsiteX2" fmla="*/ 317365 w 914458"/>
              <a:gd name="connsiteY2" fmla="*/ 3025707 h 3025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14458" h="3025707">
                <a:moveTo>
                  <a:pt x="0" y="0"/>
                </a:moveTo>
                <a:cubicBezTo>
                  <a:pt x="380798" y="414236"/>
                  <a:pt x="857858" y="906631"/>
                  <a:pt x="910752" y="1410915"/>
                </a:cubicBezTo>
                <a:cubicBezTo>
                  <a:pt x="963646" y="1915199"/>
                  <a:pt x="434908" y="2776436"/>
                  <a:pt x="317365" y="3025707"/>
                </a:cubicBezTo>
              </a:path>
            </a:pathLst>
          </a:custGeom>
          <a:noFill/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0963002-9E2F-288C-B7EF-721FA9ABACB6}"/>
              </a:ext>
            </a:extLst>
          </p:cNvPr>
          <p:cNvSpPr/>
          <p:nvPr/>
        </p:nvSpPr>
        <p:spPr>
          <a:xfrm>
            <a:off x="8866965" y="1374842"/>
            <a:ext cx="416628" cy="1275945"/>
          </a:xfrm>
          <a:custGeom>
            <a:avLst/>
            <a:gdLst>
              <a:gd name="connsiteX0" fmla="*/ 0 w 852361"/>
              <a:gd name="connsiteY0" fmla="*/ 0 h 1274323"/>
              <a:gd name="connsiteX1" fmla="*/ 836579 w 852361"/>
              <a:gd name="connsiteY1" fmla="*/ 661480 h 1274323"/>
              <a:gd name="connsiteX2" fmla="*/ 466928 w 852361"/>
              <a:gd name="connsiteY2" fmla="*/ 1274323 h 1274323"/>
              <a:gd name="connsiteX0" fmla="*/ 0 w 847398"/>
              <a:gd name="connsiteY0" fmla="*/ 0 h 1341901"/>
              <a:gd name="connsiteX1" fmla="*/ 836579 w 847398"/>
              <a:gd name="connsiteY1" fmla="*/ 661480 h 1341901"/>
              <a:gd name="connsiteX2" fmla="*/ 330741 w 847398"/>
              <a:gd name="connsiteY2" fmla="*/ 1341901 h 1341901"/>
              <a:gd name="connsiteX0" fmla="*/ 0 w 559907"/>
              <a:gd name="connsiteY0" fmla="*/ 0 h 1341901"/>
              <a:gd name="connsiteX1" fmla="*/ 525294 w 559907"/>
              <a:gd name="connsiteY1" fmla="*/ 603556 h 1341901"/>
              <a:gd name="connsiteX2" fmla="*/ 330741 w 559907"/>
              <a:gd name="connsiteY2" fmla="*/ 1341901 h 1341901"/>
              <a:gd name="connsiteX0" fmla="*/ 0 w 407507"/>
              <a:gd name="connsiteY0" fmla="*/ 0 h 1200108"/>
              <a:gd name="connsiteX1" fmla="*/ 372894 w 407507"/>
              <a:gd name="connsiteY1" fmla="*/ 461763 h 1200108"/>
              <a:gd name="connsiteX2" fmla="*/ 178341 w 407507"/>
              <a:gd name="connsiteY2" fmla="*/ 1200108 h 1200108"/>
              <a:gd name="connsiteX0" fmla="*/ 0 w 438971"/>
              <a:gd name="connsiteY0" fmla="*/ 0 h 1200108"/>
              <a:gd name="connsiteX1" fmla="*/ 410994 w 438971"/>
              <a:gd name="connsiteY1" fmla="*/ 584650 h 1200108"/>
              <a:gd name="connsiteX2" fmla="*/ 178341 w 438971"/>
              <a:gd name="connsiteY2" fmla="*/ 1200108 h 1200108"/>
              <a:gd name="connsiteX0" fmla="*/ 0 w 416475"/>
              <a:gd name="connsiteY0" fmla="*/ 0 h 1200108"/>
              <a:gd name="connsiteX1" fmla="*/ 410994 w 416475"/>
              <a:gd name="connsiteY1" fmla="*/ 584650 h 1200108"/>
              <a:gd name="connsiteX2" fmla="*/ 178341 w 416475"/>
              <a:gd name="connsiteY2" fmla="*/ 1200108 h 1200108"/>
              <a:gd name="connsiteX0" fmla="*/ 0 w 416475"/>
              <a:gd name="connsiteY0" fmla="*/ 0 h 1200108"/>
              <a:gd name="connsiteX1" fmla="*/ 410994 w 416475"/>
              <a:gd name="connsiteY1" fmla="*/ 584650 h 1200108"/>
              <a:gd name="connsiteX2" fmla="*/ 178341 w 416475"/>
              <a:gd name="connsiteY2" fmla="*/ 1200108 h 1200108"/>
              <a:gd name="connsiteX0" fmla="*/ 0 w 416475"/>
              <a:gd name="connsiteY0" fmla="*/ 0 h 1200108"/>
              <a:gd name="connsiteX1" fmla="*/ 410994 w 416475"/>
              <a:gd name="connsiteY1" fmla="*/ 584650 h 1200108"/>
              <a:gd name="connsiteX2" fmla="*/ 178341 w 416475"/>
              <a:gd name="connsiteY2" fmla="*/ 1200108 h 1200108"/>
              <a:gd name="connsiteX0" fmla="*/ 0 w 416475"/>
              <a:gd name="connsiteY0" fmla="*/ 0 h 1200108"/>
              <a:gd name="connsiteX1" fmla="*/ 410994 w 416475"/>
              <a:gd name="connsiteY1" fmla="*/ 584650 h 1200108"/>
              <a:gd name="connsiteX2" fmla="*/ 178341 w 416475"/>
              <a:gd name="connsiteY2" fmla="*/ 1200108 h 1200108"/>
              <a:gd name="connsiteX0" fmla="*/ 0 w 178341"/>
              <a:gd name="connsiteY0" fmla="*/ 0 h 1200108"/>
              <a:gd name="connsiteX1" fmla="*/ 178341 w 178341"/>
              <a:gd name="connsiteY1" fmla="*/ 1200108 h 1200108"/>
              <a:gd name="connsiteX0" fmla="*/ 0 w 305935"/>
              <a:gd name="connsiteY0" fmla="*/ 0 h 1200108"/>
              <a:gd name="connsiteX1" fmla="*/ 178341 w 305935"/>
              <a:gd name="connsiteY1" fmla="*/ 1200108 h 1200108"/>
              <a:gd name="connsiteX0" fmla="*/ 0 w 451205"/>
              <a:gd name="connsiteY0" fmla="*/ 0 h 1200108"/>
              <a:gd name="connsiteX1" fmla="*/ 178341 w 451205"/>
              <a:gd name="connsiteY1" fmla="*/ 1200108 h 1200108"/>
              <a:gd name="connsiteX0" fmla="*/ 0 w 416628"/>
              <a:gd name="connsiteY0" fmla="*/ 0 h 1266278"/>
              <a:gd name="connsiteX1" fmla="*/ 111666 w 416628"/>
              <a:gd name="connsiteY1" fmla="*/ 1266278 h 1266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16628" h="1266278">
                <a:moveTo>
                  <a:pt x="0" y="0"/>
                </a:moveTo>
                <a:cubicBezTo>
                  <a:pt x="602372" y="456753"/>
                  <a:pt x="471319" y="696091"/>
                  <a:pt x="111666" y="1266278"/>
                </a:cubicBezTo>
              </a:path>
            </a:pathLst>
          </a:custGeom>
          <a:noFill/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E75AC9C1-6A44-67B3-3280-1BBCD6C7EB7B}"/>
              </a:ext>
            </a:extLst>
          </p:cNvPr>
          <p:cNvSpPr/>
          <p:nvPr/>
        </p:nvSpPr>
        <p:spPr>
          <a:xfrm rot="20714201">
            <a:off x="8151827" y="1442376"/>
            <a:ext cx="687396" cy="1763841"/>
          </a:xfrm>
          <a:custGeom>
            <a:avLst/>
            <a:gdLst>
              <a:gd name="connsiteX0" fmla="*/ 301557 w 671013"/>
              <a:gd name="connsiteY0" fmla="*/ 1935804 h 1935804"/>
              <a:gd name="connsiteX1" fmla="*/ 593387 w 671013"/>
              <a:gd name="connsiteY1" fmla="*/ 1352145 h 1935804"/>
              <a:gd name="connsiteX2" fmla="*/ 622570 w 671013"/>
              <a:gd name="connsiteY2" fmla="*/ 680936 h 1935804"/>
              <a:gd name="connsiteX3" fmla="*/ 0 w 671013"/>
              <a:gd name="connsiteY3" fmla="*/ 0 h 1935804"/>
              <a:gd name="connsiteX0" fmla="*/ 301557 w 600647"/>
              <a:gd name="connsiteY0" fmla="*/ 1935804 h 1935804"/>
              <a:gd name="connsiteX1" fmla="*/ 593387 w 600647"/>
              <a:gd name="connsiteY1" fmla="*/ 1352145 h 1935804"/>
              <a:gd name="connsiteX2" fmla="*/ 0 w 600647"/>
              <a:gd name="connsiteY2" fmla="*/ 0 h 1935804"/>
              <a:gd name="connsiteX0" fmla="*/ 0 w 402609"/>
              <a:gd name="connsiteY0" fmla="*/ 1714991 h 1714991"/>
              <a:gd name="connsiteX1" fmla="*/ 291830 w 402609"/>
              <a:gd name="connsiteY1" fmla="*/ 1131332 h 1714991"/>
              <a:gd name="connsiteX2" fmla="*/ 349467 w 402609"/>
              <a:gd name="connsiteY2" fmla="*/ 0 h 1714991"/>
              <a:gd name="connsiteX0" fmla="*/ 0 w 478851"/>
              <a:gd name="connsiteY0" fmla="*/ 1714991 h 1714991"/>
              <a:gd name="connsiteX1" fmla="*/ 451898 w 478851"/>
              <a:gd name="connsiteY1" fmla="*/ 897710 h 1714991"/>
              <a:gd name="connsiteX2" fmla="*/ 349467 w 478851"/>
              <a:gd name="connsiteY2" fmla="*/ 0 h 1714991"/>
              <a:gd name="connsiteX0" fmla="*/ 0 w 721411"/>
              <a:gd name="connsiteY0" fmla="*/ 1763841 h 1763841"/>
              <a:gd name="connsiteX1" fmla="*/ 451898 w 721411"/>
              <a:gd name="connsiteY1" fmla="*/ 946560 h 1763841"/>
              <a:gd name="connsiteX2" fmla="*/ 687396 w 721411"/>
              <a:gd name="connsiteY2" fmla="*/ 0 h 1763841"/>
              <a:gd name="connsiteX0" fmla="*/ 0 w 687396"/>
              <a:gd name="connsiteY0" fmla="*/ 1763841 h 1763841"/>
              <a:gd name="connsiteX1" fmla="*/ 451898 w 687396"/>
              <a:gd name="connsiteY1" fmla="*/ 946560 h 1763841"/>
              <a:gd name="connsiteX2" fmla="*/ 687396 w 687396"/>
              <a:gd name="connsiteY2" fmla="*/ 0 h 1763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87396" h="1763841">
                <a:moveTo>
                  <a:pt x="0" y="1763841"/>
                </a:moveTo>
                <a:cubicBezTo>
                  <a:pt x="119164" y="1576584"/>
                  <a:pt x="337332" y="1240534"/>
                  <a:pt x="451898" y="946560"/>
                </a:cubicBezTo>
                <a:cubicBezTo>
                  <a:pt x="566464" y="652586"/>
                  <a:pt x="640310" y="443564"/>
                  <a:pt x="687396" y="0"/>
                </a:cubicBezTo>
              </a:path>
            </a:pathLst>
          </a:custGeom>
          <a:noFill/>
          <a:ln w="254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B120DC5-09E3-C1C7-44E3-0EA08304AB93}"/>
              </a:ext>
            </a:extLst>
          </p:cNvPr>
          <p:cNvSpPr txBox="1"/>
          <p:nvPr/>
        </p:nvSpPr>
        <p:spPr>
          <a:xfrm>
            <a:off x="10238314" y="1235819"/>
            <a:ext cx="1024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Caudate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84C8B38-1B79-D1CE-DAF3-9787212F5300}"/>
              </a:ext>
            </a:extLst>
          </p:cNvPr>
          <p:cNvCxnSpPr>
            <a:cxnSpLocks/>
            <a:endCxn id="36" idx="2"/>
          </p:cNvCxnSpPr>
          <p:nvPr/>
        </p:nvCxnSpPr>
        <p:spPr>
          <a:xfrm flipV="1">
            <a:off x="8948474" y="1543596"/>
            <a:ext cx="1802114" cy="1218654"/>
          </a:xfrm>
          <a:prstGeom prst="line">
            <a:avLst/>
          </a:prstGeom>
          <a:ln w="28575">
            <a:solidFill>
              <a:srgbClr val="FFC000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E6E2C76-4A43-A879-ABCC-589BA3F2E223}"/>
              </a:ext>
            </a:extLst>
          </p:cNvPr>
          <p:cNvCxnSpPr>
            <a:cxnSpLocks/>
            <a:endCxn id="39" idx="0"/>
          </p:cNvCxnSpPr>
          <p:nvPr/>
        </p:nvCxnSpPr>
        <p:spPr>
          <a:xfrm>
            <a:off x="9365086" y="4613670"/>
            <a:ext cx="1116946" cy="1605623"/>
          </a:xfrm>
          <a:prstGeom prst="line">
            <a:avLst/>
          </a:prstGeom>
          <a:ln w="28575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717C92E0-0F7C-B4F8-303D-C4AC648A4BB8}"/>
              </a:ext>
            </a:extLst>
          </p:cNvPr>
          <p:cNvSpPr txBox="1"/>
          <p:nvPr/>
        </p:nvSpPr>
        <p:spPr>
          <a:xfrm>
            <a:off x="9934549" y="6219293"/>
            <a:ext cx="10949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Putamen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BFA9340-253E-5470-2121-1A742F9077DD}"/>
              </a:ext>
            </a:extLst>
          </p:cNvPr>
          <p:cNvSpPr txBox="1"/>
          <p:nvPr/>
        </p:nvSpPr>
        <p:spPr>
          <a:xfrm>
            <a:off x="8255424" y="5988739"/>
            <a:ext cx="4885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 err="1"/>
              <a:t>GPi</a:t>
            </a:r>
            <a:endParaRPr lang="en-GB" sz="1400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D2C836E-4E39-4720-7DE9-F382F801BBC7}"/>
              </a:ext>
            </a:extLst>
          </p:cNvPr>
          <p:cNvGrpSpPr/>
          <p:nvPr/>
        </p:nvGrpSpPr>
        <p:grpSpPr>
          <a:xfrm>
            <a:off x="8512540" y="5019675"/>
            <a:ext cx="595293" cy="1045729"/>
            <a:chOff x="8491306" y="4508942"/>
            <a:chExt cx="595293" cy="1045729"/>
          </a:xfrm>
        </p:grpSpPr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BBFDE92F-4288-C9AE-C06B-6406BC7D7385}"/>
                </a:ext>
              </a:extLst>
            </p:cNvPr>
            <p:cNvCxnSpPr>
              <a:cxnSpLocks/>
              <a:endCxn id="40" idx="0"/>
            </p:cNvCxnSpPr>
            <p:nvPr/>
          </p:nvCxnSpPr>
          <p:spPr>
            <a:xfrm flipH="1">
              <a:off x="8491306" y="4508942"/>
              <a:ext cx="225508" cy="969064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76E5704A-FBF0-340D-A744-1B833154F74A}"/>
                </a:ext>
              </a:extLst>
            </p:cNvPr>
            <p:cNvCxnSpPr>
              <a:cxnSpLocks/>
              <a:endCxn id="54" idx="0"/>
            </p:cNvCxnSpPr>
            <p:nvPr/>
          </p:nvCxnSpPr>
          <p:spPr>
            <a:xfrm>
              <a:off x="8906189" y="4692715"/>
              <a:ext cx="180410" cy="861956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224481A7-4331-39E4-E16F-0F2A249F8CED}"/>
              </a:ext>
            </a:extLst>
          </p:cNvPr>
          <p:cNvCxnSpPr>
            <a:cxnSpLocks/>
            <a:endCxn id="48" idx="3"/>
          </p:cNvCxnSpPr>
          <p:nvPr/>
        </p:nvCxnSpPr>
        <p:spPr>
          <a:xfrm flipH="1">
            <a:off x="6622553" y="4680228"/>
            <a:ext cx="1224869" cy="19495"/>
          </a:xfrm>
          <a:prstGeom prst="line">
            <a:avLst/>
          </a:prstGeom>
          <a:ln w="28575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65C5C9FF-626A-3E05-E759-B2A4BFE24B92}"/>
              </a:ext>
            </a:extLst>
          </p:cNvPr>
          <p:cNvSpPr txBox="1"/>
          <p:nvPr/>
        </p:nvSpPr>
        <p:spPr>
          <a:xfrm>
            <a:off x="5332905" y="4438113"/>
            <a:ext cx="12896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Subthalamic</a:t>
            </a:r>
            <a:br>
              <a:rPr lang="en-GB" sz="1400" dirty="0"/>
            </a:br>
            <a:r>
              <a:rPr lang="en-GB" sz="1400" dirty="0"/>
              <a:t>Nucleus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4150295A-FB43-C03F-72CC-14DAE4A678FE}"/>
              </a:ext>
            </a:extLst>
          </p:cNvPr>
          <p:cNvCxnSpPr>
            <a:cxnSpLocks/>
          </p:cNvCxnSpPr>
          <p:nvPr/>
        </p:nvCxnSpPr>
        <p:spPr>
          <a:xfrm flipH="1">
            <a:off x="6331485" y="5203448"/>
            <a:ext cx="901263" cy="609089"/>
          </a:xfrm>
          <a:prstGeom prst="line">
            <a:avLst/>
          </a:prstGeom>
          <a:ln w="28575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ACE7AA8B-A2A5-86FB-89A1-6DCBF82EE9D9}"/>
              </a:ext>
            </a:extLst>
          </p:cNvPr>
          <p:cNvSpPr txBox="1"/>
          <p:nvPr/>
        </p:nvSpPr>
        <p:spPr>
          <a:xfrm>
            <a:off x="6016474" y="2136566"/>
            <a:ext cx="10245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Thalamus (VA &amp; VL)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F35C1DC8-3370-4B31-9FBA-D44F3764AE1B}"/>
              </a:ext>
            </a:extLst>
          </p:cNvPr>
          <p:cNvCxnSpPr>
            <a:cxnSpLocks/>
            <a:endCxn id="50" idx="2"/>
          </p:cNvCxnSpPr>
          <p:nvPr/>
        </p:nvCxnSpPr>
        <p:spPr>
          <a:xfrm flipH="1" flipV="1">
            <a:off x="6528748" y="2659786"/>
            <a:ext cx="1842124" cy="717621"/>
          </a:xfrm>
          <a:prstGeom prst="line">
            <a:avLst/>
          </a:prstGeom>
          <a:ln w="28575">
            <a:solidFill>
              <a:schemeClr val="bg2">
                <a:lumMod val="25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270ADA44-49A9-C1CA-4AAE-435692CF1039}"/>
              </a:ext>
            </a:extLst>
          </p:cNvPr>
          <p:cNvSpPr txBox="1"/>
          <p:nvPr/>
        </p:nvSpPr>
        <p:spPr>
          <a:xfrm>
            <a:off x="8850580" y="6065404"/>
            <a:ext cx="5145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 err="1"/>
              <a:t>GPe</a:t>
            </a:r>
            <a:endParaRPr lang="en-GB" sz="14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DF40ECA-215B-BFBF-361D-B30A7AA5B31C}"/>
              </a:ext>
            </a:extLst>
          </p:cNvPr>
          <p:cNvSpPr txBox="1"/>
          <p:nvPr/>
        </p:nvSpPr>
        <p:spPr>
          <a:xfrm>
            <a:off x="5519053" y="5812537"/>
            <a:ext cx="10949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Substantia</a:t>
            </a:r>
          </a:p>
          <a:p>
            <a:pPr algn="ctr"/>
            <a:r>
              <a:rPr lang="en-GB" sz="1400" dirty="0"/>
              <a:t>Nigra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06F5C55-B6DC-96C9-C2A3-9D6439412D1A}"/>
              </a:ext>
            </a:extLst>
          </p:cNvPr>
          <p:cNvSpPr txBox="1"/>
          <p:nvPr/>
        </p:nvSpPr>
        <p:spPr>
          <a:xfrm>
            <a:off x="8002456" y="912739"/>
            <a:ext cx="1433806" cy="307777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Cortex</a:t>
            </a:r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620A93A1-A028-2D6F-5008-7A19E3A34D78}"/>
              </a:ext>
            </a:extLst>
          </p:cNvPr>
          <p:cNvSpPr/>
          <p:nvPr/>
        </p:nvSpPr>
        <p:spPr>
          <a:xfrm>
            <a:off x="7877175" y="3876675"/>
            <a:ext cx="476616" cy="1085850"/>
          </a:xfrm>
          <a:custGeom>
            <a:avLst/>
            <a:gdLst>
              <a:gd name="connsiteX0" fmla="*/ 0 w 476616"/>
              <a:gd name="connsiteY0" fmla="*/ 1085850 h 1085850"/>
              <a:gd name="connsiteX1" fmla="*/ 428625 w 476616"/>
              <a:gd name="connsiteY1" fmla="*/ 790575 h 1085850"/>
              <a:gd name="connsiteX2" fmla="*/ 447675 w 476616"/>
              <a:gd name="connsiteY2" fmla="*/ 0 h 1085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616" h="1085850">
                <a:moveTo>
                  <a:pt x="0" y="1085850"/>
                </a:moveTo>
                <a:cubicBezTo>
                  <a:pt x="177006" y="1028700"/>
                  <a:pt x="354013" y="971550"/>
                  <a:pt x="428625" y="790575"/>
                </a:cubicBezTo>
                <a:cubicBezTo>
                  <a:pt x="503238" y="609600"/>
                  <a:pt x="475456" y="304800"/>
                  <a:pt x="447675" y="0"/>
                </a:cubicBezTo>
              </a:path>
            </a:pathLst>
          </a:custGeom>
          <a:noFill/>
          <a:ln w="31750" cap="rnd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6CDF6B08-74C4-C898-A70E-F312AF30E578}"/>
              </a:ext>
            </a:extLst>
          </p:cNvPr>
          <p:cNvSpPr/>
          <p:nvPr/>
        </p:nvSpPr>
        <p:spPr>
          <a:xfrm>
            <a:off x="8434387" y="3790950"/>
            <a:ext cx="419100" cy="881064"/>
          </a:xfrm>
          <a:custGeom>
            <a:avLst/>
            <a:gdLst>
              <a:gd name="connsiteX0" fmla="*/ 414338 w 414338"/>
              <a:gd name="connsiteY0" fmla="*/ 790575 h 790575"/>
              <a:gd name="connsiteX1" fmla="*/ 100013 w 414338"/>
              <a:gd name="connsiteY1" fmla="*/ 647700 h 790575"/>
              <a:gd name="connsiteX2" fmla="*/ 0 w 414338"/>
              <a:gd name="connsiteY2" fmla="*/ 0 h 790575"/>
              <a:gd name="connsiteX3" fmla="*/ 0 w 414338"/>
              <a:gd name="connsiteY3" fmla="*/ 0 h 790575"/>
              <a:gd name="connsiteX0" fmla="*/ 416719 w 416719"/>
              <a:gd name="connsiteY0" fmla="*/ 888207 h 888207"/>
              <a:gd name="connsiteX1" fmla="*/ 102394 w 416719"/>
              <a:gd name="connsiteY1" fmla="*/ 745332 h 888207"/>
              <a:gd name="connsiteX2" fmla="*/ 2381 w 416719"/>
              <a:gd name="connsiteY2" fmla="*/ 97632 h 888207"/>
              <a:gd name="connsiteX3" fmla="*/ 0 w 416719"/>
              <a:gd name="connsiteY3" fmla="*/ 0 h 888207"/>
              <a:gd name="connsiteX0" fmla="*/ 419100 w 419100"/>
              <a:gd name="connsiteY0" fmla="*/ 881064 h 881064"/>
              <a:gd name="connsiteX1" fmla="*/ 104775 w 419100"/>
              <a:gd name="connsiteY1" fmla="*/ 738189 h 881064"/>
              <a:gd name="connsiteX2" fmla="*/ 4762 w 419100"/>
              <a:gd name="connsiteY2" fmla="*/ 90489 h 881064"/>
              <a:gd name="connsiteX3" fmla="*/ 0 w 419100"/>
              <a:gd name="connsiteY3" fmla="*/ 0 h 881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9100" h="881064">
                <a:moveTo>
                  <a:pt x="419100" y="881064"/>
                </a:moveTo>
                <a:cubicBezTo>
                  <a:pt x="296465" y="875507"/>
                  <a:pt x="173831" y="869951"/>
                  <a:pt x="104775" y="738189"/>
                </a:cubicBezTo>
                <a:cubicBezTo>
                  <a:pt x="35719" y="606427"/>
                  <a:pt x="4762" y="90489"/>
                  <a:pt x="4762" y="90489"/>
                </a:cubicBezTo>
                <a:lnTo>
                  <a:pt x="0" y="0"/>
                </a:lnTo>
              </a:path>
            </a:pathLst>
          </a:custGeom>
          <a:noFill/>
          <a:ln w="31750" cap="rnd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741606F-939A-008A-6129-4BEF755980B4}"/>
              </a:ext>
            </a:extLst>
          </p:cNvPr>
          <p:cNvCxnSpPr>
            <a:cxnSpLocks/>
          </p:cNvCxnSpPr>
          <p:nvPr/>
        </p:nvCxnSpPr>
        <p:spPr>
          <a:xfrm>
            <a:off x="8272093" y="3876675"/>
            <a:ext cx="98779" cy="0"/>
          </a:xfrm>
          <a:prstGeom prst="line">
            <a:avLst/>
          </a:prstGeom>
          <a:ln w="31750" cap="rnd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F15EF7E-8410-792E-CD7D-AB713F3D0ACE}"/>
              </a:ext>
            </a:extLst>
          </p:cNvPr>
          <p:cNvCxnSpPr/>
          <p:nvPr/>
        </p:nvCxnSpPr>
        <p:spPr>
          <a:xfrm>
            <a:off x="8376663" y="3790950"/>
            <a:ext cx="115448" cy="0"/>
          </a:xfrm>
          <a:prstGeom prst="line">
            <a:avLst/>
          </a:prstGeom>
          <a:ln w="31750" cap="rnd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B0E3A3B-41AA-740F-EC66-7577E2AA68A2}"/>
              </a:ext>
            </a:extLst>
          </p:cNvPr>
          <p:cNvCxnSpPr>
            <a:cxnSpLocks/>
          </p:cNvCxnSpPr>
          <p:nvPr/>
        </p:nvCxnSpPr>
        <p:spPr>
          <a:xfrm flipV="1">
            <a:off x="8816469" y="4731611"/>
            <a:ext cx="0" cy="121731"/>
          </a:xfrm>
          <a:prstGeom prst="line">
            <a:avLst/>
          </a:prstGeom>
          <a:ln w="31750" cap="rnd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FF5B569-8FD4-7260-50C0-248603DD7425}"/>
              </a:ext>
            </a:extLst>
          </p:cNvPr>
          <p:cNvSpPr/>
          <p:nvPr/>
        </p:nvSpPr>
        <p:spPr>
          <a:xfrm>
            <a:off x="8814820" y="4790095"/>
            <a:ext cx="441802" cy="214471"/>
          </a:xfrm>
          <a:custGeom>
            <a:avLst/>
            <a:gdLst>
              <a:gd name="connsiteX0" fmla="*/ 426720 w 426720"/>
              <a:gd name="connsiteY0" fmla="*/ 53340 h 64796"/>
              <a:gd name="connsiteX1" fmla="*/ 175260 w 426720"/>
              <a:gd name="connsiteY1" fmla="*/ 60960 h 64796"/>
              <a:gd name="connsiteX2" fmla="*/ 0 w 426720"/>
              <a:gd name="connsiteY2" fmla="*/ 0 h 64796"/>
              <a:gd name="connsiteX0" fmla="*/ 420370 w 420370"/>
              <a:gd name="connsiteY0" fmla="*/ 212090 h 212417"/>
              <a:gd name="connsiteX1" fmla="*/ 175260 w 420370"/>
              <a:gd name="connsiteY1" fmla="*/ 60960 h 212417"/>
              <a:gd name="connsiteX2" fmla="*/ 0 w 420370"/>
              <a:gd name="connsiteY2" fmla="*/ 0 h 212417"/>
              <a:gd name="connsiteX0" fmla="*/ 420370 w 420370"/>
              <a:gd name="connsiteY0" fmla="*/ 212090 h 212090"/>
              <a:gd name="connsiteX1" fmla="*/ 223243 w 420370"/>
              <a:gd name="connsiteY1" fmla="*/ 153446 h 212090"/>
              <a:gd name="connsiteX2" fmla="*/ 175260 w 420370"/>
              <a:gd name="connsiteY2" fmla="*/ 60960 h 212090"/>
              <a:gd name="connsiteX3" fmla="*/ 0 w 420370"/>
              <a:gd name="connsiteY3" fmla="*/ 0 h 212090"/>
              <a:gd name="connsiteX0" fmla="*/ 420370 w 420370"/>
              <a:gd name="connsiteY0" fmla="*/ 212090 h 212090"/>
              <a:gd name="connsiteX1" fmla="*/ 175260 w 420370"/>
              <a:gd name="connsiteY1" fmla="*/ 60960 h 212090"/>
              <a:gd name="connsiteX2" fmla="*/ 0 w 420370"/>
              <a:gd name="connsiteY2" fmla="*/ 0 h 212090"/>
              <a:gd name="connsiteX0" fmla="*/ 420370 w 420370"/>
              <a:gd name="connsiteY0" fmla="*/ 212090 h 212090"/>
              <a:gd name="connsiteX1" fmla="*/ 0 w 420370"/>
              <a:gd name="connsiteY1" fmla="*/ 0 h 212090"/>
              <a:gd name="connsiteX0" fmla="*/ 420370 w 420370"/>
              <a:gd name="connsiteY0" fmla="*/ 212090 h 212090"/>
              <a:gd name="connsiteX1" fmla="*/ 0 w 420370"/>
              <a:gd name="connsiteY1" fmla="*/ 0 h 212090"/>
              <a:gd name="connsiteX0" fmla="*/ 420370 w 420370"/>
              <a:gd name="connsiteY0" fmla="*/ 212090 h 212090"/>
              <a:gd name="connsiteX1" fmla="*/ 0 w 420370"/>
              <a:gd name="connsiteY1" fmla="*/ 0 h 212090"/>
              <a:gd name="connsiteX0" fmla="*/ 420370 w 420370"/>
              <a:gd name="connsiteY0" fmla="*/ 212090 h 212090"/>
              <a:gd name="connsiteX1" fmla="*/ 0 w 420370"/>
              <a:gd name="connsiteY1" fmla="*/ 0 h 212090"/>
              <a:gd name="connsiteX0" fmla="*/ 441802 w 441802"/>
              <a:gd name="connsiteY0" fmla="*/ 214471 h 214471"/>
              <a:gd name="connsiteX1" fmla="*/ 0 w 441802"/>
              <a:gd name="connsiteY1" fmla="*/ 0 h 214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1802" h="214471">
                <a:moveTo>
                  <a:pt x="441802" y="214471"/>
                </a:moveTo>
                <a:cubicBezTo>
                  <a:pt x="295329" y="194574"/>
                  <a:pt x="213148" y="34978"/>
                  <a:pt x="0" y="0"/>
                </a:cubicBezTo>
              </a:path>
            </a:pathLst>
          </a:cu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B7BF05B-D834-6544-5A77-4EB1B9B22F77}"/>
              </a:ext>
            </a:extLst>
          </p:cNvPr>
          <p:cNvCxnSpPr>
            <a:cxnSpLocks/>
          </p:cNvCxnSpPr>
          <p:nvPr/>
        </p:nvCxnSpPr>
        <p:spPr>
          <a:xfrm flipV="1">
            <a:off x="7763946" y="5028904"/>
            <a:ext cx="0" cy="121731"/>
          </a:xfrm>
          <a:prstGeom prst="line">
            <a:avLst/>
          </a:prstGeom>
          <a:ln w="31750" cap="rnd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A34C1963-247C-3C93-7A12-09636AB344F3}"/>
              </a:ext>
            </a:extLst>
          </p:cNvPr>
          <p:cNvSpPr/>
          <p:nvPr/>
        </p:nvSpPr>
        <p:spPr>
          <a:xfrm>
            <a:off x="7764679" y="4912674"/>
            <a:ext cx="1480820" cy="170978"/>
          </a:xfrm>
          <a:custGeom>
            <a:avLst/>
            <a:gdLst>
              <a:gd name="connsiteX0" fmla="*/ 426720 w 426720"/>
              <a:gd name="connsiteY0" fmla="*/ 53340 h 64796"/>
              <a:gd name="connsiteX1" fmla="*/ 175260 w 426720"/>
              <a:gd name="connsiteY1" fmla="*/ 60960 h 64796"/>
              <a:gd name="connsiteX2" fmla="*/ 0 w 426720"/>
              <a:gd name="connsiteY2" fmla="*/ 0 h 64796"/>
              <a:gd name="connsiteX0" fmla="*/ 420370 w 420370"/>
              <a:gd name="connsiteY0" fmla="*/ 212090 h 212417"/>
              <a:gd name="connsiteX1" fmla="*/ 175260 w 420370"/>
              <a:gd name="connsiteY1" fmla="*/ 60960 h 212417"/>
              <a:gd name="connsiteX2" fmla="*/ 0 w 420370"/>
              <a:gd name="connsiteY2" fmla="*/ 0 h 212417"/>
              <a:gd name="connsiteX0" fmla="*/ 420370 w 420370"/>
              <a:gd name="connsiteY0" fmla="*/ 212090 h 212090"/>
              <a:gd name="connsiteX1" fmla="*/ 223243 w 420370"/>
              <a:gd name="connsiteY1" fmla="*/ 153446 h 212090"/>
              <a:gd name="connsiteX2" fmla="*/ 175260 w 420370"/>
              <a:gd name="connsiteY2" fmla="*/ 60960 h 212090"/>
              <a:gd name="connsiteX3" fmla="*/ 0 w 420370"/>
              <a:gd name="connsiteY3" fmla="*/ 0 h 212090"/>
              <a:gd name="connsiteX0" fmla="*/ 420370 w 420370"/>
              <a:gd name="connsiteY0" fmla="*/ 212090 h 212090"/>
              <a:gd name="connsiteX1" fmla="*/ 175260 w 420370"/>
              <a:gd name="connsiteY1" fmla="*/ 60960 h 212090"/>
              <a:gd name="connsiteX2" fmla="*/ 0 w 420370"/>
              <a:gd name="connsiteY2" fmla="*/ 0 h 212090"/>
              <a:gd name="connsiteX0" fmla="*/ 420370 w 420370"/>
              <a:gd name="connsiteY0" fmla="*/ 212090 h 212090"/>
              <a:gd name="connsiteX1" fmla="*/ 0 w 420370"/>
              <a:gd name="connsiteY1" fmla="*/ 0 h 212090"/>
              <a:gd name="connsiteX0" fmla="*/ 420370 w 420370"/>
              <a:gd name="connsiteY0" fmla="*/ 212090 h 212090"/>
              <a:gd name="connsiteX1" fmla="*/ 0 w 420370"/>
              <a:gd name="connsiteY1" fmla="*/ 0 h 212090"/>
              <a:gd name="connsiteX0" fmla="*/ 420370 w 420370"/>
              <a:gd name="connsiteY0" fmla="*/ 212090 h 212090"/>
              <a:gd name="connsiteX1" fmla="*/ 0 w 420370"/>
              <a:gd name="connsiteY1" fmla="*/ 0 h 212090"/>
              <a:gd name="connsiteX0" fmla="*/ 420370 w 420370"/>
              <a:gd name="connsiteY0" fmla="*/ 212090 h 212090"/>
              <a:gd name="connsiteX1" fmla="*/ 0 w 420370"/>
              <a:gd name="connsiteY1" fmla="*/ 0 h 212090"/>
              <a:gd name="connsiteX0" fmla="*/ 1480820 w 1480820"/>
              <a:gd name="connsiteY0" fmla="*/ 3435 h 32599"/>
              <a:gd name="connsiteX1" fmla="*/ 0 w 1480820"/>
              <a:gd name="connsiteY1" fmla="*/ 23120 h 32599"/>
              <a:gd name="connsiteX0" fmla="*/ 1480820 w 1480820"/>
              <a:gd name="connsiteY0" fmla="*/ 149188 h 170978"/>
              <a:gd name="connsiteX1" fmla="*/ 0 w 1480820"/>
              <a:gd name="connsiteY1" fmla="*/ 168873 h 170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480820" h="170978">
                <a:moveTo>
                  <a:pt x="1480820" y="149188"/>
                </a:moveTo>
                <a:cubicBezTo>
                  <a:pt x="966047" y="-213609"/>
                  <a:pt x="213148" y="203851"/>
                  <a:pt x="0" y="168873"/>
                </a:cubicBezTo>
              </a:path>
            </a:pathLst>
          </a:cu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3313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27528252-4E6A-014A-CA73-52EC88907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Basal ganglia: Intrinsic connections</a:t>
            </a:r>
          </a:p>
        </p:txBody>
      </p:sp>
      <p:sp>
        <p:nvSpPr>
          <p:cNvPr id="67" name="Content Placeholder 66">
            <a:extLst>
              <a:ext uri="{FF2B5EF4-FFF2-40B4-BE49-F238E27FC236}">
                <a16:creationId xmlns:a16="http://schemas.microsoft.com/office/drawing/2014/main" id="{4A4D225C-1418-5CA5-9073-F7C7EE384E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>
                <a:solidFill>
                  <a:schemeClr val="bg1">
                    <a:lumMod val="65000"/>
                  </a:schemeClr>
                </a:solidFill>
              </a:rPr>
              <a:t>Direct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 pathway</a:t>
            </a:r>
          </a:p>
          <a:p>
            <a:pPr lvl="1"/>
            <a:r>
              <a:rPr lang="en-GB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Striatum (Inhibitory)  </a:t>
            </a:r>
            <a:r>
              <a:rPr lang="en-GB" dirty="0" err="1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GPi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/</a:t>
            </a:r>
            <a:r>
              <a:rPr lang="en-GB" dirty="0" err="1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SNr</a:t>
            </a:r>
            <a:endParaRPr lang="en-GB" dirty="0">
              <a:solidFill>
                <a:schemeClr val="bg1">
                  <a:lumMod val="65000"/>
                </a:schemeClr>
              </a:solidFill>
              <a:sym typeface="Wingdings" panose="05000000000000000000" pitchFamily="2" charset="2"/>
            </a:endParaRPr>
          </a:p>
          <a:p>
            <a:pPr lvl="1"/>
            <a:r>
              <a:rPr lang="en-GB" dirty="0" err="1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GPi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/</a:t>
            </a:r>
            <a:r>
              <a:rPr lang="en-GB" dirty="0" err="1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SNr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 (Inhibitory)  VA and VL Thalamus</a:t>
            </a:r>
          </a:p>
          <a:p>
            <a:pPr lvl="1"/>
            <a:r>
              <a:rPr lang="en-GB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VA/VL Thalamus (Excitatory)  Cortex (prefrontal, premotor and SMA)</a:t>
            </a:r>
            <a:endParaRPr lang="en-GB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GB" b="1" dirty="0"/>
              <a:t>Indirect</a:t>
            </a:r>
            <a:r>
              <a:rPr lang="en-GB" dirty="0"/>
              <a:t> pathway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Striatum (</a:t>
            </a:r>
            <a:r>
              <a:rPr lang="en-GB" dirty="0">
                <a:solidFill>
                  <a:srgbClr val="FF0000"/>
                </a:solidFill>
                <a:sym typeface="Wingdings" panose="05000000000000000000" pitchFamily="2" charset="2"/>
              </a:rPr>
              <a:t>Inhibitory</a:t>
            </a:r>
            <a:r>
              <a:rPr lang="en-GB" dirty="0">
                <a:sym typeface="Wingdings" panose="05000000000000000000" pitchFamily="2" charset="2"/>
              </a:rPr>
              <a:t>)  </a:t>
            </a:r>
            <a:r>
              <a:rPr lang="en-GB" dirty="0" err="1">
                <a:sym typeface="Wingdings" panose="05000000000000000000" pitchFamily="2" charset="2"/>
              </a:rPr>
              <a:t>GPe</a:t>
            </a:r>
            <a:endParaRPr lang="en-GB" dirty="0">
              <a:sym typeface="Wingdings" panose="05000000000000000000" pitchFamily="2" charset="2"/>
            </a:endParaRPr>
          </a:p>
          <a:p>
            <a:pPr lvl="1"/>
            <a:r>
              <a:rPr lang="en-GB" dirty="0" err="1">
                <a:sym typeface="Wingdings" panose="05000000000000000000" pitchFamily="2" charset="2"/>
              </a:rPr>
              <a:t>GPe</a:t>
            </a:r>
            <a:r>
              <a:rPr lang="en-GB" dirty="0">
                <a:sym typeface="Wingdings" panose="05000000000000000000" pitchFamily="2" charset="2"/>
              </a:rPr>
              <a:t> (</a:t>
            </a:r>
            <a:r>
              <a:rPr lang="en-GB" dirty="0">
                <a:solidFill>
                  <a:srgbClr val="FF0000"/>
                </a:solidFill>
                <a:sym typeface="Wingdings" panose="05000000000000000000" pitchFamily="2" charset="2"/>
              </a:rPr>
              <a:t>Inhibitory</a:t>
            </a:r>
            <a:r>
              <a:rPr lang="en-GB" dirty="0">
                <a:sym typeface="Wingdings" panose="05000000000000000000" pitchFamily="2" charset="2"/>
              </a:rPr>
              <a:t>)  STN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STN (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  <a:sym typeface="Wingdings" panose="05000000000000000000" pitchFamily="2" charset="2"/>
              </a:rPr>
              <a:t>Excitatory</a:t>
            </a:r>
            <a:r>
              <a:rPr lang="en-GB" dirty="0">
                <a:sym typeface="Wingdings" panose="05000000000000000000" pitchFamily="2" charset="2"/>
              </a:rPr>
              <a:t>)  </a:t>
            </a:r>
            <a:r>
              <a:rPr lang="en-GB" dirty="0" err="1">
                <a:sym typeface="Wingdings" panose="05000000000000000000" pitchFamily="2" charset="2"/>
              </a:rPr>
              <a:t>GPi</a:t>
            </a:r>
            <a:r>
              <a:rPr lang="en-GB" dirty="0">
                <a:sym typeface="Wingdings" panose="05000000000000000000" pitchFamily="2" charset="2"/>
              </a:rPr>
              <a:t>/</a:t>
            </a:r>
            <a:r>
              <a:rPr lang="en-GB" dirty="0" err="1">
                <a:sym typeface="Wingdings" panose="05000000000000000000" pitchFamily="2" charset="2"/>
              </a:rPr>
              <a:t>SNr</a:t>
            </a:r>
            <a:endParaRPr lang="en-GB" dirty="0">
              <a:sym typeface="Wingdings" panose="05000000000000000000" pitchFamily="2" charset="2"/>
            </a:endParaRPr>
          </a:p>
          <a:p>
            <a:pPr lvl="1"/>
            <a:r>
              <a:rPr lang="en-GB" dirty="0" err="1">
                <a:sym typeface="Wingdings" panose="05000000000000000000" pitchFamily="2" charset="2"/>
              </a:rPr>
              <a:t>GPi</a:t>
            </a:r>
            <a:r>
              <a:rPr lang="en-GB" dirty="0">
                <a:sym typeface="Wingdings" panose="05000000000000000000" pitchFamily="2" charset="2"/>
              </a:rPr>
              <a:t>/</a:t>
            </a:r>
            <a:r>
              <a:rPr lang="en-GB" dirty="0" err="1">
                <a:sym typeface="Wingdings" panose="05000000000000000000" pitchFamily="2" charset="2"/>
              </a:rPr>
              <a:t>SNr</a:t>
            </a:r>
            <a:r>
              <a:rPr lang="en-GB" dirty="0">
                <a:sym typeface="Wingdings" panose="05000000000000000000" pitchFamily="2" charset="2"/>
              </a:rPr>
              <a:t> (</a:t>
            </a:r>
            <a:r>
              <a:rPr lang="en-GB" dirty="0">
                <a:solidFill>
                  <a:srgbClr val="FF0000"/>
                </a:solidFill>
                <a:sym typeface="Wingdings" panose="05000000000000000000" pitchFamily="2" charset="2"/>
              </a:rPr>
              <a:t>Inhibitory</a:t>
            </a:r>
            <a:r>
              <a:rPr lang="en-GB" dirty="0">
                <a:sym typeface="Wingdings" panose="05000000000000000000" pitchFamily="2" charset="2"/>
              </a:rPr>
              <a:t>)  VL Thalamus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VL Thalamus (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  <a:sym typeface="Wingdings" panose="05000000000000000000" pitchFamily="2" charset="2"/>
              </a:rPr>
              <a:t>Excitatory</a:t>
            </a:r>
            <a:r>
              <a:rPr lang="en-GB" dirty="0">
                <a:sym typeface="Wingdings" panose="05000000000000000000" pitchFamily="2" charset="2"/>
              </a:rPr>
              <a:t>)  Cortex</a:t>
            </a:r>
          </a:p>
          <a:p>
            <a:pPr lvl="1"/>
            <a:endParaRPr lang="en-GB" dirty="0"/>
          </a:p>
          <a:p>
            <a:endParaRPr lang="en-GB" dirty="0"/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B6F6C0E1-2874-5EFE-30DC-C6B9864006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3676" y="1785375"/>
            <a:ext cx="4041782" cy="4102178"/>
          </a:xfrm>
          <a:prstGeom prst="rect">
            <a:avLst/>
          </a:prstGeom>
        </p:spPr>
      </p:pic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C9C814EC-F182-8C50-03EF-7DFB31D75CAB}"/>
              </a:ext>
            </a:extLst>
          </p:cNvPr>
          <p:cNvSpPr/>
          <p:nvPr/>
        </p:nvSpPr>
        <p:spPr>
          <a:xfrm>
            <a:off x="9137924" y="1307964"/>
            <a:ext cx="914458" cy="3025707"/>
          </a:xfrm>
          <a:custGeom>
            <a:avLst/>
            <a:gdLst>
              <a:gd name="connsiteX0" fmla="*/ 0 w 1276860"/>
              <a:gd name="connsiteY0" fmla="*/ 0 h 3180944"/>
              <a:gd name="connsiteX1" fmla="*/ 544748 w 1276860"/>
              <a:gd name="connsiteY1" fmla="*/ 321012 h 3180944"/>
              <a:gd name="connsiteX2" fmla="*/ 1011676 w 1276860"/>
              <a:gd name="connsiteY2" fmla="*/ 904672 h 3180944"/>
              <a:gd name="connsiteX3" fmla="*/ 1177046 w 1276860"/>
              <a:gd name="connsiteY3" fmla="*/ 1400783 h 3180944"/>
              <a:gd name="connsiteX4" fmla="*/ 1274323 w 1276860"/>
              <a:gd name="connsiteY4" fmla="*/ 1984442 h 3180944"/>
              <a:gd name="connsiteX5" fmla="*/ 1215957 w 1276860"/>
              <a:gd name="connsiteY5" fmla="*/ 2558374 h 3180944"/>
              <a:gd name="connsiteX6" fmla="*/ 894944 w 1276860"/>
              <a:gd name="connsiteY6" fmla="*/ 3064212 h 3180944"/>
              <a:gd name="connsiteX7" fmla="*/ 710119 w 1276860"/>
              <a:gd name="connsiteY7" fmla="*/ 3180944 h 3180944"/>
              <a:gd name="connsiteX0" fmla="*/ 0 w 1276860"/>
              <a:gd name="connsiteY0" fmla="*/ 0 h 3180944"/>
              <a:gd name="connsiteX1" fmla="*/ 1011676 w 1276860"/>
              <a:gd name="connsiteY1" fmla="*/ 904672 h 3180944"/>
              <a:gd name="connsiteX2" fmla="*/ 1177046 w 1276860"/>
              <a:gd name="connsiteY2" fmla="*/ 1400783 h 3180944"/>
              <a:gd name="connsiteX3" fmla="*/ 1274323 w 1276860"/>
              <a:gd name="connsiteY3" fmla="*/ 1984442 h 3180944"/>
              <a:gd name="connsiteX4" fmla="*/ 1215957 w 1276860"/>
              <a:gd name="connsiteY4" fmla="*/ 2558374 h 3180944"/>
              <a:gd name="connsiteX5" fmla="*/ 894944 w 1276860"/>
              <a:gd name="connsiteY5" fmla="*/ 3064212 h 3180944"/>
              <a:gd name="connsiteX6" fmla="*/ 710119 w 1276860"/>
              <a:gd name="connsiteY6" fmla="*/ 3180944 h 3180944"/>
              <a:gd name="connsiteX0" fmla="*/ 0 w 1276860"/>
              <a:gd name="connsiteY0" fmla="*/ 0 h 3180944"/>
              <a:gd name="connsiteX1" fmla="*/ 1011676 w 1276860"/>
              <a:gd name="connsiteY1" fmla="*/ 904672 h 3180944"/>
              <a:gd name="connsiteX2" fmla="*/ 1177046 w 1276860"/>
              <a:gd name="connsiteY2" fmla="*/ 1400783 h 3180944"/>
              <a:gd name="connsiteX3" fmla="*/ 1274323 w 1276860"/>
              <a:gd name="connsiteY3" fmla="*/ 1984442 h 3180944"/>
              <a:gd name="connsiteX4" fmla="*/ 1215957 w 1276860"/>
              <a:gd name="connsiteY4" fmla="*/ 2558374 h 3180944"/>
              <a:gd name="connsiteX5" fmla="*/ 894944 w 1276860"/>
              <a:gd name="connsiteY5" fmla="*/ 3064212 h 3180944"/>
              <a:gd name="connsiteX6" fmla="*/ 710119 w 1276860"/>
              <a:gd name="connsiteY6" fmla="*/ 3180944 h 3180944"/>
              <a:gd name="connsiteX0" fmla="*/ 0 w 1276860"/>
              <a:gd name="connsiteY0" fmla="*/ 0 h 3180944"/>
              <a:gd name="connsiteX1" fmla="*/ 1011676 w 1276860"/>
              <a:gd name="connsiteY1" fmla="*/ 904672 h 3180944"/>
              <a:gd name="connsiteX2" fmla="*/ 1177046 w 1276860"/>
              <a:gd name="connsiteY2" fmla="*/ 1400783 h 3180944"/>
              <a:gd name="connsiteX3" fmla="*/ 1274323 w 1276860"/>
              <a:gd name="connsiteY3" fmla="*/ 1984442 h 3180944"/>
              <a:gd name="connsiteX4" fmla="*/ 1215957 w 1276860"/>
              <a:gd name="connsiteY4" fmla="*/ 2558374 h 3180944"/>
              <a:gd name="connsiteX5" fmla="*/ 894944 w 1276860"/>
              <a:gd name="connsiteY5" fmla="*/ 3064212 h 3180944"/>
              <a:gd name="connsiteX6" fmla="*/ 710119 w 1276860"/>
              <a:gd name="connsiteY6" fmla="*/ 3180944 h 3180944"/>
              <a:gd name="connsiteX0" fmla="*/ 0 w 1288703"/>
              <a:gd name="connsiteY0" fmla="*/ 0 h 3180944"/>
              <a:gd name="connsiteX1" fmla="*/ 1011676 w 1288703"/>
              <a:gd name="connsiteY1" fmla="*/ 904672 h 3180944"/>
              <a:gd name="connsiteX2" fmla="*/ 1274323 w 1288703"/>
              <a:gd name="connsiteY2" fmla="*/ 1984442 h 3180944"/>
              <a:gd name="connsiteX3" fmla="*/ 1215957 w 1288703"/>
              <a:gd name="connsiteY3" fmla="*/ 2558374 h 3180944"/>
              <a:gd name="connsiteX4" fmla="*/ 894944 w 1288703"/>
              <a:gd name="connsiteY4" fmla="*/ 3064212 h 3180944"/>
              <a:gd name="connsiteX5" fmla="*/ 710119 w 1288703"/>
              <a:gd name="connsiteY5" fmla="*/ 3180944 h 3180944"/>
              <a:gd name="connsiteX0" fmla="*/ 0 w 1292974"/>
              <a:gd name="connsiteY0" fmla="*/ 0 h 3180944"/>
              <a:gd name="connsiteX1" fmla="*/ 1011676 w 1292974"/>
              <a:gd name="connsiteY1" fmla="*/ 904672 h 3180944"/>
              <a:gd name="connsiteX2" fmla="*/ 1274323 w 1292974"/>
              <a:gd name="connsiteY2" fmla="*/ 1984442 h 3180944"/>
              <a:gd name="connsiteX3" fmla="*/ 1215957 w 1292974"/>
              <a:gd name="connsiteY3" fmla="*/ 2558374 h 3180944"/>
              <a:gd name="connsiteX4" fmla="*/ 894944 w 1292974"/>
              <a:gd name="connsiteY4" fmla="*/ 3064212 h 3180944"/>
              <a:gd name="connsiteX5" fmla="*/ 710119 w 1292974"/>
              <a:gd name="connsiteY5" fmla="*/ 3180944 h 3180944"/>
              <a:gd name="connsiteX0" fmla="*/ 0 w 1277440"/>
              <a:gd name="connsiteY0" fmla="*/ 0 h 3180944"/>
              <a:gd name="connsiteX1" fmla="*/ 1011676 w 1277440"/>
              <a:gd name="connsiteY1" fmla="*/ 904672 h 3180944"/>
              <a:gd name="connsiteX2" fmla="*/ 1274323 w 1277440"/>
              <a:gd name="connsiteY2" fmla="*/ 1984442 h 3180944"/>
              <a:gd name="connsiteX3" fmla="*/ 894944 w 1277440"/>
              <a:gd name="connsiteY3" fmla="*/ 3064212 h 3180944"/>
              <a:gd name="connsiteX4" fmla="*/ 710119 w 1277440"/>
              <a:gd name="connsiteY4" fmla="*/ 3180944 h 3180944"/>
              <a:gd name="connsiteX0" fmla="*/ 0 w 1287073"/>
              <a:gd name="connsiteY0" fmla="*/ 0 h 3180944"/>
              <a:gd name="connsiteX1" fmla="*/ 1011676 w 1287073"/>
              <a:gd name="connsiteY1" fmla="*/ 904672 h 3180944"/>
              <a:gd name="connsiteX2" fmla="*/ 1274323 w 1287073"/>
              <a:gd name="connsiteY2" fmla="*/ 1984442 h 3180944"/>
              <a:gd name="connsiteX3" fmla="*/ 710119 w 1287073"/>
              <a:gd name="connsiteY3" fmla="*/ 3180944 h 3180944"/>
              <a:gd name="connsiteX0" fmla="*/ 0 w 1287073"/>
              <a:gd name="connsiteY0" fmla="*/ 0 h 3180944"/>
              <a:gd name="connsiteX1" fmla="*/ 1011676 w 1287073"/>
              <a:gd name="connsiteY1" fmla="*/ 904672 h 3180944"/>
              <a:gd name="connsiteX2" fmla="*/ 1274323 w 1287073"/>
              <a:gd name="connsiteY2" fmla="*/ 1984442 h 3180944"/>
              <a:gd name="connsiteX3" fmla="*/ 710119 w 1287073"/>
              <a:gd name="connsiteY3" fmla="*/ 3180944 h 3180944"/>
              <a:gd name="connsiteX0" fmla="*/ 0 w 1274323"/>
              <a:gd name="connsiteY0" fmla="*/ 0 h 3180944"/>
              <a:gd name="connsiteX1" fmla="*/ 1274323 w 1274323"/>
              <a:gd name="connsiteY1" fmla="*/ 1984442 h 3180944"/>
              <a:gd name="connsiteX2" fmla="*/ 710119 w 1274323"/>
              <a:gd name="connsiteY2" fmla="*/ 3180944 h 3180944"/>
              <a:gd name="connsiteX0" fmla="*/ 0 w 1303506"/>
              <a:gd name="connsiteY0" fmla="*/ 0 h 3180944"/>
              <a:gd name="connsiteX1" fmla="*/ 1303506 w 1303506"/>
              <a:gd name="connsiteY1" fmla="*/ 1566152 h 3180944"/>
              <a:gd name="connsiteX2" fmla="*/ 710119 w 1303506"/>
              <a:gd name="connsiteY2" fmla="*/ 3180944 h 3180944"/>
              <a:gd name="connsiteX0" fmla="*/ 0 w 1305191"/>
              <a:gd name="connsiteY0" fmla="*/ 0 h 3180944"/>
              <a:gd name="connsiteX1" fmla="*/ 1303506 w 1305191"/>
              <a:gd name="connsiteY1" fmla="*/ 1566152 h 3180944"/>
              <a:gd name="connsiteX2" fmla="*/ 710119 w 1305191"/>
              <a:gd name="connsiteY2" fmla="*/ 3180944 h 3180944"/>
              <a:gd name="connsiteX0" fmla="*/ 0 w 1307723"/>
              <a:gd name="connsiteY0" fmla="*/ 0 h 3180944"/>
              <a:gd name="connsiteX1" fmla="*/ 1303506 w 1307723"/>
              <a:gd name="connsiteY1" fmla="*/ 1566152 h 3180944"/>
              <a:gd name="connsiteX2" fmla="*/ 710119 w 1307723"/>
              <a:gd name="connsiteY2" fmla="*/ 3180944 h 3180944"/>
              <a:gd name="connsiteX0" fmla="*/ 0 w 1341041"/>
              <a:gd name="connsiteY0" fmla="*/ 0 h 3180944"/>
              <a:gd name="connsiteX1" fmla="*/ 1303506 w 1341041"/>
              <a:gd name="connsiteY1" fmla="*/ 1566152 h 3180944"/>
              <a:gd name="connsiteX2" fmla="*/ 710119 w 1341041"/>
              <a:gd name="connsiteY2" fmla="*/ 3180944 h 3180944"/>
              <a:gd name="connsiteX0" fmla="*/ 0 w 740159"/>
              <a:gd name="connsiteY0" fmla="*/ 0 h 3044757"/>
              <a:gd name="connsiteX1" fmla="*/ 739302 w 740159"/>
              <a:gd name="connsiteY1" fmla="*/ 1429965 h 3044757"/>
              <a:gd name="connsiteX2" fmla="*/ 145915 w 740159"/>
              <a:gd name="connsiteY2" fmla="*/ 3044757 h 3044757"/>
              <a:gd name="connsiteX0" fmla="*/ 16081 w 756240"/>
              <a:gd name="connsiteY0" fmla="*/ 0 h 3044757"/>
              <a:gd name="connsiteX1" fmla="*/ 755383 w 756240"/>
              <a:gd name="connsiteY1" fmla="*/ 1429965 h 3044757"/>
              <a:gd name="connsiteX2" fmla="*/ 161996 w 756240"/>
              <a:gd name="connsiteY2" fmla="*/ 3044757 h 3044757"/>
              <a:gd name="connsiteX0" fmla="*/ 0 w 740159"/>
              <a:gd name="connsiteY0" fmla="*/ 0 h 3044757"/>
              <a:gd name="connsiteX1" fmla="*/ 739302 w 740159"/>
              <a:gd name="connsiteY1" fmla="*/ 1429965 h 3044757"/>
              <a:gd name="connsiteX2" fmla="*/ 145915 w 740159"/>
              <a:gd name="connsiteY2" fmla="*/ 3044757 h 3044757"/>
              <a:gd name="connsiteX0" fmla="*/ 0 w 914458"/>
              <a:gd name="connsiteY0" fmla="*/ 0 h 3025707"/>
              <a:gd name="connsiteX1" fmla="*/ 910752 w 914458"/>
              <a:gd name="connsiteY1" fmla="*/ 1410915 h 3025707"/>
              <a:gd name="connsiteX2" fmla="*/ 317365 w 914458"/>
              <a:gd name="connsiteY2" fmla="*/ 3025707 h 3025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14458" h="3025707">
                <a:moveTo>
                  <a:pt x="0" y="0"/>
                </a:moveTo>
                <a:cubicBezTo>
                  <a:pt x="380798" y="414236"/>
                  <a:pt x="857858" y="906631"/>
                  <a:pt x="910752" y="1410915"/>
                </a:cubicBezTo>
                <a:cubicBezTo>
                  <a:pt x="963646" y="1915199"/>
                  <a:pt x="434908" y="2776436"/>
                  <a:pt x="317365" y="3025707"/>
                </a:cubicBezTo>
              </a:path>
            </a:pathLst>
          </a:custGeom>
          <a:noFill/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0963002-9E2F-288C-B7EF-721FA9ABACB6}"/>
              </a:ext>
            </a:extLst>
          </p:cNvPr>
          <p:cNvSpPr/>
          <p:nvPr/>
        </p:nvSpPr>
        <p:spPr>
          <a:xfrm>
            <a:off x="8866965" y="1374842"/>
            <a:ext cx="416628" cy="1275945"/>
          </a:xfrm>
          <a:custGeom>
            <a:avLst/>
            <a:gdLst>
              <a:gd name="connsiteX0" fmla="*/ 0 w 852361"/>
              <a:gd name="connsiteY0" fmla="*/ 0 h 1274323"/>
              <a:gd name="connsiteX1" fmla="*/ 836579 w 852361"/>
              <a:gd name="connsiteY1" fmla="*/ 661480 h 1274323"/>
              <a:gd name="connsiteX2" fmla="*/ 466928 w 852361"/>
              <a:gd name="connsiteY2" fmla="*/ 1274323 h 1274323"/>
              <a:gd name="connsiteX0" fmla="*/ 0 w 847398"/>
              <a:gd name="connsiteY0" fmla="*/ 0 h 1341901"/>
              <a:gd name="connsiteX1" fmla="*/ 836579 w 847398"/>
              <a:gd name="connsiteY1" fmla="*/ 661480 h 1341901"/>
              <a:gd name="connsiteX2" fmla="*/ 330741 w 847398"/>
              <a:gd name="connsiteY2" fmla="*/ 1341901 h 1341901"/>
              <a:gd name="connsiteX0" fmla="*/ 0 w 559907"/>
              <a:gd name="connsiteY0" fmla="*/ 0 h 1341901"/>
              <a:gd name="connsiteX1" fmla="*/ 525294 w 559907"/>
              <a:gd name="connsiteY1" fmla="*/ 603556 h 1341901"/>
              <a:gd name="connsiteX2" fmla="*/ 330741 w 559907"/>
              <a:gd name="connsiteY2" fmla="*/ 1341901 h 1341901"/>
              <a:gd name="connsiteX0" fmla="*/ 0 w 407507"/>
              <a:gd name="connsiteY0" fmla="*/ 0 h 1200108"/>
              <a:gd name="connsiteX1" fmla="*/ 372894 w 407507"/>
              <a:gd name="connsiteY1" fmla="*/ 461763 h 1200108"/>
              <a:gd name="connsiteX2" fmla="*/ 178341 w 407507"/>
              <a:gd name="connsiteY2" fmla="*/ 1200108 h 1200108"/>
              <a:gd name="connsiteX0" fmla="*/ 0 w 438971"/>
              <a:gd name="connsiteY0" fmla="*/ 0 h 1200108"/>
              <a:gd name="connsiteX1" fmla="*/ 410994 w 438971"/>
              <a:gd name="connsiteY1" fmla="*/ 584650 h 1200108"/>
              <a:gd name="connsiteX2" fmla="*/ 178341 w 438971"/>
              <a:gd name="connsiteY2" fmla="*/ 1200108 h 1200108"/>
              <a:gd name="connsiteX0" fmla="*/ 0 w 416475"/>
              <a:gd name="connsiteY0" fmla="*/ 0 h 1200108"/>
              <a:gd name="connsiteX1" fmla="*/ 410994 w 416475"/>
              <a:gd name="connsiteY1" fmla="*/ 584650 h 1200108"/>
              <a:gd name="connsiteX2" fmla="*/ 178341 w 416475"/>
              <a:gd name="connsiteY2" fmla="*/ 1200108 h 1200108"/>
              <a:gd name="connsiteX0" fmla="*/ 0 w 416475"/>
              <a:gd name="connsiteY0" fmla="*/ 0 h 1200108"/>
              <a:gd name="connsiteX1" fmla="*/ 410994 w 416475"/>
              <a:gd name="connsiteY1" fmla="*/ 584650 h 1200108"/>
              <a:gd name="connsiteX2" fmla="*/ 178341 w 416475"/>
              <a:gd name="connsiteY2" fmla="*/ 1200108 h 1200108"/>
              <a:gd name="connsiteX0" fmla="*/ 0 w 416475"/>
              <a:gd name="connsiteY0" fmla="*/ 0 h 1200108"/>
              <a:gd name="connsiteX1" fmla="*/ 410994 w 416475"/>
              <a:gd name="connsiteY1" fmla="*/ 584650 h 1200108"/>
              <a:gd name="connsiteX2" fmla="*/ 178341 w 416475"/>
              <a:gd name="connsiteY2" fmla="*/ 1200108 h 1200108"/>
              <a:gd name="connsiteX0" fmla="*/ 0 w 416475"/>
              <a:gd name="connsiteY0" fmla="*/ 0 h 1200108"/>
              <a:gd name="connsiteX1" fmla="*/ 410994 w 416475"/>
              <a:gd name="connsiteY1" fmla="*/ 584650 h 1200108"/>
              <a:gd name="connsiteX2" fmla="*/ 178341 w 416475"/>
              <a:gd name="connsiteY2" fmla="*/ 1200108 h 1200108"/>
              <a:gd name="connsiteX0" fmla="*/ 0 w 178341"/>
              <a:gd name="connsiteY0" fmla="*/ 0 h 1200108"/>
              <a:gd name="connsiteX1" fmla="*/ 178341 w 178341"/>
              <a:gd name="connsiteY1" fmla="*/ 1200108 h 1200108"/>
              <a:gd name="connsiteX0" fmla="*/ 0 w 305935"/>
              <a:gd name="connsiteY0" fmla="*/ 0 h 1200108"/>
              <a:gd name="connsiteX1" fmla="*/ 178341 w 305935"/>
              <a:gd name="connsiteY1" fmla="*/ 1200108 h 1200108"/>
              <a:gd name="connsiteX0" fmla="*/ 0 w 451205"/>
              <a:gd name="connsiteY0" fmla="*/ 0 h 1200108"/>
              <a:gd name="connsiteX1" fmla="*/ 178341 w 451205"/>
              <a:gd name="connsiteY1" fmla="*/ 1200108 h 1200108"/>
              <a:gd name="connsiteX0" fmla="*/ 0 w 416628"/>
              <a:gd name="connsiteY0" fmla="*/ 0 h 1266278"/>
              <a:gd name="connsiteX1" fmla="*/ 111666 w 416628"/>
              <a:gd name="connsiteY1" fmla="*/ 1266278 h 1266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16628" h="1266278">
                <a:moveTo>
                  <a:pt x="0" y="0"/>
                </a:moveTo>
                <a:cubicBezTo>
                  <a:pt x="602372" y="456753"/>
                  <a:pt x="471319" y="696091"/>
                  <a:pt x="111666" y="1266278"/>
                </a:cubicBezTo>
              </a:path>
            </a:pathLst>
          </a:custGeom>
          <a:noFill/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E75AC9C1-6A44-67B3-3280-1BBCD6C7EB7B}"/>
              </a:ext>
            </a:extLst>
          </p:cNvPr>
          <p:cNvSpPr/>
          <p:nvPr/>
        </p:nvSpPr>
        <p:spPr>
          <a:xfrm rot="20714201">
            <a:off x="8151827" y="1442376"/>
            <a:ext cx="687396" cy="1763841"/>
          </a:xfrm>
          <a:custGeom>
            <a:avLst/>
            <a:gdLst>
              <a:gd name="connsiteX0" fmla="*/ 301557 w 671013"/>
              <a:gd name="connsiteY0" fmla="*/ 1935804 h 1935804"/>
              <a:gd name="connsiteX1" fmla="*/ 593387 w 671013"/>
              <a:gd name="connsiteY1" fmla="*/ 1352145 h 1935804"/>
              <a:gd name="connsiteX2" fmla="*/ 622570 w 671013"/>
              <a:gd name="connsiteY2" fmla="*/ 680936 h 1935804"/>
              <a:gd name="connsiteX3" fmla="*/ 0 w 671013"/>
              <a:gd name="connsiteY3" fmla="*/ 0 h 1935804"/>
              <a:gd name="connsiteX0" fmla="*/ 301557 w 600647"/>
              <a:gd name="connsiteY0" fmla="*/ 1935804 h 1935804"/>
              <a:gd name="connsiteX1" fmla="*/ 593387 w 600647"/>
              <a:gd name="connsiteY1" fmla="*/ 1352145 h 1935804"/>
              <a:gd name="connsiteX2" fmla="*/ 0 w 600647"/>
              <a:gd name="connsiteY2" fmla="*/ 0 h 1935804"/>
              <a:gd name="connsiteX0" fmla="*/ 0 w 402609"/>
              <a:gd name="connsiteY0" fmla="*/ 1714991 h 1714991"/>
              <a:gd name="connsiteX1" fmla="*/ 291830 w 402609"/>
              <a:gd name="connsiteY1" fmla="*/ 1131332 h 1714991"/>
              <a:gd name="connsiteX2" fmla="*/ 349467 w 402609"/>
              <a:gd name="connsiteY2" fmla="*/ 0 h 1714991"/>
              <a:gd name="connsiteX0" fmla="*/ 0 w 478851"/>
              <a:gd name="connsiteY0" fmla="*/ 1714991 h 1714991"/>
              <a:gd name="connsiteX1" fmla="*/ 451898 w 478851"/>
              <a:gd name="connsiteY1" fmla="*/ 897710 h 1714991"/>
              <a:gd name="connsiteX2" fmla="*/ 349467 w 478851"/>
              <a:gd name="connsiteY2" fmla="*/ 0 h 1714991"/>
              <a:gd name="connsiteX0" fmla="*/ 0 w 721411"/>
              <a:gd name="connsiteY0" fmla="*/ 1763841 h 1763841"/>
              <a:gd name="connsiteX1" fmla="*/ 451898 w 721411"/>
              <a:gd name="connsiteY1" fmla="*/ 946560 h 1763841"/>
              <a:gd name="connsiteX2" fmla="*/ 687396 w 721411"/>
              <a:gd name="connsiteY2" fmla="*/ 0 h 1763841"/>
              <a:gd name="connsiteX0" fmla="*/ 0 w 687396"/>
              <a:gd name="connsiteY0" fmla="*/ 1763841 h 1763841"/>
              <a:gd name="connsiteX1" fmla="*/ 451898 w 687396"/>
              <a:gd name="connsiteY1" fmla="*/ 946560 h 1763841"/>
              <a:gd name="connsiteX2" fmla="*/ 687396 w 687396"/>
              <a:gd name="connsiteY2" fmla="*/ 0 h 1763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87396" h="1763841">
                <a:moveTo>
                  <a:pt x="0" y="1763841"/>
                </a:moveTo>
                <a:cubicBezTo>
                  <a:pt x="119164" y="1576584"/>
                  <a:pt x="337332" y="1240534"/>
                  <a:pt x="451898" y="946560"/>
                </a:cubicBezTo>
                <a:cubicBezTo>
                  <a:pt x="566464" y="652586"/>
                  <a:pt x="640310" y="443564"/>
                  <a:pt x="687396" y="0"/>
                </a:cubicBezTo>
              </a:path>
            </a:pathLst>
          </a:custGeom>
          <a:noFill/>
          <a:ln w="254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B120DC5-09E3-C1C7-44E3-0EA08304AB93}"/>
              </a:ext>
            </a:extLst>
          </p:cNvPr>
          <p:cNvSpPr txBox="1"/>
          <p:nvPr/>
        </p:nvSpPr>
        <p:spPr>
          <a:xfrm>
            <a:off x="10238314" y="1235819"/>
            <a:ext cx="1024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Caudate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84C8B38-1B79-D1CE-DAF3-9787212F5300}"/>
              </a:ext>
            </a:extLst>
          </p:cNvPr>
          <p:cNvCxnSpPr>
            <a:cxnSpLocks/>
            <a:endCxn id="36" idx="2"/>
          </p:cNvCxnSpPr>
          <p:nvPr/>
        </p:nvCxnSpPr>
        <p:spPr>
          <a:xfrm flipV="1">
            <a:off x="8948474" y="1543596"/>
            <a:ext cx="1802114" cy="1218654"/>
          </a:xfrm>
          <a:prstGeom prst="line">
            <a:avLst/>
          </a:prstGeom>
          <a:ln w="28575">
            <a:solidFill>
              <a:srgbClr val="FFC000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E6E2C76-4A43-A879-ABCC-589BA3F2E223}"/>
              </a:ext>
            </a:extLst>
          </p:cNvPr>
          <p:cNvCxnSpPr>
            <a:cxnSpLocks/>
            <a:endCxn id="39" idx="0"/>
          </p:cNvCxnSpPr>
          <p:nvPr/>
        </p:nvCxnSpPr>
        <p:spPr>
          <a:xfrm>
            <a:off x="9365086" y="4613670"/>
            <a:ext cx="1116946" cy="1605623"/>
          </a:xfrm>
          <a:prstGeom prst="line">
            <a:avLst/>
          </a:prstGeom>
          <a:ln w="28575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717C92E0-0F7C-B4F8-303D-C4AC648A4BB8}"/>
              </a:ext>
            </a:extLst>
          </p:cNvPr>
          <p:cNvSpPr txBox="1"/>
          <p:nvPr/>
        </p:nvSpPr>
        <p:spPr>
          <a:xfrm>
            <a:off x="9934549" y="6219293"/>
            <a:ext cx="10949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Putamen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BFA9340-253E-5470-2121-1A742F9077DD}"/>
              </a:ext>
            </a:extLst>
          </p:cNvPr>
          <p:cNvSpPr txBox="1"/>
          <p:nvPr/>
        </p:nvSpPr>
        <p:spPr>
          <a:xfrm>
            <a:off x="8255424" y="5988739"/>
            <a:ext cx="4885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 err="1"/>
              <a:t>GPi</a:t>
            </a:r>
            <a:endParaRPr lang="en-GB" sz="1400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D2C836E-4E39-4720-7DE9-F382F801BBC7}"/>
              </a:ext>
            </a:extLst>
          </p:cNvPr>
          <p:cNvGrpSpPr/>
          <p:nvPr/>
        </p:nvGrpSpPr>
        <p:grpSpPr>
          <a:xfrm>
            <a:off x="8512540" y="5019675"/>
            <a:ext cx="595293" cy="1045729"/>
            <a:chOff x="8491306" y="4508942"/>
            <a:chExt cx="595293" cy="1045729"/>
          </a:xfrm>
        </p:grpSpPr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BBFDE92F-4288-C9AE-C06B-6406BC7D7385}"/>
                </a:ext>
              </a:extLst>
            </p:cNvPr>
            <p:cNvCxnSpPr>
              <a:cxnSpLocks/>
              <a:endCxn id="40" idx="0"/>
            </p:cNvCxnSpPr>
            <p:nvPr/>
          </p:nvCxnSpPr>
          <p:spPr>
            <a:xfrm flipH="1">
              <a:off x="8491306" y="4508942"/>
              <a:ext cx="225508" cy="969064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76E5704A-FBF0-340D-A744-1B833154F74A}"/>
                </a:ext>
              </a:extLst>
            </p:cNvPr>
            <p:cNvCxnSpPr>
              <a:cxnSpLocks/>
              <a:endCxn id="54" idx="0"/>
            </p:cNvCxnSpPr>
            <p:nvPr/>
          </p:nvCxnSpPr>
          <p:spPr>
            <a:xfrm>
              <a:off x="8906189" y="4692715"/>
              <a:ext cx="180410" cy="861956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224481A7-4331-39E4-E16F-0F2A249F8CED}"/>
              </a:ext>
            </a:extLst>
          </p:cNvPr>
          <p:cNvCxnSpPr>
            <a:cxnSpLocks/>
            <a:endCxn id="48" idx="3"/>
          </p:cNvCxnSpPr>
          <p:nvPr/>
        </p:nvCxnSpPr>
        <p:spPr>
          <a:xfrm flipH="1">
            <a:off x="6621390" y="4680228"/>
            <a:ext cx="1226032" cy="19495"/>
          </a:xfrm>
          <a:prstGeom prst="line">
            <a:avLst/>
          </a:prstGeom>
          <a:ln w="28575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65C5C9FF-626A-3E05-E759-B2A4BFE24B92}"/>
              </a:ext>
            </a:extLst>
          </p:cNvPr>
          <p:cNvSpPr txBox="1"/>
          <p:nvPr/>
        </p:nvSpPr>
        <p:spPr>
          <a:xfrm>
            <a:off x="5334068" y="4438113"/>
            <a:ext cx="12873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Subthalamic</a:t>
            </a:r>
            <a:br>
              <a:rPr lang="en-GB" sz="1400" dirty="0"/>
            </a:br>
            <a:r>
              <a:rPr lang="en-GB" sz="1400" dirty="0"/>
              <a:t>Nucleus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4150295A-FB43-C03F-72CC-14DAE4A678FE}"/>
              </a:ext>
            </a:extLst>
          </p:cNvPr>
          <p:cNvCxnSpPr>
            <a:cxnSpLocks/>
          </p:cNvCxnSpPr>
          <p:nvPr/>
        </p:nvCxnSpPr>
        <p:spPr>
          <a:xfrm flipH="1">
            <a:off x="6331485" y="5203448"/>
            <a:ext cx="901263" cy="609089"/>
          </a:xfrm>
          <a:prstGeom prst="line">
            <a:avLst/>
          </a:prstGeom>
          <a:ln w="28575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ACE7AA8B-A2A5-86FB-89A1-6DCBF82EE9D9}"/>
              </a:ext>
            </a:extLst>
          </p:cNvPr>
          <p:cNvSpPr txBox="1"/>
          <p:nvPr/>
        </p:nvSpPr>
        <p:spPr>
          <a:xfrm>
            <a:off x="6016474" y="2136566"/>
            <a:ext cx="10245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Thalamus (VA &amp; VL)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F35C1DC8-3370-4B31-9FBA-D44F3764AE1B}"/>
              </a:ext>
            </a:extLst>
          </p:cNvPr>
          <p:cNvCxnSpPr>
            <a:cxnSpLocks/>
            <a:endCxn id="50" idx="2"/>
          </p:cNvCxnSpPr>
          <p:nvPr/>
        </p:nvCxnSpPr>
        <p:spPr>
          <a:xfrm flipH="1" flipV="1">
            <a:off x="6528748" y="2659786"/>
            <a:ext cx="1842124" cy="717621"/>
          </a:xfrm>
          <a:prstGeom prst="line">
            <a:avLst/>
          </a:prstGeom>
          <a:ln w="28575">
            <a:solidFill>
              <a:schemeClr val="bg2">
                <a:lumMod val="25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270ADA44-49A9-C1CA-4AAE-435692CF1039}"/>
              </a:ext>
            </a:extLst>
          </p:cNvPr>
          <p:cNvSpPr txBox="1"/>
          <p:nvPr/>
        </p:nvSpPr>
        <p:spPr>
          <a:xfrm>
            <a:off x="8850580" y="6065404"/>
            <a:ext cx="5145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 err="1"/>
              <a:t>GPe</a:t>
            </a:r>
            <a:endParaRPr lang="en-GB" sz="14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DF40ECA-215B-BFBF-361D-B30A7AA5B31C}"/>
              </a:ext>
            </a:extLst>
          </p:cNvPr>
          <p:cNvSpPr txBox="1"/>
          <p:nvPr/>
        </p:nvSpPr>
        <p:spPr>
          <a:xfrm>
            <a:off x="5519053" y="5812537"/>
            <a:ext cx="10949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Substantia</a:t>
            </a:r>
          </a:p>
          <a:p>
            <a:pPr algn="ctr"/>
            <a:r>
              <a:rPr lang="en-GB" sz="1400" dirty="0"/>
              <a:t>Nigra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06F5C55-B6DC-96C9-C2A3-9D6439412D1A}"/>
              </a:ext>
            </a:extLst>
          </p:cNvPr>
          <p:cNvSpPr txBox="1"/>
          <p:nvPr/>
        </p:nvSpPr>
        <p:spPr>
          <a:xfrm>
            <a:off x="8002456" y="912739"/>
            <a:ext cx="1433806" cy="307777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Cortex</a:t>
            </a:r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620A93A1-A028-2D6F-5008-7A19E3A34D78}"/>
              </a:ext>
            </a:extLst>
          </p:cNvPr>
          <p:cNvSpPr/>
          <p:nvPr/>
        </p:nvSpPr>
        <p:spPr>
          <a:xfrm>
            <a:off x="7998619" y="3876675"/>
            <a:ext cx="355172" cy="1014413"/>
          </a:xfrm>
          <a:custGeom>
            <a:avLst/>
            <a:gdLst>
              <a:gd name="connsiteX0" fmla="*/ 0 w 476616"/>
              <a:gd name="connsiteY0" fmla="*/ 1085850 h 1085850"/>
              <a:gd name="connsiteX1" fmla="*/ 428625 w 476616"/>
              <a:gd name="connsiteY1" fmla="*/ 790575 h 1085850"/>
              <a:gd name="connsiteX2" fmla="*/ 447675 w 476616"/>
              <a:gd name="connsiteY2" fmla="*/ 0 h 1085850"/>
              <a:gd name="connsiteX0" fmla="*/ 0 w 369460"/>
              <a:gd name="connsiteY0" fmla="*/ 1004888 h 1004888"/>
              <a:gd name="connsiteX1" fmla="*/ 321469 w 369460"/>
              <a:gd name="connsiteY1" fmla="*/ 790575 h 1004888"/>
              <a:gd name="connsiteX2" fmla="*/ 340519 w 369460"/>
              <a:gd name="connsiteY2" fmla="*/ 0 h 1004888"/>
              <a:gd name="connsiteX0" fmla="*/ 0 w 355172"/>
              <a:gd name="connsiteY0" fmla="*/ 1014413 h 1014413"/>
              <a:gd name="connsiteX1" fmla="*/ 307181 w 355172"/>
              <a:gd name="connsiteY1" fmla="*/ 790575 h 1014413"/>
              <a:gd name="connsiteX2" fmla="*/ 326231 w 355172"/>
              <a:gd name="connsiteY2" fmla="*/ 0 h 1014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5172" h="1014413">
                <a:moveTo>
                  <a:pt x="0" y="1014413"/>
                </a:moveTo>
                <a:cubicBezTo>
                  <a:pt x="177006" y="957263"/>
                  <a:pt x="232569" y="971550"/>
                  <a:pt x="307181" y="790575"/>
                </a:cubicBezTo>
                <a:cubicBezTo>
                  <a:pt x="381794" y="609600"/>
                  <a:pt x="354012" y="304800"/>
                  <a:pt x="326231" y="0"/>
                </a:cubicBezTo>
              </a:path>
            </a:pathLst>
          </a:custGeom>
          <a:noFill/>
          <a:ln w="31750" cap="rnd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6CDF6B08-74C4-C898-A70E-F312AF30E578}"/>
              </a:ext>
            </a:extLst>
          </p:cNvPr>
          <p:cNvSpPr/>
          <p:nvPr/>
        </p:nvSpPr>
        <p:spPr>
          <a:xfrm>
            <a:off x="8434387" y="3790950"/>
            <a:ext cx="419100" cy="881064"/>
          </a:xfrm>
          <a:custGeom>
            <a:avLst/>
            <a:gdLst>
              <a:gd name="connsiteX0" fmla="*/ 414338 w 414338"/>
              <a:gd name="connsiteY0" fmla="*/ 790575 h 790575"/>
              <a:gd name="connsiteX1" fmla="*/ 100013 w 414338"/>
              <a:gd name="connsiteY1" fmla="*/ 647700 h 790575"/>
              <a:gd name="connsiteX2" fmla="*/ 0 w 414338"/>
              <a:gd name="connsiteY2" fmla="*/ 0 h 790575"/>
              <a:gd name="connsiteX3" fmla="*/ 0 w 414338"/>
              <a:gd name="connsiteY3" fmla="*/ 0 h 790575"/>
              <a:gd name="connsiteX0" fmla="*/ 416719 w 416719"/>
              <a:gd name="connsiteY0" fmla="*/ 888207 h 888207"/>
              <a:gd name="connsiteX1" fmla="*/ 102394 w 416719"/>
              <a:gd name="connsiteY1" fmla="*/ 745332 h 888207"/>
              <a:gd name="connsiteX2" fmla="*/ 2381 w 416719"/>
              <a:gd name="connsiteY2" fmla="*/ 97632 h 888207"/>
              <a:gd name="connsiteX3" fmla="*/ 0 w 416719"/>
              <a:gd name="connsiteY3" fmla="*/ 0 h 888207"/>
              <a:gd name="connsiteX0" fmla="*/ 419100 w 419100"/>
              <a:gd name="connsiteY0" fmla="*/ 881064 h 881064"/>
              <a:gd name="connsiteX1" fmla="*/ 104775 w 419100"/>
              <a:gd name="connsiteY1" fmla="*/ 738189 h 881064"/>
              <a:gd name="connsiteX2" fmla="*/ 4762 w 419100"/>
              <a:gd name="connsiteY2" fmla="*/ 90489 h 881064"/>
              <a:gd name="connsiteX3" fmla="*/ 0 w 419100"/>
              <a:gd name="connsiteY3" fmla="*/ 0 h 881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9100" h="881064">
                <a:moveTo>
                  <a:pt x="419100" y="881064"/>
                </a:moveTo>
                <a:cubicBezTo>
                  <a:pt x="296465" y="875507"/>
                  <a:pt x="173831" y="869951"/>
                  <a:pt x="104775" y="738189"/>
                </a:cubicBezTo>
                <a:cubicBezTo>
                  <a:pt x="35719" y="606427"/>
                  <a:pt x="4762" y="90489"/>
                  <a:pt x="4762" y="90489"/>
                </a:cubicBezTo>
                <a:lnTo>
                  <a:pt x="0" y="0"/>
                </a:lnTo>
              </a:path>
            </a:pathLst>
          </a:custGeom>
          <a:noFill/>
          <a:ln w="31750" cap="rnd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741606F-939A-008A-6129-4BEF755980B4}"/>
              </a:ext>
            </a:extLst>
          </p:cNvPr>
          <p:cNvCxnSpPr>
            <a:cxnSpLocks/>
          </p:cNvCxnSpPr>
          <p:nvPr/>
        </p:nvCxnSpPr>
        <p:spPr>
          <a:xfrm>
            <a:off x="8272093" y="3876675"/>
            <a:ext cx="98779" cy="0"/>
          </a:xfrm>
          <a:prstGeom prst="line">
            <a:avLst/>
          </a:prstGeom>
          <a:ln w="31750" cap="rnd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F15EF7E-8410-792E-CD7D-AB713F3D0ACE}"/>
              </a:ext>
            </a:extLst>
          </p:cNvPr>
          <p:cNvCxnSpPr/>
          <p:nvPr/>
        </p:nvCxnSpPr>
        <p:spPr>
          <a:xfrm>
            <a:off x="8376663" y="3790950"/>
            <a:ext cx="115448" cy="0"/>
          </a:xfrm>
          <a:prstGeom prst="line">
            <a:avLst/>
          </a:prstGeom>
          <a:ln w="31750" cap="rnd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B0E3A3B-41AA-740F-EC66-7577E2AA68A2}"/>
              </a:ext>
            </a:extLst>
          </p:cNvPr>
          <p:cNvCxnSpPr>
            <a:cxnSpLocks/>
          </p:cNvCxnSpPr>
          <p:nvPr/>
        </p:nvCxnSpPr>
        <p:spPr>
          <a:xfrm flipV="1">
            <a:off x="8980828" y="4729229"/>
            <a:ext cx="0" cy="121731"/>
          </a:xfrm>
          <a:prstGeom prst="line">
            <a:avLst/>
          </a:prstGeom>
          <a:ln w="31750" cap="rnd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FF5B569-8FD4-7260-50C0-248603DD7425}"/>
              </a:ext>
            </a:extLst>
          </p:cNvPr>
          <p:cNvSpPr/>
          <p:nvPr/>
        </p:nvSpPr>
        <p:spPr>
          <a:xfrm>
            <a:off x="8980828" y="4790095"/>
            <a:ext cx="275793" cy="214471"/>
          </a:xfrm>
          <a:custGeom>
            <a:avLst/>
            <a:gdLst>
              <a:gd name="connsiteX0" fmla="*/ 426720 w 426720"/>
              <a:gd name="connsiteY0" fmla="*/ 53340 h 64796"/>
              <a:gd name="connsiteX1" fmla="*/ 175260 w 426720"/>
              <a:gd name="connsiteY1" fmla="*/ 60960 h 64796"/>
              <a:gd name="connsiteX2" fmla="*/ 0 w 426720"/>
              <a:gd name="connsiteY2" fmla="*/ 0 h 64796"/>
              <a:gd name="connsiteX0" fmla="*/ 420370 w 420370"/>
              <a:gd name="connsiteY0" fmla="*/ 212090 h 212417"/>
              <a:gd name="connsiteX1" fmla="*/ 175260 w 420370"/>
              <a:gd name="connsiteY1" fmla="*/ 60960 h 212417"/>
              <a:gd name="connsiteX2" fmla="*/ 0 w 420370"/>
              <a:gd name="connsiteY2" fmla="*/ 0 h 212417"/>
              <a:gd name="connsiteX0" fmla="*/ 420370 w 420370"/>
              <a:gd name="connsiteY0" fmla="*/ 212090 h 212090"/>
              <a:gd name="connsiteX1" fmla="*/ 223243 w 420370"/>
              <a:gd name="connsiteY1" fmla="*/ 153446 h 212090"/>
              <a:gd name="connsiteX2" fmla="*/ 175260 w 420370"/>
              <a:gd name="connsiteY2" fmla="*/ 60960 h 212090"/>
              <a:gd name="connsiteX3" fmla="*/ 0 w 420370"/>
              <a:gd name="connsiteY3" fmla="*/ 0 h 212090"/>
              <a:gd name="connsiteX0" fmla="*/ 420370 w 420370"/>
              <a:gd name="connsiteY0" fmla="*/ 212090 h 212090"/>
              <a:gd name="connsiteX1" fmla="*/ 175260 w 420370"/>
              <a:gd name="connsiteY1" fmla="*/ 60960 h 212090"/>
              <a:gd name="connsiteX2" fmla="*/ 0 w 420370"/>
              <a:gd name="connsiteY2" fmla="*/ 0 h 212090"/>
              <a:gd name="connsiteX0" fmla="*/ 420370 w 420370"/>
              <a:gd name="connsiteY0" fmla="*/ 212090 h 212090"/>
              <a:gd name="connsiteX1" fmla="*/ 0 w 420370"/>
              <a:gd name="connsiteY1" fmla="*/ 0 h 212090"/>
              <a:gd name="connsiteX0" fmla="*/ 420370 w 420370"/>
              <a:gd name="connsiteY0" fmla="*/ 212090 h 212090"/>
              <a:gd name="connsiteX1" fmla="*/ 0 w 420370"/>
              <a:gd name="connsiteY1" fmla="*/ 0 h 212090"/>
              <a:gd name="connsiteX0" fmla="*/ 420370 w 420370"/>
              <a:gd name="connsiteY0" fmla="*/ 212090 h 212090"/>
              <a:gd name="connsiteX1" fmla="*/ 0 w 420370"/>
              <a:gd name="connsiteY1" fmla="*/ 0 h 212090"/>
              <a:gd name="connsiteX0" fmla="*/ 420370 w 420370"/>
              <a:gd name="connsiteY0" fmla="*/ 212090 h 212090"/>
              <a:gd name="connsiteX1" fmla="*/ 0 w 420370"/>
              <a:gd name="connsiteY1" fmla="*/ 0 h 212090"/>
              <a:gd name="connsiteX0" fmla="*/ 441802 w 441802"/>
              <a:gd name="connsiteY0" fmla="*/ 214471 h 214471"/>
              <a:gd name="connsiteX1" fmla="*/ 0 w 441802"/>
              <a:gd name="connsiteY1" fmla="*/ 0 h 214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1802" h="214471">
                <a:moveTo>
                  <a:pt x="441802" y="214471"/>
                </a:moveTo>
                <a:cubicBezTo>
                  <a:pt x="295329" y="194574"/>
                  <a:pt x="213148" y="34978"/>
                  <a:pt x="0" y="0"/>
                </a:cubicBezTo>
              </a:path>
            </a:pathLst>
          </a:cu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FDFDF24-1925-30B8-260A-50A60049D813}"/>
              </a:ext>
            </a:extLst>
          </p:cNvPr>
          <p:cNvSpPr/>
          <p:nvPr/>
        </p:nvSpPr>
        <p:spPr>
          <a:xfrm>
            <a:off x="7665506" y="4744151"/>
            <a:ext cx="135415" cy="280035"/>
          </a:xfrm>
          <a:custGeom>
            <a:avLst/>
            <a:gdLst>
              <a:gd name="connsiteX0" fmla="*/ 426720 w 426720"/>
              <a:gd name="connsiteY0" fmla="*/ 53340 h 64796"/>
              <a:gd name="connsiteX1" fmla="*/ 175260 w 426720"/>
              <a:gd name="connsiteY1" fmla="*/ 60960 h 64796"/>
              <a:gd name="connsiteX2" fmla="*/ 0 w 426720"/>
              <a:gd name="connsiteY2" fmla="*/ 0 h 64796"/>
              <a:gd name="connsiteX0" fmla="*/ 420370 w 420370"/>
              <a:gd name="connsiteY0" fmla="*/ 212090 h 212417"/>
              <a:gd name="connsiteX1" fmla="*/ 175260 w 420370"/>
              <a:gd name="connsiteY1" fmla="*/ 60960 h 212417"/>
              <a:gd name="connsiteX2" fmla="*/ 0 w 420370"/>
              <a:gd name="connsiteY2" fmla="*/ 0 h 212417"/>
              <a:gd name="connsiteX0" fmla="*/ 420370 w 420370"/>
              <a:gd name="connsiteY0" fmla="*/ 212090 h 212090"/>
              <a:gd name="connsiteX1" fmla="*/ 223243 w 420370"/>
              <a:gd name="connsiteY1" fmla="*/ 153446 h 212090"/>
              <a:gd name="connsiteX2" fmla="*/ 175260 w 420370"/>
              <a:gd name="connsiteY2" fmla="*/ 60960 h 212090"/>
              <a:gd name="connsiteX3" fmla="*/ 0 w 420370"/>
              <a:gd name="connsiteY3" fmla="*/ 0 h 212090"/>
              <a:gd name="connsiteX0" fmla="*/ 420370 w 420370"/>
              <a:gd name="connsiteY0" fmla="*/ 212090 h 212090"/>
              <a:gd name="connsiteX1" fmla="*/ 175260 w 420370"/>
              <a:gd name="connsiteY1" fmla="*/ 60960 h 212090"/>
              <a:gd name="connsiteX2" fmla="*/ 0 w 420370"/>
              <a:gd name="connsiteY2" fmla="*/ 0 h 212090"/>
              <a:gd name="connsiteX0" fmla="*/ 420370 w 420370"/>
              <a:gd name="connsiteY0" fmla="*/ 212090 h 212090"/>
              <a:gd name="connsiteX1" fmla="*/ 0 w 420370"/>
              <a:gd name="connsiteY1" fmla="*/ 0 h 212090"/>
              <a:gd name="connsiteX0" fmla="*/ 420370 w 420370"/>
              <a:gd name="connsiteY0" fmla="*/ 212090 h 212090"/>
              <a:gd name="connsiteX1" fmla="*/ 0 w 420370"/>
              <a:gd name="connsiteY1" fmla="*/ 0 h 212090"/>
              <a:gd name="connsiteX0" fmla="*/ 420370 w 420370"/>
              <a:gd name="connsiteY0" fmla="*/ 212090 h 212090"/>
              <a:gd name="connsiteX1" fmla="*/ 0 w 420370"/>
              <a:gd name="connsiteY1" fmla="*/ 0 h 212090"/>
              <a:gd name="connsiteX0" fmla="*/ 420370 w 420370"/>
              <a:gd name="connsiteY0" fmla="*/ 212090 h 212090"/>
              <a:gd name="connsiteX1" fmla="*/ 0 w 420370"/>
              <a:gd name="connsiteY1" fmla="*/ 0 h 212090"/>
              <a:gd name="connsiteX0" fmla="*/ 441802 w 441802"/>
              <a:gd name="connsiteY0" fmla="*/ 214471 h 214471"/>
              <a:gd name="connsiteX1" fmla="*/ 0 w 441802"/>
              <a:gd name="connsiteY1" fmla="*/ 0 h 214471"/>
              <a:gd name="connsiteX0" fmla="*/ 441802 w 441802"/>
              <a:gd name="connsiteY0" fmla="*/ 214471 h 214471"/>
              <a:gd name="connsiteX1" fmla="*/ 0 w 441802"/>
              <a:gd name="connsiteY1" fmla="*/ 0 h 214471"/>
              <a:gd name="connsiteX0" fmla="*/ 168752 w 168752"/>
              <a:gd name="connsiteY0" fmla="*/ 1078 h 212093"/>
              <a:gd name="connsiteX1" fmla="*/ 0 w 168752"/>
              <a:gd name="connsiteY1" fmla="*/ 208882 h 212093"/>
              <a:gd name="connsiteX0" fmla="*/ 168752 w 168752"/>
              <a:gd name="connsiteY0" fmla="*/ 8146 h 215950"/>
              <a:gd name="connsiteX1" fmla="*/ 0 w 168752"/>
              <a:gd name="connsiteY1" fmla="*/ 215950 h 215950"/>
              <a:gd name="connsiteX0" fmla="*/ 149702 w 149702"/>
              <a:gd name="connsiteY0" fmla="*/ 7734 h 218713"/>
              <a:gd name="connsiteX1" fmla="*/ 0 w 149702"/>
              <a:gd name="connsiteY1" fmla="*/ 218713 h 218713"/>
              <a:gd name="connsiteX0" fmla="*/ 149702 w 149702"/>
              <a:gd name="connsiteY0" fmla="*/ 2719 h 213698"/>
              <a:gd name="connsiteX1" fmla="*/ 0 w 149702"/>
              <a:gd name="connsiteY1" fmla="*/ 213698 h 213698"/>
              <a:gd name="connsiteX0" fmla="*/ 149702 w 149702"/>
              <a:gd name="connsiteY0" fmla="*/ 0 h 210979"/>
              <a:gd name="connsiteX1" fmla="*/ 0 w 149702"/>
              <a:gd name="connsiteY1" fmla="*/ 210979 h 210979"/>
              <a:gd name="connsiteX0" fmla="*/ 135415 w 135415"/>
              <a:gd name="connsiteY0" fmla="*/ 0 h 280035"/>
              <a:gd name="connsiteX1" fmla="*/ 0 w 135415"/>
              <a:gd name="connsiteY1" fmla="*/ 280035 h 2800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5415" h="280035">
                <a:moveTo>
                  <a:pt x="135415" y="0"/>
                </a:moveTo>
                <a:cubicBezTo>
                  <a:pt x="33392" y="5503"/>
                  <a:pt x="9948" y="140388"/>
                  <a:pt x="0" y="280035"/>
                </a:cubicBezTo>
              </a:path>
            </a:pathLst>
          </a:custGeom>
          <a:noFill/>
          <a:ln w="317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CD783C0-8D96-82AF-EEFA-D2896F90FD26}"/>
              </a:ext>
            </a:extLst>
          </p:cNvPr>
          <p:cNvSpPr/>
          <p:nvPr/>
        </p:nvSpPr>
        <p:spPr>
          <a:xfrm>
            <a:off x="7870081" y="4702968"/>
            <a:ext cx="855681" cy="339763"/>
          </a:xfrm>
          <a:custGeom>
            <a:avLst/>
            <a:gdLst>
              <a:gd name="connsiteX0" fmla="*/ 0 w 762000"/>
              <a:gd name="connsiteY0" fmla="*/ 0 h 273844"/>
              <a:gd name="connsiteX1" fmla="*/ 269082 w 762000"/>
              <a:gd name="connsiteY1" fmla="*/ 183356 h 273844"/>
              <a:gd name="connsiteX2" fmla="*/ 762000 w 762000"/>
              <a:gd name="connsiteY2" fmla="*/ 273844 h 273844"/>
              <a:gd name="connsiteX0" fmla="*/ 38546 w 800546"/>
              <a:gd name="connsiteY0" fmla="*/ 0 h 314945"/>
              <a:gd name="connsiteX1" fmla="*/ 44599 w 800546"/>
              <a:gd name="connsiteY1" fmla="*/ 302552 h 314945"/>
              <a:gd name="connsiteX2" fmla="*/ 800546 w 800546"/>
              <a:gd name="connsiteY2" fmla="*/ 273844 h 314945"/>
              <a:gd name="connsiteX0" fmla="*/ 74435 w 836435"/>
              <a:gd name="connsiteY0" fmla="*/ 0 h 314945"/>
              <a:gd name="connsiteX1" fmla="*/ 80488 w 836435"/>
              <a:gd name="connsiteY1" fmla="*/ 302552 h 314945"/>
              <a:gd name="connsiteX2" fmla="*/ 836435 w 836435"/>
              <a:gd name="connsiteY2" fmla="*/ 273844 h 314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36435" h="314945">
                <a:moveTo>
                  <a:pt x="74435" y="0"/>
                </a:moveTo>
                <a:cubicBezTo>
                  <a:pt x="-3496" y="86515"/>
                  <a:pt x="-46512" y="256911"/>
                  <a:pt x="80488" y="302552"/>
                </a:cubicBezTo>
                <a:cubicBezTo>
                  <a:pt x="207488" y="348193"/>
                  <a:pt x="653476" y="251420"/>
                  <a:pt x="836435" y="273844"/>
                </a:cubicBezTo>
              </a:path>
            </a:pathLst>
          </a:custGeom>
          <a:noFill/>
          <a:ln w="317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73646FFF-D9DF-8D1D-3398-0DC1E86F2CC8}"/>
              </a:ext>
            </a:extLst>
          </p:cNvPr>
          <p:cNvSpPr/>
          <p:nvPr/>
        </p:nvSpPr>
        <p:spPr>
          <a:xfrm>
            <a:off x="7384529" y="4674270"/>
            <a:ext cx="1520415" cy="670152"/>
          </a:xfrm>
          <a:custGeom>
            <a:avLst/>
            <a:gdLst>
              <a:gd name="connsiteX0" fmla="*/ 426720 w 426720"/>
              <a:gd name="connsiteY0" fmla="*/ 53340 h 64796"/>
              <a:gd name="connsiteX1" fmla="*/ 175260 w 426720"/>
              <a:gd name="connsiteY1" fmla="*/ 60960 h 64796"/>
              <a:gd name="connsiteX2" fmla="*/ 0 w 426720"/>
              <a:gd name="connsiteY2" fmla="*/ 0 h 64796"/>
              <a:gd name="connsiteX0" fmla="*/ 420370 w 420370"/>
              <a:gd name="connsiteY0" fmla="*/ 212090 h 212417"/>
              <a:gd name="connsiteX1" fmla="*/ 175260 w 420370"/>
              <a:gd name="connsiteY1" fmla="*/ 60960 h 212417"/>
              <a:gd name="connsiteX2" fmla="*/ 0 w 420370"/>
              <a:gd name="connsiteY2" fmla="*/ 0 h 212417"/>
              <a:gd name="connsiteX0" fmla="*/ 420370 w 420370"/>
              <a:gd name="connsiteY0" fmla="*/ 212090 h 212090"/>
              <a:gd name="connsiteX1" fmla="*/ 223243 w 420370"/>
              <a:gd name="connsiteY1" fmla="*/ 153446 h 212090"/>
              <a:gd name="connsiteX2" fmla="*/ 175260 w 420370"/>
              <a:gd name="connsiteY2" fmla="*/ 60960 h 212090"/>
              <a:gd name="connsiteX3" fmla="*/ 0 w 420370"/>
              <a:gd name="connsiteY3" fmla="*/ 0 h 212090"/>
              <a:gd name="connsiteX0" fmla="*/ 420370 w 420370"/>
              <a:gd name="connsiteY0" fmla="*/ 212090 h 212090"/>
              <a:gd name="connsiteX1" fmla="*/ 175260 w 420370"/>
              <a:gd name="connsiteY1" fmla="*/ 60960 h 212090"/>
              <a:gd name="connsiteX2" fmla="*/ 0 w 420370"/>
              <a:gd name="connsiteY2" fmla="*/ 0 h 212090"/>
              <a:gd name="connsiteX0" fmla="*/ 420370 w 420370"/>
              <a:gd name="connsiteY0" fmla="*/ 212090 h 212090"/>
              <a:gd name="connsiteX1" fmla="*/ 0 w 420370"/>
              <a:gd name="connsiteY1" fmla="*/ 0 h 212090"/>
              <a:gd name="connsiteX0" fmla="*/ 420370 w 420370"/>
              <a:gd name="connsiteY0" fmla="*/ 212090 h 212090"/>
              <a:gd name="connsiteX1" fmla="*/ 0 w 420370"/>
              <a:gd name="connsiteY1" fmla="*/ 0 h 212090"/>
              <a:gd name="connsiteX0" fmla="*/ 420370 w 420370"/>
              <a:gd name="connsiteY0" fmla="*/ 212090 h 212090"/>
              <a:gd name="connsiteX1" fmla="*/ 0 w 420370"/>
              <a:gd name="connsiteY1" fmla="*/ 0 h 212090"/>
              <a:gd name="connsiteX0" fmla="*/ 420370 w 420370"/>
              <a:gd name="connsiteY0" fmla="*/ 212090 h 212090"/>
              <a:gd name="connsiteX1" fmla="*/ 0 w 420370"/>
              <a:gd name="connsiteY1" fmla="*/ 0 h 212090"/>
              <a:gd name="connsiteX0" fmla="*/ 1480820 w 1480820"/>
              <a:gd name="connsiteY0" fmla="*/ 3435 h 32599"/>
              <a:gd name="connsiteX1" fmla="*/ 0 w 1480820"/>
              <a:gd name="connsiteY1" fmla="*/ 23120 h 32599"/>
              <a:gd name="connsiteX0" fmla="*/ 1480820 w 1480820"/>
              <a:gd name="connsiteY0" fmla="*/ 149188 h 170978"/>
              <a:gd name="connsiteX1" fmla="*/ 0 w 1480820"/>
              <a:gd name="connsiteY1" fmla="*/ 168873 h 170978"/>
              <a:gd name="connsiteX0" fmla="*/ 1273651 w 1273651"/>
              <a:gd name="connsiteY0" fmla="*/ 150811 h 165493"/>
              <a:gd name="connsiteX1" fmla="*/ 0 w 1273651"/>
              <a:gd name="connsiteY1" fmla="*/ 163352 h 165493"/>
              <a:gd name="connsiteX0" fmla="*/ 1273651 w 1273651"/>
              <a:gd name="connsiteY0" fmla="*/ 166634 h 181151"/>
              <a:gd name="connsiteX1" fmla="*/ 0 w 1273651"/>
              <a:gd name="connsiteY1" fmla="*/ 179175 h 181151"/>
              <a:gd name="connsiteX0" fmla="*/ 1273651 w 1273651"/>
              <a:gd name="connsiteY0" fmla="*/ 0 h 109092"/>
              <a:gd name="connsiteX1" fmla="*/ 0 w 1273651"/>
              <a:gd name="connsiteY1" fmla="*/ 12541 h 109092"/>
              <a:gd name="connsiteX0" fmla="*/ 1497488 w 1497488"/>
              <a:gd name="connsiteY0" fmla="*/ 363697 h 414961"/>
              <a:gd name="connsiteX1" fmla="*/ 0 w 1497488"/>
              <a:gd name="connsiteY1" fmla="*/ 0 h 414961"/>
              <a:gd name="connsiteX0" fmla="*/ 1497488 w 1497488"/>
              <a:gd name="connsiteY0" fmla="*/ 363697 h 619495"/>
              <a:gd name="connsiteX1" fmla="*/ 136345 w 1497488"/>
              <a:gd name="connsiteY1" fmla="*/ 502366 h 619495"/>
              <a:gd name="connsiteX2" fmla="*/ 0 w 1497488"/>
              <a:gd name="connsiteY2" fmla="*/ 0 h 619495"/>
              <a:gd name="connsiteX0" fmla="*/ 1497488 w 1497488"/>
              <a:gd name="connsiteY0" fmla="*/ 363697 h 676048"/>
              <a:gd name="connsiteX1" fmla="*/ 136345 w 1497488"/>
              <a:gd name="connsiteY1" fmla="*/ 502366 h 676048"/>
              <a:gd name="connsiteX2" fmla="*/ 0 w 1497488"/>
              <a:gd name="connsiteY2" fmla="*/ 0 h 676048"/>
              <a:gd name="connsiteX0" fmla="*/ 1497488 w 1497488"/>
              <a:gd name="connsiteY0" fmla="*/ 363697 h 676048"/>
              <a:gd name="connsiteX1" fmla="*/ 136345 w 1497488"/>
              <a:gd name="connsiteY1" fmla="*/ 502366 h 676048"/>
              <a:gd name="connsiteX2" fmla="*/ 0 w 1497488"/>
              <a:gd name="connsiteY2" fmla="*/ 0 h 676048"/>
              <a:gd name="connsiteX0" fmla="*/ 1497488 w 1497488"/>
              <a:gd name="connsiteY0" fmla="*/ 363697 h 600943"/>
              <a:gd name="connsiteX1" fmla="*/ 136345 w 1497488"/>
              <a:gd name="connsiteY1" fmla="*/ 502366 h 600943"/>
              <a:gd name="connsiteX2" fmla="*/ 0 w 1497488"/>
              <a:gd name="connsiteY2" fmla="*/ 0 h 600943"/>
              <a:gd name="connsiteX0" fmla="*/ 1656042 w 1656042"/>
              <a:gd name="connsiteY0" fmla="*/ 363697 h 600943"/>
              <a:gd name="connsiteX1" fmla="*/ 294899 w 1656042"/>
              <a:gd name="connsiteY1" fmla="*/ 502366 h 600943"/>
              <a:gd name="connsiteX2" fmla="*/ 158554 w 1656042"/>
              <a:gd name="connsiteY2" fmla="*/ 0 h 600943"/>
              <a:gd name="connsiteX0" fmla="*/ 1502754 w 1502754"/>
              <a:gd name="connsiteY0" fmla="*/ 463710 h 617214"/>
              <a:gd name="connsiteX1" fmla="*/ 141611 w 1502754"/>
              <a:gd name="connsiteY1" fmla="*/ 602379 h 617214"/>
              <a:gd name="connsiteX2" fmla="*/ 252916 w 1502754"/>
              <a:gd name="connsiteY2" fmla="*/ 0 h 617214"/>
              <a:gd name="connsiteX0" fmla="*/ 1432912 w 1432912"/>
              <a:gd name="connsiteY0" fmla="*/ 516098 h 672299"/>
              <a:gd name="connsiteX1" fmla="*/ 71769 w 1432912"/>
              <a:gd name="connsiteY1" fmla="*/ 654767 h 672299"/>
              <a:gd name="connsiteX2" fmla="*/ 373574 w 1432912"/>
              <a:gd name="connsiteY2" fmla="*/ 0 h 672299"/>
              <a:gd name="connsiteX0" fmla="*/ 1509020 w 1509020"/>
              <a:gd name="connsiteY0" fmla="*/ 516098 h 672299"/>
              <a:gd name="connsiteX1" fmla="*/ 147877 w 1509020"/>
              <a:gd name="connsiteY1" fmla="*/ 654767 h 672299"/>
              <a:gd name="connsiteX2" fmla="*/ 449682 w 1509020"/>
              <a:gd name="connsiteY2" fmla="*/ 0 h 672299"/>
              <a:gd name="connsiteX0" fmla="*/ 1524290 w 1524290"/>
              <a:gd name="connsiteY0" fmla="*/ 468473 h 667790"/>
              <a:gd name="connsiteX1" fmla="*/ 148859 w 1524290"/>
              <a:gd name="connsiteY1" fmla="*/ 654767 h 667790"/>
              <a:gd name="connsiteX2" fmla="*/ 450664 w 1524290"/>
              <a:gd name="connsiteY2" fmla="*/ 0 h 667790"/>
              <a:gd name="connsiteX0" fmla="*/ 1524290 w 1524290"/>
              <a:gd name="connsiteY0" fmla="*/ 468473 h 669951"/>
              <a:gd name="connsiteX1" fmla="*/ 148859 w 1524290"/>
              <a:gd name="connsiteY1" fmla="*/ 654767 h 669951"/>
              <a:gd name="connsiteX2" fmla="*/ 450664 w 1524290"/>
              <a:gd name="connsiteY2" fmla="*/ 0 h 669951"/>
              <a:gd name="connsiteX0" fmla="*/ 1524290 w 1524290"/>
              <a:gd name="connsiteY0" fmla="*/ 477014 h 678492"/>
              <a:gd name="connsiteX1" fmla="*/ 148859 w 1524290"/>
              <a:gd name="connsiteY1" fmla="*/ 663308 h 678492"/>
              <a:gd name="connsiteX2" fmla="*/ 450664 w 1524290"/>
              <a:gd name="connsiteY2" fmla="*/ 8541 h 678492"/>
              <a:gd name="connsiteX0" fmla="*/ 1520415 w 1520415"/>
              <a:gd name="connsiteY0" fmla="*/ 468674 h 670152"/>
              <a:gd name="connsiteX1" fmla="*/ 144984 w 1520415"/>
              <a:gd name="connsiteY1" fmla="*/ 654968 h 670152"/>
              <a:gd name="connsiteX2" fmla="*/ 446789 w 1520415"/>
              <a:gd name="connsiteY2" fmla="*/ 201 h 670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20415" h="670152">
                <a:moveTo>
                  <a:pt x="1520415" y="468674"/>
                </a:moveTo>
                <a:cubicBezTo>
                  <a:pt x="1368170" y="485436"/>
                  <a:pt x="323922" y="733047"/>
                  <a:pt x="144984" y="654968"/>
                </a:cubicBezTo>
                <a:cubicBezTo>
                  <a:pt x="-33954" y="576889"/>
                  <a:pt x="-152068" y="-12446"/>
                  <a:pt x="446789" y="201"/>
                </a:cubicBezTo>
              </a:path>
            </a:pathLst>
          </a:cu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14112FE-3BB6-ADD7-76A9-A3A59FA90C3F}"/>
              </a:ext>
            </a:extLst>
          </p:cNvPr>
          <p:cNvCxnSpPr>
            <a:cxnSpLocks/>
          </p:cNvCxnSpPr>
          <p:nvPr/>
        </p:nvCxnSpPr>
        <p:spPr>
          <a:xfrm flipV="1">
            <a:off x="7840868" y="4605128"/>
            <a:ext cx="0" cy="121731"/>
          </a:xfrm>
          <a:prstGeom prst="line">
            <a:avLst/>
          </a:prstGeom>
          <a:ln w="31750" cap="rnd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31349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8A9BF-8E1B-8177-9221-56969F17E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Corticostriato</a:t>
            </a:r>
            <a:r>
              <a:rPr lang="en-GB" dirty="0"/>
              <a:t>-</a:t>
            </a:r>
            <a:r>
              <a:rPr lang="en-GB" dirty="0" err="1"/>
              <a:t>pallido</a:t>
            </a:r>
            <a:r>
              <a:rPr lang="en-GB" dirty="0"/>
              <a:t>-thalamocortical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3BDF61-BFB6-D624-45D7-63123C731C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963" y="1459865"/>
            <a:ext cx="5257800" cy="4935036"/>
          </a:xfrm>
        </p:spPr>
        <p:txBody>
          <a:bodyPr>
            <a:normAutofit lnSpcReduction="10000"/>
          </a:bodyPr>
          <a:lstStyle/>
          <a:p>
            <a:r>
              <a:rPr lang="en-GB" b="1" dirty="0"/>
              <a:t>Direct pathway </a:t>
            </a:r>
            <a:r>
              <a:rPr lang="en-GB" b="1" dirty="0">
                <a:sym typeface="Wingdings" panose="05000000000000000000" pitchFamily="2" charset="2"/>
              </a:rPr>
              <a:t> Promotion of movement</a:t>
            </a:r>
            <a:endParaRPr lang="en-GB" b="1" dirty="0"/>
          </a:p>
          <a:p>
            <a:pPr lvl="1"/>
            <a:r>
              <a:rPr lang="en-GB" dirty="0"/>
              <a:t>Stimulation of </a:t>
            </a:r>
            <a:r>
              <a:rPr lang="en-GB" dirty="0">
                <a:sym typeface="Wingdings" panose="05000000000000000000" pitchFamily="2" charset="2"/>
              </a:rPr>
              <a:t>the striatum </a:t>
            </a:r>
            <a:r>
              <a:rPr lang="en-GB" dirty="0"/>
              <a:t>by the cortex leads to </a:t>
            </a:r>
            <a:r>
              <a:rPr lang="en-GB" b="1" dirty="0"/>
              <a:t>disinhibition</a:t>
            </a:r>
            <a:r>
              <a:rPr lang="en-GB" dirty="0"/>
              <a:t> of the thalamus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Striatum </a:t>
            </a:r>
            <a:r>
              <a:rPr lang="en-GB" dirty="0"/>
              <a:t>inhibits </a:t>
            </a:r>
            <a:r>
              <a:rPr lang="en-GB" dirty="0" err="1"/>
              <a:t>GPi</a:t>
            </a:r>
            <a:r>
              <a:rPr lang="en-GB" dirty="0"/>
              <a:t>/</a:t>
            </a:r>
            <a:r>
              <a:rPr lang="en-GB" dirty="0" err="1"/>
              <a:t>SNr</a:t>
            </a:r>
            <a:r>
              <a:rPr lang="en-GB" dirty="0"/>
              <a:t> </a:t>
            </a:r>
            <a:r>
              <a:rPr lang="en-GB" dirty="0">
                <a:sym typeface="Wingdings" panose="05000000000000000000" pitchFamily="2" charset="2"/>
              </a:rPr>
              <a:t> thalamic </a:t>
            </a:r>
            <a:r>
              <a:rPr lang="en-GB" dirty="0"/>
              <a:t>activation</a:t>
            </a:r>
          </a:p>
          <a:p>
            <a:pPr lvl="1"/>
            <a:endParaRPr lang="en-GB" dirty="0"/>
          </a:p>
          <a:p>
            <a:r>
              <a:rPr lang="en-GB" b="1" dirty="0"/>
              <a:t>Indirect pathway </a:t>
            </a:r>
            <a:r>
              <a:rPr lang="en-GB" b="1" dirty="0">
                <a:sym typeface="Wingdings" panose="05000000000000000000" pitchFamily="2" charset="2"/>
              </a:rPr>
              <a:t> suppression of movement</a:t>
            </a:r>
            <a:endParaRPr lang="en-GB" b="1" dirty="0"/>
          </a:p>
          <a:p>
            <a:pPr lvl="1"/>
            <a:r>
              <a:rPr lang="en-GB" dirty="0"/>
              <a:t>Stimulation of the </a:t>
            </a:r>
            <a:r>
              <a:rPr lang="en-GB" dirty="0">
                <a:sym typeface="Wingdings" panose="05000000000000000000" pitchFamily="2" charset="2"/>
              </a:rPr>
              <a:t>striatum </a:t>
            </a:r>
            <a:r>
              <a:rPr lang="en-GB" dirty="0"/>
              <a:t>by the cortex inhibits the </a:t>
            </a:r>
            <a:r>
              <a:rPr lang="en-GB" dirty="0" err="1"/>
              <a:t>GPe</a:t>
            </a:r>
            <a:endParaRPr lang="en-GB" dirty="0"/>
          </a:p>
          <a:p>
            <a:pPr lvl="1"/>
            <a:r>
              <a:rPr lang="en-GB" dirty="0" err="1"/>
              <a:t>GPe</a:t>
            </a:r>
            <a:r>
              <a:rPr lang="en-GB" dirty="0"/>
              <a:t> no longer inhibits the STN which can stimulate </a:t>
            </a:r>
            <a:r>
              <a:rPr lang="en-GB" dirty="0" err="1"/>
              <a:t>GPi</a:t>
            </a:r>
            <a:r>
              <a:rPr lang="en-GB" dirty="0"/>
              <a:t>/</a:t>
            </a:r>
            <a:r>
              <a:rPr lang="en-GB" dirty="0" err="1"/>
              <a:t>SNr</a:t>
            </a:r>
            <a:r>
              <a:rPr lang="en-GB" dirty="0"/>
              <a:t> </a:t>
            </a:r>
            <a:r>
              <a:rPr lang="en-GB" dirty="0">
                <a:sym typeface="Wingdings" panose="05000000000000000000" pitchFamily="2" charset="2"/>
              </a:rPr>
              <a:t> </a:t>
            </a:r>
            <a:r>
              <a:rPr lang="en-GB" b="1" dirty="0">
                <a:sym typeface="Wingdings" panose="05000000000000000000" pitchFamily="2" charset="2"/>
              </a:rPr>
              <a:t>thalamic </a:t>
            </a:r>
            <a:r>
              <a:rPr lang="en-GB" b="1" dirty="0"/>
              <a:t>inhibition</a:t>
            </a:r>
          </a:p>
          <a:p>
            <a:pPr lvl="1"/>
            <a:endParaRPr lang="en-GB" b="1" dirty="0"/>
          </a:p>
          <a:p>
            <a:r>
              <a:rPr lang="en-GB" dirty="0"/>
              <a:t>STN also receives direct projection from the cortex</a:t>
            </a:r>
          </a:p>
          <a:p>
            <a:pPr lvl="1"/>
            <a:r>
              <a:rPr lang="en-GB" b="1" dirty="0" err="1"/>
              <a:t>Hyperdirect</a:t>
            </a:r>
            <a:r>
              <a:rPr lang="en-GB" b="1" dirty="0"/>
              <a:t> pathway</a:t>
            </a:r>
          </a:p>
          <a:p>
            <a:pPr lvl="1"/>
            <a:endParaRPr lang="en-GB" dirty="0"/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175475A3-8693-E41F-86DE-F5ADB1E68940}"/>
              </a:ext>
            </a:extLst>
          </p:cNvPr>
          <p:cNvCxnSpPr>
            <a:cxnSpLocks/>
          </p:cNvCxnSpPr>
          <p:nvPr/>
        </p:nvCxnSpPr>
        <p:spPr>
          <a:xfrm rot="16200000" flipH="1">
            <a:off x="7177801" y="3503535"/>
            <a:ext cx="2463011" cy="351787"/>
          </a:xfrm>
          <a:prstGeom prst="bentConnector3">
            <a:avLst>
              <a:gd name="adj1" fmla="val 100274"/>
            </a:avLst>
          </a:prstGeom>
          <a:ln w="53975">
            <a:solidFill>
              <a:srgbClr val="25E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A04412B-39C0-003C-DD02-FA96DB51F01A}"/>
              </a:ext>
            </a:extLst>
          </p:cNvPr>
          <p:cNvGrpSpPr/>
          <p:nvPr/>
        </p:nvGrpSpPr>
        <p:grpSpPr>
          <a:xfrm>
            <a:off x="8585200" y="4845846"/>
            <a:ext cx="56356" cy="130968"/>
            <a:chOff x="8585200" y="4845846"/>
            <a:chExt cx="56356" cy="130968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41BAD94-FA4E-B04D-D92C-6962648C1A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85200" y="4845846"/>
              <a:ext cx="56356" cy="65087"/>
            </a:xfrm>
            <a:prstGeom prst="line">
              <a:avLst/>
            </a:prstGeom>
            <a:ln w="53975">
              <a:solidFill>
                <a:srgbClr val="25E9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FC8E3AA-8EE7-5784-E435-D659C948DF3C}"/>
                </a:ext>
              </a:extLst>
            </p:cNvPr>
            <p:cNvCxnSpPr>
              <a:cxnSpLocks/>
            </p:cNvCxnSpPr>
            <p:nvPr/>
          </p:nvCxnSpPr>
          <p:spPr>
            <a:xfrm>
              <a:off x="8585200" y="4910933"/>
              <a:ext cx="56356" cy="65881"/>
            </a:xfrm>
            <a:prstGeom prst="line">
              <a:avLst/>
            </a:prstGeom>
            <a:ln w="53975">
              <a:solidFill>
                <a:srgbClr val="25E9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ABD1FBB-F8F7-B05C-C0B8-186DCE67B8C9}"/>
              </a:ext>
            </a:extLst>
          </p:cNvPr>
          <p:cNvSpPr/>
          <p:nvPr/>
        </p:nvSpPr>
        <p:spPr>
          <a:xfrm>
            <a:off x="9205758" y="3009900"/>
            <a:ext cx="1525269" cy="501650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AFF9E86-970F-9F38-8A18-5ABB122ADA3C}"/>
              </a:ext>
            </a:extLst>
          </p:cNvPr>
          <p:cNvSpPr/>
          <p:nvPr/>
        </p:nvSpPr>
        <p:spPr>
          <a:xfrm>
            <a:off x="9879179" y="5400678"/>
            <a:ext cx="922172" cy="419546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>
                <a:solidFill>
                  <a:schemeClr val="tx1"/>
                </a:solidFill>
              </a:rPr>
              <a:t>GPi</a:t>
            </a:r>
            <a:r>
              <a:rPr lang="en-GB" sz="1400" dirty="0">
                <a:solidFill>
                  <a:schemeClr val="tx1"/>
                </a:solidFill>
              </a:rPr>
              <a:t>/</a:t>
            </a:r>
            <a:r>
              <a:rPr lang="en-GB" sz="1400" dirty="0" err="1">
                <a:solidFill>
                  <a:schemeClr val="tx1"/>
                </a:solidFill>
              </a:rPr>
              <a:t>SNr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4B7EE40-1DA6-45A8-3E50-BA645CF0DE7A}"/>
              </a:ext>
            </a:extLst>
          </p:cNvPr>
          <p:cNvSpPr/>
          <p:nvPr/>
        </p:nvSpPr>
        <p:spPr>
          <a:xfrm>
            <a:off x="7077227" y="1642714"/>
            <a:ext cx="3653800" cy="728662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Cortex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EC25F4F-609A-5C60-E335-0C3C65CF40D5}"/>
              </a:ext>
            </a:extLst>
          </p:cNvPr>
          <p:cNvSpPr txBox="1"/>
          <p:nvPr/>
        </p:nvSpPr>
        <p:spPr>
          <a:xfrm>
            <a:off x="10731027" y="3106103"/>
            <a:ext cx="10750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Striatum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CD5AC32C-F9CD-FCAB-48EF-7DCF7443DDF3}"/>
              </a:ext>
            </a:extLst>
          </p:cNvPr>
          <p:cNvGrpSpPr/>
          <p:nvPr/>
        </p:nvGrpSpPr>
        <p:grpSpPr>
          <a:xfrm>
            <a:off x="9540000" y="2393950"/>
            <a:ext cx="130968" cy="576993"/>
            <a:chOff x="9540000" y="2393950"/>
            <a:chExt cx="130968" cy="576993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6DB52F0-53A0-6354-B1E6-03CFB3F242BA}"/>
                </a:ext>
              </a:extLst>
            </p:cNvPr>
            <p:cNvCxnSpPr>
              <a:cxnSpLocks/>
            </p:cNvCxnSpPr>
            <p:nvPr/>
          </p:nvCxnSpPr>
          <p:spPr>
            <a:xfrm>
              <a:off x="9605484" y="2393950"/>
              <a:ext cx="0" cy="523875"/>
            </a:xfrm>
            <a:prstGeom prst="line">
              <a:avLst/>
            </a:prstGeom>
            <a:ln w="57150">
              <a:solidFill>
                <a:srgbClr val="25E9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4300A06F-845F-1024-A4A7-E830429E0387}"/>
                </a:ext>
              </a:extLst>
            </p:cNvPr>
            <p:cNvGrpSpPr/>
            <p:nvPr/>
          </p:nvGrpSpPr>
          <p:grpSpPr>
            <a:xfrm rot="5400000">
              <a:off x="9577306" y="2877281"/>
              <a:ext cx="56356" cy="130968"/>
              <a:chOff x="8585200" y="4845846"/>
              <a:chExt cx="56356" cy="130968"/>
            </a:xfrm>
          </p:grpSpPr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9763700D-A607-E18F-A342-F161BE80E0F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585200" y="4845846"/>
                <a:ext cx="56356" cy="65087"/>
              </a:xfrm>
              <a:prstGeom prst="line">
                <a:avLst/>
              </a:prstGeom>
              <a:ln w="53975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D5A4CA76-691A-0B57-E0C8-B9E6F0923E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85200" y="4910933"/>
                <a:ext cx="56356" cy="65881"/>
              </a:xfrm>
              <a:prstGeom prst="line">
                <a:avLst/>
              </a:prstGeom>
              <a:ln w="53975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E06A211-FDEF-4418-563F-206E5C6D175E}"/>
              </a:ext>
            </a:extLst>
          </p:cNvPr>
          <p:cNvGrpSpPr/>
          <p:nvPr/>
        </p:nvGrpSpPr>
        <p:grpSpPr>
          <a:xfrm>
            <a:off x="9932906" y="2393950"/>
            <a:ext cx="130968" cy="576993"/>
            <a:chOff x="9540000" y="2393950"/>
            <a:chExt cx="130968" cy="576993"/>
          </a:xfrm>
        </p:grpSpPr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498764BD-04C0-1401-AD34-0A416418EEEF}"/>
                </a:ext>
              </a:extLst>
            </p:cNvPr>
            <p:cNvCxnSpPr>
              <a:cxnSpLocks/>
            </p:cNvCxnSpPr>
            <p:nvPr/>
          </p:nvCxnSpPr>
          <p:spPr>
            <a:xfrm>
              <a:off x="9605484" y="2393950"/>
              <a:ext cx="0" cy="523875"/>
            </a:xfrm>
            <a:prstGeom prst="line">
              <a:avLst/>
            </a:prstGeom>
            <a:ln w="57150">
              <a:solidFill>
                <a:srgbClr val="25E9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2710DF0F-533A-E0F9-C1DC-5CB38976416A}"/>
                </a:ext>
              </a:extLst>
            </p:cNvPr>
            <p:cNvGrpSpPr/>
            <p:nvPr/>
          </p:nvGrpSpPr>
          <p:grpSpPr>
            <a:xfrm rot="5400000">
              <a:off x="9577306" y="2877281"/>
              <a:ext cx="56356" cy="130968"/>
              <a:chOff x="8585200" y="4845846"/>
              <a:chExt cx="56356" cy="130968"/>
            </a:xfrm>
          </p:grpSpPr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4BFE0784-E0CF-209F-5C71-1D1B1B2D087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585200" y="4845846"/>
                <a:ext cx="56356" cy="65087"/>
              </a:xfrm>
              <a:prstGeom prst="line">
                <a:avLst/>
              </a:prstGeom>
              <a:ln w="53975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1C676603-AB23-4278-44F3-B101178BA6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85200" y="4910933"/>
                <a:ext cx="56356" cy="65881"/>
              </a:xfrm>
              <a:prstGeom prst="line">
                <a:avLst/>
              </a:prstGeom>
              <a:ln w="53975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CF59C4B-C827-189C-00F6-376D84B033C5}"/>
              </a:ext>
            </a:extLst>
          </p:cNvPr>
          <p:cNvGrpSpPr/>
          <p:nvPr/>
        </p:nvGrpSpPr>
        <p:grpSpPr>
          <a:xfrm>
            <a:off x="10325812" y="2393950"/>
            <a:ext cx="130968" cy="576993"/>
            <a:chOff x="9540000" y="2393950"/>
            <a:chExt cx="130968" cy="576993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B3ABB9BD-C9AB-F52F-6D8A-F66CFF66D4F5}"/>
                </a:ext>
              </a:extLst>
            </p:cNvPr>
            <p:cNvCxnSpPr>
              <a:cxnSpLocks/>
            </p:cNvCxnSpPr>
            <p:nvPr/>
          </p:nvCxnSpPr>
          <p:spPr>
            <a:xfrm>
              <a:off x="9605484" y="2393950"/>
              <a:ext cx="0" cy="523875"/>
            </a:xfrm>
            <a:prstGeom prst="line">
              <a:avLst/>
            </a:prstGeom>
            <a:ln w="57150">
              <a:solidFill>
                <a:srgbClr val="25E9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1B5A2406-6848-15C9-F406-785DEF99022F}"/>
                </a:ext>
              </a:extLst>
            </p:cNvPr>
            <p:cNvGrpSpPr/>
            <p:nvPr/>
          </p:nvGrpSpPr>
          <p:grpSpPr>
            <a:xfrm rot="5400000">
              <a:off x="9577306" y="2877281"/>
              <a:ext cx="56356" cy="130968"/>
              <a:chOff x="8585200" y="4845846"/>
              <a:chExt cx="56356" cy="130968"/>
            </a:xfrm>
          </p:grpSpPr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4A04B1DB-B044-883A-8910-89AB0A7912A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585200" y="4845846"/>
                <a:ext cx="56356" cy="65087"/>
              </a:xfrm>
              <a:prstGeom prst="line">
                <a:avLst/>
              </a:prstGeom>
              <a:ln w="53975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F7DD88A5-A4C5-77FB-98DA-3E4C84869E7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85200" y="4910933"/>
                <a:ext cx="56356" cy="65881"/>
              </a:xfrm>
              <a:prstGeom prst="line">
                <a:avLst/>
              </a:prstGeom>
              <a:ln w="53975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73896DA3-7601-A831-DF4B-DD3AAC499C9A}"/>
              </a:ext>
            </a:extLst>
          </p:cNvPr>
          <p:cNvGrpSpPr/>
          <p:nvPr/>
        </p:nvGrpSpPr>
        <p:grpSpPr>
          <a:xfrm flipV="1">
            <a:off x="7355450" y="2453221"/>
            <a:ext cx="130968" cy="1428444"/>
            <a:chOff x="9540000" y="1542499"/>
            <a:chExt cx="130968" cy="1428444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4019C970-435F-9046-CED5-4AFF98E80172}"/>
                </a:ext>
              </a:extLst>
            </p:cNvPr>
            <p:cNvCxnSpPr>
              <a:cxnSpLocks/>
            </p:cNvCxnSpPr>
            <p:nvPr/>
          </p:nvCxnSpPr>
          <p:spPr>
            <a:xfrm>
              <a:off x="9605484" y="1542499"/>
              <a:ext cx="0" cy="1375326"/>
            </a:xfrm>
            <a:prstGeom prst="line">
              <a:avLst/>
            </a:prstGeom>
            <a:ln w="57150">
              <a:solidFill>
                <a:srgbClr val="25E9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410D8C99-989D-5B19-41EA-F57CF87F57D4}"/>
                </a:ext>
              </a:extLst>
            </p:cNvPr>
            <p:cNvGrpSpPr/>
            <p:nvPr/>
          </p:nvGrpSpPr>
          <p:grpSpPr>
            <a:xfrm rot="5400000">
              <a:off x="9577306" y="2877281"/>
              <a:ext cx="56356" cy="130968"/>
              <a:chOff x="8585200" y="4845846"/>
              <a:chExt cx="56356" cy="130968"/>
            </a:xfrm>
          </p:grpSpPr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573BAECE-7336-F9EE-3A68-07177CE76CA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585200" y="4845846"/>
                <a:ext cx="56356" cy="65087"/>
              </a:xfrm>
              <a:prstGeom prst="line">
                <a:avLst/>
              </a:prstGeom>
              <a:ln w="53975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D740B94D-63F6-B3C6-6D9B-5203C71F60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85200" y="4910933"/>
                <a:ext cx="56356" cy="65881"/>
              </a:xfrm>
              <a:prstGeom prst="line">
                <a:avLst/>
              </a:prstGeom>
              <a:ln w="53975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9E48F377-9072-BBE0-05D8-82F514856024}"/>
              </a:ext>
            </a:extLst>
          </p:cNvPr>
          <p:cNvCxnSpPr>
            <a:cxnSpLocks/>
            <a:stCxn id="24" idx="2"/>
          </p:cNvCxnSpPr>
          <p:nvPr/>
        </p:nvCxnSpPr>
        <p:spPr>
          <a:xfrm rot="16200000" flipH="1">
            <a:off x="9271877" y="5059108"/>
            <a:ext cx="423466" cy="678424"/>
          </a:xfrm>
          <a:prstGeom prst="bentConnector2">
            <a:avLst/>
          </a:prstGeom>
          <a:ln w="53975">
            <a:solidFill>
              <a:srgbClr val="25E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7" name="Group 56">
            <a:extLst>
              <a:ext uri="{FF2B5EF4-FFF2-40B4-BE49-F238E27FC236}">
                <a16:creationId xmlns:a16="http://schemas.microsoft.com/office/drawing/2014/main" id="{7ED0DFEA-518E-4ECC-2206-785ABE9F2679}"/>
              </a:ext>
            </a:extLst>
          </p:cNvPr>
          <p:cNvGrpSpPr/>
          <p:nvPr/>
        </p:nvGrpSpPr>
        <p:grpSpPr>
          <a:xfrm>
            <a:off x="9780556" y="5544967"/>
            <a:ext cx="56356" cy="130968"/>
            <a:chOff x="8585200" y="4845846"/>
            <a:chExt cx="56356" cy="130968"/>
          </a:xfrm>
        </p:grpSpPr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3F944AB9-6162-C5FE-B561-8EB0BBA808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85200" y="4845846"/>
              <a:ext cx="56356" cy="65087"/>
            </a:xfrm>
            <a:prstGeom prst="line">
              <a:avLst/>
            </a:prstGeom>
            <a:ln w="53975">
              <a:solidFill>
                <a:srgbClr val="25E9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DC3FB128-B3BD-136A-DF0C-3758E411B55B}"/>
                </a:ext>
              </a:extLst>
            </p:cNvPr>
            <p:cNvCxnSpPr>
              <a:cxnSpLocks/>
            </p:cNvCxnSpPr>
            <p:nvPr/>
          </p:nvCxnSpPr>
          <p:spPr>
            <a:xfrm>
              <a:off x="8585200" y="4910933"/>
              <a:ext cx="56356" cy="65881"/>
            </a:xfrm>
            <a:prstGeom prst="line">
              <a:avLst/>
            </a:prstGeom>
            <a:ln w="53975">
              <a:solidFill>
                <a:srgbClr val="25E9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37BE9DEE-B640-A2B0-2791-ED8CCBB7587B}"/>
              </a:ext>
            </a:extLst>
          </p:cNvPr>
          <p:cNvCxnSpPr>
            <a:cxnSpLocks/>
          </p:cNvCxnSpPr>
          <p:nvPr/>
        </p:nvCxnSpPr>
        <p:spPr>
          <a:xfrm>
            <a:off x="7412439" y="4390975"/>
            <a:ext cx="2438562" cy="1362125"/>
          </a:xfrm>
          <a:prstGeom prst="bentConnector3">
            <a:avLst>
              <a:gd name="adj1" fmla="val 628"/>
            </a:avLst>
          </a:prstGeom>
          <a:ln w="539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B98B9D8E-E7C0-91B8-AC6D-E887905282A7}"/>
              </a:ext>
            </a:extLst>
          </p:cNvPr>
          <p:cNvCxnSpPr>
            <a:cxnSpLocks/>
          </p:cNvCxnSpPr>
          <p:nvPr/>
        </p:nvCxnSpPr>
        <p:spPr>
          <a:xfrm>
            <a:off x="7343313" y="4390975"/>
            <a:ext cx="176444" cy="0"/>
          </a:xfrm>
          <a:prstGeom prst="line">
            <a:avLst/>
          </a:prstGeom>
          <a:ln w="539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2DC588C7-D35C-305E-7DA4-CDF0963C6225}"/>
              </a:ext>
            </a:extLst>
          </p:cNvPr>
          <p:cNvCxnSpPr>
            <a:cxnSpLocks/>
          </p:cNvCxnSpPr>
          <p:nvPr/>
        </p:nvCxnSpPr>
        <p:spPr>
          <a:xfrm>
            <a:off x="9050197" y="3881665"/>
            <a:ext cx="176444" cy="0"/>
          </a:xfrm>
          <a:prstGeom prst="line">
            <a:avLst/>
          </a:prstGeom>
          <a:ln w="539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Oval 74">
            <a:extLst>
              <a:ext uri="{FF2B5EF4-FFF2-40B4-BE49-F238E27FC236}">
                <a16:creationId xmlns:a16="http://schemas.microsoft.com/office/drawing/2014/main" id="{965D364B-83B6-3237-AEA4-D872C6D10133}"/>
              </a:ext>
            </a:extLst>
          </p:cNvPr>
          <p:cNvSpPr>
            <a:spLocks noChangeAspect="1"/>
          </p:cNvSpPr>
          <p:nvPr/>
        </p:nvSpPr>
        <p:spPr>
          <a:xfrm>
            <a:off x="9484600" y="3148634"/>
            <a:ext cx="237600" cy="237282"/>
          </a:xfrm>
          <a:prstGeom prst="ellipse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D5689456-371D-B536-9A80-FAEA705964E3}"/>
              </a:ext>
            </a:extLst>
          </p:cNvPr>
          <p:cNvSpPr>
            <a:spLocks noChangeAspect="1"/>
          </p:cNvSpPr>
          <p:nvPr/>
        </p:nvSpPr>
        <p:spPr>
          <a:xfrm>
            <a:off x="10221465" y="3148634"/>
            <a:ext cx="237600" cy="237282"/>
          </a:xfrm>
          <a:prstGeom prst="ellipse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7" name="Connector: Elbow 76">
            <a:extLst>
              <a:ext uri="{FF2B5EF4-FFF2-40B4-BE49-F238E27FC236}">
                <a16:creationId xmlns:a16="http://schemas.microsoft.com/office/drawing/2014/main" id="{0926DE8E-A1F0-2A5D-D851-E244ECF7007B}"/>
              </a:ext>
            </a:extLst>
          </p:cNvPr>
          <p:cNvCxnSpPr>
            <a:cxnSpLocks/>
            <a:endCxn id="75" idx="2"/>
          </p:cNvCxnSpPr>
          <p:nvPr/>
        </p:nvCxnSpPr>
        <p:spPr>
          <a:xfrm rot="5400000" flipH="1" flipV="1">
            <a:off x="9016803" y="3394870"/>
            <a:ext cx="595392" cy="340202"/>
          </a:xfrm>
          <a:prstGeom prst="bentConnector2">
            <a:avLst/>
          </a:prstGeom>
          <a:ln w="539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9" name="Group 88">
            <a:extLst>
              <a:ext uri="{FF2B5EF4-FFF2-40B4-BE49-F238E27FC236}">
                <a16:creationId xmlns:a16="http://schemas.microsoft.com/office/drawing/2014/main" id="{3FC4B330-C51A-9783-4086-7CC16C3FCE08}"/>
              </a:ext>
            </a:extLst>
          </p:cNvPr>
          <p:cNvGrpSpPr/>
          <p:nvPr/>
        </p:nvGrpSpPr>
        <p:grpSpPr>
          <a:xfrm>
            <a:off x="10252043" y="3385916"/>
            <a:ext cx="176444" cy="1909984"/>
            <a:chOff x="10252043" y="3385916"/>
            <a:chExt cx="176444" cy="1909984"/>
          </a:xfrm>
        </p:grpSpPr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955686A3-A104-C6FA-A773-643892557B3C}"/>
                </a:ext>
              </a:extLst>
            </p:cNvPr>
            <p:cNvCxnSpPr>
              <a:cxnSpLocks/>
            </p:cNvCxnSpPr>
            <p:nvPr/>
          </p:nvCxnSpPr>
          <p:spPr>
            <a:xfrm>
              <a:off x="10252043" y="5295900"/>
              <a:ext cx="176444" cy="0"/>
            </a:xfrm>
            <a:prstGeom prst="line">
              <a:avLst/>
            </a:prstGeom>
            <a:ln w="539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ECE72911-A409-29DA-6308-81AB4A9F4789}"/>
                </a:ext>
              </a:extLst>
            </p:cNvPr>
            <p:cNvCxnSpPr>
              <a:cxnSpLocks/>
            </p:cNvCxnSpPr>
            <p:nvPr/>
          </p:nvCxnSpPr>
          <p:spPr>
            <a:xfrm>
              <a:off x="10344614" y="3385916"/>
              <a:ext cx="0" cy="1909984"/>
            </a:xfrm>
            <a:prstGeom prst="line">
              <a:avLst/>
            </a:prstGeom>
            <a:ln w="476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40CB119A-7492-D7A2-530C-1859A99B489C}"/>
              </a:ext>
            </a:extLst>
          </p:cNvPr>
          <p:cNvGrpSpPr/>
          <p:nvPr/>
        </p:nvGrpSpPr>
        <p:grpSpPr>
          <a:xfrm>
            <a:off x="9052578" y="4371975"/>
            <a:ext cx="176444" cy="329185"/>
            <a:chOff x="10267298" y="4979872"/>
            <a:chExt cx="176444" cy="329185"/>
          </a:xfrm>
        </p:grpSpPr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30E8A635-2F92-B543-E747-15C500EF5EED}"/>
                </a:ext>
              </a:extLst>
            </p:cNvPr>
            <p:cNvCxnSpPr>
              <a:cxnSpLocks/>
            </p:cNvCxnSpPr>
            <p:nvPr/>
          </p:nvCxnSpPr>
          <p:spPr>
            <a:xfrm>
              <a:off x="10267298" y="5309057"/>
              <a:ext cx="176444" cy="0"/>
            </a:xfrm>
            <a:prstGeom prst="line">
              <a:avLst/>
            </a:prstGeom>
            <a:ln w="539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9051BEFE-B459-EC83-534A-24BC1D42047B}"/>
                </a:ext>
              </a:extLst>
            </p:cNvPr>
            <p:cNvCxnSpPr>
              <a:cxnSpLocks/>
              <a:stCxn id="23" idx="2"/>
            </p:cNvCxnSpPr>
            <p:nvPr/>
          </p:nvCxnSpPr>
          <p:spPr>
            <a:xfrm>
              <a:off x="10359118" y="4979872"/>
              <a:ext cx="0" cy="329185"/>
            </a:xfrm>
            <a:prstGeom prst="line">
              <a:avLst/>
            </a:prstGeom>
            <a:ln w="476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1E140FF-50B1-0652-F074-C3958C501B7F}"/>
              </a:ext>
            </a:extLst>
          </p:cNvPr>
          <p:cNvSpPr/>
          <p:nvPr/>
        </p:nvSpPr>
        <p:spPr>
          <a:xfrm>
            <a:off x="8683312" y="3952429"/>
            <a:ext cx="922172" cy="419546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>
                <a:solidFill>
                  <a:schemeClr val="tx1"/>
                </a:solidFill>
              </a:rPr>
              <a:t>GPe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A04097B-1A95-5684-6D27-4EE6B616E25F}"/>
              </a:ext>
            </a:extLst>
          </p:cNvPr>
          <p:cNvSpPr/>
          <p:nvPr/>
        </p:nvSpPr>
        <p:spPr>
          <a:xfrm>
            <a:off x="8683312" y="4767041"/>
            <a:ext cx="922172" cy="419546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STN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30C5D81-EA4F-E0E2-0297-065A8B4B2DDA}"/>
              </a:ext>
            </a:extLst>
          </p:cNvPr>
          <p:cNvSpPr/>
          <p:nvPr/>
        </p:nvSpPr>
        <p:spPr>
          <a:xfrm>
            <a:off x="6903881" y="3881665"/>
            <a:ext cx="1034106" cy="419546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Thalamus</a:t>
            </a:r>
          </a:p>
        </p:txBody>
      </p:sp>
    </p:spTree>
    <p:extLst>
      <p:ext uri="{BB962C8B-B14F-4D97-AF65-F5344CB8AC3E}">
        <p14:creationId xmlns:p14="http://schemas.microsoft.com/office/powerpoint/2010/main" val="32340496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8A9BF-8E1B-8177-9221-56969F17E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Corticostriato</a:t>
            </a:r>
            <a:r>
              <a:rPr lang="en-GB" dirty="0"/>
              <a:t>-</a:t>
            </a:r>
            <a:r>
              <a:rPr lang="en-GB" dirty="0" err="1"/>
              <a:t>pallido</a:t>
            </a:r>
            <a:r>
              <a:rPr lang="en-GB" dirty="0"/>
              <a:t>-thalamocortical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3BDF61-BFB6-D624-45D7-63123C731C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963" y="1459864"/>
            <a:ext cx="5257800" cy="4887841"/>
          </a:xfrm>
        </p:spPr>
        <p:txBody>
          <a:bodyPr>
            <a:normAutofit fontScale="92500" lnSpcReduction="20000"/>
          </a:bodyPr>
          <a:lstStyle/>
          <a:p>
            <a:r>
              <a:rPr lang="en-GB" b="1" dirty="0"/>
              <a:t>Direct pathway </a:t>
            </a:r>
            <a:r>
              <a:rPr lang="en-GB" b="1" dirty="0">
                <a:sym typeface="Wingdings" panose="05000000000000000000" pitchFamily="2" charset="2"/>
              </a:rPr>
              <a:t> Promotion of movement</a:t>
            </a:r>
            <a:endParaRPr lang="en-GB" b="1" dirty="0"/>
          </a:p>
          <a:p>
            <a:pPr lvl="1"/>
            <a:r>
              <a:rPr lang="en-GB" dirty="0"/>
              <a:t>Stimulation of </a:t>
            </a:r>
            <a:r>
              <a:rPr lang="en-GB" dirty="0">
                <a:sym typeface="Wingdings" panose="05000000000000000000" pitchFamily="2" charset="2"/>
              </a:rPr>
              <a:t>the striatum </a:t>
            </a:r>
            <a:r>
              <a:rPr lang="en-GB" dirty="0"/>
              <a:t>by the cortex leads to </a:t>
            </a:r>
            <a:r>
              <a:rPr lang="en-GB" b="1" dirty="0"/>
              <a:t>disinhibition</a:t>
            </a:r>
            <a:r>
              <a:rPr lang="en-GB" dirty="0"/>
              <a:t> of the thalamus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Striatum </a:t>
            </a:r>
            <a:r>
              <a:rPr lang="en-GB" dirty="0"/>
              <a:t>inhibits </a:t>
            </a:r>
            <a:r>
              <a:rPr lang="en-GB" dirty="0" err="1"/>
              <a:t>GPi</a:t>
            </a:r>
            <a:r>
              <a:rPr lang="en-GB" dirty="0"/>
              <a:t>/</a:t>
            </a:r>
            <a:r>
              <a:rPr lang="en-GB" dirty="0" err="1"/>
              <a:t>SNr</a:t>
            </a:r>
            <a:r>
              <a:rPr lang="en-GB" dirty="0"/>
              <a:t> </a:t>
            </a:r>
            <a:r>
              <a:rPr lang="en-GB" dirty="0">
                <a:sym typeface="Wingdings" panose="05000000000000000000" pitchFamily="2" charset="2"/>
              </a:rPr>
              <a:t> thalamic </a:t>
            </a:r>
            <a:r>
              <a:rPr lang="en-GB" dirty="0"/>
              <a:t>activation</a:t>
            </a:r>
          </a:p>
          <a:p>
            <a:pPr lvl="1"/>
            <a:endParaRPr lang="en-GB" dirty="0"/>
          </a:p>
          <a:p>
            <a:r>
              <a:rPr lang="en-GB" b="1" dirty="0"/>
              <a:t>Indirect pathway </a:t>
            </a:r>
            <a:r>
              <a:rPr lang="en-GB" b="1" dirty="0">
                <a:sym typeface="Wingdings" panose="05000000000000000000" pitchFamily="2" charset="2"/>
              </a:rPr>
              <a:t> suppression of movement</a:t>
            </a:r>
            <a:endParaRPr lang="en-GB" b="1" dirty="0"/>
          </a:p>
          <a:p>
            <a:pPr lvl="1"/>
            <a:r>
              <a:rPr lang="en-GB" dirty="0"/>
              <a:t>Stimulation of the </a:t>
            </a:r>
            <a:r>
              <a:rPr lang="en-GB" dirty="0">
                <a:sym typeface="Wingdings" panose="05000000000000000000" pitchFamily="2" charset="2"/>
              </a:rPr>
              <a:t>striatum </a:t>
            </a:r>
            <a:r>
              <a:rPr lang="en-GB" dirty="0"/>
              <a:t>by the cortex inhibits the </a:t>
            </a:r>
            <a:r>
              <a:rPr lang="en-GB" dirty="0" err="1"/>
              <a:t>GPe</a:t>
            </a:r>
            <a:endParaRPr lang="en-GB" dirty="0"/>
          </a:p>
          <a:p>
            <a:pPr lvl="1"/>
            <a:r>
              <a:rPr lang="en-GB" dirty="0" err="1"/>
              <a:t>GPe</a:t>
            </a:r>
            <a:r>
              <a:rPr lang="en-GB" dirty="0"/>
              <a:t> no longer inhibits the STN which can stimulate </a:t>
            </a:r>
            <a:r>
              <a:rPr lang="en-GB" dirty="0" err="1"/>
              <a:t>GPi</a:t>
            </a:r>
            <a:r>
              <a:rPr lang="en-GB" dirty="0"/>
              <a:t>/</a:t>
            </a:r>
            <a:r>
              <a:rPr lang="en-GB" dirty="0" err="1"/>
              <a:t>SNr</a:t>
            </a:r>
            <a:r>
              <a:rPr lang="en-GB" dirty="0"/>
              <a:t> </a:t>
            </a:r>
            <a:r>
              <a:rPr lang="en-GB" dirty="0">
                <a:sym typeface="Wingdings" panose="05000000000000000000" pitchFamily="2" charset="2"/>
              </a:rPr>
              <a:t> </a:t>
            </a:r>
            <a:r>
              <a:rPr lang="en-GB" b="1" dirty="0">
                <a:sym typeface="Wingdings" panose="05000000000000000000" pitchFamily="2" charset="2"/>
              </a:rPr>
              <a:t>thalamic </a:t>
            </a:r>
            <a:r>
              <a:rPr lang="en-GB" b="1" dirty="0"/>
              <a:t>inhibition</a:t>
            </a:r>
          </a:p>
          <a:p>
            <a:pPr lvl="1"/>
            <a:endParaRPr lang="en-GB" b="1" dirty="0"/>
          </a:p>
          <a:p>
            <a:r>
              <a:rPr lang="en-GB" dirty="0"/>
              <a:t>STN also receives direct projection from the cortex</a:t>
            </a:r>
          </a:p>
          <a:p>
            <a:pPr lvl="1"/>
            <a:r>
              <a:rPr lang="en-GB" b="1" dirty="0" err="1"/>
              <a:t>Hyperdirect</a:t>
            </a:r>
            <a:r>
              <a:rPr lang="en-GB" b="1" dirty="0"/>
              <a:t> pathway</a:t>
            </a:r>
          </a:p>
          <a:p>
            <a:pPr lvl="1"/>
            <a:endParaRPr lang="en-GB" b="1" dirty="0"/>
          </a:p>
          <a:p>
            <a:r>
              <a:rPr lang="en-GB" dirty="0"/>
              <a:t>Many nuclei have </a:t>
            </a:r>
            <a:r>
              <a:rPr lang="en-GB" b="1" dirty="0"/>
              <a:t>tonic firing </a:t>
            </a:r>
            <a:r>
              <a:rPr lang="en-GB" dirty="0"/>
              <a:t>that get </a:t>
            </a:r>
            <a:r>
              <a:rPr lang="en-GB" b="1" dirty="0"/>
              <a:t>inhibited/modulated</a:t>
            </a:r>
          </a:p>
          <a:p>
            <a:pPr lvl="1"/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FCC3127-7C77-B9D3-9C00-66A72E27BF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1985" y="1366332"/>
            <a:ext cx="5274067" cy="5114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7395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7C7A4-F3F2-1D20-CC7C-432565621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Neuromodulation within the basal ganglia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29F4CC-C9D3-F38B-96F1-83AF4A63C1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Dopamine</a:t>
            </a:r>
            <a:r>
              <a:rPr lang="en-GB" dirty="0"/>
              <a:t> projections from the </a:t>
            </a:r>
            <a:r>
              <a:rPr lang="en-GB" dirty="0" err="1"/>
              <a:t>SNc</a:t>
            </a:r>
            <a:r>
              <a:rPr lang="en-GB" dirty="0"/>
              <a:t> to caudate/putamen</a:t>
            </a:r>
          </a:p>
          <a:p>
            <a:endParaRPr lang="en-GB" dirty="0"/>
          </a:p>
          <a:p>
            <a:r>
              <a:rPr lang="en-GB" b="1" dirty="0"/>
              <a:t>Acetylcholine</a:t>
            </a:r>
            <a:r>
              <a:rPr lang="en-GB" dirty="0"/>
              <a:t> projections from the cortex to caudate/putamen</a:t>
            </a:r>
          </a:p>
          <a:p>
            <a:endParaRPr lang="en-GB" dirty="0"/>
          </a:p>
          <a:p>
            <a:r>
              <a:rPr lang="en-GB" dirty="0"/>
              <a:t>Multiple modulating neurotransmitters mainly from the brainstem</a:t>
            </a:r>
          </a:p>
          <a:p>
            <a:pPr lvl="1"/>
            <a:r>
              <a:rPr lang="en-GB" dirty="0"/>
              <a:t>Norepinephrine</a:t>
            </a:r>
          </a:p>
          <a:p>
            <a:pPr lvl="1"/>
            <a:r>
              <a:rPr lang="en-GB" dirty="0"/>
              <a:t>Serotonin</a:t>
            </a:r>
          </a:p>
          <a:p>
            <a:pPr lvl="1"/>
            <a:r>
              <a:rPr lang="en-GB" dirty="0"/>
              <a:t>Enkephalin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FE2E17-6963-1E2A-96BD-E2E05CE857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3307" y="819236"/>
            <a:ext cx="5369960" cy="5537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5158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8F9EE-002A-7EC6-026C-18D9DAD94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Neuromodulation within the basal ganglia: dopamine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FDEB19-2D66-714C-22E0-19135C25CB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Striatal neurons can be divided into two groups, according to their dopamine receptors:</a:t>
            </a:r>
          </a:p>
          <a:p>
            <a:pPr lvl="1"/>
            <a:r>
              <a:rPr lang="en-GB" dirty="0"/>
              <a:t>D1 neurons - express D1 type dopamine receptors</a:t>
            </a:r>
          </a:p>
          <a:p>
            <a:pPr lvl="1"/>
            <a:r>
              <a:rPr lang="en-GB" dirty="0"/>
              <a:t>D2 neurons - express D2 type dopamine receptors</a:t>
            </a:r>
          </a:p>
          <a:p>
            <a:pPr lvl="1"/>
            <a:endParaRPr lang="en-GB" dirty="0"/>
          </a:p>
        </p:txBody>
      </p:sp>
      <p:pic>
        <p:nvPicPr>
          <p:cNvPr id="60" name="Picture 59" descr="A close-up of a cell&#10;&#10;Description automatically generated">
            <a:extLst>
              <a:ext uri="{FF2B5EF4-FFF2-40B4-BE49-F238E27FC236}">
                <a16:creationId xmlns:a16="http://schemas.microsoft.com/office/drawing/2014/main" id="{C806E43B-E526-35F0-208C-1392A007B06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439" r="33583"/>
          <a:stretch/>
        </p:blipFill>
        <p:spPr>
          <a:xfrm>
            <a:off x="7054846" y="1398795"/>
            <a:ext cx="4024142" cy="4532590"/>
          </a:xfrm>
          <a:prstGeom prst="rect">
            <a:avLst/>
          </a:prstGeom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BBCF9FB4-87B8-41B9-B45C-FADC4B12FCD8}"/>
              </a:ext>
            </a:extLst>
          </p:cNvPr>
          <p:cNvSpPr txBox="1"/>
          <p:nvPr/>
        </p:nvSpPr>
        <p:spPr>
          <a:xfrm>
            <a:off x="10551886" y="6470412"/>
            <a:ext cx="16401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Image: NIEHS</a:t>
            </a:r>
            <a:endParaRPr lang="en-GB" dirty="0"/>
          </a:p>
        </p:txBody>
      </p:sp>
      <p:pic>
        <p:nvPicPr>
          <p:cNvPr id="1026" name="Picture 2" descr="Regulation of adenylyl cyclase by D1 and D2 dopamine receptors.">
            <a:extLst>
              <a:ext uri="{FF2B5EF4-FFF2-40B4-BE49-F238E27FC236}">
                <a16:creationId xmlns:a16="http://schemas.microsoft.com/office/drawing/2014/main" id="{118B0899-1723-8CA4-2297-66A15EF165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430" y="2943452"/>
            <a:ext cx="5419862" cy="3261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9" name="TextBox 68">
            <a:extLst>
              <a:ext uri="{FF2B5EF4-FFF2-40B4-BE49-F238E27FC236}">
                <a16:creationId xmlns:a16="http://schemas.microsoft.com/office/drawing/2014/main" id="{84935A2A-D8E3-29C1-4462-65609003A7B7}"/>
              </a:ext>
            </a:extLst>
          </p:cNvPr>
          <p:cNvSpPr txBox="1"/>
          <p:nvPr/>
        </p:nvSpPr>
        <p:spPr>
          <a:xfrm>
            <a:off x="469430" y="6478929"/>
            <a:ext cx="42029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100" dirty="0">
                <a:hlinkClick r:id="rId4"/>
              </a:rPr>
              <a:t>An Overview of Dopamine Receptor Pharmacology (news-medical.net)</a:t>
            </a:r>
            <a:endParaRPr lang="en-GB" sz="1100" dirty="0"/>
          </a:p>
        </p:txBody>
      </p:sp>
    </p:spTree>
    <p:extLst>
      <p:ext uri="{BB962C8B-B14F-4D97-AF65-F5344CB8AC3E}">
        <p14:creationId xmlns:p14="http://schemas.microsoft.com/office/powerpoint/2010/main" val="23384438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0B875-5CEF-9415-248F-66A5738B4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FACC8-67D8-BE88-2406-5E58AEF59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Neuromodulation within the basal ganglia: dopamine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540F68-9C6E-D96B-B3FD-74D96824EB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963" y="1459865"/>
            <a:ext cx="5257800" cy="5100218"/>
          </a:xfrm>
        </p:spPr>
        <p:txBody>
          <a:bodyPr>
            <a:normAutofit fontScale="85000" lnSpcReduction="10000"/>
          </a:bodyPr>
          <a:lstStyle/>
          <a:p>
            <a:r>
              <a:rPr lang="en-GB" dirty="0"/>
              <a:t>Striatal neurons can be divided into two groups, according to their dopamine receptors:</a:t>
            </a:r>
          </a:p>
          <a:p>
            <a:pPr lvl="1"/>
            <a:r>
              <a:rPr lang="en-GB" dirty="0"/>
              <a:t>D1 neurons - express D1 type dopamine receptors</a:t>
            </a:r>
          </a:p>
          <a:p>
            <a:pPr lvl="1"/>
            <a:r>
              <a:rPr lang="en-GB" dirty="0"/>
              <a:t>D2 neurons - express D2 type dopamine receptors</a:t>
            </a:r>
          </a:p>
          <a:p>
            <a:pPr lvl="1"/>
            <a:endParaRPr lang="en-GB" dirty="0"/>
          </a:p>
          <a:p>
            <a:r>
              <a:rPr lang="en-GB" b="1" dirty="0"/>
              <a:t>D1</a:t>
            </a:r>
            <a:r>
              <a:rPr lang="en-GB" dirty="0"/>
              <a:t> neurons mostly belong to the </a:t>
            </a:r>
            <a:r>
              <a:rPr lang="en-GB" b="1" dirty="0"/>
              <a:t>direct</a:t>
            </a:r>
            <a:r>
              <a:rPr lang="en-GB" dirty="0"/>
              <a:t> pathway</a:t>
            </a:r>
          </a:p>
          <a:p>
            <a:pPr lvl="1"/>
            <a:r>
              <a:rPr lang="en-GB" dirty="0"/>
              <a:t>Release of dopamine supports strong phasic inputs from D1 neurons </a:t>
            </a:r>
            <a:r>
              <a:rPr lang="en-GB" dirty="0">
                <a:sym typeface="Wingdings" panose="05000000000000000000" pitchFamily="2" charset="2"/>
              </a:rPr>
              <a:t> </a:t>
            </a:r>
            <a:r>
              <a:rPr lang="en-GB" b="1" dirty="0">
                <a:sym typeface="Wingdings" panose="05000000000000000000" pitchFamily="2" charset="2"/>
              </a:rPr>
              <a:t>Facilitated</a:t>
            </a:r>
            <a:r>
              <a:rPr lang="en-GB" dirty="0"/>
              <a:t> direct pathway</a:t>
            </a:r>
          </a:p>
          <a:p>
            <a:pPr lvl="1"/>
            <a:r>
              <a:rPr lang="en-GB" dirty="0"/>
              <a:t>D1 type dopamine receptors are </a:t>
            </a:r>
            <a:r>
              <a:rPr lang="en-GB" b="1" dirty="0"/>
              <a:t>activating GPCRs (Gs)</a:t>
            </a:r>
          </a:p>
          <a:p>
            <a:endParaRPr lang="en-GB" b="1" dirty="0"/>
          </a:p>
          <a:p>
            <a:r>
              <a:rPr lang="en-GB" b="1" dirty="0"/>
              <a:t>D2</a:t>
            </a:r>
            <a:r>
              <a:rPr lang="en-GB" dirty="0"/>
              <a:t> neurons mostly belong to the </a:t>
            </a:r>
            <a:r>
              <a:rPr lang="en-GB" b="1" dirty="0"/>
              <a:t>indirect</a:t>
            </a:r>
            <a:r>
              <a:rPr lang="en-GB" dirty="0"/>
              <a:t> pathway</a:t>
            </a:r>
          </a:p>
          <a:p>
            <a:pPr lvl="1"/>
            <a:r>
              <a:rPr lang="en-GB" dirty="0"/>
              <a:t>Release of dopamine suppresses the firing of D2 neurons </a:t>
            </a:r>
            <a:r>
              <a:rPr lang="en-GB" dirty="0">
                <a:sym typeface="Wingdings" panose="05000000000000000000" pitchFamily="2" charset="2"/>
              </a:rPr>
              <a:t> </a:t>
            </a:r>
            <a:r>
              <a:rPr lang="en-GB" b="1" dirty="0">
                <a:sym typeface="Wingdings" panose="05000000000000000000" pitchFamily="2" charset="2"/>
              </a:rPr>
              <a:t>Reduced</a:t>
            </a:r>
            <a:r>
              <a:rPr lang="en-GB" dirty="0">
                <a:sym typeface="Wingdings" panose="05000000000000000000" pitchFamily="2" charset="2"/>
              </a:rPr>
              <a:t> impact from the indirect pathway</a:t>
            </a:r>
            <a:endParaRPr lang="en-GB" dirty="0"/>
          </a:p>
          <a:p>
            <a:pPr lvl="1"/>
            <a:r>
              <a:rPr lang="en-GB" dirty="0"/>
              <a:t>D2 type dopamine receptors are </a:t>
            </a:r>
            <a:r>
              <a:rPr lang="en-GB" b="1" dirty="0"/>
              <a:t>inhibiting GPCRs (Gi)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848CD6EC-5E91-F02E-88DD-8545020AD1EC}"/>
              </a:ext>
            </a:extLst>
          </p:cNvPr>
          <p:cNvGrpSpPr/>
          <p:nvPr/>
        </p:nvGrpSpPr>
        <p:grpSpPr>
          <a:xfrm>
            <a:off x="6903881" y="1642714"/>
            <a:ext cx="4858345" cy="4177510"/>
            <a:chOff x="6903881" y="1642714"/>
            <a:chExt cx="4858345" cy="4177510"/>
          </a:xfrm>
        </p:grpSpPr>
        <p:cxnSp>
          <p:nvCxnSpPr>
            <p:cNvPr id="53" name="Connector: Elbow 52">
              <a:extLst>
                <a:ext uri="{FF2B5EF4-FFF2-40B4-BE49-F238E27FC236}">
                  <a16:creationId xmlns:a16="http://schemas.microsoft.com/office/drawing/2014/main" id="{818E86C6-9348-5190-D95A-B18D535C41F7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9552742" y="3656698"/>
              <a:ext cx="1822809" cy="1665178"/>
            </a:xfrm>
            <a:prstGeom prst="bentConnector3">
              <a:avLst>
                <a:gd name="adj1" fmla="val 75953"/>
              </a:avLst>
            </a:prstGeom>
            <a:ln w="5397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Connector: Elbow 3">
              <a:extLst>
                <a:ext uri="{FF2B5EF4-FFF2-40B4-BE49-F238E27FC236}">
                  <a16:creationId xmlns:a16="http://schemas.microsoft.com/office/drawing/2014/main" id="{9FDA3069-6B0D-CEE2-6AA7-2F163689ACBB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177801" y="3503535"/>
              <a:ext cx="2463011" cy="351787"/>
            </a:xfrm>
            <a:prstGeom prst="bentConnector3">
              <a:avLst>
                <a:gd name="adj1" fmla="val 100274"/>
              </a:avLst>
            </a:prstGeom>
            <a:ln w="53975">
              <a:solidFill>
                <a:srgbClr val="25E9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5D50DF9-9454-AB3E-20BF-8FC7833C1DC7}"/>
                </a:ext>
              </a:extLst>
            </p:cNvPr>
            <p:cNvGrpSpPr/>
            <p:nvPr/>
          </p:nvGrpSpPr>
          <p:grpSpPr>
            <a:xfrm>
              <a:off x="8585200" y="4845846"/>
              <a:ext cx="56356" cy="130968"/>
              <a:chOff x="8585200" y="4845846"/>
              <a:chExt cx="56356" cy="130968"/>
            </a:xfrm>
          </p:grpSpPr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0F9890DE-3902-713F-562F-D030E862A7E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585200" y="4845846"/>
                <a:ext cx="56356" cy="65087"/>
              </a:xfrm>
              <a:prstGeom prst="line">
                <a:avLst/>
              </a:prstGeom>
              <a:ln w="53975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E4420C14-A162-3686-597E-9DC3DC4FFA3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85200" y="4910933"/>
                <a:ext cx="56356" cy="65881"/>
              </a:xfrm>
              <a:prstGeom prst="line">
                <a:avLst/>
              </a:prstGeom>
              <a:ln w="53975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22966E7E-AD7B-B7FA-DEE2-AA2EBD6CB6F2}"/>
                </a:ext>
              </a:extLst>
            </p:cNvPr>
            <p:cNvSpPr/>
            <p:nvPr/>
          </p:nvSpPr>
          <p:spPr>
            <a:xfrm>
              <a:off x="9205758" y="3009900"/>
              <a:ext cx="1525269" cy="501650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4B1EBACB-A3A5-3E03-4520-E24C1D3546AB}"/>
                </a:ext>
              </a:extLst>
            </p:cNvPr>
            <p:cNvSpPr/>
            <p:nvPr/>
          </p:nvSpPr>
          <p:spPr>
            <a:xfrm>
              <a:off x="9879179" y="5400678"/>
              <a:ext cx="922172" cy="419546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 err="1">
                  <a:solidFill>
                    <a:schemeClr val="tx1"/>
                  </a:solidFill>
                </a:rPr>
                <a:t>GPi</a:t>
              </a:r>
              <a:r>
                <a:rPr lang="en-GB" sz="1400" dirty="0">
                  <a:solidFill>
                    <a:schemeClr val="tx1"/>
                  </a:solidFill>
                </a:rPr>
                <a:t>/</a:t>
              </a:r>
              <a:r>
                <a:rPr lang="en-GB" sz="1400" dirty="0" err="1">
                  <a:solidFill>
                    <a:schemeClr val="tx1"/>
                  </a:solidFill>
                </a:rPr>
                <a:t>SNr</a:t>
              </a:r>
              <a:endParaRPr lang="en-GB" sz="1400" dirty="0">
                <a:solidFill>
                  <a:schemeClr val="tx1"/>
                </a:solidFill>
              </a:endParaRP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23E1F521-993A-C7E8-0B80-5F1F8BA11F04}"/>
                </a:ext>
              </a:extLst>
            </p:cNvPr>
            <p:cNvSpPr/>
            <p:nvPr/>
          </p:nvSpPr>
          <p:spPr>
            <a:xfrm>
              <a:off x="7077227" y="1642714"/>
              <a:ext cx="3653800" cy="728662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chemeClr val="tx1"/>
                  </a:solidFill>
                </a:rPr>
                <a:t>Cortex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33B95D3-F5E7-0935-0E67-1BF15FDA2BB8}"/>
                </a:ext>
              </a:extLst>
            </p:cNvPr>
            <p:cNvSpPr txBox="1"/>
            <p:nvPr/>
          </p:nvSpPr>
          <p:spPr>
            <a:xfrm>
              <a:off x="10687182" y="3097008"/>
              <a:ext cx="107504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/>
                <a:t>Striatum</a:t>
              </a: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6B03EB8B-B82F-2534-919C-4EEB4D171E06}"/>
                </a:ext>
              </a:extLst>
            </p:cNvPr>
            <p:cNvGrpSpPr/>
            <p:nvPr/>
          </p:nvGrpSpPr>
          <p:grpSpPr>
            <a:xfrm>
              <a:off x="9540000" y="2393950"/>
              <a:ext cx="130968" cy="576993"/>
              <a:chOff x="9540000" y="2393950"/>
              <a:chExt cx="130968" cy="576993"/>
            </a:xfrm>
          </p:grpSpPr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777C9621-98F9-E28E-E842-8BF9AA7F7F7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05484" y="2393950"/>
                <a:ext cx="0" cy="523875"/>
              </a:xfrm>
              <a:prstGeom prst="line">
                <a:avLst/>
              </a:prstGeom>
              <a:ln w="57150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3A646ACA-2FE0-EC6F-0859-CF4E77532B1C}"/>
                  </a:ext>
                </a:extLst>
              </p:cNvPr>
              <p:cNvGrpSpPr/>
              <p:nvPr/>
            </p:nvGrpSpPr>
            <p:grpSpPr>
              <a:xfrm rot="5400000">
                <a:off x="9577306" y="2877281"/>
                <a:ext cx="56356" cy="130968"/>
                <a:chOff x="8585200" y="4845846"/>
                <a:chExt cx="56356" cy="130968"/>
              </a:xfrm>
            </p:grpSpPr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1374B14F-F78E-322E-7747-7D60F30C7E6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585200" y="4845846"/>
                  <a:ext cx="56356" cy="65087"/>
                </a:xfrm>
                <a:prstGeom prst="line">
                  <a:avLst/>
                </a:prstGeom>
                <a:ln w="53975">
                  <a:solidFill>
                    <a:srgbClr val="25E92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8BD9E521-55C6-6EC1-C54C-35ED58141A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585200" y="4910933"/>
                  <a:ext cx="56356" cy="65881"/>
                </a:xfrm>
                <a:prstGeom prst="line">
                  <a:avLst/>
                </a:prstGeom>
                <a:ln w="53975">
                  <a:solidFill>
                    <a:srgbClr val="25E92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DA455D5C-93EB-803E-8BDC-4892CDD594CF}"/>
                </a:ext>
              </a:extLst>
            </p:cNvPr>
            <p:cNvGrpSpPr/>
            <p:nvPr/>
          </p:nvGrpSpPr>
          <p:grpSpPr>
            <a:xfrm>
              <a:off x="9932906" y="2393950"/>
              <a:ext cx="130968" cy="576993"/>
              <a:chOff x="9540000" y="2393950"/>
              <a:chExt cx="130968" cy="576993"/>
            </a:xfrm>
          </p:grpSpPr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AEB7762A-9735-1338-8E67-4CE8C331806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05484" y="2393950"/>
                <a:ext cx="0" cy="523875"/>
              </a:xfrm>
              <a:prstGeom prst="line">
                <a:avLst/>
              </a:prstGeom>
              <a:ln w="57150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1B50E682-D9BD-1C35-9919-34DA97CA0F4F}"/>
                  </a:ext>
                </a:extLst>
              </p:cNvPr>
              <p:cNvGrpSpPr/>
              <p:nvPr/>
            </p:nvGrpSpPr>
            <p:grpSpPr>
              <a:xfrm rot="5400000">
                <a:off x="9577306" y="2877281"/>
                <a:ext cx="56356" cy="130968"/>
                <a:chOff x="8585200" y="4845846"/>
                <a:chExt cx="56356" cy="130968"/>
              </a:xfrm>
            </p:grpSpPr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D538A91B-81F8-AC86-3A9E-751D29F25BF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585200" y="4845846"/>
                  <a:ext cx="56356" cy="65087"/>
                </a:xfrm>
                <a:prstGeom prst="line">
                  <a:avLst/>
                </a:prstGeom>
                <a:ln w="53975">
                  <a:solidFill>
                    <a:srgbClr val="25E92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BA075CDD-ED21-DC1B-F685-DA6E4DFA2DA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585200" y="4910933"/>
                  <a:ext cx="56356" cy="65881"/>
                </a:xfrm>
                <a:prstGeom prst="line">
                  <a:avLst/>
                </a:prstGeom>
                <a:ln w="53975">
                  <a:solidFill>
                    <a:srgbClr val="25E92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6618C963-51B2-F44B-E242-4B07B3DAA6FF}"/>
                </a:ext>
              </a:extLst>
            </p:cNvPr>
            <p:cNvGrpSpPr/>
            <p:nvPr/>
          </p:nvGrpSpPr>
          <p:grpSpPr>
            <a:xfrm>
              <a:off x="10325812" y="2393950"/>
              <a:ext cx="130968" cy="576993"/>
              <a:chOff x="9540000" y="2393950"/>
              <a:chExt cx="130968" cy="576993"/>
            </a:xfrm>
          </p:grpSpPr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78858059-9835-53E2-4ACB-65AA0C4DE55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05484" y="2393950"/>
                <a:ext cx="0" cy="523875"/>
              </a:xfrm>
              <a:prstGeom prst="line">
                <a:avLst/>
              </a:prstGeom>
              <a:ln w="57150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A60FE37B-6B7A-41BC-9035-70203FE3A3B3}"/>
                  </a:ext>
                </a:extLst>
              </p:cNvPr>
              <p:cNvGrpSpPr/>
              <p:nvPr/>
            </p:nvGrpSpPr>
            <p:grpSpPr>
              <a:xfrm rot="5400000">
                <a:off x="9577306" y="2877281"/>
                <a:ext cx="56356" cy="130968"/>
                <a:chOff x="8585200" y="4845846"/>
                <a:chExt cx="56356" cy="130968"/>
              </a:xfrm>
            </p:grpSpPr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968EE9DF-B1EC-C8E9-9860-6BEF164EF7C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585200" y="4845846"/>
                  <a:ext cx="56356" cy="65087"/>
                </a:xfrm>
                <a:prstGeom prst="line">
                  <a:avLst/>
                </a:prstGeom>
                <a:ln w="53975">
                  <a:solidFill>
                    <a:srgbClr val="25E92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F4A10F2F-50E0-37C7-3EB8-98D69D9BD96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585200" y="4910933"/>
                  <a:ext cx="56356" cy="65881"/>
                </a:xfrm>
                <a:prstGeom prst="line">
                  <a:avLst/>
                </a:prstGeom>
                <a:ln w="53975">
                  <a:solidFill>
                    <a:srgbClr val="25E92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ACA6EA73-1621-B8B3-9137-0D431DCC4647}"/>
                </a:ext>
              </a:extLst>
            </p:cNvPr>
            <p:cNvGrpSpPr/>
            <p:nvPr/>
          </p:nvGrpSpPr>
          <p:grpSpPr>
            <a:xfrm flipV="1">
              <a:off x="7355450" y="2453221"/>
              <a:ext cx="130968" cy="1428444"/>
              <a:chOff x="9540000" y="1542499"/>
              <a:chExt cx="130968" cy="1428444"/>
            </a:xfrm>
          </p:grpSpPr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6E25C49C-3C79-3950-3C8C-DBB5C8967CB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05484" y="1542499"/>
                <a:ext cx="0" cy="1375326"/>
              </a:xfrm>
              <a:prstGeom prst="line">
                <a:avLst/>
              </a:prstGeom>
              <a:ln w="57150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8A6DB20A-55CE-158F-0396-E0A4534F6439}"/>
                  </a:ext>
                </a:extLst>
              </p:cNvPr>
              <p:cNvGrpSpPr/>
              <p:nvPr/>
            </p:nvGrpSpPr>
            <p:grpSpPr>
              <a:xfrm rot="5400000">
                <a:off x="9577306" y="2877281"/>
                <a:ext cx="56356" cy="130968"/>
                <a:chOff x="8585200" y="4845846"/>
                <a:chExt cx="56356" cy="130968"/>
              </a:xfrm>
            </p:grpSpPr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0AC0635B-9962-F759-FCB3-76140A16675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585200" y="4845846"/>
                  <a:ext cx="56356" cy="65087"/>
                </a:xfrm>
                <a:prstGeom prst="line">
                  <a:avLst/>
                </a:prstGeom>
                <a:ln w="53975">
                  <a:solidFill>
                    <a:srgbClr val="25E92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86A93965-A272-30B6-B010-1DA16C3EBE5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585200" y="4910933"/>
                  <a:ext cx="56356" cy="65881"/>
                </a:xfrm>
                <a:prstGeom prst="line">
                  <a:avLst/>
                </a:prstGeom>
                <a:ln w="53975">
                  <a:solidFill>
                    <a:srgbClr val="25E92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32" name="Connector: Elbow 31">
              <a:extLst>
                <a:ext uri="{FF2B5EF4-FFF2-40B4-BE49-F238E27FC236}">
                  <a16:creationId xmlns:a16="http://schemas.microsoft.com/office/drawing/2014/main" id="{1C35169A-C11B-E6A7-021A-164830767AF8}"/>
                </a:ext>
              </a:extLst>
            </p:cNvPr>
            <p:cNvCxnSpPr>
              <a:cxnSpLocks/>
              <a:stCxn id="49" idx="2"/>
            </p:cNvCxnSpPr>
            <p:nvPr/>
          </p:nvCxnSpPr>
          <p:spPr>
            <a:xfrm rot="16200000" flipH="1">
              <a:off x="9271877" y="5059108"/>
              <a:ext cx="423466" cy="678424"/>
            </a:xfrm>
            <a:prstGeom prst="bentConnector2">
              <a:avLst/>
            </a:prstGeom>
            <a:ln w="53975">
              <a:solidFill>
                <a:srgbClr val="25E9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1B559B2C-692F-1CCA-8B87-E357AA3EC389}"/>
                </a:ext>
              </a:extLst>
            </p:cNvPr>
            <p:cNvGrpSpPr/>
            <p:nvPr/>
          </p:nvGrpSpPr>
          <p:grpSpPr>
            <a:xfrm>
              <a:off x="9780556" y="5544967"/>
              <a:ext cx="56356" cy="130968"/>
              <a:chOff x="8585200" y="4845846"/>
              <a:chExt cx="56356" cy="130968"/>
            </a:xfrm>
          </p:grpSpPr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2F063180-0B0E-67C5-20FE-7D80A8AB83A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585200" y="4845846"/>
                <a:ext cx="56356" cy="65087"/>
              </a:xfrm>
              <a:prstGeom prst="line">
                <a:avLst/>
              </a:prstGeom>
              <a:ln w="53975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BF48EEDB-7BD3-AFFE-5ECE-EB9C7DB610E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85200" y="4910933"/>
                <a:ext cx="56356" cy="65881"/>
              </a:xfrm>
              <a:prstGeom prst="line">
                <a:avLst/>
              </a:prstGeom>
              <a:ln w="53975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6" name="Connector: Elbow 35">
              <a:extLst>
                <a:ext uri="{FF2B5EF4-FFF2-40B4-BE49-F238E27FC236}">
                  <a16:creationId xmlns:a16="http://schemas.microsoft.com/office/drawing/2014/main" id="{D30E3F4A-752C-7AE3-6557-7BA502C6904E}"/>
                </a:ext>
              </a:extLst>
            </p:cNvPr>
            <p:cNvCxnSpPr>
              <a:cxnSpLocks/>
            </p:cNvCxnSpPr>
            <p:nvPr/>
          </p:nvCxnSpPr>
          <p:spPr>
            <a:xfrm>
              <a:off x="7412439" y="4390975"/>
              <a:ext cx="2438562" cy="1362125"/>
            </a:xfrm>
            <a:prstGeom prst="bentConnector3">
              <a:avLst>
                <a:gd name="adj1" fmla="val 628"/>
              </a:avLst>
            </a:prstGeom>
            <a:ln w="539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E8CFCFA-928F-D260-1E15-924B6BC5B7EB}"/>
                </a:ext>
              </a:extLst>
            </p:cNvPr>
            <p:cNvCxnSpPr>
              <a:cxnSpLocks/>
            </p:cNvCxnSpPr>
            <p:nvPr/>
          </p:nvCxnSpPr>
          <p:spPr>
            <a:xfrm>
              <a:off x="7343313" y="4390975"/>
              <a:ext cx="176444" cy="0"/>
            </a:xfrm>
            <a:prstGeom prst="line">
              <a:avLst/>
            </a:prstGeom>
            <a:ln w="539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E177DBD-9B0C-21DB-A668-1EBA7B97BF30}"/>
                </a:ext>
              </a:extLst>
            </p:cNvPr>
            <p:cNvCxnSpPr>
              <a:cxnSpLocks/>
            </p:cNvCxnSpPr>
            <p:nvPr/>
          </p:nvCxnSpPr>
          <p:spPr>
            <a:xfrm>
              <a:off x="9050197" y="3881665"/>
              <a:ext cx="176444" cy="0"/>
            </a:xfrm>
            <a:prstGeom prst="line">
              <a:avLst/>
            </a:prstGeom>
            <a:ln w="539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C1AABF11-DACE-F0CE-ACE1-F70D9CF3A15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484600" y="3148634"/>
              <a:ext cx="237600" cy="237282"/>
            </a:xfrm>
            <a:prstGeom prst="ellipse">
              <a:avLst/>
            </a:prstGeom>
            <a:noFill/>
            <a:ln w="349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93F7A007-FC8C-572D-56EE-B15FC6D56C7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221465" y="3148634"/>
              <a:ext cx="237600" cy="237282"/>
            </a:xfrm>
            <a:prstGeom prst="ellipse">
              <a:avLst/>
            </a:prstGeom>
            <a:noFill/>
            <a:ln w="349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41" name="Connector: Elbow 40">
              <a:extLst>
                <a:ext uri="{FF2B5EF4-FFF2-40B4-BE49-F238E27FC236}">
                  <a16:creationId xmlns:a16="http://schemas.microsoft.com/office/drawing/2014/main" id="{05297CC5-DC77-06F4-75DC-343542A52C3C}"/>
                </a:ext>
              </a:extLst>
            </p:cNvPr>
            <p:cNvCxnSpPr>
              <a:cxnSpLocks/>
              <a:endCxn id="39" idx="2"/>
            </p:cNvCxnSpPr>
            <p:nvPr/>
          </p:nvCxnSpPr>
          <p:spPr>
            <a:xfrm rot="5400000" flipH="1" flipV="1">
              <a:off x="9016803" y="3394870"/>
              <a:ext cx="595392" cy="340202"/>
            </a:xfrm>
            <a:prstGeom prst="bentConnector2">
              <a:avLst/>
            </a:prstGeom>
            <a:ln w="539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BD7A1433-EFD8-56CC-5940-20087B361896}"/>
                </a:ext>
              </a:extLst>
            </p:cNvPr>
            <p:cNvGrpSpPr/>
            <p:nvPr/>
          </p:nvGrpSpPr>
          <p:grpSpPr>
            <a:xfrm>
              <a:off x="10252043" y="3385916"/>
              <a:ext cx="176444" cy="1909984"/>
              <a:chOff x="10252043" y="3385916"/>
              <a:chExt cx="176444" cy="1909984"/>
            </a:xfrm>
          </p:grpSpPr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B38A80CD-B5A5-3FC4-6E9F-44842DACE2B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52043" y="5295900"/>
                <a:ext cx="176444" cy="0"/>
              </a:xfrm>
              <a:prstGeom prst="line">
                <a:avLst/>
              </a:prstGeom>
              <a:ln w="539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499CB1D2-04AB-7508-5817-3C6CEA12B6B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44614" y="3385916"/>
                <a:ext cx="0" cy="1909984"/>
              </a:xfrm>
              <a:prstGeom prst="line">
                <a:avLst/>
              </a:prstGeom>
              <a:ln w="476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FAC3043F-C5DE-79BD-3F1D-45A249303EC5}"/>
                </a:ext>
              </a:extLst>
            </p:cNvPr>
            <p:cNvGrpSpPr/>
            <p:nvPr/>
          </p:nvGrpSpPr>
          <p:grpSpPr>
            <a:xfrm>
              <a:off x="9052578" y="4371975"/>
              <a:ext cx="176444" cy="329185"/>
              <a:chOff x="10267298" y="4979872"/>
              <a:chExt cx="176444" cy="329185"/>
            </a:xfrm>
          </p:grpSpPr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E01C32F3-FCE1-933C-9C61-A273C05D217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67298" y="5309057"/>
                <a:ext cx="176444" cy="0"/>
              </a:xfrm>
              <a:prstGeom prst="line">
                <a:avLst/>
              </a:prstGeom>
              <a:ln w="539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40B074DA-82BA-F22B-7466-14C0340AB330}"/>
                  </a:ext>
                </a:extLst>
              </p:cNvPr>
              <p:cNvCxnSpPr>
                <a:cxnSpLocks/>
                <a:stCxn id="48" idx="2"/>
              </p:cNvCxnSpPr>
              <p:nvPr/>
            </p:nvCxnSpPr>
            <p:spPr>
              <a:xfrm>
                <a:off x="10359118" y="4979872"/>
                <a:ext cx="0" cy="329185"/>
              </a:xfrm>
              <a:prstGeom prst="line">
                <a:avLst/>
              </a:prstGeom>
              <a:ln w="476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BAA3A506-B2C0-DED0-0388-53B5D2E55890}"/>
                </a:ext>
              </a:extLst>
            </p:cNvPr>
            <p:cNvSpPr/>
            <p:nvPr/>
          </p:nvSpPr>
          <p:spPr>
            <a:xfrm>
              <a:off x="8683312" y="3952429"/>
              <a:ext cx="922172" cy="419546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 err="1">
                  <a:solidFill>
                    <a:schemeClr val="tx1"/>
                  </a:solidFill>
                </a:rPr>
                <a:t>GPe</a:t>
              </a:r>
              <a:endParaRPr lang="en-GB" sz="1400" dirty="0">
                <a:solidFill>
                  <a:schemeClr val="tx1"/>
                </a:solidFill>
              </a:endParaRPr>
            </a:p>
          </p:txBody>
        </p:sp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C69B6BE8-E06E-B1CD-EB0C-6B275F24E529}"/>
                </a:ext>
              </a:extLst>
            </p:cNvPr>
            <p:cNvSpPr/>
            <p:nvPr/>
          </p:nvSpPr>
          <p:spPr>
            <a:xfrm>
              <a:off x="8683312" y="4767041"/>
              <a:ext cx="922172" cy="419546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chemeClr val="tx1"/>
                  </a:solidFill>
                </a:rPr>
                <a:t>STN</a:t>
              </a:r>
            </a:p>
          </p:txBody>
        </p:sp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FA7C40E4-7E8D-D0AC-DF98-F017B822B383}"/>
                </a:ext>
              </a:extLst>
            </p:cNvPr>
            <p:cNvSpPr/>
            <p:nvPr/>
          </p:nvSpPr>
          <p:spPr>
            <a:xfrm>
              <a:off x="6903881" y="3881665"/>
              <a:ext cx="1034106" cy="419546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chemeClr val="tx1"/>
                  </a:solidFill>
                </a:rPr>
                <a:t>Thalamus</a:t>
              </a:r>
            </a:p>
          </p:txBody>
        </p:sp>
        <p:cxnSp>
          <p:nvCxnSpPr>
            <p:cNvPr id="52" name="Connector: Elbow 51">
              <a:extLst>
                <a:ext uri="{FF2B5EF4-FFF2-40B4-BE49-F238E27FC236}">
                  <a16:creationId xmlns:a16="http://schemas.microsoft.com/office/drawing/2014/main" id="{5CD7C243-1082-E540-A8D3-CD5BC6D2367F}"/>
                </a:ext>
              </a:extLst>
            </p:cNvPr>
            <p:cNvCxnSpPr>
              <a:cxnSpLocks/>
              <a:stCxn id="51" idx="0"/>
            </p:cNvCxnSpPr>
            <p:nvPr/>
          </p:nvCxnSpPr>
          <p:spPr>
            <a:xfrm rot="16200000" flipV="1">
              <a:off x="10020640" y="4128344"/>
              <a:ext cx="1833349" cy="706603"/>
            </a:xfrm>
            <a:prstGeom prst="bentConnector3">
              <a:avLst>
                <a:gd name="adj1" fmla="val 75284"/>
              </a:avLst>
            </a:prstGeom>
            <a:ln w="5397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AF3BB234-D5D4-53C4-7DDA-6E104E356963}"/>
                </a:ext>
              </a:extLst>
            </p:cNvPr>
            <p:cNvGrpSpPr/>
            <p:nvPr/>
          </p:nvGrpSpPr>
          <p:grpSpPr>
            <a:xfrm rot="16200000">
              <a:off x="10079807" y="3028899"/>
              <a:ext cx="56356" cy="1083028"/>
              <a:chOff x="8585200" y="3893768"/>
              <a:chExt cx="56356" cy="1083028"/>
            </a:xfrm>
          </p:grpSpPr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725BE5EE-1A8F-F2D7-EEEC-9284E535CB4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585200" y="3893768"/>
                <a:ext cx="56356" cy="65087"/>
              </a:xfrm>
              <a:prstGeom prst="line">
                <a:avLst/>
              </a:prstGeom>
              <a:ln w="53975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6F343FB0-DF1F-DCA7-400A-8C171DC02BA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85200" y="3958855"/>
                <a:ext cx="56356" cy="65881"/>
              </a:xfrm>
              <a:prstGeom prst="line">
                <a:avLst/>
              </a:prstGeom>
              <a:ln w="53975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212842D3-5DDD-DA4F-B2D5-B59D7CA2441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585200" y="4845828"/>
                <a:ext cx="56356" cy="65087"/>
              </a:xfrm>
              <a:prstGeom prst="line">
                <a:avLst/>
              </a:prstGeom>
              <a:ln w="53975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071B696A-6C88-1E3D-E54B-35A1E419F94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85200" y="4910915"/>
                <a:ext cx="56356" cy="65881"/>
              </a:xfrm>
              <a:prstGeom prst="line">
                <a:avLst/>
              </a:prstGeom>
              <a:ln w="53975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6BE91A02-1C5D-DE02-2C9C-B1C9CE993043}"/>
                </a:ext>
              </a:extLst>
            </p:cNvPr>
            <p:cNvSpPr txBox="1"/>
            <p:nvPr/>
          </p:nvSpPr>
          <p:spPr>
            <a:xfrm>
              <a:off x="9631557" y="2932735"/>
              <a:ext cx="4443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solidFill>
                    <a:srgbClr val="FFC000"/>
                  </a:solidFill>
                </a:rPr>
                <a:t>D2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607E165B-450A-2E7A-4767-4D0FDA4C23E3}"/>
                </a:ext>
              </a:extLst>
            </p:cNvPr>
            <p:cNvSpPr txBox="1"/>
            <p:nvPr/>
          </p:nvSpPr>
          <p:spPr>
            <a:xfrm>
              <a:off x="10359103" y="2933303"/>
              <a:ext cx="4475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solidFill>
                    <a:srgbClr val="FFC000"/>
                  </a:solidFill>
                </a:rPr>
                <a:t>D1</a:t>
              </a:r>
            </a:p>
          </p:txBody>
        </p:sp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A13F6328-2622-A0AE-200F-6E10D053AC5B}"/>
                </a:ext>
              </a:extLst>
            </p:cNvPr>
            <p:cNvSpPr/>
            <p:nvPr/>
          </p:nvSpPr>
          <p:spPr>
            <a:xfrm>
              <a:off x="10829529" y="5398320"/>
              <a:ext cx="922172" cy="419546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 err="1">
                  <a:solidFill>
                    <a:schemeClr val="tx1"/>
                  </a:solidFill>
                </a:rPr>
                <a:t>SNc</a:t>
              </a:r>
              <a:endParaRPr lang="en-GB" sz="1400" dirty="0">
                <a:solidFill>
                  <a:schemeClr val="tx1"/>
                </a:solidFill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9E3722FB-8B18-0044-57A4-F9958C1C9A86}"/>
                </a:ext>
              </a:extLst>
            </p:cNvPr>
            <p:cNvSpPr txBox="1"/>
            <p:nvPr/>
          </p:nvSpPr>
          <p:spPr>
            <a:xfrm>
              <a:off x="10349165" y="317859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solidFill>
                    <a:srgbClr val="FFC000"/>
                  </a:solidFill>
                </a:rPr>
                <a:t>+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8E4C120B-8407-41EC-F391-0639C42CD25A}"/>
                </a:ext>
              </a:extLst>
            </p:cNvPr>
            <p:cNvSpPr txBox="1"/>
            <p:nvPr/>
          </p:nvSpPr>
          <p:spPr>
            <a:xfrm>
              <a:off x="9625787" y="3175747"/>
              <a:ext cx="2551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solidFill>
                    <a:srgbClr val="FFC000"/>
                  </a:solidFill>
                </a:rPr>
                <a:t>-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547966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A5D64-34E5-32EE-7A70-03FF4A9EC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8EB98-48D7-6290-938E-FEF31D702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Neuromodulation within the basal ganglia: dopamine</a:t>
            </a:r>
          </a:p>
        </p:txBody>
      </p:sp>
      <p:pic>
        <p:nvPicPr>
          <p:cNvPr id="65" name="Content Placeholder 64" descr="A close-up of a cell&#10;&#10;Description automatically generated">
            <a:extLst>
              <a:ext uri="{FF2B5EF4-FFF2-40B4-BE49-F238E27FC236}">
                <a16:creationId xmlns:a16="http://schemas.microsoft.com/office/drawing/2014/main" id="{27AEFC29-76F6-B5A7-B340-CCED94E263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838200" y="1451392"/>
            <a:ext cx="10441366" cy="3407945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AD33A343-DD98-C901-2381-5A68952A1268}"/>
              </a:ext>
            </a:extLst>
          </p:cNvPr>
          <p:cNvSpPr txBox="1"/>
          <p:nvPr/>
        </p:nvSpPr>
        <p:spPr>
          <a:xfrm>
            <a:off x="724671" y="5710589"/>
            <a:ext cx="111926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/>
              <a:t>Dopamine facilitates movement </a:t>
            </a:r>
            <a:r>
              <a:rPr lang="en-GB" sz="2400" dirty="0"/>
              <a:t>stimulating the direct pathway and inhibiting the indirect pathway!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1DCEE78-722D-0A8E-56F2-20B0BD636603}"/>
              </a:ext>
            </a:extLst>
          </p:cNvPr>
          <p:cNvSpPr txBox="1"/>
          <p:nvPr/>
        </p:nvSpPr>
        <p:spPr>
          <a:xfrm>
            <a:off x="10551886" y="6470412"/>
            <a:ext cx="16401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Image: NIEHS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940170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5B48E-AECF-0356-F2FB-2F78A912D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Multiple parallel pathways</a:t>
            </a:r>
          </a:p>
        </p:txBody>
      </p:sp>
      <p:pic>
        <p:nvPicPr>
          <p:cNvPr id="1026" name="Picture 2" descr="Fig. 4">
            <a:extLst>
              <a:ext uri="{FF2B5EF4-FFF2-40B4-BE49-F238E27FC236}">
                <a16:creationId xmlns:a16="http://schemas.microsoft.com/office/drawing/2014/main" id="{401113B6-B57C-BB76-8AE0-805D176A53B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47787" y="1262463"/>
            <a:ext cx="9169908" cy="5011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0D1FC90-7ABA-BC47-5E45-9BD11FC74342}"/>
              </a:ext>
            </a:extLst>
          </p:cNvPr>
          <p:cNvSpPr txBox="1"/>
          <p:nvPr/>
        </p:nvSpPr>
        <p:spPr>
          <a:xfrm>
            <a:off x="7990114" y="6436249"/>
            <a:ext cx="38317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Nat </a:t>
            </a:r>
            <a:r>
              <a:rPr lang="fr-FR" sz="1600" dirty="0" err="1"/>
              <a:t>Neurosci</a:t>
            </a:r>
            <a:r>
              <a:rPr lang="fr-FR" sz="1600" dirty="0"/>
              <a:t>. 2016 Aug;19(8):1100-14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37447421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8CF11-21C2-C135-7320-1393347DB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Lesions of the basal ganglia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4DAFBB-13D4-D953-2127-CDAF8DDC84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50" y="1253331"/>
            <a:ext cx="4585014" cy="5195094"/>
          </a:xfrm>
        </p:spPr>
        <p:txBody>
          <a:bodyPr/>
          <a:lstStyle/>
          <a:p>
            <a:r>
              <a:rPr lang="en-GB" dirty="0"/>
              <a:t>Lesions of the </a:t>
            </a:r>
            <a:r>
              <a:rPr lang="en-GB" b="1" dirty="0"/>
              <a:t>caudate</a:t>
            </a:r>
          </a:p>
          <a:p>
            <a:pPr lvl="1"/>
            <a:r>
              <a:rPr lang="en-GB" dirty="0"/>
              <a:t>Rarely motor disturbances, mostly behavioural</a:t>
            </a:r>
          </a:p>
          <a:p>
            <a:pPr lvl="1"/>
            <a:r>
              <a:rPr lang="en-GB" dirty="0"/>
              <a:t>Abulia - apathy with loss of initiative and of spontaneous thought and emotional responses</a:t>
            </a:r>
          </a:p>
          <a:p>
            <a:endParaRPr lang="en-GB" dirty="0"/>
          </a:p>
          <a:p>
            <a:r>
              <a:rPr lang="en-GB" dirty="0"/>
              <a:t>Lesions of </a:t>
            </a:r>
            <a:r>
              <a:rPr lang="en-GB" b="1" dirty="0"/>
              <a:t>putamen/globus pallidus</a:t>
            </a:r>
          </a:p>
          <a:p>
            <a:pPr lvl="1"/>
            <a:r>
              <a:rPr lang="en-GB" dirty="0"/>
              <a:t>Dystonia - muscle contraction and spasms</a:t>
            </a:r>
          </a:p>
          <a:p>
            <a:pPr lvl="1"/>
            <a:r>
              <a:rPr lang="en-GB" dirty="0"/>
              <a:t>Athetosis - writhing movements of hand, arm and neck</a:t>
            </a:r>
          </a:p>
          <a:p>
            <a:endParaRPr lang="en-GB" dirty="0"/>
          </a:p>
          <a:p>
            <a:r>
              <a:rPr lang="en-GB" dirty="0"/>
              <a:t>Lesion of the </a:t>
            </a:r>
            <a:r>
              <a:rPr lang="en-GB" b="1" dirty="0"/>
              <a:t>subthalamic nucleus</a:t>
            </a:r>
          </a:p>
          <a:p>
            <a:pPr lvl="1"/>
            <a:r>
              <a:rPr lang="en-GB" dirty="0"/>
              <a:t>Hemiballismus - Flailing movement of a limb</a:t>
            </a:r>
          </a:p>
        </p:txBody>
      </p:sp>
      <p:pic>
        <p:nvPicPr>
          <p:cNvPr id="4" name="Online Media 3" title="Athetosis">
            <a:hlinkClick r:id="" action="ppaction://media"/>
            <a:extLst>
              <a:ext uri="{FF2B5EF4-FFF2-40B4-BE49-F238E27FC236}">
                <a16:creationId xmlns:a16="http://schemas.microsoft.com/office/drawing/2014/main" id="{81FE3EC5-8374-327D-D272-3348477085FD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8639371" y="3887957"/>
            <a:ext cx="3527898" cy="2645924"/>
          </a:xfrm>
          <a:prstGeom prst="rect">
            <a:avLst/>
          </a:prstGeom>
        </p:spPr>
      </p:pic>
      <p:pic>
        <p:nvPicPr>
          <p:cNvPr id="7" name="Online Media 6" title="50 hemiballismus">
            <a:hlinkClick r:id="" action="ppaction://media"/>
            <a:extLst>
              <a:ext uri="{FF2B5EF4-FFF2-40B4-BE49-F238E27FC236}">
                <a16:creationId xmlns:a16="http://schemas.microsoft.com/office/drawing/2014/main" id="{0176ED27-9DF3-5E0F-D28E-21DD2F37911A}"/>
              </a:ext>
            </a:extLst>
          </p:cNvPr>
          <p:cNvPicPr>
            <a:picLocks noRot="1" noChangeAspect="1"/>
          </p:cNvPicPr>
          <p:nvPr>
            <a:videoFile r:link="rId2"/>
          </p:nvPr>
        </p:nvPicPr>
        <p:blipFill>
          <a:blip r:embed="rId6"/>
          <a:stretch>
            <a:fillRect/>
          </a:stretch>
        </p:blipFill>
        <p:spPr>
          <a:xfrm>
            <a:off x="4956629" y="3887957"/>
            <a:ext cx="3575094" cy="2681320"/>
          </a:xfrm>
          <a:prstGeom prst="rect">
            <a:avLst/>
          </a:prstGeom>
        </p:spPr>
      </p:pic>
      <p:pic>
        <p:nvPicPr>
          <p:cNvPr id="5" name="Online Media 4" title="A Patient With Severe Cervical Dystonia">
            <a:hlinkClick r:id="" action="ppaction://media"/>
            <a:extLst>
              <a:ext uri="{FF2B5EF4-FFF2-40B4-BE49-F238E27FC236}">
                <a16:creationId xmlns:a16="http://schemas.microsoft.com/office/drawing/2014/main" id="{37927C1A-331E-7E2D-70F7-81D63EFD4299}"/>
              </a:ext>
            </a:extLst>
          </p:cNvPr>
          <p:cNvPicPr>
            <a:picLocks noRot="1" noChangeAspect="1"/>
          </p:cNvPicPr>
          <p:nvPr>
            <a:videoFile r:link="rId3"/>
          </p:nvPr>
        </p:nvPicPr>
        <p:blipFill>
          <a:blip r:embed="rId7"/>
          <a:stretch>
            <a:fillRect/>
          </a:stretch>
        </p:blipFill>
        <p:spPr>
          <a:xfrm>
            <a:off x="6177134" y="980604"/>
            <a:ext cx="4709178" cy="2660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24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5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video>
              <p:cMediaNode vol="80000">
                <p:cTn id="16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96BC0-D4D7-64EE-71AD-0D173F7AE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Parkinson’s disease</a:t>
            </a:r>
          </a:p>
        </p:txBody>
      </p:sp>
      <p:pic>
        <p:nvPicPr>
          <p:cNvPr id="2050" name="Picture 2" descr="Substantia nigra and Parkinson disease">
            <a:extLst>
              <a:ext uri="{FF2B5EF4-FFF2-40B4-BE49-F238E27FC236}">
                <a16:creationId xmlns:a16="http://schemas.microsoft.com/office/drawing/2014/main" id="{2B48FE76-AF84-872A-F61E-07870C4AE5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0050" y="1831405"/>
            <a:ext cx="5020797" cy="4016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6FBBDC-18BC-3BAA-6F74-9F1CECF87D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61" y="1206134"/>
            <a:ext cx="6800850" cy="609089"/>
          </a:xfrm>
        </p:spPr>
        <p:txBody>
          <a:bodyPr>
            <a:normAutofit fontScale="92500"/>
          </a:bodyPr>
          <a:lstStyle/>
          <a:p>
            <a:pPr marL="0" indent="0" algn="r">
              <a:buNone/>
            </a:pPr>
            <a:r>
              <a:rPr lang="en-GB" sz="2400" dirty="0"/>
              <a:t>Degeneration of the </a:t>
            </a:r>
            <a:r>
              <a:rPr lang="en-GB" sz="2400" b="1" dirty="0"/>
              <a:t>substantia nigra </a:t>
            </a:r>
            <a:r>
              <a:rPr lang="en-GB" sz="2400" b="1" i="1" dirty="0"/>
              <a:t>pars compacta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7E0F43E-65D6-84E6-CB65-0D8CD07DABE3}"/>
              </a:ext>
            </a:extLst>
          </p:cNvPr>
          <p:cNvGrpSpPr/>
          <p:nvPr/>
        </p:nvGrpSpPr>
        <p:grpSpPr>
          <a:xfrm>
            <a:off x="412997" y="1747980"/>
            <a:ext cx="4993393" cy="4671482"/>
            <a:chOff x="535727" y="1276492"/>
            <a:chExt cx="4993393" cy="4671482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47939CEA-176D-0FFA-B0AC-06E5612534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61920" y="1276492"/>
              <a:ext cx="4267200" cy="4305016"/>
            </a:xfrm>
            <a:prstGeom prst="rect">
              <a:avLst/>
            </a:prstGeom>
          </p:spPr>
        </p:pic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DED524D-38D0-9455-0826-3D226862F53C}"/>
                </a:ext>
              </a:extLst>
            </p:cNvPr>
            <p:cNvCxnSpPr>
              <a:cxnSpLocks/>
              <a:endCxn id="23" idx="0"/>
            </p:cNvCxnSpPr>
            <p:nvPr/>
          </p:nvCxnSpPr>
          <p:spPr>
            <a:xfrm flipH="1">
              <a:off x="1083210" y="4815665"/>
              <a:ext cx="901263" cy="609089"/>
            </a:xfrm>
            <a:prstGeom prst="line">
              <a:avLst/>
            </a:prstGeom>
            <a:ln w="28575">
              <a:solidFill>
                <a:schemeClr val="accent2">
                  <a:lumMod val="75000"/>
                </a:schemeClr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DC26609-552A-5ADE-7ADF-751572219EB1}"/>
                </a:ext>
              </a:extLst>
            </p:cNvPr>
            <p:cNvSpPr txBox="1"/>
            <p:nvPr/>
          </p:nvSpPr>
          <p:spPr>
            <a:xfrm>
              <a:off x="535727" y="5424754"/>
              <a:ext cx="109496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dirty="0"/>
                <a:t>Substantia</a:t>
              </a:r>
            </a:p>
            <a:p>
              <a:pPr algn="ctr"/>
              <a:r>
                <a:rPr lang="en-GB" sz="1400" dirty="0"/>
                <a:t>Nigra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08464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374"/>
    </mc:Choice>
    <mc:Fallback xmlns="">
      <p:transition spd="slow" advTm="13374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F2C96-9E67-DE99-08FB-1BEB7E69C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Parkinson’s disease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0637AD-0299-3E04-EA43-E795852A15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b="1" dirty="0"/>
              <a:t>Motor</a:t>
            </a:r>
          </a:p>
          <a:p>
            <a:pPr lvl="1"/>
            <a:r>
              <a:rPr lang="en-GB" b="1" dirty="0"/>
              <a:t>Muscle rigidity</a:t>
            </a:r>
          </a:p>
          <a:p>
            <a:pPr lvl="1"/>
            <a:r>
              <a:rPr lang="en-GB" dirty="0"/>
              <a:t>Involuntary </a:t>
            </a:r>
            <a:r>
              <a:rPr lang="en-GB" b="1" dirty="0"/>
              <a:t>tremor</a:t>
            </a:r>
            <a:r>
              <a:rPr lang="en-GB" dirty="0"/>
              <a:t>, moving or resting, at 3-6 cycles/sec</a:t>
            </a:r>
          </a:p>
          <a:p>
            <a:pPr lvl="1"/>
            <a:r>
              <a:rPr lang="en-GB" b="1" dirty="0"/>
              <a:t>Akinesia</a:t>
            </a:r>
            <a:r>
              <a:rPr lang="en-GB" dirty="0"/>
              <a:t> - difficulty in movement initiation</a:t>
            </a:r>
          </a:p>
          <a:p>
            <a:pPr lvl="1"/>
            <a:r>
              <a:rPr lang="en-GB" b="1" dirty="0"/>
              <a:t>Bradykinesia</a:t>
            </a:r>
            <a:r>
              <a:rPr lang="en-GB" dirty="0"/>
              <a:t>: Slowness in executing movements</a:t>
            </a:r>
          </a:p>
          <a:p>
            <a:pPr lvl="1"/>
            <a:r>
              <a:rPr lang="en-GB" dirty="0"/>
              <a:t>Postural instability, with poor balance and falls - impaired postural reflexes</a:t>
            </a:r>
          </a:p>
          <a:p>
            <a:pPr lvl="1"/>
            <a:r>
              <a:rPr lang="en-GB" dirty="0"/>
              <a:t>Dysphagia (impaired swallowing)</a:t>
            </a:r>
          </a:p>
          <a:p>
            <a:pPr lvl="1"/>
            <a:r>
              <a:rPr lang="en-GB" dirty="0"/>
              <a:t>Gait disturbance</a:t>
            </a:r>
          </a:p>
          <a:p>
            <a:pPr lvl="1"/>
            <a:endParaRPr lang="en-GB" dirty="0"/>
          </a:p>
          <a:p>
            <a:r>
              <a:rPr lang="en-GB" b="1" dirty="0"/>
              <a:t>Non-motor</a:t>
            </a:r>
          </a:p>
          <a:p>
            <a:pPr lvl="1"/>
            <a:r>
              <a:rPr lang="en-GB" dirty="0"/>
              <a:t>Speech disorder</a:t>
            </a:r>
          </a:p>
          <a:p>
            <a:pPr lvl="1"/>
            <a:r>
              <a:rPr lang="en-GB" dirty="0"/>
              <a:t>Fatigue</a:t>
            </a:r>
          </a:p>
          <a:p>
            <a:pPr lvl="1"/>
            <a:r>
              <a:rPr lang="en-GB" altLang="en-US" dirty="0">
                <a:latin typeface="Calibri" panose="020F0502020204030204" pitchFamily="34" charset="0"/>
                <a:cs typeface="Calibri" panose="020F0502020204030204" pitchFamily="34" charset="0"/>
              </a:rPr>
              <a:t>REM sleep disorder</a:t>
            </a:r>
          </a:p>
          <a:p>
            <a:pPr lvl="1"/>
            <a:r>
              <a:rPr lang="en-GB" altLang="en-US" dirty="0">
                <a:latin typeface="Calibri" panose="020F0502020204030204" pitchFamily="34" charset="0"/>
                <a:cs typeface="Calibri" panose="020F0502020204030204" pitchFamily="34" charset="0"/>
              </a:rPr>
              <a:t>Autonomic dysfunction</a:t>
            </a:r>
          </a:p>
          <a:p>
            <a:pPr lvl="1"/>
            <a:r>
              <a:rPr lang="en-GB" altLang="en-US" dirty="0">
                <a:latin typeface="Calibri" panose="020F0502020204030204" pitchFamily="34" charset="0"/>
                <a:cs typeface="Calibri" panose="020F0502020204030204" pitchFamily="34" charset="0"/>
              </a:rPr>
              <a:t>Cognitive decline</a:t>
            </a:r>
          </a:p>
          <a:p>
            <a:pPr lvl="1"/>
            <a:r>
              <a:rPr lang="en-GB" altLang="en-US" dirty="0">
                <a:latin typeface="Calibri" panose="020F0502020204030204" pitchFamily="34" charset="0"/>
                <a:cs typeface="Calibri" panose="020F0502020204030204" pitchFamily="34" charset="0"/>
              </a:rPr>
              <a:t>Pain</a:t>
            </a:r>
            <a:endParaRPr lang="en-GB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074" name="Picture 2" descr="What is Parkinsons Disease | Parkinsons Disease Treatment">
            <a:extLst>
              <a:ext uri="{FF2B5EF4-FFF2-40B4-BE49-F238E27FC236}">
                <a16:creationId xmlns:a16="http://schemas.microsoft.com/office/drawing/2014/main" id="{9CA6907C-DE77-50C7-2CE0-73781F8B57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3813" y="1283840"/>
            <a:ext cx="533400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4430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A5F3E-3926-F573-E573-12E44E0D7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Parkinson’s disease</a:t>
            </a:r>
          </a:p>
        </p:txBody>
      </p:sp>
      <p:pic>
        <p:nvPicPr>
          <p:cNvPr id="4" name="Online Media 3" title="7 Motor Symptoms of Parkinsons Disease">
            <a:hlinkClick r:id="" action="ppaction://media"/>
            <a:extLst>
              <a:ext uri="{FF2B5EF4-FFF2-40B4-BE49-F238E27FC236}">
                <a16:creationId xmlns:a16="http://schemas.microsoft.com/office/drawing/2014/main" id="{A4C020E8-8541-0933-2195-F9DF9215CC06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380803" y="1321455"/>
            <a:ext cx="9430394" cy="5328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913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3F804-116B-7963-07EC-A7C577013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Parkinson’s disease: unclear etiology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84C87-1CA5-CC88-C727-FCC0A14E4E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Mostly late onset with sporadic cases</a:t>
            </a:r>
          </a:p>
          <a:p>
            <a:endParaRPr lang="en-GB" dirty="0"/>
          </a:p>
          <a:p>
            <a:r>
              <a:rPr lang="en-GB" b="1" dirty="0"/>
              <a:t>Genetics</a:t>
            </a:r>
          </a:p>
          <a:p>
            <a:pPr lvl="1"/>
            <a:r>
              <a:rPr lang="en-GB" dirty="0"/>
              <a:t>10% of cases are familiar (mutations in PARK1-10 genes)</a:t>
            </a:r>
          </a:p>
          <a:p>
            <a:pPr lvl="1"/>
            <a:r>
              <a:rPr lang="en-GB" dirty="0"/>
              <a:t>PARK-1 gene for </a:t>
            </a:r>
            <a:r>
              <a:rPr lang="en-GB" dirty="0">
                <a:latin typeface="Symbol" panose="05050102010706020507" pitchFamily="18" charset="2"/>
              </a:rPr>
              <a:t>a</a:t>
            </a:r>
            <a:r>
              <a:rPr lang="en-GB" dirty="0"/>
              <a:t>-synuclein </a:t>
            </a:r>
            <a:r>
              <a:rPr lang="en-GB" dirty="0">
                <a:sym typeface="Wingdings" panose="05000000000000000000" pitchFamily="2" charset="2"/>
              </a:rPr>
              <a:t> higher in PD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LRRK2 gene</a:t>
            </a:r>
          </a:p>
          <a:p>
            <a:endParaRPr lang="en-GB" dirty="0">
              <a:sym typeface="Wingdings" panose="05000000000000000000" pitchFamily="2" charset="2"/>
            </a:endParaRPr>
          </a:p>
          <a:p>
            <a:r>
              <a:rPr lang="en-GB" b="1" dirty="0">
                <a:sym typeface="Wingdings" panose="05000000000000000000" pitchFamily="2" charset="2"/>
              </a:rPr>
              <a:t>Environmental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Chemicals like MPTP (1-methyl-4phenyl-1,2,5,6,-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tetrahydropyridine) can induce PD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Agrochemicals (pesticides)?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Gut microbiome? (</a:t>
            </a:r>
            <a:r>
              <a:rPr lang="en-GB" dirty="0">
                <a:latin typeface="Symbol" panose="05050102010706020507" pitchFamily="18" charset="2"/>
              </a:rPr>
              <a:t>a</a:t>
            </a:r>
            <a:r>
              <a:rPr lang="en-GB" dirty="0"/>
              <a:t>-synuclein aggregates found in the gut)</a:t>
            </a:r>
          </a:p>
        </p:txBody>
      </p:sp>
      <p:pic>
        <p:nvPicPr>
          <p:cNvPr id="4" name="Picture 2" descr="Substantia nigra and Parkinson disease">
            <a:extLst>
              <a:ext uri="{FF2B5EF4-FFF2-40B4-BE49-F238E27FC236}">
                <a16:creationId xmlns:a16="http://schemas.microsoft.com/office/drawing/2014/main" id="{DB14E0EF-5CCA-400E-73C2-EE342465F7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0050" y="1831405"/>
            <a:ext cx="5020797" cy="4016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77639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nector: Elbow 3">
            <a:extLst>
              <a:ext uri="{FF2B5EF4-FFF2-40B4-BE49-F238E27FC236}">
                <a16:creationId xmlns:a16="http://schemas.microsoft.com/office/drawing/2014/main" id="{B34669B0-EAE4-F4E4-CF59-FC9FCD4148D0}"/>
              </a:ext>
            </a:extLst>
          </p:cNvPr>
          <p:cNvCxnSpPr>
            <a:cxnSpLocks/>
          </p:cNvCxnSpPr>
          <p:nvPr/>
        </p:nvCxnSpPr>
        <p:spPr>
          <a:xfrm rot="16200000" flipV="1">
            <a:off x="9552742" y="3656698"/>
            <a:ext cx="1822809" cy="1665178"/>
          </a:xfrm>
          <a:prstGeom prst="bentConnector3">
            <a:avLst>
              <a:gd name="adj1" fmla="val 75953"/>
            </a:avLst>
          </a:prstGeom>
          <a:ln w="539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D87DB11-477E-7C53-D14C-9ECFD2109346}"/>
              </a:ext>
            </a:extLst>
          </p:cNvPr>
          <p:cNvCxnSpPr>
            <a:cxnSpLocks/>
          </p:cNvCxnSpPr>
          <p:nvPr/>
        </p:nvCxnSpPr>
        <p:spPr>
          <a:xfrm rot="16200000" flipV="1">
            <a:off x="9570837" y="3537870"/>
            <a:ext cx="56356" cy="65087"/>
          </a:xfrm>
          <a:prstGeom prst="line">
            <a:avLst/>
          </a:prstGeom>
          <a:ln w="539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AAA0CD6-126A-119F-AEC7-A1D008AABC30}"/>
              </a:ext>
            </a:extLst>
          </p:cNvPr>
          <p:cNvCxnSpPr>
            <a:cxnSpLocks/>
          </p:cNvCxnSpPr>
          <p:nvPr/>
        </p:nvCxnSpPr>
        <p:spPr>
          <a:xfrm rot="16200000">
            <a:off x="9636321" y="3537473"/>
            <a:ext cx="56356" cy="65881"/>
          </a:xfrm>
          <a:prstGeom prst="line">
            <a:avLst/>
          </a:prstGeom>
          <a:ln w="539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E825713-6F7F-0154-0F2C-7CB44319F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Parkinson’s disease: mechanism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ABD519-0AF1-C0BE-116D-43FF5B507F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Destruction of SN dopaminergic neurons will remove inhibition on the indirect pathway</a:t>
            </a:r>
          </a:p>
          <a:p>
            <a:pPr lvl="1"/>
            <a:r>
              <a:rPr lang="en-GB" b="1" dirty="0"/>
              <a:t>Direct</a:t>
            </a:r>
            <a:r>
              <a:rPr lang="en-GB" dirty="0"/>
              <a:t> pathway becomes </a:t>
            </a:r>
            <a:r>
              <a:rPr lang="en-GB" b="1" dirty="0"/>
              <a:t>underactive</a:t>
            </a:r>
          </a:p>
          <a:p>
            <a:pPr lvl="1"/>
            <a:r>
              <a:rPr lang="en-GB" b="1" dirty="0"/>
              <a:t>Indirect</a:t>
            </a:r>
            <a:r>
              <a:rPr lang="en-GB" dirty="0"/>
              <a:t> pathway becomes </a:t>
            </a:r>
            <a:r>
              <a:rPr lang="en-GB" b="1" dirty="0"/>
              <a:t>overactive</a:t>
            </a:r>
          </a:p>
          <a:p>
            <a:endParaRPr lang="en-GB" dirty="0"/>
          </a:p>
          <a:p>
            <a:r>
              <a:rPr lang="en-GB" dirty="0"/>
              <a:t>Some feedback circuits based on </a:t>
            </a:r>
            <a:r>
              <a:rPr lang="en-GB" b="1" dirty="0"/>
              <a:t>acetylcholine</a:t>
            </a:r>
            <a:r>
              <a:rPr lang="en-GB" dirty="0"/>
              <a:t> could be the cause of the oscillations which cause the tremor.</a:t>
            </a:r>
          </a:p>
          <a:p>
            <a:endParaRPr lang="en-GB" dirty="0"/>
          </a:p>
          <a:p>
            <a:r>
              <a:rPr lang="en-GB" b="1" dirty="0"/>
              <a:t>Akinesia</a:t>
            </a:r>
            <a:r>
              <a:rPr lang="en-GB" dirty="0"/>
              <a:t> might also be connected to the lack of mental drive due to decrease dopamine secretion in the </a:t>
            </a:r>
            <a:r>
              <a:rPr lang="en-GB" dirty="0" err="1"/>
              <a:t>accumbens</a:t>
            </a:r>
            <a:r>
              <a:rPr lang="en-GB" dirty="0"/>
              <a:t> (another basal ganglia nucleus mostly related to emotions and reward).</a:t>
            </a:r>
          </a:p>
        </p:txBody>
      </p: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CAE17003-D8DD-6C69-A80E-A87F62AFD8B6}"/>
              </a:ext>
            </a:extLst>
          </p:cNvPr>
          <p:cNvGrpSpPr/>
          <p:nvPr/>
        </p:nvGrpSpPr>
        <p:grpSpPr>
          <a:xfrm>
            <a:off x="6904800" y="1642714"/>
            <a:ext cx="4858345" cy="4177510"/>
            <a:chOff x="6903881" y="1642714"/>
            <a:chExt cx="4858345" cy="4177510"/>
          </a:xfrm>
        </p:grpSpPr>
        <p:cxnSp>
          <p:nvCxnSpPr>
            <p:cNvPr id="121" name="Connector: Elbow 120">
              <a:extLst>
                <a:ext uri="{FF2B5EF4-FFF2-40B4-BE49-F238E27FC236}">
                  <a16:creationId xmlns:a16="http://schemas.microsoft.com/office/drawing/2014/main" id="{F64F5C81-FA38-7FF8-9389-689C2F0EC721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177801" y="3503535"/>
              <a:ext cx="2463011" cy="351787"/>
            </a:xfrm>
            <a:prstGeom prst="bentConnector3">
              <a:avLst>
                <a:gd name="adj1" fmla="val 100274"/>
              </a:avLst>
            </a:prstGeom>
            <a:ln w="53975">
              <a:solidFill>
                <a:srgbClr val="25E9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3D52E7B5-9858-03D9-F5CF-AB78791CD9D6}"/>
                </a:ext>
              </a:extLst>
            </p:cNvPr>
            <p:cNvGrpSpPr/>
            <p:nvPr/>
          </p:nvGrpSpPr>
          <p:grpSpPr>
            <a:xfrm>
              <a:off x="8585200" y="4845846"/>
              <a:ext cx="56356" cy="130968"/>
              <a:chOff x="8585200" y="4845846"/>
              <a:chExt cx="56356" cy="130968"/>
            </a:xfrm>
          </p:grpSpPr>
          <p:cxnSp>
            <p:nvCxnSpPr>
              <p:cNvPr id="175" name="Straight Connector 174">
                <a:extLst>
                  <a:ext uri="{FF2B5EF4-FFF2-40B4-BE49-F238E27FC236}">
                    <a16:creationId xmlns:a16="http://schemas.microsoft.com/office/drawing/2014/main" id="{ADCA33B5-46EB-A440-44A1-210FD281862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585200" y="4845846"/>
                <a:ext cx="56356" cy="65087"/>
              </a:xfrm>
              <a:prstGeom prst="line">
                <a:avLst/>
              </a:prstGeom>
              <a:ln w="53975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Straight Connector 175">
                <a:extLst>
                  <a:ext uri="{FF2B5EF4-FFF2-40B4-BE49-F238E27FC236}">
                    <a16:creationId xmlns:a16="http://schemas.microsoft.com/office/drawing/2014/main" id="{A9C603C9-C758-617F-5BE6-13A147A435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85200" y="4910933"/>
                <a:ext cx="56356" cy="65881"/>
              </a:xfrm>
              <a:prstGeom prst="line">
                <a:avLst/>
              </a:prstGeom>
              <a:ln w="53975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3" name="Rectangle: Rounded Corners 122">
              <a:extLst>
                <a:ext uri="{FF2B5EF4-FFF2-40B4-BE49-F238E27FC236}">
                  <a16:creationId xmlns:a16="http://schemas.microsoft.com/office/drawing/2014/main" id="{F65C40C1-79F3-9511-7897-EAC836A7BDE4}"/>
                </a:ext>
              </a:extLst>
            </p:cNvPr>
            <p:cNvSpPr/>
            <p:nvPr/>
          </p:nvSpPr>
          <p:spPr>
            <a:xfrm>
              <a:off x="9205758" y="3009900"/>
              <a:ext cx="1525269" cy="501650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124" name="Rectangle: Rounded Corners 123">
              <a:extLst>
                <a:ext uri="{FF2B5EF4-FFF2-40B4-BE49-F238E27FC236}">
                  <a16:creationId xmlns:a16="http://schemas.microsoft.com/office/drawing/2014/main" id="{48B3F0ED-6F4C-3071-F08B-4DC82C0C1359}"/>
                </a:ext>
              </a:extLst>
            </p:cNvPr>
            <p:cNvSpPr/>
            <p:nvPr/>
          </p:nvSpPr>
          <p:spPr>
            <a:xfrm>
              <a:off x="9879179" y="5400678"/>
              <a:ext cx="922172" cy="419546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 err="1">
                  <a:solidFill>
                    <a:schemeClr val="tx1"/>
                  </a:solidFill>
                </a:rPr>
                <a:t>GPi</a:t>
              </a:r>
              <a:r>
                <a:rPr lang="en-GB" sz="1400" dirty="0">
                  <a:solidFill>
                    <a:schemeClr val="tx1"/>
                  </a:solidFill>
                </a:rPr>
                <a:t>/</a:t>
              </a:r>
              <a:r>
                <a:rPr lang="en-GB" sz="1400" dirty="0" err="1">
                  <a:solidFill>
                    <a:schemeClr val="tx1"/>
                  </a:solidFill>
                </a:rPr>
                <a:t>SNr</a:t>
              </a:r>
              <a:endParaRPr lang="en-GB" sz="1400" dirty="0">
                <a:solidFill>
                  <a:schemeClr val="tx1"/>
                </a:solidFill>
              </a:endParaRPr>
            </a:p>
          </p:txBody>
        </p:sp>
        <p:sp>
          <p:nvSpPr>
            <p:cNvPr id="125" name="Rectangle: Rounded Corners 124">
              <a:extLst>
                <a:ext uri="{FF2B5EF4-FFF2-40B4-BE49-F238E27FC236}">
                  <a16:creationId xmlns:a16="http://schemas.microsoft.com/office/drawing/2014/main" id="{DECDCC50-A96B-53EE-45AD-42CC2C152719}"/>
                </a:ext>
              </a:extLst>
            </p:cNvPr>
            <p:cNvSpPr/>
            <p:nvPr/>
          </p:nvSpPr>
          <p:spPr>
            <a:xfrm>
              <a:off x="7077227" y="1642714"/>
              <a:ext cx="3653800" cy="728662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chemeClr val="tx1"/>
                  </a:solidFill>
                </a:rPr>
                <a:t>Cortex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3C44AD52-5BFA-8C58-9B0B-E91969258342}"/>
                </a:ext>
              </a:extLst>
            </p:cNvPr>
            <p:cNvSpPr txBox="1"/>
            <p:nvPr/>
          </p:nvSpPr>
          <p:spPr>
            <a:xfrm>
              <a:off x="10687182" y="3097008"/>
              <a:ext cx="107504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/>
                <a:t>Striatum</a:t>
              </a:r>
            </a:p>
          </p:txBody>
        </p:sp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27C9971C-746D-49F1-7772-B755E6D381CC}"/>
                </a:ext>
              </a:extLst>
            </p:cNvPr>
            <p:cNvGrpSpPr/>
            <p:nvPr/>
          </p:nvGrpSpPr>
          <p:grpSpPr>
            <a:xfrm>
              <a:off x="9540000" y="2393950"/>
              <a:ext cx="130968" cy="576993"/>
              <a:chOff x="9540000" y="2393950"/>
              <a:chExt cx="130968" cy="576993"/>
            </a:xfrm>
          </p:grpSpPr>
          <p:cxnSp>
            <p:nvCxnSpPr>
              <p:cNvPr id="171" name="Straight Connector 170">
                <a:extLst>
                  <a:ext uri="{FF2B5EF4-FFF2-40B4-BE49-F238E27FC236}">
                    <a16:creationId xmlns:a16="http://schemas.microsoft.com/office/drawing/2014/main" id="{448860DB-464F-CFA7-A7A1-4D762D7C81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05484" y="2393950"/>
                <a:ext cx="0" cy="523875"/>
              </a:xfrm>
              <a:prstGeom prst="line">
                <a:avLst/>
              </a:prstGeom>
              <a:ln w="57150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72" name="Group 171">
                <a:extLst>
                  <a:ext uri="{FF2B5EF4-FFF2-40B4-BE49-F238E27FC236}">
                    <a16:creationId xmlns:a16="http://schemas.microsoft.com/office/drawing/2014/main" id="{4BAB12C5-A635-D74D-1BAA-E1C00636DA2F}"/>
                  </a:ext>
                </a:extLst>
              </p:cNvPr>
              <p:cNvGrpSpPr/>
              <p:nvPr/>
            </p:nvGrpSpPr>
            <p:grpSpPr>
              <a:xfrm rot="5400000">
                <a:off x="9577306" y="2877281"/>
                <a:ext cx="56356" cy="130968"/>
                <a:chOff x="8585200" y="4845846"/>
                <a:chExt cx="56356" cy="130968"/>
              </a:xfrm>
            </p:grpSpPr>
            <p:cxnSp>
              <p:nvCxnSpPr>
                <p:cNvPr id="173" name="Straight Connector 172">
                  <a:extLst>
                    <a:ext uri="{FF2B5EF4-FFF2-40B4-BE49-F238E27FC236}">
                      <a16:creationId xmlns:a16="http://schemas.microsoft.com/office/drawing/2014/main" id="{1457846B-0964-2532-3C92-D3C2CAC5566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585200" y="4845846"/>
                  <a:ext cx="56356" cy="65087"/>
                </a:xfrm>
                <a:prstGeom prst="line">
                  <a:avLst/>
                </a:prstGeom>
                <a:ln w="53975">
                  <a:solidFill>
                    <a:srgbClr val="25E92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4" name="Straight Connector 173">
                  <a:extLst>
                    <a:ext uri="{FF2B5EF4-FFF2-40B4-BE49-F238E27FC236}">
                      <a16:creationId xmlns:a16="http://schemas.microsoft.com/office/drawing/2014/main" id="{2F3E7B61-AEE0-5801-C4E6-10A473D6A78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585200" y="4910933"/>
                  <a:ext cx="56356" cy="65881"/>
                </a:xfrm>
                <a:prstGeom prst="line">
                  <a:avLst/>
                </a:prstGeom>
                <a:ln w="53975">
                  <a:solidFill>
                    <a:srgbClr val="25E92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01FA274C-E191-A24E-1320-C5873FE3DFB8}"/>
                </a:ext>
              </a:extLst>
            </p:cNvPr>
            <p:cNvGrpSpPr/>
            <p:nvPr/>
          </p:nvGrpSpPr>
          <p:grpSpPr>
            <a:xfrm>
              <a:off x="9932906" y="2393950"/>
              <a:ext cx="130968" cy="576993"/>
              <a:chOff x="9540000" y="2393950"/>
              <a:chExt cx="130968" cy="576993"/>
            </a:xfrm>
          </p:grpSpPr>
          <p:cxnSp>
            <p:nvCxnSpPr>
              <p:cNvPr id="167" name="Straight Connector 166">
                <a:extLst>
                  <a:ext uri="{FF2B5EF4-FFF2-40B4-BE49-F238E27FC236}">
                    <a16:creationId xmlns:a16="http://schemas.microsoft.com/office/drawing/2014/main" id="{45A38A0A-BB2E-23DD-7DD3-B894AF38350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05484" y="2393950"/>
                <a:ext cx="0" cy="523875"/>
              </a:xfrm>
              <a:prstGeom prst="line">
                <a:avLst/>
              </a:prstGeom>
              <a:ln w="57150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68" name="Group 167">
                <a:extLst>
                  <a:ext uri="{FF2B5EF4-FFF2-40B4-BE49-F238E27FC236}">
                    <a16:creationId xmlns:a16="http://schemas.microsoft.com/office/drawing/2014/main" id="{E4CCBA90-8DA9-11D4-CA88-EEABF4C41B3B}"/>
                  </a:ext>
                </a:extLst>
              </p:cNvPr>
              <p:cNvGrpSpPr/>
              <p:nvPr/>
            </p:nvGrpSpPr>
            <p:grpSpPr>
              <a:xfrm rot="5400000">
                <a:off x="9577306" y="2877281"/>
                <a:ext cx="56356" cy="130968"/>
                <a:chOff x="8585200" y="4845846"/>
                <a:chExt cx="56356" cy="130968"/>
              </a:xfrm>
            </p:grpSpPr>
            <p:cxnSp>
              <p:nvCxnSpPr>
                <p:cNvPr id="169" name="Straight Connector 168">
                  <a:extLst>
                    <a:ext uri="{FF2B5EF4-FFF2-40B4-BE49-F238E27FC236}">
                      <a16:creationId xmlns:a16="http://schemas.microsoft.com/office/drawing/2014/main" id="{354E5F3B-CA80-6FD7-B55E-8A6A1FFF719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585200" y="4845846"/>
                  <a:ext cx="56356" cy="65087"/>
                </a:xfrm>
                <a:prstGeom prst="line">
                  <a:avLst/>
                </a:prstGeom>
                <a:ln w="53975">
                  <a:solidFill>
                    <a:srgbClr val="25E92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0" name="Straight Connector 169">
                  <a:extLst>
                    <a:ext uri="{FF2B5EF4-FFF2-40B4-BE49-F238E27FC236}">
                      <a16:creationId xmlns:a16="http://schemas.microsoft.com/office/drawing/2014/main" id="{602C356E-A2ED-F345-4193-98EF5CB964C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585200" y="4910933"/>
                  <a:ext cx="56356" cy="65881"/>
                </a:xfrm>
                <a:prstGeom prst="line">
                  <a:avLst/>
                </a:prstGeom>
                <a:ln w="53975">
                  <a:solidFill>
                    <a:srgbClr val="25E92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29" name="Group 128">
              <a:extLst>
                <a:ext uri="{FF2B5EF4-FFF2-40B4-BE49-F238E27FC236}">
                  <a16:creationId xmlns:a16="http://schemas.microsoft.com/office/drawing/2014/main" id="{18E5C197-8E61-CE0C-AEE7-A349B676E21C}"/>
                </a:ext>
              </a:extLst>
            </p:cNvPr>
            <p:cNvGrpSpPr/>
            <p:nvPr/>
          </p:nvGrpSpPr>
          <p:grpSpPr>
            <a:xfrm>
              <a:off x="10325812" y="2393950"/>
              <a:ext cx="130968" cy="576993"/>
              <a:chOff x="9540000" y="2393950"/>
              <a:chExt cx="130968" cy="576993"/>
            </a:xfrm>
          </p:grpSpPr>
          <p:cxnSp>
            <p:nvCxnSpPr>
              <p:cNvPr id="163" name="Straight Connector 162">
                <a:extLst>
                  <a:ext uri="{FF2B5EF4-FFF2-40B4-BE49-F238E27FC236}">
                    <a16:creationId xmlns:a16="http://schemas.microsoft.com/office/drawing/2014/main" id="{E3FF05D8-2E3B-33EE-CD69-8107021F8AE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05484" y="2393950"/>
                <a:ext cx="0" cy="523875"/>
              </a:xfrm>
              <a:prstGeom prst="line">
                <a:avLst/>
              </a:prstGeom>
              <a:ln w="57150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64" name="Group 163">
                <a:extLst>
                  <a:ext uri="{FF2B5EF4-FFF2-40B4-BE49-F238E27FC236}">
                    <a16:creationId xmlns:a16="http://schemas.microsoft.com/office/drawing/2014/main" id="{E32BB287-F0E0-F097-6D38-385F48384F97}"/>
                  </a:ext>
                </a:extLst>
              </p:cNvPr>
              <p:cNvGrpSpPr/>
              <p:nvPr/>
            </p:nvGrpSpPr>
            <p:grpSpPr>
              <a:xfrm rot="5400000">
                <a:off x="9577306" y="2877281"/>
                <a:ext cx="56356" cy="130968"/>
                <a:chOff x="8585200" y="4845846"/>
                <a:chExt cx="56356" cy="130968"/>
              </a:xfrm>
            </p:grpSpPr>
            <p:cxnSp>
              <p:nvCxnSpPr>
                <p:cNvPr id="165" name="Straight Connector 164">
                  <a:extLst>
                    <a:ext uri="{FF2B5EF4-FFF2-40B4-BE49-F238E27FC236}">
                      <a16:creationId xmlns:a16="http://schemas.microsoft.com/office/drawing/2014/main" id="{8C784D24-916F-ED4D-D9E6-A116D3C199F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585200" y="4845846"/>
                  <a:ext cx="56356" cy="65087"/>
                </a:xfrm>
                <a:prstGeom prst="line">
                  <a:avLst/>
                </a:prstGeom>
                <a:ln w="53975">
                  <a:solidFill>
                    <a:srgbClr val="25E92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6" name="Straight Connector 165">
                  <a:extLst>
                    <a:ext uri="{FF2B5EF4-FFF2-40B4-BE49-F238E27FC236}">
                      <a16:creationId xmlns:a16="http://schemas.microsoft.com/office/drawing/2014/main" id="{23AE547D-9843-F992-F52A-2D3849E74D4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585200" y="4910933"/>
                  <a:ext cx="56356" cy="65881"/>
                </a:xfrm>
                <a:prstGeom prst="line">
                  <a:avLst/>
                </a:prstGeom>
                <a:ln w="53975">
                  <a:solidFill>
                    <a:srgbClr val="25E92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F130E400-E3E6-C12A-A034-A4D90140F4AC}"/>
                </a:ext>
              </a:extLst>
            </p:cNvPr>
            <p:cNvGrpSpPr/>
            <p:nvPr/>
          </p:nvGrpSpPr>
          <p:grpSpPr>
            <a:xfrm flipV="1">
              <a:off x="7355450" y="2453221"/>
              <a:ext cx="130968" cy="1428444"/>
              <a:chOff x="9540000" y="1542499"/>
              <a:chExt cx="130968" cy="1428444"/>
            </a:xfrm>
          </p:grpSpPr>
          <p:cxnSp>
            <p:nvCxnSpPr>
              <p:cNvPr id="159" name="Straight Connector 158">
                <a:extLst>
                  <a:ext uri="{FF2B5EF4-FFF2-40B4-BE49-F238E27FC236}">
                    <a16:creationId xmlns:a16="http://schemas.microsoft.com/office/drawing/2014/main" id="{4925C697-FCE4-6BB4-EC6E-A8127630BD4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05484" y="1542499"/>
                <a:ext cx="0" cy="1375326"/>
              </a:xfrm>
              <a:prstGeom prst="line">
                <a:avLst/>
              </a:prstGeom>
              <a:ln w="57150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60" name="Group 159">
                <a:extLst>
                  <a:ext uri="{FF2B5EF4-FFF2-40B4-BE49-F238E27FC236}">
                    <a16:creationId xmlns:a16="http://schemas.microsoft.com/office/drawing/2014/main" id="{D672FCD2-8B78-EFBF-D60B-5FBBCFB8757C}"/>
                  </a:ext>
                </a:extLst>
              </p:cNvPr>
              <p:cNvGrpSpPr/>
              <p:nvPr/>
            </p:nvGrpSpPr>
            <p:grpSpPr>
              <a:xfrm rot="5400000">
                <a:off x="9577306" y="2877281"/>
                <a:ext cx="56356" cy="130968"/>
                <a:chOff x="8585200" y="4845846"/>
                <a:chExt cx="56356" cy="130968"/>
              </a:xfrm>
            </p:grpSpPr>
            <p:cxnSp>
              <p:nvCxnSpPr>
                <p:cNvPr id="161" name="Straight Connector 160">
                  <a:extLst>
                    <a:ext uri="{FF2B5EF4-FFF2-40B4-BE49-F238E27FC236}">
                      <a16:creationId xmlns:a16="http://schemas.microsoft.com/office/drawing/2014/main" id="{C0CE4317-4720-ED9E-8781-D85EB128BB8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585200" y="4845846"/>
                  <a:ext cx="56356" cy="65087"/>
                </a:xfrm>
                <a:prstGeom prst="line">
                  <a:avLst/>
                </a:prstGeom>
                <a:ln w="53975">
                  <a:solidFill>
                    <a:srgbClr val="25E92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2" name="Straight Connector 161">
                  <a:extLst>
                    <a:ext uri="{FF2B5EF4-FFF2-40B4-BE49-F238E27FC236}">
                      <a16:creationId xmlns:a16="http://schemas.microsoft.com/office/drawing/2014/main" id="{BDF50585-4F72-4428-8E65-C87E8B67D0B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585200" y="4910933"/>
                  <a:ext cx="56356" cy="65881"/>
                </a:xfrm>
                <a:prstGeom prst="line">
                  <a:avLst/>
                </a:prstGeom>
                <a:ln w="53975">
                  <a:solidFill>
                    <a:srgbClr val="25E92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131" name="Connector: Elbow 130">
              <a:extLst>
                <a:ext uri="{FF2B5EF4-FFF2-40B4-BE49-F238E27FC236}">
                  <a16:creationId xmlns:a16="http://schemas.microsoft.com/office/drawing/2014/main" id="{1226095E-7EBE-AD46-8627-7F089DEAC50C}"/>
                </a:ext>
              </a:extLst>
            </p:cNvPr>
            <p:cNvCxnSpPr>
              <a:cxnSpLocks/>
              <a:stCxn id="142" idx="2"/>
            </p:cNvCxnSpPr>
            <p:nvPr/>
          </p:nvCxnSpPr>
          <p:spPr>
            <a:xfrm rot="16200000" flipH="1">
              <a:off x="9271877" y="5059108"/>
              <a:ext cx="423466" cy="678424"/>
            </a:xfrm>
            <a:prstGeom prst="bentConnector2">
              <a:avLst/>
            </a:prstGeom>
            <a:ln w="53975">
              <a:solidFill>
                <a:srgbClr val="25E9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2" name="Group 131">
              <a:extLst>
                <a:ext uri="{FF2B5EF4-FFF2-40B4-BE49-F238E27FC236}">
                  <a16:creationId xmlns:a16="http://schemas.microsoft.com/office/drawing/2014/main" id="{06F5097E-E1AB-B11C-0EED-2C0F016230A8}"/>
                </a:ext>
              </a:extLst>
            </p:cNvPr>
            <p:cNvGrpSpPr/>
            <p:nvPr/>
          </p:nvGrpSpPr>
          <p:grpSpPr>
            <a:xfrm>
              <a:off x="9780556" y="5544967"/>
              <a:ext cx="56356" cy="130968"/>
              <a:chOff x="8585200" y="4845846"/>
              <a:chExt cx="56356" cy="130968"/>
            </a:xfrm>
          </p:grpSpPr>
          <p:cxnSp>
            <p:nvCxnSpPr>
              <p:cNvPr id="157" name="Straight Connector 156">
                <a:extLst>
                  <a:ext uri="{FF2B5EF4-FFF2-40B4-BE49-F238E27FC236}">
                    <a16:creationId xmlns:a16="http://schemas.microsoft.com/office/drawing/2014/main" id="{6CCF3315-5B76-1DAF-E802-21A60981531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585200" y="4845846"/>
                <a:ext cx="56356" cy="65087"/>
              </a:xfrm>
              <a:prstGeom prst="line">
                <a:avLst/>
              </a:prstGeom>
              <a:ln w="53975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Straight Connector 157">
                <a:extLst>
                  <a:ext uri="{FF2B5EF4-FFF2-40B4-BE49-F238E27FC236}">
                    <a16:creationId xmlns:a16="http://schemas.microsoft.com/office/drawing/2014/main" id="{9783C993-5BD5-5B8C-7FAB-9F708E86C8B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85200" y="4910933"/>
                <a:ext cx="56356" cy="65881"/>
              </a:xfrm>
              <a:prstGeom prst="line">
                <a:avLst/>
              </a:prstGeom>
              <a:ln w="53975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33" name="Connector: Elbow 132">
              <a:extLst>
                <a:ext uri="{FF2B5EF4-FFF2-40B4-BE49-F238E27FC236}">
                  <a16:creationId xmlns:a16="http://schemas.microsoft.com/office/drawing/2014/main" id="{F8D1041A-C14F-0151-FE6F-9A26CBFDC48E}"/>
                </a:ext>
              </a:extLst>
            </p:cNvPr>
            <p:cNvCxnSpPr>
              <a:cxnSpLocks/>
            </p:cNvCxnSpPr>
            <p:nvPr/>
          </p:nvCxnSpPr>
          <p:spPr>
            <a:xfrm>
              <a:off x="7412439" y="4390975"/>
              <a:ext cx="2438562" cy="1362125"/>
            </a:xfrm>
            <a:prstGeom prst="bentConnector3">
              <a:avLst>
                <a:gd name="adj1" fmla="val 628"/>
              </a:avLst>
            </a:prstGeom>
            <a:ln w="539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F3A41736-41E5-6F8F-D63D-4CC29A05A9D4}"/>
                </a:ext>
              </a:extLst>
            </p:cNvPr>
            <p:cNvCxnSpPr>
              <a:cxnSpLocks/>
            </p:cNvCxnSpPr>
            <p:nvPr/>
          </p:nvCxnSpPr>
          <p:spPr>
            <a:xfrm>
              <a:off x="7343313" y="4390975"/>
              <a:ext cx="176444" cy="0"/>
            </a:xfrm>
            <a:prstGeom prst="line">
              <a:avLst/>
            </a:prstGeom>
            <a:ln w="539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16BF7AE2-34E6-EAC8-9074-169309901076}"/>
                </a:ext>
              </a:extLst>
            </p:cNvPr>
            <p:cNvCxnSpPr>
              <a:cxnSpLocks/>
            </p:cNvCxnSpPr>
            <p:nvPr/>
          </p:nvCxnSpPr>
          <p:spPr>
            <a:xfrm>
              <a:off x="9050197" y="3881665"/>
              <a:ext cx="176444" cy="0"/>
            </a:xfrm>
            <a:prstGeom prst="line">
              <a:avLst/>
            </a:prstGeom>
            <a:ln w="539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58EAF71E-F515-410A-219D-7C5563FA76C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484600" y="3148634"/>
              <a:ext cx="237600" cy="237282"/>
            </a:xfrm>
            <a:prstGeom prst="ellipse">
              <a:avLst/>
            </a:prstGeom>
            <a:noFill/>
            <a:ln w="349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24AC0321-00FB-12AD-63FA-C34797C25AC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221465" y="3148634"/>
              <a:ext cx="237600" cy="237282"/>
            </a:xfrm>
            <a:prstGeom prst="ellipse">
              <a:avLst/>
            </a:prstGeom>
            <a:noFill/>
            <a:ln w="349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38" name="Connector: Elbow 137">
              <a:extLst>
                <a:ext uri="{FF2B5EF4-FFF2-40B4-BE49-F238E27FC236}">
                  <a16:creationId xmlns:a16="http://schemas.microsoft.com/office/drawing/2014/main" id="{AB635F56-8D7F-D17C-B6E6-901B763A6E65}"/>
                </a:ext>
              </a:extLst>
            </p:cNvPr>
            <p:cNvCxnSpPr>
              <a:cxnSpLocks/>
              <a:endCxn id="136" idx="2"/>
            </p:cNvCxnSpPr>
            <p:nvPr/>
          </p:nvCxnSpPr>
          <p:spPr>
            <a:xfrm rot="5400000" flipH="1" flipV="1">
              <a:off x="9016803" y="3394870"/>
              <a:ext cx="595392" cy="340202"/>
            </a:xfrm>
            <a:prstGeom prst="bentConnector2">
              <a:avLst/>
            </a:prstGeom>
            <a:ln w="539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9" name="Group 138">
              <a:extLst>
                <a:ext uri="{FF2B5EF4-FFF2-40B4-BE49-F238E27FC236}">
                  <a16:creationId xmlns:a16="http://schemas.microsoft.com/office/drawing/2014/main" id="{CC88058C-65AD-085E-F25F-69CBC99F1A3D}"/>
                </a:ext>
              </a:extLst>
            </p:cNvPr>
            <p:cNvGrpSpPr/>
            <p:nvPr/>
          </p:nvGrpSpPr>
          <p:grpSpPr>
            <a:xfrm>
              <a:off x="10252043" y="3385916"/>
              <a:ext cx="176444" cy="1909984"/>
              <a:chOff x="10252043" y="3385916"/>
              <a:chExt cx="176444" cy="1909984"/>
            </a:xfrm>
          </p:grpSpPr>
          <p:cxnSp>
            <p:nvCxnSpPr>
              <p:cNvPr id="155" name="Straight Connector 154">
                <a:extLst>
                  <a:ext uri="{FF2B5EF4-FFF2-40B4-BE49-F238E27FC236}">
                    <a16:creationId xmlns:a16="http://schemas.microsoft.com/office/drawing/2014/main" id="{4CEAD652-F83F-4635-3078-4D9D59E1101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52043" y="5295900"/>
                <a:ext cx="176444" cy="0"/>
              </a:xfrm>
              <a:prstGeom prst="line">
                <a:avLst/>
              </a:prstGeom>
              <a:ln w="539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Straight Connector 155">
                <a:extLst>
                  <a:ext uri="{FF2B5EF4-FFF2-40B4-BE49-F238E27FC236}">
                    <a16:creationId xmlns:a16="http://schemas.microsoft.com/office/drawing/2014/main" id="{150387C5-01A1-1FB7-CB8A-C88EB699D6B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44614" y="3385916"/>
                <a:ext cx="0" cy="1909984"/>
              </a:xfrm>
              <a:prstGeom prst="line">
                <a:avLst/>
              </a:prstGeom>
              <a:ln w="476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69779915-E70B-13AD-0096-DA4CAD58D88E}"/>
                </a:ext>
              </a:extLst>
            </p:cNvPr>
            <p:cNvGrpSpPr/>
            <p:nvPr/>
          </p:nvGrpSpPr>
          <p:grpSpPr>
            <a:xfrm>
              <a:off x="9052578" y="4371975"/>
              <a:ext cx="176444" cy="329185"/>
              <a:chOff x="10267298" y="4979872"/>
              <a:chExt cx="176444" cy="329185"/>
            </a:xfrm>
          </p:grpSpPr>
          <p:cxnSp>
            <p:nvCxnSpPr>
              <p:cNvPr id="153" name="Straight Connector 152">
                <a:extLst>
                  <a:ext uri="{FF2B5EF4-FFF2-40B4-BE49-F238E27FC236}">
                    <a16:creationId xmlns:a16="http://schemas.microsoft.com/office/drawing/2014/main" id="{E5EAABA9-B369-295E-CFFF-F581CAEB1CD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67298" y="5309057"/>
                <a:ext cx="176444" cy="0"/>
              </a:xfrm>
              <a:prstGeom prst="line">
                <a:avLst/>
              </a:prstGeom>
              <a:ln w="539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Straight Connector 153">
                <a:extLst>
                  <a:ext uri="{FF2B5EF4-FFF2-40B4-BE49-F238E27FC236}">
                    <a16:creationId xmlns:a16="http://schemas.microsoft.com/office/drawing/2014/main" id="{A6F3490E-4BA3-E603-6ADD-C30702B1A496}"/>
                  </a:ext>
                </a:extLst>
              </p:cNvPr>
              <p:cNvCxnSpPr>
                <a:cxnSpLocks/>
                <a:stCxn id="141" idx="2"/>
              </p:cNvCxnSpPr>
              <p:nvPr/>
            </p:nvCxnSpPr>
            <p:spPr>
              <a:xfrm>
                <a:off x="10359118" y="4979872"/>
                <a:ext cx="0" cy="329185"/>
              </a:xfrm>
              <a:prstGeom prst="line">
                <a:avLst/>
              </a:prstGeom>
              <a:ln w="476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1" name="Rectangle: Rounded Corners 140">
              <a:extLst>
                <a:ext uri="{FF2B5EF4-FFF2-40B4-BE49-F238E27FC236}">
                  <a16:creationId xmlns:a16="http://schemas.microsoft.com/office/drawing/2014/main" id="{E10D4DC1-FD8A-23C5-A4DD-12906774BF4E}"/>
                </a:ext>
              </a:extLst>
            </p:cNvPr>
            <p:cNvSpPr/>
            <p:nvPr/>
          </p:nvSpPr>
          <p:spPr>
            <a:xfrm>
              <a:off x="8683312" y="3952429"/>
              <a:ext cx="922172" cy="419546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 err="1">
                  <a:solidFill>
                    <a:schemeClr val="tx1"/>
                  </a:solidFill>
                </a:rPr>
                <a:t>GPe</a:t>
              </a:r>
              <a:endParaRPr lang="en-GB" sz="1400" dirty="0">
                <a:solidFill>
                  <a:schemeClr val="tx1"/>
                </a:solidFill>
              </a:endParaRPr>
            </a:p>
          </p:txBody>
        </p:sp>
        <p:sp>
          <p:nvSpPr>
            <p:cNvPr id="142" name="Rectangle: Rounded Corners 141">
              <a:extLst>
                <a:ext uri="{FF2B5EF4-FFF2-40B4-BE49-F238E27FC236}">
                  <a16:creationId xmlns:a16="http://schemas.microsoft.com/office/drawing/2014/main" id="{C9127114-BDB2-9348-AE1C-97DC1097F535}"/>
                </a:ext>
              </a:extLst>
            </p:cNvPr>
            <p:cNvSpPr/>
            <p:nvPr/>
          </p:nvSpPr>
          <p:spPr>
            <a:xfrm>
              <a:off x="8683312" y="4767041"/>
              <a:ext cx="922172" cy="419546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chemeClr val="tx1"/>
                  </a:solidFill>
                </a:rPr>
                <a:t>STN</a:t>
              </a:r>
            </a:p>
          </p:txBody>
        </p:sp>
        <p:sp>
          <p:nvSpPr>
            <p:cNvPr id="143" name="Rectangle: Rounded Corners 142">
              <a:extLst>
                <a:ext uri="{FF2B5EF4-FFF2-40B4-BE49-F238E27FC236}">
                  <a16:creationId xmlns:a16="http://schemas.microsoft.com/office/drawing/2014/main" id="{B28750C1-29FE-8E09-3012-586CAA340BA5}"/>
                </a:ext>
              </a:extLst>
            </p:cNvPr>
            <p:cNvSpPr/>
            <p:nvPr/>
          </p:nvSpPr>
          <p:spPr>
            <a:xfrm>
              <a:off x="6903881" y="3881665"/>
              <a:ext cx="1034106" cy="419546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chemeClr val="tx1"/>
                  </a:solidFill>
                </a:rPr>
                <a:t>Thalamus</a:t>
              </a:r>
            </a:p>
          </p:txBody>
        </p:sp>
        <p:cxnSp>
          <p:nvCxnSpPr>
            <p:cNvPr id="144" name="Connector: Elbow 143">
              <a:extLst>
                <a:ext uri="{FF2B5EF4-FFF2-40B4-BE49-F238E27FC236}">
                  <a16:creationId xmlns:a16="http://schemas.microsoft.com/office/drawing/2014/main" id="{7BF5309F-47C7-5111-98D7-FA9A5408E5C8}"/>
                </a:ext>
              </a:extLst>
            </p:cNvPr>
            <p:cNvCxnSpPr>
              <a:cxnSpLocks/>
              <a:stCxn id="148" idx="0"/>
            </p:cNvCxnSpPr>
            <p:nvPr/>
          </p:nvCxnSpPr>
          <p:spPr>
            <a:xfrm rot="16200000" flipV="1">
              <a:off x="10020640" y="4128344"/>
              <a:ext cx="1833349" cy="706603"/>
            </a:xfrm>
            <a:prstGeom prst="bentConnector3">
              <a:avLst>
                <a:gd name="adj1" fmla="val 50000"/>
              </a:avLst>
            </a:prstGeom>
            <a:ln w="5397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5" name="Group 144">
              <a:extLst>
                <a:ext uri="{FF2B5EF4-FFF2-40B4-BE49-F238E27FC236}">
                  <a16:creationId xmlns:a16="http://schemas.microsoft.com/office/drawing/2014/main" id="{8C09CE8C-74FA-6B70-5DD6-0CA51EFF6290}"/>
                </a:ext>
              </a:extLst>
            </p:cNvPr>
            <p:cNvGrpSpPr/>
            <p:nvPr/>
          </p:nvGrpSpPr>
          <p:grpSpPr>
            <a:xfrm rot="16200000">
              <a:off x="10555835" y="3504909"/>
              <a:ext cx="56356" cy="130968"/>
              <a:chOff x="8585200" y="4845846"/>
              <a:chExt cx="56356" cy="130968"/>
            </a:xfrm>
          </p:grpSpPr>
          <p:cxnSp>
            <p:nvCxnSpPr>
              <p:cNvPr id="151" name="Straight Connector 150">
                <a:extLst>
                  <a:ext uri="{FF2B5EF4-FFF2-40B4-BE49-F238E27FC236}">
                    <a16:creationId xmlns:a16="http://schemas.microsoft.com/office/drawing/2014/main" id="{E8387636-CDBB-A7EE-03A1-60B8E351427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585200" y="4845846"/>
                <a:ext cx="56356" cy="65087"/>
              </a:xfrm>
              <a:prstGeom prst="line">
                <a:avLst/>
              </a:prstGeom>
              <a:ln w="53975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Straight Connector 151">
                <a:extLst>
                  <a:ext uri="{FF2B5EF4-FFF2-40B4-BE49-F238E27FC236}">
                    <a16:creationId xmlns:a16="http://schemas.microsoft.com/office/drawing/2014/main" id="{A970E802-916B-CA61-139D-48602AFB4F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85200" y="4910933"/>
                <a:ext cx="56356" cy="65881"/>
              </a:xfrm>
              <a:prstGeom prst="line">
                <a:avLst/>
              </a:prstGeom>
              <a:ln w="53975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F9278DCC-62F0-441B-1F76-1C0AC4EC1BFA}"/>
                </a:ext>
              </a:extLst>
            </p:cNvPr>
            <p:cNvSpPr txBox="1"/>
            <p:nvPr/>
          </p:nvSpPr>
          <p:spPr>
            <a:xfrm>
              <a:off x="9631557" y="2932735"/>
              <a:ext cx="4443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solidFill>
                    <a:srgbClr val="FFC000"/>
                  </a:solidFill>
                </a:rPr>
                <a:t>D2</a:t>
              </a: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A4E0731D-0002-2570-CE3A-08A8E427E918}"/>
                </a:ext>
              </a:extLst>
            </p:cNvPr>
            <p:cNvSpPr txBox="1"/>
            <p:nvPr/>
          </p:nvSpPr>
          <p:spPr>
            <a:xfrm>
              <a:off x="10359103" y="2933303"/>
              <a:ext cx="4475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solidFill>
                    <a:srgbClr val="FFC000"/>
                  </a:solidFill>
                </a:rPr>
                <a:t>D1</a:t>
              </a:r>
            </a:p>
          </p:txBody>
        </p:sp>
        <p:sp>
          <p:nvSpPr>
            <p:cNvPr id="148" name="Rectangle: Rounded Corners 147">
              <a:extLst>
                <a:ext uri="{FF2B5EF4-FFF2-40B4-BE49-F238E27FC236}">
                  <a16:creationId xmlns:a16="http://schemas.microsoft.com/office/drawing/2014/main" id="{96A1BCBC-AB86-21B8-7545-A065BD642313}"/>
                </a:ext>
              </a:extLst>
            </p:cNvPr>
            <p:cNvSpPr/>
            <p:nvPr/>
          </p:nvSpPr>
          <p:spPr>
            <a:xfrm>
              <a:off x="10829529" y="5398320"/>
              <a:ext cx="922172" cy="419546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 err="1">
                  <a:solidFill>
                    <a:schemeClr val="tx1"/>
                  </a:solidFill>
                </a:rPr>
                <a:t>SNc</a:t>
              </a:r>
              <a:endParaRPr lang="en-GB" sz="1400" dirty="0">
                <a:solidFill>
                  <a:schemeClr val="tx1"/>
                </a:solidFill>
              </a:endParaRP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D6B9D8FE-6A21-0AA3-41DE-39630334712B}"/>
                </a:ext>
              </a:extLst>
            </p:cNvPr>
            <p:cNvSpPr txBox="1"/>
            <p:nvPr/>
          </p:nvSpPr>
          <p:spPr>
            <a:xfrm>
              <a:off x="10349165" y="317859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solidFill>
                    <a:srgbClr val="FFC000"/>
                  </a:solidFill>
                </a:rPr>
                <a:t>+</a:t>
              </a:r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5607C9E2-EB9B-2E35-B10A-AE435AADCD80}"/>
                </a:ext>
              </a:extLst>
            </p:cNvPr>
            <p:cNvSpPr txBox="1"/>
            <p:nvPr/>
          </p:nvSpPr>
          <p:spPr>
            <a:xfrm>
              <a:off x="9625787" y="3175747"/>
              <a:ext cx="2551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solidFill>
                    <a:srgbClr val="FFC000"/>
                  </a:solidFill>
                </a:rPr>
                <a:t>-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414672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nector: Elbow 3">
            <a:extLst>
              <a:ext uri="{FF2B5EF4-FFF2-40B4-BE49-F238E27FC236}">
                <a16:creationId xmlns:a16="http://schemas.microsoft.com/office/drawing/2014/main" id="{7E388346-8117-8AED-0E33-3DBA1F9B3885}"/>
              </a:ext>
            </a:extLst>
          </p:cNvPr>
          <p:cNvCxnSpPr>
            <a:cxnSpLocks/>
          </p:cNvCxnSpPr>
          <p:nvPr/>
        </p:nvCxnSpPr>
        <p:spPr>
          <a:xfrm rot="16200000" flipV="1">
            <a:off x="9552742" y="3656698"/>
            <a:ext cx="1822809" cy="1665178"/>
          </a:xfrm>
          <a:prstGeom prst="bentConnector3">
            <a:avLst>
              <a:gd name="adj1" fmla="val 75953"/>
            </a:avLst>
          </a:prstGeom>
          <a:ln w="53975">
            <a:solidFill>
              <a:srgbClr val="FFC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C448800-06B7-B98A-980B-F89C1777F2A7}"/>
              </a:ext>
            </a:extLst>
          </p:cNvPr>
          <p:cNvCxnSpPr>
            <a:cxnSpLocks/>
          </p:cNvCxnSpPr>
          <p:nvPr/>
        </p:nvCxnSpPr>
        <p:spPr>
          <a:xfrm rot="16200000" flipV="1">
            <a:off x="9570837" y="3537870"/>
            <a:ext cx="56356" cy="65087"/>
          </a:xfrm>
          <a:prstGeom prst="line">
            <a:avLst/>
          </a:prstGeom>
          <a:ln w="539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1E025E46-D80D-5A38-9B44-D8FEA7E1FE0E}"/>
              </a:ext>
            </a:extLst>
          </p:cNvPr>
          <p:cNvCxnSpPr>
            <a:cxnSpLocks/>
          </p:cNvCxnSpPr>
          <p:nvPr/>
        </p:nvCxnSpPr>
        <p:spPr>
          <a:xfrm rot="16200000">
            <a:off x="9636321" y="3537473"/>
            <a:ext cx="56356" cy="65881"/>
          </a:xfrm>
          <a:prstGeom prst="line">
            <a:avLst/>
          </a:prstGeom>
          <a:ln w="539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E825713-6F7F-0154-0F2C-7CB44319F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Parkinson’s disease: mechanism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ABD519-0AF1-C0BE-116D-43FF5B507F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Destruction of SN dopaminergic neurons will remove inhibition on the indirect pathway</a:t>
            </a:r>
          </a:p>
          <a:p>
            <a:pPr lvl="1"/>
            <a:r>
              <a:rPr lang="en-GB" b="1" dirty="0"/>
              <a:t>Direct</a:t>
            </a:r>
            <a:r>
              <a:rPr lang="en-GB" dirty="0"/>
              <a:t> pathway becomes </a:t>
            </a:r>
            <a:r>
              <a:rPr lang="en-GB" b="1" dirty="0"/>
              <a:t>underactive</a:t>
            </a:r>
          </a:p>
          <a:p>
            <a:pPr lvl="1"/>
            <a:r>
              <a:rPr lang="en-GB" b="1" dirty="0"/>
              <a:t>Indirect</a:t>
            </a:r>
            <a:r>
              <a:rPr lang="en-GB" dirty="0"/>
              <a:t> pathway becomes </a:t>
            </a:r>
            <a:r>
              <a:rPr lang="en-GB" b="1" dirty="0"/>
              <a:t>overactive</a:t>
            </a:r>
          </a:p>
          <a:p>
            <a:endParaRPr lang="en-GB" dirty="0"/>
          </a:p>
          <a:p>
            <a:r>
              <a:rPr lang="en-GB" dirty="0"/>
              <a:t>Some feedback circuits based on </a:t>
            </a:r>
            <a:r>
              <a:rPr lang="en-GB" b="1" dirty="0"/>
              <a:t>acetylcholine</a:t>
            </a:r>
            <a:r>
              <a:rPr lang="en-GB" dirty="0"/>
              <a:t> could be the cause of the oscillations which cause the tremor.</a:t>
            </a:r>
          </a:p>
          <a:p>
            <a:endParaRPr lang="en-GB" dirty="0"/>
          </a:p>
          <a:p>
            <a:r>
              <a:rPr lang="en-GB" b="1" dirty="0"/>
              <a:t>Akinesia</a:t>
            </a:r>
            <a:r>
              <a:rPr lang="en-GB" dirty="0"/>
              <a:t> might also be connected to the lack of mental drive due to decrease dopamine secretion in the </a:t>
            </a:r>
            <a:r>
              <a:rPr lang="en-GB" dirty="0" err="1"/>
              <a:t>accumbens</a:t>
            </a:r>
            <a:r>
              <a:rPr lang="en-GB" dirty="0"/>
              <a:t> (another basal ganglia nucleus mostly related to emotions and reward).</a:t>
            </a: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6C91820F-E38C-2951-16F9-91464FB7213F}"/>
              </a:ext>
            </a:extLst>
          </p:cNvPr>
          <p:cNvGrpSpPr/>
          <p:nvPr/>
        </p:nvGrpSpPr>
        <p:grpSpPr>
          <a:xfrm>
            <a:off x="6903881" y="1642714"/>
            <a:ext cx="4858345" cy="4177510"/>
            <a:chOff x="6903881" y="1642714"/>
            <a:chExt cx="4858345" cy="4177510"/>
          </a:xfrm>
        </p:grpSpPr>
        <p:cxnSp>
          <p:nvCxnSpPr>
            <p:cNvPr id="6" name="Connector: Elbow 5">
              <a:extLst>
                <a:ext uri="{FF2B5EF4-FFF2-40B4-BE49-F238E27FC236}">
                  <a16:creationId xmlns:a16="http://schemas.microsoft.com/office/drawing/2014/main" id="{BB6C79D9-F770-4BEC-21BA-3DED4DE52C85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177801" y="3503535"/>
              <a:ext cx="2463011" cy="351787"/>
            </a:xfrm>
            <a:prstGeom prst="bentConnector3">
              <a:avLst>
                <a:gd name="adj1" fmla="val 100274"/>
              </a:avLst>
            </a:prstGeom>
            <a:ln w="53975">
              <a:solidFill>
                <a:srgbClr val="25E9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6A3AA805-B4F0-9A25-AA81-53ABA8688893}"/>
                </a:ext>
              </a:extLst>
            </p:cNvPr>
            <p:cNvGrpSpPr/>
            <p:nvPr/>
          </p:nvGrpSpPr>
          <p:grpSpPr>
            <a:xfrm>
              <a:off x="8585200" y="4845846"/>
              <a:ext cx="56356" cy="130968"/>
              <a:chOff x="8585200" y="4845846"/>
              <a:chExt cx="56356" cy="130968"/>
            </a:xfrm>
          </p:grpSpPr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2D659782-B5C1-07D4-BD22-FE714669DCF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585200" y="4845846"/>
                <a:ext cx="56356" cy="65087"/>
              </a:xfrm>
              <a:prstGeom prst="line">
                <a:avLst/>
              </a:prstGeom>
              <a:ln w="53975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76BC49A1-2996-F70D-C7D8-CF9C1B311F6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85200" y="4910933"/>
                <a:ext cx="56356" cy="65881"/>
              </a:xfrm>
              <a:prstGeom prst="line">
                <a:avLst/>
              </a:prstGeom>
              <a:ln w="53975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EF54A869-02D0-9FDD-87A3-FAB5E9DD70C5}"/>
                </a:ext>
              </a:extLst>
            </p:cNvPr>
            <p:cNvSpPr/>
            <p:nvPr/>
          </p:nvSpPr>
          <p:spPr>
            <a:xfrm>
              <a:off x="9205758" y="3009900"/>
              <a:ext cx="1525269" cy="501650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AF641FD8-78C3-4E20-8E10-AEA7194E1B52}"/>
                </a:ext>
              </a:extLst>
            </p:cNvPr>
            <p:cNvSpPr/>
            <p:nvPr/>
          </p:nvSpPr>
          <p:spPr>
            <a:xfrm>
              <a:off x="9879179" y="5400678"/>
              <a:ext cx="922172" cy="419546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 err="1">
                  <a:solidFill>
                    <a:schemeClr val="tx1"/>
                  </a:solidFill>
                </a:rPr>
                <a:t>GPi</a:t>
              </a:r>
              <a:r>
                <a:rPr lang="en-GB" sz="1400" dirty="0">
                  <a:solidFill>
                    <a:schemeClr val="tx1"/>
                  </a:solidFill>
                </a:rPr>
                <a:t>/</a:t>
              </a:r>
              <a:r>
                <a:rPr lang="en-GB" sz="1400" dirty="0" err="1">
                  <a:solidFill>
                    <a:schemeClr val="tx1"/>
                  </a:solidFill>
                </a:rPr>
                <a:t>SNr</a:t>
              </a:r>
              <a:endParaRPr lang="en-GB" sz="1400" dirty="0">
                <a:solidFill>
                  <a:schemeClr val="tx1"/>
                </a:solidFill>
              </a:endParaRP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48955223-D317-11F6-1FEE-3CA704577DED}"/>
                </a:ext>
              </a:extLst>
            </p:cNvPr>
            <p:cNvSpPr/>
            <p:nvPr/>
          </p:nvSpPr>
          <p:spPr>
            <a:xfrm>
              <a:off x="7077227" y="1642714"/>
              <a:ext cx="3653800" cy="728662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chemeClr val="tx1"/>
                  </a:solidFill>
                </a:rPr>
                <a:t>Cortex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14FF11A-2CA2-6246-92EB-6893259C5D06}"/>
                </a:ext>
              </a:extLst>
            </p:cNvPr>
            <p:cNvSpPr txBox="1"/>
            <p:nvPr/>
          </p:nvSpPr>
          <p:spPr>
            <a:xfrm>
              <a:off x="10687182" y="3097008"/>
              <a:ext cx="107504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/>
                <a:t>Striatum</a:t>
              </a: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EF724180-582D-99FB-3B00-CC4214E513B6}"/>
                </a:ext>
              </a:extLst>
            </p:cNvPr>
            <p:cNvGrpSpPr/>
            <p:nvPr/>
          </p:nvGrpSpPr>
          <p:grpSpPr>
            <a:xfrm>
              <a:off x="9540000" y="2393950"/>
              <a:ext cx="130968" cy="576993"/>
              <a:chOff x="9540000" y="2393950"/>
              <a:chExt cx="130968" cy="576993"/>
            </a:xfrm>
          </p:grpSpPr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644C5ECA-3827-30DF-DE60-A8B30801114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05484" y="2393950"/>
                <a:ext cx="0" cy="523875"/>
              </a:xfrm>
              <a:prstGeom prst="line">
                <a:avLst/>
              </a:prstGeom>
              <a:ln w="57150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379680F5-BE33-0B72-C4B0-0E3362D95192}"/>
                  </a:ext>
                </a:extLst>
              </p:cNvPr>
              <p:cNvGrpSpPr/>
              <p:nvPr/>
            </p:nvGrpSpPr>
            <p:grpSpPr>
              <a:xfrm rot="5400000">
                <a:off x="9577306" y="2877281"/>
                <a:ext cx="56356" cy="130968"/>
                <a:chOff x="8585200" y="4845846"/>
                <a:chExt cx="56356" cy="130968"/>
              </a:xfrm>
            </p:grpSpPr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9F8BF358-3622-8224-C54F-F6AE5817D46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585200" y="4845846"/>
                  <a:ext cx="56356" cy="65087"/>
                </a:xfrm>
                <a:prstGeom prst="line">
                  <a:avLst/>
                </a:prstGeom>
                <a:ln w="53975">
                  <a:solidFill>
                    <a:srgbClr val="25E92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44BE541F-E8DD-7CD8-7241-81A0A254AE2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585200" y="4910933"/>
                  <a:ext cx="56356" cy="65881"/>
                </a:xfrm>
                <a:prstGeom prst="line">
                  <a:avLst/>
                </a:prstGeom>
                <a:ln w="53975">
                  <a:solidFill>
                    <a:srgbClr val="25E92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B7BA75E-61AB-4DBE-4AF1-C4962D9F57BA}"/>
                </a:ext>
              </a:extLst>
            </p:cNvPr>
            <p:cNvGrpSpPr/>
            <p:nvPr/>
          </p:nvGrpSpPr>
          <p:grpSpPr>
            <a:xfrm>
              <a:off x="9932906" y="2393950"/>
              <a:ext cx="130968" cy="576993"/>
              <a:chOff x="9540000" y="2393950"/>
              <a:chExt cx="130968" cy="576993"/>
            </a:xfrm>
          </p:grpSpPr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76C39021-C735-945C-CDAD-5C95DE8C19B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05484" y="2393950"/>
                <a:ext cx="0" cy="523875"/>
              </a:xfrm>
              <a:prstGeom prst="line">
                <a:avLst/>
              </a:prstGeom>
              <a:ln w="57150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2E62DB41-EC90-2CC9-34E7-0624A35F8FF3}"/>
                  </a:ext>
                </a:extLst>
              </p:cNvPr>
              <p:cNvGrpSpPr/>
              <p:nvPr/>
            </p:nvGrpSpPr>
            <p:grpSpPr>
              <a:xfrm rot="5400000">
                <a:off x="9577306" y="2877281"/>
                <a:ext cx="56356" cy="130968"/>
                <a:chOff x="8585200" y="4845846"/>
                <a:chExt cx="56356" cy="130968"/>
              </a:xfrm>
            </p:grpSpPr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B848CC46-23DA-2007-C3CA-DD8CE425AC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585200" y="4845846"/>
                  <a:ext cx="56356" cy="65087"/>
                </a:xfrm>
                <a:prstGeom prst="line">
                  <a:avLst/>
                </a:prstGeom>
                <a:ln w="53975">
                  <a:solidFill>
                    <a:srgbClr val="25E92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EF72AA97-B45E-FD84-02FB-C89978A484C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585200" y="4910933"/>
                  <a:ext cx="56356" cy="65881"/>
                </a:xfrm>
                <a:prstGeom prst="line">
                  <a:avLst/>
                </a:prstGeom>
                <a:ln w="53975">
                  <a:solidFill>
                    <a:srgbClr val="25E92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00FF507-DDE1-DEBE-0607-0E36BE1F966D}"/>
                </a:ext>
              </a:extLst>
            </p:cNvPr>
            <p:cNvGrpSpPr/>
            <p:nvPr/>
          </p:nvGrpSpPr>
          <p:grpSpPr>
            <a:xfrm>
              <a:off x="10325812" y="2393950"/>
              <a:ext cx="130968" cy="576993"/>
              <a:chOff x="9540000" y="2393950"/>
              <a:chExt cx="130968" cy="576993"/>
            </a:xfrm>
          </p:grpSpPr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5964B7BE-C974-07B4-DA12-FCFF70FD681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05484" y="2393950"/>
                <a:ext cx="0" cy="523875"/>
              </a:xfrm>
              <a:prstGeom prst="line">
                <a:avLst/>
              </a:prstGeom>
              <a:ln w="57150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57162B65-6F65-FF6F-BEFF-8EAE75C3C86D}"/>
                  </a:ext>
                </a:extLst>
              </p:cNvPr>
              <p:cNvGrpSpPr/>
              <p:nvPr/>
            </p:nvGrpSpPr>
            <p:grpSpPr>
              <a:xfrm rot="5400000">
                <a:off x="9577306" y="2877281"/>
                <a:ext cx="56356" cy="130968"/>
                <a:chOff x="8585200" y="4845846"/>
                <a:chExt cx="56356" cy="130968"/>
              </a:xfrm>
            </p:grpSpPr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9919EAE4-64F0-1A05-6F8D-1C96FB20220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585200" y="4845846"/>
                  <a:ext cx="56356" cy="65087"/>
                </a:xfrm>
                <a:prstGeom prst="line">
                  <a:avLst/>
                </a:prstGeom>
                <a:ln w="53975">
                  <a:solidFill>
                    <a:srgbClr val="25E92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B48DC909-30F9-4C4F-188E-FC35EF9B1A4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585200" y="4910933"/>
                  <a:ext cx="56356" cy="65881"/>
                </a:xfrm>
                <a:prstGeom prst="line">
                  <a:avLst/>
                </a:prstGeom>
                <a:ln w="53975">
                  <a:solidFill>
                    <a:srgbClr val="25E92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3064C71C-A6E3-783D-F999-FED3C0514FF6}"/>
                </a:ext>
              </a:extLst>
            </p:cNvPr>
            <p:cNvGrpSpPr/>
            <p:nvPr/>
          </p:nvGrpSpPr>
          <p:grpSpPr>
            <a:xfrm flipV="1">
              <a:off x="7355450" y="2453221"/>
              <a:ext cx="130968" cy="1428444"/>
              <a:chOff x="9540000" y="1542499"/>
              <a:chExt cx="130968" cy="1428444"/>
            </a:xfrm>
          </p:grpSpPr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CD965832-A0BB-2E15-8919-D6D686078A6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05484" y="1542499"/>
                <a:ext cx="0" cy="1375326"/>
              </a:xfrm>
              <a:prstGeom prst="line">
                <a:avLst/>
              </a:prstGeom>
              <a:ln w="12700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D4DAE98C-1F6C-F593-A167-931103DD8F80}"/>
                  </a:ext>
                </a:extLst>
              </p:cNvPr>
              <p:cNvGrpSpPr/>
              <p:nvPr/>
            </p:nvGrpSpPr>
            <p:grpSpPr>
              <a:xfrm rot="5400000">
                <a:off x="9577306" y="2877281"/>
                <a:ext cx="56356" cy="130968"/>
                <a:chOff x="8585200" y="4845846"/>
                <a:chExt cx="56356" cy="130968"/>
              </a:xfrm>
            </p:grpSpPr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0E95A102-480A-D3A0-1906-24BDD48ED99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585200" y="4845846"/>
                  <a:ext cx="56356" cy="65087"/>
                </a:xfrm>
                <a:prstGeom prst="line">
                  <a:avLst/>
                </a:prstGeom>
                <a:ln w="28575">
                  <a:solidFill>
                    <a:srgbClr val="25E92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Connector 32">
                  <a:extLst>
                    <a:ext uri="{FF2B5EF4-FFF2-40B4-BE49-F238E27FC236}">
                      <a16:creationId xmlns:a16="http://schemas.microsoft.com/office/drawing/2014/main" id="{561E8B99-D2B9-2AF7-CE2A-ECE3F0DC436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585200" y="4910933"/>
                  <a:ext cx="56356" cy="65881"/>
                </a:xfrm>
                <a:prstGeom prst="line">
                  <a:avLst/>
                </a:prstGeom>
                <a:ln w="28575">
                  <a:solidFill>
                    <a:srgbClr val="25E92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34" name="Connector: Elbow 33">
              <a:extLst>
                <a:ext uri="{FF2B5EF4-FFF2-40B4-BE49-F238E27FC236}">
                  <a16:creationId xmlns:a16="http://schemas.microsoft.com/office/drawing/2014/main" id="{6C7978F8-263D-4496-9AD5-7D5AE6F3A294}"/>
                </a:ext>
              </a:extLst>
            </p:cNvPr>
            <p:cNvCxnSpPr>
              <a:cxnSpLocks/>
              <a:stCxn id="51" idx="2"/>
            </p:cNvCxnSpPr>
            <p:nvPr/>
          </p:nvCxnSpPr>
          <p:spPr>
            <a:xfrm rot="16200000" flipH="1">
              <a:off x="9271877" y="5059108"/>
              <a:ext cx="423466" cy="678424"/>
            </a:xfrm>
            <a:prstGeom prst="bentConnector2">
              <a:avLst/>
            </a:prstGeom>
            <a:ln w="66675">
              <a:solidFill>
                <a:srgbClr val="25E9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575FC204-5761-600B-D582-D5099D6DA7C7}"/>
                </a:ext>
              </a:extLst>
            </p:cNvPr>
            <p:cNvGrpSpPr/>
            <p:nvPr/>
          </p:nvGrpSpPr>
          <p:grpSpPr>
            <a:xfrm>
              <a:off x="9780556" y="5544967"/>
              <a:ext cx="56356" cy="130968"/>
              <a:chOff x="8585200" y="4845846"/>
              <a:chExt cx="56356" cy="130968"/>
            </a:xfrm>
          </p:grpSpPr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F3FA476F-5B9B-F1E1-34DE-806E7726C6F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585200" y="4845846"/>
                <a:ext cx="56356" cy="65087"/>
              </a:xfrm>
              <a:prstGeom prst="line">
                <a:avLst/>
              </a:prstGeom>
              <a:ln w="66675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5C5478B6-3652-556E-A5AC-5FA00E4CF68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85200" y="4910933"/>
                <a:ext cx="56356" cy="65881"/>
              </a:xfrm>
              <a:prstGeom prst="line">
                <a:avLst/>
              </a:prstGeom>
              <a:ln w="66675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8" name="Connector: Elbow 37">
              <a:extLst>
                <a:ext uri="{FF2B5EF4-FFF2-40B4-BE49-F238E27FC236}">
                  <a16:creationId xmlns:a16="http://schemas.microsoft.com/office/drawing/2014/main" id="{4298836C-010A-C1C5-C029-C12C77CE106D}"/>
                </a:ext>
              </a:extLst>
            </p:cNvPr>
            <p:cNvCxnSpPr>
              <a:cxnSpLocks/>
            </p:cNvCxnSpPr>
            <p:nvPr/>
          </p:nvCxnSpPr>
          <p:spPr>
            <a:xfrm>
              <a:off x="7412439" y="4390975"/>
              <a:ext cx="2438562" cy="1362125"/>
            </a:xfrm>
            <a:prstGeom prst="bentConnector3">
              <a:avLst>
                <a:gd name="adj1" fmla="val 628"/>
              </a:avLst>
            </a:prstGeom>
            <a:ln w="666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FD06291B-1228-67C2-FF7A-6AABC8FD7918}"/>
                </a:ext>
              </a:extLst>
            </p:cNvPr>
            <p:cNvCxnSpPr>
              <a:cxnSpLocks/>
            </p:cNvCxnSpPr>
            <p:nvPr/>
          </p:nvCxnSpPr>
          <p:spPr>
            <a:xfrm>
              <a:off x="7343313" y="4390975"/>
              <a:ext cx="176444" cy="0"/>
            </a:xfrm>
            <a:prstGeom prst="line">
              <a:avLst/>
            </a:prstGeom>
            <a:ln w="666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3E1539B8-B16D-0A10-380A-9F8218F62869}"/>
                </a:ext>
              </a:extLst>
            </p:cNvPr>
            <p:cNvCxnSpPr>
              <a:cxnSpLocks/>
            </p:cNvCxnSpPr>
            <p:nvPr/>
          </p:nvCxnSpPr>
          <p:spPr>
            <a:xfrm>
              <a:off x="9052578" y="3881665"/>
              <a:ext cx="176444" cy="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26288CB4-6A0A-21BE-FE03-50BFFF680AA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484600" y="3148634"/>
              <a:ext cx="237600" cy="237282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EE0CD34B-C484-4463-333D-CB0207BA793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221465" y="3148634"/>
              <a:ext cx="237600" cy="237282"/>
            </a:xfrm>
            <a:prstGeom prst="ellipse">
              <a:avLst/>
            </a:prstGeom>
            <a:noFill/>
            <a:ln w="317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43" name="Connector: Elbow 42">
              <a:extLst>
                <a:ext uri="{FF2B5EF4-FFF2-40B4-BE49-F238E27FC236}">
                  <a16:creationId xmlns:a16="http://schemas.microsoft.com/office/drawing/2014/main" id="{07341A93-B771-485C-9810-E1C5DDDE133F}"/>
                </a:ext>
              </a:extLst>
            </p:cNvPr>
            <p:cNvCxnSpPr>
              <a:cxnSpLocks/>
              <a:endCxn id="41" idx="2"/>
            </p:cNvCxnSpPr>
            <p:nvPr/>
          </p:nvCxnSpPr>
          <p:spPr>
            <a:xfrm rot="5400000" flipH="1" flipV="1">
              <a:off x="9016803" y="3394870"/>
              <a:ext cx="595392" cy="340202"/>
            </a:xfrm>
            <a:prstGeom prst="bentConnector2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63B04457-E258-0FB9-0F2A-492AE26707C8}"/>
                </a:ext>
              </a:extLst>
            </p:cNvPr>
            <p:cNvGrpSpPr/>
            <p:nvPr/>
          </p:nvGrpSpPr>
          <p:grpSpPr>
            <a:xfrm>
              <a:off x="10252043" y="3385916"/>
              <a:ext cx="176444" cy="1909984"/>
              <a:chOff x="10252043" y="3385916"/>
              <a:chExt cx="176444" cy="1909984"/>
            </a:xfrm>
          </p:grpSpPr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5E2EC613-BEC3-2716-F9D0-60396B4235E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52043" y="5295900"/>
                <a:ext cx="176444" cy="0"/>
              </a:xfrm>
              <a:prstGeom prst="line">
                <a:avLst/>
              </a:prstGeom>
              <a:ln w="317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06DADD79-D801-2723-2940-5BD5005DA4D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44614" y="3385916"/>
                <a:ext cx="0" cy="1909984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BDE65ADE-7660-6271-A9EE-79826FB13589}"/>
                </a:ext>
              </a:extLst>
            </p:cNvPr>
            <p:cNvGrpSpPr/>
            <p:nvPr/>
          </p:nvGrpSpPr>
          <p:grpSpPr>
            <a:xfrm>
              <a:off x="9052578" y="4371975"/>
              <a:ext cx="176444" cy="329185"/>
              <a:chOff x="10267298" y="4979872"/>
              <a:chExt cx="176444" cy="329185"/>
            </a:xfrm>
          </p:grpSpPr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EEADD11A-7258-FE01-9D98-6701D6647E2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67298" y="5309057"/>
                <a:ext cx="176444" cy="0"/>
              </a:xfrm>
              <a:prstGeom prst="line">
                <a:avLst/>
              </a:prstGeom>
              <a:ln w="666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3EF57AE0-F1CB-909C-6EC5-9FA84C47FD9E}"/>
                  </a:ext>
                </a:extLst>
              </p:cNvPr>
              <p:cNvCxnSpPr>
                <a:cxnSpLocks/>
                <a:stCxn id="50" idx="2"/>
              </p:cNvCxnSpPr>
              <p:nvPr/>
            </p:nvCxnSpPr>
            <p:spPr>
              <a:xfrm>
                <a:off x="10359118" y="4979872"/>
                <a:ext cx="0" cy="329185"/>
              </a:xfrm>
              <a:prstGeom prst="line">
                <a:avLst/>
              </a:prstGeom>
              <a:ln w="666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7D6821B8-D82A-E957-354C-85498D4AC984}"/>
                </a:ext>
              </a:extLst>
            </p:cNvPr>
            <p:cNvSpPr/>
            <p:nvPr/>
          </p:nvSpPr>
          <p:spPr>
            <a:xfrm>
              <a:off x="8683312" y="3952429"/>
              <a:ext cx="922172" cy="419546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 err="1">
                  <a:solidFill>
                    <a:schemeClr val="tx1"/>
                  </a:solidFill>
                </a:rPr>
                <a:t>GPe</a:t>
              </a:r>
              <a:endParaRPr lang="en-GB" sz="1400" dirty="0">
                <a:solidFill>
                  <a:schemeClr val="tx1"/>
                </a:solidFill>
              </a:endParaRPr>
            </a:p>
          </p:txBody>
        </p:sp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A8E193A9-CDD3-0774-FEF2-84D41B5618F2}"/>
                </a:ext>
              </a:extLst>
            </p:cNvPr>
            <p:cNvSpPr/>
            <p:nvPr/>
          </p:nvSpPr>
          <p:spPr>
            <a:xfrm>
              <a:off x="8683312" y="4767041"/>
              <a:ext cx="922172" cy="419546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chemeClr val="tx1"/>
                  </a:solidFill>
                </a:rPr>
                <a:t>STN</a:t>
              </a:r>
            </a:p>
          </p:txBody>
        </p:sp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138D652F-DFD3-DCD0-33C1-8D0549C1FB70}"/>
                </a:ext>
              </a:extLst>
            </p:cNvPr>
            <p:cNvSpPr/>
            <p:nvPr/>
          </p:nvSpPr>
          <p:spPr>
            <a:xfrm>
              <a:off x="6903881" y="3881665"/>
              <a:ext cx="1034106" cy="419546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chemeClr val="tx1"/>
                  </a:solidFill>
                </a:rPr>
                <a:t>Thalamus</a:t>
              </a:r>
            </a:p>
          </p:txBody>
        </p:sp>
        <p:cxnSp>
          <p:nvCxnSpPr>
            <p:cNvPr id="53" name="Connector: Elbow 52">
              <a:extLst>
                <a:ext uri="{FF2B5EF4-FFF2-40B4-BE49-F238E27FC236}">
                  <a16:creationId xmlns:a16="http://schemas.microsoft.com/office/drawing/2014/main" id="{537B97D3-52DA-ED4A-B963-D15D7E1CA0D2}"/>
                </a:ext>
              </a:extLst>
            </p:cNvPr>
            <p:cNvCxnSpPr>
              <a:cxnSpLocks/>
              <a:stCxn id="59" idx="0"/>
            </p:cNvCxnSpPr>
            <p:nvPr/>
          </p:nvCxnSpPr>
          <p:spPr>
            <a:xfrm rot="16200000" flipV="1">
              <a:off x="10020640" y="4128344"/>
              <a:ext cx="1833349" cy="706603"/>
            </a:xfrm>
            <a:prstGeom prst="bentConnector3">
              <a:avLst>
                <a:gd name="adj1" fmla="val 50000"/>
              </a:avLst>
            </a:prstGeom>
            <a:ln w="53975">
              <a:solidFill>
                <a:srgbClr val="FFC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53832618-7192-B10D-1140-F206640EB8A9}"/>
                </a:ext>
              </a:extLst>
            </p:cNvPr>
            <p:cNvGrpSpPr/>
            <p:nvPr/>
          </p:nvGrpSpPr>
          <p:grpSpPr>
            <a:xfrm rot="16200000">
              <a:off x="10555835" y="3504909"/>
              <a:ext cx="56356" cy="130968"/>
              <a:chOff x="8585200" y="4845846"/>
              <a:chExt cx="56356" cy="130968"/>
            </a:xfrm>
          </p:grpSpPr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E46CE542-805E-AC97-A741-A167263C485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585200" y="4845846"/>
                <a:ext cx="56356" cy="65087"/>
              </a:xfrm>
              <a:prstGeom prst="line">
                <a:avLst/>
              </a:prstGeom>
              <a:ln w="53975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827D5D0E-D41A-2001-93D2-F484F4AB99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85200" y="4910933"/>
                <a:ext cx="56356" cy="65881"/>
              </a:xfrm>
              <a:prstGeom prst="line">
                <a:avLst/>
              </a:prstGeom>
              <a:ln w="53975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CFBA6008-FDEA-8C3F-6BE7-C8158C71EA22}"/>
                </a:ext>
              </a:extLst>
            </p:cNvPr>
            <p:cNvSpPr txBox="1"/>
            <p:nvPr/>
          </p:nvSpPr>
          <p:spPr>
            <a:xfrm>
              <a:off x="9631557" y="2932735"/>
              <a:ext cx="4443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solidFill>
                    <a:srgbClr val="FFC000"/>
                  </a:solidFill>
                </a:rPr>
                <a:t>D2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275B2AD3-478D-9481-D2D3-62AF6C1B0CA2}"/>
                </a:ext>
              </a:extLst>
            </p:cNvPr>
            <p:cNvSpPr txBox="1"/>
            <p:nvPr/>
          </p:nvSpPr>
          <p:spPr>
            <a:xfrm>
              <a:off x="10359103" y="2933303"/>
              <a:ext cx="4475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solidFill>
                    <a:srgbClr val="FFC000"/>
                  </a:solidFill>
                </a:rPr>
                <a:t>D1</a:t>
              </a:r>
            </a:p>
          </p:txBody>
        </p:sp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433937BC-1AE3-737E-0B0A-A277E8588360}"/>
                </a:ext>
              </a:extLst>
            </p:cNvPr>
            <p:cNvSpPr/>
            <p:nvPr/>
          </p:nvSpPr>
          <p:spPr>
            <a:xfrm>
              <a:off x="10829529" y="5398320"/>
              <a:ext cx="922172" cy="419546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 err="1">
                  <a:solidFill>
                    <a:schemeClr val="tx1"/>
                  </a:solidFill>
                </a:rPr>
                <a:t>SNc</a:t>
              </a:r>
              <a:endParaRPr lang="en-GB" sz="14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333341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63F35-83BF-6781-893A-A34A3E444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Treatment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C2E9DA-A2FD-891D-B026-5BB93A2FB5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963" y="1459865"/>
            <a:ext cx="11267276" cy="4351338"/>
          </a:xfrm>
        </p:spPr>
        <p:txBody>
          <a:bodyPr>
            <a:normAutofit/>
          </a:bodyPr>
          <a:lstStyle/>
          <a:p>
            <a:r>
              <a:rPr lang="en-GB" b="1" dirty="0"/>
              <a:t>L-DOPA</a:t>
            </a:r>
          </a:p>
          <a:p>
            <a:pPr lvl="1"/>
            <a:r>
              <a:rPr lang="en-GB" dirty="0"/>
              <a:t>Converted in the brain into dopamine (dopamine itself doesn’t pass the BBB)</a:t>
            </a:r>
          </a:p>
          <a:p>
            <a:pPr lvl="1"/>
            <a:r>
              <a:rPr lang="en-GB" dirty="0"/>
              <a:t>Ameliorates many symptoms, especially rigidity and akinesia.</a:t>
            </a:r>
          </a:p>
          <a:p>
            <a:pPr lvl="1"/>
            <a:r>
              <a:rPr lang="en-GB" dirty="0"/>
              <a:t>Chronic L-DOPA can lead to on-off effects (motor fluctuations) or levodopa-induced dyskinesia (excessive movement)</a:t>
            </a:r>
          </a:p>
          <a:p>
            <a:pPr lvl="1"/>
            <a:endParaRPr lang="en-GB" dirty="0"/>
          </a:p>
          <a:p>
            <a:pPr marL="457200" lvl="1" indent="0">
              <a:buNone/>
            </a:pPr>
            <a:endParaRPr lang="en-GB" dirty="0"/>
          </a:p>
          <a:p>
            <a:r>
              <a:rPr lang="en-GB" dirty="0"/>
              <a:t>Amantadine</a:t>
            </a:r>
          </a:p>
          <a:p>
            <a:pPr lvl="1"/>
            <a:r>
              <a:rPr lang="en-GB" dirty="0"/>
              <a:t>Partial dopamine agonist</a:t>
            </a:r>
          </a:p>
          <a:p>
            <a:pPr lvl="1"/>
            <a:r>
              <a:rPr lang="en-GB" dirty="0"/>
              <a:t>Decrease dopamine reuptake</a:t>
            </a:r>
          </a:p>
          <a:p>
            <a:pPr lvl="1"/>
            <a:r>
              <a:rPr lang="en-GB" dirty="0" err="1"/>
              <a:t>Antiglutammatergic</a:t>
            </a:r>
            <a:r>
              <a:rPr lang="en-GB" dirty="0"/>
              <a:t> and anticholinergic properties</a:t>
            </a:r>
          </a:p>
          <a:p>
            <a:pPr lvl="1"/>
            <a:endParaRPr lang="en-GB" dirty="0"/>
          </a:p>
          <a:p>
            <a:r>
              <a:rPr lang="en-GB" dirty="0"/>
              <a:t>L-DOPA and Amantadine often given together</a:t>
            </a:r>
          </a:p>
        </p:txBody>
      </p:sp>
    </p:spTree>
    <p:extLst>
      <p:ext uri="{BB962C8B-B14F-4D97-AF65-F5344CB8AC3E}">
        <p14:creationId xmlns:p14="http://schemas.microsoft.com/office/powerpoint/2010/main" val="25378282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4B53C-6389-8255-7BE7-C30F48C77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D8E35-DBC2-F47E-386E-ECD33FEA6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Treatment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E21A56-B2D7-5482-9A6F-36B7047697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963" y="1459865"/>
            <a:ext cx="11049000" cy="4351338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DOPA decarboxylase inhibitors </a:t>
            </a:r>
            <a:r>
              <a:rPr lang="en-GB" dirty="0">
                <a:sym typeface="Wingdings" panose="05000000000000000000" pitchFamily="2" charset="2"/>
              </a:rPr>
              <a:t> Increasing the levels of DOPA</a:t>
            </a:r>
            <a:endParaRPr lang="en-GB" dirty="0"/>
          </a:p>
          <a:p>
            <a:pPr lvl="1"/>
            <a:r>
              <a:rPr lang="en-GB" dirty="0"/>
              <a:t>Carbidopa or </a:t>
            </a:r>
            <a:r>
              <a:rPr lang="en-GB" dirty="0" err="1"/>
              <a:t>benserazide</a:t>
            </a:r>
            <a:endParaRPr lang="en-GB" dirty="0"/>
          </a:p>
          <a:p>
            <a:endParaRPr lang="en-GB" dirty="0"/>
          </a:p>
          <a:p>
            <a:r>
              <a:rPr lang="en-GB" dirty="0"/>
              <a:t>MAOs and COMT inhibitors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Reduced dopamine degradation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Reduced degradation of DOPA (COMT inhibitors)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Reduces the degeneration of dopaminergic neurons in the SN (unexplained)</a:t>
            </a:r>
          </a:p>
          <a:p>
            <a:endParaRPr lang="en-GB" dirty="0">
              <a:sym typeface="Wingdings" panose="05000000000000000000" pitchFamily="2" charset="2"/>
            </a:endParaRPr>
          </a:p>
          <a:p>
            <a:r>
              <a:rPr lang="en-GB" dirty="0">
                <a:sym typeface="Wingdings" panose="05000000000000000000" pitchFamily="2" charset="2"/>
              </a:rPr>
              <a:t>Anticholinergic drugs (benzhexol, </a:t>
            </a:r>
            <a:r>
              <a:rPr lang="en-GB" dirty="0" err="1">
                <a:sym typeface="Wingdings" panose="05000000000000000000" pitchFamily="2" charset="2"/>
              </a:rPr>
              <a:t>benzatropine</a:t>
            </a:r>
            <a:r>
              <a:rPr lang="en-GB" dirty="0">
                <a:sym typeface="Wingdings" panose="05000000000000000000" pitchFamily="2" charset="2"/>
              </a:rPr>
              <a:t>)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Loss of DA dis-inhibits striatal cholinergic interneurons</a:t>
            </a:r>
          </a:p>
          <a:p>
            <a:endParaRPr lang="en-GB" dirty="0">
              <a:sym typeface="Wingdings" panose="05000000000000000000" pitchFamily="2" charset="2"/>
            </a:endParaRPr>
          </a:p>
          <a:p>
            <a:r>
              <a:rPr lang="en-GB" dirty="0">
                <a:sym typeface="Wingdings" panose="05000000000000000000" pitchFamily="2" charset="2"/>
              </a:rPr>
              <a:t>Inoculation of fetal ESC or iPSC-derived dopaminergic neurons (clinical trials)</a:t>
            </a:r>
          </a:p>
          <a:p>
            <a:endParaRPr lang="en-GB" dirty="0">
              <a:sym typeface="Wingdings" panose="05000000000000000000" pitchFamily="2" charset="2"/>
            </a:endParaRPr>
          </a:p>
          <a:p>
            <a:r>
              <a:rPr lang="en-GB" dirty="0">
                <a:sym typeface="Wingdings" panose="05000000000000000000" pitchFamily="2" charset="2"/>
              </a:rPr>
              <a:t>Physical activity and physiotherapy</a:t>
            </a:r>
          </a:p>
        </p:txBody>
      </p:sp>
    </p:spTree>
    <p:extLst>
      <p:ext uri="{BB962C8B-B14F-4D97-AF65-F5344CB8AC3E}">
        <p14:creationId xmlns:p14="http://schemas.microsoft.com/office/powerpoint/2010/main" val="25237004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C036E-ABC4-0F14-8CC2-C27D7F0BF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Treatment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7C49E2-4538-5DD5-1DC2-0E04D73128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sym typeface="Wingdings" panose="05000000000000000000" pitchFamily="2" charset="2"/>
              </a:rPr>
              <a:t>Deep brain stimulation of STN or </a:t>
            </a:r>
            <a:r>
              <a:rPr lang="en-GB" dirty="0" err="1">
                <a:sym typeface="Wingdings" panose="05000000000000000000" pitchFamily="2" charset="2"/>
              </a:rPr>
              <a:t>GPi</a:t>
            </a:r>
            <a:endParaRPr lang="en-GB" dirty="0">
              <a:sym typeface="Wingdings" panose="05000000000000000000" pitchFamily="2" charset="2"/>
            </a:endParaRPr>
          </a:p>
          <a:p>
            <a:pPr lvl="1"/>
            <a:r>
              <a:rPr lang="en-GB" dirty="0">
                <a:sym typeface="Wingdings" panose="05000000000000000000" pitchFamily="2" charset="2"/>
              </a:rPr>
              <a:t>Patients nonresponsive to drugs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Reduces rigidity, tremors and bradykinesia</a:t>
            </a:r>
            <a:endParaRPr lang="en-GB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75946DF-4ECD-A274-EFC9-89536449BC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5771" y="1381997"/>
            <a:ext cx="5062418" cy="4841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A05CED11-EB2C-B2C5-EFEF-15B88D5582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106" y="3016877"/>
            <a:ext cx="5067704" cy="3206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524F792-C304-6B9E-B74B-62D196483216}"/>
              </a:ext>
            </a:extLst>
          </p:cNvPr>
          <p:cNvSpPr txBox="1"/>
          <p:nvPr/>
        </p:nvSpPr>
        <p:spPr>
          <a:xfrm>
            <a:off x="9469925" y="6350313"/>
            <a:ext cx="23482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/>
              <a:t>N </a:t>
            </a:r>
            <a:r>
              <a:rPr lang="en-GB" sz="1200" dirty="0" err="1"/>
              <a:t>Engl</a:t>
            </a:r>
            <a:r>
              <a:rPr lang="en-GB" sz="1200" dirty="0"/>
              <a:t> J Med 2012;367:1529-38</a:t>
            </a:r>
          </a:p>
        </p:txBody>
      </p:sp>
    </p:spTree>
    <p:extLst>
      <p:ext uri="{BB962C8B-B14F-4D97-AF65-F5344CB8AC3E}">
        <p14:creationId xmlns:p14="http://schemas.microsoft.com/office/powerpoint/2010/main" val="20706171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0ED26-8286-428D-5BF6-BE683B8D7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Failings in current therapies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36D7B7-450D-305A-1EA7-5705B8ADF4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Not all symptoms addressed</a:t>
            </a:r>
          </a:p>
          <a:p>
            <a:pPr lvl="1"/>
            <a:r>
              <a:rPr lang="en-GB" dirty="0"/>
              <a:t>Postural balance unaffected</a:t>
            </a:r>
          </a:p>
          <a:p>
            <a:pPr lvl="1"/>
            <a:endParaRPr lang="en-GB" dirty="0"/>
          </a:p>
          <a:p>
            <a:r>
              <a:rPr lang="en-GB" dirty="0"/>
              <a:t>Side effects can be severe</a:t>
            </a:r>
          </a:p>
          <a:p>
            <a:pPr lvl="1"/>
            <a:r>
              <a:rPr lang="en-GB" dirty="0"/>
              <a:t>L-DOPA-induced dyskinesia</a:t>
            </a:r>
          </a:p>
          <a:p>
            <a:pPr lvl="1"/>
            <a:r>
              <a:rPr lang="en-GB" dirty="0"/>
              <a:t>Amantadine can give nausea, psychotic episodes, restless legs, convulsion</a:t>
            </a:r>
          </a:p>
          <a:p>
            <a:pPr lvl="1"/>
            <a:endParaRPr lang="en-GB" dirty="0"/>
          </a:p>
          <a:p>
            <a:r>
              <a:rPr lang="en-GB" dirty="0"/>
              <a:t>Do not address the degeneration of neurons</a:t>
            </a:r>
          </a:p>
          <a:p>
            <a:pPr lvl="1"/>
            <a:r>
              <a:rPr lang="en-GB" dirty="0"/>
              <a:t>Urgent need of neuroprotective approaches</a:t>
            </a:r>
          </a:p>
          <a:p>
            <a:pPr lvl="1"/>
            <a:r>
              <a:rPr lang="en-GB" dirty="0"/>
              <a:t>Lots of research going on!</a:t>
            </a:r>
          </a:p>
          <a:p>
            <a:endParaRPr lang="en-GB" dirty="0"/>
          </a:p>
        </p:txBody>
      </p:sp>
      <p:pic>
        <p:nvPicPr>
          <p:cNvPr id="1026" name="Picture 2" descr="Progress towards therapies for disease modification in Parkinson's disease  - The Lancet Neurology">
            <a:extLst>
              <a:ext uri="{FF2B5EF4-FFF2-40B4-BE49-F238E27FC236}">
                <a16:creationId xmlns:a16="http://schemas.microsoft.com/office/drawing/2014/main" id="{CC6CFA77-E1FE-4F91-878F-AA8C29AA3F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7147" y="956414"/>
            <a:ext cx="4554732" cy="5210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8A29DF7F-9822-BE4F-582A-90A35A5018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24513" y="6258047"/>
            <a:ext cx="2605177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5B616B"/>
              </a:solidFill>
              <a:effectLst/>
              <a:latin typeface="BlinkMacSystemFon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200" dirty="0">
                <a:latin typeface="BlinkMacSystemFont"/>
              </a:rPr>
              <a:t>Lancet Neurology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BlinkMacSystemFont"/>
              </a:rPr>
              <a:t> 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5B616B"/>
                </a:solidFill>
                <a:effectLst/>
                <a:latin typeface="BlinkMacSystemFont"/>
              </a:rPr>
              <a:t>2021 Jul;20(7):559-572</a:t>
            </a:r>
            <a:r>
              <a:rPr kumimoji="0" lang="en-US" altLang="en-US" sz="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46180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7F4EB-7EEF-5153-DC42-D373ADED7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Huntington’s Disease (Chorea)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925196-E0F8-A7C3-715B-7FF52B43C5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Onset 30-40 years - inherited</a:t>
            </a:r>
          </a:p>
          <a:p>
            <a:r>
              <a:rPr lang="en-GB" b="1" dirty="0"/>
              <a:t>Flicking movements </a:t>
            </a:r>
            <a:r>
              <a:rPr lang="en-GB" dirty="0"/>
              <a:t>that worsen into severe distortional movements of the entire body</a:t>
            </a:r>
          </a:p>
          <a:p>
            <a:pPr lvl="1"/>
            <a:r>
              <a:rPr lang="en-GB" dirty="0"/>
              <a:t>Followed by severe dementia</a:t>
            </a:r>
          </a:p>
          <a:p>
            <a:pPr lvl="1"/>
            <a:endParaRPr lang="en-GB" dirty="0"/>
          </a:p>
          <a:p>
            <a:r>
              <a:rPr lang="en-GB" b="1" dirty="0"/>
              <a:t>Loss of GABAergic neurons in caudate and putamen</a:t>
            </a:r>
          </a:p>
          <a:p>
            <a:pPr lvl="1"/>
            <a:r>
              <a:rPr lang="en-GB" dirty="0"/>
              <a:t>Early stages only indirect pathway D2 striatal neurons</a:t>
            </a:r>
          </a:p>
          <a:p>
            <a:pPr lvl="1"/>
            <a:r>
              <a:rPr lang="en-GB" dirty="0"/>
              <a:t>Loss of inhibition on SN and GP causing outbursts</a:t>
            </a:r>
          </a:p>
          <a:p>
            <a:pPr lvl="1"/>
            <a:r>
              <a:rPr lang="en-GB" dirty="0"/>
              <a:t>Later stages interest many other areas of the brain, including the cortex</a:t>
            </a:r>
          </a:p>
          <a:p>
            <a:pPr lvl="1"/>
            <a:endParaRPr lang="en-GB" dirty="0"/>
          </a:p>
          <a:p>
            <a:r>
              <a:rPr lang="en-GB" dirty="0"/>
              <a:t>Mutation in the gene of </a:t>
            </a:r>
            <a:r>
              <a:rPr lang="en-GB" b="1" dirty="0"/>
              <a:t>huntingtin</a:t>
            </a:r>
            <a:r>
              <a:rPr lang="en-GB" dirty="0"/>
              <a:t> causes multiple codon repeats (CAG) of the amino acid glutamine </a:t>
            </a:r>
            <a:r>
              <a:rPr lang="en-GB" dirty="0">
                <a:sym typeface="Wingdings" panose="05000000000000000000" pitchFamily="2" charset="2"/>
              </a:rPr>
              <a:t> poly-glutamine disease</a:t>
            </a:r>
          </a:p>
          <a:p>
            <a:pPr lvl="1"/>
            <a:r>
              <a:rPr lang="en-GB" dirty="0"/>
              <a:t>Over 35 CAG repeats</a:t>
            </a:r>
          </a:p>
          <a:p>
            <a:pPr lvl="1"/>
            <a:r>
              <a:rPr lang="en-GB" dirty="0"/>
              <a:t>Degradation causes macromolecular aggregates</a:t>
            </a:r>
          </a:p>
          <a:p>
            <a:pPr lvl="1"/>
            <a:r>
              <a:rPr lang="en-GB" dirty="0"/>
              <a:t>Various mechanisms of neurotoxicity involved</a:t>
            </a:r>
          </a:p>
        </p:txBody>
      </p:sp>
      <p:pic>
        <p:nvPicPr>
          <p:cNvPr id="4" name="Online Media 3" title="Chorea">
            <a:hlinkClick r:id="" action="ppaction://media"/>
            <a:extLst>
              <a:ext uri="{FF2B5EF4-FFF2-40B4-BE49-F238E27FC236}">
                <a16:creationId xmlns:a16="http://schemas.microsoft.com/office/drawing/2014/main" id="{1D9A9F7B-6B02-E78F-E824-9FB8905534CE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6431605" y="1372091"/>
            <a:ext cx="5485092" cy="4113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093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7F4EB-7EEF-5153-DC42-D373ADED7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Huntington’s Disease (Chorea)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925196-E0F8-A7C3-715B-7FF52B43C5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Onset 30-40 years - inherited</a:t>
            </a:r>
          </a:p>
          <a:p>
            <a:r>
              <a:rPr lang="en-GB" b="1" dirty="0"/>
              <a:t>Flicking movements </a:t>
            </a:r>
            <a:r>
              <a:rPr lang="en-GB" dirty="0"/>
              <a:t>that worsen into severe distortional movements of the entire body</a:t>
            </a:r>
          </a:p>
          <a:p>
            <a:pPr lvl="1"/>
            <a:r>
              <a:rPr lang="en-GB" dirty="0"/>
              <a:t>Followed by sever dementia</a:t>
            </a:r>
          </a:p>
          <a:p>
            <a:pPr lvl="1"/>
            <a:endParaRPr lang="en-GB" dirty="0"/>
          </a:p>
          <a:p>
            <a:r>
              <a:rPr lang="en-GB" b="1" dirty="0"/>
              <a:t>Loss of GABAergic neurons in caudate and putamen</a:t>
            </a:r>
          </a:p>
          <a:p>
            <a:pPr lvl="1"/>
            <a:r>
              <a:rPr lang="en-GB" dirty="0"/>
              <a:t>Early stages only indirect pathway D2 striatal neurons</a:t>
            </a:r>
          </a:p>
          <a:p>
            <a:pPr lvl="1"/>
            <a:r>
              <a:rPr lang="en-GB" dirty="0"/>
              <a:t>Loss of inhibition on SN and GP causing outbursts</a:t>
            </a:r>
          </a:p>
          <a:p>
            <a:pPr lvl="1"/>
            <a:r>
              <a:rPr lang="en-GB" dirty="0"/>
              <a:t>Later stages interest many other areas of the brain, including the cortex</a:t>
            </a:r>
          </a:p>
          <a:p>
            <a:pPr lvl="1"/>
            <a:endParaRPr lang="en-GB" dirty="0"/>
          </a:p>
          <a:p>
            <a:r>
              <a:rPr lang="en-GB" dirty="0"/>
              <a:t>Mutation in the gene of </a:t>
            </a:r>
            <a:r>
              <a:rPr lang="en-GB" b="1" dirty="0"/>
              <a:t>huntingtin</a:t>
            </a:r>
            <a:r>
              <a:rPr lang="en-GB" dirty="0"/>
              <a:t> causes multiple codon repeats (CAG) of the amino acid glutamine </a:t>
            </a:r>
            <a:r>
              <a:rPr lang="en-GB" dirty="0">
                <a:sym typeface="Wingdings" panose="05000000000000000000" pitchFamily="2" charset="2"/>
              </a:rPr>
              <a:t> </a:t>
            </a:r>
            <a:r>
              <a:rPr lang="en-GB" u="sng" dirty="0">
                <a:sym typeface="Wingdings" panose="05000000000000000000" pitchFamily="2" charset="2"/>
              </a:rPr>
              <a:t>poly-glutamine disease</a:t>
            </a:r>
          </a:p>
          <a:p>
            <a:pPr lvl="1"/>
            <a:r>
              <a:rPr lang="en-GB" dirty="0"/>
              <a:t>Over 35 CAG repeats</a:t>
            </a:r>
          </a:p>
          <a:p>
            <a:pPr lvl="1"/>
            <a:r>
              <a:rPr lang="en-GB" dirty="0"/>
              <a:t>Degradation causes macromolecular aggregates</a:t>
            </a:r>
          </a:p>
          <a:p>
            <a:pPr lvl="1"/>
            <a:r>
              <a:rPr lang="en-GB" dirty="0"/>
              <a:t>Various mechanisms of neurotoxicity involved</a:t>
            </a:r>
          </a:p>
        </p:txBody>
      </p:sp>
      <p:pic>
        <p:nvPicPr>
          <p:cNvPr id="99" name="Picture 98" descr="A picture containing text, indoor, chocolate, decorated&#10;&#10;Description automatically generated">
            <a:extLst>
              <a:ext uri="{FF2B5EF4-FFF2-40B4-BE49-F238E27FC236}">
                <a16:creationId xmlns:a16="http://schemas.microsoft.com/office/drawing/2014/main" id="{27162E0C-67B7-9FA9-CC42-922720B039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1325" y="959108"/>
            <a:ext cx="3139710" cy="5259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86131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7F4EB-7EEF-5153-DC42-D373ADED7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Huntington’s Disease (Chorea)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925196-E0F8-A7C3-715B-7FF52B43C5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Onset 30-40 years - inherited</a:t>
            </a:r>
          </a:p>
          <a:p>
            <a:r>
              <a:rPr lang="en-GB" b="1" dirty="0"/>
              <a:t>Flicking movements </a:t>
            </a:r>
            <a:r>
              <a:rPr lang="en-GB" dirty="0"/>
              <a:t>that worsen into severe distortional movements of the entire body</a:t>
            </a:r>
          </a:p>
          <a:p>
            <a:pPr lvl="1"/>
            <a:r>
              <a:rPr lang="en-GB" dirty="0"/>
              <a:t>Followed by sever dementia</a:t>
            </a:r>
          </a:p>
          <a:p>
            <a:pPr lvl="1"/>
            <a:endParaRPr lang="en-GB" dirty="0"/>
          </a:p>
          <a:p>
            <a:r>
              <a:rPr lang="en-GB" b="1" dirty="0"/>
              <a:t>Loss of GABAergic neurons in caudate and putamen</a:t>
            </a:r>
          </a:p>
          <a:p>
            <a:pPr lvl="1"/>
            <a:r>
              <a:rPr lang="en-GB" dirty="0"/>
              <a:t>Early stages only indirect pathway D2 striatal neurons</a:t>
            </a:r>
          </a:p>
          <a:p>
            <a:pPr lvl="1"/>
            <a:r>
              <a:rPr lang="en-GB" dirty="0"/>
              <a:t>Loss of inhibition on SN and GP causing outbursts</a:t>
            </a:r>
          </a:p>
          <a:p>
            <a:pPr lvl="1"/>
            <a:r>
              <a:rPr lang="en-GB" dirty="0"/>
              <a:t>Later stages interest many other areas of the brain, including the cortex</a:t>
            </a:r>
          </a:p>
          <a:p>
            <a:pPr lvl="1"/>
            <a:endParaRPr lang="en-GB" dirty="0"/>
          </a:p>
          <a:p>
            <a:r>
              <a:rPr lang="en-GB" dirty="0"/>
              <a:t>Mutation in the gene of </a:t>
            </a:r>
            <a:r>
              <a:rPr lang="en-GB" b="1" dirty="0"/>
              <a:t>huntingtin</a:t>
            </a:r>
            <a:r>
              <a:rPr lang="en-GB" dirty="0"/>
              <a:t> causes multiple codon repeats (CAG) of the amino acid glutamine </a:t>
            </a:r>
            <a:r>
              <a:rPr lang="en-GB" dirty="0">
                <a:sym typeface="Wingdings" panose="05000000000000000000" pitchFamily="2" charset="2"/>
              </a:rPr>
              <a:t> </a:t>
            </a:r>
            <a:r>
              <a:rPr lang="en-GB" u="sng" dirty="0">
                <a:sym typeface="Wingdings" panose="05000000000000000000" pitchFamily="2" charset="2"/>
              </a:rPr>
              <a:t>poly-glutamine disease</a:t>
            </a:r>
          </a:p>
          <a:p>
            <a:pPr lvl="1"/>
            <a:r>
              <a:rPr lang="en-GB" dirty="0"/>
              <a:t>Over 35 CAG repeats</a:t>
            </a:r>
          </a:p>
          <a:p>
            <a:pPr lvl="1"/>
            <a:r>
              <a:rPr lang="en-GB" dirty="0"/>
              <a:t>Degradation causes macromolecular aggregates</a:t>
            </a:r>
          </a:p>
          <a:p>
            <a:pPr lvl="1"/>
            <a:r>
              <a:rPr lang="en-GB" dirty="0"/>
              <a:t>Various mechanisms of neurotoxicity involved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2A498C-15F5-7A5D-6672-ED06070025E6}"/>
              </a:ext>
            </a:extLst>
          </p:cNvPr>
          <p:cNvSpPr txBox="1"/>
          <p:nvPr/>
        </p:nvSpPr>
        <p:spPr>
          <a:xfrm>
            <a:off x="7046147" y="6473012"/>
            <a:ext cx="514585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Int. J. Mol. Sci.</a:t>
            </a:r>
            <a:r>
              <a:rPr lang="en-GB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GB" sz="11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2022</a:t>
            </a:r>
            <a:r>
              <a:rPr lang="en-GB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GB" sz="11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23</a:t>
            </a:r>
            <a:r>
              <a:rPr lang="en-GB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(24), 15533; </a:t>
            </a:r>
            <a:r>
              <a:rPr lang="en-GB" sz="1100" b="1" i="0" u="none" strike="noStrike" dirty="0">
                <a:solidFill>
                  <a:srgbClr val="4F5671"/>
                </a:solidFill>
                <a:effectLst/>
                <a:latin typeface="Arial" panose="020B0604020202020204" pitchFamily="34" charset="0"/>
                <a:hlinkClick r:id="rId2"/>
              </a:rPr>
              <a:t>https://doi.org/10.3390/ijms232415533</a:t>
            </a:r>
            <a:endParaRPr lang="en-GB" sz="11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FC5E428-63DD-D490-1FD3-62951A91F2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4796" y="1859831"/>
            <a:ext cx="5411576" cy="3515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288175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7F4EB-7EEF-5153-DC42-D373ADED7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Huntington’s Disease (Chorea)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B061BAED-4187-3198-F7BF-31194FB912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Onset 30-40 years - inherited</a:t>
            </a:r>
          </a:p>
          <a:p>
            <a:r>
              <a:rPr lang="en-GB" b="1" dirty="0"/>
              <a:t>Flicking movements </a:t>
            </a:r>
            <a:r>
              <a:rPr lang="en-GB" dirty="0"/>
              <a:t>that worsen into severe distortional movements of the entire body</a:t>
            </a:r>
          </a:p>
          <a:p>
            <a:pPr lvl="1"/>
            <a:r>
              <a:rPr lang="en-GB" dirty="0"/>
              <a:t>Followed by sever dementia</a:t>
            </a:r>
          </a:p>
          <a:p>
            <a:pPr lvl="1"/>
            <a:endParaRPr lang="en-GB" dirty="0"/>
          </a:p>
          <a:p>
            <a:r>
              <a:rPr lang="en-GB" b="1" dirty="0"/>
              <a:t>Loss of GABAergic neurons in caudate and putamen</a:t>
            </a:r>
          </a:p>
          <a:p>
            <a:pPr lvl="1"/>
            <a:r>
              <a:rPr lang="en-GB" dirty="0"/>
              <a:t>Early stages only indirect pathway D2 striatal neurons</a:t>
            </a:r>
          </a:p>
          <a:p>
            <a:pPr lvl="1"/>
            <a:r>
              <a:rPr lang="en-GB" dirty="0"/>
              <a:t>Loss of inhibition on SN and GP causing outbursts</a:t>
            </a:r>
          </a:p>
          <a:p>
            <a:pPr lvl="1"/>
            <a:r>
              <a:rPr lang="en-GB" dirty="0"/>
              <a:t>Later stages interest many other areas of the brain, including the cortex</a:t>
            </a:r>
          </a:p>
          <a:p>
            <a:pPr lvl="1"/>
            <a:endParaRPr lang="en-GB" dirty="0"/>
          </a:p>
          <a:p>
            <a:r>
              <a:rPr lang="en-GB" dirty="0"/>
              <a:t>Mutation in the gene of </a:t>
            </a:r>
            <a:r>
              <a:rPr lang="en-GB" b="1" dirty="0"/>
              <a:t>huntingtin</a:t>
            </a:r>
            <a:r>
              <a:rPr lang="en-GB" dirty="0"/>
              <a:t> causes multiple codon repeats (CAG) of the amino acid glutamine </a:t>
            </a:r>
            <a:r>
              <a:rPr lang="en-GB" dirty="0">
                <a:sym typeface="Wingdings" panose="05000000000000000000" pitchFamily="2" charset="2"/>
              </a:rPr>
              <a:t> </a:t>
            </a:r>
            <a:r>
              <a:rPr lang="en-GB" u="sng" dirty="0">
                <a:sym typeface="Wingdings" panose="05000000000000000000" pitchFamily="2" charset="2"/>
              </a:rPr>
              <a:t>poly-glutamine disease</a:t>
            </a:r>
          </a:p>
          <a:p>
            <a:pPr lvl="1"/>
            <a:r>
              <a:rPr lang="en-GB" dirty="0"/>
              <a:t>Over 35 CAG repeats</a:t>
            </a:r>
          </a:p>
          <a:p>
            <a:pPr lvl="1"/>
            <a:r>
              <a:rPr lang="en-GB" dirty="0"/>
              <a:t>Degradation causes macromolecular aggregates</a:t>
            </a:r>
          </a:p>
          <a:p>
            <a:pPr lvl="1"/>
            <a:r>
              <a:rPr lang="en-GB" dirty="0"/>
              <a:t>Various mechanisms of neurotoxicity involved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9EB05C-35C2-F2AE-AF38-FC1FC5F0AB81}"/>
              </a:ext>
            </a:extLst>
          </p:cNvPr>
          <p:cNvSpPr txBox="1"/>
          <p:nvPr/>
        </p:nvSpPr>
        <p:spPr>
          <a:xfrm>
            <a:off x="10731027" y="3106103"/>
            <a:ext cx="10750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Striatum</a:t>
            </a:r>
          </a:p>
        </p:txBody>
      </p: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E2364474-D51D-9D1F-5358-CCA1382B5A9D}"/>
              </a:ext>
            </a:extLst>
          </p:cNvPr>
          <p:cNvCxnSpPr>
            <a:cxnSpLocks/>
          </p:cNvCxnSpPr>
          <p:nvPr/>
        </p:nvCxnSpPr>
        <p:spPr>
          <a:xfrm rot="16200000" flipH="1">
            <a:off x="7177801" y="3503535"/>
            <a:ext cx="2463011" cy="351787"/>
          </a:xfrm>
          <a:prstGeom prst="bentConnector3">
            <a:avLst>
              <a:gd name="adj1" fmla="val 100274"/>
            </a:avLst>
          </a:prstGeom>
          <a:ln w="53975">
            <a:solidFill>
              <a:srgbClr val="25E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2" name="Group 51">
            <a:extLst>
              <a:ext uri="{FF2B5EF4-FFF2-40B4-BE49-F238E27FC236}">
                <a16:creationId xmlns:a16="http://schemas.microsoft.com/office/drawing/2014/main" id="{F708F1C5-0679-C20A-C042-0C17E20ACA76}"/>
              </a:ext>
            </a:extLst>
          </p:cNvPr>
          <p:cNvGrpSpPr/>
          <p:nvPr/>
        </p:nvGrpSpPr>
        <p:grpSpPr>
          <a:xfrm>
            <a:off x="8585200" y="4845846"/>
            <a:ext cx="56356" cy="130968"/>
            <a:chOff x="8585200" y="4845846"/>
            <a:chExt cx="56356" cy="130968"/>
          </a:xfrm>
        </p:grpSpPr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B3E1615C-D207-13D0-8054-CC995AAFB4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85200" y="4845846"/>
              <a:ext cx="56356" cy="65087"/>
            </a:xfrm>
            <a:prstGeom prst="line">
              <a:avLst/>
            </a:prstGeom>
            <a:ln w="53975">
              <a:solidFill>
                <a:srgbClr val="25E9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007BEF4D-DD03-2D86-75D0-FFF8B29289B9}"/>
                </a:ext>
              </a:extLst>
            </p:cNvPr>
            <p:cNvCxnSpPr>
              <a:cxnSpLocks/>
            </p:cNvCxnSpPr>
            <p:nvPr/>
          </p:nvCxnSpPr>
          <p:spPr>
            <a:xfrm>
              <a:off x="8585200" y="4910933"/>
              <a:ext cx="56356" cy="65881"/>
            </a:xfrm>
            <a:prstGeom prst="line">
              <a:avLst/>
            </a:prstGeom>
            <a:ln w="53975">
              <a:solidFill>
                <a:srgbClr val="25E9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DA60835A-59BE-1605-6173-847D1621EFB1}"/>
              </a:ext>
            </a:extLst>
          </p:cNvPr>
          <p:cNvSpPr/>
          <p:nvPr/>
        </p:nvSpPr>
        <p:spPr>
          <a:xfrm>
            <a:off x="9205758" y="3009900"/>
            <a:ext cx="1525269" cy="501650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472D5EE0-70EA-8572-0408-0EEE33CBB7A1}"/>
              </a:ext>
            </a:extLst>
          </p:cNvPr>
          <p:cNvSpPr/>
          <p:nvPr/>
        </p:nvSpPr>
        <p:spPr>
          <a:xfrm>
            <a:off x="9879179" y="5400678"/>
            <a:ext cx="922172" cy="419546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>
                <a:solidFill>
                  <a:schemeClr val="tx1"/>
                </a:solidFill>
              </a:rPr>
              <a:t>GPi</a:t>
            </a:r>
            <a:r>
              <a:rPr lang="en-GB" sz="1400" dirty="0">
                <a:solidFill>
                  <a:schemeClr val="tx1"/>
                </a:solidFill>
              </a:rPr>
              <a:t>/</a:t>
            </a:r>
            <a:r>
              <a:rPr lang="en-GB" sz="1400" dirty="0" err="1">
                <a:solidFill>
                  <a:schemeClr val="tx1"/>
                </a:solidFill>
              </a:rPr>
              <a:t>SNr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6A1109D5-4DC1-A593-8C74-F44B875C3A8B}"/>
              </a:ext>
            </a:extLst>
          </p:cNvPr>
          <p:cNvSpPr/>
          <p:nvPr/>
        </p:nvSpPr>
        <p:spPr>
          <a:xfrm>
            <a:off x="7077227" y="1642714"/>
            <a:ext cx="3653800" cy="728662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Cortex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53F97F6B-16B1-70AA-5C60-EAA3C0D3E357}"/>
              </a:ext>
            </a:extLst>
          </p:cNvPr>
          <p:cNvGrpSpPr/>
          <p:nvPr/>
        </p:nvGrpSpPr>
        <p:grpSpPr>
          <a:xfrm>
            <a:off x="9540000" y="2393950"/>
            <a:ext cx="130968" cy="576993"/>
            <a:chOff x="9540000" y="2393950"/>
            <a:chExt cx="130968" cy="576993"/>
          </a:xfrm>
        </p:grpSpPr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7F1A71DD-3136-F60B-BCFE-241CB6E0BA57}"/>
                </a:ext>
              </a:extLst>
            </p:cNvPr>
            <p:cNvCxnSpPr>
              <a:cxnSpLocks/>
            </p:cNvCxnSpPr>
            <p:nvPr/>
          </p:nvCxnSpPr>
          <p:spPr>
            <a:xfrm>
              <a:off x="9605484" y="2393950"/>
              <a:ext cx="0" cy="523875"/>
            </a:xfrm>
            <a:prstGeom prst="line">
              <a:avLst/>
            </a:prstGeom>
            <a:ln w="57150">
              <a:solidFill>
                <a:srgbClr val="25E9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FB9B8B55-52D9-F74F-A92D-C7553446794D}"/>
                </a:ext>
              </a:extLst>
            </p:cNvPr>
            <p:cNvGrpSpPr/>
            <p:nvPr/>
          </p:nvGrpSpPr>
          <p:grpSpPr>
            <a:xfrm rot="5400000">
              <a:off x="9577306" y="2877281"/>
              <a:ext cx="56356" cy="130968"/>
              <a:chOff x="8585200" y="4845846"/>
              <a:chExt cx="56356" cy="130968"/>
            </a:xfrm>
          </p:grpSpPr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A87D682E-582B-CB27-1B64-794B89273E0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585200" y="4845846"/>
                <a:ext cx="56356" cy="65087"/>
              </a:xfrm>
              <a:prstGeom prst="line">
                <a:avLst/>
              </a:prstGeom>
              <a:ln w="53975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AFC56569-E8CA-4364-9767-2F3F4C4A4CA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85200" y="4910933"/>
                <a:ext cx="56356" cy="65881"/>
              </a:xfrm>
              <a:prstGeom prst="line">
                <a:avLst/>
              </a:prstGeom>
              <a:ln w="53975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4D8F2BBD-DF45-3932-A18E-6B866D4DF81E}"/>
              </a:ext>
            </a:extLst>
          </p:cNvPr>
          <p:cNvGrpSpPr/>
          <p:nvPr/>
        </p:nvGrpSpPr>
        <p:grpSpPr>
          <a:xfrm>
            <a:off x="9932906" y="2393950"/>
            <a:ext cx="130968" cy="576993"/>
            <a:chOff x="9540000" y="2393950"/>
            <a:chExt cx="130968" cy="576993"/>
          </a:xfrm>
        </p:grpSpPr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94F47329-248C-C515-CC48-A280816753E9}"/>
                </a:ext>
              </a:extLst>
            </p:cNvPr>
            <p:cNvCxnSpPr>
              <a:cxnSpLocks/>
            </p:cNvCxnSpPr>
            <p:nvPr/>
          </p:nvCxnSpPr>
          <p:spPr>
            <a:xfrm>
              <a:off x="9605484" y="2393950"/>
              <a:ext cx="0" cy="523875"/>
            </a:xfrm>
            <a:prstGeom prst="line">
              <a:avLst/>
            </a:prstGeom>
            <a:ln w="57150">
              <a:solidFill>
                <a:srgbClr val="25E9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FE18745F-F686-461E-51F9-D10763E7D215}"/>
                </a:ext>
              </a:extLst>
            </p:cNvPr>
            <p:cNvGrpSpPr/>
            <p:nvPr/>
          </p:nvGrpSpPr>
          <p:grpSpPr>
            <a:xfrm rot="5400000">
              <a:off x="9577306" y="2877281"/>
              <a:ext cx="56356" cy="130968"/>
              <a:chOff x="8585200" y="4845846"/>
              <a:chExt cx="56356" cy="130968"/>
            </a:xfrm>
          </p:grpSpPr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8EE19287-E4BD-1D46-0EB7-609A20FE354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585200" y="4845846"/>
                <a:ext cx="56356" cy="65087"/>
              </a:xfrm>
              <a:prstGeom prst="line">
                <a:avLst/>
              </a:prstGeom>
              <a:ln w="53975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F63C7F6A-1632-8784-CDC3-D27C0402DB9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85200" y="4910933"/>
                <a:ext cx="56356" cy="65881"/>
              </a:xfrm>
              <a:prstGeom prst="line">
                <a:avLst/>
              </a:prstGeom>
              <a:ln w="53975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E9A8BE65-210D-0966-ED83-C83CB54BD6B8}"/>
              </a:ext>
            </a:extLst>
          </p:cNvPr>
          <p:cNvGrpSpPr/>
          <p:nvPr/>
        </p:nvGrpSpPr>
        <p:grpSpPr>
          <a:xfrm>
            <a:off x="10325812" y="2393950"/>
            <a:ext cx="130968" cy="576993"/>
            <a:chOff x="9540000" y="2393950"/>
            <a:chExt cx="130968" cy="576993"/>
          </a:xfrm>
        </p:grpSpPr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82106E5-0CA9-BFB6-2034-B321D55B4D8B}"/>
                </a:ext>
              </a:extLst>
            </p:cNvPr>
            <p:cNvCxnSpPr>
              <a:cxnSpLocks/>
            </p:cNvCxnSpPr>
            <p:nvPr/>
          </p:nvCxnSpPr>
          <p:spPr>
            <a:xfrm>
              <a:off x="9605484" y="2393950"/>
              <a:ext cx="0" cy="523875"/>
            </a:xfrm>
            <a:prstGeom prst="line">
              <a:avLst/>
            </a:prstGeom>
            <a:ln w="57150">
              <a:solidFill>
                <a:srgbClr val="25E9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A9547E32-0993-B9E7-BE6E-A7692ADE76B6}"/>
                </a:ext>
              </a:extLst>
            </p:cNvPr>
            <p:cNvGrpSpPr/>
            <p:nvPr/>
          </p:nvGrpSpPr>
          <p:grpSpPr>
            <a:xfrm rot="5400000">
              <a:off x="9577306" y="2877281"/>
              <a:ext cx="56356" cy="130968"/>
              <a:chOff x="8585200" y="4845846"/>
              <a:chExt cx="56356" cy="130968"/>
            </a:xfrm>
          </p:grpSpPr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77E67F75-6643-6E5F-1B3F-6E914AFC2A0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585200" y="4845846"/>
                <a:ext cx="56356" cy="65087"/>
              </a:xfrm>
              <a:prstGeom prst="line">
                <a:avLst/>
              </a:prstGeom>
              <a:ln w="53975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5C9BE162-E43A-1521-BAF2-73DF6C9277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85200" y="4910933"/>
                <a:ext cx="56356" cy="65881"/>
              </a:xfrm>
              <a:prstGeom prst="line">
                <a:avLst/>
              </a:prstGeom>
              <a:ln w="53975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95A772AE-1340-22AF-0F49-ECD27C9AA9EE}"/>
              </a:ext>
            </a:extLst>
          </p:cNvPr>
          <p:cNvCxnSpPr>
            <a:cxnSpLocks/>
          </p:cNvCxnSpPr>
          <p:nvPr/>
        </p:nvCxnSpPr>
        <p:spPr>
          <a:xfrm flipV="1">
            <a:off x="7420934" y="2506339"/>
            <a:ext cx="0" cy="1375326"/>
          </a:xfrm>
          <a:prstGeom prst="line">
            <a:avLst/>
          </a:prstGeom>
          <a:ln w="92075">
            <a:solidFill>
              <a:srgbClr val="25E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nector: Elbow 78">
            <a:extLst>
              <a:ext uri="{FF2B5EF4-FFF2-40B4-BE49-F238E27FC236}">
                <a16:creationId xmlns:a16="http://schemas.microsoft.com/office/drawing/2014/main" id="{1A6F3662-2824-6FEE-7F45-B358C9C4B9F1}"/>
              </a:ext>
            </a:extLst>
          </p:cNvPr>
          <p:cNvCxnSpPr>
            <a:cxnSpLocks/>
            <a:stCxn id="96" idx="2"/>
          </p:cNvCxnSpPr>
          <p:nvPr/>
        </p:nvCxnSpPr>
        <p:spPr>
          <a:xfrm rot="16200000" flipH="1">
            <a:off x="9271877" y="5059108"/>
            <a:ext cx="423466" cy="678424"/>
          </a:xfrm>
          <a:prstGeom prst="bentConnector2">
            <a:avLst/>
          </a:prstGeom>
          <a:ln w="12700">
            <a:solidFill>
              <a:srgbClr val="25E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0" name="Group 79">
            <a:extLst>
              <a:ext uri="{FF2B5EF4-FFF2-40B4-BE49-F238E27FC236}">
                <a16:creationId xmlns:a16="http://schemas.microsoft.com/office/drawing/2014/main" id="{E41E52F2-ED09-016F-F14F-B44B783D23B9}"/>
              </a:ext>
            </a:extLst>
          </p:cNvPr>
          <p:cNvGrpSpPr/>
          <p:nvPr/>
        </p:nvGrpSpPr>
        <p:grpSpPr>
          <a:xfrm>
            <a:off x="9780556" y="5544967"/>
            <a:ext cx="56356" cy="130968"/>
            <a:chOff x="8585200" y="4845846"/>
            <a:chExt cx="56356" cy="130968"/>
          </a:xfrm>
        </p:grpSpPr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B98DC5A6-1936-A345-CC47-F1760FD677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85200" y="4845846"/>
              <a:ext cx="56356" cy="65087"/>
            </a:xfrm>
            <a:prstGeom prst="line">
              <a:avLst/>
            </a:prstGeom>
            <a:ln w="53975">
              <a:solidFill>
                <a:srgbClr val="25E9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3459E333-A426-6DD0-32AE-22A3625763EB}"/>
                </a:ext>
              </a:extLst>
            </p:cNvPr>
            <p:cNvCxnSpPr>
              <a:cxnSpLocks/>
            </p:cNvCxnSpPr>
            <p:nvPr/>
          </p:nvCxnSpPr>
          <p:spPr>
            <a:xfrm>
              <a:off x="8585200" y="4910933"/>
              <a:ext cx="56356" cy="65881"/>
            </a:xfrm>
            <a:prstGeom prst="line">
              <a:avLst/>
            </a:prstGeom>
            <a:ln w="53975">
              <a:solidFill>
                <a:srgbClr val="25E9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3" name="Connector: Elbow 82">
            <a:extLst>
              <a:ext uri="{FF2B5EF4-FFF2-40B4-BE49-F238E27FC236}">
                <a16:creationId xmlns:a16="http://schemas.microsoft.com/office/drawing/2014/main" id="{A07E5A63-12FC-1D44-CB8E-639988795B46}"/>
              </a:ext>
            </a:extLst>
          </p:cNvPr>
          <p:cNvCxnSpPr>
            <a:cxnSpLocks/>
          </p:cNvCxnSpPr>
          <p:nvPr/>
        </p:nvCxnSpPr>
        <p:spPr>
          <a:xfrm>
            <a:off x="7412439" y="4390975"/>
            <a:ext cx="2438562" cy="1362125"/>
          </a:xfrm>
          <a:prstGeom prst="bentConnector3">
            <a:avLst>
              <a:gd name="adj1" fmla="val 628"/>
            </a:avLst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08892413-953B-B128-8611-7C7C5ACF9B55}"/>
              </a:ext>
            </a:extLst>
          </p:cNvPr>
          <p:cNvCxnSpPr>
            <a:cxnSpLocks/>
          </p:cNvCxnSpPr>
          <p:nvPr/>
        </p:nvCxnSpPr>
        <p:spPr>
          <a:xfrm>
            <a:off x="7343313" y="4390975"/>
            <a:ext cx="176444" cy="0"/>
          </a:xfrm>
          <a:prstGeom prst="line">
            <a:avLst/>
          </a:prstGeom>
          <a:ln w="539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0E92236D-B968-C58A-21F6-18EF0E19BB58}"/>
              </a:ext>
            </a:extLst>
          </p:cNvPr>
          <p:cNvCxnSpPr>
            <a:cxnSpLocks/>
          </p:cNvCxnSpPr>
          <p:nvPr/>
        </p:nvCxnSpPr>
        <p:spPr>
          <a:xfrm>
            <a:off x="9050197" y="3881665"/>
            <a:ext cx="176444" cy="0"/>
          </a:xfrm>
          <a:prstGeom prst="line">
            <a:avLst/>
          </a:prstGeom>
          <a:ln w="539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Oval 85">
            <a:extLst>
              <a:ext uri="{FF2B5EF4-FFF2-40B4-BE49-F238E27FC236}">
                <a16:creationId xmlns:a16="http://schemas.microsoft.com/office/drawing/2014/main" id="{22298296-4587-56E9-2DC7-6EB9AC9C376D}"/>
              </a:ext>
            </a:extLst>
          </p:cNvPr>
          <p:cNvSpPr>
            <a:spLocks noChangeAspect="1"/>
          </p:cNvSpPr>
          <p:nvPr/>
        </p:nvSpPr>
        <p:spPr>
          <a:xfrm>
            <a:off x="9484600" y="3148634"/>
            <a:ext cx="237600" cy="237282"/>
          </a:xfrm>
          <a:prstGeom prst="ellipse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0AEA3D65-7A96-6C79-9F5A-C76AC657485D}"/>
              </a:ext>
            </a:extLst>
          </p:cNvPr>
          <p:cNvSpPr>
            <a:spLocks noChangeAspect="1"/>
          </p:cNvSpPr>
          <p:nvPr/>
        </p:nvSpPr>
        <p:spPr>
          <a:xfrm>
            <a:off x="10221465" y="3148634"/>
            <a:ext cx="237600" cy="237282"/>
          </a:xfrm>
          <a:prstGeom prst="ellipse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8" name="Connector: Elbow 87">
            <a:extLst>
              <a:ext uri="{FF2B5EF4-FFF2-40B4-BE49-F238E27FC236}">
                <a16:creationId xmlns:a16="http://schemas.microsoft.com/office/drawing/2014/main" id="{22F5A36D-61C1-7B55-A2A3-D4E94FC6A6AB}"/>
              </a:ext>
            </a:extLst>
          </p:cNvPr>
          <p:cNvCxnSpPr>
            <a:cxnSpLocks/>
            <a:endCxn id="86" idx="2"/>
          </p:cNvCxnSpPr>
          <p:nvPr/>
        </p:nvCxnSpPr>
        <p:spPr>
          <a:xfrm rot="5400000" flipH="1" flipV="1">
            <a:off x="9016803" y="3394870"/>
            <a:ext cx="595392" cy="340202"/>
          </a:xfrm>
          <a:prstGeom prst="bentConnector2">
            <a:avLst/>
          </a:prstGeom>
          <a:ln w="539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9" name="Group 88">
            <a:extLst>
              <a:ext uri="{FF2B5EF4-FFF2-40B4-BE49-F238E27FC236}">
                <a16:creationId xmlns:a16="http://schemas.microsoft.com/office/drawing/2014/main" id="{D39C9912-4615-EC96-23AD-E23267457DBB}"/>
              </a:ext>
            </a:extLst>
          </p:cNvPr>
          <p:cNvGrpSpPr/>
          <p:nvPr/>
        </p:nvGrpSpPr>
        <p:grpSpPr>
          <a:xfrm>
            <a:off x="10252043" y="3385916"/>
            <a:ext cx="176444" cy="1909984"/>
            <a:chOff x="10252043" y="3385916"/>
            <a:chExt cx="176444" cy="1909984"/>
          </a:xfrm>
        </p:grpSpPr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61DFD266-4438-FB31-AD2E-B9240B4CA4C1}"/>
                </a:ext>
              </a:extLst>
            </p:cNvPr>
            <p:cNvCxnSpPr>
              <a:cxnSpLocks/>
            </p:cNvCxnSpPr>
            <p:nvPr/>
          </p:nvCxnSpPr>
          <p:spPr>
            <a:xfrm>
              <a:off x="10252043" y="5295900"/>
              <a:ext cx="176444" cy="0"/>
            </a:xfrm>
            <a:prstGeom prst="line">
              <a:avLst/>
            </a:prstGeom>
            <a:ln w="539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84B0958D-D1DA-624D-E5F8-A368CCD97834}"/>
                </a:ext>
              </a:extLst>
            </p:cNvPr>
            <p:cNvCxnSpPr>
              <a:cxnSpLocks/>
            </p:cNvCxnSpPr>
            <p:nvPr/>
          </p:nvCxnSpPr>
          <p:spPr>
            <a:xfrm>
              <a:off x="10344614" y="3385916"/>
              <a:ext cx="0" cy="1909984"/>
            </a:xfrm>
            <a:prstGeom prst="line">
              <a:avLst/>
            </a:prstGeom>
            <a:ln w="476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950C0EA8-E867-057A-A31D-24CDBC981A9E}"/>
              </a:ext>
            </a:extLst>
          </p:cNvPr>
          <p:cNvGrpSpPr/>
          <p:nvPr/>
        </p:nvGrpSpPr>
        <p:grpSpPr>
          <a:xfrm>
            <a:off x="9052578" y="4371975"/>
            <a:ext cx="176444" cy="329185"/>
            <a:chOff x="10267298" y="4979872"/>
            <a:chExt cx="176444" cy="329185"/>
          </a:xfrm>
        </p:grpSpPr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13D6FEF8-A426-1388-10F3-4E25B6C5A0BB}"/>
                </a:ext>
              </a:extLst>
            </p:cNvPr>
            <p:cNvCxnSpPr>
              <a:cxnSpLocks/>
            </p:cNvCxnSpPr>
            <p:nvPr/>
          </p:nvCxnSpPr>
          <p:spPr>
            <a:xfrm>
              <a:off x="10267298" y="5309057"/>
              <a:ext cx="176444" cy="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13A868E2-F625-DD7F-BB28-D429B4311FB1}"/>
                </a:ext>
              </a:extLst>
            </p:cNvPr>
            <p:cNvCxnSpPr>
              <a:cxnSpLocks/>
              <a:stCxn id="95" idx="2"/>
            </p:cNvCxnSpPr>
            <p:nvPr/>
          </p:nvCxnSpPr>
          <p:spPr>
            <a:xfrm>
              <a:off x="10359118" y="4979872"/>
              <a:ext cx="0" cy="329185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93227400-5252-F759-E915-548FA5F32C5A}"/>
              </a:ext>
            </a:extLst>
          </p:cNvPr>
          <p:cNvSpPr/>
          <p:nvPr/>
        </p:nvSpPr>
        <p:spPr>
          <a:xfrm>
            <a:off x="8683312" y="3952429"/>
            <a:ext cx="922172" cy="419546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>
                <a:solidFill>
                  <a:schemeClr val="tx1"/>
                </a:solidFill>
              </a:rPr>
              <a:t>GPe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EEE388F4-E73E-1C6E-C743-75942D10AB57}"/>
              </a:ext>
            </a:extLst>
          </p:cNvPr>
          <p:cNvSpPr/>
          <p:nvPr/>
        </p:nvSpPr>
        <p:spPr>
          <a:xfrm>
            <a:off x="8683312" y="4767041"/>
            <a:ext cx="922172" cy="419546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STN</a:t>
            </a:r>
          </a:p>
        </p:txBody>
      </p: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E74937B2-30ED-4CFF-7AC4-D23E842D72D8}"/>
              </a:ext>
            </a:extLst>
          </p:cNvPr>
          <p:cNvSpPr/>
          <p:nvPr/>
        </p:nvSpPr>
        <p:spPr>
          <a:xfrm>
            <a:off x="6903881" y="3881665"/>
            <a:ext cx="1034106" cy="419546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Thalamus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6A0ACDD-E337-DAB2-0CBF-557C21C498C7}"/>
              </a:ext>
            </a:extLst>
          </p:cNvPr>
          <p:cNvGrpSpPr/>
          <p:nvPr/>
        </p:nvGrpSpPr>
        <p:grpSpPr>
          <a:xfrm>
            <a:off x="7331639" y="2449413"/>
            <a:ext cx="188118" cy="87824"/>
            <a:chOff x="6176963" y="2221706"/>
            <a:chExt cx="188118" cy="87824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EA25628B-3724-E87A-C473-82D350D757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69694" y="2221706"/>
              <a:ext cx="95387" cy="87824"/>
            </a:xfrm>
            <a:prstGeom prst="line">
              <a:avLst/>
            </a:prstGeom>
            <a:ln w="92075">
              <a:solidFill>
                <a:srgbClr val="25E9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72FFE502-8510-E529-ACA6-F5006F77238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76963" y="2221706"/>
              <a:ext cx="92732" cy="87823"/>
            </a:xfrm>
            <a:prstGeom prst="line">
              <a:avLst/>
            </a:prstGeom>
            <a:ln w="92075">
              <a:solidFill>
                <a:srgbClr val="25E9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1610230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418EF-5B79-9EB4-6825-6D937FC98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Huntington’s Disease (Chorea): treatment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3F831D-7F48-5A64-C4DA-4CF21DA45B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Inhibitors of the vesicular monoamine 2 transporter</a:t>
            </a:r>
          </a:p>
          <a:p>
            <a:pPr lvl="1"/>
            <a:r>
              <a:rPr lang="en-GB" dirty="0"/>
              <a:t>Aim at depleting dopamine vesicles</a:t>
            </a:r>
          </a:p>
          <a:p>
            <a:pPr lvl="1"/>
            <a:r>
              <a:rPr lang="en-GB" dirty="0"/>
              <a:t>Tetrabenazine</a:t>
            </a:r>
          </a:p>
          <a:p>
            <a:pPr lvl="1"/>
            <a:r>
              <a:rPr lang="en-GB" sz="1800" b="0" i="0" u="none" strike="noStrike" baseline="0" dirty="0">
                <a:latin typeface="AdvOT596495f2"/>
              </a:rPr>
              <a:t>Neuropsychiatric adverse events</a:t>
            </a:r>
          </a:p>
          <a:p>
            <a:endParaRPr lang="en-GB" dirty="0">
              <a:latin typeface="AdvOT596495f2"/>
            </a:endParaRPr>
          </a:p>
          <a:p>
            <a:r>
              <a:rPr lang="en-GB" dirty="0">
                <a:latin typeface="AdvOT596495f2"/>
              </a:rPr>
              <a:t>Emerging experimental therapies (preclinical)</a:t>
            </a:r>
          </a:p>
          <a:p>
            <a:pPr lvl="1"/>
            <a:r>
              <a:rPr lang="en-GB" dirty="0">
                <a:latin typeface="AdvOT596495f2"/>
              </a:rPr>
              <a:t>Lowering mutated huntingtin levels</a:t>
            </a:r>
          </a:p>
          <a:p>
            <a:pPr lvl="1"/>
            <a:r>
              <a:rPr lang="en-GB" dirty="0">
                <a:latin typeface="AdvOT596495f2"/>
              </a:rPr>
              <a:t>Inhibition of huntingtin aggregation</a:t>
            </a:r>
          </a:p>
          <a:p>
            <a:pPr lvl="1"/>
            <a:r>
              <a:rPr lang="en-GB" dirty="0">
                <a:latin typeface="AdvOT596495f2"/>
              </a:rPr>
              <a:t>Promotion of huntingtin clearance</a:t>
            </a:r>
          </a:p>
          <a:p>
            <a:pPr lvl="1"/>
            <a:r>
              <a:rPr lang="en-GB" dirty="0" err="1">
                <a:latin typeface="AdvOT596495f2"/>
              </a:rPr>
              <a:t>hMSCs</a:t>
            </a:r>
            <a:endParaRPr lang="en-GB" dirty="0">
              <a:latin typeface="AdvOT596495f2"/>
            </a:endParaRPr>
          </a:p>
          <a:p>
            <a:pPr lvl="1"/>
            <a:r>
              <a:rPr lang="en-GB" dirty="0">
                <a:latin typeface="AdvOT596495f2"/>
              </a:rPr>
              <a:t>Neurostimulation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96C18A-CA47-20CD-1C4B-807D444175DA}"/>
              </a:ext>
            </a:extLst>
          </p:cNvPr>
          <p:cNvSpPr txBox="1"/>
          <p:nvPr/>
        </p:nvSpPr>
        <p:spPr>
          <a:xfrm>
            <a:off x="7139694" y="1910764"/>
            <a:ext cx="422910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800" b="0" i="0" u="none" strike="noStrike" baseline="0" dirty="0">
                <a:latin typeface="Times-Roman"/>
              </a:rPr>
              <a:t>“Despite the extraordinary growth of our knowledge about the cellular mechanisms involved in HD-related neurodegeneration, no effective neuroprotective or disease-modifying therapy has emerged”</a:t>
            </a:r>
          </a:p>
          <a:p>
            <a:pPr algn="r"/>
            <a:r>
              <a:rPr lang="en-GB" sz="1400" dirty="0" err="1"/>
              <a:t>Neurotherapeuthics</a:t>
            </a:r>
            <a:r>
              <a:rPr lang="en-GB" sz="1400" dirty="0"/>
              <a:t> Vol. 5, 181–197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171715-D149-C0A0-201D-CBD4157575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8684" y="4894817"/>
            <a:ext cx="5491316" cy="100903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2FD841B-03B3-4A61-2917-88D3E813D5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0871" y="4358514"/>
            <a:ext cx="1450258" cy="707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26755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418EF-5B79-9EB4-6825-6D937FC98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Huntington’s Disease (Chorea): treatment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3F831D-7F48-5A64-C4DA-4CF21DA45B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Inhibitors of the vesicular monoamine 2 transporter</a:t>
            </a:r>
          </a:p>
          <a:p>
            <a:pPr lvl="1"/>
            <a:r>
              <a:rPr lang="en-GB" dirty="0"/>
              <a:t>Aim at depleting dopamine vesicles</a:t>
            </a:r>
          </a:p>
          <a:p>
            <a:pPr lvl="1"/>
            <a:r>
              <a:rPr lang="en-GB" dirty="0"/>
              <a:t>Tetrabenazine</a:t>
            </a:r>
          </a:p>
          <a:p>
            <a:pPr lvl="1"/>
            <a:r>
              <a:rPr lang="en-GB" sz="1800" b="0" i="0" u="none" strike="noStrike" baseline="0" dirty="0">
                <a:latin typeface="AdvOT596495f2"/>
              </a:rPr>
              <a:t>Neuropsychiatric adverse events</a:t>
            </a:r>
          </a:p>
          <a:p>
            <a:endParaRPr lang="en-GB" dirty="0">
              <a:latin typeface="AdvOT596495f2"/>
            </a:endParaRPr>
          </a:p>
          <a:p>
            <a:r>
              <a:rPr lang="en-GB" dirty="0">
                <a:latin typeface="AdvOT596495f2"/>
              </a:rPr>
              <a:t>Emerging experimental therapies</a:t>
            </a:r>
          </a:p>
          <a:p>
            <a:pPr lvl="1"/>
            <a:r>
              <a:rPr lang="en-GB" dirty="0">
                <a:latin typeface="AdvOT596495f2"/>
              </a:rPr>
              <a:t>Lowering mutated huntingtin levels</a:t>
            </a:r>
          </a:p>
          <a:p>
            <a:pPr lvl="1"/>
            <a:r>
              <a:rPr lang="en-GB" dirty="0">
                <a:latin typeface="AdvOT596495f2"/>
              </a:rPr>
              <a:t>Inhibition of huntingtin aggregation</a:t>
            </a:r>
          </a:p>
          <a:p>
            <a:pPr lvl="1"/>
            <a:r>
              <a:rPr lang="en-GB" dirty="0">
                <a:latin typeface="AdvOT596495f2"/>
              </a:rPr>
              <a:t>Promotion of huntingtin clearance</a:t>
            </a:r>
          </a:p>
          <a:p>
            <a:pPr lvl="1"/>
            <a:r>
              <a:rPr lang="en-GB" dirty="0" err="1">
                <a:latin typeface="AdvOT596495f2"/>
              </a:rPr>
              <a:t>hMSCs</a:t>
            </a:r>
            <a:endParaRPr lang="en-GB" dirty="0">
              <a:latin typeface="AdvOT596495f2"/>
            </a:endParaRPr>
          </a:p>
          <a:p>
            <a:pPr lvl="1"/>
            <a:r>
              <a:rPr lang="en-GB" dirty="0">
                <a:latin typeface="AdvOT596495f2"/>
              </a:rPr>
              <a:t>Neurostimulation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323FFE3-1D87-B9D6-9C5C-520759DDC0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8926" y="797566"/>
            <a:ext cx="5271074" cy="579615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182CFC8-5DE8-8D6D-B9B4-59C29C22F370}"/>
              </a:ext>
            </a:extLst>
          </p:cNvPr>
          <p:cNvSpPr txBox="1"/>
          <p:nvPr/>
        </p:nvSpPr>
        <p:spPr>
          <a:xfrm>
            <a:off x="8480019" y="6381812"/>
            <a:ext cx="27273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Neurotherapeutics Vol. 5, 181–197</a:t>
            </a:r>
          </a:p>
        </p:txBody>
      </p:sp>
    </p:spTree>
    <p:extLst>
      <p:ext uri="{BB962C8B-B14F-4D97-AF65-F5344CB8AC3E}">
        <p14:creationId xmlns:p14="http://schemas.microsoft.com/office/powerpoint/2010/main" val="334883577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418EF-5B79-9EB4-6825-6D937FC98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Huntington’s Disease (Chorea): treatment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3F831D-7F48-5A64-C4DA-4CF21DA45B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Inhibitors of the vesicular monoamine 2 transporter</a:t>
            </a:r>
          </a:p>
          <a:p>
            <a:pPr lvl="1"/>
            <a:r>
              <a:rPr lang="en-GB" dirty="0"/>
              <a:t>Aim at depleting dopamine vesicles</a:t>
            </a:r>
          </a:p>
          <a:p>
            <a:pPr lvl="1"/>
            <a:r>
              <a:rPr lang="en-GB" dirty="0"/>
              <a:t>Tetrabenazine</a:t>
            </a:r>
          </a:p>
          <a:p>
            <a:pPr lvl="1"/>
            <a:r>
              <a:rPr lang="en-GB" sz="1800" b="0" i="0" u="none" strike="noStrike" baseline="0" dirty="0">
                <a:latin typeface="AdvOT596495f2"/>
              </a:rPr>
              <a:t>Neuropsychiatric adverse events</a:t>
            </a:r>
          </a:p>
          <a:p>
            <a:endParaRPr lang="en-GB" dirty="0">
              <a:latin typeface="AdvOT596495f2"/>
            </a:endParaRPr>
          </a:p>
          <a:p>
            <a:r>
              <a:rPr lang="en-GB" dirty="0">
                <a:latin typeface="AdvOT596495f2"/>
              </a:rPr>
              <a:t>Emerging experimental therapies</a:t>
            </a:r>
          </a:p>
          <a:p>
            <a:pPr lvl="1"/>
            <a:r>
              <a:rPr lang="en-GB" dirty="0">
                <a:latin typeface="AdvOT596495f2"/>
              </a:rPr>
              <a:t>Mutated huntingtin-lowering</a:t>
            </a:r>
          </a:p>
          <a:p>
            <a:pPr lvl="1"/>
            <a:r>
              <a:rPr lang="en-GB" dirty="0">
                <a:latin typeface="AdvOT596495f2"/>
              </a:rPr>
              <a:t>Inhibition of huntingtin aggregation</a:t>
            </a:r>
          </a:p>
          <a:p>
            <a:pPr lvl="1"/>
            <a:r>
              <a:rPr lang="en-GB" dirty="0">
                <a:latin typeface="AdvOT596495f2"/>
              </a:rPr>
              <a:t>Promotion of huntingtin clearance</a:t>
            </a:r>
          </a:p>
          <a:p>
            <a:pPr lvl="1"/>
            <a:r>
              <a:rPr lang="en-GB" dirty="0" err="1">
                <a:latin typeface="AdvOT596495f2"/>
              </a:rPr>
              <a:t>hMSCs</a:t>
            </a:r>
            <a:endParaRPr lang="en-GB" dirty="0">
              <a:latin typeface="AdvOT596495f2"/>
            </a:endParaRPr>
          </a:p>
          <a:p>
            <a:pPr lvl="1"/>
            <a:r>
              <a:rPr lang="en-GB" dirty="0">
                <a:latin typeface="AdvOT596495f2"/>
              </a:rPr>
              <a:t>Neurostimulation</a:t>
            </a:r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A97F9F-A55F-8CB7-6B1D-D6FF8DA8002D}"/>
              </a:ext>
            </a:extLst>
          </p:cNvPr>
          <p:cNvSpPr txBox="1"/>
          <p:nvPr/>
        </p:nvSpPr>
        <p:spPr>
          <a:xfrm>
            <a:off x="6788543" y="6247782"/>
            <a:ext cx="50971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0" i="0" u="none" strike="noStrike" dirty="0">
                <a:effectLst/>
                <a:latin typeface="NexusSans"/>
                <a:hlinkClick r:id="rId2" tooltip="Go to table of contents for this volume/issu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Lancet Neurology Volume 21, Issue 7</a:t>
            </a:r>
            <a:r>
              <a:rPr lang="en-GB" sz="1400" b="0" i="0" dirty="0">
                <a:solidFill>
                  <a:srgbClr val="2E2E2E"/>
                </a:solidFill>
                <a:effectLst/>
                <a:latin typeface="NexusSans"/>
              </a:rPr>
              <a:t>, July 2022, Pages 645-658</a:t>
            </a:r>
            <a:endParaRPr lang="en-GB" sz="1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3DD759-7752-A631-A4E0-E19B87F8C949}"/>
              </a:ext>
            </a:extLst>
          </p:cNvPr>
          <p:cNvSpPr/>
          <p:nvPr/>
        </p:nvSpPr>
        <p:spPr>
          <a:xfrm>
            <a:off x="9680841" y="4406818"/>
            <a:ext cx="1132676" cy="660728"/>
          </a:xfrm>
          <a:prstGeom prst="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69C0BEA-608C-6DF0-6A50-B1893FCDE5E7}"/>
              </a:ext>
            </a:extLst>
          </p:cNvPr>
          <p:cNvGrpSpPr/>
          <p:nvPr/>
        </p:nvGrpSpPr>
        <p:grpSpPr>
          <a:xfrm>
            <a:off x="5522443" y="1785938"/>
            <a:ext cx="6281466" cy="4461844"/>
            <a:chOff x="5195725" y="1553864"/>
            <a:chExt cx="6608184" cy="4693918"/>
          </a:xfrm>
        </p:grpSpPr>
        <p:pic>
          <p:nvPicPr>
            <p:cNvPr id="11" name="Picture 10" descr="Diagram, map&#10;&#10;Description automatically generated">
              <a:extLst>
                <a:ext uri="{FF2B5EF4-FFF2-40B4-BE49-F238E27FC236}">
                  <a16:creationId xmlns:a16="http://schemas.microsoft.com/office/drawing/2014/main" id="{981077C8-79B7-F50C-04B4-F3D74FE5EDF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95725" y="1553864"/>
              <a:ext cx="6608184" cy="4613472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6080FA0-554E-47F2-3093-435EF8C36C2D}"/>
                </a:ext>
              </a:extLst>
            </p:cNvPr>
            <p:cNvSpPr/>
            <p:nvPr/>
          </p:nvSpPr>
          <p:spPr>
            <a:xfrm>
              <a:off x="8607159" y="5651582"/>
              <a:ext cx="873104" cy="596200"/>
            </a:xfrm>
            <a:prstGeom prst="rect">
              <a:avLst/>
            </a:prstGeom>
            <a:noFill/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17BE5BD7-3F9D-69EE-8CB0-D26BFB166436}"/>
              </a:ext>
            </a:extLst>
          </p:cNvPr>
          <p:cNvSpPr/>
          <p:nvPr/>
        </p:nvSpPr>
        <p:spPr>
          <a:xfrm>
            <a:off x="8971935" y="3733307"/>
            <a:ext cx="992075" cy="850491"/>
          </a:xfrm>
          <a:prstGeom prst="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438753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745A837-5DA2-3D07-A622-D5D1D29CB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Brainstem and cranial nerves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906151B-307C-1907-4E67-22BFCAC54E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6" name="Picture 2" descr="Logos - London Metropolitan University">
            <a:extLst>
              <a:ext uri="{FF2B5EF4-FFF2-40B4-BE49-F238E27FC236}">
                <a16:creationId xmlns:a16="http://schemas.microsoft.com/office/drawing/2014/main" id="{283D167A-F315-D953-8899-B37C9A5CD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196" y="20637"/>
            <a:ext cx="2407608" cy="1401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>
            <a:extLst>
              <a:ext uri="{FF2B5EF4-FFF2-40B4-BE49-F238E27FC236}">
                <a16:creationId xmlns:a16="http://schemas.microsoft.com/office/drawing/2014/main" id="{A3968F28-BFF0-E8C4-567B-FF795B9845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8426" y="-14335"/>
            <a:ext cx="6886669" cy="6886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13485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BFAF2-ABEE-E804-9960-A6468285A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CNS - Brain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AA9172-D487-E117-F056-AE5336EACB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90" y="1855099"/>
            <a:ext cx="5849386" cy="33675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133F709-0C4C-2E88-C149-48A82D64978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9753"/>
          <a:stretch/>
        </p:blipFill>
        <p:spPr>
          <a:xfrm>
            <a:off x="5986669" y="1940166"/>
            <a:ext cx="5791612" cy="3143388"/>
          </a:xfrm>
          <a:prstGeom prst="rect">
            <a:avLst/>
          </a:prstGeom>
        </p:spPr>
      </p:pic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F1848F5F-8773-17C7-265C-0F943037A641}"/>
              </a:ext>
            </a:extLst>
          </p:cNvPr>
          <p:cNvSpPr/>
          <p:nvPr/>
        </p:nvSpPr>
        <p:spPr>
          <a:xfrm>
            <a:off x="6170196" y="4088569"/>
            <a:ext cx="1972805" cy="113411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249E47B-C7E9-D9FE-886E-2D197B76F043}"/>
              </a:ext>
            </a:extLst>
          </p:cNvPr>
          <p:cNvCxnSpPr>
            <a:cxnSpLocks/>
          </p:cNvCxnSpPr>
          <p:nvPr/>
        </p:nvCxnSpPr>
        <p:spPr>
          <a:xfrm>
            <a:off x="8021370" y="4273235"/>
            <a:ext cx="301099" cy="0"/>
          </a:xfrm>
          <a:prstGeom prst="line">
            <a:avLst/>
          </a:prstGeom>
          <a:ln w="444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F4D2753-A27B-FEEC-B44E-BAB80E97A882}"/>
              </a:ext>
            </a:extLst>
          </p:cNvPr>
          <p:cNvCxnSpPr>
            <a:cxnSpLocks/>
          </p:cNvCxnSpPr>
          <p:nvPr/>
        </p:nvCxnSpPr>
        <p:spPr>
          <a:xfrm>
            <a:off x="8021370" y="4950735"/>
            <a:ext cx="606582" cy="0"/>
          </a:xfrm>
          <a:prstGeom prst="line">
            <a:avLst/>
          </a:prstGeom>
          <a:ln w="444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7AF2DF7-C9F8-1663-B650-7EE1493A2C6D}"/>
              </a:ext>
            </a:extLst>
          </p:cNvPr>
          <p:cNvCxnSpPr>
            <a:cxnSpLocks/>
          </p:cNvCxnSpPr>
          <p:nvPr/>
        </p:nvCxnSpPr>
        <p:spPr>
          <a:xfrm>
            <a:off x="8033441" y="4615757"/>
            <a:ext cx="350068" cy="0"/>
          </a:xfrm>
          <a:prstGeom prst="line">
            <a:avLst/>
          </a:prstGeom>
          <a:ln w="444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C1450FE-2096-6866-B710-4CD130490312}"/>
              </a:ext>
            </a:extLst>
          </p:cNvPr>
          <p:cNvCxnSpPr>
            <a:cxnSpLocks/>
          </p:cNvCxnSpPr>
          <p:nvPr/>
        </p:nvCxnSpPr>
        <p:spPr>
          <a:xfrm flipV="1">
            <a:off x="8309171" y="3550444"/>
            <a:ext cx="725291" cy="730336"/>
          </a:xfrm>
          <a:prstGeom prst="line">
            <a:avLst/>
          </a:prstGeom>
          <a:ln w="44450">
            <a:solidFill>
              <a:schemeClr val="accent1">
                <a:lumMod val="50000"/>
              </a:schemeClr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0837499-9D00-9E47-9742-1A8481897C82}"/>
              </a:ext>
            </a:extLst>
          </p:cNvPr>
          <p:cNvCxnSpPr>
            <a:cxnSpLocks/>
          </p:cNvCxnSpPr>
          <p:nvPr/>
        </p:nvCxnSpPr>
        <p:spPr>
          <a:xfrm flipV="1">
            <a:off x="8371085" y="3890183"/>
            <a:ext cx="725291" cy="730336"/>
          </a:xfrm>
          <a:prstGeom prst="line">
            <a:avLst/>
          </a:prstGeom>
          <a:ln w="44450">
            <a:solidFill>
              <a:schemeClr val="accent1">
                <a:lumMod val="50000"/>
              </a:schemeClr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BA74EA9-D1BF-6E68-FFEA-74BC826FC4BB}"/>
              </a:ext>
            </a:extLst>
          </p:cNvPr>
          <p:cNvCxnSpPr>
            <a:cxnSpLocks/>
          </p:cNvCxnSpPr>
          <p:nvPr/>
        </p:nvCxnSpPr>
        <p:spPr>
          <a:xfrm flipV="1">
            <a:off x="8611593" y="4225942"/>
            <a:ext cx="725291" cy="730336"/>
          </a:xfrm>
          <a:prstGeom prst="line">
            <a:avLst/>
          </a:prstGeom>
          <a:ln w="44450">
            <a:solidFill>
              <a:schemeClr val="accent1">
                <a:lumMod val="50000"/>
              </a:schemeClr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D51F877B-8BC5-1067-0D3B-C64D422EEC9F}"/>
              </a:ext>
            </a:extLst>
          </p:cNvPr>
          <p:cNvSpPr txBox="1"/>
          <p:nvPr/>
        </p:nvSpPr>
        <p:spPr>
          <a:xfrm>
            <a:off x="7168131" y="4126891"/>
            <a:ext cx="8638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Midbrain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4673484-954B-3E16-6B70-D119B44C0A41}"/>
              </a:ext>
            </a:extLst>
          </p:cNvPr>
          <p:cNvSpPr txBox="1"/>
          <p:nvPr/>
        </p:nvSpPr>
        <p:spPr>
          <a:xfrm>
            <a:off x="7464494" y="4457901"/>
            <a:ext cx="5674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Pons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66EA36C-AFEC-4C74-951C-CCEC10A23407}"/>
              </a:ext>
            </a:extLst>
          </p:cNvPr>
          <p:cNvSpPr txBox="1"/>
          <p:nvPr/>
        </p:nvSpPr>
        <p:spPr>
          <a:xfrm>
            <a:off x="6371374" y="4821943"/>
            <a:ext cx="1660583" cy="261610"/>
          </a:xfrm>
          <a:prstGeom prst="rect">
            <a:avLst/>
          </a:prstGeom>
          <a:noFill/>
        </p:spPr>
        <p:txBody>
          <a:bodyPr wrap="none" tIns="0" rtlCol="0">
            <a:spAutoFit/>
          </a:bodyPr>
          <a:lstStyle/>
          <a:p>
            <a:r>
              <a:rPr lang="en-GB" sz="1400" dirty="0"/>
              <a:t>Medulla </a:t>
            </a:r>
            <a:r>
              <a:rPr lang="en-GB" sz="1400" dirty="0" err="1"/>
              <a:t>Oblungata</a:t>
            </a:r>
            <a:endParaRPr lang="en-GB" sz="1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1673971-28A3-E78C-9EF8-3EC34E04E175}"/>
              </a:ext>
            </a:extLst>
          </p:cNvPr>
          <p:cNvSpPr txBox="1"/>
          <p:nvPr/>
        </p:nvSpPr>
        <p:spPr>
          <a:xfrm>
            <a:off x="6542363" y="3770694"/>
            <a:ext cx="1258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Brainstem</a:t>
            </a:r>
          </a:p>
        </p:txBody>
      </p:sp>
    </p:spTree>
    <p:extLst>
      <p:ext uri="{BB962C8B-B14F-4D97-AF65-F5344CB8AC3E}">
        <p14:creationId xmlns:p14="http://schemas.microsoft.com/office/powerpoint/2010/main" val="367571781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4D41C-ADCA-865A-6739-3B6D8AC56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brainstem</a:t>
            </a:r>
          </a:p>
        </p:txBody>
      </p:sp>
      <p:pic>
        <p:nvPicPr>
          <p:cNvPr id="4" name="Screen Recording 5">
            <a:hlinkClick r:id="" action="ppaction://media"/>
            <a:extLst>
              <a:ext uri="{FF2B5EF4-FFF2-40B4-BE49-F238E27FC236}">
                <a16:creationId xmlns:a16="http://schemas.microsoft.com/office/drawing/2014/main" id="{E35E1BC8-7683-BA92-1FDA-3CE5D52D3663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025650" y="1253337"/>
            <a:ext cx="8140700" cy="4873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370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447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DDD66-4107-6545-406B-77B7508E1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The brainstem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2DBF4E-4035-2C53-5859-F742E5F10A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8195"/>
          <a:stretch/>
        </p:blipFill>
        <p:spPr>
          <a:xfrm>
            <a:off x="350183" y="1533600"/>
            <a:ext cx="5459628" cy="41689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7C7E90C-A8ED-0854-A000-1FA4D45FFE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1944" b="4143"/>
          <a:stretch/>
        </p:blipFill>
        <p:spPr>
          <a:xfrm>
            <a:off x="6382191" y="2047875"/>
            <a:ext cx="5459630" cy="3533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76477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35074-01F1-242E-CBC7-613DD0FF7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medulla </a:t>
            </a:r>
            <a:r>
              <a:rPr lang="en-GB" dirty="0" err="1"/>
              <a:t>oblungata</a:t>
            </a:r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9A7ACF-CC38-1EE2-DA34-749BC06ADF2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b="48195"/>
          <a:stretch/>
        </p:blipFill>
        <p:spPr>
          <a:xfrm>
            <a:off x="350179" y="1532918"/>
            <a:ext cx="5459628" cy="41689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9372C18-CFB7-2A2B-954A-392105C0314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t="51944" b="4143"/>
          <a:stretch/>
        </p:blipFill>
        <p:spPr>
          <a:xfrm>
            <a:off x="6382191" y="2047875"/>
            <a:ext cx="5459630" cy="3533775"/>
          </a:xfrm>
          <a:prstGeom prst="rect">
            <a:avLst/>
          </a:prstGeom>
        </p:spPr>
      </p:pic>
      <p:pic>
        <p:nvPicPr>
          <p:cNvPr id="7" name="Picture 6" descr="A diagram of the body&#10;&#10;Description automatically generated">
            <a:extLst>
              <a:ext uri="{FF2B5EF4-FFF2-40B4-BE49-F238E27FC236}">
                <a16:creationId xmlns:a16="http://schemas.microsoft.com/office/drawing/2014/main" id="{B6AFD188-2D28-669E-BA91-8B97CBCE3D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1586" y="3774352"/>
            <a:ext cx="4760014" cy="1761106"/>
          </a:xfrm>
          <a:prstGeom prst="rect">
            <a:avLst/>
          </a:prstGeom>
        </p:spPr>
      </p:pic>
      <p:pic>
        <p:nvPicPr>
          <p:cNvPr id="9" name="Picture 8" descr="A diagram of the muscles of the body&#10;&#10;Description automatically generated">
            <a:extLst>
              <a:ext uri="{FF2B5EF4-FFF2-40B4-BE49-F238E27FC236}">
                <a16:creationId xmlns:a16="http://schemas.microsoft.com/office/drawing/2014/main" id="{94F02A56-F8EE-3486-8D47-FF3841D95D4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708" y="3901254"/>
            <a:ext cx="5145236" cy="1760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48479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5C480-5D06-753F-EF20-F84CA8056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medulla </a:t>
            </a:r>
            <a:r>
              <a:rPr lang="en-GB" dirty="0" err="1"/>
              <a:t>oblungata</a:t>
            </a:r>
            <a:endParaRPr lang="en-GB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F392202-9599-A41A-9AD3-7AE33513F8F6}"/>
              </a:ext>
            </a:extLst>
          </p:cNvPr>
          <p:cNvGrpSpPr/>
          <p:nvPr/>
        </p:nvGrpSpPr>
        <p:grpSpPr>
          <a:xfrm>
            <a:off x="148590" y="1263693"/>
            <a:ext cx="2880046" cy="2377570"/>
            <a:chOff x="1556001" y="2096809"/>
            <a:chExt cx="4138925" cy="3416815"/>
          </a:xfrm>
        </p:grpSpPr>
        <p:pic>
          <p:nvPicPr>
            <p:cNvPr id="5" name="Picture 4" descr="A drawing of a brain&#10;&#10;Description automatically generated">
              <a:extLst>
                <a:ext uri="{FF2B5EF4-FFF2-40B4-BE49-F238E27FC236}">
                  <a16:creationId xmlns:a16="http://schemas.microsoft.com/office/drawing/2014/main" id="{4A741263-A45B-D7CC-8C0E-B318AE6EF4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56001" y="2096809"/>
              <a:ext cx="2983998" cy="3416815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044A81C-672E-160E-9758-02EF1A1822EB}"/>
                </a:ext>
              </a:extLst>
            </p:cNvPr>
            <p:cNvSpPr txBox="1"/>
            <p:nvPr/>
          </p:nvSpPr>
          <p:spPr>
            <a:xfrm>
              <a:off x="4638675" y="2814638"/>
              <a:ext cx="10562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Midbrain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6A40230-321C-3386-7FE8-A58F951D85E6}"/>
                </a:ext>
              </a:extLst>
            </p:cNvPr>
            <p:cNvSpPr txBox="1"/>
            <p:nvPr/>
          </p:nvSpPr>
          <p:spPr>
            <a:xfrm>
              <a:off x="4191000" y="3489365"/>
              <a:ext cx="6745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Pons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5EF59D4-43B2-BDDA-E830-598D1737CF33}"/>
                </a:ext>
              </a:extLst>
            </p:cNvPr>
            <p:cNvSpPr txBox="1"/>
            <p:nvPr/>
          </p:nvSpPr>
          <p:spPr>
            <a:xfrm>
              <a:off x="3577521" y="4278392"/>
              <a:ext cx="122681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Medulla</a:t>
              </a:r>
            </a:p>
            <a:p>
              <a:r>
                <a:rPr lang="en-GB" dirty="0" err="1"/>
                <a:t>Oblungata</a:t>
              </a:r>
              <a:endParaRPr lang="en-GB" dirty="0"/>
            </a:p>
          </p:txBody>
        </p:sp>
      </p:grp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9C43DE3-DD73-55D8-E854-5C89DA30AD5D}"/>
              </a:ext>
            </a:extLst>
          </p:cNvPr>
          <p:cNvCxnSpPr>
            <a:cxnSpLocks/>
          </p:cNvCxnSpPr>
          <p:nvPr/>
        </p:nvCxnSpPr>
        <p:spPr>
          <a:xfrm>
            <a:off x="367717" y="2703765"/>
            <a:ext cx="1218789" cy="416876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A03329FC-9933-A9C3-E258-1B87988D6D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7636" y="1878154"/>
            <a:ext cx="6988956" cy="356923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FCC3949-F454-7BD6-02A6-E2E6452F41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892" y="4009895"/>
            <a:ext cx="5254498" cy="2458734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54F7158D-9F95-0935-AF0A-8470D471AE3E}"/>
              </a:ext>
            </a:extLst>
          </p:cNvPr>
          <p:cNvGrpSpPr/>
          <p:nvPr/>
        </p:nvGrpSpPr>
        <p:grpSpPr>
          <a:xfrm>
            <a:off x="9217834" y="6283963"/>
            <a:ext cx="2531514" cy="369332"/>
            <a:chOff x="6025953" y="5898082"/>
            <a:chExt cx="2531514" cy="36933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7763EDE-1BA5-8DF6-9FCB-187935DABD9C}"/>
                </a:ext>
              </a:extLst>
            </p:cNvPr>
            <p:cNvSpPr/>
            <p:nvPr/>
          </p:nvSpPr>
          <p:spPr>
            <a:xfrm>
              <a:off x="6025953" y="5957799"/>
              <a:ext cx="249898" cy="249898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99FD6BF-DC5A-C9D1-D0B2-B9AD623A4A8D}"/>
                </a:ext>
              </a:extLst>
            </p:cNvPr>
            <p:cNvSpPr txBox="1"/>
            <p:nvPr/>
          </p:nvSpPr>
          <p:spPr>
            <a:xfrm>
              <a:off x="6344005" y="5898082"/>
              <a:ext cx="9864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Sensory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CEFB8B4-383B-7411-13A6-47F719C78EF1}"/>
                </a:ext>
              </a:extLst>
            </p:cNvPr>
            <p:cNvSpPr/>
            <p:nvPr/>
          </p:nvSpPr>
          <p:spPr>
            <a:xfrm>
              <a:off x="7467601" y="5957799"/>
              <a:ext cx="249898" cy="24989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88550A4-D5D8-B702-0B01-FE3E97D62F8C}"/>
                </a:ext>
              </a:extLst>
            </p:cNvPr>
            <p:cNvSpPr txBox="1"/>
            <p:nvPr/>
          </p:nvSpPr>
          <p:spPr>
            <a:xfrm>
              <a:off x="7785653" y="5898082"/>
              <a:ext cx="7718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Motor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1279984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A18F5-9F5D-8286-926F-DD7178A89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38D4B-6E3B-D29C-7326-C0D3A0219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medulla </a:t>
            </a:r>
            <a:r>
              <a:rPr lang="en-GB" dirty="0" err="1"/>
              <a:t>oblungata</a:t>
            </a:r>
            <a:endParaRPr lang="en-GB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8C13969-94B1-38D3-98FC-8D5CEB3E9D86}"/>
              </a:ext>
            </a:extLst>
          </p:cNvPr>
          <p:cNvGrpSpPr/>
          <p:nvPr/>
        </p:nvGrpSpPr>
        <p:grpSpPr>
          <a:xfrm>
            <a:off x="148590" y="1263693"/>
            <a:ext cx="2880046" cy="2377570"/>
            <a:chOff x="1556001" y="2096809"/>
            <a:chExt cx="4138925" cy="3416815"/>
          </a:xfrm>
        </p:grpSpPr>
        <p:pic>
          <p:nvPicPr>
            <p:cNvPr id="5" name="Picture 4" descr="A drawing of a brain&#10;&#10;Description automatically generated">
              <a:extLst>
                <a:ext uri="{FF2B5EF4-FFF2-40B4-BE49-F238E27FC236}">
                  <a16:creationId xmlns:a16="http://schemas.microsoft.com/office/drawing/2014/main" id="{6CA06861-A4F6-B880-C95A-8A3D4E194F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56001" y="2096809"/>
              <a:ext cx="2983998" cy="3416815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A15C24D-0675-E50A-9983-00B469EFC1C7}"/>
                </a:ext>
              </a:extLst>
            </p:cNvPr>
            <p:cNvSpPr txBox="1"/>
            <p:nvPr/>
          </p:nvSpPr>
          <p:spPr>
            <a:xfrm>
              <a:off x="4638675" y="2814638"/>
              <a:ext cx="10562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Midbrain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9DA1EB9-637C-4FB6-1718-09A8B0BF5D9C}"/>
                </a:ext>
              </a:extLst>
            </p:cNvPr>
            <p:cNvSpPr txBox="1"/>
            <p:nvPr/>
          </p:nvSpPr>
          <p:spPr>
            <a:xfrm>
              <a:off x="4191000" y="3489365"/>
              <a:ext cx="6745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Pons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D7F230A-D79A-CD3B-F88C-25BFDC8D1D09}"/>
                </a:ext>
              </a:extLst>
            </p:cNvPr>
            <p:cNvSpPr txBox="1"/>
            <p:nvPr/>
          </p:nvSpPr>
          <p:spPr>
            <a:xfrm>
              <a:off x="3577521" y="4278392"/>
              <a:ext cx="122681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Medulla</a:t>
              </a:r>
            </a:p>
            <a:p>
              <a:r>
                <a:rPr lang="en-GB" dirty="0" err="1"/>
                <a:t>Oblungata</a:t>
              </a:r>
              <a:endParaRPr lang="en-GB" dirty="0"/>
            </a:p>
          </p:txBody>
        </p:sp>
      </p:grp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18719D6-CF42-C9F2-579C-5993BC019222}"/>
              </a:ext>
            </a:extLst>
          </p:cNvPr>
          <p:cNvCxnSpPr>
            <a:cxnSpLocks/>
          </p:cNvCxnSpPr>
          <p:nvPr/>
        </p:nvCxnSpPr>
        <p:spPr>
          <a:xfrm>
            <a:off x="694686" y="2424575"/>
            <a:ext cx="1218789" cy="416876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361A0C53-1A03-4B51-DAA3-2F62A6423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1525" y="862095"/>
            <a:ext cx="4936400" cy="555833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5F46EED-E91A-BD79-2DC6-7E81D4858E2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2757"/>
          <a:stretch/>
        </p:blipFill>
        <p:spPr>
          <a:xfrm>
            <a:off x="1357189" y="3622648"/>
            <a:ext cx="5041072" cy="3113136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FCD9C983-9C0D-05E8-79B0-18BB313D7260}"/>
              </a:ext>
            </a:extLst>
          </p:cNvPr>
          <p:cNvGrpSpPr/>
          <p:nvPr/>
        </p:nvGrpSpPr>
        <p:grpSpPr>
          <a:xfrm>
            <a:off x="9217834" y="6283963"/>
            <a:ext cx="2531514" cy="369332"/>
            <a:chOff x="6025953" y="5898082"/>
            <a:chExt cx="2531514" cy="369332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ED2DB12-9733-C4F8-7DA5-27587A2FF528}"/>
                </a:ext>
              </a:extLst>
            </p:cNvPr>
            <p:cNvSpPr/>
            <p:nvPr/>
          </p:nvSpPr>
          <p:spPr>
            <a:xfrm>
              <a:off x="6025953" y="5957799"/>
              <a:ext cx="249898" cy="249898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12FC1EC-846F-8E38-BAB4-AB33024BD57C}"/>
                </a:ext>
              </a:extLst>
            </p:cNvPr>
            <p:cNvSpPr txBox="1"/>
            <p:nvPr/>
          </p:nvSpPr>
          <p:spPr>
            <a:xfrm>
              <a:off x="6344005" y="5898082"/>
              <a:ext cx="9864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Sensory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40F889A-29D2-DE55-8F25-D684FEC148FA}"/>
                </a:ext>
              </a:extLst>
            </p:cNvPr>
            <p:cNvSpPr/>
            <p:nvPr/>
          </p:nvSpPr>
          <p:spPr>
            <a:xfrm>
              <a:off x="7467601" y="5957799"/>
              <a:ext cx="249898" cy="24989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70F8EBC-BA74-94FC-AB12-DF813163BA5C}"/>
                </a:ext>
              </a:extLst>
            </p:cNvPr>
            <p:cNvSpPr txBox="1"/>
            <p:nvPr/>
          </p:nvSpPr>
          <p:spPr>
            <a:xfrm>
              <a:off x="7785653" y="5898082"/>
              <a:ext cx="7718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Motor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594604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4358</Words>
  <Application>Microsoft Office PowerPoint</Application>
  <PresentationFormat>Widescreen</PresentationFormat>
  <Paragraphs>994</Paragraphs>
  <Slides>103</Slides>
  <Notes>6</Notes>
  <HiddenSlides>0</HiddenSlides>
  <MMClips>8</MMClips>
  <ScaleCrop>false</ScaleCrop>
  <HeadingPairs>
    <vt:vector size="6" baseType="variant">
      <vt:variant>
        <vt:lpstr>Fonts Used</vt:lpstr>
      </vt:variant>
      <vt:variant>
        <vt:i4>17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103</vt:i4>
      </vt:variant>
    </vt:vector>
  </HeadingPairs>
  <TitlesOfParts>
    <vt:vector size="121" baseType="lpstr">
      <vt:lpstr>AdvOT1ef757c0</vt:lpstr>
      <vt:lpstr>AdvOT596495f2</vt:lpstr>
      <vt:lpstr>AGaramondPro-Regular</vt:lpstr>
      <vt:lpstr>Aptos</vt:lpstr>
      <vt:lpstr>Aptos Display</vt:lpstr>
      <vt:lpstr>Arial</vt:lpstr>
      <vt:lpstr>BlinkMacSystemFont</vt:lpstr>
      <vt:lpstr>Calibri</vt:lpstr>
      <vt:lpstr>Calibri Light</vt:lpstr>
      <vt:lpstr>HelveticaLTStd-Roman</vt:lpstr>
      <vt:lpstr>Myriad-Roman</vt:lpstr>
      <vt:lpstr>NexusSans</vt:lpstr>
      <vt:lpstr>nexussanscompproregular</vt:lpstr>
      <vt:lpstr>Open Sans</vt:lpstr>
      <vt:lpstr>Symbol</vt:lpstr>
      <vt:lpstr>Times-Roman</vt:lpstr>
      <vt:lpstr>Wingdings</vt:lpstr>
      <vt:lpstr>Office Theme</vt:lpstr>
      <vt:lpstr>Basal Ganglia - Brainstem - Cranial Nerves - Cerebellum</vt:lpstr>
      <vt:lpstr>Learning outcomes</vt:lpstr>
      <vt:lpstr>Interpreting tissue sections</vt:lpstr>
      <vt:lpstr>The spinal cord</vt:lpstr>
      <vt:lpstr>Anatomy: thalamus</vt:lpstr>
      <vt:lpstr>The Brain</vt:lpstr>
      <vt:lpstr>Neuronal communication: the neurotransmitter</vt:lpstr>
      <vt:lpstr>Basal ganglia</vt:lpstr>
      <vt:lpstr>Basal Ganglia</vt:lpstr>
      <vt:lpstr>Anatomy</vt:lpstr>
      <vt:lpstr>Anatomy</vt:lpstr>
      <vt:lpstr>Anatomy</vt:lpstr>
      <vt:lpstr>Anatomy</vt:lpstr>
      <vt:lpstr>Anatomy</vt:lpstr>
      <vt:lpstr>Neuronal communication: the neurotransmitter</vt:lpstr>
      <vt:lpstr>Neuronal communication: the neurotransmitter</vt:lpstr>
      <vt:lpstr>Basal ganglia: Input/output</vt:lpstr>
      <vt:lpstr>Basal ganglia: Intrinsic connections</vt:lpstr>
      <vt:lpstr>Basal ganglia: Intrinsic connections</vt:lpstr>
      <vt:lpstr>Corticostriato-pallido-thalamocortical loop</vt:lpstr>
      <vt:lpstr>Corticostriato-pallido-thalamocortical loop</vt:lpstr>
      <vt:lpstr>Neuromodulation within the basal ganglia</vt:lpstr>
      <vt:lpstr>Neuromodulation within the basal ganglia: dopamine</vt:lpstr>
      <vt:lpstr>Neuromodulation within the basal ganglia: dopamine</vt:lpstr>
      <vt:lpstr>Neuromodulation within the basal ganglia: dopamine</vt:lpstr>
      <vt:lpstr>Multiple parallel pathways</vt:lpstr>
      <vt:lpstr>Lesions of the basal ganglia</vt:lpstr>
      <vt:lpstr>Parkinson’s disease</vt:lpstr>
      <vt:lpstr>Parkinson’s disease</vt:lpstr>
      <vt:lpstr>Parkinson’s disease</vt:lpstr>
      <vt:lpstr>Parkinson’s disease: unclear etiology</vt:lpstr>
      <vt:lpstr>Parkinson’s disease: mechanism</vt:lpstr>
      <vt:lpstr>Parkinson’s disease: mechanism</vt:lpstr>
      <vt:lpstr>Treatment</vt:lpstr>
      <vt:lpstr>Treatment</vt:lpstr>
      <vt:lpstr>Treatment</vt:lpstr>
      <vt:lpstr>Failings in current therapies</vt:lpstr>
      <vt:lpstr>Huntington’s Disease (Chorea)</vt:lpstr>
      <vt:lpstr>Huntington’s Disease (Chorea)</vt:lpstr>
      <vt:lpstr>Huntington’s Disease (Chorea)</vt:lpstr>
      <vt:lpstr>Huntington’s Disease (Chorea)</vt:lpstr>
      <vt:lpstr>Huntington’s Disease (Chorea): treatment</vt:lpstr>
      <vt:lpstr>Huntington’s Disease (Chorea): treatment</vt:lpstr>
      <vt:lpstr>Huntington’s Disease (Chorea): treatment</vt:lpstr>
      <vt:lpstr>Brainstem and cranial nerves</vt:lpstr>
      <vt:lpstr>The CNS - Brain</vt:lpstr>
      <vt:lpstr>The brainstem</vt:lpstr>
      <vt:lpstr>The brainstem</vt:lpstr>
      <vt:lpstr>The medulla oblungata</vt:lpstr>
      <vt:lpstr>The medulla oblungata</vt:lpstr>
      <vt:lpstr>The medulla oblungata</vt:lpstr>
      <vt:lpstr>Cranial nerves of the medulla oblungata</vt:lpstr>
      <vt:lpstr>XII - Hypoglossal</vt:lpstr>
      <vt:lpstr>XI - Accessory</vt:lpstr>
      <vt:lpstr>X -  Vagus</vt:lpstr>
      <vt:lpstr>X -  Vagus</vt:lpstr>
      <vt:lpstr>IX - Glossopharyngeal nerve</vt:lpstr>
      <vt:lpstr>Cranial nerves of the medulla</vt:lpstr>
      <vt:lpstr>The pons</vt:lpstr>
      <vt:lpstr>The pons</vt:lpstr>
      <vt:lpstr>The pons</vt:lpstr>
      <vt:lpstr>The pons</vt:lpstr>
      <vt:lpstr>The pons</vt:lpstr>
      <vt:lpstr>Cranial nerves of the pons</vt:lpstr>
      <vt:lpstr>VIII - Vestibulocochlear</vt:lpstr>
      <vt:lpstr>VII - Facial</vt:lpstr>
      <vt:lpstr>VI - Abducens</vt:lpstr>
      <vt:lpstr>V - Trigeminal</vt:lpstr>
      <vt:lpstr>Cranial nerves of the pons</vt:lpstr>
      <vt:lpstr>The midbrain</vt:lpstr>
      <vt:lpstr>The midbrain</vt:lpstr>
      <vt:lpstr>Cranial nerves of the midbrain</vt:lpstr>
      <vt:lpstr>IV - Trochlear</vt:lpstr>
      <vt:lpstr>III - Oculomotor</vt:lpstr>
      <vt:lpstr>Cranial nerves of the midbrain</vt:lpstr>
      <vt:lpstr>Cranial nerves of the brainstem</vt:lpstr>
      <vt:lpstr>The reticular formation and raphe nuclei</vt:lpstr>
      <vt:lpstr>II - Optic </vt:lpstr>
      <vt:lpstr>I - Olfactory</vt:lpstr>
      <vt:lpstr>Cranial nerves</vt:lpstr>
      <vt:lpstr>Cranial nerves and cranial cavity</vt:lpstr>
      <vt:lpstr>Clinical cases</vt:lpstr>
      <vt:lpstr>Clinical cases</vt:lpstr>
      <vt:lpstr>Cerebellum</vt:lpstr>
      <vt:lpstr>The cerebellum refines actions</vt:lpstr>
      <vt:lpstr>Gross cerebellar anatomy</vt:lpstr>
      <vt:lpstr>Different cerebellar areas and functions</vt:lpstr>
      <vt:lpstr>Different cerebellar areas and functions</vt:lpstr>
      <vt:lpstr>Deep cerebellar nuclei </vt:lpstr>
      <vt:lpstr>Cerebellar peduncles: the gateways of the cerebellum</vt:lpstr>
      <vt:lpstr>Cerebellar afferents: brain</vt:lpstr>
      <vt:lpstr>Cerebellar afferents: body</vt:lpstr>
      <vt:lpstr>Cells of the cerebellum</vt:lpstr>
      <vt:lpstr>Neuronal circuitry: Purkinje cells</vt:lpstr>
      <vt:lpstr>Neuronal circuitry </vt:lpstr>
      <vt:lpstr>Neuronal circuitry </vt:lpstr>
      <vt:lpstr>Neuronal circuitry </vt:lpstr>
      <vt:lpstr>Cerebellar efferents</vt:lpstr>
      <vt:lpstr>Cerebellar efferents</vt:lpstr>
      <vt:lpstr>Learning in the cerebellum</vt:lpstr>
      <vt:lpstr>Basic cerebellar processing</vt:lpstr>
      <vt:lpstr>Cerebellar disfunction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Vincenzo Mastrolia</dc:creator>
  <cp:lastModifiedBy>Vincenzo Mastrolia</cp:lastModifiedBy>
  <cp:revision>4</cp:revision>
  <dcterms:created xsi:type="dcterms:W3CDTF">2025-11-01T16:26:58Z</dcterms:created>
  <dcterms:modified xsi:type="dcterms:W3CDTF">2025-11-18T08:17:38Z</dcterms:modified>
</cp:coreProperties>
</file>