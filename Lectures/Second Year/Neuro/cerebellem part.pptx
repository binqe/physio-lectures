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2.xml" ContentType="application/inkml+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7" r:id="rId2"/>
    <p:sldId id="260" r:id="rId3"/>
    <p:sldId id="258" r:id="rId4"/>
    <p:sldId id="259" r:id="rId5"/>
    <p:sldId id="262" r:id="rId6"/>
    <p:sldId id="266" r:id="rId7"/>
    <p:sldId id="265" r:id="rId8"/>
    <p:sldId id="263" r:id="rId9"/>
    <p:sldId id="271" r:id="rId10"/>
    <p:sldId id="270" r:id="rId11"/>
    <p:sldId id="267" r:id="rId12"/>
    <p:sldId id="273" r:id="rId13"/>
    <p:sldId id="272" r:id="rId14"/>
    <p:sldId id="274" r:id="rId15"/>
    <p:sldId id="264" r:id="rId16"/>
    <p:sldId id="275" r:id="rId17"/>
    <p:sldId id="269" r:id="rId18"/>
    <p:sldId id="268" r:id="rId19"/>
    <p:sldId id="276" r:id="rId20"/>
    <p:sldId id="69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3:38:07.288"/>
    </inkml:context>
    <inkml:brush xml:id="br0">
      <inkml:brushProperty name="width" value="0.05" units="cm"/>
      <inkml:brushProperty name="height" value="0.05" units="cm"/>
    </inkml:brush>
  </inkml:definitions>
  <inkml:trace contextRef="#ctx0" brushRef="#br0">0 96 8751 0 0,'0'0'4720'0'0,"3"-35"-5816"0"0,8 17-1728 0 0,-3-4 328 0 0,0 1-64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4:04:44.703"/>
    </inkml:context>
    <inkml:brush xml:id="br0">
      <inkml:brushProperty name="width" value="0.05" units="cm"/>
      <inkml:brushProperty name="height" value="0.05" units="cm"/>
    </inkml:brush>
  </inkml:definitions>
  <inkml:trace contextRef="#ctx0" brushRef="#br0">0 1 11975 0 0,'0'0'1280'0'0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88BE10-0166-4C2D-B44C-272AEE18A5D3}" type="datetimeFigureOut">
              <a:rPr lang="en-GB" smtClean="0"/>
              <a:t>18/11/2025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AEFF4F-86F5-481B-9F43-DBC8884B84D7}" type="slidenum">
              <a:rPr lang="en-GB" smtClean="0"/>
              <a:t>‹#›</a:t>
            </a:fld>
            <a:endParaRPr lang="en-GB"/>
          </a:p>
        </p:txBody>
      </p:sp>
    </p:spTree>
    <p:extLst>
      <p:ext uri="{BB962C8B-B14F-4D97-AF65-F5344CB8AC3E}">
        <p14:creationId xmlns:p14="http://schemas.microsoft.com/office/powerpoint/2010/main" val="571945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The cerebellum is made up of two hemispheres connected by</a:t>
            </a:r>
          </a:p>
          <a:p>
            <a:r>
              <a:rPr lang="en-GB" sz="1200" b="0" i="0" u="none" strike="noStrike" kern="1200" baseline="0" dirty="0">
                <a:solidFill>
                  <a:schemeClr val="tx1"/>
                </a:solidFill>
                <a:latin typeface="+mn-lt"/>
                <a:ea typeface="+mn-ea"/>
                <a:cs typeface="+mn-cs"/>
              </a:rPr>
              <a:t>the vermis in the midline (Fig. 3.16). The vermis is distinct</a:t>
            </a:r>
          </a:p>
          <a:p>
            <a:r>
              <a:rPr lang="en-GB" sz="1200" b="0" i="0" u="none" strike="noStrike" kern="1200" baseline="0" dirty="0">
                <a:solidFill>
                  <a:schemeClr val="tx1"/>
                </a:solidFill>
                <a:latin typeface="+mn-lt"/>
                <a:ea typeface="+mn-ea"/>
                <a:cs typeface="+mn-cs"/>
              </a:rPr>
              <a:t>only on the undersurface, where it occupies the floor of a</a:t>
            </a:r>
          </a:p>
          <a:p>
            <a:r>
              <a:rPr lang="en-GB" sz="1200" b="0" i="0" u="none" strike="noStrike" kern="1200" baseline="0" dirty="0">
                <a:solidFill>
                  <a:schemeClr val="tx1"/>
                </a:solidFill>
                <a:latin typeface="+mn-lt"/>
                <a:ea typeface="+mn-ea"/>
                <a:cs typeface="+mn-cs"/>
              </a:rPr>
              <a:t>deep groove, the vallecula. The hemispheres show numerous</a:t>
            </a:r>
          </a:p>
          <a:p>
            <a:r>
              <a:rPr lang="en-GB" sz="1200" b="0" i="0" u="none" strike="noStrike" kern="1200" baseline="0" dirty="0">
                <a:solidFill>
                  <a:schemeClr val="tx1"/>
                </a:solidFill>
                <a:latin typeface="+mn-lt"/>
                <a:ea typeface="+mn-ea"/>
                <a:cs typeface="+mn-cs"/>
              </a:rPr>
              <a:t>deep fissures, with folia in between. About 80% of the cortex</a:t>
            </a:r>
          </a:p>
          <a:p>
            <a:r>
              <a:rPr lang="en-GB" sz="1200" b="0" i="0" u="none" strike="noStrike" kern="1200" baseline="0" dirty="0">
                <a:solidFill>
                  <a:schemeClr val="tx1"/>
                </a:solidFill>
                <a:latin typeface="+mn-lt"/>
                <a:ea typeface="+mn-ea"/>
                <a:cs typeface="+mn-cs"/>
              </a:rPr>
              <a:t>(surface grey matter) is hidden from view on the surfaces of</a:t>
            </a:r>
          </a:p>
          <a:p>
            <a:r>
              <a:rPr lang="en-GB" sz="1200" b="0" i="0" u="none" strike="noStrike" kern="1200" baseline="0" dirty="0">
                <a:solidFill>
                  <a:schemeClr val="tx1"/>
                </a:solidFill>
                <a:latin typeface="+mn-lt"/>
                <a:ea typeface="+mn-ea"/>
                <a:cs typeface="+mn-cs"/>
              </a:rPr>
              <a:t>the folia.</a:t>
            </a:r>
          </a:p>
          <a:p>
            <a:r>
              <a:rPr lang="en-GB" sz="1200" b="0" i="0" u="none" strike="noStrike" kern="1200" baseline="0" dirty="0">
                <a:solidFill>
                  <a:schemeClr val="tx1"/>
                </a:solidFill>
                <a:latin typeface="+mn-lt"/>
                <a:ea typeface="+mn-ea"/>
                <a:cs typeface="+mn-cs"/>
              </a:rPr>
              <a:t>The oldest part of the cerebellum (present even in fishes) is the</a:t>
            </a:r>
          </a:p>
          <a:p>
            <a:r>
              <a:rPr lang="en-GB" sz="1200" b="0" i="0" u="none" strike="noStrike" kern="1200" baseline="0" dirty="0">
                <a:solidFill>
                  <a:schemeClr val="tx1"/>
                </a:solidFill>
                <a:latin typeface="+mn-lt"/>
                <a:ea typeface="+mn-ea"/>
                <a:cs typeface="+mn-cs"/>
              </a:rPr>
              <a:t>flocculonodular lobe consisting of the nodule of the vermis and</a:t>
            </a:r>
          </a:p>
          <a:p>
            <a:r>
              <a:rPr lang="en-GB" sz="1200" b="0" i="0" u="none" strike="noStrike" kern="1200" baseline="0" dirty="0">
                <a:solidFill>
                  <a:schemeClr val="tx1"/>
                </a:solidFill>
                <a:latin typeface="+mn-lt"/>
                <a:ea typeface="+mn-ea"/>
                <a:cs typeface="+mn-cs"/>
              </a:rPr>
              <a:t>the flocculus in the hemisphere on each side. More recent is the</a:t>
            </a:r>
          </a:p>
          <a:p>
            <a:r>
              <a:rPr lang="en-GB" sz="1200" b="0" i="0" u="none" strike="noStrike" kern="1200" baseline="0" dirty="0">
                <a:solidFill>
                  <a:schemeClr val="tx1"/>
                </a:solidFill>
                <a:latin typeface="+mn-lt"/>
                <a:ea typeface="+mn-ea"/>
                <a:cs typeface="+mn-cs"/>
              </a:rPr>
              <a:t>anterior lobe, which is bounded posteriorly by the primary fissure</a:t>
            </a:r>
          </a:p>
          <a:p>
            <a:r>
              <a:rPr lang="en-GB" sz="1200" b="0" i="0" u="none" strike="noStrike" kern="1200" baseline="0" dirty="0">
                <a:solidFill>
                  <a:schemeClr val="tx1"/>
                </a:solidFill>
                <a:latin typeface="+mn-lt"/>
                <a:ea typeface="+mn-ea"/>
                <a:cs typeface="+mn-cs"/>
              </a:rPr>
              <a:t>and contains the </a:t>
            </a:r>
            <a:r>
              <a:rPr lang="en-GB" sz="1200" b="0" i="0" u="none" strike="noStrike" kern="1200" baseline="0" dirty="0" err="1">
                <a:solidFill>
                  <a:schemeClr val="tx1"/>
                </a:solidFill>
                <a:latin typeface="+mn-lt"/>
                <a:ea typeface="+mn-ea"/>
                <a:cs typeface="+mn-cs"/>
              </a:rPr>
              <a:t>pyramis</a:t>
            </a:r>
            <a:r>
              <a:rPr lang="en-GB" sz="1200" b="0" i="0" u="none" strike="noStrike" kern="1200" baseline="0" dirty="0">
                <a:solidFill>
                  <a:schemeClr val="tx1"/>
                </a:solidFill>
                <a:latin typeface="+mn-lt"/>
                <a:ea typeface="+mn-ea"/>
                <a:cs typeface="+mn-cs"/>
              </a:rPr>
              <a:t> and the uvula. The most recent is</a:t>
            </a:r>
          </a:p>
          <a:p>
            <a:r>
              <a:rPr lang="en-GB" sz="1200" b="0" i="0" u="none" strike="noStrike" kern="1200" baseline="0" dirty="0">
                <a:solidFill>
                  <a:schemeClr val="tx1"/>
                </a:solidFill>
                <a:latin typeface="+mn-lt"/>
                <a:ea typeface="+mn-ea"/>
                <a:cs typeface="+mn-cs"/>
              </a:rPr>
              <a:t>the posterior lobe. Prominent features of the posterior lobe are</a:t>
            </a:r>
          </a:p>
          <a:p>
            <a:r>
              <a:rPr lang="en-GB" sz="1200" b="0" i="0" u="none" strike="noStrike" kern="1200" baseline="0" dirty="0">
                <a:solidFill>
                  <a:schemeClr val="tx1"/>
                </a:solidFill>
                <a:latin typeface="+mn-lt"/>
                <a:ea typeface="+mn-ea"/>
                <a:cs typeface="+mn-cs"/>
              </a:rPr>
              <a:t>the tonsils. The tonsils lie directly above the foramen magnum of</a:t>
            </a:r>
          </a:p>
          <a:p>
            <a:r>
              <a:rPr lang="en-GB" sz="1200" b="0" i="0" u="none" strike="noStrike" kern="1200" baseline="0" dirty="0">
                <a:solidFill>
                  <a:schemeClr val="tx1"/>
                </a:solidFill>
                <a:latin typeface="+mn-lt"/>
                <a:ea typeface="+mn-ea"/>
                <a:cs typeface="+mn-cs"/>
              </a:rPr>
              <a:t>the skull; if the intracranial pressure is raised (e.g., by a brain</a:t>
            </a:r>
          </a:p>
          <a:p>
            <a:r>
              <a:rPr lang="en-GB" sz="1200" b="0" i="0" u="none" strike="noStrike" kern="1200" baseline="0" dirty="0">
                <a:solidFill>
                  <a:schemeClr val="tx1"/>
                </a:solidFill>
                <a:latin typeface="+mn-lt"/>
                <a:ea typeface="+mn-ea"/>
                <a:cs typeface="+mn-cs"/>
              </a:rPr>
              <a:t>tumour), one or both tonsils may descend into the foramen and</a:t>
            </a:r>
          </a:p>
          <a:p>
            <a:r>
              <a:rPr lang="en-GB" sz="1200" b="0" i="0" u="none" strike="noStrike" kern="1200" baseline="0" dirty="0">
                <a:solidFill>
                  <a:schemeClr val="tx1"/>
                </a:solidFill>
                <a:latin typeface="+mn-lt"/>
                <a:ea typeface="+mn-ea"/>
                <a:cs typeface="+mn-cs"/>
              </a:rPr>
              <a:t>pose a threat to life by compressing the medulla oblongata.</a:t>
            </a:r>
          </a:p>
          <a:p>
            <a:r>
              <a:rPr lang="en-GB" sz="1200" b="0" i="0" u="none" strike="noStrike" kern="1200" baseline="0" dirty="0">
                <a:solidFill>
                  <a:schemeClr val="tx1"/>
                </a:solidFill>
                <a:latin typeface="+mn-lt"/>
                <a:ea typeface="+mn-ea"/>
                <a:cs typeface="+mn-cs"/>
              </a:rPr>
              <a:t>The white matter contains several deep nuclei. The largest of</a:t>
            </a:r>
          </a:p>
          <a:p>
            <a:r>
              <a:rPr lang="en-GB" sz="1200" b="0" i="0" u="none" strike="noStrike" kern="1200" baseline="0" dirty="0">
                <a:solidFill>
                  <a:schemeClr val="tx1"/>
                </a:solidFill>
                <a:latin typeface="+mn-lt"/>
                <a:ea typeface="+mn-ea"/>
                <a:cs typeface="+mn-cs"/>
              </a:rPr>
              <a:t>these is the dentate nucleus</a:t>
            </a:r>
            <a:endParaRPr lang="en-GB" dirty="0"/>
          </a:p>
        </p:txBody>
      </p:sp>
      <p:sp>
        <p:nvSpPr>
          <p:cNvPr id="4" name="Slide Number Placeholder 3"/>
          <p:cNvSpPr>
            <a:spLocks noGrp="1"/>
          </p:cNvSpPr>
          <p:nvPr>
            <p:ph type="sldNum" sz="quarter" idx="5"/>
          </p:nvPr>
        </p:nvSpPr>
        <p:spPr/>
        <p:txBody>
          <a:bodyPr/>
          <a:lstStyle/>
          <a:p>
            <a:fld id="{4A4AEA9A-0A32-49E6-8689-C373B0AE9683}" type="slidenum">
              <a:rPr lang="en-GB" smtClean="0"/>
              <a:t>3</a:t>
            </a:fld>
            <a:endParaRPr lang="en-GB"/>
          </a:p>
        </p:txBody>
      </p:sp>
    </p:spTree>
    <p:extLst>
      <p:ext uri="{BB962C8B-B14F-4D97-AF65-F5344CB8AC3E}">
        <p14:creationId xmlns:p14="http://schemas.microsoft.com/office/powerpoint/2010/main" val="20319034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Phylogenetically, the initial development of the cerebellum (in</a:t>
            </a:r>
          </a:p>
          <a:p>
            <a:r>
              <a:rPr lang="en-GB" sz="1200" b="0" i="0" u="none" strike="noStrike" kern="1200" baseline="0" dirty="0">
                <a:solidFill>
                  <a:schemeClr val="tx1"/>
                </a:solidFill>
                <a:latin typeface="+mn-lt"/>
                <a:ea typeface="+mn-ea"/>
                <a:cs typeface="+mn-cs"/>
              </a:rPr>
              <a:t>fish) took place in relation to the vestibular labyrinth. With the</a:t>
            </a:r>
          </a:p>
          <a:p>
            <a:r>
              <a:rPr lang="en-GB" sz="1200" b="0" i="0" u="none" strike="noStrike" kern="1200" baseline="0" dirty="0">
                <a:solidFill>
                  <a:schemeClr val="tx1"/>
                </a:solidFill>
                <a:latin typeface="+mn-lt"/>
                <a:ea typeface="+mn-ea"/>
                <a:cs typeface="+mn-cs"/>
              </a:rPr>
              <a:t>development of quadrupedal locomotion, the anterior lobes of</a:t>
            </a:r>
          </a:p>
          <a:p>
            <a:r>
              <a:rPr lang="en-GB" sz="1200" b="0" i="0" u="none" strike="noStrike" kern="1200" baseline="0" dirty="0">
                <a:solidFill>
                  <a:schemeClr val="tx1"/>
                </a:solidFill>
                <a:latin typeface="+mn-lt"/>
                <a:ea typeface="+mn-ea"/>
                <a:cs typeface="+mn-cs"/>
              </a:rPr>
              <a:t>the cerebellum (in particular) became richly connected to the</a:t>
            </a:r>
          </a:p>
          <a:p>
            <a:r>
              <a:rPr lang="en-GB" sz="1200" b="0" i="0" u="none" strike="noStrike" kern="1200" baseline="0" dirty="0">
                <a:solidFill>
                  <a:schemeClr val="tx1"/>
                </a:solidFill>
                <a:latin typeface="+mn-lt"/>
                <a:ea typeface="+mn-ea"/>
                <a:cs typeface="+mn-cs"/>
              </a:rPr>
              <a:t>spinal cord. Assumption of the erect posture and achievement</a:t>
            </a:r>
          </a:p>
          <a:p>
            <a:r>
              <a:rPr lang="en-GB" sz="1200" b="0" i="0" u="none" strike="noStrike" kern="1200" baseline="0" dirty="0">
                <a:solidFill>
                  <a:schemeClr val="tx1"/>
                </a:solidFill>
                <a:latin typeface="+mn-lt"/>
                <a:ea typeface="+mn-ea"/>
                <a:cs typeface="+mn-cs"/>
              </a:rPr>
              <a:t>of a whole new range of physical and cognitive skills have been</a:t>
            </a:r>
          </a:p>
          <a:p>
            <a:r>
              <a:rPr lang="en-GB" sz="1200" b="0" i="0" u="none" strike="noStrike" kern="1200" baseline="0" dirty="0">
                <a:solidFill>
                  <a:schemeClr val="tx1"/>
                </a:solidFill>
                <a:latin typeface="+mn-lt"/>
                <a:ea typeface="+mn-ea"/>
                <a:cs typeface="+mn-cs"/>
              </a:rPr>
              <a:t>accompanied by the appearance of massive linkages between</a:t>
            </a:r>
          </a:p>
          <a:p>
            <a:r>
              <a:rPr lang="en-GB" sz="1200" b="0" i="0" u="none" strike="noStrike" kern="1200" baseline="0" dirty="0">
                <a:solidFill>
                  <a:schemeClr val="tx1"/>
                </a:solidFill>
                <a:latin typeface="+mn-lt"/>
                <a:ea typeface="+mn-ea"/>
                <a:cs typeface="+mn-cs"/>
              </a:rPr>
              <a:t>the anterior and posterior lobes of the cerebellum and the cerebral</a:t>
            </a:r>
          </a:p>
          <a:p>
            <a:r>
              <a:rPr lang="en-GB" sz="1200" b="0" i="0" u="none" strike="noStrike" kern="1200" baseline="0" dirty="0">
                <a:solidFill>
                  <a:schemeClr val="tx1"/>
                </a:solidFill>
                <a:latin typeface="+mn-lt"/>
                <a:ea typeface="+mn-ea"/>
                <a:cs typeface="+mn-cs"/>
              </a:rPr>
              <a:t>cortex. In general, cerebellar connections with the vestibular</a:t>
            </a:r>
          </a:p>
          <a:p>
            <a:r>
              <a:rPr lang="en-GB" sz="1200" b="0" i="0" u="none" strike="noStrike" kern="1200" baseline="0" dirty="0">
                <a:solidFill>
                  <a:schemeClr val="tx1"/>
                </a:solidFill>
                <a:latin typeface="+mn-lt"/>
                <a:ea typeface="+mn-ea"/>
                <a:cs typeface="+mn-cs"/>
              </a:rPr>
              <a:t>system, spinal cord, and cerebral cortex are arranged such</a:t>
            </a:r>
          </a:p>
          <a:p>
            <a:r>
              <a:rPr lang="en-GB" sz="1200" b="0" i="0" u="none" strike="noStrike" kern="1200" baseline="0" dirty="0">
                <a:solidFill>
                  <a:schemeClr val="tx1"/>
                </a:solidFill>
                <a:latin typeface="+mn-lt"/>
                <a:ea typeface="+mn-ea"/>
                <a:cs typeface="+mn-cs"/>
              </a:rPr>
              <a:t>that each cerebellar hemisphere is primarily concerned with the</a:t>
            </a:r>
          </a:p>
          <a:p>
            <a:r>
              <a:rPr lang="en-GB" sz="1200" b="0" i="0" u="none" strike="noStrike" kern="1200" baseline="0" dirty="0">
                <a:solidFill>
                  <a:schemeClr val="tx1"/>
                </a:solidFill>
                <a:latin typeface="+mn-lt"/>
                <a:ea typeface="+mn-ea"/>
                <a:cs typeface="+mn-cs"/>
              </a:rPr>
              <a:t>coordination of movements ipsilaterally.</a:t>
            </a:r>
          </a:p>
          <a:p>
            <a:r>
              <a:rPr lang="en-GB" sz="1200" b="0" i="0" u="none" strike="noStrike" kern="1200" baseline="0" dirty="0">
                <a:solidFill>
                  <a:schemeClr val="tx1"/>
                </a:solidFill>
                <a:latin typeface="+mn-lt"/>
                <a:ea typeface="+mn-ea"/>
                <a:cs typeface="+mn-cs"/>
              </a:rPr>
              <a:t>The gross anatomy of the cerebellum is described briefly in</a:t>
            </a:r>
          </a:p>
          <a:p>
            <a:r>
              <a:rPr lang="en-GB" sz="1200" b="0" i="0" u="none" strike="noStrike" kern="1200" baseline="0" dirty="0">
                <a:solidFill>
                  <a:schemeClr val="tx1"/>
                </a:solidFill>
                <a:latin typeface="+mn-lt"/>
                <a:ea typeface="+mn-ea"/>
                <a:cs typeface="+mn-cs"/>
              </a:rPr>
              <a:t>Chapter 3, where it may be reviewed at this time.</a:t>
            </a:r>
          </a:p>
          <a:p>
            <a:r>
              <a:rPr lang="en-GB" sz="1200" b="0" i="0" u="none" strike="noStrike" kern="1200" baseline="0" dirty="0">
                <a:solidFill>
                  <a:schemeClr val="tx1"/>
                </a:solidFill>
                <a:latin typeface="+mn-lt"/>
                <a:ea typeface="+mn-ea"/>
                <a:cs typeface="+mn-cs"/>
              </a:rPr>
              <a:t>FUNCTIONAL</a:t>
            </a:r>
            <a:endParaRPr lang="en-GB" dirty="0"/>
          </a:p>
        </p:txBody>
      </p:sp>
      <p:sp>
        <p:nvSpPr>
          <p:cNvPr id="4" name="Slide Number Placeholder 3"/>
          <p:cNvSpPr>
            <a:spLocks noGrp="1"/>
          </p:cNvSpPr>
          <p:nvPr>
            <p:ph type="sldNum" sz="quarter" idx="5"/>
          </p:nvPr>
        </p:nvSpPr>
        <p:spPr/>
        <p:txBody>
          <a:bodyPr/>
          <a:lstStyle/>
          <a:p>
            <a:fld id="{4A4AEA9A-0A32-49E6-8689-C373B0AE9683}" type="slidenum">
              <a:rPr lang="en-GB" smtClean="0"/>
              <a:t>4</a:t>
            </a:fld>
            <a:endParaRPr lang="en-GB"/>
          </a:p>
        </p:txBody>
      </p:sp>
    </p:spTree>
    <p:extLst>
      <p:ext uri="{BB962C8B-B14F-4D97-AF65-F5344CB8AC3E}">
        <p14:creationId xmlns:p14="http://schemas.microsoft.com/office/powerpoint/2010/main" val="36260271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Video 1—Friedreich's Ataxia: A patient with Friedreich's ataxia, a gait disorder due to both cerebellar and proprioceptive ataxia, has imbalance, staggers, and has difficulties in making a half-turn. Because of difficulties with tandem walking, the patient requires the intermittent support of a wall. The patient has dysmetria during nose--finger and finger chase tests, and instability in a standing position with the feet together because of cerebellar ataxia. There is an obvious loss of balance when the patient's eyes are closed because of the proprioceptive component of the ataxia. Saccadic ocular pursuit and square-wave jerks due to fixation instability are shown, as well as diffuse abolition of the reflexes and right extensor plantar reflex. Video 2—Ataxia with Oculomotor Apraxia Type 1: </a:t>
            </a:r>
            <a:r>
              <a:rPr lang="en-GB" sz="1200" b="0" i="0" kern="1200" dirty="0" err="1">
                <a:solidFill>
                  <a:schemeClr val="tx1"/>
                </a:solidFill>
                <a:effectLst/>
                <a:latin typeface="+mn-lt"/>
                <a:ea typeface="+mn-ea"/>
                <a:cs typeface="+mn-cs"/>
              </a:rPr>
              <a:t>Choreic</a:t>
            </a:r>
            <a:r>
              <a:rPr lang="en-GB" sz="1200" b="0" i="0" kern="1200" dirty="0">
                <a:solidFill>
                  <a:schemeClr val="tx1"/>
                </a:solidFill>
                <a:effectLst/>
                <a:latin typeface="+mn-lt"/>
                <a:ea typeface="+mn-ea"/>
                <a:cs typeface="+mn-cs"/>
              </a:rPr>
              <a:t> movement of the hands and trunk with cervical dystonia in a patient with ataxia with oculomotor apraxia type 1. Video 3—Ataxia Telangiectasia: Right horizontal gaze-evoked nystagmus and nasal as well as temporal telangiectasias in a patient with ataxia telangiectasia. Video 4—Oculomotor Apraxia Type 1: Oculocephalic dissociation in a patient with ataxia with oculomotor apraxia type 1. During the rotation of the head, a dissociation is expressed as a delay between the movement of the eyes following that of the head.</a:t>
            </a:r>
            <a:endParaRPr lang="en-GB" dirty="0"/>
          </a:p>
        </p:txBody>
      </p:sp>
      <p:sp>
        <p:nvSpPr>
          <p:cNvPr id="4" name="Slide Number Placeholder 3"/>
          <p:cNvSpPr>
            <a:spLocks noGrp="1"/>
          </p:cNvSpPr>
          <p:nvPr>
            <p:ph type="sldNum" sz="quarter" idx="5"/>
          </p:nvPr>
        </p:nvSpPr>
        <p:spPr/>
        <p:txBody>
          <a:bodyPr/>
          <a:lstStyle/>
          <a:p>
            <a:fld id="{4A4AEA9A-0A32-49E6-8689-C373B0AE9683}" type="slidenum">
              <a:rPr lang="en-GB" smtClean="0"/>
              <a:t>19</a:t>
            </a:fld>
            <a:endParaRPr lang="en-GB"/>
          </a:p>
        </p:txBody>
      </p:sp>
    </p:spTree>
    <p:extLst>
      <p:ext uri="{BB962C8B-B14F-4D97-AF65-F5344CB8AC3E}">
        <p14:creationId xmlns:p14="http://schemas.microsoft.com/office/powerpoint/2010/main" val="3643817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4FC0A-C758-B071-36A2-4E0E238719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8BE8380-ED0E-6B6C-84DB-DFF112821B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29CE963-B758-AF29-98AC-89632E39B238}"/>
              </a:ext>
            </a:extLst>
          </p:cNvPr>
          <p:cNvSpPr>
            <a:spLocks noGrp="1"/>
          </p:cNvSpPr>
          <p:nvPr>
            <p:ph type="dt" sz="half" idx="10"/>
          </p:nvPr>
        </p:nvSpPr>
        <p:spPr/>
        <p:txBody>
          <a:bodyPr/>
          <a:lstStyle/>
          <a:p>
            <a:fld id="{104D3946-3CFB-4350-9366-2DC585C2701B}" type="datetimeFigureOut">
              <a:rPr lang="en-GB" smtClean="0"/>
              <a:t>18/11/2025</a:t>
            </a:fld>
            <a:endParaRPr lang="en-GB"/>
          </a:p>
        </p:txBody>
      </p:sp>
      <p:sp>
        <p:nvSpPr>
          <p:cNvPr id="5" name="Footer Placeholder 4">
            <a:extLst>
              <a:ext uri="{FF2B5EF4-FFF2-40B4-BE49-F238E27FC236}">
                <a16:creationId xmlns:a16="http://schemas.microsoft.com/office/drawing/2014/main" id="{077622EF-3BE5-22CA-B012-D643AF2C8A7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E3007B0-1EBD-49D0-9D72-F220E1DC25D1}"/>
              </a:ext>
            </a:extLst>
          </p:cNvPr>
          <p:cNvSpPr>
            <a:spLocks noGrp="1"/>
          </p:cNvSpPr>
          <p:nvPr>
            <p:ph type="sldNum" sz="quarter" idx="12"/>
          </p:nvPr>
        </p:nvSpPr>
        <p:spPr/>
        <p:txBody>
          <a:bodyPr/>
          <a:lstStyle/>
          <a:p>
            <a:fld id="{ED2390D4-8D5D-4DEE-965F-B0656124FE5A}" type="slidenum">
              <a:rPr lang="en-GB" smtClean="0"/>
              <a:t>‹#›</a:t>
            </a:fld>
            <a:endParaRPr lang="en-GB"/>
          </a:p>
        </p:txBody>
      </p:sp>
    </p:spTree>
    <p:extLst>
      <p:ext uri="{BB962C8B-B14F-4D97-AF65-F5344CB8AC3E}">
        <p14:creationId xmlns:p14="http://schemas.microsoft.com/office/powerpoint/2010/main" val="133310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1E1B2-5FAD-8B9E-8172-C3DB5377E1B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7B4E64D-4C5B-EDDD-7FFD-340BB3CD675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63CB111-9400-C68B-5F36-4C898DE9F3E4}"/>
              </a:ext>
            </a:extLst>
          </p:cNvPr>
          <p:cNvSpPr>
            <a:spLocks noGrp="1"/>
          </p:cNvSpPr>
          <p:nvPr>
            <p:ph type="dt" sz="half" idx="10"/>
          </p:nvPr>
        </p:nvSpPr>
        <p:spPr/>
        <p:txBody>
          <a:bodyPr/>
          <a:lstStyle/>
          <a:p>
            <a:fld id="{104D3946-3CFB-4350-9366-2DC585C2701B}" type="datetimeFigureOut">
              <a:rPr lang="en-GB" smtClean="0"/>
              <a:t>18/11/2025</a:t>
            </a:fld>
            <a:endParaRPr lang="en-GB"/>
          </a:p>
        </p:txBody>
      </p:sp>
      <p:sp>
        <p:nvSpPr>
          <p:cNvPr id="5" name="Footer Placeholder 4">
            <a:extLst>
              <a:ext uri="{FF2B5EF4-FFF2-40B4-BE49-F238E27FC236}">
                <a16:creationId xmlns:a16="http://schemas.microsoft.com/office/drawing/2014/main" id="{65CEB7DC-B709-E63B-28A7-F61AEF749B6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6293FB6-29E4-5D74-E4DE-0CE18661434F}"/>
              </a:ext>
            </a:extLst>
          </p:cNvPr>
          <p:cNvSpPr>
            <a:spLocks noGrp="1"/>
          </p:cNvSpPr>
          <p:nvPr>
            <p:ph type="sldNum" sz="quarter" idx="12"/>
          </p:nvPr>
        </p:nvSpPr>
        <p:spPr/>
        <p:txBody>
          <a:bodyPr/>
          <a:lstStyle/>
          <a:p>
            <a:fld id="{ED2390D4-8D5D-4DEE-965F-B0656124FE5A}" type="slidenum">
              <a:rPr lang="en-GB" smtClean="0"/>
              <a:t>‹#›</a:t>
            </a:fld>
            <a:endParaRPr lang="en-GB"/>
          </a:p>
        </p:txBody>
      </p:sp>
    </p:spTree>
    <p:extLst>
      <p:ext uri="{BB962C8B-B14F-4D97-AF65-F5344CB8AC3E}">
        <p14:creationId xmlns:p14="http://schemas.microsoft.com/office/powerpoint/2010/main" val="3938248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F4B4-618B-47DC-ABFA-088906DEEE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A95B5C4-43BE-DBEA-B745-5BA6DE2DF87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B913AB-DDF0-2B89-E8A5-B53C8510C2D2}"/>
              </a:ext>
            </a:extLst>
          </p:cNvPr>
          <p:cNvSpPr>
            <a:spLocks noGrp="1"/>
          </p:cNvSpPr>
          <p:nvPr>
            <p:ph type="dt" sz="half" idx="10"/>
          </p:nvPr>
        </p:nvSpPr>
        <p:spPr/>
        <p:txBody>
          <a:bodyPr/>
          <a:lstStyle/>
          <a:p>
            <a:fld id="{104D3946-3CFB-4350-9366-2DC585C2701B}" type="datetimeFigureOut">
              <a:rPr lang="en-GB" smtClean="0"/>
              <a:t>18/11/2025</a:t>
            </a:fld>
            <a:endParaRPr lang="en-GB"/>
          </a:p>
        </p:txBody>
      </p:sp>
      <p:sp>
        <p:nvSpPr>
          <p:cNvPr id="5" name="Footer Placeholder 4">
            <a:extLst>
              <a:ext uri="{FF2B5EF4-FFF2-40B4-BE49-F238E27FC236}">
                <a16:creationId xmlns:a16="http://schemas.microsoft.com/office/drawing/2014/main" id="{3AE41589-A221-6421-0A21-38A1FDC2221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F67D790-F8D4-A58F-62FE-E81C1B854D42}"/>
              </a:ext>
            </a:extLst>
          </p:cNvPr>
          <p:cNvSpPr>
            <a:spLocks noGrp="1"/>
          </p:cNvSpPr>
          <p:nvPr>
            <p:ph type="sldNum" sz="quarter" idx="12"/>
          </p:nvPr>
        </p:nvSpPr>
        <p:spPr/>
        <p:txBody>
          <a:bodyPr/>
          <a:lstStyle/>
          <a:p>
            <a:fld id="{ED2390D4-8D5D-4DEE-965F-B0656124FE5A}" type="slidenum">
              <a:rPr lang="en-GB" smtClean="0"/>
              <a:t>‹#›</a:t>
            </a:fld>
            <a:endParaRPr lang="en-GB"/>
          </a:p>
        </p:txBody>
      </p:sp>
    </p:spTree>
    <p:extLst>
      <p:ext uri="{BB962C8B-B14F-4D97-AF65-F5344CB8AC3E}">
        <p14:creationId xmlns:p14="http://schemas.microsoft.com/office/powerpoint/2010/main" val="552122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C307B-A7AE-7E73-77D6-B0E962E7702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6334B27-8066-3CB3-8408-4086EAA7DB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084D143-B63C-24FB-B61A-13DD63E6A6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632F60B-382F-1E1A-B979-34F4FEA98410}"/>
              </a:ext>
            </a:extLst>
          </p:cNvPr>
          <p:cNvSpPr>
            <a:spLocks noGrp="1"/>
          </p:cNvSpPr>
          <p:nvPr>
            <p:ph type="dt" sz="half" idx="10"/>
          </p:nvPr>
        </p:nvSpPr>
        <p:spPr/>
        <p:txBody>
          <a:bodyPr/>
          <a:lstStyle/>
          <a:p>
            <a:fld id="{104D3946-3CFB-4350-9366-2DC585C2701B}" type="datetimeFigureOut">
              <a:rPr lang="en-GB" smtClean="0"/>
              <a:t>18/11/2025</a:t>
            </a:fld>
            <a:endParaRPr lang="en-GB"/>
          </a:p>
        </p:txBody>
      </p:sp>
      <p:sp>
        <p:nvSpPr>
          <p:cNvPr id="6" name="Footer Placeholder 5">
            <a:extLst>
              <a:ext uri="{FF2B5EF4-FFF2-40B4-BE49-F238E27FC236}">
                <a16:creationId xmlns:a16="http://schemas.microsoft.com/office/drawing/2014/main" id="{BB8AE334-B219-6E50-540A-EECA2337B91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038FE32-9102-EA7A-4830-7734BEBCAD9A}"/>
              </a:ext>
            </a:extLst>
          </p:cNvPr>
          <p:cNvSpPr>
            <a:spLocks noGrp="1"/>
          </p:cNvSpPr>
          <p:nvPr>
            <p:ph type="sldNum" sz="quarter" idx="12"/>
          </p:nvPr>
        </p:nvSpPr>
        <p:spPr/>
        <p:txBody>
          <a:bodyPr/>
          <a:lstStyle/>
          <a:p>
            <a:fld id="{ED2390D4-8D5D-4DEE-965F-B0656124FE5A}" type="slidenum">
              <a:rPr lang="en-GB" smtClean="0"/>
              <a:t>‹#›</a:t>
            </a:fld>
            <a:endParaRPr lang="en-GB"/>
          </a:p>
        </p:txBody>
      </p:sp>
    </p:spTree>
    <p:extLst>
      <p:ext uri="{BB962C8B-B14F-4D97-AF65-F5344CB8AC3E}">
        <p14:creationId xmlns:p14="http://schemas.microsoft.com/office/powerpoint/2010/main" val="3876963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01CB0-E059-B1A7-07BB-D304E1CE745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8EEA3FC-77A0-2C51-D0F5-A2E5108A61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2BF087-881E-DF06-8F91-9DCF28D01A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7805831-E877-74CA-66D2-C8DAC072A5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0EDACF-8083-79DE-A0E7-1AFEC56538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86828EB-4DF9-09C4-5424-2B18549E26AD}"/>
              </a:ext>
            </a:extLst>
          </p:cNvPr>
          <p:cNvSpPr>
            <a:spLocks noGrp="1"/>
          </p:cNvSpPr>
          <p:nvPr>
            <p:ph type="dt" sz="half" idx="10"/>
          </p:nvPr>
        </p:nvSpPr>
        <p:spPr/>
        <p:txBody>
          <a:bodyPr/>
          <a:lstStyle/>
          <a:p>
            <a:fld id="{104D3946-3CFB-4350-9366-2DC585C2701B}" type="datetimeFigureOut">
              <a:rPr lang="en-GB" smtClean="0"/>
              <a:t>18/11/2025</a:t>
            </a:fld>
            <a:endParaRPr lang="en-GB"/>
          </a:p>
        </p:txBody>
      </p:sp>
      <p:sp>
        <p:nvSpPr>
          <p:cNvPr id="8" name="Footer Placeholder 7">
            <a:extLst>
              <a:ext uri="{FF2B5EF4-FFF2-40B4-BE49-F238E27FC236}">
                <a16:creationId xmlns:a16="http://schemas.microsoft.com/office/drawing/2014/main" id="{BCD1E9C0-D469-E4EC-6A85-7C3F8AC6B98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BC11829-5564-4839-900F-0207F9E34E97}"/>
              </a:ext>
            </a:extLst>
          </p:cNvPr>
          <p:cNvSpPr>
            <a:spLocks noGrp="1"/>
          </p:cNvSpPr>
          <p:nvPr>
            <p:ph type="sldNum" sz="quarter" idx="12"/>
          </p:nvPr>
        </p:nvSpPr>
        <p:spPr/>
        <p:txBody>
          <a:bodyPr/>
          <a:lstStyle/>
          <a:p>
            <a:fld id="{ED2390D4-8D5D-4DEE-965F-B0656124FE5A}" type="slidenum">
              <a:rPr lang="en-GB" smtClean="0"/>
              <a:t>‹#›</a:t>
            </a:fld>
            <a:endParaRPr lang="en-GB"/>
          </a:p>
        </p:txBody>
      </p:sp>
    </p:spTree>
    <p:extLst>
      <p:ext uri="{BB962C8B-B14F-4D97-AF65-F5344CB8AC3E}">
        <p14:creationId xmlns:p14="http://schemas.microsoft.com/office/powerpoint/2010/main" val="38142201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198C7-E209-AD44-4C1A-D4A88CD3291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D012A5A-E09D-58D9-41C1-D8225862E5D0}"/>
              </a:ext>
            </a:extLst>
          </p:cNvPr>
          <p:cNvSpPr>
            <a:spLocks noGrp="1"/>
          </p:cNvSpPr>
          <p:nvPr>
            <p:ph type="dt" sz="half" idx="10"/>
          </p:nvPr>
        </p:nvSpPr>
        <p:spPr/>
        <p:txBody>
          <a:bodyPr/>
          <a:lstStyle/>
          <a:p>
            <a:fld id="{104D3946-3CFB-4350-9366-2DC585C2701B}" type="datetimeFigureOut">
              <a:rPr lang="en-GB" smtClean="0"/>
              <a:t>18/11/2025</a:t>
            </a:fld>
            <a:endParaRPr lang="en-GB"/>
          </a:p>
        </p:txBody>
      </p:sp>
      <p:sp>
        <p:nvSpPr>
          <p:cNvPr id="4" name="Footer Placeholder 3">
            <a:extLst>
              <a:ext uri="{FF2B5EF4-FFF2-40B4-BE49-F238E27FC236}">
                <a16:creationId xmlns:a16="http://schemas.microsoft.com/office/drawing/2014/main" id="{140F599B-4F4D-3177-07AE-9D62C2D83DA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8231DD7-3D19-025D-17E5-58AD61FFFA98}"/>
              </a:ext>
            </a:extLst>
          </p:cNvPr>
          <p:cNvSpPr>
            <a:spLocks noGrp="1"/>
          </p:cNvSpPr>
          <p:nvPr>
            <p:ph type="sldNum" sz="quarter" idx="12"/>
          </p:nvPr>
        </p:nvSpPr>
        <p:spPr/>
        <p:txBody>
          <a:bodyPr/>
          <a:lstStyle/>
          <a:p>
            <a:fld id="{ED2390D4-8D5D-4DEE-965F-B0656124FE5A}" type="slidenum">
              <a:rPr lang="en-GB" smtClean="0"/>
              <a:t>‹#›</a:t>
            </a:fld>
            <a:endParaRPr lang="en-GB"/>
          </a:p>
        </p:txBody>
      </p:sp>
    </p:spTree>
    <p:extLst>
      <p:ext uri="{BB962C8B-B14F-4D97-AF65-F5344CB8AC3E}">
        <p14:creationId xmlns:p14="http://schemas.microsoft.com/office/powerpoint/2010/main" val="41548783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7D079D-7391-A702-EAAC-B39308E1582A}"/>
              </a:ext>
            </a:extLst>
          </p:cNvPr>
          <p:cNvSpPr>
            <a:spLocks noGrp="1"/>
          </p:cNvSpPr>
          <p:nvPr>
            <p:ph type="dt" sz="half" idx="10"/>
          </p:nvPr>
        </p:nvSpPr>
        <p:spPr/>
        <p:txBody>
          <a:bodyPr/>
          <a:lstStyle/>
          <a:p>
            <a:fld id="{104D3946-3CFB-4350-9366-2DC585C2701B}" type="datetimeFigureOut">
              <a:rPr lang="en-GB" smtClean="0"/>
              <a:t>18/11/2025</a:t>
            </a:fld>
            <a:endParaRPr lang="en-GB"/>
          </a:p>
        </p:txBody>
      </p:sp>
      <p:sp>
        <p:nvSpPr>
          <p:cNvPr id="3" name="Footer Placeholder 2">
            <a:extLst>
              <a:ext uri="{FF2B5EF4-FFF2-40B4-BE49-F238E27FC236}">
                <a16:creationId xmlns:a16="http://schemas.microsoft.com/office/drawing/2014/main" id="{23B7A9B1-CA92-F9AB-5746-5B0739F068D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7414272-33C8-DAF7-6367-442B52D1B285}"/>
              </a:ext>
            </a:extLst>
          </p:cNvPr>
          <p:cNvSpPr>
            <a:spLocks noGrp="1"/>
          </p:cNvSpPr>
          <p:nvPr>
            <p:ph type="sldNum" sz="quarter" idx="12"/>
          </p:nvPr>
        </p:nvSpPr>
        <p:spPr/>
        <p:txBody>
          <a:bodyPr/>
          <a:lstStyle/>
          <a:p>
            <a:fld id="{ED2390D4-8D5D-4DEE-965F-B0656124FE5A}" type="slidenum">
              <a:rPr lang="en-GB" smtClean="0"/>
              <a:t>‹#›</a:t>
            </a:fld>
            <a:endParaRPr lang="en-GB"/>
          </a:p>
        </p:txBody>
      </p:sp>
    </p:spTree>
    <p:extLst>
      <p:ext uri="{BB962C8B-B14F-4D97-AF65-F5344CB8AC3E}">
        <p14:creationId xmlns:p14="http://schemas.microsoft.com/office/powerpoint/2010/main" val="742127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A5E99-A95B-F8F4-F0B3-F30799E2CE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78EC08D-F992-4AB3-67FB-2155AB2179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BD6C760-4B1F-DC3F-4613-0105ECC096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18D162-9128-3A7A-5062-68C114E2FCA3}"/>
              </a:ext>
            </a:extLst>
          </p:cNvPr>
          <p:cNvSpPr>
            <a:spLocks noGrp="1"/>
          </p:cNvSpPr>
          <p:nvPr>
            <p:ph type="dt" sz="half" idx="10"/>
          </p:nvPr>
        </p:nvSpPr>
        <p:spPr/>
        <p:txBody>
          <a:bodyPr/>
          <a:lstStyle/>
          <a:p>
            <a:fld id="{104D3946-3CFB-4350-9366-2DC585C2701B}" type="datetimeFigureOut">
              <a:rPr lang="en-GB" smtClean="0"/>
              <a:t>18/11/2025</a:t>
            </a:fld>
            <a:endParaRPr lang="en-GB"/>
          </a:p>
        </p:txBody>
      </p:sp>
      <p:sp>
        <p:nvSpPr>
          <p:cNvPr id="6" name="Footer Placeholder 5">
            <a:extLst>
              <a:ext uri="{FF2B5EF4-FFF2-40B4-BE49-F238E27FC236}">
                <a16:creationId xmlns:a16="http://schemas.microsoft.com/office/drawing/2014/main" id="{D3BEFF5B-FF09-BD61-2305-9A9951471F0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2AC0108-7E0E-A8C6-1312-0C1C450DB9FA}"/>
              </a:ext>
            </a:extLst>
          </p:cNvPr>
          <p:cNvSpPr>
            <a:spLocks noGrp="1"/>
          </p:cNvSpPr>
          <p:nvPr>
            <p:ph type="sldNum" sz="quarter" idx="12"/>
          </p:nvPr>
        </p:nvSpPr>
        <p:spPr/>
        <p:txBody>
          <a:bodyPr/>
          <a:lstStyle/>
          <a:p>
            <a:fld id="{ED2390D4-8D5D-4DEE-965F-B0656124FE5A}" type="slidenum">
              <a:rPr lang="en-GB" smtClean="0"/>
              <a:t>‹#›</a:t>
            </a:fld>
            <a:endParaRPr lang="en-GB"/>
          </a:p>
        </p:txBody>
      </p:sp>
    </p:spTree>
    <p:extLst>
      <p:ext uri="{BB962C8B-B14F-4D97-AF65-F5344CB8AC3E}">
        <p14:creationId xmlns:p14="http://schemas.microsoft.com/office/powerpoint/2010/main" val="272399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0399C-51C9-DB3C-5754-8CCBD1A6AE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EEFBC59-E34A-0DDE-DF01-660CFD66E3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A370F8F-D3BA-B7F9-5C0A-83AB1B6AA0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649BB6-F5E3-168A-F578-FB5AC04959A6}"/>
              </a:ext>
            </a:extLst>
          </p:cNvPr>
          <p:cNvSpPr>
            <a:spLocks noGrp="1"/>
          </p:cNvSpPr>
          <p:nvPr>
            <p:ph type="dt" sz="half" idx="10"/>
          </p:nvPr>
        </p:nvSpPr>
        <p:spPr/>
        <p:txBody>
          <a:bodyPr/>
          <a:lstStyle/>
          <a:p>
            <a:fld id="{104D3946-3CFB-4350-9366-2DC585C2701B}" type="datetimeFigureOut">
              <a:rPr lang="en-GB" smtClean="0"/>
              <a:t>18/11/2025</a:t>
            </a:fld>
            <a:endParaRPr lang="en-GB"/>
          </a:p>
        </p:txBody>
      </p:sp>
      <p:sp>
        <p:nvSpPr>
          <p:cNvPr id="6" name="Footer Placeholder 5">
            <a:extLst>
              <a:ext uri="{FF2B5EF4-FFF2-40B4-BE49-F238E27FC236}">
                <a16:creationId xmlns:a16="http://schemas.microsoft.com/office/drawing/2014/main" id="{8934196E-5299-EE2C-028F-F9BF8E4BB8D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AAE03F8-17B1-DD97-F88E-B880C52BA6CF}"/>
              </a:ext>
            </a:extLst>
          </p:cNvPr>
          <p:cNvSpPr>
            <a:spLocks noGrp="1"/>
          </p:cNvSpPr>
          <p:nvPr>
            <p:ph type="sldNum" sz="quarter" idx="12"/>
          </p:nvPr>
        </p:nvSpPr>
        <p:spPr/>
        <p:txBody>
          <a:bodyPr/>
          <a:lstStyle/>
          <a:p>
            <a:fld id="{ED2390D4-8D5D-4DEE-965F-B0656124FE5A}" type="slidenum">
              <a:rPr lang="en-GB" smtClean="0"/>
              <a:t>‹#›</a:t>
            </a:fld>
            <a:endParaRPr lang="en-GB"/>
          </a:p>
        </p:txBody>
      </p:sp>
    </p:spTree>
    <p:extLst>
      <p:ext uri="{BB962C8B-B14F-4D97-AF65-F5344CB8AC3E}">
        <p14:creationId xmlns:p14="http://schemas.microsoft.com/office/powerpoint/2010/main" val="1894657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0A6CC-F444-623D-0E57-0E77654D03E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70DD5B7-4216-4630-03AF-AD3536D550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DF83286-B1A8-83B9-1725-DD730B121360}"/>
              </a:ext>
            </a:extLst>
          </p:cNvPr>
          <p:cNvSpPr>
            <a:spLocks noGrp="1"/>
          </p:cNvSpPr>
          <p:nvPr>
            <p:ph type="dt" sz="half" idx="10"/>
          </p:nvPr>
        </p:nvSpPr>
        <p:spPr/>
        <p:txBody>
          <a:bodyPr/>
          <a:lstStyle/>
          <a:p>
            <a:fld id="{104D3946-3CFB-4350-9366-2DC585C2701B}" type="datetimeFigureOut">
              <a:rPr lang="en-GB" smtClean="0"/>
              <a:t>18/11/2025</a:t>
            </a:fld>
            <a:endParaRPr lang="en-GB"/>
          </a:p>
        </p:txBody>
      </p:sp>
      <p:sp>
        <p:nvSpPr>
          <p:cNvPr id="5" name="Footer Placeholder 4">
            <a:extLst>
              <a:ext uri="{FF2B5EF4-FFF2-40B4-BE49-F238E27FC236}">
                <a16:creationId xmlns:a16="http://schemas.microsoft.com/office/drawing/2014/main" id="{C8706409-ACBB-0E7F-6221-7DACCD6BCAC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E432A2D-527F-FF3C-DE9E-6D48B91E5669}"/>
              </a:ext>
            </a:extLst>
          </p:cNvPr>
          <p:cNvSpPr>
            <a:spLocks noGrp="1"/>
          </p:cNvSpPr>
          <p:nvPr>
            <p:ph type="sldNum" sz="quarter" idx="12"/>
          </p:nvPr>
        </p:nvSpPr>
        <p:spPr/>
        <p:txBody>
          <a:bodyPr/>
          <a:lstStyle/>
          <a:p>
            <a:fld id="{ED2390D4-8D5D-4DEE-965F-B0656124FE5A}" type="slidenum">
              <a:rPr lang="en-GB" smtClean="0"/>
              <a:t>‹#›</a:t>
            </a:fld>
            <a:endParaRPr lang="en-GB"/>
          </a:p>
        </p:txBody>
      </p:sp>
    </p:spTree>
    <p:extLst>
      <p:ext uri="{BB962C8B-B14F-4D97-AF65-F5344CB8AC3E}">
        <p14:creationId xmlns:p14="http://schemas.microsoft.com/office/powerpoint/2010/main" val="2708548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B44BCF-C144-6ABC-AD4F-9A72922755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62517F4-B941-335F-70D2-7F0E85F261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9FBCB22-BCA9-9490-5117-DC60902731CA}"/>
              </a:ext>
            </a:extLst>
          </p:cNvPr>
          <p:cNvSpPr>
            <a:spLocks noGrp="1"/>
          </p:cNvSpPr>
          <p:nvPr>
            <p:ph type="dt" sz="half" idx="10"/>
          </p:nvPr>
        </p:nvSpPr>
        <p:spPr/>
        <p:txBody>
          <a:bodyPr/>
          <a:lstStyle/>
          <a:p>
            <a:fld id="{104D3946-3CFB-4350-9366-2DC585C2701B}" type="datetimeFigureOut">
              <a:rPr lang="en-GB" smtClean="0"/>
              <a:t>18/11/2025</a:t>
            </a:fld>
            <a:endParaRPr lang="en-GB"/>
          </a:p>
        </p:txBody>
      </p:sp>
      <p:sp>
        <p:nvSpPr>
          <p:cNvPr id="5" name="Footer Placeholder 4">
            <a:extLst>
              <a:ext uri="{FF2B5EF4-FFF2-40B4-BE49-F238E27FC236}">
                <a16:creationId xmlns:a16="http://schemas.microsoft.com/office/drawing/2014/main" id="{A9447E36-1B1A-4C03-D62F-9DB87825080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8B05FAA-815F-EA34-5997-025AADC054E0}"/>
              </a:ext>
            </a:extLst>
          </p:cNvPr>
          <p:cNvSpPr>
            <a:spLocks noGrp="1"/>
          </p:cNvSpPr>
          <p:nvPr>
            <p:ph type="sldNum" sz="quarter" idx="12"/>
          </p:nvPr>
        </p:nvSpPr>
        <p:spPr/>
        <p:txBody>
          <a:bodyPr/>
          <a:lstStyle/>
          <a:p>
            <a:fld id="{ED2390D4-8D5D-4DEE-965F-B0656124FE5A}" type="slidenum">
              <a:rPr lang="en-GB" smtClean="0"/>
              <a:t>‹#›</a:t>
            </a:fld>
            <a:endParaRPr lang="en-GB"/>
          </a:p>
        </p:txBody>
      </p:sp>
    </p:spTree>
    <p:extLst>
      <p:ext uri="{BB962C8B-B14F-4D97-AF65-F5344CB8AC3E}">
        <p14:creationId xmlns:p14="http://schemas.microsoft.com/office/powerpoint/2010/main" val="2596404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B3CEDE-39DA-7B13-BCD3-DE74AE7A66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74E6490-03AA-C9F7-8B52-F3BE9E4449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CD87CE4-C85A-4157-782B-8ED3626B14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04D3946-3CFB-4350-9366-2DC585C2701B}" type="datetimeFigureOut">
              <a:rPr lang="en-GB" smtClean="0"/>
              <a:t>18/11/2025</a:t>
            </a:fld>
            <a:endParaRPr lang="en-GB"/>
          </a:p>
        </p:txBody>
      </p:sp>
      <p:sp>
        <p:nvSpPr>
          <p:cNvPr id="5" name="Footer Placeholder 4">
            <a:extLst>
              <a:ext uri="{FF2B5EF4-FFF2-40B4-BE49-F238E27FC236}">
                <a16:creationId xmlns:a16="http://schemas.microsoft.com/office/drawing/2014/main" id="{F7E9FA1C-293B-0178-6D0C-250C37A31F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2A596902-674B-9A32-54BD-89EB959F8C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D2390D4-8D5D-4DEE-965F-B0656124FE5A}" type="slidenum">
              <a:rPr lang="en-GB" smtClean="0"/>
              <a:t>‹#›</a:t>
            </a:fld>
            <a:endParaRPr lang="en-GB"/>
          </a:p>
        </p:txBody>
      </p:sp>
    </p:spTree>
    <p:extLst>
      <p:ext uri="{BB962C8B-B14F-4D97-AF65-F5344CB8AC3E}">
        <p14:creationId xmlns:p14="http://schemas.microsoft.com/office/powerpoint/2010/main" val="38413242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510.png"/></Relationships>
</file>

<file path=ppt/slides/_rels/slide8.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ideo" Target="https://www.youtube.com/embed/-s77voH8nRI?feature=oembed" TargetMode="External"/><Relationship Id="rId4" Type="http://schemas.openxmlformats.org/officeDocument/2006/relationships/image" Target="../media/image28.jpeg"/></Relationships>
</file>

<file path=ppt/slides/_rels/slide20.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2.xml"/><Relationship Id="rId5" Type="http://schemas.openxmlformats.org/officeDocument/2006/relationships/image" Target="../media/image32.emf"/><Relationship Id="rId4" Type="http://schemas.openxmlformats.org/officeDocument/2006/relationships/image" Target="../media/image3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2577D-EE17-20F5-5956-6DC72EF39618}"/>
              </a:ext>
            </a:extLst>
          </p:cNvPr>
          <p:cNvSpPr>
            <a:spLocks noGrp="1"/>
          </p:cNvSpPr>
          <p:nvPr>
            <p:ph type="title"/>
          </p:nvPr>
        </p:nvSpPr>
        <p:spPr/>
        <p:txBody>
          <a:bodyPr/>
          <a:lstStyle/>
          <a:p>
            <a:r>
              <a:rPr lang="en-GB" dirty="0"/>
              <a:t>Cerebellum</a:t>
            </a:r>
          </a:p>
        </p:txBody>
      </p:sp>
      <p:sp>
        <p:nvSpPr>
          <p:cNvPr id="4" name="Text Placeholder 3">
            <a:extLst>
              <a:ext uri="{FF2B5EF4-FFF2-40B4-BE49-F238E27FC236}">
                <a16:creationId xmlns:a16="http://schemas.microsoft.com/office/drawing/2014/main" id="{32AAD75F-8FAF-1816-3A13-7AC59C86943F}"/>
              </a:ext>
            </a:extLst>
          </p:cNvPr>
          <p:cNvSpPr>
            <a:spLocks noGrp="1"/>
          </p:cNvSpPr>
          <p:nvPr>
            <p:ph type="body" idx="1"/>
          </p:nvPr>
        </p:nvSpPr>
        <p:spPr/>
        <p:txBody>
          <a:bodyPr/>
          <a:lstStyle/>
          <a:p>
            <a:endParaRPr lang="en-GB"/>
          </a:p>
        </p:txBody>
      </p:sp>
      <p:pic>
        <p:nvPicPr>
          <p:cNvPr id="3" name="Picture 2">
            <a:extLst>
              <a:ext uri="{FF2B5EF4-FFF2-40B4-BE49-F238E27FC236}">
                <a16:creationId xmlns:a16="http://schemas.microsoft.com/office/drawing/2014/main" id="{F5760B75-0339-25CF-5302-1D32ED269D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58426" y="-14335"/>
            <a:ext cx="6886669" cy="68866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9793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1184" name="Ink 1183">
                <a:extLst>
                  <a:ext uri="{FF2B5EF4-FFF2-40B4-BE49-F238E27FC236}">
                    <a16:creationId xmlns:a16="http://schemas.microsoft.com/office/drawing/2014/main" id="{1B4A4552-EBD7-24FE-D450-D7D8018B3C8C}"/>
                  </a:ext>
                </a:extLst>
              </p14:cNvPr>
              <p14:cNvContentPartPr/>
              <p14:nvPr/>
            </p14:nvContentPartPr>
            <p14:xfrm>
              <a:off x="5451038" y="321594"/>
              <a:ext cx="10800" cy="34560"/>
            </p14:xfrm>
          </p:contentPart>
        </mc:Choice>
        <mc:Fallback xmlns="">
          <p:pic>
            <p:nvPicPr>
              <p:cNvPr id="1184" name="Ink 1183">
                <a:extLst>
                  <a:ext uri="{FF2B5EF4-FFF2-40B4-BE49-F238E27FC236}">
                    <a16:creationId xmlns:a16="http://schemas.microsoft.com/office/drawing/2014/main" id="{1B4A4552-EBD7-24FE-D450-D7D8018B3C8C}"/>
                  </a:ext>
                </a:extLst>
              </p:cNvPr>
              <p:cNvPicPr/>
              <p:nvPr/>
            </p:nvPicPr>
            <p:blipFill>
              <a:blip r:embed="rId3"/>
              <a:stretch>
                <a:fillRect/>
              </a:stretch>
            </p:blipFill>
            <p:spPr>
              <a:xfrm>
                <a:off x="5442038" y="312594"/>
                <a:ext cx="28440" cy="52200"/>
              </a:xfrm>
              <a:prstGeom prst="rect">
                <a:avLst/>
              </a:prstGeom>
            </p:spPr>
          </p:pic>
        </mc:Fallback>
      </mc:AlternateContent>
      <p:grpSp>
        <p:nvGrpSpPr>
          <p:cNvPr id="1247" name="Group 1246">
            <a:extLst>
              <a:ext uri="{FF2B5EF4-FFF2-40B4-BE49-F238E27FC236}">
                <a16:creationId xmlns:a16="http://schemas.microsoft.com/office/drawing/2014/main" id="{C51F8D82-0068-B073-1F19-FECAD366001A}"/>
              </a:ext>
            </a:extLst>
          </p:cNvPr>
          <p:cNvGrpSpPr/>
          <p:nvPr/>
        </p:nvGrpSpPr>
        <p:grpSpPr>
          <a:xfrm>
            <a:off x="7188451" y="1568141"/>
            <a:ext cx="3572433" cy="2868584"/>
            <a:chOff x="543208" y="2195662"/>
            <a:chExt cx="3572433" cy="2868584"/>
          </a:xfrm>
        </p:grpSpPr>
        <p:grpSp>
          <p:nvGrpSpPr>
            <p:cNvPr id="1241" name="Group 1240">
              <a:extLst>
                <a:ext uri="{FF2B5EF4-FFF2-40B4-BE49-F238E27FC236}">
                  <a16:creationId xmlns:a16="http://schemas.microsoft.com/office/drawing/2014/main" id="{34445999-E3B6-B002-EE38-476A2A82BED2}"/>
                </a:ext>
              </a:extLst>
            </p:cNvPr>
            <p:cNvGrpSpPr/>
            <p:nvPr/>
          </p:nvGrpSpPr>
          <p:grpSpPr>
            <a:xfrm>
              <a:off x="607169" y="2195662"/>
              <a:ext cx="3348609" cy="2104733"/>
              <a:chOff x="652436" y="321594"/>
              <a:chExt cx="3348609" cy="2104733"/>
            </a:xfrm>
          </p:grpSpPr>
          <p:sp>
            <p:nvSpPr>
              <p:cNvPr id="1237" name="Arc 1236">
                <a:extLst>
                  <a:ext uri="{FF2B5EF4-FFF2-40B4-BE49-F238E27FC236}">
                    <a16:creationId xmlns:a16="http://schemas.microsoft.com/office/drawing/2014/main" id="{9E253CA3-454D-5391-03FD-B4F2419B037E}"/>
                  </a:ext>
                </a:extLst>
              </p:cNvPr>
              <p:cNvSpPr/>
              <p:nvPr/>
            </p:nvSpPr>
            <p:spPr>
              <a:xfrm rot="13512914" flipH="1">
                <a:off x="1777033" y="1023422"/>
                <a:ext cx="1158256" cy="1163856"/>
              </a:xfrm>
              <a:prstGeom prst="arc">
                <a:avLst/>
              </a:prstGeom>
              <a:ln w="28575">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236" name="Arc 1235">
                <a:extLst>
                  <a:ext uri="{FF2B5EF4-FFF2-40B4-BE49-F238E27FC236}">
                    <a16:creationId xmlns:a16="http://schemas.microsoft.com/office/drawing/2014/main" id="{44A6AF05-03F5-4149-D26F-C344B4FA69CF}"/>
                  </a:ext>
                </a:extLst>
              </p:cNvPr>
              <p:cNvSpPr/>
              <p:nvPr/>
            </p:nvSpPr>
            <p:spPr>
              <a:xfrm rot="6082697" flipH="1">
                <a:off x="2616704" y="1111531"/>
                <a:ext cx="829244" cy="767891"/>
              </a:xfrm>
              <a:prstGeom prst="arc">
                <a:avLst/>
              </a:prstGeom>
              <a:ln w="28575">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231" name="Oval 1230">
                <a:extLst>
                  <a:ext uri="{FF2B5EF4-FFF2-40B4-BE49-F238E27FC236}">
                    <a16:creationId xmlns:a16="http://schemas.microsoft.com/office/drawing/2014/main" id="{CFF53F86-14DE-A2F4-1340-9D8587FE403B}"/>
                  </a:ext>
                </a:extLst>
              </p:cNvPr>
              <p:cNvSpPr/>
              <p:nvPr/>
            </p:nvSpPr>
            <p:spPr>
              <a:xfrm>
                <a:off x="1321805" y="321594"/>
                <a:ext cx="2009870" cy="875117"/>
              </a:xfrm>
              <a:prstGeom prst="ellipse">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GB" b="1" dirty="0"/>
                  <a:t>Cerebellum</a:t>
                </a:r>
              </a:p>
            </p:txBody>
          </p:sp>
          <p:sp>
            <p:nvSpPr>
              <p:cNvPr id="1232" name="Rectangle 1231">
                <a:extLst>
                  <a:ext uri="{FF2B5EF4-FFF2-40B4-BE49-F238E27FC236}">
                    <a16:creationId xmlns:a16="http://schemas.microsoft.com/office/drawing/2014/main" id="{8C371A38-39E3-C4E2-4402-B5F0083CF57E}"/>
                  </a:ext>
                </a:extLst>
              </p:cNvPr>
              <p:cNvSpPr/>
              <p:nvPr/>
            </p:nvSpPr>
            <p:spPr>
              <a:xfrm>
                <a:off x="652436" y="1658436"/>
                <a:ext cx="1023040" cy="76789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GB" dirty="0"/>
                  <a:t>Motor</a:t>
                </a:r>
              </a:p>
              <a:p>
                <a:pPr algn="ctr"/>
                <a:r>
                  <a:rPr lang="en-GB" dirty="0"/>
                  <a:t>Cortex</a:t>
                </a:r>
              </a:p>
            </p:txBody>
          </p:sp>
          <p:sp>
            <p:nvSpPr>
              <p:cNvPr id="1233" name="Rectangle 1232">
                <a:extLst>
                  <a:ext uri="{FF2B5EF4-FFF2-40B4-BE49-F238E27FC236}">
                    <a16:creationId xmlns:a16="http://schemas.microsoft.com/office/drawing/2014/main" id="{0C797A84-93E8-D661-22A0-5FF1690A3BF9}"/>
                  </a:ext>
                </a:extLst>
              </p:cNvPr>
              <p:cNvSpPr/>
              <p:nvPr/>
            </p:nvSpPr>
            <p:spPr>
              <a:xfrm>
                <a:off x="2978005" y="1658436"/>
                <a:ext cx="1023040" cy="7678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Body</a:t>
                </a:r>
              </a:p>
            </p:txBody>
          </p:sp>
          <p:sp>
            <p:nvSpPr>
              <p:cNvPr id="1235" name="Arc 1234">
                <a:extLst>
                  <a:ext uri="{FF2B5EF4-FFF2-40B4-BE49-F238E27FC236}">
                    <a16:creationId xmlns:a16="http://schemas.microsoft.com/office/drawing/2014/main" id="{754A7AA8-AD15-1F9F-60FD-F3E71487CB61}"/>
                  </a:ext>
                </a:extLst>
              </p:cNvPr>
              <p:cNvSpPr/>
              <p:nvPr/>
            </p:nvSpPr>
            <p:spPr>
              <a:xfrm rot="15517303">
                <a:off x="1207531" y="1111530"/>
                <a:ext cx="829244" cy="767891"/>
              </a:xfrm>
              <a:prstGeom prst="arc">
                <a:avLst/>
              </a:prstGeom>
              <a:ln w="28575">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238" name="Arc 1237">
                <a:extLst>
                  <a:ext uri="{FF2B5EF4-FFF2-40B4-BE49-F238E27FC236}">
                    <a16:creationId xmlns:a16="http://schemas.microsoft.com/office/drawing/2014/main" id="{0E6D9869-4254-69BA-B738-D4091A5C63B3}"/>
                  </a:ext>
                </a:extLst>
              </p:cNvPr>
              <p:cNvSpPr/>
              <p:nvPr/>
            </p:nvSpPr>
            <p:spPr>
              <a:xfrm rot="15517303" flipH="1" flipV="1">
                <a:off x="798799" y="812767"/>
                <a:ext cx="829244" cy="767891"/>
              </a:xfrm>
              <a:prstGeom prst="arc">
                <a:avLst/>
              </a:prstGeom>
              <a:ln w="28575">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242" name="Arc 1241">
                <a:extLst>
                  <a:ext uri="{FF2B5EF4-FFF2-40B4-BE49-F238E27FC236}">
                    <a16:creationId xmlns:a16="http://schemas.microsoft.com/office/drawing/2014/main" id="{CAD19B36-981F-7EEB-6C64-5A4C9B5FB143}"/>
                  </a:ext>
                </a:extLst>
              </p:cNvPr>
              <p:cNvSpPr/>
              <p:nvPr/>
            </p:nvSpPr>
            <p:spPr>
              <a:xfrm rot="13512914" flipH="1">
                <a:off x="1766471" y="1175822"/>
                <a:ext cx="1158256" cy="1163856"/>
              </a:xfrm>
              <a:prstGeom prst="arc">
                <a:avLst/>
              </a:prstGeom>
              <a:ln w="28575">
                <a:solidFill>
                  <a:schemeClr val="bg2">
                    <a:lumMod val="75000"/>
                  </a:schemeClr>
                </a:solidFill>
                <a:prstDash val="sysDash"/>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grpSp>
        <p:sp>
          <p:nvSpPr>
            <p:cNvPr id="1243" name="TextBox 1242">
              <a:extLst>
                <a:ext uri="{FF2B5EF4-FFF2-40B4-BE49-F238E27FC236}">
                  <a16:creationId xmlns:a16="http://schemas.microsoft.com/office/drawing/2014/main" id="{E19F07F0-9EE0-AE40-0F77-18C2873EF48F}"/>
                </a:ext>
              </a:extLst>
            </p:cNvPr>
            <p:cNvSpPr txBox="1"/>
            <p:nvPr/>
          </p:nvSpPr>
          <p:spPr>
            <a:xfrm>
              <a:off x="1831709" y="3429000"/>
              <a:ext cx="961802" cy="461665"/>
            </a:xfrm>
            <a:prstGeom prst="rect">
              <a:avLst/>
            </a:prstGeom>
            <a:noFill/>
          </p:spPr>
          <p:txBody>
            <a:bodyPr wrap="none" rtlCol="0">
              <a:spAutoFit/>
            </a:bodyPr>
            <a:lstStyle/>
            <a:p>
              <a:pPr algn="ctr"/>
              <a:r>
                <a:rPr lang="en-GB" sz="1200" dirty="0"/>
                <a:t>Present</a:t>
              </a:r>
            </a:p>
            <a:p>
              <a:pPr algn="ctr"/>
              <a:r>
                <a:rPr lang="en-GB" sz="1200" dirty="0"/>
                <a:t>Movements</a:t>
              </a:r>
            </a:p>
          </p:txBody>
        </p:sp>
        <p:sp>
          <p:nvSpPr>
            <p:cNvPr id="1244" name="TextBox 1243">
              <a:extLst>
                <a:ext uri="{FF2B5EF4-FFF2-40B4-BE49-F238E27FC236}">
                  <a16:creationId xmlns:a16="http://schemas.microsoft.com/office/drawing/2014/main" id="{48B6271C-F619-A5BC-2728-211D2A072AB9}"/>
                </a:ext>
              </a:extLst>
            </p:cNvPr>
            <p:cNvSpPr txBox="1"/>
            <p:nvPr/>
          </p:nvSpPr>
          <p:spPr>
            <a:xfrm>
              <a:off x="1831709" y="4233249"/>
              <a:ext cx="961802" cy="461665"/>
            </a:xfrm>
            <a:prstGeom prst="rect">
              <a:avLst/>
            </a:prstGeom>
            <a:noFill/>
          </p:spPr>
          <p:txBody>
            <a:bodyPr wrap="none" rtlCol="0">
              <a:spAutoFit/>
            </a:bodyPr>
            <a:lstStyle/>
            <a:p>
              <a:pPr algn="ctr"/>
              <a:r>
                <a:rPr lang="en-GB" sz="1200" dirty="0">
                  <a:solidFill>
                    <a:schemeClr val="bg2">
                      <a:lumMod val="75000"/>
                    </a:schemeClr>
                  </a:solidFill>
                </a:rPr>
                <a:t>Future</a:t>
              </a:r>
            </a:p>
            <a:p>
              <a:pPr algn="ctr"/>
              <a:r>
                <a:rPr lang="en-GB" sz="1200" dirty="0">
                  <a:solidFill>
                    <a:schemeClr val="bg2">
                      <a:lumMod val="75000"/>
                    </a:schemeClr>
                  </a:solidFill>
                </a:rPr>
                <a:t>Movements</a:t>
              </a:r>
            </a:p>
          </p:txBody>
        </p:sp>
        <p:sp>
          <p:nvSpPr>
            <p:cNvPr id="1245" name="TextBox 1244">
              <a:extLst>
                <a:ext uri="{FF2B5EF4-FFF2-40B4-BE49-F238E27FC236}">
                  <a16:creationId xmlns:a16="http://schemas.microsoft.com/office/drawing/2014/main" id="{B66B2C81-C78A-AC9C-F0F4-54236315F221}"/>
                </a:ext>
              </a:extLst>
            </p:cNvPr>
            <p:cNvSpPr txBox="1"/>
            <p:nvPr/>
          </p:nvSpPr>
          <p:spPr>
            <a:xfrm>
              <a:off x="543208" y="4325582"/>
              <a:ext cx="1099981" cy="738664"/>
            </a:xfrm>
            <a:prstGeom prst="rect">
              <a:avLst/>
            </a:prstGeom>
            <a:noFill/>
          </p:spPr>
          <p:txBody>
            <a:bodyPr wrap="none" rtlCol="0">
              <a:spAutoFit/>
            </a:bodyPr>
            <a:lstStyle/>
            <a:p>
              <a:pPr algn="ctr"/>
              <a:r>
                <a:rPr lang="en-GB" sz="1400" dirty="0"/>
                <a:t>Voluntary</a:t>
              </a:r>
            </a:p>
            <a:p>
              <a:pPr algn="ctr"/>
              <a:r>
                <a:rPr lang="en-GB" sz="1400" dirty="0"/>
                <a:t>Movement</a:t>
              </a:r>
            </a:p>
            <a:p>
              <a:pPr algn="ctr"/>
              <a:r>
                <a:rPr lang="en-GB" sz="1400" dirty="0"/>
                <a:t>Commands</a:t>
              </a:r>
            </a:p>
          </p:txBody>
        </p:sp>
        <p:sp>
          <p:nvSpPr>
            <p:cNvPr id="1246" name="TextBox 1245">
              <a:extLst>
                <a:ext uri="{FF2B5EF4-FFF2-40B4-BE49-F238E27FC236}">
                  <a16:creationId xmlns:a16="http://schemas.microsoft.com/office/drawing/2014/main" id="{D831DE91-D038-7BE7-49FB-DF8A034CA71B}"/>
                </a:ext>
              </a:extLst>
            </p:cNvPr>
            <p:cNvSpPr txBox="1"/>
            <p:nvPr/>
          </p:nvSpPr>
          <p:spPr>
            <a:xfrm>
              <a:off x="2803552" y="4325582"/>
              <a:ext cx="1312089" cy="738664"/>
            </a:xfrm>
            <a:prstGeom prst="rect">
              <a:avLst/>
            </a:prstGeom>
            <a:noFill/>
          </p:spPr>
          <p:txBody>
            <a:bodyPr wrap="none" rtlCol="0">
              <a:spAutoFit/>
            </a:bodyPr>
            <a:lstStyle/>
            <a:p>
              <a:pPr algn="ctr"/>
              <a:r>
                <a:rPr lang="en-GB" sz="1400" dirty="0"/>
                <a:t>Proprioceptive</a:t>
              </a:r>
            </a:p>
            <a:p>
              <a:pPr algn="ctr"/>
              <a:r>
                <a:rPr lang="en-GB" sz="1400" dirty="0"/>
                <a:t>Sensory</a:t>
              </a:r>
            </a:p>
            <a:p>
              <a:pPr algn="ctr"/>
              <a:r>
                <a:rPr lang="en-GB" sz="1400" dirty="0"/>
                <a:t>Information</a:t>
              </a:r>
            </a:p>
          </p:txBody>
        </p:sp>
      </p:grpSp>
      <p:sp>
        <p:nvSpPr>
          <p:cNvPr id="1248" name="Title 1247">
            <a:extLst>
              <a:ext uri="{FF2B5EF4-FFF2-40B4-BE49-F238E27FC236}">
                <a16:creationId xmlns:a16="http://schemas.microsoft.com/office/drawing/2014/main" id="{1B279F40-AA5F-D36B-D72C-3B124296B2B7}"/>
              </a:ext>
            </a:extLst>
          </p:cNvPr>
          <p:cNvSpPr>
            <a:spLocks noGrp="1"/>
          </p:cNvSpPr>
          <p:nvPr>
            <p:ph type="title"/>
          </p:nvPr>
        </p:nvSpPr>
        <p:spPr/>
        <p:txBody>
          <a:bodyPr/>
          <a:lstStyle/>
          <a:p>
            <a:r>
              <a:rPr lang="en-GB" dirty="0"/>
              <a:t>The cerebellum refines actions</a:t>
            </a:r>
          </a:p>
        </p:txBody>
      </p:sp>
      <p:sp>
        <p:nvSpPr>
          <p:cNvPr id="1249" name="Content Placeholder 1248">
            <a:extLst>
              <a:ext uri="{FF2B5EF4-FFF2-40B4-BE49-F238E27FC236}">
                <a16:creationId xmlns:a16="http://schemas.microsoft.com/office/drawing/2014/main" id="{4D303FE7-8390-7650-BD68-6BD3BFB4AE6C}"/>
              </a:ext>
            </a:extLst>
          </p:cNvPr>
          <p:cNvSpPr>
            <a:spLocks noGrp="1"/>
          </p:cNvSpPr>
          <p:nvPr>
            <p:ph idx="1"/>
          </p:nvPr>
        </p:nvSpPr>
        <p:spPr>
          <a:xfrm>
            <a:off x="6478509" y="4932853"/>
            <a:ext cx="5257800" cy="1575062"/>
          </a:xfrm>
        </p:spPr>
        <p:txBody>
          <a:bodyPr>
            <a:normAutofit/>
          </a:bodyPr>
          <a:lstStyle/>
          <a:p>
            <a:r>
              <a:rPr lang="en-GB" sz="2000" dirty="0"/>
              <a:t>Refinement and coordination of current body movement</a:t>
            </a:r>
          </a:p>
          <a:p>
            <a:r>
              <a:rPr lang="en-GB" sz="2000" dirty="0"/>
              <a:t>Refinement of future actions through learning</a:t>
            </a:r>
          </a:p>
        </p:txBody>
      </p:sp>
      <p:pic>
        <p:nvPicPr>
          <p:cNvPr id="1250" name="Picture 2" descr="Cerebellum: What It Is, Function &amp; Anatomy">
            <a:extLst>
              <a:ext uri="{FF2B5EF4-FFF2-40B4-BE49-F238E27FC236}">
                <a16:creationId xmlns:a16="http://schemas.microsoft.com/office/drawing/2014/main" id="{B41C2D09-12C0-1B1F-A312-52AD42EB96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5934" y="1891724"/>
            <a:ext cx="3960262"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5604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1E7E5-4CC4-CEAC-FDD6-9AEFE159C6D0}"/>
              </a:ext>
            </a:extLst>
          </p:cNvPr>
          <p:cNvSpPr>
            <a:spLocks noGrp="1"/>
          </p:cNvSpPr>
          <p:nvPr>
            <p:ph type="title"/>
          </p:nvPr>
        </p:nvSpPr>
        <p:spPr/>
        <p:txBody>
          <a:bodyPr/>
          <a:lstStyle/>
          <a:p>
            <a:r>
              <a:rPr lang="en-GB" dirty="0"/>
              <a:t>Gross cerebellar anatomy</a:t>
            </a:r>
          </a:p>
        </p:txBody>
      </p:sp>
      <p:sp>
        <p:nvSpPr>
          <p:cNvPr id="9" name="TextBox 8">
            <a:extLst>
              <a:ext uri="{FF2B5EF4-FFF2-40B4-BE49-F238E27FC236}">
                <a16:creationId xmlns:a16="http://schemas.microsoft.com/office/drawing/2014/main" id="{C061A73A-E396-9844-1C47-5E95899D79B1}"/>
              </a:ext>
            </a:extLst>
          </p:cNvPr>
          <p:cNvSpPr txBox="1"/>
          <p:nvPr/>
        </p:nvSpPr>
        <p:spPr>
          <a:xfrm>
            <a:off x="141020" y="6031017"/>
            <a:ext cx="7197056" cy="646331"/>
          </a:xfrm>
          <a:prstGeom prst="rect">
            <a:avLst/>
          </a:prstGeom>
          <a:noFill/>
        </p:spPr>
        <p:txBody>
          <a:bodyPr wrap="square">
            <a:spAutoFit/>
          </a:bodyPr>
          <a:lstStyle/>
          <a:p>
            <a:pPr algn="l"/>
            <a:r>
              <a:rPr lang="en-GB" sz="1800" b="0" i="0" u="none" strike="noStrike" baseline="0" dirty="0">
                <a:latin typeface="AdvOT1ef757c0"/>
              </a:rPr>
              <a:t>About 80% of the cortex (around 17 cm x 120 cm surface)</a:t>
            </a:r>
          </a:p>
          <a:p>
            <a:pPr algn="l"/>
            <a:r>
              <a:rPr lang="en-GB" sz="1800" b="0" i="0" u="none" strike="noStrike" baseline="0" dirty="0">
                <a:latin typeface="AdvOT1ef757c0"/>
              </a:rPr>
              <a:t>(surface grey matter) is hidden from view on the surfaces of the folia.</a:t>
            </a:r>
            <a:endParaRPr lang="en-GB" dirty="0"/>
          </a:p>
        </p:txBody>
      </p:sp>
      <p:pic>
        <p:nvPicPr>
          <p:cNvPr id="92" name="Picture 91">
            <a:extLst>
              <a:ext uri="{FF2B5EF4-FFF2-40B4-BE49-F238E27FC236}">
                <a16:creationId xmlns:a16="http://schemas.microsoft.com/office/drawing/2014/main" id="{EC11AB60-B399-2F89-2002-C0AE6974B650}"/>
              </a:ext>
            </a:extLst>
          </p:cNvPr>
          <p:cNvPicPr>
            <a:picLocks noChangeAspect="1"/>
          </p:cNvPicPr>
          <p:nvPr/>
        </p:nvPicPr>
        <p:blipFill>
          <a:blip r:embed="rId3"/>
          <a:stretch>
            <a:fillRect/>
          </a:stretch>
        </p:blipFill>
        <p:spPr>
          <a:xfrm>
            <a:off x="758272" y="2199409"/>
            <a:ext cx="4551411" cy="3346625"/>
          </a:xfrm>
          <a:prstGeom prst="rect">
            <a:avLst/>
          </a:prstGeom>
        </p:spPr>
      </p:pic>
      <p:grpSp>
        <p:nvGrpSpPr>
          <p:cNvPr id="99" name="Group 98">
            <a:extLst>
              <a:ext uri="{FF2B5EF4-FFF2-40B4-BE49-F238E27FC236}">
                <a16:creationId xmlns:a16="http://schemas.microsoft.com/office/drawing/2014/main" id="{8AD04D44-B13F-2A19-B48C-F2683477764D}"/>
              </a:ext>
            </a:extLst>
          </p:cNvPr>
          <p:cNvGrpSpPr/>
          <p:nvPr/>
        </p:nvGrpSpPr>
        <p:grpSpPr>
          <a:xfrm>
            <a:off x="6097794" y="1238059"/>
            <a:ext cx="5953186" cy="5122877"/>
            <a:chOff x="6130901" y="1784711"/>
            <a:chExt cx="5953186" cy="5122877"/>
          </a:xfrm>
        </p:grpSpPr>
        <p:grpSp>
          <p:nvGrpSpPr>
            <p:cNvPr id="93" name="Group 92">
              <a:extLst>
                <a:ext uri="{FF2B5EF4-FFF2-40B4-BE49-F238E27FC236}">
                  <a16:creationId xmlns:a16="http://schemas.microsoft.com/office/drawing/2014/main" id="{4DBC4F83-4930-24F9-7A9E-5D0E8BC81E1C}"/>
                </a:ext>
              </a:extLst>
            </p:cNvPr>
            <p:cNvGrpSpPr/>
            <p:nvPr/>
          </p:nvGrpSpPr>
          <p:grpSpPr>
            <a:xfrm>
              <a:off x="6508235" y="1784711"/>
              <a:ext cx="5575852" cy="4999823"/>
              <a:chOff x="238539" y="1794650"/>
              <a:chExt cx="5575852" cy="4999823"/>
            </a:xfrm>
          </p:grpSpPr>
          <p:pic>
            <p:nvPicPr>
              <p:cNvPr id="11" name="Picture 10" descr="A close up of a brain&#10;&#10;AI-generated content may be incorrect.">
                <a:extLst>
                  <a:ext uri="{FF2B5EF4-FFF2-40B4-BE49-F238E27FC236}">
                    <a16:creationId xmlns:a16="http://schemas.microsoft.com/office/drawing/2014/main" id="{198BC286-F01B-646A-1A20-220DA920D8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4705" y="4317886"/>
                <a:ext cx="3545068" cy="2111402"/>
              </a:xfrm>
              <a:prstGeom prst="rect">
                <a:avLst/>
              </a:prstGeom>
            </p:spPr>
          </p:pic>
          <p:pic>
            <p:nvPicPr>
              <p:cNvPr id="13" name="Picture 12" descr="A close up of a human body&#10;&#10;AI-generated content may be incorrect.">
                <a:extLst>
                  <a:ext uri="{FF2B5EF4-FFF2-40B4-BE49-F238E27FC236}">
                    <a16:creationId xmlns:a16="http://schemas.microsoft.com/office/drawing/2014/main" id="{774D75B0-D301-E4FB-F9E3-45D3B439D2B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8541" y="2256315"/>
                <a:ext cx="3333928" cy="2085336"/>
              </a:xfrm>
              <a:prstGeom prst="rect">
                <a:avLst/>
              </a:prstGeom>
            </p:spPr>
          </p:pic>
          <p:sp>
            <p:nvSpPr>
              <p:cNvPr id="56" name="TextBox 55">
                <a:extLst>
                  <a:ext uri="{FF2B5EF4-FFF2-40B4-BE49-F238E27FC236}">
                    <a16:creationId xmlns:a16="http://schemas.microsoft.com/office/drawing/2014/main" id="{E289F345-3923-5FFC-46E6-BC2A3F1BB5F3}"/>
                  </a:ext>
                </a:extLst>
              </p:cNvPr>
              <p:cNvSpPr txBox="1"/>
              <p:nvPr/>
            </p:nvSpPr>
            <p:spPr>
              <a:xfrm>
                <a:off x="238539" y="2477997"/>
                <a:ext cx="872162" cy="369332"/>
              </a:xfrm>
              <a:prstGeom prst="rect">
                <a:avLst/>
              </a:prstGeom>
              <a:noFill/>
            </p:spPr>
            <p:txBody>
              <a:bodyPr wrap="none" rtlCol="0">
                <a:spAutoFit/>
              </a:bodyPr>
              <a:lstStyle/>
              <a:p>
                <a:r>
                  <a:rPr lang="en-GB" dirty="0"/>
                  <a:t>Vermis</a:t>
                </a:r>
              </a:p>
            </p:txBody>
          </p:sp>
          <p:cxnSp>
            <p:nvCxnSpPr>
              <p:cNvPr id="58" name="Straight Connector 57">
                <a:extLst>
                  <a:ext uri="{FF2B5EF4-FFF2-40B4-BE49-F238E27FC236}">
                    <a16:creationId xmlns:a16="http://schemas.microsoft.com/office/drawing/2014/main" id="{ABB01898-BE67-65C8-638C-3FE597C67496}"/>
                  </a:ext>
                </a:extLst>
              </p:cNvPr>
              <p:cNvCxnSpPr>
                <a:cxnSpLocks/>
                <a:stCxn id="56" idx="3"/>
              </p:cNvCxnSpPr>
              <p:nvPr/>
            </p:nvCxnSpPr>
            <p:spPr>
              <a:xfrm>
                <a:off x="1110701" y="2662663"/>
                <a:ext cx="1525749" cy="276999"/>
              </a:xfrm>
              <a:prstGeom prst="line">
                <a:avLst/>
              </a:prstGeom>
              <a:ln>
                <a:solidFill>
                  <a:schemeClr val="tx1"/>
                </a:solidFill>
                <a:tailEnd type="oval"/>
              </a:ln>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15461B25-EA3D-DB71-98EF-CD453F2BF5FB}"/>
                  </a:ext>
                </a:extLst>
              </p:cNvPr>
              <p:cNvSpPr txBox="1"/>
              <p:nvPr/>
            </p:nvSpPr>
            <p:spPr>
              <a:xfrm>
                <a:off x="3518915" y="1794650"/>
                <a:ext cx="1519390" cy="369332"/>
              </a:xfrm>
              <a:prstGeom prst="rect">
                <a:avLst/>
              </a:prstGeom>
              <a:noFill/>
            </p:spPr>
            <p:txBody>
              <a:bodyPr wrap="none" rtlCol="0">
                <a:spAutoFit/>
              </a:bodyPr>
              <a:lstStyle/>
              <a:p>
                <a:r>
                  <a:rPr lang="en-GB" dirty="0"/>
                  <a:t>Anterior Lobe</a:t>
                </a:r>
              </a:p>
            </p:txBody>
          </p:sp>
          <p:cxnSp>
            <p:nvCxnSpPr>
              <p:cNvPr id="60" name="Straight Connector 59">
                <a:extLst>
                  <a:ext uri="{FF2B5EF4-FFF2-40B4-BE49-F238E27FC236}">
                    <a16:creationId xmlns:a16="http://schemas.microsoft.com/office/drawing/2014/main" id="{86098752-CDD8-DC4F-6497-96BF481994B3}"/>
                  </a:ext>
                </a:extLst>
              </p:cNvPr>
              <p:cNvCxnSpPr>
                <a:cxnSpLocks/>
                <a:stCxn id="59" idx="1"/>
              </p:cNvCxnSpPr>
              <p:nvPr/>
            </p:nvCxnSpPr>
            <p:spPr>
              <a:xfrm flipH="1">
                <a:off x="3310730" y="1979316"/>
                <a:ext cx="208185" cy="622154"/>
              </a:xfrm>
              <a:prstGeom prst="line">
                <a:avLst/>
              </a:prstGeom>
              <a:ln>
                <a:solidFill>
                  <a:schemeClr val="tx1"/>
                </a:solidFill>
                <a:tailEnd type="oval"/>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44EB2ED3-7095-9E24-ACF8-679EA7318550}"/>
                  </a:ext>
                </a:extLst>
              </p:cNvPr>
              <p:cNvSpPr txBox="1"/>
              <p:nvPr/>
            </p:nvSpPr>
            <p:spPr>
              <a:xfrm>
                <a:off x="4077835" y="3705705"/>
                <a:ext cx="1618392" cy="369332"/>
              </a:xfrm>
              <a:prstGeom prst="rect">
                <a:avLst/>
              </a:prstGeom>
              <a:noFill/>
            </p:spPr>
            <p:txBody>
              <a:bodyPr wrap="none" rtlCol="0">
                <a:spAutoFit/>
              </a:bodyPr>
              <a:lstStyle/>
              <a:p>
                <a:r>
                  <a:rPr lang="en-GB" dirty="0"/>
                  <a:t>Posterior Lobe</a:t>
                </a:r>
              </a:p>
            </p:txBody>
          </p:sp>
          <p:cxnSp>
            <p:nvCxnSpPr>
              <p:cNvPr id="64" name="Straight Connector 63">
                <a:extLst>
                  <a:ext uri="{FF2B5EF4-FFF2-40B4-BE49-F238E27FC236}">
                    <a16:creationId xmlns:a16="http://schemas.microsoft.com/office/drawing/2014/main" id="{F47D0301-2107-E160-342D-D09D95D7FEF6}"/>
                  </a:ext>
                </a:extLst>
              </p:cNvPr>
              <p:cNvCxnSpPr>
                <a:cxnSpLocks/>
                <a:stCxn id="63" idx="1"/>
              </p:cNvCxnSpPr>
              <p:nvPr/>
            </p:nvCxnSpPr>
            <p:spPr>
              <a:xfrm flipH="1" flipV="1">
                <a:off x="3717235" y="3018277"/>
                <a:ext cx="360600" cy="872094"/>
              </a:xfrm>
              <a:prstGeom prst="line">
                <a:avLst/>
              </a:prstGeom>
              <a:ln>
                <a:solidFill>
                  <a:schemeClr val="tx1"/>
                </a:solidFill>
                <a:tailEnd type="oval"/>
              </a:ln>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F2B62777-CA63-365C-D10B-B47375EAA64C}"/>
                  </a:ext>
                </a:extLst>
              </p:cNvPr>
              <p:cNvSpPr txBox="1"/>
              <p:nvPr/>
            </p:nvSpPr>
            <p:spPr>
              <a:xfrm>
                <a:off x="4040208" y="2354886"/>
                <a:ext cx="1343766" cy="307777"/>
              </a:xfrm>
              <a:prstGeom prst="rect">
                <a:avLst/>
              </a:prstGeom>
              <a:noFill/>
            </p:spPr>
            <p:txBody>
              <a:bodyPr wrap="none" rtlCol="0">
                <a:spAutoFit/>
              </a:bodyPr>
              <a:lstStyle/>
              <a:p>
                <a:r>
                  <a:rPr lang="en-GB" sz="1400" dirty="0"/>
                  <a:t>Primary fissure</a:t>
                </a:r>
              </a:p>
            </p:txBody>
          </p:sp>
          <p:cxnSp>
            <p:nvCxnSpPr>
              <p:cNvPr id="68" name="Straight Connector 67">
                <a:extLst>
                  <a:ext uri="{FF2B5EF4-FFF2-40B4-BE49-F238E27FC236}">
                    <a16:creationId xmlns:a16="http://schemas.microsoft.com/office/drawing/2014/main" id="{D73C5468-9C5C-3F2C-4F87-B020E7F58C70}"/>
                  </a:ext>
                </a:extLst>
              </p:cNvPr>
              <p:cNvCxnSpPr>
                <a:cxnSpLocks/>
                <a:stCxn id="67" idx="1"/>
              </p:cNvCxnSpPr>
              <p:nvPr/>
            </p:nvCxnSpPr>
            <p:spPr>
              <a:xfrm flipH="1" flipV="1">
                <a:off x="3761737" y="2499430"/>
                <a:ext cx="278471" cy="9345"/>
              </a:xfrm>
              <a:prstGeom prst="line">
                <a:avLst/>
              </a:prstGeom>
              <a:ln>
                <a:solidFill>
                  <a:schemeClr val="tx1"/>
                </a:solidFill>
                <a:tailEnd type="oval"/>
              </a:ln>
            </p:spPr>
            <p:style>
              <a:lnRef idx="2">
                <a:schemeClr val="accent1"/>
              </a:lnRef>
              <a:fillRef idx="0">
                <a:schemeClr val="accent1"/>
              </a:fillRef>
              <a:effectRef idx="1">
                <a:schemeClr val="accent1"/>
              </a:effectRef>
              <a:fontRef idx="minor">
                <a:schemeClr val="tx1"/>
              </a:fontRef>
            </p:style>
          </p:cxnSp>
          <p:sp>
            <p:nvSpPr>
              <p:cNvPr id="70" name="TextBox 69">
                <a:extLst>
                  <a:ext uri="{FF2B5EF4-FFF2-40B4-BE49-F238E27FC236}">
                    <a16:creationId xmlns:a16="http://schemas.microsoft.com/office/drawing/2014/main" id="{497F9EE2-0FE6-BC19-D115-C790240BF6FC}"/>
                  </a:ext>
                </a:extLst>
              </p:cNvPr>
              <p:cNvSpPr txBox="1"/>
              <p:nvPr/>
            </p:nvSpPr>
            <p:spPr>
              <a:xfrm>
                <a:off x="238539" y="4511729"/>
                <a:ext cx="1022247" cy="369332"/>
              </a:xfrm>
              <a:prstGeom prst="rect">
                <a:avLst/>
              </a:prstGeom>
              <a:noFill/>
            </p:spPr>
            <p:txBody>
              <a:bodyPr wrap="square" rtlCol="0">
                <a:spAutoFit/>
              </a:bodyPr>
              <a:lstStyle/>
              <a:p>
                <a:r>
                  <a:rPr lang="en-GB" dirty="0"/>
                  <a:t>Nodule</a:t>
                </a:r>
              </a:p>
            </p:txBody>
          </p:sp>
          <p:cxnSp>
            <p:nvCxnSpPr>
              <p:cNvPr id="71" name="Straight Connector 70">
                <a:extLst>
                  <a:ext uri="{FF2B5EF4-FFF2-40B4-BE49-F238E27FC236}">
                    <a16:creationId xmlns:a16="http://schemas.microsoft.com/office/drawing/2014/main" id="{4A187555-1030-FFEA-8764-D19A3389E2F3}"/>
                  </a:ext>
                </a:extLst>
              </p:cNvPr>
              <p:cNvCxnSpPr>
                <a:cxnSpLocks/>
                <a:stCxn id="70" idx="3"/>
              </p:cNvCxnSpPr>
              <p:nvPr/>
            </p:nvCxnSpPr>
            <p:spPr>
              <a:xfrm>
                <a:off x="1260786" y="4696395"/>
                <a:ext cx="1336453" cy="210883"/>
              </a:xfrm>
              <a:prstGeom prst="line">
                <a:avLst/>
              </a:prstGeom>
              <a:ln>
                <a:solidFill>
                  <a:schemeClr val="tx1"/>
                </a:solidFill>
                <a:tailEnd type="oval"/>
              </a:ln>
            </p:spPr>
            <p:style>
              <a:lnRef idx="2">
                <a:schemeClr val="accent1"/>
              </a:lnRef>
              <a:fillRef idx="0">
                <a:schemeClr val="accent1"/>
              </a:fillRef>
              <a:effectRef idx="1">
                <a:schemeClr val="accent1"/>
              </a:effectRef>
              <a:fontRef idx="minor">
                <a:schemeClr val="tx1"/>
              </a:fontRef>
            </p:style>
          </p:cxnSp>
          <p:sp>
            <p:nvSpPr>
              <p:cNvPr id="74" name="TextBox 73">
                <a:extLst>
                  <a:ext uri="{FF2B5EF4-FFF2-40B4-BE49-F238E27FC236}">
                    <a16:creationId xmlns:a16="http://schemas.microsoft.com/office/drawing/2014/main" id="{0D79593E-3B67-63F5-6189-3576ECA90FDA}"/>
                  </a:ext>
                </a:extLst>
              </p:cNvPr>
              <p:cNvSpPr txBox="1"/>
              <p:nvPr/>
            </p:nvSpPr>
            <p:spPr>
              <a:xfrm>
                <a:off x="1968780" y="6425141"/>
                <a:ext cx="1313449" cy="369332"/>
              </a:xfrm>
              <a:prstGeom prst="rect">
                <a:avLst/>
              </a:prstGeom>
              <a:noFill/>
            </p:spPr>
            <p:txBody>
              <a:bodyPr wrap="square" rtlCol="0">
                <a:spAutoFit/>
              </a:bodyPr>
              <a:lstStyle/>
              <a:p>
                <a:pPr algn="ctr"/>
                <a:r>
                  <a:rPr lang="en-GB" dirty="0"/>
                  <a:t>Flocculus</a:t>
                </a:r>
              </a:p>
            </p:txBody>
          </p:sp>
          <p:cxnSp>
            <p:nvCxnSpPr>
              <p:cNvPr id="75" name="Straight Connector 74">
                <a:extLst>
                  <a:ext uri="{FF2B5EF4-FFF2-40B4-BE49-F238E27FC236}">
                    <a16:creationId xmlns:a16="http://schemas.microsoft.com/office/drawing/2014/main" id="{C3FCDCEB-CFED-5C57-E5E2-955CF4368AE3}"/>
                  </a:ext>
                </a:extLst>
              </p:cNvPr>
              <p:cNvCxnSpPr>
                <a:cxnSpLocks/>
                <a:stCxn id="11" idx="2"/>
              </p:cNvCxnSpPr>
              <p:nvPr/>
            </p:nvCxnSpPr>
            <p:spPr>
              <a:xfrm flipH="1" flipV="1">
                <a:off x="1771909" y="5426765"/>
                <a:ext cx="825330" cy="1002523"/>
              </a:xfrm>
              <a:prstGeom prst="line">
                <a:avLst/>
              </a:prstGeom>
              <a:ln>
                <a:solidFill>
                  <a:schemeClr val="tx1"/>
                </a:solidFill>
                <a:tailEnd type="oval"/>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E3711A41-3224-645F-D8E7-1DF92C8C7992}"/>
                  </a:ext>
                </a:extLst>
              </p:cNvPr>
              <p:cNvCxnSpPr>
                <a:cxnSpLocks/>
                <a:stCxn id="74" idx="0"/>
              </p:cNvCxnSpPr>
              <p:nvPr/>
            </p:nvCxnSpPr>
            <p:spPr>
              <a:xfrm flipV="1">
                <a:off x="2625505" y="5424692"/>
                <a:ext cx="853595" cy="1000449"/>
              </a:xfrm>
              <a:prstGeom prst="line">
                <a:avLst/>
              </a:prstGeom>
              <a:ln>
                <a:solidFill>
                  <a:schemeClr val="tx1"/>
                </a:solidFill>
                <a:tailEnd type="oval"/>
              </a:ln>
            </p:spPr>
            <p:style>
              <a:lnRef idx="2">
                <a:schemeClr val="accent1"/>
              </a:lnRef>
              <a:fillRef idx="0">
                <a:schemeClr val="accent1"/>
              </a:fillRef>
              <a:effectRef idx="1">
                <a:schemeClr val="accent1"/>
              </a:effectRef>
              <a:fontRef idx="minor">
                <a:schemeClr val="tx1"/>
              </a:fontRef>
            </p:style>
          </p:cxnSp>
          <p:sp>
            <p:nvSpPr>
              <p:cNvPr id="86" name="TextBox 85">
                <a:extLst>
                  <a:ext uri="{FF2B5EF4-FFF2-40B4-BE49-F238E27FC236}">
                    <a16:creationId xmlns:a16="http://schemas.microsoft.com/office/drawing/2014/main" id="{26585B3B-CB0B-6E5B-80E1-9F99D2A5E6B1}"/>
                  </a:ext>
                </a:extLst>
              </p:cNvPr>
              <p:cNvSpPr txBox="1"/>
              <p:nvPr/>
            </p:nvSpPr>
            <p:spPr>
              <a:xfrm>
                <a:off x="4292469" y="4633530"/>
                <a:ext cx="1521922" cy="646331"/>
              </a:xfrm>
              <a:prstGeom prst="rect">
                <a:avLst/>
              </a:prstGeom>
              <a:noFill/>
            </p:spPr>
            <p:txBody>
              <a:bodyPr wrap="square" rtlCol="0">
                <a:spAutoFit/>
              </a:bodyPr>
              <a:lstStyle/>
              <a:p>
                <a:r>
                  <a:rPr lang="en-GB" dirty="0"/>
                  <a:t>Cerebellar</a:t>
                </a:r>
              </a:p>
              <a:p>
                <a:r>
                  <a:rPr lang="en-GB" dirty="0"/>
                  <a:t>Peduncles</a:t>
                </a:r>
              </a:p>
            </p:txBody>
          </p:sp>
          <p:cxnSp>
            <p:nvCxnSpPr>
              <p:cNvPr id="87" name="Straight Connector 86">
                <a:extLst>
                  <a:ext uri="{FF2B5EF4-FFF2-40B4-BE49-F238E27FC236}">
                    <a16:creationId xmlns:a16="http://schemas.microsoft.com/office/drawing/2014/main" id="{94919FB5-9F66-992B-C475-E59B7F59D5DB}"/>
                  </a:ext>
                </a:extLst>
              </p:cNvPr>
              <p:cNvCxnSpPr>
                <a:cxnSpLocks/>
                <a:stCxn id="86" idx="1"/>
              </p:cNvCxnSpPr>
              <p:nvPr/>
            </p:nvCxnSpPr>
            <p:spPr>
              <a:xfrm flipH="1">
                <a:off x="2951922" y="4956696"/>
                <a:ext cx="1340547" cy="241469"/>
              </a:xfrm>
              <a:prstGeom prst="line">
                <a:avLst/>
              </a:prstGeom>
              <a:ln>
                <a:solidFill>
                  <a:schemeClr val="tx1"/>
                </a:solidFill>
                <a:tailEnd type="oval"/>
              </a:ln>
            </p:spPr>
            <p:style>
              <a:lnRef idx="2">
                <a:schemeClr val="accent1"/>
              </a:lnRef>
              <a:fillRef idx="0">
                <a:schemeClr val="accent1"/>
              </a:fillRef>
              <a:effectRef idx="1">
                <a:schemeClr val="accent1"/>
              </a:effectRef>
              <a:fontRef idx="minor">
                <a:schemeClr val="tx1"/>
              </a:fontRef>
            </p:style>
          </p:cxnSp>
        </p:grpSp>
        <p:sp>
          <p:nvSpPr>
            <p:cNvPr id="94" name="TextBox 93">
              <a:extLst>
                <a:ext uri="{FF2B5EF4-FFF2-40B4-BE49-F238E27FC236}">
                  <a16:creationId xmlns:a16="http://schemas.microsoft.com/office/drawing/2014/main" id="{70536111-19FE-2567-6BDE-9350747A6348}"/>
                </a:ext>
              </a:extLst>
            </p:cNvPr>
            <p:cNvSpPr txBox="1"/>
            <p:nvPr/>
          </p:nvSpPr>
          <p:spPr>
            <a:xfrm>
              <a:off x="6144533" y="3034118"/>
              <a:ext cx="958724" cy="307777"/>
            </a:xfrm>
            <a:prstGeom prst="rect">
              <a:avLst/>
            </a:prstGeom>
            <a:noFill/>
          </p:spPr>
          <p:txBody>
            <a:bodyPr wrap="none" rtlCol="0">
              <a:spAutoFit/>
            </a:bodyPr>
            <a:lstStyle/>
            <a:p>
              <a:r>
                <a:rPr lang="en-GB" sz="1400" dirty="0">
                  <a:solidFill>
                    <a:schemeClr val="bg2">
                      <a:lumMod val="50000"/>
                    </a:schemeClr>
                  </a:solidFill>
                </a:rPr>
                <a:t>Back view</a:t>
              </a:r>
            </a:p>
          </p:txBody>
        </p:sp>
        <p:sp>
          <p:nvSpPr>
            <p:cNvPr id="95" name="TextBox 94">
              <a:extLst>
                <a:ext uri="{FF2B5EF4-FFF2-40B4-BE49-F238E27FC236}">
                  <a16:creationId xmlns:a16="http://schemas.microsoft.com/office/drawing/2014/main" id="{E34B2E6B-3C2F-53EB-5912-B6F58042826A}"/>
                </a:ext>
              </a:extLst>
            </p:cNvPr>
            <p:cNvSpPr txBox="1"/>
            <p:nvPr/>
          </p:nvSpPr>
          <p:spPr>
            <a:xfrm>
              <a:off x="6130901" y="5491347"/>
              <a:ext cx="977127" cy="307777"/>
            </a:xfrm>
            <a:prstGeom prst="rect">
              <a:avLst/>
            </a:prstGeom>
            <a:noFill/>
          </p:spPr>
          <p:txBody>
            <a:bodyPr wrap="none" rtlCol="0">
              <a:spAutoFit/>
            </a:bodyPr>
            <a:lstStyle/>
            <a:p>
              <a:r>
                <a:rPr lang="en-GB" sz="1400" dirty="0">
                  <a:solidFill>
                    <a:schemeClr val="bg2">
                      <a:lumMod val="50000"/>
                    </a:schemeClr>
                  </a:solidFill>
                </a:rPr>
                <a:t>Front view</a:t>
              </a:r>
            </a:p>
          </p:txBody>
        </p:sp>
        <p:sp>
          <p:nvSpPr>
            <p:cNvPr id="97" name="TextBox 96">
              <a:extLst>
                <a:ext uri="{FF2B5EF4-FFF2-40B4-BE49-F238E27FC236}">
                  <a16:creationId xmlns:a16="http://schemas.microsoft.com/office/drawing/2014/main" id="{5B52A7E3-C918-F35A-FE8E-E0ABF49EA17F}"/>
                </a:ext>
              </a:extLst>
            </p:cNvPr>
            <p:cNvSpPr txBox="1"/>
            <p:nvPr/>
          </p:nvSpPr>
          <p:spPr>
            <a:xfrm>
              <a:off x="9788611" y="6599811"/>
              <a:ext cx="1443665" cy="307777"/>
            </a:xfrm>
            <a:prstGeom prst="rect">
              <a:avLst/>
            </a:prstGeom>
            <a:noFill/>
          </p:spPr>
          <p:txBody>
            <a:bodyPr wrap="none" rtlCol="0">
              <a:spAutoFit/>
            </a:bodyPr>
            <a:lstStyle/>
            <a:p>
              <a:r>
                <a:rPr lang="en-GB" sz="1400" dirty="0">
                  <a:solidFill>
                    <a:schemeClr val="bg2">
                      <a:lumMod val="50000"/>
                    </a:schemeClr>
                  </a:solidFill>
                </a:rPr>
                <a:t>Left hemisphere</a:t>
              </a:r>
            </a:p>
          </p:txBody>
        </p:sp>
        <p:sp>
          <p:nvSpPr>
            <p:cNvPr id="98" name="TextBox 97">
              <a:extLst>
                <a:ext uri="{FF2B5EF4-FFF2-40B4-BE49-F238E27FC236}">
                  <a16:creationId xmlns:a16="http://schemas.microsoft.com/office/drawing/2014/main" id="{3E28A863-1937-594B-8DCE-BACB79438C09}"/>
                </a:ext>
              </a:extLst>
            </p:cNvPr>
            <p:cNvSpPr txBox="1"/>
            <p:nvPr/>
          </p:nvSpPr>
          <p:spPr>
            <a:xfrm>
              <a:off x="6944316" y="6592408"/>
              <a:ext cx="1541576" cy="307777"/>
            </a:xfrm>
            <a:prstGeom prst="rect">
              <a:avLst/>
            </a:prstGeom>
            <a:noFill/>
          </p:spPr>
          <p:txBody>
            <a:bodyPr wrap="none" rtlCol="0">
              <a:spAutoFit/>
            </a:bodyPr>
            <a:lstStyle/>
            <a:p>
              <a:r>
                <a:rPr lang="en-GB" sz="1400" dirty="0">
                  <a:solidFill>
                    <a:schemeClr val="bg2">
                      <a:lumMod val="50000"/>
                    </a:schemeClr>
                  </a:solidFill>
                </a:rPr>
                <a:t>Right hemisphere</a:t>
              </a:r>
            </a:p>
          </p:txBody>
        </p:sp>
        <p:sp>
          <p:nvSpPr>
            <p:cNvPr id="3" name="TextBox 2">
              <a:extLst>
                <a:ext uri="{FF2B5EF4-FFF2-40B4-BE49-F238E27FC236}">
                  <a16:creationId xmlns:a16="http://schemas.microsoft.com/office/drawing/2014/main" id="{D874C1BD-FB1B-BA2E-DAA5-4084D72C3008}"/>
                </a:ext>
              </a:extLst>
            </p:cNvPr>
            <p:cNvSpPr txBox="1"/>
            <p:nvPr/>
          </p:nvSpPr>
          <p:spPr>
            <a:xfrm>
              <a:off x="6847641" y="2090997"/>
              <a:ext cx="1443665" cy="307777"/>
            </a:xfrm>
            <a:prstGeom prst="rect">
              <a:avLst/>
            </a:prstGeom>
            <a:noFill/>
          </p:spPr>
          <p:txBody>
            <a:bodyPr wrap="none" rtlCol="0">
              <a:spAutoFit/>
            </a:bodyPr>
            <a:lstStyle/>
            <a:p>
              <a:r>
                <a:rPr lang="en-GB" sz="1400" dirty="0">
                  <a:solidFill>
                    <a:schemeClr val="bg2">
                      <a:lumMod val="50000"/>
                    </a:schemeClr>
                  </a:solidFill>
                </a:rPr>
                <a:t>Left hemisphere</a:t>
              </a:r>
            </a:p>
          </p:txBody>
        </p:sp>
        <p:sp>
          <p:nvSpPr>
            <p:cNvPr id="4" name="TextBox 3">
              <a:extLst>
                <a:ext uri="{FF2B5EF4-FFF2-40B4-BE49-F238E27FC236}">
                  <a16:creationId xmlns:a16="http://schemas.microsoft.com/office/drawing/2014/main" id="{2F0E7458-F758-BD35-2C49-2639C41B83E0}"/>
                </a:ext>
              </a:extLst>
            </p:cNvPr>
            <p:cNvSpPr txBox="1"/>
            <p:nvPr/>
          </p:nvSpPr>
          <p:spPr>
            <a:xfrm>
              <a:off x="9740591" y="2083594"/>
              <a:ext cx="1541576" cy="307777"/>
            </a:xfrm>
            <a:prstGeom prst="rect">
              <a:avLst/>
            </a:prstGeom>
            <a:noFill/>
          </p:spPr>
          <p:txBody>
            <a:bodyPr wrap="none" rtlCol="0">
              <a:spAutoFit/>
            </a:bodyPr>
            <a:lstStyle/>
            <a:p>
              <a:r>
                <a:rPr lang="en-GB" sz="1400" dirty="0">
                  <a:solidFill>
                    <a:schemeClr val="bg2">
                      <a:lumMod val="50000"/>
                    </a:schemeClr>
                  </a:solidFill>
                </a:rPr>
                <a:t>Right hemisphere</a:t>
              </a:r>
            </a:p>
          </p:txBody>
        </p:sp>
      </p:grpSp>
    </p:spTree>
    <p:extLst>
      <p:ext uri="{BB962C8B-B14F-4D97-AF65-F5344CB8AC3E}">
        <p14:creationId xmlns:p14="http://schemas.microsoft.com/office/powerpoint/2010/main" val="4102710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150D-1EF6-A6F4-80E3-D8E6381A87B6}"/>
              </a:ext>
            </a:extLst>
          </p:cNvPr>
          <p:cNvSpPr>
            <a:spLocks noGrp="1"/>
          </p:cNvSpPr>
          <p:nvPr>
            <p:ph type="title"/>
          </p:nvPr>
        </p:nvSpPr>
        <p:spPr/>
        <p:txBody>
          <a:bodyPr/>
          <a:lstStyle/>
          <a:p>
            <a:r>
              <a:rPr lang="en-GB" dirty="0"/>
              <a:t>Different cerebellar areas and functions</a:t>
            </a:r>
          </a:p>
        </p:txBody>
      </p:sp>
      <p:pic>
        <p:nvPicPr>
          <p:cNvPr id="8" name="Content Placeholder 7" descr="A pink and green striped human body&#10;&#10;AI-generated content may be incorrect.">
            <a:extLst>
              <a:ext uri="{FF2B5EF4-FFF2-40B4-BE49-F238E27FC236}">
                <a16:creationId xmlns:a16="http://schemas.microsoft.com/office/drawing/2014/main" id="{919C6600-E55D-3F1F-366D-84C753898A5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06196" y="1948568"/>
            <a:ext cx="3898400" cy="2438405"/>
          </a:xfrm>
        </p:spPr>
      </p:pic>
      <p:grpSp>
        <p:nvGrpSpPr>
          <p:cNvPr id="94" name="Group 93">
            <a:extLst>
              <a:ext uri="{FF2B5EF4-FFF2-40B4-BE49-F238E27FC236}">
                <a16:creationId xmlns:a16="http://schemas.microsoft.com/office/drawing/2014/main" id="{1E0DB7BB-1A8E-B569-2479-6EEAFB2B1713}"/>
              </a:ext>
            </a:extLst>
          </p:cNvPr>
          <p:cNvGrpSpPr/>
          <p:nvPr/>
        </p:nvGrpSpPr>
        <p:grpSpPr>
          <a:xfrm>
            <a:off x="1317389" y="4790318"/>
            <a:ext cx="2476014" cy="1714828"/>
            <a:chOff x="1322138" y="4796129"/>
            <a:chExt cx="2476014" cy="1714828"/>
          </a:xfrm>
        </p:grpSpPr>
        <p:sp>
          <p:nvSpPr>
            <p:cNvPr id="4" name="Rectangle 3">
              <a:extLst>
                <a:ext uri="{FF2B5EF4-FFF2-40B4-BE49-F238E27FC236}">
                  <a16:creationId xmlns:a16="http://schemas.microsoft.com/office/drawing/2014/main" id="{269AA943-381B-B54C-B84F-B5B2ACCE3F5F}"/>
                </a:ext>
              </a:extLst>
            </p:cNvPr>
            <p:cNvSpPr/>
            <p:nvPr/>
          </p:nvSpPr>
          <p:spPr>
            <a:xfrm>
              <a:off x="1322138" y="4796129"/>
              <a:ext cx="2476014" cy="10778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err="1"/>
                <a:t>Vestibulocerebellum</a:t>
              </a:r>
              <a:endParaRPr lang="en-GB" b="1" dirty="0"/>
            </a:p>
            <a:p>
              <a:pPr algn="ctr"/>
              <a:r>
                <a:rPr lang="en-GB" dirty="0"/>
                <a:t>(Nodule + flocculus)</a:t>
              </a:r>
            </a:p>
          </p:txBody>
        </p:sp>
        <p:sp>
          <p:nvSpPr>
            <p:cNvPr id="89" name="TextBox 88">
              <a:extLst>
                <a:ext uri="{FF2B5EF4-FFF2-40B4-BE49-F238E27FC236}">
                  <a16:creationId xmlns:a16="http://schemas.microsoft.com/office/drawing/2014/main" id="{CC8C89FE-107E-3ED4-9D65-A967E2B15CC6}"/>
                </a:ext>
              </a:extLst>
            </p:cNvPr>
            <p:cNvSpPr txBox="1"/>
            <p:nvPr/>
          </p:nvSpPr>
          <p:spPr>
            <a:xfrm>
              <a:off x="1561901" y="5864626"/>
              <a:ext cx="2000869" cy="646331"/>
            </a:xfrm>
            <a:prstGeom prst="rect">
              <a:avLst/>
            </a:prstGeom>
            <a:noFill/>
          </p:spPr>
          <p:txBody>
            <a:bodyPr wrap="none" rtlCol="0">
              <a:spAutoFit/>
            </a:bodyPr>
            <a:lstStyle/>
            <a:p>
              <a:pPr algn="ctr"/>
              <a:r>
                <a:rPr lang="en-GB" dirty="0"/>
                <a:t>Equilibrium during</a:t>
              </a:r>
            </a:p>
            <a:p>
              <a:pPr algn="ctr"/>
              <a:r>
                <a:rPr lang="en-GB" dirty="0"/>
                <a:t>movement</a:t>
              </a:r>
            </a:p>
          </p:txBody>
        </p:sp>
      </p:grpSp>
      <p:grpSp>
        <p:nvGrpSpPr>
          <p:cNvPr id="96" name="Group 95">
            <a:extLst>
              <a:ext uri="{FF2B5EF4-FFF2-40B4-BE49-F238E27FC236}">
                <a16:creationId xmlns:a16="http://schemas.microsoft.com/office/drawing/2014/main" id="{6D7A4C35-4009-A350-CF21-B06F5D08F3B8}"/>
              </a:ext>
            </a:extLst>
          </p:cNvPr>
          <p:cNvGrpSpPr/>
          <p:nvPr/>
        </p:nvGrpSpPr>
        <p:grpSpPr>
          <a:xfrm>
            <a:off x="4697638" y="4790318"/>
            <a:ext cx="2472708" cy="1724578"/>
            <a:chOff x="4442214" y="4796129"/>
            <a:chExt cx="2472708" cy="1724578"/>
          </a:xfrm>
        </p:grpSpPr>
        <p:sp>
          <p:nvSpPr>
            <p:cNvPr id="5" name="Rectangle 4">
              <a:extLst>
                <a:ext uri="{FF2B5EF4-FFF2-40B4-BE49-F238E27FC236}">
                  <a16:creationId xmlns:a16="http://schemas.microsoft.com/office/drawing/2014/main" id="{FC3499CE-0FAC-88F7-E5BD-ECB4F242DA00}"/>
                </a:ext>
              </a:extLst>
            </p:cNvPr>
            <p:cNvSpPr/>
            <p:nvPr/>
          </p:nvSpPr>
          <p:spPr>
            <a:xfrm>
              <a:off x="4442214" y="4796129"/>
              <a:ext cx="2472708" cy="1077898"/>
            </a:xfrm>
            <a:prstGeom prst="rect">
              <a:avLst/>
            </a:prstGeom>
            <a:solidFill>
              <a:srgbClr val="78BE8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err="1">
                  <a:solidFill>
                    <a:schemeClr val="tx1"/>
                  </a:solidFill>
                </a:rPr>
                <a:t>Spinocerebellum</a:t>
              </a:r>
              <a:endParaRPr lang="en-GB" b="1" dirty="0">
                <a:solidFill>
                  <a:schemeClr val="tx1"/>
                </a:solidFill>
              </a:endParaRPr>
            </a:p>
            <a:p>
              <a:pPr algn="ctr"/>
              <a:r>
                <a:rPr lang="en-GB" dirty="0">
                  <a:solidFill>
                    <a:schemeClr val="tx1"/>
                  </a:solidFill>
                </a:rPr>
                <a:t>(Intermediate zone +</a:t>
              </a:r>
            </a:p>
            <a:p>
              <a:pPr algn="ctr"/>
              <a:r>
                <a:rPr lang="en-GB" dirty="0">
                  <a:solidFill>
                    <a:schemeClr val="tx1"/>
                  </a:solidFill>
                </a:rPr>
                <a:t>Vermis)</a:t>
              </a:r>
            </a:p>
          </p:txBody>
        </p:sp>
        <p:sp>
          <p:nvSpPr>
            <p:cNvPr id="90" name="TextBox 89">
              <a:extLst>
                <a:ext uri="{FF2B5EF4-FFF2-40B4-BE49-F238E27FC236}">
                  <a16:creationId xmlns:a16="http://schemas.microsoft.com/office/drawing/2014/main" id="{4A029068-D8B3-4896-4CC0-C8CA3A038286}"/>
                </a:ext>
              </a:extLst>
            </p:cNvPr>
            <p:cNvSpPr txBox="1"/>
            <p:nvPr/>
          </p:nvSpPr>
          <p:spPr>
            <a:xfrm>
              <a:off x="4844097" y="5874376"/>
              <a:ext cx="1660455" cy="646331"/>
            </a:xfrm>
            <a:prstGeom prst="rect">
              <a:avLst/>
            </a:prstGeom>
            <a:noFill/>
          </p:spPr>
          <p:txBody>
            <a:bodyPr wrap="none" rtlCol="0">
              <a:spAutoFit/>
            </a:bodyPr>
            <a:lstStyle/>
            <a:p>
              <a:pPr algn="ctr"/>
              <a:r>
                <a:rPr lang="en-GB" dirty="0"/>
                <a:t>Proprioception</a:t>
              </a:r>
            </a:p>
            <a:p>
              <a:pPr algn="ctr"/>
              <a:r>
                <a:rPr lang="en-GB" dirty="0"/>
                <a:t>Movement</a:t>
              </a:r>
            </a:p>
          </p:txBody>
        </p:sp>
      </p:grpSp>
      <p:grpSp>
        <p:nvGrpSpPr>
          <p:cNvPr id="95" name="Group 94">
            <a:extLst>
              <a:ext uri="{FF2B5EF4-FFF2-40B4-BE49-F238E27FC236}">
                <a16:creationId xmlns:a16="http://schemas.microsoft.com/office/drawing/2014/main" id="{8CD8024C-88A3-B036-B374-9BABF0A19DCC}"/>
              </a:ext>
            </a:extLst>
          </p:cNvPr>
          <p:cNvGrpSpPr/>
          <p:nvPr/>
        </p:nvGrpSpPr>
        <p:grpSpPr>
          <a:xfrm>
            <a:off x="7886304" y="4790318"/>
            <a:ext cx="2852577" cy="1720639"/>
            <a:chOff x="7888702" y="4800068"/>
            <a:chExt cx="2852577" cy="1720639"/>
          </a:xfrm>
        </p:grpSpPr>
        <p:sp>
          <p:nvSpPr>
            <p:cNvPr id="6" name="Rectangle 5">
              <a:extLst>
                <a:ext uri="{FF2B5EF4-FFF2-40B4-BE49-F238E27FC236}">
                  <a16:creationId xmlns:a16="http://schemas.microsoft.com/office/drawing/2014/main" id="{2B29CD6A-16C7-2D6D-0A94-67BC6684F284}"/>
                </a:ext>
              </a:extLst>
            </p:cNvPr>
            <p:cNvSpPr/>
            <p:nvPr/>
          </p:nvSpPr>
          <p:spPr>
            <a:xfrm>
              <a:off x="8062177" y="4800068"/>
              <a:ext cx="2505616" cy="1073806"/>
            </a:xfrm>
            <a:prstGeom prst="rect">
              <a:avLst/>
            </a:prstGeom>
            <a:solidFill>
              <a:srgbClr val="E8B4B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Neocerebellum</a:t>
              </a:r>
            </a:p>
            <a:p>
              <a:pPr algn="ctr"/>
              <a:r>
                <a:rPr lang="en-GB" dirty="0">
                  <a:solidFill>
                    <a:schemeClr val="tx1"/>
                  </a:solidFill>
                </a:rPr>
                <a:t>(Lateral zone)</a:t>
              </a:r>
            </a:p>
          </p:txBody>
        </p:sp>
        <p:sp>
          <p:nvSpPr>
            <p:cNvPr id="91" name="TextBox 90">
              <a:extLst>
                <a:ext uri="{FF2B5EF4-FFF2-40B4-BE49-F238E27FC236}">
                  <a16:creationId xmlns:a16="http://schemas.microsoft.com/office/drawing/2014/main" id="{1100FD60-B348-9435-4FC4-505C7D5A3625}"/>
                </a:ext>
              </a:extLst>
            </p:cNvPr>
            <p:cNvSpPr txBox="1"/>
            <p:nvPr/>
          </p:nvSpPr>
          <p:spPr>
            <a:xfrm>
              <a:off x="7888702" y="5874376"/>
              <a:ext cx="2852577" cy="646331"/>
            </a:xfrm>
            <a:prstGeom prst="rect">
              <a:avLst/>
            </a:prstGeom>
            <a:noFill/>
          </p:spPr>
          <p:txBody>
            <a:bodyPr wrap="none" rtlCol="0">
              <a:spAutoFit/>
            </a:bodyPr>
            <a:lstStyle/>
            <a:p>
              <a:pPr algn="ctr"/>
              <a:r>
                <a:rPr lang="en-GB" dirty="0"/>
                <a:t>Planning and coordination</a:t>
              </a:r>
            </a:p>
            <a:p>
              <a:pPr algn="ctr"/>
              <a:r>
                <a:rPr lang="en-GB" dirty="0"/>
                <a:t>of future motor actions</a:t>
              </a:r>
            </a:p>
          </p:txBody>
        </p:sp>
      </p:grpSp>
      <p:sp>
        <p:nvSpPr>
          <p:cNvPr id="92" name="TextBox 91">
            <a:extLst>
              <a:ext uri="{FF2B5EF4-FFF2-40B4-BE49-F238E27FC236}">
                <a16:creationId xmlns:a16="http://schemas.microsoft.com/office/drawing/2014/main" id="{72D881EA-CACF-C4EC-B7F3-97876278102F}"/>
              </a:ext>
            </a:extLst>
          </p:cNvPr>
          <p:cNvSpPr txBox="1"/>
          <p:nvPr/>
        </p:nvSpPr>
        <p:spPr>
          <a:xfrm>
            <a:off x="2185448" y="1578723"/>
            <a:ext cx="958724" cy="307777"/>
          </a:xfrm>
          <a:prstGeom prst="rect">
            <a:avLst/>
          </a:prstGeom>
          <a:noFill/>
        </p:spPr>
        <p:txBody>
          <a:bodyPr wrap="none" rtlCol="0">
            <a:spAutoFit/>
          </a:bodyPr>
          <a:lstStyle/>
          <a:p>
            <a:pPr algn="ctr"/>
            <a:r>
              <a:rPr lang="en-GB" sz="1400" dirty="0">
                <a:solidFill>
                  <a:schemeClr val="bg2">
                    <a:lumMod val="50000"/>
                  </a:schemeClr>
                </a:solidFill>
              </a:rPr>
              <a:t>Back view</a:t>
            </a:r>
          </a:p>
        </p:txBody>
      </p:sp>
      <p:grpSp>
        <p:nvGrpSpPr>
          <p:cNvPr id="97" name="Group 96">
            <a:extLst>
              <a:ext uri="{FF2B5EF4-FFF2-40B4-BE49-F238E27FC236}">
                <a16:creationId xmlns:a16="http://schemas.microsoft.com/office/drawing/2014/main" id="{AA6CA7EF-C734-0D9B-E651-EDEB6CDF0C59}"/>
              </a:ext>
            </a:extLst>
          </p:cNvPr>
          <p:cNvGrpSpPr/>
          <p:nvPr/>
        </p:nvGrpSpPr>
        <p:grpSpPr>
          <a:xfrm>
            <a:off x="7239942" y="1578723"/>
            <a:ext cx="4145288" cy="2722964"/>
            <a:chOff x="6647456" y="1578723"/>
            <a:chExt cx="4145288" cy="2722964"/>
          </a:xfrm>
        </p:grpSpPr>
        <p:pic>
          <p:nvPicPr>
            <p:cNvPr id="10" name="Picture 9" descr="A close up of a brain&#10;&#10;AI-generated content may be incorrect.">
              <a:extLst>
                <a:ext uri="{FF2B5EF4-FFF2-40B4-BE49-F238E27FC236}">
                  <a16:creationId xmlns:a16="http://schemas.microsoft.com/office/drawing/2014/main" id="{0C6D1649-D899-2583-8F17-D86B011EEF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47456" y="1832802"/>
              <a:ext cx="4145288" cy="2468885"/>
            </a:xfrm>
            <a:prstGeom prst="rect">
              <a:avLst/>
            </a:prstGeom>
          </p:spPr>
        </p:pic>
        <p:sp>
          <p:nvSpPr>
            <p:cNvPr id="93" name="TextBox 92">
              <a:extLst>
                <a:ext uri="{FF2B5EF4-FFF2-40B4-BE49-F238E27FC236}">
                  <a16:creationId xmlns:a16="http://schemas.microsoft.com/office/drawing/2014/main" id="{9085DF2F-B373-874E-73D3-5CD8E19BC1AB}"/>
                </a:ext>
              </a:extLst>
            </p:cNvPr>
            <p:cNvSpPr txBox="1"/>
            <p:nvPr/>
          </p:nvSpPr>
          <p:spPr>
            <a:xfrm>
              <a:off x="8231537" y="1578723"/>
              <a:ext cx="977127" cy="307777"/>
            </a:xfrm>
            <a:prstGeom prst="rect">
              <a:avLst/>
            </a:prstGeom>
            <a:noFill/>
          </p:spPr>
          <p:txBody>
            <a:bodyPr wrap="none" rtlCol="0">
              <a:spAutoFit/>
            </a:bodyPr>
            <a:lstStyle/>
            <a:p>
              <a:pPr algn="ctr"/>
              <a:r>
                <a:rPr lang="en-GB" sz="1400" dirty="0">
                  <a:solidFill>
                    <a:schemeClr val="bg2">
                      <a:lumMod val="50000"/>
                    </a:schemeClr>
                  </a:solidFill>
                </a:rPr>
                <a:t>Front view</a:t>
              </a:r>
            </a:p>
          </p:txBody>
        </p:sp>
      </p:grpSp>
    </p:spTree>
    <p:extLst>
      <p:ext uri="{BB962C8B-B14F-4D97-AF65-F5344CB8AC3E}">
        <p14:creationId xmlns:p14="http://schemas.microsoft.com/office/powerpoint/2010/main" val="2385202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B3D00-89FF-D339-A745-7E8849263B3D}"/>
              </a:ext>
            </a:extLst>
          </p:cNvPr>
          <p:cNvSpPr>
            <a:spLocks noGrp="1"/>
          </p:cNvSpPr>
          <p:nvPr>
            <p:ph type="title"/>
          </p:nvPr>
        </p:nvSpPr>
        <p:spPr/>
        <p:txBody>
          <a:bodyPr/>
          <a:lstStyle/>
          <a:p>
            <a:r>
              <a:rPr lang="en-GB" dirty="0"/>
              <a:t>Different cerebellar areas and functions</a:t>
            </a:r>
          </a:p>
        </p:txBody>
      </p:sp>
      <p:pic>
        <p:nvPicPr>
          <p:cNvPr id="5" name="Content Placeholder 4">
            <a:extLst>
              <a:ext uri="{FF2B5EF4-FFF2-40B4-BE49-F238E27FC236}">
                <a16:creationId xmlns:a16="http://schemas.microsoft.com/office/drawing/2014/main" id="{E36272F0-B376-C475-3E9F-D03D15C4E86A}"/>
              </a:ext>
            </a:extLst>
          </p:cNvPr>
          <p:cNvPicPr>
            <a:picLocks noGrp="1" noChangeAspect="1"/>
          </p:cNvPicPr>
          <p:nvPr>
            <p:ph idx="1"/>
          </p:nvPr>
        </p:nvPicPr>
        <p:blipFill>
          <a:blip r:embed="rId2"/>
          <a:stretch>
            <a:fillRect/>
          </a:stretch>
        </p:blipFill>
        <p:spPr>
          <a:xfrm>
            <a:off x="1911024" y="1284143"/>
            <a:ext cx="5172501" cy="3958975"/>
          </a:xfrm>
          <a:prstGeom prst="rect">
            <a:avLst/>
          </a:prstGeom>
        </p:spPr>
      </p:pic>
      <p:pic>
        <p:nvPicPr>
          <p:cNvPr id="4" name="Picture 3">
            <a:extLst>
              <a:ext uri="{FF2B5EF4-FFF2-40B4-BE49-F238E27FC236}">
                <a16:creationId xmlns:a16="http://schemas.microsoft.com/office/drawing/2014/main" id="{23CF9C2C-D784-951E-FBC4-192D3D122DA7}"/>
              </a:ext>
            </a:extLst>
          </p:cNvPr>
          <p:cNvPicPr>
            <a:picLocks noChangeAspect="1"/>
          </p:cNvPicPr>
          <p:nvPr/>
        </p:nvPicPr>
        <p:blipFill>
          <a:blip r:embed="rId3"/>
          <a:stretch>
            <a:fillRect/>
          </a:stretch>
        </p:blipFill>
        <p:spPr>
          <a:xfrm>
            <a:off x="7830638" y="1696046"/>
            <a:ext cx="3776876" cy="3135168"/>
          </a:xfrm>
          <a:prstGeom prst="rect">
            <a:avLst/>
          </a:prstGeom>
        </p:spPr>
      </p:pic>
      <p:sp>
        <p:nvSpPr>
          <p:cNvPr id="3" name="TextBox 2">
            <a:extLst>
              <a:ext uri="{FF2B5EF4-FFF2-40B4-BE49-F238E27FC236}">
                <a16:creationId xmlns:a16="http://schemas.microsoft.com/office/drawing/2014/main" id="{190AA21B-C711-4DEE-248D-5C5C75F19858}"/>
              </a:ext>
            </a:extLst>
          </p:cNvPr>
          <p:cNvSpPr txBox="1"/>
          <p:nvPr/>
        </p:nvSpPr>
        <p:spPr>
          <a:xfrm>
            <a:off x="3561516" y="5243118"/>
            <a:ext cx="1660455" cy="923330"/>
          </a:xfrm>
          <a:prstGeom prst="rect">
            <a:avLst/>
          </a:prstGeom>
          <a:noFill/>
        </p:spPr>
        <p:txBody>
          <a:bodyPr wrap="none" rtlCol="0">
            <a:spAutoFit/>
          </a:bodyPr>
          <a:lstStyle/>
          <a:p>
            <a:r>
              <a:rPr lang="en-GB" b="1" u="sng" dirty="0"/>
              <a:t>Inputs:</a:t>
            </a:r>
          </a:p>
          <a:p>
            <a:r>
              <a:rPr lang="en-GB" dirty="0"/>
              <a:t>Proprioception</a:t>
            </a:r>
          </a:p>
          <a:p>
            <a:r>
              <a:rPr lang="en-GB" dirty="0"/>
              <a:t>Motor cortex</a:t>
            </a:r>
          </a:p>
        </p:txBody>
      </p:sp>
      <p:sp>
        <p:nvSpPr>
          <p:cNvPr id="38" name="TextBox 37">
            <a:extLst>
              <a:ext uri="{FF2B5EF4-FFF2-40B4-BE49-F238E27FC236}">
                <a16:creationId xmlns:a16="http://schemas.microsoft.com/office/drawing/2014/main" id="{D44C85F9-C15C-7FEA-F670-DC4D856BDF68}"/>
              </a:ext>
            </a:extLst>
          </p:cNvPr>
          <p:cNvSpPr txBox="1"/>
          <p:nvPr/>
        </p:nvSpPr>
        <p:spPr>
          <a:xfrm>
            <a:off x="269049" y="4419311"/>
            <a:ext cx="2755113" cy="1200329"/>
          </a:xfrm>
          <a:prstGeom prst="rect">
            <a:avLst/>
          </a:prstGeom>
          <a:noFill/>
        </p:spPr>
        <p:txBody>
          <a:bodyPr wrap="none" rtlCol="0">
            <a:spAutoFit/>
          </a:bodyPr>
          <a:lstStyle/>
          <a:p>
            <a:r>
              <a:rPr lang="en-GB" b="1" u="sng" dirty="0"/>
              <a:t>Inputs :</a:t>
            </a:r>
          </a:p>
          <a:p>
            <a:r>
              <a:rPr lang="en-GB" dirty="0"/>
              <a:t>Premotor area</a:t>
            </a:r>
          </a:p>
          <a:p>
            <a:r>
              <a:rPr lang="en-GB" dirty="0"/>
              <a:t>Somatosensory cortex</a:t>
            </a:r>
          </a:p>
          <a:p>
            <a:r>
              <a:rPr lang="en-GB" dirty="0"/>
              <a:t>Cortical associative areas</a:t>
            </a:r>
          </a:p>
        </p:txBody>
      </p:sp>
      <p:sp>
        <p:nvSpPr>
          <p:cNvPr id="73" name="TextBox 72">
            <a:extLst>
              <a:ext uri="{FF2B5EF4-FFF2-40B4-BE49-F238E27FC236}">
                <a16:creationId xmlns:a16="http://schemas.microsoft.com/office/drawing/2014/main" id="{71A66D6D-1A60-05C3-69F9-31A57536F0AF}"/>
              </a:ext>
            </a:extLst>
          </p:cNvPr>
          <p:cNvSpPr txBox="1"/>
          <p:nvPr/>
        </p:nvSpPr>
        <p:spPr>
          <a:xfrm>
            <a:off x="8769008" y="5094045"/>
            <a:ext cx="1900136" cy="923330"/>
          </a:xfrm>
          <a:prstGeom prst="rect">
            <a:avLst/>
          </a:prstGeom>
          <a:noFill/>
        </p:spPr>
        <p:txBody>
          <a:bodyPr wrap="none" rtlCol="0">
            <a:spAutoFit/>
          </a:bodyPr>
          <a:lstStyle/>
          <a:p>
            <a:pPr algn="ctr"/>
            <a:r>
              <a:rPr lang="en-GB" dirty="0"/>
              <a:t>Somatotopic</a:t>
            </a:r>
          </a:p>
          <a:p>
            <a:pPr algn="ctr"/>
            <a:r>
              <a:rPr lang="en-GB" dirty="0"/>
              <a:t>Organization of</a:t>
            </a:r>
          </a:p>
          <a:p>
            <a:pPr algn="ctr"/>
            <a:r>
              <a:rPr lang="en-GB" dirty="0"/>
              <a:t>Cerebellar cortex</a:t>
            </a:r>
          </a:p>
        </p:txBody>
      </p:sp>
    </p:spTree>
    <p:extLst>
      <p:ext uri="{BB962C8B-B14F-4D97-AF65-F5344CB8AC3E}">
        <p14:creationId xmlns:p14="http://schemas.microsoft.com/office/powerpoint/2010/main" val="1368838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C64D2-B68A-5AED-0CE6-A2F3860D9CB5}"/>
              </a:ext>
            </a:extLst>
          </p:cNvPr>
          <p:cNvSpPr>
            <a:spLocks noGrp="1"/>
          </p:cNvSpPr>
          <p:nvPr>
            <p:ph type="title"/>
          </p:nvPr>
        </p:nvSpPr>
        <p:spPr/>
        <p:txBody>
          <a:bodyPr/>
          <a:lstStyle/>
          <a:p>
            <a:r>
              <a:rPr lang="en-GB" dirty="0"/>
              <a:t>Deep cerebellar nuclei </a:t>
            </a:r>
          </a:p>
        </p:txBody>
      </p:sp>
      <p:pic>
        <p:nvPicPr>
          <p:cNvPr id="47" name="Content Placeholder 46">
            <a:extLst>
              <a:ext uri="{FF2B5EF4-FFF2-40B4-BE49-F238E27FC236}">
                <a16:creationId xmlns:a16="http://schemas.microsoft.com/office/drawing/2014/main" id="{A67552BD-38B3-363D-0226-C7808973F93E}"/>
              </a:ext>
            </a:extLst>
          </p:cNvPr>
          <p:cNvPicPr>
            <a:picLocks noGrp="1" noChangeAspect="1"/>
          </p:cNvPicPr>
          <p:nvPr>
            <p:ph idx="1"/>
          </p:nvPr>
        </p:nvPicPr>
        <p:blipFill>
          <a:blip r:embed="rId2"/>
          <a:srcRect t="18973"/>
          <a:stretch>
            <a:fillRect/>
          </a:stretch>
        </p:blipFill>
        <p:spPr>
          <a:xfrm>
            <a:off x="355626" y="2773016"/>
            <a:ext cx="3404323" cy="2736795"/>
          </a:xfrm>
          <a:prstGeom prst="rect">
            <a:avLst/>
          </a:prstGeom>
        </p:spPr>
      </p:pic>
      <p:grpSp>
        <p:nvGrpSpPr>
          <p:cNvPr id="54" name="Group 53">
            <a:extLst>
              <a:ext uri="{FF2B5EF4-FFF2-40B4-BE49-F238E27FC236}">
                <a16:creationId xmlns:a16="http://schemas.microsoft.com/office/drawing/2014/main" id="{FB79BE9C-1E14-365F-1FFF-B2BABA6F652D}"/>
              </a:ext>
            </a:extLst>
          </p:cNvPr>
          <p:cNvGrpSpPr/>
          <p:nvPr/>
        </p:nvGrpSpPr>
        <p:grpSpPr>
          <a:xfrm>
            <a:off x="4735925" y="2047753"/>
            <a:ext cx="2553848" cy="4187320"/>
            <a:chOff x="4735925" y="1763990"/>
            <a:chExt cx="2553848" cy="4187320"/>
          </a:xfrm>
        </p:grpSpPr>
        <p:pic>
          <p:nvPicPr>
            <p:cNvPr id="49" name="Picture 48">
              <a:extLst>
                <a:ext uri="{FF2B5EF4-FFF2-40B4-BE49-F238E27FC236}">
                  <a16:creationId xmlns:a16="http://schemas.microsoft.com/office/drawing/2014/main" id="{89D2F15B-F101-363F-ADF0-380925A7A731}"/>
                </a:ext>
              </a:extLst>
            </p:cNvPr>
            <p:cNvPicPr>
              <a:picLocks noChangeAspect="1"/>
            </p:cNvPicPr>
            <p:nvPr/>
          </p:nvPicPr>
          <p:blipFill>
            <a:blip r:embed="rId3"/>
            <a:srcRect t="18365"/>
            <a:stretch>
              <a:fillRect/>
            </a:stretch>
          </p:blipFill>
          <p:spPr>
            <a:xfrm>
              <a:off x="4763437" y="1763990"/>
              <a:ext cx="2526336" cy="2057009"/>
            </a:xfrm>
            <a:prstGeom prst="rect">
              <a:avLst/>
            </a:prstGeom>
          </p:spPr>
        </p:pic>
        <p:pic>
          <p:nvPicPr>
            <p:cNvPr id="51" name="Picture 50">
              <a:extLst>
                <a:ext uri="{FF2B5EF4-FFF2-40B4-BE49-F238E27FC236}">
                  <a16:creationId xmlns:a16="http://schemas.microsoft.com/office/drawing/2014/main" id="{5B9854CC-E247-9A6C-AAC2-C6AE54243BA9}"/>
                </a:ext>
              </a:extLst>
            </p:cNvPr>
            <p:cNvPicPr>
              <a:picLocks noChangeAspect="1"/>
            </p:cNvPicPr>
            <p:nvPr/>
          </p:nvPicPr>
          <p:blipFill>
            <a:blip r:embed="rId4"/>
            <a:srcRect t="18365"/>
            <a:stretch>
              <a:fillRect/>
            </a:stretch>
          </p:blipFill>
          <p:spPr>
            <a:xfrm>
              <a:off x="4735925" y="3894301"/>
              <a:ext cx="2549458" cy="2057009"/>
            </a:xfrm>
            <a:prstGeom prst="rect">
              <a:avLst/>
            </a:prstGeom>
          </p:spPr>
        </p:pic>
      </p:grpSp>
      <p:pic>
        <p:nvPicPr>
          <p:cNvPr id="53" name="Picture 52">
            <a:extLst>
              <a:ext uri="{FF2B5EF4-FFF2-40B4-BE49-F238E27FC236}">
                <a16:creationId xmlns:a16="http://schemas.microsoft.com/office/drawing/2014/main" id="{870C0BB8-8636-C278-F903-70A6034F70DD}"/>
              </a:ext>
            </a:extLst>
          </p:cNvPr>
          <p:cNvPicPr>
            <a:picLocks noChangeAspect="1"/>
          </p:cNvPicPr>
          <p:nvPr/>
        </p:nvPicPr>
        <p:blipFill>
          <a:blip r:embed="rId5"/>
          <a:srcRect t="18433"/>
          <a:stretch>
            <a:fillRect/>
          </a:stretch>
        </p:blipFill>
        <p:spPr>
          <a:xfrm>
            <a:off x="8432053" y="2773016"/>
            <a:ext cx="3472114" cy="2835795"/>
          </a:xfrm>
          <a:prstGeom prst="rect">
            <a:avLst/>
          </a:prstGeom>
        </p:spPr>
      </p:pic>
      <p:sp>
        <p:nvSpPr>
          <p:cNvPr id="55" name="TextBox 54">
            <a:extLst>
              <a:ext uri="{FF2B5EF4-FFF2-40B4-BE49-F238E27FC236}">
                <a16:creationId xmlns:a16="http://schemas.microsoft.com/office/drawing/2014/main" id="{4EE48366-F754-B66E-8BC8-A287238EF482}"/>
              </a:ext>
            </a:extLst>
          </p:cNvPr>
          <p:cNvSpPr txBox="1"/>
          <p:nvPr/>
        </p:nvSpPr>
        <p:spPr>
          <a:xfrm>
            <a:off x="1113183" y="2226365"/>
            <a:ext cx="1828449" cy="369332"/>
          </a:xfrm>
          <a:prstGeom prst="rect">
            <a:avLst/>
          </a:prstGeom>
          <a:noFill/>
        </p:spPr>
        <p:txBody>
          <a:bodyPr wrap="none" rtlCol="0">
            <a:spAutoFit/>
          </a:bodyPr>
          <a:lstStyle/>
          <a:p>
            <a:r>
              <a:rPr lang="en-GB" dirty="0"/>
              <a:t>Dentate nucleus</a:t>
            </a:r>
          </a:p>
        </p:txBody>
      </p:sp>
      <p:sp>
        <p:nvSpPr>
          <p:cNvPr id="56" name="TextBox 55">
            <a:extLst>
              <a:ext uri="{FF2B5EF4-FFF2-40B4-BE49-F238E27FC236}">
                <a16:creationId xmlns:a16="http://schemas.microsoft.com/office/drawing/2014/main" id="{B69217C1-427C-313C-2C6C-287B75C7377D}"/>
              </a:ext>
            </a:extLst>
          </p:cNvPr>
          <p:cNvSpPr txBox="1"/>
          <p:nvPr/>
        </p:nvSpPr>
        <p:spPr>
          <a:xfrm>
            <a:off x="4972245" y="1579324"/>
            <a:ext cx="2108719" cy="369332"/>
          </a:xfrm>
          <a:prstGeom prst="rect">
            <a:avLst/>
          </a:prstGeom>
          <a:noFill/>
        </p:spPr>
        <p:txBody>
          <a:bodyPr wrap="none" rtlCol="0">
            <a:spAutoFit/>
          </a:bodyPr>
          <a:lstStyle/>
          <a:p>
            <a:r>
              <a:rPr lang="en-GB" dirty="0"/>
              <a:t>Interposed nucleus</a:t>
            </a:r>
          </a:p>
        </p:txBody>
      </p:sp>
      <p:sp>
        <p:nvSpPr>
          <p:cNvPr id="57" name="TextBox 56">
            <a:extLst>
              <a:ext uri="{FF2B5EF4-FFF2-40B4-BE49-F238E27FC236}">
                <a16:creationId xmlns:a16="http://schemas.microsoft.com/office/drawing/2014/main" id="{5AE38A31-94F7-C2E2-259B-9C45FEAFEC1B}"/>
              </a:ext>
            </a:extLst>
          </p:cNvPr>
          <p:cNvSpPr txBox="1"/>
          <p:nvPr/>
        </p:nvSpPr>
        <p:spPr>
          <a:xfrm>
            <a:off x="9237086" y="2226365"/>
            <a:ext cx="1862048" cy="369332"/>
          </a:xfrm>
          <a:prstGeom prst="rect">
            <a:avLst/>
          </a:prstGeom>
          <a:noFill/>
        </p:spPr>
        <p:txBody>
          <a:bodyPr wrap="none" rtlCol="0">
            <a:spAutoFit/>
          </a:bodyPr>
          <a:lstStyle/>
          <a:p>
            <a:r>
              <a:rPr lang="en-GB" dirty="0"/>
              <a:t>Fastigial nucleus</a:t>
            </a:r>
          </a:p>
        </p:txBody>
      </p:sp>
      <p:sp>
        <p:nvSpPr>
          <p:cNvPr id="58" name="TextBox 57">
            <a:extLst>
              <a:ext uri="{FF2B5EF4-FFF2-40B4-BE49-F238E27FC236}">
                <a16:creationId xmlns:a16="http://schemas.microsoft.com/office/drawing/2014/main" id="{7C62027F-630E-39BF-96EA-F0CD1E26DC66}"/>
              </a:ext>
            </a:extLst>
          </p:cNvPr>
          <p:cNvSpPr txBox="1"/>
          <p:nvPr/>
        </p:nvSpPr>
        <p:spPr>
          <a:xfrm>
            <a:off x="6600063" y="2218271"/>
            <a:ext cx="961802" cy="461665"/>
          </a:xfrm>
          <a:prstGeom prst="rect">
            <a:avLst/>
          </a:prstGeom>
          <a:noFill/>
        </p:spPr>
        <p:txBody>
          <a:bodyPr wrap="none" rtlCol="0">
            <a:spAutoFit/>
          </a:bodyPr>
          <a:lstStyle/>
          <a:p>
            <a:pPr algn="r"/>
            <a:r>
              <a:rPr lang="en-GB" sz="1200" dirty="0"/>
              <a:t>Emboliform</a:t>
            </a:r>
          </a:p>
          <a:p>
            <a:pPr algn="r"/>
            <a:r>
              <a:rPr lang="en-GB" sz="1200" dirty="0"/>
              <a:t> nucleus</a:t>
            </a:r>
          </a:p>
        </p:txBody>
      </p:sp>
      <p:sp>
        <p:nvSpPr>
          <p:cNvPr id="59" name="TextBox 58">
            <a:extLst>
              <a:ext uri="{FF2B5EF4-FFF2-40B4-BE49-F238E27FC236}">
                <a16:creationId xmlns:a16="http://schemas.microsoft.com/office/drawing/2014/main" id="{A2CC7EDD-C90C-510F-7223-37957E85E4DA}"/>
              </a:ext>
            </a:extLst>
          </p:cNvPr>
          <p:cNvSpPr txBox="1"/>
          <p:nvPr/>
        </p:nvSpPr>
        <p:spPr>
          <a:xfrm>
            <a:off x="6809736" y="4436032"/>
            <a:ext cx="752129" cy="461665"/>
          </a:xfrm>
          <a:prstGeom prst="rect">
            <a:avLst/>
          </a:prstGeom>
          <a:noFill/>
        </p:spPr>
        <p:txBody>
          <a:bodyPr wrap="none" rtlCol="0">
            <a:spAutoFit/>
          </a:bodyPr>
          <a:lstStyle/>
          <a:p>
            <a:pPr algn="r"/>
            <a:r>
              <a:rPr lang="en-GB" sz="1200" dirty="0"/>
              <a:t>Globous</a:t>
            </a:r>
          </a:p>
          <a:p>
            <a:pPr algn="r"/>
            <a:r>
              <a:rPr lang="en-GB" sz="1200" dirty="0"/>
              <a:t> nucleus</a:t>
            </a:r>
          </a:p>
        </p:txBody>
      </p:sp>
    </p:spTree>
    <p:extLst>
      <p:ext uri="{BB962C8B-B14F-4D97-AF65-F5344CB8AC3E}">
        <p14:creationId xmlns:p14="http://schemas.microsoft.com/office/powerpoint/2010/main" val="408496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F3390-905C-3E2E-5E2A-A38DEC79546D}"/>
              </a:ext>
            </a:extLst>
          </p:cNvPr>
          <p:cNvSpPr>
            <a:spLocks noGrp="1"/>
          </p:cNvSpPr>
          <p:nvPr>
            <p:ph type="title"/>
          </p:nvPr>
        </p:nvSpPr>
        <p:spPr/>
        <p:txBody>
          <a:bodyPr>
            <a:normAutofit/>
          </a:bodyPr>
          <a:lstStyle/>
          <a:p>
            <a:r>
              <a:rPr lang="en-GB" dirty="0"/>
              <a:t>Cerebellar peduncles: the gateways of the cerebellum</a:t>
            </a:r>
          </a:p>
        </p:txBody>
      </p:sp>
      <p:pic>
        <p:nvPicPr>
          <p:cNvPr id="18" name="Content Placeholder 17">
            <a:extLst>
              <a:ext uri="{FF2B5EF4-FFF2-40B4-BE49-F238E27FC236}">
                <a16:creationId xmlns:a16="http://schemas.microsoft.com/office/drawing/2014/main" id="{74E5BCD9-E218-82B8-1F0A-41E6E3AFF506}"/>
              </a:ext>
            </a:extLst>
          </p:cNvPr>
          <p:cNvPicPr>
            <a:picLocks noGrp="1" noChangeAspect="1"/>
          </p:cNvPicPr>
          <p:nvPr>
            <p:ph idx="1"/>
          </p:nvPr>
        </p:nvPicPr>
        <p:blipFill>
          <a:blip r:embed="rId2"/>
          <a:stretch>
            <a:fillRect/>
          </a:stretch>
        </p:blipFill>
        <p:spPr>
          <a:xfrm>
            <a:off x="838200" y="2202314"/>
            <a:ext cx="2885290" cy="2807008"/>
          </a:xfrm>
          <a:prstGeom prst="rect">
            <a:avLst/>
          </a:prstGeom>
        </p:spPr>
      </p:pic>
      <mc:AlternateContent xmlns:mc="http://schemas.openxmlformats.org/markup-compatibility/2006" xmlns:p14="http://schemas.microsoft.com/office/powerpoint/2010/main">
        <mc:Choice Requires="p14">
          <p:contentPart p14:bwMode="auto" r:id="rId3">
            <p14:nvContentPartPr>
              <p14:cNvPr id="16" name="Ink 15">
                <a:extLst>
                  <a:ext uri="{FF2B5EF4-FFF2-40B4-BE49-F238E27FC236}">
                    <a16:creationId xmlns:a16="http://schemas.microsoft.com/office/drawing/2014/main" id="{E927ACD2-3F65-5114-2730-6CEF1A566F32}"/>
                  </a:ext>
                </a:extLst>
              </p14:cNvPr>
              <p14:cNvContentPartPr/>
              <p14:nvPr/>
            </p14:nvContentPartPr>
            <p14:xfrm>
              <a:off x="11717558" y="6175679"/>
              <a:ext cx="360" cy="360"/>
            </p14:xfrm>
          </p:contentPart>
        </mc:Choice>
        <mc:Fallback xmlns="">
          <p:pic>
            <p:nvPicPr>
              <p:cNvPr id="16" name="Ink 15">
                <a:extLst>
                  <a:ext uri="{FF2B5EF4-FFF2-40B4-BE49-F238E27FC236}">
                    <a16:creationId xmlns:a16="http://schemas.microsoft.com/office/drawing/2014/main" id="{E927ACD2-3F65-5114-2730-6CEF1A566F32}"/>
                  </a:ext>
                </a:extLst>
              </p:cNvPr>
              <p:cNvPicPr/>
              <p:nvPr/>
            </p:nvPicPr>
            <p:blipFill>
              <a:blip r:embed="rId4"/>
              <a:stretch>
                <a:fillRect/>
              </a:stretch>
            </p:blipFill>
            <p:spPr>
              <a:xfrm>
                <a:off x="11708558" y="6167039"/>
                <a:ext cx="18000" cy="18000"/>
              </a:xfrm>
              <a:prstGeom prst="rect">
                <a:avLst/>
              </a:prstGeom>
            </p:spPr>
          </p:pic>
        </mc:Fallback>
      </mc:AlternateContent>
      <p:pic>
        <p:nvPicPr>
          <p:cNvPr id="20" name="Picture 19">
            <a:extLst>
              <a:ext uri="{FF2B5EF4-FFF2-40B4-BE49-F238E27FC236}">
                <a16:creationId xmlns:a16="http://schemas.microsoft.com/office/drawing/2014/main" id="{D3EFA2A8-B959-3710-5130-8D421F736468}"/>
              </a:ext>
            </a:extLst>
          </p:cNvPr>
          <p:cNvPicPr>
            <a:picLocks noChangeAspect="1"/>
          </p:cNvPicPr>
          <p:nvPr/>
        </p:nvPicPr>
        <p:blipFill>
          <a:blip r:embed="rId5"/>
          <a:stretch>
            <a:fillRect/>
          </a:stretch>
        </p:blipFill>
        <p:spPr>
          <a:xfrm>
            <a:off x="4662949" y="2202316"/>
            <a:ext cx="2866102" cy="2807006"/>
          </a:xfrm>
          <a:prstGeom prst="rect">
            <a:avLst/>
          </a:prstGeom>
        </p:spPr>
      </p:pic>
      <p:pic>
        <p:nvPicPr>
          <p:cNvPr id="22" name="Picture 21">
            <a:extLst>
              <a:ext uri="{FF2B5EF4-FFF2-40B4-BE49-F238E27FC236}">
                <a16:creationId xmlns:a16="http://schemas.microsoft.com/office/drawing/2014/main" id="{AAF6F3F8-FBC7-2BD2-4D0C-142E5EE6EEEE}"/>
              </a:ext>
            </a:extLst>
          </p:cNvPr>
          <p:cNvPicPr>
            <a:picLocks noChangeAspect="1"/>
          </p:cNvPicPr>
          <p:nvPr/>
        </p:nvPicPr>
        <p:blipFill>
          <a:blip r:embed="rId6"/>
          <a:stretch>
            <a:fillRect/>
          </a:stretch>
        </p:blipFill>
        <p:spPr>
          <a:xfrm>
            <a:off x="8468510" y="2202316"/>
            <a:ext cx="2840290" cy="2807006"/>
          </a:xfrm>
          <a:prstGeom prst="rect">
            <a:avLst/>
          </a:prstGeom>
        </p:spPr>
      </p:pic>
      <p:sp>
        <p:nvSpPr>
          <p:cNvPr id="23" name="TextBox 22">
            <a:extLst>
              <a:ext uri="{FF2B5EF4-FFF2-40B4-BE49-F238E27FC236}">
                <a16:creationId xmlns:a16="http://schemas.microsoft.com/office/drawing/2014/main" id="{647CBAB3-BD2F-A281-8E68-38110C28C6B0}"/>
              </a:ext>
            </a:extLst>
          </p:cNvPr>
          <p:cNvSpPr txBox="1"/>
          <p:nvPr/>
        </p:nvSpPr>
        <p:spPr>
          <a:xfrm>
            <a:off x="817679" y="5009322"/>
            <a:ext cx="2085892" cy="646331"/>
          </a:xfrm>
          <a:prstGeom prst="rect">
            <a:avLst/>
          </a:prstGeom>
          <a:noFill/>
        </p:spPr>
        <p:txBody>
          <a:bodyPr wrap="none" rtlCol="0">
            <a:spAutoFit/>
          </a:bodyPr>
          <a:lstStyle/>
          <a:p>
            <a:pPr algn="ctr"/>
            <a:r>
              <a:rPr lang="en-GB" dirty="0"/>
              <a:t>Superior cerebellar</a:t>
            </a:r>
          </a:p>
          <a:p>
            <a:pPr algn="ctr"/>
            <a:r>
              <a:rPr lang="en-GB" dirty="0"/>
              <a:t>peduncles</a:t>
            </a:r>
          </a:p>
        </p:txBody>
      </p:sp>
      <p:sp>
        <p:nvSpPr>
          <p:cNvPr id="24" name="TextBox 23">
            <a:extLst>
              <a:ext uri="{FF2B5EF4-FFF2-40B4-BE49-F238E27FC236}">
                <a16:creationId xmlns:a16="http://schemas.microsoft.com/office/drawing/2014/main" id="{A2E194C5-FEE5-D02F-9BE3-6FA933756E31}"/>
              </a:ext>
            </a:extLst>
          </p:cNvPr>
          <p:cNvSpPr txBox="1"/>
          <p:nvPr/>
        </p:nvSpPr>
        <p:spPr>
          <a:xfrm>
            <a:off x="4662949" y="5009321"/>
            <a:ext cx="1919180" cy="646331"/>
          </a:xfrm>
          <a:prstGeom prst="rect">
            <a:avLst/>
          </a:prstGeom>
          <a:noFill/>
        </p:spPr>
        <p:txBody>
          <a:bodyPr wrap="none" rtlCol="0">
            <a:spAutoFit/>
          </a:bodyPr>
          <a:lstStyle/>
          <a:p>
            <a:pPr algn="ctr"/>
            <a:r>
              <a:rPr lang="en-GB" dirty="0"/>
              <a:t>Middle cerebellar</a:t>
            </a:r>
          </a:p>
          <a:p>
            <a:pPr algn="ctr"/>
            <a:r>
              <a:rPr lang="en-GB" dirty="0"/>
              <a:t>peduncles</a:t>
            </a:r>
          </a:p>
        </p:txBody>
      </p:sp>
      <p:sp>
        <p:nvSpPr>
          <p:cNvPr id="25" name="TextBox 24">
            <a:extLst>
              <a:ext uri="{FF2B5EF4-FFF2-40B4-BE49-F238E27FC236}">
                <a16:creationId xmlns:a16="http://schemas.microsoft.com/office/drawing/2014/main" id="{F75E8C53-A4F5-1911-6E14-6133D5F75DC8}"/>
              </a:ext>
            </a:extLst>
          </p:cNvPr>
          <p:cNvSpPr txBox="1"/>
          <p:nvPr/>
        </p:nvSpPr>
        <p:spPr>
          <a:xfrm>
            <a:off x="8468510" y="5009321"/>
            <a:ext cx="1949894" cy="646331"/>
          </a:xfrm>
          <a:prstGeom prst="rect">
            <a:avLst/>
          </a:prstGeom>
          <a:noFill/>
        </p:spPr>
        <p:txBody>
          <a:bodyPr wrap="none" rtlCol="0">
            <a:spAutoFit/>
          </a:bodyPr>
          <a:lstStyle/>
          <a:p>
            <a:pPr algn="ctr"/>
            <a:r>
              <a:rPr lang="en-GB" dirty="0"/>
              <a:t>Inferior cerebellar</a:t>
            </a:r>
          </a:p>
          <a:p>
            <a:pPr algn="ctr"/>
            <a:r>
              <a:rPr lang="en-GB" dirty="0"/>
              <a:t>peduncles</a:t>
            </a:r>
          </a:p>
        </p:txBody>
      </p:sp>
    </p:spTree>
    <p:extLst>
      <p:ext uri="{BB962C8B-B14F-4D97-AF65-F5344CB8AC3E}">
        <p14:creationId xmlns:p14="http://schemas.microsoft.com/office/powerpoint/2010/main" val="22625876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92058-7282-6B61-E378-05908F2FFFF1}"/>
              </a:ext>
            </a:extLst>
          </p:cNvPr>
          <p:cNvSpPr>
            <a:spLocks noGrp="1"/>
          </p:cNvSpPr>
          <p:nvPr>
            <p:ph type="title"/>
          </p:nvPr>
        </p:nvSpPr>
        <p:spPr/>
        <p:txBody>
          <a:bodyPr/>
          <a:lstStyle/>
          <a:p>
            <a:r>
              <a:rPr lang="en-GB" dirty="0"/>
              <a:t>Cerebellar afferents: brain</a:t>
            </a:r>
          </a:p>
        </p:txBody>
      </p:sp>
      <p:sp>
        <p:nvSpPr>
          <p:cNvPr id="523" name="Content Placeholder 522">
            <a:extLst>
              <a:ext uri="{FF2B5EF4-FFF2-40B4-BE49-F238E27FC236}">
                <a16:creationId xmlns:a16="http://schemas.microsoft.com/office/drawing/2014/main" id="{F10ADA98-3B3C-F071-AF3D-FF25A2D2CF78}"/>
              </a:ext>
            </a:extLst>
          </p:cNvPr>
          <p:cNvSpPr>
            <a:spLocks noGrp="1"/>
          </p:cNvSpPr>
          <p:nvPr>
            <p:ph idx="1"/>
          </p:nvPr>
        </p:nvSpPr>
        <p:spPr/>
        <p:txBody>
          <a:bodyPr>
            <a:normAutofit/>
          </a:bodyPr>
          <a:lstStyle/>
          <a:p>
            <a:r>
              <a:rPr lang="en-GB" b="1" dirty="0" err="1"/>
              <a:t>Corticoponto</a:t>
            </a:r>
            <a:r>
              <a:rPr lang="en-GB" dirty="0" err="1"/>
              <a:t>cerebellar</a:t>
            </a:r>
            <a:endParaRPr lang="en-GB" dirty="0"/>
          </a:p>
          <a:p>
            <a:pPr lvl="1"/>
            <a:r>
              <a:rPr lang="en-GB" dirty="0"/>
              <a:t>From motor cortices and SSC to pontine nuclei and then to contralateral cerebellar lateral zones</a:t>
            </a:r>
          </a:p>
          <a:p>
            <a:r>
              <a:rPr lang="en-GB" b="1" dirty="0"/>
              <a:t>Olivo</a:t>
            </a:r>
            <a:r>
              <a:rPr lang="en-GB" dirty="0"/>
              <a:t>cerebellar</a:t>
            </a:r>
          </a:p>
          <a:p>
            <a:pPr lvl="1"/>
            <a:r>
              <a:rPr lang="en-GB" dirty="0"/>
              <a:t>Excited in the olives by projections from MC, basal ganglia, RF, and spinal cord</a:t>
            </a:r>
          </a:p>
          <a:p>
            <a:r>
              <a:rPr lang="en-GB" b="1" dirty="0" err="1"/>
              <a:t>Vestibulo</a:t>
            </a:r>
            <a:r>
              <a:rPr lang="en-GB" dirty="0" err="1"/>
              <a:t>cerebellar</a:t>
            </a:r>
            <a:endParaRPr lang="en-GB" dirty="0"/>
          </a:p>
          <a:p>
            <a:pPr lvl="1"/>
            <a:r>
              <a:rPr lang="en-GB" dirty="0"/>
              <a:t>Terminate in the fastigial nucleus and the flocculonodular lobe</a:t>
            </a:r>
          </a:p>
          <a:p>
            <a:r>
              <a:rPr lang="en-GB" b="1" dirty="0" err="1"/>
              <a:t>Reticulo</a:t>
            </a:r>
            <a:r>
              <a:rPr lang="en-GB" dirty="0" err="1"/>
              <a:t>cerebellar</a:t>
            </a:r>
            <a:endParaRPr lang="en-GB" dirty="0"/>
          </a:p>
          <a:p>
            <a:pPr lvl="1"/>
            <a:r>
              <a:rPr lang="en-GB" dirty="0"/>
              <a:t>Terminates mainly in the vermis</a:t>
            </a:r>
          </a:p>
        </p:txBody>
      </p:sp>
      <p:pic>
        <p:nvPicPr>
          <p:cNvPr id="521" name="Picture 520">
            <a:extLst>
              <a:ext uri="{FF2B5EF4-FFF2-40B4-BE49-F238E27FC236}">
                <a16:creationId xmlns:a16="http://schemas.microsoft.com/office/drawing/2014/main" id="{F4C6B009-9EE5-FD43-E606-E21FE7D8372C}"/>
              </a:ext>
            </a:extLst>
          </p:cNvPr>
          <p:cNvPicPr>
            <a:picLocks noChangeAspect="1"/>
          </p:cNvPicPr>
          <p:nvPr/>
        </p:nvPicPr>
        <p:blipFill>
          <a:blip r:embed="rId2"/>
          <a:stretch>
            <a:fillRect/>
          </a:stretch>
        </p:blipFill>
        <p:spPr>
          <a:xfrm>
            <a:off x="6096000" y="1518202"/>
            <a:ext cx="5731566" cy="4298674"/>
          </a:xfrm>
          <a:prstGeom prst="rect">
            <a:avLst/>
          </a:prstGeom>
        </p:spPr>
      </p:pic>
    </p:spTree>
    <p:extLst>
      <p:ext uri="{BB962C8B-B14F-4D97-AF65-F5344CB8AC3E}">
        <p14:creationId xmlns:p14="http://schemas.microsoft.com/office/powerpoint/2010/main" val="2276689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A3890-051D-D71C-901A-656DC11507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509C03-5790-BB5A-9570-8B7963556DEC}"/>
              </a:ext>
            </a:extLst>
          </p:cNvPr>
          <p:cNvSpPr>
            <a:spLocks noGrp="1"/>
          </p:cNvSpPr>
          <p:nvPr>
            <p:ph type="title"/>
          </p:nvPr>
        </p:nvSpPr>
        <p:spPr/>
        <p:txBody>
          <a:bodyPr/>
          <a:lstStyle/>
          <a:p>
            <a:r>
              <a:rPr lang="en-GB" dirty="0"/>
              <a:t>Cerebellar afferents: body</a:t>
            </a:r>
          </a:p>
        </p:txBody>
      </p:sp>
      <p:sp>
        <p:nvSpPr>
          <p:cNvPr id="3" name="Content Placeholder 2">
            <a:extLst>
              <a:ext uri="{FF2B5EF4-FFF2-40B4-BE49-F238E27FC236}">
                <a16:creationId xmlns:a16="http://schemas.microsoft.com/office/drawing/2014/main" id="{E406B657-6D2F-B51F-CB4C-EFE148723ADC}"/>
              </a:ext>
            </a:extLst>
          </p:cNvPr>
          <p:cNvSpPr>
            <a:spLocks noGrp="1"/>
          </p:cNvSpPr>
          <p:nvPr>
            <p:ph idx="1"/>
          </p:nvPr>
        </p:nvSpPr>
        <p:spPr/>
        <p:txBody>
          <a:bodyPr>
            <a:normAutofit/>
          </a:bodyPr>
          <a:lstStyle/>
          <a:p>
            <a:r>
              <a:rPr lang="en-GB" dirty="0"/>
              <a:t>Dorsal </a:t>
            </a:r>
            <a:r>
              <a:rPr lang="en-GB" b="1" dirty="0"/>
              <a:t>spino</a:t>
            </a:r>
            <a:r>
              <a:rPr lang="en-GB" dirty="0"/>
              <a:t>cerebellar tract</a:t>
            </a:r>
          </a:p>
          <a:p>
            <a:pPr lvl="1"/>
            <a:r>
              <a:rPr lang="en-GB" dirty="0"/>
              <a:t>Signals from muscle spindles, </a:t>
            </a:r>
            <a:r>
              <a:rPr lang="en-GB" dirty="0" err="1"/>
              <a:t>golgi</a:t>
            </a:r>
            <a:r>
              <a:rPr lang="en-GB" dirty="0"/>
              <a:t> tendons organs, skin tactile receptors, joint receptors</a:t>
            </a:r>
          </a:p>
          <a:p>
            <a:r>
              <a:rPr lang="en-GB" dirty="0"/>
              <a:t>Ventral </a:t>
            </a:r>
            <a:r>
              <a:rPr lang="en-GB" b="1" dirty="0"/>
              <a:t>spino</a:t>
            </a:r>
            <a:r>
              <a:rPr lang="en-GB" dirty="0"/>
              <a:t>cerebellar tract</a:t>
            </a:r>
          </a:p>
          <a:p>
            <a:pPr lvl="1"/>
            <a:r>
              <a:rPr lang="en-GB" dirty="0"/>
              <a:t>Corticospinal and rubrospinal tracts collaterals</a:t>
            </a:r>
          </a:p>
          <a:p>
            <a:pPr lvl="1"/>
            <a:r>
              <a:rPr lang="en-GB" dirty="0"/>
              <a:t>Ventral horns of the spinal cord motor pathways - </a:t>
            </a:r>
            <a:r>
              <a:rPr lang="en-GB" i="1" dirty="0"/>
              <a:t>efference copy of the anterior horn motor drive</a:t>
            </a:r>
            <a:endParaRPr lang="en-GB" dirty="0"/>
          </a:p>
          <a:p>
            <a:r>
              <a:rPr lang="en-GB" dirty="0"/>
              <a:t>Dorsal columns nuclei of the </a:t>
            </a:r>
            <a:r>
              <a:rPr lang="en-GB" b="1" dirty="0"/>
              <a:t>medulla</a:t>
            </a:r>
            <a:r>
              <a:rPr lang="en-GB" dirty="0"/>
              <a:t> (cuneatus and </a:t>
            </a:r>
            <a:r>
              <a:rPr lang="en-GB" dirty="0" err="1"/>
              <a:t>gracilis</a:t>
            </a:r>
            <a:r>
              <a:rPr lang="en-GB" dirty="0"/>
              <a:t>)</a:t>
            </a:r>
          </a:p>
          <a:p>
            <a:r>
              <a:rPr lang="en-GB" dirty="0" err="1"/>
              <a:t>Spinoreticular</a:t>
            </a:r>
            <a:r>
              <a:rPr lang="en-GB" dirty="0"/>
              <a:t> and </a:t>
            </a:r>
            <a:r>
              <a:rPr lang="en-GB" dirty="0" err="1"/>
              <a:t>spino</a:t>
            </a:r>
            <a:r>
              <a:rPr lang="en-GB" dirty="0"/>
              <a:t>-olivary pathways (relayed in the reticular formation and the olive)</a:t>
            </a:r>
          </a:p>
        </p:txBody>
      </p:sp>
      <p:pic>
        <p:nvPicPr>
          <p:cNvPr id="17" name="Picture 16">
            <a:extLst>
              <a:ext uri="{FF2B5EF4-FFF2-40B4-BE49-F238E27FC236}">
                <a16:creationId xmlns:a16="http://schemas.microsoft.com/office/drawing/2014/main" id="{7B56BF8F-40D7-7297-BE6C-9FB3DF525C90}"/>
              </a:ext>
            </a:extLst>
          </p:cNvPr>
          <p:cNvPicPr>
            <a:picLocks noChangeAspect="1"/>
          </p:cNvPicPr>
          <p:nvPr/>
        </p:nvPicPr>
        <p:blipFill>
          <a:blip r:embed="rId2"/>
          <a:stretch>
            <a:fillRect/>
          </a:stretch>
        </p:blipFill>
        <p:spPr>
          <a:xfrm>
            <a:off x="6096000" y="1518202"/>
            <a:ext cx="5731566" cy="4298674"/>
          </a:xfrm>
          <a:prstGeom prst="rect">
            <a:avLst/>
          </a:prstGeom>
        </p:spPr>
      </p:pic>
    </p:spTree>
    <p:extLst>
      <p:ext uri="{BB962C8B-B14F-4D97-AF65-F5344CB8AC3E}">
        <p14:creationId xmlns:p14="http://schemas.microsoft.com/office/powerpoint/2010/main" val="2813751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Micrograph of a rat cerebellum">
            <a:extLst>
              <a:ext uri="{FF2B5EF4-FFF2-40B4-BE49-F238E27FC236}">
                <a16:creationId xmlns:a16="http://schemas.microsoft.com/office/drawing/2014/main" id="{F8D39273-6478-92A4-9195-1B8AA5A4DE5B}"/>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7366" b="17366"/>
          <a:stretch>
            <a:fillRect/>
          </a:stretch>
        </p:blipFill>
        <p:spPr bwMode="auto">
          <a:xfrm>
            <a:off x="0" y="0"/>
            <a:ext cx="12265632"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5F61132-1E48-E9C4-CEB4-FA8E560DAA91}"/>
              </a:ext>
            </a:extLst>
          </p:cNvPr>
          <p:cNvSpPr>
            <a:spLocks noGrp="1"/>
          </p:cNvSpPr>
          <p:nvPr>
            <p:ph type="title"/>
          </p:nvPr>
        </p:nvSpPr>
        <p:spPr>
          <a:xfrm>
            <a:off x="2132845" y="2959446"/>
            <a:ext cx="10515600" cy="1325563"/>
          </a:xfrm>
        </p:spPr>
        <p:txBody>
          <a:bodyPr/>
          <a:lstStyle/>
          <a:p>
            <a:r>
              <a:rPr lang="en-GB" dirty="0">
                <a:solidFill>
                  <a:schemeClr val="bg1"/>
                </a:solidFill>
              </a:rPr>
              <a:t>Cells of the cerebellum</a:t>
            </a:r>
          </a:p>
        </p:txBody>
      </p:sp>
    </p:spTree>
    <p:extLst>
      <p:ext uri="{BB962C8B-B14F-4D97-AF65-F5344CB8AC3E}">
        <p14:creationId xmlns:p14="http://schemas.microsoft.com/office/powerpoint/2010/main" val="228987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5EC14-CE33-0848-E3A3-5D0D693AE278}"/>
              </a:ext>
            </a:extLst>
          </p:cNvPr>
          <p:cNvSpPr>
            <a:spLocks noGrp="1"/>
          </p:cNvSpPr>
          <p:nvPr>
            <p:ph type="title"/>
          </p:nvPr>
        </p:nvSpPr>
        <p:spPr/>
        <p:txBody>
          <a:bodyPr/>
          <a:lstStyle/>
          <a:p>
            <a:r>
              <a:rPr lang="en-GB" dirty="0"/>
              <a:t>Neuronal circuitry: Purkinje cells</a:t>
            </a:r>
          </a:p>
        </p:txBody>
      </p:sp>
      <p:sp>
        <p:nvSpPr>
          <p:cNvPr id="3" name="Content Placeholder 2">
            <a:extLst>
              <a:ext uri="{FF2B5EF4-FFF2-40B4-BE49-F238E27FC236}">
                <a16:creationId xmlns:a16="http://schemas.microsoft.com/office/drawing/2014/main" id="{FE297077-EEC7-C0CC-B54A-1B393A1566BE}"/>
              </a:ext>
            </a:extLst>
          </p:cNvPr>
          <p:cNvSpPr>
            <a:spLocks noGrp="1"/>
          </p:cNvSpPr>
          <p:nvPr>
            <p:ph idx="1"/>
          </p:nvPr>
        </p:nvSpPr>
        <p:spPr/>
        <p:txBody>
          <a:bodyPr/>
          <a:lstStyle/>
          <a:p>
            <a:endParaRPr lang="en-GB"/>
          </a:p>
        </p:txBody>
      </p:sp>
      <p:pic>
        <p:nvPicPr>
          <p:cNvPr id="2050" name="Picture 2">
            <a:extLst>
              <a:ext uri="{FF2B5EF4-FFF2-40B4-BE49-F238E27FC236}">
                <a16:creationId xmlns:a16="http://schemas.microsoft.com/office/drawing/2014/main" id="{83C7078A-1510-AAD9-EE9A-BBEEE70623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9460" y="1020555"/>
            <a:ext cx="3757152" cy="547232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urkinje nerve cell, light micrograph">
            <a:extLst>
              <a:ext uri="{FF2B5EF4-FFF2-40B4-BE49-F238E27FC236}">
                <a16:creationId xmlns:a16="http://schemas.microsoft.com/office/drawing/2014/main" id="{4C436F65-5FE8-CF94-DBF1-08FF9629A1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6944" y="1134210"/>
            <a:ext cx="4726856" cy="5332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35718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92B3B-574A-1B6A-7DFC-C78903B49B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DDEB57-4CDA-1C8C-6B55-E22FE9F1D49B}"/>
              </a:ext>
            </a:extLst>
          </p:cNvPr>
          <p:cNvSpPr>
            <a:spLocks noGrp="1"/>
          </p:cNvSpPr>
          <p:nvPr>
            <p:ph type="title"/>
          </p:nvPr>
        </p:nvSpPr>
        <p:spPr/>
        <p:txBody>
          <a:bodyPr/>
          <a:lstStyle/>
          <a:p>
            <a:r>
              <a:rPr lang="en-GB" dirty="0"/>
              <a:t>Neuronal circuitry </a:t>
            </a:r>
          </a:p>
        </p:txBody>
      </p:sp>
      <p:sp>
        <p:nvSpPr>
          <p:cNvPr id="2109" name="TextBox 2108">
            <a:extLst>
              <a:ext uri="{FF2B5EF4-FFF2-40B4-BE49-F238E27FC236}">
                <a16:creationId xmlns:a16="http://schemas.microsoft.com/office/drawing/2014/main" id="{EF7F4939-A85E-6971-0826-BFD3B073DC24}"/>
              </a:ext>
            </a:extLst>
          </p:cNvPr>
          <p:cNvSpPr txBox="1"/>
          <p:nvPr/>
        </p:nvSpPr>
        <p:spPr>
          <a:xfrm>
            <a:off x="1267071" y="6308209"/>
            <a:ext cx="9337020" cy="461665"/>
          </a:xfrm>
          <a:prstGeom prst="rect">
            <a:avLst/>
          </a:prstGeom>
          <a:noFill/>
        </p:spPr>
        <p:txBody>
          <a:bodyPr wrap="square" rtlCol="0">
            <a:spAutoFit/>
          </a:bodyPr>
          <a:lstStyle/>
          <a:p>
            <a:pPr algn="ctr"/>
            <a:r>
              <a:rPr lang="en-GB" sz="2400" dirty="0"/>
              <a:t>30 million repeated functional units along the cerebellum</a:t>
            </a:r>
          </a:p>
        </p:txBody>
      </p:sp>
      <p:pic>
        <p:nvPicPr>
          <p:cNvPr id="2111" name="Picture 2110">
            <a:extLst>
              <a:ext uri="{FF2B5EF4-FFF2-40B4-BE49-F238E27FC236}">
                <a16:creationId xmlns:a16="http://schemas.microsoft.com/office/drawing/2014/main" id="{EE67B7E0-93A2-BCD9-8125-EDBBB15C3C77}"/>
              </a:ext>
            </a:extLst>
          </p:cNvPr>
          <p:cNvPicPr>
            <a:picLocks noChangeAspect="1"/>
          </p:cNvPicPr>
          <p:nvPr/>
        </p:nvPicPr>
        <p:blipFill>
          <a:blip r:embed="rId2"/>
          <a:stretch>
            <a:fillRect/>
          </a:stretch>
        </p:blipFill>
        <p:spPr>
          <a:xfrm>
            <a:off x="163556" y="1443945"/>
            <a:ext cx="6044599" cy="4464833"/>
          </a:xfrm>
          <a:prstGeom prst="rect">
            <a:avLst/>
          </a:prstGeom>
        </p:spPr>
      </p:pic>
      <p:pic>
        <p:nvPicPr>
          <p:cNvPr id="7170" name="Picture 2">
            <a:extLst>
              <a:ext uri="{FF2B5EF4-FFF2-40B4-BE49-F238E27FC236}">
                <a16:creationId xmlns:a16="http://schemas.microsoft.com/office/drawing/2014/main" id="{88038609-9391-75A9-32D5-E9A96EAEDB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3132" y="2163164"/>
            <a:ext cx="5362663" cy="37456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01856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97316-DFB0-BC68-4096-B50F0E8AE3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B879B5-D06B-A27D-1266-6D2C2DBE0B52}"/>
              </a:ext>
            </a:extLst>
          </p:cNvPr>
          <p:cNvSpPr>
            <a:spLocks noGrp="1"/>
          </p:cNvSpPr>
          <p:nvPr>
            <p:ph type="title"/>
          </p:nvPr>
        </p:nvSpPr>
        <p:spPr/>
        <p:txBody>
          <a:bodyPr/>
          <a:lstStyle/>
          <a:p>
            <a:r>
              <a:rPr lang="en-GB" dirty="0"/>
              <a:t>Neuronal circuitry </a:t>
            </a:r>
          </a:p>
        </p:txBody>
      </p:sp>
      <p:pic>
        <p:nvPicPr>
          <p:cNvPr id="43" name="Content Placeholder 42">
            <a:extLst>
              <a:ext uri="{FF2B5EF4-FFF2-40B4-BE49-F238E27FC236}">
                <a16:creationId xmlns:a16="http://schemas.microsoft.com/office/drawing/2014/main" id="{330BB8E7-9F20-AE54-385C-BDB118910028}"/>
              </a:ext>
            </a:extLst>
          </p:cNvPr>
          <p:cNvPicPr>
            <a:picLocks noGrp="1" noChangeAspect="1"/>
          </p:cNvPicPr>
          <p:nvPr>
            <p:ph idx="1"/>
          </p:nvPr>
        </p:nvPicPr>
        <p:blipFill>
          <a:blip r:embed="rId2"/>
          <a:stretch>
            <a:fillRect/>
          </a:stretch>
        </p:blipFill>
        <p:spPr>
          <a:xfrm>
            <a:off x="285750" y="1931512"/>
            <a:ext cx="5810250" cy="3837939"/>
          </a:xfrm>
          <a:prstGeom prst="rect">
            <a:avLst/>
          </a:prstGeom>
        </p:spPr>
      </p:pic>
      <p:sp>
        <p:nvSpPr>
          <p:cNvPr id="3" name="Content Placeholder 2">
            <a:extLst>
              <a:ext uri="{FF2B5EF4-FFF2-40B4-BE49-F238E27FC236}">
                <a16:creationId xmlns:a16="http://schemas.microsoft.com/office/drawing/2014/main" id="{B88E9080-00FF-D79F-839F-F95DC08FCD5D}"/>
              </a:ext>
            </a:extLst>
          </p:cNvPr>
          <p:cNvSpPr>
            <a:spLocks noGrp="1"/>
          </p:cNvSpPr>
          <p:nvPr>
            <p:ph sz="half" idx="4294967295"/>
          </p:nvPr>
        </p:nvSpPr>
        <p:spPr>
          <a:xfrm>
            <a:off x="6418263" y="1279525"/>
            <a:ext cx="5773737" cy="5213350"/>
          </a:xfrm>
        </p:spPr>
        <p:txBody>
          <a:bodyPr>
            <a:normAutofit lnSpcReduction="10000"/>
          </a:bodyPr>
          <a:lstStyle/>
          <a:p>
            <a:pPr marL="0" indent="0">
              <a:buNone/>
            </a:pPr>
            <a:r>
              <a:rPr lang="en-GB" sz="2400" b="1" u="sng" dirty="0"/>
              <a:t>Input cells:</a:t>
            </a:r>
          </a:p>
          <a:p>
            <a:r>
              <a:rPr lang="en-GB" sz="2400" dirty="0"/>
              <a:t>Purkinje cells - PC, inhibitory</a:t>
            </a:r>
          </a:p>
          <a:p>
            <a:r>
              <a:rPr lang="en-GB" sz="2400" dirty="0"/>
              <a:t>Granule cells - GC, excitatory</a:t>
            </a:r>
          </a:p>
          <a:p>
            <a:endParaRPr lang="en-GB" sz="2400" dirty="0"/>
          </a:p>
          <a:p>
            <a:pPr marL="0" indent="0">
              <a:buNone/>
            </a:pPr>
            <a:r>
              <a:rPr lang="en-GB" sz="2400" b="1" u="sng" dirty="0"/>
              <a:t>Output cells:</a:t>
            </a:r>
          </a:p>
          <a:p>
            <a:r>
              <a:rPr lang="en-GB" sz="2400" dirty="0"/>
              <a:t>Deep nuclei cells - DNC, excitatory</a:t>
            </a:r>
          </a:p>
          <a:p>
            <a:endParaRPr lang="en-GB" sz="2400" dirty="0"/>
          </a:p>
          <a:p>
            <a:pPr marL="0" indent="0">
              <a:buNone/>
            </a:pPr>
            <a:r>
              <a:rPr lang="en-GB" sz="2400" b="1" u="sng" dirty="0"/>
              <a:t>Projections (excitatory):</a:t>
            </a:r>
          </a:p>
          <a:p>
            <a:r>
              <a:rPr lang="en-GB" sz="2400" dirty="0"/>
              <a:t>Climbing </a:t>
            </a:r>
            <a:r>
              <a:rPr lang="en-GB" sz="2400" dirty="0" err="1"/>
              <a:t>fibers</a:t>
            </a:r>
            <a:r>
              <a:rPr lang="en-GB" sz="2400" dirty="0"/>
              <a:t> - CF (medulla’s inferior olives)</a:t>
            </a:r>
          </a:p>
          <a:p>
            <a:r>
              <a:rPr lang="en-GB" sz="2400" dirty="0"/>
              <a:t>Mossy </a:t>
            </a:r>
            <a:r>
              <a:rPr lang="en-GB" sz="2400" dirty="0" err="1"/>
              <a:t>fibers</a:t>
            </a:r>
            <a:r>
              <a:rPr lang="en-GB" sz="2400" dirty="0"/>
              <a:t> - MF (brain, brainstem, spinal cord)</a:t>
            </a:r>
          </a:p>
          <a:p>
            <a:r>
              <a:rPr lang="en-GB" sz="2400" dirty="0"/>
              <a:t>Parallel </a:t>
            </a:r>
            <a:r>
              <a:rPr lang="en-GB" sz="2400" dirty="0" err="1"/>
              <a:t>fibers</a:t>
            </a:r>
            <a:r>
              <a:rPr lang="en-GB" sz="2400" dirty="0"/>
              <a:t> - PF (from granule cells)</a:t>
            </a:r>
          </a:p>
          <a:p>
            <a:endParaRPr lang="en-GB" sz="2400" dirty="0"/>
          </a:p>
          <a:p>
            <a:endParaRPr lang="en-GB" sz="2400" dirty="0"/>
          </a:p>
          <a:p>
            <a:endParaRPr lang="en-GB" sz="2400" dirty="0"/>
          </a:p>
        </p:txBody>
      </p:sp>
      <p:pic>
        <p:nvPicPr>
          <p:cNvPr id="2108" name="Picture 2107">
            <a:extLst>
              <a:ext uri="{FF2B5EF4-FFF2-40B4-BE49-F238E27FC236}">
                <a16:creationId xmlns:a16="http://schemas.microsoft.com/office/drawing/2014/main" id="{7CF961B5-F85B-00FF-7816-DE2CA0B387FF}"/>
              </a:ext>
            </a:extLst>
          </p:cNvPr>
          <p:cNvPicPr>
            <a:picLocks noChangeAspect="1"/>
          </p:cNvPicPr>
          <p:nvPr/>
        </p:nvPicPr>
        <p:blipFill>
          <a:blip r:embed="rId3"/>
          <a:stretch>
            <a:fillRect/>
          </a:stretch>
        </p:blipFill>
        <p:spPr>
          <a:xfrm>
            <a:off x="6048233" y="3379341"/>
            <a:ext cx="95534" cy="99317"/>
          </a:xfrm>
          <a:prstGeom prst="rect">
            <a:avLst/>
          </a:prstGeom>
        </p:spPr>
      </p:pic>
    </p:spTree>
    <p:extLst>
      <p:ext uri="{BB962C8B-B14F-4D97-AF65-F5344CB8AC3E}">
        <p14:creationId xmlns:p14="http://schemas.microsoft.com/office/powerpoint/2010/main" val="3118042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AEFB5-CFDC-4A22-5587-5BC792E8B3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7A755-AE3B-CB5A-B127-0CFE9E334363}"/>
              </a:ext>
            </a:extLst>
          </p:cNvPr>
          <p:cNvSpPr>
            <a:spLocks noGrp="1"/>
          </p:cNvSpPr>
          <p:nvPr>
            <p:ph type="title"/>
          </p:nvPr>
        </p:nvSpPr>
        <p:spPr/>
        <p:txBody>
          <a:bodyPr/>
          <a:lstStyle/>
          <a:p>
            <a:r>
              <a:rPr lang="en-GB" dirty="0"/>
              <a:t>Neuronal circuitry </a:t>
            </a:r>
          </a:p>
        </p:txBody>
      </p:sp>
      <p:pic>
        <p:nvPicPr>
          <p:cNvPr id="10" name="Content Placeholder 42">
            <a:extLst>
              <a:ext uri="{FF2B5EF4-FFF2-40B4-BE49-F238E27FC236}">
                <a16:creationId xmlns:a16="http://schemas.microsoft.com/office/drawing/2014/main" id="{1549FCDE-E85E-8A42-3CED-48E4271904FC}"/>
              </a:ext>
            </a:extLst>
          </p:cNvPr>
          <p:cNvPicPr>
            <a:picLocks noGrp="1" noChangeAspect="1"/>
          </p:cNvPicPr>
          <p:nvPr>
            <p:ph idx="1"/>
          </p:nvPr>
        </p:nvPicPr>
        <p:blipFill>
          <a:blip r:embed="rId2"/>
          <a:stretch>
            <a:fillRect/>
          </a:stretch>
        </p:blipFill>
        <p:spPr>
          <a:xfrm>
            <a:off x="285750" y="1931512"/>
            <a:ext cx="5810250" cy="3837939"/>
          </a:xfrm>
          <a:prstGeom prst="rect">
            <a:avLst/>
          </a:prstGeom>
        </p:spPr>
      </p:pic>
      <p:sp>
        <p:nvSpPr>
          <p:cNvPr id="3" name="Content Placeholder 2">
            <a:extLst>
              <a:ext uri="{FF2B5EF4-FFF2-40B4-BE49-F238E27FC236}">
                <a16:creationId xmlns:a16="http://schemas.microsoft.com/office/drawing/2014/main" id="{00ED0F83-4047-A47C-213D-58987467E993}"/>
              </a:ext>
            </a:extLst>
          </p:cNvPr>
          <p:cNvSpPr>
            <a:spLocks noGrp="1"/>
          </p:cNvSpPr>
          <p:nvPr>
            <p:ph sz="half" idx="4294967295"/>
          </p:nvPr>
        </p:nvSpPr>
        <p:spPr>
          <a:xfrm>
            <a:off x="6418263" y="1279525"/>
            <a:ext cx="5773737" cy="4987925"/>
          </a:xfrm>
        </p:spPr>
        <p:txBody>
          <a:bodyPr>
            <a:normAutofit/>
          </a:bodyPr>
          <a:lstStyle/>
          <a:p>
            <a:pPr marL="0" indent="0">
              <a:buNone/>
            </a:pPr>
            <a:r>
              <a:rPr lang="en-GB" sz="2400" b="1" u="sng" dirty="0"/>
              <a:t>Synapses:</a:t>
            </a:r>
          </a:p>
          <a:p>
            <a:pPr marL="457200" indent="-457200">
              <a:buFont typeface="+mj-lt"/>
              <a:buAutoNum type="arabicPeriod"/>
            </a:pPr>
            <a:r>
              <a:rPr lang="en-GB" sz="2400" dirty="0"/>
              <a:t>CF </a:t>
            </a:r>
            <a:r>
              <a:rPr lang="en-GB" sz="2400" dirty="0">
                <a:sym typeface="Wingdings" panose="05000000000000000000" pitchFamily="2" charset="2"/>
              </a:rPr>
              <a:t> PC - Strong input (300 synapses/CF/PC, causing complex firing)</a:t>
            </a:r>
          </a:p>
          <a:p>
            <a:pPr marL="457200" indent="-457200">
              <a:buFont typeface="+mj-lt"/>
              <a:buAutoNum type="arabicPeriod"/>
            </a:pPr>
            <a:r>
              <a:rPr lang="en-GB" sz="2400" dirty="0">
                <a:sym typeface="Wingdings" panose="05000000000000000000" pitchFamily="2" charset="2"/>
              </a:rPr>
              <a:t>MF  GC</a:t>
            </a:r>
          </a:p>
          <a:p>
            <a:pPr marL="457200" indent="-457200">
              <a:buFont typeface="+mj-lt"/>
              <a:buAutoNum type="arabicPeriod"/>
            </a:pPr>
            <a:r>
              <a:rPr lang="en-GB" sz="2400" dirty="0">
                <a:sym typeface="Wingdings" panose="05000000000000000000" pitchFamily="2" charset="2"/>
              </a:rPr>
              <a:t>PF  PC - Weaker inputs but numerous (80000-20000 PF connect to 1 PC, causes simple firing)</a:t>
            </a:r>
          </a:p>
          <a:p>
            <a:pPr marL="457200" indent="-457200">
              <a:buFont typeface="+mj-lt"/>
              <a:buAutoNum type="arabicPeriod"/>
            </a:pPr>
            <a:r>
              <a:rPr lang="en-GB" sz="2400" dirty="0">
                <a:sym typeface="Wingdings" panose="05000000000000000000" pitchFamily="2" charset="2"/>
              </a:rPr>
              <a:t>CF  DNC</a:t>
            </a:r>
          </a:p>
          <a:p>
            <a:pPr marL="457200" indent="-457200">
              <a:buFont typeface="+mj-lt"/>
              <a:buAutoNum type="arabicPeriod"/>
            </a:pPr>
            <a:r>
              <a:rPr lang="en-GB" sz="2400" dirty="0">
                <a:sym typeface="Wingdings" panose="05000000000000000000" pitchFamily="2" charset="2"/>
              </a:rPr>
              <a:t>MF  DNC</a:t>
            </a:r>
          </a:p>
          <a:p>
            <a:pPr marL="457200" indent="-457200">
              <a:buFont typeface="+mj-lt"/>
              <a:buAutoNum type="arabicPeriod"/>
            </a:pPr>
            <a:r>
              <a:rPr lang="en-GB" sz="2400" dirty="0">
                <a:sym typeface="Wingdings" panose="05000000000000000000" pitchFamily="2" charset="2"/>
              </a:rPr>
              <a:t>PC  DNC - </a:t>
            </a:r>
            <a:r>
              <a:rPr lang="en-GB" sz="2400" b="1" dirty="0">
                <a:sym typeface="Wingdings" panose="05000000000000000000" pitchFamily="2" charset="2"/>
              </a:rPr>
              <a:t>Inhibitory</a:t>
            </a:r>
          </a:p>
          <a:p>
            <a:endParaRPr lang="en-GB" sz="2400" dirty="0"/>
          </a:p>
          <a:p>
            <a:endParaRPr lang="en-GB" sz="2400" dirty="0"/>
          </a:p>
          <a:p>
            <a:endParaRPr lang="en-GB" sz="2400" dirty="0"/>
          </a:p>
        </p:txBody>
      </p:sp>
      <p:pic>
        <p:nvPicPr>
          <p:cNvPr id="2108" name="Picture 2107">
            <a:extLst>
              <a:ext uri="{FF2B5EF4-FFF2-40B4-BE49-F238E27FC236}">
                <a16:creationId xmlns:a16="http://schemas.microsoft.com/office/drawing/2014/main" id="{2CD3B723-A97B-0018-E6C8-CB13AF7D6799}"/>
              </a:ext>
            </a:extLst>
          </p:cNvPr>
          <p:cNvPicPr>
            <a:picLocks noChangeAspect="1"/>
          </p:cNvPicPr>
          <p:nvPr/>
        </p:nvPicPr>
        <p:blipFill>
          <a:blip r:embed="rId3"/>
          <a:stretch>
            <a:fillRect/>
          </a:stretch>
        </p:blipFill>
        <p:spPr>
          <a:xfrm>
            <a:off x="6048233" y="3379341"/>
            <a:ext cx="95534" cy="99317"/>
          </a:xfrm>
          <a:prstGeom prst="rect">
            <a:avLst/>
          </a:prstGeom>
        </p:spPr>
      </p:pic>
      <p:sp>
        <p:nvSpPr>
          <p:cNvPr id="11" name="Oval 10">
            <a:extLst>
              <a:ext uri="{FF2B5EF4-FFF2-40B4-BE49-F238E27FC236}">
                <a16:creationId xmlns:a16="http://schemas.microsoft.com/office/drawing/2014/main" id="{CACBA2E9-10F3-46C6-007F-9522D5D2B352}"/>
              </a:ext>
            </a:extLst>
          </p:cNvPr>
          <p:cNvSpPr/>
          <p:nvPr/>
        </p:nvSpPr>
        <p:spPr>
          <a:xfrm>
            <a:off x="1261310" y="2137507"/>
            <a:ext cx="253496" cy="25349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1</a:t>
            </a:r>
          </a:p>
        </p:txBody>
      </p:sp>
      <p:sp>
        <p:nvSpPr>
          <p:cNvPr id="12" name="Oval 11">
            <a:extLst>
              <a:ext uri="{FF2B5EF4-FFF2-40B4-BE49-F238E27FC236}">
                <a16:creationId xmlns:a16="http://schemas.microsoft.com/office/drawing/2014/main" id="{03C105F1-FC31-4505-4E8D-CE30A79F201E}"/>
              </a:ext>
            </a:extLst>
          </p:cNvPr>
          <p:cNvSpPr/>
          <p:nvPr/>
        </p:nvSpPr>
        <p:spPr>
          <a:xfrm>
            <a:off x="1469020" y="4165988"/>
            <a:ext cx="253496" cy="25349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4</a:t>
            </a:r>
          </a:p>
        </p:txBody>
      </p:sp>
      <p:sp>
        <p:nvSpPr>
          <p:cNvPr id="13" name="Oval 12">
            <a:extLst>
              <a:ext uri="{FF2B5EF4-FFF2-40B4-BE49-F238E27FC236}">
                <a16:creationId xmlns:a16="http://schemas.microsoft.com/office/drawing/2014/main" id="{64E010A2-7E3E-4F3E-27F9-4C87178DBCC6}"/>
              </a:ext>
            </a:extLst>
          </p:cNvPr>
          <p:cNvSpPr/>
          <p:nvPr/>
        </p:nvSpPr>
        <p:spPr>
          <a:xfrm>
            <a:off x="3350980" y="3428999"/>
            <a:ext cx="253496" cy="25349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2</a:t>
            </a:r>
          </a:p>
        </p:txBody>
      </p:sp>
      <p:sp>
        <p:nvSpPr>
          <p:cNvPr id="14" name="Oval 13">
            <a:extLst>
              <a:ext uri="{FF2B5EF4-FFF2-40B4-BE49-F238E27FC236}">
                <a16:creationId xmlns:a16="http://schemas.microsoft.com/office/drawing/2014/main" id="{3DF19A53-ACC8-553D-9B01-6FBF72AD88FD}"/>
              </a:ext>
            </a:extLst>
          </p:cNvPr>
          <p:cNvSpPr/>
          <p:nvPr/>
        </p:nvSpPr>
        <p:spPr>
          <a:xfrm>
            <a:off x="2161091" y="2137507"/>
            <a:ext cx="253496" cy="25349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3</a:t>
            </a:r>
          </a:p>
        </p:txBody>
      </p:sp>
      <p:sp>
        <p:nvSpPr>
          <p:cNvPr id="15" name="Oval 14">
            <a:extLst>
              <a:ext uri="{FF2B5EF4-FFF2-40B4-BE49-F238E27FC236}">
                <a16:creationId xmlns:a16="http://schemas.microsoft.com/office/drawing/2014/main" id="{C196B102-9B6A-FB3C-3B8E-A2B0205CB417}"/>
              </a:ext>
            </a:extLst>
          </p:cNvPr>
          <p:cNvSpPr/>
          <p:nvPr/>
        </p:nvSpPr>
        <p:spPr>
          <a:xfrm>
            <a:off x="1595768" y="3596985"/>
            <a:ext cx="253496" cy="25349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6</a:t>
            </a:r>
          </a:p>
        </p:txBody>
      </p:sp>
      <p:sp>
        <p:nvSpPr>
          <p:cNvPr id="4" name="Oval 3">
            <a:extLst>
              <a:ext uri="{FF2B5EF4-FFF2-40B4-BE49-F238E27FC236}">
                <a16:creationId xmlns:a16="http://schemas.microsoft.com/office/drawing/2014/main" id="{C5C61ED4-6501-E209-8037-3BC9F1EA07EA}"/>
              </a:ext>
            </a:extLst>
          </p:cNvPr>
          <p:cNvSpPr/>
          <p:nvPr/>
        </p:nvSpPr>
        <p:spPr>
          <a:xfrm>
            <a:off x="2082440" y="3912492"/>
            <a:ext cx="253496" cy="25349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5</a:t>
            </a:r>
          </a:p>
        </p:txBody>
      </p:sp>
    </p:spTree>
    <p:extLst>
      <p:ext uri="{BB962C8B-B14F-4D97-AF65-F5344CB8AC3E}">
        <p14:creationId xmlns:p14="http://schemas.microsoft.com/office/powerpoint/2010/main" val="16781083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D5699-671C-1488-A65F-879E949CAD14}"/>
              </a:ext>
            </a:extLst>
          </p:cNvPr>
          <p:cNvSpPr>
            <a:spLocks noGrp="1"/>
          </p:cNvSpPr>
          <p:nvPr>
            <p:ph type="title"/>
          </p:nvPr>
        </p:nvSpPr>
        <p:spPr/>
        <p:txBody>
          <a:bodyPr/>
          <a:lstStyle/>
          <a:p>
            <a:r>
              <a:rPr lang="en-GB" dirty="0"/>
              <a:t>Cerebellar </a:t>
            </a:r>
            <a:r>
              <a:rPr lang="en-GB" dirty="0" err="1"/>
              <a:t>efferents</a:t>
            </a:r>
            <a:endParaRPr lang="en-GB" dirty="0"/>
          </a:p>
        </p:txBody>
      </p:sp>
      <p:sp>
        <p:nvSpPr>
          <p:cNvPr id="359" name="Rectangle: Rounded Corners 358">
            <a:extLst>
              <a:ext uri="{FF2B5EF4-FFF2-40B4-BE49-F238E27FC236}">
                <a16:creationId xmlns:a16="http://schemas.microsoft.com/office/drawing/2014/main" id="{9E04F771-E84D-6F2F-B5A6-11CFD35F9319}"/>
              </a:ext>
            </a:extLst>
          </p:cNvPr>
          <p:cNvSpPr/>
          <p:nvPr/>
        </p:nvSpPr>
        <p:spPr>
          <a:xfrm>
            <a:off x="756245" y="2075277"/>
            <a:ext cx="1756372" cy="606582"/>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GB" dirty="0"/>
              <a:t>Cerebellar cortex</a:t>
            </a:r>
          </a:p>
        </p:txBody>
      </p:sp>
      <p:sp>
        <p:nvSpPr>
          <p:cNvPr id="360" name="Rectangle: Rounded Corners 359">
            <a:extLst>
              <a:ext uri="{FF2B5EF4-FFF2-40B4-BE49-F238E27FC236}">
                <a16:creationId xmlns:a16="http://schemas.microsoft.com/office/drawing/2014/main" id="{B994F85A-C85A-7798-F648-8A37CAFCAAA2}"/>
              </a:ext>
            </a:extLst>
          </p:cNvPr>
          <p:cNvSpPr/>
          <p:nvPr/>
        </p:nvSpPr>
        <p:spPr>
          <a:xfrm>
            <a:off x="389823" y="4049214"/>
            <a:ext cx="1244608" cy="6065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Afferents</a:t>
            </a:r>
          </a:p>
        </p:txBody>
      </p:sp>
      <p:sp>
        <p:nvSpPr>
          <p:cNvPr id="361" name="Rectangle: Rounded Corners 360">
            <a:extLst>
              <a:ext uri="{FF2B5EF4-FFF2-40B4-BE49-F238E27FC236}">
                <a16:creationId xmlns:a16="http://schemas.microsoft.com/office/drawing/2014/main" id="{8FA819A0-3AB4-C65A-5F29-0106EB04C493}"/>
              </a:ext>
            </a:extLst>
          </p:cNvPr>
          <p:cNvSpPr/>
          <p:nvPr/>
        </p:nvSpPr>
        <p:spPr>
          <a:xfrm>
            <a:off x="2610890" y="3557094"/>
            <a:ext cx="1059474" cy="606582"/>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GB" dirty="0"/>
              <a:t>Deep </a:t>
            </a:r>
          </a:p>
          <a:p>
            <a:pPr algn="ctr"/>
            <a:r>
              <a:rPr lang="en-GB" dirty="0"/>
              <a:t>nuclei</a:t>
            </a:r>
          </a:p>
        </p:txBody>
      </p:sp>
      <p:cxnSp>
        <p:nvCxnSpPr>
          <p:cNvPr id="364" name="Straight Arrow Connector 363">
            <a:extLst>
              <a:ext uri="{FF2B5EF4-FFF2-40B4-BE49-F238E27FC236}">
                <a16:creationId xmlns:a16="http://schemas.microsoft.com/office/drawing/2014/main" id="{2FF8C8C9-1E86-0CB7-8A27-08806AB67B11}"/>
              </a:ext>
            </a:extLst>
          </p:cNvPr>
          <p:cNvCxnSpPr>
            <a:cxnSpLocks/>
          </p:cNvCxnSpPr>
          <p:nvPr/>
        </p:nvCxnSpPr>
        <p:spPr>
          <a:xfrm flipV="1">
            <a:off x="1188153" y="2696920"/>
            <a:ext cx="0" cy="135229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66" name="Straight Arrow Connector 365">
            <a:extLst>
              <a:ext uri="{FF2B5EF4-FFF2-40B4-BE49-F238E27FC236}">
                <a16:creationId xmlns:a16="http://schemas.microsoft.com/office/drawing/2014/main" id="{6A46E3D2-5DF9-23D0-CD80-A7AE84BBE991}"/>
              </a:ext>
            </a:extLst>
          </p:cNvPr>
          <p:cNvCxnSpPr>
            <a:cxnSpLocks/>
          </p:cNvCxnSpPr>
          <p:nvPr/>
        </p:nvCxnSpPr>
        <p:spPr>
          <a:xfrm>
            <a:off x="1945627" y="2681859"/>
            <a:ext cx="665263" cy="841575"/>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70" name="TextBox 369">
            <a:extLst>
              <a:ext uri="{FF2B5EF4-FFF2-40B4-BE49-F238E27FC236}">
                <a16:creationId xmlns:a16="http://schemas.microsoft.com/office/drawing/2014/main" id="{58C92C0E-4A75-E8A9-CB22-204DB45AE502}"/>
              </a:ext>
            </a:extLst>
          </p:cNvPr>
          <p:cNvSpPr txBox="1"/>
          <p:nvPr/>
        </p:nvSpPr>
        <p:spPr>
          <a:xfrm>
            <a:off x="2591491" y="4981721"/>
            <a:ext cx="1096653" cy="369332"/>
          </a:xfrm>
          <a:prstGeom prst="rect">
            <a:avLst/>
          </a:prstGeom>
          <a:noFill/>
        </p:spPr>
        <p:txBody>
          <a:bodyPr wrap="square" rtlCol="0">
            <a:spAutoFit/>
          </a:bodyPr>
          <a:lstStyle/>
          <a:p>
            <a:pPr algn="ctr"/>
            <a:r>
              <a:rPr lang="en-GB" dirty="0"/>
              <a:t>Output</a:t>
            </a:r>
          </a:p>
        </p:txBody>
      </p:sp>
      <p:cxnSp>
        <p:nvCxnSpPr>
          <p:cNvPr id="374" name="Straight Arrow Connector 373">
            <a:extLst>
              <a:ext uri="{FF2B5EF4-FFF2-40B4-BE49-F238E27FC236}">
                <a16:creationId xmlns:a16="http://schemas.microsoft.com/office/drawing/2014/main" id="{B65E1360-116A-96A6-D54C-AECB6890BC4E}"/>
              </a:ext>
            </a:extLst>
          </p:cNvPr>
          <p:cNvCxnSpPr>
            <a:cxnSpLocks/>
            <a:stCxn id="360" idx="3"/>
          </p:cNvCxnSpPr>
          <p:nvPr/>
        </p:nvCxnSpPr>
        <p:spPr>
          <a:xfrm flipV="1">
            <a:off x="1634431" y="3880805"/>
            <a:ext cx="878186" cy="47170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9" name="Straight Connector 388">
            <a:extLst>
              <a:ext uri="{FF2B5EF4-FFF2-40B4-BE49-F238E27FC236}">
                <a16:creationId xmlns:a16="http://schemas.microsoft.com/office/drawing/2014/main" id="{F49AE045-F8E0-E3A9-4C2C-F18C50DF84B8}"/>
              </a:ext>
            </a:extLst>
          </p:cNvPr>
          <p:cNvCxnSpPr>
            <a:cxnSpLocks/>
          </p:cNvCxnSpPr>
          <p:nvPr/>
        </p:nvCxnSpPr>
        <p:spPr>
          <a:xfrm flipV="1">
            <a:off x="6021764" y="1376127"/>
            <a:ext cx="0" cy="5060887"/>
          </a:xfrm>
          <a:prstGeom prst="line">
            <a:avLst/>
          </a:prstGeom>
          <a:ln>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cxnSp>
        <p:nvCxnSpPr>
          <p:cNvPr id="407" name="Straight Connector 406">
            <a:extLst>
              <a:ext uri="{FF2B5EF4-FFF2-40B4-BE49-F238E27FC236}">
                <a16:creationId xmlns:a16="http://schemas.microsoft.com/office/drawing/2014/main" id="{BFA66343-A88D-6EDA-2396-C142E141745D}"/>
              </a:ext>
            </a:extLst>
          </p:cNvPr>
          <p:cNvCxnSpPr>
            <a:cxnSpLocks/>
          </p:cNvCxnSpPr>
          <p:nvPr/>
        </p:nvCxnSpPr>
        <p:spPr>
          <a:xfrm flipV="1">
            <a:off x="10028887" y="1350602"/>
            <a:ext cx="0" cy="5086412"/>
          </a:xfrm>
          <a:prstGeom prst="line">
            <a:avLst/>
          </a:prstGeom>
          <a:ln>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5" name="Straight Arrow Connector 424">
            <a:extLst>
              <a:ext uri="{FF2B5EF4-FFF2-40B4-BE49-F238E27FC236}">
                <a16:creationId xmlns:a16="http://schemas.microsoft.com/office/drawing/2014/main" id="{67CB1763-9149-BA15-CE54-A12A86F6BC65}"/>
              </a:ext>
            </a:extLst>
          </p:cNvPr>
          <p:cNvCxnSpPr>
            <a:cxnSpLocks/>
            <a:stCxn id="361" idx="2"/>
            <a:endCxn id="370" idx="0"/>
          </p:cNvCxnSpPr>
          <p:nvPr/>
        </p:nvCxnSpPr>
        <p:spPr>
          <a:xfrm flipH="1">
            <a:off x="3139818" y="4163676"/>
            <a:ext cx="809" cy="818045"/>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9" name="Group 8">
            <a:extLst>
              <a:ext uri="{FF2B5EF4-FFF2-40B4-BE49-F238E27FC236}">
                <a16:creationId xmlns:a16="http://schemas.microsoft.com/office/drawing/2014/main" id="{EB6498D7-AD7A-8CCD-D4CB-18CE2D001FA4}"/>
              </a:ext>
            </a:extLst>
          </p:cNvPr>
          <p:cNvGrpSpPr/>
          <p:nvPr/>
        </p:nvGrpSpPr>
        <p:grpSpPr>
          <a:xfrm>
            <a:off x="4000694" y="1154895"/>
            <a:ext cx="1828800" cy="4941194"/>
            <a:chOff x="4000694" y="1154895"/>
            <a:chExt cx="1828800" cy="4941194"/>
          </a:xfrm>
        </p:grpSpPr>
        <p:sp>
          <p:nvSpPr>
            <p:cNvPr id="380" name="TextBox 379">
              <a:extLst>
                <a:ext uri="{FF2B5EF4-FFF2-40B4-BE49-F238E27FC236}">
                  <a16:creationId xmlns:a16="http://schemas.microsoft.com/office/drawing/2014/main" id="{F92FEBAD-3902-E58D-2E9C-F76DBF36CC6A}"/>
                </a:ext>
              </a:extLst>
            </p:cNvPr>
            <p:cNvSpPr txBox="1"/>
            <p:nvPr/>
          </p:nvSpPr>
          <p:spPr>
            <a:xfrm>
              <a:off x="4571184" y="2542412"/>
              <a:ext cx="872162" cy="369332"/>
            </a:xfrm>
            <a:prstGeom prst="rect">
              <a:avLst/>
            </a:prstGeom>
            <a:noFill/>
          </p:spPr>
          <p:txBody>
            <a:bodyPr wrap="none" rtlCol="0">
              <a:spAutoFit/>
            </a:bodyPr>
            <a:lstStyle/>
            <a:p>
              <a:r>
                <a:rPr lang="en-GB" dirty="0">
                  <a:solidFill>
                    <a:schemeClr val="accent2">
                      <a:lumMod val="75000"/>
                    </a:schemeClr>
                  </a:solidFill>
                </a:rPr>
                <a:t>Vermis</a:t>
              </a:r>
            </a:p>
          </p:txBody>
        </p:sp>
        <p:sp>
          <p:nvSpPr>
            <p:cNvPr id="381" name="TextBox 380">
              <a:extLst>
                <a:ext uri="{FF2B5EF4-FFF2-40B4-BE49-F238E27FC236}">
                  <a16:creationId xmlns:a16="http://schemas.microsoft.com/office/drawing/2014/main" id="{824EA72B-C604-BA69-B80B-370AA2A5EE6E}"/>
                </a:ext>
              </a:extLst>
            </p:cNvPr>
            <p:cNvSpPr txBox="1"/>
            <p:nvPr/>
          </p:nvSpPr>
          <p:spPr>
            <a:xfrm>
              <a:off x="4498632" y="3885729"/>
              <a:ext cx="1017266" cy="646331"/>
            </a:xfrm>
            <a:prstGeom prst="rect">
              <a:avLst/>
            </a:prstGeom>
            <a:noFill/>
          </p:spPr>
          <p:txBody>
            <a:bodyPr wrap="none" rtlCol="0">
              <a:spAutoFit/>
            </a:bodyPr>
            <a:lstStyle/>
            <a:p>
              <a:pPr algn="ctr"/>
              <a:r>
                <a:rPr lang="en-GB" dirty="0">
                  <a:solidFill>
                    <a:schemeClr val="accent3">
                      <a:lumMod val="75000"/>
                    </a:schemeClr>
                  </a:solidFill>
                </a:rPr>
                <a:t>Fastigial</a:t>
              </a:r>
            </a:p>
            <a:p>
              <a:pPr algn="ctr"/>
              <a:r>
                <a:rPr lang="en-GB" dirty="0">
                  <a:solidFill>
                    <a:schemeClr val="accent3">
                      <a:lumMod val="75000"/>
                    </a:schemeClr>
                  </a:solidFill>
                </a:rPr>
                <a:t>nuclei</a:t>
              </a:r>
            </a:p>
          </p:txBody>
        </p:sp>
        <p:sp>
          <p:nvSpPr>
            <p:cNvPr id="383" name="TextBox 382">
              <a:extLst>
                <a:ext uri="{FF2B5EF4-FFF2-40B4-BE49-F238E27FC236}">
                  <a16:creationId xmlns:a16="http://schemas.microsoft.com/office/drawing/2014/main" id="{427AFFBD-F231-BB85-FCB7-4D5A73EB1B38}"/>
                </a:ext>
              </a:extLst>
            </p:cNvPr>
            <p:cNvSpPr txBox="1"/>
            <p:nvPr/>
          </p:nvSpPr>
          <p:spPr>
            <a:xfrm>
              <a:off x="4442948" y="5449758"/>
              <a:ext cx="1119217" cy="646331"/>
            </a:xfrm>
            <a:prstGeom prst="rect">
              <a:avLst/>
            </a:prstGeom>
            <a:noFill/>
          </p:spPr>
          <p:txBody>
            <a:bodyPr wrap="none" rtlCol="0">
              <a:spAutoFit/>
            </a:bodyPr>
            <a:lstStyle/>
            <a:p>
              <a:pPr algn="ctr"/>
              <a:r>
                <a:rPr lang="en-GB" dirty="0"/>
                <a:t>Medulla</a:t>
              </a:r>
            </a:p>
            <a:p>
              <a:pPr algn="ctr"/>
              <a:r>
                <a:rPr lang="en-GB" dirty="0"/>
                <a:t>And pons</a:t>
              </a:r>
            </a:p>
          </p:txBody>
        </p:sp>
        <p:cxnSp>
          <p:nvCxnSpPr>
            <p:cNvPr id="384" name="Straight Arrow Connector 383">
              <a:extLst>
                <a:ext uri="{FF2B5EF4-FFF2-40B4-BE49-F238E27FC236}">
                  <a16:creationId xmlns:a16="http://schemas.microsoft.com/office/drawing/2014/main" id="{ED0144A0-8562-3C96-B04E-539422BD8617}"/>
                </a:ext>
              </a:extLst>
            </p:cNvPr>
            <p:cNvCxnSpPr>
              <a:cxnSpLocks/>
            </p:cNvCxnSpPr>
            <p:nvPr/>
          </p:nvCxnSpPr>
          <p:spPr>
            <a:xfrm>
              <a:off x="5009175" y="3028904"/>
              <a:ext cx="0" cy="78857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5" name="Straight Arrow Connector 384">
              <a:extLst>
                <a:ext uri="{FF2B5EF4-FFF2-40B4-BE49-F238E27FC236}">
                  <a16:creationId xmlns:a16="http://schemas.microsoft.com/office/drawing/2014/main" id="{02207455-4720-6E45-A58B-14CD3D6BD1D4}"/>
                </a:ext>
              </a:extLst>
            </p:cNvPr>
            <p:cNvCxnSpPr>
              <a:cxnSpLocks/>
            </p:cNvCxnSpPr>
            <p:nvPr/>
          </p:nvCxnSpPr>
          <p:spPr>
            <a:xfrm>
              <a:off x="5000589" y="4596624"/>
              <a:ext cx="0" cy="78857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86" name="Oval 385">
              <a:extLst>
                <a:ext uri="{FF2B5EF4-FFF2-40B4-BE49-F238E27FC236}">
                  <a16:creationId xmlns:a16="http://schemas.microsoft.com/office/drawing/2014/main" id="{8DD5FCBF-0DF5-0A82-E2FE-F1F934B14714}"/>
                </a:ext>
              </a:extLst>
            </p:cNvPr>
            <p:cNvSpPr/>
            <p:nvPr/>
          </p:nvSpPr>
          <p:spPr>
            <a:xfrm>
              <a:off x="4762822" y="1154895"/>
              <a:ext cx="488886" cy="488886"/>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GB" sz="2400" b="1" dirty="0"/>
                <a:t>1</a:t>
              </a:r>
            </a:p>
          </p:txBody>
        </p:sp>
        <p:sp>
          <p:nvSpPr>
            <p:cNvPr id="3" name="TextBox 2">
              <a:extLst>
                <a:ext uri="{FF2B5EF4-FFF2-40B4-BE49-F238E27FC236}">
                  <a16:creationId xmlns:a16="http://schemas.microsoft.com/office/drawing/2014/main" id="{EC9F237E-D253-A131-2442-EB41AB430952}"/>
                </a:ext>
              </a:extLst>
            </p:cNvPr>
            <p:cNvSpPr txBox="1"/>
            <p:nvPr/>
          </p:nvSpPr>
          <p:spPr>
            <a:xfrm>
              <a:off x="4000694" y="1662266"/>
              <a:ext cx="1828800" cy="646331"/>
            </a:xfrm>
            <a:prstGeom prst="rect">
              <a:avLst/>
            </a:prstGeom>
            <a:noFill/>
          </p:spPr>
          <p:txBody>
            <a:bodyPr wrap="square" rtlCol="0">
              <a:spAutoFit/>
            </a:bodyPr>
            <a:lstStyle/>
            <a:p>
              <a:pPr algn="ctr"/>
              <a:r>
                <a:rPr lang="en-US" sz="1800" b="1" kern="1200" dirty="0">
                  <a:solidFill>
                    <a:schemeClr val="tx1"/>
                  </a:solidFill>
                  <a:latin typeface="+mn-lt"/>
                  <a:ea typeface="+mn-ea"/>
                  <a:cs typeface="+mn-cs"/>
                </a:rPr>
                <a:t>Balance and posture</a:t>
              </a:r>
            </a:p>
          </p:txBody>
        </p:sp>
      </p:grpSp>
      <p:grpSp>
        <p:nvGrpSpPr>
          <p:cNvPr id="15" name="Group 14">
            <a:extLst>
              <a:ext uri="{FF2B5EF4-FFF2-40B4-BE49-F238E27FC236}">
                <a16:creationId xmlns:a16="http://schemas.microsoft.com/office/drawing/2014/main" id="{40678B2D-DA3D-52C4-1B28-4689FAC9645E}"/>
              </a:ext>
            </a:extLst>
          </p:cNvPr>
          <p:cNvGrpSpPr/>
          <p:nvPr/>
        </p:nvGrpSpPr>
        <p:grpSpPr>
          <a:xfrm>
            <a:off x="6214034" y="1129106"/>
            <a:ext cx="3622583" cy="5218193"/>
            <a:chOff x="5884901" y="1129106"/>
            <a:chExt cx="3622583" cy="5218193"/>
          </a:xfrm>
        </p:grpSpPr>
        <p:sp>
          <p:nvSpPr>
            <p:cNvPr id="393" name="TextBox 392">
              <a:extLst>
                <a:ext uri="{FF2B5EF4-FFF2-40B4-BE49-F238E27FC236}">
                  <a16:creationId xmlns:a16="http://schemas.microsoft.com/office/drawing/2014/main" id="{D5EFF4CB-EEA4-3F5F-1794-064FE51396CB}"/>
                </a:ext>
              </a:extLst>
            </p:cNvPr>
            <p:cNvSpPr txBox="1"/>
            <p:nvPr/>
          </p:nvSpPr>
          <p:spPr>
            <a:xfrm>
              <a:off x="5884901" y="5423969"/>
              <a:ext cx="1889684" cy="923330"/>
            </a:xfrm>
            <a:prstGeom prst="rect">
              <a:avLst/>
            </a:prstGeom>
            <a:noFill/>
          </p:spPr>
          <p:txBody>
            <a:bodyPr wrap="none" rtlCol="0">
              <a:spAutoFit/>
            </a:bodyPr>
            <a:lstStyle/>
            <a:p>
              <a:pPr algn="ctr"/>
              <a:r>
                <a:rPr lang="en-GB" dirty="0"/>
                <a:t>Ventrolateral and</a:t>
              </a:r>
            </a:p>
            <a:p>
              <a:pPr algn="ctr"/>
              <a:r>
                <a:rPr lang="en-GB" dirty="0" err="1"/>
                <a:t>Ventroanterior</a:t>
              </a:r>
              <a:r>
                <a:rPr lang="en-GB" dirty="0"/>
                <a:t> </a:t>
              </a:r>
            </a:p>
            <a:p>
              <a:pPr algn="ctr"/>
              <a:r>
                <a:rPr lang="en-GB" dirty="0"/>
                <a:t>thalamus</a:t>
              </a:r>
            </a:p>
          </p:txBody>
        </p:sp>
        <p:sp>
          <p:nvSpPr>
            <p:cNvPr id="404" name="TextBox 403">
              <a:extLst>
                <a:ext uri="{FF2B5EF4-FFF2-40B4-BE49-F238E27FC236}">
                  <a16:creationId xmlns:a16="http://schemas.microsoft.com/office/drawing/2014/main" id="{2D6F0448-E24E-6CA3-AE02-3A2BEED701A4}"/>
                </a:ext>
              </a:extLst>
            </p:cNvPr>
            <p:cNvSpPr txBox="1"/>
            <p:nvPr/>
          </p:nvSpPr>
          <p:spPr>
            <a:xfrm>
              <a:off x="7660504" y="2375141"/>
              <a:ext cx="1846980" cy="923330"/>
            </a:xfrm>
            <a:prstGeom prst="rect">
              <a:avLst/>
            </a:prstGeom>
            <a:noFill/>
          </p:spPr>
          <p:txBody>
            <a:bodyPr wrap="none" rtlCol="0">
              <a:spAutoFit/>
            </a:bodyPr>
            <a:lstStyle/>
            <a:p>
              <a:pPr algn="ctr"/>
              <a:r>
                <a:rPr lang="en-GB" dirty="0"/>
                <a:t>Red nucleus and</a:t>
              </a:r>
            </a:p>
            <a:p>
              <a:pPr algn="ctr"/>
              <a:r>
                <a:rPr lang="en-GB" dirty="0"/>
                <a:t>Reticular</a:t>
              </a:r>
            </a:p>
            <a:p>
              <a:pPr algn="ctr"/>
              <a:r>
                <a:rPr lang="en-GB" dirty="0"/>
                <a:t> formation</a:t>
              </a:r>
            </a:p>
          </p:txBody>
        </p:sp>
        <p:sp>
          <p:nvSpPr>
            <p:cNvPr id="391" name="TextBox 390">
              <a:extLst>
                <a:ext uri="{FF2B5EF4-FFF2-40B4-BE49-F238E27FC236}">
                  <a16:creationId xmlns:a16="http://schemas.microsoft.com/office/drawing/2014/main" id="{32971743-1D10-E50F-CCD3-4B3CFB29A754}"/>
                </a:ext>
              </a:extLst>
            </p:cNvPr>
            <p:cNvSpPr txBox="1"/>
            <p:nvPr/>
          </p:nvSpPr>
          <p:spPr>
            <a:xfrm>
              <a:off x="6151452" y="2371218"/>
              <a:ext cx="1464312" cy="646331"/>
            </a:xfrm>
            <a:prstGeom prst="rect">
              <a:avLst/>
            </a:prstGeom>
            <a:noFill/>
          </p:spPr>
          <p:txBody>
            <a:bodyPr wrap="none" rtlCol="0">
              <a:spAutoFit/>
            </a:bodyPr>
            <a:lstStyle/>
            <a:p>
              <a:pPr algn="ctr"/>
              <a:r>
                <a:rPr lang="en-GB" dirty="0">
                  <a:solidFill>
                    <a:schemeClr val="accent2">
                      <a:lumMod val="75000"/>
                    </a:schemeClr>
                  </a:solidFill>
                </a:rPr>
                <a:t>Intermediate</a:t>
              </a:r>
            </a:p>
            <a:p>
              <a:pPr algn="ctr"/>
              <a:r>
                <a:rPr lang="en-GB" dirty="0">
                  <a:solidFill>
                    <a:schemeClr val="accent2">
                      <a:lumMod val="75000"/>
                    </a:schemeClr>
                  </a:solidFill>
                </a:rPr>
                <a:t>zone</a:t>
              </a:r>
            </a:p>
          </p:txBody>
        </p:sp>
        <p:sp>
          <p:nvSpPr>
            <p:cNvPr id="392" name="TextBox 391">
              <a:extLst>
                <a:ext uri="{FF2B5EF4-FFF2-40B4-BE49-F238E27FC236}">
                  <a16:creationId xmlns:a16="http://schemas.microsoft.com/office/drawing/2014/main" id="{2B11ED3E-5C03-6017-2605-98C56A505CAC}"/>
                </a:ext>
              </a:extLst>
            </p:cNvPr>
            <p:cNvSpPr txBox="1"/>
            <p:nvPr/>
          </p:nvSpPr>
          <p:spPr>
            <a:xfrm>
              <a:off x="6202481" y="3859940"/>
              <a:ext cx="1263936" cy="646331"/>
            </a:xfrm>
            <a:prstGeom prst="rect">
              <a:avLst/>
            </a:prstGeom>
            <a:noFill/>
          </p:spPr>
          <p:txBody>
            <a:bodyPr wrap="none" rtlCol="0">
              <a:spAutoFit/>
            </a:bodyPr>
            <a:lstStyle/>
            <a:p>
              <a:pPr algn="ctr"/>
              <a:r>
                <a:rPr lang="en-GB" dirty="0">
                  <a:solidFill>
                    <a:schemeClr val="accent3">
                      <a:lumMod val="75000"/>
                    </a:schemeClr>
                  </a:solidFill>
                </a:rPr>
                <a:t>Interposed</a:t>
              </a:r>
            </a:p>
            <a:p>
              <a:pPr algn="ctr"/>
              <a:r>
                <a:rPr lang="en-GB" dirty="0">
                  <a:solidFill>
                    <a:schemeClr val="accent3">
                      <a:lumMod val="75000"/>
                    </a:schemeClr>
                  </a:solidFill>
                </a:rPr>
                <a:t>nucleus</a:t>
              </a:r>
            </a:p>
          </p:txBody>
        </p:sp>
        <p:cxnSp>
          <p:nvCxnSpPr>
            <p:cNvPr id="394" name="Straight Arrow Connector 393">
              <a:extLst>
                <a:ext uri="{FF2B5EF4-FFF2-40B4-BE49-F238E27FC236}">
                  <a16:creationId xmlns:a16="http://schemas.microsoft.com/office/drawing/2014/main" id="{478174CA-F47E-2A36-24F4-A221B78131A7}"/>
                </a:ext>
              </a:extLst>
            </p:cNvPr>
            <p:cNvCxnSpPr>
              <a:cxnSpLocks/>
            </p:cNvCxnSpPr>
            <p:nvPr/>
          </p:nvCxnSpPr>
          <p:spPr>
            <a:xfrm>
              <a:off x="6836357" y="3003115"/>
              <a:ext cx="0" cy="78857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95" name="Straight Arrow Connector 394">
              <a:extLst>
                <a:ext uri="{FF2B5EF4-FFF2-40B4-BE49-F238E27FC236}">
                  <a16:creationId xmlns:a16="http://schemas.microsoft.com/office/drawing/2014/main" id="{3BFEB02D-5466-0451-7A2A-75829BAE1F46}"/>
                </a:ext>
              </a:extLst>
            </p:cNvPr>
            <p:cNvCxnSpPr>
              <a:cxnSpLocks/>
            </p:cNvCxnSpPr>
            <p:nvPr/>
          </p:nvCxnSpPr>
          <p:spPr>
            <a:xfrm>
              <a:off x="6827771" y="4570835"/>
              <a:ext cx="0" cy="78857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96" name="Oval 395">
              <a:extLst>
                <a:ext uri="{FF2B5EF4-FFF2-40B4-BE49-F238E27FC236}">
                  <a16:creationId xmlns:a16="http://schemas.microsoft.com/office/drawing/2014/main" id="{F4DA4BED-7C42-049F-6B91-F4DE3CC4EB8A}"/>
                </a:ext>
              </a:extLst>
            </p:cNvPr>
            <p:cNvSpPr/>
            <p:nvPr/>
          </p:nvSpPr>
          <p:spPr>
            <a:xfrm>
              <a:off x="7485334" y="1129106"/>
              <a:ext cx="488886" cy="488886"/>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GB" sz="2400" b="1" dirty="0"/>
                <a:t>2</a:t>
              </a:r>
            </a:p>
          </p:txBody>
        </p:sp>
        <p:cxnSp>
          <p:nvCxnSpPr>
            <p:cNvPr id="397" name="Straight Arrow Connector 396">
              <a:extLst>
                <a:ext uri="{FF2B5EF4-FFF2-40B4-BE49-F238E27FC236}">
                  <a16:creationId xmlns:a16="http://schemas.microsoft.com/office/drawing/2014/main" id="{65407E50-0816-EC31-259A-465D1BE668B4}"/>
                </a:ext>
              </a:extLst>
            </p:cNvPr>
            <p:cNvCxnSpPr>
              <a:cxnSpLocks/>
            </p:cNvCxnSpPr>
            <p:nvPr/>
          </p:nvCxnSpPr>
          <p:spPr>
            <a:xfrm>
              <a:off x="7653445" y="5885634"/>
              <a:ext cx="487273"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00" name="TextBox 399">
              <a:extLst>
                <a:ext uri="{FF2B5EF4-FFF2-40B4-BE49-F238E27FC236}">
                  <a16:creationId xmlns:a16="http://schemas.microsoft.com/office/drawing/2014/main" id="{8CF53518-C516-6DDB-A2CC-0EC17218E4FC}"/>
                </a:ext>
              </a:extLst>
            </p:cNvPr>
            <p:cNvSpPr txBox="1"/>
            <p:nvPr/>
          </p:nvSpPr>
          <p:spPr>
            <a:xfrm>
              <a:off x="8161555" y="5699563"/>
              <a:ext cx="843693" cy="369332"/>
            </a:xfrm>
            <a:prstGeom prst="rect">
              <a:avLst/>
            </a:prstGeom>
            <a:noFill/>
          </p:spPr>
          <p:txBody>
            <a:bodyPr wrap="none" rtlCol="0">
              <a:spAutoFit/>
            </a:bodyPr>
            <a:lstStyle/>
            <a:p>
              <a:pPr algn="ctr"/>
              <a:r>
                <a:rPr lang="en-GB" dirty="0"/>
                <a:t>Cortex</a:t>
              </a:r>
            </a:p>
          </p:txBody>
        </p:sp>
        <p:cxnSp>
          <p:nvCxnSpPr>
            <p:cNvPr id="401" name="Straight Arrow Connector 400">
              <a:extLst>
                <a:ext uri="{FF2B5EF4-FFF2-40B4-BE49-F238E27FC236}">
                  <a16:creationId xmlns:a16="http://schemas.microsoft.com/office/drawing/2014/main" id="{72730575-3B24-B75C-09D4-115B8CFE4371}"/>
                </a:ext>
              </a:extLst>
            </p:cNvPr>
            <p:cNvCxnSpPr>
              <a:cxnSpLocks/>
            </p:cNvCxnSpPr>
            <p:nvPr/>
          </p:nvCxnSpPr>
          <p:spPr>
            <a:xfrm flipV="1">
              <a:off x="8570098" y="5191344"/>
              <a:ext cx="0" cy="401172"/>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02" name="TextBox 401">
              <a:extLst>
                <a:ext uri="{FF2B5EF4-FFF2-40B4-BE49-F238E27FC236}">
                  <a16:creationId xmlns:a16="http://schemas.microsoft.com/office/drawing/2014/main" id="{583AEC36-7C30-9C60-F7C8-A6AC0121786C}"/>
                </a:ext>
              </a:extLst>
            </p:cNvPr>
            <p:cNvSpPr txBox="1"/>
            <p:nvPr/>
          </p:nvSpPr>
          <p:spPr>
            <a:xfrm>
              <a:off x="7784188" y="4583305"/>
              <a:ext cx="1587294" cy="646331"/>
            </a:xfrm>
            <a:prstGeom prst="rect">
              <a:avLst/>
            </a:prstGeom>
            <a:noFill/>
          </p:spPr>
          <p:txBody>
            <a:bodyPr wrap="none" rtlCol="0">
              <a:spAutoFit/>
            </a:bodyPr>
            <a:lstStyle/>
            <a:p>
              <a:pPr algn="ctr"/>
              <a:r>
                <a:rPr lang="en-GB" dirty="0"/>
                <a:t>Thalamic</a:t>
              </a:r>
            </a:p>
            <a:p>
              <a:pPr algn="ctr"/>
              <a:r>
                <a:rPr lang="en-GB" dirty="0"/>
                <a:t>midline nuclei</a:t>
              </a:r>
            </a:p>
          </p:txBody>
        </p:sp>
        <p:sp>
          <p:nvSpPr>
            <p:cNvPr id="4" name="TextBox 3">
              <a:extLst>
                <a:ext uri="{FF2B5EF4-FFF2-40B4-BE49-F238E27FC236}">
                  <a16:creationId xmlns:a16="http://schemas.microsoft.com/office/drawing/2014/main" id="{9A05244C-77CF-F22E-4644-69E20EFE5DF7}"/>
                </a:ext>
              </a:extLst>
            </p:cNvPr>
            <p:cNvSpPr txBox="1"/>
            <p:nvPr/>
          </p:nvSpPr>
          <p:spPr>
            <a:xfrm>
              <a:off x="7828303" y="3794344"/>
              <a:ext cx="1499065" cy="369332"/>
            </a:xfrm>
            <a:prstGeom prst="rect">
              <a:avLst/>
            </a:prstGeom>
            <a:noFill/>
          </p:spPr>
          <p:txBody>
            <a:bodyPr wrap="none" rtlCol="0">
              <a:spAutoFit/>
            </a:bodyPr>
            <a:lstStyle/>
            <a:p>
              <a:pPr algn="ctr"/>
              <a:r>
                <a:rPr lang="en-GB" dirty="0"/>
                <a:t>Basal ganglia</a:t>
              </a:r>
            </a:p>
          </p:txBody>
        </p:sp>
        <p:cxnSp>
          <p:nvCxnSpPr>
            <p:cNvPr id="6" name="Straight Arrow Connector 5">
              <a:extLst>
                <a:ext uri="{FF2B5EF4-FFF2-40B4-BE49-F238E27FC236}">
                  <a16:creationId xmlns:a16="http://schemas.microsoft.com/office/drawing/2014/main" id="{A82FBB6F-8004-ADDE-89BC-1C16114F63D8}"/>
                </a:ext>
              </a:extLst>
            </p:cNvPr>
            <p:cNvCxnSpPr>
              <a:cxnSpLocks/>
              <a:stCxn id="402" idx="0"/>
              <a:endCxn id="4" idx="2"/>
            </p:cNvCxnSpPr>
            <p:nvPr/>
          </p:nvCxnSpPr>
          <p:spPr>
            <a:xfrm flipV="1">
              <a:off x="8577835" y="4163676"/>
              <a:ext cx="1" cy="419629"/>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5B76B9B2-1054-8792-500A-1BD8D61DD073}"/>
                </a:ext>
              </a:extLst>
            </p:cNvPr>
            <p:cNvCxnSpPr>
              <a:cxnSpLocks/>
              <a:stCxn id="4" idx="0"/>
              <a:endCxn id="404" idx="2"/>
            </p:cNvCxnSpPr>
            <p:nvPr/>
          </p:nvCxnSpPr>
          <p:spPr>
            <a:xfrm flipV="1">
              <a:off x="8577836" y="3298471"/>
              <a:ext cx="6158" cy="495873"/>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C6075516-9E18-2978-D1E6-4BAF7FF4A49C}"/>
                </a:ext>
              </a:extLst>
            </p:cNvPr>
            <p:cNvSpPr txBox="1"/>
            <p:nvPr/>
          </p:nvSpPr>
          <p:spPr>
            <a:xfrm>
              <a:off x="6274532" y="1656886"/>
              <a:ext cx="2820335" cy="646331"/>
            </a:xfrm>
            <a:prstGeom prst="rect">
              <a:avLst/>
            </a:prstGeom>
            <a:noFill/>
          </p:spPr>
          <p:txBody>
            <a:bodyPr wrap="square" rtlCol="0">
              <a:spAutoFit/>
            </a:bodyPr>
            <a:lstStyle/>
            <a:p>
              <a:pPr algn="ctr"/>
              <a:r>
                <a:rPr lang="en-US" sz="1800" b="1" kern="1200" dirty="0">
                  <a:solidFill>
                    <a:schemeClr val="tx1"/>
                  </a:solidFill>
                  <a:latin typeface="+mn-lt"/>
                  <a:ea typeface="+mn-ea"/>
                  <a:cs typeface="+mn-cs"/>
                </a:rPr>
                <a:t>Agonist/antagonist muscles coordination</a:t>
              </a:r>
            </a:p>
          </p:txBody>
        </p:sp>
      </p:grpSp>
      <p:grpSp>
        <p:nvGrpSpPr>
          <p:cNvPr id="16" name="Group 15">
            <a:extLst>
              <a:ext uri="{FF2B5EF4-FFF2-40B4-BE49-F238E27FC236}">
                <a16:creationId xmlns:a16="http://schemas.microsoft.com/office/drawing/2014/main" id="{2E8C885A-0E7C-9163-9EF5-B8797967C9A6}"/>
              </a:ext>
            </a:extLst>
          </p:cNvPr>
          <p:cNvGrpSpPr/>
          <p:nvPr/>
        </p:nvGrpSpPr>
        <p:grpSpPr>
          <a:xfrm>
            <a:off x="10221156" y="1131441"/>
            <a:ext cx="1890117" cy="5439786"/>
            <a:chOff x="10221156" y="1131441"/>
            <a:chExt cx="1890117" cy="5439786"/>
          </a:xfrm>
        </p:grpSpPr>
        <p:sp>
          <p:nvSpPr>
            <p:cNvPr id="415" name="TextBox 414">
              <a:extLst>
                <a:ext uri="{FF2B5EF4-FFF2-40B4-BE49-F238E27FC236}">
                  <a16:creationId xmlns:a16="http://schemas.microsoft.com/office/drawing/2014/main" id="{7333A016-2FF4-2C47-0638-270B540101F4}"/>
                </a:ext>
              </a:extLst>
            </p:cNvPr>
            <p:cNvSpPr txBox="1"/>
            <p:nvPr/>
          </p:nvSpPr>
          <p:spPr>
            <a:xfrm>
              <a:off x="10221589" y="4823116"/>
              <a:ext cx="1889684" cy="923330"/>
            </a:xfrm>
            <a:prstGeom prst="rect">
              <a:avLst/>
            </a:prstGeom>
            <a:noFill/>
          </p:spPr>
          <p:txBody>
            <a:bodyPr wrap="none" rtlCol="0">
              <a:spAutoFit/>
            </a:bodyPr>
            <a:lstStyle/>
            <a:p>
              <a:pPr algn="ctr"/>
              <a:r>
                <a:rPr lang="en-GB" dirty="0"/>
                <a:t>Ventrolateral and</a:t>
              </a:r>
            </a:p>
            <a:p>
              <a:pPr algn="ctr"/>
              <a:r>
                <a:rPr lang="en-GB" dirty="0" err="1"/>
                <a:t>Ventroanterior</a:t>
              </a:r>
              <a:r>
                <a:rPr lang="en-GB" dirty="0"/>
                <a:t> </a:t>
              </a:r>
            </a:p>
            <a:p>
              <a:pPr algn="ctr"/>
              <a:r>
                <a:rPr lang="en-GB" dirty="0"/>
                <a:t>thalamus</a:t>
              </a:r>
            </a:p>
          </p:txBody>
        </p:sp>
        <p:cxnSp>
          <p:nvCxnSpPr>
            <p:cNvPr id="416" name="Straight Arrow Connector 415">
              <a:extLst>
                <a:ext uri="{FF2B5EF4-FFF2-40B4-BE49-F238E27FC236}">
                  <a16:creationId xmlns:a16="http://schemas.microsoft.com/office/drawing/2014/main" id="{DA211DB2-85E3-3F24-0EDE-E00D8A0FF7EF}"/>
                </a:ext>
              </a:extLst>
            </p:cNvPr>
            <p:cNvCxnSpPr>
              <a:cxnSpLocks/>
            </p:cNvCxnSpPr>
            <p:nvPr/>
          </p:nvCxnSpPr>
          <p:spPr>
            <a:xfrm>
              <a:off x="11159756" y="5746446"/>
              <a:ext cx="0" cy="455449"/>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17" name="TextBox 416">
              <a:extLst>
                <a:ext uri="{FF2B5EF4-FFF2-40B4-BE49-F238E27FC236}">
                  <a16:creationId xmlns:a16="http://schemas.microsoft.com/office/drawing/2014/main" id="{AB27B803-018C-F80D-BBB4-117DDDFD9826}"/>
                </a:ext>
              </a:extLst>
            </p:cNvPr>
            <p:cNvSpPr txBox="1"/>
            <p:nvPr/>
          </p:nvSpPr>
          <p:spPr>
            <a:xfrm>
              <a:off x="10737909" y="6201895"/>
              <a:ext cx="843693" cy="369332"/>
            </a:xfrm>
            <a:prstGeom prst="rect">
              <a:avLst/>
            </a:prstGeom>
            <a:noFill/>
          </p:spPr>
          <p:txBody>
            <a:bodyPr wrap="none" rtlCol="0">
              <a:spAutoFit/>
            </a:bodyPr>
            <a:lstStyle/>
            <a:p>
              <a:pPr algn="ctr"/>
              <a:r>
                <a:rPr lang="en-GB" dirty="0"/>
                <a:t>Cortex</a:t>
              </a:r>
            </a:p>
          </p:txBody>
        </p:sp>
        <p:sp>
          <p:nvSpPr>
            <p:cNvPr id="409" name="TextBox 408">
              <a:extLst>
                <a:ext uri="{FF2B5EF4-FFF2-40B4-BE49-F238E27FC236}">
                  <a16:creationId xmlns:a16="http://schemas.microsoft.com/office/drawing/2014/main" id="{5CF61CA1-E1A1-D48C-A3F6-6EE43F6FB060}"/>
                </a:ext>
              </a:extLst>
            </p:cNvPr>
            <p:cNvSpPr txBox="1"/>
            <p:nvPr/>
          </p:nvSpPr>
          <p:spPr>
            <a:xfrm>
              <a:off x="10730351" y="2371218"/>
              <a:ext cx="873124" cy="646331"/>
            </a:xfrm>
            <a:prstGeom prst="rect">
              <a:avLst/>
            </a:prstGeom>
            <a:noFill/>
          </p:spPr>
          <p:txBody>
            <a:bodyPr wrap="none" rtlCol="0">
              <a:spAutoFit/>
            </a:bodyPr>
            <a:lstStyle/>
            <a:p>
              <a:pPr algn="ctr"/>
              <a:r>
                <a:rPr lang="en-GB" dirty="0">
                  <a:solidFill>
                    <a:schemeClr val="accent2">
                      <a:lumMod val="75000"/>
                    </a:schemeClr>
                  </a:solidFill>
                </a:rPr>
                <a:t>Lateral</a:t>
              </a:r>
            </a:p>
            <a:p>
              <a:pPr algn="ctr"/>
              <a:r>
                <a:rPr lang="en-GB" dirty="0">
                  <a:solidFill>
                    <a:schemeClr val="accent2">
                      <a:lumMod val="75000"/>
                    </a:schemeClr>
                  </a:solidFill>
                </a:rPr>
                <a:t>zone</a:t>
              </a:r>
            </a:p>
          </p:txBody>
        </p:sp>
        <p:sp>
          <p:nvSpPr>
            <p:cNvPr id="410" name="TextBox 409">
              <a:extLst>
                <a:ext uri="{FF2B5EF4-FFF2-40B4-BE49-F238E27FC236}">
                  <a16:creationId xmlns:a16="http://schemas.microsoft.com/office/drawing/2014/main" id="{5FA6682E-8128-2D31-FCC9-08DA57584C73}"/>
                </a:ext>
              </a:extLst>
            </p:cNvPr>
            <p:cNvSpPr txBox="1"/>
            <p:nvPr/>
          </p:nvSpPr>
          <p:spPr>
            <a:xfrm>
              <a:off x="10674598" y="3582984"/>
              <a:ext cx="983667" cy="646331"/>
            </a:xfrm>
            <a:prstGeom prst="rect">
              <a:avLst/>
            </a:prstGeom>
            <a:noFill/>
          </p:spPr>
          <p:txBody>
            <a:bodyPr wrap="none" rtlCol="0">
              <a:spAutoFit/>
            </a:bodyPr>
            <a:lstStyle/>
            <a:p>
              <a:pPr algn="ctr"/>
              <a:r>
                <a:rPr lang="en-GB" dirty="0">
                  <a:solidFill>
                    <a:schemeClr val="accent3">
                      <a:lumMod val="75000"/>
                    </a:schemeClr>
                  </a:solidFill>
                </a:rPr>
                <a:t>Dentate</a:t>
              </a:r>
            </a:p>
            <a:p>
              <a:pPr algn="ctr"/>
              <a:r>
                <a:rPr lang="en-GB" dirty="0">
                  <a:solidFill>
                    <a:schemeClr val="accent3">
                      <a:lumMod val="75000"/>
                    </a:schemeClr>
                  </a:solidFill>
                </a:rPr>
                <a:t>nuclei</a:t>
              </a:r>
            </a:p>
          </p:txBody>
        </p:sp>
        <p:cxnSp>
          <p:nvCxnSpPr>
            <p:cNvPr id="412" name="Straight Arrow Connector 411">
              <a:extLst>
                <a:ext uri="{FF2B5EF4-FFF2-40B4-BE49-F238E27FC236}">
                  <a16:creationId xmlns:a16="http://schemas.microsoft.com/office/drawing/2014/main" id="{32F352D7-EC08-0167-00AA-3E5165EE92C4}"/>
                </a:ext>
              </a:extLst>
            </p:cNvPr>
            <p:cNvCxnSpPr>
              <a:cxnSpLocks/>
            </p:cNvCxnSpPr>
            <p:nvPr/>
          </p:nvCxnSpPr>
          <p:spPr>
            <a:xfrm>
              <a:off x="11168342" y="3005450"/>
              <a:ext cx="0" cy="547987"/>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13" name="Straight Arrow Connector 412">
              <a:extLst>
                <a:ext uri="{FF2B5EF4-FFF2-40B4-BE49-F238E27FC236}">
                  <a16:creationId xmlns:a16="http://schemas.microsoft.com/office/drawing/2014/main" id="{5EF4BBBF-A582-64C5-73F1-7253C131D47C}"/>
                </a:ext>
              </a:extLst>
            </p:cNvPr>
            <p:cNvCxnSpPr>
              <a:cxnSpLocks/>
            </p:cNvCxnSpPr>
            <p:nvPr/>
          </p:nvCxnSpPr>
          <p:spPr>
            <a:xfrm>
              <a:off x="11159756" y="4293879"/>
              <a:ext cx="0" cy="501249"/>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14" name="Oval 413">
              <a:extLst>
                <a:ext uri="{FF2B5EF4-FFF2-40B4-BE49-F238E27FC236}">
                  <a16:creationId xmlns:a16="http://schemas.microsoft.com/office/drawing/2014/main" id="{124D6494-D1E8-A6AC-86C6-0C3F3F06B1D5}"/>
                </a:ext>
              </a:extLst>
            </p:cNvPr>
            <p:cNvSpPr/>
            <p:nvPr/>
          </p:nvSpPr>
          <p:spPr>
            <a:xfrm>
              <a:off x="10921989" y="1131441"/>
              <a:ext cx="488886" cy="488886"/>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GB" sz="2400" b="1" dirty="0"/>
                <a:t>3</a:t>
              </a:r>
            </a:p>
          </p:txBody>
        </p:sp>
        <p:sp>
          <p:nvSpPr>
            <p:cNvPr id="14" name="TextBox 13">
              <a:extLst>
                <a:ext uri="{FF2B5EF4-FFF2-40B4-BE49-F238E27FC236}">
                  <a16:creationId xmlns:a16="http://schemas.microsoft.com/office/drawing/2014/main" id="{DBEBC21D-8792-EB61-E94C-68412DC3AE51}"/>
                </a:ext>
              </a:extLst>
            </p:cNvPr>
            <p:cNvSpPr txBox="1"/>
            <p:nvPr/>
          </p:nvSpPr>
          <p:spPr>
            <a:xfrm>
              <a:off x="10221156" y="1656885"/>
              <a:ext cx="1828800" cy="646331"/>
            </a:xfrm>
            <a:prstGeom prst="rect">
              <a:avLst/>
            </a:prstGeom>
            <a:noFill/>
          </p:spPr>
          <p:txBody>
            <a:bodyPr wrap="square" rtlCol="0">
              <a:spAutoFit/>
            </a:bodyPr>
            <a:lstStyle/>
            <a:p>
              <a:pPr algn="ctr"/>
              <a:r>
                <a:rPr lang="en-US" sz="1800" b="1" kern="1200" dirty="0">
                  <a:solidFill>
                    <a:schemeClr val="tx1"/>
                  </a:solidFill>
                  <a:latin typeface="+mn-lt"/>
                  <a:ea typeface="+mn-ea"/>
                  <a:cs typeface="+mn-cs"/>
                </a:rPr>
                <a:t>Sequential motor activities</a:t>
              </a:r>
            </a:p>
          </p:txBody>
        </p:sp>
      </p:grpSp>
    </p:spTree>
    <p:extLst>
      <p:ext uri="{BB962C8B-B14F-4D97-AF65-F5344CB8AC3E}">
        <p14:creationId xmlns:p14="http://schemas.microsoft.com/office/powerpoint/2010/main" val="2757540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C8CD8-AB89-2AAD-6D3B-AF4C357CA3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6D70A8-882E-80E4-84FD-BA3C054A9DBB}"/>
              </a:ext>
            </a:extLst>
          </p:cNvPr>
          <p:cNvSpPr>
            <a:spLocks noGrp="1"/>
          </p:cNvSpPr>
          <p:nvPr>
            <p:ph type="title"/>
          </p:nvPr>
        </p:nvSpPr>
        <p:spPr/>
        <p:txBody>
          <a:bodyPr/>
          <a:lstStyle/>
          <a:p>
            <a:r>
              <a:rPr lang="en-GB" dirty="0"/>
              <a:t>Cerebellar </a:t>
            </a:r>
            <a:r>
              <a:rPr lang="en-GB" dirty="0" err="1"/>
              <a:t>efferents</a:t>
            </a:r>
            <a:endParaRPr lang="en-GB" dirty="0"/>
          </a:p>
        </p:txBody>
      </p:sp>
      <p:sp>
        <p:nvSpPr>
          <p:cNvPr id="8" name="Content Placeholder 7">
            <a:extLst>
              <a:ext uri="{FF2B5EF4-FFF2-40B4-BE49-F238E27FC236}">
                <a16:creationId xmlns:a16="http://schemas.microsoft.com/office/drawing/2014/main" id="{1CF28724-298D-6043-5B19-C1EA6F29C73A}"/>
              </a:ext>
            </a:extLst>
          </p:cNvPr>
          <p:cNvSpPr>
            <a:spLocks noGrp="1"/>
          </p:cNvSpPr>
          <p:nvPr>
            <p:ph idx="1"/>
          </p:nvPr>
        </p:nvSpPr>
        <p:spPr/>
        <p:txBody>
          <a:bodyPr/>
          <a:lstStyle/>
          <a:p>
            <a:endParaRPr lang="en-GB"/>
          </a:p>
        </p:txBody>
      </p:sp>
      <p:sp>
        <p:nvSpPr>
          <p:cNvPr id="359" name="Rectangle: Rounded Corners 358">
            <a:extLst>
              <a:ext uri="{FF2B5EF4-FFF2-40B4-BE49-F238E27FC236}">
                <a16:creationId xmlns:a16="http://schemas.microsoft.com/office/drawing/2014/main" id="{17A4A395-F585-C96B-1090-C818F3137799}"/>
              </a:ext>
            </a:extLst>
          </p:cNvPr>
          <p:cNvSpPr/>
          <p:nvPr/>
        </p:nvSpPr>
        <p:spPr>
          <a:xfrm>
            <a:off x="756245" y="2075277"/>
            <a:ext cx="1756372" cy="606582"/>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GB" dirty="0"/>
              <a:t>Cerebellar cortex</a:t>
            </a:r>
          </a:p>
        </p:txBody>
      </p:sp>
      <p:sp>
        <p:nvSpPr>
          <p:cNvPr id="360" name="Rectangle: Rounded Corners 359">
            <a:extLst>
              <a:ext uri="{FF2B5EF4-FFF2-40B4-BE49-F238E27FC236}">
                <a16:creationId xmlns:a16="http://schemas.microsoft.com/office/drawing/2014/main" id="{2451481D-EE19-BBA0-486E-1501FABC462C}"/>
              </a:ext>
            </a:extLst>
          </p:cNvPr>
          <p:cNvSpPr/>
          <p:nvPr/>
        </p:nvSpPr>
        <p:spPr>
          <a:xfrm>
            <a:off x="389823" y="4049214"/>
            <a:ext cx="1244608" cy="6065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Afferents</a:t>
            </a:r>
          </a:p>
        </p:txBody>
      </p:sp>
      <p:sp>
        <p:nvSpPr>
          <p:cNvPr id="361" name="Rectangle: Rounded Corners 360">
            <a:extLst>
              <a:ext uri="{FF2B5EF4-FFF2-40B4-BE49-F238E27FC236}">
                <a16:creationId xmlns:a16="http://schemas.microsoft.com/office/drawing/2014/main" id="{70578F07-3F0D-C38E-48FD-1D1C5C455196}"/>
              </a:ext>
            </a:extLst>
          </p:cNvPr>
          <p:cNvSpPr/>
          <p:nvPr/>
        </p:nvSpPr>
        <p:spPr>
          <a:xfrm>
            <a:off x="2610890" y="3557094"/>
            <a:ext cx="1059474" cy="606582"/>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GB" dirty="0"/>
              <a:t>Deep </a:t>
            </a:r>
          </a:p>
          <a:p>
            <a:pPr algn="ctr"/>
            <a:r>
              <a:rPr lang="en-GB" dirty="0"/>
              <a:t>nuclei</a:t>
            </a:r>
          </a:p>
        </p:txBody>
      </p:sp>
      <p:cxnSp>
        <p:nvCxnSpPr>
          <p:cNvPr id="364" name="Straight Arrow Connector 363">
            <a:extLst>
              <a:ext uri="{FF2B5EF4-FFF2-40B4-BE49-F238E27FC236}">
                <a16:creationId xmlns:a16="http://schemas.microsoft.com/office/drawing/2014/main" id="{B3D545E4-82DE-92EB-6EF6-C96802B159BD}"/>
              </a:ext>
            </a:extLst>
          </p:cNvPr>
          <p:cNvCxnSpPr>
            <a:cxnSpLocks/>
          </p:cNvCxnSpPr>
          <p:nvPr/>
        </p:nvCxnSpPr>
        <p:spPr>
          <a:xfrm flipV="1">
            <a:off x="1188153" y="2696920"/>
            <a:ext cx="0" cy="135229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66" name="Straight Arrow Connector 365">
            <a:extLst>
              <a:ext uri="{FF2B5EF4-FFF2-40B4-BE49-F238E27FC236}">
                <a16:creationId xmlns:a16="http://schemas.microsoft.com/office/drawing/2014/main" id="{399BAB72-C35A-82E0-6552-C7238AA5B781}"/>
              </a:ext>
            </a:extLst>
          </p:cNvPr>
          <p:cNvCxnSpPr>
            <a:cxnSpLocks/>
          </p:cNvCxnSpPr>
          <p:nvPr/>
        </p:nvCxnSpPr>
        <p:spPr>
          <a:xfrm>
            <a:off x="1945627" y="2681859"/>
            <a:ext cx="665263" cy="841575"/>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70" name="TextBox 369">
            <a:extLst>
              <a:ext uri="{FF2B5EF4-FFF2-40B4-BE49-F238E27FC236}">
                <a16:creationId xmlns:a16="http://schemas.microsoft.com/office/drawing/2014/main" id="{C8BE3DB5-0C02-5F15-E166-309B1E7CF0FC}"/>
              </a:ext>
            </a:extLst>
          </p:cNvPr>
          <p:cNvSpPr txBox="1"/>
          <p:nvPr/>
        </p:nvSpPr>
        <p:spPr>
          <a:xfrm>
            <a:off x="2591491" y="4981721"/>
            <a:ext cx="1096653" cy="369332"/>
          </a:xfrm>
          <a:prstGeom prst="rect">
            <a:avLst/>
          </a:prstGeom>
          <a:noFill/>
        </p:spPr>
        <p:txBody>
          <a:bodyPr wrap="square" rtlCol="0">
            <a:spAutoFit/>
          </a:bodyPr>
          <a:lstStyle/>
          <a:p>
            <a:pPr algn="ctr"/>
            <a:r>
              <a:rPr lang="en-GB" dirty="0"/>
              <a:t>Output</a:t>
            </a:r>
          </a:p>
        </p:txBody>
      </p:sp>
      <p:cxnSp>
        <p:nvCxnSpPr>
          <p:cNvPr id="374" name="Straight Arrow Connector 373">
            <a:extLst>
              <a:ext uri="{FF2B5EF4-FFF2-40B4-BE49-F238E27FC236}">
                <a16:creationId xmlns:a16="http://schemas.microsoft.com/office/drawing/2014/main" id="{050EC374-4067-5C69-EEF3-429A96B4B02D}"/>
              </a:ext>
            </a:extLst>
          </p:cNvPr>
          <p:cNvCxnSpPr>
            <a:cxnSpLocks/>
            <a:stCxn id="360" idx="3"/>
          </p:cNvCxnSpPr>
          <p:nvPr/>
        </p:nvCxnSpPr>
        <p:spPr>
          <a:xfrm flipV="1">
            <a:off x="1634431" y="3880805"/>
            <a:ext cx="878186" cy="47170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25" name="Straight Arrow Connector 424">
            <a:extLst>
              <a:ext uri="{FF2B5EF4-FFF2-40B4-BE49-F238E27FC236}">
                <a16:creationId xmlns:a16="http://schemas.microsoft.com/office/drawing/2014/main" id="{0BA302B5-18BD-7B51-15D5-B9C732B36C40}"/>
              </a:ext>
            </a:extLst>
          </p:cNvPr>
          <p:cNvCxnSpPr>
            <a:cxnSpLocks/>
            <a:stCxn id="361" idx="2"/>
            <a:endCxn id="370" idx="0"/>
          </p:cNvCxnSpPr>
          <p:nvPr/>
        </p:nvCxnSpPr>
        <p:spPr>
          <a:xfrm flipH="1">
            <a:off x="3139818" y="4163676"/>
            <a:ext cx="809" cy="818045"/>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900008E4-540F-4366-9D23-16EF856B337F}"/>
              </a:ext>
            </a:extLst>
          </p:cNvPr>
          <p:cNvPicPr>
            <a:picLocks noChangeAspect="1"/>
          </p:cNvPicPr>
          <p:nvPr/>
        </p:nvPicPr>
        <p:blipFill>
          <a:blip r:embed="rId2"/>
          <a:stretch>
            <a:fillRect/>
          </a:stretch>
        </p:blipFill>
        <p:spPr>
          <a:xfrm>
            <a:off x="4236471" y="1315026"/>
            <a:ext cx="7493285" cy="5131558"/>
          </a:xfrm>
          <a:prstGeom prst="rect">
            <a:avLst/>
          </a:prstGeom>
        </p:spPr>
      </p:pic>
    </p:spTree>
    <p:extLst>
      <p:ext uri="{BB962C8B-B14F-4D97-AF65-F5344CB8AC3E}">
        <p14:creationId xmlns:p14="http://schemas.microsoft.com/office/powerpoint/2010/main" val="2865518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B24A4-0333-87BB-CB40-69D839FF8C97}"/>
              </a:ext>
            </a:extLst>
          </p:cNvPr>
          <p:cNvSpPr>
            <a:spLocks noGrp="1"/>
          </p:cNvSpPr>
          <p:nvPr>
            <p:ph type="title"/>
          </p:nvPr>
        </p:nvSpPr>
        <p:spPr/>
        <p:txBody>
          <a:bodyPr/>
          <a:lstStyle/>
          <a:p>
            <a:r>
              <a:rPr lang="en-GB" dirty="0"/>
              <a:t>Learning in the cerebellum</a:t>
            </a:r>
          </a:p>
        </p:txBody>
      </p:sp>
      <p:pic>
        <p:nvPicPr>
          <p:cNvPr id="5122" name="Picture 2">
            <a:extLst>
              <a:ext uri="{FF2B5EF4-FFF2-40B4-BE49-F238E27FC236}">
                <a16:creationId xmlns:a16="http://schemas.microsoft.com/office/drawing/2014/main" id="{E1358CCD-48C8-0FF1-2AA5-7D22288A87B6}"/>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r="45256"/>
          <a:stretch>
            <a:fillRect/>
          </a:stretch>
        </p:blipFill>
        <p:spPr bwMode="auto">
          <a:xfrm>
            <a:off x="7221516" y="2010014"/>
            <a:ext cx="3726507" cy="3365500"/>
          </a:xfrm>
          <a:prstGeom prst="rect">
            <a:avLst/>
          </a:prstGeom>
          <a:noFill/>
          <a:extLst>
            <a:ext uri="{909E8E84-426E-40DD-AFC4-6F175D3DCCD1}">
              <a14:hiddenFill xmlns:a14="http://schemas.microsoft.com/office/drawing/2010/main">
                <a:solidFill>
                  <a:srgbClr val="FFFFFF"/>
                </a:solidFill>
              </a14:hiddenFill>
            </a:ext>
          </a:extLst>
        </p:spPr>
      </p:pic>
      <p:sp>
        <p:nvSpPr>
          <p:cNvPr id="5222" name="TextBox 5221">
            <a:extLst>
              <a:ext uri="{FF2B5EF4-FFF2-40B4-BE49-F238E27FC236}">
                <a16:creationId xmlns:a16="http://schemas.microsoft.com/office/drawing/2014/main" id="{612C6ED1-1861-FB80-1ED5-D0A8890BCDDE}"/>
              </a:ext>
            </a:extLst>
          </p:cNvPr>
          <p:cNvSpPr txBox="1"/>
          <p:nvPr/>
        </p:nvSpPr>
        <p:spPr>
          <a:xfrm>
            <a:off x="1243977" y="2323090"/>
            <a:ext cx="1208664" cy="646331"/>
          </a:xfrm>
          <a:prstGeom prst="rect">
            <a:avLst/>
          </a:prstGeom>
          <a:noFill/>
        </p:spPr>
        <p:txBody>
          <a:bodyPr wrap="none" rtlCol="0">
            <a:spAutoFit/>
          </a:bodyPr>
          <a:lstStyle/>
          <a:p>
            <a:r>
              <a:rPr lang="en-GB" b="1" u="sng" dirty="0"/>
              <a:t>Attempt 1</a:t>
            </a:r>
          </a:p>
          <a:p>
            <a:r>
              <a:rPr lang="en-GB" dirty="0">
                <a:solidFill>
                  <a:srgbClr val="FF0000"/>
                </a:solidFill>
              </a:rPr>
              <a:t>Error </a:t>
            </a:r>
            <a:r>
              <a:rPr lang="en-GB" dirty="0">
                <a:solidFill>
                  <a:srgbClr val="FF0000"/>
                </a:solidFill>
                <a:latin typeface="Calibri" panose="020F0502020204030204" pitchFamily="34" charset="0"/>
                <a:ea typeface="Calibri" panose="020F0502020204030204" pitchFamily="34" charset="0"/>
                <a:cs typeface="Calibri" panose="020F0502020204030204" pitchFamily="34" charset="0"/>
              </a:rPr>
              <a:t>↑</a:t>
            </a:r>
            <a:endParaRPr lang="en-GB" dirty="0">
              <a:solidFill>
                <a:srgbClr val="FF0000"/>
              </a:solidFill>
            </a:endParaRPr>
          </a:p>
        </p:txBody>
      </p:sp>
      <p:sp>
        <p:nvSpPr>
          <p:cNvPr id="5223" name="TextBox 5222">
            <a:extLst>
              <a:ext uri="{FF2B5EF4-FFF2-40B4-BE49-F238E27FC236}">
                <a16:creationId xmlns:a16="http://schemas.microsoft.com/office/drawing/2014/main" id="{D5BD5B58-AAD1-43AA-00FC-8389623D4A75}"/>
              </a:ext>
            </a:extLst>
          </p:cNvPr>
          <p:cNvSpPr txBox="1"/>
          <p:nvPr/>
        </p:nvSpPr>
        <p:spPr>
          <a:xfrm>
            <a:off x="1243977" y="4729183"/>
            <a:ext cx="1375377" cy="646331"/>
          </a:xfrm>
          <a:prstGeom prst="rect">
            <a:avLst/>
          </a:prstGeom>
          <a:noFill/>
        </p:spPr>
        <p:txBody>
          <a:bodyPr wrap="none" rtlCol="0">
            <a:spAutoFit/>
          </a:bodyPr>
          <a:lstStyle/>
          <a:p>
            <a:r>
              <a:rPr lang="en-GB" b="1" u="sng" dirty="0"/>
              <a:t>Attempt ~N</a:t>
            </a:r>
          </a:p>
          <a:p>
            <a:r>
              <a:rPr lang="en-GB" dirty="0">
                <a:solidFill>
                  <a:srgbClr val="FF0000"/>
                </a:solidFill>
              </a:rPr>
              <a:t>Error </a:t>
            </a:r>
            <a:r>
              <a:rPr lang="en-GB" dirty="0">
                <a:solidFill>
                  <a:srgbClr val="FF0000"/>
                </a:solidFill>
                <a:latin typeface="Calibri" panose="020F0502020204030204" pitchFamily="34" charset="0"/>
                <a:ea typeface="Calibri" panose="020F0502020204030204" pitchFamily="34" charset="0"/>
                <a:cs typeface="Calibri" panose="020F0502020204030204" pitchFamily="34" charset="0"/>
              </a:rPr>
              <a:t>↓</a:t>
            </a:r>
            <a:endParaRPr lang="en-GB" dirty="0">
              <a:solidFill>
                <a:srgbClr val="FF0000"/>
              </a:solidFill>
            </a:endParaRPr>
          </a:p>
        </p:txBody>
      </p:sp>
      <p:grpSp>
        <p:nvGrpSpPr>
          <p:cNvPr id="5275" name="Group 5274">
            <a:extLst>
              <a:ext uri="{FF2B5EF4-FFF2-40B4-BE49-F238E27FC236}">
                <a16:creationId xmlns:a16="http://schemas.microsoft.com/office/drawing/2014/main" id="{31BCDE37-7CC5-7226-EB46-1E09A82AAF39}"/>
              </a:ext>
            </a:extLst>
          </p:cNvPr>
          <p:cNvGrpSpPr/>
          <p:nvPr/>
        </p:nvGrpSpPr>
        <p:grpSpPr>
          <a:xfrm>
            <a:off x="2778469" y="1690688"/>
            <a:ext cx="2380488" cy="1727603"/>
            <a:chOff x="2778469" y="1690688"/>
            <a:chExt cx="2380488" cy="1727603"/>
          </a:xfrm>
        </p:grpSpPr>
        <p:grpSp>
          <p:nvGrpSpPr>
            <p:cNvPr id="5253" name="Group 5252">
              <a:extLst>
                <a:ext uri="{FF2B5EF4-FFF2-40B4-BE49-F238E27FC236}">
                  <a16:creationId xmlns:a16="http://schemas.microsoft.com/office/drawing/2014/main" id="{4A8D3713-6C9A-5B0E-99A1-683D61A210AB}"/>
                </a:ext>
              </a:extLst>
            </p:cNvPr>
            <p:cNvGrpSpPr/>
            <p:nvPr/>
          </p:nvGrpSpPr>
          <p:grpSpPr>
            <a:xfrm>
              <a:off x="2778469" y="1690688"/>
              <a:ext cx="2380488" cy="1727603"/>
              <a:chOff x="7920837" y="1403287"/>
              <a:chExt cx="2380488" cy="1727603"/>
            </a:xfrm>
          </p:grpSpPr>
          <p:sp>
            <p:nvSpPr>
              <p:cNvPr id="5224" name="TextBox 5223">
                <a:extLst>
                  <a:ext uri="{FF2B5EF4-FFF2-40B4-BE49-F238E27FC236}">
                    <a16:creationId xmlns:a16="http://schemas.microsoft.com/office/drawing/2014/main" id="{057FEC59-468E-99CE-CF75-BE4A4CA4DEF1}"/>
                  </a:ext>
                </a:extLst>
              </p:cNvPr>
              <p:cNvSpPr txBox="1"/>
              <p:nvPr/>
            </p:nvSpPr>
            <p:spPr>
              <a:xfrm>
                <a:off x="8843678" y="1403287"/>
                <a:ext cx="478016" cy="369332"/>
              </a:xfrm>
              <a:prstGeom prst="rect">
                <a:avLst/>
              </a:prstGeom>
              <a:noFill/>
            </p:spPr>
            <p:txBody>
              <a:bodyPr wrap="none" rtlCol="0">
                <a:spAutoFit/>
              </a:bodyPr>
              <a:lstStyle/>
              <a:p>
                <a:r>
                  <a:rPr lang="en-GB" dirty="0"/>
                  <a:t>PC</a:t>
                </a:r>
              </a:p>
            </p:txBody>
          </p:sp>
          <p:sp>
            <p:nvSpPr>
              <p:cNvPr id="5225" name="TextBox 5224">
                <a:extLst>
                  <a:ext uri="{FF2B5EF4-FFF2-40B4-BE49-F238E27FC236}">
                    <a16:creationId xmlns:a16="http://schemas.microsoft.com/office/drawing/2014/main" id="{A497EDE6-A3F5-2E60-A697-2D17E8F24D88}"/>
                  </a:ext>
                </a:extLst>
              </p:cNvPr>
              <p:cNvSpPr txBox="1"/>
              <p:nvPr/>
            </p:nvSpPr>
            <p:spPr>
              <a:xfrm>
                <a:off x="7920837" y="2750023"/>
                <a:ext cx="466794" cy="369332"/>
              </a:xfrm>
              <a:prstGeom prst="rect">
                <a:avLst/>
              </a:prstGeom>
              <a:noFill/>
            </p:spPr>
            <p:txBody>
              <a:bodyPr wrap="none" rtlCol="0">
                <a:spAutoFit/>
              </a:bodyPr>
              <a:lstStyle/>
              <a:p>
                <a:r>
                  <a:rPr lang="en-GB" dirty="0"/>
                  <a:t>CF</a:t>
                </a:r>
              </a:p>
            </p:txBody>
          </p:sp>
          <p:sp>
            <p:nvSpPr>
              <p:cNvPr id="5226" name="TextBox 5225">
                <a:extLst>
                  <a:ext uri="{FF2B5EF4-FFF2-40B4-BE49-F238E27FC236}">
                    <a16:creationId xmlns:a16="http://schemas.microsoft.com/office/drawing/2014/main" id="{2FD6783D-DD60-89F7-C681-887D13CBE798}"/>
                  </a:ext>
                </a:extLst>
              </p:cNvPr>
              <p:cNvSpPr txBox="1"/>
              <p:nvPr/>
            </p:nvSpPr>
            <p:spPr>
              <a:xfrm>
                <a:off x="8766275" y="2756595"/>
                <a:ext cx="667170" cy="369332"/>
              </a:xfrm>
              <a:prstGeom prst="rect">
                <a:avLst/>
              </a:prstGeom>
              <a:noFill/>
            </p:spPr>
            <p:txBody>
              <a:bodyPr wrap="none" rtlCol="0">
                <a:spAutoFit/>
              </a:bodyPr>
              <a:lstStyle/>
              <a:p>
                <a:r>
                  <a:rPr lang="en-GB" dirty="0"/>
                  <a:t>DNC</a:t>
                </a:r>
              </a:p>
            </p:txBody>
          </p:sp>
          <p:sp>
            <p:nvSpPr>
              <p:cNvPr id="5227" name="TextBox 5226">
                <a:extLst>
                  <a:ext uri="{FF2B5EF4-FFF2-40B4-BE49-F238E27FC236}">
                    <a16:creationId xmlns:a16="http://schemas.microsoft.com/office/drawing/2014/main" id="{0F938134-339E-B1D9-B00F-B2F99F47D2DA}"/>
                  </a:ext>
                </a:extLst>
              </p:cNvPr>
              <p:cNvSpPr txBox="1"/>
              <p:nvPr/>
            </p:nvSpPr>
            <p:spPr>
              <a:xfrm>
                <a:off x="9812089" y="2761558"/>
                <a:ext cx="489236" cy="369332"/>
              </a:xfrm>
              <a:prstGeom prst="rect">
                <a:avLst/>
              </a:prstGeom>
              <a:noFill/>
            </p:spPr>
            <p:txBody>
              <a:bodyPr wrap="none" rtlCol="0">
                <a:spAutoFit/>
              </a:bodyPr>
              <a:lstStyle/>
              <a:p>
                <a:r>
                  <a:rPr lang="en-GB" dirty="0"/>
                  <a:t>MF</a:t>
                </a:r>
              </a:p>
            </p:txBody>
          </p:sp>
          <p:sp>
            <p:nvSpPr>
              <p:cNvPr id="5228" name="TextBox 5227">
                <a:extLst>
                  <a:ext uri="{FF2B5EF4-FFF2-40B4-BE49-F238E27FC236}">
                    <a16:creationId xmlns:a16="http://schemas.microsoft.com/office/drawing/2014/main" id="{46E72099-839D-F58E-92D5-499F8B8BA89F}"/>
                  </a:ext>
                </a:extLst>
              </p:cNvPr>
              <p:cNvSpPr txBox="1"/>
              <p:nvPr/>
            </p:nvSpPr>
            <p:spPr>
              <a:xfrm>
                <a:off x="9691787" y="2035689"/>
                <a:ext cx="508473" cy="369332"/>
              </a:xfrm>
              <a:prstGeom prst="rect">
                <a:avLst/>
              </a:prstGeom>
              <a:noFill/>
            </p:spPr>
            <p:txBody>
              <a:bodyPr wrap="none" rtlCol="0">
                <a:spAutoFit/>
              </a:bodyPr>
              <a:lstStyle/>
              <a:p>
                <a:r>
                  <a:rPr lang="en-GB" dirty="0"/>
                  <a:t>GC</a:t>
                </a:r>
              </a:p>
            </p:txBody>
          </p:sp>
          <p:cxnSp>
            <p:nvCxnSpPr>
              <p:cNvPr id="5230" name="Straight Arrow Connector 5229">
                <a:extLst>
                  <a:ext uri="{FF2B5EF4-FFF2-40B4-BE49-F238E27FC236}">
                    <a16:creationId xmlns:a16="http://schemas.microsoft.com/office/drawing/2014/main" id="{37344D86-BE98-76F6-AB9B-E1F29899B6FF}"/>
                  </a:ext>
                </a:extLst>
              </p:cNvPr>
              <p:cNvCxnSpPr>
                <a:cxnSpLocks/>
                <a:stCxn id="5227" idx="0"/>
                <a:endCxn id="5228" idx="2"/>
              </p:cNvCxnSpPr>
              <p:nvPr/>
            </p:nvCxnSpPr>
            <p:spPr>
              <a:xfrm flipH="1" flipV="1">
                <a:off x="9946024" y="2405021"/>
                <a:ext cx="110683" cy="356537"/>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31" name="Straight Arrow Connector 5230">
                <a:extLst>
                  <a:ext uri="{FF2B5EF4-FFF2-40B4-BE49-F238E27FC236}">
                    <a16:creationId xmlns:a16="http://schemas.microsoft.com/office/drawing/2014/main" id="{A25FFB41-51F8-03F5-246A-8D797670B3EC}"/>
                  </a:ext>
                </a:extLst>
              </p:cNvPr>
              <p:cNvCxnSpPr>
                <a:cxnSpLocks/>
                <a:stCxn id="5227" idx="1"/>
                <a:endCxn id="5226" idx="3"/>
              </p:cNvCxnSpPr>
              <p:nvPr/>
            </p:nvCxnSpPr>
            <p:spPr>
              <a:xfrm flipH="1" flipV="1">
                <a:off x="9433445" y="2941261"/>
                <a:ext cx="378644" cy="4963"/>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33" name="Straight Arrow Connector 5232">
                <a:extLst>
                  <a:ext uri="{FF2B5EF4-FFF2-40B4-BE49-F238E27FC236}">
                    <a16:creationId xmlns:a16="http://schemas.microsoft.com/office/drawing/2014/main" id="{0CC023E6-3E76-BE03-E78C-594D9238EFE0}"/>
                  </a:ext>
                </a:extLst>
              </p:cNvPr>
              <p:cNvCxnSpPr>
                <a:cxnSpLocks/>
                <a:endCxn id="5226" idx="1"/>
              </p:cNvCxnSpPr>
              <p:nvPr/>
            </p:nvCxnSpPr>
            <p:spPr>
              <a:xfrm flipV="1">
                <a:off x="8387631" y="2941261"/>
                <a:ext cx="378644" cy="310"/>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35" name="Straight Arrow Connector 5234">
                <a:extLst>
                  <a:ext uri="{FF2B5EF4-FFF2-40B4-BE49-F238E27FC236}">
                    <a16:creationId xmlns:a16="http://schemas.microsoft.com/office/drawing/2014/main" id="{38EAD0CF-74DD-D678-C916-D47A568D87F2}"/>
                  </a:ext>
                </a:extLst>
              </p:cNvPr>
              <p:cNvCxnSpPr>
                <a:cxnSpLocks/>
              </p:cNvCxnSpPr>
              <p:nvPr/>
            </p:nvCxnSpPr>
            <p:spPr>
              <a:xfrm flipV="1">
                <a:off x="8368767" y="1772619"/>
                <a:ext cx="578577" cy="97740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42" name="Connector: Elbow 5241">
                <a:extLst>
                  <a:ext uri="{FF2B5EF4-FFF2-40B4-BE49-F238E27FC236}">
                    <a16:creationId xmlns:a16="http://schemas.microsoft.com/office/drawing/2014/main" id="{C219EF65-0DB3-90BE-ADC5-082C275D173E}"/>
                  </a:ext>
                </a:extLst>
              </p:cNvPr>
              <p:cNvCxnSpPr>
                <a:stCxn id="5224" idx="3"/>
                <a:endCxn id="5228" idx="0"/>
              </p:cNvCxnSpPr>
              <p:nvPr/>
            </p:nvCxnSpPr>
            <p:spPr>
              <a:xfrm>
                <a:off x="9321694" y="1587953"/>
                <a:ext cx="624330" cy="447736"/>
              </a:xfrm>
              <a:prstGeom prst="bentConnector2">
                <a:avLst/>
              </a:prstGeom>
              <a:ln w="19050">
                <a:solidFill>
                  <a:schemeClr val="tx1"/>
                </a:solidFill>
                <a:prstDash val="sysDash"/>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244" name="Straight Arrow Connector 5243">
                <a:extLst>
                  <a:ext uri="{FF2B5EF4-FFF2-40B4-BE49-F238E27FC236}">
                    <a16:creationId xmlns:a16="http://schemas.microsoft.com/office/drawing/2014/main" id="{6910E9B5-1F56-7ADD-31DB-848D7A161A1A}"/>
                  </a:ext>
                </a:extLst>
              </p:cNvPr>
              <p:cNvCxnSpPr>
                <a:stCxn id="5224" idx="2"/>
                <a:endCxn id="5226" idx="0"/>
              </p:cNvCxnSpPr>
              <p:nvPr/>
            </p:nvCxnSpPr>
            <p:spPr>
              <a:xfrm>
                <a:off x="9082686" y="1772619"/>
                <a:ext cx="17174" cy="983976"/>
              </a:xfrm>
              <a:prstGeom prst="straightConnector1">
                <a:avLst/>
              </a:prstGeom>
              <a:ln w="19050">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
          <p:nvSpPr>
            <p:cNvPr id="5269" name="Oval 5268">
              <a:extLst>
                <a:ext uri="{FF2B5EF4-FFF2-40B4-BE49-F238E27FC236}">
                  <a16:creationId xmlns:a16="http://schemas.microsoft.com/office/drawing/2014/main" id="{848CB682-8A14-E297-7731-DEAE9C31BEB5}"/>
                </a:ext>
              </a:extLst>
            </p:cNvPr>
            <p:cNvSpPr/>
            <p:nvPr/>
          </p:nvSpPr>
          <p:spPr>
            <a:xfrm>
              <a:off x="3754000" y="1697485"/>
              <a:ext cx="356188" cy="356188"/>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5270" name="Rectangle: Rounded Corners 5269">
              <a:extLst>
                <a:ext uri="{FF2B5EF4-FFF2-40B4-BE49-F238E27FC236}">
                  <a16:creationId xmlns:a16="http://schemas.microsoft.com/office/drawing/2014/main" id="{705DF41A-F830-D951-AD95-72BB30D22099}"/>
                </a:ext>
              </a:extLst>
            </p:cNvPr>
            <p:cNvSpPr/>
            <p:nvPr/>
          </p:nvSpPr>
          <p:spPr>
            <a:xfrm>
              <a:off x="3690089" y="3098800"/>
              <a:ext cx="521837" cy="264009"/>
            </a:xfrm>
            <a:prstGeom prst="round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5271" name="Rectangle: Rounded Corners 5270">
              <a:extLst>
                <a:ext uri="{FF2B5EF4-FFF2-40B4-BE49-F238E27FC236}">
                  <a16:creationId xmlns:a16="http://schemas.microsoft.com/office/drawing/2014/main" id="{566E0C57-CA29-E3B9-A6C5-B8D08B08648D}"/>
                </a:ext>
              </a:extLst>
            </p:cNvPr>
            <p:cNvSpPr/>
            <p:nvPr/>
          </p:nvSpPr>
          <p:spPr>
            <a:xfrm>
              <a:off x="4540074" y="2375751"/>
              <a:ext cx="521837" cy="264009"/>
            </a:xfrm>
            <a:prstGeom prst="round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grpSp>
      <p:grpSp>
        <p:nvGrpSpPr>
          <p:cNvPr id="5276" name="Group 5275">
            <a:extLst>
              <a:ext uri="{FF2B5EF4-FFF2-40B4-BE49-F238E27FC236}">
                <a16:creationId xmlns:a16="http://schemas.microsoft.com/office/drawing/2014/main" id="{A47B358C-5809-F52B-88AA-FF45ABA526FC}"/>
              </a:ext>
            </a:extLst>
          </p:cNvPr>
          <p:cNvGrpSpPr/>
          <p:nvPr/>
        </p:nvGrpSpPr>
        <p:grpSpPr>
          <a:xfrm>
            <a:off x="2767248" y="4199178"/>
            <a:ext cx="2380488" cy="1727603"/>
            <a:chOff x="2767248" y="4199178"/>
            <a:chExt cx="2380488" cy="1727603"/>
          </a:xfrm>
        </p:grpSpPr>
        <p:grpSp>
          <p:nvGrpSpPr>
            <p:cNvPr id="5254" name="Group 5253">
              <a:extLst>
                <a:ext uri="{FF2B5EF4-FFF2-40B4-BE49-F238E27FC236}">
                  <a16:creationId xmlns:a16="http://schemas.microsoft.com/office/drawing/2014/main" id="{41C13ADE-A052-A5E6-A99C-529C5A162B86}"/>
                </a:ext>
              </a:extLst>
            </p:cNvPr>
            <p:cNvGrpSpPr/>
            <p:nvPr/>
          </p:nvGrpSpPr>
          <p:grpSpPr>
            <a:xfrm>
              <a:off x="2767248" y="4199178"/>
              <a:ext cx="2380488" cy="1727603"/>
              <a:chOff x="7920837" y="1403287"/>
              <a:chExt cx="2380488" cy="1727603"/>
            </a:xfrm>
          </p:grpSpPr>
          <p:sp>
            <p:nvSpPr>
              <p:cNvPr id="5255" name="TextBox 5254">
                <a:extLst>
                  <a:ext uri="{FF2B5EF4-FFF2-40B4-BE49-F238E27FC236}">
                    <a16:creationId xmlns:a16="http://schemas.microsoft.com/office/drawing/2014/main" id="{621D867E-371F-BFD1-ED4E-E5C75F45CB08}"/>
                  </a:ext>
                </a:extLst>
              </p:cNvPr>
              <p:cNvSpPr txBox="1"/>
              <p:nvPr/>
            </p:nvSpPr>
            <p:spPr>
              <a:xfrm>
                <a:off x="8843678" y="1403287"/>
                <a:ext cx="478016" cy="369332"/>
              </a:xfrm>
              <a:prstGeom prst="rect">
                <a:avLst/>
              </a:prstGeom>
              <a:noFill/>
            </p:spPr>
            <p:txBody>
              <a:bodyPr wrap="none" rtlCol="0">
                <a:spAutoFit/>
              </a:bodyPr>
              <a:lstStyle/>
              <a:p>
                <a:r>
                  <a:rPr lang="en-GB" dirty="0"/>
                  <a:t>PC</a:t>
                </a:r>
              </a:p>
            </p:txBody>
          </p:sp>
          <p:sp>
            <p:nvSpPr>
              <p:cNvPr id="5256" name="TextBox 5255">
                <a:extLst>
                  <a:ext uri="{FF2B5EF4-FFF2-40B4-BE49-F238E27FC236}">
                    <a16:creationId xmlns:a16="http://schemas.microsoft.com/office/drawing/2014/main" id="{4F3D793B-5085-7A88-A4B1-615172A28454}"/>
                  </a:ext>
                </a:extLst>
              </p:cNvPr>
              <p:cNvSpPr txBox="1"/>
              <p:nvPr/>
            </p:nvSpPr>
            <p:spPr>
              <a:xfrm>
                <a:off x="7920837" y="2750023"/>
                <a:ext cx="466794" cy="369332"/>
              </a:xfrm>
              <a:prstGeom prst="rect">
                <a:avLst/>
              </a:prstGeom>
              <a:noFill/>
            </p:spPr>
            <p:txBody>
              <a:bodyPr wrap="none" rtlCol="0">
                <a:spAutoFit/>
              </a:bodyPr>
              <a:lstStyle/>
              <a:p>
                <a:r>
                  <a:rPr lang="en-GB" dirty="0"/>
                  <a:t>CF</a:t>
                </a:r>
              </a:p>
            </p:txBody>
          </p:sp>
          <p:sp>
            <p:nvSpPr>
              <p:cNvPr id="5257" name="TextBox 5256">
                <a:extLst>
                  <a:ext uri="{FF2B5EF4-FFF2-40B4-BE49-F238E27FC236}">
                    <a16:creationId xmlns:a16="http://schemas.microsoft.com/office/drawing/2014/main" id="{4CCA7ADB-79E5-46BF-E627-A48309FB1E5A}"/>
                  </a:ext>
                </a:extLst>
              </p:cNvPr>
              <p:cNvSpPr txBox="1"/>
              <p:nvPr/>
            </p:nvSpPr>
            <p:spPr>
              <a:xfrm>
                <a:off x="8766275" y="2756595"/>
                <a:ext cx="667170" cy="369332"/>
              </a:xfrm>
              <a:prstGeom prst="rect">
                <a:avLst/>
              </a:prstGeom>
              <a:noFill/>
            </p:spPr>
            <p:txBody>
              <a:bodyPr wrap="none" rtlCol="0">
                <a:spAutoFit/>
              </a:bodyPr>
              <a:lstStyle/>
              <a:p>
                <a:r>
                  <a:rPr lang="en-GB" dirty="0"/>
                  <a:t>DNC</a:t>
                </a:r>
              </a:p>
            </p:txBody>
          </p:sp>
          <p:sp>
            <p:nvSpPr>
              <p:cNvPr id="5258" name="TextBox 5257">
                <a:extLst>
                  <a:ext uri="{FF2B5EF4-FFF2-40B4-BE49-F238E27FC236}">
                    <a16:creationId xmlns:a16="http://schemas.microsoft.com/office/drawing/2014/main" id="{E7197B14-E4BB-65F6-C0D0-6A4773AFA2A3}"/>
                  </a:ext>
                </a:extLst>
              </p:cNvPr>
              <p:cNvSpPr txBox="1"/>
              <p:nvPr/>
            </p:nvSpPr>
            <p:spPr>
              <a:xfrm>
                <a:off x="9812089" y="2761558"/>
                <a:ext cx="489236" cy="369332"/>
              </a:xfrm>
              <a:prstGeom prst="rect">
                <a:avLst/>
              </a:prstGeom>
              <a:noFill/>
            </p:spPr>
            <p:txBody>
              <a:bodyPr wrap="none" rtlCol="0">
                <a:spAutoFit/>
              </a:bodyPr>
              <a:lstStyle/>
              <a:p>
                <a:r>
                  <a:rPr lang="en-GB" dirty="0"/>
                  <a:t>MF</a:t>
                </a:r>
              </a:p>
            </p:txBody>
          </p:sp>
          <p:sp>
            <p:nvSpPr>
              <p:cNvPr id="5259" name="TextBox 5258">
                <a:extLst>
                  <a:ext uri="{FF2B5EF4-FFF2-40B4-BE49-F238E27FC236}">
                    <a16:creationId xmlns:a16="http://schemas.microsoft.com/office/drawing/2014/main" id="{ACE687C8-8942-D96C-199D-0A0538D61D73}"/>
                  </a:ext>
                </a:extLst>
              </p:cNvPr>
              <p:cNvSpPr txBox="1"/>
              <p:nvPr/>
            </p:nvSpPr>
            <p:spPr>
              <a:xfrm>
                <a:off x="9691787" y="2035689"/>
                <a:ext cx="508473" cy="369332"/>
              </a:xfrm>
              <a:prstGeom prst="rect">
                <a:avLst/>
              </a:prstGeom>
              <a:noFill/>
            </p:spPr>
            <p:txBody>
              <a:bodyPr wrap="none" rtlCol="0">
                <a:spAutoFit/>
              </a:bodyPr>
              <a:lstStyle/>
              <a:p>
                <a:r>
                  <a:rPr lang="en-GB" dirty="0"/>
                  <a:t>GC</a:t>
                </a:r>
              </a:p>
            </p:txBody>
          </p:sp>
          <p:cxnSp>
            <p:nvCxnSpPr>
              <p:cNvPr id="5260" name="Straight Arrow Connector 5259">
                <a:extLst>
                  <a:ext uri="{FF2B5EF4-FFF2-40B4-BE49-F238E27FC236}">
                    <a16:creationId xmlns:a16="http://schemas.microsoft.com/office/drawing/2014/main" id="{510138EE-F9BF-9242-08D4-8CBAB2539C9C}"/>
                  </a:ext>
                </a:extLst>
              </p:cNvPr>
              <p:cNvCxnSpPr>
                <a:cxnSpLocks/>
                <a:stCxn id="5258" idx="0"/>
                <a:endCxn id="5259" idx="2"/>
              </p:cNvCxnSpPr>
              <p:nvPr/>
            </p:nvCxnSpPr>
            <p:spPr>
              <a:xfrm flipH="1" flipV="1">
                <a:off x="9946024" y="2405021"/>
                <a:ext cx="110683" cy="356537"/>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61" name="Straight Arrow Connector 5260">
                <a:extLst>
                  <a:ext uri="{FF2B5EF4-FFF2-40B4-BE49-F238E27FC236}">
                    <a16:creationId xmlns:a16="http://schemas.microsoft.com/office/drawing/2014/main" id="{177B8C33-C175-7490-C446-0DD4CEE1E544}"/>
                  </a:ext>
                </a:extLst>
              </p:cNvPr>
              <p:cNvCxnSpPr>
                <a:cxnSpLocks/>
                <a:stCxn id="5258" idx="1"/>
                <a:endCxn id="5257" idx="3"/>
              </p:cNvCxnSpPr>
              <p:nvPr/>
            </p:nvCxnSpPr>
            <p:spPr>
              <a:xfrm flipH="1" flipV="1">
                <a:off x="9433445" y="2941261"/>
                <a:ext cx="378644" cy="4963"/>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62" name="Straight Arrow Connector 5261">
                <a:extLst>
                  <a:ext uri="{FF2B5EF4-FFF2-40B4-BE49-F238E27FC236}">
                    <a16:creationId xmlns:a16="http://schemas.microsoft.com/office/drawing/2014/main" id="{42332EF6-85AE-D828-555D-AA3598F6A586}"/>
                  </a:ext>
                </a:extLst>
              </p:cNvPr>
              <p:cNvCxnSpPr>
                <a:cxnSpLocks/>
                <a:endCxn id="5257" idx="1"/>
              </p:cNvCxnSpPr>
              <p:nvPr/>
            </p:nvCxnSpPr>
            <p:spPr>
              <a:xfrm flipV="1">
                <a:off x="8387631" y="2941261"/>
                <a:ext cx="378644" cy="310"/>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63" name="Straight Arrow Connector 5262">
                <a:extLst>
                  <a:ext uri="{FF2B5EF4-FFF2-40B4-BE49-F238E27FC236}">
                    <a16:creationId xmlns:a16="http://schemas.microsoft.com/office/drawing/2014/main" id="{A5C72B59-2219-D979-4C06-11D23A622A93}"/>
                  </a:ext>
                </a:extLst>
              </p:cNvPr>
              <p:cNvCxnSpPr>
                <a:cxnSpLocks/>
              </p:cNvCxnSpPr>
              <p:nvPr/>
            </p:nvCxnSpPr>
            <p:spPr>
              <a:xfrm flipV="1">
                <a:off x="8368767" y="1772619"/>
                <a:ext cx="578577" cy="977404"/>
              </a:xfrm>
              <a:prstGeom prst="straightConnector1">
                <a:avLst/>
              </a:prstGeom>
              <a:ln w="19050">
                <a:solidFill>
                  <a:schemeClr val="tx1"/>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5264" name="Connector: Elbow 5263">
                <a:extLst>
                  <a:ext uri="{FF2B5EF4-FFF2-40B4-BE49-F238E27FC236}">
                    <a16:creationId xmlns:a16="http://schemas.microsoft.com/office/drawing/2014/main" id="{0E2C1A2C-FBF2-76B2-BA87-D3D608420DCD}"/>
                  </a:ext>
                </a:extLst>
              </p:cNvPr>
              <p:cNvCxnSpPr>
                <a:stCxn id="5255" idx="3"/>
                <a:endCxn id="5259" idx="0"/>
              </p:cNvCxnSpPr>
              <p:nvPr/>
            </p:nvCxnSpPr>
            <p:spPr>
              <a:xfrm>
                <a:off x="9321694" y="1587953"/>
                <a:ext cx="624330" cy="447736"/>
              </a:xfrm>
              <a:prstGeom prst="bentConnector2">
                <a:avLst/>
              </a:prstGeom>
              <a:ln w="38100">
                <a:solidFill>
                  <a:schemeClr val="tx1"/>
                </a:solidFill>
                <a:prstDash val="solid"/>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265" name="Straight Arrow Connector 5264">
                <a:extLst>
                  <a:ext uri="{FF2B5EF4-FFF2-40B4-BE49-F238E27FC236}">
                    <a16:creationId xmlns:a16="http://schemas.microsoft.com/office/drawing/2014/main" id="{04C59CC7-1FE1-E67B-FE20-C9882084A05C}"/>
                  </a:ext>
                </a:extLst>
              </p:cNvPr>
              <p:cNvCxnSpPr>
                <a:stCxn id="5255" idx="2"/>
                <a:endCxn id="5257" idx="0"/>
              </p:cNvCxnSpPr>
              <p:nvPr/>
            </p:nvCxnSpPr>
            <p:spPr>
              <a:xfrm>
                <a:off x="9082686" y="1772619"/>
                <a:ext cx="17174" cy="983976"/>
              </a:xfrm>
              <a:prstGeom prst="straightConnector1">
                <a:avLst/>
              </a:prstGeom>
              <a:ln w="19050">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
          <p:nvSpPr>
            <p:cNvPr id="5272" name="Oval 5271">
              <a:extLst>
                <a:ext uri="{FF2B5EF4-FFF2-40B4-BE49-F238E27FC236}">
                  <a16:creationId xmlns:a16="http://schemas.microsoft.com/office/drawing/2014/main" id="{2E11AB2A-03BE-39B1-CCDE-1301DCE54574}"/>
                </a:ext>
              </a:extLst>
            </p:cNvPr>
            <p:cNvSpPr/>
            <p:nvPr/>
          </p:nvSpPr>
          <p:spPr>
            <a:xfrm>
              <a:off x="3743310" y="4203832"/>
              <a:ext cx="356188" cy="356188"/>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5273" name="Rectangle: Rounded Corners 5272">
              <a:extLst>
                <a:ext uri="{FF2B5EF4-FFF2-40B4-BE49-F238E27FC236}">
                  <a16:creationId xmlns:a16="http://schemas.microsoft.com/office/drawing/2014/main" id="{D094258E-85A6-0145-038E-C05C2D01C9D6}"/>
                </a:ext>
              </a:extLst>
            </p:cNvPr>
            <p:cNvSpPr/>
            <p:nvPr/>
          </p:nvSpPr>
          <p:spPr>
            <a:xfrm>
              <a:off x="3679399" y="5605147"/>
              <a:ext cx="521837" cy="264009"/>
            </a:xfrm>
            <a:prstGeom prst="round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5274" name="Rectangle: Rounded Corners 5273">
              <a:extLst>
                <a:ext uri="{FF2B5EF4-FFF2-40B4-BE49-F238E27FC236}">
                  <a16:creationId xmlns:a16="http://schemas.microsoft.com/office/drawing/2014/main" id="{8FB46896-C55F-3359-61A1-BCBEF5375229}"/>
                </a:ext>
              </a:extLst>
            </p:cNvPr>
            <p:cNvSpPr/>
            <p:nvPr/>
          </p:nvSpPr>
          <p:spPr>
            <a:xfrm>
              <a:off x="4529384" y="4882098"/>
              <a:ext cx="521837" cy="264009"/>
            </a:xfrm>
            <a:prstGeom prst="round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grpSp>
      <p:sp>
        <p:nvSpPr>
          <p:cNvPr id="3" name="TextBox 2">
            <a:extLst>
              <a:ext uri="{FF2B5EF4-FFF2-40B4-BE49-F238E27FC236}">
                <a16:creationId xmlns:a16="http://schemas.microsoft.com/office/drawing/2014/main" id="{FA3CE2ED-0534-7ECA-06D3-B1634AA4AD22}"/>
              </a:ext>
            </a:extLst>
          </p:cNvPr>
          <p:cNvSpPr txBox="1"/>
          <p:nvPr/>
        </p:nvSpPr>
        <p:spPr>
          <a:xfrm>
            <a:off x="4417908" y="1447827"/>
            <a:ext cx="960263" cy="369332"/>
          </a:xfrm>
          <a:prstGeom prst="rect">
            <a:avLst/>
          </a:prstGeom>
          <a:noFill/>
        </p:spPr>
        <p:txBody>
          <a:bodyPr wrap="none" rtlCol="0">
            <a:spAutoFit/>
          </a:bodyPr>
          <a:lstStyle/>
          <a:p>
            <a:r>
              <a:rPr lang="en-GB" dirty="0">
                <a:latin typeface="Calibri" panose="020F0502020204030204" pitchFamily="34" charset="0"/>
                <a:ea typeface="Calibri" panose="020F0502020204030204" pitchFamily="34" charset="0"/>
                <a:cs typeface="Calibri" panose="020F0502020204030204" pitchFamily="34" charset="0"/>
              </a:rPr>
              <a:t>↑</a:t>
            </a:r>
            <a:r>
              <a:rPr lang="en-GB" dirty="0"/>
              <a:t>Delay</a:t>
            </a:r>
          </a:p>
        </p:txBody>
      </p:sp>
      <p:sp>
        <p:nvSpPr>
          <p:cNvPr id="4" name="TextBox 3">
            <a:extLst>
              <a:ext uri="{FF2B5EF4-FFF2-40B4-BE49-F238E27FC236}">
                <a16:creationId xmlns:a16="http://schemas.microsoft.com/office/drawing/2014/main" id="{AFC4DAF3-ECDA-BDA2-2A95-3E82CCB27A50}"/>
              </a:ext>
            </a:extLst>
          </p:cNvPr>
          <p:cNvSpPr txBox="1"/>
          <p:nvPr/>
        </p:nvSpPr>
        <p:spPr>
          <a:xfrm>
            <a:off x="4320860" y="3965528"/>
            <a:ext cx="960263" cy="369332"/>
          </a:xfrm>
          <a:prstGeom prst="rect">
            <a:avLst/>
          </a:prstGeom>
          <a:noFill/>
        </p:spPr>
        <p:txBody>
          <a:bodyPr wrap="none" rtlCol="0">
            <a:spAutoFit/>
          </a:bodyPr>
          <a:lstStyle/>
          <a:p>
            <a:r>
              <a:rPr lang="en-GB" dirty="0">
                <a:latin typeface="Calibri" panose="020F0502020204030204" pitchFamily="34" charset="0"/>
                <a:ea typeface="Calibri" panose="020F0502020204030204" pitchFamily="34" charset="0"/>
                <a:cs typeface="Calibri" panose="020F0502020204030204" pitchFamily="34" charset="0"/>
              </a:rPr>
              <a:t>↓</a:t>
            </a:r>
            <a:r>
              <a:rPr lang="en-GB" dirty="0"/>
              <a:t>Delay</a:t>
            </a:r>
          </a:p>
        </p:txBody>
      </p:sp>
    </p:spTree>
    <p:extLst>
      <p:ext uri="{BB962C8B-B14F-4D97-AF65-F5344CB8AC3E}">
        <p14:creationId xmlns:p14="http://schemas.microsoft.com/office/powerpoint/2010/main" val="42025406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0BCCD-2B48-5DFE-E4F6-C767E340BD20}"/>
              </a:ext>
            </a:extLst>
          </p:cNvPr>
          <p:cNvSpPr>
            <a:spLocks noGrp="1"/>
          </p:cNvSpPr>
          <p:nvPr>
            <p:ph type="title"/>
          </p:nvPr>
        </p:nvSpPr>
        <p:spPr/>
        <p:txBody>
          <a:bodyPr/>
          <a:lstStyle/>
          <a:p>
            <a:r>
              <a:rPr lang="en-GB" dirty="0"/>
              <a:t>Basic cerebellar processing</a:t>
            </a:r>
          </a:p>
        </p:txBody>
      </p:sp>
      <p:grpSp>
        <p:nvGrpSpPr>
          <p:cNvPr id="8" name="Group 7">
            <a:extLst>
              <a:ext uri="{FF2B5EF4-FFF2-40B4-BE49-F238E27FC236}">
                <a16:creationId xmlns:a16="http://schemas.microsoft.com/office/drawing/2014/main" id="{0B7AE3D6-48BC-0628-BBFF-E509367EBA50}"/>
              </a:ext>
            </a:extLst>
          </p:cNvPr>
          <p:cNvGrpSpPr/>
          <p:nvPr/>
        </p:nvGrpSpPr>
        <p:grpSpPr>
          <a:xfrm>
            <a:off x="1913136" y="1626178"/>
            <a:ext cx="2928174" cy="1506411"/>
            <a:chOff x="1913136" y="1626178"/>
            <a:chExt cx="2928174" cy="1506411"/>
          </a:xfrm>
        </p:grpSpPr>
        <p:sp>
          <p:nvSpPr>
            <p:cNvPr id="140" name="Rectangle: Rounded Corners 139">
              <a:extLst>
                <a:ext uri="{FF2B5EF4-FFF2-40B4-BE49-F238E27FC236}">
                  <a16:creationId xmlns:a16="http://schemas.microsoft.com/office/drawing/2014/main" id="{357813CE-EC24-0A5F-AD89-7EB2A8193282}"/>
                </a:ext>
              </a:extLst>
            </p:cNvPr>
            <p:cNvSpPr/>
            <p:nvPr/>
          </p:nvSpPr>
          <p:spPr>
            <a:xfrm>
              <a:off x="2235715" y="1626178"/>
              <a:ext cx="2278614" cy="8600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Movement begins</a:t>
              </a:r>
            </a:p>
          </p:txBody>
        </p:sp>
        <p:sp>
          <p:nvSpPr>
            <p:cNvPr id="142" name="TextBox 141">
              <a:extLst>
                <a:ext uri="{FF2B5EF4-FFF2-40B4-BE49-F238E27FC236}">
                  <a16:creationId xmlns:a16="http://schemas.microsoft.com/office/drawing/2014/main" id="{4FA83DA6-D59B-178A-F230-88C9988933AC}"/>
                </a:ext>
              </a:extLst>
            </p:cNvPr>
            <p:cNvSpPr txBox="1"/>
            <p:nvPr/>
          </p:nvSpPr>
          <p:spPr>
            <a:xfrm>
              <a:off x="1913136" y="2486258"/>
              <a:ext cx="2928174" cy="646331"/>
            </a:xfrm>
            <a:prstGeom prst="rect">
              <a:avLst/>
            </a:prstGeom>
            <a:noFill/>
          </p:spPr>
          <p:txBody>
            <a:bodyPr wrap="none" rtlCol="0">
              <a:spAutoFit/>
            </a:bodyPr>
            <a:lstStyle/>
            <a:p>
              <a:pPr algn="ctr"/>
              <a:r>
                <a:rPr lang="en-GB" dirty="0"/>
                <a:t>Turn </a:t>
              </a:r>
              <a:r>
                <a:rPr lang="en-GB" b="1" dirty="0"/>
                <a:t>on</a:t>
              </a:r>
              <a:r>
                <a:rPr lang="en-GB" dirty="0"/>
                <a:t> agonist muscles</a:t>
              </a:r>
            </a:p>
            <a:p>
              <a:pPr algn="ctr"/>
              <a:r>
                <a:rPr lang="en-GB" dirty="0"/>
                <a:t>Turn </a:t>
              </a:r>
              <a:r>
                <a:rPr lang="en-GB" b="1" dirty="0"/>
                <a:t>off</a:t>
              </a:r>
              <a:r>
                <a:rPr lang="en-GB" dirty="0"/>
                <a:t> antagonist muscles</a:t>
              </a:r>
            </a:p>
          </p:txBody>
        </p:sp>
      </p:grpSp>
      <p:grpSp>
        <p:nvGrpSpPr>
          <p:cNvPr id="7" name="Group 6">
            <a:extLst>
              <a:ext uri="{FF2B5EF4-FFF2-40B4-BE49-F238E27FC236}">
                <a16:creationId xmlns:a16="http://schemas.microsoft.com/office/drawing/2014/main" id="{A39F6496-920E-7769-DD1D-2ECE56F5FFF0}"/>
              </a:ext>
            </a:extLst>
          </p:cNvPr>
          <p:cNvGrpSpPr/>
          <p:nvPr/>
        </p:nvGrpSpPr>
        <p:grpSpPr>
          <a:xfrm>
            <a:off x="6096000" y="1626178"/>
            <a:ext cx="2929777" cy="1506410"/>
            <a:chOff x="6096000" y="1626178"/>
            <a:chExt cx="2929777" cy="1506410"/>
          </a:xfrm>
        </p:grpSpPr>
        <p:sp>
          <p:nvSpPr>
            <p:cNvPr id="141" name="Rectangle: Rounded Corners 140">
              <a:extLst>
                <a:ext uri="{FF2B5EF4-FFF2-40B4-BE49-F238E27FC236}">
                  <a16:creationId xmlns:a16="http://schemas.microsoft.com/office/drawing/2014/main" id="{370A03DD-4893-148F-E223-3A299947C2BC}"/>
                </a:ext>
              </a:extLst>
            </p:cNvPr>
            <p:cNvSpPr/>
            <p:nvPr/>
          </p:nvSpPr>
          <p:spPr>
            <a:xfrm>
              <a:off x="6514793" y="1626178"/>
              <a:ext cx="2092190" cy="8600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Movement ends</a:t>
              </a:r>
            </a:p>
          </p:txBody>
        </p:sp>
        <p:sp>
          <p:nvSpPr>
            <p:cNvPr id="143" name="TextBox 142">
              <a:extLst>
                <a:ext uri="{FF2B5EF4-FFF2-40B4-BE49-F238E27FC236}">
                  <a16:creationId xmlns:a16="http://schemas.microsoft.com/office/drawing/2014/main" id="{88A54066-BE77-1EC4-B61A-BD81CA164C21}"/>
                </a:ext>
              </a:extLst>
            </p:cNvPr>
            <p:cNvSpPr txBox="1"/>
            <p:nvPr/>
          </p:nvSpPr>
          <p:spPr>
            <a:xfrm>
              <a:off x="6096000" y="2486257"/>
              <a:ext cx="2929777" cy="646331"/>
            </a:xfrm>
            <a:prstGeom prst="rect">
              <a:avLst/>
            </a:prstGeom>
            <a:noFill/>
          </p:spPr>
          <p:txBody>
            <a:bodyPr wrap="none" rtlCol="0">
              <a:spAutoFit/>
            </a:bodyPr>
            <a:lstStyle/>
            <a:p>
              <a:pPr algn="ctr"/>
              <a:r>
                <a:rPr lang="en-GB" dirty="0"/>
                <a:t>Turn </a:t>
              </a:r>
              <a:r>
                <a:rPr lang="en-GB" b="1" dirty="0"/>
                <a:t>off</a:t>
              </a:r>
              <a:r>
                <a:rPr lang="en-GB" dirty="0"/>
                <a:t> agonist muscles</a:t>
              </a:r>
            </a:p>
            <a:p>
              <a:pPr algn="ctr"/>
              <a:r>
                <a:rPr lang="en-GB" dirty="0"/>
                <a:t>Turn </a:t>
              </a:r>
              <a:r>
                <a:rPr lang="en-GB" b="1" dirty="0"/>
                <a:t>on</a:t>
              </a:r>
              <a:r>
                <a:rPr lang="en-GB" dirty="0"/>
                <a:t> antagonist muscles</a:t>
              </a:r>
            </a:p>
          </p:txBody>
        </p:sp>
      </p:grpSp>
      <p:cxnSp>
        <p:nvCxnSpPr>
          <p:cNvPr id="145" name="Straight Arrow Connector 144">
            <a:extLst>
              <a:ext uri="{FF2B5EF4-FFF2-40B4-BE49-F238E27FC236}">
                <a16:creationId xmlns:a16="http://schemas.microsoft.com/office/drawing/2014/main" id="{FBEC40C5-EAF3-1A7C-1571-61A914BE56FF}"/>
              </a:ext>
            </a:extLst>
          </p:cNvPr>
          <p:cNvCxnSpPr/>
          <p:nvPr/>
        </p:nvCxnSpPr>
        <p:spPr>
          <a:xfrm>
            <a:off x="4671951" y="2056218"/>
            <a:ext cx="1593409"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23980711-5E94-2244-E465-33A749AFA97E}"/>
              </a:ext>
            </a:extLst>
          </p:cNvPr>
          <p:cNvSpPr txBox="1"/>
          <p:nvPr/>
        </p:nvSpPr>
        <p:spPr>
          <a:xfrm>
            <a:off x="90308" y="1759631"/>
            <a:ext cx="1947136" cy="1200329"/>
          </a:xfrm>
          <a:prstGeom prst="rect">
            <a:avLst/>
          </a:prstGeom>
          <a:noFill/>
        </p:spPr>
        <p:txBody>
          <a:bodyPr wrap="none" rtlCol="0">
            <a:spAutoFit/>
          </a:bodyPr>
          <a:lstStyle/>
          <a:p>
            <a:pPr algn="ctr"/>
            <a:r>
              <a:rPr lang="en-GB" sz="2400" dirty="0">
                <a:solidFill>
                  <a:schemeClr val="bg2">
                    <a:lumMod val="50000"/>
                  </a:schemeClr>
                </a:solidFill>
              </a:rPr>
              <a:t>Motor</a:t>
            </a:r>
          </a:p>
          <a:p>
            <a:pPr algn="ctr"/>
            <a:r>
              <a:rPr lang="en-GB" sz="2400" i="1" dirty="0">
                <a:solidFill>
                  <a:schemeClr val="bg2">
                    <a:lumMod val="50000"/>
                  </a:schemeClr>
                </a:solidFill>
              </a:rPr>
              <a:t>Intermediate </a:t>
            </a:r>
          </a:p>
          <a:p>
            <a:pPr algn="ctr"/>
            <a:r>
              <a:rPr lang="en-GB" sz="2400" i="1" dirty="0">
                <a:solidFill>
                  <a:schemeClr val="bg2">
                    <a:lumMod val="50000"/>
                  </a:schemeClr>
                </a:solidFill>
              </a:rPr>
              <a:t>zone</a:t>
            </a:r>
          </a:p>
        </p:txBody>
      </p:sp>
      <p:cxnSp>
        <p:nvCxnSpPr>
          <p:cNvPr id="5" name="Straight Connector 4">
            <a:extLst>
              <a:ext uri="{FF2B5EF4-FFF2-40B4-BE49-F238E27FC236}">
                <a16:creationId xmlns:a16="http://schemas.microsoft.com/office/drawing/2014/main" id="{6CC8C4D9-3D2B-0457-0C95-F1D87E99AC84}"/>
              </a:ext>
            </a:extLst>
          </p:cNvPr>
          <p:cNvCxnSpPr/>
          <p:nvPr/>
        </p:nvCxnSpPr>
        <p:spPr>
          <a:xfrm>
            <a:off x="601734" y="3675298"/>
            <a:ext cx="11120284" cy="0"/>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FF473E85-D4DC-718A-95B1-B7A516A25B38}"/>
              </a:ext>
            </a:extLst>
          </p:cNvPr>
          <p:cNvSpPr txBox="1"/>
          <p:nvPr/>
        </p:nvSpPr>
        <p:spPr>
          <a:xfrm>
            <a:off x="285966" y="4734768"/>
            <a:ext cx="1796069" cy="830997"/>
          </a:xfrm>
          <a:prstGeom prst="rect">
            <a:avLst/>
          </a:prstGeom>
          <a:noFill/>
        </p:spPr>
        <p:txBody>
          <a:bodyPr wrap="none" rtlCol="0">
            <a:spAutoFit/>
          </a:bodyPr>
          <a:lstStyle/>
          <a:p>
            <a:pPr algn="ctr"/>
            <a:r>
              <a:rPr lang="en-GB" sz="2400" dirty="0">
                <a:solidFill>
                  <a:schemeClr val="bg2">
                    <a:lumMod val="50000"/>
                  </a:schemeClr>
                </a:solidFill>
              </a:rPr>
              <a:t>Non-Motor</a:t>
            </a:r>
          </a:p>
          <a:p>
            <a:pPr algn="ctr"/>
            <a:r>
              <a:rPr lang="en-GB" sz="2400" i="1" dirty="0">
                <a:solidFill>
                  <a:schemeClr val="bg2">
                    <a:lumMod val="50000"/>
                  </a:schemeClr>
                </a:solidFill>
              </a:rPr>
              <a:t>Lateral zone</a:t>
            </a:r>
          </a:p>
        </p:txBody>
      </p:sp>
      <p:sp>
        <p:nvSpPr>
          <p:cNvPr id="9" name="TextBox 8">
            <a:extLst>
              <a:ext uri="{FF2B5EF4-FFF2-40B4-BE49-F238E27FC236}">
                <a16:creationId xmlns:a16="http://schemas.microsoft.com/office/drawing/2014/main" id="{BAB43D02-5660-3EB4-CBCA-FE65F4A267ED}"/>
              </a:ext>
            </a:extLst>
          </p:cNvPr>
          <p:cNvSpPr txBox="1"/>
          <p:nvPr/>
        </p:nvSpPr>
        <p:spPr>
          <a:xfrm>
            <a:off x="9275210" y="1626178"/>
            <a:ext cx="2580237" cy="1200329"/>
          </a:xfrm>
          <a:prstGeom prst="rect">
            <a:avLst/>
          </a:prstGeom>
          <a:noFill/>
        </p:spPr>
        <p:txBody>
          <a:bodyPr wrap="square" rtlCol="0">
            <a:spAutoFit/>
          </a:bodyPr>
          <a:lstStyle/>
          <a:p>
            <a:pPr marL="285750" indent="-285750">
              <a:buFont typeface="Arial" panose="020B0604020202020204" pitchFamily="34" charset="0"/>
              <a:buChar char="•"/>
            </a:pPr>
            <a:r>
              <a:rPr lang="en-GB" dirty="0"/>
              <a:t>Prevent overshooting movements</a:t>
            </a:r>
          </a:p>
          <a:p>
            <a:pPr marL="285750" indent="-285750">
              <a:buFont typeface="Arial" panose="020B0604020202020204" pitchFamily="34" charset="0"/>
              <a:buChar char="•"/>
            </a:pPr>
            <a:r>
              <a:rPr lang="en-GB" dirty="0"/>
              <a:t>Refine ballistic movements</a:t>
            </a:r>
          </a:p>
        </p:txBody>
      </p:sp>
      <p:grpSp>
        <p:nvGrpSpPr>
          <p:cNvPr id="14" name="Group 13">
            <a:extLst>
              <a:ext uri="{FF2B5EF4-FFF2-40B4-BE49-F238E27FC236}">
                <a16:creationId xmlns:a16="http://schemas.microsoft.com/office/drawing/2014/main" id="{DAC52699-9C41-80AB-27FF-5ABD9D976CC1}"/>
              </a:ext>
            </a:extLst>
          </p:cNvPr>
          <p:cNvGrpSpPr/>
          <p:nvPr/>
        </p:nvGrpSpPr>
        <p:grpSpPr>
          <a:xfrm>
            <a:off x="2652665" y="4498672"/>
            <a:ext cx="3862128" cy="1303187"/>
            <a:chOff x="2652665" y="3804867"/>
            <a:chExt cx="3862128" cy="1303187"/>
          </a:xfrm>
        </p:grpSpPr>
        <p:sp>
          <p:nvSpPr>
            <p:cNvPr id="10" name="Rectangle: Rounded Corners 9">
              <a:extLst>
                <a:ext uri="{FF2B5EF4-FFF2-40B4-BE49-F238E27FC236}">
                  <a16:creationId xmlns:a16="http://schemas.microsoft.com/office/drawing/2014/main" id="{D9163ABA-1EB0-7598-1555-D9A3300FE27A}"/>
                </a:ext>
              </a:extLst>
            </p:cNvPr>
            <p:cNvSpPr/>
            <p:nvPr/>
          </p:nvSpPr>
          <p:spPr>
            <a:xfrm>
              <a:off x="2652665" y="4092166"/>
              <a:ext cx="1584357" cy="65950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Cerebellum</a:t>
              </a:r>
            </a:p>
          </p:txBody>
        </p:sp>
        <p:sp>
          <p:nvSpPr>
            <p:cNvPr id="11" name="Rectangle: Rounded Corners 10">
              <a:extLst>
                <a:ext uri="{FF2B5EF4-FFF2-40B4-BE49-F238E27FC236}">
                  <a16:creationId xmlns:a16="http://schemas.microsoft.com/office/drawing/2014/main" id="{3301F9D2-CB2C-9BC9-F7E2-CC98A0AAD903}"/>
                </a:ext>
              </a:extLst>
            </p:cNvPr>
            <p:cNvSpPr/>
            <p:nvPr/>
          </p:nvSpPr>
          <p:spPr>
            <a:xfrm>
              <a:off x="4930436" y="4075266"/>
              <a:ext cx="1584357" cy="65950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Cortex</a:t>
              </a:r>
            </a:p>
          </p:txBody>
        </p:sp>
        <p:sp>
          <p:nvSpPr>
            <p:cNvPr id="12" name="Arc 11">
              <a:extLst>
                <a:ext uri="{FF2B5EF4-FFF2-40B4-BE49-F238E27FC236}">
                  <a16:creationId xmlns:a16="http://schemas.microsoft.com/office/drawing/2014/main" id="{347AEF3C-A22E-2DE4-C34E-B54F9D9EF4A5}"/>
                </a:ext>
              </a:extLst>
            </p:cNvPr>
            <p:cNvSpPr/>
            <p:nvPr/>
          </p:nvSpPr>
          <p:spPr>
            <a:xfrm rot="19407998">
              <a:off x="3858354" y="3940125"/>
              <a:ext cx="1311949" cy="1167929"/>
            </a:xfrm>
            <a:prstGeom prst="arc">
              <a:avLst>
                <a:gd name="adj1" fmla="val 16200000"/>
                <a:gd name="adj2" fmla="val 21011025"/>
              </a:avLst>
            </a:prstGeom>
            <a:ln w="381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3" name="Arc 12">
              <a:extLst>
                <a:ext uri="{FF2B5EF4-FFF2-40B4-BE49-F238E27FC236}">
                  <a16:creationId xmlns:a16="http://schemas.microsoft.com/office/drawing/2014/main" id="{91012CA5-F4E9-5289-90D6-2DB61F3B2BA4}"/>
                </a:ext>
              </a:extLst>
            </p:cNvPr>
            <p:cNvSpPr/>
            <p:nvPr/>
          </p:nvSpPr>
          <p:spPr>
            <a:xfrm rot="8789644">
              <a:off x="4002534" y="3804867"/>
              <a:ext cx="1311949" cy="1167929"/>
            </a:xfrm>
            <a:prstGeom prst="arc">
              <a:avLst>
                <a:gd name="adj1" fmla="val 16200000"/>
                <a:gd name="adj2" fmla="val 21011025"/>
              </a:avLst>
            </a:prstGeom>
            <a:ln w="381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grpSp>
      <p:sp>
        <p:nvSpPr>
          <p:cNvPr id="15" name="TextBox 14">
            <a:extLst>
              <a:ext uri="{FF2B5EF4-FFF2-40B4-BE49-F238E27FC236}">
                <a16:creationId xmlns:a16="http://schemas.microsoft.com/office/drawing/2014/main" id="{EAE4BD9F-66D6-ABE9-FD4A-C5BF4C0DA449}"/>
              </a:ext>
            </a:extLst>
          </p:cNvPr>
          <p:cNvSpPr txBox="1"/>
          <p:nvPr/>
        </p:nvSpPr>
        <p:spPr>
          <a:xfrm>
            <a:off x="7982068" y="4202231"/>
            <a:ext cx="3873379" cy="2031325"/>
          </a:xfrm>
          <a:prstGeom prst="rect">
            <a:avLst/>
          </a:prstGeom>
          <a:noFill/>
        </p:spPr>
        <p:txBody>
          <a:bodyPr wrap="square" rtlCol="0">
            <a:spAutoFit/>
          </a:bodyPr>
          <a:lstStyle/>
          <a:p>
            <a:pPr marL="285750" indent="-285750">
              <a:buFont typeface="Arial" panose="020B0604020202020204" pitchFamily="34" charset="0"/>
              <a:buChar char="•"/>
            </a:pPr>
            <a:r>
              <a:rPr lang="en-GB" dirty="0"/>
              <a:t>Planning and coordination of complex actions, including speech</a:t>
            </a:r>
          </a:p>
          <a:p>
            <a:pPr marL="285750" indent="-285750">
              <a:buFont typeface="Arial" panose="020B0604020202020204" pitchFamily="34" charset="0"/>
              <a:buChar char="•"/>
            </a:pPr>
            <a:r>
              <a:rPr lang="en-GB" dirty="0"/>
              <a:t>Planning and timing of sequential actions</a:t>
            </a:r>
          </a:p>
          <a:p>
            <a:pPr marL="285750" indent="-285750">
              <a:buFont typeface="Arial" panose="020B0604020202020204" pitchFamily="34" charset="0"/>
              <a:buChar char="•"/>
            </a:pPr>
            <a:r>
              <a:rPr lang="en-GB" dirty="0"/>
              <a:t>Prediction of progression of auditory and visual inputs</a:t>
            </a:r>
          </a:p>
        </p:txBody>
      </p:sp>
    </p:spTree>
    <p:extLst>
      <p:ext uri="{BB962C8B-B14F-4D97-AF65-F5344CB8AC3E}">
        <p14:creationId xmlns:p14="http://schemas.microsoft.com/office/powerpoint/2010/main" val="24499060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BB87F-A8A9-275F-FA47-123427A21BBB}"/>
              </a:ext>
            </a:extLst>
          </p:cNvPr>
          <p:cNvSpPr>
            <a:spLocks noGrp="1"/>
          </p:cNvSpPr>
          <p:nvPr>
            <p:ph type="title"/>
          </p:nvPr>
        </p:nvSpPr>
        <p:spPr/>
        <p:txBody>
          <a:bodyPr/>
          <a:lstStyle/>
          <a:p>
            <a:r>
              <a:rPr lang="en-GB" dirty="0"/>
              <a:t>Cerebellar disfunction</a:t>
            </a:r>
          </a:p>
        </p:txBody>
      </p:sp>
      <p:sp>
        <p:nvSpPr>
          <p:cNvPr id="3" name="Content Placeholder 2">
            <a:extLst>
              <a:ext uri="{FF2B5EF4-FFF2-40B4-BE49-F238E27FC236}">
                <a16:creationId xmlns:a16="http://schemas.microsoft.com/office/drawing/2014/main" id="{65EE190D-68FA-9BFC-C33A-365DA778F2E4}"/>
              </a:ext>
            </a:extLst>
          </p:cNvPr>
          <p:cNvSpPr>
            <a:spLocks noGrp="1"/>
          </p:cNvSpPr>
          <p:nvPr>
            <p:ph idx="1"/>
          </p:nvPr>
        </p:nvSpPr>
        <p:spPr>
          <a:xfrm>
            <a:off x="285750" y="1253331"/>
            <a:ext cx="6332334" cy="5195094"/>
          </a:xfrm>
        </p:spPr>
        <p:txBody>
          <a:bodyPr>
            <a:normAutofit fontScale="92500" lnSpcReduction="20000"/>
          </a:bodyPr>
          <a:lstStyle/>
          <a:p>
            <a:r>
              <a:rPr lang="en-GB" dirty="0"/>
              <a:t>Often damage to deep cerebellar nuclei</a:t>
            </a:r>
          </a:p>
          <a:p>
            <a:r>
              <a:rPr lang="en-GB" dirty="0"/>
              <a:t>Dysmetria  and ataxia</a:t>
            </a:r>
          </a:p>
          <a:p>
            <a:pPr lvl="1"/>
            <a:r>
              <a:rPr lang="en-GB" dirty="0"/>
              <a:t>Inability to predict extent of movements </a:t>
            </a:r>
            <a:r>
              <a:rPr lang="en-GB" dirty="0">
                <a:sym typeface="Wingdings" panose="05000000000000000000" pitchFamily="2" charset="2"/>
              </a:rPr>
              <a:t> </a:t>
            </a:r>
            <a:r>
              <a:rPr lang="en-GB" b="1" dirty="0">
                <a:sym typeface="Wingdings" panose="05000000000000000000" pitchFamily="2" charset="2"/>
              </a:rPr>
              <a:t>Dysmetria</a:t>
            </a:r>
            <a:endParaRPr lang="en-GB" b="1" dirty="0"/>
          </a:p>
          <a:p>
            <a:pPr lvl="1"/>
            <a:r>
              <a:rPr lang="en-GB" dirty="0"/>
              <a:t>Overshooting of movements and overcompensation of opposite movements </a:t>
            </a:r>
            <a:r>
              <a:rPr lang="en-GB" dirty="0">
                <a:sym typeface="Wingdings" panose="05000000000000000000" pitchFamily="2" charset="2"/>
              </a:rPr>
              <a:t> </a:t>
            </a:r>
            <a:r>
              <a:rPr lang="en-GB" b="1" dirty="0">
                <a:sym typeface="Wingdings" panose="05000000000000000000" pitchFamily="2" charset="2"/>
              </a:rPr>
              <a:t>Ataxia</a:t>
            </a:r>
          </a:p>
          <a:p>
            <a:pPr lvl="1"/>
            <a:r>
              <a:rPr lang="en-GB" dirty="0">
                <a:sym typeface="Wingdings" panose="05000000000000000000" pitchFamily="2" charset="2"/>
              </a:rPr>
              <a:t>Can also be caused by lesion of spinocerebellar tracts</a:t>
            </a:r>
          </a:p>
          <a:p>
            <a:r>
              <a:rPr lang="en-GB" dirty="0">
                <a:sym typeface="Wingdings" panose="05000000000000000000" pitchFamily="2" charset="2"/>
              </a:rPr>
              <a:t>Inability to perform rapid movement sequences  </a:t>
            </a:r>
            <a:r>
              <a:rPr lang="en-GB" b="1" dirty="0">
                <a:sym typeface="Wingdings" panose="05000000000000000000" pitchFamily="2" charset="2"/>
              </a:rPr>
              <a:t>Dysdiadochokinesia</a:t>
            </a:r>
          </a:p>
          <a:p>
            <a:r>
              <a:rPr lang="en-GB" dirty="0"/>
              <a:t>Difficulties in talking </a:t>
            </a:r>
            <a:r>
              <a:rPr lang="en-GB" dirty="0">
                <a:sym typeface="Wingdings" panose="05000000000000000000" pitchFamily="2" charset="2"/>
              </a:rPr>
              <a:t> Dysarthria</a:t>
            </a:r>
          </a:p>
          <a:p>
            <a:r>
              <a:rPr lang="en-GB" dirty="0"/>
              <a:t>Inability to fix eyes in one spot </a:t>
            </a:r>
            <a:r>
              <a:rPr lang="en-GB" dirty="0">
                <a:sym typeface="Wingdings" panose="05000000000000000000" pitchFamily="2" charset="2"/>
              </a:rPr>
              <a:t> </a:t>
            </a:r>
            <a:r>
              <a:rPr lang="en-GB" b="1" dirty="0">
                <a:sym typeface="Wingdings" panose="05000000000000000000" pitchFamily="2" charset="2"/>
              </a:rPr>
              <a:t>Cerebellar nystagmus </a:t>
            </a:r>
          </a:p>
          <a:p>
            <a:r>
              <a:rPr lang="en-GB" dirty="0">
                <a:sym typeface="Wingdings" panose="05000000000000000000" pitchFamily="2" charset="2"/>
              </a:rPr>
              <a:t>Loss of muscular tone  </a:t>
            </a:r>
            <a:r>
              <a:rPr lang="en-GB" b="1" dirty="0">
                <a:sym typeface="Wingdings" panose="05000000000000000000" pitchFamily="2" charset="2"/>
              </a:rPr>
              <a:t>Hypotonia</a:t>
            </a:r>
            <a:endParaRPr lang="en-GB" dirty="0">
              <a:sym typeface="Wingdings" panose="05000000000000000000" pitchFamily="2" charset="2"/>
            </a:endParaRPr>
          </a:p>
          <a:p>
            <a:endParaRPr lang="en-GB" dirty="0"/>
          </a:p>
        </p:txBody>
      </p:sp>
      <p:pic>
        <p:nvPicPr>
          <p:cNvPr id="4" name="Online Media 3" title="Four Examples of Ataxia | NEJM">
            <a:hlinkClick r:id="" action="ppaction://media"/>
            <a:extLst>
              <a:ext uri="{FF2B5EF4-FFF2-40B4-BE49-F238E27FC236}">
                <a16:creationId xmlns:a16="http://schemas.microsoft.com/office/drawing/2014/main" id="{CABD60CF-1EA1-9ED5-D34D-99D0E1A02231}"/>
              </a:ext>
            </a:extLst>
          </p:cNvPr>
          <p:cNvPicPr>
            <a:picLocks noRot="1" noChangeAspect="1"/>
          </p:cNvPicPr>
          <p:nvPr>
            <a:videoFile r:link="rId1"/>
          </p:nvPr>
        </p:nvPicPr>
        <p:blipFill>
          <a:blip r:embed="rId4"/>
          <a:stretch>
            <a:fillRect/>
          </a:stretch>
        </p:blipFill>
        <p:spPr>
          <a:xfrm>
            <a:off x="6749456" y="1814014"/>
            <a:ext cx="4944801" cy="3708600"/>
          </a:xfrm>
          <a:prstGeom prst="rect">
            <a:avLst/>
          </a:prstGeom>
        </p:spPr>
      </p:pic>
    </p:spTree>
    <p:extLst>
      <p:ext uri="{BB962C8B-B14F-4D97-AF65-F5344CB8AC3E}">
        <p14:creationId xmlns:p14="http://schemas.microsoft.com/office/powerpoint/2010/main" val="276696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8B5B55-F0E6-558D-0A03-D143B6DECFD5}"/>
              </a:ext>
            </a:extLst>
          </p:cNvPr>
          <p:cNvPicPr>
            <a:picLocks noChangeAspect="1"/>
          </p:cNvPicPr>
          <p:nvPr/>
        </p:nvPicPr>
        <p:blipFill>
          <a:blip r:embed="rId2"/>
          <a:stretch>
            <a:fillRect/>
          </a:stretch>
        </p:blipFill>
        <p:spPr>
          <a:xfrm>
            <a:off x="9487037" y="237370"/>
            <a:ext cx="2467926" cy="3129280"/>
          </a:xfrm>
          <a:prstGeom prst="rect">
            <a:avLst/>
          </a:prstGeom>
        </p:spPr>
      </p:pic>
      <p:pic>
        <p:nvPicPr>
          <p:cNvPr id="6" name="Picture 5">
            <a:extLst>
              <a:ext uri="{FF2B5EF4-FFF2-40B4-BE49-F238E27FC236}">
                <a16:creationId xmlns:a16="http://schemas.microsoft.com/office/drawing/2014/main" id="{DDE92F1D-B39A-3640-2CA8-BA257769EA94}"/>
              </a:ext>
            </a:extLst>
          </p:cNvPr>
          <p:cNvPicPr>
            <a:picLocks noChangeAspect="1"/>
          </p:cNvPicPr>
          <p:nvPr/>
        </p:nvPicPr>
        <p:blipFill>
          <a:blip r:embed="rId3"/>
          <a:stretch>
            <a:fillRect/>
          </a:stretch>
        </p:blipFill>
        <p:spPr>
          <a:xfrm>
            <a:off x="6952820" y="3491351"/>
            <a:ext cx="2456604" cy="3114924"/>
          </a:xfrm>
          <a:prstGeom prst="rect">
            <a:avLst/>
          </a:prstGeom>
        </p:spPr>
      </p:pic>
      <p:pic>
        <p:nvPicPr>
          <p:cNvPr id="7" name="Picture 6">
            <a:extLst>
              <a:ext uri="{FF2B5EF4-FFF2-40B4-BE49-F238E27FC236}">
                <a16:creationId xmlns:a16="http://schemas.microsoft.com/office/drawing/2014/main" id="{C352318D-2861-BC79-C0CF-D12053462778}"/>
              </a:ext>
            </a:extLst>
          </p:cNvPr>
          <p:cNvPicPr>
            <a:picLocks noChangeAspect="1"/>
          </p:cNvPicPr>
          <p:nvPr/>
        </p:nvPicPr>
        <p:blipFill>
          <a:blip r:embed="rId4"/>
          <a:stretch>
            <a:fillRect/>
          </a:stretch>
        </p:blipFill>
        <p:spPr>
          <a:xfrm>
            <a:off x="6952820" y="237370"/>
            <a:ext cx="2456604" cy="3129280"/>
          </a:xfrm>
          <a:prstGeom prst="rect">
            <a:avLst/>
          </a:prstGeom>
        </p:spPr>
      </p:pic>
      <p:pic>
        <p:nvPicPr>
          <p:cNvPr id="9" name="Picture 8">
            <a:extLst>
              <a:ext uri="{FF2B5EF4-FFF2-40B4-BE49-F238E27FC236}">
                <a16:creationId xmlns:a16="http://schemas.microsoft.com/office/drawing/2014/main" id="{1B867736-27E3-40BB-D8B1-EB44D0820590}"/>
              </a:ext>
            </a:extLst>
          </p:cNvPr>
          <p:cNvPicPr>
            <a:picLocks noChangeAspect="1"/>
          </p:cNvPicPr>
          <p:nvPr/>
        </p:nvPicPr>
        <p:blipFill>
          <a:blip r:embed="rId5"/>
          <a:stretch>
            <a:fillRect/>
          </a:stretch>
        </p:blipFill>
        <p:spPr>
          <a:xfrm>
            <a:off x="9510111" y="3491351"/>
            <a:ext cx="2444852" cy="3114924"/>
          </a:xfrm>
          <a:prstGeom prst="rect">
            <a:avLst/>
          </a:prstGeom>
        </p:spPr>
      </p:pic>
      <p:sp>
        <p:nvSpPr>
          <p:cNvPr id="10" name="TextBox 9">
            <a:extLst>
              <a:ext uri="{FF2B5EF4-FFF2-40B4-BE49-F238E27FC236}">
                <a16:creationId xmlns:a16="http://schemas.microsoft.com/office/drawing/2014/main" id="{09E3912C-34D7-83FD-B297-8CCCD76B201E}"/>
              </a:ext>
            </a:extLst>
          </p:cNvPr>
          <p:cNvSpPr txBox="1"/>
          <p:nvPr/>
        </p:nvSpPr>
        <p:spPr>
          <a:xfrm>
            <a:off x="972717" y="5671090"/>
            <a:ext cx="4436315" cy="646331"/>
          </a:xfrm>
          <a:prstGeom prst="rect">
            <a:avLst/>
          </a:prstGeom>
          <a:solidFill>
            <a:schemeClr val="tx2">
              <a:lumMod val="25000"/>
              <a:lumOff val="75000"/>
            </a:schemeClr>
          </a:solidFill>
        </p:spPr>
        <p:txBody>
          <a:bodyPr wrap="square" rtlCol="0">
            <a:spAutoFit/>
          </a:bodyPr>
          <a:lstStyle/>
          <a:p>
            <a:pPr algn="ctr"/>
            <a:r>
              <a:rPr lang="en-GB" dirty="0"/>
              <a:t>Contact:</a:t>
            </a:r>
            <a:br>
              <a:rPr lang="en-GB" dirty="0"/>
            </a:br>
            <a:r>
              <a:rPr lang="en-GB" b="1" dirty="0"/>
              <a:t>vm491@cam.ac.uk</a:t>
            </a:r>
          </a:p>
        </p:txBody>
      </p:sp>
      <p:sp>
        <p:nvSpPr>
          <p:cNvPr id="2" name="Title 1">
            <a:extLst>
              <a:ext uri="{FF2B5EF4-FFF2-40B4-BE49-F238E27FC236}">
                <a16:creationId xmlns:a16="http://schemas.microsoft.com/office/drawing/2014/main" id="{4D3533D0-DEC1-47C5-C946-6CF16A8E3A48}"/>
              </a:ext>
            </a:extLst>
          </p:cNvPr>
          <p:cNvSpPr>
            <a:spLocks noGrp="1"/>
          </p:cNvSpPr>
          <p:nvPr>
            <p:ph type="title"/>
          </p:nvPr>
        </p:nvSpPr>
        <p:spPr/>
        <p:txBody>
          <a:bodyPr/>
          <a:lstStyle/>
          <a:p>
            <a:r>
              <a:rPr lang="en-GB" dirty="0"/>
              <a:t>Questions?</a:t>
            </a:r>
          </a:p>
        </p:txBody>
      </p:sp>
      <p:sp>
        <p:nvSpPr>
          <p:cNvPr id="3" name="Content Placeholder 2">
            <a:extLst>
              <a:ext uri="{FF2B5EF4-FFF2-40B4-BE49-F238E27FC236}">
                <a16:creationId xmlns:a16="http://schemas.microsoft.com/office/drawing/2014/main" id="{4C76096B-7B8D-5C71-D1AD-2E82B874076B}"/>
              </a:ext>
            </a:extLst>
          </p:cNvPr>
          <p:cNvSpPr>
            <a:spLocks noGrp="1"/>
          </p:cNvSpPr>
          <p:nvPr>
            <p:ph idx="1"/>
          </p:nvPr>
        </p:nvSpPr>
        <p:spPr>
          <a:xfrm>
            <a:off x="285750" y="1253331"/>
            <a:ext cx="5810250" cy="4269283"/>
          </a:xfrm>
        </p:spPr>
        <p:txBody>
          <a:bodyPr>
            <a:normAutofit fontScale="92500" lnSpcReduction="20000"/>
          </a:bodyPr>
          <a:lstStyle/>
          <a:p>
            <a:r>
              <a:rPr lang="en-GB" dirty="0"/>
              <a:t>Specific reading:</a:t>
            </a:r>
          </a:p>
          <a:p>
            <a:pPr lvl="1"/>
            <a:r>
              <a:rPr lang="en-GB" b="1" dirty="0"/>
              <a:t>Clinical Neuroanatomy</a:t>
            </a:r>
            <a:r>
              <a:rPr lang="en-GB" dirty="0"/>
              <a:t>, </a:t>
            </a:r>
            <a:r>
              <a:rPr lang="en-GB" sz="1400" dirty="0">
                <a:latin typeface="Myriad-Roman"/>
              </a:rPr>
              <a:t>Hans J. ten </a:t>
            </a:r>
            <a:r>
              <a:rPr lang="en-GB" sz="1400" dirty="0" err="1">
                <a:latin typeface="Myriad-Roman"/>
              </a:rPr>
              <a:t>Donkelaar</a:t>
            </a:r>
            <a:r>
              <a:rPr lang="en-GB" sz="1400" dirty="0">
                <a:latin typeface="Myriad-Roman"/>
              </a:rPr>
              <a:t>, ISBN 978-3-642-19133-6</a:t>
            </a:r>
          </a:p>
          <a:p>
            <a:pPr lvl="1"/>
            <a:endParaRPr lang="en-GB" dirty="0"/>
          </a:p>
          <a:p>
            <a:pPr lvl="1"/>
            <a:r>
              <a:rPr lang="en-GB" b="1" dirty="0"/>
              <a:t>Clinical Neuroanatomy and Neuroscience</a:t>
            </a:r>
            <a:r>
              <a:rPr lang="en-GB" dirty="0"/>
              <a:t>, </a:t>
            </a:r>
            <a:r>
              <a:rPr lang="en-GB" dirty="0" err="1"/>
              <a:t>Estomih</a:t>
            </a:r>
            <a:r>
              <a:rPr lang="en-GB" dirty="0"/>
              <a:t> </a:t>
            </a:r>
            <a:r>
              <a:rPr lang="en-GB" dirty="0" err="1"/>
              <a:t>Mtui</a:t>
            </a:r>
            <a:r>
              <a:rPr lang="en-GB" dirty="0"/>
              <a:t> &amp; Gregory Gruener &amp; Peter Dockery, ISBN </a:t>
            </a:r>
            <a:r>
              <a:rPr lang="en-GB" dirty="0">
                <a:solidFill>
                  <a:srgbClr val="333333"/>
                </a:solidFill>
                <a:latin typeface="nexussanscompproregular"/>
              </a:rPr>
              <a:t>9780702079092</a:t>
            </a:r>
          </a:p>
          <a:p>
            <a:pPr lvl="1"/>
            <a:endParaRPr lang="en-GB" dirty="0">
              <a:solidFill>
                <a:srgbClr val="333333"/>
              </a:solidFill>
              <a:latin typeface="nexussanscompproregular"/>
            </a:endParaRPr>
          </a:p>
          <a:p>
            <a:pPr lvl="1"/>
            <a:r>
              <a:rPr lang="en-GB" dirty="0"/>
              <a:t>Thomas H. Champney - </a:t>
            </a:r>
            <a:r>
              <a:rPr lang="en-GB" b="1" dirty="0"/>
              <a:t>Essential Clinical Neuroanatomy </a:t>
            </a:r>
            <a:r>
              <a:rPr lang="en-GB" dirty="0"/>
              <a:t>1</a:t>
            </a:r>
            <a:r>
              <a:rPr lang="en-GB" baseline="30000" dirty="0"/>
              <a:t>th</a:t>
            </a:r>
            <a:r>
              <a:rPr lang="en-GB" dirty="0"/>
              <a:t> ed (2016) ISBN: 978-1-118-43993-7</a:t>
            </a:r>
          </a:p>
          <a:p>
            <a:pPr lvl="1"/>
            <a:endParaRPr lang="en-GB" dirty="0"/>
          </a:p>
          <a:p>
            <a:pPr lvl="1"/>
            <a:r>
              <a:rPr lang="en-GB" dirty="0"/>
              <a:t>Guyton and Hall Textbook of Medical Physiology 12</a:t>
            </a:r>
            <a:r>
              <a:rPr lang="en-GB" baseline="30000" dirty="0"/>
              <a:t>th</a:t>
            </a:r>
            <a:r>
              <a:rPr lang="en-GB" dirty="0"/>
              <a:t> ed (2011) ISBN: 978-1-4160-4574-8</a:t>
            </a:r>
          </a:p>
          <a:p>
            <a:pPr lvl="1"/>
            <a:endParaRPr lang="en-GB" dirty="0"/>
          </a:p>
          <a:p>
            <a:endParaRPr lang="en-GB" dirty="0"/>
          </a:p>
        </p:txBody>
      </p:sp>
    </p:spTree>
    <p:extLst>
      <p:ext uri="{BB962C8B-B14F-4D97-AF65-F5344CB8AC3E}">
        <p14:creationId xmlns:p14="http://schemas.microsoft.com/office/powerpoint/2010/main" val="20711553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1336</Words>
  <Application>Microsoft Office PowerPoint</Application>
  <PresentationFormat>Widescreen</PresentationFormat>
  <Paragraphs>265</Paragraphs>
  <Slides>20</Slides>
  <Notes>3</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AdvOT1ef757c0</vt:lpstr>
      <vt:lpstr>Aptos</vt:lpstr>
      <vt:lpstr>Aptos Display</vt:lpstr>
      <vt:lpstr>Arial</vt:lpstr>
      <vt:lpstr>Calibri</vt:lpstr>
      <vt:lpstr>Myriad-Roman</vt:lpstr>
      <vt:lpstr>nexussanscompproregular</vt:lpstr>
      <vt:lpstr>Wingdings</vt:lpstr>
      <vt:lpstr>Office Theme</vt:lpstr>
      <vt:lpstr>Cerebellum</vt:lpstr>
      <vt:lpstr>The cerebellum refines actions</vt:lpstr>
      <vt:lpstr>Gross cerebellar anatomy</vt:lpstr>
      <vt:lpstr>Different cerebellar areas and functions</vt:lpstr>
      <vt:lpstr>Different cerebellar areas and functions</vt:lpstr>
      <vt:lpstr>Deep cerebellar nuclei </vt:lpstr>
      <vt:lpstr>Cerebellar peduncles: the gateways of the cerebellum</vt:lpstr>
      <vt:lpstr>Cerebellar afferents: brain</vt:lpstr>
      <vt:lpstr>Cerebellar afferents: body</vt:lpstr>
      <vt:lpstr>Cells of the cerebellum</vt:lpstr>
      <vt:lpstr>Neuronal circuitry: Purkinje cells</vt:lpstr>
      <vt:lpstr>Neuronal circuitry </vt:lpstr>
      <vt:lpstr>Neuronal circuitry </vt:lpstr>
      <vt:lpstr>Neuronal circuitry </vt:lpstr>
      <vt:lpstr>Cerebellar efferents</vt:lpstr>
      <vt:lpstr>Cerebellar efferents</vt:lpstr>
      <vt:lpstr>Learning in the cerebellum</vt:lpstr>
      <vt:lpstr>Basic cerebellar processing</vt:lpstr>
      <vt:lpstr>Cerebellar disfunction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Elvio Mendes</dc:creator>
  <cp:lastModifiedBy>Elvio Mendes</cp:lastModifiedBy>
  <cp:revision>2</cp:revision>
  <dcterms:created xsi:type="dcterms:W3CDTF">2025-11-18T11:46:51Z</dcterms:created>
  <dcterms:modified xsi:type="dcterms:W3CDTF">2025-11-18T11:47:37Z</dcterms:modified>
</cp:coreProperties>
</file>