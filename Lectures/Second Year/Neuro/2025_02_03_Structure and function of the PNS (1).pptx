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23" r:id="rId2"/>
    <p:sldId id="627" r:id="rId3"/>
    <p:sldId id="626" r:id="rId4"/>
    <p:sldId id="632" r:id="rId5"/>
    <p:sldId id="636" r:id="rId6"/>
    <p:sldId id="637" r:id="rId7"/>
    <p:sldId id="624" r:id="rId8"/>
    <p:sldId id="629" r:id="rId9"/>
    <p:sldId id="633" r:id="rId10"/>
    <p:sldId id="628" r:id="rId11"/>
    <p:sldId id="630" r:id="rId12"/>
    <p:sldId id="631" r:id="rId13"/>
    <p:sldId id="634" r:id="rId14"/>
    <p:sldId id="638" r:id="rId15"/>
    <p:sldId id="639" r:id="rId16"/>
    <p:sldId id="640" r:id="rId17"/>
    <p:sldId id="641" r:id="rId18"/>
    <p:sldId id="643" r:id="rId19"/>
    <p:sldId id="642" r:id="rId20"/>
    <p:sldId id="64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EEE0-6C15-332C-03CE-1FB761079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74650-05BC-2727-3E78-FE0D9FDD2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1900"/>
            <a:ext cx="9144000" cy="1041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E5A5-9A2E-BBC3-51DD-64C236D3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6BD79-E916-CA00-4428-4C7D9233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6289-CE30-D32A-A794-EAF2F089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11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AB9F-74B9-519E-23CE-06079D3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" y="1"/>
            <a:ext cx="10515600" cy="1099738"/>
          </a:xfrm>
          <a:ln w="50800">
            <a:noFill/>
          </a:ln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81E1-6CAB-684F-AF8C-DBE7BFB9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buFont typeface="Calibri" panose="020F0502020204030204" pitchFamily="34" charset="0"/>
              <a:buChar char="-"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D57D-2FA7-E23E-5202-D2F5D7CF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1250-2AA3-7B82-250B-36C9C500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A65FA-49BE-BA14-AD4E-217BA922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43F5B8-64AC-AA8C-B0F0-34977FF8151B}"/>
              </a:ext>
            </a:extLst>
          </p:cNvPr>
          <p:cNvCxnSpPr>
            <a:cxnSpLocks/>
          </p:cNvCxnSpPr>
          <p:nvPr userDrawn="1"/>
        </p:nvCxnSpPr>
        <p:spPr>
          <a:xfrm>
            <a:off x="15240" y="1099738"/>
            <a:ext cx="6080760" cy="0"/>
          </a:xfrm>
          <a:prstGeom prst="line">
            <a:avLst/>
          </a:prstGeom>
          <a:ln w="76200">
            <a:gradFill flip="none" rotWithShape="1">
              <a:gsLst>
                <a:gs pos="900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37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6B4C-D83B-09F4-87FF-81995092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807500"/>
            <a:ext cx="10515600" cy="1243000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C1CB4-76D4-CD2D-FDD1-114A3E2D6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BCA2F-3270-6FDC-F7DF-86388E11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23F5-5057-AE1B-B770-54251FA7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F9FC-0C0C-380F-3528-411C220B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BE8429-A823-FFFE-53D7-115B7A7E5959}"/>
              </a:ext>
            </a:extLst>
          </p:cNvPr>
          <p:cNvCxnSpPr>
            <a:cxnSpLocks/>
          </p:cNvCxnSpPr>
          <p:nvPr userDrawn="1"/>
        </p:nvCxnSpPr>
        <p:spPr>
          <a:xfrm>
            <a:off x="831850" y="4050500"/>
            <a:ext cx="7546837" cy="0"/>
          </a:xfrm>
          <a:prstGeom prst="line">
            <a:avLst/>
          </a:prstGeom>
          <a:ln w="76200">
            <a:gradFill flip="none" rotWithShape="1">
              <a:gsLst>
                <a:gs pos="900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21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1883-5795-340B-23C7-DE47019D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403E4-7B9A-7900-4429-402EA796C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A5E7F-F98C-DDFB-40B5-21DCC0F3A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6A96E-EF34-ED97-D773-6138A14E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5EB37-0393-0BB3-5104-F071DB6C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5FE88-BD21-BDD1-5D6C-6AAF1821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3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291D-716C-F890-3B69-F5C60B8F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A474B-0FB8-D02C-3343-889BDACB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EDF34-0668-18EE-BBC5-1036190F3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5ED98-F39C-AA73-33F9-A080642D8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D7CCF-9450-26D0-5693-A22DD3AC8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4316F-A405-DA59-BC21-AE152300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F9C19-BDE3-91EA-F420-51761BDD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E628C-D854-4DDD-DC16-44534F9D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07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B5E9-A9B2-677A-09A0-F4905C43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378A0-9C42-0D12-FEC4-254EDA3D2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FA7B4-10C7-A7D4-C6FB-03A565A3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1687A-E291-E9AA-2B28-17107DB8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02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525F2-BB6B-9F3A-44E1-BAFB5E7C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D4260-4297-7D6A-0EDD-65B19CE6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00D78-6B24-6F9F-1E07-157D1233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7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7722-B838-7B70-F10A-A1C16F16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B258-C8DB-21F3-3CFE-198E5D73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3F25-5630-5F34-80D2-BA2F782F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2ED58-FDA6-64DC-DCC2-1FFB3A44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AA41-BC6F-FAB2-3708-57EA770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4D31-620B-D654-EA8A-1D69CB51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2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B609-BB00-61B1-FFD0-1BBE9F51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7BDAA-37E0-0D86-12E7-35FAEF619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8628F-52E7-640C-95AB-9226ED6E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458E4-A280-AEBB-A8E5-50848734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B8BF7-8BB6-908B-7AC2-ED5D3F25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37CC8-8EE4-B673-6785-944453C4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5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B2BE-5837-D95B-7CFD-419F555E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771DA-AD09-0675-D135-57EC778A3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63F8-C2B6-11B4-DA65-BEBE2FE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672A6-5B50-C1D9-B33F-3EB5D33A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7D9C0-8D02-F971-C486-E51528CA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23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B8BCE-775E-9D23-5B9D-2B1A8BF6C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CFF2D-DE0F-BA2A-7B64-DB5104734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B6DFB-18D8-9848-1A4D-D4C7F2D0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6FC4-FF86-1C96-7678-F2FAFBFD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692C-B137-FC06-4497-A047F44C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833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41B40-E42D-FBF7-8D4A-6006755C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B5BB4-11C5-3DF6-7713-27528F19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83B0-9224-8AD1-412A-BD9F1BACD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7262E-E85F-10E3-9479-64D7A1FF5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A64E-5116-C095-DDC5-7FC84BF1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7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5A837-5DA2-3D07-A622-D5D1D29CB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Structure and function of the PNS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3BDA35-A76B-4219-A6EB-8A1DFAF15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0438"/>
            <a:ext cx="1630362" cy="124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NEUReka! Seminar Series">
            <a:extLst>
              <a:ext uri="{FF2B5EF4-FFF2-40B4-BE49-F238E27FC236}">
                <a16:creationId xmlns:a16="http://schemas.microsoft.com/office/drawing/2014/main" id="{84045CC0-D977-DAB9-F77E-9545546B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414" y="89482"/>
            <a:ext cx="4082498" cy="133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1CF83BB-8267-5781-D4BF-5CCC5E53A11E}"/>
              </a:ext>
            </a:extLst>
          </p:cNvPr>
          <p:cNvSpPr txBox="1">
            <a:spLocks/>
          </p:cNvSpPr>
          <p:nvPr/>
        </p:nvSpPr>
        <p:spPr>
          <a:xfrm>
            <a:off x="1524000" y="5561012"/>
            <a:ext cx="9144000" cy="1002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Vincenzo Mastrolia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 Associate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Centre for Developmental Neurobiology (CDN)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King’s College London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4E31-3C9E-B88E-4217-495D832E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8D25-7034-D546-7C1D-916EDCE7B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488557" cy="4351338"/>
          </a:xfrm>
        </p:spPr>
        <p:txBody>
          <a:bodyPr/>
          <a:lstStyle/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Identify the 12 pairs of cranial nerves and 31 pairs of spinal nerves 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Describe the formation of spinal nerves and describe the general principles of their distribution 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Define the term ‘nerve plexus’ 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Define the terms ‘dermatome’ and ‘myotome’ 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Outline the basic organisation and functions of the autonomic nervous system 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Differentiate between sympathetic and parasympathetic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efferents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marL="342900" indent="-342900" algn="l" rtl="0" fontAlgn="base">
              <a:buClr>
                <a:srgbClr val="0055A6"/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Highlight the control centres for the autonomic nervous system </a:t>
            </a:r>
          </a:p>
          <a:p>
            <a:pPr marL="342900" indent="-342900">
              <a:buClr>
                <a:srgbClr val="0055A6"/>
              </a:buClr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87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2BA4-37D8-F4F5-96A1-BD64BF29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090A-6CC2-C323-1F69-52EB3024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the nerves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EEB33A-03B6-4D8D-F08F-9B7CB8700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BA5FC8-93EC-A257-3B16-4AB9D1C4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8" y="1324768"/>
            <a:ext cx="5767644" cy="4750904"/>
          </a:xfrm>
          <a:prstGeom prst="rect">
            <a:avLst/>
          </a:prstGeom>
        </p:spPr>
      </p:pic>
      <p:pic>
        <p:nvPicPr>
          <p:cNvPr id="3" name="Picture 2" descr="Back view and top view of section of spine, showing discs, spinal cord, nerve roots, and vertebrae">
            <a:extLst>
              <a:ext uri="{FF2B5EF4-FFF2-40B4-BE49-F238E27FC236}">
                <a16:creationId xmlns:a16="http://schemas.microsoft.com/office/drawing/2014/main" id="{C9EA6018-6A54-C752-97D6-4E7E07092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934" y="1099739"/>
            <a:ext cx="4102542" cy="267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9DD718-10BB-D155-76B0-A123EA1A9E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04" t="15853" r="3233"/>
          <a:stretch/>
        </p:blipFill>
        <p:spPr>
          <a:xfrm>
            <a:off x="5996609" y="3827355"/>
            <a:ext cx="5701748" cy="266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8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BFE9-4BF9-4A88-B446-99A108ED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DB25-A8BA-681A-E9CB-BD6FC3D3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body segmentation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6FF0C7A-D7D0-DD02-D135-08F3E88AB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411"/>
          <a:stretch/>
        </p:blipFill>
        <p:spPr>
          <a:xfrm>
            <a:off x="498316" y="1343818"/>
            <a:ext cx="4560702" cy="49809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BD9B1E-83D1-ECB2-5F92-EACE7A4D42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4" t="2318" r="17448" b="9421"/>
          <a:stretch/>
        </p:blipFill>
        <p:spPr>
          <a:xfrm>
            <a:off x="6499295" y="1252331"/>
            <a:ext cx="4613550" cy="4999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AD2A4C-1602-3354-4BC7-867B21C0C3A7}"/>
              </a:ext>
            </a:extLst>
          </p:cNvPr>
          <p:cNvSpPr txBox="1"/>
          <p:nvPr/>
        </p:nvSpPr>
        <p:spPr>
          <a:xfrm>
            <a:off x="7459317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dermatome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725D2-6BDF-188D-5F9D-8C6122D89B03}"/>
              </a:ext>
            </a:extLst>
          </p:cNvPr>
          <p:cNvSpPr txBox="1"/>
          <p:nvPr/>
        </p:nvSpPr>
        <p:spPr>
          <a:xfrm>
            <a:off x="577215" y="6248352"/>
            <a:ext cx="37416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31 spinal nerves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8 cervical, 12 thoracic, 5 lumbar, 5 sacral, 1 coccygeal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22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8AE0-C893-908E-629A-5122B33B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2D95-8082-58A5-1BF0-D051C3A5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body segmentation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CAA96D39-B71F-BC80-DDAD-B4CFAB5CE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r="13411"/>
          <a:stretch/>
        </p:blipFill>
        <p:spPr>
          <a:xfrm>
            <a:off x="496800" y="1342800"/>
            <a:ext cx="4560702" cy="49809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56170-B254-36EC-99D1-5465E6E331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4" t="2318" r="17448" b="9421"/>
          <a:stretch/>
        </p:blipFill>
        <p:spPr>
          <a:xfrm>
            <a:off x="6499295" y="1252331"/>
            <a:ext cx="4613550" cy="4999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407B17-988F-A5DF-E8D4-2AAC0A9AB472}"/>
              </a:ext>
            </a:extLst>
          </p:cNvPr>
          <p:cNvSpPr txBox="1"/>
          <p:nvPr/>
        </p:nvSpPr>
        <p:spPr>
          <a:xfrm>
            <a:off x="7459317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dermatome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097DB-B2EC-192B-35BF-5FF5CCEA64D4}"/>
              </a:ext>
            </a:extLst>
          </p:cNvPr>
          <p:cNvSpPr txBox="1"/>
          <p:nvPr/>
        </p:nvSpPr>
        <p:spPr>
          <a:xfrm>
            <a:off x="577215" y="6248352"/>
            <a:ext cx="37416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31 spinal nerves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8 cervical, 12 thoracic, 5 lumbar, 5 sacral, 1 coccygeal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AD32D19-1BDB-720E-7AA8-2C99F48421B5}"/>
              </a:ext>
            </a:extLst>
          </p:cNvPr>
          <p:cNvSpPr/>
          <p:nvPr/>
        </p:nvSpPr>
        <p:spPr>
          <a:xfrm>
            <a:off x="1821180" y="2004060"/>
            <a:ext cx="198120" cy="24688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E20B7F-6799-0089-214B-AA762F3E0567}"/>
              </a:ext>
            </a:extLst>
          </p:cNvPr>
          <p:cNvSpPr txBox="1"/>
          <p:nvPr/>
        </p:nvSpPr>
        <p:spPr>
          <a:xfrm>
            <a:off x="886822" y="3100000"/>
            <a:ext cx="976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Spinal cord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8318CBD-E9FD-63FD-0A81-18AFED4A6A3D}"/>
              </a:ext>
            </a:extLst>
          </p:cNvPr>
          <p:cNvSpPr/>
          <p:nvPr/>
        </p:nvSpPr>
        <p:spPr>
          <a:xfrm flipH="1">
            <a:off x="2951500" y="2004060"/>
            <a:ext cx="198120" cy="368046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2D742-9759-BCE4-09A5-171FA07C96BA}"/>
              </a:ext>
            </a:extLst>
          </p:cNvPr>
          <p:cNvSpPr txBox="1"/>
          <p:nvPr/>
        </p:nvSpPr>
        <p:spPr>
          <a:xfrm flipH="1">
            <a:off x="3149620" y="3705790"/>
            <a:ext cx="1243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Vertebral canal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F434D-7683-66EA-9FE8-49C28BD135C2}"/>
              </a:ext>
            </a:extLst>
          </p:cNvPr>
          <p:cNvSpPr txBox="1"/>
          <p:nvPr/>
        </p:nvSpPr>
        <p:spPr>
          <a:xfrm>
            <a:off x="207571" y="5642562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Cauda equina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5AC1B-669F-196E-A1D6-58B69DB5AFE4}"/>
              </a:ext>
            </a:extLst>
          </p:cNvPr>
          <p:cNvSpPr txBox="1"/>
          <p:nvPr/>
        </p:nvSpPr>
        <p:spPr>
          <a:xfrm>
            <a:off x="312358" y="505885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Conus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Medullaris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157E4D1-B4A5-7BA4-0C87-EC4933FCB083}"/>
              </a:ext>
            </a:extLst>
          </p:cNvPr>
          <p:cNvCxnSpPr>
            <a:stCxn id="13" idx="3"/>
          </p:cNvCxnSpPr>
          <p:nvPr/>
        </p:nvCxnSpPr>
        <p:spPr>
          <a:xfrm flipV="1">
            <a:off x="1240817" y="4403035"/>
            <a:ext cx="1207199" cy="886655"/>
          </a:xfrm>
          <a:prstGeom prst="bentConnector3">
            <a:avLst>
              <a:gd name="adj1" fmla="val 76346"/>
            </a:avLst>
          </a:prstGeom>
          <a:ln w="2540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79B3B99-F08E-40EE-A555-E0CB754B1FFF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363657" y="4801731"/>
            <a:ext cx="1084359" cy="979331"/>
          </a:xfrm>
          <a:prstGeom prst="bentConnector3">
            <a:avLst>
              <a:gd name="adj1" fmla="val 101329"/>
            </a:avLst>
          </a:prstGeom>
          <a:ln w="2540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360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6F64-3253-7384-75EB-861833EC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33DB-0FE5-D6A7-0272-441520ED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body segmentation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CB18F573-DA9E-AC2D-DB25-182B9217C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411"/>
          <a:stretch/>
        </p:blipFill>
        <p:spPr>
          <a:xfrm>
            <a:off x="498316" y="1343818"/>
            <a:ext cx="4560702" cy="49809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7B1ACA-3607-D6EE-A157-E678F48BE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4" t="2318" r="17448" b="9421"/>
          <a:stretch/>
        </p:blipFill>
        <p:spPr>
          <a:xfrm>
            <a:off x="6499295" y="1252331"/>
            <a:ext cx="4613550" cy="4999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47EAC-BD52-00B8-A3A3-FB26A50A963C}"/>
              </a:ext>
            </a:extLst>
          </p:cNvPr>
          <p:cNvSpPr txBox="1"/>
          <p:nvPr/>
        </p:nvSpPr>
        <p:spPr>
          <a:xfrm>
            <a:off x="7459317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dermatome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1D79C-167B-E24B-0ED8-4917385EBA73}"/>
              </a:ext>
            </a:extLst>
          </p:cNvPr>
          <p:cNvSpPr txBox="1"/>
          <p:nvPr/>
        </p:nvSpPr>
        <p:spPr>
          <a:xfrm>
            <a:off x="577215" y="6248352"/>
            <a:ext cx="37416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31 spinal nerves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8 cervical, 12 thoracic, 5 lumbar, 5 sacral, 1 coccygeal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08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48AC-C5A3-1F06-620F-DE8F969E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F98886-B6B2-0B70-E0D8-DD7CBD8CA6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7"/>
          <a:stretch/>
        </p:blipFill>
        <p:spPr>
          <a:xfrm>
            <a:off x="5848350" y="1721111"/>
            <a:ext cx="5676900" cy="429558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81222F0-ED2C-FE6D-0058-3B0C8CF8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91" y="1825625"/>
            <a:ext cx="2461591" cy="4351338"/>
          </a:xfrm>
        </p:spPr>
        <p:txBody>
          <a:bodyPr>
            <a:normAutofit lnSpcReduction="10000"/>
          </a:bodyPr>
          <a:lstStyle/>
          <a:p>
            <a:pPr marL="400050" indent="-400050">
              <a:buFont typeface="+mj-lt"/>
              <a:buAutoNum type="romanUcPeriod"/>
            </a:pPr>
            <a:r>
              <a:rPr lang="en-GB" dirty="0"/>
              <a:t>Olfactory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Optic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Oculomotor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Trochlear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Trigeminal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Abducens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Facial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Vestibulocochlear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Glossopharyngeal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 err="1"/>
              <a:t>Vagus</a:t>
            </a:r>
            <a:endParaRPr lang="en-GB" dirty="0"/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Accessory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/>
              <a:t>Hypoglossal</a:t>
            </a:r>
          </a:p>
          <a:p>
            <a:pPr marL="400050" indent="-400050">
              <a:buFont typeface="+mj-lt"/>
              <a:buAutoNum type="romanUcPeriod"/>
            </a:pPr>
            <a:endParaRPr lang="en-GB" dirty="0"/>
          </a:p>
          <a:p>
            <a:pPr marL="400050" indent="-400050">
              <a:buFont typeface="+mj-lt"/>
              <a:buAutoNum type="romanUcPeriod"/>
            </a:pP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9B19BA-0856-06B0-F262-F7617F88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885" y="841307"/>
            <a:ext cx="2319482" cy="1335363"/>
          </a:xfrm>
          <a:prstGeom prst="rect">
            <a:avLst/>
          </a:prstGeom>
        </p:spPr>
      </p:pic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935E2EDB-5509-6029-651E-AE38F096F375}"/>
              </a:ext>
            </a:extLst>
          </p:cNvPr>
          <p:cNvSpPr txBox="1">
            <a:spLocks/>
          </p:cNvSpPr>
          <p:nvPr/>
        </p:nvSpPr>
        <p:spPr>
          <a:xfrm>
            <a:off x="2941982" y="1825625"/>
            <a:ext cx="17294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Occasion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Trusty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Truck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Acts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Funny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Very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Good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Vehicle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Any</a:t>
            </a:r>
          </a:p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39CDDC-87E3-99DC-0FC0-D64B16CF90F1}"/>
              </a:ext>
            </a:extLst>
          </p:cNvPr>
          <p:cNvCxnSpPr/>
          <p:nvPr/>
        </p:nvCxnSpPr>
        <p:spPr>
          <a:xfrm>
            <a:off x="10207487" y="2544417"/>
            <a:ext cx="526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2D9019-28A4-0239-7E8D-F27CB01F559B}"/>
              </a:ext>
            </a:extLst>
          </p:cNvPr>
          <p:cNvCxnSpPr>
            <a:cxnSpLocks/>
          </p:cNvCxnSpPr>
          <p:nvPr/>
        </p:nvCxnSpPr>
        <p:spPr>
          <a:xfrm>
            <a:off x="10207487" y="3253408"/>
            <a:ext cx="8249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0FAEFF-BDC2-D922-DE44-4FA0EBDFB6F4}"/>
              </a:ext>
            </a:extLst>
          </p:cNvPr>
          <p:cNvCxnSpPr>
            <a:cxnSpLocks/>
          </p:cNvCxnSpPr>
          <p:nvPr/>
        </p:nvCxnSpPr>
        <p:spPr>
          <a:xfrm>
            <a:off x="10158983" y="3429000"/>
            <a:ext cx="8249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5C378B-3B84-AEFD-269E-7311591F1D49}"/>
              </a:ext>
            </a:extLst>
          </p:cNvPr>
          <p:cNvSpPr txBox="1"/>
          <p:nvPr/>
        </p:nvSpPr>
        <p:spPr>
          <a:xfrm>
            <a:off x="11042375" y="3455399"/>
            <a:ext cx="82494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Trigeminal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9CE2C8-174C-81C0-690F-0A32B8A989AB}"/>
              </a:ext>
            </a:extLst>
          </p:cNvPr>
          <p:cNvCxnSpPr>
            <a:cxnSpLocks/>
          </p:cNvCxnSpPr>
          <p:nvPr/>
        </p:nvCxnSpPr>
        <p:spPr>
          <a:xfrm>
            <a:off x="11145079" y="3654287"/>
            <a:ext cx="5333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ACCA6B-A4AC-AB03-B34D-BD528253E8CA}"/>
              </a:ext>
            </a:extLst>
          </p:cNvPr>
          <p:cNvCxnSpPr>
            <a:cxnSpLocks/>
          </p:cNvCxnSpPr>
          <p:nvPr/>
        </p:nvCxnSpPr>
        <p:spPr>
          <a:xfrm>
            <a:off x="10194237" y="4075044"/>
            <a:ext cx="7896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6E202D-B5DE-9F68-2B91-0D026103B398}"/>
              </a:ext>
            </a:extLst>
          </p:cNvPr>
          <p:cNvCxnSpPr>
            <a:cxnSpLocks/>
          </p:cNvCxnSpPr>
          <p:nvPr/>
        </p:nvCxnSpPr>
        <p:spPr>
          <a:xfrm>
            <a:off x="10176610" y="4346714"/>
            <a:ext cx="557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C3321F-0145-C65B-1116-1BD9D7905576}"/>
              </a:ext>
            </a:extLst>
          </p:cNvPr>
          <p:cNvCxnSpPr>
            <a:cxnSpLocks/>
          </p:cNvCxnSpPr>
          <p:nvPr/>
        </p:nvCxnSpPr>
        <p:spPr>
          <a:xfrm>
            <a:off x="10207487" y="4697897"/>
            <a:ext cx="12042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EBFCCE-70DA-DB6D-18B1-ACCFB30209AD}"/>
              </a:ext>
            </a:extLst>
          </p:cNvPr>
          <p:cNvCxnSpPr>
            <a:cxnSpLocks/>
          </p:cNvCxnSpPr>
          <p:nvPr/>
        </p:nvCxnSpPr>
        <p:spPr>
          <a:xfrm>
            <a:off x="10198608" y="5029202"/>
            <a:ext cx="12042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8572FB9-2D5A-46BF-5D6A-07153AF37F21}"/>
              </a:ext>
            </a:extLst>
          </p:cNvPr>
          <p:cNvCxnSpPr>
            <a:cxnSpLocks/>
          </p:cNvCxnSpPr>
          <p:nvPr/>
        </p:nvCxnSpPr>
        <p:spPr>
          <a:xfrm>
            <a:off x="10189729" y="5231298"/>
            <a:ext cx="852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0A4642-91F4-0F20-E40F-A9CF3EC4807F}"/>
              </a:ext>
            </a:extLst>
          </p:cNvPr>
          <p:cNvCxnSpPr>
            <a:cxnSpLocks/>
          </p:cNvCxnSpPr>
          <p:nvPr/>
        </p:nvCxnSpPr>
        <p:spPr>
          <a:xfrm>
            <a:off x="10190789" y="5433394"/>
            <a:ext cx="5434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F0DD24-86B7-E9B1-DDBF-8CC38AA2A2C4}"/>
              </a:ext>
            </a:extLst>
          </p:cNvPr>
          <p:cNvCxnSpPr>
            <a:cxnSpLocks/>
          </p:cNvCxnSpPr>
          <p:nvPr/>
        </p:nvCxnSpPr>
        <p:spPr>
          <a:xfrm>
            <a:off x="10191849" y="5605672"/>
            <a:ext cx="12110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A67206-E692-035F-CF80-F330D5FEA74D}"/>
              </a:ext>
            </a:extLst>
          </p:cNvPr>
          <p:cNvCxnSpPr>
            <a:cxnSpLocks/>
          </p:cNvCxnSpPr>
          <p:nvPr/>
        </p:nvCxnSpPr>
        <p:spPr>
          <a:xfrm>
            <a:off x="10182970" y="5807767"/>
            <a:ext cx="12110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54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62A8-E98D-4154-690F-FC6E97DE3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3F86-6343-A1FB-B0E8-15C23125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body segmentation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5305DCE2-D271-319A-529F-5D6C602D9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411"/>
          <a:stretch/>
        </p:blipFill>
        <p:spPr>
          <a:xfrm>
            <a:off x="498316" y="1343818"/>
            <a:ext cx="4560702" cy="49809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483FF2-34DA-F389-EB10-D40C905C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4" t="2318" r="17448" b="9421"/>
          <a:stretch/>
        </p:blipFill>
        <p:spPr>
          <a:xfrm>
            <a:off x="6499295" y="1252331"/>
            <a:ext cx="4613550" cy="4999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BF01E-9EA8-59B7-2B28-48617B822A00}"/>
              </a:ext>
            </a:extLst>
          </p:cNvPr>
          <p:cNvSpPr txBox="1"/>
          <p:nvPr/>
        </p:nvSpPr>
        <p:spPr>
          <a:xfrm>
            <a:off x="7459317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dermatome pattern</a:t>
            </a:r>
          </a:p>
        </p:txBody>
      </p:sp>
    </p:spTree>
    <p:extLst>
      <p:ext uri="{BB962C8B-B14F-4D97-AF65-F5344CB8AC3E}">
        <p14:creationId xmlns:p14="http://schemas.microsoft.com/office/powerpoint/2010/main" val="75123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A551-5DA0-1FF0-E624-877B679A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Dermatome vs Myotome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1813E10-B6A2-00BA-D8D5-2EA1829867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1122" y="1654176"/>
            <a:ext cx="3981856" cy="435133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AC7BA-CAF1-3F79-9D27-981B55404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8384" t="2318" r="17448" b="9421"/>
          <a:stretch/>
        </p:blipFill>
        <p:spPr>
          <a:xfrm>
            <a:off x="1192633" y="1654176"/>
            <a:ext cx="4015534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5AAB1-D893-A0B4-8DDB-81CA3E6C1D12}"/>
              </a:ext>
            </a:extLst>
          </p:cNvPr>
          <p:cNvSpPr txBox="1"/>
          <p:nvPr/>
        </p:nvSpPr>
        <p:spPr>
          <a:xfrm>
            <a:off x="1853647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dermatome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39BE1-E965-9BA5-00D5-1B820F1D3B79}"/>
              </a:ext>
            </a:extLst>
          </p:cNvPr>
          <p:cNvSpPr txBox="1"/>
          <p:nvPr/>
        </p:nvSpPr>
        <p:spPr>
          <a:xfrm>
            <a:off x="7644848" y="6219637"/>
            <a:ext cx="269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Adult myotome pattern</a:t>
            </a:r>
          </a:p>
        </p:txBody>
      </p:sp>
    </p:spTree>
    <p:extLst>
      <p:ext uri="{BB962C8B-B14F-4D97-AF65-F5344CB8AC3E}">
        <p14:creationId xmlns:p14="http://schemas.microsoft.com/office/powerpoint/2010/main" val="2052448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4F92-DF4B-81AB-ABCC-9F19CCF1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Nerve plexuses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253C-9DCD-0D16-2FB7-44650725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558"/>
            <a:ext cx="5257800" cy="5306217"/>
          </a:xfrm>
        </p:spPr>
        <p:txBody>
          <a:bodyPr>
            <a:normAutofit/>
          </a:bodyPr>
          <a:lstStyle/>
          <a:p>
            <a:r>
              <a:rPr lang="en-GB" dirty="0"/>
              <a:t>Spinal nerves can intermingle into plexuses</a:t>
            </a:r>
          </a:p>
          <a:p>
            <a:pPr lvl="1"/>
            <a:r>
              <a:rPr lang="en-GB" dirty="0"/>
              <a:t>Neuropathies of the plexuses can have atypical symptoms</a:t>
            </a:r>
          </a:p>
          <a:p>
            <a:r>
              <a:rPr lang="en-GB" b="1" dirty="0"/>
              <a:t>Cervical plexus</a:t>
            </a:r>
          </a:p>
          <a:p>
            <a:pPr lvl="1"/>
            <a:r>
              <a:rPr lang="en-GB" dirty="0"/>
              <a:t>C1-C4</a:t>
            </a:r>
          </a:p>
          <a:p>
            <a:pPr lvl="1"/>
            <a:r>
              <a:rPr lang="en-GB" dirty="0"/>
              <a:t>Phrenic nerve (C4) controls the diaphragm (motor)</a:t>
            </a:r>
          </a:p>
          <a:p>
            <a:r>
              <a:rPr lang="en-GB" dirty="0"/>
              <a:t>Brachial plexus</a:t>
            </a:r>
          </a:p>
          <a:p>
            <a:pPr lvl="1"/>
            <a:r>
              <a:rPr lang="en-GB" dirty="0"/>
              <a:t>C5-T1 (sometimes C4, rarely T2)</a:t>
            </a:r>
          </a:p>
          <a:p>
            <a:pPr lvl="1"/>
            <a:r>
              <a:rPr lang="en-GB" dirty="0"/>
              <a:t>Divided in superior (C5-C6), middle (C7) and inferior trunks (C8-T1)</a:t>
            </a:r>
          </a:p>
          <a:p>
            <a:pPr lvl="1"/>
            <a:r>
              <a:rPr lang="en-GB" dirty="0"/>
              <a:t>Innervation of extensor and flexor muscles of the arm</a:t>
            </a:r>
          </a:p>
          <a:p>
            <a:r>
              <a:rPr lang="en-GB" dirty="0"/>
              <a:t>Lumbosacral plexus</a:t>
            </a:r>
          </a:p>
          <a:p>
            <a:pPr lvl="1"/>
            <a:r>
              <a:rPr lang="en-GB" dirty="0"/>
              <a:t>L2-L4 (</a:t>
            </a:r>
            <a:r>
              <a:rPr lang="en-GB" dirty="0">
                <a:sym typeface="Wingdings" panose="05000000000000000000" pitchFamily="2" charset="2"/>
              </a:rPr>
              <a:t>Lumbar plexus), ventral and medial thigh muscles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L4-S3 (Sacral plexus), dorsal thigh, all leg and foot muscles and gluteal muscles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13316" name="Picture 4" descr="Figure 7.4. Anatomy of the cervical plexus.">
            <a:extLst>
              <a:ext uri="{FF2B5EF4-FFF2-40B4-BE49-F238E27FC236}">
                <a16:creationId xmlns:a16="http://schemas.microsoft.com/office/drawing/2014/main" id="{BF2D04F1-6646-933A-74D9-EDED9C65E8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9" t="1967" r="9859" b="2361"/>
          <a:stretch/>
        </p:blipFill>
        <p:spPr bwMode="auto">
          <a:xfrm>
            <a:off x="6438834" y="1619249"/>
            <a:ext cx="5585536" cy="361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28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ABB09-F4ED-620F-F771-622CA0F3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8A2F-C2D5-0E33-72FC-E80654F4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Nerve plexuses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DD30-C71F-3DCF-25DC-0FFFF4A3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558"/>
            <a:ext cx="5257800" cy="5306217"/>
          </a:xfrm>
        </p:spPr>
        <p:txBody>
          <a:bodyPr>
            <a:normAutofit/>
          </a:bodyPr>
          <a:lstStyle/>
          <a:p>
            <a:r>
              <a:rPr lang="en-GB" dirty="0"/>
              <a:t>Spinal nerves can intermingle into plexuses</a:t>
            </a:r>
          </a:p>
          <a:p>
            <a:pPr lvl="1"/>
            <a:r>
              <a:rPr lang="en-GB" dirty="0"/>
              <a:t>Neuropathies of the plexuses can have atypical symptoms</a:t>
            </a:r>
          </a:p>
          <a:p>
            <a:r>
              <a:rPr lang="en-GB" dirty="0"/>
              <a:t>Cervical plexus</a:t>
            </a:r>
          </a:p>
          <a:p>
            <a:pPr lvl="1"/>
            <a:r>
              <a:rPr lang="en-GB" dirty="0"/>
              <a:t>C1-C4</a:t>
            </a:r>
          </a:p>
          <a:p>
            <a:pPr lvl="1"/>
            <a:r>
              <a:rPr lang="en-GB" dirty="0"/>
              <a:t>Phrenic nerve (C4) controls the diaphragm (motor)</a:t>
            </a:r>
          </a:p>
          <a:p>
            <a:r>
              <a:rPr lang="en-GB" b="1" dirty="0"/>
              <a:t>Brachial plexus</a:t>
            </a:r>
          </a:p>
          <a:p>
            <a:pPr lvl="1"/>
            <a:r>
              <a:rPr lang="en-GB" dirty="0"/>
              <a:t>C5-T1 (sometimes C4, rarely T2)</a:t>
            </a:r>
          </a:p>
          <a:p>
            <a:pPr lvl="1"/>
            <a:r>
              <a:rPr lang="en-GB" dirty="0"/>
              <a:t>Divided in superior (C5-C6), middle (C7) and inferior trunks (C8-T1)</a:t>
            </a:r>
          </a:p>
          <a:p>
            <a:pPr lvl="1"/>
            <a:r>
              <a:rPr lang="en-GB" dirty="0"/>
              <a:t>Innervation of extensor and flexor muscles of the arm</a:t>
            </a:r>
          </a:p>
          <a:p>
            <a:r>
              <a:rPr lang="en-GB" dirty="0"/>
              <a:t>Lumbosacral plexus</a:t>
            </a:r>
          </a:p>
          <a:p>
            <a:pPr lvl="1"/>
            <a:r>
              <a:rPr lang="en-GB" dirty="0"/>
              <a:t>L2-L4 (</a:t>
            </a:r>
            <a:r>
              <a:rPr lang="en-GB" dirty="0">
                <a:sym typeface="Wingdings" panose="05000000000000000000" pitchFamily="2" charset="2"/>
              </a:rPr>
              <a:t>Lumbar plexus), ventral and medial thigh muscles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L4-S3 (Sacral plexus), dorsal thigh, all leg and foot muscles and gluteal muscles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16" name="Picture 15" descr="A diagram of the bones of the neck&#10;&#10;Description automatically generated">
            <a:extLst>
              <a:ext uri="{FF2B5EF4-FFF2-40B4-BE49-F238E27FC236}">
                <a16:creationId xmlns:a16="http://schemas.microsoft.com/office/drawing/2014/main" id="{F9CB6042-E204-397D-2F62-67184A496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786" y="1180308"/>
            <a:ext cx="4847786" cy="48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4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CE2D-F520-EC91-6B97-68C4FCEB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99DA-8A5D-36A6-58F5-EE6FD516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Nerve plexuses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C9A9-69C4-2CDD-B36E-E73C3D2E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558"/>
            <a:ext cx="5257800" cy="5306217"/>
          </a:xfrm>
        </p:spPr>
        <p:txBody>
          <a:bodyPr>
            <a:normAutofit/>
          </a:bodyPr>
          <a:lstStyle/>
          <a:p>
            <a:r>
              <a:rPr lang="en-GB" dirty="0"/>
              <a:t>Spinal nerves can intermingle into plexuses</a:t>
            </a:r>
          </a:p>
          <a:p>
            <a:pPr lvl="1"/>
            <a:r>
              <a:rPr lang="en-GB" dirty="0"/>
              <a:t>Neuropathies of the plexuses can have atypical symptoms</a:t>
            </a:r>
          </a:p>
          <a:p>
            <a:r>
              <a:rPr lang="en-GB" dirty="0"/>
              <a:t>Cervical plexus</a:t>
            </a:r>
          </a:p>
          <a:p>
            <a:pPr lvl="1"/>
            <a:r>
              <a:rPr lang="en-GB" dirty="0"/>
              <a:t>C1-C4</a:t>
            </a:r>
          </a:p>
          <a:p>
            <a:pPr lvl="1"/>
            <a:r>
              <a:rPr lang="en-GB" dirty="0"/>
              <a:t>Phrenic nerve (C4) controls the diaphragm (motor)</a:t>
            </a:r>
          </a:p>
          <a:p>
            <a:r>
              <a:rPr lang="en-GB" dirty="0"/>
              <a:t>Brachial plexus</a:t>
            </a:r>
          </a:p>
          <a:p>
            <a:pPr lvl="1"/>
            <a:r>
              <a:rPr lang="en-GB" dirty="0"/>
              <a:t>C5-T1 (sometimes C4, rarely T2)</a:t>
            </a:r>
          </a:p>
          <a:p>
            <a:pPr lvl="1"/>
            <a:r>
              <a:rPr lang="en-GB" dirty="0"/>
              <a:t>Divided in superior (C5-C6), middle (C7) and inferior trunks (C8-T1)</a:t>
            </a:r>
          </a:p>
          <a:p>
            <a:pPr lvl="1"/>
            <a:r>
              <a:rPr lang="en-GB" dirty="0"/>
              <a:t>Innervation of extensor and flexor muscles of the arm</a:t>
            </a:r>
          </a:p>
          <a:p>
            <a:r>
              <a:rPr lang="en-GB" b="1" dirty="0"/>
              <a:t>Lumbosacral plexus</a:t>
            </a:r>
          </a:p>
          <a:p>
            <a:pPr lvl="1"/>
            <a:r>
              <a:rPr lang="en-GB" dirty="0"/>
              <a:t>L2-L4 (</a:t>
            </a:r>
            <a:r>
              <a:rPr lang="en-GB" dirty="0">
                <a:sym typeface="Wingdings" panose="05000000000000000000" pitchFamily="2" charset="2"/>
              </a:rPr>
              <a:t>Lumbar plexus), ventral and medial thigh muscles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L4-S3 (Sacral plexus), dorsal thigh, all leg and foot muscles and gluteal muscles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13" name="Picture 12" descr="A diagram of the spine&#10;&#10;Description automatically generated">
            <a:extLst>
              <a:ext uri="{FF2B5EF4-FFF2-40B4-BE49-F238E27FC236}">
                <a16:creationId xmlns:a16="http://schemas.microsoft.com/office/drawing/2014/main" id="{50217CDB-DFAD-DEB1-CDF3-2E156C81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77" y="572292"/>
            <a:ext cx="4737012" cy="571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95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8AF2B0-032D-F2B3-7923-9B8EE850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Autonomous nervous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DF94C-8EF3-B375-74B5-385002C3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12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0687-6098-8DA3-95A7-64C22066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F16A-5862-4FF5-388B-F4D1F45A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Spinal Cord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8F459-AB9C-3FE1-C45C-52AF09E7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36" y="1711736"/>
            <a:ext cx="5574802" cy="409525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8B77026-C9D1-0FB6-A97F-1B0451B32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77196" y="1350078"/>
            <a:ext cx="2151030" cy="4422072"/>
          </a:xfr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6175D0-0C3C-6126-53C3-3A368D2C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3" y="1903319"/>
            <a:ext cx="2269710" cy="40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64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25F7-B963-D3A8-4E79-9567463B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Sympathetic and parasympathetic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2381-5F05-7094-2E7E-4A3333086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530"/>
            <a:ext cx="3932583" cy="4899992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parasympathetic</a:t>
            </a:r>
            <a:r>
              <a:rPr lang="en-GB" dirty="0"/>
              <a:t> system regulates “resting” autonomous body functions (e.g. digestion, renal secretion, etc.)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sympathetic </a:t>
            </a:r>
            <a:r>
              <a:rPr lang="en-GB" dirty="0"/>
              <a:t>system regulates “fight-or-flight” responses (e.g. pupil dilation, increased hearth beat, bronchial dilation, sweating, etc.)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BF29FFE-39B9-B53A-152A-DB250BA85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536" y="1242391"/>
            <a:ext cx="6694252" cy="51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82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0210-302A-8F2A-3AF7-767D5DAB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Peripheral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C386E-95DA-FC27-1D45-4B26E6991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0087" cy="4351338"/>
          </a:xfrm>
        </p:spPr>
        <p:txBody>
          <a:bodyPr/>
          <a:lstStyle/>
          <a:p>
            <a:r>
              <a:rPr lang="en-GB" b="1" dirty="0"/>
              <a:t>Ganglion</a:t>
            </a:r>
            <a:r>
              <a:rPr lang="en-GB" dirty="0"/>
              <a:t>: a collection of neuronal cell bodies in a defined structure</a:t>
            </a:r>
          </a:p>
          <a:p>
            <a:endParaRPr lang="en-GB" dirty="0"/>
          </a:p>
          <a:p>
            <a:r>
              <a:rPr lang="en-GB" b="1" dirty="0"/>
              <a:t>Preganglionic neurons </a:t>
            </a:r>
            <a:r>
              <a:rPr lang="en-GB" dirty="0"/>
              <a:t>in the CNS</a:t>
            </a:r>
          </a:p>
          <a:p>
            <a:pPr lvl="1"/>
            <a:r>
              <a:rPr lang="en-GB" dirty="0"/>
              <a:t>Parasympathetic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S2 - S4 spinal regions and brainstem (cranial nerves)</a:t>
            </a:r>
          </a:p>
          <a:p>
            <a:pPr lvl="1"/>
            <a:r>
              <a:rPr lang="en-GB" dirty="0"/>
              <a:t>Sympathetic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T1 - L2 spinal regions</a:t>
            </a:r>
          </a:p>
          <a:p>
            <a:pPr lvl="1"/>
            <a:endParaRPr lang="en-GB" dirty="0"/>
          </a:p>
          <a:p>
            <a:r>
              <a:rPr lang="en-GB" b="1" dirty="0"/>
              <a:t>Peripheral postganglionic neurons</a:t>
            </a:r>
          </a:p>
          <a:p>
            <a:pPr lvl="1"/>
            <a:r>
              <a:rPr lang="en-GB" dirty="0"/>
              <a:t>Synapse onto target tissues</a:t>
            </a:r>
          </a:p>
          <a:p>
            <a:pPr lvl="1"/>
            <a:r>
              <a:rPr lang="en-GB" dirty="0"/>
              <a:t>Cell bodies within ganglion</a:t>
            </a:r>
          </a:p>
          <a:p>
            <a:pPr lvl="1"/>
            <a:r>
              <a:rPr lang="en-GB" dirty="0"/>
              <a:t>Cell bodies within the target organ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E1FBD-0936-54DF-24A7-B1D674EA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08"/>
          <a:stretch/>
        </p:blipFill>
        <p:spPr>
          <a:xfrm>
            <a:off x="6198707" y="1729408"/>
            <a:ext cx="5473146" cy="42343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E640F6-BF06-7FC2-F418-ECFB80AE1523}"/>
              </a:ext>
            </a:extLst>
          </p:cNvPr>
          <p:cNvSpPr/>
          <p:nvPr/>
        </p:nvSpPr>
        <p:spPr>
          <a:xfrm>
            <a:off x="6569765" y="1649896"/>
            <a:ext cx="4572000" cy="66592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F60A0-6AE4-4BA0-D9CE-4F266AD15D59}"/>
              </a:ext>
            </a:extLst>
          </p:cNvPr>
          <p:cNvSpPr txBox="1"/>
          <p:nvPr/>
        </p:nvSpPr>
        <p:spPr>
          <a:xfrm>
            <a:off x="11141765" y="1798190"/>
            <a:ext cx="65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802A9-2D41-CCED-192C-31C046DE46D9}"/>
              </a:ext>
            </a:extLst>
          </p:cNvPr>
          <p:cNvSpPr txBox="1"/>
          <p:nvPr/>
        </p:nvSpPr>
        <p:spPr>
          <a:xfrm>
            <a:off x="6761921" y="1360076"/>
            <a:ext cx="324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31421-3D87-7C37-69F3-F63D105406DB}"/>
              </a:ext>
            </a:extLst>
          </p:cNvPr>
          <p:cNvSpPr txBox="1"/>
          <p:nvPr/>
        </p:nvSpPr>
        <p:spPr>
          <a:xfrm>
            <a:off x="8325677" y="1359741"/>
            <a:ext cx="324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222F3-192D-6E6A-E5DC-AEA071C9BD67}"/>
              </a:ext>
            </a:extLst>
          </p:cNvPr>
          <p:cNvSpPr txBox="1"/>
          <p:nvPr/>
        </p:nvSpPr>
        <p:spPr>
          <a:xfrm>
            <a:off x="9889433" y="1359406"/>
            <a:ext cx="324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50C25-19BD-8256-552C-9DC19250D7F6}"/>
              </a:ext>
            </a:extLst>
          </p:cNvPr>
          <p:cNvCxnSpPr/>
          <p:nvPr/>
        </p:nvCxnSpPr>
        <p:spPr>
          <a:xfrm flipV="1">
            <a:off x="8050695" y="1282148"/>
            <a:ext cx="0" cy="489481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DE4817-0AD9-8405-C2C1-E080F67EA4E1}"/>
              </a:ext>
            </a:extLst>
          </p:cNvPr>
          <p:cNvCxnSpPr/>
          <p:nvPr/>
        </p:nvCxnSpPr>
        <p:spPr>
          <a:xfrm flipV="1">
            <a:off x="9703904" y="1282147"/>
            <a:ext cx="0" cy="489481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88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ED86-94C1-4187-E889-BED8287C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175A-E8BB-CC62-6B8C-2B88BA19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Peripheral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22618-8660-B059-EE28-7ADECD75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0087" cy="4351338"/>
          </a:xfrm>
        </p:spPr>
        <p:txBody>
          <a:bodyPr/>
          <a:lstStyle/>
          <a:p>
            <a:r>
              <a:rPr lang="en-GB" b="1" dirty="0"/>
              <a:t>Sympathetic chain ganglia</a:t>
            </a:r>
          </a:p>
          <a:p>
            <a:pPr lvl="1"/>
            <a:r>
              <a:rPr lang="en-GB" dirty="0"/>
              <a:t>Interconnected ganglia along the outside of the spinal cord</a:t>
            </a:r>
          </a:p>
          <a:p>
            <a:r>
              <a:rPr lang="en-GB" b="1" dirty="0"/>
              <a:t>Sympathetic collateral ganglia</a:t>
            </a:r>
          </a:p>
          <a:p>
            <a:pPr lvl="1"/>
            <a:r>
              <a:rPr lang="en-GB" dirty="0"/>
              <a:t>Celiac</a:t>
            </a:r>
          </a:p>
          <a:p>
            <a:pPr lvl="1"/>
            <a:r>
              <a:rPr lang="en-GB" dirty="0"/>
              <a:t>Superior mesenteric</a:t>
            </a:r>
          </a:p>
          <a:p>
            <a:pPr lvl="1"/>
            <a:r>
              <a:rPr lang="en-GB" dirty="0"/>
              <a:t>Inferior mesenteric</a:t>
            </a:r>
          </a:p>
          <a:p>
            <a:pPr lvl="1"/>
            <a:endParaRPr lang="en-GB" dirty="0"/>
          </a:p>
          <a:p>
            <a:r>
              <a:rPr lang="en-GB" b="1" dirty="0"/>
              <a:t>Parasympathetic terminal ganglia</a:t>
            </a:r>
          </a:p>
          <a:p>
            <a:pPr lvl="1"/>
            <a:r>
              <a:rPr lang="en-GB" dirty="0"/>
              <a:t>Near target organs in the head</a:t>
            </a:r>
          </a:p>
          <a:p>
            <a:pPr lvl="1"/>
            <a:r>
              <a:rPr lang="en-GB" dirty="0"/>
              <a:t>Within the tissue walls of thorax, abdomen and pelvis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EF7F3B54-57DD-C640-14D7-A200E0523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536" y="1242391"/>
            <a:ext cx="6694252" cy="51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53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70C0-EB3C-EC12-D172-FDA92D16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Peripheral ganglia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D22CA3-ABC6-E679-C031-98F120664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898"/>
          <a:stretch/>
        </p:blipFill>
        <p:spPr>
          <a:xfrm>
            <a:off x="6463748" y="442291"/>
            <a:ext cx="5164501" cy="5973417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9706CF9-564F-C2AF-1F9B-F52FB459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1087" y="1221393"/>
            <a:ext cx="5112026" cy="5559802"/>
          </a:xfrm>
        </p:spPr>
      </p:pic>
    </p:spTree>
    <p:extLst>
      <p:ext uri="{BB962C8B-B14F-4D97-AF65-F5344CB8AC3E}">
        <p14:creationId xmlns:p14="http://schemas.microsoft.com/office/powerpoint/2010/main" val="347885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C2CD-9BFD-773C-EA44-74181651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Neurotransmitters of the autonomic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65C1-C3E5-17BE-921C-3BFF62C36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Acetylcholine</a:t>
            </a:r>
          </a:p>
          <a:p>
            <a:pPr lvl="1"/>
            <a:r>
              <a:rPr lang="en-GB" dirty="0"/>
              <a:t>All preganglionic neurons, both sympathetic and parasympathetic</a:t>
            </a:r>
          </a:p>
          <a:p>
            <a:pPr lvl="1"/>
            <a:r>
              <a:rPr lang="en-GB" dirty="0"/>
              <a:t>All parasympathetic postganglionic neurons</a:t>
            </a:r>
          </a:p>
          <a:p>
            <a:pPr lvl="1"/>
            <a:r>
              <a:rPr lang="en-GB" dirty="0"/>
              <a:t>Some sympathetic neurons</a:t>
            </a:r>
          </a:p>
          <a:p>
            <a:endParaRPr lang="en-GB" dirty="0"/>
          </a:p>
          <a:p>
            <a:r>
              <a:rPr lang="en-GB" b="1" dirty="0"/>
              <a:t>Noradrenaline</a:t>
            </a:r>
          </a:p>
          <a:p>
            <a:pPr lvl="1"/>
            <a:r>
              <a:rPr lang="en-GB" dirty="0"/>
              <a:t>Most postganglionic sympathetic neurons</a:t>
            </a:r>
          </a:p>
          <a:p>
            <a:pPr lvl="1"/>
            <a:endParaRPr lang="en-GB" dirty="0"/>
          </a:p>
          <a:p>
            <a:r>
              <a:rPr lang="en-GB" b="1" dirty="0"/>
              <a:t>Important pharmacological aspect</a:t>
            </a:r>
          </a:p>
        </p:txBody>
      </p:sp>
      <p:pic>
        <p:nvPicPr>
          <p:cNvPr id="4" name="Picture 2" descr="Chemical Structures of Neurotransmitters">
            <a:extLst>
              <a:ext uri="{FF2B5EF4-FFF2-40B4-BE49-F238E27FC236}">
                <a16:creationId xmlns:a16="http://schemas.microsoft.com/office/drawing/2014/main" id="{CDC88ED4-FF68-4D83-CA61-05535DD4A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6096000" y="1977991"/>
            <a:ext cx="5922818" cy="404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371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CA55-B61C-F6B7-CC41-A0744BC1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3F88C1-066A-C85E-A397-218C6726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B5567D-1C49-D08D-8D1A-CF13DAD5B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43" y="2847902"/>
            <a:ext cx="4962452" cy="3552426"/>
          </a:xfrm>
        </p:spPr>
        <p:txBody>
          <a:bodyPr/>
          <a:lstStyle/>
          <a:p>
            <a:r>
              <a:rPr lang="en-GB" dirty="0"/>
              <a:t>Specific reading:</a:t>
            </a:r>
          </a:p>
          <a:p>
            <a:pPr lvl="1"/>
            <a:r>
              <a:rPr lang="en-GB" dirty="0"/>
              <a:t>Guyton and Hall - </a:t>
            </a:r>
            <a:r>
              <a:rPr lang="en-GB" b="1" dirty="0"/>
              <a:t>Textbook of Medical Physiology </a:t>
            </a:r>
            <a:r>
              <a:rPr lang="en-GB" dirty="0"/>
              <a:t>12</a:t>
            </a:r>
            <a:r>
              <a:rPr lang="en-GB" baseline="30000" dirty="0"/>
              <a:t>th</a:t>
            </a:r>
            <a:r>
              <a:rPr lang="en-GB" dirty="0"/>
              <a:t> ed (2011) ISBN: 978-0-8089-2400-5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Fitzgerald's Clinical Neuroanatomy and neuroscience</a:t>
            </a:r>
            <a:r>
              <a:rPr lang="en-GB" dirty="0"/>
              <a:t> 8</a:t>
            </a:r>
            <a:r>
              <a:rPr lang="en-GB" baseline="30000" dirty="0"/>
              <a:t>th</a:t>
            </a:r>
            <a:r>
              <a:rPr lang="en-GB" dirty="0"/>
              <a:t> ed</a:t>
            </a:r>
            <a:r>
              <a:rPr lang="en-GB" b="1" dirty="0"/>
              <a:t> </a:t>
            </a:r>
            <a:r>
              <a:rPr lang="en-GB" dirty="0"/>
              <a:t>(2021, Elsevier) ISBN: 9780702079092</a:t>
            </a:r>
          </a:p>
          <a:p>
            <a:pPr lvl="1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C9C0D-5E26-F21F-B21E-4ADCBE06350A}"/>
              </a:ext>
            </a:extLst>
          </p:cNvPr>
          <p:cNvSpPr txBox="1"/>
          <p:nvPr/>
        </p:nvSpPr>
        <p:spPr>
          <a:xfrm>
            <a:off x="966794" y="1441305"/>
            <a:ext cx="3538531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follow-up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vincenzo.mastrolia@kcl.ac.uk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A8F3DC-815D-AECB-28BD-DB5A60C5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49" y="1657540"/>
            <a:ext cx="2581716" cy="3289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B26FE-917D-1400-C875-097BE575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33" y="1657541"/>
            <a:ext cx="2582224" cy="32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57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Widescreen</PresentationFormat>
  <Paragraphs>158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Structure and function of the PNS</vt:lpstr>
      <vt:lpstr>Learning outcomes</vt:lpstr>
      <vt:lpstr>The spinal cord and the nerves</vt:lpstr>
      <vt:lpstr>The spinal cord and body segmentation</vt:lpstr>
      <vt:lpstr>The spinal cord and body segmentation</vt:lpstr>
      <vt:lpstr>The spinal cord and body segmentation</vt:lpstr>
      <vt:lpstr>Cranial nerves</vt:lpstr>
      <vt:lpstr>The spinal cord and body segmentation</vt:lpstr>
      <vt:lpstr>Dermatome vs Myotome</vt:lpstr>
      <vt:lpstr>Nerve plexuses</vt:lpstr>
      <vt:lpstr>Nerve plexuses</vt:lpstr>
      <vt:lpstr>Nerve plexuses</vt:lpstr>
      <vt:lpstr>Autonomous nervous system</vt:lpstr>
      <vt:lpstr>The CNS - Spinal Cord</vt:lpstr>
      <vt:lpstr>Sympathetic and parasympathetic systems</vt:lpstr>
      <vt:lpstr>Peripheral ganglia</vt:lpstr>
      <vt:lpstr>Peripheral ganglia</vt:lpstr>
      <vt:lpstr>Peripheral ganglia</vt:lpstr>
      <vt:lpstr>Neurotransmitters of the autonomic system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Mastrolia</dc:creator>
  <cp:lastModifiedBy>Vincenzo Mastrolia</cp:lastModifiedBy>
  <cp:revision>2</cp:revision>
  <dcterms:created xsi:type="dcterms:W3CDTF">2025-02-02T13:02:17Z</dcterms:created>
  <dcterms:modified xsi:type="dcterms:W3CDTF">2025-02-02T18:30:23Z</dcterms:modified>
</cp:coreProperties>
</file>