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7" r:id="rId2"/>
    <p:sldId id="620" r:id="rId3"/>
    <p:sldId id="263" r:id="rId4"/>
    <p:sldId id="264" r:id="rId5"/>
    <p:sldId id="262" r:id="rId6"/>
    <p:sldId id="266" r:id="rId7"/>
    <p:sldId id="261" r:id="rId8"/>
    <p:sldId id="265" r:id="rId9"/>
    <p:sldId id="267" r:id="rId10"/>
    <p:sldId id="269" r:id="rId11"/>
    <p:sldId id="272" r:id="rId12"/>
    <p:sldId id="270" r:id="rId13"/>
    <p:sldId id="281" r:id="rId14"/>
    <p:sldId id="282" r:id="rId15"/>
    <p:sldId id="275" r:id="rId16"/>
    <p:sldId id="276" r:id="rId17"/>
    <p:sldId id="278" r:id="rId18"/>
    <p:sldId id="279" r:id="rId19"/>
    <p:sldId id="280" r:id="rId20"/>
    <p:sldId id="284" r:id="rId21"/>
    <p:sldId id="283" r:id="rId22"/>
    <p:sldId id="286" r:id="rId23"/>
    <p:sldId id="277" r:id="rId24"/>
    <p:sldId id="256" r:id="rId25"/>
    <p:sldId id="260" r:id="rId26"/>
    <p:sldId id="258" r:id="rId27"/>
    <p:sldId id="625" r:id="rId28"/>
    <p:sldId id="626" r:id="rId29"/>
    <p:sldId id="627" r:id="rId30"/>
    <p:sldId id="628" r:id="rId31"/>
    <p:sldId id="629" r:id="rId32"/>
    <p:sldId id="633" r:id="rId33"/>
    <p:sldId id="634" r:id="rId34"/>
    <p:sldId id="635" r:id="rId35"/>
    <p:sldId id="636" r:id="rId36"/>
    <p:sldId id="637" r:id="rId37"/>
    <p:sldId id="638" r:id="rId38"/>
    <p:sldId id="639" r:id="rId39"/>
    <p:sldId id="640" r:id="rId40"/>
    <p:sldId id="641" r:id="rId41"/>
    <p:sldId id="642" r:id="rId42"/>
    <p:sldId id="630" r:id="rId43"/>
    <p:sldId id="285" r:id="rId44"/>
    <p:sldId id="287" r:id="rId45"/>
    <p:sldId id="274" r:id="rId46"/>
    <p:sldId id="631" r:id="rId47"/>
    <p:sldId id="273" r:id="rId48"/>
    <p:sldId id="259" r:id="rId49"/>
    <p:sldId id="271" r:id="rId50"/>
    <p:sldId id="288" r:id="rId51"/>
    <p:sldId id="289" r:id="rId52"/>
    <p:sldId id="290" r:id="rId53"/>
    <p:sldId id="292" r:id="rId54"/>
    <p:sldId id="632" r:id="rId55"/>
    <p:sldId id="622" r:id="rId56"/>
    <p:sldId id="291" r:id="rId57"/>
    <p:sldId id="619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9BF"/>
    <a:srgbClr val="FEE7C6"/>
    <a:srgbClr val="BAC9D9"/>
    <a:srgbClr val="F0E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6987B-21BC-4062-B6EF-FAEFE0630F7F}" v="12" dt="2025-10-27T14:35:29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4" y="8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79960-6623-42A9-8E3F-FD61D25B9F30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2075D-1ADC-4718-8190-C581E287EA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59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sz="1800" b="0" i="0" u="none" strike="noStrike" baseline="0" dirty="0">
                <a:latin typeface="AGaramondPro-Regular"/>
              </a:rPr>
              <a:t>On the basis of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these stimulation studies, the effects produced by lesions,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results of anatomical experiments, electrophysiological recordings,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and modern imaging studies in humans, many</a:t>
            </a:r>
          </a:p>
          <a:p>
            <a:pPr algn="l"/>
            <a:r>
              <a:rPr lang="en-GB" sz="1800" b="0" i="0" u="none" strike="noStrike" baseline="0" dirty="0">
                <a:latin typeface="AGaramondPro-Regular"/>
              </a:rPr>
              <a:t>“motor” areas of the cerebral cortex have been recognized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04C5E6-FDE4-4718-9575-944571AA95D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67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C41B-2D61-B1A5-731C-67159754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3557005"/>
            <a:ext cx="10515600" cy="1325563"/>
          </a:xfrm>
          <a:gradFill flip="none" rotWithShape="1">
            <a:gsLst>
              <a:gs pos="7600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</a:gsLst>
            <a:lin ang="5400000" scaled="1"/>
            <a:tileRect/>
          </a:gradFill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7F02E-78F7-D8E1-6AE0-0321DD27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BE6D4-1680-C105-9448-C690F447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8DFB-25EC-C090-D3D4-CD01369C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40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A009-A673-3FE2-823A-FA1693C76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90F10-FAA4-A728-3BE9-1FAFA1A06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4883A-AA55-D3F6-8C20-A8CA9F18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9E2C1-4A45-2C2C-3B8C-859B1BC0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1863F-46A4-586C-7B75-D98D20FCD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08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8EB5-1B3C-29F7-57DB-EC0BDB0E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55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B07A6-CD8D-AD39-97D5-B5340F63C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986973"/>
            <a:ext cx="5548405" cy="5734499"/>
          </a:xfrm>
        </p:spPr>
        <p:txBody>
          <a:bodyPr>
            <a:normAutofit/>
          </a:bodyPr>
          <a:lstStyle>
            <a:lvl1pPr>
              <a:defRPr sz="1800"/>
            </a:lvl1pPr>
            <a:lvl2pPr marL="685800" indent="-228600">
              <a:buSzPct val="70000"/>
              <a:buFont typeface="Courier New" panose="02070309020205020404" pitchFamily="49" charset="0"/>
              <a:buChar char="o"/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35038-FF94-55FE-92A7-221896DE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CCDDC-BE42-4386-6EB7-F4528EB2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68A6-7213-8EE4-25C6-9DEB2092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D30E3A-6F55-3A76-CA56-2762BB24DCF8}"/>
              </a:ext>
            </a:extLst>
          </p:cNvPr>
          <p:cNvCxnSpPr>
            <a:cxnSpLocks/>
          </p:cNvCxnSpPr>
          <p:nvPr userDrawn="1"/>
        </p:nvCxnSpPr>
        <p:spPr>
          <a:xfrm>
            <a:off x="0" y="725557"/>
            <a:ext cx="5610687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7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5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E297-7A40-D815-FAF6-3CCD7EF25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F5028-7E4A-8F7E-8867-B6F4C43C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E6443-0F24-F3A3-1C9F-61817D7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0B33B-DDE1-BABE-2109-4EBDCE0D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5AAA-4578-86F9-3267-69552EC5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81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7840-49EA-15C5-76F5-EDCADD0E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7B1C2-34E2-05E5-32CB-83C3C0D3C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6A2F7-CAE3-5335-D652-C13AA11C3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54B11-19B8-D263-3FBE-1CA9EE47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836A8-94A2-D93A-FAAF-87DBDF23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A7290-D8F3-AD28-C219-E09495FA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239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B042-FC92-DEDA-80A2-ECCCC0A6A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A7F20-18C5-8A37-6210-87145C7B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9748F-F322-BFEC-B7A4-F58BB641C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9A5DF-C68A-5AAF-1A6F-8EB8EE8AB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12821B-EB62-69A0-37D0-F4B8D9B4D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A84C4-4951-3C5A-6A78-0FAFACC9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D4756-88E4-D59C-B1A3-D43B95BB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1B7735-FBEE-2D39-4291-6AD39381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2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A8C2B-5A9A-CBE3-ED76-63C3F272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3A62B-70C4-324F-F961-9B38640E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CB04A-5D75-8A7A-CF9F-E02A58F6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80C3A-936D-C599-4E81-BD4925F03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37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3D5F6-6BE4-B499-8F14-2DF5C729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C7091-E946-BD30-E0D8-42DC611F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4224C-1F61-5F3D-23EE-F30D043D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74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11CF-EAA8-035F-91B7-9DACD81A9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6EC0F-FE34-F5A2-046B-FF1046E7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EA6FF-6B4B-20F2-2DBD-F59D0BCFB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715AF-A917-ACD6-AEA7-E1E7F5BB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CF5C8-05EF-2F91-7397-BB5D80B3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6EF57-59C0-36CF-F99F-EE1099AF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81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6B83-117B-7344-C0E6-F2892637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B63CE9-5D69-72A9-D9C8-04C27786E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5616A-D886-ADA9-761B-3265C418C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331E2-E8FC-1F84-2B4F-E77AF53E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A5A7A-0667-2494-DFCC-1369A02B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204E7-6FE2-0356-01C9-24B54D5C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15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9D76-E439-D770-B5EC-726DF0A9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8DFAD-AD23-C708-2575-8FF288F6D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E6217-01B2-190F-F06F-B5D17C0C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8748D-A8A2-AC09-2666-8C588AF5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F2FCA-CD21-4BFD-74C6-ED7F4B3D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546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6CBF7-892D-5461-32A5-5F40DF478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B26F8-49ED-66E5-3F46-62B1B5330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0889-E70D-B4DA-88FF-0E330AC8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6E7D-F840-2350-6B37-DBE41959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529D-FF94-FF6C-33C1-835BEF9F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55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5C051-5A28-90F0-DE80-4869FB054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52EC1-8BBD-15B6-3DDA-7122CDC48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32E36-FA02-8758-83BE-70A075ADD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6181E-5664-4F64-BA5A-465C23BC9DFD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4AA53-A645-3D16-7570-2A890DE55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9FD4D-7164-CC67-31A0-46EB6469D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8C088-C507-49F5-9D09-B9E0AB2F0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38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gi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i.org/10.1016/j.neuroimage.2021.118654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QocYNeNm3io?feature=oembed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https://www.youtube.com/embed/uthf0cWkkDk?feature=oembed" TargetMode="External"/><Relationship Id="rId1" Type="http://schemas.openxmlformats.org/officeDocument/2006/relationships/video" Target="https://www.youtube.com/embed/b2QKXOzD8sA?feature=oembed" TargetMode="Externa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MBKolPvOErU?feature=oembed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6F92-935F-4130-8599-7BE261D79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829" y="2506233"/>
            <a:ext cx="9492342" cy="1745952"/>
          </a:xfrm>
          <a:ln w="38100">
            <a:solidFill>
              <a:srgbClr val="002060"/>
            </a:solidFill>
          </a:ln>
        </p:spPr>
        <p:txBody>
          <a:bodyPr anchor="ctr"/>
          <a:lstStyle/>
          <a:p>
            <a:r>
              <a:rPr lang="en-GB" dirty="0"/>
              <a:t>Cortex and blood circulation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0006B-F52D-75C8-9CCE-EE3C12E4E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7730" y="5441092"/>
            <a:ext cx="4036540" cy="1116270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50000"/>
              </a:lnSpc>
            </a:pPr>
            <a:r>
              <a:rPr lang="en-GB" sz="1600" b="1" i="1" dirty="0"/>
              <a:t>Vincenzo Mastrolia</a:t>
            </a:r>
          </a:p>
          <a:p>
            <a:pPr>
              <a:lnSpc>
                <a:spcPct val="50000"/>
              </a:lnSpc>
            </a:pPr>
            <a:r>
              <a:rPr lang="en-GB" sz="1600" i="1" dirty="0"/>
              <a:t>Research Associate</a:t>
            </a:r>
          </a:p>
          <a:p>
            <a:pPr>
              <a:lnSpc>
                <a:spcPct val="100000"/>
              </a:lnSpc>
            </a:pPr>
            <a:r>
              <a:rPr lang="en-GB" sz="1600" i="1" dirty="0"/>
              <a:t>Department of Physiology, Development and Neuroscience</a:t>
            </a:r>
          </a:p>
          <a:p>
            <a:pPr>
              <a:lnSpc>
                <a:spcPct val="50000"/>
              </a:lnSpc>
            </a:pPr>
            <a:r>
              <a:rPr lang="en-GB" sz="1600" i="1" dirty="0"/>
              <a:t>University of Cambridge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5D5FB-4D8C-EB9E-83E0-07746C1DAC8C}"/>
              </a:ext>
            </a:extLst>
          </p:cNvPr>
          <p:cNvSpPr txBox="1"/>
          <p:nvPr/>
        </p:nvSpPr>
        <p:spPr>
          <a:xfrm>
            <a:off x="4062591" y="1696819"/>
            <a:ext cx="406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PT5050 PHYSIOLOGY</a:t>
            </a:r>
          </a:p>
        </p:txBody>
      </p:sp>
      <p:pic>
        <p:nvPicPr>
          <p:cNvPr id="7" name="Picture 2" descr="Logos - London Metropolitan University">
            <a:extLst>
              <a:ext uri="{FF2B5EF4-FFF2-40B4-BE49-F238E27FC236}">
                <a16:creationId xmlns:a16="http://schemas.microsoft.com/office/drawing/2014/main" id="{6ED1D855-F6A2-DA31-9262-7F12A8CA9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6" y="20637"/>
            <a:ext cx="2407608" cy="140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8BBCA3F-944F-AEB1-298E-F0EE4E014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8" y="5669727"/>
            <a:ext cx="3047510" cy="634522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4106DDAE-FF74-2E8E-2A0B-C7D34A698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12" y="5336018"/>
            <a:ext cx="2727804" cy="129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07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F852-CA09-DC97-8E1F-12DCD8172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3417-5D59-A728-65C4-AE9425A56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2204815"/>
            <a:ext cx="10143247" cy="4516657"/>
          </a:xfrm>
        </p:spPr>
        <p:txBody>
          <a:bodyPr/>
          <a:lstStyle/>
          <a:p>
            <a:r>
              <a:rPr lang="en-GB" dirty="0"/>
              <a:t>Describe the structural and functional organization of the cerebral cortex relevant to sensory and motor processing.</a:t>
            </a:r>
          </a:p>
          <a:p>
            <a:r>
              <a:rPr lang="en-GB" dirty="0"/>
              <a:t>Explain the mechanisms of cortical blood circulation and its regulation under normal and pathological conditions.</a:t>
            </a:r>
          </a:p>
          <a:p>
            <a:r>
              <a:rPr lang="en-GB" dirty="0"/>
              <a:t>Critically analyse the cortical control of movement and its integration with subcortical and spinal systems.</a:t>
            </a:r>
          </a:p>
          <a:p>
            <a:r>
              <a:rPr lang="en-GB" dirty="0"/>
              <a:t>Analyse how cortical regions interact during complex motor tasks</a:t>
            </a:r>
          </a:p>
          <a:p>
            <a:r>
              <a:rPr lang="en-GB" dirty="0"/>
              <a:t>Interpret the impact of cortical dysfunction (e.g., stroke, trauma) on motor performance and rehabilitation outcomes.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02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F43A-4491-1A8C-3E16-652829B9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 cortex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1F3E0C-932D-BF31-F5B7-78FD8F396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8" y="879628"/>
            <a:ext cx="5753528" cy="3292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6EDC49-4DEA-0A84-C32C-D1B7410DF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96" y="4172150"/>
            <a:ext cx="3318934" cy="2453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CBCC06A-3716-543C-C101-91F6D6E74DC0}"/>
              </a:ext>
            </a:extLst>
          </p:cNvPr>
          <p:cNvGrpSpPr/>
          <p:nvPr/>
        </p:nvGrpSpPr>
        <p:grpSpPr>
          <a:xfrm>
            <a:off x="8822266" y="4314841"/>
            <a:ext cx="2982613" cy="2344113"/>
            <a:chOff x="8822266" y="4314841"/>
            <a:chExt cx="2982613" cy="234411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1830B11-35EB-E3E7-A62B-B45C57FE1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22266" y="4314841"/>
              <a:ext cx="2982613" cy="234411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3F2A34-66BC-CF89-3BE7-0294897677B3}"/>
                </a:ext>
              </a:extLst>
            </p:cNvPr>
            <p:cNvSpPr txBox="1"/>
            <p:nvPr/>
          </p:nvSpPr>
          <p:spPr>
            <a:xfrm>
              <a:off x="8836478" y="5192485"/>
              <a:ext cx="62549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solidFill>
                    <a:schemeClr val="accent5">
                      <a:lumMod val="75000"/>
                    </a:schemeClr>
                  </a:solidFill>
                </a:rPr>
                <a:t>(Rostral)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4DE777-D48A-31D2-4F7A-A1F6032B956D}"/>
                </a:ext>
              </a:extLst>
            </p:cNvPr>
            <p:cNvSpPr txBox="1"/>
            <p:nvPr/>
          </p:nvSpPr>
          <p:spPr>
            <a:xfrm>
              <a:off x="11144250" y="5192484"/>
              <a:ext cx="6158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solidFill>
                    <a:schemeClr val="accent5">
                      <a:lumMod val="75000"/>
                    </a:schemeClr>
                  </a:solidFill>
                </a:rPr>
                <a:t>(Caudal)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F6454-13F2-E65F-F7C7-4E30C8DFDE45}"/>
                </a:ext>
              </a:extLst>
            </p:cNvPr>
            <p:cNvSpPr txBox="1"/>
            <p:nvPr/>
          </p:nvSpPr>
          <p:spPr>
            <a:xfrm>
              <a:off x="10033908" y="4384331"/>
              <a:ext cx="5918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solidFill>
                    <a:schemeClr val="accent5">
                      <a:lumMod val="75000"/>
                    </a:schemeClr>
                  </a:solidFill>
                </a:rPr>
                <a:t>(Dorsal)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AF349C-71DA-0163-3E3D-C8FC534387A5}"/>
                </a:ext>
              </a:extLst>
            </p:cNvPr>
            <p:cNvSpPr txBox="1"/>
            <p:nvPr/>
          </p:nvSpPr>
          <p:spPr>
            <a:xfrm>
              <a:off x="9974037" y="6009140"/>
              <a:ext cx="492576" cy="153888"/>
            </a:xfrm>
            <a:prstGeom prst="rect">
              <a:avLst/>
            </a:prstGeom>
            <a:solidFill>
              <a:srgbClr val="F0EDE0"/>
            </a:solidFill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GB" sz="1000" dirty="0">
                  <a:solidFill>
                    <a:schemeClr val="accent5">
                      <a:lumMod val="75000"/>
                    </a:schemeClr>
                  </a:solidFill>
                </a:rPr>
                <a:t>(Ventral)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CA47A34-5525-5B0D-A355-4DF11503D99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42" t="3820" r="8992"/>
          <a:stretch/>
        </p:blipFill>
        <p:spPr>
          <a:xfrm>
            <a:off x="5848731" y="795047"/>
            <a:ext cx="5381273" cy="350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252E-7F09-0403-6752-211816FA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brain cortex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E02D4-623A-5900-7DE9-A4E7011C0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630" y="1323840"/>
            <a:ext cx="5545102" cy="40623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3A7B0-5A8B-18FB-D8D4-2AFB5009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090" y="1372661"/>
            <a:ext cx="5779910" cy="448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54F7-C62B-D958-5724-49376DDF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the cytoarchitecture of the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BA29-60D3-23B6-3361-33BD5FF33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40" y="986973"/>
            <a:ext cx="5554050" cy="5498493"/>
          </a:xfrm>
        </p:spPr>
        <p:txBody>
          <a:bodyPr>
            <a:normAutofit/>
          </a:bodyPr>
          <a:lstStyle/>
          <a:p>
            <a:r>
              <a:rPr lang="en-GB" dirty="0"/>
              <a:t>Different </a:t>
            </a:r>
            <a:r>
              <a:rPr lang="en-GB" b="1" dirty="0"/>
              <a:t>staining techniques </a:t>
            </a:r>
            <a:r>
              <a:rPr lang="en-GB" dirty="0"/>
              <a:t>for different features (Golgi, Nissl, </a:t>
            </a:r>
            <a:r>
              <a:rPr lang="en-GB" dirty="0" err="1"/>
              <a:t>Weigert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Layered</a:t>
            </a:r>
            <a:r>
              <a:rPr lang="en-GB" dirty="0"/>
              <a:t> structure of the cortex (</a:t>
            </a:r>
            <a:r>
              <a:rPr lang="en-GB" i="1" dirty="0"/>
              <a:t>neocortex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I - Molecular layer</a:t>
            </a:r>
          </a:p>
          <a:p>
            <a:pPr lvl="1"/>
            <a:r>
              <a:rPr lang="en-GB" dirty="0"/>
              <a:t>II - Outer granular layer</a:t>
            </a:r>
          </a:p>
          <a:p>
            <a:pPr lvl="1"/>
            <a:r>
              <a:rPr lang="en-GB" dirty="0"/>
              <a:t>III - Outer pyramidal layer</a:t>
            </a:r>
          </a:p>
          <a:p>
            <a:pPr lvl="1"/>
            <a:r>
              <a:rPr lang="en-GB" dirty="0"/>
              <a:t>IV - Inner granular layer</a:t>
            </a:r>
          </a:p>
          <a:p>
            <a:pPr lvl="1"/>
            <a:r>
              <a:rPr lang="en-GB" dirty="0"/>
              <a:t>V - Inner pyramidal layer</a:t>
            </a:r>
          </a:p>
          <a:p>
            <a:pPr lvl="1"/>
            <a:r>
              <a:rPr lang="en-GB" dirty="0"/>
              <a:t>VI - fusiform layer</a:t>
            </a:r>
          </a:p>
          <a:p>
            <a:r>
              <a:rPr lang="en-GB" dirty="0"/>
              <a:t>Formation of neuronal </a:t>
            </a:r>
            <a:r>
              <a:rPr lang="en-GB" b="1" dirty="0"/>
              <a:t>columns</a:t>
            </a:r>
          </a:p>
          <a:p>
            <a:pPr lvl="1"/>
            <a:endParaRPr lang="en-GB" dirty="0"/>
          </a:p>
          <a:p>
            <a:r>
              <a:rPr lang="en-GB" dirty="0"/>
              <a:t>Major cell types in the neocortex</a:t>
            </a:r>
          </a:p>
          <a:p>
            <a:pPr lvl="1"/>
            <a:r>
              <a:rPr lang="en-GB" b="1" dirty="0"/>
              <a:t>Pyramidal</a:t>
            </a:r>
            <a:r>
              <a:rPr lang="en-GB" dirty="0"/>
              <a:t> cells (excitatory)</a:t>
            </a:r>
          </a:p>
          <a:p>
            <a:pPr lvl="1"/>
            <a:r>
              <a:rPr lang="en-GB" b="1" dirty="0"/>
              <a:t>Stellate</a:t>
            </a:r>
            <a:r>
              <a:rPr lang="en-GB" dirty="0"/>
              <a:t> cells (excitatory, if spiny)</a:t>
            </a:r>
          </a:p>
          <a:p>
            <a:pPr lvl="1"/>
            <a:r>
              <a:rPr lang="en-GB" b="1" dirty="0"/>
              <a:t>Interneurons</a:t>
            </a:r>
            <a:r>
              <a:rPr lang="en-GB" dirty="0"/>
              <a:t> (inhibitory, various types also smooth stellate cells)</a:t>
            </a:r>
          </a:p>
        </p:txBody>
      </p:sp>
      <p:pic>
        <p:nvPicPr>
          <p:cNvPr id="5" name="Picture 2" descr="image">
            <a:extLst>
              <a:ext uri="{FF2B5EF4-FFF2-40B4-BE49-F238E27FC236}">
                <a16:creationId xmlns:a16="http://schemas.microsoft.com/office/drawing/2014/main" id="{E99AD00C-69A9-35DA-E914-02D38BF14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311" y="1745494"/>
            <a:ext cx="61912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269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54F7-C62B-D958-5724-49376DDFE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the cytoarchitecture of the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1BA29-60D3-23B6-3361-33BD5FF33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986973"/>
            <a:ext cx="5362139" cy="5656538"/>
          </a:xfrm>
        </p:spPr>
        <p:txBody>
          <a:bodyPr>
            <a:normAutofit/>
          </a:bodyPr>
          <a:lstStyle/>
          <a:p>
            <a:r>
              <a:rPr lang="en-GB" dirty="0"/>
              <a:t>Granular vs agranular areas</a:t>
            </a:r>
          </a:p>
          <a:p>
            <a:pPr lvl="1"/>
            <a:r>
              <a:rPr lang="en-GB" b="1" dirty="0"/>
              <a:t>Granular</a:t>
            </a:r>
            <a:r>
              <a:rPr lang="en-GB" dirty="0"/>
              <a:t> cortex has more stellate cells in layer IV (mostly sensory and associative areas)</a:t>
            </a:r>
          </a:p>
          <a:p>
            <a:pPr lvl="1"/>
            <a:r>
              <a:rPr lang="en-GB" b="1" dirty="0"/>
              <a:t>Agranular</a:t>
            </a:r>
            <a:r>
              <a:rPr lang="en-GB" dirty="0"/>
              <a:t> cortex has fewer stellate cells in layer IV and more pyramidal cells in layer III and V (mostly motor areas)</a:t>
            </a:r>
          </a:p>
          <a:p>
            <a:endParaRPr lang="en-GB" dirty="0"/>
          </a:p>
          <a:p>
            <a:r>
              <a:rPr lang="en-GB" dirty="0"/>
              <a:t>Different cortical mapping works:</a:t>
            </a:r>
          </a:p>
          <a:p>
            <a:pPr lvl="1"/>
            <a:r>
              <a:rPr lang="en-GB" dirty="0"/>
              <a:t>Brodmann (1909)</a:t>
            </a:r>
          </a:p>
          <a:p>
            <a:pPr lvl="1"/>
            <a:r>
              <a:rPr lang="en-GB" dirty="0"/>
              <a:t>Vogt and Vogt (1919)</a:t>
            </a:r>
          </a:p>
          <a:p>
            <a:pPr lvl="1"/>
            <a:r>
              <a:rPr lang="en-GB" dirty="0"/>
              <a:t>Von </a:t>
            </a:r>
            <a:r>
              <a:rPr lang="en-GB" dirty="0" err="1"/>
              <a:t>Economo</a:t>
            </a:r>
            <a:r>
              <a:rPr lang="en-GB" dirty="0"/>
              <a:t> and </a:t>
            </a:r>
            <a:r>
              <a:rPr lang="en-GB" dirty="0" err="1"/>
              <a:t>Koskinas</a:t>
            </a:r>
            <a:r>
              <a:rPr lang="en-GB" dirty="0"/>
              <a:t> (1925)</a:t>
            </a:r>
          </a:p>
          <a:p>
            <a:pPr lvl="1"/>
            <a:r>
              <a:rPr lang="en-GB" dirty="0"/>
              <a:t>Bailey and von Bonin (1951)</a:t>
            </a:r>
          </a:p>
          <a:p>
            <a:pPr lvl="1"/>
            <a:r>
              <a:rPr lang="en-GB" dirty="0" err="1"/>
              <a:t>Sarkissov</a:t>
            </a:r>
            <a:r>
              <a:rPr lang="en-GB" dirty="0"/>
              <a:t> et al. (1955)</a:t>
            </a:r>
          </a:p>
          <a:p>
            <a:pPr lvl="1"/>
            <a:endParaRPr lang="en-GB" dirty="0"/>
          </a:p>
          <a:p>
            <a:r>
              <a:rPr lang="en-GB" dirty="0"/>
              <a:t>Most used mapping is </a:t>
            </a:r>
            <a:r>
              <a:rPr lang="en-GB" b="1" dirty="0"/>
              <a:t>Brodmann’s</a:t>
            </a:r>
          </a:p>
          <a:p>
            <a:endParaRPr lang="en-GB" dirty="0"/>
          </a:p>
          <a:p>
            <a:r>
              <a:rPr lang="en-GB" dirty="0"/>
              <a:t>Multimodal maps of the cortex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74E2492A-1BF5-24A8-3005-1589B0AD5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311" y="1745494"/>
            <a:ext cx="61912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315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D0FA4-81E0-4159-30C9-DD12127F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Broadmann</a:t>
            </a:r>
            <a:r>
              <a:rPr lang="en-GB" dirty="0"/>
              <a:t>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5D7B3-DF76-4D3E-64D0-624E1636DDD3}"/>
              </a:ext>
            </a:extLst>
          </p:cNvPr>
          <p:cNvSpPr txBox="1"/>
          <p:nvPr/>
        </p:nvSpPr>
        <p:spPr>
          <a:xfrm>
            <a:off x="61394" y="6488668"/>
            <a:ext cx="617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https://www.kenhub.com/en/library/anatomy/brodmann-areas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E179F-9E63-9517-6A96-DFA97F567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21" y="1326445"/>
            <a:ext cx="6379380" cy="4205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7BC480-C482-3C01-496B-F5CA3F40F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747" y="1174045"/>
            <a:ext cx="5935218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0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89F3-6798-0C3B-BF21-61B11410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Primary Somatosensory Area - SI (BA 3-2-1)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9522-F53A-7A6E-21AB-813E7210C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986973"/>
            <a:ext cx="5548405" cy="579764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Body sensory information (touch, temperature, pain, etc)</a:t>
            </a:r>
          </a:p>
          <a:p>
            <a:r>
              <a:rPr lang="en-GB" b="1" dirty="0"/>
              <a:t>Afferents</a:t>
            </a:r>
          </a:p>
          <a:p>
            <a:pPr lvl="1"/>
            <a:r>
              <a:rPr lang="en-GB" dirty="0"/>
              <a:t>Thalamocortical projections (ventroposterior and lateral nuclei)</a:t>
            </a:r>
          </a:p>
          <a:p>
            <a:pPr lvl="1"/>
            <a:r>
              <a:rPr lang="en-GB" dirty="0"/>
              <a:t>Projections areas from ipsilateral motor cortex and from contralateral somatosensory</a:t>
            </a:r>
          </a:p>
          <a:p>
            <a:r>
              <a:rPr lang="en-GB" b="1" dirty="0" err="1"/>
              <a:t>Efferents</a:t>
            </a:r>
            <a:endParaRPr lang="en-GB" b="1" dirty="0"/>
          </a:p>
          <a:p>
            <a:pPr lvl="1"/>
            <a:r>
              <a:rPr lang="en-GB" dirty="0"/>
              <a:t>Ipsilateral motor cortex</a:t>
            </a:r>
          </a:p>
          <a:p>
            <a:pPr lvl="1"/>
            <a:r>
              <a:rPr lang="en-GB" dirty="0"/>
              <a:t>Somatosensory Areas 5 and 40</a:t>
            </a:r>
          </a:p>
          <a:p>
            <a:pPr lvl="1"/>
            <a:r>
              <a:rPr lang="en-GB" dirty="0"/>
              <a:t>Contralateral SI</a:t>
            </a:r>
          </a:p>
          <a:p>
            <a:pPr lvl="1"/>
            <a:r>
              <a:rPr lang="en-GB" dirty="0"/>
              <a:t>Projections to interneurons in thalamus and spinal cord (suppression/inhibition of signals)</a:t>
            </a:r>
          </a:p>
          <a:p>
            <a:pPr lvl="1"/>
            <a:endParaRPr lang="en-GB" dirty="0"/>
          </a:p>
          <a:p>
            <a:r>
              <a:rPr lang="en-GB" b="1" dirty="0"/>
              <a:t>Somatotopic</a:t>
            </a:r>
            <a:r>
              <a:rPr lang="en-GB" dirty="0"/>
              <a:t> organization</a:t>
            </a:r>
          </a:p>
          <a:p>
            <a:endParaRPr lang="en-GB" dirty="0"/>
          </a:p>
          <a:p>
            <a:r>
              <a:rPr lang="en-GB" dirty="0"/>
              <a:t>Additional somatosensory areas:</a:t>
            </a:r>
          </a:p>
          <a:p>
            <a:pPr lvl="1"/>
            <a:r>
              <a:rPr lang="en-GB" dirty="0"/>
              <a:t>Secondary Somatosensory Area - SII (BA 39-40)</a:t>
            </a:r>
          </a:p>
          <a:p>
            <a:pPr lvl="1"/>
            <a:r>
              <a:rPr lang="en-GB" dirty="0"/>
              <a:t>Somatic Sensory Association Area (BA 5)</a:t>
            </a:r>
          </a:p>
          <a:p>
            <a:pPr lvl="1"/>
            <a:r>
              <a:rPr lang="en-GB" dirty="0"/>
              <a:t>BA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74B6ED-44B7-2529-87C8-EA36D13077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00"/>
          <a:stretch/>
        </p:blipFill>
        <p:spPr>
          <a:xfrm>
            <a:off x="5722805" y="903552"/>
            <a:ext cx="5492623" cy="4205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5103A-328D-2DD0-087D-171A3E1D5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81" y="4306711"/>
            <a:ext cx="1922354" cy="23073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EF49C6E-1FD8-BA98-C628-1CF237AB2306}"/>
              </a:ext>
            </a:extLst>
          </p:cNvPr>
          <p:cNvSpPr/>
          <p:nvPr/>
        </p:nvSpPr>
        <p:spPr>
          <a:xfrm>
            <a:off x="8305800" y="1464129"/>
            <a:ext cx="1681886" cy="1586046"/>
          </a:xfrm>
          <a:custGeom>
            <a:avLst/>
            <a:gdLst>
              <a:gd name="connsiteX0" fmla="*/ 103828 w 1656446"/>
              <a:gd name="connsiteY0" fmla="*/ 1589955 h 1590769"/>
              <a:gd name="connsiteX1" fmla="*/ 224931 w 1656446"/>
              <a:gd name="connsiteY1" fmla="*/ 1536887 h 1590769"/>
              <a:gd name="connsiteX2" fmla="*/ 399103 w 1656446"/>
              <a:gd name="connsiteY2" fmla="*/ 1398094 h 1590769"/>
              <a:gd name="connsiteX3" fmla="*/ 532453 w 1656446"/>
              <a:gd name="connsiteY3" fmla="*/ 1206233 h 1590769"/>
              <a:gd name="connsiteX4" fmla="*/ 590964 w 1656446"/>
              <a:gd name="connsiteY4" fmla="*/ 1057915 h 1590769"/>
              <a:gd name="connsiteX5" fmla="*/ 618178 w 1656446"/>
              <a:gd name="connsiteY5" fmla="*/ 857890 h 1590769"/>
              <a:gd name="connsiteX6" fmla="*/ 627703 w 1656446"/>
              <a:gd name="connsiteY6" fmla="*/ 762640 h 1590769"/>
              <a:gd name="connsiteX7" fmla="*/ 728396 w 1656446"/>
              <a:gd name="connsiteY7" fmla="*/ 642898 h 1590769"/>
              <a:gd name="connsiteX8" fmla="*/ 796431 w 1656446"/>
              <a:gd name="connsiteY8" fmla="*/ 591190 h 1590769"/>
              <a:gd name="connsiteX9" fmla="*/ 921617 w 1656446"/>
              <a:gd name="connsiteY9" fmla="*/ 510908 h 1590769"/>
              <a:gd name="connsiteX10" fmla="*/ 1025031 w 1656446"/>
              <a:gd name="connsiteY10" fmla="*/ 395248 h 1590769"/>
              <a:gd name="connsiteX11" fmla="*/ 1143414 w 1656446"/>
              <a:gd name="connsiteY11" fmla="*/ 308162 h 1590769"/>
              <a:gd name="connsiteX12" fmla="*/ 1242746 w 1656446"/>
              <a:gd name="connsiteY12" fmla="*/ 257815 h 1590769"/>
              <a:gd name="connsiteX13" fmla="*/ 1422360 w 1656446"/>
              <a:gd name="connsiteY13" fmla="*/ 246930 h 1590769"/>
              <a:gd name="connsiteX14" fmla="*/ 1563874 w 1656446"/>
              <a:gd name="connsiteY14" fmla="*/ 280948 h 1590769"/>
              <a:gd name="connsiteX15" fmla="*/ 1656403 w 1656446"/>
              <a:gd name="connsiteY15" fmla="*/ 279587 h 1590769"/>
              <a:gd name="connsiteX16" fmla="*/ 1552989 w 1656446"/>
              <a:gd name="connsiteY16" fmla="*/ 189780 h 1590769"/>
              <a:gd name="connsiteX17" fmla="*/ 1400589 w 1656446"/>
              <a:gd name="connsiteY17" fmla="*/ 114940 h 1590769"/>
              <a:gd name="connsiteX18" fmla="*/ 1318946 w 1656446"/>
              <a:gd name="connsiteY18" fmla="*/ 98612 h 1590769"/>
              <a:gd name="connsiteX19" fmla="*/ 1162464 w 1656446"/>
              <a:gd name="connsiteY19" fmla="*/ 46905 h 1590769"/>
              <a:gd name="connsiteX20" fmla="*/ 1015506 w 1656446"/>
              <a:gd name="connsiteY20" fmla="*/ 4723 h 1590769"/>
              <a:gd name="connsiteX21" fmla="*/ 916174 w 1656446"/>
              <a:gd name="connsiteY21" fmla="*/ 8805 h 1590769"/>
              <a:gd name="connsiteX22" fmla="*/ 739281 w 1656446"/>
              <a:gd name="connsiteY22" fmla="*/ 74119 h 1590769"/>
              <a:gd name="connsiteX23" fmla="*/ 577356 w 1656446"/>
              <a:gd name="connsiteY23" fmla="*/ 182976 h 1590769"/>
              <a:gd name="connsiteX24" fmla="*/ 494353 w 1656446"/>
              <a:gd name="connsiteY24" fmla="*/ 305440 h 1590769"/>
              <a:gd name="connsiteX25" fmla="*/ 344674 w 1656446"/>
              <a:gd name="connsiteY25" fmla="*/ 412937 h 1590769"/>
              <a:gd name="connsiteX26" fmla="*/ 201799 w 1656446"/>
              <a:gd name="connsiteY26" fmla="*/ 532680 h 1590769"/>
              <a:gd name="connsiteX27" fmla="*/ 75253 w 1656446"/>
              <a:gd name="connsiteY27" fmla="*/ 630651 h 1590769"/>
              <a:gd name="connsiteX28" fmla="*/ 54842 w 1656446"/>
              <a:gd name="connsiteY28" fmla="*/ 791215 h 1590769"/>
              <a:gd name="connsiteX29" fmla="*/ 46678 w 1656446"/>
              <a:gd name="connsiteY29" fmla="*/ 951780 h 1590769"/>
              <a:gd name="connsiteX30" fmla="*/ 20824 w 1656446"/>
              <a:gd name="connsiteY30" fmla="*/ 1083769 h 1590769"/>
              <a:gd name="connsiteX31" fmla="*/ 414 w 1656446"/>
              <a:gd name="connsiteY31" fmla="*/ 1229365 h 1590769"/>
              <a:gd name="connsiteX32" fmla="*/ 39874 w 1656446"/>
              <a:gd name="connsiteY32" fmla="*/ 1389930 h 1590769"/>
              <a:gd name="connsiteX33" fmla="*/ 67089 w 1656446"/>
              <a:gd name="connsiteY33" fmla="*/ 1501508 h 1590769"/>
              <a:gd name="connsiteX34" fmla="*/ 103828 w 1656446"/>
              <a:gd name="connsiteY34" fmla="*/ 1589955 h 1590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656446" h="1590769">
                <a:moveTo>
                  <a:pt x="103828" y="1589955"/>
                </a:moveTo>
                <a:cubicBezTo>
                  <a:pt x="130135" y="1595852"/>
                  <a:pt x="175719" y="1568864"/>
                  <a:pt x="224931" y="1536887"/>
                </a:cubicBezTo>
                <a:cubicBezTo>
                  <a:pt x="274144" y="1504910"/>
                  <a:pt x="347849" y="1453203"/>
                  <a:pt x="399103" y="1398094"/>
                </a:cubicBezTo>
                <a:cubicBezTo>
                  <a:pt x="450357" y="1342985"/>
                  <a:pt x="500476" y="1262929"/>
                  <a:pt x="532453" y="1206233"/>
                </a:cubicBezTo>
                <a:cubicBezTo>
                  <a:pt x="564430" y="1149537"/>
                  <a:pt x="576677" y="1115972"/>
                  <a:pt x="590964" y="1057915"/>
                </a:cubicBezTo>
                <a:cubicBezTo>
                  <a:pt x="605252" y="999858"/>
                  <a:pt x="612055" y="907102"/>
                  <a:pt x="618178" y="857890"/>
                </a:cubicBezTo>
                <a:cubicBezTo>
                  <a:pt x="624301" y="808678"/>
                  <a:pt x="609333" y="798472"/>
                  <a:pt x="627703" y="762640"/>
                </a:cubicBezTo>
                <a:cubicBezTo>
                  <a:pt x="646073" y="726808"/>
                  <a:pt x="700275" y="671473"/>
                  <a:pt x="728396" y="642898"/>
                </a:cubicBezTo>
                <a:cubicBezTo>
                  <a:pt x="756517" y="614323"/>
                  <a:pt x="764228" y="613188"/>
                  <a:pt x="796431" y="591190"/>
                </a:cubicBezTo>
                <a:cubicBezTo>
                  <a:pt x="828634" y="569192"/>
                  <a:pt x="883517" y="543565"/>
                  <a:pt x="921617" y="510908"/>
                </a:cubicBezTo>
                <a:cubicBezTo>
                  <a:pt x="959717" y="478251"/>
                  <a:pt x="988065" y="429039"/>
                  <a:pt x="1025031" y="395248"/>
                </a:cubicBezTo>
                <a:cubicBezTo>
                  <a:pt x="1061997" y="361457"/>
                  <a:pt x="1107128" y="331067"/>
                  <a:pt x="1143414" y="308162"/>
                </a:cubicBezTo>
                <a:cubicBezTo>
                  <a:pt x="1179700" y="285257"/>
                  <a:pt x="1196255" y="268020"/>
                  <a:pt x="1242746" y="257815"/>
                </a:cubicBezTo>
                <a:cubicBezTo>
                  <a:pt x="1289237" y="247610"/>
                  <a:pt x="1368839" y="243075"/>
                  <a:pt x="1422360" y="246930"/>
                </a:cubicBezTo>
                <a:cubicBezTo>
                  <a:pt x="1475881" y="250785"/>
                  <a:pt x="1524867" y="275505"/>
                  <a:pt x="1563874" y="280948"/>
                </a:cubicBezTo>
                <a:cubicBezTo>
                  <a:pt x="1602881" y="286391"/>
                  <a:pt x="1658217" y="294782"/>
                  <a:pt x="1656403" y="279587"/>
                </a:cubicBezTo>
                <a:cubicBezTo>
                  <a:pt x="1654589" y="264392"/>
                  <a:pt x="1595625" y="217221"/>
                  <a:pt x="1552989" y="189780"/>
                </a:cubicBezTo>
                <a:cubicBezTo>
                  <a:pt x="1510353" y="162339"/>
                  <a:pt x="1439596" y="130135"/>
                  <a:pt x="1400589" y="114940"/>
                </a:cubicBezTo>
                <a:cubicBezTo>
                  <a:pt x="1361582" y="99745"/>
                  <a:pt x="1358633" y="109951"/>
                  <a:pt x="1318946" y="98612"/>
                </a:cubicBezTo>
                <a:cubicBezTo>
                  <a:pt x="1279259" y="87273"/>
                  <a:pt x="1213037" y="62553"/>
                  <a:pt x="1162464" y="46905"/>
                </a:cubicBezTo>
                <a:cubicBezTo>
                  <a:pt x="1111891" y="31257"/>
                  <a:pt x="1056554" y="11073"/>
                  <a:pt x="1015506" y="4723"/>
                </a:cubicBezTo>
                <a:cubicBezTo>
                  <a:pt x="974458" y="-1627"/>
                  <a:pt x="962211" y="-2761"/>
                  <a:pt x="916174" y="8805"/>
                </a:cubicBezTo>
                <a:cubicBezTo>
                  <a:pt x="870137" y="20371"/>
                  <a:pt x="795751" y="45090"/>
                  <a:pt x="739281" y="74119"/>
                </a:cubicBezTo>
                <a:cubicBezTo>
                  <a:pt x="682811" y="103147"/>
                  <a:pt x="618177" y="144423"/>
                  <a:pt x="577356" y="182976"/>
                </a:cubicBezTo>
                <a:cubicBezTo>
                  <a:pt x="536535" y="221529"/>
                  <a:pt x="533133" y="267113"/>
                  <a:pt x="494353" y="305440"/>
                </a:cubicBezTo>
                <a:cubicBezTo>
                  <a:pt x="455573" y="343767"/>
                  <a:pt x="393433" y="375064"/>
                  <a:pt x="344674" y="412937"/>
                </a:cubicBezTo>
                <a:cubicBezTo>
                  <a:pt x="295915" y="450810"/>
                  <a:pt x="246702" y="496394"/>
                  <a:pt x="201799" y="532680"/>
                </a:cubicBezTo>
                <a:cubicBezTo>
                  <a:pt x="156896" y="568966"/>
                  <a:pt x="99746" y="587562"/>
                  <a:pt x="75253" y="630651"/>
                </a:cubicBezTo>
                <a:cubicBezTo>
                  <a:pt x="50760" y="673740"/>
                  <a:pt x="59604" y="737694"/>
                  <a:pt x="54842" y="791215"/>
                </a:cubicBezTo>
                <a:cubicBezTo>
                  <a:pt x="50080" y="844736"/>
                  <a:pt x="52348" y="903021"/>
                  <a:pt x="46678" y="951780"/>
                </a:cubicBezTo>
                <a:cubicBezTo>
                  <a:pt x="41008" y="1000539"/>
                  <a:pt x="28535" y="1037505"/>
                  <a:pt x="20824" y="1083769"/>
                </a:cubicBezTo>
                <a:cubicBezTo>
                  <a:pt x="13113" y="1130033"/>
                  <a:pt x="-2761" y="1178338"/>
                  <a:pt x="414" y="1229365"/>
                </a:cubicBezTo>
                <a:cubicBezTo>
                  <a:pt x="3589" y="1280392"/>
                  <a:pt x="28762" y="1344573"/>
                  <a:pt x="39874" y="1389930"/>
                </a:cubicBezTo>
                <a:cubicBezTo>
                  <a:pt x="50986" y="1435287"/>
                  <a:pt x="58925" y="1465676"/>
                  <a:pt x="67089" y="1501508"/>
                </a:cubicBezTo>
                <a:cubicBezTo>
                  <a:pt x="75253" y="1537340"/>
                  <a:pt x="77521" y="1584058"/>
                  <a:pt x="103828" y="1589955"/>
                </a:cubicBezTo>
                <a:close/>
              </a:path>
            </a:pathLst>
          </a:cu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78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F5BA-2C4F-06C4-9ACD-DCF95E07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Motor Areas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567558-77A7-F25A-BB69-CC7017C0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0" name="Picture 9" descr="A diagram of the brain&#10;&#10;Description automatically generated">
            <a:extLst>
              <a:ext uri="{FF2B5EF4-FFF2-40B4-BE49-F238E27FC236}">
                <a16:creationId xmlns:a16="http://schemas.microsoft.com/office/drawing/2014/main" id="{30EA1932-E585-1B0E-FEB7-5C3F1CD7C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98" y="1148973"/>
            <a:ext cx="6284989" cy="4844806"/>
          </a:xfrm>
          <a:prstGeom prst="rect">
            <a:avLst/>
          </a:prstGeom>
        </p:spPr>
      </p:pic>
      <p:pic>
        <p:nvPicPr>
          <p:cNvPr id="12" name="Picture 11" descr="A diagram of a brain&#10;&#10;Description automatically generated">
            <a:extLst>
              <a:ext uri="{FF2B5EF4-FFF2-40B4-BE49-F238E27FC236}">
                <a16:creationId xmlns:a16="http://schemas.microsoft.com/office/drawing/2014/main" id="{7A1555FE-7B7F-B18E-241C-50481F2A3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45" y="1911350"/>
            <a:ext cx="5899416" cy="3628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08AFB-89E9-211E-2AC1-E780B6C2EAEA}"/>
              </a:ext>
            </a:extLst>
          </p:cNvPr>
          <p:cNvSpPr txBox="1"/>
          <p:nvPr/>
        </p:nvSpPr>
        <p:spPr>
          <a:xfrm>
            <a:off x="4289778" y="2026029"/>
            <a:ext cx="621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BA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58939-431E-263D-B984-CB01843303E8}"/>
              </a:ext>
            </a:extLst>
          </p:cNvPr>
          <p:cNvSpPr txBox="1"/>
          <p:nvPr/>
        </p:nvSpPr>
        <p:spPr>
          <a:xfrm>
            <a:off x="2596309" y="1726684"/>
            <a:ext cx="1326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BA 6 medial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EB9EA-AA85-BFC0-37B2-75482EB71301}"/>
              </a:ext>
            </a:extLst>
          </p:cNvPr>
          <p:cNvSpPr txBox="1"/>
          <p:nvPr/>
        </p:nvSpPr>
        <p:spPr>
          <a:xfrm>
            <a:off x="864696" y="1841363"/>
            <a:ext cx="12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BA 4 lateral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05C31-4997-585B-7AFF-349E4E35F88E}"/>
              </a:ext>
            </a:extLst>
          </p:cNvPr>
          <p:cNvSpPr txBox="1"/>
          <p:nvPr/>
        </p:nvSpPr>
        <p:spPr>
          <a:xfrm>
            <a:off x="6152309" y="1187273"/>
            <a:ext cx="1347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BA 32-24-23</a:t>
            </a:r>
          </a:p>
        </p:txBody>
      </p:sp>
    </p:spTree>
    <p:extLst>
      <p:ext uri="{BB962C8B-B14F-4D97-AF65-F5344CB8AC3E}">
        <p14:creationId xmlns:p14="http://schemas.microsoft.com/office/powerpoint/2010/main" val="115728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EB2D-8697-9DB0-2C56-34F2BD8B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cortex (BA 17-18-19)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0B1B-CEC4-A44F-34F2-E17D2BB67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986973"/>
            <a:ext cx="4950095" cy="5397497"/>
          </a:xfrm>
        </p:spPr>
        <p:txBody>
          <a:bodyPr/>
          <a:lstStyle/>
          <a:p>
            <a:r>
              <a:rPr lang="en-GB" b="1" dirty="0"/>
              <a:t>Primary visual cortex BA 17</a:t>
            </a:r>
          </a:p>
          <a:p>
            <a:pPr lvl="1"/>
            <a:r>
              <a:rPr lang="en-GB" dirty="0"/>
              <a:t>Afferents from the </a:t>
            </a:r>
            <a:r>
              <a:rPr lang="en-GB" b="1" dirty="0"/>
              <a:t>optic radiation </a:t>
            </a:r>
            <a:r>
              <a:rPr lang="en-GB" dirty="0"/>
              <a:t>(</a:t>
            </a:r>
            <a:r>
              <a:rPr lang="en-GB" dirty="0" err="1"/>
              <a:t>geniculocalcarine</a:t>
            </a:r>
            <a:r>
              <a:rPr lang="en-GB" dirty="0"/>
              <a:t> tract) coming from lateral geniculate bodies and retinas </a:t>
            </a:r>
            <a:r>
              <a:rPr lang="en-GB" dirty="0">
                <a:sym typeface="Wingdings" panose="05000000000000000000" pitchFamily="2" charset="2"/>
              </a:rPr>
              <a:t> Striate cortex</a:t>
            </a:r>
            <a:endParaRPr lang="en-GB" dirty="0"/>
          </a:p>
          <a:p>
            <a:pPr lvl="1"/>
            <a:r>
              <a:rPr lang="en-GB" b="1" dirty="0"/>
              <a:t>Alternating neuronal columns </a:t>
            </a:r>
            <a:r>
              <a:rPr lang="en-GB" dirty="0"/>
              <a:t>between left and right eye (ocular dominance columns)</a:t>
            </a:r>
          </a:p>
          <a:p>
            <a:endParaRPr lang="en-GB" dirty="0"/>
          </a:p>
          <a:p>
            <a:r>
              <a:rPr lang="en-GB" b="1" dirty="0"/>
              <a:t>Association visual cortex BA 18-19 </a:t>
            </a:r>
            <a:r>
              <a:rPr lang="en-GB" dirty="0"/>
              <a:t>(peristriate or </a:t>
            </a:r>
            <a:r>
              <a:rPr lang="en-GB" dirty="0" err="1"/>
              <a:t>extrastriate</a:t>
            </a:r>
            <a:r>
              <a:rPr lang="en-GB" dirty="0"/>
              <a:t> cortex)</a:t>
            </a:r>
          </a:p>
          <a:p>
            <a:pPr lvl="1"/>
            <a:r>
              <a:rPr lang="en-GB" dirty="0"/>
              <a:t>Afferents mostly from BA 17 but also from pulvinar</a:t>
            </a:r>
          </a:p>
          <a:p>
            <a:pPr lvl="1"/>
            <a:r>
              <a:rPr lang="en-GB" dirty="0"/>
              <a:t>Important for features extraction (shape, colour, depth, facial recognition, etc.)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1F603-F03B-DA40-B330-7302AF8F6F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00"/>
          <a:stretch/>
        </p:blipFill>
        <p:spPr>
          <a:xfrm>
            <a:off x="6395158" y="903552"/>
            <a:ext cx="5492623" cy="420511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248778C-32AC-31AF-A41E-146BA579CBCA}"/>
              </a:ext>
            </a:extLst>
          </p:cNvPr>
          <p:cNvSpPr/>
          <p:nvPr/>
        </p:nvSpPr>
        <p:spPr>
          <a:xfrm>
            <a:off x="10241630" y="2022928"/>
            <a:ext cx="1565543" cy="2175443"/>
          </a:xfrm>
          <a:custGeom>
            <a:avLst/>
            <a:gdLst>
              <a:gd name="connsiteX0" fmla="*/ 769270 w 1565543"/>
              <a:gd name="connsiteY0" fmla="*/ 2137229 h 2175443"/>
              <a:gd name="connsiteX1" fmla="*/ 881756 w 1565543"/>
              <a:gd name="connsiteY1" fmla="*/ 2111829 h 2175443"/>
              <a:gd name="connsiteX2" fmla="*/ 954327 w 1565543"/>
              <a:gd name="connsiteY2" fmla="*/ 2126343 h 2175443"/>
              <a:gd name="connsiteX3" fmla="*/ 1041413 w 1565543"/>
              <a:gd name="connsiteY3" fmla="*/ 2148115 h 2175443"/>
              <a:gd name="connsiteX4" fmla="*/ 1128499 w 1565543"/>
              <a:gd name="connsiteY4" fmla="*/ 2148115 h 2175443"/>
              <a:gd name="connsiteX5" fmla="*/ 1251870 w 1565543"/>
              <a:gd name="connsiteY5" fmla="*/ 2175329 h 2175443"/>
              <a:gd name="connsiteX6" fmla="*/ 1348027 w 1565543"/>
              <a:gd name="connsiteY6" fmla="*/ 2155372 h 2175443"/>
              <a:gd name="connsiteX7" fmla="*/ 1444184 w 1565543"/>
              <a:gd name="connsiteY7" fmla="*/ 2099129 h 2175443"/>
              <a:gd name="connsiteX8" fmla="*/ 1518570 w 1565543"/>
              <a:gd name="connsiteY8" fmla="*/ 2006601 h 2175443"/>
              <a:gd name="connsiteX9" fmla="*/ 1551227 w 1565543"/>
              <a:gd name="connsiteY9" fmla="*/ 1857829 h 2175443"/>
              <a:gd name="connsiteX10" fmla="*/ 1560299 w 1565543"/>
              <a:gd name="connsiteY10" fmla="*/ 1761672 h 2175443"/>
              <a:gd name="connsiteX11" fmla="*/ 1562113 w 1565543"/>
              <a:gd name="connsiteY11" fmla="*/ 1614715 h 2175443"/>
              <a:gd name="connsiteX12" fmla="*/ 1513127 w 1565543"/>
              <a:gd name="connsiteY12" fmla="*/ 1489529 h 2175443"/>
              <a:gd name="connsiteX13" fmla="*/ 1522199 w 1565543"/>
              <a:gd name="connsiteY13" fmla="*/ 1349829 h 2175443"/>
              <a:gd name="connsiteX14" fmla="*/ 1522199 w 1565543"/>
              <a:gd name="connsiteY14" fmla="*/ 1260929 h 2175443"/>
              <a:gd name="connsiteX15" fmla="*/ 1462327 w 1565543"/>
              <a:gd name="connsiteY15" fmla="*/ 1159329 h 2175443"/>
              <a:gd name="connsiteX16" fmla="*/ 1431484 w 1565543"/>
              <a:gd name="connsiteY16" fmla="*/ 1045029 h 2175443"/>
              <a:gd name="connsiteX17" fmla="*/ 1360727 w 1565543"/>
              <a:gd name="connsiteY17" fmla="*/ 957943 h 2175443"/>
              <a:gd name="connsiteX18" fmla="*/ 1344399 w 1565543"/>
              <a:gd name="connsiteY18" fmla="*/ 825501 h 2175443"/>
              <a:gd name="connsiteX19" fmla="*/ 1293599 w 1565543"/>
              <a:gd name="connsiteY19" fmla="*/ 702129 h 2175443"/>
              <a:gd name="connsiteX20" fmla="*/ 1250056 w 1565543"/>
              <a:gd name="connsiteY20" fmla="*/ 611415 h 2175443"/>
              <a:gd name="connsiteX21" fmla="*/ 1201070 w 1565543"/>
              <a:gd name="connsiteY21" fmla="*/ 560615 h 2175443"/>
              <a:gd name="connsiteX22" fmla="*/ 1150270 w 1565543"/>
              <a:gd name="connsiteY22" fmla="*/ 457201 h 2175443"/>
              <a:gd name="connsiteX23" fmla="*/ 1083141 w 1565543"/>
              <a:gd name="connsiteY23" fmla="*/ 362858 h 2175443"/>
              <a:gd name="connsiteX24" fmla="*/ 1057741 w 1565543"/>
              <a:gd name="connsiteY24" fmla="*/ 284843 h 2175443"/>
              <a:gd name="connsiteX25" fmla="*/ 1005127 w 1565543"/>
              <a:gd name="connsiteY25" fmla="*/ 165101 h 2175443"/>
              <a:gd name="connsiteX26" fmla="*/ 939813 w 1565543"/>
              <a:gd name="connsiteY26" fmla="*/ 90715 h 2175443"/>
              <a:gd name="connsiteX27" fmla="*/ 830956 w 1565543"/>
              <a:gd name="connsiteY27" fmla="*/ 1 h 2175443"/>
              <a:gd name="connsiteX28" fmla="*/ 767456 w 1565543"/>
              <a:gd name="connsiteY28" fmla="*/ 92529 h 2175443"/>
              <a:gd name="connsiteX29" fmla="*/ 636827 w 1565543"/>
              <a:gd name="connsiteY29" fmla="*/ 195943 h 2175443"/>
              <a:gd name="connsiteX30" fmla="*/ 471727 w 1565543"/>
              <a:gd name="connsiteY30" fmla="*/ 295729 h 2175443"/>
              <a:gd name="connsiteX31" fmla="*/ 205027 w 1565543"/>
              <a:gd name="connsiteY31" fmla="*/ 368301 h 2175443"/>
              <a:gd name="connsiteX32" fmla="*/ 13 w 1565543"/>
              <a:gd name="connsiteY32" fmla="*/ 397329 h 2175443"/>
              <a:gd name="connsiteX33" fmla="*/ 214099 w 1565543"/>
              <a:gd name="connsiteY33" fmla="*/ 431801 h 2175443"/>
              <a:gd name="connsiteX34" fmla="*/ 404599 w 1565543"/>
              <a:gd name="connsiteY34" fmla="*/ 558801 h 2175443"/>
              <a:gd name="connsiteX35" fmla="*/ 517084 w 1565543"/>
              <a:gd name="connsiteY35" fmla="*/ 656772 h 2175443"/>
              <a:gd name="connsiteX36" fmla="*/ 598727 w 1565543"/>
              <a:gd name="connsiteY36" fmla="*/ 763815 h 2175443"/>
              <a:gd name="connsiteX37" fmla="*/ 631384 w 1565543"/>
              <a:gd name="connsiteY37" fmla="*/ 883558 h 2175443"/>
              <a:gd name="connsiteX38" fmla="*/ 645899 w 1565543"/>
              <a:gd name="connsiteY38" fmla="*/ 1019629 h 2175443"/>
              <a:gd name="connsiteX39" fmla="*/ 642270 w 1565543"/>
              <a:gd name="connsiteY39" fmla="*/ 1110343 h 2175443"/>
              <a:gd name="connsiteX40" fmla="*/ 607799 w 1565543"/>
              <a:gd name="connsiteY40" fmla="*/ 1146629 h 2175443"/>
              <a:gd name="connsiteX41" fmla="*/ 466284 w 1565543"/>
              <a:gd name="connsiteY41" fmla="*/ 1213758 h 2175443"/>
              <a:gd name="connsiteX42" fmla="*/ 466284 w 1565543"/>
              <a:gd name="connsiteY42" fmla="*/ 1295401 h 2175443"/>
              <a:gd name="connsiteX43" fmla="*/ 486241 w 1565543"/>
              <a:gd name="connsiteY43" fmla="*/ 1447801 h 2175443"/>
              <a:gd name="connsiteX44" fmla="*/ 517084 w 1565543"/>
              <a:gd name="connsiteY44" fmla="*/ 1594758 h 2175443"/>
              <a:gd name="connsiteX45" fmla="*/ 569699 w 1565543"/>
              <a:gd name="connsiteY45" fmla="*/ 1801586 h 2175443"/>
              <a:gd name="connsiteX46" fmla="*/ 620499 w 1565543"/>
              <a:gd name="connsiteY46" fmla="*/ 1944915 h 2175443"/>
              <a:gd name="connsiteX47" fmla="*/ 676741 w 1565543"/>
              <a:gd name="connsiteY47" fmla="*/ 2059215 h 2175443"/>
              <a:gd name="connsiteX48" fmla="*/ 769270 w 1565543"/>
              <a:gd name="connsiteY48" fmla="*/ 2137229 h 2175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65543" h="2175443">
                <a:moveTo>
                  <a:pt x="769270" y="2137229"/>
                </a:moveTo>
                <a:cubicBezTo>
                  <a:pt x="803439" y="2145998"/>
                  <a:pt x="850913" y="2113643"/>
                  <a:pt x="881756" y="2111829"/>
                </a:cubicBezTo>
                <a:cubicBezTo>
                  <a:pt x="912599" y="2110015"/>
                  <a:pt x="927718" y="2120295"/>
                  <a:pt x="954327" y="2126343"/>
                </a:cubicBezTo>
                <a:cubicBezTo>
                  <a:pt x="980936" y="2132391"/>
                  <a:pt x="1012384" y="2144486"/>
                  <a:pt x="1041413" y="2148115"/>
                </a:cubicBezTo>
                <a:cubicBezTo>
                  <a:pt x="1070442" y="2151744"/>
                  <a:pt x="1093423" y="2143579"/>
                  <a:pt x="1128499" y="2148115"/>
                </a:cubicBezTo>
                <a:cubicBezTo>
                  <a:pt x="1163575" y="2152651"/>
                  <a:pt x="1215282" y="2174120"/>
                  <a:pt x="1251870" y="2175329"/>
                </a:cubicBezTo>
                <a:cubicBezTo>
                  <a:pt x="1288458" y="2176539"/>
                  <a:pt x="1315975" y="2168072"/>
                  <a:pt x="1348027" y="2155372"/>
                </a:cubicBezTo>
                <a:cubicBezTo>
                  <a:pt x="1380079" y="2142672"/>
                  <a:pt x="1415760" y="2123924"/>
                  <a:pt x="1444184" y="2099129"/>
                </a:cubicBezTo>
                <a:cubicBezTo>
                  <a:pt x="1472608" y="2074334"/>
                  <a:pt x="1500729" y="2046818"/>
                  <a:pt x="1518570" y="2006601"/>
                </a:cubicBezTo>
                <a:cubicBezTo>
                  <a:pt x="1536411" y="1966384"/>
                  <a:pt x="1544272" y="1898651"/>
                  <a:pt x="1551227" y="1857829"/>
                </a:cubicBezTo>
                <a:cubicBezTo>
                  <a:pt x="1558182" y="1817007"/>
                  <a:pt x="1558485" y="1802191"/>
                  <a:pt x="1560299" y="1761672"/>
                </a:cubicBezTo>
                <a:cubicBezTo>
                  <a:pt x="1562113" y="1721153"/>
                  <a:pt x="1569975" y="1660072"/>
                  <a:pt x="1562113" y="1614715"/>
                </a:cubicBezTo>
                <a:cubicBezTo>
                  <a:pt x="1554251" y="1569358"/>
                  <a:pt x="1519779" y="1533676"/>
                  <a:pt x="1513127" y="1489529"/>
                </a:cubicBezTo>
                <a:cubicBezTo>
                  <a:pt x="1506475" y="1445382"/>
                  <a:pt x="1520687" y="1387929"/>
                  <a:pt x="1522199" y="1349829"/>
                </a:cubicBezTo>
                <a:cubicBezTo>
                  <a:pt x="1523711" y="1311729"/>
                  <a:pt x="1532178" y="1292679"/>
                  <a:pt x="1522199" y="1260929"/>
                </a:cubicBezTo>
                <a:cubicBezTo>
                  <a:pt x="1512220" y="1229179"/>
                  <a:pt x="1477446" y="1195312"/>
                  <a:pt x="1462327" y="1159329"/>
                </a:cubicBezTo>
                <a:cubicBezTo>
                  <a:pt x="1447208" y="1123346"/>
                  <a:pt x="1448417" y="1078593"/>
                  <a:pt x="1431484" y="1045029"/>
                </a:cubicBezTo>
                <a:cubicBezTo>
                  <a:pt x="1414551" y="1011465"/>
                  <a:pt x="1375241" y="994531"/>
                  <a:pt x="1360727" y="957943"/>
                </a:cubicBezTo>
                <a:cubicBezTo>
                  <a:pt x="1346213" y="921355"/>
                  <a:pt x="1355587" y="868137"/>
                  <a:pt x="1344399" y="825501"/>
                </a:cubicBezTo>
                <a:cubicBezTo>
                  <a:pt x="1333211" y="782865"/>
                  <a:pt x="1309323" y="737810"/>
                  <a:pt x="1293599" y="702129"/>
                </a:cubicBezTo>
                <a:cubicBezTo>
                  <a:pt x="1277875" y="666448"/>
                  <a:pt x="1265477" y="635001"/>
                  <a:pt x="1250056" y="611415"/>
                </a:cubicBezTo>
                <a:cubicBezTo>
                  <a:pt x="1234635" y="587829"/>
                  <a:pt x="1217701" y="586317"/>
                  <a:pt x="1201070" y="560615"/>
                </a:cubicBezTo>
                <a:cubicBezTo>
                  <a:pt x="1184439" y="534913"/>
                  <a:pt x="1169925" y="490160"/>
                  <a:pt x="1150270" y="457201"/>
                </a:cubicBezTo>
                <a:cubicBezTo>
                  <a:pt x="1130615" y="424241"/>
                  <a:pt x="1098563" y="391584"/>
                  <a:pt x="1083141" y="362858"/>
                </a:cubicBezTo>
                <a:cubicBezTo>
                  <a:pt x="1067720" y="334132"/>
                  <a:pt x="1070743" y="317802"/>
                  <a:pt x="1057741" y="284843"/>
                </a:cubicBezTo>
                <a:cubicBezTo>
                  <a:pt x="1044739" y="251884"/>
                  <a:pt x="1024782" y="197456"/>
                  <a:pt x="1005127" y="165101"/>
                </a:cubicBezTo>
                <a:cubicBezTo>
                  <a:pt x="985472" y="132746"/>
                  <a:pt x="968841" y="118232"/>
                  <a:pt x="939813" y="90715"/>
                </a:cubicBezTo>
                <a:cubicBezTo>
                  <a:pt x="910785" y="63198"/>
                  <a:pt x="859682" y="-301"/>
                  <a:pt x="830956" y="1"/>
                </a:cubicBezTo>
                <a:cubicBezTo>
                  <a:pt x="802230" y="303"/>
                  <a:pt x="799811" y="59872"/>
                  <a:pt x="767456" y="92529"/>
                </a:cubicBezTo>
                <a:cubicBezTo>
                  <a:pt x="735101" y="125186"/>
                  <a:pt x="686115" y="162076"/>
                  <a:pt x="636827" y="195943"/>
                </a:cubicBezTo>
                <a:cubicBezTo>
                  <a:pt x="587539" y="229810"/>
                  <a:pt x="543694" y="267003"/>
                  <a:pt x="471727" y="295729"/>
                </a:cubicBezTo>
                <a:cubicBezTo>
                  <a:pt x="399760" y="324455"/>
                  <a:pt x="283646" y="351368"/>
                  <a:pt x="205027" y="368301"/>
                </a:cubicBezTo>
                <a:cubicBezTo>
                  <a:pt x="126408" y="385234"/>
                  <a:pt x="-1499" y="386746"/>
                  <a:pt x="13" y="397329"/>
                </a:cubicBezTo>
                <a:cubicBezTo>
                  <a:pt x="1525" y="407912"/>
                  <a:pt x="146668" y="404889"/>
                  <a:pt x="214099" y="431801"/>
                </a:cubicBezTo>
                <a:cubicBezTo>
                  <a:pt x="281530" y="458713"/>
                  <a:pt x="354102" y="521306"/>
                  <a:pt x="404599" y="558801"/>
                </a:cubicBezTo>
                <a:cubicBezTo>
                  <a:pt x="455096" y="596296"/>
                  <a:pt x="484729" y="622603"/>
                  <a:pt x="517084" y="656772"/>
                </a:cubicBezTo>
                <a:cubicBezTo>
                  <a:pt x="549439" y="690941"/>
                  <a:pt x="579677" y="726017"/>
                  <a:pt x="598727" y="763815"/>
                </a:cubicBezTo>
                <a:cubicBezTo>
                  <a:pt x="617777" y="801613"/>
                  <a:pt x="623522" y="840922"/>
                  <a:pt x="631384" y="883558"/>
                </a:cubicBezTo>
                <a:cubicBezTo>
                  <a:pt x="639246" y="926194"/>
                  <a:pt x="644085" y="981832"/>
                  <a:pt x="645899" y="1019629"/>
                </a:cubicBezTo>
                <a:cubicBezTo>
                  <a:pt x="647713" y="1057426"/>
                  <a:pt x="648620" y="1089176"/>
                  <a:pt x="642270" y="1110343"/>
                </a:cubicBezTo>
                <a:cubicBezTo>
                  <a:pt x="635920" y="1131510"/>
                  <a:pt x="637130" y="1129393"/>
                  <a:pt x="607799" y="1146629"/>
                </a:cubicBezTo>
                <a:cubicBezTo>
                  <a:pt x="578468" y="1163865"/>
                  <a:pt x="489870" y="1188963"/>
                  <a:pt x="466284" y="1213758"/>
                </a:cubicBezTo>
                <a:cubicBezTo>
                  <a:pt x="442698" y="1238553"/>
                  <a:pt x="462958" y="1256394"/>
                  <a:pt x="466284" y="1295401"/>
                </a:cubicBezTo>
                <a:cubicBezTo>
                  <a:pt x="469610" y="1334408"/>
                  <a:pt x="477774" y="1397908"/>
                  <a:pt x="486241" y="1447801"/>
                </a:cubicBezTo>
                <a:cubicBezTo>
                  <a:pt x="494708" y="1497694"/>
                  <a:pt x="503174" y="1535794"/>
                  <a:pt x="517084" y="1594758"/>
                </a:cubicBezTo>
                <a:cubicBezTo>
                  <a:pt x="530994" y="1653722"/>
                  <a:pt x="552463" y="1743227"/>
                  <a:pt x="569699" y="1801586"/>
                </a:cubicBezTo>
                <a:cubicBezTo>
                  <a:pt x="586935" y="1859945"/>
                  <a:pt x="602659" y="1901977"/>
                  <a:pt x="620499" y="1944915"/>
                </a:cubicBezTo>
                <a:cubicBezTo>
                  <a:pt x="638339" y="1987853"/>
                  <a:pt x="652853" y="2025953"/>
                  <a:pt x="676741" y="2059215"/>
                </a:cubicBezTo>
                <a:cubicBezTo>
                  <a:pt x="700629" y="2092477"/>
                  <a:pt x="735101" y="2128460"/>
                  <a:pt x="769270" y="2137229"/>
                </a:cubicBezTo>
                <a:close/>
              </a:path>
            </a:pathLst>
          </a:cu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53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EB2D-8697-9DB0-2C56-34F2BD8B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cortex (BA 17-18-19)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0B1B-CEC4-A44F-34F2-E17D2BB67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986973"/>
            <a:ext cx="4950095" cy="5397497"/>
          </a:xfrm>
        </p:spPr>
        <p:txBody>
          <a:bodyPr/>
          <a:lstStyle/>
          <a:p>
            <a:r>
              <a:rPr lang="en-GB" b="1" dirty="0"/>
              <a:t>Primary visual cortex BA 17</a:t>
            </a:r>
          </a:p>
          <a:p>
            <a:pPr lvl="1"/>
            <a:r>
              <a:rPr lang="en-GB" dirty="0"/>
              <a:t>Afferents from the </a:t>
            </a:r>
            <a:r>
              <a:rPr lang="en-GB" b="1" dirty="0"/>
              <a:t>optic radiation </a:t>
            </a:r>
            <a:r>
              <a:rPr lang="en-GB" dirty="0"/>
              <a:t>(</a:t>
            </a:r>
            <a:r>
              <a:rPr lang="en-GB" dirty="0" err="1"/>
              <a:t>geniculocalcarine</a:t>
            </a:r>
            <a:r>
              <a:rPr lang="en-GB" dirty="0"/>
              <a:t> tract) coming from lateral geniculate bodies and retinas </a:t>
            </a:r>
            <a:r>
              <a:rPr lang="en-GB" dirty="0">
                <a:sym typeface="Wingdings" panose="05000000000000000000" pitchFamily="2" charset="2"/>
              </a:rPr>
              <a:t> Striate cortex</a:t>
            </a:r>
            <a:endParaRPr lang="en-GB" dirty="0"/>
          </a:p>
          <a:p>
            <a:pPr lvl="1"/>
            <a:r>
              <a:rPr lang="en-GB" b="1" dirty="0"/>
              <a:t>Alternating neuronal columns </a:t>
            </a:r>
            <a:r>
              <a:rPr lang="en-GB" dirty="0"/>
              <a:t>between left and right eye (ocular dominance columns)</a:t>
            </a:r>
          </a:p>
          <a:p>
            <a:endParaRPr lang="en-GB" dirty="0"/>
          </a:p>
          <a:p>
            <a:r>
              <a:rPr lang="en-GB" b="1" dirty="0"/>
              <a:t>Association visual cortex BA 18-19 </a:t>
            </a:r>
            <a:r>
              <a:rPr lang="en-GB" dirty="0"/>
              <a:t>(peristriate or </a:t>
            </a:r>
            <a:r>
              <a:rPr lang="en-GB" dirty="0" err="1"/>
              <a:t>extrastriate</a:t>
            </a:r>
            <a:r>
              <a:rPr lang="en-GB" dirty="0"/>
              <a:t> cortex)</a:t>
            </a:r>
          </a:p>
          <a:p>
            <a:pPr lvl="1"/>
            <a:r>
              <a:rPr lang="en-GB" dirty="0"/>
              <a:t>Afferents mostly from BA 17 but also from pulvinar</a:t>
            </a:r>
          </a:p>
          <a:p>
            <a:pPr lvl="1"/>
            <a:r>
              <a:rPr lang="en-GB" dirty="0"/>
              <a:t>Important for features extraction (shape, colour, depth, facial recognition, etc.)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1F603-F03B-DA40-B330-7302AF8F6F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00"/>
          <a:stretch/>
        </p:blipFill>
        <p:spPr>
          <a:xfrm>
            <a:off x="6395158" y="903552"/>
            <a:ext cx="5492623" cy="4205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905D5C-367C-E4FE-D05B-55BBCD1A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534" y="3188043"/>
            <a:ext cx="3612444" cy="34138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248778C-32AC-31AF-A41E-146BA579CBCA}"/>
              </a:ext>
            </a:extLst>
          </p:cNvPr>
          <p:cNvSpPr/>
          <p:nvPr/>
        </p:nvSpPr>
        <p:spPr>
          <a:xfrm>
            <a:off x="10241630" y="2022928"/>
            <a:ext cx="1565543" cy="2175443"/>
          </a:xfrm>
          <a:custGeom>
            <a:avLst/>
            <a:gdLst>
              <a:gd name="connsiteX0" fmla="*/ 769270 w 1565543"/>
              <a:gd name="connsiteY0" fmla="*/ 2137229 h 2175443"/>
              <a:gd name="connsiteX1" fmla="*/ 881756 w 1565543"/>
              <a:gd name="connsiteY1" fmla="*/ 2111829 h 2175443"/>
              <a:gd name="connsiteX2" fmla="*/ 954327 w 1565543"/>
              <a:gd name="connsiteY2" fmla="*/ 2126343 h 2175443"/>
              <a:gd name="connsiteX3" fmla="*/ 1041413 w 1565543"/>
              <a:gd name="connsiteY3" fmla="*/ 2148115 h 2175443"/>
              <a:gd name="connsiteX4" fmla="*/ 1128499 w 1565543"/>
              <a:gd name="connsiteY4" fmla="*/ 2148115 h 2175443"/>
              <a:gd name="connsiteX5" fmla="*/ 1251870 w 1565543"/>
              <a:gd name="connsiteY5" fmla="*/ 2175329 h 2175443"/>
              <a:gd name="connsiteX6" fmla="*/ 1348027 w 1565543"/>
              <a:gd name="connsiteY6" fmla="*/ 2155372 h 2175443"/>
              <a:gd name="connsiteX7" fmla="*/ 1444184 w 1565543"/>
              <a:gd name="connsiteY7" fmla="*/ 2099129 h 2175443"/>
              <a:gd name="connsiteX8" fmla="*/ 1518570 w 1565543"/>
              <a:gd name="connsiteY8" fmla="*/ 2006601 h 2175443"/>
              <a:gd name="connsiteX9" fmla="*/ 1551227 w 1565543"/>
              <a:gd name="connsiteY9" fmla="*/ 1857829 h 2175443"/>
              <a:gd name="connsiteX10" fmla="*/ 1560299 w 1565543"/>
              <a:gd name="connsiteY10" fmla="*/ 1761672 h 2175443"/>
              <a:gd name="connsiteX11" fmla="*/ 1562113 w 1565543"/>
              <a:gd name="connsiteY11" fmla="*/ 1614715 h 2175443"/>
              <a:gd name="connsiteX12" fmla="*/ 1513127 w 1565543"/>
              <a:gd name="connsiteY12" fmla="*/ 1489529 h 2175443"/>
              <a:gd name="connsiteX13" fmla="*/ 1522199 w 1565543"/>
              <a:gd name="connsiteY13" fmla="*/ 1349829 h 2175443"/>
              <a:gd name="connsiteX14" fmla="*/ 1522199 w 1565543"/>
              <a:gd name="connsiteY14" fmla="*/ 1260929 h 2175443"/>
              <a:gd name="connsiteX15" fmla="*/ 1462327 w 1565543"/>
              <a:gd name="connsiteY15" fmla="*/ 1159329 h 2175443"/>
              <a:gd name="connsiteX16" fmla="*/ 1431484 w 1565543"/>
              <a:gd name="connsiteY16" fmla="*/ 1045029 h 2175443"/>
              <a:gd name="connsiteX17" fmla="*/ 1360727 w 1565543"/>
              <a:gd name="connsiteY17" fmla="*/ 957943 h 2175443"/>
              <a:gd name="connsiteX18" fmla="*/ 1344399 w 1565543"/>
              <a:gd name="connsiteY18" fmla="*/ 825501 h 2175443"/>
              <a:gd name="connsiteX19" fmla="*/ 1293599 w 1565543"/>
              <a:gd name="connsiteY19" fmla="*/ 702129 h 2175443"/>
              <a:gd name="connsiteX20" fmla="*/ 1250056 w 1565543"/>
              <a:gd name="connsiteY20" fmla="*/ 611415 h 2175443"/>
              <a:gd name="connsiteX21" fmla="*/ 1201070 w 1565543"/>
              <a:gd name="connsiteY21" fmla="*/ 560615 h 2175443"/>
              <a:gd name="connsiteX22" fmla="*/ 1150270 w 1565543"/>
              <a:gd name="connsiteY22" fmla="*/ 457201 h 2175443"/>
              <a:gd name="connsiteX23" fmla="*/ 1083141 w 1565543"/>
              <a:gd name="connsiteY23" fmla="*/ 362858 h 2175443"/>
              <a:gd name="connsiteX24" fmla="*/ 1057741 w 1565543"/>
              <a:gd name="connsiteY24" fmla="*/ 284843 h 2175443"/>
              <a:gd name="connsiteX25" fmla="*/ 1005127 w 1565543"/>
              <a:gd name="connsiteY25" fmla="*/ 165101 h 2175443"/>
              <a:gd name="connsiteX26" fmla="*/ 939813 w 1565543"/>
              <a:gd name="connsiteY26" fmla="*/ 90715 h 2175443"/>
              <a:gd name="connsiteX27" fmla="*/ 830956 w 1565543"/>
              <a:gd name="connsiteY27" fmla="*/ 1 h 2175443"/>
              <a:gd name="connsiteX28" fmla="*/ 767456 w 1565543"/>
              <a:gd name="connsiteY28" fmla="*/ 92529 h 2175443"/>
              <a:gd name="connsiteX29" fmla="*/ 636827 w 1565543"/>
              <a:gd name="connsiteY29" fmla="*/ 195943 h 2175443"/>
              <a:gd name="connsiteX30" fmla="*/ 471727 w 1565543"/>
              <a:gd name="connsiteY30" fmla="*/ 295729 h 2175443"/>
              <a:gd name="connsiteX31" fmla="*/ 205027 w 1565543"/>
              <a:gd name="connsiteY31" fmla="*/ 368301 h 2175443"/>
              <a:gd name="connsiteX32" fmla="*/ 13 w 1565543"/>
              <a:gd name="connsiteY32" fmla="*/ 397329 h 2175443"/>
              <a:gd name="connsiteX33" fmla="*/ 214099 w 1565543"/>
              <a:gd name="connsiteY33" fmla="*/ 431801 h 2175443"/>
              <a:gd name="connsiteX34" fmla="*/ 404599 w 1565543"/>
              <a:gd name="connsiteY34" fmla="*/ 558801 h 2175443"/>
              <a:gd name="connsiteX35" fmla="*/ 517084 w 1565543"/>
              <a:gd name="connsiteY35" fmla="*/ 656772 h 2175443"/>
              <a:gd name="connsiteX36" fmla="*/ 598727 w 1565543"/>
              <a:gd name="connsiteY36" fmla="*/ 763815 h 2175443"/>
              <a:gd name="connsiteX37" fmla="*/ 631384 w 1565543"/>
              <a:gd name="connsiteY37" fmla="*/ 883558 h 2175443"/>
              <a:gd name="connsiteX38" fmla="*/ 645899 w 1565543"/>
              <a:gd name="connsiteY38" fmla="*/ 1019629 h 2175443"/>
              <a:gd name="connsiteX39" fmla="*/ 642270 w 1565543"/>
              <a:gd name="connsiteY39" fmla="*/ 1110343 h 2175443"/>
              <a:gd name="connsiteX40" fmla="*/ 607799 w 1565543"/>
              <a:gd name="connsiteY40" fmla="*/ 1146629 h 2175443"/>
              <a:gd name="connsiteX41" fmla="*/ 466284 w 1565543"/>
              <a:gd name="connsiteY41" fmla="*/ 1213758 h 2175443"/>
              <a:gd name="connsiteX42" fmla="*/ 466284 w 1565543"/>
              <a:gd name="connsiteY42" fmla="*/ 1295401 h 2175443"/>
              <a:gd name="connsiteX43" fmla="*/ 486241 w 1565543"/>
              <a:gd name="connsiteY43" fmla="*/ 1447801 h 2175443"/>
              <a:gd name="connsiteX44" fmla="*/ 517084 w 1565543"/>
              <a:gd name="connsiteY44" fmla="*/ 1594758 h 2175443"/>
              <a:gd name="connsiteX45" fmla="*/ 569699 w 1565543"/>
              <a:gd name="connsiteY45" fmla="*/ 1801586 h 2175443"/>
              <a:gd name="connsiteX46" fmla="*/ 620499 w 1565543"/>
              <a:gd name="connsiteY46" fmla="*/ 1944915 h 2175443"/>
              <a:gd name="connsiteX47" fmla="*/ 676741 w 1565543"/>
              <a:gd name="connsiteY47" fmla="*/ 2059215 h 2175443"/>
              <a:gd name="connsiteX48" fmla="*/ 769270 w 1565543"/>
              <a:gd name="connsiteY48" fmla="*/ 2137229 h 2175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65543" h="2175443">
                <a:moveTo>
                  <a:pt x="769270" y="2137229"/>
                </a:moveTo>
                <a:cubicBezTo>
                  <a:pt x="803439" y="2145998"/>
                  <a:pt x="850913" y="2113643"/>
                  <a:pt x="881756" y="2111829"/>
                </a:cubicBezTo>
                <a:cubicBezTo>
                  <a:pt x="912599" y="2110015"/>
                  <a:pt x="927718" y="2120295"/>
                  <a:pt x="954327" y="2126343"/>
                </a:cubicBezTo>
                <a:cubicBezTo>
                  <a:pt x="980936" y="2132391"/>
                  <a:pt x="1012384" y="2144486"/>
                  <a:pt x="1041413" y="2148115"/>
                </a:cubicBezTo>
                <a:cubicBezTo>
                  <a:pt x="1070442" y="2151744"/>
                  <a:pt x="1093423" y="2143579"/>
                  <a:pt x="1128499" y="2148115"/>
                </a:cubicBezTo>
                <a:cubicBezTo>
                  <a:pt x="1163575" y="2152651"/>
                  <a:pt x="1215282" y="2174120"/>
                  <a:pt x="1251870" y="2175329"/>
                </a:cubicBezTo>
                <a:cubicBezTo>
                  <a:pt x="1288458" y="2176539"/>
                  <a:pt x="1315975" y="2168072"/>
                  <a:pt x="1348027" y="2155372"/>
                </a:cubicBezTo>
                <a:cubicBezTo>
                  <a:pt x="1380079" y="2142672"/>
                  <a:pt x="1415760" y="2123924"/>
                  <a:pt x="1444184" y="2099129"/>
                </a:cubicBezTo>
                <a:cubicBezTo>
                  <a:pt x="1472608" y="2074334"/>
                  <a:pt x="1500729" y="2046818"/>
                  <a:pt x="1518570" y="2006601"/>
                </a:cubicBezTo>
                <a:cubicBezTo>
                  <a:pt x="1536411" y="1966384"/>
                  <a:pt x="1544272" y="1898651"/>
                  <a:pt x="1551227" y="1857829"/>
                </a:cubicBezTo>
                <a:cubicBezTo>
                  <a:pt x="1558182" y="1817007"/>
                  <a:pt x="1558485" y="1802191"/>
                  <a:pt x="1560299" y="1761672"/>
                </a:cubicBezTo>
                <a:cubicBezTo>
                  <a:pt x="1562113" y="1721153"/>
                  <a:pt x="1569975" y="1660072"/>
                  <a:pt x="1562113" y="1614715"/>
                </a:cubicBezTo>
                <a:cubicBezTo>
                  <a:pt x="1554251" y="1569358"/>
                  <a:pt x="1519779" y="1533676"/>
                  <a:pt x="1513127" y="1489529"/>
                </a:cubicBezTo>
                <a:cubicBezTo>
                  <a:pt x="1506475" y="1445382"/>
                  <a:pt x="1520687" y="1387929"/>
                  <a:pt x="1522199" y="1349829"/>
                </a:cubicBezTo>
                <a:cubicBezTo>
                  <a:pt x="1523711" y="1311729"/>
                  <a:pt x="1532178" y="1292679"/>
                  <a:pt x="1522199" y="1260929"/>
                </a:cubicBezTo>
                <a:cubicBezTo>
                  <a:pt x="1512220" y="1229179"/>
                  <a:pt x="1477446" y="1195312"/>
                  <a:pt x="1462327" y="1159329"/>
                </a:cubicBezTo>
                <a:cubicBezTo>
                  <a:pt x="1447208" y="1123346"/>
                  <a:pt x="1448417" y="1078593"/>
                  <a:pt x="1431484" y="1045029"/>
                </a:cubicBezTo>
                <a:cubicBezTo>
                  <a:pt x="1414551" y="1011465"/>
                  <a:pt x="1375241" y="994531"/>
                  <a:pt x="1360727" y="957943"/>
                </a:cubicBezTo>
                <a:cubicBezTo>
                  <a:pt x="1346213" y="921355"/>
                  <a:pt x="1355587" y="868137"/>
                  <a:pt x="1344399" y="825501"/>
                </a:cubicBezTo>
                <a:cubicBezTo>
                  <a:pt x="1333211" y="782865"/>
                  <a:pt x="1309323" y="737810"/>
                  <a:pt x="1293599" y="702129"/>
                </a:cubicBezTo>
                <a:cubicBezTo>
                  <a:pt x="1277875" y="666448"/>
                  <a:pt x="1265477" y="635001"/>
                  <a:pt x="1250056" y="611415"/>
                </a:cubicBezTo>
                <a:cubicBezTo>
                  <a:pt x="1234635" y="587829"/>
                  <a:pt x="1217701" y="586317"/>
                  <a:pt x="1201070" y="560615"/>
                </a:cubicBezTo>
                <a:cubicBezTo>
                  <a:pt x="1184439" y="534913"/>
                  <a:pt x="1169925" y="490160"/>
                  <a:pt x="1150270" y="457201"/>
                </a:cubicBezTo>
                <a:cubicBezTo>
                  <a:pt x="1130615" y="424241"/>
                  <a:pt x="1098563" y="391584"/>
                  <a:pt x="1083141" y="362858"/>
                </a:cubicBezTo>
                <a:cubicBezTo>
                  <a:pt x="1067720" y="334132"/>
                  <a:pt x="1070743" y="317802"/>
                  <a:pt x="1057741" y="284843"/>
                </a:cubicBezTo>
                <a:cubicBezTo>
                  <a:pt x="1044739" y="251884"/>
                  <a:pt x="1024782" y="197456"/>
                  <a:pt x="1005127" y="165101"/>
                </a:cubicBezTo>
                <a:cubicBezTo>
                  <a:pt x="985472" y="132746"/>
                  <a:pt x="968841" y="118232"/>
                  <a:pt x="939813" y="90715"/>
                </a:cubicBezTo>
                <a:cubicBezTo>
                  <a:pt x="910785" y="63198"/>
                  <a:pt x="859682" y="-301"/>
                  <a:pt x="830956" y="1"/>
                </a:cubicBezTo>
                <a:cubicBezTo>
                  <a:pt x="802230" y="303"/>
                  <a:pt x="799811" y="59872"/>
                  <a:pt x="767456" y="92529"/>
                </a:cubicBezTo>
                <a:cubicBezTo>
                  <a:pt x="735101" y="125186"/>
                  <a:pt x="686115" y="162076"/>
                  <a:pt x="636827" y="195943"/>
                </a:cubicBezTo>
                <a:cubicBezTo>
                  <a:pt x="587539" y="229810"/>
                  <a:pt x="543694" y="267003"/>
                  <a:pt x="471727" y="295729"/>
                </a:cubicBezTo>
                <a:cubicBezTo>
                  <a:pt x="399760" y="324455"/>
                  <a:pt x="283646" y="351368"/>
                  <a:pt x="205027" y="368301"/>
                </a:cubicBezTo>
                <a:cubicBezTo>
                  <a:pt x="126408" y="385234"/>
                  <a:pt x="-1499" y="386746"/>
                  <a:pt x="13" y="397329"/>
                </a:cubicBezTo>
                <a:cubicBezTo>
                  <a:pt x="1525" y="407912"/>
                  <a:pt x="146668" y="404889"/>
                  <a:pt x="214099" y="431801"/>
                </a:cubicBezTo>
                <a:cubicBezTo>
                  <a:pt x="281530" y="458713"/>
                  <a:pt x="354102" y="521306"/>
                  <a:pt x="404599" y="558801"/>
                </a:cubicBezTo>
                <a:cubicBezTo>
                  <a:pt x="455096" y="596296"/>
                  <a:pt x="484729" y="622603"/>
                  <a:pt x="517084" y="656772"/>
                </a:cubicBezTo>
                <a:cubicBezTo>
                  <a:pt x="549439" y="690941"/>
                  <a:pt x="579677" y="726017"/>
                  <a:pt x="598727" y="763815"/>
                </a:cubicBezTo>
                <a:cubicBezTo>
                  <a:pt x="617777" y="801613"/>
                  <a:pt x="623522" y="840922"/>
                  <a:pt x="631384" y="883558"/>
                </a:cubicBezTo>
                <a:cubicBezTo>
                  <a:pt x="639246" y="926194"/>
                  <a:pt x="644085" y="981832"/>
                  <a:pt x="645899" y="1019629"/>
                </a:cubicBezTo>
                <a:cubicBezTo>
                  <a:pt x="647713" y="1057426"/>
                  <a:pt x="648620" y="1089176"/>
                  <a:pt x="642270" y="1110343"/>
                </a:cubicBezTo>
                <a:cubicBezTo>
                  <a:pt x="635920" y="1131510"/>
                  <a:pt x="637130" y="1129393"/>
                  <a:pt x="607799" y="1146629"/>
                </a:cubicBezTo>
                <a:cubicBezTo>
                  <a:pt x="578468" y="1163865"/>
                  <a:pt x="489870" y="1188963"/>
                  <a:pt x="466284" y="1213758"/>
                </a:cubicBezTo>
                <a:cubicBezTo>
                  <a:pt x="442698" y="1238553"/>
                  <a:pt x="462958" y="1256394"/>
                  <a:pt x="466284" y="1295401"/>
                </a:cubicBezTo>
                <a:cubicBezTo>
                  <a:pt x="469610" y="1334408"/>
                  <a:pt x="477774" y="1397908"/>
                  <a:pt x="486241" y="1447801"/>
                </a:cubicBezTo>
                <a:cubicBezTo>
                  <a:pt x="494708" y="1497694"/>
                  <a:pt x="503174" y="1535794"/>
                  <a:pt x="517084" y="1594758"/>
                </a:cubicBezTo>
                <a:cubicBezTo>
                  <a:pt x="530994" y="1653722"/>
                  <a:pt x="552463" y="1743227"/>
                  <a:pt x="569699" y="1801586"/>
                </a:cubicBezTo>
                <a:cubicBezTo>
                  <a:pt x="586935" y="1859945"/>
                  <a:pt x="602659" y="1901977"/>
                  <a:pt x="620499" y="1944915"/>
                </a:cubicBezTo>
                <a:cubicBezTo>
                  <a:pt x="638339" y="1987853"/>
                  <a:pt x="652853" y="2025953"/>
                  <a:pt x="676741" y="2059215"/>
                </a:cubicBezTo>
                <a:cubicBezTo>
                  <a:pt x="700629" y="2092477"/>
                  <a:pt x="735101" y="2128460"/>
                  <a:pt x="769270" y="2137229"/>
                </a:cubicBezTo>
                <a:close/>
              </a:path>
            </a:pathLst>
          </a:cu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123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C0F0-8640-F51A-5C5B-B1B83767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Auditory Cortex (BA 41-42-22)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29E60-FE3B-8B0E-403D-F02E6F9D8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Primary Auditory cortex BA 41-42 </a:t>
            </a:r>
            <a:r>
              <a:rPr lang="en-GB" dirty="0"/>
              <a:t>(anterior transverse temporal gyrus - </a:t>
            </a:r>
            <a:r>
              <a:rPr lang="en-GB" dirty="0" err="1"/>
              <a:t>Heschl’s</a:t>
            </a:r>
            <a:r>
              <a:rPr lang="en-GB" dirty="0"/>
              <a:t> gyrus)</a:t>
            </a:r>
          </a:p>
          <a:p>
            <a:pPr lvl="1"/>
            <a:r>
              <a:rPr lang="en-GB" dirty="0"/>
              <a:t>Tonotopic arrangement </a:t>
            </a:r>
            <a:r>
              <a:rPr lang="en-GB" dirty="0">
                <a:sym typeface="Wingdings" panose="05000000000000000000" pitchFamily="2" charset="2"/>
              </a:rPr>
              <a:t> posterior side responds to high tones, anterior side to low tones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Projections from medial geniculate body and contralateral (not only) sound fields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Auditory Association cortex BA 22</a:t>
            </a:r>
          </a:p>
          <a:p>
            <a:pPr lvl="1"/>
            <a:r>
              <a:rPr lang="en-GB" b="1" dirty="0">
                <a:sym typeface="Wingdings" panose="05000000000000000000" pitchFamily="2" charset="2"/>
              </a:rPr>
              <a:t>Wernicke’s area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Speech perception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7E4EDD-1C09-ACF9-E1EB-2812257B9F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00"/>
          <a:stretch/>
        </p:blipFill>
        <p:spPr>
          <a:xfrm>
            <a:off x="6395158" y="903552"/>
            <a:ext cx="5492623" cy="420511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A096CD9-CBFB-4310-0C06-E3527C55F3DE}"/>
              </a:ext>
            </a:extLst>
          </p:cNvPr>
          <p:cNvSpPr/>
          <p:nvPr/>
        </p:nvSpPr>
        <p:spPr>
          <a:xfrm>
            <a:off x="8692441" y="2903147"/>
            <a:ext cx="1527877" cy="1051705"/>
          </a:xfrm>
          <a:custGeom>
            <a:avLst/>
            <a:gdLst>
              <a:gd name="connsiteX0" fmla="*/ 12359 w 1527877"/>
              <a:gd name="connsiteY0" fmla="*/ 548118 h 1051705"/>
              <a:gd name="connsiteX1" fmla="*/ 15081 w 1527877"/>
              <a:gd name="connsiteY1" fmla="*/ 684190 h 1051705"/>
              <a:gd name="connsiteX2" fmla="*/ 46377 w 1527877"/>
              <a:gd name="connsiteY2" fmla="*/ 854279 h 1051705"/>
              <a:gd name="connsiteX3" fmla="*/ 108970 w 1527877"/>
              <a:gd name="connsiteY3" fmla="*/ 991711 h 1051705"/>
              <a:gd name="connsiteX4" fmla="*/ 190613 w 1527877"/>
              <a:gd name="connsiteY4" fmla="*/ 1051582 h 1051705"/>
              <a:gd name="connsiteX5" fmla="*/ 352538 w 1527877"/>
              <a:gd name="connsiteY5" fmla="*/ 978104 h 1051705"/>
              <a:gd name="connsiteX6" fmla="*/ 649174 w 1527877"/>
              <a:gd name="connsiteY6" fmla="*/ 855640 h 1051705"/>
              <a:gd name="connsiteX7" fmla="*/ 975745 w 1527877"/>
              <a:gd name="connsiteY7" fmla="*/ 744061 h 1051705"/>
              <a:gd name="connsiteX8" fmla="*/ 1260134 w 1527877"/>
              <a:gd name="connsiteY8" fmla="*/ 633843 h 1051705"/>
              <a:gd name="connsiteX9" fmla="*/ 1393484 w 1527877"/>
              <a:gd name="connsiteY9" fmla="*/ 563086 h 1051705"/>
              <a:gd name="connsiteX10" fmla="*/ 1495538 w 1527877"/>
              <a:gd name="connsiteY10" fmla="*/ 497772 h 1051705"/>
              <a:gd name="connsiteX11" fmla="*/ 1526834 w 1527877"/>
              <a:gd name="connsiteY11" fmla="*/ 412047 h 1051705"/>
              <a:gd name="connsiteX12" fmla="*/ 1511866 w 1527877"/>
              <a:gd name="connsiteY12" fmla="*/ 231072 h 1051705"/>
              <a:gd name="connsiteX13" fmla="*/ 1431584 w 1527877"/>
              <a:gd name="connsiteY13" fmla="*/ 101804 h 1051705"/>
              <a:gd name="connsiteX14" fmla="*/ 1326809 w 1527877"/>
              <a:gd name="connsiteY14" fmla="*/ 22882 h 1051705"/>
              <a:gd name="connsiteX15" fmla="*/ 1264216 w 1527877"/>
              <a:gd name="connsiteY15" fmla="*/ 1111 h 1051705"/>
              <a:gd name="connsiteX16" fmla="*/ 1193459 w 1527877"/>
              <a:gd name="connsiteY16" fmla="*/ 11997 h 1051705"/>
              <a:gd name="connsiteX17" fmla="*/ 1011124 w 1527877"/>
              <a:gd name="connsiteY17" fmla="*/ 85475 h 1051705"/>
              <a:gd name="connsiteX18" fmla="*/ 866888 w 1527877"/>
              <a:gd name="connsiteY18" fmla="*/ 154872 h 1051705"/>
              <a:gd name="connsiteX19" fmla="*/ 787966 w 1527877"/>
              <a:gd name="connsiteY19" fmla="*/ 217465 h 1051705"/>
              <a:gd name="connsiteX20" fmla="*/ 752588 w 1527877"/>
              <a:gd name="connsiteY20" fmla="*/ 259647 h 1051705"/>
              <a:gd name="connsiteX21" fmla="*/ 665502 w 1527877"/>
              <a:gd name="connsiteY21" fmla="*/ 248761 h 1051705"/>
              <a:gd name="connsiteX22" fmla="*/ 506299 w 1527877"/>
              <a:gd name="connsiteY22" fmla="*/ 316797 h 1051705"/>
              <a:gd name="connsiteX23" fmla="*/ 355259 w 1527877"/>
              <a:gd name="connsiteY23" fmla="*/ 386193 h 1051705"/>
              <a:gd name="connsiteX24" fmla="*/ 295388 w 1527877"/>
              <a:gd name="connsiteY24" fmla="*/ 427015 h 1051705"/>
              <a:gd name="connsiteX25" fmla="*/ 174284 w 1527877"/>
              <a:gd name="connsiteY25" fmla="*/ 454229 h 1051705"/>
              <a:gd name="connsiteX26" fmla="*/ 12359 w 1527877"/>
              <a:gd name="connsiteY26" fmla="*/ 548118 h 105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527877" h="1051705">
                <a:moveTo>
                  <a:pt x="12359" y="548118"/>
                </a:moveTo>
                <a:cubicBezTo>
                  <a:pt x="-14175" y="586445"/>
                  <a:pt x="9411" y="633163"/>
                  <a:pt x="15081" y="684190"/>
                </a:cubicBezTo>
                <a:cubicBezTo>
                  <a:pt x="20751" y="735217"/>
                  <a:pt x="30729" y="803025"/>
                  <a:pt x="46377" y="854279"/>
                </a:cubicBezTo>
                <a:cubicBezTo>
                  <a:pt x="62025" y="905533"/>
                  <a:pt x="84931" y="958827"/>
                  <a:pt x="108970" y="991711"/>
                </a:cubicBezTo>
                <a:cubicBezTo>
                  <a:pt x="133009" y="1024595"/>
                  <a:pt x="150018" y="1053850"/>
                  <a:pt x="190613" y="1051582"/>
                </a:cubicBezTo>
                <a:cubicBezTo>
                  <a:pt x="231208" y="1049314"/>
                  <a:pt x="276111" y="1010761"/>
                  <a:pt x="352538" y="978104"/>
                </a:cubicBezTo>
                <a:cubicBezTo>
                  <a:pt x="428965" y="945447"/>
                  <a:pt x="545306" y="894647"/>
                  <a:pt x="649174" y="855640"/>
                </a:cubicBezTo>
                <a:cubicBezTo>
                  <a:pt x="753042" y="816633"/>
                  <a:pt x="873918" y="781027"/>
                  <a:pt x="975745" y="744061"/>
                </a:cubicBezTo>
                <a:cubicBezTo>
                  <a:pt x="1077572" y="707095"/>
                  <a:pt x="1190511" y="664006"/>
                  <a:pt x="1260134" y="633843"/>
                </a:cubicBezTo>
                <a:cubicBezTo>
                  <a:pt x="1329757" y="603681"/>
                  <a:pt x="1354250" y="585764"/>
                  <a:pt x="1393484" y="563086"/>
                </a:cubicBezTo>
                <a:cubicBezTo>
                  <a:pt x="1432718" y="540408"/>
                  <a:pt x="1473313" y="522945"/>
                  <a:pt x="1495538" y="497772"/>
                </a:cubicBezTo>
                <a:cubicBezTo>
                  <a:pt x="1517763" y="472599"/>
                  <a:pt x="1524113" y="456497"/>
                  <a:pt x="1526834" y="412047"/>
                </a:cubicBezTo>
                <a:cubicBezTo>
                  <a:pt x="1529555" y="367597"/>
                  <a:pt x="1527741" y="282779"/>
                  <a:pt x="1511866" y="231072"/>
                </a:cubicBezTo>
                <a:cubicBezTo>
                  <a:pt x="1495991" y="179365"/>
                  <a:pt x="1462427" y="136502"/>
                  <a:pt x="1431584" y="101804"/>
                </a:cubicBezTo>
                <a:cubicBezTo>
                  <a:pt x="1400741" y="67106"/>
                  <a:pt x="1354704" y="39664"/>
                  <a:pt x="1326809" y="22882"/>
                </a:cubicBezTo>
                <a:cubicBezTo>
                  <a:pt x="1298914" y="6100"/>
                  <a:pt x="1286441" y="2925"/>
                  <a:pt x="1264216" y="1111"/>
                </a:cubicBezTo>
                <a:cubicBezTo>
                  <a:pt x="1241991" y="-703"/>
                  <a:pt x="1235641" y="-2064"/>
                  <a:pt x="1193459" y="11997"/>
                </a:cubicBezTo>
                <a:cubicBezTo>
                  <a:pt x="1151277" y="26058"/>
                  <a:pt x="1065553" y="61662"/>
                  <a:pt x="1011124" y="85475"/>
                </a:cubicBezTo>
                <a:cubicBezTo>
                  <a:pt x="956696" y="109287"/>
                  <a:pt x="904081" y="132874"/>
                  <a:pt x="866888" y="154872"/>
                </a:cubicBezTo>
                <a:cubicBezTo>
                  <a:pt x="829695" y="176870"/>
                  <a:pt x="807016" y="200003"/>
                  <a:pt x="787966" y="217465"/>
                </a:cubicBezTo>
                <a:cubicBezTo>
                  <a:pt x="768916" y="234927"/>
                  <a:pt x="772998" y="254431"/>
                  <a:pt x="752588" y="259647"/>
                </a:cubicBezTo>
                <a:cubicBezTo>
                  <a:pt x="732178" y="264863"/>
                  <a:pt x="706550" y="239236"/>
                  <a:pt x="665502" y="248761"/>
                </a:cubicBezTo>
                <a:cubicBezTo>
                  <a:pt x="624454" y="258286"/>
                  <a:pt x="558006" y="293892"/>
                  <a:pt x="506299" y="316797"/>
                </a:cubicBezTo>
                <a:cubicBezTo>
                  <a:pt x="454592" y="339702"/>
                  <a:pt x="390411" y="367823"/>
                  <a:pt x="355259" y="386193"/>
                </a:cubicBezTo>
                <a:cubicBezTo>
                  <a:pt x="320107" y="404563"/>
                  <a:pt x="325550" y="415676"/>
                  <a:pt x="295388" y="427015"/>
                </a:cubicBezTo>
                <a:cubicBezTo>
                  <a:pt x="265226" y="438354"/>
                  <a:pt x="218054" y="438808"/>
                  <a:pt x="174284" y="454229"/>
                </a:cubicBezTo>
                <a:cubicBezTo>
                  <a:pt x="130514" y="469650"/>
                  <a:pt x="38893" y="509791"/>
                  <a:pt x="12359" y="548118"/>
                </a:cubicBezTo>
                <a:close/>
              </a:path>
            </a:pathLst>
          </a:cu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FA5769-BEE8-FB89-6A7A-C0D42D56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17" y="3428999"/>
            <a:ext cx="2843038" cy="32229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230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9BCD-5069-AB3E-56FE-8021B6AC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prefrontal cortex (PFC - BA 8-12, 44-47, 24 and 32)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CD91A-C17A-E99A-2FCD-54991196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Frontal Eye Field </a:t>
            </a:r>
            <a:r>
              <a:rPr lang="en-GB" dirty="0"/>
              <a:t>(FEF - BA 8)</a:t>
            </a:r>
          </a:p>
          <a:p>
            <a:pPr lvl="1"/>
            <a:r>
              <a:rPr lang="en-GB" dirty="0"/>
              <a:t>Motor control of eye movement</a:t>
            </a:r>
          </a:p>
          <a:p>
            <a:pPr lvl="1"/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Broca’s Area </a:t>
            </a:r>
            <a:r>
              <a:rPr lang="en-GB" dirty="0"/>
              <a:t>(BA 44-45)</a:t>
            </a:r>
          </a:p>
          <a:p>
            <a:pPr lvl="1"/>
            <a:r>
              <a:rPr lang="en-GB" dirty="0"/>
              <a:t>Motor control of speech</a:t>
            </a:r>
          </a:p>
          <a:p>
            <a:pPr lvl="1"/>
            <a:r>
              <a:rPr lang="en-GB" dirty="0"/>
              <a:t>Strong inputs from BA 22 (Wernicke’s Area)</a:t>
            </a:r>
          </a:p>
          <a:p>
            <a:pPr lvl="1"/>
            <a:r>
              <a:rPr lang="en-GB" dirty="0"/>
              <a:t>Mirror neuron region</a:t>
            </a:r>
          </a:p>
          <a:p>
            <a:pPr lvl="1"/>
            <a:r>
              <a:rPr lang="en-GB" dirty="0"/>
              <a:t>46-47 for listening own words</a:t>
            </a:r>
          </a:p>
          <a:p>
            <a:pPr lvl="1"/>
            <a:endParaRPr lang="en-GB" dirty="0"/>
          </a:p>
          <a:p>
            <a:r>
              <a:rPr lang="en-GB" b="1" dirty="0"/>
              <a:t>Dorsolateral prefrontal cortex </a:t>
            </a:r>
            <a:r>
              <a:rPr lang="en-GB" dirty="0"/>
              <a:t>(BA 9)</a:t>
            </a:r>
          </a:p>
          <a:p>
            <a:pPr lvl="1"/>
            <a:r>
              <a:rPr lang="en-GB" dirty="0"/>
              <a:t>Supervisory attentional system</a:t>
            </a:r>
          </a:p>
          <a:p>
            <a:pPr lvl="1"/>
            <a:r>
              <a:rPr lang="en-GB" dirty="0"/>
              <a:t>Important for conscious learning</a:t>
            </a:r>
          </a:p>
          <a:p>
            <a:pPr lvl="1"/>
            <a:r>
              <a:rPr lang="en-GB" dirty="0"/>
              <a:t>Memory retrieval</a:t>
            </a:r>
          </a:p>
          <a:p>
            <a:r>
              <a:rPr lang="en-GB" b="1" dirty="0"/>
              <a:t>Orbitofrontal cortex </a:t>
            </a:r>
            <a:r>
              <a:rPr lang="en-GB" dirty="0"/>
              <a:t>(BA 11-14, 47)</a:t>
            </a:r>
          </a:p>
          <a:p>
            <a:pPr lvl="1"/>
            <a:r>
              <a:rPr lang="en-GB" dirty="0"/>
              <a:t>“Cortical representative of the limbic system”</a:t>
            </a:r>
          </a:p>
          <a:p>
            <a:pPr lvl="1"/>
            <a:r>
              <a:rPr lang="en-GB" dirty="0"/>
              <a:t>Association with amygdala, septal area and temporal cortex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1C65D-294B-63C6-2C98-415141D27E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00"/>
          <a:stretch/>
        </p:blipFill>
        <p:spPr>
          <a:xfrm>
            <a:off x="6395158" y="903552"/>
            <a:ext cx="5492623" cy="4205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C29C79-1BEE-34A7-D7F7-424D0069BB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40" r="51046" b="47374"/>
          <a:stretch/>
        </p:blipFill>
        <p:spPr>
          <a:xfrm>
            <a:off x="5458139" y="4261556"/>
            <a:ext cx="2659982" cy="24327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8059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9BCD-5069-AB3E-56FE-8021B6AC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prefrontal cortex (PFC - BA 8-12, 44-47, 24 and 32)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CD91A-C17A-E99A-2FCD-54991196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Frontal Eye Field </a:t>
            </a:r>
            <a:r>
              <a:rPr lang="en-GB" dirty="0"/>
              <a:t>(FEF - BA 8)</a:t>
            </a:r>
          </a:p>
          <a:p>
            <a:pPr lvl="1"/>
            <a:r>
              <a:rPr lang="en-GB" dirty="0"/>
              <a:t>Motor control of eye movement</a:t>
            </a:r>
          </a:p>
          <a:p>
            <a:pPr lvl="1"/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Broca’s Area </a:t>
            </a:r>
            <a:r>
              <a:rPr lang="en-GB" dirty="0"/>
              <a:t>(BA 44-45)</a:t>
            </a:r>
          </a:p>
          <a:p>
            <a:pPr lvl="1"/>
            <a:r>
              <a:rPr lang="en-GB" dirty="0"/>
              <a:t>Motor control of speech</a:t>
            </a:r>
          </a:p>
          <a:p>
            <a:pPr lvl="1"/>
            <a:r>
              <a:rPr lang="en-GB" dirty="0"/>
              <a:t>Strong inputs from BA 22 (Wernicke’s Area)</a:t>
            </a:r>
          </a:p>
          <a:p>
            <a:pPr lvl="1"/>
            <a:r>
              <a:rPr lang="en-GB" dirty="0"/>
              <a:t>Mirror neuron region</a:t>
            </a:r>
          </a:p>
          <a:p>
            <a:pPr lvl="1"/>
            <a:r>
              <a:rPr lang="en-GB" dirty="0"/>
              <a:t>46-47 for listening own words</a:t>
            </a:r>
          </a:p>
          <a:p>
            <a:pPr lvl="1"/>
            <a:endParaRPr lang="en-GB" dirty="0"/>
          </a:p>
          <a:p>
            <a:r>
              <a:rPr lang="en-GB" b="1" dirty="0"/>
              <a:t>Dorsolateral prefrontal cortex </a:t>
            </a:r>
            <a:r>
              <a:rPr lang="en-GB" dirty="0"/>
              <a:t>(BA 9)</a:t>
            </a:r>
          </a:p>
          <a:p>
            <a:pPr lvl="1"/>
            <a:r>
              <a:rPr lang="en-GB" dirty="0"/>
              <a:t>Supervisory attentional system</a:t>
            </a:r>
          </a:p>
          <a:p>
            <a:pPr lvl="1"/>
            <a:r>
              <a:rPr lang="en-GB" dirty="0"/>
              <a:t>Important for conscious learning</a:t>
            </a:r>
          </a:p>
          <a:p>
            <a:pPr lvl="1"/>
            <a:r>
              <a:rPr lang="en-GB" dirty="0"/>
              <a:t>Memory retrieval</a:t>
            </a:r>
          </a:p>
          <a:p>
            <a:r>
              <a:rPr lang="en-GB" b="1" dirty="0"/>
              <a:t>Orbitofrontal cortex </a:t>
            </a:r>
            <a:r>
              <a:rPr lang="en-GB" dirty="0"/>
              <a:t>(BA 11-14, 47)</a:t>
            </a:r>
          </a:p>
          <a:p>
            <a:pPr lvl="1"/>
            <a:r>
              <a:rPr lang="en-GB" dirty="0"/>
              <a:t>“Cortical representative of the limbic system”</a:t>
            </a:r>
          </a:p>
          <a:p>
            <a:pPr lvl="1"/>
            <a:r>
              <a:rPr lang="en-GB" dirty="0"/>
              <a:t>Association with amygdala, septal area and temporal cortex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B8F7C-094D-F8ED-13F9-7576719C25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25" r="3007" b="4434"/>
          <a:stretch/>
        </p:blipFill>
        <p:spPr>
          <a:xfrm>
            <a:off x="6096000" y="861344"/>
            <a:ext cx="6035040" cy="49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1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B1A8-1D40-50F4-D7A6-C253A5FB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cranial floor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798C3951-F59A-809A-3D12-14635BE1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61" y="1084263"/>
            <a:ext cx="5449832" cy="5408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427179-BBA9-8CB6-AD89-9BC1E1456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687" y="679938"/>
            <a:ext cx="4829680" cy="60392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9CECF-AFE3-6184-1008-8262CAE0A0A4}"/>
              </a:ext>
            </a:extLst>
          </p:cNvPr>
          <p:cNvSpPr/>
          <p:nvPr/>
        </p:nvSpPr>
        <p:spPr>
          <a:xfrm>
            <a:off x="1612447" y="3073854"/>
            <a:ext cx="1880508" cy="31281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49FEC6-D2CA-255D-8473-7897632C254A}"/>
              </a:ext>
            </a:extLst>
          </p:cNvPr>
          <p:cNvSpPr/>
          <p:nvPr/>
        </p:nvSpPr>
        <p:spPr>
          <a:xfrm>
            <a:off x="8865558" y="3638550"/>
            <a:ext cx="2329037" cy="21907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1A3E9-46A3-C310-B1DE-109DD9980052}"/>
              </a:ext>
            </a:extLst>
          </p:cNvPr>
          <p:cNvSpPr/>
          <p:nvPr/>
        </p:nvSpPr>
        <p:spPr>
          <a:xfrm>
            <a:off x="1378403" y="5871483"/>
            <a:ext cx="2349953" cy="45311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47DAC4-8D72-CA96-2848-3F7C9948A0CF}"/>
              </a:ext>
            </a:extLst>
          </p:cNvPr>
          <p:cNvSpPr/>
          <p:nvPr/>
        </p:nvSpPr>
        <p:spPr>
          <a:xfrm>
            <a:off x="8828313" y="6293284"/>
            <a:ext cx="2873830" cy="45311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59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3A0C-F117-A253-4B9C-F616E5F3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 vasculature</a:t>
            </a:r>
          </a:p>
        </p:txBody>
      </p:sp>
      <p:pic>
        <p:nvPicPr>
          <p:cNvPr id="11" name="Picture 10" descr="A diagram of the brain&#10;&#10;Description automatically generated">
            <a:extLst>
              <a:ext uri="{FF2B5EF4-FFF2-40B4-BE49-F238E27FC236}">
                <a16:creationId xmlns:a16="http://schemas.microsoft.com/office/drawing/2014/main" id="{8B0A8E8F-ECF2-3440-BE8C-F1A04303F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341" y="1124048"/>
            <a:ext cx="5963948" cy="4746978"/>
          </a:xfrm>
          <a:prstGeom prst="round2DiagRect">
            <a:avLst>
              <a:gd name="adj1" fmla="val 29984"/>
              <a:gd name="adj2" fmla="val 26992"/>
            </a:avLst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80E972-53CF-737D-A4A7-F25CF607F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 main source arteries</a:t>
            </a:r>
          </a:p>
          <a:p>
            <a:pPr lvl="1"/>
            <a:r>
              <a:rPr lang="en-GB" b="1" dirty="0"/>
              <a:t>Internal carotid </a:t>
            </a:r>
            <a:r>
              <a:rPr lang="en-GB" dirty="0"/>
              <a:t>arteries</a:t>
            </a:r>
          </a:p>
          <a:p>
            <a:pPr lvl="1"/>
            <a:r>
              <a:rPr lang="en-GB" b="1" dirty="0"/>
              <a:t>Vertebral arteries </a:t>
            </a:r>
            <a:r>
              <a:rPr lang="en-GB" dirty="0">
                <a:sym typeface="Wingdings" panose="05000000000000000000" pitchFamily="2" charset="2"/>
              </a:rPr>
              <a:t> Basilar artery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ADCD52-0C73-2A16-6EC1-6E39B2F1A26E}"/>
              </a:ext>
            </a:extLst>
          </p:cNvPr>
          <p:cNvSpPr/>
          <p:nvPr/>
        </p:nvSpPr>
        <p:spPr>
          <a:xfrm>
            <a:off x="6765471" y="2139043"/>
            <a:ext cx="1023258" cy="2449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528912-97C4-8F25-5E8C-27D4D2077CCA}"/>
              </a:ext>
            </a:extLst>
          </p:cNvPr>
          <p:cNvSpPr/>
          <p:nvPr/>
        </p:nvSpPr>
        <p:spPr>
          <a:xfrm>
            <a:off x="6743700" y="4925786"/>
            <a:ext cx="745672" cy="214993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20DB6C-08BB-A39F-8586-84EA3B5C02DF}"/>
              </a:ext>
            </a:extLst>
          </p:cNvPr>
          <p:cNvSpPr/>
          <p:nvPr/>
        </p:nvSpPr>
        <p:spPr>
          <a:xfrm>
            <a:off x="6716486" y="4134757"/>
            <a:ext cx="560614" cy="180978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4C1EC30-D703-BAE2-28E3-33E0FDD5D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173" y="2261507"/>
            <a:ext cx="42481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22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3A0C-F117-A253-4B9C-F616E5F3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 vasculature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80E972-53CF-737D-A4A7-F25CF607F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 main source arteries</a:t>
            </a:r>
          </a:p>
          <a:p>
            <a:pPr lvl="1"/>
            <a:r>
              <a:rPr lang="en-GB" dirty="0"/>
              <a:t>Internal carotid arteries</a:t>
            </a:r>
          </a:p>
          <a:p>
            <a:pPr lvl="1"/>
            <a:r>
              <a:rPr lang="en-GB" dirty="0"/>
              <a:t>Vertebral arteries</a:t>
            </a:r>
            <a:r>
              <a:rPr lang="en-GB" dirty="0">
                <a:sym typeface="Wingdings" panose="05000000000000000000" pitchFamily="2" charset="2"/>
              </a:rPr>
              <a:t>  Basilar artery</a:t>
            </a:r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Circle of Willis</a:t>
            </a:r>
          </a:p>
          <a:p>
            <a:pPr lvl="1"/>
            <a:r>
              <a:rPr lang="en-GB" dirty="0"/>
              <a:t>Anastomotic arterial connection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3 main cerebral arteries</a:t>
            </a:r>
          </a:p>
          <a:p>
            <a:pPr lvl="1"/>
            <a:r>
              <a:rPr lang="en-GB" dirty="0"/>
              <a:t>Anterior cerebral artery</a:t>
            </a:r>
          </a:p>
          <a:p>
            <a:pPr lvl="1"/>
            <a:r>
              <a:rPr lang="en-GB" dirty="0"/>
              <a:t>Middle cerebral artery</a:t>
            </a:r>
          </a:p>
          <a:p>
            <a:pPr lvl="1"/>
            <a:r>
              <a:rPr lang="en-GB" dirty="0"/>
              <a:t>Posterior cerebral artery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8BFF87-B43E-7347-F080-72A7D78AE2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42" t="2445" r="5335"/>
          <a:stretch/>
        </p:blipFill>
        <p:spPr>
          <a:xfrm>
            <a:off x="5565423" y="1027288"/>
            <a:ext cx="5994400" cy="577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571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3A0C-F117-A253-4B9C-F616E5F3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 vasculature</a:t>
            </a:r>
          </a:p>
        </p:txBody>
      </p:sp>
      <p:pic>
        <p:nvPicPr>
          <p:cNvPr id="11" name="Picture 10" descr="A diagram of the brain&#10;&#10;Description automatically generated">
            <a:extLst>
              <a:ext uri="{FF2B5EF4-FFF2-40B4-BE49-F238E27FC236}">
                <a16:creationId xmlns:a16="http://schemas.microsoft.com/office/drawing/2014/main" id="{8B0A8E8F-ECF2-3440-BE8C-F1A04303F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341" y="1124048"/>
            <a:ext cx="5963948" cy="4746978"/>
          </a:xfrm>
          <a:prstGeom prst="round2DiagRect">
            <a:avLst>
              <a:gd name="adj1" fmla="val 29984"/>
              <a:gd name="adj2" fmla="val 26992"/>
            </a:avLst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80E972-53CF-737D-A4A7-F25CF607F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2 main source arteries</a:t>
            </a:r>
          </a:p>
          <a:p>
            <a:pPr lvl="1"/>
            <a:r>
              <a:rPr lang="en-GB" dirty="0"/>
              <a:t>Internal carotid arteries</a:t>
            </a:r>
          </a:p>
          <a:p>
            <a:pPr lvl="1"/>
            <a:r>
              <a:rPr lang="en-GB" dirty="0"/>
              <a:t>Vertebral arteries</a:t>
            </a:r>
            <a:r>
              <a:rPr lang="en-GB" dirty="0">
                <a:sym typeface="Wingdings" panose="05000000000000000000" pitchFamily="2" charset="2"/>
              </a:rPr>
              <a:t>  Basilar artery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Circle of Willis</a:t>
            </a:r>
          </a:p>
          <a:p>
            <a:pPr lvl="1"/>
            <a:r>
              <a:rPr lang="en-GB" dirty="0"/>
              <a:t>Anastomotic arterial connection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3 main cerebral arteries</a:t>
            </a:r>
          </a:p>
          <a:p>
            <a:pPr lvl="1"/>
            <a:r>
              <a:rPr lang="en-GB" b="1" dirty="0"/>
              <a:t>Anterior</a:t>
            </a:r>
            <a:r>
              <a:rPr lang="en-GB" dirty="0"/>
              <a:t> cerebral artery</a:t>
            </a:r>
          </a:p>
          <a:p>
            <a:pPr lvl="1"/>
            <a:r>
              <a:rPr lang="en-GB" b="1" dirty="0"/>
              <a:t>Middle</a:t>
            </a:r>
            <a:r>
              <a:rPr lang="en-GB" dirty="0"/>
              <a:t> cerebral artery</a:t>
            </a:r>
          </a:p>
          <a:p>
            <a:pPr lvl="1"/>
            <a:r>
              <a:rPr lang="en-GB" b="1" dirty="0"/>
              <a:t>Posterior</a:t>
            </a:r>
            <a:r>
              <a:rPr lang="en-GB" dirty="0"/>
              <a:t> cerebral artery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4A9B1-7A90-CED1-A24C-FB5D7B9D25C2}"/>
              </a:ext>
            </a:extLst>
          </p:cNvPr>
          <p:cNvSpPr/>
          <p:nvPr/>
        </p:nvSpPr>
        <p:spPr>
          <a:xfrm>
            <a:off x="6807200" y="1631244"/>
            <a:ext cx="1157111" cy="259645"/>
          </a:xfrm>
          <a:prstGeom prst="rect">
            <a:avLst/>
          </a:prstGeom>
          <a:noFill/>
          <a:ln w="57150">
            <a:solidFill>
              <a:srgbClr val="BAC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0FBC5E-DEEC-4F04-CC05-4646DBAC7F11}"/>
              </a:ext>
            </a:extLst>
          </p:cNvPr>
          <p:cNvSpPr/>
          <p:nvPr/>
        </p:nvSpPr>
        <p:spPr>
          <a:xfrm>
            <a:off x="6479823" y="2581767"/>
            <a:ext cx="1157111" cy="212234"/>
          </a:xfrm>
          <a:prstGeom prst="rect">
            <a:avLst/>
          </a:prstGeom>
          <a:noFill/>
          <a:ln w="57150">
            <a:solidFill>
              <a:srgbClr val="FEE7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E76CF3-B4BB-5C60-9E33-7F2404C2992D}"/>
              </a:ext>
            </a:extLst>
          </p:cNvPr>
          <p:cNvSpPr/>
          <p:nvPr/>
        </p:nvSpPr>
        <p:spPr>
          <a:xfrm>
            <a:off x="6158090" y="3710654"/>
            <a:ext cx="1157111" cy="212234"/>
          </a:xfrm>
          <a:prstGeom prst="rect">
            <a:avLst/>
          </a:prstGeom>
          <a:noFill/>
          <a:ln w="57150">
            <a:solidFill>
              <a:srgbClr val="F9C9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410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EC3A-7B3C-A0D4-417F-ED3D3727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 vasculature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09EF37-82D8-DA56-1EDF-E7358FBA6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4183" y="896938"/>
            <a:ext cx="5549900" cy="281783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B41246-ED48-D0FA-874C-EB21BF91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693" y="3714775"/>
            <a:ext cx="5699002" cy="2843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2A1C84-CB5B-A995-C14E-9A7B7E329F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52" r="9427" b="10740"/>
          <a:stretch/>
        </p:blipFill>
        <p:spPr>
          <a:xfrm>
            <a:off x="155841" y="1696841"/>
            <a:ext cx="5900648" cy="403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96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EC3A-7B3C-A0D4-417F-ED3D3727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Cortex vasculature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9E3B3C6-6C15-B4CB-AA81-E8376BC61C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50" y="1165839"/>
            <a:ext cx="5549900" cy="234664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BD8F18-9EBD-6DB2-B4ED-A0DCEAA3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51" y="1791981"/>
            <a:ext cx="5348669" cy="34409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5621CF-03BA-097E-71BF-B0DB33D6A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3673906"/>
            <a:ext cx="5681108" cy="286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4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2F5D-BEC3-F9C8-C6F7-A546399C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Internal brain vasculature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CF53-57C5-1861-0D90-98FBCB1FB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Anterior cerebral artery</a:t>
            </a:r>
          </a:p>
          <a:p>
            <a:pPr lvl="1"/>
            <a:r>
              <a:rPr lang="en-GB" dirty="0"/>
              <a:t>Anterior choroidal artery </a:t>
            </a:r>
            <a:r>
              <a:rPr lang="en-GB" dirty="0">
                <a:sym typeface="Wingdings" panose="05000000000000000000" pitchFamily="2" charset="2"/>
              </a:rPr>
              <a:t> Internal capsule</a:t>
            </a:r>
            <a:endParaRPr lang="en-GB" dirty="0"/>
          </a:p>
          <a:p>
            <a:pPr lvl="1"/>
            <a:r>
              <a:rPr lang="en-GB" dirty="0"/>
              <a:t>Medial Striate artery </a:t>
            </a:r>
            <a:r>
              <a:rPr lang="en-GB" dirty="0">
                <a:sym typeface="Wingdings" panose="05000000000000000000" pitchFamily="2" charset="2"/>
              </a:rPr>
              <a:t> Internal capsule and head of caudate nucleus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Medial cerebral artery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Lateral Striate arteries  Striatum, internal capsule, thalamus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Posterior cerebral artery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Midbrain</a:t>
            </a:r>
          </a:p>
          <a:p>
            <a:pPr lvl="1"/>
            <a:r>
              <a:rPr lang="en-GB" dirty="0"/>
              <a:t>Posterior choroidal artery </a:t>
            </a:r>
            <a:r>
              <a:rPr lang="en-GB" dirty="0">
                <a:sym typeface="Wingdings" panose="05000000000000000000" pitchFamily="2" charset="2"/>
              </a:rPr>
              <a:t> Ventricle</a:t>
            </a:r>
            <a:endParaRPr lang="en-GB" dirty="0"/>
          </a:p>
          <a:p>
            <a:pPr lvl="1"/>
            <a:r>
              <a:rPr lang="en-GB" dirty="0"/>
              <a:t>Central arteries </a:t>
            </a:r>
            <a:r>
              <a:rPr lang="en-GB" dirty="0">
                <a:sym typeface="Wingdings" panose="05000000000000000000" pitchFamily="2" charset="2"/>
              </a:rPr>
              <a:t> Thalamus, subthalamic nucleus and optic radiation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Vertebral and basal arteries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Anterior and posterior spinal arteries  Medulla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Posterior inferior cerebellar artery  Medulla and cerebellum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Anterior inferior and superior cerebellar artery  Pons and cerebellum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86E703-DA62-4094-E3E1-BAD54F4B3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55229"/>
            <a:ext cx="5617652" cy="3015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8D4AAC-7D3B-FAA3-5B4C-B0CEE049F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280" y="2880360"/>
            <a:ext cx="1321818" cy="1097280"/>
          </a:xfrm>
          <a:prstGeom prst="rect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DDA669-08F5-5EF8-5264-E1AD826E2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27" y="811270"/>
            <a:ext cx="2403499" cy="26582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6600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2F5D-BEC3-F9C8-C6F7-A546399C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Internal brain vasculature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CCF53-57C5-1861-0D90-98FBCB1FB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Anterior cerebral artery</a:t>
            </a:r>
          </a:p>
          <a:p>
            <a:pPr lvl="1"/>
            <a:r>
              <a:rPr lang="en-GB" dirty="0"/>
              <a:t>Anterior choroidal artery </a:t>
            </a:r>
            <a:r>
              <a:rPr lang="en-GB" dirty="0">
                <a:sym typeface="Wingdings" panose="05000000000000000000" pitchFamily="2" charset="2"/>
              </a:rPr>
              <a:t> Internal capsule</a:t>
            </a:r>
            <a:endParaRPr lang="en-GB" dirty="0"/>
          </a:p>
          <a:p>
            <a:pPr lvl="1"/>
            <a:r>
              <a:rPr lang="en-GB" dirty="0"/>
              <a:t>Medial Striate artery </a:t>
            </a:r>
            <a:r>
              <a:rPr lang="en-GB" dirty="0">
                <a:sym typeface="Wingdings" panose="05000000000000000000" pitchFamily="2" charset="2"/>
              </a:rPr>
              <a:t> Internal capsule and head of caudate nucleus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Medial cerebral artery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Lateral Striate arteries  Striatum, internal capsule, thalamus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Posterior cerebral artery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Midbrain</a:t>
            </a:r>
          </a:p>
          <a:p>
            <a:pPr lvl="1"/>
            <a:r>
              <a:rPr lang="en-GB" dirty="0"/>
              <a:t>Posterior choroidal artery </a:t>
            </a:r>
            <a:r>
              <a:rPr lang="en-GB" dirty="0">
                <a:sym typeface="Wingdings" panose="05000000000000000000" pitchFamily="2" charset="2"/>
              </a:rPr>
              <a:t> Ventricle</a:t>
            </a:r>
            <a:endParaRPr lang="en-GB" dirty="0"/>
          </a:p>
          <a:p>
            <a:pPr lvl="1"/>
            <a:r>
              <a:rPr lang="en-GB" dirty="0"/>
              <a:t>Central arteries </a:t>
            </a:r>
            <a:r>
              <a:rPr lang="en-GB" dirty="0">
                <a:sym typeface="Wingdings" panose="05000000000000000000" pitchFamily="2" charset="2"/>
              </a:rPr>
              <a:t> Thalamus, subthalamic nucleus and optic radiation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sym typeface="Wingdings" panose="05000000000000000000" pitchFamily="2" charset="2"/>
              </a:rPr>
              <a:t>Vertebral and basal arteries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Anterior and posterior spinal arteries  Medulla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Posterior inferior cerebellar artery  Medulla and cerebellum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Anterior inferior and superior cerebellar artery  Pons and cerebellum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09B4A8-958F-DCCC-B674-447CD922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627" y="1187061"/>
            <a:ext cx="4840909" cy="510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54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3A0C-F117-A253-4B9C-F616E5F3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Brain vasculature: veins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3D24F-4444-143D-1291-8E083E08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6EE5F-4705-5B46-6D06-CAC48A7F8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825" y="1242958"/>
            <a:ext cx="5858934" cy="5222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39C101-4322-353B-BFD2-4D543703F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014" y="1966640"/>
            <a:ext cx="2888864" cy="448926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6D1F6FF-EA57-1DEB-BAA8-76C33A16B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52" y="981542"/>
            <a:ext cx="3021188" cy="22851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812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6F92-935F-4130-8599-7BE261D7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3557005"/>
            <a:ext cx="11687628" cy="1325563"/>
          </a:xfrm>
          <a:ln w="38100">
            <a:noFill/>
          </a:ln>
        </p:spPr>
        <p:txBody>
          <a:bodyPr anchor="ctr">
            <a:normAutofit fontScale="90000"/>
          </a:bodyPr>
          <a:lstStyle/>
          <a:p>
            <a:r>
              <a:rPr lang="en-GB" dirty="0"/>
              <a:t>Cortical control of movement </a:t>
            </a:r>
            <a:r>
              <a:rPr lang="en-GB" sz="4800" dirty="0"/>
              <a:t>and </a:t>
            </a:r>
            <a:r>
              <a:rPr lang="en-GB" dirty="0"/>
              <a:t>descending tracts</a:t>
            </a:r>
          </a:p>
        </p:txBody>
      </p:sp>
    </p:spTree>
    <p:extLst>
      <p:ext uri="{BB962C8B-B14F-4D97-AF65-F5344CB8AC3E}">
        <p14:creationId xmlns:p14="http://schemas.microsoft.com/office/powerpoint/2010/main" val="2901824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CEF34-3989-BF8D-82B1-DF2E6D0F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the motor areas</a:t>
            </a:r>
          </a:p>
        </p:txBody>
      </p:sp>
      <p:pic>
        <p:nvPicPr>
          <p:cNvPr id="8" name="Content Placeholder 7" descr="A diagram of a brain&#10;&#10;Description automatically generated">
            <a:extLst>
              <a:ext uri="{FF2B5EF4-FFF2-40B4-BE49-F238E27FC236}">
                <a16:creationId xmlns:a16="http://schemas.microsoft.com/office/drawing/2014/main" id="{EE4C94E7-F839-774E-490C-FBFBF59318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720" y="1368035"/>
            <a:ext cx="7704332" cy="489555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4B0F5D-4292-4F64-F5B2-9814264DCFE8}"/>
              </a:ext>
            </a:extLst>
          </p:cNvPr>
          <p:cNvSpPr txBox="1"/>
          <p:nvPr/>
        </p:nvSpPr>
        <p:spPr>
          <a:xfrm>
            <a:off x="6031417" y="6416493"/>
            <a:ext cx="609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b="0" i="0" u="none" strike="noStrike" dirty="0">
                <a:solidFill>
                  <a:srgbClr val="0272B1"/>
                </a:solidFill>
                <a:effectLst/>
                <a:latin typeface="ElsevierSans"/>
                <a:hlinkClick r:id="rId4" tooltip="Persistent link using digital object identifier"/>
              </a:rPr>
              <a:t>https://doi.org/10.1016/j.neuroimage.2021.118654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37A278-1083-859F-17C4-8CC8BF7B5C9E}"/>
              </a:ext>
            </a:extLst>
          </p:cNvPr>
          <p:cNvSpPr txBox="1"/>
          <p:nvPr/>
        </p:nvSpPr>
        <p:spPr>
          <a:xfrm>
            <a:off x="300192" y="1242922"/>
            <a:ext cx="4442711" cy="92333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AGaramondPro-Regular"/>
              </a:rPr>
              <a:t>Motor areas are defined as those from which movement can be evoked by the lowest stimulus intensity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6D33F-CD6D-25D1-B158-BFEC94D14652}"/>
              </a:ext>
            </a:extLst>
          </p:cNvPr>
          <p:cNvSpPr txBox="1"/>
          <p:nvPr/>
        </p:nvSpPr>
        <p:spPr>
          <a:xfrm flipH="1">
            <a:off x="8396868" y="998703"/>
            <a:ext cx="354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TMS = Trans-magnetic stimulation</a:t>
            </a:r>
          </a:p>
        </p:txBody>
      </p:sp>
    </p:spTree>
    <p:extLst>
      <p:ext uri="{BB962C8B-B14F-4D97-AF65-F5344CB8AC3E}">
        <p14:creationId xmlns:p14="http://schemas.microsoft.com/office/powerpoint/2010/main" val="3230205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1AA9-0BAC-7E4B-03CF-AD681FD2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Primary motor cortex (BA4)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AFFF61-BBED-36B9-2E05-3D487464B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161" r="49618"/>
          <a:stretch/>
        </p:blipFill>
        <p:spPr>
          <a:xfrm>
            <a:off x="594362" y="1187187"/>
            <a:ext cx="4973443" cy="5105704"/>
          </a:xfrm>
        </p:spPr>
      </p:pic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C5F761F4-6BDE-3E46-2B80-64B6D0564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397" y="1351508"/>
            <a:ext cx="4973442" cy="529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2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08D9-3FE7-0A7E-16F7-0050AA5E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PMA refined structure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C2DDA1C-4C44-FCF9-20C0-9B53597F94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838200" y="4115140"/>
            <a:ext cx="5257800" cy="23329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8A9B14-13C9-8F2A-AA3F-0F257E89E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165" y="1458205"/>
            <a:ext cx="4862744" cy="476461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9A4C271-8B22-998C-B9E7-8849CAC40C2E}"/>
              </a:ext>
            </a:extLst>
          </p:cNvPr>
          <p:cNvGrpSpPr/>
          <p:nvPr/>
        </p:nvGrpSpPr>
        <p:grpSpPr>
          <a:xfrm>
            <a:off x="1407170" y="1039413"/>
            <a:ext cx="4439394" cy="2751566"/>
            <a:chOff x="132607" y="2408182"/>
            <a:chExt cx="5620298" cy="31269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70A9C55-162B-8BC1-FA7B-D0981542E22E}"/>
                </a:ext>
              </a:extLst>
            </p:cNvPr>
            <p:cNvSpPr txBox="1"/>
            <p:nvPr/>
          </p:nvSpPr>
          <p:spPr>
            <a:xfrm>
              <a:off x="132607" y="2408182"/>
              <a:ext cx="4752748" cy="53473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dirty="0"/>
                <a:t>Intracortical </a:t>
              </a:r>
              <a:r>
                <a:rPr lang="en-GB" dirty="0" err="1"/>
                <a:t>microstimulation</a:t>
              </a:r>
              <a:endParaRPr lang="en-GB" dirty="0"/>
            </a:p>
          </p:txBody>
        </p:sp>
        <p:pic>
          <p:nvPicPr>
            <p:cNvPr id="1026" name="Picture 2" descr="Fig. 1">
              <a:extLst>
                <a:ext uri="{FF2B5EF4-FFF2-40B4-BE49-F238E27FC236}">
                  <a16:creationId xmlns:a16="http://schemas.microsoft.com/office/drawing/2014/main" id="{908A3346-76EB-F700-8108-B5CE167C9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607" y="2903403"/>
              <a:ext cx="5620298" cy="2631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B222726-DEF2-1E9C-E1C5-37BFE3A105C5}"/>
              </a:ext>
            </a:extLst>
          </p:cNvPr>
          <p:cNvSpPr txBox="1"/>
          <p:nvPr/>
        </p:nvSpPr>
        <p:spPr>
          <a:xfrm>
            <a:off x="1295472" y="3840513"/>
            <a:ext cx="62195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333333"/>
                </a:solidFill>
                <a:effectLst/>
                <a:latin typeface="-apple-system"/>
              </a:rPr>
              <a:t>https://doi.org/10.1186/s42490-019-0022-z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1007176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F5BA-2C4F-06C4-9ACD-DCF95E07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Supplementary Motor Area (BA6 medial)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CFA5A-E9A5-D7D9-6F03-915AB18A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Divided into SMA-proper and pre-SMA</a:t>
            </a:r>
          </a:p>
          <a:p>
            <a:r>
              <a:rPr lang="en-GB" sz="2000" dirty="0"/>
              <a:t>SMA-proper:</a:t>
            </a:r>
          </a:p>
          <a:p>
            <a:pPr lvl="1"/>
            <a:r>
              <a:rPr lang="en-GB" sz="1600" dirty="0"/>
              <a:t>Somatotopic organization</a:t>
            </a:r>
          </a:p>
          <a:p>
            <a:pPr lvl="1"/>
            <a:r>
              <a:rPr lang="en-GB" sz="1600" dirty="0"/>
              <a:t>Projects to corticospinal tract and other motor areas</a:t>
            </a:r>
          </a:p>
          <a:p>
            <a:r>
              <a:rPr lang="en-GB" sz="2000" dirty="0"/>
              <a:t>Pre-SMA connected to prefrontal cortex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567558-77A7-F25A-BB69-CC7017C0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0" name="Picture 9" descr="A diagram of the brain&#10;&#10;Description automatically generated">
            <a:extLst>
              <a:ext uri="{FF2B5EF4-FFF2-40B4-BE49-F238E27FC236}">
                <a16:creationId xmlns:a16="http://schemas.microsoft.com/office/drawing/2014/main" id="{30EA1932-E585-1B0E-FEB7-5C3F1CD7C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179" y="1437868"/>
            <a:ext cx="6284989" cy="4844806"/>
          </a:xfrm>
          <a:prstGeom prst="rect">
            <a:avLst/>
          </a:prstGeom>
        </p:spPr>
      </p:pic>
      <p:pic>
        <p:nvPicPr>
          <p:cNvPr id="12" name="Picture 11" descr="A diagram of a brain&#10;&#10;Description automatically generated">
            <a:extLst>
              <a:ext uri="{FF2B5EF4-FFF2-40B4-BE49-F238E27FC236}">
                <a16:creationId xmlns:a16="http://schemas.microsoft.com/office/drawing/2014/main" id="{7A1555FE-7B7F-B18E-241C-50481F2A3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6"/>
          <a:stretch/>
        </p:blipFill>
        <p:spPr>
          <a:xfrm>
            <a:off x="641616" y="3126447"/>
            <a:ext cx="5257800" cy="362865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F3DCAD7-278C-B06D-B8A8-CF6A39DAE5EC}"/>
              </a:ext>
            </a:extLst>
          </p:cNvPr>
          <p:cNvSpPr/>
          <p:nvPr/>
        </p:nvSpPr>
        <p:spPr>
          <a:xfrm>
            <a:off x="2187331" y="3059901"/>
            <a:ext cx="579864" cy="473928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347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F5BA-2C4F-06C4-9ACD-DCF95E07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Premotor Area (BA6 lateral)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CFA5A-E9A5-D7D9-6F03-915AB18A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Somatotopic organization</a:t>
            </a:r>
          </a:p>
          <a:p>
            <a:r>
              <a:rPr lang="en-GB" sz="2000" dirty="0"/>
              <a:t>Divided in dorsal and ventral</a:t>
            </a:r>
          </a:p>
          <a:p>
            <a:pPr lvl="1"/>
            <a:r>
              <a:rPr lang="en-GB" sz="1600" dirty="0"/>
              <a:t>Ventral for upper limb and head movement</a:t>
            </a:r>
          </a:p>
          <a:p>
            <a:pPr lvl="1"/>
            <a:r>
              <a:rPr lang="en-GB" sz="1600" dirty="0"/>
              <a:t>Dorsal coordinates more proximal muscles while ventral coordinates more distal muscles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567558-77A7-F25A-BB69-CC7017C0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0" name="Picture 9" descr="A diagram of the brain&#10;&#10;Description automatically generated">
            <a:extLst>
              <a:ext uri="{FF2B5EF4-FFF2-40B4-BE49-F238E27FC236}">
                <a16:creationId xmlns:a16="http://schemas.microsoft.com/office/drawing/2014/main" id="{30EA1932-E585-1B0E-FEB7-5C3F1CD7C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98" y="1148973"/>
            <a:ext cx="6284989" cy="4844806"/>
          </a:xfrm>
          <a:prstGeom prst="rect">
            <a:avLst/>
          </a:prstGeom>
        </p:spPr>
      </p:pic>
      <p:pic>
        <p:nvPicPr>
          <p:cNvPr id="5" name="Picture 4" descr="A diagram of a brain&#10;&#10;Description automatically generated">
            <a:extLst>
              <a:ext uri="{FF2B5EF4-FFF2-40B4-BE49-F238E27FC236}">
                <a16:creationId xmlns:a16="http://schemas.microsoft.com/office/drawing/2014/main" id="{03D9ADDE-F3DD-D1A7-1294-5BF5CA3D0B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6"/>
          <a:stretch/>
        </p:blipFill>
        <p:spPr>
          <a:xfrm>
            <a:off x="641616" y="3126447"/>
            <a:ext cx="5257800" cy="362865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2E8C519-FEAD-F845-6104-FBCAE11C9481}"/>
              </a:ext>
            </a:extLst>
          </p:cNvPr>
          <p:cNvSpPr/>
          <p:nvPr/>
        </p:nvSpPr>
        <p:spPr>
          <a:xfrm>
            <a:off x="1237878" y="3192036"/>
            <a:ext cx="579864" cy="473928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481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F5BA-2C4F-06C4-9ACD-DCF95E078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Cingulate Motor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CFA5A-E9A5-D7D9-6F03-915AB18A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Somatotopic organization</a:t>
            </a:r>
          </a:p>
          <a:p>
            <a:r>
              <a:rPr lang="en-GB" sz="2000" dirty="0"/>
              <a:t>Rostral, dorsal and ventral cingulate areas</a:t>
            </a:r>
          </a:p>
          <a:p>
            <a:r>
              <a:rPr lang="en-GB" sz="2000" dirty="0"/>
              <a:t>Contribute to corticospinal tract </a:t>
            </a:r>
          </a:p>
          <a:p>
            <a:r>
              <a:rPr lang="en-GB" sz="2000" dirty="0"/>
              <a:t>Related to preparation and execution of movement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D567558-77A7-F25A-BB69-CC7017C06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pic>
        <p:nvPicPr>
          <p:cNvPr id="10" name="Picture 9" descr="A diagram of the brain&#10;&#10;Description automatically generated">
            <a:extLst>
              <a:ext uri="{FF2B5EF4-FFF2-40B4-BE49-F238E27FC236}">
                <a16:creationId xmlns:a16="http://schemas.microsoft.com/office/drawing/2014/main" id="{30EA1932-E585-1B0E-FEB7-5C3F1CD7C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98" y="1148973"/>
            <a:ext cx="6284989" cy="484480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084BED2-76CF-13BF-29B4-7B548048CFE7}"/>
              </a:ext>
            </a:extLst>
          </p:cNvPr>
          <p:cNvSpPr/>
          <p:nvPr/>
        </p:nvSpPr>
        <p:spPr>
          <a:xfrm>
            <a:off x="6318537" y="1393901"/>
            <a:ext cx="1269868" cy="787697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diagram of a brain&#10;&#10;Description automatically generated">
            <a:extLst>
              <a:ext uri="{FF2B5EF4-FFF2-40B4-BE49-F238E27FC236}">
                <a16:creationId xmlns:a16="http://schemas.microsoft.com/office/drawing/2014/main" id="{04DFDBFB-F5ED-E3F2-5343-206FCC89C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6"/>
          <a:stretch/>
        </p:blipFill>
        <p:spPr>
          <a:xfrm>
            <a:off x="641616" y="3126447"/>
            <a:ext cx="5257800" cy="362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91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6BD1-49D7-22C5-7587-C311C09AE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Interconnected motor areas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8473631-99FC-1513-7267-F49D4CCA8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365175" y="1340532"/>
            <a:ext cx="8645222" cy="5446474"/>
          </a:xfrm>
        </p:spPr>
      </p:pic>
    </p:spTree>
    <p:extLst>
      <p:ext uri="{BB962C8B-B14F-4D97-AF65-F5344CB8AC3E}">
        <p14:creationId xmlns:p14="http://schemas.microsoft.com/office/powerpoint/2010/main" val="3374148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9757A-3870-7871-ADDC-917073C66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Descending tracts</a:t>
            </a:r>
          </a:p>
        </p:txBody>
      </p:sp>
    </p:spTree>
    <p:extLst>
      <p:ext uri="{BB962C8B-B14F-4D97-AF65-F5344CB8AC3E}">
        <p14:creationId xmlns:p14="http://schemas.microsoft.com/office/powerpoint/2010/main" val="456908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9FF9-CAC9-F465-4A76-6D991DF5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Descending tracts</a:t>
            </a:r>
          </a:p>
        </p:txBody>
      </p:sp>
      <p:pic>
        <p:nvPicPr>
          <p:cNvPr id="6" name="Immagine 4">
            <a:extLst>
              <a:ext uri="{FF2B5EF4-FFF2-40B4-BE49-F238E27FC236}">
                <a16:creationId xmlns:a16="http://schemas.microsoft.com/office/drawing/2014/main" id="{52944B0E-CBC2-4AA6-82AC-A62F85A11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45" t="2197" r="432" b="-2197"/>
          <a:stretch/>
        </p:blipFill>
        <p:spPr>
          <a:xfrm>
            <a:off x="5943598" y="1507888"/>
            <a:ext cx="6070061" cy="42792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3E6652-3C7D-04B4-B167-ED4BE919EAAE}"/>
              </a:ext>
            </a:extLst>
          </p:cNvPr>
          <p:cNvSpPr/>
          <p:nvPr/>
        </p:nvSpPr>
        <p:spPr>
          <a:xfrm>
            <a:off x="9708204" y="2397211"/>
            <a:ext cx="2305455" cy="949104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3B1A7-ECBB-7770-215F-86B0E8364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8" y="1410970"/>
            <a:ext cx="4780908" cy="447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502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A447442-752C-F026-BF56-D5568008D150}"/>
              </a:ext>
            </a:extLst>
          </p:cNvPr>
          <p:cNvSpPr/>
          <p:nvPr/>
        </p:nvSpPr>
        <p:spPr>
          <a:xfrm>
            <a:off x="4076387" y="1950963"/>
            <a:ext cx="48052" cy="172415"/>
          </a:xfrm>
          <a:custGeom>
            <a:avLst/>
            <a:gdLst>
              <a:gd name="connsiteX0" fmla="*/ 19158 w 605762"/>
              <a:gd name="connsiteY0" fmla="*/ 469557 h 469557"/>
              <a:gd name="connsiteX1" fmla="*/ 60347 w 605762"/>
              <a:gd name="connsiteY1" fmla="*/ 321276 h 469557"/>
              <a:gd name="connsiteX2" fmla="*/ 521666 w 605762"/>
              <a:gd name="connsiteY2" fmla="*/ 222422 h 469557"/>
              <a:gd name="connsiteX3" fmla="*/ 604045 w 605762"/>
              <a:gd name="connsiteY3" fmla="*/ 0 h 469557"/>
              <a:gd name="connsiteX0" fmla="*/ 12657 w 620692"/>
              <a:gd name="connsiteY0" fmla="*/ 464794 h 464794"/>
              <a:gd name="connsiteX1" fmla="*/ 75277 w 620692"/>
              <a:gd name="connsiteY1" fmla="*/ 321276 h 464794"/>
              <a:gd name="connsiteX2" fmla="*/ 536596 w 620692"/>
              <a:gd name="connsiteY2" fmla="*/ 222422 h 464794"/>
              <a:gd name="connsiteX3" fmla="*/ 618975 w 620692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7 w 608042"/>
              <a:gd name="connsiteY0" fmla="*/ 464794 h 464794"/>
              <a:gd name="connsiteX1" fmla="*/ 62627 w 608042"/>
              <a:gd name="connsiteY1" fmla="*/ 321276 h 464794"/>
              <a:gd name="connsiteX2" fmla="*/ 523946 w 608042"/>
              <a:gd name="connsiteY2" fmla="*/ 222422 h 464794"/>
              <a:gd name="connsiteX3" fmla="*/ 606325 w 608042"/>
              <a:gd name="connsiteY3" fmla="*/ 0 h 464794"/>
              <a:gd name="connsiteX0" fmla="*/ 7 w 606325"/>
              <a:gd name="connsiteY0" fmla="*/ 464794 h 464794"/>
              <a:gd name="connsiteX1" fmla="*/ 62627 w 606325"/>
              <a:gd name="connsiteY1" fmla="*/ 321276 h 464794"/>
              <a:gd name="connsiteX2" fmla="*/ 523946 w 606325"/>
              <a:gd name="connsiteY2" fmla="*/ 222422 h 464794"/>
              <a:gd name="connsiteX3" fmla="*/ 606325 w 606325"/>
              <a:gd name="connsiteY3" fmla="*/ 0 h 464794"/>
              <a:gd name="connsiteX0" fmla="*/ 0 w 543698"/>
              <a:gd name="connsiteY0" fmla="*/ 321276 h 321276"/>
              <a:gd name="connsiteX1" fmla="*/ 461319 w 543698"/>
              <a:gd name="connsiteY1" fmla="*/ 222422 h 321276"/>
              <a:gd name="connsiteX2" fmla="*/ 543698 w 543698"/>
              <a:gd name="connsiteY2" fmla="*/ 0 h 321276"/>
              <a:gd name="connsiteX0" fmla="*/ 0 w 82379"/>
              <a:gd name="connsiteY0" fmla="*/ 222422 h 222422"/>
              <a:gd name="connsiteX1" fmla="*/ 82379 w 82379"/>
              <a:gd name="connsiteY1" fmla="*/ 0 h 222422"/>
              <a:gd name="connsiteX0" fmla="*/ 0 w 48777"/>
              <a:gd name="connsiteY0" fmla="*/ 162890 h 162890"/>
              <a:gd name="connsiteX1" fmla="*/ 29650 w 48777"/>
              <a:gd name="connsiteY1" fmla="*/ 0 h 162890"/>
              <a:gd name="connsiteX0" fmla="*/ 0 w 29650"/>
              <a:gd name="connsiteY0" fmla="*/ 162890 h 162890"/>
              <a:gd name="connsiteX1" fmla="*/ 29650 w 29650"/>
              <a:gd name="connsiteY1" fmla="*/ 0 h 162890"/>
              <a:gd name="connsiteX0" fmla="*/ 0 w 21066"/>
              <a:gd name="connsiteY0" fmla="*/ 170034 h 170034"/>
              <a:gd name="connsiteX1" fmla="*/ 21066 w 21066"/>
              <a:gd name="connsiteY1" fmla="*/ 0 h 170034"/>
              <a:gd name="connsiteX0" fmla="*/ 0 w 24745"/>
              <a:gd name="connsiteY0" fmla="*/ 172415 h 172415"/>
              <a:gd name="connsiteX1" fmla="*/ 24745 w 24745"/>
              <a:gd name="connsiteY1" fmla="*/ 0 h 17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745" h="172415">
                <a:moveTo>
                  <a:pt x="0" y="172415"/>
                </a:moveTo>
                <a:cubicBezTo>
                  <a:pt x="6004" y="87913"/>
                  <a:pt x="21719" y="84438"/>
                  <a:pt x="24745" y="0"/>
                </a:cubicBezTo>
              </a:path>
            </a:pathLst>
          </a:cu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C85EBE7-91DB-23D5-6D64-4584C07295CE}"/>
              </a:ext>
            </a:extLst>
          </p:cNvPr>
          <p:cNvSpPr/>
          <p:nvPr/>
        </p:nvSpPr>
        <p:spPr>
          <a:xfrm rot="10800000">
            <a:off x="4032826" y="1794331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1B009-BED8-7F99-DCA8-D3A4F711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Corticospinal tract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D70E87-7834-B2A3-E952-1377617E1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8499" y="1011179"/>
            <a:ext cx="2949144" cy="5535388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9194F6-94D1-9027-D385-FAF857DFA90D}"/>
              </a:ext>
            </a:extLst>
          </p:cNvPr>
          <p:cNvCxnSpPr>
            <a:cxnSpLocks/>
          </p:cNvCxnSpPr>
          <p:nvPr/>
        </p:nvCxnSpPr>
        <p:spPr>
          <a:xfrm>
            <a:off x="469476" y="5201679"/>
            <a:ext cx="58747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0A004B-4AAC-7BBB-E5C1-9614808E2E96}"/>
              </a:ext>
            </a:extLst>
          </p:cNvPr>
          <p:cNvSpPr txBox="1"/>
          <p:nvPr/>
        </p:nvSpPr>
        <p:spPr>
          <a:xfrm>
            <a:off x="510747" y="1740991"/>
            <a:ext cx="1388009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Upper</a:t>
            </a:r>
          </a:p>
          <a:p>
            <a:pPr>
              <a:lnSpc>
                <a:spcPct val="70000"/>
              </a:lnSpc>
            </a:pP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motorneurons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8A8C4B-ED4C-94D1-BB4E-528014C9B033}"/>
              </a:ext>
            </a:extLst>
          </p:cNvPr>
          <p:cNvSpPr txBox="1"/>
          <p:nvPr/>
        </p:nvSpPr>
        <p:spPr>
          <a:xfrm>
            <a:off x="2161146" y="5446925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Anterior horn of the spinal cord neurons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8AD4DEF-2CD4-6344-D77F-08243802C50A}"/>
              </a:ext>
            </a:extLst>
          </p:cNvPr>
          <p:cNvSpPr/>
          <p:nvPr/>
        </p:nvSpPr>
        <p:spPr>
          <a:xfrm>
            <a:off x="3473281" y="3987015"/>
            <a:ext cx="606325" cy="464794"/>
          </a:xfrm>
          <a:custGeom>
            <a:avLst/>
            <a:gdLst>
              <a:gd name="connsiteX0" fmla="*/ 19158 w 605762"/>
              <a:gd name="connsiteY0" fmla="*/ 469557 h 469557"/>
              <a:gd name="connsiteX1" fmla="*/ 60347 w 605762"/>
              <a:gd name="connsiteY1" fmla="*/ 321276 h 469557"/>
              <a:gd name="connsiteX2" fmla="*/ 521666 w 605762"/>
              <a:gd name="connsiteY2" fmla="*/ 222422 h 469557"/>
              <a:gd name="connsiteX3" fmla="*/ 604045 w 605762"/>
              <a:gd name="connsiteY3" fmla="*/ 0 h 469557"/>
              <a:gd name="connsiteX0" fmla="*/ 12657 w 620692"/>
              <a:gd name="connsiteY0" fmla="*/ 464794 h 464794"/>
              <a:gd name="connsiteX1" fmla="*/ 75277 w 620692"/>
              <a:gd name="connsiteY1" fmla="*/ 321276 h 464794"/>
              <a:gd name="connsiteX2" fmla="*/ 536596 w 620692"/>
              <a:gd name="connsiteY2" fmla="*/ 222422 h 464794"/>
              <a:gd name="connsiteX3" fmla="*/ 618975 w 620692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7 w 608042"/>
              <a:gd name="connsiteY0" fmla="*/ 464794 h 464794"/>
              <a:gd name="connsiteX1" fmla="*/ 62627 w 608042"/>
              <a:gd name="connsiteY1" fmla="*/ 321276 h 464794"/>
              <a:gd name="connsiteX2" fmla="*/ 523946 w 608042"/>
              <a:gd name="connsiteY2" fmla="*/ 222422 h 464794"/>
              <a:gd name="connsiteX3" fmla="*/ 606325 w 608042"/>
              <a:gd name="connsiteY3" fmla="*/ 0 h 464794"/>
              <a:gd name="connsiteX0" fmla="*/ 7 w 606325"/>
              <a:gd name="connsiteY0" fmla="*/ 464794 h 464794"/>
              <a:gd name="connsiteX1" fmla="*/ 62627 w 606325"/>
              <a:gd name="connsiteY1" fmla="*/ 321276 h 464794"/>
              <a:gd name="connsiteX2" fmla="*/ 523946 w 606325"/>
              <a:gd name="connsiteY2" fmla="*/ 222422 h 464794"/>
              <a:gd name="connsiteX3" fmla="*/ 606325 w 606325"/>
              <a:gd name="connsiteY3" fmla="*/ 0 h 46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325" h="464794">
                <a:moveTo>
                  <a:pt x="7" y="464794"/>
                </a:moveTo>
                <a:cubicBezTo>
                  <a:pt x="7300" y="394579"/>
                  <a:pt x="-24696" y="361671"/>
                  <a:pt x="62627" y="321276"/>
                </a:cubicBezTo>
                <a:cubicBezTo>
                  <a:pt x="149950" y="280881"/>
                  <a:pt x="433330" y="275968"/>
                  <a:pt x="523946" y="222422"/>
                </a:cubicBezTo>
                <a:cubicBezTo>
                  <a:pt x="614562" y="168876"/>
                  <a:pt x="603299" y="84438"/>
                  <a:pt x="606325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056BB9-4F13-EBBD-D1F3-8B644DC7AA61}"/>
              </a:ext>
            </a:extLst>
          </p:cNvPr>
          <p:cNvSpPr txBox="1"/>
          <p:nvPr/>
        </p:nvSpPr>
        <p:spPr>
          <a:xfrm>
            <a:off x="2660166" y="4077998"/>
            <a:ext cx="118624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Pyramids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2CD3EF-F14A-B44A-644C-42EA0EA2786D}"/>
              </a:ext>
            </a:extLst>
          </p:cNvPr>
          <p:cNvCxnSpPr>
            <a:cxnSpLocks/>
          </p:cNvCxnSpPr>
          <p:nvPr/>
        </p:nvCxnSpPr>
        <p:spPr>
          <a:xfrm flipV="1">
            <a:off x="4079606" y="2252089"/>
            <a:ext cx="0" cy="333878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9E8F353-8FFE-4A1D-1B33-0F2F4C52C4D2}"/>
              </a:ext>
            </a:extLst>
          </p:cNvPr>
          <p:cNvSpPr txBox="1"/>
          <p:nvPr/>
        </p:nvSpPr>
        <p:spPr>
          <a:xfrm>
            <a:off x="3114250" y="2477773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Internal</a:t>
            </a:r>
          </a:p>
          <a:p>
            <a:pPr algn="ctr"/>
            <a:r>
              <a:rPr lang="en-GB" sz="1100" dirty="0"/>
              <a:t>Capsule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E0C2AC2-7D03-C4FC-DF88-D6FA8B6192FF}"/>
              </a:ext>
            </a:extLst>
          </p:cNvPr>
          <p:cNvGrpSpPr/>
          <p:nvPr/>
        </p:nvGrpSpPr>
        <p:grpSpPr>
          <a:xfrm rot="10800000">
            <a:off x="4005206" y="1794331"/>
            <a:ext cx="148280" cy="462520"/>
            <a:chOff x="4005648" y="2221325"/>
            <a:chExt cx="148280" cy="4625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B76AEA-A3D8-8467-CD5E-5437740A10C5}"/>
                </a:ext>
              </a:extLst>
            </p:cNvPr>
            <p:cNvSpPr/>
            <p:nvPr/>
          </p:nvSpPr>
          <p:spPr>
            <a:xfrm>
              <a:off x="4005648" y="2535565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E5F8FE-8A2A-DEEC-3305-301E7D9EE5DD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4079788" y="2221325"/>
              <a:ext cx="0" cy="3142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5806C23-08B1-0ED3-DDED-B1CE3FB0EF56}"/>
              </a:ext>
            </a:extLst>
          </p:cNvPr>
          <p:cNvSpPr txBox="1"/>
          <p:nvPr/>
        </p:nvSpPr>
        <p:spPr>
          <a:xfrm>
            <a:off x="2881381" y="1587710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Primary Motor cortex neurons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DD5AA4-237B-92AD-711C-8150DD6F2EDC}"/>
              </a:ext>
            </a:extLst>
          </p:cNvPr>
          <p:cNvSpPr txBox="1"/>
          <p:nvPr/>
        </p:nvSpPr>
        <p:spPr>
          <a:xfrm>
            <a:off x="1838325" y="6154113"/>
            <a:ext cx="6932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sz="1000" dirty="0"/>
              <a:t>Muscles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564B36-58E3-1342-85EF-9C2C83CECEA6}"/>
              </a:ext>
            </a:extLst>
          </p:cNvPr>
          <p:cNvCxnSpPr>
            <a:cxnSpLocks/>
            <a:stCxn id="79" idx="1"/>
            <a:endCxn id="34" idx="3"/>
          </p:cNvCxnSpPr>
          <p:nvPr/>
        </p:nvCxnSpPr>
        <p:spPr>
          <a:xfrm flipH="1">
            <a:off x="2531611" y="6143626"/>
            <a:ext cx="273502" cy="1335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FB91C80-1400-57E8-4F45-8A5DFAC04DA7}"/>
              </a:ext>
            </a:extLst>
          </p:cNvPr>
          <p:cNvSpPr txBox="1"/>
          <p:nvPr/>
        </p:nvSpPr>
        <p:spPr>
          <a:xfrm>
            <a:off x="5575650" y="1718819"/>
            <a:ext cx="887872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Cerebral</a:t>
            </a:r>
          </a:p>
          <a:p>
            <a:pPr algn="r"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cortex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C8DEE5-BD93-9212-CEA4-3B8DDECCE703}"/>
              </a:ext>
            </a:extLst>
          </p:cNvPr>
          <p:cNvSpPr txBox="1"/>
          <p:nvPr/>
        </p:nvSpPr>
        <p:spPr>
          <a:xfrm>
            <a:off x="5337508" y="5543300"/>
            <a:ext cx="1126014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Spinal Cord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2D35F4-FD69-A04C-BFE4-E581ECDF7120}"/>
              </a:ext>
            </a:extLst>
          </p:cNvPr>
          <p:cNvSpPr txBox="1"/>
          <p:nvPr/>
        </p:nvSpPr>
        <p:spPr>
          <a:xfrm>
            <a:off x="5523265" y="3318842"/>
            <a:ext cx="940257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Midbrain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2DDFDB-A75A-AA1E-B3F2-36596C7C49B0}"/>
              </a:ext>
            </a:extLst>
          </p:cNvPr>
          <p:cNvSpPr txBox="1"/>
          <p:nvPr/>
        </p:nvSpPr>
        <p:spPr>
          <a:xfrm>
            <a:off x="4117390" y="1588898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Supplementary motor cortex neurons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7C05B9A-171B-AE0D-30B8-183C7F99D444}"/>
              </a:ext>
            </a:extLst>
          </p:cNvPr>
          <p:cNvSpPr/>
          <p:nvPr/>
        </p:nvSpPr>
        <p:spPr>
          <a:xfrm rot="14400000">
            <a:off x="3399139" y="5711604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E7807EF-7D2A-71D7-CF02-DC8ACA65A456}"/>
              </a:ext>
            </a:extLst>
          </p:cNvPr>
          <p:cNvGrpSpPr/>
          <p:nvPr/>
        </p:nvGrpSpPr>
        <p:grpSpPr>
          <a:xfrm rot="10800000">
            <a:off x="3373547" y="5590877"/>
            <a:ext cx="201010" cy="108509"/>
            <a:chOff x="3197452" y="3993466"/>
            <a:chExt cx="201010" cy="108509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A2F558D-AE61-5E0A-7B32-1F25F6151B87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AD6DC5B-62E8-A8AF-CCC1-AD36252F02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73E5037F-64BE-EFED-283D-6E2B3FA1E8BF}"/>
              </a:ext>
            </a:extLst>
          </p:cNvPr>
          <p:cNvSpPr txBox="1"/>
          <p:nvPr/>
        </p:nvSpPr>
        <p:spPr>
          <a:xfrm>
            <a:off x="3114250" y="3241258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Cerebral</a:t>
            </a:r>
          </a:p>
          <a:p>
            <a:pPr algn="ctr"/>
            <a:r>
              <a:rPr lang="en-GB" sz="1100" dirty="0"/>
              <a:t>Peduncles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C342B7-0646-B5F4-6C81-E5D42B531189}"/>
              </a:ext>
            </a:extLst>
          </p:cNvPr>
          <p:cNvSpPr txBox="1"/>
          <p:nvPr/>
        </p:nvSpPr>
        <p:spPr>
          <a:xfrm>
            <a:off x="5595977" y="4081553"/>
            <a:ext cx="867545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Medulla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3E5626-0CA4-B42A-340B-17F2EE0B8F75}"/>
              </a:ext>
            </a:extLst>
          </p:cNvPr>
          <p:cNvSpPr txBox="1"/>
          <p:nvPr/>
        </p:nvSpPr>
        <p:spPr>
          <a:xfrm>
            <a:off x="2392117" y="4503083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Lateral</a:t>
            </a:r>
          </a:p>
          <a:p>
            <a:pPr algn="ctr"/>
            <a:r>
              <a:rPr lang="en-GB" sz="1100" dirty="0"/>
              <a:t>Corticospinal Tract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6D389E-7330-FF87-1E8A-4F043E8F149D}"/>
              </a:ext>
            </a:extLst>
          </p:cNvPr>
          <p:cNvSpPr txBox="1"/>
          <p:nvPr/>
        </p:nvSpPr>
        <p:spPr>
          <a:xfrm>
            <a:off x="325419" y="5370946"/>
            <a:ext cx="1388009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Lower</a:t>
            </a:r>
          </a:p>
          <a:p>
            <a:pPr>
              <a:lnSpc>
                <a:spcPct val="70000"/>
              </a:lnSpc>
            </a:pP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motorneurons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9AE74AE-42C7-1A5B-9282-124AA5E9DC11}"/>
              </a:ext>
            </a:extLst>
          </p:cNvPr>
          <p:cNvCxnSpPr>
            <a:cxnSpLocks/>
            <a:stCxn id="17" idx="0"/>
          </p:cNvCxnSpPr>
          <p:nvPr/>
        </p:nvCxnSpPr>
        <p:spPr>
          <a:xfrm flipH="1">
            <a:off x="3473280" y="4451809"/>
            <a:ext cx="8" cy="113906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07B339C-AF6B-BC50-C642-1C472514C72F}"/>
              </a:ext>
            </a:extLst>
          </p:cNvPr>
          <p:cNvSpPr/>
          <p:nvPr/>
        </p:nvSpPr>
        <p:spPr>
          <a:xfrm>
            <a:off x="2805113" y="5819018"/>
            <a:ext cx="610736" cy="324608"/>
          </a:xfrm>
          <a:custGeom>
            <a:avLst/>
            <a:gdLst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5756" h="161925">
                <a:moveTo>
                  <a:pt x="335756" y="0"/>
                </a:moveTo>
                <a:cubicBezTo>
                  <a:pt x="214312" y="75406"/>
                  <a:pt x="169069" y="146050"/>
                  <a:pt x="0" y="161925"/>
                </a:cubicBezTo>
              </a:path>
            </a:pathLst>
          </a:custGeom>
          <a:noFill/>
          <a:ln w="28575">
            <a:gradFill>
              <a:gsLst>
                <a:gs pos="87000">
                  <a:schemeClr val="bg1"/>
                </a:gs>
                <a:gs pos="21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987D8-051C-8BAA-6F8F-CA683D290AA3}"/>
              </a:ext>
            </a:extLst>
          </p:cNvPr>
          <p:cNvSpPr txBox="1"/>
          <p:nvPr/>
        </p:nvSpPr>
        <p:spPr>
          <a:xfrm>
            <a:off x="5191579" y="6187655"/>
            <a:ext cx="6932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000" dirty="0"/>
              <a:t>Trunk Muscles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2C720B-8487-C61E-7F40-25DEACEB0174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810090" y="6075125"/>
            <a:ext cx="381489" cy="312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C97BD6E-D342-0D47-A56A-12012AE02BD7}"/>
              </a:ext>
            </a:extLst>
          </p:cNvPr>
          <p:cNvSpPr/>
          <p:nvPr/>
        </p:nvSpPr>
        <p:spPr>
          <a:xfrm rot="14400000">
            <a:off x="4004259" y="5708306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AA6BE5-5890-97CD-B0F6-03325787B428}"/>
              </a:ext>
            </a:extLst>
          </p:cNvPr>
          <p:cNvGrpSpPr/>
          <p:nvPr/>
        </p:nvGrpSpPr>
        <p:grpSpPr>
          <a:xfrm rot="10800000">
            <a:off x="3978667" y="5587579"/>
            <a:ext cx="201010" cy="108509"/>
            <a:chOff x="3197452" y="3993466"/>
            <a:chExt cx="201010" cy="10850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E9B3BA-9D88-BEC9-8F56-556EC5DD3832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F28EC6-CD38-3CF1-4C55-F144C426F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9328312-5966-1354-C709-D7F4535B1C6C}"/>
              </a:ext>
            </a:extLst>
          </p:cNvPr>
          <p:cNvSpPr/>
          <p:nvPr/>
        </p:nvSpPr>
        <p:spPr>
          <a:xfrm flipH="1">
            <a:off x="4142692" y="5834426"/>
            <a:ext cx="610736" cy="324608"/>
          </a:xfrm>
          <a:custGeom>
            <a:avLst/>
            <a:gdLst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5756" h="161925">
                <a:moveTo>
                  <a:pt x="335756" y="0"/>
                </a:moveTo>
                <a:cubicBezTo>
                  <a:pt x="214312" y="75406"/>
                  <a:pt x="169069" y="146050"/>
                  <a:pt x="0" y="161925"/>
                </a:cubicBezTo>
              </a:path>
            </a:pathLst>
          </a:custGeom>
          <a:noFill/>
          <a:ln w="28575">
            <a:gradFill>
              <a:gsLst>
                <a:gs pos="87000">
                  <a:schemeClr val="bg1"/>
                </a:gs>
                <a:gs pos="21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F40BD3-AA86-57FA-A9B5-DEE7A81FBCCC}"/>
              </a:ext>
            </a:extLst>
          </p:cNvPr>
          <p:cNvSpPr txBox="1"/>
          <p:nvPr/>
        </p:nvSpPr>
        <p:spPr>
          <a:xfrm>
            <a:off x="4124439" y="4494384"/>
            <a:ext cx="921394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Anterior</a:t>
            </a:r>
          </a:p>
          <a:p>
            <a:pPr algn="ctr"/>
            <a:r>
              <a:rPr lang="en-GB" sz="1100" dirty="0"/>
              <a:t>Corticospinal Tract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D2ECB7A-02C7-4016-308D-D572F0C93A12}"/>
              </a:ext>
            </a:extLst>
          </p:cNvPr>
          <p:cNvSpPr/>
          <p:nvPr/>
        </p:nvSpPr>
        <p:spPr>
          <a:xfrm flipH="1">
            <a:off x="4076387" y="5115087"/>
            <a:ext cx="606325" cy="464794"/>
          </a:xfrm>
          <a:custGeom>
            <a:avLst/>
            <a:gdLst>
              <a:gd name="connsiteX0" fmla="*/ 19158 w 605762"/>
              <a:gd name="connsiteY0" fmla="*/ 469557 h 469557"/>
              <a:gd name="connsiteX1" fmla="*/ 60347 w 605762"/>
              <a:gd name="connsiteY1" fmla="*/ 321276 h 469557"/>
              <a:gd name="connsiteX2" fmla="*/ 521666 w 605762"/>
              <a:gd name="connsiteY2" fmla="*/ 222422 h 469557"/>
              <a:gd name="connsiteX3" fmla="*/ 604045 w 605762"/>
              <a:gd name="connsiteY3" fmla="*/ 0 h 469557"/>
              <a:gd name="connsiteX0" fmla="*/ 12657 w 620692"/>
              <a:gd name="connsiteY0" fmla="*/ 464794 h 464794"/>
              <a:gd name="connsiteX1" fmla="*/ 75277 w 620692"/>
              <a:gd name="connsiteY1" fmla="*/ 321276 h 464794"/>
              <a:gd name="connsiteX2" fmla="*/ 536596 w 620692"/>
              <a:gd name="connsiteY2" fmla="*/ 222422 h 464794"/>
              <a:gd name="connsiteX3" fmla="*/ 618975 w 620692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7 w 608042"/>
              <a:gd name="connsiteY0" fmla="*/ 464794 h 464794"/>
              <a:gd name="connsiteX1" fmla="*/ 62627 w 608042"/>
              <a:gd name="connsiteY1" fmla="*/ 321276 h 464794"/>
              <a:gd name="connsiteX2" fmla="*/ 523946 w 608042"/>
              <a:gd name="connsiteY2" fmla="*/ 222422 h 464794"/>
              <a:gd name="connsiteX3" fmla="*/ 606325 w 608042"/>
              <a:gd name="connsiteY3" fmla="*/ 0 h 464794"/>
              <a:gd name="connsiteX0" fmla="*/ 7 w 606325"/>
              <a:gd name="connsiteY0" fmla="*/ 464794 h 464794"/>
              <a:gd name="connsiteX1" fmla="*/ 62627 w 606325"/>
              <a:gd name="connsiteY1" fmla="*/ 321276 h 464794"/>
              <a:gd name="connsiteX2" fmla="*/ 523946 w 606325"/>
              <a:gd name="connsiteY2" fmla="*/ 222422 h 464794"/>
              <a:gd name="connsiteX3" fmla="*/ 606325 w 606325"/>
              <a:gd name="connsiteY3" fmla="*/ 0 h 46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325" h="464794">
                <a:moveTo>
                  <a:pt x="7" y="464794"/>
                </a:moveTo>
                <a:cubicBezTo>
                  <a:pt x="7300" y="394579"/>
                  <a:pt x="-24696" y="361671"/>
                  <a:pt x="62627" y="321276"/>
                </a:cubicBezTo>
                <a:cubicBezTo>
                  <a:pt x="149950" y="280881"/>
                  <a:pt x="433330" y="275968"/>
                  <a:pt x="523946" y="222422"/>
                </a:cubicBezTo>
                <a:cubicBezTo>
                  <a:pt x="614562" y="168876"/>
                  <a:pt x="603299" y="84438"/>
                  <a:pt x="606325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267F889-8B9B-7E5C-E68E-34369D6CC27D}"/>
              </a:ext>
            </a:extLst>
          </p:cNvPr>
          <p:cNvSpPr/>
          <p:nvPr/>
        </p:nvSpPr>
        <p:spPr>
          <a:xfrm rot="14400000">
            <a:off x="4613190" y="5692898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3A4C63A-41C4-3497-4A6A-E64B07267AFC}"/>
              </a:ext>
            </a:extLst>
          </p:cNvPr>
          <p:cNvGrpSpPr/>
          <p:nvPr/>
        </p:nvGrpSpPr>
        <p:grpSpPr>
          <a:xfrm rot="10800000">
            <a:off x="4587598" y="5572171"/>
            <a:ext cx="201010" cy="108509"/>
            <a:chOff x="3197452" y="3993466"/>
            <a:chExt cx="201010" cy="10850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63F8DAB-937E-604A-7BE1-C4FFE7EAA5FE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15146A-965D-D993-E4A7-7EC7DA9A89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F3C9C11-93A8-06B1-DD06-4FE2D1A450CE}"/>
              </a:ext>
            </a:extLst>
          </p:cNvPr>
          <p:cNvSpPr/>
          <p:nvPr/>
        </p:nvSpPr>
        <p:spPr>
          <a:xfrm flipH="1">
            <a:off x="4751623" y="5819018"/>
            <a:ext cx="610736" cy="324608"/>
          </a:xfrm>
          <a:custGeom>
            <a:avLst/>
            <a:gdLst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5756" h="161925">
                <a:moveTo>
                  <a:pt x="335756" y="0"/>
                </a:moveTo>
                <a:cubicBezTo>
                  <a:pt x="214312" y="75406"/>
                  <a:pt x="169069" y="146050"/>
                  <a:pt x="0" y="161925"/>
                </a:cubicBezTo>
              </a:path>
            </a:pathLst>
          </a:custGeom>
          <a:noFill/>
          <a:ln w="28575">
            <a:gradFill>
              <a:gsLst>
                <a:gs pos="87000">
                  <a:schemeClr val="bg1"/>
                </a:gs>
                <a:gs pos="21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DF183A-A6D7-6331-4A91-877AB9CF26DE}"/>
              </a:ext>
            </a:extLst>
          </p:cNvPr>
          <p:cNvSpPr txBox="1"/>
          <p:nvPr/>
        </p:nvSpPr>
        <p:spPr>
          <a:xfrm>
            <a:off x="16423" y="6356932"/>
            <a:ext cx="363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Movement</a:t>
            </a:r>
          </a:p>
        </p:txBody>
      </p:sp>
    </p:spTree>
    <p:extLst>
      <p:ext uri="{BB962C8B-B14F-4D97-AF65-F5344CB8AC3E}">
        <p14:creationId xmlns:p14="http://schemas.microsoft.com/office/powerpoint/2010/main" val="155517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A447442-752C-F026-BF56-D5568008D150}"/>
              </a:ext>
            </a:extLst>
          </p:cNvPr>
          <p:cNvSpPr/>
          <p:nvPr/>
        </p:nvSpPr>
        <p:spPr>
          <a:xfrm>
            <a:off x="3497267" y="1423461"/>
            <a:ext cx="48052" cy="172415"/>
          </a:xfrm>
          <a:custGeom>
            <a:avLst/>
            <a:gdLst>
              <a:gd name="connsiteX0" fmla="*/ 19158 w 605762"/>
              <a:gd name="connsiteY0" fmla="*/ 469557 h 469557"/>
              <a:gd name="connsiteX1" fmla="*/ 60347 w 605762"/>
              <a:gd name="connsiteY1" fmla="*/ 321276 h 469557"/>
              <a:gd name="connsiteX2" fmla="*/ 521666 w 605762"/>
              <a:gd name="connsiteY2" fmla="*/ 222422 h 469557"/>
              <a:gd name="connsiteX3" fmla="*/ 604045 w 605762"/>
              <a:gd name="connsiteY3" fmla="*/ 0 h 469557"/>
              <a:gd name="connsiteX0" fmla="*/ 12657 w 620692"/>
              <a:gd name="connsiteY0" fmla="*/ 464794 h 464794"/>
              <a:gd name="connsiteX1" fmla="*/ 75277 w 620692"/>
              <a:gd name="connsiteY1" fmla="*/ 321276 h 464794"/>
              <a:gd name="connsiteX2" fmla="*/ 536596 w 620692"/>
              <a:gd name="connsiteY2" fmla="*/ 222422 h 464794"/>
              <a:gd name="connsiteX3" fmla="*/ 618975 w 620692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7 w 608042"/>
              <a:gd name="connsiteY0" fmla="*/ 464794 h 464794"/>
              <a:gd name="connsiteX1" fmla="*/ 62627 w 608042"/>
              <a:gd name="connsiteY1" fmla="*/ 321276 h 464794"/>
              <a:gd name="connsiteX2" fmla="*/ 523946 w 608042"/>
              <a:gd name="connsiteY2" fmla="*/ 222422 h 464794"/>
              <a:gd name="connsiteX3" fmla="*/ 606325 w 608042"/>
              <a:gd name="connsiteY3" fmla="*/ 0 h 464794"/>
              <a:gd name="connsiteX0" fmla="*/ 7 w 606325"/>
              <a:gd name="connsiteY0" fmla="*/ 464794 h 464794"/>
              <a:gd name="connsiteX1" fmla="*/ 62627 w 606325"/>
              <a:gd name="connsiteY1" fmla="*/ 321276 h 464794"/>
              <a:gd name="connsiteX2" fmla="*/ 523946 w 606325"/>
              <a:gd name="connsiteY2" fmla="*/ 222422 h 464794"/>
              <a:gd name="connsiteX3" fmla="*/ 606325 w 606325"/>
              <a:gd name="connsiteY3" fmla="*/ 0 h 464794"/>
              <a:gd name="connsiteX0" fmla="*/ 0 w 543698"/>
              <a:gd name="connsiteY0" fmla="*/ 321276 h 321276"/>
              <a:gd name="connsiteX1" fmla="*/ 461319 w 543698"/>
              <a:gd name="connsiteY1" fmla="*/ 222422 h 321276"/>
              <a:gd name="connsiteX2" fmla="*/ 543698 w 543698"/>
              <a:gd name="connsiteY2" fmla="*/ 0 h 321276"/>
              <a:gd name="connsiteX0" fmla="*/ 0 w 82379"/>
              <a:gd name="connsiteY0" fmla="*/ 222422 h 222422"/>
              <a:gd name="connsiteX1" fmla="*/ 82379 w 82379"/>
              <a:gd name="connsiteY1" fmla="*/ 0 h 222422"/>
              <a:gd name="connsiteX0" fmla="*/ 0 w 48777"/>
              <a:gd name="connsiteY0" fmla="*/ 162890 h 162890"/>
              <a:gd name="connsiteX1" fmla="*/ 29650 w 48777"/>
              <a:gd name="connsiteY1" fmla="*/ 0 h 162890"/>
              <a:gd name="connsiteX0" fmla="*/ 0 w 29650"/>
              <a:gd name="connsiteY0" fmla="*/ 162890 h 162890"/>
              <a:gd name="connsiteX1" fmla="*/ 29650 w 29650"/>
              <a:gd name="connsiteY1" fmla="*/ 0 h 162890"/>
              <a:gd name="connsiteX0" fmla="*/ 0 w 21066"/>
              <a:gd name="connsiteY0" fmla="*/ 170034 h 170034"/>
              <a:gd name="connsiteX1" fmla="*/ 21066 w 21066"/>
              <a:gd name="connsiteY1" fmla="*/ 0 h 170034"/>
              <a:gd name="connsiteX0" fmla="*/ 0 w 24745"/>
              <a:gd name="connsiteY0" fmla="*/ 172415 h 172415"/>
              <a:gd name="connsiteX1" fmla="*/ 24745 w 24745"/>
              <a:gd name="connsiteY1" fmla="*/ 0 h 17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745" h="172415">
                <a:moveTo>
                  <a:pt x="0" y="172415"/>
                </a:moveTo>
                <a:cubicBezTo>
                  <a:pt x="6004" y="87913"/>
                  <a:pt x="21719" y="84438"/>
                  <a:pt x="24745" y="0"/>
                </a:cubicBezTo>
              </a:path>
            </a:pathLst>
          </a:custGeom>
          <a:noFill/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C85EBE7-91DB-23D5-6D64-4584C07295CE}"/>
              </a:ext>
            </a:extLst>
          </p:cNvPr>
          <p:cNvSpPr/>
          <p:nvPr/>
        </p:nvSpPr>
        <p:spPr>
          <a:xfrm rot="10800000">
            <a:off x="3453706" y="1266829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1B009-BED8-7F99-DCA8-D3A4F711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Corticobulbar tract: </a:t>
            </a:r>
            <a:r>
              <a:rPr lang="en-GB" dirty="0" err="1"/>
              <a:t>motorneurons</a:t>
            </a:r>
            <a:r>
              <a:rPr lang="en-GB" dirty="0"/>
              <a:t> of the cranial nerves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9194F6-94D1-9027-D385-FAF857DFA90D}"/>
              </a:ext>
            </a:extLst>
          </p:cNvPr>
          <p:cNvCxnSpPr>
            <a:cxnSpLocks/>
          </p:cNvCxnSpPr>
          <p:nvPr/>
        </p:nvCxnSpPr>
        <p:spPr>
          <a:xfrm>
            <a:off x="469476" y="3156484"/>
            <a:ext cx="58747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0A004B-4AAC-7BBB-E5C1-9614808E2E96}"/>
              </a:ext>
            </a:extLst>
          </p:cNvPr>
          <p:cNvSpPr txBox="1"/>
          <p:nvPr/>
        </p:nvSpPr>
        <p:spPr>
          <a:xfrm>
            <a:off x="403725" y="1213489"/>
            <a:ext cx="1388009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Upper</a:t>
            </a:r>
          </a:p>
          <a:p>
            <a:pPr>
              <a:lnSpc>
                <a:spcPct val="70000"/>
              </a:lnSpc>
            </a:pP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motorneurons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2CD3EF-F14A-B44A-644C-42EA0EA2786D}"/>
              </a:ext>
            </a:extLst>
          </p:cNvPr>
          <p:cNvCxnSpPr>
            <a:cxnSpLocks/>
          </p:cNvCxnSpPr>
          <p:nvPr/>
        </p:nvCxnSpPr>
        <p:spPr>
          <a:xfrm flipV="1">
            <a:off x="3497267" y="1724587"/>
            <a:ext cx="3219" cy="143189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9E8F353-8FFE-4A1D-1B33-0F2F4C52C4D2}"/>
              </a:ext>
            </a:extLst>
          </p:cNvPr>
          <p:cNvSpPr txBox="1"/>
          <p:nvPr/>
        </p:nvSpPr>
        <p:spPr>
          <a:xfrm>
            <a:off x="2535130" y="1950271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Internal</a:t>
            </a:r>
          </a:p>
          <a:p>
            <a:pPr algn="ctr"/>
            <a:r>
              <a:rPr lang="en-GB" sz="1100" dirty="0"/>
              <a:t>Capsule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E0C2AC2-7D03-C4FC-DF88-D6FA8B6192FF}"/>
              </a:ext>
            </a:extLst>
          </p:cNvPr>
          <p:cNvGrpSpPr/>
          <p:nvPr/>
        </p:nvGrpSpPr>
        <p:grpSpPr>
          <a:xfrm rot="10800000">
            <a:off x="3426086" y="1266829"/>
            <a:ext cx="148280" cy="462520"/>
            <a:chOff x="4005648" y="2221325"/>
            <a:chExt cx="148280" cy="4625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B76AEA-A3D8-8467-CD5E-5437740A10C5}"/>
                </a:ext>
              </a:extLst>
            </p:cNvPr>
            <p:cNvSpPr/>
            <p:nvPr/>
          </p:nvSpPr>
          <p:spPr>
            <a:xfrm>
              <a:off x="4005648" y="2535565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E5F8FE-8A2A-DEEC-3305-301E7D9EE5DD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4079788" y="2221325"/>
              <a:ext cx="0" cy="3142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5806C23-08B1-0ED3-DDED-B1CE3FB0EF56}"/>
              </a:ext>
            </a:extLst>
          </p:cNvPr>
          <p:cNvSpPr txBox="1"/>
          <p:nvPr/>
        </p:nvSpPr>
        <p:spPr>
          <a:xfrm>
            <a:off x="2302261" y="1060208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Primary Motor cortex neurons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B91C80-1400-57E8-4F45-8A5DFAC04DA7}"/>
              </a:ext>
            </a:extLst>
          </p:cNvPr>
          <p:cNvSpPr txBox="1"/>
          <p:nvPr/>
        </p:nvSpPr>
        <p:spPr>
          <a:xfrm>
            <a:off x="5575650" y="1191317"/>
            <a:ext cx="887872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Cerebral</a:t>
            </a:r>
          </a:p>
          <a:p>
            <a:pPr algn="r"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cortex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2D35F4-FD69-A04C-BFE4-E581ECDF7120}"/>
              </a:ext>
            </a:extLst>
          </p:cNvPr>
          <p:cNvSpPr txBox="1"/>
          <p:nvPr/>
        </p:nvSpPr>
        <p:spPr>
          <a:xfrm>
            <a:off x="5523265" y="2791340"/>
            <a:ext cx="940257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Midbrain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2DDFDB-A75A-AA1E-B3F2-36596C7C49B0}"/>
              </a:ext>
            </a:extLst>
          </p:cNvPr>
          <p:cNvSpPr txBox="1"/>
          <p:nvPr/>
        </p:nvSpPr>
        <p:spPr>
          <a:xfrm>
            <a:off x="3538270" y="1061396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Supplementary motor cortex neurons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E5037F-64BE-EFED-283D-6E2B3FA1E8BF}"/>
              </a:ext>
            </a:extLst>
          </p:cNvPr>
          <p:cNvSpPr txBox="1"/>
          <p:nvPr/>
        </p:nvSpPr>
        <p:spPr>
          <a:xfrm>
            <a:off x="2535130" y="2713756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Cerebral</a:t>
            </a:r>
          </a:p>
          <a:p>
            <a:pPr algn="ctr"/>
            <a:r>
              <a:rPr lang="en-GB" sz="1100" dirty="0"/>
              <a:t>Peduncles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C342B7-0646-B5F4-6C81-E5D42B531189}"/>
              </a:ext>
            </a:extLst>
          </p:cNvPr>
          <p:cNvSpPr txBox="1"/>
          <p:nvPr/>
        </p:nvSpPr>
        <p:spPr>
          <a:xfrm>
            <a:off x="5752671" y="3911661"/>
            <a:ext cx="582916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Pons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B6D389E-7330-FF87-1E8A-4F043E8F149D}"/>
              </a:ext>
            </a:extLst>
          </p:cNvPr>
          <p:cNvSpPr txBox="1"/>
          <p:nvPr/>
        </p:nvSpPr>
        <p:spPr>
          <a:xfrm>
            <a:off x="218397" y="4579200"/>
            <a:ext cx="1388009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Lower</a:t>
            </a:r>
          </a:p>
          <a:p>
            <a:pPr>
              <a:lnSpc>
                <a:spcPct val="70000"/>
              </a:lnSpc>
            </a:pPr>
            <a:r>
              <a:rPr lang="en-GB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motorneurons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DB18BCF-AD2B-9BD7-5A56-11564243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534" y="1660458"/>
            <a:ext cx="5114123" cy="438663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6CB8D8-9E92-7226-A103-90B5D8EBFBDA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3496177" y="3150866"/>
            <a:ext cx="2215" cy="24728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4F7A2F2-3EDC-377B-A0D2-A8FA7B7046A8}"/>
              </a:ext>
            </a:extLst>
          </p:cNvPr>
          <p:cNvGrpSpPr/>
          <p:nvPr/>
        </p:nvGrpSpPr>
        <p:grpSpPr>
          <a:xfrm>
            <a:off x="1389523" y="3145008"/>
            <a:ext cx="4685160" cy="786396"/>
            <a:chOff x="1389523" y="3145008"/>
            <a:chExt cx="4685160" cy="78639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8AD4DEF-2CD4-6344-D77F-08243802C50A}"/>
                </a:ext>
              </a:extLst>
            </p:cNvPr>
            <p:cNvSpPr/>
            <p:nvPr/>
          </p:nvSpPr>
          <p:spPr>
            <a:xfrm>
              <a:off x="2894161" y="3145008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056BB9-4F13-EBBD-D1F3-8B644DC7AA61}"/>
                </a:ext>
              </a:extLst>
            </p:cNvPr>
            <p:cNvSpPr txBox="1"/>
            <p:nvPr/>
          </p:nvSpPr>
          <p:spPr>
            <a:xfrm>
              <a:off x="1389523" y="3239743"/>
              <a:ext cx="1466620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100" dirty="0"/>
                <a:t>Motor Nucleus of the Trigeminal (V)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CDD5AA4-237B-92AD-711C-8150DD6F2EDC}"/>
                </a:ext>
              </a:extLst>
            </p:cNvPr>
            <p:cNvSpPr txBox="1"/>
            <p:nvPr/>
          </p:nvSpPr>
          <p:spPr>
            <a:xfrm>
              <a:off x="5157163" y="3370182"/>
              <a:ext cx="91752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 dirty="0"/>
                <a:t>Jaw muscles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7564B36-58E3-1342-85EF-9C2C83CECEA6}"/>
                </a:ext>
              </a:extLst>
            </p:cNvPr>
            <p:cNvCxnSpPr>
              <a:cxnSpLocks/>
              <a:stCxn id="42" idx="1"/>
              <a:endCxn id="34" idx="1"/>
            </p:cNvCxnSpPr>
            <p:nvPr/>
          </p:nvCxnSpPr>
          <p:spPr>
            <a:xfrm flipV="1">
              <a:off x="4871352" y="3493293"/>
              <a:ext cx="285811" cy="2381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E7807EF-7D2A-71D7-CF02-DC8ACA65A456}"/>
                </a:ext>
              </a:extLst>
            </p:cNvPr>
            <p:cNvGrpSpPr/>
            <p:nvPr/>
          </p:nvGrpSpPr>
          <p:grpSpPr>
            <a:xfrm rot="10800000">
              <a:off x="2794366" y="3618118"/>
              <a:ext cx="201010" cy="108509"/>
              <a:chOff x="3197452" y="3993466"/>
              <a:chExt cx="201010" cy="108509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9A2F558D-AE61-5E0A-7B32-1F25F6151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AD6DC5B-62E8-A8AF-CCC1-AD36252F02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B6B0B29-1037-BD35-B1DF-9F7D0AC78D69}"/>
                </a:ext>
              </a:extLst>
            </p:cNvPr>
            <p:cNvGrpSpPr/>
            <p:nvPr/>
          </p:nvGrpSpPr>
          <p:grpSpPr>
            <a:xfrm>
              <a:off x="2160130" y="3606796"/>
              <a:ext cx="808108" cy="324608"/>
              <a:chOff x="2739250" y="4134298"/>
              <a:chExt cx="808108" cy="324608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7C05B9A-171B-AE0D-30B8-183C7F99D444}"/>
                  </a:ext>
                </a:extLst>
              </p:cNvPr>
              <p:cNvSpPr/>
              <p:nvPr/>
            </p:nvSpPr>
            <p:spPr>
              <a:xfrm rot="14400000">
                <a:off x="3399078" y="4266347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07B339C-AF6B-BC50-C642-1C472514C72F}"/>
                  </a:ext>
                </a:extLst>
              </p:cNvPr>
              <p:cNvSpPr/>
              <p:nvPr/>
            </p:nvSpPr>
            <p:spPr>
              <a:xfrm rot="2070829">
                <a:off x="2739250" y="4134298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98A3772-ECA0-479F-857A-5912A9E78E58}"/>
                </a:ext>
              </a:extLst>
            </p:cNvPr>
            <p:cNvGrpSpPr/>
            <p:nvPr/>
          </p:nvGrpSpPr>
          <p:grpSpPr>
            <a:xfrm rot="10800000">
              <a:off x="4001287" y="3603198"/>
              <a:ext cx="201010" cy="108509"/>
              <a:chOff x="3197452" y="3993466"/>
              <a:chExt cx="201010" cy="108509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069F462-E3CB-8669-360C-C6E890295D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87F9035-FCC9-FA9D-06B7-043E5A4BD1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90C28DE-26CE-54B0-23EE-887E09F1C4E7}"/>
                </a:ext>
              </a:extLst>
            </p:cNvPr>
            <p:cNvGrpSpPr/>
            <p:nvPr/>
          </p:nvGrpSpPr>
          <p:grpSpPr>
            <a:xfrm>
              <a:off x="4026879" y="3605397"/>
              <a:ext cx="805930" cy="324608"/>
              <a:chOff x="4005688" y="4132306"/>
              <a:chExt cx="805930" cy="324608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6787CFA7-75B1-9697-4672-5EF04397F68A}"/>
                  </a:ext>
                </a:extLst>
              </p:cNvPr>
              <p:cNvSpPr/>
              <p:nvPr/>
            </p:nvSpPr>
            <p:spPr>
              <a:xfrm rot="7200000" flipH="1">
                <a:off x="4005688" y="4250834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4B42EA7B-E7BF-448B-DE8D-C1F8718C7E7F}"/>
                  </a:ext>
                </a:extLst>
              </p:cNvPr>
              <p:cNvSpPr/>
              <p:nvPr/>
            </p:nvSpPr>
            <p:spPr>
              <a:xfrm rot="19559051" flipH="1">
                <a:off x="4200882" y="4132306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11C4329-BC2F-058D-4291-15B240DC59A5}"/>
                </a:ext>
              </a:extLst>
            </p:cNvPr>
            <p:cNvSpPr/>
            <p:nvPr/>
          </p:nvSpPr>
          <p:spPr>
            <a:xfrm flipH="1">
              <a:off x="3496177" y="3150866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005DCA28-126E-BE21-C0B6-5F8C45DF962C}"/>
              </a:ext>
            </a:extLst>
          </p:cNvPr>
          <p:cNvSpPr txBox="1"/>
          <p:nvPr/>
        </p:nvSpPr>
        <p:spPr>
          <a:xfrm>
            <a:off x="5494459" y="5666683"/>
            <a:ext cx="867545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Medulla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92CB30E-933E-629C-2B52-6B607936EB3B}"/>
              </a:ext>
            </a:extLst>
          </p:cNvPr>
          <p:cNvGrpSpPr/>
          <p:nvPr/>
        </p:nvGrpSpPr>
        <p:grpSpPr>
          <a:xfrm>
            <a:off x="1386000" y="3967012"/>
            <a:ext cx="4949228" cy="786396"/>
            <a:chOff x="1389523" y="4388566"/>
            <a:chExt cx="4949228" cy="786396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73725D8-136C-2559-A990-49C4B35F361B}"/>
                </a:ext>
              </a:extLst>
            </p:cNvPr>
            <p:cNvSpPr/>
            <p:nvPr/>
          </p:nvSpPr>
          <p:spPr>
            <a:xfrm>
              <a:off x="2894161" y="4388566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C906F2B-4D5B-A8F9-1A80-79B466E8AF1F}"/>
                </a:ext>
              </a:extLst>
            </p:cNvPr>
            <p:cNvSpPr txBox="1"/>
            <p:nvPr/>
          </p:nvSpPr>
          <p:spPr>
            <a:xfrm>
              <a:off x="1389523" y="4567939"/>
              <a:ext cx="146662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100" dirty="0"/>
                <a:t>Facial Nucleus (VII)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D6433C-F7AE-E7AE-94F0-45E86140AC23}"/>
                </a:ext>
              </a:extLst>
            </p:cNvPr>
            <p:cNvSpPr txBox="1"/>
            <p:nvPr/>
          </p:nvSpPr>
          <p:spPr>
            <a:xfrm>
              <a:off x="5230171" y="4764914"/>
              <a:ext cx="1108580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 dirty="0"/>
                <a:t>Facial expression muscles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A8D2581-83E1-C56C-837A-0A137D64FFCC}"/>
                </a:ext>
              </a:extLst>
            </p:cNvPr>
            <p:cNvCxnSpPr>
              <a:cxnSpLocks/>
              <a:stCxn id="116" idx="1"/>
              <a:endCxn id="103" idx="1"/>
            </p:cNvCxnSpPr>
            <p:nvPr/>
          </p:nvCxnSpPr>
          <p:spPr>
            <a:xfrm flipV="1">
              <a:off x="4871352" y="4964969"/>
              <a:ext cx="358819" cy="99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982AE41-0825-D52D-D269-6A7BBFA875B6}"/>
                </a:ext>
              </a:extLst>
            </p:cNvPr>
            <p:cNvGrpSpPr/>
            <p:nvPr/>
          </p:nvGrpSpPr>
          <p:grpSpPr>
            <a:xfrm rot="10800000">
              <a:off x="2794366" y="4861676"/>
              <a:ext cx="201010" cy="108509"/>
              <a:chOff x="3197452" y="3993466"/>
              <a:chExt cx="201010" cy="108509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D7D03CDF-4E16-BE5B-37C8-2B5207F17F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3ABF11F-6F5C-F39D-B23D-3BB550FA0B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509D624B-7876-EF86-CEEB-86820EEB9E93}"/>
                </a:ext>
              </a:extLst>
            </p:cNvPr>
            <p:cNvGrpSpPr/>
            <p:nvPr/>
          </p:nvGrpSpPr>
          <p:grpSpPr>
            <a:xfrm>
              <a:off x="2160130" y="4850354"/>
              <a:ext cx="808108" cy="324608"/>
              <a:chOff x="2739250" y="4134298"/>
              <a:chExt cx="808108" cy="324608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FFC8D68E-AA29-A71F-CAC9-D653EDD474E2}"/>
                  </a:ext>
                </a:extLst>
              </p:cNvPr>
              <p:cNvSpPr/>
              <p:nvPr/>
            </p:nvSpPr>
            <p:spPr>
              <a:xfrm rot="14400000">
                <a:off x="3399078" y="4266347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D65EF2F2-3FD7-50C1-3AE6-2819360F53E9}"/>
                  </a:ext>
                </a:extLst>
              </p:cNvPr>
              <p:cNvSpPr/>
              <p:nvPr/>
            </p:nvSpPr>
            <p:spPr>
              <a:xfrm rot="2070829">
                <a:off x="2739250" y="4134298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9418A65-88D3-12D6-8339-D6E978CE4776}"/>
                </a:ext>
              </a:extLst>
            </p:cNvPr>
            <p:cNvGrpSpPr/>
            <p:nvPr/>
          </p:nvGrpSpPr>
          <p:grpSpPr>
            <a:xfrm rot="10800000">
              <a:off x="4001287" y="4846756"/>
              <a:ext cx="201010" cy="108509"/>
              <a:chOff x="3197452" y="3993466"/>
              <a:chExt cx="201010" cy="108509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4E76DA48-3938-7486-66C7-05273EF871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6E0AD34B-1B7A-5769-6394-62608614E0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246E3F7-590D-FCEC-09F4-0756357F7F22}"/>
                </a:ext>
              </a:extLst>
            </p:cNvPr>
            <p:cNvGrpSpPr/>
            <p:nvPr/>
          </p:nvGrpSpPr>
          <p:grpSpPr>
            <a:xfrm>
              <a:off x="4026879" y="4848955"/>
              <a:ext cx="805930" cy="324608"/>
              <a:chOff x="4005688" y="4132306"/>
              <a:chExt cx="805930" cy="324608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186FC904-03A7-7A55-B51D-7E96B846FB70}"/>
                  </a:ext>
                </a:extLst>
              </p:cNvPr>
              <p:cNvSpPr/>
              <p:nvPr/>
            </p:nvSpPr>
            <p:spPr>
              <a:xfrm rot="7200000" flipH="1">
                <a:off x="4005688" y="4250834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1D0A1CC8-E9A9-83AA-5932-03D80525E2CF}"/>
                  </a:ext>
                </a:extLst>
              </p:cNvPr>
              <p:cNvSpPr/>
              <p:nvPr/>
            </p:nvSpPr>
            <p:spPr>
              <a:xfrm rot="19559051" flipH="1">
                <a:off x="4200882" y="4132306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BF117D7-4B4F-4A1B-E2AD-6515711F3AC2}"/>
                </a:ext>
              </a:extLst>
            </p:cNvPr>
            <p:cNvSpPr/>
            <p:nvPr/>
          </p:nvSpPr>
          <p:spPr>
            <a:xfrm flipH="1">
              <a:off x="3496177" y="4394424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0646E97C-9F07-61D6-84B3-38DE27EEB080}"/>
                </a:ext>
              </a:extLst>
            </p:cNvPr>
            <p:cNvSpPr txBox="1"/>
            <p:nvPr/>
          </p:nvSpPr>
          <p:spPr>
            <a:xfrm>
              <a:off x="3724901" y="4458365"/>
              <a:ext cx="110858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 dirty="0"/>
                <a:t>Forehead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A7A56FD7-71DA-49AE-0431-2AE93DCC9B87}"/>
              </a:ext>
            </a:extLst>
          </p:cNvPr>
          <p:cNvGrpSpPr/>
          <p:nvPr/>
        </p:nvGrpSpPr>
        <p:grpSpPr>
          <a:xfrm>
            <a:off x="1220400" y="4790943"/>
            <a:ext cx="5238908" cy="786396"/>
            <a:chOff x="1224614" y="5113062"/>
            <a:chExt cx="5238908" cy="786396"/>
          </a:xfrm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8615B1E4-AF2D-6058-A517-7BE5ABFE5A27}"/>
                </a:ext>
              </a:extLst>
            </p:cNvPr>
            <p:cNvSpPr/>
            <p:nvPr/>
          </p:nvSpPr>
          <p:spPr>
            <a:xfrm>
              <a:off x="2894161" y="5113062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5AFD3F8-1B45-EB21-4288-97925ECC7805}"/>
                </a:ext>
              </a:extLst>
            </p:cNvPr>
            <p:cNvSpPr txBox="1"/>
            <p:nvPr/>
          </p:nvSpPr>
          <p:spPr>
            <a:xfrm>
              <a:off x="1224614" y="5339634"/>
              <a:ext cx="1631529" cy="43088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100" dirty="0"/>
                <a:t>Nucleus Ambiguous (IX,X)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BCE8575-BC87-3C4B-9916-BB1EA79F7EDB}"/>
                </a:ext>
              </a:extLst>
            </p:cNvPr>
            <p:cNvSpPr txBox="1"/>
            <p:nvPr/>
          </p:nvSpPr>
          <p:spPr>
            <a:xfrm>
              <a:off x="5143364" y="5313399"/>
              <a:ext cx="1320158" cy="5539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 dirty="0"/>
                <a:t>Larynx, pharynx, soft palate, </a:t>
              </a:r>
              <a:r>
                <a:rPr lang="en-GB" sz="1000" dirty="0" err="1"/>
                <a:t>esophagous</a:t>
              </a:r>
              <a:r>
                <a:rPr lang="en-GB" sz="1000" dirty="0"/>
                <a:t> muscles</a:t>
              </a: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0B149667-F1FF-D0AE-6EF8-1E17EFEDBD23}"/>
                </a:ext>
              </a:extLst>
            </p:cNvPr>
            <p:cNvCxnSpPr>
              <a:cxnSpLocks/>
              <a:stCxn id="145" idx="1"/>
            </p:cNvCxnSpPr>
            <p:nvPr/>
          </p:nvCxnSpPr>
          <p:spPr>
            <a:xfrm flipV="1">
              <a:off x="4871352" y="5590398"/>
              <a:ext cx="272012" cy="1090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40C99D6D-B44E-AD4D-D632-2212BFC2346F}"/>
                </a:ext>
              </a:extLst>
            </p:cNvPr>
            <p:cNvGrpSpPr/>
            <p:nvPr/>
          </p:nvGrpSpPr>
          <p:grpSpPr>
            <a:xfrm rot="10800000">
              <a:off x="2794366" y="5586172"/>
              <a:ext cx="201010" cy="108509"/>
              <a:chOff x="3197452" y="3993466"/>
              <a:chExt cx="201010" cy="108509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1F24C295-6385-1595-A907-CA5B55029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FDB9A37A-7589-65DB-5FC4-13178EBC15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76B09C16-28BA-4846-74C8-9381002972C0}"/>
                </a:ext>
              </a:extLst>
            </p:cNvPr>
            <p:cNvGrpSpPr/>
            <p:nvPr/>
          </p:nvGrpSpPr>
          <p:grpSpPr>
            <a:xfrm>
              <a:off x="2160130" y="5574850"/>
              <a:ext cx="808108" cy="324608"/>
              <a:chOff x="2739250" y="4134298"/>
              <a:chExt cx="808108" cy="324608"/>
            </a:xfrm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44B647B9-E1EF-881A-4560-11E7F4E5D5FC}"/>
                  </a:ext>
                </a:extLst>
              </p:cNvPr>
              <p:cNvSpPr/>
              <p:nvPr/>
            </p:nvSpPr>
            <p:spPr>
              <a:xfrm rot="14400000">
                <a:off x="3399078" y="4266347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241024E-7D51-8551-7B3C-45D818502A9D}"/>
                  </a:ext>
                </a:extLst>
              </p:cNvPr>
              <p:cNvSpPr/>
              <p:nvPr/>
            </p:nvSpPr>
            <p:spPr>
              <a:xfrm rot="2070829">
                <a:off x="2739250" y="4134298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DBCA172-EDBA-4ACC-0926-87502D9BE287}"/>
                </a:ext>
              </a:extLst>
            </p:cNvPr>
            <p:cNvGrpSpPr/>
            <p:nvPr/>
          </p:nvGrpSpPr>
          <p:grpSpPr>
            <a:xfrm rot="10800000">
              <a:off x="4001287" y="5571252"/>
              <a:ext cx="201010" cy="108509"/>
              <a:chOff x="3197452" y="3993466"/>
              <a:chExt cx="201010" cy="108509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00424A68-364C-9FC0-F15E-62A38722C2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2B3133F-1B99-AD03-606E-CCAD597885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10408DB5-A653-F4AC-5B81-50815190B63F}"/>
                </a:ext>
              </a:extLst>
            </p:cNvPr>
            <p:cNvGrpSpPr/>
            <p:nvPr/>
          </p:nvGrpSpPr>
          <p:grpSpPr>
            <a:xfrm>
              <a:off x="4026879" y="5573451"/>
              <a:ext cx="805930" cy="324608"/>
              <a:chOff x="4005688" y="4132306"/>
              <a:chExt cx="805930" cy="324608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231A63DD-36B9-FDAA-0794-1C0A11D5F609}"/>
                  </a:ext>
                </a:extLst>
              </p:cNvPr>
              <p:cNvSpPr/>
              <p:nvPr/>
            </p:nvSpPr>
            <p:spPr>
              <a:xfrm rot="7200000" flipH="1">
                <a:off x="4005688" y="4250834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A5CCD9AE-8C22-A6B7-A3C7-A1396FE6C3A3}"/>
                  </a:ext>
                </a:extLst>
              </p:cNvPr>
              <p:cNvSpPr/>
              <p:nvPr/>
            </p:nvSpPr>
            <p:spPr>
              <a:xfrm rot="19559051" flipH="1">
                <a:off x="4200882" y="4132306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844EA9A-A5D6-5ECC-6E62-868D3F0226D4}"/>
                </a:ext>
              </a:extLst>
            </p:cNvPr>
            <p:cNvSpPr/>
            <p:nvPr/>
          </p:nvSpPr>
          <p:spPr>
            <a:xfrm flipH="1">
              <a:off x="3496177" y="5118920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326081AA-2064-835A-D7AB-2FADCF6CE3FD}"/>
              </a:ext>
            </a:extLst>
          </p:cNvPr>
          <p:cNvSpPr txBox="1"/>
          <p:nvPr/>
        </p:nvSpPr>
        <p:spPr>
          <a:xfrm>
            <a:off x="3966112" y="6010075"/>
            <a:ext cx="132015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000" dirty="0"/>
              <a:t>Tongue muscles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96603B1-284D-889D-5315-64E2FD5ECBBE}"/>
              </a:ext>
            </a:extLst>
          </p:cNvPr>
          <p:cNvGrpSpPr/>
          <p:nvPr/>
        </p:nvGrpSpPr>
        <p:grpSpPr>
          <a:xfrm>
            <a:off x="1234800" y="5612946"/>
            <a:ext cx="2730627" cy="771914"/>
            <a:chOff x="1235485" y="5611019"/>
            <a:chExt cx="2730627" cy="771914"/>
          </a:xfrm>
        </p:grpSpPr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E60BE5F-279F-DCC0-F68D-545D41506D9C}"/>
                </a:ext>
              </a:extLst>
            </p:cNvPr>
            <p:cNvSpPr/>
            <p:nvPr/>
          </p:nvSpPr>
          <p:spPr>
            <a:xfrm>
              <a:off x="2891182" y="5611019"/>
              <a:ext cx="606325" cy="464794"/>
            </a:xfrm>
            <a:custGeom>
              <a:avLst/>
              <a:gdLst>
                <a:gd name="connsiteX0" fmla="*/ 19158 w 605762"/>
                <a:gd name="connsiteY0" fmla="*/ 469557 h 469557"/>
                <a:gd name="connsiteX1" fmla="*/ 60347 w 605762"/>
                <a:gd name="connsiteY1" fmla="*/ 321276 h 469557"/>
                <a:gd name="connsiteX2" fmla="*/ 521666 w 605762"/>
                <a:gd name="connsiteY2" fmla="*/ 222422 h 469557"/>
                <a:gd name="connsiteX3" fmla="*/ 604045 w 605762"/>
                <a:gd name="connsiteY3" fmla="*/ 0 h 469557"/>
                <a:gd name="connsiteX0" fmla="*/ 12657 w 620692"/>
                <a:gd name="connsiteY0" fmla="*/ 464794 h 464794"/>
                <a:gd name="connsiteX1" fmla="*/ 75277 w 620692"/>
                <a:gd name="connsiteY1" fmla="*/ 321276 h 464794"/>
                <a:gd name="connsiteX2" fmla="*/ 536596 w 620692"/>
                <a:gd name="connsiteY2" fmla="*/ 222422 h 464794"/>
                <a:gd name="connsiteX3" fmla="*/ 618975 w 620692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3160 w 611195"/>
                <a:gd name="connsiteY0" fmla="*/ 464794 h 464794"/>
                <a:gd name="connsiteX1" fmla="*/ 65780 w 611195"/>
                <a:gd name="connsiteY1" fmla="*/ 321276 h 464794"/>
                <a:gd name="connsiteX2" fmla="*/ 527099 w 611195"/>
                <a:gd name="connsiteY2" fmla="*/ 222422 h 464794"/>
                <a:gd name="connsiteX3" fmla="*/ 609478 w 611195"/>
                <a:gd name="connsiteY3" fmla="*/ 0 h 464794"/>
                <a:gd name="connsiteX0" fmla="*/ 7 w 608042"/>
                <a:gd name="connsiteY0" fmla="*/ 464794 h 464794"/>
                <a:gd name="connsiteX1" fmla="*/ 62627 w 608042"/>
                <a:gd name="connsiteY1" fmla="*/ 321276 h 464794"/>
                <a:gd name="connsiteX2" fmla="*/ 523946 w 608042"/>
                <a:gd name="connsiteY2" fmla="*/ 222422 h 464794"/>
                <a:gd name="connsiteX3" fmla="*/ 606325 w 608042"/>
                <a:gd name="connsiteY3" fmla="*/ 0 h 464794"/>
                <a:gd name="connsiteX0" fmla="*/ 7 w 606325"/>
                <a:gd name="connsiteY0" fmla="*/ 464794 h 464794"/>
                <a:gd name="connsiteX1" fmla="*/ 62627 w 606325"/>
                <a:gd name="connsiteY1" fmla="*/ 321276 h 464794"/>
                <a:gd name="connsiteX2" fmla="*/ 523946 w 606325"/>
                <a:gd name="connsiteY2" fmla="*/ 222422 h 464794"/>
                <a:gd name="connsiteX3" fmla="*/ 606325 w 606325"/>
                <a:gd name="connsiteY3" fmla="*/ 0 h 4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6325" h="464794">
                  <a:moveTo>
                    <a:pt x="7" y="464794"/>
                  </a:moveTo>
                  <a:cubicBezTo>
                    <a:pt x="7300" y="394579"/>
                    <a:pt x="-24696" y="361671"/>
                    <a:pt x="62627" y="321276"/>
                  </a:cubicBezTo>
                  <a:cubicBezTo>
                    <a:pt x="149950" y="280881"/>
                    <a:pt x="433330" y="275968"/>
                    <a:pt x="523946" y="222422"/>
                  </a:cubicBezTo>
                  <a:cubicBezTo>
                    <a:pt x="614562" y="168876"/>
                    <a:pt x="603299" y="84438"/>
                    <a:pt x="606325" y="0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8291558-E42A-D197-2A8F-EF365A64756C}"/>
                </a:ext>
              </a:extLst>
            </p:cNvPr>
            <p:cNvGrpSpPr/>
            <p:nvPr/>
          </p:nvGrpSpPr>
          <p:grpSpPr>
            <a:xfrm rot="10800000">
              <a:off x="2791387" y="6084129"/>
              <a:ext cx="201010" cy="108509"/>
              <a:chOff x="3197452" y="3993466"/>
              <a:chExt cx="201010" cy="108509"/>
            </a:xfrm>
          </p:grpSpPr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BF0286BD-96DB-23F8-D333-1E43695F8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7452" y="3993466"/>
                <a:ext cx="100868" cy="108509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AFD321F9-B723-0F6E-C169-C26FCFE765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8320" y="3998682"/>
                <a:ext cx="100141" cy="1017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4F96931-0FD6-CF2A-EFAE-E995292725FD}"/>
                </a:ext>
              </a:extLst>
            </p:cNvPr>
            <p:cNvSpPr txBox="1"/>
            <p:nvPr/>
          </p:nvSpPr>
          <p:spPr>
            <a:xfrm>
              <a:off x="1235485" y="5937807"/>
              <a:ext cx="163152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GB" sz="1100" dirty="0"/>
                <a:t>Hypoglossal Nucleus (XII)</a:t>
              </a:r>
            </a:p>
          </p:txBody>
        </p: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C2C15956-B95A-C2D0-C4DF-6D0384996418}"/>
                </a:ext>
              </a:extLst>
            </p:cNvPr>
            <p:cNvCxnSpPr>
              <a:cxnSpLocks/>
              <a:stCxn id="168" idx="1"/>
              <a:endCxn id="164" idx="1"/>
            </p:cNvCxnSpPr>
            <p:nvPr/>
          </p:nvCxnSpPr>
          <p:spPr>
            <a:xfrm flipV="1">
              <a:off x="3621357" y="6133186"/>
              <a:ext cx="344755" cy="226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8063BF12-6A53-80E8-617A-3757374D1167}"/>
                </a:ext>
              </a:extLst>
            </p:cNvPr>
            <p:cNvGrpSpPr/>
            <p:nvPr/>
          </p:nvGrpSpPr>
          <p:grpSpPr>
            <a:xfrm>
              <a:off x="2809081" y="6058325"/>
              <a:ext cx="777947" cy="324608"/>
              <a:chOff x="4005688" y="4099124"/>
              <a:chExt cx="777947" cy="324608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E3B01A6C-4E5A-C051-B10E-410B0753B811}"/>
                  </a:ext>
                </a:extLst>
              </p:cNvPr>
              <p:cNvSpPr/>
              <p:nvPr/>
            </p:nvSpPr>
            <p:spPr>
              <a:xfrm rot="7200000" flipH="1">
                <a:off x="4005688" y="4250834"/>
                <a:ext cx="148280" cy="148280"/>
              </a:xfrm>
              <a:prstGeom prst="ellipse">
                <a:avLst/>
              </a:prstGeom>
              <a:solidFill>
                <a:srgbClr val="FF505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1866E4DF-B83B-33A8-60DE-BDD257B85D4A}"/>
                  </a:ext>
                </a:extLst>
              </p:cNvPr>
              <p:cNvSpPr/>
              <p:nvPr/>
            </p:nvSpPr>
            <p:spPr>
              <a:xfrm rot="19272643" flipH="1">
                <a:off x="4172899" y="4099124"/>
                <a:ext cx="610736" cy="324608"/>
              </a:xfrm>
              <a:custGeom>
                <a:avLst/>
                <a:gdLst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247650 w 335756"/>
                  <a:gd name="connsiteY1" fmla="*/ 130969 h 161925"/>
                  <a:gd name="connsiteX2" fmla="*/ 0 w 335756"/>
                  <a:gd name="connsiteY2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  <a:gd name="connsiteX0" fmla="*/ 335756 w 335756"/>
                  <a:gd name="connsiteY0" fmla="*/ 0 h 161925"/>
                  <a:gd name="connsiteX1" fmla="*/ 0 w 335756"/>
                  <a:gd name="connsiteY1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5756" h="161925">
                    <a:moveTo>
                      <a:pt x="335756" y="0"/>
                    </a:moveTo>
                    <a:cubicBezTo>
                      <a:pt x="214312" y="75406"/>
                      <a:pt x="169069" y="146050"/>
                      <a:pt x="0" y="161925"/>
                    </a:cubicBezTo>
                  </a:path>
                </a:pathLst>
              </a:custGeom>
              <a:noFill/>
              <a:ln w="28575">
                <a:gradFill>
                  <a:gsLst>
                    <a:gs pos="87000">
                      <a:schemeClr val="bg1"/>
                    </a:gs>
                    <a:gs pos="21000">
                      <a:srgbClr val="C0000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1492EB2-3D61-94E3-2985-03B5A755F387}"/>
              </a:ext>
            </a:extLst>
          </p:cNvPr>
          <p:cNvSpPr txBox="1"/>
          <p:nvPr/>
        </p:nvSpPr>
        <p:spPr>
          <a:xfrm>
            <a:off x="16423" y="6356932"/>
            <a:ext cx="3631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Movement</a:t>
            </a:r>
          </a:p>
        </p:txBody>
      </p:sp>
    </p:spTree>
    <p:extLst>
      <p:ext uri="{BB962C8B-B14F-4D97-AF65-F5344CB8AC3E}">
        <p14:creationId xmlns:p14="http://schemas.microsoft.com/office/powerpoint/2010/main" val="1030237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9FF9-CAC9-F465-4A76-6D991DF5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Descending tracts</a:t>
            </a:r>
          </a:p>
        </p:txBody>
      </p:sp>
      <p:pic>
        <p:nvPicPr>
          <p:cNvPr id="6" name="Immagine 4">
            <a:extLst>
              <a:ext uri="{FF2B5EF4-FFF2-40B4-BE49-F238E27FC236}">
                <a16:creationId xmlns:a16="http://schemas.microsoft.com/office/drawing/2014/main" id="{52944B0E-CBC2-4AA6-82AC-A62F85A112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45" t="2197" r="432" b="-2197"/>
          <a:stretch/>
        </p:blipFill>
        <p:spPr>
          <a:xfrm>
            <a:off x="5943598" y="1507888"/>
            <a:ext cx="6070061" cy="42792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3E6652-3C7D-04B4-B167-ED4BE919EAAE}"/>
              </a:ext>
            </a:extLst>
          </p:cNvPr>
          <p:cNvSpPr/>
          <p:nvPr/>
        </p:nvSpPr>
        <p:spPr>
          <a:xfrm flipV="1">
            <a:off x="9708204" y="3346315"/>
            <a:ext cx="2305455" cy="2227634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3B1A7-ECBB-7770-215F-86B0E8364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8" y="1410970"/>
            <a:ext cx="4780908" cy="447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504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851C-59FA-54E5-3632-1E1CFBC7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Rubrospinal and reticulospinal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EB916D-57E8-9462-B0B7-2852DE10F937}"/>
              </a:ext>
            </a:extLst>
          </p:cNvPr>
          <p:cNvCxnSpPr>
            <a:cxnSpLocks/>
          </p:cNvCxnSpPr>
          <p:nvPr/>
        </p:nvCxnSpPr>
        <p:spPr>
          <a:xfrm>
            <a:off x="403725" y="4264989"/>
            <a:ext cx="5874731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450FE5-1C0A-F4CC-3685-0FD394E694D5}"/>
              </a:ext>
            </a:extLst>
          </p:cNvPr>
          <p:cNvSpPr txBox="1"/>
          <p:nvPr/>
        </p:nvSpPr>
        <p:spPr>
          <a:xfrm>
            <a:off x="403725" y="1213489"/>
            <a:ext cx="1048044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order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B22282-D6BA-0794-74F3-EB7486236955}"/>
              </a:ext>
            </a:extLst>
          </p:cNvPr>
          <p:cNvGrpSpPr/>
          <p:nvPr/>
        </p:nvGrpSpPr>
        <p:grpSpPr>
          <a:xfrm rot="10800000">
            <a:off x="2981455" y="1266829"/>
            <a:ext cx="148280" cy="462520"/>
            <a:chOff x="4005648" y="2221325"/>
            <a:chExt cx="148280" cy="4625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6591F5D-AB30-D97B-EB06-9F2E1E00BD4A}"/>
                </a:ext>
              </a:extLst>
            </p:cNvPr>
            <p:cNvSpPr/>
            <p:nvPr/>
          </p:nvSpPr>
          <p:spPr>
            <a:xfrm>
              <a:off x="4005648" y="2535565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05261F4-DCB4-3674-6196-AE7192B58912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4079788" y="2221325"/>
              <a:ext cx="0" cy="31424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1C4390-E5F5-D9E8-D0E6-D802E1D66638}"/>
              </a:ext>
            </a:extLst>
          </p:cNvPr>
          <p:cNvSpPr txBox="1"/>
          <p:nvPr/>
        </p:nvSpPr>
        <p:spPr>
          <a:xfrm>
            <a:off x="5523265" y="2233892"/>
            <a:ext cx="940257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Midbrain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1B09C-B560-3000-905C-503AE076BD31}"/>
              </a:ext>
            </a:extLst>
          </p:cNvPr>
          <p:cNvSpPr txBox="1"/>
          <p:nvPr/>
        </p:nvSpPr>
        <p:spPr>
          <a:xfrm>
            <a:off x="1427289" y="2579273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Rubrospinal</a:t>
            </a:r>
          </a:p>
          <a:p>
            <a:pPr algn="ctr"/>
            <a:r>
              <a:rPr lang="en-GB" sz="1100" dirty="0"/>
              <a:t>tract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5CFFF2-D034-15B2-0398-575F8E98BCA1}"/>
              </a:ext>
            </a:extLst>
          </p:cNvPr>
          <p:cNvSpPr txBox="1"/>
          <p:nvPr/>
        </p:nvSpPr>
        <p:spPr>
          <a:xfrm>
            <a:off x="5695540" y="3165060"/>
            <a:ext cx="582916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3D7E7-0CE4-3269-4565-4033805C1A66}"/>
              </a:ext>
            </a:extLst>
          </p:cNvPr>
          <p:cNvSpPr txBox="1"/>
          <p:nvPr/>
        </p:nvSpPr>
        <p:spPr>
          <a:xfrm>
            <a:off x="218397" y="4579200"/>
            <a:ext cx="1297406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Second order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neurons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26C0BB8-88D4-E32A-CF3B-95131CCD6AC7}"/>
              </a:ext>
            </a:extLst>
          </p:cNvPr>
          <p:cNvGrpSpPr/>
          <p:nvPr/>
        </p:nvGrpSpPr>
        <p:grpSpPr>
          <a:xfrm rot="10800000">
            <a:off x="2349033" y="5442099"/>
            <a:ext cx="201010" cy="108509"/>
            <a:chOff x="3197452" y="3993466"/>
            <a:chExt cx="201010" cy="10850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126A62D-7A2E-4000-9D5B-9F54BE8BFFD6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83283B3-0F90-787C-BC89-A1B1028639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098F34-876B-3869-F3FA-1CEDE8487463}"/>
              </a:ext>
            </a:extLst>
          </p:cNvPr>
          <p:cNvGrpSpPr/>
          <p:nvPr/>
        </p:nvGrpSpPr>
        <p:grpSpPr>
          <a:xfrm>
            <a:off x="1709708" y="5424743"/>
            <a:ext cx="808108" cy="324608"/>
            <a:chOff x="2739250" y="4134298"/>
            <a:chExt cx="808108" cy="32460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E43406B-0883-7A87-9138-0F2BD07BC3C7}"/>
                </a:ext>
              </a:extLst>
            </p:cNvPr>
            <p:cNvSpPr/>
            <p:nvPr/>
          </p:nvSpPr>
          <p:spPr>
            <a:xfrm rot="14400000">
              <a:off x="3399078" y="4266347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CD18FD0-1ABA-FF95-D269-5B8D4E8AEE89}"/>
                </a:ext>
              </a:extLst>
            </p:cNvPr>
            <p:cNvSpPr/>
            <p:nvPr/>
          </p:nvSpPr>
          <p:spPr>
            <a:xfrm rot="2070829">
              <a:off x="2739250" y="4134298"/>
              <a:ext cx="610736" cy="324608"/>
            </a:xfrm>
            <a:custGeom>
              <a:avLst/>
              <a:gdLst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756" h="161925">
                  <a:moveTo>
                    <a:pt x="335756" y="0"/>
                  </a:moveTo>
                  <a:cubicBezTo>
                    <a:pt x="214312" y="75406"/>
                    <a:pt x="169069" y="146050"/>
                    <a:pt x="0" y="161925"/>
                  </a:cubicBezTo>
                </a:path>
              </a:pathLst>
            </a:custGeom>
            <a:noFill/>
            <a:ln w="28575">
              <a:gradFill>
                <a:gsLst>
                  <a:gs pos="87000">
                    <a:schemeClr val="bg1"/>
                  </a:gs>
                  <a:gs pos="21000">
                    <a:srgbClr val="C0000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130DAF78-BCEE-0A88-E9F7-CC0F8015A074}"/>
              </a:ext>
            </a:extLst>
          </p:cNvPr>
          <p:cNvSpPr/>
          <p:nvPr/>
        </p:nvSpPr>
        <p:spPr>
          <a:xfrm>
            <a:off x="2450620" y="1700340"/>
            <a:ext cx="606325" cy="464794"/>
          </a:xfrm>
          <a:custGeom>
            <a:avLst/>
            <a:gdLst>
              <a:gd name="connsiteX0" fmla="*/ 19158 w 605762"/>
              <a:gd name="connsiteY0" fmla="*/ 469557 h 469557"/>
              <a:gd name="connsiteX1" fmla="*/ 60347 w 605762"/>
              <a:gd name="connsiteY1" fmla="*/ 321276 h 469557"/>
              <a:gd name="connsiteX2" fmla="*/ 521666 w 605762"/>
              <a:gd name="connsiteY2" fmla="*/ 222422 h 469557"/>
              <a:gd name="connsiteX3" fmla="*/ 604045 w 605762"/>
              <a:gd name="connsiteY3" fmla="*/ 0 h 469557"/>
              <a:gd name="connsiteX0" fmla="*/ 12657 w 620692"/>
              <a:gd name="connsiteY0" fmla="*/ 464794 h 464794"/>
              <a:gd name="connsiteX1" fmla="*/ 75277 w 620692"/>
              <a:gd name="connsiteY1" fmla="*/ 321276 h 464794"/>
              <a:gd name="connsiteX2" fmla="*/ 536596 w 620692"/>
              <a:gd name="connsiteY2" fmla="*/ 222422 h 464794"/>
              <a:gd name="connsiteX3" fmla="*/ 618975 w 620692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7 w 608042"/>
              <a:gd name="connsiteY0" fmla="*/ 464794 h 464794"/>
              <a:gd name="connsiteX1" fmla="*/ 62627 w 608042"/>
              <a:gd name="connsiteY1" fmla="*/ 321276 h 464794"/>
              <a:gd name="connsiteX2" fmla="*/ 523946 w 608042"/>
              <a:gd name="connsiteY2" fmla="*/ 222422 h 464794"/>
              <a:gd name="connsiteX3" fmla="*/ 606325 w 608042"/>
              <a:gd name="connsiteY3" fmla="*/ 0 h 464794"/>
              <a:gd name="connsiteX0" fmla="*/ 7 w 606325"/>
              <a:gd name="connsiteY0" fmla="*/ 464794 h 464794"/>
              <a:gd name="connsiteX1" fmla="*/ 62627 w 606325"/>
              <a:gd name="connsiteY1" fmla="*/ 321276 h 464794"/>
              <a:gd name="connsiteX2" fmla="*/ 523946 w 606325"/>
              <a:gd name="connsiteY2" fmla="*/ 222422 h 464794"/>
              <a:gd name="connsiteX3" fmla="*/ 606325 w 606325"/>
              <a:gd name="connsiteY3" fmla="*/ 0 h 46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325" h="464794">
                <a:moveTo>
                  <a:pt x="7" y="464794"/>
                </a:moveTo>
                <a:cubicBezTo>
                  <a:pt x="7300" y="394579"/>
                  <a:pt x="-24696" y="361671"/>
                  <a:pt x="62627" y="321276"/>
                </a:cubicBezTo>
                <a:cubicBezTo>
                  <a:pt x="149950" y="280881"/>
                  <a:pt x="433330" y="275968"/>
                  <a:pt x="523946" y="222422"/>
                </a:cubicBezTo>
                <a:cubicBezTo>
                  <a:pt x="614562" y="168876"/>
                  <a:pt x="603299" y="84438"/>
                  <a:pt x="606325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68C47A-A8A5-5275-D412-6C5C3C8219F7}"/>
              </a:ext>
            </a:extLst>
          </p:cNvPr>
          <p:cNvSpPr txBox="1"/>
          <p:nvPr/>
        </p:nvSpPr>
        <p:spPr>
          <a:xfrm>
            <a:off x="5410911" y="3911661"/>
            <a:ext cx="867545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Medulla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864C9E-6787-AE69-28E0-FE77217DE17D}"/>
              </a:ext>
            </a:extLst>
          </p:cNvPr>
          <p:cNvSpPr txBox="1"/>
          <p:nvPr/>
        </p:nvSpPr>
        <p:spPr>
          <a:xfrm>
            <a:off x="1798382" y="1210586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Red Nucleus</a:t>
            </a:r>
          </a:p>
          <a:p>
            <a:pPr algn="ctr"/>
            <a:r>
              <a:rPr lang="en-GB" sz="1100" dirty="0"/>
              <a:t>neurons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D042F97-719C-A23C-B027-0B90B7307FDE}"/>
              </a:ext>
            </a:extLst>
          </p:cNvPr>
          <p:cNvCxnSpPr>
            <a:cxnSpLocks/>
            <a:stCxn id="89" idx="0"/>
          </p:cNvCxnSpPr>
          <p:nvPr/>
        </p:nvCxnSpPr>
        <p:spPr>
          <a:xfrm>
            <a:off x="2450627" y="2165134"/>
            <a:ext cx="0" cy="328007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DA0F3BC-DDA4-C266-2EF0-4CFD8AC0D183}"/>
              </a:ext>
            </a:extLst>
          </p:cNvPr>
          <p:cNvGrpSpPr/>
          <p:nvPr/>
        </p:nvGrpSpPr>
        <p:grpSpPr>
          <a:xfrm rot="10800000">
            <a:off x="4145212" y="3165060"/>
            <a:ext cx="148280" cy="2327021"/>
            <a:chOff x="4005648" y="356824"/>
            <a:chExt cx="148280" cy="2327021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F99153F5-5244-4CDC-0EA8-AE7A5CDB7DD3}"/>
                </a:ext>
              </a:extLst>
            </p:cNvPr>
            <p:cNvSpPr/>
            <p:nvPr/>
          </p:nvSpPr>
          <p:spPr>
            <a:xfrm>
              <a:off x="4005648" y="2535565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8A8F1A1-3A0A-7033-8BD7-48D14F84D901}"/>
                </a:ext>
              </a:extLst>
            </p:cNvPr>
            <p:cNvCxnSpPr>
              <a:cxnSpLocks/>
              <a:stCxn id="94" idx="0"/>
            </p:cNvCxnSpPr>
            <p:nvPr/>
          </p:nvCxnSpPr>
          <p:spPr>
            <a:xfrm rot="10800000">
              <a:off x="4079788" y="356824"/>
              <a:ext cx="0" cy="2178741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A24A5F1-FA22-CD9B-74F6-2804177FA4DB}"/>
              </a:ext>
            </a:extLst>
          </p:cNvPr>
          <p:cNvGrpSpPr/>
          <p:nvPr/>
        </p:nvGrpSpPr>
        <p:grpSpPr>
          <a:xfrm rot="10800000">
            <a:off x="4263107" y="3911661"/>
            <a:ext cx="148280" cy="1336620"/>
            <a:chOff x="4005648" y="1347225"/>
            <a:chExt cx="148280" cy="133662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C88A983-CC44-682E-BC50-C091904276FC}"/>
                </a:ext>
              </a:extLst>
            </p:cNvPr>
            <p:cNvSpPr/>
            <p:nvPr/>
          </p:nvSpPr>
          <p:spPr>
            <a:xfrm>
              <a:off x="4005648" y="2535565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95478D0-9E97-5505-6096-B58C8FF75A03}"/>
                </a:ext>
              </a:extLst>
            </p:cNvPr>
            <p:cNvCxnSpPr>
              <a:cxnSpLocks/>
              <a:stCxn id="97" idx="0"/>
            </p:cNvCxnSpPr>
            <p:nvPr/>
          </p:nvCxnSpPr>
          <p:spPr>
            <a:xfrm rot="10800000">
              <a:off x="4079788" y="1347225"/>
              <a:ext cx="0" cy="1188340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Content Placeholder 102">
            <a:extLst>
              <a:ext uri="{FF2B5EF4-FFF2-40B4-BE49-F238E27FC236}">
                <a16:creationId xmlns:a16="http://schemas.microsoft.com/office/drawing/2014/main" id="{4E73FB6C-5867-277B-0775-1DCD8CCAE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2522"/>
          <a:stretch/>
        </p:blipFill>
        <p:spPr>
          <a:xfrm>
            <a:off x="6729700" y="1437524"/>
            <a:ext cx="5242786" cy="4351338"/>
          </a:xfr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A7B782E-695E-DE76-188A-C118A87E66D6}"/>
              </a:ext>
            </a:extLst>
          </p:cNvPr>
          <p:cNvSpPr txBox="1"/>
          <p:nvPr/>
        </p:nvSpPr>
        <p:spPr>
          <a:xfrm>
            <a:off x="4247376" y="3312419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100" dirty="0"/>
              <a:t>Reticular Formation</a:t>
            </a:r>
          </a:p>
          <a:p>
            <a:r>
              <a:rPr lang="en-GB" sz="1100" dirty="0"/>
              <a:t>neurons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AC1789D-A492-19B7-7844-B1908516F7C4}"/>
              </a:ext>
            </a:extLst>
          </p:cNvPr>
          <p:cNvSpPr txBox="1"/>
          <p:nvPr/>
        </p:nvSpPr>
        <p:spPr>
          <a:xfrm>
            <a:off x="5316502" y="4889412"/>
            <a:ext cx="1126014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Spinal Cord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1C058BF-6123-ADC5-3937-633967D7E833}"/>
              </a:ext>
            </a:extLst>
          </p:cNvPr>
          <p:cNvGrpSpPr/>
          <p:nvPr/>
        </p:nvGrpSpPr>
        <p:grpSpPr>
          <a:xfrm rot="10800000">
            <a:off x="4119504" y="5486422"/>
            <a:ext cx="201010" cy="108509"/>
            <a:chOff x="3197452" y="3993466"/>
            <a:chExt cx="201010" cy="108509"/>
          </a:xfrm>
        </p:grpSpPr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7C9A4D-9C90-B3FE-A0A2-4EBB75FF24DB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FAB5139-E411-FDF1-1AB7-5780E6DC47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F3531AD-6BF9-C627-D146-3EDD62602CA9}"/>
              </a:ext>
            </a:extLst>
          </p:cNvPr>
          <p:cNvGrpSpPr/>
          <p:nvPr/>
        </p:nvGrpSpPr>
        <p:grpSpPr>
          <a:xfrm rot="10800000">
            <a:off x="4236741" y="5248281"/>
            <a:ext cx="201010" cy="108509"/>
            <a:chOff x="3197452" y="3993466"/>
            <a:chExt cx="201010" cy="108509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E701683-4240-7DFD-F59A-DB32D4ACD7BF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A4CC748-4215-65B8-54F6-00971DBE7B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8312756-7330-60C6-86C6-E53F5B270F88}"/>
              </a:ext>
            </a:extLst>
          </p:cNvPr>
          <p:cNvGrpSpPr/>
          <p:nvPr/>
        </p:nvGrpSpPr>
        <p:grpSpPr>
          <a:xfrm flipH="1">
            <a:off x="4145234" y="5456851"/>
            <a:ext cx="808108" cy="324608"/>
            <a:chOff x="2739250" y="4134298"/>
            <a:chExt cx="808108" cy="324608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66083CB-9DDE-31F9-2B48-66E9A9611397}"/>
                </a:ext>
              </a:extLst>
            </p:cNvPr>
            <p:cNvSpPr/>
            <p:nvPr/>
          </p:nvSpPr>
          <p:spPr>
            <a:xfrm rot="14400000">
              <a:off x="3399078" y="4266347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528E70D-F5BF-75A5-4BF1-A3A6938390EB}"/>
                </a:ext>
              </a:extLst>
            </p:cNvPr>
            <p:cNvSpPr/>
            <p:nvPr/>
          </p:nvSpPr>
          <p:spPr>
            <a:xfrm rot="2070829">
              <a:off x="2739250" y="4134298"/>
              <a:ext cx="610736" cy="324608"/>
            </a:xfrm>
            <a:custGeom>
              <a:avLst/>
              <a:gdLst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756" h="161925">
                  <a:moveTo>
                    <a:pt x="335756" y="0"/>
                  </a:moveTo>
                  <a:cubicBezTo>
                    <a:pt x="214312" y="75406"/>
                    <a:pt x="169069" y="146050"/>
                    <a:pt x="0" y="161925"/>
                  </a:cubicBezTo>
                </a:path>
              </a:pathLst>
            </a:custGeom>
            <a:noFill/>
            <a:ln w="28575">
              <a:gradFill>
                <a:gsLst>
                  <a:gs pos="87000">
                    <a:schemeClr val="bg1"/>
                  </a:gs>
                  <a:gs pos="21000">
                    <a:srgbClr val="FF505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533C44B-9DC4-5607-9DF6-026152571CAC}"/>
              </a:ext>
            </a:extLst>
          </p:cNvPr>
          <p:cNvGrpSpPr/>
          <p:nvPr/>
        </p:nvGrpSpPr>
        <p:grpSpPr>
          <a:xfrm flipH="1">
            <a:off x="4263106" y="5224625"/>
            <a:ext cx="808108" cy="324608"/>
            <a:chOff x="2739250" y="4134298"/>
            <a:chExt cx="808108" cy="324608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92F59D5-929D-8E6A-6059-63A77497839E}"/>
                </a:ext>
              </a:extLst>
            </p:cNvPr>
            <p:cNvSpPr/>
            <p:nvPr/>
          </p:nvSpPr>
          <p:spPr>
            <a:xfrm rot="14400000">
              <a:off x="3399078" y="4266347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75F4113-F195-D43E-A0CA-BC1161425763}"/>
                </a:ext>
              </a:extLst>
            </p:cNvPr>
            <p:cNvSpPr/>
            <p:nvPr/>
          </p:nvSpPr>
          <p:spPr>
            <a:xfrm rot="2070829">
              <a:off x="2739250" y="4134298"/>
              <a:ext cx="610736" cy="324608"/>
            </a:xfrm>
            <a:custGeom>
              <a:avLst/>
              <a:gdLst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756" h="161925">
                  <a:moveTo>
                    <a:pt x="335756" y="0"/>
                  </a:moveTo>
                  <a:cubicBezTo>
                    <a:pt x="214312" y="75406"/>
                    <a:pt x="169069" y="146050"/>
                    <a:pt x="0" y="161925"/>
                  </a:cubicBezTo>
                </a:path>
              </a:pathLst>
            </a:custGeom>
            <a:noFill/>
            <a:ln w="28575">
              <a:gradFill>
                <a:gsLst>
                  <a:gs pos="87000">
                    <a:schemeClr val="bg1"/>
                  </a:gs>
                  <a:gs pos="21000">
                    <a:srgbClr val="FF505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81788CCB-487B-ED5C-6206-32C2BEDAA82F}"/>
              </a:ext>
            </a:extLst>
          </p:cNvPr>
          <p:cNvSpPr txBox="1"/>
          <p:nvPr/>
        </p:nvSpPr>
        <p:spPr>
          <a:xfrm>
            <a:off x="4351613" y="4370577"/>
            <a:ext cx="981144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100" dirty="0"/>
              <a:t>Lateral Reticulospinal Fibers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A6B8BC1-B586-20C8-A74A-2F4ED9ABDC4F}"/>
              </a:ext>
            </a:extLst>
          </p:cNvPr>
          <p:cNvSpPr txBox="1"/>
          <p:nvPr/>
        </p:nvSpPr>
        <p:spPr>
          <a:xfrm>
            <a:off x="2938182" y="4377291"/>
            <a:ext cx="1231246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sz="1100" dirty="0"/>
              <a:t>Medial Reticulospinal Fibers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7EAC6B-E656-B2FF-36FE-91AC67932796}"/>
              </a:ext>
            </a:extLst>
          </p:cNvPr>
          <p:cNvSpPr txBox="1"/>
          <p:nvPr/>
        </p:nvSpPr>
        <p:spPr>
          <a:xfrm>
            <a:off x="2612857" y="5316648"/>
            <a:ext cx="146662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Spinal cord grey matter neurons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333510C-8EFC-06C1-534D-321EA42EFC90}"/>
              </a:ext>
            </a:extLst>
          </p:cNvPr>
          <p:cNvSpPr txBox="1"/>
          <p:nvPr/>
        </p:nvSpPr>
        <p:spPr>
          <a:xfrm>
            <a:off x="1099628" y="5772544"/>
            <a:ext cx="1466620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b="1" dirty="0"/>
              <a:t>Modifying tone in upper extremities flexors?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6BCFA39-B859-F035-6442-A99C06EB968E}"/>
              </a:ext>
            </a:extLst>
          </p:cNvPr>
          <p:cNvSpPr txBox="1"/>
          <p:nvPr/>
        </p:nvSpPr>
        <p:spPr>
          <a:xfrm>
            <a:off x="3849882" y="5776139"/>
            <a:ext cx="1466620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b="1" dirty="0"/>
              <a:t>Pain Modulation information + </a:t>
            </a:r>
            <a:r>
              <a:rPr lang="en-GB" sz="1100" b="1" dirty="0" err="1"/>
              <a:t>coodination</a:t>
            </a:r>
            <a:endParaRPr lang="en-GB" sz="11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3AF42E2-A10F-7AA6-6E90-2C63F647614F}"/>
              </a:ext>
            </a:extLst>
          </p:cNvPr>
          <p:cNvSpPr txBox="1"/>
          <p:nvPr/>
        </p:nvSpPr>
        <p:spPr>
          <a:xfrm>
            <a:off x="16423" y="6389517"/>
            <a:ext cx="5574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Modulation of Movement/Coordination</a:t>
            </a:r>
          </a:p>
        </p:txBody>
      </p:sp>
    </p:spTree>
    <p:extLst>
      <p:ext uri="{BB962C8B-B14F-4D97-AF65-F5344CB8AC3E}">
        <p14:creationId xmlns:p14="http://schemas.microsoft.com/office/powerpoint/2010/main" val="2990959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D0E1-41E3-DB28-44D2-4064F818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Vestibulospinal tracts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AD85C-1C0D-D48E-90D2-F625AA29C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7054" y="2314205"/>
            <a:ext cx="5936419" cy="3803885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C93BC4-0545-8207-12AD-CC6A64D40F06}"/>
              </a:ext>
            </a:extLst>
          </p:cNvPr>
          <p:cNvCxnSpPr>
            <a:cxnSpLocks/>
          </p:cNvCxnSpPr>
          <p:nvPr/>
        </p:nvCxnSpPr>
        <p:spPr>
          <a:xfrm>
            <a:off x="403725" y="4750764"/>
            <a:ext cx="526848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70B82B-B36D-C89E-67E3-28FBE42DD44B}"/>
              </a:ext>
            </a:extLst>
          </p:cNvPr>
          <p:cNvSpPr txBox="1"/>
          <p:nvPr/>
        </p:nvSpPr>
        <p:spPr>
          <a:xfrm>
            <a:off x="403725" y="1699264"/>
            <a:ext cx="1048044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order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neurons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9C7E44-482F-F26F-94D5-5CD3633A49BB}"/>
              </a:ext>
            </a:extLst>
          </p:cNvPr>
          <p:cNvSpPr/>
          <p:nvPr/>
        </p:nvSpPr>
        <p:spPr>
          <a:xfrm rot="10800000">
            <a:off x="2376487" y="1778270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CBAD3-F2E8-AFA9-2CC2-ACD9B8DEE1C1}"/>
              </a:ext>
            </a:extLst>
          </p:cNvPr>
          <p:cNvSpPr txBox="1"/>
          <p:nvPr/>
        </p:nvSpPr>
        <p:spPr>
          <a:xfrm>
            <a:off x="1380000" y="4736289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Lateral Vestibulospinal</a:t>
            </a:r>
          </a:p>
          <a:p>
            <a:pPr algn="ctr"/>
            <a:r>
              <a:rPr lang="en-GB" sz="1100" dirty="0"/>
              <a:t>tract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E73507-4B2D-4A30-45EF-D16F4A4049C7}"/>
              </a:ext>
            </a:extLst>
          </p:cNvPr>
          <p:cNvSpPr txBox="1"/>
          <p:nvPr/>
        </p:nvSpPr>
        <p:spPr>
          <a:xfrm>
            <a:off x="5089295" y="1763025"/>
            <a:ext cx="582916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DF84F1-DFFE-F48B-D209-FAD3879F6BAF}"/>
              </a:ext>
            </a:extLst>
          </p:cNvPr>
          <p:cNvSpPr txBox="1"/>
          <p:nvPr/>
        </p:nvSpPr>
        <p:spPr>
          <a:xfrm>
            <a:off x="211447" y="5325586"/>
            <a:ext cx="1297406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Second order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F6B6AB-DF03-CA62-759A-969105CCABEE}"/>
              </a:ext>
            </a:extLst>
          </p:cNvPr>
          <p:cNvGrpSpPr/>
          <p:nvPr/>
        </p:nvGrpSpPr>
        <p:grpSpPr>
          <a:xfrm rot="10800000">
            <a:off x="2349033" y="5927874"/>
            <a:ext cx="201010" cy="108509"/>
            <a:chOff x="3197452" y="3993466"/>
            <a:chExt cx="201010" cy="10850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46F1278-E1EA-197D-F907-0240F23F8A3E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9C5CFD8-89F6-F1C5-649C-A47090562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DBAD639-D796-2EF1-C0CE-7A37CEF83CB1}"/>
              </a:ext>
            </a:extLst>
          </p:cNvPr>
          <p:cNvGrpSpPr/>
          <p:nvPr/>
        </p:nvGrpSpPr>
        <p:grpSpPr>
          <a:xfrm>
            <a:off x="1709708" y="5910518"/>
            <a:ext cx="808108" cy="324608"/>
            <a:chOff x="2739250" y="4134298"/>
            <a:chExt cx="808108" cy="32460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F29C1D-769C-7F06-6129-9B02531FA201}"/>
                </a:ext>
              </a:extLst>
            </p:cNvPr>
            <p:cNvSpPr/>
            <p:nvPr/>
          </p:nvSpPr>
          <p:spPr>
            <a:xfrm rot="14400000">
              <a:off x="3399078" y="4266347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8CA01BC-FA22-64EB-6A59-C21854C70CAA}"/>
                </a:ext>
              </a:extLst>
            </p:cNvPr>
            <p:cNvSpPr/>
            <p:nvPr/>
          </p:nvSpPr>
          <p:spPr>
            <a:xfrm rot="2070829">
              <a:off x="2739250" y="4134298"/>
              <a:ext cx="610736" cy="324608"/>
            </a:xfrm>
            <a:custGeom>
              <a:avLst/>
              <a:gdLst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756" h="161925">
                  <a:moveTo>
                    <a:pt x="335756" y="0"/>
                  </a:moveTo>
                  <a:cubicBezTo>
                    <a:pt x="214312" y="75406"/>
                    <a:pt x="169069" y="146050"/>
                    <a:pt x="0" y="161925"/>
                  </a:cubicBezTo>
                </a:path>
              </a:pathLst>
            </a:custGeom>
            <a:noFill/>
            <a:ln w="28575">
              <a:gradFill>
                <a:gsLst>
                  <a:gs pos="87000">
                    <a:schemeClr val="bg1"/>
                  </a:gs>
                  <a:gs pos="21000">
                    <a:srgbClr val="C0000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A9BB887-8D9B-B287-7A97-1932723832D1}"/>
              </a:ext>
            </a:extLst>
          </p:cNvPr>
          <p:cNvSpPr txBox="1"/>
          <p:nvPr/>
        </p:nvSpPr>
        <p:spPr>
          <a:xfrm>
            <a:off x="4804666" y="3256894"/>
            <a:ext cx="867545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Medulla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76AB9A-EFF0-ED27-68E0-936E31C712DF}"/>
              </a:ext>
            </a:extLst>
          </p:cNvPr>
          <p:cNvSpPr txBox="1"/>
          <p:nvPr/>
        </p:nvSpPr>
        <p:spPr>
          <a:xfrm>
            <a:off x="1313294" y="1527085"/>
            <a:ext cx="118624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Lateral</a:t>
            </a:r>
          </a:p>
          <a:p>
            <a:pPr algn="ctr"/>
            <a:r>
              <a:rPr lang="en-GB" sz="1100" dirty="0"/>
              <a:t>Vestibular</a:t>
            </a:r>
          </a:p>
          <a:p>
            <a:pPr algn="ctr"/>
            <a:r>
              <a:rPr lang="en-GB" sz="1100" dirty="0"/>
              <a:t>Nucleus</a:t>
            </a:r>
          </a:p>
          <a:p>
            <a:pPr algn="ctr"/>
            <a:r>
              <a:rPr lang="en-GB" sz="1100" dirty="0"/>
              <a:t>neurons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2CD6D6-369E-D6B6-5162-2C40B53876E8}"/>
              </a:ext>
            </a:extLst>
          </p:cNvPr>
          <p:cNvCxnSpPr>
            <a:cxnSpLocks/>
          </p:cNvCxnSpPr>
          <p:nvPr/>
        </p:nvCxnSpPr>
        <p:spPr>
          <a:xfrm>
            <a:off x="2450627" y="1923299"/>
            <a:ext cx="0" cy="400768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B4AE69-D5E2-2C17-F1A1-80102C2D574B}"/>
              </a:ext>
            </a:extLst>
          </p:cNvPr>
          <p:cNvGrpSpPr/>
          <p:nvPr/>
        </p:nvGrpSpPr>
        <p:grpSpPr>
          <a:xfrm rot="10800000">
            <a:off x="3125540" y="3280491"/>
            <a:ext cx="148280" cy="2327021"/>
            <a:chOff x="4005648" y="356824"/>
            <a:chExt cx="148280" cy="232702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763ADC4-EDD8-D5FB-4783-5C09AC061107}"/>
                </a:ext>
              </a:extLst>
            </p:cNvPr>
            <p:cNvSpPr/>
            <p:nvPr/>
          </p:nvSpPr>
          <p:spPr>
            <a:xfrm>
              <a:off x="4005648" y="2535565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2C15205-A04A-A909-FB0C-936FF96DB78C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rot="10800000">
              <a:off x="4079788" y="356824"/>
              <a:ext cx="0" cy="2178741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7C158C7-4E20-E8BB-F9E9-D31EC5EEAEE6}"/>
              </a:ext>
            </a:extLst>
          </p:cNvPr>
          <p:cNvSpPr txBox="1"/>
          <p:nvPr/>
        </p:nvSpPr>
        <p:spPr>
          <a:xfrm>
            <a:off x="4716108" y="5290550"/>
            <a:ext cx="1126014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Spinal Cord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901131C-9636-E337-765F-EB908A9AFFCA}"/>
              </a:ext>
            </a:extLst>
          </p:cNvPr>
          <p:cNvGrpSpPr/>
          <p:nvPr/>
        </p:nvGrpSpPr>
        <p:grpSpPr>
          <a:xfrm rot="10800000">
            <a:off x="3103443" y="5601853"/>
            <a:ext cx="201010" cy="108509"/>
            <a:chOff x="3197452" y="3993466"/>
            <a:chExt cx="201010" cy="108509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BFF023-CA2D-E8BE-4FB9-DABF92043A9B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7926EBC-1549-AD94-6627-54FFFF56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7D7C122C-D0D5-AC5E-8818-CC352DBDA861}"/>
              </a:ext>
            </a:extLst>
          </p:cNvPr>
          <p:cNvSpPr txBox="1"/>
          <p:nvPr/>
        </p:nvSpPr>
        <p:spPr>
          <a:xfrm>
            <a:off x="3103443" y="2944697"/>
            <a:ext cx="1186248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Medial</a:t>
            </a:r>
          </a:p>
          <a:p>
            <a:pPr algn="ctr"/>
            <a:r>
              <a:rPr lang="en-GB" sz="1100" dirty="0"/>
              <a:t>Vestibular</a:t>
            </a:r>
          </a:p>
          <a:p>
            <a:pPr algn="ctr"/>
            <a:r>
              <a:rPr lang="en-GB" sz="1100" dirty="0"/>
              <a:t>Nucleus</a:t>
            </a:r>
          </a:p>
          <a:p>
            <a:pPr algn="ctr"/>
            <a:r>
              <a:rPr lang="en-GB" sz="1100" dirty="0"/>
              <a:t>neurons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D4560F-1004-5CC4-2064-A040C1C45A45}"/>
              </a:ext>
            </a:extLst>
          </p:cNvPr>
          <p:cNvSpPr txBox="1"/>
          <p:nvPr/>
        </p:nvSpPr>
        <p:spPr>
          <a:xfrm>
            <a:off x="3110457" y="4736289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Medial Vestibulospinal</a:t>
            </a:r>
          </a:p>
          <a:p>
            <a:pPr algn="ctr"/>
            <a:r>
              <a:rPr lang="en-GB" sz="1100" dirty="0"/>
              <a:t>tract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B0482F-90B6-77CD-801E-C19706C5EF70}"/>
              </a:ext>
            </a:extLst>
          </p:cNvPr>
          <p:cNvSpPr txBox="1"/>
          <p:nvPr/>
        </p:nvSpPr>
        <p:spPr>
          <a:xfrm>
            <a:off x="2426298" y="5901263"/>
            <a:ext cx="146662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Spinal cord grey matter neurons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F1EB8-DFB1-311D-0056-A21CD1B39E6F}"/>
              </a:ext>
            </a:extLst>
          </p:cNvPr>
          <p:cNvGrpSpPr/>
          <p:nvPr/>
        </p:nvGrpSpPr>
        <p:grpSpPr>
          <a:xfrm flipH="1">
            <a:off x="3125539" y="5570314"/>
            <a:ext cx="808108" cy="324608"/>
            <a:chOff x="2739250" y="4134298"/>
            <a:chExt cx="808108" cy="32460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8EAFC37-9C02-319D-4321-B375BE43900F}"/>
                </a:ext>
              </a:extLst>
            </p:cNvPr>
            <p:cNvSpPr/>
            <p:nvPr/>
          </p:nvSpPr>
          <p:spPr>
            <a:xfrm rot="14400000">
              <a:off x="3399078" y="4266347"/>
              <a:ext cx="148280" cy="148280"/>
            </a:xfrm>
            <a:prstGeom prst="ellipse">
              <a:avLst/>
            </a:prstGeom>
            <a:solidFill>
              <a:srgbClr val="FF5050"/>
            </a:solidFill>
            <a:ln w="28575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E2D3373-3DF7-09F4-B023-DE873550151D}"/>
                </a:ext>
              </a:extLst>
            </p:cNvPr>
            <p:cNvSpPr/>
            <p:nvPr/>
          </p:nvSpPr>
          <p:spPr>
            <a:xfrm rot="2070829">
              <a:off x="2739250" y="4134298"/>
              <a:ext cx="610736" cy="324608"/>
            </a:xfrm>
            <a:custGeom>
              <a:avLst/>
              <a:gdLst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247650 w 335756"/>
                <a:gd name="connsiteY1" fmla="*/ 130969 h 161925"/>
                <a:gd name="connsiteX2" fmla="*/ 0 w 335756"/>
                <a:gd name="connsiteY2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  <a:gd name="connsiteX0" fmla="*/ 335756 w 335756"/>
                <a:gd name="connsiteY0" fmla="*/ 0 h 161925"/>
                <a:gd name="connsiteX1" fmla="*/ 0 w 335756"/>
                <a:gd name="connsiteY1" fmla="*/ 161925 h 16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5756" h="161925">
                  <a:moveTo>
                    <a:pt x="335756" y="0"/>
                  </a:moveTo>
                  <a:cubicBezTo>
                    <a:pt x="214312" y="75406"/>
                    <a:pt x="169069" y="146050"/>
                    <a:pt x="0" y="161925"/>
                  </a:cubicBezTo>
                </a:path>
              </a:pathLst>
            </a:custGeom>
            <a:noFill/>
            <a:ln w="28575">
              <a:gradFill>
                <a:gsLst>
                  <a:gs pos="87000">
                    <a:schemeClr val="bg1"/>
                  </a:gs>
                  <a:gs pos="21000">
                    <a:srgbClr val="FF505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C40B2B69-FEA7-69F5-9DC8-1AC9E6983E86}"/>
              </a:ext>
            </a:extLst>
          </p:cNvPr>
          <p:cNvSpPr txBox="1"/>
          <p:nvPr/>
        </p:nvSpPr>
        <p:spPr>
          <a:xfrm>
            <a:off x="16422" y="6388250"/>
            <a:ext cx="8918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Coordinate balance and posture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3D9835-4FFC-BAD5-CF8A-95BF4AC3E15E}"/>
              </a:ext>
            </a:extLst>
          </p:cNvPr>
          <p:cNvSpPr txBox="1"/>
          <p:nvPr/>
        </p:nvSpPr>
        <p:spPr>
          <a:xfrm>
            <a:off x="3625607" y="5560304"/>
            <a:ext cx="1721809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Spinal cord grey matter neurons (till mid-thoracic)</a:t>
            </a:r>
          </a:p>
        </p:txBody>
      </p:sp>
    </p:spTree>
    <p:extLst>
      <p:ext uri="{BB962C8B-B14F-4D97-AF65-F5344CB8AC3E}">
        <p14:creationId xmlns:p14="http://schemas.microsoft.com/office/powerpoint/2010/main" val="19879156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B3C0-8EF2-53D1-9F3B-83ED5E01C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Tectospinal tracts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466A5A5-525A-545A-304E-BA3C9BD05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2200" y="1671355"/>
            <a:ext cx="5905498" cy="4945628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5FBD69-2CA6-0341-7A4C-6FC8E95F2900}"/>
              </a:ext>
            </a:extLst>
          </p:cNvPr>
          <p:cNvCxnSpPr>
            <a:cxnSpLocks/>
          </p:cNvCxnSpPr>
          <p:nvPr/>
        </p:nvCxnSpPr>
        <p:spPr>
          <a:xfrm>
            <a:off x="403725" y="4922214"/>
            <a:ext cx="526848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DC28F6-088A-EC8C-985D-0D7F064716A9}"/>
              </a:ext>
            </a:extLst>
          </p:cNvPr>
          <p:cNvSpPr txBox="1"/>
          <p:nvPr/>
        </p:nvSpPr>
        <p:spPr>
          <a:xfrm>
            <a:off x="403725" y="2384255"/>
            <a:ext cx="1048044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order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neurons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76F7AB-7DBD-90DD-0B91-71473DC57837}"/>
              </a:ext>
            </a:extLst>
          </p:cNvPr>
          <p:cNvSpPr/>
          <p:nvPr/>
        </p:nvSpPr>
        <p:spPr>
          <a:xfrm rot="10800000">
            <a:off x="2376487" y="2506523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84265E-D0B8-2BE2-19C9-5FF9E1530302}"/>
              </a:ext>
            </a:extLst>
          </p:cNvPr>
          <p:cNvSpPr txBox="1"/>
          <p:nvPr/>
        </p:nvSpPr>
        <p:spPr>
          <a:xfrm>
            <a:off x="2992821" y="4194059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Medial Longitudinal Fasciculus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E58E3C-910D-8654-0EB1-FA72E5ABCEC8}"/>
              </a:ext>
            </a:extLst>
          </p:cNvPr>
          <p:cNvSpPr txBox="1"/>
          <p:nvPr/>
        </p:nvSpPr>
        <p:spPr>
          <a:xfrm>
            <a:off x="5089295" y="1934475"/>
            <a:ext cx="940257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Midbrain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2F04A-3482-2764-2BA6-B355C795E0B3}"/>
              </a:ext>
            </a:extLst>
          </p:cNvPr>
          <p:cNvSpPr txBox="1"/>
          <p:nvPr/>
        </p:nvSpPr>
        <p:spPr>
          <a:xfrm>
            <a:off x="211447" y="5497036"/>
            <a:ext cx="1297406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Second order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neurons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1815B5-CC87-6641-1180-801C84EF729E}"/>
              </a:ext>
            </a:extLst>
          </p:cNvPr>
          <p:cNvGrpSpPr/>
          <p:nvPr/>
        </p:nvGrpSpPr>
        <p:grpSpPr>
          <a:xfrm rot="10800000">
            <a:off x="2960629" y="5487593"/>
            <a:ext cx="201010" cy="108509"/>
            <a:chOff x="3197452" y="3993466"/>
            <a:chExt cx="201010" cy="108509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5524304-89BE-8DCD-644C-C37D55790DE9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DAD9BE-B4D8-2477-1125-9F65090CEF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1BDF7DA-B055-DD12-77A3-436763F44503}"/>
              </a:ext>
            </a:extLst>
          </p:cNvPr>
          <p:cNvSpPr/>
          <p:nvPr/>
        </p:nvSpPr>
        <p:spPr>
          <a:xfrm rot="14400000">
            <a:off x="2981132" y="5602286"/>
            <a:ext cx="148280" cy="148280"/>
          </a:xfrm>
          <a:prstGeom prst="ellipse">
            <a:avLst/>
          </a:prstGeom>
          <a:solidFill>
            <a:srgbClr val="FF505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447BB4-CC2E-ADD2-B5C5-F7D25942A522}"/>
              </a:ext>
            </a:extLst>
          </p:cNvPr>
          <p:cNvSpPr/>
          <p:nvPr/>
        </p:nvSpPr>
        <p:spPr>
          <a:xfrm rot="2070829">
            <a:off x="2321304" y="5470237"/>
            <a:ext cx="610736" cy="324608"/>
          </a:xfrm>
          <a:custGeom>
            <a:avLst/>
            <a:gdLst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5756" h="161925">
                <a:moveTo>
                  <a:pt x="335756" y="0"/>
                </a:moveTo>
                <a:cubicBezTo>
                  <a:pt x="214312" y="75406"/>
                  <a:pt x="169069" y="146050"/>
                  <a:pt x="0" y="161925"/>
                </a:cubicBezTo>
              </a:path>
            </a:pathLst>
          </a:custGeom>
          <a:noFill/>
          <a:ln w="28575">
            <a:gradFill>
              <a:gsLst>
                <a:gs pos="87000">
                  <a:schemeClr val="bg1"/>
                </a:gs>
                <a:gs pos="21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25D8F83-290F-6DCE-0315-27FD0EAA3104}"/>
              </a:ext>
            </a:extLst>
          </p:cNvPr>
          <p:cNvSpPr/>
          <p:nvPr/>
        </p:nvSpPr>
        <p:spPr>
          <a:xfrm rot="7772227">
            <a:off x="2213370" y="1901474"/>
            <a:ext cx="610736" cy="324608"/>
          </a:xfrm>
          <a:custGeom>
            <a:avLst/>
            <a:gdLst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247650 w 335756"/>
              <a:gd name="connsiteY1" fmla="*/ 130969 h 161925"/>
              <a:gd name="connsiteX2" fmla="*/ 0 w 335756"/>
              <a:gd name="connsiteY2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  <a:gd name="connsiteX0" fmla="*/ 335756 w 335756"/>
              <a:gd name="connsiteY0" fmla="*/ 0 h 161925"/>
              <a:gd name="connsiteX1" fmla="*/ 0 w 335756"/>
              <a:gd name="connsiteY1" fmla="*/ 161925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5756" h="161925">
                <a:moveTo>
                  <a:pt x="335756" y="0"/>
                </a:moveTo>
                <a:cubicBezTo>
                  <a:pt x="214312" y="75406"/>
                  <a:pt x="169069" y="146050"/>
                  <a:pt x="0" y="161925"/>
                </a:cubicBezTo>
              </a:path>
            </a:pathLst>
          </a:custGeom>
          <a:noFill/>
          <a:ln w="28575">
            <a:gradFill>
              <a:gsLst>
                <a:gs pos="87000">
                  <a:schemeClr val="bg1"/>
                </a:gs>
                <a:gs pos="21000">
                  <a:srgbClr val="C000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B237F9-CA06-B40A-6BBE-7602A13A391D}"/>
              </a:ext>
            </a:extLst>
          </p:cNvPr>
          <p:cNvSpPr txBox="1"/>
          <p:nvPr/>
        </p:nvSpPr>
        <p:spPr>
          <a:xfrm>
            <a:off x="4839491" y="4496796"/>
            <a:ext cx="867545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Medulla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A2A7E7-C714-233C-72FE-1DD9D7B24A71}"/>
              </a:ext>
            </a:extLst>
          </p:cNvPr>
          <p:cNvSpPr txBox="1"/>
          <p:nvPr/>
        </p:nvSpPr>
        <p:spPr>
          <a:xfrm>
            <a:off x="1449137" y="2280581"/>
            <a:ext cx="1186248" cy="6001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Superior</a:t>
            </a:r>
          </a:p>
          <a:p>
            <a:pPr algn="ctr"/>
            <a:r>
              <a:rPr lang="en-GB" sz="1100" dirty="0"/>
              <a:t>Colliculus</a:t>
            </a:r>
          </a:p>
          <a:p>
            <a:pPr algn="ctr"/>
            <a:r>
              <a:rPr lang="en-GB" sz="1100" dirty="0"/>
              <a:t>neurons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086AE9-121C-8188-9D70-D2012843062A}"/>
              </a:ext>
            </a:extLst>
          </p:cNvPr>
          <p:cNvCxnSpPr>
            <a:cxnSpLocks/>
          </p:cNvCxnSpPr>
          <p:nvPr/>
        </p:nvCxnSpPr>
        <p:spPr>
          <a:xfrm>
            <a:off x="2450627" y="2654804"/>
            <a:ext cx="0" cy="67330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90F84A-4426-904E-7E92-CEAD8B6E2106}"/>
              </a:ext>
            </a:extLst>
          </p:cNvPr>
          <p:cNvSpPr txBox="1"/>
          <p:nvPr/>
        </p:nvSpPr>
        <p:spPr>
          <a:xfrm>
            <a:off x="4710257" y="5460460"/>
            <a:ext cx="1126014" cy="44807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Cervical</a:t>
            </a:r>
          </a:p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Spinal Cord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CBF26F-9964-0CE5-F19A-1ECEDE56BC6C}"/>
              </a:ext>
            </a:extLst>
          </p:cNvPr>
          <p:cNvSpPr txBox="1"/>
          <p:nvPr/>
        </p:nvSpPr>
        <p:spPr>
          <a:xfrm>
            <a:off x="3037894" y="5460982"/>
            <a:ext cx="1466620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Spinal cord grey matter neurons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CB20DF-1915-BCF4-A9C2-6AB9D61D76A4}"/>
              </a:ext>
            </a:extLst>
          </p:cNvPr>
          <p:cNvSpPr txBox="1"/>
          <p:nvPr/>
        </p:nvSpPr>
        <p:spPr>
          <a:xfrm>
            <a:off x="5044775" y="3190246"/>
            <a:ext cx="582916" cy="27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Pons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94F70A-DA45-4CAA-72AC-10F840F2F689}"/>
              </a:ext>
            </a:extLst>
          </p:cNvPr>
          <p:cNvGrpSpPr/>
          <p:nvPr/>
        </p:nvGrpSpPr>
        <p:grpSpPr>
          <a:xfrm rot="10800000">
            <a:off x="2351923" y="2403390"/>
            <a:ext cx="201010" cy="108509"/>
            <a:chOff x="3197452" y="3993466"/>
            <a:chExt cx="201010" cy="108509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8CFD138-6411-0898-F513-4DBD76DF8CDA}"/>
                </a:ext>
              </a:extLst>
            </p:cNvPr>
            <p:cNvCxnSpPr>
              <a:cxnSpLocks/>
            </p:cNvCxnSpPr>
            <p:nvPr/>
          </p:nvCxnSpPr>
          <p:spPr>
            <a:xfrm>
              <a:off x="3197452" y="3993466"/>
              <a:ext cx="100868" cy="108509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EEF8289-295B-C5E7-DE2C-22EEC24FF2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8320" y="3998682"/>
              <a:ext cx="100141" cy="10171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0BF2601-BE4E-E084-D947-56F2902EFB37}"/>
              </a:ext>
            </a:extLst>
          </p:cNvPr>
          <p:cNvSpPr txBox="1"/>
          <p:nvPr/>
        </p:nvSpPr>
        <p:spPr>
          <a:xfrm>
            <a:off x="1951830" y="1505870"/>
            <a:ext cx="1186248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Visual and Auditory stimuli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1E1EA6C-0903-2F73-B1EC-249E8F5898D3}"/>
              </a:ext>
            </a:extLst>
          </p:cNvPr>
          <p:cNvSpPr/>
          <p:nvPr/>
        </p:nvSpPr>
        <p:spPr>
          <a:xfrm flipH="1">
            <a:off x="2450626" y="3328105"/>
            <a:ext cx="606325" cy="464794"/>
          </a:xfrm>
          <a:custGeom>
            <a:avLst/>
            <a:gdLst>
              <a:gd name="connsiteX0" fmla="*/ 19158 w 605762"/>
              <a:gd name="connsiteY0" fmla="*/ 469557 h 469557"/>
              <a:gd name="connsiteX1" fmla="*/ 60347 w 605762"/>
              <a:gd name="connsiteY1" fmla="*/ 321276 h 469557"/>
              <a:gd name="connsiteX2" fmla="*/ 521666 w 605762"/>
              <a:gd name="connsiteY2" fmla="*/ 222422 h 469557"/>
              <a:gd name="connsiteX3" fmla="*/ 604045 w 605762"/>
              <a:gd name="connsiteY3" fmla="*/ 0 h 469557"/>
              <a:gd name="connsiteX0" fmla="*/ 12657 w 620692"/>
              <a:gd name="connsiteY0" fmla="*/ 464794 h 464794"/>
              <a:gd name="connsiteX1" fmla="*/ 75277 w 620692"/>
              <a:gd name="connsiteY1" fmla="*/ 321276 h 464794"/>
              <a:gd name="connsiteX2" fmla="*/ 536596 w 620692"/>
              <a:gd name="connsiteY2" fmla="*/ 222422 h 464794"/>
              <a:gd name="connsiteX3" fmla="*/ 618975 w 620692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3160 w 611195"/>
              <a:gd name="connsiteY0" fmla="*/ 464794 h 464794"/>
              <a:gd name="connsiteX1" fmla="*/ 65780 w 611195"/>
              <a:gd name="connsiteY1" fmla="*/ 321276 h 464794"/>
              <a:gd name="connsiteX2" fmla="*/ 527099 w 611195"/>
              <a:gd name="connsiteY2" fmla="*/ 222422 h 464794"/>
              <a:gd name="connsiteX3" fmla="*/ 609478 w 611195"/>
              <a:gd name="connsiteY3" fmla="*/ 0 h 464794"/>
              <a:gd name="connsiteX0" fmla="*/ 7 w 608042"/>
              <a:gd name="connsiteY0" fmla="*/ 464794 h 464794"/>
              <a:gd name="connsiteX1" fmla="*/ 62627 w 608042"/>
              <a:gd name="connsiteY1" fmla="*/ 321276 h 464794"/>
              <a:gd name="connsiteX2" fmla="*/ 523946 w 608042"/>
              <a:gd name="connsiteY2" fmla="*/ 222422 h 464794"/>
              <a:gd name="connsiteX3" fmla="*/ 606325 w 608042"/>
              <a:gd name="connsiteY3" fmla="*/ 0 h 464794"/>
              <a:gd name="connsiteX0" fmla="*/ 7 w 606325"/>
              <a:gd name="connsiteY0" fmla="*/ 464794 h 464794"/>
              <a:gd name="connsiteX1" fmla="*/ 62627 w 606325"/>
              <a:gd name="connsiteY1" fmla="*/ 321276 h 464794"/>
              <a:gd name="connsiteX2" fmla="*/ 523946 w 606325"/>
              <a:gd name="connsiteY2" fmla="*/ 222422 h 464794"/>
              <a:gd name="connsiteX3" fmla="*/ 606325 w 606325"/>
              <a:gd name="connsiteY3" fmla="*/ 0 h 46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6325" h="464794">
                <a:moveTo>
                  <a:pt x="7" y="464794"/>
                </a:moveTo>
                <a:cubicBezTo>
                  <a:pt x="7300" y="394579"/>
                  <a:pt x="-24696" y="361671"/>
                  <a:pt x="62627" y="321276"/>
                </a:cubicBezTo>
                <a:cubicBezTo>
                  <a:pt x="149950" y="280881"/>
                  <a:pt x="433330" y="275968"/>
                  <a:pt x="523946" y="222422"/>
                </a:cubicBezTo>
                <a:cubicBezTo>
                  <a:pt x="614562" y="168876"/>
                  <a:pt x="603299" y="84438"/>
                  <a:pt x="606325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3C3BD5A-60DF-9284-8D90-2DFE15890C87}"/>
              </a:ext>
            </a:extLst>
          </p:cNvPr>
          <p:cNvCxnSpPr>
            <a:cxnSpLocks/>
            <a:stCxn id="46" idx="0"/>
          </p:cNvCxnSpPr>
          <p:nvPr/>
        </p:nvCxnSpPr>
        <p:spPr>
          <a:xfrm>
            <a:off x="3056944" y="3792899"/>
            <a:ext cx="0" cy="170413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D401D-1272-50E0-B50C-55E6AD3D1F2C}"/>
              </a:ext>
            </a:extLst>
          </p:cNvPr>
          <p:cNvSpPr txBox="1"/>
          <p:nvPr/>
        </p:nvSpPr>
        <p:spPr>
          <a:xfrm>
            <a:off x="16422" y="6366622"/>
            <a:ext cx="8918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Head movement in response to visual and auditory stimuli</a:t>
            </a:r>
          </a:p>
        </p:txBody>
      </p:sp>
    </p:spTree>
    <p:extLst>
      <p:ext uri="{BB962C8B-B14F-4D97-AF65-F5344CB8AC3E}">
        <p14:creationId xmlns:p14="http://schemas.microsoft.com/office/powerpoint/2010/main" val="802013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D742-F873-51B8-F9BD-03B6A5B6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Descending tracts modulation in the spinal cord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A854B-0BB7-61FD-2411-C172079AF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2912" y="1077023"/>
            <a:ext cx="6589926" cy="5086542"/>
          </a:xfrm>
        </p:spPr>
      </p:pic>
    </p:spTree>
    <p:extLst>
      <p:ext uri="{BB962C8B-B14F-4D97-AF65-F5344CB8AC3E}">
        <p14:creationId xmlns:p14="http://schemas.microsoft.com/office/powerpoint/2010/main" val="13865494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6159-C1D5-A912-E4C2-F18DFB0E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9F4B3B-FC34-D9E4-2818-91AF039F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Lesions of cortical motor areas</a:t>
            </a:r>
          </a:p>
        </p:txBody>
      </p:sp>
    </p:spTree>
    <p:extLst>
      <p:ext uri="{BB962C8B-B14F-4D97-AF65-F5344CB8AC3E}">
        <p14:creationId xmlns:p14="http://schemas.microsoft.com/office/powerpoint/2010/main" val="12486151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61F3-4FD9-4370-BB84-0603F177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Lesions of cortical motor areas: Upper motor neuron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11F5-5079-C1D4-0BF3-CC42801A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“UMN lesions are designated as any damage to the motor neurons that reside above nuclei of cranial nerves or the anterior horn cells of the spinal cord”</a:t>
            </a:r>
          </a:p>
          <a:p>
            <a:endParaRPr lang="en-GB" dirty="0"/>
          </a:p>
          <a:p>
            <a:r>
              <a:rPr lang="en-GB" dirty="0"/>
              <a:t>Causes:</a:t>
            </a:r>
          </a:p>
          <a:p>
            <a:pPr lvl="1"/>
            <a:r>
              <a:rPr lang="en-GB" dirty="0"/>
              <a:t>Stroke</a:t>
            </a:r>
          </a:p>
          <a:p>
            <a:pPr lvl="1"/>
            <a:r>
              <a:rPr lang="en-GB" dirty="0"/>
              <a:t>Brain injury (trauma or other causes, e.g. </a:t>
            </a:r>
            <a:br>
              <a:rPr lang="en-GB" dirty="0"/>
            </a:br>
            <a:r>
              <a:rPr lang="en-GB" dirty="0"/>
              <a:t>hypoxia, infections)</a:t>
            </a:r>
          </a:p>
          <a:p>
            <a:pPr lvl="1"/>
            <a:r>
              <a:rPr lang="en-GB" dirty="0" err="1"/>
              <a:t>Motorneuron</a:t>
            </a:r>
            <a:r>
              <a:rPr lang="en-GB" dirty="0"/>
              <a:t> diseases (MND)</a:t>
            </a:r>
          </a:p>
          <a:p>
            <a:pPr lvl="1"/>
            <a:r>
              <a:rPr lang="en-GB" dirty="0"/>
              <a:t>Infections</a:t>
            </a:r>
          </a:p>
          <a:p>
            <a:pPr lvl="1"/>
            <a:r>
              <a:rPr lang="en-GB" dirty="0"/>
              <a:t>Malignancy</a:t>
            </a:r>
          </a:p>
          <a:p>
            <a:pPr lvl="1"/>
            <a:r>
              <a:rPr lang="en-GB" dirty="0"/>
              <a:t>Neuro-immunological disorders</a:t>
            </a:r>
          </a:p>
          <a:p>
            <a:pPr lvl="1"/>
            <a:r>
              <a:rPr lang="en-GB" dirty="0"/>
              <a:t>Degenerative disorders</a:t>
            </a:r>
          </a:p>
        </p:txBody>
      </p:sp>
      <p:pic>
        <p:nvPicPr>
          <p:cNvPr id="4" name="Picture 2" descr="Brain Lesions: Summaries of 10 Cases">
            <a:extLst>
              <a:ext uri="{FF2B5EF4-FFF2-40B4-BE49-F238E27FC236}">
                <a16:creationId xmlns:a16="http://schemas.microsoft.com/office/drawing/2014/main" id="{355237AD-0A40-A9A7-E8BA-A514501D9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406" y="2407623"/>
            <a:ext cx="5132814" cy="348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154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C7B6-9D2F-B7B1-F5F1-E47751B5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28DF-DBF5-5043-3AA0-DA74F3080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Interruption of the blood flow to the brain or retina</a:t>
            </a:r>
          </a:p>
          <a:p>
            <a:endParaRPr lang="en-GB" dirty="0"/>
          </a:p>
          <a:p>
            <a:r>
              <a:rPr lang="en-GB" b="1" dirty="0"/>
              <a:t>Ischemic</a:t>
            </a:r>
            <a:r>
              <a:rPr lang="en-GB" dirty="0"/>
              <a:t> (85%)</a:t>
            </a:r>
          </a:p>
          <a:p>
            <a:pPr lvl="1"/>
            <a:r>
              <a:rPr lang="en-GB" dirty="0"/>
              <a:t>Atherosclerosis (fatty deposits in internal carotid or vertebral arteries)</a:t>
            </a:r>
          </a:p>
          <a:p>
            <a:pPr lvl="1"/>
            <a:r>
              <a:rPr lang="en-GB" dirty="0"/>
              <a:t>Atherothrombosis </a:t>
            </a:r>
          </a:p>
          <a:p>
            <a:pPr lvl="1"/>
            <a:r>
              <a:rPr lang="en-GB" dirty="0"/>
              <a:t>Lacunar</a:t>
            </a:r>
          </a:p>
          <a:p>
            <a:pPr lvl="1"/>
            <a:endParaRPr lang="en-GB" dirty="0"/>
          </a:p>
          <a:p>
            <a:endParaRPr lang="en-GB" dirty="0"/>
          </a:p>
          <a:p>
            <a:r>
              <a:rPr lang="en-GB" b="1" dirty="0"/>
              <a:t>Haemorrhagic</a:t>
            </a:r>
            <a:r>
              <a:rPr lang="en-GB" dirty="0"/>
              <a:t> (15%)</a:t>
            </a:r>
          </a:p>
          <a:p>
            <a:pPr lvl="1"/>
            <a:r>
              <a:rPr lang="en-GB" dirty="0"/>
              <a:t>Intracerebral (10%) vs subarachnoid (5%)</a:t>
            </a:r>
          </a:p>
          <a:p>
            <a:pPr lvl="1"/>
            <a:r>
              <a:rPr lang="en-GB" dirty="0"/>
              <a:t>Aneurysm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E02BF9-7AE5-1DAB-85F4-29598254F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271" y="1135019"/>
            <a:ext cx="5992803" cy="514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91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C7B6-9D2F-B7B1-F5F1-E47751B5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D28DF-DBF5-5043-3AA0-DA74F3080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Interruption of the blood flow to the brain or retina</a:t>
            </a:r>
          </a:p>
          <a:p>
            <a:endParaRPr lang="en-GB" dirty="0"/>
          </a:p>
          <a:p>
            <a:r>
              <a:rPr lang="en-GB" b="1" dirty="0"/>
              <a:t>Ischemic</a:t>
            </a:r>
            <a:r>
              <a:rPr lang="en-GB" dirty="0"/>
              <a:t> (85%)</a:t>
            </a:r>
          </a:p>
          <a:p>
            <a:pPr lvl="1"/>
            <a:r>
              <a:rPr lang="en-GB" dirty="0"/>
              <a:t>Atherosclerosis (fatty deposits in internal carotid or vertebral arteries)</a:t>
            </a:r>
          </a:p>
          <a:p>
            <a:pPr lvl="1"/>
            <a:r>
              <a:rPr lang="en-GB" dirty="0"/>
              <a:t>Atherothrombosis </a:t>
            </a:r>
          </a:p>
          <a:p>
            <a:pPr lvl="1"/>
            <a:r>
              <a:rPr lang="en-GB" dirty="0"/>
              <a:t>Lacunar</a:t>
            </a:r>
          </a:p>
          <a:p>
            <a:pPr lvl="1"/>
            <a:endParaRPr lang="en-GB" dirty="0"/>
          </a:p>
          <a:p>
            <a:endParaRPr lang="en-GB" dirty="0"/>
          </a:p>
          <a:p>
            <a:r>
              <a:rPr lang="en-GB" b="1" dirty="0"/>
              <a:t>Haemorrhagic</a:t>
            </a:r>
            <a:r>
              <a:rPr lang="en-GB" dirty="0"/>
              <a:t> (15%)</a:t>
            </a:r>
          </a:p>
          <a:p>
            <a:pPr lvl="1"/>
            <a:r>
              <a:rPr lang="en-GB" dirty="0"/>
              <a:t>Intracerebral (10%) vs subarachnoid (5%)</a:t>
            </a:r>
          </a:p>
          <a:p>
            <a:pPr lvl="1"/>
            <a:r>
              <a:rPr lang="en-GB" dirty="0"/>
              <a:t>Aneurysm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B3F16C-21EF-FB54-7B95-28247C16B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928" y="986973"/>
            <a:ext cx="5561744" cy="2808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823D80-C156-12F8-0DEF-FA5725411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044" y="3966845"/>
            <a:ext cx="3973689" cy="249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28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4AB9-3771-A4A6-198E-31433525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Upper vs Lower motor neuron lesions: Facial Nerve</a:t>
            </a:r>
          </a:p>
        </p:txBody>
      </p:sp>
      <p:pic>
        <p:nvPicPr>
          <p:cNvPr id="5122" name="Picture 2" descr="Image 1">
            <a:extLst>
              <a:ext uri="{FF2B5EF4-FFF2-40B4-BE49-F238E27FC236}">
                <a16:creationId xmlns:a16="http://schemas.microsoft.com/office/drawing/2014/main" id="{F03ED7FA-2713-8274-D2AC-8D23436BF2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83970" y="1283738"/>
            <a:ext cx="8624060" cy="51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416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61F3-4FD9-4370-BB84-0603F177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Upper motor neuron syndrome: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11F5-5079-C1D4-0BF3-CC42801A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Tendency to affect specific muscle groups</a:t>
            </a:r>
          </a:p>
          <a:p>
            <a:r>
              <a:rPr lang="en-GB" sz="2400" dirty="0"/>
              <a:t>Weakness/fatigability/decreased muscle control</a:t>
            </a:r>
          </a:p>
          <a:p>
            <a:r>
              <a:rPr lang="en-GB" sz="2400" dirty="0"/>
              <a:t>Positive symptoms </a:t>
            </a:r>
            <a:r>
              <a:rPr lang="en-GB" sz="2400" dirty="0">
                <a:sym typeface="Wingdings" panose="05000000000000000000" pitchFamily="2" charset="2"/>
              </a:rPr>
              <a:t></a:t>
            </a:r>
            <a:endParaRPr lang="en-GB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A396D-B564-6138-F366-4205C2061154}"/>
              </a:ext>
            </a:extLst>
          </p:cNvPr>
          <p:cNvGraphicFramePr>
            <a:graphicFrameLocks noGrp="1"/>
          </p:cNvGraphicFramePr>
          <p:nvPr/>
        </p:nvGraphicFramePr>
        <p:xfrm>
          <a:off x="558490" y="3371746"/>
          <a:ext cx="11075020" cy="26636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14609">
                  <a:extLst>
                    <a:ext uri="{9D8B030D-6E8A-4147-A177-3AD203B41FA5}">
                      <a16:colId xmlns:a16="http://schemas.microsoft.com/office/drawing/2014/main" val="299156581"/>
                    </a:ext>
                  </a:extLst>
                </a:gridCol>
                <a:gridCol w="9060411">
                  <a:extLst>
                    <a:ext uri="{9D8B030D-6E8A-4147-A177-3AD203B41FA5}">
                      <a16:colId xmlns:a16="http://schemas.microsoft.com/office/drawing/2014/main" val="3899400694"/>
                    </a:ext>
                  </a:extLst>
                </a:gridCol>
              </a:tblGrid>
              <a:tr h="396025">
                <a:tc>
                  <a:txBody>
                    <a:bodyPr/>
                    <a:lstStyle/>
                    <a:p>
                      <a:r>
                        <a:rPr lang="en-GB" b="1" dirty="0"/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137680"/>
                  </a:ext>
                </a:extLst>
              </a:tr>
              <a:tr h="683549">
                <a:tc>
                  <a:txBody>
                    <a:bodyPr/>
                    <a:lstStyle/>
                    <a:p>
                      <a:r>
                        <a:rPr lang="en-GB" b="1" dirty="0"/>
                        <a:t>Spasticity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Velocity-dependent increase in a muscle’s resistance to a passive stretch</a:t>
                      </a:r>
                    </a:p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450066"/>
                  </a:ext>
                </a:extLst>
              </a:tr>
              <a:tr h="396025">
                <a:tc>
                  <a:txBody>
                    <a:bodyPr/>
                    <a:lstStyle/>
                    <a:p>
                      <a:r>
                        <a:rPr lang="en-GB" b="1" dirty="0"/>
                        <a:t>Clonus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/>
                      <a:r>
                        <a:rPr lang="en-GB" sz="1800" dirty="0"/>
                        <a:t>Sequence of rhythmic, involuntary muscle contractions to stretch stimuli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586125"/>
                  </a:ext>
                </a:extLst>
              </a:tr>
              <a:tr h="396025">
                <a:tc>
                  <a:txBody>
                    <a:bodyPr/>
                    <a:lstStyle/>
                    <a:p>
                      <a:r>
                        <a:rPr lang="en-GB" b="1" dirty="0"/>
                        <a:t>Hyperreflexia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Abnormal deep tendon reflex to stretch stimuli (</a:t>
                      </a:r>
                      <a:r>
                        <a:rPr lang="en-GB" dirty="0" err="1"/>
                        <a:t>eg</a:t>
                      </a:r>
                      <a:r>
                        <a:rPr lang="en-GB" dirty="0"/>
                        <a:t> patellar tendon reflex)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915391"/>
                  </a:ext>
                </a:extLst>
              </a:tr>
              <a:tr h="396025">
                <a:tc>
                  <a:txBody>
                    <a:bodyPr/>
                    <a:lstStyle/>
                    <a:p>
                      <a:r>
                        <a:rPr lang="en-GB" b="1" dirty="0"/>
                        <a:t>Hyporeflexia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(Specific) Reduced or abolished superficial abdominal reflex and cremasteric reflex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56475"/>
                  </a:ext>
                </a:extLst>
              </a:tr>
              <a:tr h="396025">
                <a:tc>
                  <a:txBody>
                    <a:bodyPr/>
                    <a:lstStyle/>
                    <a:p>
                      <a:r>
                        <a:rPr lang="en-GB" b="1" dirty="0" err="1"/>
                        <a:t>Synkinesia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Voluntary movement of one muscle provokes the involuntary movement of another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21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07884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986A-9926-A11C-66F9-3573C7BE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Clonus and hyperreflexia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569B-FE86-EACB-064C-FE119C84E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Online Media 5" title="Clonus Demonstration with Ortho Eva Pal">
            <a:hlinkClick r:id="" action="ppaction://media"/>
            <a:extLst>
              <a:ext uri="{FF2B5EF4-FFF2-40B4-BE49-F238E27FC236}">
                <a16:creationId xmlns:a16="http://schemas.microsoft.com/office/drawing/2014/main" id="{ED4FE1A4-7775-3F00-AAD7-B6E5F210A1F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56062" y="1337187"/>
            <a:ext cx="9033412" cy="509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7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C1006-761D-27BE-A2D0-79F09293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Babinski sign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F308B5-7BEE-A0B5-FB5D-E28E093726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6489" y="1395246"/>
            <a:ext cx="39624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nline Media 3" title="Babinski Reflex in Infants - Clinical Examination">
            <a:hlinkClick r:id="" action="ppaction://media"/>
            <a:extLst>
              <a:ext uri="{FF2B5EF4-FFF2-40B4-BE49-F238E27FC236}">
                <a16:creationId xmlns:a16="http://schemas.microsoft.com/office/drawing/2014/main" id="{9882DB25-F0A7-6918-7F0B-71677A97E3D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658497" y="3748151"/>
            <a:ext cx="5324132" cy="3003556"/>
          </a:xfrm>
          <a:prstGeom prst="rect">
            <a:avLst/>
          </a:prstGeom>
        </p:spPr>
      </p:pic>
      <p:pic>
        <p:nvPicPr>
          <p:cNvPr id="5" name="Online Media 4" title="Babinski reflex">
            <a:hlinkClick r:id="" action="ppaction://media"/>
            <a:extLst>
              <a:ext uri="{FF2B5EF4-FFF2-40B4-BE49-F238E27FC236}">
                <a16:creationId xmlns:a16="http://schemas.microsoft.com/office/drawing/2014/main" id="{95800AC1-279A-C8FC-C83D-4A1050800021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7796384" y="1269753"/>
            <a:ext cx="2931538" cy="5196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DDEE62-0BCE-D483-A0C1-25AEF1A05B47}"/>
              </a:ext>
            </a:extLst>
          </p:cNvPr>
          <p:cNvSpPr txBox="1"/>
          <p:nvPr/>
        </p:nvSpPr>
        <p:spPr>
          <a:xfrm>
            <a:off x="4220102" y="3429000"/>
            <a:ext cx="18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Normal in infants!</a:t>
            </a:r>
          </a:p>
        </p:txBody>
      </p:sp>
    </p:spTree>
    <p:extLst>
      <p:ext uri="{BB962C8B-B14F-4D97-AF65-F5344CB8AC3E}">
        <p14:creationId xmlns:p14="http://schemas.microsoft.com/office/powerpoint/2010/main" val="392032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BBB8-4E5E-EFEE-A1BA-E95FA6AB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Upper vs Lower motor neuron lesions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A4C48-1445-9136-DB00-7893834B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3C40F-0367-B148-7F11-558551ADDD5F}"/>
              </a:ext>
            </a:extLst>
          </p:cNvPr>
          <p:cNvGraphicFramePr>
            <a:graphicFrameLocks noGrp="1"/>
          </p:cNvGraphicFramePr>
          <p:nvPr/>
        </p:nvGraphicFramePr>
        <p:xfrm>
          <a:off x="1109548" y="1798571"/>
          <a:ext cx="9972903" cy="399139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324301">
                  <a:extLst>
                    <a:ext uri="{9D8B030D-6E8A-4147-A177-3AD203B41FA5}">
                      <a16:colId xmlns:a16="http://schemas.microsoft.com/office/drawing/2014/main" val="3033610101"/>
                    </a:ext>
                  </a:extLst>
                </a:gridCol>
                <a:gridCol w="3324301">
                  <a:extLst>
                    <a:ext uri="{9D8B030D-6E8A-4147-A177-3AD203B41FA5}">
                      <a16:colId xmlns:a16="http://schemas.microsoft.com/office/drawing/2014/main" val="1187510308"/>
                    </a:ext>
                  </a:extLst>
                </a:gridCol>
                <a:gridCol w="3324301">
                  <a:extLst>
                    <a:ext uri="{9D8B030D-6E8A-4147-A177-3AD203B41FA5}">
                      <a16:colId xmlns:a16="http://schemas.microsoft.com/office/drawing/2014/main" val="1194789672"/>
                    </a:ext>
                  </a:extLst>
                </a:gridCol>
              </a:tblGrid>
              <a:tr h="516616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Upper Motor Neuron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Lower Motor Neuron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489343"/>
                  </a:ext>
                </a:extLst>
              </a:tr>
              <a:tr h="891694">
                <a:tc>
                  <a:txBody>
                    <a:bodyPr/>
                    <a:lstStyle/>
                    <a:p>
                      <a:r>
                        <a:rPr lang="en-GB" dirty="0"/>
                        <a:t>Site of Lesion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Cortex and descending tracts up to the spinal cord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Anterior horn neurons, spinal cord roots, nerves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7065427"/>
                  </a:ext>
                </a:extLst>
              </a:tr>
              <a:tr h="516616">
                <a:tc>
                  <a:txBody>
                    <a:bodyPr/>
                    <a:lstStyle/>
                    <a:p>
                      <a:r>
                        <a:rPr lang="en-GB" dirty="0"/>
                        <a:t>Muscle weakness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Present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Present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5011512"/>
                  </a:ext>
                </a:extLst>
              </a:tr>
              <a:tr h="516616">
                <a:tc>
                  <a:txBody>
                    <a:bodyPr/>
                    <a:lstStyle/>
                    <a:p>
                      <a:r>
                        <a:rPr lang="en-GB" dirty="0"/>
                        <a:t>Muscle tone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Spasticity, clonus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Hypotonia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068806"/>
                  </a:ext>
                </a:extLst>
              </a:tr>
              <a:tr h="516616">
                <a:tc>
                  <a:txBody>
                    <a:bodyPr/>
                    <a:lstStyle/>
                    <a:p>
                      <a:r>
                        <a:rPr lang="en-GB" dirty="0"/>
                        <a:t>Fasciculations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Absent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Present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4240010"/>
                  </a:ext>
                </a:extLst>
              </a:tr>
              <a:tr h="516616">
                <a:tc>
                  <a:txBody>
                    <a:bodyPr/>
                    <a:lstStyle/>
                    <a:p>
                      <a:r>
                        <a:rPr lang="en-GB" dirty="0"/>
                        <a:t>Tendon Reflexes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Hyperreflexia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Hyporeflexia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9812856"/>
                  </a:ext>
                </a:extLst>
              </a:tr>
              <a:tr h="516616">
                <a:tc>
                  <a:txBody>
                    <a:bodyPr/>
                    <a:lstStyle/>
                    <a:p>
                      <a:r>
                        <a:rPr lang="en-GB" dirty="0"/>
                        <a:t>Abdominal reflexes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Absent or reduced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Present</a:t>
                      </a: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3823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210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D392-8C96-5F6D-38B9-9D0B8313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0E679-60F9-1869-00DD-8233CBC0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39" y="2037644"/>
            <a:ext cx="5548405" cy="2675467"/>
          </a:xfrm>
          <a:ln w="28575">
            <a:solidFill>
              <a:schemeClr val="tx1"/>
            </a:solidFill>
          </a:ln>
        </p:spPr>
        <p:txBody>
          <a:bodyPr anchor="ctr"/>
          <a:lstStyle/>
          <a:p>
            <a:r>
              <a:rPr lang="en-GB" dirty="0"/>
              <a:t>Left face/arm/leg numbness and/or weakness</a:t>
            </a:r>
          </a:p>
          <a:p>
            <a:r>
              <a:rPr lang="en-GB" dirty="0"/>
              <a:t>Left </a:t>
            </a:r>
            <a:r>
              <a:rPr lang="en-GB" dirty="0" err="1"/>
              <a:t>hemispatial</a:t>
            </a:r>
            <a:r>
              <a:rPr lang="en-GB" dirty="0"/>
              <a:t> neglect</a:t>
            </a:r>
          </a:p>
          <a:p>
            <a:r>
              <a:rPr lang="en-GB" dirty="0" err="1"/>
              <a:t>Gaphaesthesia</a:t>
            </a:r>
            <a:r>
              <a:rPr lang="en-GB" dirty="0"/>
              <a:t> (inability to recognize symbols on the skin) and astereognosis (inability to recognize shape and size of objects by touch)</a:t>
            </a:r>
          </a:p>
          <a:p>
            <a:r>
              <a:rPr lang="en-GB" dirty="0"/>
              <a:t>Gaze preference to the right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6F8C3-31A6-9D8C-F7FA-C24687FCF4B2}"/>
              </a:ext>
            </a:extLst>
          </p:cNvPr>
          <p:cNvSpPr txBox="1"/>
          <p:nvPr/>
        </p:nvSpPr>
        <p:spPr>
          <a:xfrm>
            <a:off x="7941734" y="2994419"/>
            <a:ext cx="2810932" cy="646331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Right Middle Cerebral artery occlusion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9DC9BE7-86F1-AD38-93AB-E16606C624E2}"/>
              </a:ext>
            </a:extLst>
          </p:cNvPr>
          <p:cNvSpPr/>
          <p:nvPr/>
        </p:nvSpPr>
        <p:spPr>
          <a:xfrm>
            <a:off x="6383867" y="3149600"/>
            <a:ext cx="886177" cy="279400"/>
          </a:xfrm>
          <a:prstGeom prst="rightArrow">
            <a:avLst>
              <a:gd name="adj1" fmla="val 19805"/>
              <a:gd name="adj2" fmla="val 1055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32AE8B-EC0C-07BD-627B-CAAA0390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604" y="975301"/>
            <a:ext cx="3790524" cy="192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4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37E5-A1F8-482B-2E8D-B8233699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ABA09E-E498-7287-5A86-C1890CEEB00A}"/>
              </a:ext>
            </a:extLst>
          </p:cNvPr>
          <p:cNvSpPr txBox="1">
            <a:spLocks/>
          </p:cNvSpPr>
          <p:nvPr/>
        </p:nvSpPr>
        <p:spPr>
          <a:xfrm>
            <a:off x="248439" y="1845734"/>
            <a:ext cx="5548405" cy="305928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Contralateral motor weakness</a:t>
            </a:r>
          </a:p>
          <a:p>
            <a:r>
              <a:rPr lang="en-GB" dirty="0"/>
              <a:t>Sensory loss</a:t>
            </a:r>
          </a:p>
          <a:p>
            <a:r>
              <a:rPr lang="en-GB" dirty="0"/>
              <a:t>Urinary incontinence for some days</a:t>
            </a:r>
          </a:p>
          <a:p>
            <a:r>
              <a:rPr lang="en-GB" dirty="0"/>
              <a:t>Abulia (lack of initiative)</a:t>
            </a:r>
          </a:p>
          <a:p>
            <a:r>
              <a:rPr lang="en-GB" dirty="0"/>
              <a:t>Mutism</a:t>
            </a:r>
          </a:p>
          <a:p>
            <a:r>
              <a:rPr lang="en-GB" dirty="0"/>
              <a:t>Ideomotor apraxia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D51F6-D2C5-747F-E747-07AF1A2BA16C}"/>
              </a:ext>
            </a:extLst>
          </p:cNvPr>
          <p:cNvSpPr txBox="1"/>
          <p:nvPr/>
        </p:nvSpPr>
        <p:spPr>
          <a:xfrm>
            <a:off x="7941734" y="2994419"/>
            <a:ext cx="2810932" cy="923330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Left Anterior </a:t>
            </a:r>
          </a:p>
          <a:p>
            <a:pPr algn="ctr"/>
            <a:r>
              <a:rPr lang="en-GB" dirty="0"/>
              <a:t>Cerebral artery branch occlusion - </a:t>
            </a:r>
            <a:r>
              <a:rPr lang="en-GB" dirty="0" err="1"/>
              <a:t>callosomarginal</a:t>
            </a:r>
            <a:endParaRPr lang="en-GB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317587A-9EE2-38CF-369E-A49CDE780F93}"/>
              </a:ext>
            </a:extLst>
          </p:cNvPr>
          <p:cNvSpPr/>
          <p:nvPr/>
        </p:nvSpPr>
        <p:spPr>
          <a:xfrm>
            <a:off x="6383867" y="3149600"/>
            <a:ext cx="886177" cy="279400"/>
          </a:xfrm>
          <a:prstGeom prst="rightArrow">
            <a:avLst>
              <a:gd name="adj1" fmla="val 19805"/>
              <a:gd name="adj2" fmla="val 1055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5FAA6-EEF2-218A-673B-DC2B5631CFA7}"/>
              </a:ext>
            </a:extLst>
          </p:cNvPr>
          <p:cNvSpPr txBox="1"/>
          <p:nvPr/>
        </p:nvSpPr>
        <p:spPr>
          <a:xfrm>
            <a:off x="7347659" y="4035778"/>
            <a:ext cx="37888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Blood supply to the SMA and lower limb and perineal areas of sensorimotor cortex and supplementary sensory area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E744CAA5-90E2-29AE-C757-4F3BA3A8C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604" y="975301"/>
            <a:ext cx="3790524" cy="192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21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93356-1BFA-A2A3-6EA0-B070FC57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A0B7AE-8DEB-9070-98A5-887067CDA75E}"/>
              </a:ext>
            </a:extLst>
          </p:cNvPr>
          <p:cNvSpPr txBox="1">
            <a:spLocks/>
          </p:cNvSpPr>
          <p:nvPr/>
        </p:nvSpPr>
        <p:spPr>
          <a:xfrm>
            <a:off x="248439" y="1845734"/>
            <a:ext cx="5548405" cy="3059288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Cortical blindness (Anton’s syndrome) with complete visual loss</a:t>
            </a:r>
          </a:p>
          <a:p>
            <a:r>
              <a:rPr lang="en-GB" dirty="0"/>
              <a:t>Anosognosia (lack of awareness of the disease) about the deficit</a:t>
            </a:r>
          </a:p>
          <a:p>
            <a:r>
              <a:rPr lang="en-GB" dirty="0"/>
              <a:t>Prosopagnosia (inability to recognise people or their faces)</a:t>
            </a:r>
          </a:p>
          <a:p>
            <a:r>
              <a:rPr lang="en-GB" dirty="0"/>
              <a:t>Achromatopsia (inability to match colours with their names when presented)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615B7-17F1-CE8F-EF91-A8311FE0CAF7}"/>
              </a:ext>
            </a:extLst>
          </p:cNvPr>
          <p:cNvSpPr txBox="1"/>
          <p:nvPr/>
        </p:nvSpPr>
        <p:spPr>
          <a:xfrm>
            <a:off x="7941734" y="2994419"/>
            <a:ext cx="2810932" cy="646331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Bilateral Posterior Cerebral</a:t>
            </a:r>
          </a:p>
          <a:p>
            <a:pPr algn="ctr"/>
            <a:r>
              <a:rPr lang="en-GB" dirty="0"/>
              <a:t>Artery occlusion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8A69C16-1D56-8EBF-99BB-E9495B3F356D}"/>
              </a:ext>
            </a:extLst>
          </p:cNvPr>
          <p:cNvSpPr/>
          <p:nvPr/>
        </p:nvSpPr>
        <p:spPr>
          <a:xfrm>
            <a:off x="6383867" y="3149600"/>
            <a:ext cx="886177" cy="279400"/>
          </a:xfrm>
          <a:prstGeom prst="rightArrow">
            <a:avLst>
              <a:gd name="adj1" fmla="val 19805"/>
              <a:gd name="adj2" fmla="val 1055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8D2BA9D0-0266-BBFB-76DE-685434B40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604" y="975301"/>
            <a:ext cx="3790524" cy="192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4718-BC99-4E45-8B21-E9D5E07D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occlusions combinations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4D1FE-818C-DA89-1FC3-B29625847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49" y="934787"/>
            <a:ext cx="5650253" cy="134556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6AFAF0C-CC54-5D7A-AA19-AC2213E72AF3}"/>
              </a:ext>
            </a:extLst>
          </p:cNvPr>
          <p:cNvGrpSpPr/>
          <p:nvPr/>
        </p:nvGrpSpPr>
        <p:grpSpPr>
          <a:xfrm>
            <a:off x="142948" y="2457038"/>
            <a:ext cx="5650253" cy="2836851"/>
            <a:chOff x="142949" y="2457038"/>
            <a:chExt cx="3123344" cy="156815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EF35FE-DB6C-8DCF-D184-2E9BE046F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949" y="2457038"/>
              <a:ext cx="3123344" cy="74721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37218A-3D89-5051-1411-1AF1FAD2A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949" y="3196090"/>
              <a:ext cx="3123344" cy="829101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1D7C9BE-808B-D407-B94B-4ACE8EC51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661" y="934787"/>
            <a:ext cx="5845805" cy="18710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49A0A3-0BE4-5E7D-CCE8-99E1CAD40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3660" y="2931382"/>
            <a:ext cx="5843045" cy="359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683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9943-5787-5DFF-11B6-C094D5BF9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Intervention in Upper Motor neuron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5DE5-95C3-D65E-85A3-772F81C88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“To reduce abnormal sensory inputs, in order to decrease excessive </a:t>
            </a:r>
            <a:r>
              <a:rPr lang="en-GB" dirty="0">
                <a:latin typeface="Symbol" panose="05050102010706020507" pitchFamily="18" charset="2"/>
              </a:rPr>
              <a:t>a-</a:t>
            </a:r>
            <a:r>
              <a:rPr lang="en-GB" dirty="0"/>
              <a:t>motor neuron activity”</a:t>
            </a:r>
          </a:p>
          <a:p>
            <a:endParaRPr lang="en-GB" dirty="0"/>
          </a:p>
          <a:p>
            <a:r>
              <a:rPr lang="en-GB" dirty="0"/>
              <a:t>Postural management</a:t>
            </a:r>
          </a:p>
          <a:p>
            <a:r>
              <a:rPr lang="en-GB" dirty="0"/>
              <a:t>Exercise</a:t>
            </a:r>
          </a:p>
          <a:p>
            <a:r>
              <a:rPr lang="en-GB" dirty="0"/>
              <a:t>Stretching and strengthening of limbs</a:t>
            </a:r>
          </a:p>
          <a:p>
            <a:pPr lvl="1"/>
            <a:r>
              <a:rPr lang="en-GB" dirty="0"/>
              <a:t>Casting</a:t>
            </a:r>
          </a:p>
          <a:p>
            <a:r>
              <a:rPr lang="en-GB" dirty="0"/>
              <a:t>Splinting</a:t>
            </a:r>
          </a:p>
          <a:p>
            <a:r>
              <a:rPr lang="en-GB" dirty="0"/>
              <a:t>Pain relief</a:t>
            </a:r>
          </a:p>
          <a:p>
            <a:r>
              <a:rPr lang="en-GB" dirty="0"/>
              <a:t>Pharmacological and surgical interventions</a:t>
            </a:r>
          </a:p>
        </p:txBody>
      </p:sp>
      <p:pic>
        <p:nvPicPr>
          <p:cNvPr id="7170" name="Picture 2" descr="Upper Extremity Exercises for Spinal Cord Injury Survivors">
            <a:extLst>
              <a:ext uri="{FF2B5EF4-FFF2-40B4-BE49-F238E27FC236}">
                <a16:creationId xmlns:a16="http://schemas.microsoft.com/office/drawing/2014/main" id="{6CC61F4E-924F-3020-DA47-783355841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214" y="2315028"/>
            <a:ext cx="4626430" cy="308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3907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1565-2B7A-4D1D-8B4E-30F80CFC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Intervention in Upper Motor neuron syndrome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86AC-439E-2266-1EA0-6F1DAFFAC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13" y="1337187"/>
            <a:ext cx="6630348" cy="4842109"/>
          </a:xfrm>
        </p:spPr>
        <p:txBody>
          <a:bodyPr/>
          <a:lstStyle/>
          <a:p>
            <a:r>
              <a:rPr lang="en-GB" dirty="0"/>
              <a:t>Physical therapy</a:t>
            </a:r>
          </a:p>
          <a:p>
            <a:pPr lvl="1"/>
            <a:r>
              <a:rPr lang="en-GB" dirty="0"/>
              <a:t>Tilt table/standing frame</a:t>
            </a:r>
          </a:p>
          <a:p>
            <a:pPr lvl="1"/>
            <a:r>
              <a:rPr lang="en-GB" dirty="0"/>
              <a:t>Progressive resistance exercise (PRE)</a:t>
            </a:r>
          </a:p>
          <a:p>
            <a:pPr lvl="1"/>
            <a:r>
              <a:rPr lang="en-GB" dirty="0"/>
              <a:t>Aerobic exercise</a:t>
            </a:r>
          </a:p>
          <a:p>
            <a:pPr lvl="1"/>
            <a:r>
              <a:rPr lang="en-GB" dirty="0" err="1"/>
              <a:t>Bobath</a:t>
            </a:r>
            <a:r>
              <a:rPr lang="en-GB" dirty="0"/>
              <a:t> therapy approach (direct assistance from the therapist)</a:t>
            </a:r>
          </a:p>
          <a:p>
            <a:pPr lvl="1"/>
            <a:r>
              <a:rPr lang="en-GB" dirty="0"/>
              <a:t>Mechanical gait trainer</a:t>
            </a:r>
          </a:p>
          <a:p>
            <a:pPr lvl="1"/>
            <a:r>
              <a:rPr lang="en-GB" dirty="0"/>
              <a:t>Passive movement/stretching of the joints</a:t>
            </a:r>
          </a:p>
          <a:p>
            <a:pPr lvl="1"/>
            <a:r>
              <a:rPr lang="en-GB" dirty="0"/>
              <a:t>Static positioning</a:t>
            </a:r>
          </a:p>
          <a:p>
            <a:pPr lvl="1"/>
            <a:r>
              <a:rPr lang="en-GB" dirty="0"/>
              <a:t>Reflex inhibitory thermoplastic splinting/orthotics</a:t>
            </a:r>
          </a:p>
        </p:txBody>
      </p:sp>
    </p:spTree>
    <p:extLst>
      <p:ext uri="{BB962C8B-B14F-4D97-AF65-F5344CB8AC3E}">
        <p14:creationId xmlns:p14="http://schemas.microsoft.com/office/powerpoint/2010/main" val="33498907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AFA4-F299-B8EC-8B29-701EFCC5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Stent intervention for aneurysm</a:t>
            </a:r>
          </a:p>
        </p:txBody>
      </p:sp>
      <p:pic>
        <p:nvPicPr>
          <p:cNvPr id="4" name="Online Media 3" title="Stent-assisted coil embolization of MCA aneurysm via a trans-posterior communicating artery access">
            <a:hlinkClick r:id="" action="ppaction://media"/>
            <a:extLst>
              <a:ext uri="{FF2B5EF4-FFF2-40B4-BE49-F238E27FC236}">
                <a16:creationId xmlns:a16="http://schemas.microsoft.com/office/drawing/2014/main" id="{488D608E-F61F-0B85-4ED5-2935CE46622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18210" y="940526"/>
            <a:ext cx="10220053" cy="576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6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1EAD9C1-05DC-469E-9CCF-64E96F7F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233025-42BD-46A6-9662-2B5B26B7A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043" y="2847902"/>
            <a:ext cx="4962452" cy="3552426"/>
          </a:xfrm>
        </p:spPr>
        <p:txBody>
          <a:bodyPr/>
          <a:lstStyle/>
          <a:p>
            <a:r>
              <a:rPr lang="en-GB" dirty="0"/>
              <a:t>Specific reading:</a:t>
            </a:r>
          </a:p>
          <a:p>
            <a:pPr lvl="1"/>
            <a:r>
              <a:rPr lang="en-GB" b="1" dirty="0"/>
              <a:t>Clinical Neuroanatomy</a:t>
            </a:r>
            <a:r>
              <a:rPr lang="en-GB" dirty="0"/>
              <a:t>, </a:t>
            </a:r>
            <a:r>
              <a:rPr lang="en-GB" sz="1800" b="0" i="0" u="none" strike="noStrike" baseline="0" dirty="0">
                <a:latin typeface="Myriad-Roman"/>
              </a:rPr>
              <a:t>Hans J. ten </a:t>
            </a:r>
            <a:r>
              <a:rPr lang="en-GB" sz="1800" b="0" i="0" u="none" strike="noStrike" baseline="0" dirty="0" err="1">
                <a:latin typeface="Myriad-Roman"/>
              </a:rPr>
              <a:t>Donkelaar</a:t>
            </a:r>
            <a:r>
              <a:rPr lang="en-GB" sz="1800" b="0" i="0" u="none" strike="noStrike" baseline="0" dirty="0">
                <a:latin typeface="Myriad-Roman"/>
              </a:rPr>
              <a:t>, ISBN 978-3-642-19133-6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Clinical Neuroanatomy and Neuroscience</a:t>
            </a:r>
            <a:r>
              <a:rPr lang="en-GB" dirty="0"/>
              <a:t>, </a:t>
            </a:r>
            <a:r>
              <a:rPr lang="en-GB" dirty="0" err="1"/>
              <a:t>Estomih</a:t>
            </a:r>
            <a:r>
              <a:rPr lang="en-GB" dirty="0"/>
              <a:t> </a:t>
            </a:r>
            <a:r>
              <a:rPr lang="en-GB" dirty="0" err="1"/>
              <a:t>Mtui</a:t>
            </a:r>
            <a:r>
              <a:rPr lang="en-GB" dirty="0"/>
              <a:t> &amp; Gregory </a:t>
            </a:r>
            <a:r>
              <a:rPr lang="en-GB" dirty="0" err="1"/>
              <a:t>Gruener</a:t>
            </a:r>
            <a:r>
              <a:rPr lang="en-GB" dirty="0"/>
              <a:t> &amp; Peter Dockery, ISBN </a:t>
            </a:r>
            <a:r>
              <a:rPr lang="en-GB" b="0" i="0" dirty="0">
                <a:solidFill>
                  <a:srgbClr val="333333"/>
                </a:solidFill>
                <a:effectLst/>
                <a:latin typeface="nexussanscompproregular"/>
              </a:rPr>
              <a:t>9780702079092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70673-E8FA-47E3-8D51-98B831132C8E}"/>
              </a:ext>
            </a:extLst>
          </p:cNvPr>
          <p:cNvSpPr txBox="1"/>
          <p:nvPr/>
        </p:nvSpPr>
        <p:spPr>
          <a:xfrm>
            <a:off x="1023944" y="1441305"/>
            <a:ext cx="3263027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For follow-up questions:</a:t>
            </a:r>
          </a:p>
          <a:p>
            <a:r>
              <a:rPr lang="en-GB" b="1" dirty="0"/>
              <a:t>vincenzo.mastrolia@kcl.ac.uk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956D2-F0DF-BC7F-9EA2-5183E9EC8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140" y="1605058"/>
            <a:ext cx="3172178" cy="4022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736298-135B-E4F7-9B4E-79EA0B776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44" y="1605058"/>
            <a:ext cx="3172178" cy="402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853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2152</Words>
  <Application>Microsoft Office PowerPoint</Application>
  <PresentationFormat>Widescreen</PresentationFormat>
  <Paragraphs>474</Paragraphs>
  <Slides>57</Slides>
  <Notes>1</Notes>
  <HiddenSlides>0</HiddenSlides>
  <MMClips>4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Office Theme</vt:lpstr>
      <vt:lpstr>Cortex and blood circulation</vt:lpstr>
      <vt:lpstr>Learning outcomes</vt:lpstr>
      <vt:lpstr>The brain cortex</vt:lpstr>
      <vt:lpstr>The brain cortex</vt:lpstr>
      <vt:lpstr>Visualizing the cytoarchitecture of the cortex</vt:lpstr>
      <vt:lpstr>Visualizing the cytoarchitecture of the cortex</vt:lpstr>
      <vt:lpstr>Broadmann Areas</vt:lpstr>
      <vt:lpstr>Primary Somatosensory Area - SI (BA 3-2-1)</vt:lpstr>
      <vt:lpstr>Motor Areas</vt:lpstr>
      <vt:lpstr>Visual cortex (BA 17-18-19)</vt:lpstr>
      <vt:lpstr>Visual cortex (BA 17-18-19)</vt:lpstr>
      <vt:lpstr>Auditory Cortex (BA 41-42-22)</vt:lpstr>
      <vt:lpstr>The prefrontal cortex (PFC - BA 8-12, 44-47, 24 and 32)</vt:lpstr>
      <vt:lpstr>The prefrontal cortex (PFC - BA 8-12, 44-47, 24 and 32)</vt:lpstr>
      <vt:lpstr>The cranial floor</vt:lpstr>
      <vt:lpstr>Brain vasculature</vt:lpstr>
      <vt:lpstr>Brain vasculature</vt:lpstr>
      <vt:lpstr>Brain vasculature</vt:lpstr>
      <vt:lpstr>Cortex vasculature</vt:lpstr>
      <vt:lpstr>Cortex vasculature</vt:lpstr>
      <vt:lpstr>Internal brain vasculature</vt:lpstr>
      <vt:lpstr>Internal brain vasculature</vt:lpstr>
      <vt:lpstr>Brain vasculature: veins</vt:lpstr>
      <vt:lpstr>Cortical control of movement and descending tracts</vt:lpstr>
      <vt:lpstr>Mapping the motor areas</vt:lpstr>
      <vt:lpstr>Primary motor cortex (BA4)</vt:lpstr>
      <vt:lpstr>PMA refined structure</vt:lpstr>
      <vt:lpstr>Supplementary Motor Area (BA6 medial)</vt:lpstr>
      <vt:lpstr>Premotor Area (BA6 lateral)</vt:lpstr>
      <vt:lpstr>Cingulate Motor Areas</vt:lpstr>
      <vt:lpstr>Interconnected motor areas</vt:lpstr>
      <vt:lpstr>Descending tracts</vt:lpstr>
      <vt:lpstr>Descending tracts</vt:lpstr>
      <vt:lpstr>Corticospinal tract</vt:lpstr>
      <vt:lpstr>Corticobulbar tract: motorneurons of the cranial nerves</vt:lpstr>
      <vt:lpstr>Descending tracts</vt:lpstr>
      <vt:lpstr>Rubrospinal and reticulospinal</vt:lpstr>
      <vt:lpstr>Vestibulospinal tracts</vt:lpstr>
      <vt:lpstr>Tectospinal tracts</vt:lpstr>
      <vt:lpstr>Descending tracts modulation in the spinal cord</vt:lpstr>
      <vt:lpstr>Lesions of cortical motor areas</vt:lpstr>
      <vt:lpstr>Lesions of cortical motor areas: Upper motor neuron syndrome</vt:lpstr>
      <vt:lpstr>Stroke</vt:lpstr>
      <vt:lpstr>Stroke</vt:lpstr>
      <vt:lpstr>Upper vs Lower motor neuron lesions: Facial Nerve</vt:lpstr>
      <vt:lpstr>Upper motor neuron syndrome: symptoms</vt:lpstr>
      <vt:lpstr>Clonus and hyperreflexia examples</vt:lpstr>
      <vt:lpstr>Babinski sign</vt:lpstr>
      <vt:lpstr>Upper vs Lower motor neuron lesions</vt:lpstr>
      <vt:lpstr>Case 1</vt:lpstr>
      <vt:lpstr>Case 2</vt:lpstr>
      <vt:lpstr>Case 3</vt:lpstr>
      <vt:lpstr>Further occlusions combinations</vt:lpstr>
      <vt:lpstr>Intervention in Upper Motor neuron syndrome</vt:lpstr>
      <vt:lpstr>Intervention in Upper Motor neuron syndrome</vt:lpstr>
      <vt:lpstr>Stent intervention for aneurysm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and blood circulation</dc:title>
  <dc:creator>Vincenzo Mastrolia</dc:creator>
  <cp:lastModifiedBy>Vincenzo Mastrolia</cp:lastModifiedBy>
  <cp:revision>4</cp:revision>
  <dcterms:created xsi:type="dcterms:W3CDTF">2024-01-20T15:52:28Z</dcterms:created>
  <dcterms:modified xsi:type="dcterms:W3CDTF">2025-10-27T18:14:50Z</dcterms:modified>
</cp:coreProperties>
</file>