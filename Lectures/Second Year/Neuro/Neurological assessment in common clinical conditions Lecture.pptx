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01"/>
  </p:notesMasterIdLst>
  <p:sldIdLst>
    <p:sldId id="256" r:id="rId2"/>
    <p:sldId id="257" r:id="rId3"/>
    <p:sldId id="259" r:id="rId4"/>
    <p:sldId id="258" r:id="rId5"/>
    <p:sldId id="263" r:id="rId6"/>
    <p:sldId id="260" r:id="rId7"/>
    <p:sldId id="262" r:id="rId8"/>
    <p:sldId id="367" r:id="rId9"/>
    <p:sldId id="368" r:id="rId10"/>
    <p:sldId id="265" r:id="rId11"/>
    <p:sldId id="369" r:id="rId12"/>
    <p:sldId id="371" r:id="rId13"/>
    <p:sldId id="373" r:id="rId14"/>
    <p:sldId id="374" r:id="rId15"/>
    <p:sldId id="383" r:id="rId16"/>
    <p:sldId id="375" r:id="rId17"/>
    <p:sldId id="261" r:id="rId18"/>
    <p:sldId id="285" r:id="rId19"/>
    <p:sldId id="272" r:id="rId20"/>
    <p:sldId id="356" r:id="rId21"/>
    <p:sldId id="357" r:id="rId22"/>
    <p:sldId id="273" r:id="rId23"/>
    <p:sldId id="274" r:id="rId24"/>
    <p:sldId id="275" r:id="rId25"/>
    <p:sldId id="276" r:id="rId26"/>
    <p:sldId id="277" r:id="rId27"/>
    <p:sldId id="278" r:id="rId28"/>
    <p:sldId id="358" r:id="rId29"/>
    <p:sldId id="282" r:id="rId30"/>
    <p:sldId id="284" r:id="rId31"/>
    <p:sldId id="299" r:id="rId32"/>
    <p:sldId id="286" r:id="rId33"/>
    <p:sldId id="359" r:id="rId34"/>
    <p:sldId id="287" r:id="rId35"/>
    <p:sldId id="288" r:id="rId36"/>
    <p:sldId id="289" r:id="rId37"/>
    <p:sldId id="291" r:id="rId38"/>
    <p:sldId id="361" r:id="rId39"/>
    <p:sldId id="363" r:id="rId40"/>
    <p:sldId id="293" r:id="rId41"/>
    <p:sldId id="294" r:id="rId42"/>
    <p:sldId id="362" r:id="rId43"/>
    <p:sldId id="297" r:id="rId44"/>
    <p:sldId id="298" r:id="rId45"/>
    <p:sldId id="300" r:id="rId46"/>
    <p:sldId id="301" r:id="rId47"/>
    <p:sldId id="365" r:id="rId48"/>
    <p:sldId id="303" r:id="rId49"/>
    <p:sldId id="304" r:id="rId50"/>
    <p:sldId id="305" r:id="rId51"/>
    <p:sldId id="306" r:id="rId52"/>
    <p:sldId id="307" r:id="rId53"/>
    <p:sldId id="308" r:id="rId54"/>
    <p:sldId id="309" r:id="rId55"/>
    <p:sldId id="364" r:id="rId56"/>
    <p:sldId id="311" r:id="rId57"/>
    <p:sldId id="313" r:id="rId58"/>
    <p:sldId id="314" r:id="rId59"/>
    <p:sldId id="320" r:id="rId60"/>
    <p:sldId id="321" r:id="rId61"/>
    <p:sldId id="322" r:id="rId62"/>
    <p:sldId id="323" r:id="rId63"/>
    <p:sldId id="324" r:id="rId64"/>
    <p:sldId id="325" r:id="rId65"/>
    <p:sldId id="326" r:id="rId66"/>
    <p:sldId id="327" r:id="rId67"/>
    <p:sldId id="328" r:id="rId68"/>
    <p:sldId id="329" r:id="rId69"/>
    <p:sldId id="330" r:id="rId70"/>
    <p:sldId id="331" r:id="rId71"/>
    <p:sldId id="315" r:id="rId72"/>
    <p:sldId id="332" r:id="rId73"/>
    <p:sldId id="334" r:id="rId74"/>
    <p:sldId id="333" r:id="rId75"/>
    <p:sldId id="378" r:id="rId76"/>
    <p:sldId id="335" r:id="rId77"/>
    <p:sldId id="336" r:id="rId78"/>
    <p:sldId id="337" r:id="rId79"/>
    <p:sldId id="339" r:id="rId80"/>
    <p:sldId id="379" r:id="rId81"/>
    <p:sldId id="341" r:id="rId82"/>
    <p:sldId id="342" r:id="rId83"/>
    <p:sldId id="343" r:id="rId84"/>
    <p:sldId id="316" r:id="rId85"/>
    <p:sldId id="344" r:id="rId86"/>
    <p:sldId id="345" r:id="rId87"/>
    <p:sldId id="380" r:id="rId88"/>
    <p:sldId id="346" r:id="rId89"/>
    <p:sldId id="381" r:id="rId90"/>
    <p:sldId id="347" r:id="rId91"/>
    <p:sldId id="348" r:id="rId92"/>
    <p:sldId id="349" r:id="rId93"/>
    <p:sldId id="350" r:id="rId94"/>
    <p:sldId id="351" r:id="rId95"/>
    <p:sldId id="352" r:id="rId96"/>
    <p:sldId id="382" r:id="rId97"/>
    <p:sldId id="355" r:id="rId98"/>
    <p:sldId id="317" r:id="rId99"/>
    <p:sldId id="384" r:id="rId10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33"/>
    <a:srgbClr val="F0F5E7"/>
    <a:srgbClr val="F6F9F1"/>
    <a:srgbClr val="EFF4E8"/>
    <a:srgbClr val="FF00FF"/>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68108" autoAdjust="0"/>
  </p:normalViewPr>
  <p:slideViewPr>
    <p:cSldViewPr snapToGrid="0">
      <p:cViewPr varScale="1">
        <p:scale>
          <a:sx n="45" d="100"/>
          <a:sy n="45" d="100"/>
        </p:scale>
        <p:origin x="153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D59F8D-20CB-4305-A856-A57B0A8F9A3D}" type="doc">
      <dgm:prSet loTypeId="urn:microsoft.com/office/officeart/2005/8/layout/chevron1" loCatId="process" qsTypeId="urn:microsoft.com/office/officeart/2005/8/quickstyle/simple1" qsCatId="simple" csTypeId="urn:microsoft.com/office/officeart/2005/8/colors/accent1_4" csCatId="accent1" phldr="1"/>
      <dgm:spPr/>
    </dgm:pt>
    <dgm:pt modelId="{4BC70691-9633-4879-8955-0C9F5B04A884}">
      <dgm:prSet phldrT="[Text]" custT="1"/>
      <dgm:spPr/>
      <dgm:t>
        <a:bodyPr/>
        <a:lstStyle/>
        <a:p>
          <a:r>
            <a:rPr lang="en-GB" sz="1800" b="1" dirty="0"/>
            <a:t>Mild, unilateral</a:t>
          </a:r>
        </a:p>
      </dgm:t>
    </dgm:pt>
    <dgm:pt modelId="{90FD1675-9ADC-458D-9080-5806D8B33353}" type="parTrans" cxnId="{7CB69BBA-07B9-4F27-A04C-DE1A629ADF21}">
      <dgm:prSet/>
      <dgm:spPr/>
      <dgm:t>
        <a:bodyPr/>
        <a:lstStyle/>
        <a:p>
          <a:endParaRPr lang="en-GB" sz="3200" b="1"/>
        </a:p>
      </dgm:t>
    </dgm:pt>
    <dgm:pt modelId="{11136F50-C8AF-409B-8757-13DB9B5E8CC6}" type="sibTrans" cxnId="{7CB69BBA-07B9-4F27-A04C-DE1A629ADF21}">
      <dgm:prSet/>
      <dgm:spPr/>
      <dgm:t>
        <a:bodyPr/>
        <a:lstStyle/>
        <a:p>
          <a:endParaRPr lang="en-GB" sz="3200" b="1"/>
        </a:p>
      </dgm:t>
    </dgm:pt>
    <dgm:pt modelId="{FBE3245A-604D-4DB8-8737-83D440E53BA8}">
      <dgm:prSet phldrT="[Text]" custT="1"/>
      <dgm:spPr/>
      <dgm:t>
        <a:bodyPr/>
        <a:lstStyle/>
        <a:p>
          <a:r>
            <a:rPr lang="en-GB" sz="1800" b="1" dirty="0"/>
            <a:t>Bilateral, no balance issue</a:t>
          </a:r>
        </a:p>
      </dgm:t>
    </dgm:pt>
    <dgm:pt modelId="{2B3A6263-CB9F-4450-8D04-A41E429A8F11}" type="parTrans" cxnId="{675FDDE1-D0A0-4773-A1EE-A9A9502A110B}">
      <dgm:prSet/>
      <dgm:spPr/>
      <dgm:t>
        <a:bodyPr/>
        <a:lstStyle/>
        <a:p>
          <a:endParaRPr lang="en-GB" sz="3200" b="1"/>
        </a:p>
      </dgm:t>
    </dgm:pt>
    <dgm:pt modelId="{AA941D60-971D-4998-95CD-F7E558C91164}" type="sibTrans" cxnId="{675FDDE1-D0A0-4773-A1EE-A9A9502A110B}">
      <dgm:prSet/>
      <dgm:spPr/>
      <dgm:t>
        <a:bodyPr/>
        <a:lstStyle/>
        <a:p>
          <a:endParaRPr lang="en-GB" sz="3200" b="1"/>
        </a:p>
      </dgm:t>
    </dgm:pt>
    <dgm:pt modelId="{367D4DED-72A5-4788-80D1-85661D453635}">
      <dgm:prSet phldrT="[Text]" custT="1"/>
      <dgm:spPr/>
      <dgm:t>
        <a:bodyPr/>
        <a:lstStyle/>
        <a:p>
          <a:r>
            <a:rPr lang="en-GB" sz="1800" b="1" dirty="0"/>
            <a:t>Postural instability</a:t>
          </a:r>
        </a:p>
      </dgm:t>
    </dgm:pt>
    <dgm:pt modelId="{B00A836E-97FC-4E01-847B-8A7566638534}" type="parTrans" cxnId="{C4588275-F5BC-4C8C-8F00-404D70A886AA}">
      <dgm:prSet/>
      <dgm:spPr/>
      <dgm:t>
        <a:bodyPr/>
        <a:lstStyle/>
        <a:p>
          <a:endParaRPr lang="en-GB" sz="3200" b="1"/>
        </a:p>
      </dgm:t>
    </dgm:pt>
    <dgm:pt modelId="{E4037FA6-D51D-4BD3-9292-AF3A584FCEAC}" type="sibTrans" cxnId="{C4588275-F5BC-4C8C-8F00-404D70A886AA}">
      <dgm:prSet/>
      <dgm:spPr/>
      <dgm:t>
        <a:bodyPr/>
        <a:lstStyle/>
        <a:p>
          <a:endParaRPr lang="en-GB" sz="3200" b="1"/>
        </a:p>
      </dgm:t>
    </dgm:pt>
    <dgm:pt modelId="{B8AFB38C-9740-4177-85D9-39F8AF2E0D1D}">
      <dgm:prSet phldrT="[Text]" custT="1"/>
      <dgm:spPr/>
      <dgm:t>
        <a:bodyPr/>
        <a:lstStyle/>
        <a:p>
          <a:r>
            <a:rPr lang="en-GB" sz="1800" b="1" dirty="0"/>
            <a:t>. Severe disability</a:t>
          </a:r>
        </a:p>
      </dgm:t>
    </dgm:pt>
    <dgm:pt modelId="{66EC7C73-A356-48A4-A91C-EB4C78EA1616}" type="parTrans" cxnId="{95FA72B8-F2BF-401B-BF52-B3E937E63800}">
      <dgm:prSet/>
      <dgm:spPr/>
      <dgm:t>
        <a:bodyPr/>
        <a:lstStyle/>
        <a:p>
          <a:endParaRPr lang="en-GB" sz="3200" b="1"/>
        </a:p>
      </dgm:t>
    </dgm:pt>
    <dgm:pt modelId="{BCDB2F0D-76C1-48BB-8B43-5FC74478CD0F}" type="sibTrans" cxnId="{95FA72B8-F2BF-401B-BF52-B3E937E63800}">
      <dgm:prSet/>
      <dgm:spPr/>
      <dgm:t>
        <a:bodyPr/>
        <a:lstStyle/>
        <a:p>
          <a:endParaRPr lang="en-GB" sz="3200" b="1"/>
        </a:p>
      </dgm:t>
    </dgm:pt>
    <dgm:pt modelId="{70BB9A4B-9F3C-4EA7-94FE-80AF72F87EB1}">
      <dgm:prSet phldrT="[Text]" custT="1"/>
      <dgm:spPr/>
      <dgm:t>
        <a:bodyPr/>
        <a:lstStyle/>
        <a:p>
          <a:r>
            <a:rPr lang="en-GB" sz="1800" b="1" dirty="0"/>
            <a:t>Wheelchair/bed-bound</a:t>
          </a:r>
        </a:p>
      </dgm:t>
    </dgm:pt>
    <dgm:pt modelId="{069B86FD-B196-4C84-B820-DB43697CA2A6}" type="parTrans" cxnId="{BB7CC11D-000B-4DF1-86D9-6E0C6EDE265C}">
      <dgm:prSet/>
      <dgm:spPr/>
      <dgm:t>
        <a:bodyPr/>
        <a:lstStyle/>
        <a:p>
          <a:endParaRPr lang="en-GB" sz="3200" b="1"/>
        </a:p>
      </dgm:t>
    </dgm:pt>
    <dgm:pt modelId="{104C38C0-E23F-46A1-AF5A-E4BE0403C5BD}" type="sibTrans" cxnId="{BB7CC11D-000B-4DF1-86D9-6E0C6EDE265C}">
      <dgm:prSet/>
      <dgm:spPr/>
      <dgm:t>
        <a:bodyPr/>
        <a:lstStyle/>
        <a:p>
          <a:endParaRPr lang="en-GB" sz="3200" b="1"/>
        </a:p>
      </dgm:t>
    </dgm:pt>
    <dgm:pt modelId="{F6C2A58C-BC21-4A83-AD73-EB7625BF830F}" type="pres">
      <dgm:prSet presAssocID="{10D59F8D-20CB-4305-A856-A57B0A8F9A3D}" presName="Name0" presStyleCnt="0">
        <dgm:presLayoutVars>
          <dgm:dir/>
          <dgm:animLvl val="lvl"/>
          <dgm:resizeHandles val="exact"/>
        </dgm:presLayoutVars>
      </dgm:prSet>
      <dgm:spPr/>
    </dgm:pt>
    <dgm:pt modelId="{836AEA39-9C9E-46C5-8D50-CAA2AC0E5043}" type="pres">
      <dgm:prSet presAssocID="{4BC70691-9633-4879-8955-0C9F5B04A884}" presName="parTxOnly" presStyleLbl="node1" presStyleIdx="0" presStyleCnt="5">
        <dgm:presLayoutVars>
          <dgm:chMax val="0"/>
          <dgm:chPref val="0"/>
          <dgm:bulletEnabled val="1"/>
        </dgm:presLayoutVars>
      </dgm:prSet>
      <dgm:spPr/>
    </dgm:pt>
    <dgm:pt modelId="{6C08DFA6-0655-4BDC-901A-25B82201CEEB}" type="pres">
      <dgm:prSet presAssocID="{11136F50-C8AF-409B-8757-13DB9B5E8CC6}" presName="parTxOnlySpace" presStyleCnt="0"/>
      <dgm:spPr/>
    </dgm:pt>
    <dgm:pt modelId="{298B403D-B17C-4C3F-8339-A69D239474B4}" type="pres">
      <dgm:prSet presAssocID="{FBE3245A-604D-4DB8-8737-83D440E53BA8}" presName="parTxOnly" presStyleLbl="node1" presStyleIdx="1" presStyleCnt="5" custLinFactNeighborX="48975" custLinFactNeighborY="-2936">
        <dgm:presLayoutVars>
          <dgm:chMax val="0"/>
          <dgm:chPref val="0"/>
          <dgm:bulletEnabled val="1"/>
        </dgm:presLayoutVars>
      </dgm:prSet>
      <dgm:spPr/>
    </dgm:pt>
    <dgm:pt modelId="{E2AF6BAD-5E53-4EA5-8FEF-0AB21B479D91}" type="pres">
      <dgm:prSet presAssocID="{AA941D60-971D-4998-95CD-F7E558C91164}" presName="parTxOnlySpace" presStyleCnt="0"/>
      <dgm:spPr/>
    </dgm:pt>
    <dgm:pt modelId="{3C4E449E-5839-4749-84C5-6FECD2D60D79}" type="pres">
      <dgm:prSet presAssocID="{367D4DED-72A5-4788-80D1-85661D453635}" presName="parTxOnly" presStyleLbl="node1" presStyleIdx="2" presStyleCnt="5">
        <dgm:presLayoutVars>
          <dgm:chMax val="0"/>
          <dgm:chPref val="0"/>
          <dgm:bulletEnabled val="1"/>
        </dgm:presLayoutVars>
      </dgm:prSet>
      <dgm:spPr/>
    </dgm:pt>
    <dgm:pt modelId="{9B6273FB-94FF-42FD-BA37-DB9CD7DF31C7}" type="pres">
      <dgm:prSet presAssocID="{E4037FA6-D51D-4BD3-9292-AF3A584FCEAC}" presName="parTxOnlySpace" presStyleCnt="0"/>
      <dgm:spPr/>
    </dgm:pt>
    <dgm:pt modelId="{33DA51F5-C9A5-485A-8655-A25413EE5D1A}" type="pres">
      <dgm:prSet presAssocID="{B8AFB38C-9740-4177-85D9-39F8AF2E0D1D}" presName="parTxOnly" presStyleLbl="node1" presStyleIdx="3" presStyleCnt="5">
        <dgm:presLayoutVars>
          <dgm:chMax val="0"/>
          <dgm:chPref val="0"/>
          <dgm:bulletEnabled val="1"/>
        </dgm:presLayoutVars>
      </dgm:prSet>
      <dgm:spPr/>
    </dgm:pt>
    <dgm:pt modelId="{C844B9A9-1013-44AE-AC9B-08C943935FC7}" type="pres">
      <dgm:prSet presAssocID="{BCDB2F0D-76C1-48BB-8B43-5FC74478CD0F}" presName="parTxOnlySpace" presStyleCnt="0"/>
      <dgm:spPr/>
    </dgm:pt>
    <dgm:pt modelId="{2518BB1E-D52A-4DFB-8AB7-7A1FF5AC8485}" type="pres">
      <dgm:prSet presAssocID="{70BB9A4B-9F3C-4EA7-94FE-80AF72F87EB1}" presName="parTxOnly" presStyleLbl="node1" presStyleIdx="4" presStyleCnt="5">
        <dgm:presLayoutVars>
          <dgm:chMax val="0"/>
          <dgm:chPref val="0"/>
          <dgm:bulletEnabled val="1"/>
        </dgm:presLayoutVars>
      </dgm:prSet>
      <dgm:spPr/>
    </dgm:pt>
  </dgm:ptLst>
  <dgm:cxnLst>
    <dgm:cxn modelId="{BB7CC11D-000B-4DF1-86D9-6E0C6EDE265C}" srcId="{10D59F8D-20CB-4305-A856-A57B0A8F9A3D}" destId="{70BB9A4B-9F3C-4EA7-94FE-80AF72F87EB1}" srcOrd="4" destOrd="0" parTransId="{069B86FD-B196-4C84-B820-DB43697CA2A6}" sibTransId="{104C38C0-E23F-46A1-AF5A-E4BE0403C5BD}"/>
    <dgm:cxn modelId="{59C5B51E-CFC3-473F-AAE5-F535EE278CB9}" type="presOf" srcId="{367D4DED-72A5-4788-80D1-85661D453635}" destId="{3C4E449E-5839-4749-84C5-6FECD2D60D79}" srcOrd="0" destOrd="0" presId="urn:microsoft.com/office/officeart/2005/8/layout/chevron1"/>
    <dgm:cxn modelId="{CCA1E244-DCA6-48B5-A892-9366B7D8907E}" type="presOf" srcId="{FBE3245A-604D-4DB8-8737-83D440E53BA8}" destId="{298B403D-B17C-4C3F-8339-A69D239474B4}" srcOrd="0" destOrd="0" presId="urn:microsoft.com/office/officeart/2005/8/layout/chevron1"/>
    <dgm:cxn modelId="{C4588275-F5BC-4C8C-8F00-404D70A886AA}" srcId="{10D59F8D-20CB-4305-A856-A57B0A8F9A3D}" destId="{367D4DED-72A5-4788-80D1-85661D453635}" srcOrd="2" destOrd="0" parTransId="{B00A836E-97FC-4E01-847B-8A7566638534}" sibTransId="{E4037FA6-D51D-4BD3-9292-AF3A584FCEAC}"/>
    <dgm:cxn modelId="{6B4E0E8A-6AAE-490D-99A7-259CF90BB03B}" type="presOf" srcId="{B8AFB38C-9740-4177-85D9-39F8AF2E0D1D}" destId="{33DA51F5-C9A5-485A-8655-A25413EE5D1A}" srcOrd="0" destOrd="0" presId="urn:microsoft.com/office/officeart/2005/8/layout/chevron1"/>
    <dgm:cxn modelId="{95FA72B8-F2BF-401B-BF52-B3E937E63800}" srcId="{10D59F8D-20CB-4305-A856-A57B0A8F9A3D}" destId="{B8AFB38C-9740-4177-85D9-39F8AF2E0D1D}" srcOrd="3" destOrd="0" parTransId="{66EC7C73-A356-48A4-A91C-EB4C78EA1616}" sibTransId="{BCDB2F0D-76C1-48BB-8B43-5FC74478CD0F}"/>
    <dgm:cxn modelId="{7CB69BBA-07B9-4F27-A04C-DE1A629ADF21}" srcId="{10D59F8D-20CB-4305-A856-A57B0A8F9A3D}" destId="{4BC70691-9633-4879-8955-0C9F5B04A884}" srcOrd="0" destOrd="0" parTransId="{90FD1675-9ADC-458D-9080-5806D8B33353}" sibTransId="{11136F50-C8AF-409B-8757-13DB9B5E8CC6}"/>
    <dgm:cxn modelId="{3B78DDD7-B245-4630-B1AB-189F4CF5E8FC}" type="presOf" srcId="{4BC70691-9633-4879-8955-0C9F5B04A884}" destId="{836AEA39-9C9E-46C5-8D50-CAA2AC0E5043}" srcOrd="0" destOrd="0" presId="urn:microsoft.com/office/officeart/2005/8/layout/chevron1"/>
    <dgm:cxn modelId="{186258D9-CD8F-4683-8B66-E7938F0BA7E8}" type="presOf" srcId="{70BB9A4B-9F3C-4EA7-94FE-80AF72F87EB1}" destId="{2518BB1E-D52A-4DFB-8AB7-7A1FF5AC8485}" srcOrd="0" destOrd="0" presId="urn:microsoft.com/office/officeart/2005/8/layout/chevron1"/>
    <dgm:cxn modelId="{675FDDE1-D0A0-4773-A1EE-A9A9502A110B}" srcId="{10D59F8D-20CB-4305-A856-A57B0A8F9A3D}" destId="{FBE3245A-604D-4DB8-8737-83D440E53BA8}" srcOrd="1" destOrd="0" parTransId="{2B3A6263-CB9F-4450-8D04-A41E429A8F11}" sibTransId="{AA941D60-971D-4998-95CD-F7E558C91164}"/>
    <dgm:cxn modelId="{CF5583F5-919D-4A38-B830-FCD63F714CA1}" type="presOf" srcId="{10D59F8D-20CB-4305-A856-A57B0A8F9A3D}" destId="{F6C2A58C-BC21-4A83-AD73-EB7625BF830F}" srcOrd="0" destOrd="0" presId="urn:microsoft.com/office/officeart/2005/8/layout/chevron1"/>
    <dgm:cxn modelId="{C3EC560A-A29A-49EC-871E-33671008918A}" type="presParOf" srcId="{F6C2A58C-BC21-4A83-AD73-EB7625BF830F}" destId="{836AEA39-9C9E-46C5-8D50-CAA2AC0E5043}" srcOrd="0" destOrd="0" presId="urn:microsoft.com/office/officeart/2005/8/layout/chevron1"/>
    <dgm:cxn modelId="{E18E83DC-3085-416D-AFF3-37B1354328C4}" type="presParOf" srcId="{F6C2A58C-BC21-4A83-AD73-EB7625BF830F}" destId="{6C08DFA6-0655-4BDC-901A-25B82201CEEB}" srcOrd="1" destOrd="0" presId="urn:microsoft.com/office/officeart/2005/8/layout/chevron1"/>
    <dgm:cxn modelId="{677C405D-1F9E-47A8-9FC4-9F3EEF421BB9}" type="presParOf" srcId="{F6C2A58C-BC21-4A83-AD73-EB7625BF830F}" destId="{298B403D-B17C-4C3F-8339-A69D239474B4}" srcOrd="2" destOrd="0" presId="urn:microsoft.com/office/officeart/2005/8/layout/chevron1"/>
    <dgm:cxn modelId="{807A63DA-D2CE-48E2-8990-48CF4AB7F8D5}" type="presParOf" srcId="{F6C2A58C-BC21-4A83-AD73-EB7625BF830F}" destId="{E2AF6BAD-5E53-4EA5-8FEF-0AB21B479D91}" srcOrd="3" destOrd="0" presId="urn:microsoft.com/office/officeart/2005/8/layout/chevron1"/>
    <dgm:cxn modelId="{141EEC9C-661C-4E24-8953-8257814E390D}" type="presParOf" srcId="{F6C2A58C-BC21-4A83-AD73-EB7625BF830F}" destId="{3C4E449E-5839-4749-84C5-6FECD2D60D79}" srcOrd="4" destOrd="0" presId="urn:microsoft.com/office/officeart/2005/8/layout/chevron1"/>
    <dgm:cxn modelId="{2CCCFC4C-9ACD-477B-9799-7416A49560F8}" type="presParOf" srcId="{F6C2A58C-BC21-4A83-AD73-EB7625BF830F}" destId="{9B6273FB-94FF-42FD-BA37-DB9CD7DF31C7}" srcOrd="5" destOrd="0" presId="urn:microsoft.com/office/officeart/2005/8/layout/chevron1"/>
    <dgm:cxn modelId="{EFB352D4-DF44-4631-9BC5-356DEF72DC65}" type="presParOf" srcId="{F6C2A58C-BC21-4A83-AD73-EB7625BF830F}" destId="{33DA51F5-C9A5-485A-8655-A25413EE5D1A}" srcOrd="6" destOrd="0" presId="urn:microsoft.com/office/officeart/2005/8/layout/chevron1"/>
    <dgm:cxn modelId="{6A2DF868-FDC7-48AC-80DF-2318A4F4648D}" type="presParOf" srcId="{F6C2A58C-BC21-4A83-AD73-EB7625BF830F}" destId="{C844B9A9-1013-44AE-AC9B-08C943935FC7}" srcOrd="7" destOrd="0" presId="urn:microsoft.com/office/officeart/2005/8/layout/chevron1"/>
    <dgm:cxn modelId="{227BF047-128E-4A81-B9AC-5F238DB99063}" type="presParOf" srcId="{F6C2A58C-BC21-4A83-AD73-EB7625BF830F}" destId="{2518BB1E-D52A-4DFB-8AB7-7A1FF5AC8485}"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6AEA39-9C9E-46C5-8D50-CAA2AC0E5043}">
      <dsp:nvSpPr>
        <dsp:cNvPr id="0" name=""/>
        <dsp:cNvSpPr/>
      </dsp:nvSpPr>
      <dsp:spPr>
        <a:xfrm>
          <a:off x="2442" y="2910693"/>
          <a:ext cx="2173960" cy="869584"/>
        </a:xfrm>
        <a:prstGeom prst="chevron">
          <a:avLst/>
        </a:prstGeom>
        <a:solidFill>
          <a:schemeClr val="accent1">
            <a:shade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GB" sz="1800" b="1" kern="1200" dirty="0"/>
            <a:t>Mild, unilateral</a:t>
          </a:r>
        </a:p>
      </dsp:txBody>
      <dsp:txXfrm>
        <a:off x="437234" y="2910693"/>
        <a:ext cx="1304376" cy="869584"/>
      </dsp:txXfrm>
    </dsp:sp>
    <dsp:sp modelId="{298B403D-B17C-4C3F-8339-A69D239474B4}">
      <dsp:nvSpPr>
        <dsp:cNvPr id="0" name=""/>
        <dsp:cNvSpPr/>
      </dsp:nvSpPr>
      <dsp:spPr>
        <a:xfrm>
          <a:off x="2065476" y="2885162"/>
          <a:ext cx="2173960" cy="869584"/>
        </a:xfrm>
        <a:prstGeom prst="chevron">
          <a:avLst/>
        </a:prstGeom>
        <a:solidFill>
          <a:schemeClr val="accent1">
            <a:shade val="50000"/>
            <a:hueOff val="78785"/>
            <a:satOff val="-994"/>
            <a:lumOff val="1652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GB" sz="1800" b="1" kern="1200" dirty="0"/>
            <a:t>Bilateral, no balance issue</a:t>
          </a:r>
        </a:p>
      </dsp:txBody>
      <dsp:txXfrm>
        <a:off x="2500268" y="2885162"/>
        <a:ext cx="1304376" cy="869584"/>
      </dsp:txXfrm>
    </dsp:sp>
    <dsp:sp modelId="{3C4E449E-5839-4749-84C5-6FECD2D60D79}">
      <dsp:nvSpPr>
        <dsp:cNvPr id="0" name=""/>
        <dsp:cNvSpPr/>
      </dsp:nvSpPr>
      <dsp:spPr>
        <a:xfrm>
          <a:off x="3915571" y="2910693"/>
          <a:ext cx="2173960" cy="869584"/>
        </a:xfrm>
        <a:prstGeom prst="chevron">
          <a:avLst/>
        </a:prstGeom>
        <a:solidFill>
          <a:schemeClr val="accent1">
            <a:shade val="50000"/>
            <a:hueOff val="157570"/>
            <a:satOff val="-1987"/>
            <a:lumOff val="3305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GB" sz="1800" b="1" kern="1200" dirty="0"/>
            <a:t>Postural instability</a:t>
          </a:r>
        </a:p>
      </dsp:txBody>
      <dsp:txXfrm>
        <a:off x="4350363" y="2910693"/>
        <a:ext cx="1304376" cy="869584"/>
      </dsp:txXfrm>
    </dsp:sp>
    <dsp:sp modelId="{33DA51F5-C9A5-485A-8655-A25413EE5D1A}">
      <dsp:nvSpPr>
        <dsp:cNvPr id="0" name=""/>
        <dsp:cNvSpPr/>
      </dsp:nvSpPr>
      <dsp:spPr>
        <a:xfrm>
          <a:off x="5872135" y="2910693"/>
          <a:ext cx="2173960" cy="869584"/>
        </a:xfrm>
        <a:prstGeom prst="chevron">
          <a:avLst/>
        </a:prstGeom>
        <a:solidFill>
          <a:schemeClr val="accent1">
            <a:shade val="50000"/>
            <a:hueOff val="157570"/>
            <a:satOff val="-1987"/>
            <a:lumOff val="3305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GB" sz="1800" b="1" kern="1200" dirty="0"/>
            <a:t>. Severe disability</a:t>
          </a:r>
        </a:p>
      </dsp:txBody>
      <dsp:txXfrm>
        <a:off x="6306927" y="2910693"/>
        <a:ext cx="1304376" cy="869584"/>
      </dsp:txXfrm>
    </dsp:sp>
    <dsp:sp modelId="{2518BB1E-D52A-4DFB-8AB7-7A1FF5AC8485}">
      <dsp:nvSpPr>
        <dsp:cNvPr id="0" name=""/>
        <dsp:cNvSpPr/>
      </dsp:nvSpPr>
      <dsp:spPr>
        <a:xfrm>
          <a:off x="7828699" y="2910693"/>
          <a:ext cx="2173960" cy="869584"/>
        </a:xfrm>
        <a:prstGeom prst="chevron">
          <a:avLst/>
        </a:prstGeom>
        <a:solidFill>
          <a:schemeClr val="accent1">
            <a:shade val="50000"/>
            <a:hueOff val="78785"/>
            <a:satOff val="-994"/>
            <a:lumOff val="1652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GB" sz="1800" b="1" kern="1200" dirty="0"/>
            <a:t>Wheelchair/bed-bound</a:t>
          </a:r>
        </a:p>
      </dsp:txBody>
      <dsp:txXfrm>
        <a:off x="8263491" y="2910693"/>
        <a:ext cx="1304376" cy="869584"/>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181A79-52E5-416B-A43E-D721398719B9}" type="datetimeFigureOut">
              <a:rPr lang="en-GB" smtClean="0"/>
              <a:t>26/10/2025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2ED11F-4B84-4113-B78F-1401398B3101}" type="slidenum">
              <a:rPr lang="en-GB" smtClean="0"/>
              <a:t>‹#›</a:t>
            </a:fld>
            <a:endParaRPr lang="en-GB"/>
          </a:p>
        </p:txBody>
      </p:sp>
    </p:spTree>
    <p:extLst>
      <p:ext uri="{BB962C8B-B14F-4D97-AF65-F5344CB8AC3E}">
        <p14:creationId xmlns:p14="http://schemas.microsoft.com/office/powerpoint/2010/main" val="489989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ncbi.nlm.nih.gov/books/NBK536722/"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youtube.com/watch?v=OD2KPSGZ1No&amp;t=119s" TargetMode="External"/><Relationship Id="rId2" Type="http://schemas.openxmlformats.org/officeDocument/2006/relationships/slide" Target="../slides/slide34.xml"/><Relationship Id="rId1" Type="http://schemas.openxmlformats.org/officeDocument/2006/relationships/notesMaster" Target="../notesMasters/notesMaster1.xml"/><Relationship Id="rId4" Type="http://schemas.openxmlformats.org/officeDocument/2006/relationships/hyperlink" Target="https://www.youtube.com/watch?v=_pZmMU2xLM8"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parkinsons.org.uk/information-and-support/depression" TargetMode="External"/><Relationship Id="rId2" Type="http://schemas.openxmlformats.org/officeDocument/2006/relationships/slide" Target="../slides/slide36.xml"/><Relationship Id="rId1" Type="http://schemas.openxmlformats.org/officeDocument/2006/relationships/notesMaster" Target="../notesMasters/notesMaster1.xml"/><Relationship Id="rId6" Type="http://schemas.openxmlformats.org/officeDocument/2006/relationships/hyperlink" Target="https://www.parkinsons.org.uk/information-and-support/bladder-and-bowel-problems" TargetMode="External"/><Relationship Id="rId5" Type="http://schemas.openxmlformats.org/officeDocument/2006/relationships/hyperlink" Target="https://www.parkinsons.org.uk/information-and-support/sleep-and-parkinsons" TargetMode="External"/><Relationship Id="rId4" Type="http://schemas.openxmlformats.org/officeDocument/2006/relationships/hyperlink" Target="https://www.parkinsons.org.uk/information-and-support/anxiety"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google.com/search?sca_esv=254941356981cfe9&amp;q=pyramidal+tract&amp;sa=X&amp;ved=2ahUKEwjb54ePhL-QAxVbQEEAHUKPOYYQxccNegQIIhAB&amp;mstk=AUtExfB8U3Mw4SKYh0YuRo3MdjKF-KwGz8udvJ53i5B7-59VE5k_XNnP1nv5nHzUppFRPkYnXV1gV8MDSBKKq6gOzwQi82Q2YIWhgj7yp9fe8DRafOD_JJjezvoE40b_wWxpPk4&amp;csui=3"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8" Type="http://schemas.openxmlformats.org/officeDocument/2006/relationships/hyperlink" Target="https://www.massgeneral.org/neurology/treatments-and-services/huntingtons-disease" TargetMode="External"/><Relationship Id="rId3" Type="http://schemas.openxmlformats.org/officeDocument/2006/relationships/hyperlink" Target="https://www.nhs.uk/conditions/huntingtons-disease/" TargetMode="External"/><Relationship Id="rId7" Type="http://schemas.openxmlformats.org/officeDocument/2006/relationships/hyperlink" Target="https://www.ncbi.nlm.nih.gov/books/NBK559166/" TargetMode="External"/><Relationship Id="rId12" Type="http://schemas.openxmlformats.org/officeDocument/2006/relationships/hyperlink" Target="https://huntingtonsdiseasenews.com/delusions-and-hallucinations/" TargetMode="External"/><Relationship Id="rId2" Type="http://schemas.openxmlformats.org/officeDocument/2006/relationships/slide" Target="../slides/slide61.xml"/><Relationship Id="rId1" Type="http://schemas.openxmlformats.org/officeDocument/2006/relationships/notesMaster" Target="../notesMasters/notesMaster1.xml"/><Relationship Id="rId6" Type="http://schemas.openxmlformats.org/officeDocument/2006/relationships/hyperlink" Target="https://pmc.ncbi.nlm.nih.gov/articles/PMC8673514/#ref039:~:text=Olfactory%20dysfunction%20is%20present%20in%20both%20premanifest%20and%20manifest%20patients%20with%20HD%2C%20showing%20a%20progressive%20decline%20over%20time%20with%20more%20severe%20deficits%20at%20advanced%20stages." TargetMode="External"/><Relationship Id="rId11" Type="http://schemas.openxmlformats.org/officeDocument/2006/relationships/hyperlink" Target="https://journals.sagepub.com/doi/10.3233/JHD-230576" TargetMode="External"/><Relationship Id="rId5" Type="http://schemas.openxmlformats.org/officeDocument/2006/relationships/hyperlink" Target="https://journals.viamedica.pl/neurologia_neurochirurgia_polska/article/view/95190#:~:text=Saccade%20deficits%20have%20been%20well%20documented%20in%20premanifest%20and%20manifest%20HD%20patients%2C%20and%20are%20considered%20potential%20biomarkers%20of%20disease%20development%20and%20progression" TargetMode="External"/><Relationship Id="rId10" Type="http://schemas.openxmlformats.org/officeDocument/2006/relationships/hyperlink" Target="https://hdsa.org/what-is-hd/behavioral-psychiatric-symptoms/" TargetMode="External"/><Relationship Id="rId4" Type="http://schemas.openxmlformats.org/officeDocument/2006/relationships/hyperlink" Target="https://huntingtonsdiseasenews.com/chorea/" TargetMode="External"/><Relationship Id="rId9" Type="http://schemas.openxmlformats.org/officeDocument/2006/relationships/hyperlink" Target="https://www.alzheimers.org.uk/about-dementia/types-dementia/huntingtons-disease" TargetMode="Externa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www.youtube.com/watch?v=RxWEilu-Mf4" TargetMode="External"/><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my.clevelandclinic.org/health/symptoms/echolalia" TargetMode="External"/><Relationship Id="rId2" Type="http://schemas.openxmlformats.org/officeDocument/2006/relationships/slide" Target="../slides/slide64.xml"/><Relationship Id="rId1" Type="http://schemas.openxmlformats.org/officeDocument/2006/relationships/notesMaster" Target="../notesMasters/notesMaster1.xml"/><Relationship Id="rId5" Type="http://schemas.openxmlformats.org/officeDocument/2006/relationships/hyperlink" Target="https://my.clevelandclinic.org/health/diseases/9536-anxiety-disorders" TargetMode="External"/><Relationship Id="rId4" Type="http://schemas.openxmlformats.org/officeDocument/2006/relationships/hyperlink" Target="https://my.clevelandclinic.org/health/diseases/5197-attention-deficit-hyperactivity-disorder-adhd-in-adults" TargetMode="Externa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www.google.com/search?q=Functional+Movement+Disorders&amp;oq=FMD+Rating+Scale%2C&amp;gs_lcrp=EgRlZGdlKgYIABBFGDkyBggAEEUYOTIHCAEQABjvBTIKCAIQABiABBiiBDIHCAMQABjvBTIKCAQQABiABBiiBDIKCAUQABiiBBiJBTIICAYQ6QcY_FXSAQc5NjhqMGoxqAIAsAIA&amp;sourceid=chrome&amp;ie=UTF-8&amp;mstk=AUtExfBO6rdb_YOlME-4jm8MShhtPbBQd685PE6DjPDgAIBQvva8E6IfFD-SGXB2MI4zMLT0_D23KGN9ovOxnsPTZWUVNQRz2h54upDy_rgrgpRiQXnN15q6n71U-eAo26qXaoQ&amp;csui=3&amp;ved=2ahUKEwjO8trPr8GQAxXCW0EAHetqDqoQgK4QegQIARAC" TargetMode="External"/><Relationship Id="rId2" Type="http://schemas.openxmlformats.org/officeDocument/2006/relationships/slide" Target="../slides/slide80.xml"/><Relationship Id="rId1" Type="http://schemas.openxmlformats.org/officeDocument/2006/relationships/notesMaster" Target="../notesMasters/notesMaster1.xml"/><Relationship Id="rId4" Type="http://schemas.openxmlformats.org/officeDocument/2006/relationships/hyperlink" Target="https://www.google.com/search?q=Simplified+Functional+Movement+Disorders+Rating+Scale&amp;oq=FMD+Rating+Scale%2C&amp;gs_lcrp=EgRlZGdlKgYIABBFGDkyBggAEEUYOTIHCAEQABjvBTIKCAIQABiABBiiBDIHCAMQABjvBTIKCAQQABiABBiiBDIKCAUQABiiBBiJBTIICAYQ6QcY_FXSAQc5NjhqMGoxqAIAsAIA&amp;sourceid=chrome&amp;ie=UTF-8&amp;mstk=AUtExfBO6rdb_YOlME-4jm8MShhtPbBQd685PE6DjPDgAIBQvva8E6IfFD-SGXB2MI4zMLT0_D23KGN9ovOxnsPTZWUVNQRz2h54upDy_rgrgpRiQXnN15q6n71U-eAo26qXaoQ&amp;csui=3&amp;ved=2ahUKEwjO8trPr8GQAxXCW0EAHetqDqoQgK4QegQIARAD" TargetMode="Externa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exact cause of multiple sclerosis (MS) is unknown, but it is believed to result from a combination of genetic predisposition and environmental factors, including a possible link to certain viral infections like the Epstein-Barr virus. Other risk factors include smoking, low vitamin D levels, and a family history of the disease. MS is an autoimmune disease where the immune system mistakenly attacks the myelin sheath that protects nerve </a:t>
            </a:r>
            <a:r>
              <a:rPr lang="en-GB" sz="1200" b="0" i="0" kern="1200" dirty="0" err="1">
                <a:solidFill>
                  <a:schemeClr val="tx1"/>
                </a:solidFill>
                <a:effectLst/>
                <a:latin typeface="+mn-lt"/>
                <a:ea typeface="+mn-ea"/>
                <a:cs typeface="+mn-cs"/>
              </a:rPr>
              <a:t>fibers</a:t>
            </a:r>
            <a:r>
              <a:rPr lang="en-GB" sz="1200" b="0" i="0" kern="1200" dirty="0">
                <a:solidFill>
                  <a:schemeClr val="tx1"/>
                </a:solidFill>
                <a:effectLst/>
                <a:latin typeface="+mn-lt"/>
                <a:ea typeface="+mn-ea"/>
                <a:cs typeface="+mn-cs"/>
              </a:rPr>
              <a:t> in the brain and spinal cord.  </a:t>
            </a:r>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5</a:t>
            </a:fld>
            <a:endParaRPr lang="en-GB"/>
          </a:p>
        </p:txBody>
      </p:sp>
    </p:spTree>
    <p:extLst>
      <p:ext uri="{BB962C8B-B14F-4D97-AF65-F5344CB8AC3E}">
        <p14:creationId xmlns:p14="http://schemas.microsoft.com/office/powerpoint/2010/main" val="876217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Multiple Sclerosis (MS) is more common further from the equator primarily because of </a:t>
            </a:r>
            <a:r>
              <a:rPr lang="en-GB" dirty="0"/>
              <a:t>lower levels of vitamin D</a:t>
            </a:r>
            <a:r>
              <a:rPr lang="en-GB" sz="1200" b="0" i="0" kern="1200" dirty="0">
                <a:solidFill>
                  <a:schemeClr val="tx1"/>
                </a:solidFill>
                <a:effectLst/>
                <a:latin typeface="+mn-lt"/>
                <a:ea typeface="+mn-ea"/>
                <a:cs typeface="+mn-cs"/>
              </a:rPr>
              <a:t>, which is synthesized in the skin from sunlight exposure. People who live closer to the equator receive more year-round sunlight, which leads to higher vitamin D levels. Research suggests that vitamin D plays a role in immune system regulation, and low vitamin D is considered a risk factor for developing MS</a:t>
            </a:r>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6</a:t>
            </a:fld>
            <a:endParaRPr lang="en-GB"/>
          </a:p>
        </p:txBody>
      </p:sp>
    </p:spTree>
    <p:extLst>
      <p:ext uri="{BB962C8B-B14F-4D97-AF65-F5344CB8AC3E}">
        <p14:creationId xmlns:p14="http://schemas.microsoft.com/office/powerpoint/2010/main" val="4274802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We estimate there are over 150,000 people with MS in the UK, and that nearly 7,100 people are newly diagnosed each year.</a:t>
            </a:r>
          </a:p>
          <a:p>
            <a:r>
              <a:rPr lang="en-GB" sz="1200" b="0" i="0" kern="1200" dirty="0">
                <a:solidFill>
                  <a:schemeClr val="tx1"/>
                </a:solidFill>
                <a:effectLst/>
                <a:latin typeface="+mn-lt"/>
                <a:ea typeface="+mn-ea"/>
                <a:cs typeface="+mn-cs"/>
              </a:rPr>
              <a:t>This means that around one in every 400 people in the UK has MS, and that each week, 135 people are diagnosed with MS.</a:t>
            </a:r>
          </a:p>
          <a:p>
            <a:r>
              <a:rPr lang="en-GB" sz="1200" b="0" i="0" kern="1200" dirty="0">
                <a:solidFill>
                  <a:schemeClr val="tx1"/>
                </a:solidFill>
                <a:effectLst/>
                <a:latin typeface="+mn-lt"/>
                <a:ea typeface="+mn-ea"/>
                <a:cs typeface="+mn-cs"/>
              </a:rPr>
              <a:t>These estimates were developed using The Health Improvement Network (THIN) Database (A </a:t>
            </a:r>
            <a:r>
              <a:rPr lang="en-GB" sz="1200" b="0" i="0" kern="1200" dirty="0" err="1">
                <a:solidFill>
                  <a:schemeClr val="tx1"/>
                </a:solidFill>
                <a:effectLst/>
                <a:latin typeface="+mn-lt"/>
                <a:ea typeface="+mn-ea"/>
                <a:cs typeface="+mn-cs"/>
              </a:rPr>
              <a:t>Cegedim</a:t>
            </a:r>
            <a:r>
              <a:rPr lang="en-GB" sz="1200" b="0" i="0" kern="1200" dirty="0">
                <a:solidFill>
                  <a:schemeClr val="tx1"/>
                </a:solidFill>
                <a:effectLst/>
                <a:latin typeface="+mn-lt"/>
                <a:ea typeface="+mn-ea"/>
                <a:cs typeface="+mn-cs"/>
              </a:rPr>
              <a:t> Proprietary Database). This work uses data provided by patients and collected by the NHS as part of their care and support.</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7</a:t>
            </a:fld>
            <a:endParaRPr lang="en-GB"/>
          </a:p>
        </p:txBody>
      </p:sp>
    </p:spTree>
    <p:extLst>
      <p:ext uri="{BB962C8B-B14F-4D97-AF65-F5344CB8AC3E}">
        <p14:creationId xmlns:p14="http://schemas.microsoft.com/office/powerpoint/2010/main" val="108253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Gliosis – healing, causes scars and does not help in regeneration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Complement system</a:t>
            </a:r>
            <a:r>
              <a:rPr lang="en-GB" sz="1200" b="0" i="0" kern="1200" dirty="0">
                <a:solidFill>
                  <a:schemeClr val="tx1"/>
                </a:solidFill>
                <a:effectLst/>
                <a:latin typeface="+mn-lt"/>
                <a:ea typeface="+mn-ea"/>
                <a:cs typeface="+mn-cs"/>
              </a:rPr>
              <a:t>: The complement system, a part of the immune response, gets activated in MS and marks synapses for elimination. Specifically, complement component C3 localizes to synapses targeted for engulfment.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MS affects both white and grey matter</a:t>
            </a:r>
            <a:r>
              <a:rPr lang="en-GB" sz="1200" b="0" i="0" kern="1200" dirty="0">
                <a:solidFill>
                  <a:schemeClr val="tx1"/>
                </a:solidFill>
                <a:effectLst/>
                <a:latin typeface="+mn-lt"/>
                <a:ea typeface="+mn-ea"/>
                <a:cs typeface="+mn-cs"/>
              </a:rPr>
              <a:t>, though it was historically considered a disease of the white matter. The immune system attacks the myelin sheath in white matter, but also damages nerve cell bodies and axons in grey matter, leading to both physical and cognitive symptoms. </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8</a:t>
            </a:fld>
            <a:endParaRPr lang="en-GB"/>
          </a:p>
        </p:txBody>
      </p:sp>
    </p:spTree>
    <p:extLst>
      <p:ext uri="{BB962C8B-B14F-4D97-AF65-F5344CB8AC3E}">
        <p14:creationId xmlns:p14="http://schemas.microsoft.com/office/powerpoint/2010/main" val="1026455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doctors and researchers might use other words to describe it. They may say that MS is one of the following: active, not active, with progression, without progression.</a:t>
            </a:r>
          </a:p>
          <a:p>
            <a:endParaRPr lang="en-GB" dirty="0"/>
          </a:p>
          <a:p>
            <a:r>
              <a:rPr lang="en-GB" dirty="0" err="1"/>
              <a:t>ClassificationDescription</a:t>
            </a:r>
            <a:r>
              <a:rPr lang="en-GB" b="1" dirty="0" err="1"/>
              <a:t>Active</a:t>
            </a:r>
            <a:r>
              <a:rPr lang="en-GB" b="1" dirty="0"/>
              <a:t>, with </a:t>
            </a:r>
            <a:r>
              <a:rPr lang="en-GB" b="1" dirty="0" err="1"/>
              <a:t>progression</a:t>
            </a:r>
            <a:r>
              <a:rPr lang="en-GB" dirty="0" err="1"/>
              <a:t>New</a:t>
            </a:r>
            <a:r>
              <a:rPr lang="en-GB" dirty="0"/>
              <a:t> relapses or MRI activity </a:t>
            </a:r>
            <a:r>
              <a:rPr lang="en-GB" i="1" dirty="0"/>
              <a:t>and</a:t>
            </a:r>
            <a:r>
              <a:rPr lang="en-GB" dirty="0"/>
              <a:t> gradual worsening disability (e.g. SPMS).</a:t>
            </a:r>
            <a:r>
              <a:rPr lang="en-GB" b="1" dirty="0"/>
              <a:t>Active, without </a:t>
            </a:r>
            <a:r>
              <a:rPr lang="en-GB" b="1" dirty="0" err="1"/>
              <a:t>progression</a:t>
            </a:r>
            <a:r>
              <a:rPr lang="en-GB" dirty="0" err="1"/>
              <a:t>Relapsing</a:t>
            </a:r>
            <a:r>
              <a:rPr lang="en-GB" dirty="0"/>
              <a:t> disease with no lasting disability increase (e.g. RRMS in remission).</a:t>
            </a:r>
            <a:r>
              <a:rPr lang="en-GB" b="1" dirty="0"/>
              <a:t>Not active, with </a:t>
            </a:r>
            <a:r>
              <a:rPr lang="en-GB" b="1" dirty="0" err="1"/>
              <a:t>progression</a:t>
            </a:r>
            <a:r>
              <a:rPr lang="en-GB" dirty="0" err="1"/>
              <a:t>No</a:t>
            </a:r>
            <a:r>
              <a:rPr lang="en-GB" dirty="0"/>
              <a:t> new inflammation, but ongoing gradual decline (e.g. later SPMS).</a:t>
            </a:r>
            <a:r>
              <a:rPr lang="en-GB" b="1" dirty="0"/>
              <a:t>Not active, without </a:t>
            </a:r>
            <a:r>
              <a:rPr lang="en-GB" b="1" dirty="0" err="1"/>
              <a:t>progression</a:t>
            </a:r>
            <a:r>
              <a:rPr lang="en-GB" dirty="0" err="1"/>
              <a:t>Stable</a:t>
            </a:r>
            <a:r>
              <a:rPr lang="en-GB" dirty="0"/>
              <a:t> disease; no relapses or worsening — may represent well-controlled or “burned out” MS.</a:t>
            </a:r>
          </a:p>
        </p:txBody>
      </p:sp>
      <p:sp>
        <p:nvSpPr>
          <p:cNvPr id="4" name="Slide Number Placeholder 3"/>
          <p:cNvSpPr>
            <a:spLocks noGrp="1"/>
          </p:cNvSpPr>
          <p:nvPr>
            <p:ph type="sldNum" sz="quarter" idx="5"/>
          </p:nvPr>
        </p:nvSpPr>
        <p:spPr/>
        <p:txBody>
          <a:bodyPr/>
          <a:lstStyle/>
          <a:p>
            <a:fld id="{752ED11F-4B84-4113-B78F-1401398B3101}" type="slidenum">
              <a:rPr lang="en-GB" smtClean="0"/>
              <a:t>10</a:t>
            </a:fld>
            <a:endParaRPr lang="en-GB"/>
          </a:p>
        </p:txBody>
      </p:sp>
    </p:spTree>
    <p:extLst>
      <p:ext uri="{BB962C8B-B14F-4D97-AF65-F5344CB8AC3E}">
        <p14:creationId xmlns:p14="http://schemas.microsoft.com/office/powerpoint/2010/main" val="2117112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Corticospinal tract → Weakness, spasticity, hyperreflexia.</a:t>
            </a:r>
          </a:p>
          <a:p>
            <a:r>
              <a:rPr lang="en-GB" dirty="0"/>
              <a:t>Cerebellum → Ataxia, tremor, dysarthria, nystagmus.</a:t>
            </a:r>
          </a:p>
          <a:p>
            <a:r>
              <a:rPr lang="en-GB" dirty="0"/>
              <a:t>Dorsal columns → Loss of vibration and position sense.</a:t>
            </a:r>
          </a:p>
          <a:p>
            <a:r>
              <a:rPr lang="en-GB" dirty="0"/>
              <a:t>Optic nerve → Vision loss, eye pain.</a:t>
            </a:r>
          </a:p>
          <a:p>
            <a:r>
              <a:rPr lang="en-GB" dirty="0"/>
              <a:t>Brainstem → Diplopia, dysphagia.</a:t>
            </a:r>
          </a:p>
          <a:p>
            <a:r>
              <a:rPr lang="en-GB" dirty="0"/>
              <a:t>Spinal cord → Lhermitte’s sign (electric-shock sensation).</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11</a:t>
            </a:fld>
            <a:endParaRPr lang="en-GB"/>
          </a:p>
        </p:txBody>
      </p:sp>
    </p:spTree>
    <p:extLst>
      <p:ext uri="{BB962C8B-B14F-4D97-AF65-F5344CB8AC3E}">
        <p14:creationId xmlns:p14="http://schemas.microsoft.com/office/powerpoint/2010/main" val="4055527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PHYSIOTHERAPY MANAGEMENT</a:t>
            </a:r>
          </a:p>
          <a:p>
            <a:r>
              <a:rPr lang="en-GB" dirty="0"/>
              <a:t>Specific Aims:</a:t>
            </a:r>
          </a:p>
          <a:p>
            <a:r>
              <a:rPr lang="en-GB" dirty="0"/>
              <a:t>1. Preserve, maintain and increase muscle strength</a:t>
            </a:r>
          </a:p>
          <a:p>
            <a:r>
              <a:rPr lang="en-GB" dirty="0"/>
              <a:t>2. Promote postural stability</a:t>
            </a:r>
          </a:p>
          <a:p>
            <a:r>
              <a:rPr lang="en-GB" dirty="0"/>
              <a:t>3. Prevent contractures</a:t>
            </a:r>
          </a:p>
          <a:p>
            <a:r>
              <a:rPr lang="en-GB" dirty="0"/>
              <a:t>4. Maintain and encourage weight-bearing</a:t>
            </a:r>
          </a:p>
          <a:p>
            <a:r>
              <a:rPr lang="en-GB" dirty="0"/>
              <a:t>5. Provide support to aid with motivation and continuation of </a:t>
            </a:r>
          </a:p>
          <a:p>
            <a:r>
              <a:rPr lang="en-GB" dirty="0"/>
              <a:t>physiotherapy</a:t>
            </a:r>
          </a:p>
          <a:p>
            <a:r>
              <a:rPr lang="en-GB" dirty="0"/>
              <a:t>6. Provide support to help maintain or increase activity levels</a:t>
            </a:r>
          </a:p>
          <a:p>
            <a:r>
              <a:rPr lang="en-GB" dirty="0"/>
              <a:t>7. Patient education</a:t>
            </a:r>
          </a:p>
          <a:p>
            <a:r>
              <a:rPr lang="en-GB" dirty="0"/>
              <a:t>8. Manage Fatigue</a:t>
            </a:r>
          </a:p>
          <a:p>
            <a:r>
              <a:rPr lang="en-GB" dirty="0"/>
              <a:t>9. Provide aids necessary for living</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14</a:t>
            </a:fld>
            <a:endParaRPr lang="en-GB"/>
          </a:p>
        </p:txBody>
      </p:sp>
    </p:spTree>
    <p:extLst>
      <p:ext uri="{BB962C8B-B14F-4D97-AF65-F5344CB8AC3E}">
        <p14:creationId xmlns:p14="http://schemas.microsoft.com/office/powerpoint/2010/main" val="3218550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15</a:t>
            </a:fld>
            <a:endParaRPr lang="en-GB"/>
          </a:p>
        </p:txBody>
      </p:sp>
    </p:spTree>
    <p:extLst>
      <p:ext uri="{BB962C8B-B14F-4D97-AF65-F5344CB8AC3E}">
        <p14:creationId xmlns:p14="http://schemas.microsoft.com/office/powerpoint/2010/main" val="1699446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amyotrophic lateral sclerosis (ALS), degeneration of both the upper and lower motor neurones occurs, leading to paralysis of most voluntary muscles in the body (especially limbs).</a:t>
            </a:r>
          </a:p>
          <a:p>
            <a:r>
              <a:rPr lang="en-GB" dirty="0"/>
              <a:t>When only the muscles involved in speech and swallowing are affected, this is known as progressive bulbar palsy, causing slurred speech and difficulty swallowing</a:t>
            </a:r>
          </a:p>
          <a:p>
            <a:r>
              <a:rPr lang="en-GB" dirty="0"/>
              <a:t>In less common forms of MND, there is a more selective degeneration of either the upper motor neurones (primary lateral sclerosis; PLS) or lower motor neurones (such as progressive muscular atrophy; PMA)</a:t>
            </a:r>
          </a:p>
        </p:txBody>
      </p:sp>
      <p:sp>
        <p:nvSpPr>
          <p:cNvPr id="4" name="Slide Number Placeholder 3"/>
          <p:cNvSpPr>
            <a:spLocks noGrp="1"/>
          </p:cNvSpPr>
          <p:nvPr>
            <p:ph type="sldNum" sz="quarter" idx="5"/>
          </p:nvPr>
        </p:nvSpPr>
        <p:spPr/>
        <p:txBody>
          <a:bodyPr/>
          <a:lstStyle/>
          <a:p>
            <a:fld id="{752ED11F-4B84-4113-B78F-1401398B3101}" type="slidenum">
              <a:rPr lang="en-GB" smtClean="0"/>
              <a:t>19</a:t>
            </a:fld>
            <a:endParaRPr lang="en-GB"/>
          </a:p>
        </p:txBody>
      </p:sp>
    </p:spTree>
    <p:extLst>
      <p:ext uri="{BB962C8B-B14F-4D97-AF65-F5344CB8AC3E}">
        <p14:creationId xmlns:p14="http://schemas.microsoft.com/office/powerpoint/2010/main" val="1837931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21</a:t>
            </a:fld>
            <a:endParaRPr lang="en-GB"/>
          </a:p>
        </p:txBody>
      </p:sp>
    </p:spTree>
    <p:extLst>
      <p:ext uri="{BB962C8B-B14F-4D97-AF65-F5344CB8AC3E}">
        <p14:creationId xmlns:p14="http://schemas.microsoft.com/office/powerpoint/2010/main" val="354748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Mechanisms involved:</a:t>
            </a:r>
            <a:endParaRPr lang="en-GB" dirty="0"/>
          </a:p>
          <a:p>
            <a:r>
              <a:rPr lang="en-GB" b="1" dirty="0"/>
              <a:t>Glutamate excitotoxicity</a:t>
            </a:r>
            <a:r>
              <a:rPr lang="en-GB" dirty="0"/>
              <a:t> → neuronal overactivation and cell death</a:t>
            </a:r>
          </a:p>
          <a:p>
            <a:r>
              <a:rPr lang="en-GB" b="1" dirty="0"/>
              <a:t>Oxidative stress</a:t>
            </a:r>
            <a:r>
              <a:rPr lang="en-GB" dirty="0"/>
              <a:t> and </a:t>
            </a:r>
            <a:r>
              <a:rPr lang="en-GB" b="1" dirty="0"/>
              <a:t>mitochondrial dysfunction</a:t>
            </a:r>
            <a:r>
              <a:rPr lang="en-GB" dirty="0"/>
              <a:t> → energy failure in motor neurons</a:t>
            </a:r>
          </a:p>
          <a:p>
            <a:r>
              <a:rPr lang="en-GB" b="1" dirty="0"/>
              <a:t>Protein misfolding and aggregation</a:t>
            </a:r>
            <a:r>
              <a:rPr lang="en-GB" dirty="0"/>
              <a:t> (e.g., TDP-43, SOD1) → toxic cellular accumulation</a:t>
            </a:r>
          </a:p>
          <a:p>
            <a:r>
              <a:rPr lang="en-GB" b="1" dirty="0"/>
              <a:t>Axonal transport defects</a:t>
            </a:r>
            <a:r>
              <a:rPr lang="en-GB" dirty="0"/>
              <a:t> → impaired nutrient and signal transmission</a:t>
            </a:r>
          </a:p>
          <a:p>
            <a:r>
              <a:rPr lang="en-GB" b="1" dirty="0"/>
              <a:t>Neuroinflammation</a:t>
            </a:r>
            <a:r>
              <a:rPr lang="en-GB" dirty="0"/>
              <a:t> → microglial activation and further neuronal injury</a:t>
            </a:r>
          </a:p>
          <a:p>
            <a:r>
              <a:rPr lang="en-GB" b="1" dirty="0">
                <a:solidFill>
                  <a:srgbClr val="FF0000"/>
                </a:solidFill>
              </a:rPr>
              <a:t>Result:</a:t>
            </a:r>
            <a:r>
              <a:rPr lang="en-GB" dirty="0">
                <a:solidFill>
                  <a:srgbClr val="FF0000"/>
                </a:solidFill>
              </a:rPr>
              <a:t> irreversible motor neuron loss → progressive weakness, fasciculations, and paralysis</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22</a:t>
            </a:fld>
            <a:endParaRPr lang="en-GB"/>
          </a:p>
        </p:txBody>
      </p:sp>
    </p:spTree>
    <p:extLst>
      <p:ext uri="{BB962C8B-B14F-4D97-AF65-F5344CB8AC3E}">
        <p14:creationId xmlns:p14="http://schemas.microsoft.com/office/powerpoint/2010/main" val="1995308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Fasciculations: These twitches are a result of the lower motor neurons not receiving signals from the upper motor neurons - when a single peripheral nerve that controls a muscle is overactive, resulting in involuntary muscle movement.</a:t>
            </a:r>
            <a:r>
              <a:rPr lang="en-GB" dirty="0"/>
              <a:t> motor neurons become electrically unstable and fire spontaneously, causing small groups of muscle </a:t>
            </a:r>
            <a:r>
              <a:rPr lang="en-GB" dirty="0" err="1"/>
              <a:t>fibers</a:t>
            </a:r>
            <a:r>
              <a:rPr lang="en-GB" dirty="0"/>
              <a:t> to contract involuntarily</a:t>
            </a:r>
            <a:r>
              <a:rPr lang="en-GB" sz="1200" b="0" i="0" kern="1200" dirty="0">
                <a:solidFill>
                  <a:schemeClr val="tx1"/>
                </a:solidFill>
                <a:effectLst/>
                <a:latin typeface="+mn-lt"/>
                <a:ea typeface="+mn-ea"/>
                <a:cs typeface="+mn-cs"/>
              </a:rPr>
              <a:t>. This happens due to the damage and degeneration of motor neurons, which disrupts the normal signals sent to muscles, eventually leading to a loss of muscle control and weakness.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Pseudobulbar affect (PBA) is a neurological condition that causes outbursts of uncontrolled or inappropriate laughing or crying. These episodes don't match your internal emotional state. PBA develops as the result of a brain injury or underlying neurological condition, such as amyotrophic lateral sclerosis (ALS).</a:t>
            </a:r>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24</a:t>
            </a:fld>
            <a:endParaRPr lang="en-GB"/>
          </a:p>
        </p:txBody>
      </p:sp>
    </p:spTree>
    <p:extLst>
      <p:ext uri="{BB962C8B-B14F-4D97-AF65-F5344CB8AC3E}">
        <p14:creationId xmlns:p14="http://schemas.microsoft.com/office/powerpoint/2010/main" val="277360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Progressive asymmetric weakness in Motor Neurone Disease (MND) occurs because the disease's degeneration of motor neurons starts in specific, scattered areas and spreads unevenly</a:t>
            </a:r>
            <a:r>
              <a:rPr lang="en-GB" sz="1200" b="0" i="0" kern="1200" dirty="0">
                <a:solidFill>
                  <a:schemeClr val="tx1"/>
                </a:solidFill>
                <a:effectLst/>
                <a:latin typeface="+mn-lt"/>
                <a:ea typeface="+mn-ea"/>
                <a:cs typeface="+mn-cs"/>
              </a:rPr>
              <a:t>. The initial symptoms are often distal (e.g., in the hands, feet, or lower legs) because these muscles are the farthest from the body's </a:t>
            </a:r>
            <a:r>
              <a:rPr lang="en-GB" sz="1200" b="0" i="0" kern="1200" dirty="0" err="1">
                <a:solidFill>
                  <a:schemeClr val="tx1"/>
                </a:solidFill>
                <a:effectLst/>
                <a:latin typeface="+mn-lt"/>
                <a:ea typeface="+mn-ea"/>
                <a:cs typeface="+mn-cs"/>
              </a:rPr>
              <a:t>center</a:t>
            </a:r>
            <a:r>
              <a:rPr lang="en-GB" sz="1200" b="0" i="0" kern="1200" dirty="0">
                <a:solidFill>
                  <a:schemeClr val="tx1"/>
                </a:solidFill>
                <a:effectLst/>
                <a:latin typeface="+mn-lt"/>
                <a:ea typeface="+mn-ea"/>
                <a:cs typeface="+mn-cs"/>
              </a:rPr>
              <a:t>, and thus the degeneration has to advance further down the motor neuron pathways to reach them first.</a:t>
            </a:r>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25</a:t>
            </a:fld>
            <a:endParaRPr lang="en-GB"/>
          </a:p>
        </p:txBody>
      </p:sp>
    </p:spTree>
    <p:extLst>
      <p:ext uri="{BB962C8B-B14F-4D97-AF65-F5344CB8AC3E}">
        <p14:creationId xmlns:p14="http://schemas.microsoft.com/office/powerpoint/2010/main" val="32854670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28</a:t>
            </a:fld>
            <a:endParaRPr lang="en-GB"/>
          </a:p>
        </p:txBody>
      </p:sp>
    </p:spTree>
    <p:extLst>
      <p:ext uri="{BB962C8B-B14F-4D97-AF65-F5344CB8AC3E}">
        <p14:creationId xmlns:p14="http://schemas.microsoft.com/office/powerpoint/2010/main" val="15291303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Usually idiopathic; mean onset around 60 years.</a:t>
            </a:r>
          </a:p>
          <a:p>
            <a:r>
              <a:rPr lang="en-GB" dirty="0"/>
              <a:t>• Affects ~1% of adults &gt;60.</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32</a:t>
            </a:fld>
            <a:endParaRPr lang="en-GB"/>
          </a:p>
        </p:txBody>
      </p:sp>
    </p:spTree>
    <p:extLst>
      <p:ext uri="{BB962C8B-B14F-4D97-AF65-F5344CB8AC3E}">
        <p14:creationId xmlns:p14="http://schemas.microsoft.com/office/powerpoint/2010/main" val="19048476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Additionally, there are cross-cultural variations, with higher prevalence reported in Europe, North America, and South America compared with African, Asian and Arabic countries (</a:t>
            </a:r>
            <a:r>
              <a:rPr lang="en-GB" dirty="0">
                <a:hlinkClick r:id="rId3"/>
              </a:rPr>
              <a:t>1</a:t>
            </a:r>
            <a:r>
              <a:rPr lang="en-GB" dirty="0"/>
              <a:t>).</a:t>
            </a:r>
          </a:p>
          <a:p>
            <a:endParaRPr lang="en-GB" dirty="0"/>
          </a:p>
          <a:p>
            <a:r>
              <a:rPr lang="en-GB" sz="1200" b="0" i="0" kern="1200" dirty="0">
                <a:solidFill>
                  <a:schemeClr val="tx1"/>
                </a:solidFill>
                <a:effectLst/>
                <a:latin typeface="+mn-lt"/>
                <a:ea typeface="+mn-ea"/>
                <a:cs typeface="+mn-cs"/>
              </a:rPr>
              <a:t>Parkinson's disease (PD) affects men at a higher rate than women, with an incidence about 1.5 times higher,</a:t>
            </a:r>
            <a:endParaRPr lang="en-GB" dirty="0"/>
          </a:p>
          <a:p>
            <a:endParaRPr lang="en-GB" dirty="0"/>
          </a:p>
          <a:p>
            <a:pPr rtl="0"/>
            <a:r>
              <a:rPr lang="en-GB" sz="1200" b="0" i="0" kern="1200" dirty="0">
                <a:solidFill>
                  <a:schemeClr val="tx1"/>
                </a:solidFill>
                <a:effectLst/>
                <a:latin typeface="+mn-lt"/>
                <a:ea typeface="+mn-ea"/>
                <a:cs typeface="+mn-cs"/>
              </a:rPr>
              <a:t>Parkinson's is on the rise. By 2030, we expect the number of people with Parkinson’s in the UK to reach 173,000, as the population grows and ages.</a:t>
            </a:r>
          </a:p>
          <a:p>
            <a:pPr rtl="0"/>
            <a:r>
              <a:rPr lang="en-GB" sz="1200" b="0" i="0" kern="1200" dirty="0">
                <a:solidFill>
                  <a:schemeClr val="tx1"/>
                </a:solidFill>
                <a:effectLst/>
                <a:latin typeface="+mn-lt"/>
                <a:ea typeface="+mn-ea"/>
                <a:cs typeface="+mn-cs"/>
              </a:rPr>
              <a:t>We think</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33</a:t>
            </a:fld>
            <a:endParaRPr lang="en-GB"/>
          </a:p>
        </p:txBody>
      </p:sp>
    </p:spTree>
    <p:extLst>
      <p:ext uri="{BB962C8B-B14F-4D97-AF65-F5344CB8AC3E}">
        <p14:creationId xmlns:p14="http://schemas.microsoft.com/office/powerpoint/2010/main" val="20884722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2-Minute Neuroscience: Basal Ganglia</a:t>
            </a:r>
            <a:endParaRPr lang="en-GB" dirty="0"/>
          </a:p>
          <a:p>
            <a:r>
              <a:rPr lang="en-GB" dirty="0">
                <a:hlinkClick r:id="rId4"/>
              </a:rPr>
              <a:t>Understanding Parkinson's Disease (Including Direct and Indirect Pathways)</a:t>
            </a:r>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34</a:t>
            </a:fld>
            <a:endParaRPr lang="en-GB"/>
          </a:p>
        </p:txBody>
      </p:sp>
    </p:spTree>
    <p:extLst>
      <p:ext uri="{BB962C8B-B14F-4D97-AF65-F5344CB8AC3E}">
        <p14:creationId xmlns:p14="http://schemas.microsoft.com/office/powerpoint/2010/main" val="8925453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35</a:t>
            </a:fld>
            <a:endParaRPr lang="en-GB"/>
          </a:p>
        </p:txBody>
      </p:sp>
    </p:spTree>
    <p:extLst>
      <p:ext uri="{BB962C8B-B14F-4D97-AF65-F5344CB8AC3E}">
        <p14:creationId xmlns:p14="http://schemas.microsoft.com/office/powerpoint/2010/main" val="36250353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key diagnostic signs in medicine</a:t>
            </a:r>
          </a:p>
          <a:p>
            <a:r>
              <a:rPr lang="en-GB" dirty="0"/>
              <a:t>Sensory:</a:t>
            </a:r>
          </a:p>
          <a:p>
            <a:r>
              <a:rPr lang="en-GB" dirty="0"/>
              <a:t>• True sensory loss uncommon</a:t>
            </a:r>
          </a:p>
          <a:p>
            <a:r>
              <a:rPr lang="en-GB" dirty="0"/>
              <a:t>• Altered proprioception, musculoskeletal pain.</a:t>
            </a:r>
          </a:p>
          <a:p>
            <a:endParaRPr lang="en-GB" sz="1200" b="1" i="0" kern="1200" dirty="0">
              <a:solidFill>
                <a:schemeClr val="tx1"/>
              </a:solidFill>
              <a:effectLst/>
              <a:latin typeface="+mn-lt"/>
              <a:ea typeface="+mn-ea"/>
              <a:cs typeface="+mn-cs"/>
            </a:endParaRPr>
          </a:p>
          <a:p>
            <a:endParaRPr lang="en-GB" sz="1200" b="1"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Typical early symptoms which you might notice include:</a:t>
            </a:r>
          </a:p>
          <a:p>
            <a:r>
              <a:rPr lang="en-GB" sz="1200" b="0" i="0" kern="1200" dirty="0">
                <a:solidFill>
                  <a:schemeClr val="tx1"/>
                </a:solidFill>
                <a:effectLst/>
                <a:latin typeface="+mn-lt"/>
                <a:ea typeface="+mn-ea"/>
                <a:cs typeface="+mn-cs"/>
              </a:rPr>
              <a:t>a reduced sense of smell</a:t>
            </a:r>
          </a:p>
          <a:p>
            <a:r>
              <a:rPr lang="en-GB" sz="1200" b="0" i="0" u="none" strike="noStrike" kern="1200" dirty="0">
                <a:solidFill>
                  <a:schemeClr val="tx1"/>
                </a:solidFill>
                <a:effectLst/>
                <a:latin typeface="+mn-lt"/>
                <a:ea typeface="+mn-ea"/>
                <a:cs typeface="+mn-cs"/>
                <a:hlinkClick r:id="rId3"/>
              </a:rPr>
              <a:t>depression</a:t>
            </a:r>
            <a:endParaRPr lang="en-GB" sz="1200" b="0" i="0"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hlinkClick r:id="rId4"/>
              </a:rPr>
              <a:t>anxiety</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tiredness</a:t>
            </a:r>
          </a:p>
          <a:p>
            <a:r>
              <a:rPr lang="en-GB" sz="1200" b="0" i="0" u="none" strike="noStrike" kern="1200" dirty="0">
                <a:solidFill>
                  <a:schemeClr val="tx1"/>
                </a:solidFill>
                <a:effectLst/>
                <a:latin typeface="+mn-lt"/>
                <a:ea typeface="+mn-ea"/>
                <a:cs typeface="+mn-cs"/>
                <a:hlinkClick r:id="rId5"/>
              </a:rPr>
              <a:t>problems with sleep</a:t>
            </a:r>
            <a:endParaRPr lang="en-GB" sz="1200" b="0" i="0"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hlinkClick r:id="rId6"/>
              </a:rPr>
              <a:t>constipation</a:t>
            </a:r>
            <a:endParaRPr lang="en-GB" sz="1200" b="0" i="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36</a:t>
            </a:fld>
            <a:endParaRPr lang="en-GB"/>
          </a:p>
        </p:txBody>
      </p:sp>
    </p:spTree>
    <p:extLst>
      <p:ext uri="{BB962C8B-B14F-4D97-AF65-F5344CB8AC3E}">
        <p14:creationId xmlns:p14="http://schemas.microsoft.com/office/powerpoint/2010/main" val="24303136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Parkinson’s is caused by </a:t>
            </a:r>
            <a:r>
              <a:rPr lang="en-GB" b="1" dirty="0"/>
              <a:t>loss of dopamine-producing neurons</a:t>
            </a:r>
            <a:r>
              <a:rPr lang="en-GB" dirty="0"/>
              <a:t> in the </a:t>
            </a:r>
            <a:r>
              <a:rPr lang="en-GB" b="1" dirty="0"/>
              <a:t>substantia </a:t>
            </a:r>
            <a:r>
              <a:rPr lang="en-GB" b="1" dirty="0" err="1"/>
              <a:t>nigra</a:t>
            </a:r>
            <a:r>
              <a:rPr lang="en-GB" dirty="0"/>
              <a:t>, leading to disrupted control of movement.</a:t>
            </a:r>
          </a:p>
          <a:p>
            <a:r>
              <a:rPr lang="en-GB" b="1" dirty="0"/>
              <a:t>Levodopa</a:t>
            </a:r>
            <a:r>
              <a:rPr lang="en-GB" dirty="0"/>
              <a:t> (and other dopaminergic drugs) temporarily restore dopamine levels, improving movement (“ON” phase).</a:t>
            </a:r>
          </a:p>
          <a:p>
            <a:r>
              <a:rPr lang="en-GB" b="1" dirty="0"/>
              <a:t>Why ON/OFF Fluctuations Occur:</a:t>
            </a:r>
            <a:endParaRPr lang="en-GB" dirty="0"/>
          </a:p>
          <a:p>
            <a:r>
              <a:rPr lang="en-GB" b="1" dirty="0"/>
              <a:t>Disease progression:</a:t>
            </a:r>
            <a:r>
              <a:rPr lang="en-GB" dirty="0"/>
              <a:t> fewer surviving neurons to store and release dopamine → brain relies directly on medication levels.</a:t>
            </a:r>
          </a:p>
          <a:p>
            <a:r>
              <a:rPr lang="en-GB" b="1" dirty="0"/>
              <a:t>Levodopa’s short half-life (~90 min):</a:t>
            </a:r>
            <a:r>
              <a:rPr lang="en-GB" dirty="0"/>
              <a:t> blood levels rise and fall rapidly → fluctuating dopamine availability.</a:t>
            </a:r>
          </a:p>
          <a:p>
            <a:r>
              <a:rPr lang="en-GB" b="1" dirty="0"/>
              <a:t>Reduced buffering capacity:</a:t>
            </a:r>
            <a:r>
              <a:rPr lang="en-GB" dirty="0"/>
              <a:t> loss of neuronal terminals means the brain can’t smooth out dopamine peaks/troughs.</a:t>
            </a:r>
          </a:p>
          <a:p>
            <a:r>
              <a:rPr lang="en-GB" b="1" dirty="0"/>
              <a:t>Receptor and enzyme changes:</a:t>
            </a:r>
            <a:r>
              <a:rPr lang="en-GB" dirty="0"/>
              <a:t> long-term levodopa use alters dopamine receptor sensitivity and metabolism.</a:t>
            </a:r>
          </a:p>
          <a:p>
            <a:r>
              <a:rPr lang="en-GB" b="1" dirty="0"/>
              <a:t>Dietary or absorption factors:</a:t>
            </a:r>
            <a:r>
              <a:rPr lang="en-GB" dirty="0"/>
              <a:t> protein-rich meals and delayed gastric emptying can reduce levodopa absorption → sudden “OFF.”</a:t>
            </a:r>
          </a:p>
          <a:p>
            <a:r>
              <a:rPr lang="en-GB" b="1" dirty="0"/>
              <a:t>Clinical result:</a:t>
            </a:r>
            <a:endParaRPr lang="en-GB" dirty="0"/>
          </a:p>
          <a:p>
            <a:r>
              <a:rPr lang="en-GB" b="1" dirty="0"/>
              <a:t>“ON” period:</a:t>
            </a:r>
            <a:r>
              <a:rPr lang="en-GB" dirty="0"/>
              <a:t> medication working → smooth, mobile movement.</a:t>
            </a:r>
          </a:p>
          <a:p>
            <a:r>
              <a:rPr lang="en-GB" b="1" dirty="0"/>
              <a:t>“OFF” period:</a:t>
            </a:r>
            <a:r>
              <a:rPr lang="en-GB" dirty="0"/>
              <a:t> drug effect wears off → tremor, rigidity, bradykinesia return suddenly.</a:t>
            </a:r>
          </a:p>
          <a:p>
            <a:r>
              <a:rPr lang="en-GB" b="1" dirty="0"/>
              <a:t>Physiotherapy relevance:</a:t>
            </a:r>
            <a:endParaRPr lang="en-GB" dirty="0"/>
          </a:p>
          <a:p>
            <a:r>
              <a:rPr lang="en-GB" dirty="0"/>
              <a:t>Schedule therapy sessions during </a:t>
            </a:r>
            <a:r>
              <a:rPr lang="en-GB" b="1" dirty="0"/>
              <a:t>predictable ON phases</a:t>
            </a:r>
            <a:r>
              <a:rPr lang="en-GB" dirty="0"/>
              <a:t> for best mobility and participation.</a:t>
            </a:r>
          </a:p>
          <a:p>
            <a:r>
              <a:rPr lang="en-GB" dirty="0"/>
              <a:t>Educate patients to </a:t>
            </a:r>
            <a:r>
              <a:rPr lang="en-GB" b="1" dirty="0"/>
              <a:t>track fluctuations</a:t>
            </a:r>
            <a:r>
              <a:rPr lang="en-GB" dirty="0"/>
              <a:t> and coordinate with the MDT for medication review.</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38</a:t>
            </a:fld>
            <a:endParaRPr lang="en-GB"/>
          </a:p>
        </p:txBody>
      </p:sp>
    </p:spTree>
    <p:extLst>
      <p:ext uri="{BB962C8B-B14F-4D97-AF65-F5344CB8AC3E}">
        <p14:creationId xmlns:p14="http://schemas.microsoft.com/office/powerpoint/2010/main" val="15925083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Parkinson’s is caused by </a:t>
            </a:r>
            <a:r>
              <a:rPr lang="en-GB" b="1" dirty="0"/>
              <a:t>loss of dopamine-producing neurons</a:t>
            </a:r>
            <a:r>
              <a:rPr lang="en-GB" dirty="0"/>
              <a:t> in the </a:t>
            </a:r>
            <a:r>
              <a:rPr lang="en-GB" b="1" dirty="0"/>
              <a:t>substantia </a:t>
            </a:r>
            <a:r>
              <a:rPr lang="en-GB" b="1" dirty="0" err="1"/>
              <a:t>nigra</a:t>
            </a:r>
            <a:r>
              <a:rPr lang="en-GB" dirty="0"/>
              <a:t>, leading to disrupted control of movement.</a:t>
            </a:r>
          </a:p>
          <a:p>
            <a:r>
              <a:rPr lang="en-GB" b="1" dirty="0"/>
              <a:t>Levodopa</a:t>
            </a:r>
            <a:r>
              <a:rPr lang="en-GB" dirty="0"/>
              <a:t> (and other dopaminergic drugs) temporarily restore dopamine levels, improving movement (“ON” phase).</a:t>
            </a:r>
          </a:p>
          <a:p>
            <a:r>
              <a:rPr lang="en-GB" b="1" dirty="0"/>
              <a:t>Why ON/OFF Fluctuations Occur:</a:t>
            </a:r>
            <a:endParaRPr lang="en-GB" dirty="0"/>
          </a:p>
          <a:p>
            <a:r>
              <a:rPr lang="en-GB" b="1" dirty="0"/>
              <a:t>Disease progression:</a:t>
            </a:r>
            <a:r>
              <a:rPr lang="en-GB" dirty="0"/>
              <a:t> fewer surviving neurons to store and release dopamine → brain relies directly on medication levels.</a:t>
            </a:r>
          </a:p>
          <a:p>
            <a:r>
              <a:rPr lang="en-GB" b="1" dirty="0"/>
              <a:t>Levodopa’s short half-life (~90 min):</a:t>
            </a:r>
            <a:r>
              <a:rPr lang="en-GB" dirty="0"/>
              <a:t> blood levels rise and fall rapidly → fluctuating dopamine availability.</a:t>
            </a:r>
          </a:p>
          <a:p>
            <a:r>
              <a:rPr lang="en-GB" b="1" dirty="0"/>
              <a:t>Reduced buffering capacity:</a:t>
            </a:r>
            <a:r>
              <a:rPr lang="en-GB" dirty="0"/>
              <a:t> loss of neuronal terminals means the brain can’t smooth out dopamine peaks/troughs.</a:t>
            </a:r>
          </a:p>
          <a:p>
            <a:r>
              <a:rPr lang="en-GB" b="1" dirty="0"/>
              <a:t>Receptor and enzyme changes:</a:t>
            </a:r>
            <a:r>
              <a:rPr lang="en-GB" dirty="0"/>
              <a:t> long-term levodopa use alters dopamine receptor sensitivity and metabolism.</a:t>
            </a:r>
          </a:p>
          <a:p>
            <a:r>
              <a:rPr lang="en-GB" b="1" dirty="0"/>
              <a:t>Dietary or absorption factors:</a:t>
            </a:r>
            <a:r>
              <a:rPr lang="en-GB" dirty="0"/>
              <a:t> protein-rich meals and delayed gastric emptying can reduce levodopa absorption → sudden “OFF.”</a:t>
            </a:r>
          </a:p>
          <a:p>
            <a:r>
              <a:rPr lang="en-GB" b="1" dirty="0"/>
              <a:t>Clinical result:</a:t>
            </a:r>
            <a:endParaRPr lang="en-GB" dirty="0"/>
          </a:p>
          <a:p>
            <a:r>
              <a:rPr lang="en-GB" b="1" dirty="0"/>
              <a:t>“ON” period:</a:t>
            </a:r>
            <a:r>
              <a:rPr lang="en-GB" dirty="0"/>
              <a:t> medication working → smooth, mobile movement.</a:t>
            </a:r>
          </a:p>
          <a:p>
            <a:r>
              <a:rPr lang="en-GB" b="1" dirty="0"/>
              <a:t>“OFF” period:</a:t>
            </a:r>
            <a:r>
              <a:rPr lang="en-GB" dirty="0"/>
              <a:t> drug effect wears off → tremor, rigidity, bradykinesia return suddenly.</a:t>
            </a:r>
          </a:p>
          <a:p>
            <a:r>
              <a:rPr lang="en-GB" b="1" dirty="0"/>
              <a:t>Physiotherapy relevance:</a:t>
            </a:r>
            <a:endParaRPr lang="en-GB" dirty="0"/>
          </a:p>
          <a:p>
            <a:r>
              <a:rPr lang="en-GB" dirty="0"/>
              <a:t>Schedule therapy sessions during </a:t>
            </a:r>
            <a:r>
              <a:rPr lang="en-GB" b="1" dirty="0"/>
              <a:t>predictable ON phases</a:t>
            </a:r>
            <a:r>
              <a:rPr lang="en-GB" dirty="0"/>
              <a:t> for best mobility and participation.</a:t>
            </a:r>
          </a:p>
          <a:p>
            <a:r>
              <a:rPr lang="en-GB" dirty="0"/>
              <a:t>Educate patients to </a:t>
            </a:r>
            <a:r>
              <a:rPr lang="en-GB" b="1" dirty="0"/>
              <a:t>track fluctuations</a:t>
            </a:r>
            <a:r>
              <a:rPr lang="en-GB" dirty="0"/>
              <a:t> and coordinate with the MDT for medication review.</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39</a:t>
            </a:fld>
            <a:endParaRPr lang="en-GB"/>
          </a:p>
        </p:txBody>
      </p:sp>
    </p:spTree>
    <p:extLst>
      <p:ext uri="{BB962C8B-B14F-4D97-AF65-F5344CB8AC3E}">
        <p14:creationId xmlns:p14="http://schemas.microsoft.com/office/powerpoint/2010/main" val="32465316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Pyramidal signs are a set of neurological symptoms indicating damage or dysfunction in the </a:t>
            </a:r>
            <a:r>
              <a:rPr lang="en-GB" sz="1200" b="0" i="0" kern="1200" dirty="0">
                <a:solidFill>
                  <a:schemeClr val="tx1"/>
                </a:solidFill>
                <a:effectLst/>
                <a:latin typeface="+mn-lt"/>
                <a:ea typeface="+mn-ea"/>
                <a:cs typeface="+mn-cs"/>
                <a:hlinkClick r:id="rId3"/>
              </a:rPr>
              <a:t>pyramidal tract</a:t>
            </a:r>
            <a:r>
              <a:rPr lang="en-GB" sz="1200" b="0" i="0" kern="1200" dirty="0">
                <a:solidFill>
                  <a:schemeClr val="tx1"/>
                </a:solidFill>
                <a:effectLst/>
                <a:latin typeface="+mn-lt"/>
                <a:ea typeface="+mn-ea"/>
                <a:cs typeface="+mn-cs"/>
              </a:rPr>
              <a:t> of the brain or spinal cord. They include weakness, spasticity, hyperreflexia, and the Babinski sign. </a:t>
            </a:r>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40</a:t>
            </a:fld>
            <a:endParaRPr lang="en-GB"/>
          </a:p>
        </p:txBody>
      </p:sp>
    </p:spTree>
    <p:extLst>
      <p:ext uri="{BB962C8B-B14F-4D97-AF65-F5344CB8AC3E}">
        <p14:creationId xmlns:p14="http://schemas.microsoft.com/office/powerpoint/2010/main" val="28206560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Stiff ribcage/rigidity can affect respiration.</a:t>
            </a:r>
          </a:p>
          <a:p>
            <a:endParaRPr lang="en-GB" dirty="0"/>
          </a:p>
          <a:p>
            <a:r>
              <a:rPr lang="en-GB" sz="1200" b="0" i="0" kern="1200" dirty="0">
                <a:solidFill>
                  <a:schemeClr val="tx1"/>
                </a:solidFill>
                <a:effectLst/>
                <a:latin typeface="+mn-lt"/>
                <a:ea typeface="+mn-ea"/>
                <a:cs typeface="+mn-cs"/>
              </a:rPr>
              <a:t>Unified Parkinson's Disease Rating Scale,</a:t>
            </a:r>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41</a:t>
            </a:fld>
            <a:endParaRPr lang="en-GB"/>
          </a:p>
        </p:txBody>
      </p:sp>
    </p:spTree>
    <p:extLst>
      <p:ext uri="{BB962C8B-B14F-4D97-AF65-F5344CB8AC3E}">
        <p14:creationId xmlns:p14="http://schemas.microsoft.com/office/powerpoint/2010/main" val="4280984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LSVT BIG (</a:t>
            </a:r>
            <a:r>
              <a:rPr lang="en-GB" i="1" dirty="0"/>
              <a:t>Lee Silverman Voice Treatment – BIG</a:t>
            </a:r>
            <a:r>
              <a:rPr lang="en-GB" dirty="0"/>
              <a:t>) is an </a:t>
            </a:r>
            <a:r>
              <a:rPr lang="en-GB" b="1" dirty="0"/>
              <a:t>evidence-based physiotherapy programme</a:t>
            </a:r>
            <a:r>
              <a:rPr lang="en-GB" dirty="0"/>
              <a:t> designed to improve movement </a:t>
            </a:r>
            <a:r>
              <a:rPr lang="en-GB" b="1" dirty="0"/>
              <a:t>amplitude</a:t>
            </a:r>
            <a:r>
              <a:rPr lang="en-GB" dirty="0"/>
              <a:t> (size) in people with </a:t>
            </a:r>
            <a:r>
              <a:rPr lang="en-GB" b="1" dirty="0"/>
              <a:t>Parkinson’s disease</a:t>
            </a:r>
            <a:r>
              <a:rPr lang="en-GB" dirty="0"/>
              <a:t>.</a:t>
            </a:r>
          </a:p>
          <a:p>
            <a:r>
              <a:rPr lang="en-GB" b="1" dirty="0"/>
              <a:t>Core Principle:</a:t>
            </a:r>
            <a:br>
              <a:rPr lang="en-GB" dirty="0"/>
            </a:br>
            <a:r>
              <a:rPr lang="en-GB" dirty="0"/>
              <a:t>Parkinson’s causes patients to </a:t>
            </a:r>
            <a:r>
              <a:rPr lang="en-GB" b="1" dirty="0"/>
              <a:t>perceive their movements as normal</a:t>
            </a:r>
            <a:r>
              <a:rPr lang="en-GB" dirty="0"/>
              <a:t>, even when they are small or slow.</a:t>
            </a:r>
            <a:br>
              <a:rPr lang="en-GB" dirty="0"/>
            </a:br>
            <a:r>
              <a:rPr lang="en-GB" dirty="0"/>
              <a:t>LSVT BIG retrains the brain to recognise and produce </a:t>
            </a:r>
            <a:r>
              <a:rPr lang="en-GB" b="1" dirty="0"/>
              <a:t>bigger, more normal movements</a:t>
            </a:r>
            <a:r>
              <a:rPr lang="en-GB" dirty="0"/>
              <a:t>.</a:t>
            </a:r>
          </a:p>
          <a:p>
            <a:r>
              <a:rPr lang="en-GB" b="1" dirty="0"/>
              <a:t>Key Features:</a:t>
            </a:r>
            <a:endParaRPr lang="en-GB" dirty="0"/>
          </a:p>
          <a:p>
            <a:r>
              <a:rPr lang="en-GB" dirty="0"/>
              <a:t>Focus on </a:t>
            </a:r>
            <a:r>
              <a:rPr lang="en-GB" b="1" dirty="0"/>
              <a:t>large, exaggerated movements</a:t>
            </a:r>
            <a:r>
              <a:rPr lang="en-GB" dirty="0"/>
              <a:t> (“Think BIG!”)</a:t>
            </a:r>
          </a:p>
          <a:p>
            <a:r>
              <a:rPr lang="en-GB" dirty="0"/>
              <a:t>High </a:t>
            </a:r>
            <a:r>
              <a:rPr lang="en-GB" b="1" dirty="0"/>
              <a:t>intensity and repetition</a:t>
            </a:r>
            <a:r>
              <a:rPr lang="en-GB" dirty="0"/>
              <a:t> (4 sessions/week for 4 weeks)</a:t>
            </a:r>
          </a:p>
          <a:p>
            <a:r>
              <a:rPr lang="en-GB" dirty="0"/>
              <a:t>Task-specific practice for daily activities (walking, reaching, turning)</a:t>
            </a:r>
          </a:p>
          <a:p>
            <a:r>
              <a:rPr lang="en-GB" dirty="0"/>
              <a:t>Combines </a:t>
            </a:r>
            <a:r>
              <a:rPr lang="en-GB" b="1" dirty="0"/>
              <a:t>motor learning</a:t>
            </a:r>
            <a:r>
              <a:rPr lang="en-GB" dirty="0"/>
              <a:t>, </a:t>
            </a:r>
            <a:r>
              <a:rPr lang="en-GB" b="1" dirty="0"/>
              <a:t>cueing</a:t>
            </a:r>
            <a:r>
              <a:rPr lang="en-GB" dirty="0"/>
              <a:t>, and </a:t>
            </a:r>
            <a:r>
              <a:rPr lang="en-GB" b="1" dirty="0"/>
              <a:t>amplitude calibration</a:t>
            </a:r>
            <a:endParaRPr lang="en-GB" dirty="0"/>
          </a:p>
          <a:p>
            <a:r>
              <a:rPr lang="en-GB" b="1" dirty="0"/>
              <a:t>Benefits:</a:t>
            </a:r>
            <a:endParaRPr lang="en-GB" dirty="0"/>
          </a:p>
          <a:p>
            <a:r>
              <a:rPr lang="en-GB" dirty="0"/>
              <a:t>Improves </a:t>
            </a:r>
            <a:r>
              <a:rPr lang="en-GB" b="1" dirty="0"/>
              <a:t>speed, balance, and gait</a:t>
            </a:r>
            <a:endParaRPr lang="en-GB" dirty="0"/>
          </a:p>
          <a:p>
            <a:r>
              <a:rPr lang="en-GB" dirty="0"/>
              <a:t>Enhances </a:t>
            </a:r>
            <a:r>
              <a:rPr lang="en-GB" b="1" dirty="0"/>
              <a:t>functional mobility</a:t>
            </a:r>
            <a:r>
              <a:rPr lang="en-GB" dirty="0"/>
              <a:t> and </a:t>
            </a:r>
            <a:r>
              <a:rPr lang="en-GB" b="1" dirty="0"/>
              <a:t>confidence</a:t>
            </a:r>
            <a:endParaRPr lang="en-GB" dirty="0"/>
          </a:p>
          <a:p>
            <a:r>
              <a:rPr lang="en-GB" dirty="0"/>
              <a:t>Can be integrated into home exercise and community programmes</a:t>
            </a:r>
          </a:p>
          <a:p>
            <a:r>
              <a:rPr lang="en-GB" b="1" dirty="0"/>
              <a:t>Physiotherapy Role:</a:t>
            </a:r>
            <a:endParaRPr lang="en-GB" dirty="0"/>
          </a:p>
          <a:p>
            <a:r>
              <a:rPr lang="en-GB" dirty="0"/>
              <a:t>Deliver structured sessions, reinforce home practice, and adapt exercises to functional goals.</a:t>
            </a:r>
          </a:p>
          <a:p>
            <a:endParaRPr lang="en-GB" dirty="0"/>
          </a:p>
          <a:p>
            <a:r>
              <a:rPr lang="en-GB" dirty="0"/>
              <a:t>ALSO NOTE LSVT LOUD – SLT.</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42</a:t>
            </a:fld>
            <a:endParaRPr lang="en-GB"/>
          </a:p>
        </p:txBody>
      </p:sp>
    </p:spTree>
    <p:extLst>
      <p:ext uri="{BB962C8B-B14F-4D97-AF65-F5344CB8AC3E}">
        <p14:creationId xmlns:p14="http://schemas.microsoft.com/office/powerpoint/2010/main" val="37076599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Cerebellum has three lobes: anterior, posterior, </a:t>
            </a:r>
            <a:r>
              <a:rPr lang="en-GB" dirty="0" err="1"/>
              <a:t>flocculonodular</a:t>
            </a:r>
            <a:r>
              <a:rPr lang="en-GB" dirty="0"/>
              <a:t>.</a:t>
            </a:r>
          </a:p>
          <a:p>
            <a:r>
              <a:rPr lang="en-GB" dirty="0"/>
              <a:t>• Responsible for coordination, balance, and error correction.</a:t>
            </a:r>
          </a:p>
          <a:p>
            <a:r>
              <a:rPr lang="en-GB" dirty="0"/>
              <a:t>• Input: spinal cord, vestibular system, cerebral cortex.</a:t>
            </a:r>
          </a:p>
          <a:p>
            <a:r>
              <a:rPr lang="en-GB" dirty="0"/>
              <a:t>• Output: thalamus and motor cortex for movement control.</a:t>
            </a:r>
          </a:p>
          <a:p>
            <a:endParaRPr lang="en-GB" dirty="0"/>
          </a:p>
          <a:p>
            <a:r>
              <a:rPr lang="en-GB" b="1" dirty="0"/>
              <a:t>Normal Function of the Cerebellum:</a:t>
            </a:r>
            <a:endParaRPr lang="en-GB" dirty="0"/>
          </a:p>
          <a:p>
            <a:r>
              <a:rPr lang="en-GB" dirty="0"/>
              <a:t>Integrates </a:t>
            </a:r>
            <a:r>
              <a:rPr lang="en-GB" b="1" dirty="0"/>
              <a:t>sensory input (proprioception, vestibular, visual)</a:t>
            </a:r>
            <a:r>
              <a:rPr lang="en-GB" dirty="0"/>
              <a:t> with </a:t>
            </a:r>
            <a:r>
              <a:rPr lang="en-GB" b="1" dirty="0"/>
              <a:t>motor output</a:t>
            </a:r>
            <a:r>
              <a:rPr lang="en-GB" dirty="0"/>
              <a:t>.</a:t>
            </a:r>
          </a:p>
          <a:p>
            <a:r>
              <a:rPr lang="en-GB" dirty="0"/>
              <a:t>Ensures </a:t>
            </a:r>
            <a:r>
              <a:rPr lang="en-GB" b="1" dirty="0"/>
              <a:t>smooth, coordinated, and precise movement</a:t>
            </a:r>
            <a:r>
              <a:rPr lang="en-GB" dirty="0"/>
              <a:t>.</a:t>
            </a:r>
          </a:p>
          <a:p>
            <a:r>
              <a:rPr lang="en-GB" dirty="0"/>
              <a:t>Regulates </a:t>
            </a:r>
            <a:r>
              <a:rPr lang="en-GB" b="1" dirty="0"/>
              <a:t>muscle tone, posture, and balance</a:t>
            </a:r>
            <a:r>
              <a:rPr lang="en-GB" dirty="0"/>
              <a:t>.</a:t>
            </a:r>
          </a:p>
          <a:p>
            <a:endParaRPr lang="en-GB" dirty="0"/>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46</a:t>
            </a:fld>
            <a:endParaRPr lang="en-GB"/>
          </a:p>
        </p:txBody>
      </p:sp>
    </p:spTree>
    <p:extLst>
      <p:ext uri="{BB962C8B-B14F-4D97-AF65-F5344CB8AC3E}">
        <p14:creationId xmlns:p14="http://schemas.microsoft.com/office/powerpoint/2010/main" val="40746875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47</a:t>
            </a:fld>
            <a:endParaRPr lang="en-GB"/>
          </a:p>
        </p:txBody>
      </p:sp>
    </p:spTree>
    <p:extLst>
      <p:ext uri="{BB962C8B-B14F-4D97-AF65-F5344CB8AC3E}">
        <p14:creationId xmlns:p14="http://schemas.microsoft.com/office/powerpoint/2010/main" val="17922556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Damage to cerebellar neurons (especially Purkinje cells)</a:t>
            </a:r>
            <a:r>
              <a:rPr lang="en-GB" dirty="0"/>
              <a:t> →</a:t>
            </a:r>
            <a:br>
              <a:rPr lang="en-GB" dirty="0"/>
            </a:br>
            <a:r>
              <a:rPr lang="en-GB" dirty="0"/>
              <a:t>these cells normally </a:t>
            </a:r>
            <a:r>
              <a:rPr lang="en-GB" i="1" dirty="0"/>
              <a:t>inhibit</a:t>
            </a:r>
            <a:r>
              <a:rPr lang="en-GB" dirty="0"/>
              <a:t> over-activity and fine-tune signals to the rest of the brain.</a:t>
            </a:r>
            <a:br>
              <a:rPr lang="en-GB" dirty="0"/>
            </a:br>
            <a:r>
              <a:rPr lang="en-GB" dirty="0"/>
              <a:t>When they die or stop functioning, movement signals become </a:t>
            </a:r>
            <a:r>
              <a:rPr lang="en-GB" b="1" dirty="0"/>
              <a:t>uncontrolled and poorly timed</a:t>
            </a:r>
            <a:r>
              <a:rPr lang="en-GB" dirty="0"/>
              <a:t>.</a:t>
            </a:r>
          </a:p>
          <a:p>
            <a:r>
              <a:rPr lang="en-GB" b="1" dirty="0"/>
              <a:t>Communication breakdown</a:t>
            </a:r>
            <a:r>
              <a:rPr lang="en-GB" dirty="0"/>
              <a:t> between the cerebellum and the </a:t>
            </a:r>
            <a:r>
              <a:rPr lang="en-GB" b="1" dirty="0"/>
              <a:t>motor cortex or brainstem</a:t>
            </a:r>
            <a:r>
              <a:rPr lang="en-GB" dirty="0"/>
              <a:t> →</a:t>
            </a:r>
            <a:br>
              <a:rPr lang="en-GB" dirty="0"/>
            </a:br>
            <a:r>
              <a:rPr lang="en-GB" dirty="0"/>
              <a:t>the body can’t properly correct movement errors.</a:t>
            </a:r>
          </a:p>
          <a:p>
            <a:r>
              <a:rPr lang="en-GB" b="1" dirty="0"/>
              <a:t>Loss of sensory integration</a:t>
            </a:r>
            <a:r>
              <a:rPr lang="en-GB" dirty="0"/>
              <a:t> →</a:t>
            </a:r>
            <a:br>
              <a:rPr lang="en-GB" dirty="0"/>
            </a:br>
            <a:r>
              <a:rPr lang="en-GB" dirty="0"/>
              <a:t>without good proprioceptive or vestibular feedback, the brain can’t sense where the limbs are in space.</a:t>
            </a:r>
          </a:p>
          <a:p>
            <a:r>
              <a:rPr lang="en-GB" b="1" dirty="0"/>
              <a:t>Result:</a:t>
            </a:r>
            <a:br>
              <a:rPr lang="en-GB" dirty="0"/>
            </a:br>
            <a:r>
              <a:rPr lang="en-GB" dirty="0"/>
              <a:t>Movements become </a:t>
            </a:r>
            <a:r>
              <a:rPr lang="en-GB" b="1" dirty="0"/>
              <a:t>inaccurate</a:t>
            </a:r>
            <a:r>
              <a:rPr lang="en-GB" dirty="0"/>
              <a:t>, </a:t>
            </a:r>
            <a:r>
              <a:rPr lang="en-GB" b="1" dirty="0"/>
              <a:t>jerky</a:t>
            </a:r>
            <a:r>
              <a:rPr lang="en-GB" dirty="0"/>
              <a:t>, and </a:t>
            </a:r>
            <a:r>
              <a:rPr lang="en-GB" b="1" dirty="0"/>
              <a:t>unsteady</a:t>
            </a:r>
            <a:r>
              <a:rPr lang="en-GB" dirty="0"/>
              <a:t> — this is </a:t>
            </a:r>
            <a:r>
              <a:rPr lang="en-GB" i="1" dirty="0"/>
              <a:t>ataxia</a:t>
            </a:r>
            <a:r>
              <a:rPr lang="en-GB" dirty="0"/>
              <a:t>.</a:t>
            </a:r>
          </a:p>
          <a:p>
            <a:endParaRPr lang="en-GB" dirty="0"/>
          </a:p>
          <a:p>
            <a:endParaRPr lang="en-GB" dirty="0"/>
          </a:p>
          <a:p>
            <a:r>
              <a:rPr lang="en-GB" b="1" dirty="0"/>
              <a:t>protein aggregation” means</a:t>
            </a:r>
          </a:p>
          <a:p>
            <a:r>
              <a:rPr lang="en-GB" dirty="0"/>
              <a:t>Normally, cells make proteins that fold into specific shapes so they can function properly.</a:t>
            </a:r>
          </a:p>
          <a:p>
            <a:r>
              <a:rPr lang="en-GB" dirty="0"/>
              <a:t>In many </a:t>
            </a:r>
            <a:r>
              <a:rPr lang="en-GB" b="1" dirty="0"/>
              <a:t>genetic ataxias</a:t>
            </a:r>
            <a:r>
              <a:rPr lang="en-GB" dirty="0"/>
              <a:t>, mutations cause </a:t>
            </a:r>
            <a:r>
              <a:rPr lang="en-GB" b="1" dirty="0"/>
              <a:t>abnormal or misfolded proteins</a:t>
            </a:r>
            <a:r>
              <a:rPr lang="en-GB" dirty="0"/>
              <a:t> to be produced.</a:t>
            </a:r>
          </a:p>
          <a:p>
            <a:r>
              <a:rPr lang="en-GB" dirty="0"/>
              <a:t>These misfolded proteins </a:t>
            </a:r>
            <a:r>
              <a:rPr lang="en-GB" b="1" dirty="0"/>
              <a:t>clump together (aggregate)</a:t>
            </a:r>
            <a:r>
              <a:rPr lang="en-GB" dirty="0"/>
              <a:t> inside neurons, particularly </a:t>
            </a:r>
            <a:r>
              <a:rPr lang="en-GB" b="1" dirty="0"/>
              <a:t>Purkinje cells</a:t>
            </a:r>
            <a:r>
              <a:rPr lang="en-GB" dirty="0"/>
              <a:t> and </a:t>
            </a:r>
            <a:r>
              <a:rPr lang="en-GB" b="1" dirty="0"/>
              <a:t>deep cerebellar nuclei</a:t>
            </a:r>
            <a:r>
              <a:rPr lang="en-GB" dirty="0"/>
              <a:t>.</a:t>
            </a:r>
          </a:p>
          <a:p>
            <a:r>
              <a:rPr lang="en-GB" dirty="0"/>
              <a:t>Over time, these </a:t>
            </a:r>
            <a:r>
              <a:rPr lang="en-GB" b="1" dirty="0"/>
              <a:t>protein aggregates are toxic</a:t>
            </a:r>
            <a:r>
              <a:rPr lang="en-GB" dirty="0"/>
              <a:t> — they disrupt normal cell function, energy metabolism, and eventually lead to </a:t>
            </a:r>
            <a:r>
              <a:rPr lang="en-GB" b="1" dirty="0"/>
              <a:t>cell death</a:t>
            </a:r>
            <a:r>
              <a:rPr lang="en-GB" dirty="0"/>
              <a:t>.</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48</a:t>
            </a:fld>
            <a:endParaRPr lang="en-GB"/>
          </a:p>
        </p:txBody>
      </p:sp>
    </p:spTree>
    <p:extLst>
      <p:ext uri="{BB962C8B-B14F-4D97-AF65-F5344CB8AC3E}">
        <p14:creationId xmlns:p14="http://schemas.microsoft.com/office/powerpoint/2010/main" val="23551175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49</a:t>
            </a:fld>
            <a:endParaRPr lang="en-GB"/>
          </a:p>
        </p:txBody>
      </p:sp>
    </p:spTree>
    <p:extLst>
      <p:ext uri="{BB962C8B-B14F-4D97-AF65-F5344CB8AC3E}">
        <p14:creationId xmlns:p14="http://schemas.microsoft.com/office/powerpoint/2010/main" val="2092311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50</a:t>
            </a:fld>
            <a:endParaRPr lang="en-GB"/>
          </a:p>
        </p:txBody>
      </p:sp>
    </p:spTree>
    <p:extLst>
      <p:ext uri="{BB962C8B-B14F-4D97-AF65-F5344CB8AC3E}">
        <p14:creationId xmlns:p14="http://schemas.microsoft.com/office/powerpoint/2010/main" val="21452667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Movements become </a:t>
            </a:r>
            <a:r>
              <a:rPr lang="en-GB" b="1" dirty="0"/>
              <a:t>inaccurate, delayed, and poorly coordinated</a:t>
            </a:r>
            <a:r>
              <a:rPr lang="en-GB" dirty="0"/>
              <a:t>.</a:t>
            </a:r>
          </a:p>
          <a:p>
            <a:r>
              <a:rPr lang="en-GB" dirty="0"/>
              <a:t>Presents as </a:t>
            </a:r>
            <a:r>
              <a:rPr lang="en-GB" b="1" dirty="0"/>
              <a:t>dysmetria</a:t>
            </a:r>
            <a:r>
              <a:rPr lang="en-GB" dirty="0"/>
              <a:t>, </a:t>
            </a:r>
            <a:r>
              <a:rPr lang="en-GB" b="1" dirty="0"/>
              <a:t>intention tremor</a:t>
            </a:r>
            <a:r>
              <a:rPr lang="en-GB" dirty="0"/>
              <a:t>, </a:t>
            </a:r>
            <a:r>
              <a:rPr lang="en-GB" b="1" dirty="0"/>
              <a:t>ataxic gait</a:t>
            </a:r>
            <a:r>
              <a:rPr lang="en-GB" dirty="0"/>
              <a:t>, </a:t>
            </a:r>
            <a:r>
              <a:rPr lang="en-GB" b="1" dirty="0"/>
              <a:t>dysarthria</a:t>
            </a:r>
            <a:r>
              <a:rPr lang="en-GB" dirty="0"/>
              <a:t>, and </a:t>
            </a:r>
            <a:r>
              <a:rPr lang="en-GB" b="1" dirty="0"/>
              <a:t>nystagmus</a:t>
            </a:r>
            <a:r>
              <a:rPr lang="en-GB" dirty="0"/>
              <a:t>.</a:t>
            </a:r>
          </a:p>
          <a:p>
            <a:r>
              <a:rPr lang="en-GB" dirty="0"/>
              <a:t>Muscle tone may be </a:t>
            </a:r>
            <a:r>
              <a:rPr lang="en-GB" b="1" dirty="0"/>
              <a:t>hypotonic</a:t>
            </a:r>
            <a:r>
              <a:rPr lang="en-GB" dirty="0"/>
              <a:t> due to reduced cerebellar facilitation of spinal motor neurons.</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51</a:t>
            </a:fld>
            <a:endParaRPr lang="en-GB"/>
          </a:p>
        </p:txBody>
      </p:sp>
    </p:spTree>
    <p:extLst>
      <p:ext uri="{BB962C8B-B14F-4D97-AF65-F5344CB8AC3E}">
        <p14:creationId xmlns:p14="http://schemas.microsoft.com/office/powerpoint/2010/main" val="4260703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sng" strike="noStrike" kern="1200" dirty="0">
                <a:solidFill>
                  <a:schemeClr val="tx1"/>
                </a:solidFill>
                <a:effectLst/>
                <a:latin typeface="+mn-lt"/>
                <a:ea typeface="+mn-ea"/>
                <a:cs typeface="+mn-cs"/>
              </a:rPr>
              <a:t>International Cooperative Ataxia Rating Scale</a:t>
            </a:r>
          </a:p>
          <a:p>
            <a:pPr fontAlgn="ctr"/>
            <a:r>
              <a:rPr lang="en-GB" sz="1200" b="0" i="0" kern="1200" dirty="0">
                <a:solidFill>
                  <a:schemeClr val="tx1"/>
                </a:solidFill>
                <a:effectLst/>
                <a:latin typeface="+mn-lt"/>
                <a:ea typeface="+mn-ea"/>
                <a:cs typeface="+mn-cs"/>
              </a:rPr>
              <a:t>The ICARS was developed to </a:t>
            </a:r>
            <a:r>
              <a:rPr lang="en-GB" sz="1200" b="1" i="0" kern="1200" dirty="0">
                <a:solidFill>
                  <a:schemeClr val="tx1"/>
                </a:solidFill>
                <a:effectLst/>
                <a:latin typeface="+mn-lt"/>
                <a:ea typeface="+mn-ea"/>
                <a:cs typeface="+mn-cs"/>
              </a:rPr>
              <a:t>quantify the level of impairment as a result of ataxia</a:t>
            </a:r>
            <a:r>
              <a:rPr lang="en-GB" sz="1200" b="0" i="0" kern="1200" dirty="0">
                <a:solidFill>
                  <a:schemeClr val="tx1"/>
                </a:solidFill>
                <a:effectLst/>
                <a:latin typeface="+mn-lt"/>
                <a:ea typeface="+mn-ea"/>
                <a:cs typeface="+mn-cs"/>
              </a:rPr>
              <a:t> as related to hereditary ataxias.</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53</a:t>
            </a:fld>
            <a:endParaRPr lang="en-GB"/>
          </a:p>
        </p:txBody>
      </p:sp>
    </p:spTree>
    <p:extLst>
      <p:ext uri="{BB962C8B-B14F-4D97-AF65-F5344CB8AC3E}">
        <p14:creationId xmlns:p14="http://schemas.microsoft.com/office/powerpoint/2010/main" val="31110976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Think about vestibular priming also</a:t>
            </a:r>
          </a:p>
          <a:p>
            <a:endParaRPr lang="en-GB" dirty="0"/>
          </a:p>
          <a:p>
            <a:r>
              <a:rPr lang="en-GB" dirty="0"/>
              <a:t>Limited high-quality evidence.</a:t>
            </a:r>
          </a:p>
          <a:p>
            <a:r>
              <a:rPr lang="en-GB" dirty="0"/>
              <a:t>• Heterogeneity of ataxia types complicates research. </a:t>
            </a:r>
            <a:r>
              <a:rPr lang="en-GB" b="1" dirty="0"/>
              <a:t>heterogeneity</a:t>
            </a:r>
            <a:r>
              <a:rPr lang="en-GB" dirty="0"/>
              <a:t> means </a:t>
            </a:r>
            <a:r>
              <a:rPr lang="en-GB" b="1" dirty="0"/>
              <a:t>there are many different forms or causes</a:t>
            </a:r>
            <a:r>
              <a:rPr lang="en-GB" dirty="0"/>
              <a:t> of ataxia — not just one single disease.</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54</a:t>
            </a:fld>
            <a:endParaRPr lang="en-GB"/>
          </a:p>
        </p:txBody>
      </p:sp>
    </p:spTree>
    <p:extLst>
      <p:ext uri="{BB962C8B-B14F-4D97-AF65-F5344CB8AC3E}">
        <p14:creationId xmlns:p14="http://schemas.microsoft.com/office/powerpoint/2010/main" val="10552954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55</a:t>
            </a:fld>
            <a:endParaRPr lang="en-GB"/>
          </a:p>
        </p:txBody>
      </p:sp>
    </p:spTree>
    <p:extLst>
      <p:ext uri="{BB962C8B-B14F-4D97-AF65-F5344CB8AC3E}">
        <p14:creationId xmlns:p14="http://schemas.microsoft.com/office/powerpoint/2010/main" val="33584531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Opposite of hypokinetic disorders (e.g., Parkinson’s disease)</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59</a:t>
            </a:fld>
            <a:endParaRPr lang="en-GB"/>
          </a:p>
        </p:txBody>
      </p:sp>
    </p:spTree>
    <p:extLst>
      <p:ext uri="{BB962C8B-B14F-4D97-AF65-F5344CB8AC3E}">
        <p14:creationId xmlns:p14="http://schemas.microsoft.com/office/powerpoint/2010/main" val="24529718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This neurodegenerative disorder is characterized by an expansion of the CAG- ((cytosine-adenine-guanine)  trinucleotide sequence within the </a:t>
            </a:r>
            <a:r>
              <a:rPr lang="en-GB" sz="1200" b="0" i="1" kern="1200" dirty="0">
                <a:solidFill>
                  <a:schemeClr val="tx1"/>
                </a:solidFill>
                <a:effectLst/>
                <a:latin typeface="+mn-lt"/>
                <a:ea typeface="+mn-ea"/>
                <a:cs typeface="+mn-cs"/>
              </a:rPr>
              <a:t>HTT</a:t>
            </a:r>
            <a:r>
              <a:rPr lang="en-GB" sz="1200" b="0" i="0" kern="1200" dirty="0">
                <a:solidFill>
                  <a:schemeClr val="tx1"/>
                </a:solidFill>
                <a:effectLst/>
                <a:latin typeface="+mn-lt"/>
                <a:ea typeface="+mn-ea"/>
                <a:cs typeface="+mn-cs"/>
              </a:rPr>
              <a:t> gene on the short arm of chromosome 4. The condition is inherited in an autosomal dominant pattern, meaning only one copy of the altered gene is needed for a person to develop the disease, and each child of an affected individual has a 50% chance of inheriting it.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Early </a:t>
            </a:r>
            <a:r>
              <a:rPr lang="en-GB" sz="1200" b="0" i="0" u="none" strike="noStrike" kern="1200" dirty="0">
                <a:solidFill>
                  <a:schemeClr val="tx1"/>
                </a:solidFill>
                <a:effectLst/>
                <a:latin typeface="+mn-lt"/>
                <a:ea typeface="+mn-ea"/>
                <a:cs typeface="+mn-cs"/>
                <a:hlinkClick r:id="rId3"/>
              </a:rPr>
              <a:t>signs of Huntington’s disease</a:t>
            </a:r>
            <a:r>
              <a:rPr lang="en-GB" sz="1200" b="0" i="0" kern="1200" dirty="0">
                <a:solidFill>
                  <a:schemeClr val="tx1"/>
                </a:solidFill>
                <a:effectLst/>
                <a:latin typeface="+mn-lt"/>
                <a:ea typeface="+mn-ea"/>
                <a:cs typeface="+mn-cs"/>
              </a:rPr>
              <a:t> may include:</a:t>
            </a:r>
          </a:p>
          <a:p>
            <a:r>
              <a:rPr lang="en-GB" sz="1200" b="0" i="0" kern="1200" dirty="0">
                <a:solidFill>
                  <a:schemeClr val="tx1"/>
                </a:solidFill>
                <a:effectLst/>
                <a:latin typeface="+mn-lt"/>
                <a:ea typeface="+mn-ea"/>
                <a:cs typeface="+mn-cs"/>
              </a:rPr>
              <a:t>clumsiness or unsteadiness while walking</a:t>
            </a:r>
          </a:p>
          <a:p>
            <a:r>
              <a:rPr lang="en-GB" sz="1200" b="0" i="0" kern="1200" dirty="0">
                <a:solidFill>
                  <a:schemeClr val="tx1"/>
                </a:solidFill>
                <a:effectLst/>
                <a:latin typeface="+mn-lt"/>
                <a:ea typeface="+mn-ea"/>
                <a:cs typeface="+mn-cs"/>
              </a:rPr>
              <a:t>mild </a:t>
            </a:r>
            <a:r>
              <a:rPr lang="en-GB" sz="1200" b="0" i="0" u="none" strike="noStrike" kern="1200" dirty="0">
                <a:solidFill>
                  <a:schemeClr val="tx1"/>
                </a:solidFill>
                <a:effectLst/>
                <a:latin typeface="+mn-lt"/>
                <a:ea typeface="+mn-ea"/>
                <a:cs typeface="+mn-cs"/>
                <a:hlinkClick r:id="rId4"/>
              </a:rPr>
              <a:t>chorea</a:t>
            </a:r>
            <a:r>
              <a:rPr lang="en-GB" sz="1200" b="0" i="0" kern="1200" dirty="0">
                <a:solidFill>
                  <a:schemeClr val="tx1"/>
                </a:solidFill>
                <a:effectLst/>
                <a:latin typeface="+mn-lt"/>
                <a:ea typeface="+mn-ea"/>
                <a:cs typeface="+mn-cs"/>
              </a:rPr>
              <a:t>, or uncontrollable muscle movements, that can affect the arms, legs, or face</a:t>
            </a:r>
          </a:p>
          <a:p>
            <a:r>
              <a:rPr lang="en-GB" sz="1200" b="0" i="0" kern="1200" dirty="0">
                <a:solidFill>
                  <a:schemeClr val="tx1"/>
                </a:solidFill>
                <a:effectLst/>
                <a:latin typeface="+mn-lt"/>
                <a:ea typeface="+mn-ea"/>
                <a:cs typeface="+mn-cs"/>
              </a:rPr>
              <a:t>changes in mood, such as irritability, anxiety, depression, or apathy</a:t>
            </a:r>
          </a:p>
          <a:p>
            <a:r>
              <a:rPr lang="en-GB" sz="1200" b="0" i="0" kern="1200" dirty="0">
                <a:solidFill>
                  <a:schemeClr val="tx1"/>
                </a:solidFill>
                <a:effectLst/>
                <a:latin typeface="+mn-lt"/>
                <a:ea typeface="+mn-ea"/>
                <a:cs typeface="+mn-cs"/>
              </a:rPr>
              <a:t>difficulty concentrating or thinking through complicated problems</a:t>
            </a:r>
          </a:p>
          <a:p>
            <a:r>
              <a:rPr lang="en-GB" sz="1200" b="0" i="0" u="none" strike="noStrike" kern="1200" dirty="0">
                <a:solidFill>
                  <a:schemeClr val="tx1"/>
                </a:solidFill>
                <a:effectLst/>
                <a:latin typeface="+mn-lt"/>
                <a:ea typeface="+mn-ea"/>
                <a:cs typeface="+mn-cs"/>
                <a:hlinkClick r:id="rId5"/>
              </a:rPr>
              <a:t>abnormal eye movements</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a </a:t>
            </a:r>
            <a:r>
              <a:rPr lang="en-GB" sz="1200" b="0" i="0" u="none" strike="noStrike" kern="1200" dirty="0">
                <a:solidFill>
                  <a:schemeClr val="tx1"/>
                </a:solidFill>
                <a:effectLst/>
                <a:latin typeface="+mn-lt"/>
                <a:ea typeface="+mn-ea"/>
                <a:cs typeface="+mn-cs"/>
                <a:hlinkClick r:id="rId6"/>
              </a:rPr>
              <a:t>reduced sense of smell</a:t>
            </a:r>
            <a:endParaRPr lang="en-GB" sz="1200" b="0" i="0" kern="1200" dirty="0">
              <a:solidFill>
                <a:schemeClr val="tx1"/>
              </a:solidFill>
              <a:effectLst/>
              <a:latin typeface="+mn-lt"/>
              <a:ea typeface="+mn-ea"/>
              <a:cs typeface="+mn-cs"/>
            </a:endParaRPr>
          </a:p>
          <a:p>
            <a:endParaRPr lang="en-GB" dirty="0"/>
          </a:p>
          <a:p>
            <a:endParaRPr lang="en-GB" dirty="0"/>
          </a:p>
          <a:p>
            <a:r>
              <a:rPr lang="en-GB" sz="1200" b="1" i="0" kern="1200" dirty="0">
                <a:solidFill>
                  <a:schemeClr val="tx1"/>
                </a:solidFill>
                <a:effectLst/>
                <a:latin typeface="+mn-lt"/>
                <a:ea typeface="+mn-ea"/>
                <a:cs typeface="+mn-cs"/>
              </a:rPr>
              <a:t>Symptoms affecting movement</a:t>
            </a:r>
          </a:p>
          <a:p>
            <a:r>
              <a:rPr lang="en-GB" sz="1200" b="0" i="0" kern="1200" dirty="0">
                <a:solidFill>
                  <a:schemeClr val="tx1"/>
                </a:solidFill>
                <a:effectLst/>
                <a:latin typeface="+mn-lt"/>
                <a:ea typeface="+mn-ea"/>
                <a:cs typeface="+mn-cs"/>
              </a:rPr>
              <a:t>Huntington’s </a:t>
            </a:r>
            <a:r>
              <a:rPr lang="en-GB" sz="1200" b="0" i="0" u="none" strike="noStrike" kern="1200" dirty="0">
                <a:solidFill>
                  <a:schemeClr val="tx1"/>
                </a:solidFill>
                <a:effectLst/>
                <a:latin typeface="+mn-lt"/>
                <a:ea typeface="+mn-ea"/>
                <a:cs typeface="+mn-cs"/>
                <a:hlinkClick r:id="rId7"/>
              </a:rPr>
              <a:t>motor symptoms</a:t>
            </a:r>
            <a:r>
              <a:rPr lang="en-GB" sz="1200" b="0" i="0" kern="1200" dirty="0">
                <a:solidFill>
                  <a:schemeClr val="tx1"/>
                </a:solidFill>
                <a:effectLst/>
                <a:latin typeface="+mn-lt"/>
                <a:ea typeface="+mn-ea"/>
                <a:cs typeface="+mn-cs"/>
              </a:rPr>
              <a:t> may include:</a:t>
            </a:r>
          </a:p>
          <a:p>
            <a:r>
              <a:rPr lang="en-GB" sz="1200" b="0" i="0" kern="1200" dirty="0">
                <a:solidFill>
                  <a:schemeClr val="tx1"/>
                </a:solidFill>
                <a:effectLst/>
                <a:latin typeface="+mn-lt"/>
                <a:ea typeface="+mn-ea"/>
                <a:cs typeface="+mn-cs"/>
              </a:rPr>
              <a:t>chorea</a:t>
            </a:r>
          </a:p>
          <a:p>
            <a:r>
              <a:rPr lang="en-GB" sz="1200" b="0" i="0" kern="1200" dirty="0">
                <a:solidFill>
                  <a:schemeClr val="tx1"/>
                </a:solidFill>
                <a:effectLst/>
                <a:latin typeface="+mn-lt"/>
                <a:ea typeface="+mn-ea"/>
                <a:cs typeface="+mn-cs"/>
              </a:rPr>
              <a:t>trouble with balance and walking</a:t>
            </a:r>
          </a:p>
          <a:p>
            <a:r>
              <a:rPr lang="en-GB" sz="1200" b="0" i="0" kern="1200" dirty="0">
                <a:solidFill>
                  <a:schemeClr val="tx1"/>
                </a:solidFill>
                <a:effectLst/>
                <a:latin typeface="+mn-lt"/>
                <a:ea typeface="+mn-ea"/>
                <a:cs typeface="+mn-cs"/>
              </a:rPr>
              <a:t>loss of coordination</a:t>
            </a:r>
          </a:p>
          <a:p>
            <a:r>
              <a:rPr lang="en-GB" sz="1200" b="0" i="0" kern="1200" dirty="0">
                <a:solidFill>
                  <a:schemeClr val="tx1"/>
                </a:solidFill>
                <a:effectLst/>
                <a:latin typeface="+mn-lt"/>
                <a:ea typeface="+mn-ea"/>
                <a:cs typeface="+mn-cs"/>
              </a:rPr>
              <a:t>smaller movements (hypokinesia)</a:t>
            </a:r>
          </a:p>
          <a:p>
            <a:r>
              <a:rPr lang="en-GB" sz="1200" b="0" i="0" kern="1200" dirty="0">
                <a:solidFill>
                  <a:schemeClr val="tx1"/>
                </a:solidFill>
                <a:effectLst/>
                <a:latin typeface="+mn-lt"/>
                <a:ea typeface="+mn-ea"/>
                <a:cs typeface="+mn-cs"/>
              </a:rPr>
              <a:t>unusually slow movements (bradykinesia)</a:t>
            </a:r>
          </a:p>
          <a:p>
            <a:r>
              <a:rPr lang="en-GB" sz="1200" b="0" i="0" kern="1200" dirty="0">
                <a:solidFill>
                  <a:schemeClr val="tx1"/>
                </a:solidFill>
                <a:effectLst/>
                <a:latin typeface="+mn-lt"/>
                <a:ea typeface="+mn-ea"/>
                <a:cs typeface="+mn-cs"/>
              </a:rPr>
              <a:t>rigidity</a:t>
            </a:r>
          </a:p>
          <a:p>
            <a:r>
              <a:rPr lang="en-GB" sz="1200" b="0" i="0" kern="1200" dirty="0">
                <a:solidFill>
                  <a:schemeClr val="tx1"/>
                </a:solidFill>
                <a:effectLst/>
                <a:latin typeface="+mn-lt"/>
                <a:ea typeface="+mn-ea"/>
                <a:cs typeface="+mn-cs"/>
              </a:rPr>
              <a:t>abnormal movements or postures due to excessive muscle contraction (dystonia)</a:t>
            </a:r>
          </a:p>
          <a:p>
            <a:r>
              <a:rPr lang="en-GB" sz="1200" b="0" i="0" kern="1200" dirty="0">
                <a:solidFill>
                  <a:schemeClr val="tx1"/>
                </a:solidFill>
                <a:effectLst/>
                <a:latin typeface="+mn-lt"/>
                <a:ea typeface="+mn-ea"/>
                <a:cs typeface="+mn-cs"/>
              </a:rPr>
              <a:t>problems with eye movements</a:t>
            </a:r>
          </a:p>
          <a:p>
            <a:r>
              <a:rPr lang="en-GB" sz="1200" b="0" i="0" kern="1200" dirty="0">
                <a:solidFill>
                  <a:schemeClr val="tx1"/>
                </a:solidFill>
                <a:effectLst/>
                <a:latin typeface="+mn-lt"/>
                <a:ea typeface="+mn-ea"/>
                <a:cs typeface="+mn-cs"/>
              </a:rPr>
              <a:t>speech problems</a:t>
            </a:r>
          </a:p>
          <a:p>
            <a:r>
              <a:rPr lang="en-GB" sz="1200" b="0" i="0" kern="1200" dirty="0">
                <a:solidFill>
                  <a:schemeClr val="tx1"/>
                </a:solidFill>
                <a:effectLst/>
                <a:latin typeface="+mn-lt"/>
                <a:ea typeface="+mn-ea"/>
                <a:cs typeface="+mn-cs"/>
              </a:rPr>
              <a:t>difficulty swallowing</a:t>
            </a:r>
          </a:p>
          <a:p>
            <a:r>
              <a:rPr lang="en-GB" sz="1200" b="1" i="0" kern="1200" dirty="0">
                <a:solidFill>
                  <a:schemeClr val="tx1"/>
                </a:solidFill>
                <a:effectLst/>
                <a:latin typeface="+mn-lt"/>
                <a:ea typeface="+mn-ea"/>
                <a:cs typeface="+mn-cs"/>
              </a:rPr>
              <a:t>Cognitive symptoms</a:t>
            </a:r>
          </a:p>
          <a:p>
            <a:r>
              <a:rPr lang="en-GB" sz="1200" b="0" i="0" u="none" strike="noStrike" kern="1200" dirty="0">
                <a:solidFill>
                  <a:schemeClr val="tx1"/>
                </a:solidFill>
                <a:effectLst/>
                <a:latin typeface="+mn-lt"/>
                <a:ea typeface="+mn-ea"/>
                <a:cs typeface="+mn-cs"/>
                <a:hlinkClick r:id="rId8"/>
              </a:rPr>
              <a:t>Cognitive symptoms of Huntington’s</a:t>
            </a:r>
            <a:r>
              <a:rPr lang="en-GB" sz="1200" b="0" i="0" kern="1200" dirty="0">
                <a:solidFill>
                  <a:schemeClr val="tx1"/>
                </a:solidFill>
                <a:effectLst/>
                <a:latin typeface="+mn-lt"/>
                <a:ea typeface="+mn-ea"/>
                <a:cs typeface="+mn-cs"/>
              </a:rPr>
              <a:t> may include:</a:t>
            </a:r>
          </a:p>
          <a:p>
            <a:r>
              <a:rPr lang="en-GB" sz="1200" b="0" i="0" kern="1200" dirty="0">
                <a:solidFill>
                  <a:schemeClr val="tx1"/>
                </a:solidFill>
                <a:effectLst/>
                <a:latin typeface="+mn-lt"/>
                <a:ea typeface="+mn-ea"/>
                <a:cs typeface="+mn-cs"/>
              </a:rPr>
              <a:t>problems in organizing, planning, or making decisions</a:t>
            </a:r>
          </a:p>
          <a:p>
            <a:r>
              <a:rPr lang="en-GB" sz="1200" b="0" i="0" kern="1200" dirty="0">
                <a:solidFill>
                  <a:schemeClr val="tx1"/>
                </a:solidFill>
                <a:effectLst/>
                <a:latin typeface="+mn-lt"/>
                <a:ea typeface="+mn-ea"/>
                <a:cs typeface="+mn-cs"/>
              </a:rPr>
              <a:t>difficulties with multitasking and complex problem solving</a:t>
            </a:r>
          </a:p>
          <a:p>
            <a:r>
              <a:rPr lang="en-GB" sz="1200" b="0" i="0" kern="1200" dirty="0">
                <a:solidFill>
                  <a:schemeClr val="tx1"/>
                </a:solidFill>
                <a:effectLst/>
                <a:latin typeface="+mn-lt"/>
                <a:ea typeface="+mn-ea"/>
                <a:cs typeface="+mn-cs"/>
              </a:rPr>
              <a:t>memory impairments</a:t>
            </a:r>
          </a:p>
          <a:p>
            <a:r>
              <a:rPr lang="en-GB" sz="1200" b="0" i="0" kern="1200" dirty="0">
                <a:solidFill>
                  <a:schemeClr val="tx1"/>
                </a:solidFill>
                <a:effectLst/>
                <a:latin typeface="+mn-lt"/>
                <a:ea typeface="+mn-ea"/>
                <a:cs typeface="+mn-cs"/>
              </a:rPr>
              <a:t>difficulty learning to do things in a new or different way</a:t>
            </a:r>
          </a:p>
          <a:p>
            <a:r>
              <a:rPr lang="en-GB" sz="1200" b="0" i="0" kern="1200" dirty="0">
                <a:solidFill>
                  <a:schemeClr val="tx1"/>
                </a:solidFill>
                <a:effectLst/>
                <a:latin typeface="+mn-lt"/>
                <a:ea typeface="+mn-ea"/>
                <a:cs typeface="+mn-cs"/>
              </a:rPr>
              <a:t>slow thinking and reaction times</a:t>
            </a:r>
          </a:p>
          <a:p>
            <a:r>
              <a:rPr lang="en-GB" sz="1200" b="0" i="0" kern="1200" dirty="0">
                <a:solidFill>
                  <a:schemeClr val="tx1"/>
                </a:solidFill>
                <a:effectLst/>
                <a:latin typeface="+mn-lt"/>
                <a:ea typeface="+mn-ea"/>
                <a:cs typeface="+mn-cs"/>
              </a:rPr>
              <a:t>In the later stages of Huntington’s, patients usually develop </a:t>
            </a:r>
            <a:r>
              <a:rPr lang="en-GB" sz="1200" b="0" i="0" u="none" strike="noStrike" kern="1200" dirty="0">
                <a:solidFill>
                  <a:schemeClr val="tx1"/>
                </a:solidFill>
                <a:effectLst/>
                <a:latin typeface="+mn-lt"/>
                <a:ea typeface="+mn-ea"/>
                <a:cs typeface="+mn-cs"/>
                <a:hlinkClick r:id="rId9"/>
              </a:rPr>
              <a:t>dementia</a:t>
            </a:r>
            <a:r>
              <a:rPr lang="en-GB" sz="1200" b="0" i="0" kern="1200" dirty="0">
                <a:solidFill>
                  <a:schemeClr val="tx1"/>
                </a:solidFill>
                <a:effectLst/>
                <a:latin typeface="+mn-lt"/>
                <a:ea typeface="+mn-ea"/>
                <a:cs typeface="+mn-cs"/>
              </a:rPr>
              <a:t>, where cognitive problems are severe enough to cause impairments in daily functioning.</a:t>
            </a:r>
          </a:p>
          <a:p>
            <a:r>
              <a:rPr lang="en-GB" sz="1200" b="1" i="0" kern="1200" dirty="0">
                <a:solidFill>
                  <a:schemeClr val="tx1"/>
                </a:solidFill>
                <a:effectLst/>
                <a:latin typeface="+mn-lt"/>
                <a:ea typeface="+mn-ea"/>
                <a:cs typeface="+mn-cs"/>
              </a:rPr>
              <a:t>Psychiatric and </a:t>
            </a:r>
            <a:r>
              <a:rPr lang="en-GB" sz="1200" b="1" i="0" kern="1200" dirty="0" err="1">
                <a:solidFill>
                  <a:schemeClr val="tx1"/>
                </a:solidFill>
                <a:effectLst/>
                <a:latin typeface="+mn-lt"/>
                <a:ea typeface="+mn-ea"/>
                <a:cs typeface="+mn-cs"/>
              </a:rPr>
              <a:t>behavioral</a:t>
            </a:r>
            <a:r>
              <a:rPr lang="en-GB" sz="1200" b="1" i="0" kern="1200" dirty="0">
                <a:solidFill>
                  <a:schemeClr val="tx1"/>
                </a:solidFill>
                <a:effectLst/>
                <a:latin typeface="+mn-lt"/>
                <a:ea typeface="+mn-ea"/>
                <a:cs typeface="+mn-cs"/>
              </a:rPr>
              <a:t> symptoms</a:t>
            </a:r>
          </a:p>
          <a:p>
            <a:r>
              <a:rPr lang="en-GB" sz="1200" b="0" i="0" kern="1200" dirty="0">
                <a:solidFill>
                  <a:schemeClr val="tx1"/>
                </a:solidFill>
                <a:effectLst/>
                <a:latin typeface="+mn-lt"/>
                <a:ea typeface="+mn-ea"/>
                <a:cs typeface="+mn-cs"/>
              </a:rPr>
              <a:t>Huntington’s can cause a variety of </a:t>
            </a:r>
            <a:r>
              <a:rPr lang="en-GB" sz="1200" b="0" i="0" u="none" strike="noStrike" kern="1200" dirty="0">
                <a:solidFill>
                  <a:schemeClr val="tx1"/>
                </a:solidFill>
                <a:effectLst/>
                <a:latin typeface="+mn-lt"/>
                <a:ea typeface="+mn-ea"/>
                <a:cs typeface="+mn-cs"/>
                <a:hlinkClick r:id="rId10"/>
              </a:rPr>
              <a:t>psychiatric problems and </a:t>
            </a:r>
            <a:r>
              <a:rPr lang="en-GB" sz="1200" b="0" i="0" u="none" strike="noStrike" kern="1200" dirty="0" err="1">
                <a:solidFill>
                  <a:schemeClr val="tx1"/>
                </a:solidFill>
                <a:effectLst/>
                <a:latin typeface="+mn-lt"/>
                <a:ea typeface="+mn-ea"/>
                <a:cs typeface="+mn-cs"/>
                <a:hlinkClick r:id="rId10"/>
              </a:rPr>
              <a:t>behavior</a:t>
            </a:r>
            <a:r>
              <a:rPr lang="en-GB" sz="1200" b="0" i="0" u="none" strike="noStrike" kern="1200" dirty="0">
                <a:solidFill>
                  <a:schemeClr val="tx1"/>
                </a:solidFill>
                <a:effectLst/>
                <a:latin typeface="+mn-lt"/>
                <a:ea typeface="+mn-ea"/>
                <a:cs typeface="+mn-cs"/>
                <a:hlinkClick r:id="rId10"/>
              </a:rPr>
              <a:t> changes</a:t>
            </a:r>
            <a:r>
              <a:rPr lang="en-GB" sz="1200" b="0" i="0" kern="1200" dirty="0">
                <a:solidFill>
                  <a:schemeClr val="tx1"/>
                </a:solidFill>
                <a:effectLst/>
                <a:latin typeface="+mn-lt"/>
                <a:ea typeface="+mn-ea"/>
                <a:cs typeface="+mn-cs"/>
              </a:rPr>
              <a:t>, including:</a:t>
            </a:r>
          </a:p>
          <a:p>
            <a:r>
              <a:rPr lang="en-GB" sz="1200" b="0" i="0" kern="1200" dirty="0">
                <a:solidFill>
                  <a:schemeClr val="tx1"/>
                </a:solidFill>
                <a:effectLst/>
                <a:latin typeface="+mn-lt"/>
                <a:ea typeface="+mn-ea"/>
                <a:cs typeface="+mn-cs"/>
              </a:rPr>
              <a:t>mood swings</a:t>
            </a:r>
          </a:p>
          <a:p>
            <a:r>
              <a:rPr lang="en-GB" sz="1200" b="0" i="0" kern="1200" dirty="0">
                <a:solidFill>
                  <a:schemeClr val="tx1"/>
                </a:solidFill>
                <a:effectLst/>
                <a:latin typeface="+mn-lt"/>
                <a:ea typeface="+mn-ea"/>
                <a:cs typeface="+mn-cs"/>
              </a:rPr>
              <a:t>anxiety</a:t>
            </a:r>
          </a:p>
          <a:p>
            <a:r>
              <a:rPr lang="en-GB" sz="1200" b="0" i="0" kern="1200" dirty="0">
                <a:solidFill>
                  <a:schemeClr val="tx1"/>
                </a:solidFill>
                <a:effectLst/>
                <a:latin typeface="+mn-lt"/>
                <a:ea typeface="+mn-ea"/>
                <a:cs typeface="+mn-cs"/>
              </a:rPr>
              <a:t>depression</a:t>
            </a:r>
          </a:p>
          <a:p>
            <a:r>
              <a:rPr lang="en-GB" sz="1200" b="0" i="0" kern="1200" dirty="0">
                <a:solidFill>
                  <a:schemeClr val="tx1"/>
                </a:solidFill>
                <a:effectLst/>
                <a:latin typeface="+mn-lt"/>
                <a:ea typeface="+mn-ea"/>
                <a:cs typeface="+mn-cs"/>
              </a:rPr>
              <a:t>apathy</a:t>
            </a:r>
          </a:p>
          <a:p>
            <a:r>
              <a:rPr lang="en-GB" sz="1200" b="0" i="0" kern="1200" dirty="0">
                <a:solidFill>
                  <a:schemeClr val="tx1"/>
                </a:solidFill>
                <a:effectLst/>
                <a:latin typeface="+mn-lt"/>
                <a:ea typeface="+mn-ea"/>
                <a:cs typeface="+mn-cs"/>
              </a:rPr>
              <a:t>personality changes</a:t>
            </a:r>
          </a:p>
          <a:p>
            <a:r>
              <a:rPr lang="en-GB" sz="1200" b="0" i="0" kern="1200" dirty="0">
                <a:solidFill>
                  <a:schemeClr val="tx1"/>
                </a:solidFill>
                <a:effectLst/>
                <a:latin typeface="+mn-lt"/>
                <a:ea typeface="+mn-ea"/>
                <a:cs typeface="+mn-cs"/>
              </a:rPr>
              <a:t>an inability to recognize one’s own symptoms</a:t>
            </a:r>
          </a:p>
          <a:p>
            <a:r>
              <a:rPr lang="en-GB" sz="1200" b="0" i="0" u="none" strike="noStrike" kern="1200" dirty="0">
                <a:solidFill>
                  <a:schemeClr val="tx1"/>
                </a:solidFill>
                <a:effectLst/>
                <a:latin typeface="+mn-lt"/>
                <a:ea typeface="+mn-ea"/>
                <a:cs typeface="+mn-cs"/>
                <a:hlinkClick r:id="rId11"/>
              </a:rPr>
              <a:t>sleep disorders</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irritability</a:t>
            </a:r>
          </a:p>
          <a:p>
            <a:r>
              <a:rPr lang="en-GB" sz="1200" b="0" i="0" kern="1200" dirty="0">
                <a:solidFill>
                  <a:schemeClr val="tx1"/>
                </a:solidFill>
                <a:effectLst/>
                <a:latin typeface="+mn-lt"/>
                <a:ea typeface="+mn-ea"/>
                <a:cs typeface="+mn-cs"/>
              </a:rPr>
              <a:t>aggression</a:t>
            </a:r>
          </a:p>
          <a:p>
            <a:r>
              <a:rPr lang="en-GB" sz="1200" b="0" i="0" kern="1200" dirty="0">
                <a:solidFill>
                  <a:schemeClr val="tx1"/>
                </a:solidFill>
                <a:effectLst/>
                <a:latin typeface="+mn-lt"/>
                <a:ea typeface="+mn-ea"/>
                <a:cs typeface="+mn-cs"/>
              </a:rPr>
              <a:t>impulsivity</a:t>
            </a:r>
          </a:p>
          <a:p>
            <a:r>
              <a:rPr lang="en-GB" sz="1200" b="0" i="0" kern="1200" dirty="0">
                <a:solidFill>
                  <a:schemeClr val="tx1"/>
                </a:solidFill>
                <a:effectLst/>
                <a:latin typeface="+mn-lt"/>
                <a:ea typeface="+mn-ea"/>
                <a:cs typeface="+mn-cs"/>
              </a:rPr>
              <a:t>loss of inhibitions</a:t>
            </a:r>
          </a:p>
          <a:p>
            <a:r>
              <a:rPr lang="en-GB" sz="1200" b="0" i="0" kern="1200" dirty="0">
                <a:solidFill>
                  <a:schemeClr val="tx1"/>
                </a:solidFill>
                <a:effectLst/>
                <a:latin typeface="+mn-lt"/>
                <a:ea typeface="+mn-ea"/>
                <a:cs typeface="+mn-cs"/>
              </a:rPr>
              <a:t>psychosis (</a:t>
            </a:r>
            <a:r>
              <a:rPr lang="en-GB" sz="1200" b="0" i="0" u="none" strike="noStrike" kern="1200" dirty="0">
                <a:solidFill>
                  <a:schemeClr val="tx1"/>
                </a:solidFill>
                <a:effectLst/>
                <a:latin typeface="+mn-lt"/>
                <a:ea typeface="+mn-ea"/>
                <a:cs typeface="+mn-cs"/>
                <a:hlinkClick r:id="rId12"/>
              </a:rPr>
              <a:t>hallucinations and/or delusions</a:t>
            </a:r>
            <a:r>
              <a:rPr lang="en-GB" sz="1200" b="0" i="0" kern="1200" dirty="0">
                <a:solidFill>
                  <a:schemeClr val="tx1"/>
                </a:solidFill>
                <a:effectLst/>
                <a:latin typeface="+mn-lt"/>
                <a:ea typeface="+mn-ea"/>
                <a:cs typeface="+mn-cs"/>
              </a:rPr>
              <a:t>)</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61</a:t>
            </a:fld>
            <a:endParaRPr lang="en-GB"/>
          </a:p>
        </p:txBody>
      </p:sp>
    </p:spTree>
    <p:extLst>
      <p:ext uri="{BB962C8B-B14F-4D97-AF65-F5344CB8AC3E}">
        <p14:creationId xmlns:p14="http://schemas.microsoft.com/office/powerpoint/2010/main" val="28124819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Chorea</a:t>
            </a:r>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63</a:t>
            </a:fld>
            <a:endParaRPr lang="en-GB"/>
          </a:p>
        </p:txBody>
      </p:sp>
    </p:spTree>
    <p:extLst>
      <p:ext uri="{BB962C8B-B14F-4D97-AF65-F5344CB8AC3E}">
        <p14:creationId xmlns:p14="http://schemas.microsoft.com/office/powerpoint/2010/main" val="9368376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Motor tics involve body movements, like shoulder shrugging. Vocal tics involve your voice, like throat clearing. Motor tics tend to develop before vocal tics, and simple tics develop before complex tics.</a:t>
            </a:r>
          </a:p>
          <a:p>
            <a:r>
              <a:rPr lang="en-GB" sz="1200" b="0" i="0" kern="1200" dirty="0">
                <a:solidFill>
                  <a:schemeClr val="tx1"/>
                </a:solidFill>
                <a:effectLst/>
                <a:latin typeface="+mn-lt"/>
                <a:ea typeface="+mn-ea"/>
                <a:cs typeface="+mn-cs"/>
              </a:rPr>
              <a:t>Simple motor tics include:</a:t>
            </a:r>
          </a:p>
          <a:p>
            <a:r>
              <a:rPr lang="en-GB" sz="1200" b="0" i="0" kern="1200" dirty="0">
                <a:solidFill>
                  <a:schemeClr val="tx1"/>
                </a:solidFill>
                <a:effectLst/>
                <a:latin typeface="+mn-lt"/>
                <a:ea typeface="+mn-ea"/>
                <a:cs typeface="+mn-cs"/>
              </a:rPr>
              <a:t>Eye blinking, eye rolling and other eye movements.</a:t>
            </a:r>
          </a:p>
          <a:p>
            <a:r>
              <a:rPr lang="en-GB" sz="1200" b="0" i="0" kern="1200" dirty="0">
                <a:solidFill>
                  <a:schemeClr val="tx1"/>
                </a:solidFill>
                <a:effectLst/>
                <a:latin typeface="+mn-lt"/>
                <a:ea typeface="+mn-ea"/>
                <a:cs typeface="+mn-cs"/>
              </a:rPr>
              <a:t>Facial grimacing.</a:t>
            </a:r>
          </a:p>
          <a:p>
            <a:r>
              <a:rPr lang="en-GB" sz="1200" b="0" i="0" kern="1200" dirty="0">
                <a:solidFill>
                  <a:schemeClr val="tx1"/>
                </a:solidFill>
                <a:effectLst/>
                <a:latin typeface="+mn-lt"/>
                <a:ea typeface="+mn-ea"/>
                <a:cs typeface="+mn-cs"/>
              </a:rPr>
              <a:t>Shoulder shrugging.</a:t>
            </a:r>
          </a:p>
          <a:p>
            <a:r>
              <a:rPr lang="en-GB" sz="1200" b="0" i="0" kern="1200" dirty="0">
                <a:solidFill>
                  <a:schemeClr val="tx1"/>
                </a:solidFill>
                <a:effectLst/>
                <a:latin typeface="+mn-lt"/>
                <a:ea typeface="+mn-ea"/>
                <a:cs typeface="+mn-cs"/>
              </a:rPr>
              <a:t>Shoulder or head jerking.</a:t>
            </a:r>
          </a:p>
          <a:p>
            <a:r>
              <a:rPr lang="en-GB" sz="1200" b="0" i="0" kern="1200" dirty="0">
                <a:solidFill>
                  <a:schemeClr val="tx1"/>
                </a:solidFill>
                <a:effectLst/>
                <a:latin typeface="+mn-lt"/>
                <a:ea typeface="+mn-ea"/>
                <a:cs typeface="+mn-cs"/>
              </a:rPr>
              <a:t>Simple vocal tics include:</a:t>
            </a:r>
          </a:p>
          <a:p>
            <a:r>
              <a:rPr lang="en-GB" sz="1200" b="0" i="0" kern="1200" dirty="0">
                <a:solidFill>
                  <a:schemeClr val="tx1"/>
                </a:solidFill>
                <a:effectLst/>
                <a:latin typeface="+mn-lt"/>
                <a:ea typeface="+mn-ea"/>
                <a:cs typeface="+mn-cs"/>
              </a:rPr>
              <a:t>Repetitive throat clearing.</a:t>
            </a:r>
          </a:p>
          <a:p>
            <a:r>
              <a:rPr lang="en-GB" sz="1200" b="0" i="0" kern="1200" dirty="0">
                <a:solidFill>
                  <a:schemeClr val="tx1"/>
                </a:solidFill>
                <a:effectLst/>
                <a:latin typeface="+mn-lt"/>
                <a:ea typeface="+mn-ea"/>
                <a:cs typeface="+mn-cs"/>
              </a:rPr>
              <a:t>Sniffing.</a:t>
            </a:r>
          </a:p>
          <a:p>
            <a:r>
              <a:rPr lang="en-GB" sz="1200" b="0" i="0" kern="1200" dirty="0">
                <a:solidFill>
                  <a:schemeClr val="tx1"/>
                </a:solidFill>
                <a:effectLst/>
                <a:latin typeface="+mn-lt"/>
                <a:ea typeface="+mn-ea"/>
                <a:cs typeface="+mn-cs"/>
              </a:rPr>
              <a:t>Barking.</a:t>
            </a:r>
          </a:p>
          <a:p>
            <a:r>
              <a:rPr lang="en-GB" sz="1200" b="0" i="0" kern="1200" dirty="0">
                <a:solidFill>
                  <a:schemeClr val="tx1"/>
                </a:solidFill>
                <a:effectLst/>
                <a:latin typeface="+mn-lt"/>
                <a:ea typeface="+mn-ea"/>
                <a:cs typeface="+mn-cs"/>
              </a:rPr>
              <a:t>Grunting.</a:t>
            </a:r>
          </a:p>
          <a:p>
            <a:r>
              <a:rPr lang="en-GB" sz="1200" b="0" i="0" kern="1200" dirty="0">
                <a:solidFill>
                  <a:schemeClr val="tx1"/>
                </a:solidFill>
                <a:effectLst/>
                <a:latin typeface="+mn-lt"/>
                <a:ea typeface="+mn-ea"/>
                <a:cs typeface="+mn-cs"/>
              </a:rPr>
              <a:t>Complex tics are coordinated and distinct patterns of movement that involve several different muscle groups in areas throughout your body.</a:t>
            </a:r>
          </a:p>
          <a:p>
            <a:r>
              <a:rPr lang="en-GB" sz="1200" b="0" i="0" kern="1200" dirty="0">
                <a:solidFill>
                  <a:schemeClr val="tx1"/>
                </a:solidFill>
                <a:effectLst/>
                <a:latin typeface="+mn-lt"/>
                <a:ea typeface="+mn-ea"/>
                <a:cs typeface="+mn-cs"/>
              </a:rPr>
              <a:t>Complex motor tics include:</a:t>
            </a:r>
          </a:p>
          <a:p>
            <a:r>
              <a:rPr lang="en-GB" sz="1200" b="0" i="0" kern="1200" dirty="0">
                <a:solidFill>
                  <a:schemeClr val="tx1"/>
                </a:solidFill>
                <a:effectLst/>
                <a:latin typeface="+mn-lt"/>
                <a:ea typeface="+mn-ea"/>
                <a:cs typeface="+mn-cs"/>
              </a:rPr>
              <a:t>Facial grimacing combined with a shoulder shrug and a head twist.</a:t>
            </a:r>
          </a:p>
          <a:p>
            <a:r>
              <a:rPr lang="en-GB" sz="1200" b="0" i="0" kern="1200" dirty="0">
                <a:solidFill>
                  <a:schemeClr val="tx1"/>
                </a:solidFill>
                <a:effectLst/>
                <a:latin typeface="+mn-lt"/>
                <a:ea typeface="+mn-ea"/>
                <a:cs typeface="+mn-cs"/>
              </a:rPr>
              <a:t>Touching or sniffing an object.</a:t>
            </a:r>
          </a:p>
          <a:p>
            <a:r>
              <a:rPr lang="en-GB" sz="1200" b="0" i="0" kern="1200" dirty="0">
                <a:solidFill>
                  <a:schemeClr val="tx1"/>
                </a:solidFill>
                <a:effectLst/>
                <a:latin typeface="+mn-lt"/>
                <a:ea typeface="+mn-ea"/>
                <a:cs typeface="+mn-cs"/>
              </a:rPr>
              <a:t>Hopping.</a:t>
            </a:r>
          </a:p>
          <a:p>
            <a:r>
              <a:rPr lang="en-GB" sz="1200" b="0" i="0" kern="1200" dirty="0">
                <a:solidFill>
                  <a:schemeClr val="tx1"/>
                </a:solidFill>
                <a:effectLst/>
                <a:latin typeface="+mn-lt"/>
                <a:ea typeface="+mn-ea"/>
                <a:cs typeface="+mn-cs"/>
              </a:rPr>
              <a:t>Jumping.</a:t>
            </a:r>
          </a:p>
          <a:p>
            <a:r>
              <a:rPr lang="en-GB" sz="1200" b="0" i="0" kern="1200" dirty="0">
                <a:solidFill>
                  <a:schemeClr val="tx1"/>
                </a:solidFill>
                <a:effectLst/>
                <a:latin typeface="+mn-lt"/>
                <a:ea typeface="+mn-ea"/>
                <a:cs typeface="+mn-cs"/>
              </a:rPr>
              <a:t>Bending.</a:t>
            </a:r>
          </a:p>
          <a:p>
            <a:r>
              <a:rPr lang="en-GB" sz="1200" b="0" i="0" kern="1200" dirty="0">
                <a:solidFill>
                  <a:schemeClr val="tx1"/>
                </a:solidFill>
                <a:effectLst/>
                <a:latin typeface="+mn-lt"/>
                <a:ea typeface="+mn-ea"/>
                <a:cs typeface="+mn-cs"/>
              </a:rPr>
              <a:t>Twisting.</a:t>
            </a:r>
          </a:p>
          <a:p>
            <a:r>
              <a:rPr lang="en-GB" sz="1200" b="0" i="0" kern="1200" dirty="0">
                <a:solidFill>
                  <a:schemeClr val="tx1"/>
                </a:solidFill>
                <a:effectLst/>
                <a:latin typeface="+mn-lt"/>
                <a:ea typeface="+mn-ea"/>
                <a:cs typeface="+mn-cs"/>
              </a:rPr>
              <a:t>Complex vocal tics include:</a:t>
            </a:r>
          </a:p>
          <a:p>
            <a:r>
              <a:rPr lang="en-GB" sz="1200" b="0" i="0" kern="1200" dirty="0">
                <a:solidFill>
                  <a:schemeClr val="tx1"/>
                </a:solidFill>
                <a:effectLst/>
                <a:latin typeface="+mn-lt"/>
                <a:ea typeface="+mn-ea"/>
                <a:cs typeface="+mn-cs"/>
              </a:rPr>
              <a:t>Repeating your own words or phrases.</a:t>
            </a:r>
          </a:p>
          <a:p>
            <a:r>
              <a:rPr lang="en-GB" sz="1200" b="0" i="0" kern="1200" dirty="0">
                <a:solidFill>
                  <a:schemeClr val="tx1"/>
                </a:solidFill>
                <a:effectLst/>
                <a:latin typeface="+mn-lt"/>
                <a:ea typeface="+mn-ea"/>
                <a:cs typeface="+mn-cs"/>
              </a:rPr>
              <a:t>Repeating other people’s words or phrases (</a:t>
            </a:r>
            <a:r>
              <a:rPr lang="en-GB" sz="1200" b="0" i="0" kern="1200" dirty="0">
                <a:solidFill>
                  <a:schemeClr val="tx1"/>
                </a:solidFill>
                <a:effectLst/>
                <a:latin typeface="+mn-lt"/>
                <a:ea typeface="+mn-ea"/>
                <a:cs typeface="+mn-cs"/>
                <a:hlinkClick r:id="rId3"/>
              </a:rPr>
              <a:t>echolalia</a:t>
            </a:r>
            <a:r>
              <a:rPr lang="en-GB" sz="1200" b="0" i="0" kern="1200" dirty="0">
                <a:solidFill>
                  <a:schemeClr val="tx1"/>
                </a:solidFill>
                <a:effectLst/>
                <a:latin typeface="+mn-lt"/>
                <a:ea typeface="+mn-ea"/>
                <a:cs typeface="+mn-cs"/>
              </a:rPr>
              <a:t>).</a:t>
            </a:r>
          </a:p>
          <a:p>
            <a:r>
              <a:rPr lang="en-GB" sz="1200" b="0" i="0" kern="1200" dirty="0">
                <a:solidFill>
                  <a:schemeClr val="tx1"/>
                </a:solidFill>
                <a:effectLst/>
                <a:latin typeface="+mn-lt"/>
                <a:ea typeface="+mn-ea"/>
                <a:cs typeface="+mn-cs"/>
              </a:rPr>
              <a:t>Using obscene, vulgar or swear words (coprolalia).</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Before a tic occurs, you may feel an urge to perform the tic. This urge is similar to the need to scratch an itch or sneeze. A feeling of tension builds up in the affected part of your body, and giving in to the tic provides momentary relief. You may be able to postpone a tic for seconds to minutes, but you need to put in conscious effort. Typically, the urge to perform the tic ultimately becomes irresistible.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Researchers don’t know the exact cause of tics, but some scientists believe they occur due to changes in the part of your brain that controls movement. In addition, as tics can run in biological families, scientists believe the condition could also have a genetic component. Tic disorders also occur alongside other conditions, including:</a:t>
            </a:r>
          </a:p>
          <a:p>
            <a:r>
              <a:rPr lang="en-GB" sz="1200" b="0" i="0" kern="1200" dirty="0">
                <a:solidFill>
                  <a:schemeClr val="tx1"/>
                </a:solidFill>
                <a:effectLst/>
                <a:latin typeface="+mn-lt"/>
                <a:ea typeface="+mn-ea"/>
                <a:cs typeface="+mn-cs"/>
                <a:hlinkClick r:id="rId4"/>
              </a:rPr>
              <a:t>Attention-deficit/hyperactivity disorder (ADHD).</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hlinkClick r:id="rId5"/>
              </a:rPr>
              <a:t>Anxiety disorder</a:t>
            </a:r>
            <a:r>
              <a:rPr lang="en-GB" sz="1200" b="0" i="0" kern="1200" dirty="0">
                <a:solidFill>
                  <a:schemeClr val="tx1"/>
                </a:solidFill>
                <a:effectLst/>
                <a:latin typeface="+mn-lt"/>
                <a:ea typeface="+mn-ea"/>
                <a:cs typeface="+mn-cs"/>
              </a:rPr>
              <a:t>.</a:t>
            </a:r>
          </a:p>
          <a:p>
            <a:r>
              <a:rPr lang="en-GB" sz="1200" b="0" i="0" kern="1200" dirty="0">
                <a:solidFill>
                  <a:schemeClr val="tx1"/>
                </a:solidFill>
                <a:effectLst/>
                <a:latin typeface="+mn-lt"/>
                <a:ea typeface="+mn-ea"/>
                <a:cs typeface="+mn-cs"/>
              </a:rPr>
              <a:t>Obsessive-compulsive disorder (OCD).</a:t>
            </a:r>
          </a:p>
          <a:p>
            <a:endParaRPr lang="en-GB" sz="1200" b="0"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64</a:t>
            </a:fld>
            <a:endParaRPr lang="en-GB"/>
          </a:p>
        </p:txBody>
      </p:sp>
    </p:spTree>
    <p:extLst>
      <p:ext uri="{BB962C8B-B14F-4D97-AF65-F5344CB8AC3E}">
        <p14:creationId xmlns:p14="http://schemas.microsoft.com/office/powerpoint/2010/main" val="28014614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Refer urgently to neurology or emergency services if acute onset; coordinate with MDT.</a:t>
            </a:r>
            <a:endParaRPr lang="en-GB" dirty="0"/>
          </a:p>
          <a:p>
            <a:endParaRPr lang="en-GB" dirty="0"/>
          </a:p>
          <a:p>
            <a:r>
              <a:rPr lang="en-GB" dirty="0"/>
              <a:t>Tardive dyskinesia (TD) is a chronic movement disorder with involuntary facial, body, or limb movements, often caused by long-term antipsychotic medication</a:t>
            </a:r>
            <a:r>
              <a:rPr lang="en-GB" sz="1200" b="0" i="0" kern="1200" dirty="0">
                <a:solidFill>
                  <a:schemeClr val="tx1"/>
                </a:solidFill>
                <a:effectLst/>
                <a:latin typeface="+mn-lt"/>
                <a:ea typeface="+mn-ea"/>
                <a:cs typeface="+mn-cs"/>
              </a:rPr>
              <a:t>. Neuroleptic malignant syndrome (NMS) is a rare, life-threatening reaction to antipsychotic drugs that causes a sudden and severe increase in body temperature, muscle rigidity, and changes in mental state.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effectLst/>
              </a:rPr>
              <a:t>Unified Huntington's Disease Rating </a:t>
            </a:r>
            <a:r>
              <a:rPr lang="en-GB" b="1" dirty="0" err="1">
                <a:effectLst/>
              </a:rPr>
              <a:t>Scale</a:t>
            </a:r>
            <a:r>
              <a:rPr lang="en-GB" sz="1200" b="0" i="0" kern="1200" dirty="0" err="1">
                <a:solidFill>
                  <a:schemeClr val="tx1"/>
                </a:solidFill>
                <a:effectLst/>
                <a:latin typeface="+mn-lt"/>
                <a:ea typeface="+mn-ea"/>
                <a:cs typeface="+mn-cs"/>
              </a:rPr>
              <a:t>,</a:t>
            </a:r>
            <a:r>
              <a:rPr lang="en-GB" dirty="0" err="1"/>
              <a:t>UHDRS</a:t>
            </a:r>
            <a:r>
              <a:rPr lang="en-GB" dirty="0"/>
              <a:t> outcome measure assesses Huntington's disease (HD) through four domains: </a:t>
            </a:r>
            <a:r>
              <a:rPr lang="en-GB" b="1" dirty="0">
                <a:effectLst/>
              </a:rPr>
              <a:t>motor performance, cognitive function, </a:t>
            </a:r>
            <a:r>
              <a:rPr lang="en-GB" b="1" dirty="0" err="1">
                <a:effectLst/>
              </a:rPr>
              <a:t>behavioral</a:t>
            </a:r>
            <a:r>
              <a:rPr lang="en-GB" b="1" dirty="0">
                <a:effectLst/>
              </a:rPr>
              <a:t> abnormalities, and functional capacity</a:t>
            </a:r>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67</a:t>
            </a:fld>
            <a:endParaRPr lang="en-GB"/>
          </a:p>
        </p:txBody>
      </p:sp>
    </p:spTree>
    <p:extLst>
      <p:ext uri="{BB962C8B-B14F-4D97-AF65-F5344CB8AC3E}">
        <p14:creationId xmlns:p14="http://schemas.microsoft.com/office/powerpoint/2010/main" val="7008947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72</a:t>
            </a:fld>
            <a:endParaRPr lang="en-GB"/>
          </a:p>
        </p:txBody>
      </p:sp>
    </p:spTree>
    <p:extLst>
      <p:ext uri="{BB962C8B-B14F-4D97-AF65-F5344CB8AC3E}">
        <p14:creationId xmlns:p14="http://schemas.microsoft.com/office/powerpoint/2010/main" val="9305917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While precise numbers vary, FND is considered common. For example, some estimates suggest there are at least 50,000–100,000 people with FND in the UK.</a:t>
            </a:r>
          </a:p>
          <a:p>
            <a:r>
              <a:rPr lang="en-GB" sz="1200" b="0" i="0" kern="1200" dirty="0">
                <a:solidFill>
                  <a:schemeClr val="tx1"/>
                </a:solidFill>
                <a:effectLst/>
                <a:latin typeface="+mn-lt"/>
                <a:ea typeface="+mn-ea"/>
                <a:cs typeface="+mn-cs"/>
              </a:rPr>
              <a:t>More research.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Functional Neurological Disorder (FND) is common, affecting about 1 in 100 to 1 in 200 people, and accounts for roughly 6% of neurology outpatient appointments. It is one of the most frequent reasons for seeing a neurologist, and estimates suggest there are tens of thousands of people affected in the UK alone. However, the condition is often underestimated due to underdiagnosis and miscoding in medical record</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Often referred to as the most common condition you have never heard of. </a:t>
            </a:r>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73</a:t>
            </a:fld>
            <a:endParaRPr lang="en-GB"/>
          </a:p>
        </p:txBody>
      </p:sp>
    </p:spTree>
    <p:extLst>
      <p:ext uri="{BB962C8B-B14F-4D97-AF65-F5344CB8AC3E}">
        <p14:creationId xmlns:p14="http://schemas.microsoft.com/office/powerpoint/2010/main" val="38800762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a diagram of brain network dysfunction for illustration.</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sz="1200" b="1" i="0" kern="1200" dirty="0">
                <a:solidFill>
                  <a:schemeClr val="tx1"/>
                </a:solidFill>
                <a:effectLst/>
                <a:latin typeface="+mn-lt"/>
                <a:ea typeface="+mn-ea"/>
                <a:cs typeface="+mn-cs"/>
              </a:rPr>
              <a:t>Recent research out of Cambridge university</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Fig 1</a:t>
            </a:r>
            <a:r>
              <a:rPr lang="en-GB" sz="1200" b="0" i="0" kern="1200" dirty="0">
                <a:solidFill>
                  <a:schemeClr val="tx1"/>
                </a:solidFill>
                <a:effectLst/>
                <a:latin typeface="+mn-lt"/>
                <a:ea typeface="+mn-ea"/>
                <a:cs typeface="+mn-cs"/>
              </a:rPr>
              <a:t>. A) Illustration of the relationship between symptoms, constructs and neural circuits underlying functional neurological disorder (FND). Symptoms can be understood as mapping onto alterations of different constructs, which are generated by neural circuit abnormalities. B) Examples of how different symptoms or observable manifestations of FND can be understood as arising from one or a combination of specific abnormal constructs. For example, paroxysmal movements can be perceived as involuntary by an individual with FND due to a dysfunction of the construct of agency, which is driven by abnormalities of a TPJ-based circuit. TPJ indicates temporo-parietal junction. </a:t>
            </a:r>
            <a:r>
              <a:rPr lang="en-GB" sz="1200" b="1" i="0" kern="1200" dirty="0">
                <a:solidFill>
                  <a:schemeClr val="tx1"/>
                </a:solidFill>
                <a:effectLst/>
                <a:latin typeface="+mn-lt"/>
                <a:ea typeface="+mn-ea"/>
                <a:cs typeface="+mn-cs"/>
              </a:rPr>
              <a:t>Fig 2</a:t>
            </a:r>
            <a:r>
              <a:rPr lang="en-GB" sz="1200" b="0" i="0" kern="1200" dirty="0">
                <a:solidFill>
                  <a:schemeClr val="tx1"/>
                </a:solidFill>
                <a:effectLst/>
                <a:latin typeface="+mn-lt"/>
                <a:ea typeface="+mn-ea"/>
                <a:cs typeface="+mn-cs"/>
              </a:rPr>
              <a:t>. Abnormalities of several constructs (and their associated neural circuits) can interact in different ways to produce symptoms and observable signs of functional neurological disorder. </a:t>
            </a:r>
            <a:r>
              <a:rPr lang="en-GB" sz="1200" b="1" i="0" kern="1200" dirty="0">
                <a:solidFill>
                  <a:schemeClr val="tx1"/>
                </a:solidFill>
                <a:effectLst/>
                <a:latin typeface="+mn-lt"/>
                <a:ea typeface="+mn-ea"/>
                <a:cs typeface="+mn-cs"/>
              </a:rPr>
              <a:t>Fig 3</a:t>
            </a:r>
            <a:r>
              <a:rPr lang="en-GB" sz="1200" b="0" i="0" kern="1200" dirty="0">
                <a:solidFill>
                  <a:schemeClr val="tx1"/>
                </a:solidFill>
                <a:effectLst/>
                <a:latin typeface="+mn-lt"/>
                <a:ea typeface="+mn-ea"/>
                <a:cs typeface="+mn-cs"/>
              </a:rPr>
              <a:t>. Display of brain circuits (and related constructs) that are emerging </a:t>
            </a:r>
          </a:p>
          <a:p>
            <a:endParaRPr lang="en-GB" sz="1200" b="0" i="0" kern="1200" dirty="0">
              <a:solidFill>
                <a:schemeClr val="tx1"/>
              </a:solidFill>
              <a:effectLst/>
              <a:latin typeface="+mn-lt"/>
              <a:ea typeface="+mn-ea"/>
              <a:cs typeface="+mn-cs"/>
            </a:endParaRPr>
          </a:p>
          <a:p>
            <a:r>
              <a:rPr lang="en-GB" dirty="0"/>
              <a:t>A </a:t>
            </a:r>
            <a:r>
              <a:rPr lang="en-GB" b="1" dirty="0"/>
              <a:t>neural construct</a:t>
            </a:r>
            <a:r>
              <a:rPr lang="en-GB" dirty="0"/>
              <a:t> refers to a </a:t>
            </a:r>
            <a:r>
              <a:rPr lang="en-GB" b="1" dirty="0"/>
              <a:t>functional brain process</a:t>
            </a:r>
            <a:r>
              <a:rPr lang="en-GB" dirty="0"/>
              <a:t> or </a:t>
            </a:r>
            <a:r>
              <a:rPr lang="en-GB" b="1" dirty="0"/>
              <a:t>network of neural activity</a:t>
            </a:r>
            <a:r>
              <a:rPr lang="en-GB" dirty="0"/>
              <a:t> that underlies a particular </a:t>
            </a:r>
            <a:r>
              <a:rPr lang="en-GB" b="1" dirty="0"/>
              <a:t>symptom, experience, or behaviour</a:t>
            </a:r>
            <a:r>
              <a:rPr lang="en-GB" dirty="0"/>
              <a:t>.</a:t>
            </a:r>
            <a:br>
              <a:rPr lang="en-GB" dirty="0"/>
            </a:br>
            <a:r>
              <a:rPr lang="en-GB" dirty="0"/>
              <a:t>It is not a single structure, but a </a:t>
            </a:r>
            <a:r>
              <a:rPr lang="en-GB" b="1" dirty="0"/>
              <a:t>dynamic interaction of brain regions</a:t>
            </a:r>
            <a:r>
              <a:rPr lang="en-GB" dirty="0"/>
              <a:t> that together produce a certain function (e.g. movement, attention, emotion).</a:t>
            </a:r>
          </a:p>
          <a:p>
            <a:endParaRPr lang="en-GB" dirty="0"/>
          </a:p>
          <a:p>
            <a:r>
              <a:rPr lang="en-GB" dirty="0"/>
              <a:t>e.g. </a:t>
            </a:r>
            <a:r>
              <a:rPr lang="en-GB" b="1" dirty="0"/>
              <a:t>Example: Parkinson’s Disease</a:t>
            </a:r>
          </a:p>
          <a:p>
            <a:r>
              <a:rPr lang="en-GB" b="1" dirty="0"/>
              <a:t>Neural circuit:</a:t>
            </a:r>
            <a:r>
              <a:rPr lang="en-GB" dirty="0"/>
              <a:t> Basal ganglia–thalamocortical loop.</a:t>
            </a:r>
          </a:p>
          <a:p>
            <a:r>
              <a:rPr lang="en-GB" b="1" dirty="0"/>
              <a:t>Neural construct:</a:t>
            </a:r>
            <a:r>
              <a:rPr lang="en-GB" dirty="0"/>
              <a:t> Regulation of movement amplitude and automaticity.</a:t>
            </a:r>
          </a:p>
          <a:p>
            <a:r>
              <a:rPr lang="en-GB" b="1" dirty="0"/>
              <a:t>Symptom:</a:t>
            </a:r>
            <a:r>
              <a:rPr lang="en-GB" dirty="0"/>
              <a:t> Bradykinesia (slowness of movement) when that construct fails.</a:t>
            </a:r>
          </a:p>
          <a:p>
            <a:endParaRPr lang="en-GB" dirty="0"/>
          </a:p>
          <a:p>
            <a:endParaRPr lang="en-GB" dirty="0"/>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664001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In organic sensory loss, there is a slight overlap of nerves at the midline (1-2 cm), but FND can show an exact, sharp split, which is considered a functional sign. This type of sensory split, often described as a "hemisensory syndrome," is a key diagnostic indicator for FND. </a:t>
            </a:r>
          </a:p>
          <a:p>
            <a:endParaRPr lang="en-GB" sz="1200" b="0" i="0" kern="1200" dirty="0">
              <a:solidFill>
                <a:schemeClr val="tx1"/>
              </a:solidFill>
              <a:effectLst/>
              <a:latin typeface="+mn-lt"/>
              <a:ea typeface="+mn-ea"/>
              <a:cs typeface="+mn-cs"/>
            </a:endParaRPr>
          </a:p>
          <a:p>
            <a:r>
              <a:rPr lang="en-GB" dirty="0"/>
              <a:t>Functional (Non-Epileptic) Attacks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Sensory: loss or paraesthesia in non-dermatomal areas, fluctuating location</a:t>
            </a:r>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77</a:t>
            </a:fld>
            <a:endParaRPr lang="en-GB"/>
          </a:p>
        </p:txBody>
      </p:sp>
    </p:spTree>
    <p:extLst>
      <p:ext uri="{BB962C8B-B14F-4D97-AF65-F5344CB8AC3E}">
        <p14:creationId xmlns:p14="http://schemas.microsoft.com/office/powerpoint/2010/main" val="18479277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solidFill>
                  <a:schemeClr val="accent1">
                    <a:lumMod val="75000"/>
                  </a:schemeClr>
                </a:solidFill>
              </a:rPr>
              <a:t>Positive signs confirm FND rather than exclusion of disease</a:t>
            </a:r>
          </a:p>
          <a:p>
            <a:r>
              <a:rPr lang="en-GB" dirty="0"/>
              <a:t>Hoover’s sign: strength returns with contralateral effort</a:t>
            </a:r>
          </a:p>
          <a:p>
            <a:r>
              <a:rPr lang="en-GB" dirty="0"/>
              <a:t>Tremor changes with distraction or entrainment</a:t>
            </a:r>
          </a:p>
          <a:p>
            <a:r>
              <a:rPr lang="en-GB" dirty="0"/>
              <a:t>Gait improves with dual-tasking</a:t>
            </a:r>
          </a:p>
          <a:p>
            <a:r>
              <a:rPr lang="en-GB" dirty="0"/>
              <a:t>Sensory loss not matching dermatomes or </a:t>
            </a:r>
          </a:p>
        </p:txBody>
      </p:sp>
      <p:sp>
        <p:nvSpPr>
          <p:cNvPr id="4" name="Slide Number Placeholder 3"/>
          <p:cNvSpPr>
            <a:spLocks noGrp="1"/>
          </p:cNvSpPr>
          <p:nvPr>
            <p:ph type="sldNum" sz="quarter" idx="5"/>
          </p:nvPr>
        </p:nvSpPr>
        <p:spPr/>
        <p:txBody>
          <a:bodyPr/>
          <a:lstStyle/>
          <a:p>
            <a:fld id="{752ED11F-4B84-4113-B78F-1401398B3101}" type="slidenum">
              <a:rPr lang="en-GB" smtClean="0"/>
              <a:t>78</a:t>
            </a:fld>
            <a:endParaRPr lang="en-GB"/>
          </a:p>
        </p:txBody>
      </p:sp>
    </p:spTree>
    <p:extLst>
      <p:ext uri="{BB962C8B-B14F-4D97-AF65-F5344CB8AC3E}">
        <p14:creationId xmlns:p14="http://schemas.microsoft.com/office/powerpoint/2010/main" val="11957225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Immediate neurology or acute medical referral if red flags present.</a:t>
            </a:r>
            <a:endParaRPr lang="en-GB" dirty="0"/>
          </a:p>
          <a:p>
            <a:endParaRPr lang="en-GB" dirty="0"/>
          </a:p>
          <a:p>
            <a:r>
              <a:rPr lang="en-GB" dirty="0"/>
              <a:t>include fever, signs of systemic inflammation, laboratory abnormalities, or specific neurological findings that suggest a structural or progressive neurological disease rather than a functional one</a:t>
            </a:r>
            <a:r>
              <a:rPr lang="en-GB" sz="1200" b="0" i="0" kern="1200" dirty="0">
                <a:solidFill>
                  <a:schemeClr val="tx1"/>
                </a:solidFill>
                <a:effectLst/>
                <a:latin typeface="+mn-lt"/>
                <a:ea typeface="+mn-ea"/>
                <a:cs typeface="+mn-cs"/>
              </a:rPr>
              <a:t>. In contrast, FND symptoms, which are genuine, are often characterized by </a:t>
            </a:r>
            <a:r>
              <a:rPr lang="en-GB" sz="1200" b="1" i="0" kern="1200" dirty="0">
                <a:solidFill>
                  <a:schemeClr val="tx1"/>
                </a:solidFill>
                <a:effectLst/>
                <a:latin typeface="+mn-lt"/>
                <a:ea typeface="+mn-ea"/>
                <a:cs typeface="+mn-cs"/>
              </a:rPr>
              <a:t>inconsistent signs</a:t>
            </a:r>
            <a:r>
              <a:rPr lang="en-GB" sz="1200" b="0" i="0" kern="1200" dirty="0">
                <a:solidFill>
                  <a:schemeClr val="tx1"/>
                </a:solidFill>
                <a:effectLst/>
                <a:latin typeface="+mn-lt"/>
                <a:ea typeface="+mn-ea"/>
                <a:cs typeface="+mn-cs"/>
              </a:rPr>
              <a:t>, such as weakness that fluctuates or varies with distraction, and signs that do not fit typical neurological pathways, like sensory deficits with indistinct boundaries.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a:t>
            </a:r>
            <a:r>
              <a:rPr lang="en-GB" b="1" dirty="0">
                <a:effectLst/>
                <a:hlinkClick r:id="rId3"/>
              </a:rPr>
              <a:t>Functional Movement Disorders</a:t>
            </a:r>
            <a:r>
              <a:rPr lang="en-GB" b="1" dirty="0">
                <a:effectLst/>
              </a:rPr>
              <a:t> (FMD)</a:t>
            </a:r>
            <a:r>
              <a:rPr lang="en-GB" dirty="0"/>
              <a:t>, most commonly the </a:t>
            </a:r>
            <a:r>
              <a:rPr lang="en-GB" b="1" dirty="0">
                <a:effectLst/>
                <a:hlinkClick r:id="rId4"/>
              </a:rPr>
              <a:t>Simplified Functional Movement Disorders Rating Scale</a:t>
            </a:r>
            <a:r>
              <a:rPr lang="en-GB" b="1" dirty="0">
                <a:effectLst/>
              </a:rPr>
              <a:t> (S-FMDRS)</a:t>
            </a:r>
            <a:r>
              <a:rPr lang="en-GB" sz="1200" b="0" i="0" kern="1200" dirty="0">
                <a:solidFill>
                  <a:schemeClr val="tx1"/>
                </a:solidFill>
                <a:effectLst/>
                <a:latin typeface="+mn-lt"/>
                <a:ea typeface="+mn-ea"/>
                <a:cs typeface="+mn-cs"/>
              </a:rPr>
              <a:t>. This scale rates the severity of motor dysfunction in different body regions (face, limbs, trunk, etc.), plus gait and speech issues, by scoring both the </a:t>
            </a:r>
            <a:r>
              <a:rPr lang="en-GB" sz="1200" b="1" i="0" kern="1200" dirty="0">
                <a:solidFill>
                  <a:schemeClr val="tx1"/>
                </a:solidFill>
                <a:effectLst/>
                <a:latin typeface="+mn-lt"/>
                <a:ea typeface="+mn-ea"/>
                <a:cs typeface="+mn-cs"/>
              </a:rPr>
              <a:t>severity</a:t>
            </a:r>
            <a:r>
              <a:rPr lang="en-GB" sz="1200" b="0" i="0" kern="1200" dirty="0">
                <a:solidFill>
                  <a:schemeClr val="tx1"/>
                </a:solidFill>
                <a:effectLst/>
                <a:latin typeface="+mn-lt"/>
                <a:ea typeface="+mn-ea"/>
                <a:cs typeface="+mn-cs"/>
              </a:rPr>
              <a:t> and </a:t>
            </a:r>
            <a:r>
              <a:rPr lang="en-GB" sz="1200" b="1" i="0" kern="1200" dirty="0">
                <a:solidFill>
                  <a:schemeClr val="tx1"/>
                </a:solidFill>
                <a:effectLst/>
                <a:latin typeface="+mn-lt"/>
                <a:ea typeface="+mn-ea"/>
                <a:cs typeface="+mn-cs"/>
              </a:rPr>
              <a:t>duration</a:t>
            </a:r>
            <a:r>
              <a:rPr lang="en-GB" sz="1200" b="0" i="0" kern="1200" dirty="0">
                <a:solidFill>
                  <a:schemeClr val="tx1"/>
                </a:solidFill>
                <a:effectLst/>
                <a:latin typeface="+mn-lt"/>
                <a:ea typeface="+mn-ea"/>
                <a:cs typeface="+mn-cs"/>
              </a:rPr>
              <a:t> of symptoms. The scores are then added to provide a total score, used to evaluate and track symptom changes over time or after treatment. </a:t>
            </a:r>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80</a:t>
            </a:fld>
            <a:endParaRPr lang="en-GB"/>
          </a:p>
        </p:txBody>
      </p:sp>
    </p:spTree>
    <p:extLst>
      <p:ext uri="{BB962C8B-B14F-4D97-AF65-F5344CB8AC3E}">
        <p14:creationId xmlns:p14="http://schemas.microsoft.com/office/powerpoint/2010/main" val="35745771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More research is required</a:t>
            </a:r>
          </a:p>
        </p:txBody>
      </p:sp>
      <p:sp>
        <p:nvSpPr>
          <p:cNvPr id="4" name="Slide Number Placeholder 3"/>
          <p:cNvSpPr>
            <a:spLocks noGrp="1"/>
          </p:cNvSpPr>
          <p:nvPr>
            <p:ph type="sldNum" sz="quarter" idx="5"/>
          </p:nvPr>
        </p:nvSpPr>
        <p:spPr/>
        <p:txBody>
          <a:bodyPr/>
          <a:lstStyle/>
          <a:p>
            <a:fld id="{752ED11F-4B84-4113-B78F-1401398B3101}" type="slidenum">
              <a:rPr lang="en-GB" smtClean="0"/>
              <a:t>81</a:t>
            </a:fld>
            <a:endParaRPr lang="en-GB"/>
          </a:p>
        </p:txBody>
      </p:sp>
    </p:spTree>
    <p:extLst>
      <p:ext uri="{BB962C8B-B14F-4D97-AF65-F5344CB8AC3E}">
        <p14:creationId xmlns:p14="http://schemas.microsoft.com/office/powerpoint/2010/main" val="29028503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Stroke Association (2023). </a:t>
            </a:r>
            <a:r>
              <a:rPr lang="en-GB" i="1" dirty="0"/>
              <a:t>State of the Nation: Stroke Statistics.</a:t>
            </a:r>
            <a:endParaRPr lang="en-GB" dirty="0"/>
          </a:p>
          <a:p>
            <a:r>
              <a:rPr lang="en-GB" dirty="0"/>
              <a:t>Public Health England (2022). </a:t>
            </a:r>
            <a:r>
              <a:rPr lang="en-GB" i="1" dirty="0"/>
              <a:t>Stroke statistics update.</a:t>
            </a:r>
            <a:endParaRPr lang="en-GB" dirty="0"/>
          </a:p>
          <a:p>
            <a:r>
              <a:rPr lang="en-GB" dirty="0"/>
              <a:t>NICE (2023). </a:t>
            </a:r>
            <a:r>
              <a:rPr lang="en-GB" i="1" dirty="0"/>
              <a:t>Stroke and transient ischaemic attack in over 16s (NG128)</a:t>
            </a:r>
            <a:endParaRPr lang="en-GB"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Emphasise</a:t>
            </a:r>
            <a:r>
              <a:rPr dirty="0"/>
              <a:t> the concept of the penumbra and the goal of early reperfusion therapy.</a:t>
            </a:r>
            <a:endParaRPr lang="en-GB" dirty="0"/>
          </a:p>
          <a:p>
            <a:endParaRPr lang="en-GB" dirty="0"/>
          </a:p>
          <a:p>
            <a:r>
              <a:rPr lang="en-GB" sz="1200" b="0" i="0" kern="1200" dirty="0">
                <a:solidFill>
                  <a:schemeClr val="tx1"/>
                </a:solidFill>
                <a:effectLst/>
                <a:latin typeface="+mn-lt"/>
                <a:ea typeface="+mn-ea"/>
                <a:cs typeface="+mn-cs"/>
              </a:rPr>
              <a:t>The pathophysiology of an ischemic stroke begins with a sudden loss of blood flow to a part of the brain, leading to oxygen and nutrient deprivation. This energy failure causes an immediate cascade of events, including ionic imbalances, excitotoxicity from glutamate </a:t>
            </a:r>
            <a:r>
              <a:rPr lang="en-GB" sz="1200" b="0" i="0" kern="1200" dirty="0" err="1">
                <a:solidFill>
                  <a:schemeClr val="tx1"/>
                </a:solidFill>
                <a:effectLst/>
                <a:latin typeface="+mn-lt"/>
                <a:ea typeface="+mn-ea"/>
                <a:cs typeface="+mn-cs"/>
              </a:rPr>
              <a:t>buildup</a:t>
            </a:r>
            <a:r>
              <a:rPr lang="en-GB" sz="1200" b="0" i="0" kern="1200" dirty="0">
                <a:solidFill>
                  <a:schemeClr val="tx1"/>
                </a:solidFill>
                <a:effectLst/>
                <a:latin typeface="+mn-lt"/>
                <a:ea typeface="+mn-ea"/>
                <a:cs typeface="+mn-cs"/>
              </a:rPr>
              <a:t>, and a rapid influx of calcium into neurons. This results in oxidative stress, inflammation, and ultimately, cell death in the central "core" region of the brain. The surrounding area of partially damaged tissue, known as the "penumbra," is at risk and can be salvaged by restoring blood flow.  </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519821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err="1">
                <a:solidFill>
                  <a:schemeClr val="tx1"/>
                </a:solidFill>
                <a:effectLst/>
                <a:latin typeface="+mn-lt"/>
                <a:ea typeface="+mn-ea"/>
                <a:cs typeface="+mn-cs"/>
              </a:rPr>
              <a:t>Hemorrhagic</a:t>
            </a:r>
            <a:r>
              <a:rPr lang="en-GB" sz="1200" b="0" i="0" kern="1200" dirty="0">
                <a:solidFill>
                  <a:schemeClr val="tx1"/>
                </a:solidFill>
                <a:effectLst/>
                <a:latin typeface="+mn-lt"/>
                <a:ea typeface="+mn-ea"/>
                <a:cs typeface="+mn-cs"/>
              </a:rPr>
              <a:t> stroke pathophysiology involves a blood vessel rupturing and bleeding into the brain, causing two primary effects: damage from the blood itself and the pressure it exerts. The leaked blood can form a hematoma, compressing and damaging surrounding brain tissue. It also prevents oxygen and nutrients from reaching the affected areas, leading to the death of brain cells and a loss of function in the part of the body controlled by that brain region</a:t>
            </a:r>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88</a:t>
            </a:fld>
            <a:endParaRPr lang="en-GB"/>
          </a:p>
        </p:txBody>
      </p:sp>
    </p:spTree>
    <p:extLst>
      <p:ext uri="{BB962C8B-B14F-4D97-AF65-F5344CB8AC3E}">
        <p14:creationId xmlns:p14="http://schemas.microsoft.com/office/powerpoint/2010/main" val="39456229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urgency of activating emergency stroke protocols.</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According to NICE guidelines, repetitive task training (RTT) is recommended as the primary approach for people with upper or lower limb weakness after a stroke, regardless of cognitive impairment. This training involves </a:t>
            </a:r>
            <a:r>
              <a:rPr lang="en-GB" dirty="0"/>
              <a:t>frequent repetition of task-specific, functional movements both during and outside of therapy sessions to promote neuroplasticity</a:t>
            </a:r>
          </a:p>
          <a:p>
            <a:endParaRPr lang="en-GB" dirty="0"/>
          </a:p>
          <a:p>
            <a:r>
              <a:rPr lang="en-GB" dirty="0">
                <a:effectLst/>
              </a:rPr>
              <a:t>The 2023 NICE guideline (NG236) for stroke rehabilitation recommends that adults should be offered at least three hours of needs-based, multidisciplinary therapy on at least five days of the week</a:t>
            </a:r>
            <a:r>
              <a:rPr lang="en-GB" sz="1200" b="0" i="0" kern="1200" dirty="0">
                <a:solidFill>
                  <a:schemeClr val="tx1"/>
                </a:solidFill>
                <a:effectLst/>
                <a:latin typeface="+mn-lt"/>
                <a:ea typeface="+mn-ea"/>
                <a:cs typeface="+mn-cs"/>
              </a:rPr>
              <a:t>. This increased intensity is a significant update from the 2013 guideline and is based on evidence that more intensive rehabilitation leads to better outcomes. </a:t>
            </a:r>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752ED11F-4B84-4113-B78F-1401398B3101}" type="slidenum">
              <a:rPr lang="en-GB" smtClean="0"/>
              <a:t>96</a:t>
            </a:fld>
            <a:endParaRPr lang="en-GB"/>
          </a:p>
        </p:txBody>
      </p:sp>
    </p:spTree>
    <p:extLst>
      <p:ext uri="{BB962C8B-B14F-4D97-AF65-F5344CB8AC3E}">
        <p14:creationId xmlns:p14="http://schemas.microsoft.com/office/powerpoint/2010/main" val="310763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865C96E5-05E2-4320-991E-88BCEBF4F2FD}" type="datetimeFigureOut">
              <a:rPr lang="en-GB" smtClean="0"/>
              <a:t>26/10/2025</a:t>
            </a:fld>
            <a:endParaRPr lang="en-GB"/>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GB"/>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9412D17D-327A-4F21-9D3B-1D1D235A2856}" type="slidenum">
              <a:rPr lang="en-GB" smtClean="0"/>
              <a:t>‹#›</a:t>
            </a:fld>
            <a:endParaRPr lang="en-GB"/>
          </a:p>
        </p:txBody>
      </p:sp>
    </p:spTree>
    <p:extLst>
      <p:ext uri="{BB962C8B-B14F-4D97-AF65-F5344CB8AC3E}">
        <p14:creationId xmlns:p14="http://schemas.microsoft.com/office/powerpoint/2010/main" val="2190391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5C96E5-05E2-4320-991E-88BCEBF4F2FD}" type="datetimeFigureOut">
              <a:rPr lang="en-GB" smtClean="0"/>
              <a:t>26/10/2025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12D17D-327A-4F21-9D3B-1D1D235A2856}" type="slidenum">
              <a:rPr lang="en-GB" smtClean="0"/>
              <a:t>‹#›</a:t>
            </a:fld>
            <a:endParaRPr lang="en-GB"/>
          </a:p>
        </p:txBody>
      </p:sp>
    </p:spTree>
    <p:extLst>
      <p:ext uri="{BB962C8B-B14F-4D97-AF65-F5344CB8AC3E}">
        <p14:creationId xmlns:p14="http://schemas.microsoft.com/office/powerpoint/2010/main" val="2712548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65C96E5-05E2-4320-991E-88BCEBF4F2FD}" type="datetimeFigureOut">
              <a:rPr lang="en-GB" smtClean="0"/>
              <a:t>26/10/2025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12D17D-327A-4F21-9D3B-1D1D235A2856}" type="slidenum">
              <a:rPr lang="en-GB" smtClean="0"/>
              <a:t>‹#›</a:t>
            </a:fld>
            <a:endParaRPr lang="en-GB"/>
          </a:p>
        </p:txBody>
      </p:sp>
    </p:spTree>
    <p:extLst>
      <p:ext uri="{BB962C8B-B14F-4D97-AF65-F5344CB8AC3E}">
        <p14:creationId xmlns:p14="http://schemas.microsoft.com/office/powerpoint/2010/main" val="2594940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5C96E5-05E2-4320-991E-88BCEBF4F2FD}" type="datetimeFigureOut">
              <a:rPr lang="en-GB" smtClean="0"/>
              <a:t>26/10/2025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412D17D-327A-4F21-9D3B-1D1D235A2856}" type="slidenum">
              <a:rPr lang="en-GB" smtClean="0"/>
              <a:t>‹#›</a:t>
            </a:fld>
            <a:endParaRPr lang="en-GB"/>
          </a:p>
        </p:txBody>
      </p:sp>
    </p:spTree>
    <p:extLst>
      <p:ext uri="{BB962C8B-B14F-4D97-AF65-F5344CB8AC3E}">
        <p14:creationId xmlns:p14="http://schemas.microsoft.com/office/powerpoint/2010/main" val="1641029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5C96E5-05E2-4320-991E-88BCEBF4F2FD}" type="datetimeFigureOut">
              <a:rPr lang="en-GB" smtClean="0"/>
              <a:t>26/10/2025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412D17D-327A-4F21-9D3B-1D1D235A2856}" type="slidenum">
              <a:rPr lang="en-GB" smtClean="0"/>
              <a:t>‹#›</a:t>
            </a:fld>
            <a:endParaRPr lang="en-GB"/>
          </a:p>
        </p:txBody>
      </p:sp>
    </p:spTree>
    <p:extLst>
      <p:ext uri="{BB962C8B-B14F-4D97-AF65-F5344CB8AC3E}">
        <p14:creationId xmlns:p14="http://schemas.microsoft.com/office/powerpoint/2010/main" val="307155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5C96E5-05E2-4320-991E-88BCEBF4F2FD}" type="datetimeFigureOut">
              <a:rPr lang="en-GB" smtClean="0"/>
              <a:t>26/10/2025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412D17D-327A-4F21-9D3B-1D1D235A2856}" type="slidenum">
              <a:rPr lang="en-GB" smtClean="0"/>
              <a:t>‹#›</a:t>
            </a:fld>
            <a:endParaRPr lang="en-GB"/>
          </a:p>
        </p:txBody>
      </p:sp>
    </p:spTree>
    <p:extLst>
      <p:ext uri="{BB962C8B-B14F-4D97-AF65-F5344CB8AC3E}">
        <p14:creationId xmlns:p14="http://schemas.microsoft.com/office/powerpoint/2010/main" val="191203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5C96E5-05E2-4320-991E-88BCEBF4F2FD}" type="datetimeFigureOut">
              <a:rPr lang="en-GB" smtClean="0"/>
              <a:t>26/10/2025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412D17D-327A-4F21-9D3B-1D1D235A2856}" type="slidenum">
              <a:rPr lang="en-GB" smtClean="0"/>
              <a:t>‹#›</a:t>
            </a:fld>
            <a:endParaRPr lang="en-GB"/>
          </a:p>
        </p:txBody>
      </p:sp>
    </p:spTree>
    <p:extLst>
      <p:ext uri="{BB962C8B-B14F-4D97-AF65-F5344CB8AC3E}">
        <p14:creationId xmlns:p14="http://schemas.microsoft.com/office/powerpoint/2010/main" val="3985880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Edit Master text styles</a:t>
            </a:r>
          </a:p>
        </p:txBody>
      </p:sp>
      <p:sp>
        <p:nvSpPr>
          <p:cNvPr id="5" name="Date Placeholder 4"/>
          <p:cNvSpPr>
            <a:spLocks noGrp="1"/>
          </p:cNvSpPr>
          <p:nvPr>
            <p:ph type="dt" sz="half" idx="10"/>
          </p:nvPr>
        </p:nvSpPr>
        <p:spPr/>
        <p:txBody>
          <a:bodyPr/>
          <a:lstStyle/>
          <a:p>
            <a:fld id="{865C96E5-05E2-4320-991E-88BCEBF4F2FD}" type="datetimeFigureOut">
              <a:rPr lang="en-GB" smtClean="0"/>
              <a:t>26/10/2025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9412D17D-327A-4F21-9D3B-1D1D235A2856}" type="slidenum">
              <a:rPr lang="en-GB" smtClean="0"/>
              <a:t>‹#›</a:t>
            </a:fld>
            <a:endParaRPr lang="en-GB"/>
          </a:p>
        </p:txBody>
      </p:sp>
    </p:spTree>
    <p:extLst>
      <p:ext uri="{BB962C8B-B14F-4D97-AF65-F5344CB8AC3E}">
        <p14:creationId xmlns:p14="http://schemas.microsoft.com/office/powerpoint/2010/main" val="1094113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865C96E5-05E2-4320-991E-88BCEBF4F2FD}" type="datetimeFigureOut">
              <a:rPr lang="en-GB" smtClean="0"/>
              <a:t>26/10/2025</a:t>
            </a:fld>
            <a:endParaRPr lang="en-GB"/>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GB"/>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9412D17D-327A-4F21-9D3B-1D1D235A2856}" type="slidenum">
              <a:rPr lang="en-GB" smtClean="0"/>
              <a:t>‹#›</a:t>
            </a:fld>
            <a:endParaRPr lang="en-GB"/>
          </a:p>
        </p:txBody>
      </p:sp>
    </p:spTree>
    <p:extLst>
      <p:ext uri="{BB962C8B-B14F-4D97-AF65-F5344CB8AC3E}">
        <p14:creationId xmlns:p14="http://schemas.microsoft.com/office/powerpoint/2010/main" val="18259015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5C96E5-05E2-4320-991E-88BCEBF4F2FD}" type="datetimeFigureOut">
              <a:rPr lang="en-GB" smtClean="0"/>
              <a:t>26/10/2025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12D17D-327A-4F21-9D3B-1D1D235A2856}" type="slidenum">
              <a:rPr lang="en-GB" smtClean="0"/>
              <a:t>‹#›</a:t>
            </a:fld>
            <a:endParaRPr lang="en-GB"/>
          </a:p>
        </p:txBody>
      </p:sp>
    </p:spTree>
    <p:extLst>
      <p:ext uri="{BB962C8B-B14F-4D97-AF65-F5344CB8AC3E}">
        <p14:creationId xmlns:p14="http://schemas.microsoft.com/office/powerpoint/2010/main" val="1345319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5C96E5-05E2-4320-991E-88BCEBF4F2FD}" type="datetimeFigureOut">
              <a:rPr lang="en-GB" smtClean="0"/>
              <a:t>26/10/2025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12D17D-327A-4F21-9D3B-1D1D235A2856}" type="slidenum">
              <a:rPr lang="en-GB" smtClean="0"/>
              <a:t>‹#›</a:t>
            </a:fld>
            <a:endParaRPr lang="en-GB"/>
          </a:p>
        </p:txBody>
      </p:sp>
    </p:spTree>
    <p:extLst>
      <p:ext uri="{BB962C8B-B14F-4D97-AF65-F5344CB8AC3E}">
        <p14:creationId xmlns:p14="http://schemas.microsoft.com/office/powerpoint/2010/main" val="3103486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865C96E5-05E2-4320-991E-88BCEBF4F2FD}" type="datetimeFigureOut">
              <a:rPr lang="en-GB" smtClean="0"/>
              <a:t>26/10/2025</a:t>
            </a:fld>
            <a:endParaRPr lang="en-GB"/>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GB"/>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9412D17D-327A-4F21-9D3B-1D1D235A2856}" type="slidenum">
              <a:rPr lang="en-GB" smtClean="0"/>
              <a:t>‹#›</a:t>
            </a:fld>
            <a:endParaRPr lang="en-GB"/>
          </a:p>
        </p:txBody>
      </p:sp>
    </p:spTree>
    <p:extLst>
      <p:ext uri="{BB962C8B-B14F-4D97-AF65-F5344CB8AC3E}">
        <p14:creationId xmlns:p14="http://schemas.microsoft.com/office/powerpoint/2010/main" val="100307192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mssociety.org.uk/" TargetMode="External"/><Relationship Id="rId2" Type="http://schemas.openxmlformats.org/officeDocument/2006/relationships/hyperlink" Target="https://doi.org/10.1007/s44197-025-00353-6" TargetMode="External"/><Relationship Id="rId1" Type="http://schemas.openxmlformats.org/officeDocument/2006/relationships/slideLayout" Target="../slideLayouts/slideLayout2.xml"/><Relationship Id="rId4" Type="http://schemas.openxmlformats.org/officeDocument/2006/relationships/hyperlink" Target="https://ms-uk.or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p8HaoQaIMGo"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34.xml.rels><?xml version="1.0" encoding="UTF-8" standalone="yes"?>
<Relationships xmlns="http://schemas.openxmlformats.org/package/2006/relationships"><Relationship Id="rId3" Type="http://schemas.openxmlformats.org/officeDocument/2006/relationships/hyperlink" Target="https://www.youtube.com/watch?v=OD2KPSGZ1No&amp;t=119s"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www.youtube.com/watch?v=_pZmMU2xLM8" TargetMode="Externa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youtube.com/watch?v=EQ0HG16EC3g"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www.youtube.com/watch?v=7upHDhAmkqU"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parkinsons.org.uk/"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youtube.com/watch?v=vCn1WRR_U3E"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www.youtube.com/watch?v=rcFlo2fDMMs"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6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hyperlink" Target="https://www.youtube.com/watch?v=RxWEilu-Mf4"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practicalneurology.com/diseases-diagnoses/movement-disorders/clinical-approach-to-the-diagnostic-evaluation-of-chorea/32165/" TargetMode="External"/><Relationship Id="rId2" Type="http://schemas.openxmlformats.org/officeDocument/2006/relationships/hyperlink" Target="https://www.movementdisorders.org/" TargetMode="External"/><Relationship Id="rId1" Type="http://schemas.openxmlformats.org/officeDocument/2006/relationships/slideLayout" Target="../slideLayouts/slideLayout2.xml"/><Relationship Id="rId4" Type="http://schemas.openxmlformats.org/officeDocument/2006/relationships/hyperlink" Target="https://practicalneurology.com/diseases-diagnoses/movement-disorders/"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jnnp.bmj.com/content/jnnp/86/10/1113.full.pdf"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0.tmp"/></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https://www.fndaction.org.uk/" TargetMode="External"/><Relationship Id="rId2" Type="http://schemas.openxmlformats.org/officeDocument/2006/relationships/hyperlink" Target="https://www.aevumhealth.com.au/insights/better-understanding-functional-neurological-disorder-and-how-therapy-can-help/" TargetMode="External"/><Relationship Id="rId1" Type="http://schemas.openxmlformats.org/officeDocument/2006/relationships/slideLayout" Target="../slideLayouts/slideLayout2.xml"/><Relationship Id="rId5" Type="http://schemas.openxmlformats.org/officeDocument/2006/relationships/hyperlink" Target="https://cks.nice.org.uk/topics/functional-neurological-disorder/" TargetMode="External"/><Relationship Id="rId4" Type="http://schemas.openxmlformats.org/officeDocument/2006/relationships/hyperlink" Target="https://fndhope.org/"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hyperlink" Target="https://www.brainandspine.org.uk/" TargetMode="External"/><Relationship Id="rId2" Type="http://schemas.openxmlformats.org/officeDocument/2006/relationships/hyperlink" Target="https://www.nice.org.uk/guidance/ng236" TargetMode="External"/><Relationship Id="rId1" Type="http://schemas.openxmlformats.org/officeDocument/2006/relationships/slideLayout" Target="../slideLayouts/slideLayout2.xml"/><Relationship Id="rId4" Type="http://schemas.openxmlformats.org/officeDocument/2006/relationships/hyperlink" Target="https://www.stroke.org.uk/"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C6B0B-01FB-4984-995F-042AA1C065B4}"/>
              </a:ext>
            </a:extLst>
          </p:cNvPr>
          <p:cNvSpPr>
            <a:spLocks noGrp="1"/>
          </p:cNvSpPr>
          <p:nvPr>
            <p:ph type="ctrTitle"/>
          </p:nvPr>
        </p:nvSpPr>
        <p:spPr>
          <a:xfrm>
            <a:off x="503491" y="1299104"/>
            <a:ext cx="10782300" cy="3352800"/>
          </a:xfrm>
        </p:spPr>
        <p:txBody>
          <a:bodyPr>
            <a:normAutofit fontScale="90000"/>
          </a:bodyPr>
          <a:lstStyle/>
          <a:p>
            <a:r>
              <a:rPr lang="en-GB" dirty="0"/>
              <a:t>Neurological Assessment in Common Clinical Conditions</a:t>
            </a:r>
            <a:br>
              <a:rPr lang="en-GB" dirty="0"/>
            </a:br>
            <a:endParaRPr lang="en-GB" dirty="0"/>
          </a:p>
        </p:txBody>
      </p:sp>
      <p:sp>
        <p:nvSpPr>
          <p:cNvPr id="3" name="Subtitle 2">
            <a:extLst>
              <a:ext uri="{FF2B5EF4-FFF2-40B4-BE49-F238E27FC236}">
                <a16:creationId xmlns:a16="http://schemas.microsoft.com/office/drawing/2014/main" id="{1357FF30-46F1-4165-818B-540A268C13F6}"/>
              </a:ext>
            </a:extLst>
          </p:cNvPr>
          <p:cNvSpPr>
            <a:spLocks noGrp="1"/>
          </p:cNvSpPr>
          <p:nvPr>
            <p:ph type="subTitle" idx="1"/>
          </p:nvPr>
        </p:nvSpPr>
        <p:spPr/>
        <p:txBody>
          <a:bodyPr>
            <a:normAutofit/>
          </a:bodyPr>
          <a:lstStyle/>
          <a:p>
            <a:r>
              <a:rPr lang="en-GB" sz="2400" dirty="0"/>
              <a:t>Charlotte Price, Highly Specialist Physiotherapist in Neuro Rehabilitation (Guest Lecturer)</a:t>
            </a:r>
          </a:p>
        </p:txBody>
      </p:sp>
    </p:spTree>
    <p:extLst>
      <p:ext uri="{BB962C8B-B14F-4D97-AF65-F5344CB8AC3E}">
        <p14:creationId xmlns:p14="http://schemas.microsoft.com/office/powerpoint/2010/main" val="3190743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94C39-17A9-4B96-A0CB-C7A44D982048}"/>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Lecture Learning Outcomes:</a:t>
            </a:r>
          </a:p>
        </p:txBody>
      </p:sp>
      <p:sp>
        <p:nvSpPr>
          <p:cNvPr id="3" name="Content Placeholder 2">
            <a:extLst>
              <a:ext uri="{FF2B5EF4-FFF2-40B4-BE49-F238E27FC236}">
                <a16:creationId xmlns:a16="http://schemas.microsoft.com/office/drawing/2014/main" id="{67048E77-5D16-47E1-9BD2-2C60E24C5E25}"/>
              </a:ext>
            </a:extLst>
          </p:cNvPr>
          <p:cNvSpPr>
            <a:spLocks noGrp="1"/>
          </p:cNvSpPr>
          <p:nvPr>
            <p:ph idx="1"/>
          </p:nvPr>
        </p:nvSpPr>
        <p:spPr/>
        <p:txBody>
          <a:bodyPr>
            <a:normAutofit fontScale="92500"/>
          </a:bodyPr>
          <a:lstStyle/>
          <a:p>
            <a:pPr marL="0" indent="0">
              <a:buNone/>
            </a:pPr>
            <a:r>
              <a:rPr lang="en-GB" sz="2400" b="1" dirty="0">
                <a:latin typeface="Arial" panose="020B0604020202020204" pitchFamily="34" charset="0"/>
                <a:cs typeface="Arial" panose="020B0604020202020204" pitchFamily="34" charset="0"/>
              </a:rPr>
              <a:t>1. </a:t>
            </a:r>
            <a:r>
              <a:rPr lang="en-GB" sz="2400" dirty="0">
                <a:latin typeface="Arial" panose="020B0604020202020204" pitchFamily="34" charset="0"/>
                <a:cs typeface="Arial" panose="020B0604020202020204" pitchFamily="34" charset="0"/>
              </a:rPr>
              <a:t>Describe the pathophysiology, progression, and hallmark clinical features of: </a:t>
            </a:r>
            <a:r>
              <a:rPr lang="en-GB" sz="2400" b="1" dirty="0">
                <a:solidFill>
                  <a:srgbClr val="FF0000"/>
                </a:solidFill>
                <a:latin typeface="Arial" panose="020B0604020202020204" pitchFamily="34" charset="0"/>
                <a:cs typeface="Arial" panose="020B0604020202020204" pitchFamily="34" charset="0"/>
              </a:rPr>
              <a:t>Multiple Sclerosis (MS), </a:t>
            </a:r>
            <a:r>
              <a:rPr lang="en-GB" sz="2400" b="1" dirty="0">
                <a:solidFill>
                  <a:srgbClr val="FFC000"/>
                </a:solidFill>
                <a:latin typeface="Arial" panose="020B0604020202020204" pitchFamily="34" charset="0"/>
                <a:cs typeface="Arial" panose="020B0604020202020204" pitchFamily="34" charset="0"/>
              </a:rPr>
              <a:t>Parkinson’s Disease (PD), </a:t>
            </a:r>
            <a:r>
              <a:rPr lang="en-GB" sz="2400" b="1" dirty="0">
                <a:solidFill>
                  <a:srgbClr val="92D050"/>
                </a:solidFill>
                <a:latin typeface="Arial" panose="020B0604020202020204" pitchFamily="34" charset="0"/>
                <a:cs typeface="Arial" panose="020B0604020202020204" pitchFamily="34" charset="0"/>
              </a:rPr>
              <a:t>Motor Neurone Disease (MND), </a:t>
            </a:r>
            <a:r>
              <a:rPr lang="en-GB" sz="2400" b="1" dirty="0">
                <a:solidFill>
                  <a:srgbClr val="00B0F0"/>
                </a:solidFill>
                <a:latin typeface="Arial" panose="020B0604020202020204" pitchFamily="34" charset="0"/>
                <a:cs typeface="Arial" panose="020B0604020202020204" pitchFamily="34" charset="0"/>
              </a:rPr>
              <a:t>Cerebellar Ataxia,</a:t>
            </a:r>
            <a:r>
              <a:rPr lang="en-GB" sz="2400" b="1" dirty="0">
                <a:latin typeface="Arial" panose="020B0604020202020204" pitchFamily="34" charset="0"/>
                <a:cs typeface="Arial" panose="020B0604020202020204" pitchFamily="34" charset="0"/>
              </a:rPr>
              <a:t> </a:t>
            </a:r>
            <a:r>
              <a:rPr lang="en-GB" sz="2400" b="1" dirty="0">
                <a:solidFill>
                  <a:srgbClr val="0070C0"/>
                </a:solidFill>
                <a:latin typeface="Arial" panose="020B0604020202020204" pitchFamily="34" charset="0"/>
                <a:cs typeface="Arial" panose="020B0604020202020204" pitchFamily="34" charset="0"/>
              </a:rPr>
              <a:t>Hyperkinetic Disorders</a:t>
            </a:r>
            <a:r>
              <a:rPr lang="en-GB" sz="2400" b="1" dirty="0">
                <a:latin typeface="Arial" panose="020B0604020202020204" pitchFamily="34" charset="0"/>
                <a:cs typeface="Arial" panose="020B0604020202020204" pitchFamily="34" charset="0"/>
              </a:rPr>
              <a:t>, </a:t>
            </a:r>
            <a:r>
              <a:rPr lang="en-GB" sz="2400" b="1" dirty="0">
                <a:solidFill>
                  <a:srgbClr val="FF3399"/>
                </a:solidFill>
                <a:latin typeface="Arial" panose="020B0604020202020204" pitchFamily="34" charset="0"/>
                <a:cs typeface="Arial" panose="020B0604020202020204" pitchFamily="34" charset="0"/>
              </a:rPr>
              <a:t>Functional Neurological Disorder (FND) </a:t>
            </a:r>
            <a:r>
              <a:rPr lang="en-GB" sz="2400" b="1" dirty="0">
                <a:solidFill>
                  <a:srgbClr val="7030A0"/>
                </a:solidFill>
                <a:latin typeface="Arial" panose="020B0604020202020204" pitchFamily="34" charset="0"/>
                <a:cs typeface="Arial" panose="020B0604020202020204" pitchFamily="34" charset="0"/>
              </a:rPr>
              <a:t>and Stroke (CVA)</a:t>
            </a:r>
          </a:p>
          <a:p>
            <a:endParaRPr lang="en-GB" sz="2400" dirty="0">
              <a:solidFill>
                <a:srgbClr val="7030A0"/>
              </a:solidFill>
              <a:latin typeface="Arial" panose="020B0604020202020204" pitchFamily="34" charset="0"/>
              <a:cs typeface="Arial" panose="020B0604020202020204" pitchFamily="34" charset="0"/>
            </a:endParaRPr>
          </a:p>
          <a:p>
            <a:pPr marL="0" indent="0">
              <a:buNone/>
            </a:pPr>
            <a:r>
              <a:rPr lang="en-GB" sz="2400" b="1" dirty="0">
                <a:latin typeface="Arial" panose="020B0604020202020204" pitchFamily="34" charset="0"/>
                <a:cs typeface="Arial" panose="020B0604020202020204" pitchFamily="34" charset="0"/>
              </a:rPr>
              <a:t>2. </a:t>
            </a:r>
            <a:r>
              <a:rPr lang="en-GB" sz="2400" dirty="0">
                <a:latin typeface="Arial" panose="020B0604020202020204" pitchFamily="34" charset="0"/>
                <a:cs typeface="Arial" panose="020B0604020202020204" pitchFamily="34" charset="0"/>
              </a:rPr>
              <a:t>Identify common patterns of motor and sensory deficits associated with each condition.</a:t>
            </a:r>
          </a:p>
          <a:p>
            <a:pPr marL="0" indent="0">
              <a:buNone/>
            </a:pPr>
            <a:r>
              <a:rPr lang="en-GB" sz="2400" b="1" dirty="0">
                <a:latin typeface="Arial" panose="020B0604020202020204" pitchFamily="34" charset="0"/>
                <a:cs typeface="Arial" panose="020B0604020202020204" pitchFamily="34" charset="0"/>
              </a:rPr>
              <a:t>3. </a:t>
            </a:r>
            <a:r>
              <a:rPr lang="en-GB" sz="2400" dirty="0">
                <a:latin typeface="Arial" panose="020B0604020202020204" pitchFamily="34" charset="0"/>
                <a:cs typeface="Arial" panose="020B0604020202020204" pitchFamily="34" charset="0"/>
              </a:rPr>
              <a:t>Recognise red flag indicators and situations requiring urgent medical referral.</a:t>
            </a:r>
          </a:p>
          <a:p>
            <a:pPr marL="0" indent="0">
              <a:buNone/>
            </a:pPr>
            <a:r>
              <a:rPr lang="en-GB" sz="2400" b="1" dirty="0">
                <a:latin typeface="Arial" panose="020B0604020202020204" pitchFamily="34" charset="0"/>
                <a:cs typeface="Arial" panose="020B0604020202020204" pitchFamily="34" charset="0"/>
              </a:rPr>
              <a:t>4. </a:t>
            </a:r>
            <a:r>
              <a:rPr lang="en-GB" sz="2400" dirty="0">
                <a:latin typeface="Arial" panose="020B0604020202020204" pitchFamily="34" charset="0"/>
                <a:cs typeface="Arial" panose="020B0604020202020204" pitchFamily="34" charset="0"/>
              </a:rPr>
              <a:t>Outline physiotherapy roles and priorities in the assessment and management of these conditions.</a:t>
            </a:r>
          </a:p>
          <a:p>
            <a:endParaRPr lang="en-GB" dirty="0">
              <a:solidFill>
                <a:srgbClr val="7030A0"/>
              </a:solidFill>
            </a:endParaRPr>
          </a:p>
          <a:p>
            <a:pPr marL="0" indent="0">
              <a:buNone/>
            </a:pPr>
            <a:endParaRPr lang="en-GB" dirty="0"/>
          </a:p>
        </p:txBody>
      </p:sp>
    </p:spTree>
    <p:extLst>
      <p:ext uri="{BB962C8B-B14F-4D97-AF65-F5344CB8AC3E}">
        <p14:creationId xmlns:p14="http://schemas.microsoft.com/office/powerpoint/2010/main" val="1789769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4F3AD-6B61-4610-AC8A-1AA34665D3BE}"/>
              </a:ext>
            </a:extLst>
          </p:cNvPr>
          <p:cNvSpPr>
            <a:spLocks noGrp="1"/>
          </p:cNvSpPr>
          <p:nvPr>
            <p:ph type="title"/>
          </p:nvPr>
        </p:nvSpPr>
        <p:spPr>
          <a:xfrm>
            <a:off x="838200" y="2422525"/>
            <a:ext cx="10515600" cy="1325563"/>
          </a:xfrm>
        </p:spPr>
        <p:txBody>
          <a:bodyPr>
            <a:normAutofit/>
          </a:bodyPr>
          <a:lstStyle/>
          <a:p>
            <a:pPr algn="ctr"/>
            <a:r>
              <a:rPr lang="en-GB" sz="6000" b="1" dirty="0">
                <a:solidFill>
                  <a:srgbClr val="FF0000"/>
                </a:solidFill>
              </a:rPr>
              <a:t>Multiple Sclerosis MS</a:t>
            </a:r>
          </a:p>
        </p:txBody>
      </p:sp>
    </p:spTree>
    <p:extLst>
      <p:ext uri="{BB962C8B-B14F-4D97-AF65-F5344CB8AC3E}">
        <p14:creationId xmlns:p14="http://schemas.microsoft.com/office/powerpoint/2010/main" val="1045442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77871-59CB-449C-AE31-F9FBD385C24D}"/>
              </a:ext>
            </a:extLst>
          </p:cNvPr>
          <p:cNvSpPr>
            <a:spLocks noGrp="1"/>
          </p:cNvSpPr>
          <p:nvPr>
            <p:ph type="title"/>
          </p:nvPr>
        </p:nvSpPr>
        <p:spPr/>
        <p:txBody>
          <a:bodyPr/>
          <a:lstStyle/>
          <a:p>
            <a:r>
              <a:rPr lang="en-GB" dirty="0"/>
              <a:t>MS  </a:t>
            </a:r>
          </a:p>
        </p:txBody>
      </p:sp>
      <p:sp>
        <p:nvSpPr>
          <p:cNvPr id="3" name="Content Placeholder 2">
            <a:extLst>
              <a:ext uri="{FF2B5EF4-FFF2-40B4-BE49-F238E27FC236}">
                <a16:creationId xmlns:a16="http://schemas.microsoft.com/office/drawing/2014/main" id="{5176DE2F-C288-48A7-881D-887ACBBCAABE}"/>
              </a:ext>
            </a:extLst>
          </p:cNvPr>
          <p:cNvSpPr>
            <a:spLocks noGrp="1"/>
          </p:cNvSpPr>
          <p:nvPr>
            <p:ph idx="1"/>
          </p:nvPr>
        </p:nvSpPr>
        <p:spPr>
          <a:xfrm>
            <a:off x="342900" y="2023566"/>
            <a:ext cx="6753225" cy="4351338"/>
          </a:xfrm>
        </p:spPr>
        <p:txBody>
          <a:bodyPr/>
          <a:lstStyle/>
          <a:p>
            <a:pPr marL="0" indent="0">
              <a:buNone/>
            </a:pPr>
            <a:r>
              <a:rPr lang="en-GB" dirty="0"/>
              <a:t>Multiple sclerosis is a chronic autoimmune disease affecting the central nervous system and is characterized by inflammation, demyelination, gliosis, and neuronal loss.</a:t>
            </a:r>
          </a:p>
          <a:p>
            <a:pPr marL="0" indent="0">
              <a:buNone/>
            </a:pPr>
            <a:endParaRPr lang="en-GB" dirty="0"/>
          </a:p>
          <a:p>
            <a:pPr marL="0" indent="0">
              <a:buNone/>
            </a:pPr>
            <a:r>
              <a:rPr lang="en-GB" dirty="0"/>
              <a:t>Varied disease courses, including:</a:t>
            </a:r>
          </a:p>
          <a:p>
            <a:pPr marL="0" indent="0">
              <a:buNone/>
            </a:pPr>
            <a:r>
              <a:rPr lang="en-GB" dirty="0"/>
              <a:t>Relapsing-remitting, primary progressive, and secondary progressive</a:t>
            </a:r>
          </a:p>
          <a:p>
            <a:pPr marL="0" indent="0">
              <a:buNone/>
            </a:pPr>
            <a:endParaRPr lang="en-GB" dirty="0"/>
          </a:p>
          <a:p>
            <a:pPr marL="0" indent="0">
              <a:buNone/>
            </a:pPr>
            <a:endParaRPr lang="en-GB" dirty="0"/>
          </a:p>
        </p:txBody>
      </p:sp>
      <p:pic>
        <p:nvPicPr>
          <p:cNvPr id="1030" name="Picture 6" descr="7 Early Warning Signs of Multiple Sclerosis - Regional Neurological  Associates">
            <a:extLst>
              <a:ext uri="{FF2B5EF4-FFF2-40B4-BE49-F238E27FC236}">
                <a16:creationId xmlns:a16="http://schemas.microsoft.com/office/drawing/2014/main" id="{14FC70E5-56BD-425C-A931-10C44FC17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5574" y="375989"/>
            <a:ext cx="4924425" cy="3295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0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77871-59CB-449C-AE31-F9FBD385C24D}"/>
              </a:ext>
            </a:extLst>
          </p:cNvPr>
          <p:cNvSpPr>
            <a:spLocks noGrp="1"/>
          </p:cNvSpPr>
          <p:nvPr>
            <p:ph type="title"/>
          </p:nvPr>
        </p:nvSpPr>
        <p:spPr/>
        <p:txBody>
          <a:bodyPr/>
          <a:lstStyle/>
          <a:p>
            <a:r>
              <a:rPr lang="en-GB" dirty="0"/>
              <a:t>MS Aetiology </a:t>
            </a:r>
          </a:p>
        </p:txBody>
      </p:sp>
      <p:pic>
        <p:nvPicPr>
          <p:cNvPr id="1026" name="Picture 2" descr="Major genetic study of Multiple Sclerosis reveals DNA hot spots of disease  susceptibility">
            <a:extLst>
              <a:ext uri="{FF2B5EF4-FFF2-40B4-BE49-F238E27FC236}">
                <a16:creationId xmlns:a16="http://schemas.microsoft.com/office/drawing/2014/main" id="{E7C67440-4F74-45B9-A085-FE281B3499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8688" y="499533"/>
            <a:ext cx="6191250" cy="5458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905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77871-59CB-449C-AE31-F9FBD385C24D}"/>
              </a:ext>
            </a:extLst>
          </p:cNvPr>
          <p:cNvSpPr>
            <a:spLocks noGrp="1"/>
          </p:cNvSpPr>
          <p:nvPr>
            <p:ph type="title"/>
          </p:nvPr>
        </p:nvSpPr>
        <p:spPr>
          <a:xfrm>
            <a:off x="400049" y="251036"/>
            <a:ext cx="10772775" cy="1658198"/>
          </a:xfrm>
        </p:spPr>
        <p:txBody>
          <a:bodyPr/>
          <a:lstStyle/>
          <a:p>
            <a:r>
              <a:rPr lang="en-GB" b="1" dirty="0"/>
              <a:t>MS  Epidemiology</a:t>
            </a:r>
          </a:p>
        </p:txBody>
      </p:sp>
      <p:sp>
        <p:nvSpPr>
          <p:cNvPr id="3" name="Content Placeholder 2">
            <a:extLst>
              <a:ext uri="{FF2B5EF4-FFF2-40B4-BE49-F238E27FC236}">
                <a16:creationId xmlns:a16="http://schemas.microsoft.com/office/drawing/2014/main" id="{5176DE2F-C288-48A7-881D-887ACBBCAABE}"/>
              </a:ext>
            </a:extLst>
          </p:cNvPr>
          <p:cNvSpPr>
            <a:spLocks noGrp="1"/>
          </p:cNvSpPr>
          <p:nvPr>
            <p:ph idx="1"/>
          </p:nvPr>
        </p:nvSpPr>
        <p:spPr/>
        <p:txBody>
          <a:bodyPr/>
          <a:lstStyle/>
          <a:p>
            <a:pPr marL="0" indent="0">
              <a:buNone/>
            </a:pPr>
            <a:endParaRPr lang="en-GB" dirty="0"/>
          </a:p>
          <a:p>
            <a:pPr marL="0" indent="0">
              <a:buNone/>
            </a:pPr>
            <a:endParaRPr lang="en-GB" dirty="0"/>
          </a:p>
          <a:p>
            <a:pPr marL="0" indent="0">
              <a:buNone/>
            </a:pPr>
            <a:endParaRPr lang="en-GB" dirty="0"/>
          </a:p>
          <a:p>
            <a:pPr marL="0" indent="0">
              <a:buNone/>
            </a:pPr>
            <a:endParaRPr lang="en-GB" dirty="0"/>
          </a:p>
        </p:txBody>
      </p:sp>
      <p:sp>
        <p:nvSpPr>
          <p:cNvPr id="4" name="Rectangle 3">
            <a:extLst>
              <a:ext uri="{FF2B5EF4-FFF2-40B4-BE49-F238E27FC236}">
                <a16:creationId xmlns:a16="http://schemas.microsoft.com/office/drawing/2014/main" id="{ABCB7EE6-E1B8-4CA0-9B19-3ED4EE73248F}"/>
              </a:ext>
            </a:extLst>
          </p:cNvPr>
          <p:cNvSpPr/>
          <p:nvPr/>
        </p:nvSpPr>
        <p:spPr>
          <a:xfrm>
            <a:off x="676656" y="1909234"/>
            <a:ext cx="10753724" cy="4093428"/>
          </a:xfrm>
          <a:prstGeom prst="rect">
            <a:avLst/>
          </a:prstGeom>
        </p:spPr>
        <p:txBody>
          <a:bodyPr wrap="square">
            <a:spAutoFit/>
          </a:bodyPr>
          <a:lstStyle/>
          <a:p>
            <a:pPr marL="342900" indent="-342900">
              <a:buFont typeface="Arial" panose="020B0604020202020204" pitchFamily="34" charset="0"/>
              <a:buChar char="•"/>
            </a:pPr>
            <a:r>
              <a:rPr lang="en-GB" sz="2000" dirty="0">
                <a:solidFill>
                  <a:srgbClr val="0A0A0A"/>
                </a:solidFill>
              </a:rPr>
              <a:t>The average age for an MS diagnosis is </a:t>
            </a:r>
            <a:r>
              <a:rPr lang="en-GB" sz="2000" dirty="0"/>
              <a:t>around 30 years old</a:t>
            </a:r>
            <a:r>
              <a:rPr lang="en-GB" sz="2000" dirty="0">
                <a:solidFill>
                  <a:srgbClr val="0A0A0A"/>
                </a:solidFill>
              </a:rPr>
              <a:t>, with most people being diagnosed between the ages of 20 and 40. </a:t>
            </a:r>
          </a:p>
          <a:p>
            <a:pPr marL="342900" indent="-342900">
              <a:buFont typeface="Arial" panose="020B0604020202020204" pitchFamily="34" charset="0"/>
              <a:buChar char="•"/>
            </a:pPr>
            <a:endParaRPr lang="en-GB" sz="2000" dirty="0">
              <a:solidFill>
                <a:srgbClr val="0A0A0A"/>
              </a:solidFill>
            </a:endParaRPr>
          </a:p>
          <a:p>
            <a:pPr marL="342900" indent="-342900">
              <a:buFont typeface="Arial" panose="020B0604020202020204" pitchFamily="34" charset="0"/>
              <a:buChar char="•"/>
            </a:pPr>
            <a:r>
              <a:rPr lang="en-GB" sz="2000" dirty="0"/>
              <a:t>2.9 million people in the world have multiple sclerosis. The UK has more than 150,000 people living with MS.</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MS is two to three times more common in women than it is in men</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The distribution of MS around the world is uneven. Generally, the prevalence increases as you travel further north or south from the equator. Countries that lie on the equator tend to have extremely low levels of MS, whilst places closer to the Poles such as New Zealand, Canada and Scotland have particularly high rates.</a:t>
            </a:r>
          </a:p>
          <a:p>
            <a:endParaRPr lang="en-GB" sz="2000" dirty="0"/>
          </a:p>
        </p:txBody>
      </p:sp>
    </p:spTree>
    <p:extLst>
      <p:ext uri="{BB962C8B-B14F-4D97-AF65-F5344CB8AC3E}">
        <p14:creationId xmlns:p14="http://schemas.microsoft.com/office/powerpoint/2010/main" val="1252851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raphic showing prevalence of MS for people living in the UK">
            <a:extLst>
              <a:ext uri="{FF2B5EF4-FFF2-40B4-BE49-F238E27FC236}">
                <a16:creationId xmlns:a16="http://schemas.microsoft.com/office/drawing/2014/main" id="{F0146797-1433-4798-92E1-803FB64D3A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75" y="533399"/>
            <a:ext cx="11220450" cy="5610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6781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Pathophysiology</a:t>
            </a:r>
          </a:p>
        </p:txBody>
      </p:sp>
      <p:sp>
        <p:nvSpPr>
          <p:cNvPr id="3" name="Content Placeholder 2"/>
          <p:cNvSpPr>
            <a:spLocks noGrp="1"/>
          </p:cNvSpPr>
          <p:nvPr>
            <p:ph idx="1"/>
          </p:nvPr>
        </p:nvSpPr>
        <p:spPr>
          <a:xfrm>
            <a:off x="676657" y="2011680"/>
            <a:ext cx="4638294" cy="4346787"/>
          </a:xfrm>
        </p:spPr>
        <p:txBody>
          <a:bodyPr/>
          <a:lstStyle/>
          <a:p>
            <a:r>
              <a:rPr dirty="0"/>
              <a:t>• Immune-mediated attack on myelin → inflammation and demyelination.</a:t>
            </a:r>
          </a:p>
          <a:p>
            <a:r>
              <a:rPr dirty="0"/>
              <a:t>• T-cells and B-cells cross the blood–brain barrier, triggering immune response.</a:t>
            </a:r>
          </a:p>
          <a:p>
            <a:r>
              <a:rPr dirty="0"/>
              <a:t>• Oligodendrocyte damage → impaired nerve conduction.</a:t>
            </a:r>
          </a:p>
          <a:p>
            <a:r>
              <a:rPr dirty="0"/>
              <a:t>• Chronic neurodegeneration and axonal loss → disrupted communication in CNS.</a:t>
            </a:r>
          </a:p>
        </p:txBody>
      </p:sp>
      <p:pic>
        <p:nvPicPr>
          <p:cNvPr id="2050" name="Picture 2" descr="Pathophysiology of multiple sclerosis (MS). While myelin loss is a... |  Download Scientific Diagram">
            <a:extLst>
              <a:ext uri="{FF2B5EF4-FFF2-40B4-BE49-F238E27FC236}">
                <a16:creationId xmlns:a16="http://schemas.microsoft.com/office/drawing/2014/main" id="{A099981B-F939-4398-9571-88448EC512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3562" y="782669"/>
            <a:ext cx="6300787" cy="52926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Types and Progression</a:t>
            </a:r>
          </a:p>
        </p:txBody>
      </p:sp>
      <p:sp>
        <p:nvSpPr>
          <p:cNvPr id="3" name="Content Placeholder 2"/>
          <p:cNvSpPr>
            <a:spLocks noGrp="1"/>
          </p:cNvSpPr>
          <p:nvPr>
            <p:ph idx="1"/>
          </p:nvPr>
        </p:nvSpPr>
        <p:spPr/>
        <p:txBody>
          <a:bodyPr/>
          <a:lstStyle/>
          <a:p>
            <a:r>
              <a:rPr b="1" dirty="0"/>
              <a:t>Relapsing–Remitting (RRMS): </a:t>
            </a:r>
            <a:r>
              <a:rPr dirty="0"/>
              <a:t>Most common (≈85%), episodes of symptoms with recovery.</a:t>
            </a:r>
          </a:p>
          <a:p>
            <a:r>
              <a:rPr b="1" dirty="0"/>
              <a:t>Secondary Progressive (SPMS): </a:t>
            </a:r>
            <a:r>
              <a:rPr dirty="0"/>
              <a:t>Initially RRMS, then gradual worsening.</a:t>
            </a:r>
          </a:p>
          <a:p>
            <a:r>
              <a:rPr b="1" dirty="0"/>
              <a:t>Primary Progressive (PPMS): </a:t>
            </a:r>
            <a:r>
              <a:rPr dirty="0"/>
              <a:t>Gradual decline from onset.</a:t>
            </a:r>
            <a:endParaRPr lang="en-GB" dirty="0"/>
          </a:p>
          <a:p>
            <a:r>
              <a:rPr lang="en-GB" b="1" dirty="0"/>
              <a:t>Clinically isolated syndrome (CIS): S</a:t>
            </a:r>
            <a:r>
              <a:rPr lang="en-GB" dirty="0"/>
              <a:t>ingle episode of neurological symptoms that are similar to those of MS. Can have future attack – diagnosed with RRMS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AD093-C81F-42D4-9240-3E79754D9E40}"/>
              </a:ext>
            </a:extLst>
          </p:cNvPr>
          <p:cNvSpPr>
            <a:spLocks noGrp="1"/>
          </p:cNvSpPr>
          <p:nvPr>
            <p:ph type="title"/>
          </p:nvPr>
        </p:nvSpPr>
        <p:spPr/>
        <p:txBody>
          <a:bodyPr/>
          <a:lstStyle/>
          <a:p>
            <a:r>
              <a:rPr lang="en-GB" dirty="0"/>
              <a:t>MS Types Disease Course</a:t>
            </a:r>
          </a:p>
        </p:txBody>
      </p:sp>
      <p:pic>
        <p:nvPicPr>
          <p:cNvPr id="4098" name="Picture 2" descr="Types of MS (Lublin et al., 2014); Image source: www.nationalmssociety.org">
            <a:extLst>
              <a:ext uri="{FF2B5EF4-FFF2-40B4-BE49-F238E27FC236}">
                <a16:creationId xmlns:a16="http://schemas.microsoft.com/office/drawing/2014/main" id="{ABCF308D-D567-441F-8C2A-93BFD298E8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151" y="1741862"/>
            <a:ext cx="10087697" cy="4616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6914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10772775" cy="1658198"/>
          </a:xfrm>
        </p:spPr>
        <p:txBody>
          <a:bodyPr/>
          <a:lstStyle/>
          <a:p>
            <a:r>
              <a:rPr b="1" dirty="0"/>
              <a:t>Hallmark Clinical Features</a:t>
            </a:r>
          </a:p>
        </p:txBody>
      </p:sp>
      <p:sp>
        <p:nvSpPr>
          <p:cNvPr id="3" name="Content Placeholder 2"/>
          <p:cNvSpPr>
            <a:spLocks noGrp="1"/>
          </p:cNvSpPr>
          <p:nvPr>
            <p:ph idx="1"/>
          </p:nvPr>
        </p:nvSpPr>
        <p:spPr>
          <a:xfrm>
            <a:off x="239279" y="1851280"/>
            <a:ext cx="4195382" cy="3946208"/>
          </a:xfrm>
        </p:spPr>
        <p:txBody>
          <a:bodyPr>
            <a:normAutofit fontScale="92500" lnSpcReduction="10000"/>
          </a:bodyPr>
          <a:lstStyle/>
          <a:p>
            <a:r>
              <a:rPr dirty="0"/>
              <a:t>• Motor: weakness, spasticity, tremor, ataxia.</a:t>
            </a:r>
          </a:p>
          <a:p>
            <a:r>
              <a:rPr dirty="0"/>
              <a:t>• Sensory: numbness, tingling, neuropathic pain.</a:t>
            </a:r>
          </a:p>
          <a:p>
            <a:r>
              <a:rPr dirty="0"/>
              <a:t>• Visual: optic neuritis (blurred/loss of vision).</a:t>
            </a:r>
          </a:p>
          <a:p>
            <a:r>
              <a:rPr dirty="0"/>
              <a:t>• Balance and coordination: unsteady gait, dizziness.</a:t>
            </a:r>
          </a:p>
          <a:p>
            <a:r>
              <a:rPr dirty="0"/>
              <a:t>• Fatigue: most common disabling symptom.</a:t>
            </a:r>
          </a:p>
          <a:p>
            <a:r>
              <a:rPr dirty="0"/>
              <a:t>• Cognitive and autonomic symptoms may also occur.</a:t>
            </a:r>
          </a:p>
        </p:txBody>
      </p:sp>
      <p:pic>
        <p:nvPicPr>
          <p:cNvPr id="4" name="Picture 3">
            <a:extLst>
              <a:ext uri="{FF2B5EF4-FFF2-40B4-BE49-F238E27FC236}">
                <a16:creationId xmlns:a16="http://schemas.microsoft.com/office/drawing/2014/main" id="{BBC3C352-6E76-412B-ABFB-E02984C6FBD3}"/>
              </a:ext>
            </a:extLst>
          </p:cNvPr>
          <p:cNvPicPr>
            <a:picLocks noChangeAspect="1"/>
          </p:cNvPicPr>
          <p:nvPr/>
        </p:nvPicPr>
        <p:blipFill>
          <a:blip r:embed="rId3"/>
          <a:stretch>
            <a:fillRect/>
          </a:stretch>
        </p:blipFill>
        <p:spPr>
          <a:xfrm>
            <a:off x="4673940" y="1371494"/>
            <a:ext cx="7369620" cy="49057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49" y="251036"/>
            <a:ext cx="10772775" cy="1658198"/>
          </a:xfrm>
        </p:spPr>
        <p:txBody>
          <a:bodyPr/>
          <a:lstStyle/>
          <a:p>
            <a:r>
              <a:rPr dirty="0"/>
              <a:t>Red Flags &amp; Urgent Referral Indicators</a:t>
            </a:r>
          </a:p>
        </p:txBody>
      </p:sp>
      <p:sp>
        <p:nvSpPr>
          <p:cNvPr id="3" name="Content Placeholder 2"/>
          <p:cNvSpPr>
            <a:spLocks noGrp="1"/>
          </p:cNvSpPr>
          <p:nvPr>
            <p:ph idx="1"/>
          </p:nvPr>
        </p:nvSpPr>
        <p:spPr/>
        <p:txBody>
          <a:bodyPr/>
          <a:lstStyle/>
          <a:p>
            <a:r>
              <a:rPr dirty="0"/>
              <a:t>• Sudden vision loss or severe eye pain.</a:t>
            </a:r>
          </a:p>
          <a:p>
            <a:r>
              <a:rPr dirty="0"/>
              <a:t>• Rapidly progressive weakness or paralysis.</a:t>
            </a:r>
          </a:p>
          <a:p>
            <a:r>
              <a:rPr dirty="0"/>
              <a:t>• New or severe balance/swallowing problems.</a:t>
            </a:r>
          </a:p>
          <a:p>
            <a:r>
              <a:rPr dirty="0"/>
              <a:t>• Unexplained new neurological symptoms.</a:t>
            </a:r>
          </a:p>
          <a:p>
            <a:r>
              <a:rPr dirty="0"/>
              <a:t>• Suspected relapse lasting &gt;24 hours.</a:t>
            </a:r>
            <a:endParaRPr lang="en-GB" dirty="0"/>
          </a:p>
          <a:p>
            <a:pPr>
              <a:buFont typeface="Arial" panose="020B0604020202020204" pitchFamily="34" charset="0"/>
              <a:buChar char="•"/>
            </a:pPr>
            <a:r>
              <a:rPr lang="en-GB" dirty="0"/>
              <a:t> Change in bladder or bowel function</a:t>
            </a:r>
            <a:endParaRPr dirty="0"/>
          </a:p>
          <a:p>
            <a:r>
              <a:rPr dirty="0"/>
              <a:t>• Mental health crisis or suicidal ideation.</a:t>
            </a:r>
            <a:endParaRPr lang="en-GB" dirty="0"/>
          </a:p>
          <a:p>
            <a:endParaRPr dirty="0"/>
          </a:p>
        </p:txBody>
      </p:sp>
      <p:pic>
        <p:nvPicPr>
          <p:cNvPr id="4" name="Picture 2" descr="Warning flat red color icon Stock ...">
            <a:extLst>
              <a:ext uri="{FF2B5EF4-FFF2-40B4-BE49-F238E27FC236}">
                <a16:creationId xmlns:a16="http://schemas.microsoft.com/office/drawing/2014/main" id="{96806CB6-0F4D-4A79-98B9-E8156937B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8053" y="353482"/>
            <a:ext cx="1658198" cy="16581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Physiotherapy Assessment</a:t>
            </a:r>
          </a:p>
        </p:txBody>
      </p:sp>
      <p:sp>
        <p:nvSpPr>
          <p:cNvPr id="3" name="Content Placeholder 2"/>
          <p:cNvSpPr>
            <a:spLocks noGrp="1"/>
          </p:cNvSpPr>
          <p:nvPr>
            <p:ph idx="1"/>
          </p:nvPr>
        </p:nvSpPr>
        <p:spPr/>
        <p:txBody>
          <a:bodyPr/>
          <a:lstStyle/>
          <a:p>
            <a:r>
              <a:rPr lang="en-GB" b="1" dirty="0"/>
              <a:t>Priorities:</a:t>
            </a:r>
          </a:p>
          <a:p>
            <a:r>
              <a:rPr dirty="0"/>
              <a:t>• Assess motor control,</a:t>
            </a:r>
            <a:r>
              <a:rPr lang="en-GB" dirty="0"/>
              <a:t> sensation,</a:t>
            </a:r>
            <a:r>
              <a:rPr dirty="0"/>
              <a:t> tone, balance, fatigue, and mobility.</a:t>
            </a:r>
          </a:p>
          <a:p>
            <a:r>
              <a:rPr dirty="0"/>
              <a:t>• Use tools: Berg Balance Scale, 6-Min Walk Test, Fatigue Impact Scale.</a:t>
            </a:r>
          </a:p>
          <a:p>
            <a:r>
              <a:rPr dirty="0"/>
              <a:t>• Evaluate ADLs and participation (ICF framework).</a:t>
            </a:r>
          </a:p>
          <a:p>
            <a:r>
              <a:rPr dirty="0"/>
              <a:t>• Monitor relapse vs remission stage.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Physiotherapy Management</a:t>
            </a:r>
          </a:p>
        </p:txBody>
      </p:sp>
      <p:sp>
        <p:nvSpPr>
          <p:cNvPr id="3" name="Content Placeholder 2"/>
          <p:cNvSpPr>
            <a:spLocks noGrp="1"/>
          </p:cNvSpPr>
          <p:nvPr>
            <p:ph idx="1"/>
          </p:nvPr>
        </p:nvSpPr>
        <p:spPr/>
        <p:txBody>
          <a:bodyPr/>
          <a:lstStyle/>
          <a:p>
            <a:r>
              <a:rPr dirty="0"/>
              <a:t>• Strength, balance, and gait re-education.</a:t>
            </a:r>
          </a:p>
          <a:p>
            <a:r>
              <a:rPr dirty="0"/>
              <a:t>• Spasticity management: stretching, positioning, splinting.</a:t>
            </a:r>
          </a:p>
          <a:p>
            <a:r>
              <a:rPr dirty="0"/>
              <a:t>• Fatigue management: pacing, energy conservation.</a:t>
            </a:r>
          </a:p>
          <a:p>
            <a:r>
              <a:rPr dirty="0"/>
              <a:t>• Functional rehab and self-management education.</a:t>
            </a:r>
          </a:p>
          <a:p>
            <a:r>
              <a:rPr b="1" dirty="0"/>
              <a:t>• MDT collaboration: OT, MS nurse, neurologist</a:t>
            </a:r>
            <a:r>
              <a:rPr lang="en-GB" b="1" dirty="0"/>
              <a:t>, Social service teams, charities</a:t>
            </a:r>
          </a:p>
          <a:p>
            <a:endParaRPr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3DD90F7-AC87-4CFC-A876-A9BFACB5D15E}"/>
              </a:ext>
            </a:extLst>
          </p:cNvPr>
          <p:cNvSpPr/>
          <p:nvPr/>
        </p:nvSpPr>
        <p:spPr>
          <a:xfrm>
            <a:off x="212361" y="592111"/>
            <a:ext cx="3582650" cy="5786204"/>
          </a:xfrm>
          <a:prstGeom prst="round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Rounded Corners 2">
            <a:extLst>
              <a:ext uri="{FF2B5EF4-FFF2-40B4-BE49-F238E27FC236}">
                <a16:creationId xmlns:a16="http://schemas.microsoft.com/office/drawing/2014/main" id="{FCEBB211-C2E0-4D63-B667-D7F6A51B5D3C}"/>
              </a:ext>
            </a:extLst>
          </p:cNvPr>
          <p:cNvSpPr/>
          <p:nvPr/>
        </p:nvSpPr>
        <p:spPr>
          <a:xfrm>
            <a:off x="4304675" y="592111"/>
            <a:ext cx="3582650" cy="5786204"/>
          </a:xfrm>
          <a:prstGeom prst="round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Rounded Corners 3">
            <a:extLst>
              <a:ext uri="{FF2B5EF4-FFF2-40B4-BE49-F238E27FC236}">
                <a16:creationId xmlns:a16="http://schemas.microsoft.com/office/drawing/2014/main" id="{D7437D54-3F2F-4E2D-809A-038DC4ACC8CB}"/>
              </a:ext>
            </a:extLst>
          </p:cNvPr>
          <p:cNvSpPr/>
          <p:nvPr/>
        </p:nvSpPr>
        <p:spPr>
          <a:xfrm>
            <a:off x="8396989" y="558384"/>
            <a:ext cx="3582650" cy="5786204"/>
          </a:xfrm>
          <a:prstGeom prst="round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endParaRPr>
          </a:p>
        </p:txBody>
      </p:sp>
      <p:sp>
        <p:nvSpPr>
          <p:cNvPr id="5" name="TextBox 4">
            <a:extLst>
              <a:ext uri="{FF2B5EF4-FFF2-40B4-BE49-F238E27FC236}">
                <a16:creationId xmlns:a16="http://schemas.microsoft.com/office/drawing/2014/main" id="{F247303D-280A-4B2F-9497-3EA988F4760B}"/>
              </a:ext>
            </a:extLst>
          </p:cNvPr>
          <p:cNvSpPr txBox="1"/>
          <p:nvPr/>
        </p:nvSpPr>
        <p:spPr>
          <a:xfrm>
            <a:off x="564630" y="1315632"/>
            <a:ext cx="2878112" cy="5262979"/>
          </a:xfrm>
          <a:prstGeom prst="rect">
            <a:avLst/>
          </a:prstGeom>
          <a:noFill/>
        </p:spPr>
        <p:txBody>
          <a:bodyPr wrap="square" rtlCol="0">
            <a:spAutoFit/>
          </a:bodyPr>
          <a:lstStyle/>
          <a:p>
            <a:r>
              <a:rPr lang="en-GB" sz="2400" dirty="0"/>
              <a:t>Goals: Maintain fitness, promote self-management</a:t>
            </a:r>
          </a:p>
          <a:p>
            <a:endParaRPr lang="en-GB" sz="2400" dirty="0"/>
          </a:p>
          <a:p>
            <a:r>
              <a:rPr lang="en-GB" sz="2400" dirty="0"/>
              <a:t> Focus: Aerobic &amp; resistance exercise, balance training, fatigue management, education</a:t>
            </a:r>
          </a:p>
          <a:p>
            <a:endParaRPr lang="en-GB" sz="2400" dirty="0"/>
          </a:p>
          <a:p>
            <a:r>
              <a:rPr lang="en-GB" sz="2400" dirty="0"/>
              <a:t> Outcome: Preserve function and delay progression</a:t>
            </a:r>
          </a:p>
          <a:p>
            <a:pPr marL="342900" indent="-342900">
              <a:buFont typeface="Arial" panose="020B0604020202020204" pitchFamily="34" charset="0"/>
              <a:buChar char="•"/>
            </a:pPr>
            <a:endParaRPr lang="en-GB" sz="2400" dirty="0"/>
          </a:p>
        </p:txBody>
      </p:sp>
      <p:sp>
        <p:nvSpPr>
          <p:cNvPr id="6" name="TextBox 5">
            <a:extLst>
              <a:ext uri="{FF2B5EF4-FFF2-40B4-BE49-F238E27FC236}">
                <a16:creationId xmlns:a16="http://schemas.microsoft.com/office/drawing/2014/main" id="{988A5B35-969C-4FA5-80FF-67F1BBFDAF11}"/>
              </a:ext>
            </a:extLst>
          </p:cNvPr>
          <p:cNvSpPr txBox="1"/>
          <p:nvPr/>
        </p:nvSpPr>
        <p:spPr>
          <a:xfrm>
            <a:off x="1034321" y="776780"/>
            <a:ext cx="2408421" cy="523220"/>
          </a:xfrm>
          <a:prstGeom prst="rect">
            <a:avLst/>
          </a:prstGeom>
          <a:noFill/>
        </p:spPr>
        <p:txBody>
          <a:bodyPr wrap="square" rtlCol="0">
            <a:spAutoFit/>
          </a:bodyPr>
          <a:lstStyle/>
          <a:p>
            <a:r>
              <a:rPr lang="en-GB" sz="2800" b="1" dirty="0"/>
              <a:t>Early Stage</a:t>
            </a:r>
          </a:p>
        </p:txBody>
      </p:sp>
      <p:sp>
        <p:nvSpPr>
          <p:cNvPr id="7" name="TextBox 6">
            <a:extLst>
              <a:ext uri="{FF2B5EF4-FFF2-40B4-BE49-F238E27FC236}">
                <a16:creationId xmlns:a16="http://schemas.microsoft.com/office/drawing/2014/main" id="{B7D9FC1A-B86B-468E-913B-A0A72274F043}"/>
              </a:ext>
            </a:extLst>
          </p:cNvPr>
          <p:cNvSpPr txBox="1"/>
          <p:nvPr/>
        </p:nvSpPr>
        <p:spPr>
          <a:xfrm>
            <a:off x="5174105" y="792412"/>
            <a:ext cx="2408421" cy="523220"/>
          </a:xfrm>
          <a:prstGeom prst="rect">
            <a:avLst/>
          </a:prstGeom>
          <a:noFill/>
        </p:spPr>
        <p:txBody>
          <a:bodyPr wrap="square" rtlCol="0">
            <a:spAutoFit/>
          </a:bodyPr>
          <a:lstStyle/>
          <a:p>
            <a:r>
              <a:rPr lang="en-GB" sz="2800" b="1"/>
              <a:t>Mid Stage</a:t>
            </a:r>
            <a:endParaRPr lang="en-GB" sz="2800" b="1" dirty="0"/>
          </a:p>
        </p:txBody>
      </p:sp>
      <p:sp>
        <p:nvSpPr>
          <p:cNvPr id="10" name="TextBox 9">
            <a:extLst>
              <a:ext uri="{FF2B5EF4-FFF2-40B4-BE49-F238E27FC236}">
                <a16:creationId xmlns:a16="http://schemas.microsoft.com/office/drawing/2014/main" id="{C3C917FF-EC69-40AD-B349-4E92DBAE77E8}"/>
              </a:ext>
            </a:extLst>
          </p:cNvPr>
          <p:cNvSpPr txBox="1"/>
          <p:nvPr/>
        </p:nvSpPr>
        <p:spPr>
          <a:xfrm>
            <a:off x="9193966" y="792412"/>
            <a:ext cx="2408421" cy="523220"/>
          </a:xfrm>
          <a:prstGeom prst="rect">
            <a:avLst/>
          </a:prstGeom>
          <a:noFill/>
        </p:spPr>
        <p:txBody>
          <a:bodyPr wrap="square" rtlCol="0">
            <a:spAutoFit/>
          </a:bodyPr>
          <a:lstStyle/>
          <a:p>
            <a:r>
              <a:rPr lang="en-GB" sz="2800" b="1" dirty="0"/>
              <a:t>Late Stage</a:t>
            </a:r>
          </a:p>
        </p:txBody>
      </p:sp>
      <p:sp>
        <p:nvSpPr>
          <p:cNvPr id="11" name="Rectangle 10">
            <a:extLst>
              <a:ext uri="{FF2B5EF4-FFF2-40B4-BE49-F238E27FC236}">
                <a16:creationId xmlns:a16="http://schemas.microsoft.com/office/drawing/2014/main" id="{CAFD56D3-73FA-4001-93D7-35FAE79548FA}"/>
              </a:ext>
            </a:extLst>
          </p:cNvPr>
          <p:cNvSpPr/>
          <p:nvPr/>
        </p:nvSpPr>
        <p:spPr>
          <a:xfrm>
            <a:off x="4462463" y="1515933"/>
            <a:ext cx="3267075" cy="4524315"/>
          </a:xfrm>
          <a:prstGeom prst="rect">
            <a:avLst/>
          </a:prstGeom>
        </p:spPr>
        <p:txBody>
          <a:bodyPr wrap="square">
            <a:spAutoFit/>
          </a:bodyPr>
          <a:lstStyle/>
          <a:p>
            <a:r>
              <a:rPr lang="en-GB" sz="2400" dirty="0"/>
              <a:t>Goals: Maximise independence, manage spasticity/fatigue</a:t>
            </a:r>
          </a:p>
          <a:p>
            <a:endParaRPr lang="en-GB" sz="2400" dirty="0"/>
          </a:p>
          <a:p>
            <a:r>
              <a:rPr lang="en-GB" sz="2400" dirty="0"/>
              <a:t>Focus: Gait training, fall prevention, stretching, assistive devices, endurance work</a:t>
            </a:r>
          </a:p>
          <a:p>
            <a:endParaRPr lang="en-GB" sz="2400" dirty="0"/>
          </a:p>
          <a:p>
            <a:r>
              <a:rPr lang="en-GB" sz="2400" dirty="0"/>
              <a:t>Outcome: Maintain mobility &amp; prevent complications</a:t>
            </a:r>
          </a:p>
        </p:txBody>
      </p:sp>
      <p:sp>
        <p:nvSpPr>
          <p:cNvPr id="12" name="Rectangle 11">
            <a:extLst>
              <a:ext uri="{FF2B5EF4-FFF2-40B4-BE49-F238E27FC236}">
                <a16:creationId xmlns:a16="http://schemas.microsoft.com/office/drawing/2014/main" id="{715F68C3-CF77-42C7-911A-334E01CC4C03}"/>
              </a:ext>
            </a:extLst>
          </p:cNvPr>
          <p:cNvSpPr/>
          <p:nvPr/>
        </p:nvSpPr>
        <p:spPr>
          <a:xfrm>
            <a:off x="8554776" y="1469766"/>
            <a:ext cx="3267075" cy="4893647"/>
          </a:xfrm>
          <a:prstGeom prst="rect">
            <a:avLst/>
          </a:prstGeom>
        </p:spPr>
        <p:txBody>
          <a:bodyPr wrap="square">
            <a:spAutoFit/>
          </a:bodyPr>
          <a:lstStyle/>
          <a:p>
            <a:r>
              <a:rPr lang="en-GB" sz="2400" dirty="0"/>
              <a:t>Goals: Maintain comfort, prevent complications, optimise quality of life</a:t>
            </a:r>
          </a:p>
          <a:p>
            <a:endParaRPr lang="en-GB" sz="2400" dirty="0"/>
          </a:p>
          <a:p>
            <a:r>
              <a:rPr lang="en-GB" sz="2400" dirty="0"/>
              <a:t>Focus: Positioning, passive movement, respiratory care, equipment, carer training</a:t>
            </a:r>
          </a:p>
          <a:p>
            <a:endParaRPr lang="en-GB" sz="2400" dirty="0"/>
          </a:p>
          <a:p>
            <a:r>
              <a:rPr lang="en-GB" sz="2400" dirty="0"/>
              <a:t>Outcome: Support comfort, participation &amp; dignity</a:t>
            </a:r>
          </a:p>
        </p:txBody>
      </p:sp>
    </p:spTree>
    <p:extLst>
      <p:ext uri="{BB962C8B-B14F-4D97-AF65-F5344CB8AC3E}">
        <p14:creationId xmlns:p14="http://schemas.microsoft.com/office/powerpoint/2010/main" val="702432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Evidence-Based Interventions</a:t>
            </a:r>
          </a:p>
        </p:txBody>
      </p:sp>
      <p:sp>
        <p:nvSpPr>
          <p:cNvPr id="3" name="Content Placeholder 2"/>
          <p:cNvSpPr>
            <a:spLocks noGrp="1"/>
          </p:cNvSpPr>
          <p:nvPr>
            <p:ph idx="1"/>
          </p:nvPr>
        </p:nvSpPr>
        <p:spPr/>
        <p:txBody>
          <a:bodyPr/>
          <a:lstStyle/>
          <a:p>
            <a:r>
              <a:rPr dirty="0"/>
              <a:t>• Exercise therapy improves strength, mobility, and fatigue.</a:t>
            </a:r>
          </a:p>
          <a:p>
            <a:r>
              <a:rPr dirty="0"/>
              <a:t>• Aerobic and resistance training safe in stable MS.</a:t>
            </a:r>
          </a:p>
          <a:p>
            <a:r>
              <a:rPr dirty="0"/>
              <a:t>• Balance and coordination training reduces fall risk.</a:t>
            </a:r>
          </a:p>
          <a:p>
            <a:r>
              <a:rPr dirty="0"/>
              <a:t>• Hydrotherapy helps fatigue and spasticity.</a:t>
            </a:r>
            <a:endParaRPr lang="en-GB" dirty="0"/>
          </a:p>
          <a:p>
            <a:endParaRPr lang="en-GB" dirty="0">
              <a:solidFill>
                <a:srgbClr val="FF0000"/>
              </a:solidFill>
            </a:endParaRPr>
          </a:p>
          <a:p>
            <a:r>
              <a:rPr lang="en-GB" dirty="0">
                <a:solidFill>
                  <a:srgbClr val="FF0000"/>
                </a:solidFill>
              </a:rPr>
              <a:t>Fatigue and exacerbating factors need to be considered when assessing, treating and managing these patients e.g. weather, activity levels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043CF-CE20-4A10-8742-7324A939723F}"/>
              </a:ext>
            </a:extLst>
          </p:cNvPr>
          <p:cNvSpPr>
            <a:spLocks noGrp="1"/>
          </p:cNvSpPr>
          <p:nvPr>
            <p:ph type="title"/>
          </p:nvPr>
        </p:nvSpPr>
        <p:spPr/>
        <p:txBody>
          <a:bodyPr/>
          <a:lstStyle/>
          <a:p>
            <a:r>
              <a:rPr lang="en-GB" dirty="0"/>
              <a:t>MS references</a:t>
            </a:r>
            <a:br>
              <a:rPr lang="en-GB" dirty="0"/>
            </a:br>
            <a:endParaRPr lang="en-GB" dirty="0"/>
          </a:p>
        </p:txBody>
      </p:sp>
      <p:sp>
        <p:nvSpPr>
          <p:cNvPr id="3" name="Content Placeholder 2">
            <a:extLst>
              <a:ext uri="{FF2B5EF4-FFF2-40B4-BE49-F238E27FC236}">
                <a16:creationId xmlns:a16="http://schemas.microsoft.com/office/drawing/2014/main" id="{71104A1F-53A1-4A95-8DAA-9FF87F7A9F8D}"/>
              </a:ext>
            </a:extLst>
          </p:cNvPr>
          <p:cNvSpPr>
            <a:spLocks noGrp="1"/>
          </p:cNvSpPr>
          <p:nvPr>
            <p:ph idx="1"/>
          </p:nvPr>
        </p:nvSpPr>
        <p:spPr/>
        <p:txBody>
          <a:bodyPr>
            <a:normAutofit fontScale="70000" lnSpcReduction="20000"/>
          </a:bodyPr>
          <a:lstStyle/>
          <a:p>
            <a:r>
              <a:rPr lang="en-GB" dirty="0"/>
              <a:t>Khan, G., Hashim, M.J. Epidemiology of Multiple Sclerosis: Global, Regional, National and Sub-National-Level Estimates and Future Projections. </a:t>
            </a:r>
            <a:r>
              <a:rPr lang="en-GB" i="1" dirty="0"/>
              <a:t>J </a:t>
            </a:r>
            <a:r>
              <a:rPr lang="en-GB" i="1" dirty="0" err="1"/>
              <a:t>Epidemiol</a:t>
            </a:r>
            <a:r>
              <a:rPr lang="en-GB" i="1" dirty="0"/>
              <a:t> Glob Health</a:t>
            </a:r>
            <a:r>
              <a:rPr lang="en-GB" dirty="0"/>
              <a:t> </a:t>
            </a:r>
            <a:r>
              <a:rPr lang="en-GB" b="1" dirty="0"/>
              <a:t>15</a:t>
            </a:r>
            <a:r>
              <a:rPr lang="en-GB" dirty="0"/>
              <a:t>, 21 (2025). </a:t>
            </a:r>
            <a:r>
              <a:rPr lang="en-GB" dirty="0">
                <a:hlinkClick r:id="rId2"/>
              </a:rPr>
              <a:t>https://doi.org/10.1007/s44197-025-00353-6</a:t>
            </a:r>
            <a:endParaRPr lang="en-GB" dirty="0"/>
          </a:p>
          <a:p>
            <a:r>
              <a:rPr lang="en-GB" dirty="0"/>
              <a:t>Meeting Physical Activity Guidelines for Persons With Multiple Sclerosis Reduces Fatigue Severity and Impact: A Systematic Review and Meta-Analysis of Randomized Clinical Trials.” Physical Therapy. 2025;105(6).</a:t>
            </a:r>
          </a:p>
          <a:p>
            <a:r>
              <a:rPr lang="en-GB" dirty="0" err="1"/>
              <a:t>Amatya</a:t>
            </a:r>
            <a:r>
              <a:rPr lang="en-GB" dirty="0"/>
              <a:t> B., Khan F., La Rocca N. “Effectiveness of Physiotherapy Interventions on Spasticity in People With Multiple Sclerosis: A Systematic Review and Meta-Analysis.” Multiple Sclerosis and Related Disorders. 2018;24:36-44.</a:t>
            </a:r>
          </a:p>
          <a:p>
            <a:r>
              <a:rPr lang="en-GB" dirty="0"/>
              <a:t>Gunn H., </a:t>
            </a:r>
            <a:r>
              <a:rPr lang="en-GB" dirty="0" err="1"/>
              <a:t>Cattaneo</a:t>
            </a:r>
            <a:r>
              <a:rPr lang="en-GB" dirty="0"/>
              <a:t> D., Hammond A. et al. “The Effectiveness of Physiotherapy Interventions for Mobility in Severe Multiple Sclerosis: A Systematic Review and Meta-Analysis.” Multiple Sclerosis International. 2022;2022:189255.</a:t>
            </a:r>
          </a:p>
          <a:p>
            <a:r>
              <a:rPr lang="en-GB" dirty="0"/>
              <a:t>Langer-Gould A., Jenkins T.M., Schulz K.H. “Functional Exercise Training in Persons With Multiple Sclerosis: A Systematic Review.” Journal of Neurology. 2025;272:590.</a:t>
            </a:r>
          </a:p>
          <a:p>
            <a:endParaRPr lang="en-GB" dirty="0"/>
          </a:p>
          <a:p>
            <a:r>
              <a:rPr lang="en-GB" dirty="0">
                <a:hlinkClick r:id="rId3"/>
              </a:rPr>
              <a:t>Here for everyone with MS | MS Society</a:t>
            </a:r>
            <a:endParaRPr lang="en-GB" dirty="0"/>
          </a:p>
          <a:p>
            <a:r>
              <a:rPr lang="en-GB" dirty="0">
                <a:hlinkClick r:id="rId4"/>
              </a:rPr>
              <a:t>Home | MS-UK | Supporting your multiple sclerosis journey</a:t>
            </a:r>
            <a:endParaRPr lang="en-GB" dirty="0"/>
          </a:p>
          <a:p>
            <a:endParaRPr lang="en-GB" dirty="0"/>
          </a:p>
          <a:p>
            <a:endParaRPr lang="en-GB" dirty="0"/>
          </a:p>
          <a:p>
            <a:endParaRPr lang="en-GB" dirty="0"/>
          </a:p>
        </p:txBody>
      </p:sp>
    </p:spTree>
    <p:extLst>
      <p:ext uri="{BB962C8B-B14F-4D97-AF65-F5344CB8AC3E}">
        <p14:creationId xmlns:p14="http://schemas.microsoft.com/office/powerpoint/2010/main" val="1682477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4F3AD-6B61-4610-AC8A-1AA34665D3BE}"/>
              </a:ext>
            </a:extLst>
          </p:cNvPr>
          <p:cNvSpPr>
            <a:spLocks noGrp="1"/>
          </p:cNvSpPr>
          <p:nvPr>
            <p:ph type="title"/>
          </p:nvPr>
        </p:nvSpPr>
        <p:spPr>
          <a:xfrm>
            <a:off x="838200" y="2422525"/>
            <a:ext cx="10515600" cy="1325563"/>
          </a:xfrm>
        </p:spPr>
        <p:txBody>
          <a:bodyPr>
            <a:normAutofit/>
          </a:bodyPr>
          <a:lstStyle/>
          <a:p>
            <a:pPr algn="ctr"/>
            <a:r>
              <a:rPr lang="en-GB" sz="6000" b="1" dirty="0">
                <a:solidFill>
                  <a:srgbClr val="92D050"/>
                </a:solidFill>
              </a:rPr>
              <a:t>Motor Neurone Disease</a:t>
            </a:r>
          </a:p>
        </p:txBody>
      </p:sp>
    </p:spTree>
    <p:extLst>
      <p:ext uri="{BB962C8B-B14F-4D97-AF65-F5344CB8AC3E}">
        <p14:creationId xmlns:p14="http://schemas.microsoft.com/office/powerpoint/2010/main" val="2436304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FFC000"/>
                </a:solidFill>
              </a:rPr>
              <a:t>MND</a:t>
            </a:r>
          </a:p>
        </p:txBody>
      </p:sp>
      <p:sp>
        <p:nvSpPr>
          <p:cNvPr id="3" name="Content Placeholder 2"/>
          <p:cNvSpPr>
            <a:spLocks noGrp="1"/>
          </p:cNvSpPr>
          <p:nvPr>
            <p:ph idx="1"/>
          </p:nvPr>
        </p:nvSpPr>
        <p:spPr/>
        <p:txBody>
          <a:bodyPr>
            <a:normAutofit fontScale="92500" lnSpcReduction="10000"/>
          </a:bodyPr>
          <a:lstStyle/>
          <a:p>
            <a:pPr marL="0" indent="0">
              <a:buNone/>
            </a:pPr>
            <a:r>
              <a:rPr dirty="0"/>
              <a:t>MND </a:t>
            </a:r>
            <a:r>
              <a:rPr lang="en-GB" dirty="0"/>
              <a:t>is a </a:t>
            </a:r>
            <a:r>
              <a:rPr dirty="0"/>
              <a:t> progressive neurodegenerative disorder affecting motor neurons.</a:t>
            </a:r>
          </a:p>
          <a:p>
            <a:pPr marL="0" indent="0">
              <a:buNone/>
            </a:pPr>
            <a:r>
              <a:rPr dirty="0"/>
              <a:t>Causes muscle weakness, atrophy, and loss of voluntary movement.</a:t>
            </a:r>
          </a:p>
          <a:p>
            <a:pPr marL="0" indent="0">
              <a:buNone/>
            </a:pPr>
            <a:r>
              <a:rPr dirty="0"/>
              <a:t>Sensory and autonomic systems usually preserved.</a:t>
            </a:r>
          </a:p>
          <a:p>
            <a:pPr marL="0" indent="0">
              <a:buNone/>
            </a:pPr>
            <a:endParaRPr lang="en-GB" dirty="0"/>
          </a:p>
          <a:p>
            <a:pPr marL="0" indent="0">
              <a:buNone/>
            </a:pPr>
            <a:r>
              <a:rPr b="1" dirty="0"/>
              <a:t>Main types:</a:t>
            </a:r>
          </a:p>
          <a:p>
            <a:pPr marL="0" indent="0">
              <a:buNone/>
            </a:pPr>
            <a:r>
              <a:rPr dirty="0"/>
              <a:t>1. Amyotrophic Lateral Sclerosis (ALS)</a:t>
            </a:r>
          </a:p>
          <a:p>
            <a:pPr marL="0" indent="0">
              <a:buNone/>
            </a:pPr>
            <a:r>
              <a:rPr dirty="0"/>
              <a:t>2. Progressive Bulbar Palsy (PBP)</a:t>
            </a:r>
          </a:p>
          <a:p>
            <a:pPr marL="0" indent="0">
              <a:buNone/>
            </a:pPr>
            <a:r>
              <a:rPr dirty="0"/>
              <a:t>3. Progressive Muscular Atrophy (PMA)</a:t>
            </a:r>
          </a:p>
          <a:p>
            <a:pPr marL="0" indent="0">
              <a:buNone/>
            </a:pPr>
            <a:r>
              <a:rPr dirty="0"/>
              <a:t>4. Primary Lateral Sclerosis (PLS)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77871-59CB-449C-AE31-F9FBD385C24D}"/>
              </a:ext>
            </a:extLst>
          </p:cNvPr>
          <p:cNvSpPr>
            <a:spLocks noGrp="1"/>
          </p:cNvSpPr>
          <p:nvPr>
            <p:ph type="title"/>
          </p:nvPr>
        </p:nvSpPr>
        <p:spPr>
          <a:xfrm>
            <a:off x="581025" y="136899"/>
            <a:ext cx="10772775" cy="1658198"/>
          </a:xfrm>
        </p:spPr>
        <p:txBody>
          <a:bodyPr/>
          <a:lstStyle/>
          <a:p>
            <a:r>
              <a:rPr lang="en-GB" dirty="0"/>
              <a:t>MND Aetiology and Epidemiology</a:t>
            </a:r>
          </a:p>
        </p:txBody>
      </p:sp>
      <p:sp>
        <p:nvSpPr>
          <p:cNvPr id="3" name="Content Placeholder 2">
            <a:extLst>
              <a:ext uri="{FF2B5EF4-FFF2-40B4-BE49-F238E27FC236}">
                <a16:creationId xmlns:a16="http://schemas.microsoft.com/office/drawing/2014/main" id="{5176DE2F-C288-48A7-881D-887ACBBCAABE}"/>
              </a:ext>
            </a:extLst>
          </p:cNvPr>
          <p:cNvSpPr>
            <a:spLocks noGrp="1"/>
          </p:cNvSpPr>
          <p:nvPr>
            <p:ph idx="1"/>
          </p:nvPr>
        </p:nvSpPr>
        <p:spPr>
          <a:xfrm>
            <a:off x="838200" y="2141537"/>
            <a:ext cx="10515600" cy="4351338"/>
          </a:xfrm>
        </p:spPr>
        <p:txBody>
          <a:bodyPr/>
          <a:lstStyle/>
          <a:p>
            <a:pPr marL="0" indent="0">
              <a:buNone/>
            </a:pPr>
            <a:endParaRPr lang="en-GB" dirty="0"/>
          </a:p>
          <a:p>
            <a:pPr marL="0" indent="0">
              <a:buNone/>
            </a:pPr>
            <a:endParaRPr lang="en-GB" dirty="0"/>
          </a:p>
          <a:p>
            <a:pPr marL="0" indent="0">
              <a:buNone/>
            </a:pPr>
            <a:endParaRPr lang="en-GB" dirty="0"/>
          </a:p>
          <a:p>
            <a:pPr marL="0" indent="0">
              <a:buNone/>
            </a:pPr>
            <a:endParaRPr lang="en-GB" dirty="0"/>
          </a:p>
        </p:txBody>
      </p:sp>
      <p:sp>
        <p:nvSpPr>
          <p:cNvPr id="5" name="Content Placeholder 2">
            <a:extLst>
              <a:ext uri="{FF2B5EF4-FFF2-40B4-BE49-F238E27FC236}">
                <a16:creationId xmlns:a16="http://schemas.microsoft.com/office/drawing/2014/main" id="{4F437FCD-8BC3-4156-BBC5-20B559C133F8}"/>
              </a:ext>
            </a:extLst>
          </p:cNvPr>
          <p:cNvSpPr txBox="1">
            <a:spLocks/>
          </p:cNvSpPr>
          <p:nvPr/>
        </p:nvSpPr>
        <p:spPr>
          <a:xfrm>
            <a:off x="990600" y="1448656"/>
            <a:ext cx="10515600" cy="488070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 cause of MND is still not fully understood. </a:t>
            </a:r>
          </a:p>
          <a:p>
            <a:r>
              <a:rPr lang="en-GB" dirty="0"/>
              <a:t>The majority of cases are thought to be caused by a number of contributory factors, including subtle genetic, environmental and lifestyle influences. It is important to note that these factors must all coincide to trigger the disease. </a:t>
            </a:r>
          </a:p>
          <a:p>
            <a:r>
              <a:rPr lang="en-GB" dirty="0"/>
              <a:t>More common in men and typically onset occurs between ages 55 and 75.</a:t>
            </a:r>
          </a:p>
          <a:p>
            <a:pPr marL="0" indent="0">
              <a:buNone/>
            </a:pPr>
            <a:r>
              <a:rPr lang="en-GB" dirty="0"/>
              <a:t>Female to Male ratio:  1.5:1 to 2:1.  </a:t>
            </a:r>
          </a:p>
          <a:p>
            <a:pPr marL="0" indent="0">
              <a:buNone/>
            </a:pPr>
            <a:endParaRPr lang="en-GB" dirty="0"/>
          </a:p>
          <a:p>
            <a:r>
              <a:rPr lang="en-GB" dirty="0"/>
              <a:t>In approximately 5-10% of cases, MND is directly caused by a genetic mistake – this is inherited. </a:t>
            </a:r>
          </a:p>
          <a:p>
            <a:r>
              <a:rPr lang="en-GB" dirty="0"/>
              <a:t>A number of genes have been identified that can cause inherited MND, including SOD1, TDP-43, FUS, UNC13A, C9ORF72, MATR3, NEK1 and ANXA11.</a:t>
            </a:r>
          </a:p>
        </p:txBody>
      </p:sp>
    </p:spTree>
    <p:extLst>
      <p:ext uri="{BB962C8B-B14F-4D97-AF65-F5344CB8AC3E}">
        <p14:creationId xmlns:p14="http://schemas.microsoft.com/office/powerpoint/2010/main" val="137807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032C64-92B1-4B13-99F5-14C3685B08E8}"/>
              </a:ext>
            </a:extLst>
          </p:cNvPr>
          <p:cNvPicPr>
            <a:picLocks noChangeAspect="1"/>
          </p:cNvPicPr>
          <p:nvPr/>
        </p:nvPicPr>
        <p:blipFill>
          <a:blip r:embed="rId3"/>
          <a:stretch>
            <a:fillRect/>
          </a:stretch>
        </p:blipFill>
        <p:spPr>
          <a:xfrm>
            <a:off x="1238250" y="0"/>
            <a:ext cx="9715500" cy="6858000"/>
          </a:xfrm>
          <a:prstGeom prst="rect">
            <a:avLst/>
          </a:prstGeom>
        </p:spPr>
      </p:pic>
    </p:spTree>
    <p:extLst>
      <p:ext uri="{BB962C8B-B14F-4D97-AF65-F5344CB8AC3E}">
        <p14:creationId xmlns:p14="http://schemas.microsoft.com/office/powerpoint/2010/main" val="3373911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Pathophysiology</a:t>
            </a:r>
          </a:p>
        </p:txBody>
      </p:sp>
      <p:sp>
        <p:nvSpPr>
          <p:cNvPr id="3" name="Content Placeholder 2"/>
          <p:cNvSpPr>
            <a:spLocks noGrp="1"/>
          </p:cNvSpPr>
          <p:nvPr>
            <p:ph idx="1"/>
          </p:nvPr>
        </p:nvSpPr>
        <p:spPr>
          <a:xfrm>
            <a:off x="838200" y="1825625"/>
            <a:ext cx="4637926" cy="4351338"/>
          </a:xfrm>
        </p:spPr>
        <p:txBody>
          <a:bodyPr>
            <a:normAutofit/>
          </a:bodyPr>
          <a:lstStyle/>
          <a:p>
            <a:r>
              <a:rPr dirty="0"/>
              <a:t>Degeneration of upper and lower motor neurons.</a:t>
            </a:r>
          </a:p>
          <a:p>
            <a:pPr marL="0" indent="0">
              <a:buNone/>
            </a:pPr>
            <a:r>
              <a:rPr dirty="0"/>
              <a:t>• Loss of motor neuron input → muscle denervation and atrophy.</a:t>
            </a:r>
          </a:p>
          <a:p>
            <a:r>
              <a:rPr dirty="0"/>
              <a:t>• Mechanisms: glutamate excitotoxicity, oxidative stress, protein</a:t>
            </a:r>
            <a:r>
              <a:rPr lang="en-GB" dirty="0"/>
              <a:t> misfolding (TDP-43, SOD1). Axonal transport defects. </a:t>
            </a:r>
          </a:p>
        </p:txBody>
      </p:sp>
      <p:pic>
        <p:nvPicPr>
          <p:cNvPr id="4" name="Picture 3">
            <a:extLst>
              <a:ext uri="{FF2B5EF4-FFF2-40B4-BE49-F238E27FC236}">
                <a16:creationId xmlns:a16="http://schemas.microsoft.com/office/drawing/2014/main" id="{04845AE3-069E-4383-864A-2F78B74888D8}"/>
              </a:ext>
            </a:extLst>
          </p:cNvPr>
          <p:cNvPicPr>
            <a:picLocks noChangeAspect="1"/>
          </p:cNvPicPr>
          <p:nvPr/>
        </p:nvPicPr>
        <p:blipFill>
          <a:blip r:embed="rId3"/>
          <a:stretch>
            <a:fillRect/>
          </a:stretch>
        </p:blipFill>
        <p:spPr>
          <a:xfrm>
            <a:off x="5746734" y="1027906"/>
            <a:ext cx="6154379" cy="435133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Disease Progression</a:t>
            </a:r>
          </a:p>
        </p:txBody>
      </p:sp>
      <p:sp>
        <p:nvSpPr>
          <p:cNvPr id="3" name="Content Placeholder 2"/>
          <p:cNvSpPr>
            <a:spLocks noGrp="1"/>
          </p:cNvSpPr>
          <p:nvPr>
            <p:ph idx="1"/>
          </p:nvPr>
        </p:nvSpPr>
        <p:spPr/>
        <p:txBody>
          <a:bodyPr>
            <a:normAutofit fontScale="92500" lnSpcReduction="10000"/>
          </a:bodyPr>
          <a:lstStyle/>
          <a:p>
            <a:r>
              <a:rPr sz="1800" dirty="0"/>
              <a:t> Onset is focal (e.g. limb or bulbar) and spreads regionally.</a:t>
            </a:r>
            <a:endParaRPr lang="en-GB" sz="1800" dirty="0"/>
          </a:p>
          <a:p>
            <a:r>
              <a:rPr sz="1800" dirty="0"/>
              <a:t> Progressive weakness → respiratory involvement → death (2–5 years average).</a:t>
            </a:r>
            <a:endParaRPr lang="en-GB" sz="1800" dirty="0"/>
          </a:p>
          <a:p>
            <a:r>
              <a:rPr lang="en-GB" sz="1800" dirty="0"/>
              <a:t>Up to half of the people living with MND may also experience difficulties with learning, language and concentration. </a:t>
            </a:r>
            <a:r>
              <a:rPr sz="1800" dirty="0"/>
              <a:t> 30–50% show frontotemporal cognitive involvement</a:t>
            </a:r>
            <a:r>
              <a:rPr lang="en-GB" sz="1800" dirty="0"/>
              <a:t> – Diagnosed with frontotemporal dementia (FTD)</a:t>
            </a:r>
            <a:endParaRPr sz="1800" dirty="0"/>
          </a:p>
          <a:p>
            <a:endParaRPr sz="1800" dirty="0"/>
          </a:p>
          <a:p>
            <a:pPr marL="0" indent="0">
              <a:buNone/>
            </a:pPr>
            <a:r>
              <a:rPr sz="1800" b="1" dirty="0"/>
              <a:t>Stages:</a:t>
            </a:r>
          </a:p>
          <a:p>
            <a:pPr marL="0" indent="0">
              <a:buNone/>
            </a:pPr>
            <a:r>
              <a:rPr sz="1800" dirty="0"/>
              <a:t>1. Focal weakness</a:t>
            </a:r>
          </a:p>
          <a:p>
            <a:pPr marL="0" indent="0">
              <a:buNone/>
            </a:pPr>
            <a:r>
              <a:rPr sz="1800" dirty="0"/>
              <a:t>2. Functional limitation</a:t>
            </a:r>
          </a:p>
          <a:p>
            <a:pPr marL="0" indent="0">
              <a:buNone/>
            </a:pPr>
            <a:r>
              <a:rPr sz="1800" dirty="0"/>
              <a:t>3. Widespread weakness</a:t>
            </a:r>
          </a:p>
          <a:p>
            <a:pPr marL="0" indent="0">
              <a:buNone/>
            </a:pPr>
            <a:r>
              <a:rPr sz="1800" dirty="0"/>
              <a:t>4. Loss of independence</a:t>
            </a:r>
          </a:p>
          <a:p>
            <a:pPr marL="0" indent="0">
              <a:buNone/>
            </a:pPr>
            <a:r>
              <a:rPr sz="1800" dirty="0"/>
              <a:t>5. Respiratory failure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Clinical Features</a:t>
            </a:r>
          </a:p>
        </p:txBody>
      </p:sp>
      <p:sp>
        <p:nvSpPr>
          <p:cNvPr id="3" name="Content Placeholder 2"/>
          <p:cNvSpPr>
            <a:spLocks noGrp="1"/>
          </p:cNvSpPr>
          <p:nvPr>
            <p:ph idx="1"/>
          </p:nvPr>
        </p:nvSpPr>
        <p:spPr/>
        <p:txBody>
          <a:bodyPr>
            <a:normAutofit/>
          </a:bodyPr>
          <a:lstStyle/>
          <a:p>
            <a:pPr marL="0" indent="0">
              <a:buNone/>
            </a:pPr>
            <a:r>
              <a:rPr b="1" dirty="0"/>
              <a:t>Upper Motor Neuron Signs:</a:t>
            </a:r>
          </a:p>
          <a:p>
            <a:r>
              <a:rPr dirty="0"/>
              <a:t> Spasticity, hyperreflexia, Babinski sign</a:t>
            </a:r>
            <a:r>
              <a:rPr lang="en-GB" dirty="0"/>
              <a:t> (Corticospinal tract degeneration)</a:t>
            </a:r>
            <a:endParaRPr dirty="0"/>
          </a:p>
          <a:p>
            <a:endParaRPr dirty="0"/>
          </a:p>
          <a:p>
            <a:pPr marL="0" indent="0">
              <a:buNone/>
            </a:pPr>
            <a:r>
              <a:rPr b="1" dirty="0"/>
              <a:t>Lower Motor Neuron Signs:</a:t>
            </a:r>
          </a:p>
          <a:p>
            <a:r>
              <a:rPr dirty="0"/>
              <a:t> Muscle wasting, fasciculations, weakness, hyporeflexia.</a:t>
            </a:r>
            <a:r>
              <a:rPr lang="en-GB" dirty="0"/>
              <a:t> (Anterior horn cell loss)</a:t>
            </a:r>
            <a:endParaRPr dirty="0"/>
          </a:p>
          <a:p>
            <a:endParaRPr dirty="0"/>
          </a:p>
          <a:p>
            <a:pPr marL="0" indent="0">
              <a:buNone/>
            </a:pPr>
            <a:r>
              <a:rPr b="1" dirty="0"/>
              <a:t>Bulbar signs:</a:t>
            </a:r>
          </a:p>
          <a:p>
            <a:r>
              <a:rPr dirty="0"/>
              <a:t>Dysarthria, dysphagia, pseudobulbar affect</a:t>
            </a:r>
            <a:r>
              <a:rPr lang="en-GB" dirty="0"/>
              <a:t> (Brainstem motor nuclei involvement)</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Motor &amp; Sensory Deficits</a:t>
            </a:r>
          </a:p>
        </p:txBody>
      </p:sp>
      <p:sp>
        <p:nvSpPr>
          <p:cNvPr id="3" name="Content Placeholder 2"/>
          <p:cNvSpPr>
            <a:spLocks noGrp="1"/>
          </p:cNvSpPr>
          <p:nvPr>
            <p:ph idx="1"/>
          </p:nvPr>
        </p:nvSpPr>
        <p:spPr/>
        <p:txBody>
          <a:bodyPr/>
          <a:lstStyle/>
          <a:p>
            <a:pPr marL="0" indent="0">
              <a:buNone/>
            </a:pPr>
            <a:r>
              <a:rPr b="1" dirty="0"/>
              <a:t>Motor:</a:t>
            </a:r>
          </a:p>
          <a:p>
            <a:r>
              <a:rPr dirty="0"/>
              <a:t> Progressive asymmetric weakness (</a:t>
            </a:r>
            <a:r>
              <a:rPr dirty="0" err="1"/>
              <a:t>distal→proximal</a:t>
            </a:r>
            <a:r>
              <a:rPr dirty="0"/>
              <a:t>).</a:t>
            </a:r>
          </a:p>
          <a:p>
            <a:r>
              <a:rPr dirty="0"/>
              <a:t>Fasciculations, cramps, loss of dexterity.</a:t>
            </a:r>
          </a:p>
          <a:p>
            <a:endParaRPr dirty="0"/>
          </a:p>
          <a:p>
            <a:pPr marL="0" indent="0">
              <a:buNone/>
            </a:pPr>
            <a:r>
              <a:rPr dirty="0"/>
              <a:t>Sensory:</a:t>
            </a:r>
          </a:p>
          <a:p>
            <a:r>
              <a:rPr dirty="0"/>
              <a:t> Typically spared.</a:t>
            </a:r>
            <a:r>
              <a:rPr lang="en-GB" dirty="0"/>
              <a:t> </a:t>
            </a:r>
            <a:r>
              <a:rPr dirty="0"/>
              <a:t>Sensory loss → red flag for alternative diagnosis.</a:t>
            </a:r>
            <a:endParaRPr lang="en-GB" dirty="0"/>
          </a:p>
          <a:p>
            <a:endParaRPr lang="en-GB" dirty="0"/>
          </a:p>
          <a:p>
            <a:pPr marL="0" indent="0">
              <a:buNone/>
            </a:pPr>
            <a:r>
              <a:rPr lang="en-GB" dirty="0">
                <a:hlinkClick r:id="rId3"/>
              </a:rPr>
              <a:t>The Love Inside: Mike and Zoe - YouTube</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 Flag</a:t>
            </a:r>
            <a:r>
              <a:rPr lang="en-GB" dirty="0"/>
              <a:t>/Urgent referral</a:t>
            </a:r>
            <a:r>
              <a:rPr dirty="0"/>
              <a:t> Indicators</a:t>
            </a:r>
          </a:p>
        </p:txBody>
      </p:sp>
      <p:sp>
        <p:nvSpPr>
          <p:cNvPr id="3" name="Content Placeholder 2"/>
          <p:cNvSpPr>
            <a:spLocks noGrp="1"/>
          </p:cNvSpPr>
          <p:nvPr>
            <p:ph idx="1"/>
          </p:nvPr>
        </p:nvSpPr>
        <p:spPr/>
        <p:txBody>
          <a:bodyPr/>
          <a:lstStyle/>
          <a:p>
            <a:pPr>
              <a:buFont typeface="Arial" panose="020B0604020202020204" pitchFamily="34" charset="0"/>
              <a:buChar char="•"/>
            </a:pPr>
            <a:r>
              <a:rPr dirty="0"/>
              <a:t>Rapid progression of weakness/dysphagia.</a:t>
            </a:r>
          </a:p>
          <a:p>
            <a:pPr>
              <a:buFont typeface="Arial" panose="020B0604020202020204" pitchFamily="34" charset="0"/>
              <a:buChar char="•"/>
            </a:pPr>
            <a:r>
              <a:rPr dirty="0"/>
              <a:t>Respiratory symptoms (</a:t>
            </a:r>
            <a:r>
              <a:rPr dirty="0" err="1"/>
              <a:t>dyspnoea</a:t>
            </a:r>
            <a:r>
              <a:rPr dirty="0"/>
              <a:t>, </a:t>
            </a:r>
            <a:r>
              <a:rPr dirty="0" err="1"/>
              <a:t>orthopnoea</a:t>
            </a:r>
            <a:r>
              <a:rPr dirty="0"/>
              <a:t>)</a:t>
            </a:r>
            <a:endParaRPr lang="en-GB" dirty="0"/>
          </a:p>
          <a:p>
            <a:pPr>
              <a:buFont typeface="Arial" panose="020B0604020202020204" pitchFamily="34" charset="0"/>
              <a:buChar char="•"/>
            </a:pPr>
            <a:r>
              <a:rPr dirty="0"/>
              <a:t>Unexplained falls, weight loss.</a:t>
            </a:r>
            <a:endParaRPr lang="en-GB" dirty="0"/>
          </a:p>
          <a:p>
            <a:pPr>
              <a:buFont typeface="Arial" panose="020B0604020202020204" pitchFamily="34" charset="0"/>
              <a:buChar char="•"/>
            </a:pPr>
            <a:r>
              <a:rPr lang="en-GB" dirty="0"/>
              <a:t>Deterioration in mobility, transfers</a:t>
            </a:r>
          </a:p>
          <a:p>
            <a:pPr>
              <a:buFont typeface="Arial" panose="020B0604020202020204" pitchFamily="34" charset="0"/>
              <a:buChar char="•"/>
            </a:pPr>
            <a:r>
              <a:rPr lang="en-GB" dirty="0"/>
              <a:t>New Neck Weakness</a:t>
            </a:r>
            <a:endParaRPr dirty="0"/>
          </a:p>
          <a:p>
            <a:pPr>
              <a:buFont typeface="Arial" panose="020B0604020202020204" pitchFamily="34" charset="0"/>
              <a:buChar char="•"/>
            </a:pPr>
            <a:r>
              <a:rPr dirty="0"/>
              <a:t>Sensory loss, visual symptoms, or sphincter disturbance.</a:t>
            </a:r>
          </a:p>
          <a:p>
            <a:pPr>
              <a:buFont typeface="Arial" panose="020B0604020202020204" pitchFamily="34" charset="0"/>
              <a:buChar char="•"/>
            </a:pPr>
            <a:r>
              <a:rPr dirty="0"/>
              <a:t>Sudden deterioration or aspiration risk.</a:t>
            </a:r>
          </a:p>
        </p:txBody>
      </p:sp>
      <p:pic>
        <p:nvPicPr>
          <p:cNvPr id="4" name="Picture 2" descr="Warning flat red color icon Stock ...">
            <a:extLst>
              <a:ext uri="{FF2B5EF4-FFF2-40B4-BE49-F238E27FC236}">
                <a16:creationId xmlns:a16="http://schemas.microsoft.com/office/drawing/2014/main" id="{0F423777-C549-434A-9F61-0F05AFC42F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6578" y="733586"/>
            <a:ext cx="1658198" cy="16581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Physiotherapy Assessment</a:t>
            </a:r>
          </a:p>
        </p:txBody>
      </p:sp>
      <p:sp>
        <p:nvSpPr>
          <p:cNvPr id="3" name="Content Placeholder 2"/>
          <p:cNvSpPr>
            <a:spLocks noGrp="1"/>
          </p:cNvSpPr>
          <p:nvPr>
            <p:ph idx="1"/>
          </p:nvPr>
        </p:nvSpPr>
        <p:spPr/>
        <p:txBody>
          <a:bodyPr>
            <a:normAutofit fontScale="92500" lnSpcReduction="10000"/>
          </a:bodyPr>
          <a:lstStyle/>
          <a:p>
            <a:pPr marL="0" indent="0">
              <a:buNone/>
            </a:pPr>
            <a:r>
              <a:rPr b="1" dirty="0"/>
              <a:t>Assess</a:t>
            </a:r>
            <a:r>
              <a:rPr lang="en-GB" b="1" dirty="0" err="1"/>
              <a:t>ment</a:t>
            </a:r>
            <a:r>
              <a:rPr lang="en-GB" b="1" dirty="0"/>
              <a:t> should focus on</a:t>
            </a:r>
            <a:r>
              <a:rPr b="1" dirty="0"/>
              <a:t>:</a:t>
            </a:r>
          </a:p>
          <a:p>
            <a:r>
              <a:rPr dirty="0"/>
              <a:t>Functional ability, strength, tone, respiration.</a:t>
            </a:r>
          </a:p>
          <a:p>
            <a:r>
              <a:rPr lang="en-GB" dirty="0"/>
              <a:t>Identify issues with f</a:t>
            </a:r>
            <a:r>
              <a:rPr dirty="0" err="1"/>
              <a:t>atigue</a:t>
            </a:r>
            <a:r>
              <a:rPr dirty="0"/>
              <a:t>, pain, posture, and mobility.</a:t>
            </a:r>
          </a:p>
          <a:p>
            <a:r>
              <a:rPr dirty="0"/>
              <a:t> Equipment and environmental needs.</a:t>
            </a:r>
          </a:p>
          <a:p>
            <a:endParaRPr dirty="0"/>
          </a:p>
          <a:p>
            <a:pPr marL="0" indent="0">
              <a:buNone/>
            </a:pPr>
            <a:r>
              <a:rPr b="1" dirty="0"/>
              <a:t>Outcome Measures:</a:t>
            </a:r>
          </a:p>
          <a:p>
            <a:r>
              <a:rPr dirty="0"/>
              <a:t> ALS Functional Rating Scale (ALSFRS-R)</a:t>
            </a:r>
          </a:p>
          <a:p>
            <a:r>
              <a:rPr dirty="0"/>
              <a:t> Manual Muscle Testing</a:t>
            </a:r>
          </a:p>
          <a:p>
            <a:r>
              <a:rPr dirty="0"/>
              <a:t> Respiratory capacity (VC, MIP, MEP)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3DD90F7-AC87-4CFC-A876-A9BFACB5D15E}"/>
              </a:ext>
            </a:extLst>
          </p:cNvPr>
          <p:cNvSpPr/>
          <p:nvPr/>
        </p:nvSpPr>
        <p:spPr>
          <a:xfrm>
            <a:off x="212361" y="592111"/>
            <a:ext cx="3582650" cy="5786204"/>
          </a:xfrm>
          <a:prstGeom prst="round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Rounded Corners 2">
            <a:extLst>
              <a:ext uri="{FF2B5EF4-FFF2-40B4-BE49-F238E27FC236}">
                <a16:creationId xmlns:a16="http://schemas.microsoft.com/office/drawing/2014/main" id="{FCEBB211-C2E0-4D63-B667-D7F6A51B5D3C}"/>
              </a:ext>
            </a:extLst>
          </p:cNvPr>
          <p:cNvSpPr/>
          <p:nvPr/>
        </p:nvSpPr>
        <p:spPr>
          <a:xfrm>
            <a:off x="4304675" y="592111"/>
            <a:ext cx="3582650" cy="5786204"/>
          </a:xfrm>
          <a:prstGeom prst="round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Rounded Corners 3">
            <a:extLst>
              <a:ext uri="{FF2B5EF4-FFF2-40B4-BE49-F238E27FC236}">
                <a16:creationId xmlns:a16="http://schemas.microsoft.com/office/drawing/2014/main" id="{D7437D54-3F2F-4E2D-809A-038DC4ACC8CB}"/>
              </a:ext>
            </a:extLst>
          </p:cNvPr>
          <p:cNvSpPr/>
          <p:nvPr/>
        </p:nvSpPr>
        <p:spPr>
          <a:xfrm>
            <a:off x="8396989" y="558384"/>
            <a:ext cx="3582650" cy="5786204"/>
          </a:xfrm>
          <a:prstGeom prst="round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endParaRPr>
          </a:p>
        </p:txBody>
      </p:sp>
      <p:sp>
        <p:nvSpPr>
          <p:cNvPr id="5" name="TextBox 4">
            <a:extLst>
              <a:ext uri="{FF2B5EF4-FFF2-40B4-BE49-F238E27FC236}">
                <a16:creationId xmlns:a16="http://schemas.microsoft.com/office/drawing/2014/main" id="{F247303D-280A-4B2F-9497-3EA988F4760B}"/>
              </a:ext>
            </a:extLst>
          </p:cNvPr>
          <p:cNvSpPr txBox="1"/>
          <p:nvPr/>
        </p:nvSpPr>
        <p:spPr>
          <a:xfrm>
            <a:off x="564630" y="1484668"/>
            <a:ext cx="2878112" cy="4893647"/>
          </a:xfrm>
          <a:prstGeom prst="rect">
            <a:avLst/>
          </a:prstGeom>
          <a:noFill/>
        </p:spPr>
        <p:txBody>
          <a:bodyPr wrap="square" rtlCol="0">
            <a:spAutoFit/>
          </a:bodyPr>
          <a:lstStyle/>
          <a:p>
            <a:pPr marL="342900" indent="-342900">
              <a:buFont typeface="Arial" panose="020B0604020202020204" pitchFamily="34" charset="0"/>
              <a:buChar char="•"/>
            </a:pPr>
            <a:r>
              <a:rPr lang="en-GB" sz="2400" dirty="0"/>
              <a:t>Maintain function, mobility, and endurance.</a:t>
            </a:r>
          </a:p>
          <a:p>
            <a:pPr marL="342900" indent="-342900">
              <a:buFont typeface="Arial" panose="020B0604020202020204" pitchFamily="34" charset="0"/>
              <a:buChar char="•"/>
            </a:pPr>
            <a:r>
              <a:rPr lang="en-GB" sz="2400" dirty="0"/>
              <a:t> Gentle strengthening and stretching.</a:t>
            </a:r>
          </a:p>
          <a:p>
            <a:pPr marL="342900" indent="-342900">
              <a:buFont typeface="Arial" panose="020B0604020202020204" pitchFamily="34" charset="0"/>
              <a:buChar char="•"/>
            </a:pPr>
            <a:r>
              <a:rPr lang="en-GB" sz="2400" dirty="0"/>
              <a:t>Energy conservation and pacing.</a:t>
            </a:r>
          </a:p>
          <a:p>
            <a:pPr marL="342900" indent="-342900">
              <a:buFont typeface="Arial" panose="020B0604020202020204" pitchFamily="34" charset="0"/>
              <a:buChar char="•"/>
            </a:pPr>
            <a:r>
              <a:rPr lang="en-GB" sz="2400" dirty="0"/>
              <a:t>Postural education and joint protection.</a:t>
            </a:r>
          </a:p>
          <a:p>
            <a:pPr marL="342900" indent="-342900">
              <a:buFont typeface="Arial" panose="020B0604020202020204" pitchFamily="34" charset="0"/>
              <a:buChar char="•"/>
            </a:pPr>
            <a:endParaRPr lang="en-GB" sz="2400" dirty="0"/>
          </a:p>
        </p:txBody>
      </p:sp>
      <p:sp>
        <p:nvSpPr>
          <p:cNvPr id="6" name="TextBox 5">
            <a:extLst>
              <a:ext uri="{FF2B5EF4-FFF2-40B4-BE49-F238E27FC236}">
                <a16:creationId xmlns:a16="http://schemas.microsoft.com/office/drawing/2014/main" id="{988A5B35-969C-4FA5-80FF-67F1BBFDAF11}"/>
              </a:ext>
            </a:extLst>
          </p:cNvPr>
          <p:cNvSpPr txBox="1"/>
          <p:nvPr/>
        </p:nvSpPr>
        <p:spPr>
          <a:xfrm>
            <a:off x="1034321" y="776780"/>
            <a:ext cx="2408421" cy="523220"/>
          </a:xfrm>
          <a:prstGeom prst="rect">
            <a:avLst/>
          </a:prstGeom>
          <a:noFill/>
        </p:spPr>
        <p:txBody>
          <a:bodyPr wrap="square" rtlCol="0">
            <a:spAutoFit/>
          </a:bodyPr>
          <a:lstStyle/>
          <a:p>
            <a:r>
              <a:rPr lang="en-GB" sz="2800" b="1" dirty="0"/>
              <a:t>Early Stage</a:t>
            </a:r>
          </a:p>
        </p:txBody>
      </p:sp>
      <p:sp>
        <p:nvSpPr>
          <p:cNvPr id="7" name="TextBox 6">
            <a:extLst>
              <a:ext uri="{FF2B5EF4-FFF2-40B4-BE49-F238E27FC236}">
                <a16:creationId xmlns:a16="http://schemas.microsoft.com/office/drawing/2014/main" id="{B7D9FC1A-B86B-468E-913B-A0A72274F043}"/>
              </a:ext>
            </a:extLst>
          </p:cNvPr>
          <p:cNvSpPr txBox="1"/>
          <p:nvPr/>
        </p:nvSpPr>
        <p:spPr>
          <a:xfrm>
            <a:off x="5174105" y="792412"/>
            <a:ext cx="2408421" cy="523220"/>
          </a:xfrm>
          <a:prstGeom prst="rect">
            <a:avLst/>
          </a:prstGeom>
          <a:noFill/>
        </p:spPr>
        <p:txBody>
          <a:bodyPr wrap="square" rtlCol="0">
            <a:spAutoFit/>
          </a:bodyPr>
          <a:lstStyle/>
          <a:p>
            <a:r>
              <a:rPr lang="en-GB" sz="2800" b="1"/>
              <a:t>Mid Stage</a:t>
            </a:r>
            <a:endParaRPr lang="en-GB" sz="2800" b="1" dirty="0"/>
          </a:p>
        </p:txBody>
      </p:sp>
      <p:sp>
        <p:nvSpPr>
          <p:cNvPr id="8" name="Rectangle 7">
            <a:extLst>
              <a:ext uri="{FF2B5EF4-FFF2-40B4-BE49-F238E27FC236}">
                <a16:creationId xmlns:a16="http://schemas.microsoft.com/office/drawing/2014/main" id="{ABA93036-D56C-45E7-99C7-6C4D2E023FB0}"/>
              </a:ext>
            </a:extLst>
          </p:cNvPr>
          <p:cNvSpPr/>
          <p:nvPr/>
        </p:nvSpPr>
        <p:spPr>
          <a:xfrm>
            <a:off x="4459574" y="1484668"/>
            <a:ext cx="3427751" cy="4154984"/>
          </a:xfrm>
          <a:prstGeom prst="rect">
            <a:avLst/>
          </a:prstGeom>
        </p:spPr>
        <p:txBody>
          <a:bodyPr wrap="square">
            <a:spAutoFit/>
          </a:bodyPr>
          <a:lstStyle/>
          <a:p>
            <a:r>
              <a:rPr lang="en-GB" sz="2400" dirty="0"/>
              <a:t>• Introduce assistive devices and adaptive equipment.</a:t>
            </a:r>
          </a:p>
          <a:p>
            <a:r>
              <a:rPr lang="en-GB" sz="2400" dirty="0"/>
              <a:t>• Positioning, stretching, and contracture prevention.</a:t>
            </a:r>
          </a:p>
          <a:p>
            <a:r>
              <a:rPr lang="en-GB" sz="2400" dirty="0"/>
              <a:t>• Respiratory care (breath stacking, cough assist).</a:t>
            </a:r>
          </a:p>
          <a:p>
            <a:r>
              <a:rPr lang="en-GB" sz="2400" dirty="0"/>
              <a:t>• Support and education for patients and caregivers.</a:t>
            </a:r>
          </a:p>
        </p:txBody>
      </p:sp>
      <p:sp>
        <p:nvSpPr>
          <p:cNvPr id="9" name="Rectangle 8">
            <a:extLst>
              <a:ext uri="{FF2B5EF4-FFF2-40B4-BE49-F238E27FC236}">
                <a16:creationId xmlns:a16="http://schemas.microsoft.com/office/drawing/2014/main" id="{E8EA8271-2877-448B-8BDD-3AAF8D7E0621}"/>
              </a:ext>
            </a:extLst>
          </p:cNvPr>
          <p:cNvSpPr/>
          <p:nvPr/>
        </p:nvSpPr>
        <p:spPr>
          <a:xfrm>
            <a:off x="8724275" y="1484668"/>
            <a:ext cx="2878112" cy="3785652"/>
          </a:xfrm>
          <a:prstGeom prst="rect">
            <a:avLst/>
          </a:prstGeom>
        </p:spPr>
        <p:txBody>
          <a:bodyPr wrap="square">
            <a:spAutoFit/>
          </a:bodyPr>
          <a:lstStyle/>
          <a:p>
            <a:pPr marL="342900" indent="-342900">
              <a:buFont typeface="Arial" panose="020B0604020202020204" pitchFamily="34" charset="0"/>
              <a:buChar char="•"/>
            </a:pPr>
            <a:r>
              <a:rPr lang="en-GB" sz="2400" dirty="0"/>
              <a:t>Passive movements and relaxation.</a:t>
            </a:r>
          </a:p>
          <a:p>
            <a:pPr marL="342900" indent="-342900">
              <a:buFont typeface="Arial" panose="020B0604020202020204" pitchFamily="34" charset="0"/>
              <a:buChar char="•"/>
            </a:pPr>
            <a:r>
              <a:rPr lang="en-GB" sz="2400" dirty="0"/>
              <a:t>Comfort, pressure relief, breathing support.</a:t>
            </a:r>
          </a:p>
          <a:p>
            <a:pPr marL="342900" indent="-342900">
              <a:buFont typeface="Arial" panose="020B0604020202020204" pitchFamily="34" charset="0"/>
              <a:buChar char="•"/>
            </a:pPr>
            <a:r>
              <a:rPr lang="en-GB" sz="2400" dirty="0"/>
              <a:t>Caregiver training for safe handling.</a:t>
            </a:r>
          </a:p>
          <a:p>
            <a:pPr marL="342900" indent="-342900">
              <a:buFont typeface="Arial" panose="020B0604020202020204" pitchFamily="34" charset="0"/>
              <a:buChar char="•"/>
            </a:pPr>
            <a:r>
              <a:rPr lang="en-GB" sz="2400" dirty="0"/>
              <a:t>Liaise with MDT and palliative care.</a:t>
            </a:r>
          </a:p>
        </p:txBody>
      </p:sp>
      <p:sp>
        <p:nvSpPr>
          <p:cNvPr id="10" name="TextBox 9">
            <a:extLst>
              <a:ext uri="{FF2B5EF4-FFF2-40B4-BE49-F238E27FC236}">
                <a16:creationId xmlns:a16="http://schemas.microsoft.com/office/drawing/2014/main" id="{C3C917FF-EC69-40AD-B349-4E92DBAE77E8}"/>
              </a:ext>
            </a:extLst>
          </p:cNvPr>
          <p:cNvSpPr txBox="1"/>
          <p:nvPr/>
        </p:nvSpPr>
        <p:spPr>
          <a:xfrm>
            <a:off x="9193966" y="792412"/>
            <a:ext cx="2408421" cy="523220"/>
          </a:xfrm>
          <a:prstGeom prst="rect">
            <a:avLst/>
          </a:prstGeom>
          <a:noFill/>
        </p:spPr>
        <p:txBody>
          <a:bodyPr wrap="square" rtlCol="0">
            <a:spAutoFit/>
          </a:bodyPr>
          <a:lstStyle/>
          <a:p>
            <a:r>
              <a:rPr lang="en-GB" sz="2800" b="1" dirty="0"/>
              <a:t>Late Stage</a:t>
            </a:r>
          </a:p>
        </p:txBody>
      </p:sp>
    </p:spTree>
    <p:extLst>
      <p:ext uri="{BB962C8B-B14F-4D97-AF65-F5344CB8AC3E}">
        <p14:creationId xmlns:p14="http://schemas.microsoft.com/office/powerpoint/2010/main" val="16290669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Physiotherapy Role in MDT</a:t>
            </a:r>
          </a:p>
        </p:txBody>
      </p:sp>
      <p:sp>
        <p:nvSpPr>
          <p:cNvPr id="3" name="Content Placeholder 2"/>
          <p:cNvSpPr>
            <a:spLocks noGrp="1"/>
          </p:cNvSpPr>
          <p:nvPr>
            <p:ph idx="1"/>
          </p:nvPr>
        </p:nvSpPr>
        <p:spPr/>
        <p:txBody>
          <a:bodyPr>
            <a:normAutofit fontScale="92500" lnSpcReduction="10000"/>
          </a:bodyPr>
          <a:lstStyle/>
          <a:p>
            <a:pPr marL="0" indent="0">
              <a:buNone/>
            </a:pPr>
            <a:r>
              <a:rPr lang="en-GB" dirty="0"/>
              <a:t>Ensure collaboration with teams including: </a:t>
            </a:r>
            <a:endParaRPr dirty="0"/>
          </a:p>
          <a:p>
            <a:pPr marL="0" indent="0">
              <a:buNone/>
            </a:pPr>
            <a:r>
              <a:rPr dirty="0"/>
              <a:t>Neurologist, OT, SLT, Respiratory Therapist, Dietitian, Palliative Care.</a:t>
            </a:r>
          </a:p>
          <a:p>
            <a:endParaRPr dirty="0"/>
          </a:p>
          <a:p>
            <a:pPr marL="0" indent="0">
              <a:buNone/>
            </a:pPr>
            <a:r>
              <a:rPr lang="en-GB" dirty="0"/>
              <a:t>Overall </a:t>
            </a:r>
            <a:r>
              <a:rPr dirty="0"/>
              <a:t>Physiotherapy </a:t>
            </a:r>
            <a:r>
              <a:rPr lang="en-GB" dirty="0"/>
              <a:t>Aims</a:t>
            </a:r>
            <a:r>
              <a:rPr dirty="0"/>
              <a:t>:</a:t>
            </a:r>
          </a:p>
          <a:p>
            <a:r>
              <a:rPr lang="en-GB" dirty="0"/>
              <a:t>Optimize</a:t>
            </a:r>
            <a:r>
              <a:rPr dirty="0"/>
              <a:t> function, comfort, and quality of life.</a:t>
            </a:r>
          </a:p>
          <a:p>
            <a:r>
              <a:rPr dirty="0"/>
              <a:t>Prevent complications.</a:t>
            </a:r>
          </a:p>
          <a:p>
            <a:pPr marL="0" indent="0">
              <a:buNone/>
            </a:pPr>
            <a:r>
              <a:rPr lang="en-GB" dirty="0"/>
              <a:t> </a:t>
            </a:r>
            <a:r>
              <a:rPr dirty="0"/>
              <a:t> Support patient and family.</a:t>
            </a:r>
            <a:endParaRPr lang="en-GB" dirty="0"/>
          </a:p>
          <a:p>
            <a:endParaRPr lang="en-GB" dirty="0"/>
          </a:p>
          <a:p>
            <a:pPr marL="0" indent="0">
              <a:buNone/>
            </a:pPr>
            <a:r>
              <a:rPr lang="en-GB" dirty="0"/>
              <a:t>Monitor patients (not discharged from services)</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References</a:t>
            </a:r>
          </a:p>
        </p:txBody>
      </p:sp>
      <p:sp>
        <p:nvSpPr>
          <p:cNvPr id="3" name="Content Placeholder 2"/>
          <p:cNvSpPr>
            <a:spLocks noGrp="1"/>
          </p:cNvSpPr>
          <p:nvPr>
            <p:ph idx="1"/>
          </p:nvPr>
        </p:nvSpPr>
        <p:spPr/>
        <p:txBody>
          <a:bodyPr>
            <a:normAutofit fontScale="25000" lnSpcReduction="20000"/>
          </a:bodyPr>
          <a:lstStyle/>
          <a:p>
            <a:pPr marL="0" indent="0">
              <a:buNone/>
            </a:pPr>
            <a:r>
              <a:rPr sz="7200" dirty="0"/>
              <a:t>• NICE Guidelines: Motor </a:t>
            </a:r>
            <a:r>
              <a:rPr sz="7200" dirty="0" err="1"/>
              <a:t>Neurone</a:t>
            </a:r>
            <a:r>
              <a:rPr sz="7200" dirty="0"/>
              <a:t> Disease –(2024)</a:t>
            </a:r>
          </a:p>
          <a:p>
            <a:pPr marL="0" indent="0">
              <a:buNone/>
            </a:pPr>
            <a:r>
              <a:rPr sz="7200" dirty="0"/>
              <a:t>• Turner MR et al., Lancet Neurology, 2013.</a:t>
            </a:r>
          </a:p>
          <a:p>
            <a:pPr marL="0" indent="0">
              <a:buNone/>
            </a:pPr>
            <a:r>
              <a:rPr sz="7200" dirty="0"/>
              <a:t>• Talbot K, Brain, 2014.</a:t>
            </a:r>
          </a:p>
          <a:p>
            <a:pPr marL="0" indent="0">
              <a:buNone/>
            </a:pPr>
            <a:r>
              <a:rPr sz="7200" dirty="0"/>
              <a:t>• </a:t>
            </a:r>
            <a:r>
              <a:rPr sz="7200" dirty="0" err="1"/>
              <a:t>RCPhysiotherapy</a:t>
            </a:r>
            <a:r>
              <a:rPr sz="7200" dirty="0"/>
              <a:t>: Guidelines for Physiotherapy in Progressive Neurological Conditions (2022).</a:t>
            </a:r>
            <a:endParaRPr lang="en-GB" sz="7200" dirty="0"/>
          </a:p>
          <a:p>
            <a:pPr>
              <a:buFont typeface="Arial" panose="020B0604020202020204" pitchFamily="34" charset="0"/>
              <a:buChar char="•"/>
            </a:pPr>
            <a:r>
              <a:rPr lang="en-GB" sz="7200" dirty="0"/>
              <a:t>Harris, E. &amp; Rowe, A. (2011). *Motor neurone disease: assessment and management.* BMJ 342:d254 — review of presentation, diagnosis, and symptom management. ([PMC][1])</a:t>
            </a:r>
          </a:p>
          <a:p>
            <a:pPr>
              <a:buFont typeface="Arial" panose="020B0604020202020204" pitchFamily="34" charset="0"/>
              <a:buChar char="•"/>
            </a:pPr>
            <a:r>
              <a:rPr lang="en-GB" sz="7200" dirty="0"/>
              <a:t> MND Association. (2023). *Physiotherapy and MND: Information Sheet 6A.* Provides physiotherapy-specific guidance. ([MND Association][3])</a:t>
            </a:r>
          </a:p>
          <a:p>
            <a:pPr>
              <a:buFont typeface="Arial" panose="020B0604020202020204" pitchFamily="34" charset="0"/>
              <a:buChar char="•"/>
            </a:pPr>
            <a:r>
              <a:rPr lang="en-GB" sz="7200" dirty="0"/>
              <a:t>van der Burgh, H., et al. (2022). “The Global Burden of Motor Neuron Disease.” *Frontiers in Neurology*, 13:864339. ([Frontiers][4])</a:t>
            </a:r>
          </a:p>
          <a:p>
            <a:pPr>
              <a:buFont typeface="Arial" panose="020B0604020202020204" pitchFamily="34" charset="0"/>
              <a:buChar char="•"/>
            </a:pPr>
            <a:r>
              <a:rPr lang="en-GB" sz="7200" dirty="0"/>
              <a:t> </a:t>
            </a:r>
            <a:r>
              <a:rPr lang="en-GB" sz="7200" dirty="0" err="1"/>
              <a:t>Sant’Anna</a:t>
            </a:r>
            <a:r>
              <a:rPr lang="en-GB" sz="7200" dirty="0"/>
              <a:t>, R., et al. (2023). “Update on recent advances in amyotrophic lateral sclerosis.” *Journal of Neurology* (Springer). ([SpringerLink][5])</a:t>
            </a:r>
          </a:p>
          <a:p>
            <a:pPr>
              <a:buFont typeface="Arial" panose="020B0604020202020204" pitchFamily="34" charset="0"/>
              <a:buChar char="•"/>
            </a:pPr>
            <a:r>
              <a:rPr lang="en-GB" sz="7200" dirty="0" err="1"/>
              <a:t>Zech</a:t>
            </a:r>
            <a:r>
              <a:rPr lang="en-GB" sz="7200" dirty="0"/>
              <a:t>, M., et al. (2023). “Physical therapy and exercise for MND.” *Hexi / Oxford (online resource).* ([hexi.ox.ac.uk][6])</a:t>
            </a:r>
          </a:p>
          <a:p>
            <a:endParaRPr lang="en-GB" sz="7200" dirty="0"/>
          </a:p>
          <a:p>
            <a:endParaRPr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4F3AD-6B61-4610-AC8A-1AA34665D3BE}"/>
              </a:ext>
            </a:extLst>
          </p:cNvPr>
          <p:cNvSpPr>
            <a:spLocks noGrp="1"/>
          </p:cNvSpPr>
          <p:nvPr>
            <p:ph type="title"/>
          </p:nvPr>
        </p:nvSpPr>
        <p:spPr>
          <a:xfrm>
            <a:off x="838200" y="2422525"/>
            <a:ext cx="10515600" cy="1325563"/>
          </a:xfrm>
        </p:spPr>
        <p:txBody>
          <a:bodyPr>
            <a:normAutofit/>
          </a:bodyPr>
          <a:lstStyle/>
          <a:p>
            <a:pPr algn="ctr"/>
            <a:r>
              <a:rPr lang="en-GB" sz="6000" b="1" dirty="0">
                <a:solidFill>
                  <a:srgbClr val="FFC000"/>
                </a:solidFill>
              </a:rPr>
              <a:t>Parkinson's Disease </a:t>
            </a:r>
          </a:p>
        </p:txBody>
      </p:sp>
    </p:spTree>
    <p:extLst>
      <p:ext uri="{BB962C8B-B14F-4D97-AF65-F5344CB8AC3E}">
        <p14:creationId xmlns:p14="http://schemas.microsoft.com/office/powerpoint/2010/main" val="28619474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Parkinson’s Disease</a:t>
            </a:r>
          </a:p>
        </p:txBody>
      </p:sp>
      <p:sp>
        <p:nvSpPr>
          <p:cNvPr id="3" name="Content Placeholder 2"/>
          <p:cNvSpPr>
            <a:spLocks noGrp="1"/>
          </p:cNvSpPr>
          <p:nvPr>
            <p:ph idx="1"/>
          </p:nvPr>
        </p:nvSpPr>
        <p:spPr>
          <a:xfrm>
            <a:off x="676657" y="2011680"/>
            <a:ext cx="5679173" cy="4163272"/>
          </a:xfrm>
        </p:spPr>
        <p:txBody>
          <a:bodyPr>
            <a:noAutofit/>
          </a:bodyPr>
          <a:lstStyle/>
          <a:p>
            <a:r>
              <a:rPr lang="en-GB" b="1" dirty="0"/>
              <a:t>A </a:t>
            </a:r>
            <a:r>
              <a:rPr b="1" dirty="0"/>
              <a:t>Chronic, progressive neurodegenerative disorder of the basal ganglia.</a:t>
            </a:r>
          </a:p>
          <a:p>
            <a:r>
              <a:rPr dirty="0" err="1"/>
              <a:t>Characterised</a:t>
            </a:r>
            <a:r>
              <a:rPr dirty="0"/>
              <a:t> by bradykinesia, rigidity, tremor, and postural instability.</a:t>
            </a:r>
            <a:endParaRPr lang="en-GB" dirty="0"/>
          </a:p>
          <a:p>
            <a:r>
              <a:rPr lang="en-GB" b="1" dirty="0"/>
              <a:t>There are three main forms of parkinsonism:</a:t>
            </a:r>
          </a:p>
          <a:p>
            <a:r>
              <a:rPr lang="en-GB" dirty="0"/>
              <a:t>Idiopathic Parkinson’s</a:t>
            </a:r>
          </a:p>
          <a:p>
            <a:r>
              <a:rPr lang="en-GB" dirty="0"/>
              <a:t>Vascular parkinsonism</a:t>
            </a:r>
          </a:p>
          <a:p>
            <a:r>
              <a:rPr lang="en-GB" dirty="0"/>
              <a:t>Drug-induced parkinsonism</a:t>
            </a:r>
          </a:p>
          <a:p>
            <a:pPr marL="0" indent="0">
              <a:buNone/>
            </a:pPr>
            <a:endParaRPr dirty="0"/>
          </a:p>
        </p:txBody>
      </p:sp>
      <p:pic>
        <p:nvPicPr>
          <p:cNvPr id="2050" name="Picture 2" descr="Parkinson's Disease Symptoms and Treatment">
            <a:extLst>
              <a:ext uri="{FF2B5EF4-FFF2-40B4-BE49-F238E27FC236}">
                <a16:creationId xmlns:a16="http://schemas.microsoft.com/office/drawing/2014/main" id="{3CFCB0F1-E1A3-40F7-A482-161A270636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3679" y="1328632"/>
            <a:ext cx="4846320" cy="48463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Parkinson’s</a:t>
            </a:r>
            <a:r>
              <a:rPr lang="en-GB" b="1" dirty="0"/>
              <a:t> Aetiology and Epidemiology</a:t>
            </a:r>
            <a:br>
              <a:rPr lang="en-GB" b="1" dirty="0"/>
            </a:br>
            <a:endParaRPr b="1" dirty="0"/>
          </a:p>
        </p:txBody>
      </p:sp>
      <p:sp>
        <p:nvSpPr>
          <p:cNvPr id="3" name="Content Placeholder 2"/>
          <p:cNvSpPr>
            <a:spLocks noGrp="1"/>
          </p:cNvSpPr>
          <p:nvPr>
            <p:ph idx="1"/>
          </p:nvPr>
        </p:nvSpPr>
        <p:spPr>
          <a:xfrm>
            <a:off x="676656" y="2011680"/>
            <a:ext cx="7099357" cy="3766185"/>
          </a:xfrm>
        </p:spPr>
        <p:txBody>
          <a:bodyPr>
            <a:normAutofit lnSpcReduction="10000"/>
          </a:bodyPr>
          <a:lstStyle/>
          <a:p>
            <a:r>
              <a:rPr lang="en-GB" dirty="0"/>
              <a:t>PD is a multifactorial disease, with both genetic and environmental factors playing a role. </a:t>
            </a:r>
          </a:p>
          <a:p>
            <a:r>
              <a:rPr lang="en-GB" dirty="0"/>
              <a:t>Age is the biggest risk factor for PD, with the median age of onset being 60 years of age.</a:t>
            </a:r>
          </a:p>
          <a:p>
            <a:r>
              <a:rPr lang="en-GB" dirty="0"/>
              <a:t>The incidence of the disease rises with age to 93.1 (per 100,000 person-years) in age groups between 70 and 79 years. </a:t>
            </a:r>
          </a:p>
          <a:p>
            <a:endParaRPr lang="en-GB" dirty="0"/>
          </a:p>
          <a:p>
            <a:r>
              <a:rPr lang="en-GB" dirty="0"/>
              <a:t>Female: Male</a:t>
            </a:r>
          </a:p>
          <a:p>
            <a:r>
              <a:rPr lang="en-GB" dirty="0"/>
              <a:t>1: 1.5</a:t>
            </a:r>
            <a:endParaRPr dirty="0"/>
          </a:p>
        </p:txBody>
      </p:sp>
      <p:pic>
        <p:nvPicPr>
          <p:cNvPr id="4" name="Picture 3">
            <a:extLst>
              <a:ext uri="{FF2B5EF4-FFF2-40B4-BE49-F238E27FC236}">
                <a16:creationId xmlns:a16="http://schemas.microsoft.com/office/drawing/2014/main" id="{6863BDD4-FE11-41FF-A7EE-4EB02DBB235E}"/>
              </a:ext>
            </a:extLst>
          </p:cNvPr>
          <p:cNvPicPr>
            <a:picLocks noChangeAspect="1"/>
          </p:cNvPicPr>
          <p:nvPr/>
        </p:nvPicPr>
        <p:blipFill>
          <a:blip r:embed="rId3"/>
          <a:stretch>
            <a:fillRect/>
          </a:stretch>
        </p:blipFill>
        <p:spPr>
          <a:xfrm>
            <a:off x="7861358" y="2117446"/>
            <a:ext cx="3653986" cy="4174419"/>
          </a:xfrm>
          <a:prstGeom prst="rect">
            <a:avLst/>
          </a:prstGeom>
        </p:spPr>
      </p:pic>
      <p:pic>
        <p:nvPicPr>
          <p:cNvPr id="1026" name="Picture 2" descr="A bar graph showing the ages that people were diagnosed with Parkinson's. The highest bar shows that the most common age when people were diagnosed is their 70s. Followed by 60s, 80s, 50s, under 50s and the least common age being over 90s.">
            <a:extLst>
              <a:ext uri="{FF2B5EF4-FFF2-40B4-BE49-F238E27FC236}">
                <a16:creationId xmlns:a16="http://schemas.microsoft.com/office/drawing/2014/main" id="{D06D63F4-8FC1-4222-90D5-5AB3E3CE46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7797" y="1759418"/>
            <a:ext cx="2953061" cy="4295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047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Pathophysiology</a:t>
            </a:r>
          </a:p>
        </p:txBody>
      </p:sp>
      <p:sp>
        <p:nvSpPr>
          <p:cNvPr id="3" name="Content Placeholder 2"/>
          <p:cNvSpPr>
            <a:spLocks noGrp="1"/>
          </p:cNvSpPr>
          <p:nvPr>
            <p:ph idx="1"/>
          </p:nvPr>
        </p:nvSpPr>
        <p:spPr/>
        <p:txBody>
          <a:bodyPr>
            <a:normAutofit lnSpcReduction="10000"/>
          </a:bodyPr>
          <a:lstStyle/>
          <a:p>
            <a:r>
              <a:rPr dirty="0"/>
              <a:t>• Loss of dopaminergic neurons in the substantia </a:t>
            </a:r>
            <a:r>
              <a:rPr dirty="0" err="1"/>
              <a:t>nigra</a:t>
            </a:r>
            <a:r>
              <a:rPr dirty="0"/>
              <a:t> pars compacta.</a:t>
            </a:r>
          </a:p>
          <a:p>
            <a:r>
              <a:rPr dirty="0"/>
              <a:t>• ↓ Dopamine → imbalance between dopaminergic (inhibitory) and cholinergic (excitatory) activity.</a:t>
            </a:r>
          </a:p>
          <a:p>
            <a:r>
              <a:rPr dirty="0"/>
              <a:t>• Formation of Lewy bodies (α-synuclein aggregates).</a:t>
            </a:r>
          </a:p>
          <a:p>
            <a:r>
              <a:rPr dirty="0"/>
              <a:t>• Leads to disordered motor control and reduced initiation of movement.</a:t>
            </a:r>
            <a:endParaRPr lang="en-GB" dirty="0"/>
          </a:p>
          <a:p>
            <a:endParaRPr lang="en-GB" dirty="0"/>
          </a:p>
          <a:p>
            <a:endParaRPr lang="en-GB" dirty="0"/>
          </a:p>
          <a:p>
            <a:r>
              <a:rPr lang="en-GB" dirty="0">
                <a:hlinkClick r:id="rId3"/>
              </a:rPr>
              <a:t>2-Minute Neuroscience: Basal Ganglia</a:t>
            </a:r>
            <a:endParaRPr lang="en-GB" dirty="0"/>
          </a:p>
          <a:p>
            <a:r>
              <a:rPr lang="en-GB" dirty="0">
                <a:hlinkClick r:id="rId4"/>
              </a:rPr>
              <a:t>Understanding Parkinson's Disease (Including Direct and Indirect Pathways)</a:t>
            </a:r>
            <a:endParaRPr lang="en-GB" dirty="0"/>
          </a:p>
          <a:p>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Disease Progression</a:t>
            </a:r>
          </a:p>
        </p:txBody>
      </p:sp>
      <p:sp>
        <p:nvSpPr>
          <p:cNvPr id="3" name="Content Placeholder 2"/>
          <p:cNvSpPr>
            <a:spLocks noGrp="1"/>
          </p:cNvSpPr>
          <p:nvPr>
            <p:ph idx="1"/>
          </p:nvPr>
        </p:nvSpPr>
        <p:spPr>
          <a:xfrm>
            <a:off x="657224" y="2011680"/>
            <a:ext cx="10753725" cy="1417320"/>
          </a:xfrm>
        </p:spPr>
        <p:txBody>
          <a:bodyPr/>
          <a:lstStyle/>
          <a:p>
            <a:r>
              <a:rPr dirty="0"/>
              <a:t>• Insidious onset, progressing over years to decades.</a:t>
            </a:r>
          </a:p>
          <a:p>
            <a:r>
              <a:rPr dirty="0"/>
              <a:t>• Unilateral → bilateral symptoms.</a:t>
            </a:r>
          </a:p>
          <a:p>
            <a:r>
              <a:rPr dirty="0"/>
              <a:t>• Hoehn &amp; </a:t>
            </a:r>
            <a:r>
              <a:rPr dirty="0" err="1"/>
              <a:t>Yahr</a:t>
            </a:r>
            <a:r>
              <a:rPr dirty="0"/>
              <a:t> stages:</a:t>
            </a:r>
          </a:p>
        </p:txBody>
      </p:sp>
      <p:graphicFrame>
        <p:nvGraphicFramePr>
          <p:cNvPr id="4" name="Diagram 3">
            <a:extLst>
              <a:ext uri="{FF2B5EF4-FFF2-40B4-BE49-F238E27FC236}">
                <a16:creationId xmlns:a16="http://schemas.microsoft.com/office/drawing/2014/main" id="{77809EE5-8545-4FDB-8851-11C70ABE8F35}"/>
              </a:ext>
            </a:extLst>
          </p:cNvPr>
          <p:cNvGraphicFramePr/>
          <p:nvPr>
            <p:extLst>
              <p:ext uri="{D42A27DB-BD31-4B8C-83A1-F6EECF244321}">
                <p14:modId xmlns:p14="http://schemas.microsoft.com/office/powerpoint/2010/main" val="2951675009"/>
              </p:ext>
            </p:extLst>
          </p:nvPr>
        </p:nvGraphicFramePr>
        <p:xfrm>
          <a:off x="1405846" y="904269"/>
          <a:ext cx="10005103" cy="66909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6657" y="353482"/>
            <a:ext cx="10772775" cy="1658198"/>
          </a:xfrm>
        </p:spPr>
        <p:txBody>
          <a:bodyPr/>
          <a:lstStyle/>
          <a:p>
            <a:r>
              <a:rPr b="1" dirty="0"/>
              <a:t>Hallmark Clinical Features</a:t>
            </a:r>
          </a:p>
        </p:txBody>
      </p:sp>
      <p:sp>
        <p:nvSpPr>
          <p:cNvPr id="3" name="Content Placeholder 2"/>
          <p:cNvSpPr>
            <a:spLocks noGrp="1"/>
          </p:cNvSpPr>
          <p:nvPr>
            <p:ph idx="1"/>
          </p:nvPr>
        </p:nvSpPr>
        <p:spPr>
          <a:xfrm>
            <a:off x="449860" y="2222872"/>
            <a:ext cx="5419344" cy="3766185"/>
          </a:xfrm>
        </p:spPr>
        <p:txBody>
          <a:bodyPr/>
          <a:lstStyle/>
          <a:p>
            <a:r>
              <a:rPr b="1" dirty="0">
                <a:solidFill>
                  <a:srgbClr val="FF00FF"/>
                </a:solidFill>
              </a:rPr>
              <a:t>Cardinal signs:</a:t>
            </a:r>
          </a:p>
          <a:p>
            <a:r>
              <a:rPr dirty="0"/>
              <a:t>• Bradykinesia – slowness of movement</a:t>
            </a:r>
          </a:p>
          <a:p>
            <a:r>
              <a:rPr dirty="0"/>
              <a:t>• Rigidity – increased tone (lead-pipe or cogwheel)</a:t>
            </a:r>
          </a:p>
          <a:p>
            <a:r>
              <a:rPr dirty="0"/>
              <a:t>• Resting tremor – 'pill-rolling' type</a:t>
            </a:r>
          </a:p>
          <a:p>
            <a:r>
              <a:rPr dirty="0"/>
              <a:t>• Postural instability – impaired balance, increased falls risk.</a:t>
            </a:r>
            <a:endParaRPr lang="en-GB" dirty="0"/>
          </a:p>
          <a:p>
            <a:pPr>
              <a:buFont typeface="Arial" panose="020B0604020202020204" pitchFamily="34" charset="0"/>
              <a:buChar char="•"/>
            </a:pPr>
            <a:r>
              <a:rPr lang="en-GB" dirty="0"/>
              <a:t>Festination and Freezing</a:t>
            </a:r>
            <a:endParaRPr dirty="0"/>
          </a:p>
        </p:txBody>
      </p:sp>
      <p:sp>
        <p:nvSpPr>
          <p:cNvPr id="4" name="Rectangle 3">
            <a:extLst>
              <a:ext uri="{FF2B5EF4-FFF2-40B4-BE49-F238E27FC236}">
                <a16:creationId xmlns:a16="http://schemas.microsoft.com/office/drawing/2014/main" id="{2772357B-680E-42AD-8FB8-D308A40F774D}"/>
              </a:ext>
            </a:extLst>
          </p:cNvPr>
          <p:cNvSpPr/>
          <p:nvPr/>
        </p:nvSpPr>
        <p:spPr>
          <a:xfrm>
            <a:off x="6750571" y="2074638"/>
            <a:ext cx="4417102" cy="4062651"/>
          </a:xfrm>
          <a:prstGeom prst="rect">
            <a:avLst/>
          </a:prstGeom>
        </p:spPr>
        <p:txBody>
          <a:bodyPr wrap="square">
            <a:spAutoFit/>
          </a:bodyPr>
          <a:lstStyle/>
          <a:p>
            <a:r>
              <a:rPr lang="en-GB" sz="2400" b="1" dirty="0">
                <a:solidFill>
                  <a:srgbClr val="66FF33"/>
                </a:solidFill>
              </a:rPr>
              <a:t>Additional Motor Symptoms</a:t>
            </a:r>
          </a:p>
          <a:p>
            <a:endParaRPr lang="en-GB" dirty="0"/>
          </a:p>
          <a:p>
            <a:pPr marL="285750" indent="-285750">
              <a:buFont typeface="Arial" panose="020B0604020202020204" pitchFamily="34" charset="0"/>
              <a:buChar char="•"/>
            </a:pPr>
            <a:r>
              <a:rPr lang="en-GB" sz="2400" dirty="0"/>
              <a:t> Reduced arm swing, shuffling gait, freezing</a:t>
            </a:r>
          </a:p>
          <a:p>
            <a:pPr marL="285750" indent="-285750">
              <a:buFont typeface="Arial" panose="020B0604020202020204" pitchFamily="34" charset="0"/>
              <a:buChar char="•"/>
            </a:pPr>
            <a:r>
              <a:rPr lang="en-GB" sz="2400" dirty="0"/>
              <a:t>Hypomimia (masked face)</a:t>
            </a:r>
          </a:p>
          <a:p>
            <a:pPr marL="285750" indent="-285750">
              <a:buFont typeface="Arial" panose="020B0604020202020204" pitchFamily="34" charset="0"/>
              <a:buChar char="•"/>
            </a:pPr>
            <a:r>
              <a:rPr lang="en-GB" sz="2400" dirty="0"/>
              <a:t>Dysarthria, hypophonia</a:t>
            </a:r>
          </a:p>
          <a:p>
            <a:pPr marL="285750" indent="-285750">
              <a:buFont typeface="Arial" panose="020B0604020202020204" pitchFamily="34" charset="0"/>
              <a:buChar char="•"/>
            </a:pPr>
            <a:r>
              <a:rPr lang="en-GB" sz="2400" dirty="0" err="1"/>
              <a:t>Micrographia</a:t>
            </a:r>
            <a:r>
              <a:rPr lang="en-GB" sz="2400" dirty="0"/>
              <a:t> (small handwriting).</a:t>
            </a:r>
          </a:p>
          <a:p>
            <a:pPr marL="285750" indent="-285750">
              <a:buFont typeface="Arial" panose="020B0604020202020204" pitchFamily="34" charset="0"/>
              <a:buChar char="•"/>
            </a:pPr>
            <a:r>
              <a:rPr lang="en-GB" sz="2400" dirty="0"/>
              <a:t>Reduced Dexterity</a:t>
            </a:r>
          </a:p>
          <a:p>
            <a:pPr marL="285750" indent="-285750">
              <a:buFont typeface="Arial" panose="020B0604020202020204" pitchFamily="34" charset="0"/>
              <a:buChar char="•"/>
            </a:pPr>
            <a:r>
              <a:rPr lang="en-GB" sz="2400" dirty="0"/>
              <a:t>Fatigue</a:t>
            </a:r>
          </a:p>
          <a:p>
            <a:endParaRPr lang="en-GB"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6656" y="2011680"/>
            <a:ext cx="4924043" cy="4346787"/>
          </a:xfrm>
        </p:spPr>
        <p:txBody>
          <a:bodyPr/>
          <a:lstStyle/>
          <a:p>
            <a:r>
              <a:rPr dirty="0"/>
              <a:t>• Autonomic dysfunction: constipation, orthostatic hypotension</a:t>
            </a:r>
          </a:p>
          <a:p>
            <a:r>
              <a:rPr dirty="0"/>
              <a:t>• Neuropsychiatric: depression, anxiety, hallucinations</a:t>
            </a:r>
          </a:p>
          <a:p>
            <a:r>
              <a:rPr dirty="0"/>
              <a:t>• Sleep disturbance, REM sleep </a:t>
            </a:r>
            <a:r>
              <a:rPr dirty="0" err="1"/>
              <a:t>behaviour</a:t>
            </a:r>
            <a:r>
              <a:rPr dirty="0"/>
              <a:t> disorder</a:t>
            </a:r>
          </a:p>
          <a:p>
            <a:r>
              <a:rPr dirty="0"/>
              <a:t>• Cognitive decline in later stages</a:t>
            </a:r>
            <a:r>
              <a:rPr lang="en-GB" dirty="0"/>
              <a:t> (Dementia)</a:t>
            </a:r>
            <a:endParaRPr dirty="0"/>
          </a:p>
          <a:p>
            <a:r>
              <a:rPr dirty="0"/>
              <a:t>• Sensory symptoms: pain, anosmia.</a:t>
            </a:r>
          </a:p>
        </p:txBody>
      </p:sp>
      <p:pic>
        <p:nvPicPr>
          <p:cNvPr id="3074" name="Picture 2" descr="Parkinsons disease symptoms. Medical infographic with linear icons. Parkinson's disease symptoms. Mental deficiency, unstable posture, rigidity, drooling. Medical infographic with linear icons. Editable vector illustration in line style isolated on a white background parkinsons disease stock illustrations">
            <a:extLst>
              <a:ext uri="{FF2B5EF4-FFF2-40B4-BE49-F238E27FC236}">
                <a16:creationId xmlns:a16="http://schemas.microsoft.com/office/drawing/2014/main" id="{E55BEAE4-01CC-4C79-88D0-46E2FE64F1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0699" y="742950"/>
            <a:ext cx="5829300" cy="53721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b="1" dirty="0"/>
              <a:t>Non-Motor Features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“On” and “Off”</a:t>
            </a:r>
            <a:endParaRPr b="1" dirty="0"/>
          </a:p>
        </p:txBody>
      </p:sp>
      <p:pic>
        <p:nvPicPr>
          <p:cNvPr id="4100" name="Picture 4" descr="Life Before &amp; After Deep Brain Stimulation (DBS) - Davis Phinney Foundation">
            <a:extLst>
              <a:ext uri="{FF2B5EF4-FFF2-40B4-BE49-F238E27FC236}">
                <a16:creationId xmlns:a16="http://schemas.microsoft.com/office/drawing/2014/main" id="{E1278C37-729C-41FE-8EC5-A535FFDA8A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5046" y="1858781"/>
            <a:ext cx="8421907" cy="3867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93894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PD</a:t>
            </a:r>
            <a:endParaRPr b="1" dirty="0"/>
          </a:p>
        </p:txBody>
      </p:sp>
      <p:sp>
        <p:nvSpPr>
          <p:cNvPr id="3" name="Rectangle 2">
            <a:extLst>
              <a:ext uri="{FF2B5EF4-FFF2-40B4-BE49-F238E27FC236}">
                <a16:creationId xmlns:a16="http://schemas.microsoft.com/office/drawing/2014/main" id="{D53C6465-22FA-45C0-B061-C4404DDC4126}"/>
              </a:ext>
            </a:extLst>
          </p:cNvPr>
          <p:cNvSpPr/>
          <p:nvPr/>
        </p:nvSpPr>
        <p:spPr>
          <a:xfrm>
            <a:off x="657224" y="2314943"/>
            <a:ext cx="4525662" cy="369332"/>
          </a:xfrm>
          <a:prstGeom prst="rect">
            <a:avLst/>
          </a:prstGeom>
        </p:spPr>
        <p:txBody>
          <a:bodyPr wrap="none">
            <a:spAutoFit/>
          </a:bodyPr>
          <a:lstStyle/>
          <a:p>
            <a:r>
              <a:rPr lang="en-GB" dirty="0">
                <a:hlinkClick r:id="rId3"/>
              </a:rPr>
              <a:t>Parkinson's Disease Freezing &amp; Festinating Gait</a:t>
            </a:r>
            <a:endParaRPr lang="en-GB" dirty="0"/>
          </a:p>
        </p:txBody>
      </p:sp>
      <p:sp>
        <p:nvSpPr>
          <p:cNvPr id="4" name="Rectangle 3">
            <a:extLst>
              <a:ext uri="{FF2B5EF4-FFF2-40B4-BE49-F238E27FC236}">
                <a16:creationId xmlns:a16="http://schemas.microsoft.com/office/drawing/2014/main" id="{D8AB10CB-D080-4F89-B8C2-F5FEEF60D92E}"/>
              </a:ext>
            </a:extLst>
          </p:cNvPr>
          <p:cNvSpPr/>
          <p:nvPr/>
        </p:nvSpPr>
        <p:spPr>
          <a:xfrm>
            <a:off x="657224" y="3059668"/>
            <a:ext cx="4278159" cy="369332"/>
          </a:xfrm>
          <a:prstGeom prst="rect">
            <a:avLst/>
          </a:prstGeom>
        </p:spPr>
        <p:txBody>
          <a:bodyPr wrap="none">
            <a:spAutoFit/>
          </a:bodyPr>
          <a:lstStyle/>
          <a:p>
            <a:r>
              <a:rPr lang="en-GB" dirty="0">
                <a:hlinkClick r:id="rId4"/>
              </a:rPr>
              <a:t>2-Minute Neuroscience: Parkinson's Disease</a:t>
            </a:r>
            <a:endParaRPr lang="en-GB" dirty="0"/>
          </a:p>
        </p:txBody>
      </p:sp>
    </p:spTree>
    <p:extLst>
      <p:ext uri="{BB962C8B-B14F-4D97-AF65-F5344CB8AC3E}">
        <p14:creationId xmlns:p14="http://schemas.microsoft.com/office/powerpoint/2010/main" val="19941739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Red Flag</a:t>
            </a:r>
            <a:r>
              <a:rPr lang="en-GB" b="1" dirty="0"/>
              <a:t>/Urgent Referral</a:t>
            </a:r>
            <a:r>
              <a:rPr b="1" dirty="0"/>
              <a:t> Indicators</a:t>
            </a:r>
          </a:p>
        </p:txBody>
      </p:sp>
      <p:sp>
        <p:nvSpPr>
          <p:cNvPr id="3" name="Content Placeholder 2"/>
          <p:cNvSpPr>
            <a:spLocks noGrp="1"/>
          </p:cNvSpPr>
          <p:nvPr>
            <p:ph idx="1"/>
          </p:nvPr>
        </p:nvSpPr>
        <p:spPr/>
        <p:txBody>
          <a:bodyPr/>
          <a:lstStyle/>
          <a:p>
            <a:r>
              <a:rPr dirty="0"/>
              <a:t>• Rapid deterioration or collapse during 'off' episodes</a:t>
            </a:r>
          </a:p>
          <a:p>
            <a:r>
              <a:rPr dirty="0"/>
              <a:t>• Acute confusion or hallucinations</a:t>
            </a:r>
          </a:p>
          <a:p>
            <a:r>
              <a:rPr dirty="0"/>
              <a:t>• Severe orthostatic hypotension</a:t>
            </a:r>
          </a:p>
          <a:p>
            <a:r>
              <a:rPr dirty="0"/>
              <a:t>• Recurrent unexplained falls</a:t>
            </a:r>
          </a:p>
          <a:p>
            <a:r>
              <a:rPr dirty="0"/>
              <a:t>• Sudden dysphagia or aspiration</a:t>
            </a:r>
          </a:p>
          <a:p>
            <a:r>
              <a:rPr dirty="0"/>
              <a:t>• Atypical symptoms (early dementia, gaze palsy, pyramidal signs).</a:t>
            </a:r>
          </a:p>
        </p:txBody>
      </p:sp>
      <p:pic>
        <p:nvPicPr>
          <p:cNvPr id="5122" name="Picture 2" descr="Warning flat red color icon Stock ...">
            <a:extLst>
              <a:ext uri="{FF2B5EF4-FFF2-40B4-BE49-F238E27FC236}">
                <a16:creationId xmlns:a16="http://schemas.microsoft.com/office/drawing/2014/main" id="{B51AA7A1-DEC8-4579-AD64-A719136E73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21405" y="613665"/>
            <a:ext cx="1658198" cy="16581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Physiotherapy Assessment</a:t>
            </a:r>
          </a:p>
        </p:txBody>
      </p:sp>
      <p:sp>
        <p:nvSpPr>
          <p:cNvPr id="3" name="Content Placeholder 2"/>
          <p:cNvSpPr>
            <a:spLocks noGrp="1"/>
          </p:cNvSpPr>
          <p:nvPr>
            <p:ph idx="1"/>
          </p:nvPr>
        </p:nvSpPr>
        <p:spPr/>
        <p:txBody>
          <a:bodyPr/>
          <a:lstStyle/>
          <a:p>
            <a:r>
              <a:rPr lang="en-GB" b="1" dirty="0"/>
              <a:t>Prioritise: </a:t>
            </a:r>
            <a:endParaRPr b="1" dirty="0"/>
          </a:p>
          <a:p>
            <a:r>
              <a:rPr dirty="0"/>
              <a:t>• Movement initiation, gait pattern, posture</a:t>
            </a:r>
          </a:p>
          <a:p>
            <a:r>
              <a:rPr dirty="0"/>
              <a:t>• Balance, tone, ROM</a:t>
            </a:r>
          </a:p>
          <a:p>
            <a:r>
              <a:rPr dirty="0"/>
              <a:t>• Functional ability and endurance</a:t>
            </a:r>
          </a:p>
          <a:p>
            <a:r>
              <a:rPr dirty="0"/>
              <a:t>• Respiratory function</a:t>
            </a:r>
          </a:p>
          <a:p>
            <a:endParaRPr dirty="0"/>
          </a:p>
          <a:p>
            <a:r>
              <a:rPr b="1" dirty="0"/>
              <a:t>Outcome measures:</a:t>
            </a:r>
          </a:p>
          <a:p>
            <a:r>
              <a:rPr dirty="0"/>
              <a:t>UPDRS, TUG, 10MWT, Berg Balance Scale.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3DD90F7-AC87-4CFC-A876-A9BFACB5D15E}"/>
              </a:ext>
            </a:extLst>
          </p:cNvPr>
          <p:cNvSpPr/>
          <p:nvPr/>
        </p:nvSpPr>
        <p:spPr>
          <a:xfrm>
            <a:off x="212361" y="592111"/>
            <a:ext cx="3582650" cy="5786204"/>
          </a:xfrm>
          <a:prstGeom prst="round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Rounded Corners 2">
            <a:extLst>
              <a:ext uri="{FF2B5EF4-FFF2-40B4-BE49-F238E27FC236}">
                <a16:creationId xmlns:a16="http://schemas.microsoft.com/office/drawing/2014/main" id="{FCEBB211-C2E0-4D63-B667-D7F6A51B5D3C}"/>
              </a:ext>
            </a:extLst>
          </p:cNvPr>
          <p:cNvSpPr/>
          <p:nvPr/>
        </p:nvSpPr>
        <p:spPr>
          <a:xfrm>
            <a:off x="4304675" y="547141"/>
            <a:ext cx="7432624" cy="5786204"/>
          </a:xfrm>
          <a:prstGeom prst="round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988A5B35-969C-4FA5-80FF-67F1BBFDAF11}"/>
              </a:ext>
            </a:extLst>
          </p:cNvPr>
          <p:cNvSpPr txBox="1"/>
          <p:nvPr/>
        </p:nvSpPr>
        <p:spPr>
          <a:xfrm>
            <a:off x="1034321" y="776780"/>
            <a:ext cx="2408421" cy="523220"/>
          </a:xfrm>
          <a:prstGeom prst="rect">
            <a:avLst/>
          </a:prstGeom>
          <a:noFill/>
        </p:spPr>
        <p:txBody>
          <a:bodyPr wrap="square" rtlCol="0">
            <a:spAutoFit/>
          </a:bodyPr>
          <a:lstStyle/>
          <a:p>
            <a:r>
              <a:rPr lang="en-GB" sz="2800" b="1" dirty="0"/>
              <a:t>Early Stage</a:t>
            </a:r>
          </a:p>
        </p:txBody>
      </p:sp>
      <p:sp>
        <p:nvSpPr>
          <p:cNvPr id="7" name="TextBox 6">
            <a:extLst>
              <a:ext uri="{FF2B5EF4-FFF2-40B4-BE49-F238E27FC236}">
                <a16:creationId xmlns:a16="http://schemas.microsoft.com/office/drawing/2014/main" id="{B7D9FC1A-B86B-468E-913B-A0A72274F043}"/>
              </a:ext>
            </a:extLst>
          </p:cNvPr>
          <p:cNvSpPr txBox="1"/>
          <p:nvPr/>
        </p:nvSpPr>
        <p:spPr>
          <a:xfrm>
            <a:off x="6268387" y="772636"/>
            <a:ext cx="4089816" cy="523220"/>
          </a:xfrm>
          <a:prstGeom prst="rect">
            <a:avLst/>
          </a:prstGeom>
          <a:noFill/>
        </p:spPr>
        <p:txBody>
          <a:bodyPr wrap="square" rtlCol="0">
            <a:spAutoFit/>
          </a:bodyPr>
          <a:lstStyle/>
          <a:p>
            <a:r>
              <a:rPr lang="en-GB" sz="2800" b="1" dirty="0"/>
              <a:t>Mid Stage and Late Stage</a:t>
            </a:r>
          </a:p>
        </p:txBody>
      </p:sp>
      <p:sp>
        <p:nvSpPr>
          <p:cNvPr id="11" name="Rectangle 10">
            <a:extLst>
              <a:ext uri="{FF2B5EF4-FFF2-40B4-BE49-F238E27FC236}">
                <a16:creationId xmlns:a16="http://schemas.microsoft.com/office/drawing/2014/main" id="{F59C207A-5D16-4C4C-8549-CDEA8E6F6331}"/>
              </a:ext>
            </a:extLst>
          </p:cNvPr>
          <p:cNvSpPr/>
          <p:nvPr/>
        </p:nvSpPr>
        <p:spPr>
          <a:xfrm>
            <a:off x="454701" y="1438500"/>
            <a:ext cx="3127948" cy="4832092"/>
          </a:xfrm>
          <a:prstGeom prst="rect">
            <a:avLst/>
          </a:prstGeom>
        </p:spPr>
        <p:txBody>
          <a:bodyPr wrap="square">
            <a:spAutoFit/>
          </a:bodyPr>
          <a:lstStyle/>
          <a:p>
            <a:r>
              <a:rPr lang="en-GB" sz="2200" dirty="0"/>
              <a:t>Goals:</a:t>
            </a:r>
          </a:p>
          <a:p>
            <a:r>
              <a:rPr lang="en-GB" sz="2200" dirty="0"/>
              <a:t>• Maintain activity and fitness</a:t>
            </a:r>
          </a:p>
          <a:p>
            <a:r>
              <a:rPr lang="en-GB" sz="2200" dirty="0"/>
              <a:t>• Improve movement amplitude (LSVT BIG)</a:t>
            </a:r>
          </a:p>
          <a:p>
            <a:r>
              <a:rPr lang="en-GB" sz="2200" dirty="0"/>
              <a:t>• Postural re-education</a:t>
            </a:r>
          </a:p>
          <a:p>
            <a:r>
              <a:rPr lang="en-GB" sz="2200" dirty="0"/>
              <a:t>• Educate on self-management and medication timing</a:t>
            </a:r>
          </a:p>
          <a:p>
            <a:endParaRPr lang="en-GB" sz="2200" dirty="0"/>
          </a:p>
          <a:p>
            <a:r>
              <a:rPr lang="en-GB" sz="2200" dirty="0"/>
              <a:t>Interventions:</a:t>
            </a:r>
          </a:p>
          <a:p>
            <a:r>
              <a:rPr lang="en-GB" sz="2200" dirty="0"/>
              <a:t>• Stretching, strengthening, gait cueing, balance exercises.</a:t>
            </a:r>
          </a:p>
        </p:txBody>
      </p:sp>
      <p:sp>
        <p:nvSpPr>
          <p:cNvPr id="12" name="Rectangle 11">
            <a:extLst>
              <a:ext uri="{FF2B5EF4-FFF2-40B4-BE49-F238E27FC236}">
                <a16:creationId xmlns:a16="http://schemas.microsoft.com/office/drawing/2014/main" id="{26641AA8-0CB5-466D-BBEC-48FD5050DDB7}"/>
              </a:ext>
            </a:extLst>
          </p:cNvPr>
          <p:cNvSpPr/>
          <p:nvPr/>
        </p:nvSpPr>
        <p:spPr>
          <a:xfrm>
            <a:off x="4756879" y="1438500"/>
            <a:ext cx="6335842" cy="4401205"/>
          </a:xfrm>
          <a:prstGeom prst="rect">
            <a:avLst/>
          </a:prstGeom>
        </p:spPr>
        <p:txBody>
          <a:bodyPr wrap="square">
            <a:spAutoFit/>
          </a:bodyPr>
          <a:lstStyle/>
          <a:p>
            <a:r>
              <a:rPr lang="en-GB" sz="2800" dirty="0"/>
              <a:t>Goals:</a:t>
            </a:r>
          </a:p>
          <a:p>
            <a:r>
              <a:rPr lang="en-GB" sz="2800" dirty="0"/>
              <a:t>• Prevent complications</a:t>
            </a:r>
          </a:p>
          <a:p>
            <a:r>
              <a:rPr lang="en-GB" sz="2800" dirty="0"/>
              <a:t>• Maximise safety and mobility</a:t>
            </a:r>
          </a:p>
          <a:p>
            <a:r>
              <a:rPr lang="en-GB" sz="2800" dirty="0"/>
              <a:t>• Support ADLs and reduce falls risk</a:t>
            </a:r>
          </a:p>
          <a:p>
            <a:endParaRPr lang="en-GB" sz="2800" dirty="0"/>
          </a:p>
          <a:p>
            <a:r>
              <a:rPr lang="en-GB" sz="2800" dirty="0"/>
              <a:t>Approaches:</a:t>
            </a:r>
          </a:p>
          <a:p>
            <a:r>
              <a:rPr lang="en-GB" sz="2800" dirty="0"/>
              <a:t>• Functional task training, cueing strategies</a:t>
            </a:r>
          </a:p>
          <a:p>
            <a:r>
              <a:rPr lang="en-GB" sz="2800" dirty="0"/>
              <a:t>• Assistive devices, aids, equipment and home adaptation</a:t>
            </a:r>
          </a:p>
          <a:p>
            <a:r>
              <a:rPr lang="en-GB" sz="2800" dirty="0"/>
              <a:t>• Carer education and palliative support.</a:t>
            </a:r>
          </a:p>
        </p:txBody>
      </p:sp>
    </p:spTree>
    <p:extLst>
      <p:ext uri="{BB962C8B-B14F-4D97-AF65-F5344CB8AC3E}">
        <p14:creationId xmlns:p14="http://schemas.microsoft.com/office/powerpoint/2010/main" val="14397462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Physiotherapy Role in MDT</a:t>
            </a:r>
          </a:p>
        </p:txBody>
      </p:sp>
      <p:sp>
        <p:nvSpPr>
          <p:cNvPr id="3" name="Content Placeholder 2"/>
          <p:cNvSpPr>
            <a:spLocks noGrp="1"/>
          </p:cNvSpPr>
          <p:nvPr>
            <p:ph idx="1"/>
          </p:nvPr>
        </p:nvSpPr>
        <p:spPr/>
        <p:txBody>
          <a:bodyPr/>
          <a:lstStyle/>
          <a:p>
            <a:r>
              <a:rPr dirty="0"/>
              <a:t>Collaborate with:</a:t>
            </a:r>
          </a:p>
          <a:p>
            <a:r>
              <a:rPr dirty="0"/>
              <a:t>Neurologist, OT, SLT, Dietitian, Parkinson’s Nurse, Palliative team.</a:t>
            </a:r>
          </a:p>
          <a:p>
            <a:endParaRPr dirty="0"/>
          </a:p>
          <a:p>
            <a:r>
              <a:rPr dirty="0"/>
              <a:t>Physio priorities:</a:t>
            </a:r>
          </a:p>
          <a:p>
            <a:r>
              <a:rPr dirty="0"/>
              <a:t>• </a:t>
            </a:r>
            <a:r>
              <a:rPr dirty="0" err="1"/>
              <a:t>Optimise</a:t>
            </a:r>
            <a:r>
              <a:rPr dirty="0"/>
              <a:t> mobility, posture, function</a:t>
            </a:r>
          </a:p>
          <a:p>
            <a:r>
              <a:rPr dirty="0"/>
              <a:t>• Schedule therapy with 'on' medication periods</a:t>
            </a:r>
          </a:p>
          <a:p>
            <a:r>
              <a:rPr dirty="0"/>
              <a:t>• Educate and support patients and caregivers.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References</a:t>
            </a:r>
          </a:p>
        </p:txBody>
      </p:sp>
      <p:sp>
        <p:nvSpPr>
          <p:cNvPr id="3" name="Content Placeholder 2"/>
          <p:cNvSpPr>
            <a:spLocks noGrp="1"/>
          </p:cNvSpPr>
          <p:nvPr>
            <p:ph idx="1"/>
          </p:nvPr>
        </p:nvSpPr>
        <p:spPr/>
        <p:txBody>
          <a:bodyPr>
            <a:normAutofit fontScale="62500" lnSpcReduction="20000"/>
          </a:bodyPr>
          <a:lstStyle/>
          <a:p>
            <a:endParaRPr dirty="0"/>
          </a:p>
          <a:p>
            <a:pPr marL="0" indent="0">
              <a:buNone/>
            </a:pPr>
            <a:r>
              <a:rPr dirty="0"/>
              <a:t>• NICE Parkinson’s Disease in Adults (2024)</a:t>
            </a:r>
          </a:p>
          <a:p>
            <a:pPr marL="0" indent="0">
              <a:buNone/>
            </a:pPr>
            <a:r>
              <a:rPr dirty="0"/>
              <a:t>• </a:t>
            </a:r>
            <a:r>
              <a:rPr dirty="0" err="1"/>
              <a:t>Keus</a:t>
            </a:r>
            <a:r>
              <a:rPr dirty="0"/>
              <a:t> SH et al. European Physiotherapy Guidelines (2020)</a:t>
            </a:r>
          </a:p>
          <a:p>
            <a:pPr marL="0" indent="0">
              <a:buNone/>
            </a:pPr>
            <a:r>
              <a:rPr dirty="0"/>
              <a:t>• </a:t>
            </a:r>
            <a:r>
              <a:rPr dirty="0" err="1"/>
              <a:t>RCPhysiotherapy</a:t>
            </a:r>
            <a:r>
              <a:rPr dirty="0"/>
              <a:t> Guidelines (2022).</a:t>
            </a:r>
            <a:endParaRPr lang="en-GB" dirty="0"/>
          </a:p>
          <a:p>
            <a:pPr marL="0" indent="0">
              <a:buNone/>
            </a:pPr>
            <a:r>
              <a:rPr lang="en-GB" dirty="0">
                <a:hlinkClick r:id="rId2"/>
              </a:rPr>
              <a:t>Homepage | Parkinson's UK</a:t>
            </a:r>
            <a:endParaRPr lang="en-GB" dirty="0"/>
          </a:p>
          <a:p>
            <a:pPr marL="0" indent="0">
              <a:buNone/>
            </a:pPr>
            <a:r>
              <a:rPr lang="en-GB" dirty="0"/>
              <a:t>Tomlinson CL, Patel S, Meek C, Herd CP, Clarke CE, Stowe R, Shah L, </a:t>
            </a:r>
            <a:r>
              <a:rPr lang="en-GB" dirty="0" err="1"/>
              <a:t>Sackley</a:t>
            </a:r>
            <a:r>
              <a:rPr lang="en-GB" dirty="0"/>
              <a:t> C, Deane KHO, Wheatley K, Ives N. “Physiotherapy intervention in Parkinson’s disease: systematic review and meta-analysis.” BMJ. 2012;345:e5004. Ovid+2PMC+2</a:t>
            </a:r>
          </a:p>
          <a:p>
            <a:pPr marL="0" indent="0">
              <a:buNone/>
            </a:pPr>
            <a:r>
              <a:rPr lang="en-GB" dirty="0"/>
              <a:t>Song J, et al. “Effect of Physiotherapy Interventions on Motor Symptoms in People With Parkinson’s Disease: A Systematic Review and Meta-Analysis.” [Journal] (2023) — 42 RCTs, ~2,530 participants. PubMed</a:t>
            </a:r>
          </a:p>
          <a:p>
            <a:pPr marL="0" indent="0">
              <a:buNone/>
            </a:pPr>
            <a:r>
              <a:rPr lang="en-GB" dirty="0" err="1"/>
              <a:t>Mancinelli</a:t>
            </a:r>
            <a:r>
              <a:rPr lang="en-GB" dirty="0"/>
              <a:t>, et al. “The effectiveness of physiotherapy treatment on balance dysfunction and postural instability in persons with Parkinson’s disease: a systematic review and meta-analysis.” BMC Sports Science, Medicine &amp; Rehabilitation. 2016;8:34. BioMed Central</a:t>
            </a:r>
          </a:p>
          <a:p>
            <a:pPr marL="0" indent="0">
              <a:buNone/>
            </a:pPr>
            <a:r>
              <a:rPr lang="en-GB" dirty="0"/>
              <a:t>“Interventions for promoting physical activity in people with newly diagnosed Parkinson’s disease: scoping review.” Gilby J., Kent B., Lozano RK et al. Systematic Reviews. 2025;14:164</a:t>
            </a:r>
          </a:p>
          <a:p>
            <a:pPr marL="0" indent="0">
              <a:buNone/>
            </a:pPr>
            <a:endParaRPr lang="en-GB" dirty="0"/>
          </a:p>
          <a:p>
            <a:pPr marL="0" indent="0">
              <a:buNone/>
            </a:pP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4F3AD-6B61-4610-AC8A-1AA34665D3BE}"/>
              </a:ext>
            </a:extLst>
          </p:cNvPr>
          <p:cNvSpPr>
            <a:spLocks noGrp="1"/>
          </p:cNvSpPr>
          <p:nvPr>
            <p:ph type="title"/>
          </p:nvPr>
        </p:nvSpPr>
        <p:spPr>
          <a:xfrm>
            <a:off x="838200" y="2422525"/>
            <a:ext cx="10515600" cy="1325563"/>
          </a:xfrm>
        </p:spPr>
        <p:txBody>
          <a:bodyPr>
            <a:normAutofit/>
          </a:bodyPr>
          <a:lstStyle/>
          <a:p>
            <a:pPr algn="ctr"/>
            <a:r>
              <a:rPr lang="en-GB" sz="6000" b="1" dirty="0">
                <a:solidFill>
                  <a:srgbClr val="00B0F0"/>
                </a:solidFill>
              </a:rPr>
              <a:t>Cerebellar Ataxia</a:t>
            </a:r>
          </a:p>
        </p:txBody>
      </p:sp>
    </p:spTree>
    <p:extLst>
      <p:ext uri="{BB962C8B-B14F-4D97-AF65-F5344CB8AC3E}">
        <p14:creationId xmlns:p14="http://schemas.microsoft.com/office/powerpoint/2010/main" val="20173267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Overview of Cerebellar Ataxia</a:t>
            </a:r>
          </a:p>
        </p:txBody>
      </p:sp>
      <p:sp>
        <p:nvSpPr>
          <p:cNvPr id="3" name="Content Placeholder 2"/>
          <p:cNvSpPr>
            <a:spLocks noGrp="1"/>
          </p:cNvSpPr>
          <p:nvPr>
            <p:ph idx="1"/>
          </p:nvPr>
        </p:nvSpPr>
        <p:spPr>
          <a:xfrm>
            <a:off x="676657" y="2011680"/>
            <a:ext cx="3866444" cy="4359359"/>
          </a:xfrm>
        </p:spPr>
        <p:txBody>
          <a:bodyPr/>
          <a:lstStyle/>
          <a:p>
            <a:r>
              <a:rPr dirty="0"/>
              <a:t>• Ataxia = incoordination of movement due to cerebellar dysfunction.</a:t>
            </a:r>
          </a:p>
          <a:p>
            <a:r>
              <a:rPr dirty="0"/>
              <a:t>• Affects timing, accuracy, and control of movement.</a:t>
            </a:r>
          </a:p>
          <a:p>
            <a:r>
              <a:rPr dirty="0"/>
              <a:t>• Types: congenital, acquired, degenerative.</a:t>
            </a:r>
          </a:p>
          <a:p>
            <a:r>
              <a:rPr dirty="0"/>
              <a:t>• Common causes: stroke, multiple sclerosis, toxins, hereditary ataxias.</a:t>
            </a:r>
          </a:p>
        </p:txBody>
      </p:sp>
      <p:pic>
        <p:nvPicPr>
          <p:cNvPr id="4" name="Picture 3">
            <a:extLst>
              <a:ext uri="{FF2B5EF4-FFF2-40B4-BE49-F238E27FC236}">
                <a16:creationId xmlns:a16="http://schemas.microsoft.com/office/drawing/2014/main" id="{7DB28991-D24D-4CE3-9CEE-25A75CF8E0F0}"/>
              </a:ext>
            </a:extLst>
          </p:cNvPr>
          <p:cNvPicPr>
            <a:picLocks noChangeAspect="1"/>
          </p:cNvPicPr>
          <p:nvPr/>
        </p:nvPicPr>
        <p:blipFill>
          <a:blip r:embed="rId3"/>
          <a:stretch>
            <a:fillRect/>
          </a:stretch>
        </p:blipFill>
        <p:spPr>
          <a:xfrm>
            <a:off x="4543100" y="1564557"/>
            <a:ext cx="6886899" cy="4806482"/>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CA Aetiology and Epidemiology</a:t>
            </a:r>
            <a:br>
              <a:rPr lang="en-GB" b="1" dirty="0"/>
            </a:br>
            <a:endParaRPr b="1" dirty="0"/>
          </a:p>
        </p:txBody>
      </p:sp>
      <p:sp>
        <p:nvSpPr>
          <p:cNvPr id="7" name="Rectangle 6">
            <a:extLst>
              <a:ext uri="{FF2B5EF4-FFF2-40B4-BE49-F238E27FC236}">
                <a16:creationId xmlns:a16="http://schemas.microsoft.com/office/drawing/2014/main" id="{4486C734-BD0C-450B-AA12-C06C1D5BE1B8}"/>
              </a:ext>
            </a:extLst>
          </p:cNvPr>
          <p:cNvSpPr/>
          <p:nvPr/>
        </p:nvSpPr>
        <p:spPr>
          <a:xfrm>
            <a:off x="762001" y="1842938"/>
            <a:ext cx="10667998" cy="3046988"/>
          </a:xfrm>
          <a:prstGeom prst="rect">
            <a:avLst/>
          </a:prstGeom>
        </p:spPr>
        <p:txBody>
          <a:bodyPr wrap="square">
            <a:spAutoFit/>
          </a:bodyPr>
          <a:lstStyle/>
          <a:p>
            <a:r>
              <a:rPr lang="en-GB" sz="2400" dirty="0"/>
              <a:t>Cerebellar ataxia has diverse aetiologies, including genetic causes like spinocerebellar ataxias (SCAs)</a:t>
            </a:r>
            <a:r>
              <a:rPr lang="en-GB" sz="2400" dirty="0">
                <a:solidFill>
                  <a:srgbClr val="0A0A0A"/>
                </a:solidFill>
              </a:rPr>
              <a:t> and </a:t>
            </a:r>
            <a:r>
              <a:rPr lang="en-GB" sz="2400" dirty="0"/>
              <a:t>Friedreich's ataxia</a:t>
            </a:r>
            <a:r>
              <a:rPr lang="en-GB" sz="2400" dirty="0">
                <a:solidFill>
                  <a:srgbClr val="0A0A0A"/>
                </a:solidFill>
              </a:rPr>
              <a:t>, and acquired causes such as autoimmune disorders, toxins, trauma, stroke, and infections</a:t>
            </a:r>
          </a:p>
          <a:p>
            <a:endParaRPr lang="en-GB" sz="2400" dirty="0">
              <a:solidFill>
                <a:srgbClr val="0A0A0A"/>
              </a:solidFill>
            </a:endParaRPr>
          </a:p>
          <a:p>
            <a:r>
              <a:rPr lang="en-GB" sz="2400" dirty="0"/>
              <a:t>Epidemiological data shows varying prevalence rates depending on the aetiology:</a:t>
            </a:r>
          </a:p>
          <a:p>
            <a:pPr marL="342900" indent="-342900">
              <a:buFontTx/>
              <a:buChar char="-"/>
            </a:pPr>
            <a:r>
              <a:rPr lang="en-GB" sz="2400" dirty="0"/>
              <a:t>Prevalence of late-onset cerebellar ataxia (LOCA) to be 8.4 per 100,000 for sporadic idiopathic cases and 1.8 per 100,000 for inherited forms. </a:t>
            </a:r>
          </a:p>
          <a:p>
            <a:endParaRPr lang="en-GB" sz="2400" dirty="0"/>
          </a:p>
        </p:txBody>
      </p:sp>
    </p:spTree>
    <p:extLst>
      <p:ext uri="{BB962C8B-B14F-4D97-AF65-F5344CB8AC3E}">
        <p14:creationId xmlns:p14="http://schemas.microsoft.com/office/powerpoint/2010/main" val="6657135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Pathophysiology</a:t>
            </a:r>
          </a:p>
        </p:txBody>
      </p:sp>
      <p:sp>
        <p:nvSpPr>
          <p:cNvPr id="3" name="Content Placeholder 2"/>
          <p:cNvSpPr>
            <a:spLocks noGrp="1"/>
          </p:cNvSpPr>
          <p:nvPr>
            <p:ph idx="1"/>
          </p:nvPr>
        </p:nvSpPr>
        <p:spPr>
          <a:xfrm>
            <a:off x="676656" y="2011680"/>
            <a:ext cx="4345049" cy="3927470"/>
          </a:xfrm>
        </p:spPr>
        <p:txBody>
          <a:bodyPr>
            <a:normAutofit lnSpcReduction="10000"/>
          </a:bodyPr>
          <a:lstStyle/>
          <a:p>
            <a:r>
              <a:rPr dirty="0"/>
              <a:t>• Damage to Purkinje cells and cerebellar pathways disrupts timing of muscle activation.</a:t>
            </a:r>
          </a:p>
          <a:p>
            <a:r>
              <a:rPr dirty="0"/>
              <a:t>• Leads to dysmetria, dysdiadochokinesia, intention tremor.</a:t>
            </a:r>
          </a:p>
          <a:p>
            <a:r>
              <a:rPr dirty="0"/>
              <a:t>• Degenerative ataxias show neuronal loss, gliosis, and synaptic dysfunction.</a:t>
            </a:r>
          </a:p>
          <a:p>
            <a:r>
              <a:rPr dirty="0"/>
              <a:t>• Genetic forms involve protein aggregation (e.g., spinocerebellar ataxia).</a:t>
            </a:r>
          </a:p>
        </p:txBody>
      </p:sp>
      <p:pic>
        <p:nvPicPr>
          <p:cNvPr id="5" name="Picture 4">
            <a:extLst>
              <a:ext uri="{FF2B5EF4-FFF2-40B4-BE49-F238E27FC236}">
                <a16:creationId xmlns:a16="http://schemas.microsoft.com/office/drawing/2014/main" id="{287F5F7D-FD8C-4098-951A-A3BA9C8ED643}"/>
              </a:ext>
            </a:extLst>
          </p:cNvPr>
          <p:cNvPicPr>
            <a:picLocks noChangeAspect="1"/>
          </p:cNvPicPr>
          <p:nvPr/>
        </p:nvPicPr>
        <p:blipFill>
          <a:blip r:embed="rId3"/>
          <a:stretch>
            <a:fillRect/>
          </a:stretch>
        </p:blipFill>
        <p:spPr>
          <a:xfrm>
            <a:off x="5367172" y="1514307"/>
            <a:ext cx="6082259" cy="442484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Disease Progression</a:t>
            </a:r>
          </a:p>
        </p:txBody>
      </p:sp>
      <p:sp>
        <p:nvSpPr>
          <p:cNvPr id="3" name="Content Placeholder 2"/>
          <p:cNvSpPr>
            <a:spLocks noGrp="1"/>
          </p:cNvSpPr>
          <p:nvPr>
            <p:ph idx="1"/>
          </p:nvPr>
        </p:nvSpPr>
        <p:spPr/>
        <p:txBody>
          <a:bodyPr/>
          <a:lstStyle/>
          <a:p>
            <a:r>
              <a:t>• Gradual onset with progressive worsening of coordination and balance.</a:t>
            </a:r>
          </a:p>
          <a:p>
            <a:r>
              <a:t>• Rate depends on etiology – degenerative types progress slowly, acquired may stabilize.</a:t>
            </a:r>
          </a:p>
          <a:p>
            <a:r>
              <a:t>• Non-progressive forms remain stable.</a:t>
            </a:r>
          </a:p>
          <a:p>
            <a:r>
              <a:t>• Advanced stages lead to severe gait and truncal ataxia.</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Hallmark Clinical Features</a:t>
            </a:r>
          </a:p>
        </p:txBody>
      </p:sp>
      <p:sp>
        <p:nvSpPr>
          <p:cNvPr id="3" name="Content Placeholder 2"/>
          <p:cNvSpPr>
            <a:spLocks noGrp="1"/>
          </p:cNvSpPr>
          <p:nvPr>
            <p:ph idx="1"/>
          </p:nvPr>
        </p:nvSpPr>
        <p:spPr>
          <a:xfrm>
            <a:off x="676656" y="2011680"/>
            <a:ext cx="5664183" cy="3766185"/>
          </a:xfrm>
        </p:spPr>
        <p:txBody>
          <a:bodyPr>
            <a:normAutofit fontScale="92500" lnSpcReduction="20000"/>
          </a:bodyPr>
          <a:lstStyle/>
          <a:p>
            <a:r>
              <a:rPr dirty="0"/>
              <a:t>• Dysmetria – overshoot/undershoot movements.</a:t>
            </a:r>
          </a:p>
          <a:p>
            <a:r>
              <a:rPr dirty="0"/>
              <a:t>• Dysdiadochokinesia – impaired rapid alternating movements.</a:t>
            </a:r>
          </a:p>
          <a:p>
            <a:r>
              <a:rPr dirty="0"/>
              <a:t>• Intention tremor.</a:t>
            </a:r>
          </a:p>
          <a:p>
            <a:r>
              <a:rPr dirty="0"/>
              <a:t>• Gait ataxia – wide-based, staggering gait.</a:t>
            </a:r>
          </a:p>
          <a:p>
            <a:r>
              <a:rPr dirty="0"/>
              <a:t>• Hypotonia and dysarthria.</a:t>
            </a:r>
          </a:p>
          <a:p>
            <a:r>
              <a:rPr dirty="0"/>
              <a:t>• Nystagmus and poor ocular coordination.</a:t>
            </a:r>
            <a:endParaRPr lang="en-GB" dirty="0"/>
          </a:p>
          <a:p>
            <a:endParaRPr lang="en-GB" dirty="0"/>
          </a:p>
          <a:p>
            <a:r>
              <a:rPr lang="en-GB" dirty="0">
                <a:hlinkClick r:id="rId3"/>
              </a:rPr>
              <a:t>Ataxic Gait</a:t>
            </a:r>
            <a:endParaRPr dirty="0"/>
          </a:p>
        </p:txBody>
      </p:sp>
      <p:pic>
        <p:nvPicPr>
          <p:cNvPr id="6146" name="Picture 2" descr="Symptomes of ataxia | Ataxia Canada">
            <a:extLst>
              <a:ext uri="{FF2B5EF4-FFF2-40B4-BE49-F238E27FC236}">
                <a16:creationId xmlns:a16="http://schemas.microsoft.com/office/drawing/2014/main" id="{C5B7E060-0D09-46FA-9B4F-0D4738E162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5692" y="1852057"/>
            <a:ext cx="4864307" cy="4214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Motor &amp; Sensory Deficit Patterns</a:t>
            </a:r>
          </a:p>
        </p:txBody>
      </p:sp>
      <p:sp>
        <p:nvSpPr>
          <p:cNvPr id="3" name="Content Placeholder 2"/>
          <p:cNvSpPr>
            <a:spLocks noGrp="1"/>
          </p:cNvSpPr>
          <p:nvPr>
            <p:ph idx="1"/>
          </p:nvPr>
        </p:nvSpPr>
        <p:spPr/>
        <p:txBody>
          <a:bodyPr/>
          <a:lstStyle/>
          <a:p>
            <a:r>
              <a:rPr b="1" dirty="0"/>
              <a:t>Motor:</a:t>
            </a:r>
          </a:p>
          <a:p>
            <a:r>
              <a:rPr dirty="0"/>
              <a:t>• Incoordination, not weakness.</a:t>
            </a:r>
          </a:p>
          <a:p>
            <a:r>
              <a:rPr dirty="0"/>
              <a:t>• Irregular, unsteady limb and gait movements.</a:t>
            </a:r>
          </a:p>
          <a:p>
            <a:r>
              <a:rPr dirty="0"/>
              <a:t>• Poor timing and control.</a:t>
            </a:r>
          </a:p>
          <a:p>
            <a:endParaRPr b="1" dirty="0"/>
          </a:p>
          <a:p>
            <a:r>
              <a:rPr b="1" dirty="0"/>
              <a:t>Sensory:</a:t>
            </a:r>
          </a:p>
          <a:p>
            <a:r>
              <a:rPr dirty="0"/>
              <a:t>• True sensory loss rare.</a:t>
            </a:r>
          </a:p>
          <a:p>
            <a:r>
              <a:rPr dirty="0"/>
              <a:t>• If present → consider mixed pathology (sensory ataxia).</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 Flag</a:t>
            </a:r>
            <a:r>
              <a:rPr lang="en-GB" dirty="0"/>
              <a:t>/Urgent Referral</a:t>
            </a:r>
            <a:r>
              <a:rPr dirty="0"/>
              <a:t> Indicators</a:t>
            </a:r>
          </a:p>
        </p:txBody>
      </p:sp>
      <p:sp>
        <p:nvSpPr>
          <p:cNvPr id="3" name="Content Placeholder 2"/>
          <p:cNvSpPr>
            <a:spLocks noGrp="1"/>
          </p:cNvSpPr>
          <p:nvPr>
            <p:ph idx="1"/>
          </p:nvPr>
        </p:nvSpPr>
        <p:spPr/>
        <p:txBody>
          <a:bodyPr/>
          <a:lstStyle/>
          <a:p>
            <a:r>
              <a:rPr dirty="0"/>
              <a:t>• Acute/subacute onset (stroke, </a:t>
            </a:r>
            <a:r>
              <a:rPr dirty="0" err="1"/>
              <a:t>tumour</a:t>
            </a:r>
            <a:r>
              <a:rPr dirty="0"/>
              <a:t>, demyelination).</a:t>
            </a:r>
          </a:p>
          <a:p>
            <a:r>
              <a:rPr dirty="0"/>
              <a:t>• Rapid progression with other neurological signs.</a:t>
            </a:r>
          </a:p>
          <a:p>
            <a:r>
              <a:rPr dirty="0"/>
              <a:t>• Raised intracranial pressure, severe headache.</a:t>
            </a:r>
          </a:p>
          <a:p>
            <a:r>
              <a:rPr dirty="0"/>
              <a:t>• Sudden dysphagia, aspiration, or severe truncal instability.</a:t>
            </a:r>
          </a:p>
          <a:p>
            <a:r>
              <a:rPr dirty="0"/>
              <a:t>• Fever, systemic illness, or altered consciousness.</a:t>
            </a:r>
            <a:endParaRPr lang="en-GB" dirty="0"/>
          </a:p>
          <a:p>
            <a:pPr>
              <a:buFont typeface="Arial" panose="020B0604020202020204" pitchFamily="34" charset="0"/>
              <a:buChar char="•"/>
            </a:pPr>
            <a:r>
              <a:rPr lang="en-GB" dirty="0"/>
              <a:t> Recurrent Falls</a:t>
            </a:r>
          </a:p>
          <a:p>
            <a:pPr marL="0" indent="0">
              <a:buNone/>
            </a:pPr>
            <a:endParaRPr dirty="0"/>
          </a:p>
        </p:txBody>
      </p:sp>
      <p:pic>
        <p:nvPicPr>
          <p:cNvPr id="4" name="Picture 2" descr="Warning flat red color icon Stock ...">
            <a:extLst>
              <a:ext uri="{FF2B5EF4-FFF2-40B4-BE49-F238E27FC236}">
                <a16:creationId xmlns:a16="http://schemas.microsoft.com/office/drawing/2014/main" id="{EF81D869-509A-42B3-A0EC-0BE6F1A9DA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21405" y="413639"/>
            <a:ext cx="1658198" cy="16581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Physiotherapy Assessment</a:t>
            </a:r>
          </a:p>
        </p:txBody>
      </p:sp>
      <p:sp>
        <p:nvSpPr>
          <p:cNvPr id="3" name="Content Placeholder 2"/>
          <p:cNvSpPr>
            <a:spLocks noGrp="1"/>
          </p:cNvSpPr>
          <p:nvPr>
            <p:ph idx="1"/>
          </p:nvPr>
        </p:nvSpPr>
        <p:spPr/>
        <p:txBody>
          <a:bodyPr/>
          <a:lstStyle/>
          <a:p>
            <a:r>
              <a:rPr lang="en-GB" b="1" dirty="0"/>
              <a:t>Prioritise</a:t>
            </a:r>
            <a:endParaRPr b="1" dirty="0"/>
          </a:p>
          <a:p>
            <a:r>
              <a:rPr dirty="0"/>
              <a:t>• Gait and posture.</a:t>
            </a:r>
          </a:p>
          <a:p>
            <a:r>
              <a:rPr dirty="0"/>
              <a:t>• Coordination and balance (finger-nose, heel-shin, SARA, ICARS).</a:t>
            </a:r>
          </a:p>
          <a:p>
            <a:r>
              <a:rPr dirty="0"/>
              <a:t>• Functional mobility (TUG, Berg Balance Scale).</a:t>
            </a:r>
          </a:p>
          <a:p>
            <a:r>
              <a:rPr dirty="0"/>
              <a:t>• Trunk stability, falls risk.</a:t>
            </a:r>
          </a:p>
          <a:p>
            <a:r>
              <a:rPr dirty="0"/>
              <a:t>• Fatigue and endurance.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Physiotherapy Management Principles</a:t>
            </a:r>
          </a:p>
        </p:txBody>
      </p:sp>
      <p:sp>
        <p:nvSpPr>
          <p:cNvPr id="3" name="Content Placeholder 2"/>
          <p:cNvSpPr>
            <a:spLocks noGrp="1"/>
          </p:cNvSpPr>
          <p:nvPr>
            <p:ph idx="1"/>
          </p:nvPr>
        </p:nvSpPr>
        <p:spPr/>
        <p:txBody>
          <a:bodyPr/>
          <a:lstStyle/>
          <a:p>
            <a:r>
              <a:rPr dirty="0"/>
              <a:t>• Coordination and balance training </a:t>
            </a:r>
          </a:p>
          <a:p>
            <a:r>
              <a:rPr dirty="0"/>
              <a:t>• Gait re-education, cueing strategies.</a:t>
            </a:r>
          </a:p>
          <a:p>
            <a:r>
              <a:rPr dirty="0"/>
              <a:t>• Strength and flexibility exercises.</a:t>
            </a:r>
          </a:p>
          <a:p>
            <a:r>
              <a:rPr dirty="0"/>
              <a:t>• Fall prevention and environmental modifications.</a:t>
            </a:r>
          </a:p>
          <a:p>
            <a:r>
              <a:rPr dirty="0"/>
              <a:t>• Education on safety and fatigue management.</a:t>
            </a:r>
          </a:p>
        </p:txBody>
      </p:sp>
      <p:pic>
        <p:nvPicPr>
          <p:cNvPr id="4" name="Picture 3">
            <a:extLst>
              <a:ext uri="{FF2B5EF4-FFF2-40B4-BE49-F238E27FC236}">
                <a16:creationId xmlns:a16="http://schemas.microsoft.com/office/drawing/2014/main" id="{B29056ED-D82A-436B-B699-8B82CF79E130}"/>
              </a:ext>
            </a:extLst>
          </p:cNvPr>
          <p:cNvPicPr>
            <a:picLocks noChangeAspect="1"/>
          </p:cNvPicPr>
          <p:nvPr/>
        </p:nvPicPr>
        <p:blipFill>
          <a:blip r:embed="rId3"/>
          <a:stretch>
            <a:fillRect/>
          </a:stretch>
        </p:blipFill>
        <p:spPr>
          <a:xfrm>
            <a:off x="7060368" y="3894772"/>
            <a:ext cx="4111755" cy="2294933"/>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3DD90F7-AC87-4CFC-A876-A9BFACB5D15E}"/>
              </a:ext>
            </a:extLst>
          </p:cNvPr>
          <p:cNvSpPr/>
          <p:nvPr/>
        </p:nvSpPr>
        <p:spPr>
          <a:xfrm>
            <a:off x="344773" y="592111"/>
            <a:ext cx="3582650" cy="3560164"/>
          </a:xfrm>
          <a:prstGeom prst="round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Rounded Corners 2">
            <a:extLst>
              <a:ext uri="{FF2B5EF4-FFF2-40B4-BE49-F238E27FC236}">
                <a16:creationId xmlns:a16="http://schemas.microsoft.com/office/drawing/2014/main" id="{FCEBB211-C2E0-4D63-B667-D7F6A51B5D3C}"/>
              </a:ext>
            </a:extLst>
          </p:cNvPr>
          <p:cNvSpPr/>
          <p:nvPr/>
        </p:nvSpPr>
        <p:spPr>
          <a:xfrm>
            <a:off x="4304675" y="592111"/>
            <a:ext cx="3582650" cy="3560164"/>
          </a:xfrm>
          <a:prstGeom prst="round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Rounded Corners 3">
            <a:extLst>
              <a:ext uri="{FF2B5EF4-FFF2-40B4-BE49-F238E27FC236}">
                <a16:creationId xmlns:a16="http://schemas.microsoft.com/office/drawing/2014/main" id="{D7437D54-3F2F-4E2D-809A-038DC4ACC8CB}"/>
              </a:ext>
            </a:extLst>
          </p:cNvPr>
          <p:cNvSpPr/>
          <p:nvPr/>
        </p:nvSpPr>
        <p:spPr>
          <a:xfrm>
            <a:off x="8396989" y="558385"/>
            <a:ext cx="3582650" cy="3560164"/>
          </a:xfrm>
          <a:prstGeom prst="round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endParaRPr>
          </a:p>
        </p:txBody>
      </p:sp>
      <p:sp>
        <p:nvSpPr>
          <p:cNvPr id="6" name="TextBox 5">
            <a:extLst>
              <a:ext uri="{FF2B5EF4-FFF2-40B4-BE49-F238E27FC236}">
                <a16:creationId xmlns:a16="http://schemas.microsoft.com/office/drawing/2014/main" id="{988A5B35-969C-4FA5-80FF-67F1BBFDAF11}"/>
              </a:ext>
            </a:extLst>
          </p:cNvPr>
          <p:cNvSpPr txBox="1"/>
          <p:nvPr/>
        </p:nvSpPr>
        <p:spPr>
          <a:xfrm>
            <a:off x="1034321" y="776780"/>
            <a:ext cx="2408421" cy="523220"/>
          </a:xfrm>
          <a:prstGeom prst="rect">
            <a:avLst/>
          </a:prstGeom>
          <a:noFill/>
        </p:spPr>
        <p:txBody>
          <a:bodyPr wrap="square" rtlCol="0">
            <a:spAutoFit/>
          </a:bodyPr>
          <a:lstStyle/>
          <a:p>
            <a:r>
              <a:rPr lang="en-GB" sz="2800" b="1" dirty="0"/>
              <a:t>Early Stage</a:t>
            </a:r>
          </a:p>
        </p:txBody>
      </p:sp>
      <p:sp>
        <p:nvSpPr>
          <p:cNvPr id="7" name="TextBox 6">
            <a:extLst>
              <a:ext uri="{FF2B5EF4-FFF2-40B4-BE49-F238E27FC236}">
                <a16:creationId xmlns:a16="http://schemas.microsoft.com/office/drawing/2014/main" id="{B7D9FC1A-B86B-468E-913B-A0A72274F043}"/>
              </a:ext>
            </a:extLst>
          </p:cNvPr>
          <p:cNvSpPr txBox="1"/>
          <p:nvPr/>
        </p:nvSpPr>
        <p:spPr>
          <a:xfrm>
            <a:off x="5174105" y="792412"/>
            <a:ext cx="2408421" cy="523220"/>
          </a:xfrm>
          <a:prstGeom prst="rect">
            <a:avLst/>
          </a:prstGeom>
          <a:noFill/>
        </p:spPr>
        <p:txBody>
          <a:bodyPr wrap="square" rtlCol="0">
            <a:spAutoFit/>
          </a:bodyPr>
          <a:lstStyle/>
          <a:p>
            <a:r>
              <a:rPr lang="en-GB" sz="2800" b="1"/>
              <a:t>Mid Stage</a:t>
            </a:r>
            <a:endParaRPr lang="en-GB" sz="2800" b="1" dirty="0"/>
          </a:p>
        </p:txBody>
      </p:sp>
      <p:sp>
        <p:nvSpPr>
          <p:cNvPr id="10" name="TextBox 9">
            <a:extLst>
              <a:ext uri="{FF2B5EF4-FFF2-40B4-BE49-F238E27FC236}">
                <a16:creationId xmlns:a16="http://schemas.microsoft.com/office/drawing/2014/main" id="{C3C917FF-EC69-40AD-B349-4E92DBAE77E8}"/>
              </a:ext>
            </a:extLst>
          </p:cNvPr>
          <p:cNvSpPr txBox="1"/>
          <p:nvPr/>
        </p:nvSpPr>
        <p:spPr>
          <a:xfrm>
            <a:off x="9193966" y="792412"/>
            <a:ext cx="2408421" cy="523220"/>
          </a:xfrm>
          <a:prstGeom prst="rect">
            <a:avLst/>
          </a:prstGeom>
          <a:noFill/>
        </p:spPr>
        <p:txBody>
          <a:bodyPr wrap="square" rtlCol="0">
            <a:spAutoFit/>
          </a:bodyPr>
          <a:lstStyle/>
          <a:p>
            <a:r>
              <a:rPr lang="en-GB" sz="2800" b="1" dirty="0"/>
              <a:t>Late Stage</a:t>
            </a:r>
          </a:p>
        </p:txBody>
      </p:sp>
      <p:sp>
        <p:nvSpPr>
          <p:cNvPr id="11" name="Rectangle 10">
            <a:extLst>
              <a:ext uri="{FF2B5EF4-FFF2-40B4-BE49-F238E27FC236}">
                <a16:creationId xmlns:a16="http://schemas.microsoft.com/office/drawing/2014/main" id="{61290B70-39E6-42B0-83F0-A1EEEC38A4ED}"/>
              </a:ext>
            </a:extLst>
          </p:cNvPr>
          <p:cNvSpPr/>
          <p:nvPr/>
        </p:nvSpPr>
        <p:spPr>
          <a:xfrm>
            <a:off x="612098" y="1492800"/>
            <a:ext cx="3048000" cy="1938992"/>
          </a:xfrm>
          <a:prstGeom prst="rect">
            <a:avLst/>
          </a:prstGeom>
        </p:spPr>
        <p:txBody>
          <a:bodyPr wrap="square">
            <a:spAutoFit/>
          </a:bodyPr>
          <a:lstStyle/>
          <a:p>
            <a:r>
              <a:rPr lang="en-GB" sz="2400" dirty="0"/>
              <a:t>• Promote active movement and coordination.</a:t>
            </a:r>
          </a:p>
          <a:p>
            <a:r>
              <a:rPr lang="en-GB" sz="2400" dirty="0"/>
              <a:t>• Posture and balance re-education.</a:t>
            </a:r>
          </a:p>
        </p:txBody>
      </p:sp>
      <p:sp>
        <p:nvSpPr>
          <p:cNvPr id="12" name="Rectangle 11">
            <a:extLst>
              <a:ext uri="{FF2B5EF4-FFF2-40B4-BE49-F238E27FC236}">
                <a16:creationId xmlns:a16="http://schemas.microsoft.com/office/drawing/2014/main" id="{EF0E3B93-1B2E-44CF-B091-4C315F358283}"/>
              </a:ext>
            </a:extLst>
          </p:cNvPr>
          <p:cNvSpPr/>
          <p:nvPr/>
        </p:nvSpPr>
        <p:spPr>
          <a:xfrm>
            <a:off x="4572000" y="1120676"/>
            <a:ext cx="3048000" cy="2308324"/>
          </a:xfrm>
          <a:prstGeom prst="rect">
            <a:avLst/>
          </a:prstGeom>
        </p:spPr>
        <p:txBody>
          <a:bodyPr wrap="square">
            <a:spAutoFit/>
          </a:bodyPr>
          <a:lstStyle/>
          <a:p>
            <a:endParaRPr lang="en-GB" sz="2400" dirty="0"/>
          </a:p>
          <a:p>
            <a:r>
              <a:rPr lang="en-GB" sz="2400" dirty="0"/>
              <a:t>• Use of aids, orthoses, and adaptive equipment.</a:t>
            </a:r>
          </a:p>
          <a:p>
            <a:r>
              <a:rPr lang="en-GB" sz="2400" dirty="0"/>
              <a:t>• Fall prevention, task-specific training.</a:t>
            </a:r>
          </a:p>
        </p:txBody>
      </p:sp>
      <p:sp>
        <p:nvSpPr>
          <p:cNvPr id="13" name="Rectangle 12">
            <a:extLst>
              <a:ext uri="{FF2B5EF4-FFF2-40B4-BE49-F238E27FC236}">
                <a16:creationId xmlns:a16="http://schemas.microsoft.com/office/drawing/2014/main" id="{B4E8CE11-3FEE-4C08-BFA9-411822BF7C8A}"/>
              </a:ext>
            </a:extLst>
          </p:cNvPr>
          <p:cNvSpPr/>
          <p:nvPr/>
        </p:nvSpPr>
        <p:spPr>
          <a:xfrm>
            <a:off x="8669311" y="1346652"/>
            <a:ext cx="3177916" cy="1938992"/>
          </a:xfrm>
          <a:prstGeom prst="rect">
            <a:avLst/>
          </a:prstGeom>
        </p:spPr>
        <p:txBody>
          <a:bodyPr wrap="square">
            <a:spAutoFit/>
          </a:bodyPr>
          <a:lstStyle/>
          <a:p>
            <a:r>
              <a:rPr lang="en-GB" sz="2400" dirty="0"/>
              <a:t>• Positioning, passive movement, comfort care.</a:t>
            </a:r>
          </a:p>
          <a:p>
            <a:r>
              <a:rPr lang="en-GB" sz="2400" dirty="0"/>
              <a:t>• Caregiver education and transfer safety.</a:t>
            </a:r>
          </a:p>
        </p:txBody>
      </p:sp>
      <p:sp>
        <p:nvSpPr>
          <p:cNvPr id="14" name="Title 1">
            <a:extLst>
              <a:ext uri="{FF2B5EF4-FFF2-40B4-BE49-F238E27FC236}">
                <a16:creationId xmlns:a16="http://schemas.microsoft.com/office/drawing/2014/main" id="{064A5547-81F8-406F-96E1-D4FC9088771B}"/>
              </a:ext>
            </a:extLst>
          </p:cNvPr>
          <p:cNvSpPr txBox="1">
            <a:spLocks/>
          </p:cNvSpPr>
          <p:nvPr/>
        </p:nvSpPr>
        <p:spPr>
          <a:xfrm>
            <a:off x="2839425" y="4446813"/>
            <a:ext cx="7077779" cy="1658198"/>
          </a:xfrm>
          <a:prstGeom prst="rect">
            <a:avLst/>
          </a:prstGeom>
        </p:spPr>
        <p:txBody>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n-GB" b="1" dirty="0"/>
              <a:t>Stage-Based Management</a:t>
            </a:r>
          </a:p>
        </p:txBody>
      </p:sp>
    </p:spTree>
    <p:extLst>
      <p:ext uri="{BB962C8B-B14F-4D97-AF65-F5344CB8AC3E}">
        <p14:creationId xmlns:p14="http://schemas.microsoft.com/office/powerpoint/2010/main" val="26472043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Physiotherapy Role in the MDT</a:t>
            </a:r>
          </a:p>
        </p:txBody>
      </p:sp>
      <p:sp>
        <p:nvSpPr>
          <p:cNvPr id="3" name="Content Placeholder 2"/>
          <p:cNvSpPr>
            <a:spLocks noGrp="1"/>
          </p:cNvSpPr>
          <p:nvPr>
            <p:ph idx="1"/>
          </p:nvPr>
        </p:nvSpPr>
        <p:spPr/>
        <p:txBody>
          <a:bodyPr/>
          <a:lstStyle/>
          <a:p>
            <a:r>
              <a:rPr dirty="0"/>
              <a:t>Collaborate with:</a:t>
            </a:r>
          </a:p>
          <a:p>
            <a:r>
              <a:rPr dirty="0"/>
              <a:t> Neurologist, Occupational Therapist, Speech Therapist, Dietitian.</a:t>
            </a:r>
          </a:p>
          <a:p>
            <a:endParaRPr lang="en-GB" dirty="0"/>
          </a:p>
          <a:p>
            <a:r>
              <a:rPr dirty="0"/>
              <a:t>Physiotherapy priorities:</a:t>
            </a:r>
          </a:p>
          <a:p>
            <a:r>
              <a:rPr dirty="0"/>
              <a:t>– </a:t>
            </a:r>
            <a:r>
              <a:rPr dirty="0" err="1"/>
              <a:t>Optimise</a:t>
            </a:r>
            <a:r>
              <a:rPr dirty="0"/>
              <a:t> balance and function.</a:t>
            </a:r>
          </a:p>
          <a:p>
            <a:r>
              <a:rPr dirty="0"/>
              <a:t>– Maintain mobility and independence.</a:t>
            </a:r>
          </a:p>
          <a:p>
            <a:r>
              <a:rPr dirty="0"/>
              <a:t>– Educate on home exercises and fall prevention.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References</a:t>
            </a:r>
          </a:p>
        </p:txBody>
      </p:sp>
      <p:sp>
        <p:nvSpPr>
          <p:cNvPr id="3" name="Content Placeholder 2"/>
          <p:cNvSpPr>
            <a:spLocks noGrp="1"/>
          </p:cNvSpPr>
          <p:nvPr>
            <p:ph idx="1"/>
          </p:nvPr>
        </p:nvSpPr>
        <p:spPr/>
        <p:txBody>
          <a:bodyPr>
            <a:normAutofit fontScale="92500" lnSpcReduction="20000"/>
          </a:bodyPr>
          <a:lstStyle/>
          <a:p>
            <a:endParaRPr dirty="0"/>
          </a:p>
          <a:p>
            <a:r>
              <a:rPr dirty="0"/>
              <a:t>• NICE Neurological Conditions Guideline (2024).</a:t>
            </a:r>
          </a:p>
          <a:p>
            <a:r>
              <a:rPr dirty="0"/>
              <a:t>• Ataxia UK Allied Health Guidelines (2019).</a:t>
            </a:r>
          </a:p>
          <a:p>
            <a:r>
              <a:rPr dirty="0"/>
              <a:t>• Frontiers Neurology 2024; 15:1491142.</a:t>
            </a:r>
            <a:endParaRPr lang="en-GB" dirty="0"/>
          </a:p>
          <a:p>
            <a:r>
              <a:rPr lang="en-GB" dirty="0" err="1"/>
              <a:t>Ilg</a:t>
            </a:r>
            <a:r>
              <a:rPr lang="en-GB" dirty="0"/>
              <a:t> W., </a:t>
            </a:r>
            <a:r>
              <a:rPr lang="en-GB" dirty="0" err="1"/>
              <a:t>Synofzik</a:t>
            </a:r>
            <a:r>
              <a:rPr lang="en-GB" dirty="0"/>
              <a:t> M., </a:t>
            </a:r>
            <a:r>
              <a:rPr lang="en-GB" dirty="0" err="1"/>
              <a:t>Brötz</a:t>
            </a:r>
            <a:r>
              <a:rPr lang="en-GB" dirty="0"/>
              <a:t> D. et al. “Effects of physiotherapy on degenerative cerebellar ataxia: a systematic review and meta-analysis.” Frontiers in Neurology. 2024;15:1491142. Frontiers+2PMC+2</a:t>
            </a:r>
          </a:p>
          <a:p>
            <a:r>
              <a:rPr lang="en-GB" dirty="0" err="1"/>
              <a:t>Schenkman</a:t>
            </a:r>
            <a:r>
              <a:rPr lang="en-GB" dirty="0"/>
              <a:t> M., et al. “Home Training for Cerebellar Ataxias: A Randomized Clinical Trial.” JAMA Neurology.2023;80(1):e230141. JAMA Network</a:t>
            </a:r>
          </a:p>
          <a:p>
            <a:r>
              <a:rPr lang="en-GB" dirty="0"/>
              <a:t>Martin C.L., Tan D., </a:t>
            </a:r>
            <a:r>
              <a:rPr lang="en-GB" dirty="0" err="1"/>
              <a:t>Bragge</a:t>
            </a:r>
            <a:r>
              <a:rPr lang="en-GB" dirty="0"/>
              <a:t> P., </a:t>
            </a:r>
            <a:r>
              <a:rPr lang="en-GB" dirty="0" err="1"/>
              <a:t>Bialocerkowski</a:t>
            </a:r>
            <a:r>
              <a:rPr lang="en-GB" dirty="0"/>
              <a:t> A. “Effectiveness of physiotherapy for adults with cerebellar dysfunction: a systematic review.” Database of Abstracts of Reviews of Effects (DARE). 2009.</a:t>
            </a:r>
          </a:p>
          <a:p>
            <a:endParaRPr lang="en-GB" dirty="0"/>
          </a:p>
          <a:p>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4F3AD-6B61-4610-AC8A-1AA34665D3BE}"/>
              </a:ext>
            </a:extLst>
          </p:cNvPr>
          <p:cNvSpPr>
            <a:spLocks noGrp="1"/>
          </p:cNvSpPr>
          <p:nvPr>
            <p:ph type="title"/>
          </p:nvPr>
        </p:nvSpPr>
        <p:spPr>
          <a:xfrm>
            <a:off x="838200" y="2422525"/>
            <a:ext cx="10515600" cy="1325563"/>
          </a:xfrm>
        </p:spPr>
        <p:txBody>
          <a:bodyPr>
            <a:normAutofit/>
          </a:bodyPr>
          <a:lstStyle/>
          <a:p>
            <a:pPr algn="ctr"/>
            <a:r>
              <a:rPr lang="en-GB" sz="6000" b="1" dirty="0">
                <a:solidFill>
                  <a:srgbClr val="0070C0"/>
                </a:solidFill>
              </a:rPr>
              <a:t>Hyperkinetic Disorders</a:t>
            </a:r>
          </a:p>
        </p:txBody>
      </p:sp>
    </p:spTree>
    <p:extLst>
      <p:ext uri="{BB962C8B-B14F-4D97-AF65-F5344CB8AC3E}">
        <p14:creationId xmlns:p14="http://schemas.microsoft.com/office/powerpoint/2010/main" val="21338095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What Are Hyperkinetic Disorders?</a:t>
            </a:r>
          </a:p>
        </p:txBody>
      </p:sp>
      <p:sp>
        <p:nvSpPr>
          <p:cNvPr id="3" name="Content Placeholder 2"/>
          <p:cNvSpPr>
            <a:spLocks noGrp="1"/>
          </p:cNvSpPr>
          <p:nvPr>
            <p:ph idx="1"/>
          </p:nvPr>
        </p:nvSpPr>
        <p:spPr>
          <a:xfrm>
            <a:off x="676656" y="2011680"/>
            <a:ext cx="4884695" cy="3766185"/>
          </a:xfrm>
        </p:spPr>
        <p:txBody>
          <a:bodyPr>
            <a:normAutofit lnSpcReduction="10000"/>
          </a:bodyPr>
          <a:lstStyle/>
          <a:p>
            <a:endParaRPr dirty="0"/>
          </a:p>
          <a:p>
            <a:r>
              <a:rPr dirty="0"/>
              <a:t>Group of movement disorders </a:t>
            </a:r>
            <a:r>
              <a:rPr dirty="0" err="1"/>
              <a:t>characterised</a:t>
            </a:r>
            <a:r>
              <a:rPr dirty="0"/>
              <a:t> by excessive, involuntary movements</a:t>
            </a:r>
          </a:p>
          <a:p>
            <a:r>
              <a:rPr dirty="0"/>
              <a:t>Result from basal ganglia dysfunction and altered neurotransmitter regulation (mainly dopamine, GABA, glutamate)</a:t>
            </a:r>
          </a:p>
          <a:p>
            <a:r>
              <a:rPr dirty="0"/>
              <a:t>Examples: Huntington’s disease, Dystonia, Chorea, Tremor, Tics/Tourette’s syndrome</a:t>
            </a:r>
          </a:p>
        </p:txBody>
      </p:sp>
      <p:grpSp>
        <p:nvGrpSpPr>
          <p:cNvPr id="6" name="Group 5">
            <a:extLst>
              <a:ext uri="{FF2B5EF4-FFF2-40B4-BE49-F238E27FC236}">
                <a16:creationId xmlns:a16="http://schemas.microsoft.com/office/drawing/2014/main" id="{10C2CD6B-F3B7-40CE-B0DC-94C40936A314}"/>
              </a:ext>
            </a:extLst>
          </p:cNvPr>
          <p:cNvGrpSpPr/>
          <p:nvPr/>
        </p:nvGrpSpPr>
        <p:grpSpPr>
          <a:xfrm>
            <a:off x="6043611" y="1768839"/>
            <a:ext cx="5632553" cy="4784500"/>
            <a:chOff x="2667000" y="0"/>
            <a:chExt cx="6858000" cy="6160957"/>
          </a:xfrm>
        </p:grpSpPr>
        <p:pic>
          <p:nvPicPr>
            <p:cNvPr id="4" name="Picture 3">
              <a:extLst>
                <a:ext uri="{FF2B5EF4-FFF2-40B4-BE49-F238E27FC236}">
                  <a16:creationId xmlns:a16="http://schemas.microsoft.com/office/drawing/2014/main" id="{093F33DC-B2DA-4A48-8654-1AFDCBA79F3B}"/>
                </a:ext>
              </a:extLst>
            </p:cNvPr>
            <p:cNvPicPr>
              <a:picLocks noChangeAspect="1"/>
            </p:cNvPicPr>
            <p:nvPr/>
          </p:nvPicPr>
          <p:blipFill rotWithShape="1">
            <a:blip r:embed="rId3"/>
            <a:srcRect b="10164"/>
            <a:stretch/>
          </p:blipFill>
          <p:spPr>
            <a:xfrm>
              <a:off x="2667000" y="0"/>
              <a:ext cx="6858000" cy="6160957"/>
            </a:xfrm>
            <a:prstGeom prst="rect">
              <a:avLst/>
            </a:prstGeom>
          </p:spPr>
        </p:pic>
        <p:sp>
          <p:nvSpPr>
            <p:cNvPr id="5" name="Rectangle 4">
              <a:extLst>
                <a:ext uri="{FF2B5EF4-FFF2-40B4-BE49-F238E27FC236}">
                  <a16:creationId xmlns:a16="http://schemas.microsoft.com/office/drawing/2014/main" id="{F14D4006-5A23-47FD-8B18-02845C2C216D}"/>
                </a:ext>
              </a:extLst>
            </p:cNvPr>
            <p:cNvSpPr/>
            <p:nvPr/>
          </p:nvSpPr>
          <p:spPr>
            <a:xfrm>
              <a:off x="2863121" y="119921"/>
              <a:ext cx="1064302" cy="734518"/>
            </a:xfrm>
            <a:prstGeom prst="rect">
              <a:avLst/>
            </a:prstGeom>
            <a:solidFill>
              <a:srgbClr val="F0F5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Basal Ganglia Pathophysiology</a:t>
            </a:r>
          </a:p>
        </p:txBody>
      </p:sp>
      <p:sp>
        <p:nvSpPr>
          <p:cNvPr id="3" name="Content Placeholder 2"/>
          <p:cNvSpPr>
            <a:spLocks noGrp="1"/>
          </p:cNvSpPr>
          <p:nvPr>
            <p:ph idx="1"/>
          </p:nvPr>
        </p:nvSpPr>
        <p:spPr/>
        <p:txBody>
          <a:bodyPr/>
          <a:lstStyle/>
          <a:p>
            <a:endParaRPr dirty="0"/>
          </a:p>
          <a:p>
            <a:r>
              <a:rPr dirty="0"/>
              <a:t>Normal function: modulates motor cortex via direct (excitatory) and indirect (inhibitory) pathways</a:t>
            </a:r>
          </a:p>
          <a:p>
            <a:r>
              <a:rPr dirty="0"/>
              <a:t>Hyperkinetic Disorders: overactivity of direct or underactivity of indirect pathway</a:t>
            </a:r>
          </a:p>
          <a:p>
            <a:r>
              <a:rPr dirty="0"/>
              <a:t>Leads to reduced inhibition of thalamocortical neurons → excessive movement</a:t>
            </a:r>
          </a:p>
          <a:p>
            <a:r>
              <a:rPr dirty="0"/>
              <a:t>Often involves dopaminergic overactivity</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Huntington’s Disease (HD)</a:t>
            </a:r>
          </a:p>
        </p:txBody>
      </p:sp>
      <p:sp>
        <p:nvSpPr>
          <p:cNvPr id="3" name="Content Placeholder 2"/>
          <p:cNvSpPr>
            <a:spLocks noGrp="1"/>
          </p:cNvSpPr>
          <p:nvPr>
            <p:ph idx="1"/>
          </p:nvPr>
        </p:nvSpPr>
        <p:spPr>
          <a:xfrm>
            <a:off x="676657" y="2011680"/>
            <a:ext cx="5004616" cy="3766185"/>
          </a:xfrm>
        </p:spPr>
        <p:txBody>
          <a:bodyPr>
            <a:normAutofit fontScale="85000" lnSpcReduction="20000"/>
          </a:bodyPr>
          <a:lstStyle/>
          <a:p>
            <a:endParaRPr dirty="0"/>
          </a:p>
          <a:p>
            <a:r>
              <a:rPr dirty="0"/>
              <a:t>Genetic (autosomal dominant CAG repeat expansion on chromosome 4)</a:t>
            </a:r>
          </a:p>
          <a:p>
            <a:r>
              <a:rPr dirty="0"/>
              <a:t>Pathophysiology: degeneration of GABAergic neurons in striatum → disinhibition of thalamus → chorea</a:t>
            </a:r>
          </a:p>
          <a:p>
            <a:r>
              <a:rPr dirty="0"/>
              <a:t>Progression: motor → cognitive → psychiatric symptoms</a:t>
            </a:r>
          </a:p>
          <a:p>
            <a:r>
              <a:rPr dirty="0"/>
              <a:t>Clinical features: chorea, dysarthria, dysphagia, gait instability, </a:t>
            </a:r>
            <a:r>
              <a:rPr dirty="0" err="1"/>
              <a:t>behavioural</a:t>
            </a:r>
            <a:r>
              <a:rPr dirty="0"/>
              <a:t> changes, dementia</a:t>
            </a:r>
            <a:endParaRPr lang="en-GB" dirty="0"/>
          </a:p>
          <a:p>
            <a:endParaRPr lang="en-GB" dirty="0"/>
          </a:p>
          <a:p>
            <a:r>
              <a:rPr lang="en-GB" dirty="0">
                <a:hlinkClick r:id="rId3"/>
              </a:rPr>
              <a:t>2-Minute Neuroscience: Huntington's disease</a:t>
            </a:r>
            <a:endParaRPr dirty="0"/>
          </a:p>
        </p:txBody>
      </p:sp>
      <p:pic>
        <p:nvPicPr>
          <p:cNvPr id="4" name="Picture 3">
            <a:extLst>
              <a:ext uri="{FF2B5EF4-FFF2-40B4-BE49-F238E27FC236}">
                <a16:creationId xmlns:a16="http://schemas.microsoft.com/office/drawing/2014/main" id="{2D26C752-3073-4379-8C97-6C7EDEE66477}"/>
              </a:ext>
            </a:extLst>
          </p:cNvPr>
          <p:cNvPicPr>
            <a:picLocks noChangeAspect="1"/>
          </p:cNvPicPr>
          <p:nvPr/>
        </p:nvPicPr>
        <p:blipFill>
          <a:blip r:embed="rId4"/>
          <a:stretch>
            <a:fillRect/>
          </a:stretch>
        </p:blipFill>
        <p:spPr>
          <a:xfrm>
            <a:off x="6150078" y="2011680"/>
            <a:ext cx="5436189" cy="3044266"/>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Dystonia</a:t>
            </a:r>
          </a:p>
        </p:txBody>
      </p:sp>
      <p:sp>
        <p:nvSpPr>
          <p:cNvPr id="3" name="Content Placeholder 2"/>
          <p:cNvSpPr>
            <a:spLocks noGrp="1"/>
          </p:cNvSpPr>
          <p:nvPr>
            <p:ph idx="1"/>
          </p:nvPr>
        </p:nvSpPr>
        <p:spPr/>
        <p:txBody>
          <a:bodyPr/>
          <a:lstStyle/>
          <a:p>
            <a:pPr marL="0" indent="0">
              <a:buNone/>
            </a:pPr>
            <a:r>
              <a:rPr lang="en-GB" dirty="0"/>
              <a:t> </a:t>
            </a:r>
            <a:r>
              <a:rPr dirty="0"/>
              <a:t>Sustained or intermittent muscle contractions causing twisting or abnormal postures</a:t>
            </a:r>
          </a:p>
          <a:p>
            <a:r>
              <a:rPr dirty="0"/>
              <a:t>Pathophysiology: disordered sensorimotor integration and basal ganglia output</a:t>
            </a:r>
          </a:p>
          <a:p>
            <a:r>
              <a:rPr dirty="0"/>
              <a:t>Can be focal (torticollis, writer’s cramp) or </a:t>
            </a:r>
            <a:r>
              <a:rPr dirty="0" err="1"/>
              <a:t>generalised</a:t>
            </a:r>
            <a:endParaRPr dirty="0"/>
          </a:p>
          <a:p>
            <a:r>
              <a:rPr dirty="0"/>
              <a:t>Clinical features: repetitive patterned movements, overflow activity, worsens with stress/fatigue</a:t>
            </a:r>
          </a:p>
        </p:txBody>
      </p:sp>
      <p:pic>
        <p:nvPicPr>
          <p:cNvPr id="1026" name="Picture 2" descr="Dystonia - DIANN SHADDOX FOUNDATION for ...">
            <a:extLst>
              <a:ext uri="{FF2B5EF4-FFF2-40B4-BE49-F238E27FC236}">
                <a16:creationId xmlns:a16="http://schemas.microsoft.com/office/drawing/2014/main" id="{EDE2964B-52E3-4D85-9D44-583140EAB5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3280" y="3969947"/>
            <a:ext cx="3990502" cy="273886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ig 1">
            <a:extLst>
              <a:ext uri="{FF2B5EF4-FFF2-40B4-BE49-F238E27FC236}">
                <a16:creationId xmlns:a16="http://schemas.microsoft.com/office/drawing/2014/main" id="{D021559B-1607-49DD-BA3D-AA7017410E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1749" y="0"/>
            <a:ext cx="377825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ppt_x"/>
                                          </p:val>
                                        </p:tav>
                                        <p:tav tm="100000">
                                          <p:val>
                                            <p:strVal val="#ppt_x"/>
                                          </p:val>
                                        </p:tav>
                                      </p:tavLst>
                                    </p:anim>
                                    <p:anim calcmode="lin" valueType="num">
                                      <p:cBhvr additive="base">
                                        <p:cTn id="8"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Chorea and Athetosis</a:t>
            </a:r>
          </a:p>
        </p:txBody>
      </p:sp>
      <p:sp>
        <p:nvSpPr>
          <p:cNvPr id="3" name="Content Placeholder 2"/>
          <p:cNvSpPr>
            <a:spLocks noGrp="1"/>
          </p:cNvSpPr>
          <p:nvPr>
            <p:ph idx="1"/>
          </p:nvPr>
        </p:nvSpPr>
        <p:spPr>
          <a:xfrm>
            <a:off x="558260" y="1468287"/>
            <a:ext cx="10970701" cy="1960713"/>
          </a:xfrm>
        </p:spPr>
        <p:txBody>
          <a:bodyPr>
            <a:normAutofit fontScale="92500" lnSpcReduction="20000"/>
          </a:bodyPr>
          <a:lstStyle/>
          <a:p>
            <a:endParaRPr dirty="0"/>
          </a:p>
          <a:p>
            <a:r>
              <a:rPr dirty="0"/>
              <a:t>Chorea: rapid, irregular, unpredictable movements</a:t>
            </a:r>
          </a:p>
          <a:p>
            <a:r>
              <a:rPr dirty="0"/>
              <a:t>Athetosis: slow, writhing movements (often distal limbs)</a:t>
            </a:r>
          </a:p>
          <a:p>
            <a:r>
              <a:rPr dirty="0"/>
              <a:t>Seen in Huntington’s, Sydenham’s chorea, or metabolic causes</a:t>
            </a:r>
          </a:p>
          <a:p>
            <a:r>
              <a:rPr dirty="0"/>
              <a:t>Sensory function often preserved; motor control and coordination impaired</a:t>
            </a:r>
          </a:p>
        </p:txBody>
      </p:sp>
      <p:pic>
        <p:nvPicPr>
          <p:cNvPr id="5" name="Picture 4">
            <a:extLst>
              <a:ext uri="{FF2B5EF4-FFF2-40B4-BE49-F238E27FC236}">
                <a16:creationId xmlns:a16="http://schemas.microsoft.com/office/drawing/2014/main" id="{E0027F4A-BB60-4238-9FF7-C7AE99DB8B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224" y="3520797"/>
            <a:ext cx="8321512" cy="2837670"/>
          </a:xfrm>
          <a:prstGeom prst="rect">
            <a:avLst/>
          </a:prstGeom>
        </p:spPr>
      </p:pic>
      <p:sp>
        <p:nvSpPr>
          <p:cNvPr id="6" name="Rectangle 5">
            <a:extLst>
              <a:ext uri="{FF2B5EF4-FFF2-40B4-BE49-F238E27FC236}">
                <a16:creationId xmlns:a16="http://schemas.microsoft.com/office/drawing/2014/main" id="{5FB6FA8B-1188-4929-8ED7-41255EAD7C69}"/>
              </a:ext>
            </a:extLst>
          </p:cNvPr>
          <p:cNvSpPr/>
          <p:nvPr/>
        </p:nvSpPr>
        <p:spPr>
          <a:xfrm>
            <a:off x="10581882" y="314867"/>
            <a:ext cx="848117" cy="369332"/>
          </a:xfrm>
          <a:prstGeom prst="rect">
            <a:avLst/>
          </a:prstGeom>
        </p:spPr>
        <p:txBody>
          <a:bodyPr wrap="none">
            <a:spAutoFit/>
          </a:bodyPr>
          <a:lstStyle/>
          <a:p>
            <a:r>
              <a:rPr lang="en-GB" dirty="0">
                <a:hlinkClick r:id="rId4"/>
              </a:rPr>
              <a:t>Chorea</a:t>
            </a:r>
            <a:endParaRPr lang="en-GB"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Tremor and Tics</a:t>
            </a:r>
          </a:p>
        </p:txBody>
      </p:sp>
      <p:sp>
        <p:nvSpPr>
          <p:cNvPr id="3" name="Content Placeholder 2"/>
          <p:cNvSpPr>
            <a:spLocks noGrp="1"/>
          </p:cNvSpPr>
          <p:nvPr>
            <p:ph idx="1"/>
          </p:nvPr>
        </p:nvSpPr>
        <p:spPr>
          <a:xfrm>
            <a:off x="7253289" y="821478"/>
            <a:ext cx="4419600" cy="5215043"/>
          </a:xfrm>
        </p:spPr>
        <p:txBody>
          <a:bodyPr/>
          <a:lstStyle/>
          <a:p>
            <a:endParaRPr dirty="0"/>
          </a:p>
          <a:p>
            <a:r>
              <a:rPr dirty="0"/>
              <a:t>Tremor: rhythmic oscillatory movement (e.g., essential tremor – action-related, improves with rest/alcohol)</a:t>
            </a:r>
          </a:p>
          <a:p>
            <a:r>
              <a:rPr dirty="0"/>
              <a:t>Tics: sudden, brief, repetitive movements or </a:t>
            </a:r>
            <a:r>
              <a:rPr dirty="0" err="1"/>
              <a:t>vocalisations</a:t>
            </a:r>
            <a:r>
              <a:rPr dirty="0"/>
              <a:t> (e.g., Tourette’s)</a:t>
            </a:r>
          </a:p>
          <a:p>
            <a:r>
              <a:rPr dirty="0"/>
              <a:t>Tics are temporarily suppressible and often preceded by a premonitory urge</a:t>
            </a:r>
          </a:p>
        </p:txBody>
      </p:sp>
      <p:pic>
        <p:nvPicPr>
          <p:cNvPr id="2050" name="Picture 2" descr="Examples of tics and tic disorders include, simple and complex tics, like blinking, grimacing, barking, swearing">
            <a:extLst>
              <a:ext uri="{FF2B5EF4-FFF2-40B4-BE49-F238E27FC236}">
                <a16:creationId xmlns:a16="http://schemas.microsoft.com/office/drawing/2014/main" id="{FDA953B5-5599-4F5D-AA8E-4B4E79E2B97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7322"/>
          <a:stretch/>
        </p:blipFill>
        <p:spPr bwMode="auto">
          <a:xfrm>
            <a:off x="657224" y="1760144"/>
            <a:ext cx="3152220" cy="444725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Examples of tics and tic disorders include, simple and complex tics, like blinking, grimacing, barking, swearing">
            <a:extLst>
              <a:ext uri="{FF2B5EF4-FFF2-40B4-BE49-F238E27FC236}">
                <a16:creationId xmlns:a16="http://schemas.microsoft.com/office/drawing/2014/main" id="{9B490E71-3B85-4F61-8148-654181A02CC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4005" r="4080" b="5132"/>
          <a:stretch/>
        </p:blipFill>
        <p:spPr bwMode="auto">
          <a:xfrm>
            <a:off x="3955256" y="1760144"/>
            <a:ext cx="3152220" cy="35965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Common Motor and Sensory Deficit Patterns</a:t>
            </a:r>
          </a:p>
        </p:txBody>
      </p:sp>
      <p:sp>
        <p:nvSpPr>
          <p:cNvPr id="3" name="Content Placeholder 2"/>
          <p:cNvSpPr>
            <a:spLocks noGrp="1"/>
          </p:cNvSpPr>
          <p:nvPr>
            <p:ph idx="1"/>
          </p:nvPr>
        </p:nvSpPr>
        <p:spPr/>
        <p:txBody>
          <a:bodyPr/>
          <a:lstStyle/>
          <a:p>
            <a:endParaRPr dirty="0"/>
          </a:p>
          <a:p>
            <a:r>
              <a:rPr b="1" dirty="0"/>
              <a:t>Huntington’s: </a:t>
            </a:r>
            <a:r>
              <a:rPr dirty="0"/>
              <a:t>chorea, balance loss, minimal sensory deficit, cognitive decline</a:t>
            </a:r>
          </a:p>
          <a:p>
            <a:r>
              <a:rPr b="1" dirty="0"/>
              <a:t>Dystonia: </a:t>
            </a:r>
            <a:r>
              <a:rPr dirty="0"/>
              <a:t>sustained contractions, task-specific, no sensory loss</a:t>
            </a:r>
          </a:p>
          <a:p>
            <a:r>
              <a:rPr b="1" dirty="0"/>
              <a:t>Tremor: </a:t>
            </a:r>
            <a:r>
              <a:rPr dirty="0"/>
              <a:t>rhythmic oscillation, no sensory deficit, impairs fine motor function</a:t>
            </a:r>
          </a:p>
          <a:p>
            <a:r>
              <a:rPr b="1" dirty="0"/>
              <a:t>Tics: </a:t>
            </a:r>
            <a:r>
              <a:rPr dirty="0"/>
              <a:t>sudden, brief, stereotyped movements, no sensory deficit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Red Flags and Urgent Referral</a:t>
            </a:r>
          </a:p>
        </p:txBody>
      </p:sp>
      <p:sp>
        <p:nvSpPr>
          <p:cNvPr id="3" name="Content Placeholder 2"/>
          <p:cNvSpPr>
            <a:spLocks noGrp="1"/>
          </p:cNvSpPr>
          <p:nvPr>
            <p:ph idx="1"/>
          </p:nvPr>
        </p:nvSpPr>
        <p:spPr/>
        <p:txBody>
          <a:bodyPr/>
          <a:lstStyle/>
          <a:p>
            <a:endParaRPr dirty="0"/>
          </a:p>
          <a:p>
            <a:r>
              <a:rPr dirty="0"/>
              <a:t>Acute or rapidly progressive chorea/dystonia</a:t>
            </a:r>
          </a:p>
          <a:p>
            <a:r>
              <a:rPr dirty="0"/>
              <a:t>New-onset movement disorder with systemic symptoms (fever, confusion)</a:t>
            </a:r>
          </a:p>
          <a:p>
            <a:r>
              <a:rPr dirty="0"/>
              <a:t>Medication-induced reactions (e.g., tardive dyskinesia, neuroleptic malignant syndrome)</a:t>
            </a:r>
          </a:p>
          <a:p>
            <a:r>
              <a:rPr dirty="0"/>
              <a:t>Sudden gait or balance deterioration</a:t>
            </a:r>
          </a:p>
          <a:p>
            <a:r>
              <a:rPr dirty="0"/>
              <a:t>Associated cognitive or psychiatric symptoms requiring urgent review</a:t>
            </a:r>
          </a:p>
        </p:txBody>
      </p:sp>
      <p:pic>
        <p:nvPicPr>
          <p:cNvPr id="4" name="Picture 2" descr="Warning flat red color icon Stock ...">
            <a:extLst>
              <a:ext uri="{FF2B5EF4-FFF2-40B4-BE49-F238E27FC236}">
                <a16:creationId xmlns:a16="http://schemas.microsoft.com/office/drawing/2014/main" id="{370C9607-F4A6-49C2-931D-808A7026EB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2767" y="426508"/>
            <a:ext cx="1658198" cy="16581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Physiotherapy Assessment</a:t>
            </a:r>
          </a:p>
        </p:txBody>
      </p:sp>
      <p:sp>
        <p:nvSpPr>
          <p:cNvPr id="3" name="Content Placeholder 2"/>
          <p:cNvSpPr>
            <a:spLocks noGrp="1"/>
          </p:cNvSpPr>
          <p:nvPr>
            <p:ph idx="1"/>
          </p:nvPr>
        </p:nvSpPr>
        <p:spPr/>
        <p:txBody>
          <a:bodyPr/>
          <a:lstStyle/>
          <a:p>
            <a:endParaRPr dirty="0"/>
          </a:p>
          <a:p>
            <a:r>
              <a:rPr lang="en-GB" b="1" dirty="0"/>
              <a:t>Prioritise:</a:t>
            </a:r>
          </a:p>
          <a:p>
            <a:r>
              <a:rPr lang="en-GB" dirty="0"/>
              <a:t>Comprehensive movement analysis: type, distribution, frequency of involuntary </a:t>
            </a:r>
            <a:r>
              <a:rPr dirty="0"/>
              <a:t>movements</a:t>
            </a:r>
          </a:p>
          <a:p>
            <a:r>
              <a:rPr dirty="0"/>
              <a:t>Assess posture, balance, gait, and coordination</a:t>
            </a:r>
          </a:p>
          <a:p>
            <a:r>
              <a:rPr dirty="0"/>
              <a:t>Functional assessment: transfers, mobility, ADLs</a:t>
            </a:r>
          </a:p>
          <a:p>
            <a:r>
              <a:rPr dirty="0"/>
              <a:t>Outcome measures: UHDRS, Berg Balance Scale, Timed Up &amp; Go</a:t>
            </a:r>
            <a:r>
              <a:rPr lang="en-GB" dirty="0"/>
              <a:t>, ROM</a:t>
            </a:r>
            <a:endParaRPr dirty="0"/>
          </a:p>
          <a:p>
            <a:r>
              <a:rPr dirty="0"/>
              <a:t>Screen for fatigue and falls risk</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Physiotherapy Management Strategies</a:t>
            </a:r>
          </a:p>
        </p:txBody>
      </p:sp>
      <p:sp>
        <p:nvSpPr>
          <p:cNvPr id="3" name="Content Placeholder 2"/>
          <p:cNvSpPr>
            <a:spLocks noGrp="1"/>
          </p:cNvSpPr>
          <p:nvPr>
            <p:ph idx="1"/>
          </p:nvPr>
        </p:nvSpPr>
        <p:spPr/>
        <p:txBody>
          <a:bodyPr/>
          <a:lstStyle/>
          <a:p>
            <a:endParaRPr dirty="0"/>
          </a:p>
          <a:p>
            <a:r>
              <a:rPr lang="en-GB" b="1" dirty="0"/>
              <a:t>I</a:t>
            </a:r>
            <a:r>
              <a:rPr b="1" dirty="0" err="1"/>
              <a:t>mprove</a:t>
            </a:r>
            <a:r>
              <a:rPr b="1" dirty="0"/>
              <a:t> function, reduce complications, promote independence</a:t>
            </a:r>
            <a:r>
              <a:rPr lang="en-GB" b="1" dirty="0"/>
              <a:t> </a:t>
            </a:r>
            <a:r>
              <a:rPr lang="en-GB" dirty="0"/>
              <a:t>through:</a:t>
            </a:r>
            <a:endParaRPr dirty="0"/>
          </a:p>
          <a:p>
            <a:pPr>
              <a:buFont typeface="Arial" panose="020B0604020202020204" pitchFamily="34" charset="0"/>
              <a:buChar char="•"/>
            </a:pPr>
            <a:r>
              <a:rPr dirty="0"/>
              <a:t>Task-specific motor training and postural re-education</a:t>
            </a:r>
            <a:endParaRPr lang="en-GB" dirty="0"/>
          </a:p>
          <a:p>
            <a:pPr>
              <a:buFont typeface="Arial" panose="020B0604020202020204" pitchFamily="34" charset="0"/>
              <a:buChar char="•"/>
            </a:pPr>
            <a:r>
              <a:rPr lang="en-GB" dirty="0"/>
              <a:t>ROM and stretching exercises</a:t>
            </a:r>
            <a:endParaRPr dirty="0"/>
          </a:p>
          <a:p>
            <a:pPr>
              <a:buFont typeface="Arial" panose="020B0604020202020204" pitchFamily="34" charset="0"/>
              <a:buChar char="•"/>
            </a:pPr>
            <a:r>
              <a:rPr dirty="0"/>
              <a:t>Relaxation and breathing control techniques</a:t>
            </a:r>
          </a:p>
          <a:p>
            <a:pPr>
              <a:buFont typeface="Arial" panose="020B0604020202020204" pitchFamily="34" charset="0"/>
              <a:buChar char="•"/>
            </a:pPr>
            <a:r>
              <a:rPr dirty="0"/>
              <a:t>Gait and balance training, energy conservation strategies</a:t>
            </a:r>
          </a:p>
          <a:p>
            <a:pPr>
              <a:buFont typeface="Arial" panose="020B0604020202020204" pitchFamily="34" charset="0"/>
              <a:buChar char="•"/>
            </a:pPr>
            <a:r>
              <a:rPr lang="en-GB" dirty="0"/>
              <a:t>Patient/carer </a:t>
            </a:r>
            <a:r>
              <a:rPr dirty="0"/>
              <a:t>education and environmental modification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Multidisciplinary Collaboration</a:t>
            </a:r>
          </a:p>
        </p:txBody>
      </p:sp>
      <p:sp>
        <p:nvSpPr>
          <p:cNvPr id="3" name="Content Placeholder 2"/>
          <p:cNvSpPr>
            <a:spLocks noGrp="1"/>
          </p:cNvSpPr>
          <p:nvPr>
            <p:ph idx="1"/>
          </p:nvPr>
        </p:nvSpPr>
        <p:spPr/>
        <p:txBody>
          <a:bodyPr/>
          <a:lstStyle/>
          <a:p>
            <a:endParaRPr dirty="0"/>
          </a:p>
          <a:p>
            <a:r>
              <a:rPr b="1" dirty="0"/>
              <a:t>Neurologist: </a:t>
            </a:r>
            <a:r>
              <a:rPr dirty="0"/>
              <a:t>diagnosis and medication (e.g., tetrabenazine, botulinum toxin)</a:t>
            </a:r>
          </a:p>
          <a:p>
            <a:r>
              <a:rPr b="1" dirty="0"/>
              <a:t>Occupational therapist: </a:t>
            </a:r>
            <a:r>
              <a:rPr dirty="0"/>
              <a:t>adaptive equipment, daily living support</a:t>
            </a:r>
          </a:p>
          <a:p>
            <a:r>
              <a:rPr b="1" dirty="0"/>
              <a:t>Speech &amp; language therapist: </a:t>
            </a:r>
            <a:r>
              <a:rPr dirty="0"/>
              <a:t>swallowing and communication support</a:t>
            </a:r>
          </a:p>
          <a:p>
            <a:r>
              <a:rPr b="1" dirty="0"/>
              <a:t>Psychologist: </a:t>
            </a:r>
            <a:r>
              <a:rPr dirty="0" err="1"/>
              <a:t>behavioural</a:t>
            </a:r>
            <a:r>
              <a:rPr dirty="0"/>
              <a:t> and coping strategies</a:t>
            </a:r>
          </a:p>
          <a:p>
            <a:r>
              <a:rPr b="1" dirty="0"/>
              <a:t>Social worker: </a:t>
            </a:r>
            <a:r>
              <a:rPr dirty="0"/>
              <a:t>community and </a:t>
            </a:r>
            <a:r>
              <a:rPr dirty="0" err="1"/>
              <a:t>carer</a:t>
            </a:r>
            <a:r>
              <a:rPr dirty="0"/>
              <a:t> support</a:t>
            </a:r>
          </a:p>
        </p:txBody>
      </p:sp>
      <p:pic>
        <p:nvPicPr>
          <p:cNvPr id="3074" name="Picture 2" descr="The Benefits of Multidisciplinary Teams ...">
            <a:extLst>
              <a:ext uri="{FF2B5EF4-FFF2-40B4-BE49-F238E27FC236}">
                <a16:creationId xmlns:a16="http://schemas.microsoft.com/office/drawing/2014/main" id="{5CCFA86A-AEAF-4737-A4E9-59C938DDCB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3825" y="4028273"/>
            <a:ext cx="3567113" cy="22153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References</a:t>
            </a:r>
            <a:endParaRPr b="1" dirty="0"/>
          </a:p>
        </p:txBody>
      </p:sp>
      <p:sp>
        <p:nvSpPr>
          <p:cNvPr id="3" name="Content Placeholder 2"/>
          <p:cNvSpPr>
            <a:spLocks noGrp="1"/>
          </p:cNvSpPr>
          <p:nvPr>
            <p:ph idx="1"/>
          </p:nvPr>
        </p:nvSpPr>
        <p:spPr/>
        <p:txBody>
          <a:bodyPr>
            <a:normAutofit/>
          </a:bodyPr>
          <a:lstStyle/>
          <a:p>
            <a:r>
              <a:rPr lang="en-GB" dirty="0">
                <a:hlinkClick r:id="rId2"/>
              </a:rPr>
              <a:t>International Parkinson and Movement Disorder Society</a:t>
            </a:r>
            <a:endParaRPr lang="en-GB" dirty="0"/>
          </a:p>
          <a:p>
            <a:r>
              <a:rPr lang="en-GB" dirty="0"/>
              <a:t>“Rehabilitation in movement disorders: From basic mechanisms to clinical strategies.” _ (Elsevier) 2022. PubMed</a:t>
            </a:r>
          </a:p>
          <a:p>
            <a:r>
              <a:rPr lang="en-GB" dirty="0"/>
              <a:t>“Evidence-Based Analysis of Physical Therapy in Parkinson’s Disease with Recommendations for Practice and Research.” _ (“Movement Disorders” Vol. 22, No.</a:t>
            </a:r>
          </a:p>
          <a:p>
            <a:r>
              <a:rPr lang="en-GB" dirty="0">
                <a:hlinkClick r:id="rId3"/>
              </a:rPr>
              <a:t>Diagnostic Evaluation of Chorea: Clinical Guide</a:t>
            </a:r>
            <a:endParaRPr lang="en-GB" dirty="0"/>
          </a:p>
          <a:p>
            <a:r>
              <a:rPr lang="en-GB" dirty="0"/>
              <a:t> </a:t>
            </a:r>
            <a:r>
              <a:rPr lang="en-GB" dirty="0">
                <a:hlinkClick r:id="rId4"/>
              </a:rPr>
              <a:t>Movement Disorders</a:t>
            </a:r>
            <a:endParaRPr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4F3AD-6B61-4610-AC8A-1AA34665D3BE}"/>
              </a:ext>
            </a:extLst>
          </p:cNvPr>
          <p:cNvSpPr>
            <a:spLocks noGrp="1"/>
          </p:cNvSpPr>
          <p:nvPr>
            <p:ph type="title"/>
          </p:nvPr>
        </p:nvSpPr>
        <p:spPr>
          <a:xfrm>
            <a:off x="838200" y="2422525"/>
            <a:ext cx="10515600" cy="1325563"/>
          </a:xfrm>
        </p:spPr>
        <p:txBody>
          <a:bodyPr>
            <a:normAutofit fontScale="90000"/>
          </a:bodyPr>
          <a:lstStyle/>
          <a:p>
            <a:pPr algn="ctr"/>
            <a:r>
              <a:rPr lang="en-GB" sz="6000" b="1" dirty="0">
                <a:solidFill>
                  <a:srgbClr val="7030A0"/>
                </a:solidFill>
              </a:rPr>
              <a:t>Functional Neurological Disorder (FND)</a:t>
            </a:r>
          </a:p>
        </p:txBody>
      </p:sp>
    </p:spTree>
    <p:extLst>
      <p:ext uri="{BB962C8B-B14F-4D97-AF65-F5344CB8AC3E}">
        <p14:creationId xmlns:p14="http://schemas.microsoft.com/office/powerpoint/2010/main" val="9099651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What is Functional Neurological Disorder (FND)?</a:t>
            </a:r>
          </a:p>
        </p:txBody>
      </p:sp>
      <p:sp>
        <p:nvSpPr>
          <p:cNvPr id="3" name="Content Placeholder 2"/>
          <p:cNvSpPr>
            <a:spLocks noGrp="1"/>
          </p:cNvSpPr>
          <p:nvPr>
            <p:ph idx="1"/>
          </p:nvPr>
        </p:nvSpPr>
        <p:spPr>
          <a:xfrm>
            <a:off x="676657" y="2011680"/>
            <a:ext cx="6595682" cy="4346787"/>
          </a:xfrm>
        </p:spPr>
        <p:txBody>
          <a:bodyPr/>
          <a:lstStyle/>
          <a:p>
            <a:endParaRPr dirty="0"/>
          </a:p>
          <a:p>
            <a:r>
              <a:rPr lang="en-GB" dirty="0"/>
              <a:t>FND is when there is a problem with the functioning of the nervous system and how the brain and body send and receive signals, resulting in neurological</a:t>
            </a:r>
            <a:r>
              <a:rPr dirty="0"/>
              <a:t> symptoms</a:t>
            </a:r>
            <a:r>
              <a:rPr lang="en-GB" dirty="0"/>
              <a:t> in the absence of</a:t>
            </a:r>
            <a:r>
              <a:rPr dirty="0"/>
              <a:t> structural neurological damage</a:t>
            </a:r>
          </a:p>
          <a:p>
            <a:r>
              <a:rPr b="1" dirty="0">
                <a:solidFill>
                  <a:schemeClr val="accent1">
                    <a:lumMod val="75000"/>
                  </a:schemeClr>
                </a:solidFill>
              </a:rPr>
              <a:t>Symptoms are real, reflecting altered brain network activity</a:t>
            </a:r>
          </a:p>
          <a:p>
            <a:r>
              <a:rPr dirty="0"/>
              <a:t>Results from a </a:t>
            </a:r>
            <a:r>
              <a:rPr b="1" dirty="0">
                <a:solidFill>
                  <a:schemeClr val="accent1">
                    <a:lumMod val="75000"/>
                  </a:schemeClr>
                </a:solidFill>
              </a:rPr>
              <a:t>functional disconnection </a:t>
            </a:r>
            <a:r>
              <a:rPr dirty="0"/>
              <a:t>rather than tissue injury</a:t>
            </a:r>
          </a:p>
        </p:txBody>
      </p:sp>
      <p:pic>
        <p:nvPicPr>
          <p:cNvPr id="4" name="Picture 3">
            <a:extLst>
              <a:ext uri="{FF2B5EF4-FFF2-40B4-BE49-F238E27FC236}">
                <a16:creationId xmlns:a16="http://schemas.microsoft.com/office/drawing/2014/main" id="{F341F0B0-AFC6-4952-B025-2DFBB3254892}"/>
              </a:ext>
            </a:extLst>
          </p:cNvPr>
          <p:cNvPicPr>
            <a:picLocks noChangeAspect="1"/>
          </p:cNvPicPr>
          <p:nvPr/>
        </p:nvPicPr>
        <p:blipFill>
          <a:blip r:embed="rId3"/>
          <a:stretch>
            <a:fillRect/>
          </a:stretch>
        </p:blipFill>
        <p:spPr>
          <a:xfrm>
            <a:off x="7272338" y="1719306"/>
            <a:ext cx="4157661" cy="2980964"/>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9" y="-429156"/>
            <a:ext cx="2686051" cy="3572405"/>
          </a:xfrm>
        </p:spPr>
        <p:txBody>
          <a:bodyPr/>
          <a:lstStyle/>
          <a:p>
            <a:r>
              <a:rPr b="1" dirty="0" err="1"/>
              <a:t>Aetiology</a:t>
            </a:r>
            <a:r>
              <a:rPr b="1" dirty="0"/>
              <a:t> and Risk Factors</a:t>
            </a:r>
          </a:p>
        </p:txBody>
      </p:sp>
      <p:pic>
        <p:nvPicPr>
          <p:cNvPr id="1026" name="Picture 2" descr="A range of potential risk factors for FND. Patients vary widely in how... |  Download Table">
            <a:extLst>
              <a:ext uri="{FF2B5EF4-FFF2-40B4-BE49-F238E27FC236}">
                <a16:creationId xmlns:a16="http://schemas.microsoft.com/office/drawing/2014/main" id="{7878E892-A9E0-4884-9FD9-BCB3C34274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7576" y="647700"/>
            <a:ext cx="7800975" cy="53463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Pathophysiology Overview</a:t>
            </a:r>
          </a:p>
        </p:txBody>
      </p:sp>
      <p:sp>
        <p:nvSpPr>
          <p:cNvPr id="3" name="Content Placeholder 2"/>
          <p:cNvSpPr>
            <a:spLocks noGrp="1"/>
          </p:cNvSpPr>
          <p:nvPr>
            <p:ph idx="1"/>
          </p:nvPr>
        </p:nvSpPr>
        <p:spPr/>
        <p:txBody>
          <a:bodyPr/>
          <a:lstStyle/>
          <a:p>
            <a:endParaRPr dirty="0"/>
          </a:p>
          <a:p>
            <a:r>
              <a:rPr dirty="0"/>
              <a:t>Brain networks involved: motor cortex, limbic system, insula, prefrontal cortex</a:t>
            </a:r>
          </a:p>
          <a:p>
            <a:r>
              <a:rPr dirty="0"/>
              <a:t>Abnormal activation/inhibition disrupts voluntary control</a:t>
            </a:r>
          </a:p>
          <a:p>
            <a:r>
              <a:rPr b="1" dirty="0">
                <a:solidFill>
                  <a:schemeClr val="accent1">
                    <a:lumMod val="75000"/>
                  </a:schemeClr>
                </a:solidFill>
              </a:rPr>
              <a:t>Mismatch between intention and movement execution ('software, not hardware')</a:t>
            </a:r>
          </a:p>
          <a:p>
            <a:r>
              <a:rPr dirty="0"/>
              <a:t>Triggers include stress, trauma, pain, or illness</a:t>
            </a:r>
          </a:p>
          <a:p>
            <a:r>
              <a:rPr dirty="0"/>
              <a:t>fMRI studies show altered connectivity and network dysfunction</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49" y="0"/>
            <a:ext cx="10772775" cy="1658198"/>
          </a:xfrm>
        </p:spPr>
        <p:txBody>
          <a:bodyPr/>
          <a:lstStyle/>
          <a:p>
            <a:r>
              <a:rPr b="1" dirty="0"/>
              <a:t>Pathophysiology</a:t>
            </a:r>
          </a:p>
        </p:txBody>
      </p:sp>
      <p:pic>
        <p:nvPicPr>
          <p:cNvPr id="6" name="Picture 5">
            <a:extLst>
              <a:ext uri="{FF2B5EF4-FFF2-40B4-BE49-F238E27FC236}">
                <a16:creationId xmlns:a16="http://schemas.microsoft.com/office/drawing/2014/main" id="{2D1CA43E-9ED9-469C-B5D4-A9C3CA48CA87}"/>
              </a:ext>
            </a:extLst>
          </p:cNvPr>
          <p:cNvPicPr>
            <a:picLocks noChangeAspect="1"/>
          </p:cNvPicPr>
          <p:nvPr/>
        </p:nvPicPr>
        <p:blipFill>
          <a:blip r:embed="rId3"/>
          <a:stretch>
            <a:fillRect/>
          </a:stretch>
        </p:blipFill>
        <p:spPr>
          <a:xfrm>
            <a:off x="283113" y="128588"/>
            <a:ext cx="11399300" cy="6472237"/>
          </a:xfrm>
          <a:prstGeom prst="rect">
            <a:avLst/>
          </a:prstGeom>
        </p:spPr>
      </p:pic>
    </p:spTree>
    <p:extLst>
      <p:ext uri="{BB962C8B-B14F-4D97-AF65-F5344CB8AC3E}">
        <p14:creationId xmlns:p14="http://schemas.microsoft.com/office/powerpoint/2010/main" val="21235405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Clinical Features: Motor Presentations</a:t>
            </a:r>
          </a:p>
        </p:txBody>
      </p:sp>
      <p:sp>
        <p:nvSpPr>
          <p:cNvPr id="3" name="Content Placeholder 2"/>
          <p:cNvSpPr>
            <a:spLocks noGrp="1"/>
          </p:cNvSpPr>
          <p:nvPr>
            <p:ph idx="1"/>
          </p:nvPr>
        </p:nvSpPr>
        <p:spPr/>
        <p:txBody>
          <a:bodyPr>
            <a:normAutofit lnSpcReduction="10000"/>
          </a:bodyPr>
          <a:lstStyle/>
          <a:p>
            <a:endParaRPr dirty="0"/>
          </a:p>
          <a:p>
            <a:r>
              <a:rPr b="1" dirty="0"/>
              <a:t>Functional Weakness/Paralysis – inconsistent with neuroanatomy, variable over time</a:t>
            </a:r>
          </a:p>
          <a:p>
            <a:r>
              <a:rPr b="1" dirty="0"/>
              <a:t>Hoover’s sign or hip abductor test may be positive</a:t>
            </a:r>
          </a:p>
          <a:p>
            <a:r>
              <a:rPr dirty="0"/>
              <a:t>Functional Tremor – variable, distractible, </a:t>
            </a:r>
            <a:r>
              <a:rPr dirty="0" err="1"/>
              <a:t>entrainable</a:t>
            </a:r>
            <a:r>
              <a:rPr dirty="0"/>
              <a:t>, improves with distraction</a:t>
            </a:r>
          </a:p>
          <a:p>
            <a:r>
              <a:rPr dirty="0"/>
              <a:t>Functional Gait Disorder – 'walking on ice', dragging leg, knee buckling, exaggerated sway</a:t>
            </a:r>
            <a:endParaRPr lang="en-GB" dirty="0"/>
          </a:p>
          <a:p>
            <a:endParaRPr lang="en-GB" dirty="0"/>
          </a:p>
          <a:p>
            <a:r>
              <a:rPr lang="en-GB" dirty="0"/>
              <a:t>Motor: variable weakness, tremor, abnormal gait, fixed dystonia</a:t>
            </a:r>
          </a:p>
          <a:p>
            <a:r>
              <a:rPr lang="en-GB" dirty="0"/>
              <a:t>Coordination: jerky, inconsistent, improves with distraction</a:t>
            </a:r>
          </a:p>
          <a:p>
            <a:endParaRPr lang="en-GB" dirty="0"/>
          </a:p>
          <a:p>
            <a:endParaRPr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Clinical Features: Sensory and Seizure Presentations</a:t>
            </a:r>
          </a:p>
        </p:txBody>
      </p:sp>
      <p:sp>
        <p:nvSpPr>
          <p:cNvPr id="3" name="Content Placeholder 2"/>
          <p:cNvSpPr>
            <a:spLocks noGrp="1"/>
          </p:cNvSpPr>
          <p:nvPr>
            <p:ph idx="1"/>
          </p:nvPr>
        </p:nvSpPr>
        <p:spPr/>
        <p:txBody>
          <a:bodyPr/>
          <a:lstStyle/>
          <a:p>
            <a:endParaRPr dirty="0"/>
          </a:p>
          <a:p>
            <a:pPr>
              <a:buFont typeface="Arial" panose="020B0604020202020204" pitchFamily="34" charset="0"/>
              <a:buChar char="•"/>
            </a:pPr>
            <a:r>
              <a:rPr dirty="0"/>
              <a:t>Functional Sensory Loss – non-dermatomal pattern, fluctuates, sharp midline cut-off</a:t>
            </a:r>
          </a:p>
          <a:p>
            <a:pPr>
              <a:buFont typeface="Arial" panose="020B0604020202020204" pitchFamily="34" charset="0"/>
              <a:buChar char="•"/>
            </a:pPr>
            <a:r>
              <a:rPr dirty="0"/>
              <a:t>Functional Non-Epileptic Attacks (FNEA) – resemble epilepsy but no EEG change</a:t>
            </a:r>
          </a:p>
          <a:p>
            <a:pPr>
              <a:buFont typeface="Arial" panose="020B0604020202020204" pitchFamily="34" charset="0"/>
              <a:buChar char="•"/>
            </a:pPr>
            <a:r>
              <a:rPr dirty="0"/>
              <a:t>FNEA often longer, eyes closed, fluctuating course, responsive to reassurance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Distinguishing Features &amp; Diagnostic Clues</a:t>
            </a:r>
          </a:p>
        </p:txBody>
      </p:sp>
      <p:sp>
        <p:nvSpPr>
          <p:cNvPr id="3" name="Content Placeholder 2"/>
          <p:cNvSpPr>
            <a:spLocks noGrp="1"/>
          </p:cNvSpPr>
          <p:nvPr>
            <p:ph idx="1"/>
          </p:nvPr>
        </p:nvSpPr>
        <p:spPr/>
        <p:txBody>
          <a:bodyPr/>
          <a:lstStyle/>
          <a:p>
            <a:endParaRPr dirty="0"/>
          </a:p>
          <a:p>
            <a:r>
              <a:rPr b="1" dirty="0">
                <a:solidFill>
                  <a:schemeClr val="accent1">
                    <a:lumMod val="75000"/>
                  </a:schemeClr>
                </a:solidFill>
              </a:rPr>
              <a:t>Positive signs confirm FND rather than exclusion of disease</a:t>
            </a:r>
          </a:p>
          <a:p>
            <a:r>
              <a:rPr dirty="0"/>
              <a:t>Hoover’s sign: strength returns with contralateral effort</a:t>
            </a:r>
          </a:p>
          <a:p>
            <a:r>
              <a:rPr dirty="0"/>
              <a:t>Tremor changes with distraction or entrainment</a:t>
            </a:r>
          </a:p>
          <a:p>
            <a:r>
              <a:rPr dirty="0"/>
              <a:t>Gait improves with dual-tasking</a:t>
            </a:r>
          </a:p>
          <a:p>
            <a:r>
              <a:rPr dirty="0"/>
              <a:t>Sensory loss not matching dermatomes or myotome</a:t>
            </a:r>
            <a:endParaRPr lang="en-GB" dirty="0"/>
          </a:p>
          <a:p>
            <a:r>
              <a:rPr lang="en-GB" dirty="0"/>
              <a:t>Speech: stuttering, whispering, inconsistent dysphonia</a:t>
            </a:r>
          </a:p>
          <a:p>
            <a:endParaRPr dirty="0"/>
          </a:p>
        </p:txBody>
      </p:sp>
      <p:pic>
        <p:nvPicPr>
          <p:cNvPr id="4" name="Picture 2" descr="Isn't FND just a name for something when doctors don't know what it is? – Functional  Neurological Disorder (FND)">
            <a:extLst>
              <a:ext uri="{FF2B5EF4-FFF2-40B4-BE49-F238E27FC236}">
                <a16:creationId xmlns:a16="http://schemas.microsoft.com/office/drawing/2014/main" id="{AC1E1702-A31E-4E53-AFDC-ECCBDCBE4A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0276" y="1300798"/>
            <a:ext cx="9753600" cy="5334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Red Flags and Urgent Referral</a:t>
            </a:r>
          </a:p>
        </p:txBody>
      </p:sp>
      <p:sp>
        <p:nvSpPr>
          <p:cNvPr id="3" name="Content Placeholder 2"/>
          <p:cNvSpPr>
            <a:spLocks noGrp="1"/>
          </p:cNvSpPr>
          <p:nvPr>
            <p:ph idx="1"/>
          </p:nvPr>
        </p:nvSpPr>
        <p:spPr/>
        <p:txBody>
          <a:bodyPr/>
          <a:lstStyle/>
          <a:p>
            <a:endParaRPr dirty="0"/>
          </a:p>
          <a:p>
            <a:pPr>
              <a:buFont typeface="Arial" panose="020B0604020202020204" pitchFamily="34" charset="0"/>
              <a:buChar char="•"/>
            </a:pPr>
            <a:r>
              <a:rPr dirty="0"/>
              <a:t>Rapidly progressive weakness or paralysis</a:t>
            </a:r>
          </a:p>
          <a:p>
            <a:pPr>
              <a:buFont typeface="Arial" panose="020B0604020202020204" pitchFamily="34" charset="0"/>
              <a:buChar char="•"/>
            </a:pPr>
            <a:r>
              <a:rPr dirty="0"/>
              <a:t>Sphincter disturbance or sensory level</a:t>
            </a:r>
          </a:p>
          <a:p>
            <a:pPr>
              <a:buFont typeface="Arial" panose="020B0604020202020204" pitchFamily="34" charset="0"/>
              <a:buChar char="•"/>
            </a:pPr>
            <a:r>
              <a:rPr dirty="0"/>
              <a:t>Persistent altered consciousness or seizure activity</a:t>
            </a:r>
          </a:p>
          <a:p>
            <a:pPr>
              <a:buFont typeface="Arial" panose="020B0604020202020204" pitchFamily="34" charset="0"/>
              <a:buChar char="•"/>
            </a:pPr>
            <a:r>
              <a:rPr dirty="0"/>
              <a:t>New severe headache or vision loss</a:t>
            </a:r>
          </a:p>
          <a:p>
            <a:pPr>
              <a:buFont typeface="Arial" panose="020B0604020202020204" pitchFamily="34" charset="0"/>
              <a:buChar char="•"/>
            </a:pPr>
            <a:r>
              <a:rPr dirty="0"/>
              <a:t>Signs of infection, metabolic or vascular cause</a:t>
            </a:r>
            <a:endParaRPr lang="en-GB" dirty="0"/>
          </a:p>
          <a:p>
            <a:pPr>
              <a:buFont typeface="Arial" panose="020B0604020202020204" pitchFamily="34" charset="0"/>
              <a:buChar char="•"/>
            </a:pPr>
            <a:r>
              <a:rPr lang="en-GB" dirty="0"/>
              <a:t>Severe mood disruption</a:t>
            </a:r>
            <a:endParaRPr dirty="0"/>
          </a:p>
        </p:txBody>
      </p:sp>
      <p:pic>
        <p:nvPicPr>
          <p:cNvPr id="4" name="Picture 2" descr="Warning flat red color icon Stock ...">
            <a:extLst>
              <a:ext uri="{FF2B5EF4-FFF2-40B4-BE49-F238E27FC236}">
                <a16:creationId xmlns:a16="http://schemas.microsoft.com/office/drawing/2014/main" id="{E32505D7-0A09-4EF7-902C-DBF74E40F7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1330" y="451406"/>
            <a:ext cx="1658198" cy="16581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Physiotherapy Assessment</a:t>
            </a:r>
          </a:p>
        </p:txBody>
      </p:sp>
      <p:sp>
        <p:nvSpPr>
          <p:cNvPr id="3" name="Content Placeholder 2"/>
          <p:cNvSpPr>
            <a:spLocks noGrp="1"/>
          </p:cNvSpPr>
          <p:nvPr>
            <p:ph idx="1"/>
          </p:nvPr>
        </p:nvSpPr>
        <p:spPr/>
        <p:txBody>
          <a:bodyPr/>
          <a:lstStyle/>
          <a:p>
            <a:endParaRPr dirty="0"/>
          </a:p>
          <a:p>
            <a:r>
              <a:rPr lang="en-GB" b="1" dirty="0"/>
              <a:t>Prioritise:</a:t>
            </a:r>
          </a:p>
          <a:p>
            <a:r>
              <a:rPr dirty="0"/>
              <a:t>Build therapeutic alliance – validate symptoms, avoid suggesting 'it's in your head'</a:t>
            </a:r>
          </a:p>
          <a:p>
            <a:r>
              <a:rPr dirty="0"/>
              <a:t>Focus on function and performance rather than impairment alone</a:t>
            </a:r>
          </a:p>
          <a:p>
            <a:r>
              <a:rPr dirty="0"/>
              <a:t>Observe variability, distractibility, inconsistency in movement</a:t>
            </a:r>
          </a:p>
          <a:p>
            <a:r>
              <a:rPr dirty="0"/>
              <a:t>Identify triggers, maintaining factors (fatigue, anxiety, fear)</a:t>
            </a:r>
          </a:p>
          <a:p>
            <a:r>
              <a:rPr dirty="0"/>
              <a:t>Outcome measures: FMD Rating Scale, Berg Balance Scale, 10m Walk Test</a:t>
            </a:r>
            <a:endParaRPr lang="en-GB" dirty="0"/>
          </a:p>
          <a:p>
            <a:r>
              <a:rPr lang="en-GB" dirty="0"/>
              <a:t>Use of video feedback</a:t>
            </a:r>
            <a:endParaRPr dirty="0"/>
          </a:p>
        </p:txBody>
      </p:sp>
    </p:spTree>
    <p:extLst>
      <p:ext uri="{BB962C8B-B14F-4D97-AF65-F5344CB8AC3E}">
        <p14:creationId xmlns:p14="http://schemas.microsoft.com/office/powerpoint/2010/main" val="27696295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Physiotherapy Management Strategies</a:t>
            </a:r>
          </a:p>
        </p:txBody>
      </p:sp>
      <p:sp>
        <p:nvSpPr>
          <p:cNvPr id="3" name="Content Placeholder 2"/>
          <p:cNvSpPr>
            <a:spLocks noGrp="1"/>
          </p:cNvSpPr>
          <p:nvPr>
            <p:ph idx="1"/>
          </p:nvPr>
        </p:nvSpPr>
        <p:spPr/>
        <p:txBody>
          <a:bodyPr>
            <a:normAutofit fontScale="70000" lnSpcReduction="20000"/>
          </a:bodyPr>
          <a:lstStyle/>
          <a:p>
            <a:endParaRPr dirty="0"/>
          </a:p>
          <a:p>
            <a:r>
              <a:rPr lang="en-GB" dirty="0"/>
              <a:t>Key </a:t>
            </a:r>
            <a:r>
              <a:rPr dirty="0"/>
              <a:t>Aim</a:t>
            </a:r>
            <a:r>
              <a:rPr lang="en-GB" dirty="0"/>
              <a:t>s</a:t>
            </a:r>
            <a:r>
              <a:rPr dirty="0"/>
              <a:t>: </a:t>
            </a:r>
            <a:endParaRPr lang="en-GB" dirty="0"/>
          </a:p>
          <a:p>
            <a:r>
              <a:rPr lang="en-GB" dirty="0"/>
              <a:t>R</a:t>
            </a:r>
            <a:r>
              <a:rPr dirty="0" err="1"/>
              <a:t>estore</a:t>
            </a:r>
            <a:r>
              <a:rPr dirty="0"/>
              <a:t> confidence and normal movement patterns</a:t>
            </a:r>
          </a:p>
          <a:p>
            <a:r>
              <a:rPr dirty="0"/>
              <a:t>Educate using 'software vs hardware' analogy</a:t>
            </a:r>
          </a:p>
          <a:p>
            <a:r>
              <a:rPr dirty="0"/>
              <a:t>Encourage automatic movement through graded activity</a:t>
            </a:r>
          </a:p>
          <a:p>
            <a:r>
              <a:rPr dirty="0"/>
              <a:t>Use distraction and dual-tasking to promote normal motor control</a:t>
            </a:r>
          </a:p>
          <a:p>
            <a:r>
              <a:rPr dirty="0"/>
              <a:t>Re-educate gait, balance, posture; manage fatigue and stress</a:t>
            </a:r>
          </a:p>
          <a:p>
            <a:r>
              <a:rPr dirty="0"/>
              <a:t>Provide positive reinforcement and feedback</a:t>
            </a:r>
            <a:endParaRPr lang="en-GB" dirty="0"/>
          </a:p>
          <a:p>
            <a:r>
              <a:rPr lang="en-GB" dirty="0"/>
              <a:t>Person specific treatment – interests, hobbies, passions – could be as simple as using their favourite music!</a:t>
            </a:r>
          </a:p>
          <a:p>
            <a:endParaRPr lang="en-GB" dirty="0"/>
          </a:p>
          <a:p>
            <a:r>
              <a:rPr lang="en-GB" dirty="0">
                <a:hlinkClick r:id="rId3"/>
              </a:rPr>
              <a:t>untitled</a:t>
            </a:r>
            <a:endParaRPr dirty="0"/>
          </a:p>
        </p:txBody>
      </p:sp>
      <p:pic>
        <p:nvPicPr>
          <p:cNvPr id="5" name="Picture 4">
            <a:extLst>
              <a:ext uri="{FF2B5EF4-FFF2-40B4-BE49-F238E27FC236}">
                <a16:creationId xmlns:a16="http://schemas.microsoft.com/office/drawing/2014/main" id="{B60D3E70-C26A-4C6C-9C7D-5CBCF27485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3706" y="737959"/>
            <a:ext cx="8636182" cy="53820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Multidisciplinary and Psychosocial Approach</a:t>
            </a:r>
          </a:p>
        </p:txBody>
      </p:sp>
      <p:sp>
        <p:nvSpPr>
          <p:cNvPr id="3" name="Content Placeholder 2"/>
          <p:cNvSpPr>
            <a:spLocks noGrp="1"/>
          </p:cNvSpPr>
          <p:nvPr>
            <p:ph idx="1"/>
          </p:nvPr>
        </p:nvSpPr>
        <p:spPr/>
        <p:txBody>
          <a:bodyPr/>
          <a:lstStyle/>
          <a:p>
            <a:endParaRPr dirty="0"/>
          </a:p>
          <a:p>
            <a:r>
              <a:rPr b="1" dirty="0"/>
              <a:t>Neurologist: </a:t>
            </a:r>
            <a:r>
              <a:rPr dirty="0"/>
              <a:t>diagnosis and medical reassurance</a:t>
            </a:r>
          </a:p>
          <a:p>
            <a:r>
              <a:rPr b="1" dirty="0"/>
              <a:t>Physiotherapist: </a:t>
            </a:r>
            <a:r>
              <a:rPr dirty="0"/>
              <a:t>movement retraining, education</a:t>
            </a:r>
          </a:p>
          <a:p>
            <a:r>
              <a:rPr b="1" dirty="0"/>
              <a:t>Psychologist: CBT, trauma therapy, stress management</a:t>
            </a:r>
          </a:p>
          <a:p>
            <a:r>
              <a:rPr b="1" dirty="0"/>
              <a:t>Occupational Therapist: </a:t>
            </a:r>
            <a:r>
              <a:rPr dirty="0"/>
              <a:t>activity planning, pacing, ADLs</a:t>
            </a:r>
          </a:p>
          <a:p>
            <a:r>
              <a:rPr b="1" dirty="0"/>
              <a:t>Speech &amp; Language Therapist: </a:t>
            </a:r>
            <a:r>
              <a:rPr dirty="0"/>
              <a:t>voice and swallowing therapy</a:t>
            </a:r>
          </a:p>
          <a:p>
            <a:r>
              <a:rPr b="1" dirty="0"/>
              <a:t>Social and vocational support to promote reintegration</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5301192"/>
          </a:xfrm>
        </p:spPr>
        <p:txBody>
          <a:bodyPr>
            <a:normAutofit fontScale="90000"/>
          </a:bodyPr>
          <a:lstStyle/>
          <a:p>
            <a:r>
              <a:rPr lang="en-GB" b="1" dirty="0"/>
              <a:t>References</a:t>
            </a:r>
            <a:br>
              <a:rPr lang="en-GB" b="1" dirty="0"/>
            </a:br>
            <a:br>
              <a:rPr lang="en-GB" sz="2000" dirty="0">
                <a:solidFill>
                  <a:schemeClr val="tx1"/>
                </a:solidFill>
              </a:rPr>
            </a:br>
            <a:r>
              <a:rPr lang="en-GB" sz="2000" dirty="0">
                <a:solidFill>
                  <a:schemeClr val="tx1"/>
                </a:solidFill>
              </a:rPr>
              <a:t>Nielsen G, Stone J, Matthews A, et </a:t>
            </a:r>
            <a:r>
              <a:rPr lang="en-GB" sz="2000" dirty="0" err="1">
                <a:solidFill>
                  <a:schemeClr val="tx1"/>
                </a:solidFill>
              </a:rPr>
              <a:t>alPhysiotherapy</a:t>
            </a:r>
            <a:r>
              <a:rPr lang="en-GB" sz="2000" dirty="0">
                <a:solidFill>
                  <a:schemeClr val="tx1"/>
                </a:solidFill>
              </a:rPr>
              <a:t> for functional motor disorders: a consensus </a:t>
            </a:r>
            <a:r>
              <a:rPr lang="en-GB" sz="2000" dirty="0" err="1">
                <a:solidFill>
                  <a:schemeClr val="tx1"/>
                </a:solidFill>
              </a:rPr>
              <a:t>recommendationJournal</a:t>
            </a:r>
            <a:r>
              <a:rPr lang="en-GB" sz="2000" dirty="0">
                <a:solidFill>
                  <a:schemeClr val="tx1"/>
                </a:solidFill>
              </a:rPr>
              <a:t> of Neurology, Neurosurgery &amp; Psychiatry 2015;86:1113-1119.</a:t>
            </a:r>
            <a:br>
              <a:rPr lang="en-GB" sz="2000" dirty="0">
                <a:solidFill>
                  <a:schemeClr val="tx1"/>
                </a:solidFill>
              </a:rPr>
            </a:br>
            <a:r>
              <a:rPr lang="en-GB" sz="2000" dirty="0">
                <a:solidFill>
                  <a:schemeClr val="tx1"/>
                </a:solidFill>
              </a:rPr>
              <a:t>Edwards, M. J., &amp; Bhatia, K. P. (2012). Functional (psychogenic) movement disorders: Merging mind and brain. The Lancet Neurology, 11(3), 250–260.</a:t>
            </a:r>
            <a:br>
              <a:rPr lang="en-GB" sz="2000" dirty="0">
                <a:solidFill>
                  <a:schemeClr val="tx1"/>
                </a:solidFill>
              </a:rPr>
            </a:br>
            <a:r>
              <a:rPr lang="en-GB" sz="2000" dirty="0">
                <a:solidFill>
                  <a:schemeClr val="tx1"/>
                </a:solidFill>
              </a:rPr>
              <a:t>Stone, J., &amp; Carson, A. (2020). Functional Neurological Disorder: The Bare Essentials. Practical Neurology, 20(1), 13–21.</a:t>
            </a:r>
            <a:br>
              <a:rPr lang="en-GB" sz="2000" dirty="0">
                <a:solidFill>
                  <a:schemeClr val="tx1"/>
                </a:solidFill>
              </a:rPr>
            </a:br>
            <a:r>
              <a:rPr lang="en-GB" sz="2000" dirty="0">
                <a:solidFill>
                  <a:schemeClr val="tx1"/>
                </a:solidFill>
              </a:rPr>
              <a:t>Nicholson, T. R., </a:t>
            </a:r>
            <a:r>
              <a:rPr lang="en-GB" sz="2000" dirty="0" err="1">
                <a:solidFill>
                  <a:schemeClr val="tx1"/>
                </a:solidFill>
              </a:rPr>
              <a:t>Aybek</a:t>
            </a:r>
            <a:r>
              <a:rPr lang="en-GB" sz="2000" dirty="0">
                <a:solidFill>
                  <a:schemeClr val="tx1"/>
                </a:solidFill>
              </a:rPr>
              <a:t>, S., Craig, T., Harris, T., Wojcik, W., David, A. S., &amp; Edwards, M. J. (2020). Functional neurological disorder: A common and treatable cause of neurological symptoms. Journal of Neurology, 267(7), 1989–1999</a:t>
            </a:r>
            <a:br>
              <a:rPr lang="en-GB" sz="2000" dirty="0">
                <a:solidFill>
                  <a:schemeClr val="tx1"/>
                </a:solidFill>
              </a:rPr>
            </a:br>
            <a:r>
              <a:rPr lang="en-GB" sz="2000" dirty="0" err="1">
                <a:solidFill>
                  <a:schemeClr val="tx1"/>
                </a:solidFill>
              </a:rPr>
              <a:t>Espay</a:t>
            </a:r>
            <a:r>
              <a:rPr lang="en-GB" sz="2000" dirty="0">
                <a:solidFill>
                  <a:schemeClr val="tx1"/>
                </a:solidFill>
              </a:rPr>
              <a:t>, A. J., et al. (2018). Current Concepts in Diagnosis and Treatment of Functional Neurological Disorders. JAMA Neurology, 75(9), 1132–1141.</a:t>
            </a:r>
            <a:br>
              <a:rPr lang="en-GB" sz="2000" dirty="0">
                <a:solidFill>
                  <a:schemeClr val="tx1"/>
                </a:solidFill>
              </a:rPr>
            </a:br>
            <a:r>
              <a:rPr lang="en-GB" sz="2000" dirty="0">
                <a:solidFill>
                  <a:schemeClr val="tx1"/>
                </a:solidFill>
              </a:rPr>
              <a:t>American Psychiatric Association. (2022). Diagnostic and Statistical Manual of Mental Disorders (5th ed., Text Revision; DSM-5-TR). Washington, DC: APA Press.</a:t>
            </a:r>
            <a:br>
              <a:rPr lang="en-GB" sz="2000" dirty="0">
                <a:solidFill>
                  <a:schemeClr val="tx1"/>
                </a:solidFill>
              </a:rPr>
            </a:br>
            <a:r>
              <a:rPr lang="en-GB" sz="2000" dirty="0">
                <a:hlinkClick r:id="rId2"/>
              </a:rPr>
              <a:t>Better understanding Functional Neurological Disorder and how therapy can help - Aevum Health</a:t>
            </a:r>
            <a:br>
              <a:rPr lang="en-GB" sz="2000" dirty="0"/>
            </a:br>
            <a:r>
              <a:rPr lang="en-GB" sz="2000" dirty="0">
                <a:hlinkClick r:id="rId3"/>
              </a:rPr>
              <a:t>FND Action - Home</a:t>
            </a:r>
            <a:br>
              <a:rPr lang="en-GB" sz="2000" dirty="0"/>
            </a:br>
            <a:r>
              <a:rPr lang="en-GB" sz="2000" dirty="0">
                <a:hlinkClick r:id="rId4"/>
              </a:rPr>
              <a:t>FND Hope - FND Hope International</a:t>
            </a:r>
            <a:br>
              <a:rPr lang="en-GB" sz="2000" dirty="0"/>
            </a:br>
            <a:r>
              <a:rPr lang="en-GB" sz="2000" dirty="0">
                <a:hlinkClick r:id="rId5"/>
              </a:rPr>
              <a:t>Functional neurological disorder | Health topics A to Z | CKS | NICE</a:t>
            </a:r>
            <a:br>
              <a:rPr lang="en-GB" sz="2000" dirty="0"/>
            </a:br>
            <a:br>
              <a:rPr lang="en-GB" sz="2000" dirty="0"/>
            </a:br>
            <a:endParaRPr b="1"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4F3AD-6B61-4610-AC8A-1AA34665D3BE}"/>
              </a:ext>
            </a:extLst>
          </p:cNvPr>
          <p:cNvSpPr>
            <a:spLocks noGrp="1"/>
          </p:cNvSpPr>
          <p:nvPr>
            <p:ph type="title"/>
          </p:nvPr>
        </p:nvSpPr>
        <p:spPr>
          <a:xfrm>
            <a:off x="838200" y="2422525"/>
            <a:ext cx="10515600" cy="1325563"/>
          </a:xfrm>
        </p:spPr>
        <p:txBody>
          <a:bodyPr>
            <a:normAutofit/>
          </a:bodyPr>
          <a:lstStyle/>
          <a:p>
            <a:pPr algn="ctr"/>
            <a:r>
              <a:rPr lang="en-GB" sz="6000" b="1" dirty="0">
                <a:solidFill>
                  <a:srgbClr val="FF3399"/>
                </a:solidFill>
              </a:rPr>
              <a:t>Stroke (CVA)</a:t>
            </a:r>
          </a:p>
        </p:txBody>
      </p:sp>
    </p:spTree>
    <p:extLst>
      <p:ext uri="{BB962C8B-B14F-4D97-AF65-F5344CB8AC3E}">
        <p14:creationId xmlns:p14="http://schemas.microsoft.com/office/powerpoint/2010/main" val="6170198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Stroke</a:t>
            </a:r>
            <a:endParaRPr b="1" dirty="0"/>
          </a:p>
        </p:txBody>
      </p:sp>
      <p:sp>
        <p:nvSpPr>
          <p:cNvPr id="3" name="Content Placeholder 2"/>
          <p:cNvSpPr>
            <a:spLocks noGrp="1"/>
          </p:cNvSpPr>
          <p:nvPr>
            <p:ph idx="1"/>
          </p:nvPr>
        </p:nvSpPr>
        <p:spPr>
          <a:xfrm>
            <a:off x="676656" y="2011680"/>
            <a:ext cx="6095619" cy="4174808"/>
          </a:xfrm>
        </p:spPr>
        <p:txBody>
          <a:bodyPr/>
          <a:lstStyle/>
          <a:p>
            <a:endParaRPr dirty="0"/>
          </a:p>
          <a:p>
            <a:r>
              <a:rPr dirty="0"/>
              <a:t>Sudden onset neurological deficit due to interruption of cerebral blood flow</a:t>
            </a:r>
          </a:p>
          <a:p>
            <a:r>
              <a:rPr dirty="0"/>
              <a:t>Two main types: </a:t>
            </a:r>
            <a:r>
              <a:rPr dirty="0" err="1"/>
              <a:t>Ischaemic</a:t>
            </a:r>
            <a:r>
              <a:rPr dirty="0"/>
              <a:t> (≈85%) and </a:t>
            </a:r>
            <a:r>
              <a:rPr dirty="0" err="1"/>
              <a:t>Haemorrhagic</a:t>
            </a:r>
            <a:r>
              <a:rPr dirty="0"/>
              <a:t> (≈15%)</a:t>
            </a:r>
          </a:p>
          <a:p>
            <a:r>
              <a:rPr dirty="0"/>
              <a:t>Leads to cell death and loss of function in affected brain region</a:t>
            </a:r>
          </a:p>
          <a:p>
            <a:r>
              <a:rPr dirty="0"/>
              <a:t>Medical emergency requiring rapid diagnosis and treatment</a:t>
            </a:r>
          </a:p>
        </p:txBody>
      </p:sp>
      <p:pic>
        <p:nvPicPr>
          <p:cNvPr id="7170" name="Picture 2" descr="Stroke Overview: Causes and types, signs and symptoms, di..">
            <a:extLst>
              <a:ext uri="{FF2B5EF4-FFF2-40B4-BE49-F238E27FC236}">
                <a16:creationId xmlns:a16="http://schemas.microsoft.com/office/drawing/2014/main" id="{52D91B39-4C6C-450A-904B-16FECAC97E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5012" y="857250"/>
            <a:ext cx="4148138"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Epidemiology </a:t>
            </a:r>
            <a:endParaRPr b="1" dirty="0"/>
          </a:p>
        </p:txBody>
      </p:sp>
      <p:sp>
        <p:nvSpPr>
          <p:cNvPr id="6" name="Rectangle 1">
            <a:extLst>
              <a:ext uri="{FF2B5EF4-FFF2-40B4-BE49-F238E27FC236}">
                <a16:creationId xmlns:a16="http://schemas.microsoft.com/office/drawing/2014/main" id="{91DD8F71-8ADD-4821-9438-CD9B2FFF9234}"/>
              </a:ext>
            </a:extLst>
          </p:cNvPr>
          <p:cNvSpPr>
            <a:spLocks noChangeArrowheads="1"/>
          </p:cNvSpPr>
          <p:nvPr/>
        </p:nvSpPr>
        <p:spPr bwMode="auto">
          <a:xfrm>
            <a:off x="657224" y="2157731"/>
            <a:ext cx="442912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100,000 people</a:t>
            </a:r>
            <a:r>
              <a:rPr kumimoji="0" lang="en-US" altLang="en-US" sz="1800" b="0" i="0" u="none" strike="noStrike" cap="none" normalizeH="0" baseline="0" dirty="0">
                <a:ln>
                  <a:noFill/>
                </a:ln>
                <a:solidFill>
                  <a:schemeClr val="tx1"/>
                </a:solidFill>
                <a:effectLst/>
                <a:latin typeface="Arial" panose="020B0604020202020204" pitchFamily="34" charset="0"/>
              </a:rPr>
              <a:t> in the UK have a stroke each year (≈1 every 5 minutes).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Around </a:t>
            </a:r>
            <a:r>
              <a:rPr kumimoji="0" lang="en-US" altLang="en-US" sz="1800" b="1" i="0" u="none" strike="noStrike" cap="none" normalizeH="0" baseline="0" dirty="0">
                <a:ln>
                  <a:noFill/>
                </a:ln>
                <a:solidFill>
                  <a:schemeClr val="tx1"/>
                </a:solidFill>
                <a:effectLst/>
                <a:latin typeface="Arial" panose="020B0604020202020204" pitchFamily="34" charset="0"/>
              </a:rPr>
              <a:t>1.3 million stroke survivors</a:t>
            </a:r>
            <a:r>
              <a:rPr kumimoji="0" lang="en-US" altLang="en-US" sz="1800" b="0" i="0" u="none" strike="noStrike" cap="none" normalizeH="0" baseline="0" dirty="0">
                <a:ln>
                  <a:noFill/>
                </a:ln>
                <a:solidFill>
                  <a:schemeClr val="tx1"/>
                </a:solidFill>
                <a:effectLst/>
                <a:latin typeface="Arial" panose="020B0604020202020204" pitchFamily="34" charset="0"/>
              </a:rPr>
              <a:t> living in the UK.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Third most common cause of death</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leading cause of adult disability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r>
              <a:rPr kumimoji="0" lang="en-US" altLang="en-US" sz="1800" b="1" i="0" u="none" strike="noStrike" cap="none" normalizeH="0" baseline="0" dirty="0">
                <a:ln>
                  <a:noFill/>
                </a:ln>
                <a:solidFill>
                  <a:schemeClr val="tx1"/>
                </a:solidFill>
                <a:effectLst/>
                <a:latin typeface="Arial" panose="020B0604020202020204" pitchFamily="34" charset="0"/>
              </a:rPr>
              <a:t>75%</a:t>
            </a:r>
            <a:r>
              <a:rPr kumimoji="0" lang="en-US" altLang="en-US" sz="1800" b="0" i="0" u="none" strike="noStrike" cap="none" normalizeH="0" baseline="0" dirty="0">
                <a:ln>
                  <a:noFill/>
                </a:ln>
                <a:solidFill>
                  <a:schemeClr val="tx1"/>
                </a:solidFill>
                <a:effectLst/>
                <a:latin typeface="Arial" panose="020B0604020202020204" pitchFamily="34" charset="0"/>
              </a:rPr>
              <a:t> occur in people aged over 65, but can occur at any age.</a:t>
            </a:r>
          </a:p>
        </p:txBody>
      </p:sp>
      <p:pic>
        <p:nvPicPr>
          <p:cNvPr id="8195" name="Picture 3" descr="Learn About Strokes, Risk Factors, and Prevention – Colorado Stroke  Advisory Board">
            <a:extLst>
              <a:ext uri="{FF2B5EF4-FFF2-40B4-BE49-F238E27FC236}">
                <a16:creationId xmlns:a16="http://schemas.microsoft.com/office/drawing/2014/main" id="{D14298F6-95B1-48FC-AC69-A2AEA6AD6A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6038" y="0"/>
            <a:ext cx="6911975"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Pathophysiology: </a:t>
            </a:r>
            <a:r>
              <a:rPr b="1" dirty="0" err="1"/>
              <a:t>Ischaemic</a:t>
            </a:r>
            <a:r>
              <a:rPr b="1" dirty="0"/>
              <a:t> Stroke</a:t>
            </a:r>
          </a:p>
        </p:txBody>
      </p:sp>
      <p:sp>
        <p:nvSpPr>
          <p:cNvPr id="3" name="Content Placeholder 2"/>
          <p:cNvSpPr>
            <a:spLocks noGrp="1"/>
          </p:cNvSpPr>
          <p:nvPr>
            <p:ph idx="1"/>
          </p:nvPr>
        </p:nvSpPr>
        <p:spPr>
          <a:xfrm>
            <a:off x="657224" y="1797367"/>
            <a:ext cx="10753725" cy="3766185"/>
          </a:xfrm>
        </p:spPr>
        <p:txBody>
          <a:bodyPr/>
          <a:lstStyle/>
          <a:p>
            <a:endParaRPr dirty="0"/>
          </a:p>
          <a:p>
            <a:r>
              <a:rPr dirty="0"/>
              <a:t>Arterial occlusion → ↓ oxygen and glucose supply</a:t>
            </a:r>
          </a:p>
          <a:p>
            <a:r>
              <a:rPr dirty="0"/>
              <a:t>Energy failure → neuronal </a:t>
            </a:r>
            <a:r>
              <a:rPr dirty="0" err="1"/>
              <a:t>depolarisation</a:t>
            </a:r>
            <a:r>
              <a:rPr dirty="0"/>
              <a:t> and excitotoxicity (glutamate release)</a:t>
            </a:r>
          </a:p>
          <a:p>
            <a:r>
              <a:rPr dirty="0"/>
              <a:t>Calcium influx → cell death and oxidative stress</a:t>
            </a:r>
          </a:p>
          <a:p>
            <a:r>
              <a:rPr dirty="0" err="1"/>
              <a:t>Ischaemic</a:t>
            </a:r>
            <a:r>
              <a:rPr dirty="0"/>
              <a:t> core (irreversible) and penumbra (salvageable with reperfusion)</a:t>
            </a:r>
          </a:p>
        </p:txBody>
      </p:sp>
    </p:spTree>
    <p:extLst>
      <p:ext uri="{BB962C8B-B14F-4D97-AF65-F5344CB8AC3E}">
        <p14:creationId xmlns:p14="http://schemas.microsoft.com/office/powerpoint/2010/main" val="37246136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Pathophysiology: </a:t>
            </a:r>
            <a:r>
              <a:rPr b="1" dirty="0" err="1"/>
              <a:t>Haemorrhagic</a:t>
            </a:r>
            <a:r>
              <a:rPr b="1" dirty="0"/>
              <a:t> Stroke</a:t>
            </a:r>
          </a:p>
        </p:txBody>
      </p:sp>
      <p:sp>
        <p:nvSpPr>
          <p:cNvPr id="3" name="Content Placeholder 2"/>
          <p:cNvSpPr>
            <a:spLocks noGrp="1"/>
          </p:cNvSpPr>
          <p:nvPr>
            <p:ph idx="1"/>
          </p:nvPr>
        </p:nvSpPr>
        <p:spPr/>
        <p:txBody>
          <a:bodyPr/>
          <a:lstStyle/>
          <a:p>
            <a:endParaRPr/>
          </a:p>
          <a:p>
            <a:r>
              <a:t>Rupture of blood vessel causing bleeding into brain tissue or subarachnoid space</a:t>
            </a:r>
          </a:p>
          <a:p>
            <a:r>
              <a:t>Causes: hypertension, aneurysm, AV malformation, anticoagulation</a:t>
            </a:r>
          </a:p>
          <a:p>
            <a:r>
              <a:t>Mass effect and raised ICP lead to further injury</a:t>
            </a:r>
          </a:p>
          <a:p>
            <a:r>
              <a:t>Blood breakdown products cause inflammation and toxicity</a:t>
            </a:r>
          </a:p>
          <a:p>
            <a:r>
              <a:t>Often more severe acute presentation</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Pathophysiology and Mechanism involved in Ischemic and Hemorrhagic... |  Download Scientific Diagram">
            <a:extLst>
              <a:ext uri="{FF2B5EF4-FFF2-40B4-BE49-F238E27FC236}">
                <a16:creationId xmlns:a16="http://schemas.microsoft.com/office/drawing/2014/main" id="{D53D6EE1-7F0C-4419-B0DF-FF82345AA0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75" y="142875"/>
            <a:ext cx="8096250" cy="6572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573686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Progression and Recovery</a:t>
            </a:r>
          </a:p>
        </p:txBody>
      </p:sp>
      <p:sp>
        <p:nvSpPr>
          <p:cNvPr id="3" name="Content Placeholder 2"/>
          <p:cNvSpPr>
            <a:spLocks noGrp="1"/>
          </p:cNvSpPr>
          <p:nvPr>
            <p:ph idx="1"/>
          </p:nvPr>
        </p:nvSpPr>
        <p:spPr/>
        <p:txBody>
          <a:bodyPr/>
          <a:lstStyle/>
          <a:p>
            <a:endParaRPr/>
          </a:p>
          <a:p>
            <a:r>
              <a:t>Acute phase (hours–days): evolving deficits, cerebral oedema</a:t>
            </a:r>
          </a:p>
          <a:p>
            <a:r>
              <a:t>Subacute (weeks): spontaneous recovery, neuroplasticity begins</a:t>
            </a:r>
          </a:p>
          <a:p>
            <a:r>
              <a:t>Chronic (months–years): adaptation and compensation</a:t>
            </a:r>
          </a:p>
          <a:p>
            <a:r>
              <a:t>Rehabilitation promotes neuroplasticity through repetition and task-specific training</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Hallmark Clinical Features</a:t>
            </a:r>
          </a:p>
        </p:txBody>
      </p:sp>
      <p:sp>
        <p:nvSpPr>
          <p:cNvPr id="3" name="Content Placeholder 2"/>
          <p:cNvSpPr>
            <a:spLocks noGrp="1"/>
          </p:cNvSpPr>
          <p:nvPr>
            <p:ph idx="1"/>
          </p:nvPr>
        </p:nvSpPr>
        <p:spPr>
          <a:xfrm>
            <a:off x="657224" y="2087926"/>
            <a:ext cx="7281482" cy="3766185"/>
          </a:xfrm>
        </p:spPr>
        <p:txBody>
          <a:bodyPr/>
          <a:lstStyle/>
          <a:p>
            <a:endParaRPr dirty="0"/>
          </a:p>
          <a:p>
            <a:r>
              <a:rPr dirty="0"/>
              <a:t>Symptoms depend on vascular territory affected</a:t>
            </a:r>
          </a:p>
          <a:p>
            <a:r>
              <a:rPr b="1" dirty="0"/>
              <a:t>MCA: </a:t>
            </a:r>
            <a:r>
              <a:rPr dirty="0"/>
              <a:t>face/arm weakness, aphasia or neglect</a:t>
            </a:r>
          </a:p>
          <a:p>
            <a:r>
              <a:rPr b="1" dirty="0"/>
              <a:t>ACA: </a:t>
            </a:r>
            <a:r>
              <a:rPr dirty="0"/>
              <a:t>leg weakness, abulia, urinary incontinence</a:t>
            </a:r>
          </a:p>
          <a:p>
            <a:r>
              <a:rPr b="1" dirty="0"/>
              <a:t>PCA: </a:t>
            </a:r>
            <a:r>
              <a:rPr dirty="0"/>
              <a:t>visual field loss, agnosia</a:t>
            </a:r>
          </a:p>
          <a:p>
            <a:r>
              <a:rPr b="1" dirty="0"/>
              <a:t>Brainstem: </a:t>
            </a:r>
            <a:r>
              <a:rPr dirty="0"/>
              <a:t>cranial nerve palsies, ataxia, dysphagia, 'locked-in' syndrome</a:t>
            </a:r>
          </a:p>
        </p:txBody>
      </p:sp>
      <p:pic>
        <p:nvPicPr>
          <p:cNvPr id="10242" name="Picture 2" descr="A Guide to Left vs Right Stroke ...">
            <a:extLst>
              <a:ext uri="{FF2B5EF4-FFF2-40B4-BE49-F238E27FC236}">
                <a16:creationId xmlns:a16="http://schemas.microsoft.com/office/drawing/2014/main" id="{175C8893-E2C0-4A79-94D4-B1E3C62E46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0924" y="3225422"/>
            <a:ext cx="4386263" cy="31330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Common Motor Deficits</a:t>
            </a:r>
          </a:p>
        </p:txBody>
      </p:sp>
      <p:sp>
        <p:nvSpPr>
          <p:cNvPr id="3" name="Content Placeholder 2"/>
          <p:cNvSpPr>
            <a:spLocks noGrp="1"/>
          </p:cNvSpPr>
          <p:nvPr>
            <p:ph idx="1"/>
          </p:nvPr>
        </p:nvSpPr>
        <p:spPr>
          <a:xfrm>
            <a:off x="676657" y="2011680"/>
            <a:ext cx="5419344" cy="4519462"/>
          </a:xfrm>
        </p:spPr>
        <p:txBody>
          <a:bodyPr/>
          <a:lstStyle/>
          <a:p>
            <a:endParaRPr dirty="0"/>
          </a:p>
          <a:p>
            <a:pPr>
              <a:buFont typeface="Arial" panose="020B0604020202020204" pitchFamily="34" charset="0"/>
              <a:buChar char="•"/>
            </a:pPr>
            <a:r>
              <a:rPr dirty="0"/>
              <a:t>Hemiparesis or hemiplegia contralateral to lesion</a:t>
            </a:r>
          </a:p>
          <a:p>
            <a:pPr>
              <a:buFont typeface="Arial" panose="020B0604020202020204" pitchFamily="34" charset="0"/>
              <a:buChar char="•"/>
            </a:pPr>
            <a:r>
              <a:rPr dirty="0"/>
              <a:t>Abnormal tone: flaccidity → spasticity → synergy patterns</a:t>
            </a:r>
          </a:p>
          <a:p>
            <a:pPr>
              <a:buFont typeface="Arial" panose="020B0604020202020204" pitchFamily="34" charset="0"/>
              <a:buChar char="•"/>
            </a:pPr>
            <a:r>
              <a:rPr dirty="0"/>
              <a:t>Loss of selective motor control and coordination</a:t>
            </a:r>
          </a:p>
          <a:p>
            <a:pPr>
              <a:buFont typeface="Arial" panose="020B0604020202020204" pitchFamily="34" charset="0"/>
              <a:buChar char="•"/>
            </a:pPr>
            <a:r>
              <a:rPr dirty="0"/>
              <a:t>Impaired postural control and balance</a:t>
            </a:r>
          </a:p>
          <a:p>
            <a:pPr>
              <a:buFont typeface="Arial" panose="020B0604020202020204" pitchFamily="34" charset="0"/>
              <a:buChar char="•"/>
            </a:pPr>
            <a:r>
              <a:rPr dirty="0"/>
              <a:t>Apraxia and fatigue limiting functional performance</a:t>
            </a:r>
          </a:p>
        </p:txBody>
      </p:sp>
      <p:pic>
        <p:nvPicPr>
          <p:cNvPr id="12292" name="Picture 4" descr="How your Brain sees your Body - Learn Somatics">
            <a:extLst>
              <a:ext uri="{FF2B5EF4-FFF2-40B4-BE49-F238E27FC236}">
                <a16:creationId xmlns:a16="http://schemas.microsoft.com/office/drawing/2014/main" id="{496BC867-9D9E-40E0-A38D-AD784F2A1E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6017" y="2869398"/>
            <a:ext cx="5839326" cy="36617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Sensory and Perceptual Deficits</a:t>
            </a:r>
          </a:p>
        </p:txBody>
      </p:sp>
      <p:sp>
        <p:nvSpPr>
          <p:cNvPr id="3" name="Content Placeholder 2"/>
          <p:cNvSpPr>
            <a:spLocks noGrp="1"/>
          </p:cNvSpPr>
          <p:nvPr>
            <p:ph idx="1"/>
          </p:nvPr>
        </p:nvSpPr>
        <p:spPr>
          <a:xfrm>
            <a:off x="676657" y="2011680"/>
            <a:ext cx="5419344" cy="4519462"/>
          </a:xfrm>
        </p:spPr>
        <p:txBody>
          <a:bodyPr/>
          <a:lstStyle/>
          <a:p>
            <a:endParaRPr dirty="0"/>
          </a:p>
          <a:p>
            <a:pPr>
              <a:buFont typeface="Arial" panose="020B0604020202020204" pitchFamily="34" charset="0"/>
              <a:buChar char="•"/>
            </a:pPr>
            <a:r>
              <a:rPr dirty="0" err="1"/>
              <a:t>Hemianaesthesia</a:t>
            </a:r>
            <a:r>
              <a:rPr dirty="0"/>
              <a:t> (contralateral sensory loss)</a:t>
            </a:r>
          </a:p>
          <a:p>
            <a:pPr>
              <a:buFont typeface="Arial" panose="020B0604020202020204" pitchFamily="34" charset="0"/>
              <a:buChar char="•"/>
            </a:pPr>
            <a:r>
              <a:rPr dirty="0"/>
              <a:t>Proprioceptive loss impairing balance and movement accuracy</a:t>
            </a:r>
          </a:p>
          <a:p>
            <a:pPr>
              <a:buFont typeface="Arial" panose="020B0604020202020204" pitchFamily="34" charset="0"/>
              <a:buChar char="•"/>
            </a:pPr>
            <a:r>
              <a:rPr dirty="0"/>
              <a:t>Visual field loss (homonymous hemianopia)</a:t>
            </a:r>
          </a:p>
          <a:p>
            <a:pPr>
              <a:buFont typeface="Arial" panose="020B0604020202020204" pitchFamily="34" charset="0"/>
              <a:buChar char="•"/>
            </a:pPr>
            <a:r>
              <a:rPr dirty="0"/>
              <a:t>Neglect, especially with right parietal lesions</a:t>
            </a:r>
          </a:p>
          <a:p>
            <a:pPr>
              <a:buFont typeface="Arial" panose="020B0604020202020204" pitchFamily="34" charset="0"/>
              <a:buChar char="•"/>
            </a:pPr>
            <a:r>
              <a:rPr dirty="0"/>
              <a:t>Dysphasia/dysarthria and cognitive impairment (attention, memory)</a:t>
            </a:r>
          </a:p>
        </p:txBody>
      </p:sp>
      <p:pic>
        <p:nvPicPr>
          <p:cNvPr id="4" name="Picture 4" descr="How your Brain sees your Body - Learn Somatics">
            <a:extLst>
              <a:ext uri="{FF2B5EF4-FFF2-40B4-BE49-F238E27FC236}">
                <a16:creationId xmlns:a16="http://schemas.microsoft.com/office/drawing/2014/main" id="{4DDDD7E6-6352-447A-909E-89DED53F06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6017" y="2869398"/>
            <a:ext cx="5839326" cy="36617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Red Flags and Urgent Referral</a:t>
            </a:r>
          </a:p>
        </p:txBody>
      </p:sp>
      <p:sp>
        <p:nvSpPr>
          <p:cNvPr id="3" name="Content Placeholder 2"/>
          <p:cNvSpPr>
            <a:spLocks noGrp="1"/>
          </p:cNvSpPr>
          <p:nvPr>
            <p:ph idx="1"/>
          </p:nvPr>
        </p:nvSpPr>
        <p:spPr/>
        <p:txBody>
          <a:bodyPr>
            <a:normAutofit fontScale="92500" lnSpcReduction="10000"/>
          </a:bodyPr>
          <a:lstStyle/>
          <a:p>
            <a:endParaRPr dirty="0"/>
          </a:p>
          <a:p>
            <a:r>
              <a:rPr dirty="0"/>
              <a:t>Sudden weakness, numbness, or visual disturbance</a:t>
            </a:r>
          </a:p>
          <a:p>
            <a:r>
              <a:rPr dirty="0"/>
              <a:t>Difficulty speaking or understanding speech</a:t>
            </a:r>
          </a:p>
          <a:p>
            <a:r>
              <a:rPr dirty="0"/>
              <a:t>Severe headache with vomiting or reduced consciousness</a:t>
            </a:r>
          </a:p>
          <a:p>
            <a:r>
              <a:rPr dirty="0"/>
              <a:t>Facial droop or asymmetry</a:t>
            </a:r>
          </a:p>
          <a:p>
            <a:r>
              <a:rPr dirty="0"/>
              <a:t>Sudden dizziness, loss of balance, or fall</a:t>
            </a:r>
          </a:p>
          <a:p>
            <a:r>
              <a:rPr dirty="0"/>
              <a:t>FAST (Face–Arm–Speech–Time): call 999 immediately</a:t>
            </a:r>
            <a:endParaRPr lang="en-GB" dirty="0"/>
          </a:p>
          <a:p>
            <a:endParaRPr lang="en-GB" dirty="0"/>
          </a:p>
          <a:p>
            <a:r>
              <a:rPr lang="en-GB" dirty="0"/>
              <a:t>Change in symptoms – worsening of already present stroke impairments</a:t>
            </a:r>
            <a:endParaRPr dirty="0"/>
          </a:p>
        </p:txBody>
      </p:sp>
      <p:pic>
        <p:nvPicPr>
          <p:cNvPr id="4" name="Picture 2" descr="Warning flat red color icon Stock ...">
            <a:extLst>
              <a:ext uri="{FF2B5EF4-FFF2-40B4-BE49-F238E27FC236}">
                <a16:creationId xmlns:a16="http://schemas.microsoft.com/office/drawing/2014/main" id="{0B9906B8-C763-4265-8D93-7E48A2F73C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1330" y="451406"/>
            <a:ext cx="1658198" cy="16581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Physiotherapy Assessment</a:t>
            </a:r>
          </a:p>
        </p:txBody>
      </p:sp>
      <p:sp>
        <p:nvSpPr>
          <p:cNvPr id="3" name="Content Placeholder 2"/>
          <p:cNvSpPr>
            <a:spLocks noGrp="1"/>
          </p:cNvSpPr>
          <p:nvPr>
            <p:ph idx="1"/>
          </p:nvPr>
        </p:nvSpPr>
        <p:spPr/>
        <p:txBody>
          <a:bodyPr/>
          <a:lstStyle/>
          <a:p>
            <a:endParaRPr dirty="0"/>
          </a:p>
          <a:p>
            <a:r>
              <a:rPr lang="en-GB" b="1" dirty="0">
                <a:solidFill>
                  <a:schemeClr val="accent1">
                    <a:lumMod val="75000"/>
                  </a:schemeClr>
                </a:solidFill>
              </a:rPr>
              <a:t>Priorities:</a:t>
            </a:r>
          </a:p>
          <a:p>
            <a:pPr>
              <a:buFont typeface="Arial" panose="020B0604020202020204" pitchFamily="34" charset="0"/>
              <a:buChar char="•"/>
            </a:pPr>
            <a:r>
              <a:rPr dirty="0"/>
              <a:t>Acute phase: vital signs, consciousness, tone, reflexes</a:t>
            </a:r>
            <a:r>
              <a:rPr lang="en-GB" dirty="0"/>
              <a:t>, cognition - orientation</a:t>
            </a:r>
            <a:endParaRPr dirty="0"/>
          </a:p>
          <a:p>
            <a:pPr>
              <a:buFont typeface="Arial" panose="020B0604020202020204" pitchFamily="34" charset="0"/>
              <a:buChar char="•"/>
            </a:pPr>
            <a:r>
              <a:rPr dirty="0"/>
              <a:t>Early </a:t>
            </a:r>
            <a:r>
              <a:rPr dirty="0" err="1"/>
              <a:t>mobilisation</a:t>
            </a:r>
            <a:r>
              <a:rPr dirty="0"/>
              <a:t> when stable to prevent complications</a:t>
            </a:r>
            <a:endParaRPr lang="en-GB" dirty="0"/>
          </a:p>
          <a:p>
            <a:pPr>
              <a:buFont typeface="Arial" panose="020B0604020202020204" pitchFamily="34" charset="0"/>
              <a:buChar char="•"/>
            </a:pPr>
            <a:r>
              <a:rPr lang="en-GB" dirty="0"/>
              <a:t>Neuro assessment – ROM, Sensation, Strength, co-ordination, proprioception, vision</a:t>
            </a:r>
            <a:endParaRPr dirty="0"/>
          </a:p>
          <a:p>
            <a:pPr>
              <a:buFont typeface="Arial" panose="020B0604020202020204" pitchFamily="34" charset="0"/>
              <a:buChar char="•"/>
            </a:pPr>
            <a:r>
              <a:rPr dirty="0"/>
              <a:t>Assess mobility, balance, strength, and functional ability</a:t>
            </a:r>
          </a:p>
          <a:p>
            <a:pPr>
              <a:buFont typeface="Arial" panose="020B0604020202020204" pitchFamily="34" charset="0"/>
              <a:buChar char="•"/>
            </a:pPr>
            <a:r>
              <a:rPr dirty="0"/>
              <a:t>Outcome measures: FIM</a:t>
            </a:r>
            <a:r>
              <a:rPr lang="en-GB" dirty="0"/>
              <a:t>/FAM</a:t>
            </a:r>
            <a:r>
              <a:rPr dirty="0"/>
              <a:t>, Berg Balance, Modified Ashworth Scale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3DD90F7-AC87-4CFC-A876-A9BFACB5D15E}"/>
              </a:ext>
            </a:extLst>
          </p:cNvPr>
          <p:cNvSpPr/>
          <p:nvPr/>
        </p:nvSpPr>
        <p:spPr>
          <a:xfrm>
            <a:off x="212361" y="592111"/>
            <a:ext cx="5468912" cy="5786204"/>
          </a:xfrm>
          <a:prstGeom prst="roundRect">
            <a:avLst/>
          </a:prstGeom>
          <a:noFill/>
          <a:ln w="57150">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Rounded Corners 2">
            <a:extLst>
              <a:ext uri="{FF2B5EF4-FFF2-40B4-BE49-F238E27FC236}">
                <a16:creationId xmlns:a16="http://schemas.microsoft.com/office/drawing/2014/main" id="{FCEBB211-C2E0-4D63-B667-D7F6A51B5D3C}"/>
              </a:ext>
            </a:extLst>
          </p:cNvPr>
          <p:cNvSpPr/>
          <p:nvPr/>
        </p:nvSpPr>
        <p:spPr>
          <a:xfrm>
            <a:off x="6268387" y="547141"/>
            <a:ext cx="5468912" cy="5786204"/>
          </a:xfrm>
          <a:prstGeom prst="roundRect">
            <a:avLst/>
          </a:prstGeom>
          <a:no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988A5B35-969C-4FA5-80FF-67F1BBFDAF11}"/>
              </a:ext>
            </a:extLst>
          </p:cNvPr>
          <p:cNvSpPr txBox="1"/>
          <p:nvPr/>
        </p:nvSpPr>
        <p:spPr>
          <a:xfrm>
            <a:off x="2362199" y="762506"/>
            <a:ext cx="2408421" cy="523220"/>
          </a:xfrm>
          <a:prstGeom prst="rect">
            <a:avLst/>
          </a:prstGeom>
          <a:noFill/>
        </p:spPr>
        <p:txBody>
          <a:bodyPr wrap="square" rtlCol="0">
            <a:spAutoFit/>
          </a:bodyPr>
          <a:lstStyle/>
          <a:p>
            <a:r>
              <a:rPr lang="en-GB" sz="2800" b="1" dirty="0"/>
              <a:t>Acute Mx</a:t>
            </a:r>
          </a:p>
        </p:txBody>
      </p:sp>
      <p:sp>
        <p:nvSpPr>
          <p:cNvPr id="7" name="TextBox 6">
            <a:extLst>
              <a:ext uri="{FF2B5EF4-FFF2-40B4-BE49-F238E27FC236}">
                <a16:creationId xmlns:a16="http://schemas.microsoft.com/office/drawing/2014/main" id="{B7D9FC1A-B86B-468E-913B-A0A72274F043}"/>
              </a:ext>
            </a:extLst>
          </p:cNvPr>
          <p:cNvSpPr txBox="1"/>
          <p:nvPr/>
        </p:nvSpPr>
        <p:spPr>
          <a:xfrm>
            <a:off x="7503629" y="745285"/>
            <a:ext cx="4089816" cy="523220"/>
          </a:xfrm>
          <a:prstGeom prst="rect">
            <a:avLst/>
          </a:prstGeom>
          <a:noFill/>
        </p:spPr>
        <p:txBody>
          <a:bodyPr wrap="square" rtlCol="0">
            <a:spAutoFit/>
          </a:bodyPr>
          <a:lstStyle/>
          <a:p>
            <a:r>
              <a:rPr lang="en-GB" sz="2800" b="1" dirty="0"/>
              <a:t>Rehabilitation Mx</a:t>
            </a:r>
          </a:p>
        </p:txBody>
      </p:sp>
      <p:sp>
        <p:nvSpPr>
          <p:cNvPr id="4" name="Rectangle 3">
            <a:extLst>
              <a:ext uri="{FF2B5EF4-FFF2-40B4-BE49-F238E27FC236}">
                <a16:creationId xmlns:a16="http://schemas.microsoft.com/office/drawing/2014/main" id="{9D60AE4E-EBAF-4BC5-A73F-156AEEA4F71D}"/>
              </a:ext>
            </a:extLst>
          </p:cNvPr>
          <p:cNvSpPr/>
          <p:nvPr/>
        </p:nvSpPr>
        <p:spPr>
          <a:xfrm>
            <a:off x="518409" y="1730886"/>
            <a:ext cx="4855696" cy="4154984"/>
          </a:xfrm>
          <a:prstGeom prst="rect">
            <a:avLst/>
          </a:prstGeom>
        </p:spPr>
        <p:txBody>
          <a:bodyPr wrap="square">
            <a:spAutoFit/>
          </a:bodyPr>
          <a:lstStyle/>
          <a:p>
            <a:pPr marL="285750" indent="-285750">
              <a:buFont typeface="Arial" panose="020B0604020202020204" pitchFamily="34" charset="0"/>
              <a:buChar char="•"/>
            </a:pPr>
            <a:r>
              <a:rPr lang="en-GB" sz="2400" dirty="0"/>
              <a:t>Early positioning and movement to prevent complications</a:t>
            </a:r>
          </a:p>
          <a:p>
            <a:pPr marL="285750" indent="-285750">
              <a:buFont typeface="Arial" panose="020B0604020202020204" pitchFamily="34" charset="0"/>
              <a:buChar char="•"/>
            </a:pPr>
            <a:r>
              <a:rPr lang="en-GB" sz="2400" dirty="0"/>
              <a:t>Maintain joint range, manage tone, and prevent oedema</a:t>
            </a:r>
          </a:p>
          <a:p>
            <a:pPr marL="285750" indent="-285750">
              <a:buFont typeface="Arial" panose="020B0604020202020204" pitchFamily="34" charset="0"/>
              <a:buChar char="•"/>
            </a:pPr>
            <a:r>
              <a:rPr lang="en-GB" sz="2400" dirty="0"/>
              <a:t>Facilitate active movement on affected side (</a:t>
            </a:r>
            <a:r>
              <a:rPr lang="en-GB" sz="2400" dirty="0" err="1"/>
              <a:t>neurofacilitation</a:t>
            </a:r>
            <a:r>
              <a:rPr lang="en-GB" sz="2400" dirty="0"/>
              <a:t>)</a:t>
            </a:r>
          </a:p>
          <a:p>
            <a:pPr marL="285750" indent="-285750">
              <a:buFont typeface="Arial" panose="020B0604020202020204" pitchFamily="34" charset="0"/>
              <a:buChar char="•"/>
            </a:pPr>
            <a:r>
              <a:rPr lang="en-GB" sz="2400" dirty="0"/>
              <a:t>Educate patient and carers on positioning and recovery expectations</a:t>
            </a:r>
          </a:p>
          <a:p>
            <a:pPr marL="285750" indent="-285750">
              <a:buFont typeface="Arial" panose="020B0604020202020204" pitchFamily="34" charset="0"/>
              <a:buChar char="•"/>
            </a:pPr>
            <a:r>
              <a:rPr lang="en-GB" sz="2400" dirty="0"/>
              <a:t>Coordinate with MDT: nurses, OTs, SLTs, doctors</a:t>
            </a:r>
          </a:p>
        </p:txBody>
      </p:sp>
      <p:sp>
        <p:nvSpPr>
          <p:cNvPr id="5" name="Rectangle 4">
            <a:extLst>
              <a:ext uri="{FF2B5EF4-FFF2-40B4-BE49-F238E27FC236}">
                <a16:creationId xmlns:a16="http://schemas.microsoft.com/office/drawing/2014/main" id="{0A7171BF-7182-49E8-BB10-844649198735}"/>
              </a:ext>
            </a:extLst>
          </p:cNvPr>
          <p:cNvSpPr/>
          <p:nvPr/>
        </p:nvSpPr>
        <p:spPr>
          <a:xfrm>
            <a:off x="6920458" y="1285726"/>
            <a:ext cx="4542284" cy="4893647"/>
          </a:xfrm>
          <a:prstGeom prst="rect">
            <a:avLst/>
          </a:prstGeom>
        </p:spPr>
        <p:txBody>
          <a:bodyPr wrap="square">
            <a:spAutoFit/>
          </a:bodyPr>
          <a:lstStyle/>
          <a:p>
            <a:pPr marL="285750" indent="-285750">
              <a:buFont typeface="Arial" panose="020B0604020202020204" pitchFamily="34" charset="0"/>
              <a:buChar char="•"/>
            </a:pPr>
            <a:r>
              <a:rPr lang="en-GB" sz="2400" dirty="0"/>
              <a:t>Task-specific and repetitive training to promote neuroplasticity</a:t>
            </a:r>
          </a:p>
          <a:p>
            <a:pPr marL="285750" indent="-285750">
              <a:buFont typeface="Arial" panose="020B0604020202020204" pitchFamily="34" charset="0"/>
              <a:buChar char="•"/>
            </a:pPr>
            <a:r>
              <a:rPr lang="en-GB" sz="2400" dirty="0"/>
              <a:t>Trunk rehabilitation</a:t>
            </a:r>
          </a:p>
          <a:p>
            <a:pPr marL="285750" indent="-285750">
              <a:buFont typeface="Arial" panose="020B0604020202020204" pitchFamily="34" charset="0"/>
              <a:buChar char="•"/>
            </a:pPr>
            <a:r>
              <a:rPr lang="en-GB" sz="2400" dirty="0"/>
              <a:t>Ongoing Tone management</a:t>
            </a:r>
          </a:p>
          <a:p>
            <a:pPr marL="285750" indent="-285750">
              <a:buFont typeface="Arial" panose="020B0604020202020204" pitchFamily="34" charset="0"/>
              <a:buChar char="•"/>
            </a:pPr>
            <a:r>
              <a:rPr lang="en-GB" sz="2400" dirty="0"/>
              <a:t>Constraint-Induced Movement Therapy (CIMT) for upper limb</a:t>
            </a:r>
          </a:p>
          <a:p>
            <a:pPr marL="285750" indent="-285750">
              <a:buFont typeface="Arial" panose="020B0604020202020204" pitchFamily="34" charset="0"/>
              <a:buChar char="•"/>
            </a:pPr>
            <a:r>
              <a:rPr lang="en-GB" sz="2400" dirty="0"/>
              <a:t>Gait retraining with symmetry, balance, and endurance focus</a:t>
            </a:r>
          </a:p>
          <a:p>
            <a:pPr marL="285750" indent="-285750">
              <a:buFont typeface="Arial" panose="020B0604020202020204" pitchFamily="34" charset="0"/>
              <a:buChar char="•"/>
            </a:pPr>
            <a:r>
              <a:rPr lang="en-GB" sz="2400" dirty="0"/>
              <a:t>Functional Electrical Stimulation (FES) for foot drop, Orthotics</a:t>
            </a:r>
          </a:p>
          <a:p>
            <a:pPr marL="285750" indent="-285750">
              <a:buFont typeface="Arial" panose="020B0604020202020204" pitchFamily="34" charset="0"/>
              <a:buChar char="•"/>
            </a:pPr>
            <a:r>
              <a:rPr lang="en-GB" sz="2400" dirty="0"/>
              <a:t>Education on fatigue, secondary prevention, and home exercise</a:t>
            </a:r>
          </a:p>
        </p:txBody>
      </p:sp>
      <p:sp>
        <p:nvSpPr>
          <p:cNvPr id="9" name="TextBox 8">
            <a:extLst>
              <a:ext uri="{FF2B5EF4-FFF2-40B4-BE49-F238E27FC236}">
                <a16:creationId xmlns:a16="http://schemas.microsoft.com/office/drawing/2014/main" id="{9D823606-D6A1-45D7-A59C-873C61C805F2}"/>
              </a:ext>
            </a:extLst>
          </p:cNvPr>
          <p:cNvSpPr txBox="1"/>
          <p:nvPr/>
        </p:nvSpPr>
        <p:spPr>
          <a:xfrm>
            <a:off x="176463" y="2286063"/>
            <a:ext cx="12015537" cy="3046988"/>
          </a:xfrm>
          <a:prstGeom prst="rect">
            <a:avLst/>
          </a:prstGeom>
          <a:solidFill>
            <a:schemeClr val="accent1">
              <a:lumMod val="60000"/>
              <a:lumOff val="40000"/>
            </a:schemeClr>
          </a:solidFill>
        </p:spPr>
        <p:txBody>
          <a:bodyPr wrap="square" rtlCol="0">
            <a:spAutoFit/>
          </a:bodyPr>
          <a:lstStyle/>
          <a:p>
            <a:r>
              <a:rPr lang="en-GB" sz="3200" b="1" dirty="0">
                <a:solidFill>
                  <a:schemeClr val="bg1"/>
                </a:solidFill>
              </a:rPr>
              <a:t>The 2023 NICE guideline (NG236) for stroke rehabilitation recommends that adults should be offered at least three hours of needs-based, multidisciplinary therapy on at least five days of the week. This increased intensity is a significant update from the 2013 guideline and is based on evidence that more intensive rehabilitation leads to better outcomes. </a:t>
            </a:r>
          </a:p>
          <a:p>
            <a:r>
              <a:rPr lang="en-GB" sz="3200" b="1" dirty="0">
                <a:solidFill>
                  <a:schemeClr val="bg1"/>
                </a:solidFill>
              </a:rPr>
              <a:t>. </a:t>
            </a:r>
          </a:p>
        </p:txBody>
      </p:sp>
    </p:spTree>
    <p:extLst>
      <p:ext uri="{BB962C8B-B14F-4D97-AF65-F5344CB8AC3E}">
        <p14:creationId xmlns:p14="http://schemas.microsoft.com/office/powerpoint/2010/main" val="205676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References</a:t>
            </a:r>
            <a:endParaRPr b="1" dirty="0"/>
          </a:p>
        </p:txBody>
      </p:sp>
      <p:sp>
        <p:nvSpPr>
          <p:cNvPr id="5" name="Content Placeholder 4">
            <a:extLst>
              <a:ext uri="{FF2B5EF4-FFF2-40B4-BE49-F238E27FC236}">
                <a16:creationId xmlns:a16="http://schemas.microsoft.com/office/drawing/2014/main" id="{1566777D-2A51-4FD8-8C95-CACE6BC7BF1A}"/>
              </a:ext>
            </a:extLst>
          </p:cNvPr>
          <p:cNvSpPr>
            <a:spLocks noGrp="1"/>
          </p:cNvSpPr>
          <p:nvPr>
            <p:ph idx="1"/>
          </p:nvPr>
        </p:nvSpPr>
        <p:spPr/>
        <p:txBody>
          <a:bodyPr>
            <a:normAutofit fontScale="85000" lnSpcReduction="20000"/>
          </a:bodyPr>
          <a:lstStyle/>
          <a:p>
            <a:r>
              <a:rPr lang="en-GB" dirty="0"/>
              <a:t>Wei X., Sun S., Zhang M. et al. “A systematic review and meta-analysis of clinical efficacy of early and late rehabilitation interventions for ischemic stroke.” BMC Neurology. 2024;24:91. BioMed Central</a:t>
            </a:r>
          </a:p>
          <a:p>
            <a:r>
              <a:rPr lang="en-GB" dirty="0"/>
              <a:t>Abdullahi A., Wong T.W.L., Ng S.S.M. “Effects of home-based neurostimulation on outcomes after stroke: a systematic review and meta-analysis.” Neurological Sciences. 2024;45:5157-5179. SpringerLink</a:t>
            </a:r>
          </a:p>
          <a:p>
            <a:r>
              <a:rPr lang="en-GB" dirty="0"/>
              <a:t>Khan A., Imam Y.Z., Muneer M. et al. “Virtual reality in stroke recovery: a meta-review of systematic reviews.” Bioelectronic Medicine. 2024;10:23. BioMed Central</a:t>
            </a:r>
          </a:p>
          <a:p>
            <a:r>
              <a:rPr lang="en-GB" dirty="0"/>
              <a:t>National Institute for Health and Care Excellence (NICE). “Stroke rehabilitation in adults – Guideline NG236.” Published October 2023. nice.org.uk</a:t>
            </a:r>
          </a:p>
          <a:p>
            <a:r>
              <a:rPr lang="en-GB" dirty="0">
                <a:hlinkClick r:id="rId2"/>
              </a:rPr>
              <a:t>Overview | Stroke rehabilitation in adults | Guidance | NICE</a:t>
            </a:r>
            <a:endParaRPr lang="en-GB" dirty="0"/>
          </a:p>
          <a:p>
            <a:r>
              <a:rPr lang="en-GB" dirty="0">
                <a:hlinkClick r:id="rId3"/>
              </a:rPr>
              <a:t>Brain &amp; Spine Foundation</a:t>
            </a:r>
            <a:endParaRPr lang="en-GB" dirty="0"/>
          </a:p>
          <a:p>
            <a:r>
              <a:rPr lang="en-GB" dirty="0">
                <a:hlinkClick r:id="rId4"/>
              </a:rPr>
              <a:t>Stroke Association | Strength through support</a:t>
            </a:r>
            <a:endParaRPr lang="en-GB" dirty="0"/>
          </a:p>
          <a:p>
            <a:endParaRPr lang="en-GB"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BC8C1-96F3-4B94-8084-A2631CE1485D}"/>
              </a:ext>
            </a:extLst>
          </p:cNvPr>
          <p:cNvSpPr>
            <a:spLocks noGrp="1"/>
          </p:cNvSpPr>
          <p:nvPr>
            <p:ph type="title"/>
          </p:nvPr>
        </p:nvSpPr>
        <p:spPr>
          <a:xfrm>
            <a:off x="709612" y="-371475"/>
            <a:ext cx="10772775" cy="1658198"/>
          </a:xfrm>
        </p:spPr>
        <p:txBody>
          <a:bodyPr>
            <a:normAutofit/>
          </a:bodyPr>
          <a:lstStyle/>
          <a:p>
            <a:pPr algn="ctr"/>
            <a:r>
              <a:rPr lang="en-GB" sz="3600" b="1" dirty="0"/>
              <a:t>Considerations for assessment in lifelong neuro conditions</a:t>
            </a:r>
          </a:p>
        </p:txBody>
      </p:sp>
      <p:sp>
        <p:nvSpPr>
          <p:cNvPr id="3" name="Content Placeholder 2">
            <a:extLst>
              <a:ext uri="{FF2B5EF4-FFF2-40B4-BE49-F238E27FC236}">
                <a16:creationId xmlns:a16="http://schemas.microsoft.com/office/drawing/2014/main" id="{56F1E6C7-D48D-40BD-863C-81C0B18E438F}"/>
              </a:ext>
            </a:extLst>
          </p:cNvPr>
          <p:cNvSpPr>
            <a:spLocks noGrp="1"/>
          </p:cNvSpPr>
          <p:nvPr>
            <p:ph idx="1"/>
          </p:nvPr>
        </p:nvSpPr>
        <p:spPr>
          <a:xfrm>
            <a:off x="476631" y="1025843"/>
            <a:ext cx="10753725" cy="4146233"/>
          </a:xfrm>
        </p:spPr>
        <p:txBody>
          <a:bodyPr>
            <a:noAutofit/>
          </a:bodyPr>
          <a:lstStyle/>
          <a:p>
            <a:r>
              <a:rPr lang="en-GB" dirty="0"/>
              <a:t>Important to …</a:t>
            </a:r>
          </a:p>
          <a:p>
            <a:r>
              <a:rPr lang="en-GB" dirty="0"/>
              <a:t>• Clarify expectations</a:t>
            </a:r>
          </a:p>
          <a:p>
            <a:pPr>
              <a:buFont typeface="Arial" panose="020B0604020202020204" pitchFamily="34" charset="0"/>
              <a:buChar char="•"/>
            </a:pPr>
            <a:r>
              <a:rPr lang="en-GB" dirty="0"/>
              <a:t> Provide appropriate education</a:t>
            </a:r>
          </a:p>
          <a:p>
            <a:r>
              <a:rPr lang="en-GB" dirty="0"/>
              <a:t>• achieve a concordance between the therapists and patient’s expectations</a:t>
            </a:r>
          </a:p>
          <a:p>
            <a:r>
              <a:rPr lang="en-GB" dirty="0"/>
              <a:t>• Need to have short term goals and long-term goals</a:t>
            </a:r>
          </a:p>
          <a:p>
            <a:r>
              <a:rPr lang="en-GB" dirty="0"/>
              <a:t>• Flexibility to modify goals in line with disease trajectory</a:t>
            </a:r>
          </a:p>
          <a:p>
            <a:endParaRPr lang="en-GB" dirty="0"/>
          </a:p>
          <a:p>
            <a:r>
              <a:rPr lang="en-GB" b="1" dirty="0"/>
              <a:t>Overall Aims:</a:t>
            </a:r>
          </a:p>
          <a:p>
            <a:r>
              <a:rPr lang="en-GB" dirty="0"/>
              <a:t>1. Optimise performance in everyday activities and skills</a:t>
            </a:r>
          </a:p>
          <a:p>
            <a:r>
              <a:rPr lang="en-GB" dirty="0"/>
              <a:t>2. Maximise functional ability</a:t>
            </a:r>
          </a:p>
          <a:p>
            <a:r>
              <a:rPr lang="en-GB" dirty="0"/>
              <a:t>3. Prevent unnecessary disability and handicap</a:t>
            </a:r>
          </a:p>
          <a:p>
            <a:r>
              <a:rPr lang="en-GB" dirty="0"/>
              <a:t>4. Improve quality of life</a:t>
            </a:r>
          </a:p>
          <a:p>
            <a:endParaRPr lang="en-GB" dirty="0"/>
          </a:p>
        </p:txBody>
      </p:sp>
    </p:spTree>
    <p:extLst>
      <p:ext uri="{BB962C8B-B14F-4D97-AF65-F5344CB8AC3E}">
        <p14:creationId xmlns:p14="http://schemas.microsoft.com/office/powerpoint/2010/main" val="404046345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BC8C1-96F3-4B94-8084-A2631CE1485D}"/>
              </a:ext>
            </a:extLst>
          </p:cNvPr>
          <p:cNvSpPr>
            <a:spLocks noGrp="1"/>
          </p:cNvSpPr>
          <p:nvPr>
            <p:ph type="title"/>
          </p:nvPr>
        </p:nvSpPr>
        <p:spPr>
          <a:xfrm>
            <a:off x="709612" y="-371475"/>
            <a:ext cx="10772775" cy="1658198"/>
          </a:xfrm>
        </p:spPr>
        <p:txBody>
          <a:bodyPr>
            <a:normAutofit/>
          </a:bodyPr>
          <a:lstStyle/>
          <a:p>
            <a:pPr algn="ctr"/>
            <a:r>
              <a:rPr lang="en-GB" sz="4000" b="1" dirty="0"/>
              <a:t>Key Physiotherapy Treatment Aims</a:t>
            </a:r>
          </a:p>
        </p:txBody>
      </p:sp>
      <p:sp>
        <p:nvSpPr>
          <p:cNvPr id="3" name="Content Placeholder 2">
            <a:extLst>
              <a:ext uri="{FF2B5EF4-FFF2-40B4-BE49-F238E27FC236}">
                <a16:creationId xmlns:a16="http://schemas.microsoft.com/office/drawing/2014/main" id="{56F1E6C7-D48D-40BD-863C-81C0B18E438F}"/>
              </a:ext>
            </a:extLst>
          </p:cNvPr>
          <p:cNvSpPr>
            <a:spLocks noGrp="1"/>
          </p:cNvSpPr>
          <p:nvPr>
            <p:ph idx="1"/>
          </p:nvPr>
        </p:nvSpPr>
        <p:spPr>
          <a:xfrm>
            <a:off x="448056" y="1497330"/>
            <a:ext cx="10753725" cy="4146233"/>
          </a:xfrm>
        </p:spPr>
        <p:txBody>
          <a:bodyPr>
            <a:noAutofit/>
          </a:bodyPr>
          <a:lstStyle/>
          <a:p>
            <a:r>
              <a:rPr lang="en-GB" b="1" dirty="0">
                <a:solidFill>
                  <a:schemeClr val="tx1"/>
                </a:solidFill>
              </a:rPr>
              <a:t>1. </a:t>
            </a:r>
            <a:r>
              <a:rPr lang="en-GB" dirty="0">
                <a:solidFill>
                  <a:schemeClr val="tx1"/>
                </a:solidFill>
              </a:rPr>
              <a:t>Preserve, maintain and increase muscle strength</a:t>
            </a:r>
          </a:p>
          <a:p>
            <a:r>
              <a:rPr lang="en-GB" dirty="0">
                <a:solidFill>
                  <a:schemeClr val="tx1"/>
                </a:solidFill>
              </a:rPr>
              <a:t>2. Promote postural stability</a:t>
            </a:r>
          </a:p>
          <a:p>
            <a:r>
              <a:rPr lang="en-GB" dirty="0">
                <a:solidFill>
                  <a:schemeClr val="tx1"/>
                </a:solidFill>
              </a:rPr>
              <a:t>3. Prevent contractures</a:t>
            </a:r>
          </a:p>
          <a:p>
            <a:r>
              <a:rPr lang="en-GB" dirty="0">
                <a:solidFill>
                  <a:schemeClr val="tx1"/>
                </a:solidFill>
              </a:rPr>
              <a:t>4. Maintain and encourage weight-bearing</a:t>
            </a:r>
          </a:p>
          <a:p>
            <a:r>
              <a:rPr lang="en-GB" dirty="0">
                <a:solidFill>
                  <a:schemeClr val="tx1"/>
                </a:solidFill>
              </a:rPr>
              <a:t>5. Provide support to aid with motivation and continuation of </a:t>
            </a:r>
          </a:p>
          <a:p>
            <a:r>
              <a:rPr lang="en-GB" dirty="0">
                <a:solidFill>
                  <a:schemeClr val="tx1"/>
                </a:solidFill>
              </a:rPr>
              <a:t>physiotherapy</a:t>
            </a:r>
          </a:p>
          <a:p>
            <a:r>
              <a:rPr lang="en-GB" dirty="0">
                <a:solidFill>
                  <a:schemeClr val="tx1"/>
                </a:solidFill>
              </a:rPr>
              <a:t>6. Provide support to help maintain or increase activity levels</a:t>
            </a:r>
          </a:p>
          <a:p>
            <a:r>
              <a:rPr lang="en-GB" dirty="0">
                <a:solidFill>
                  <a:schemeClr val="tx1"/>
                </a:solidFill>
              </a:rPr>
              <a:t>7. Patient education</a:t>
            </a:r>
          </a:p>
          <a:p>
            <a:r>
              <a:rPr lang="en-GB" dirty="0">
                <a:solidFill>
                  <a:schemeClr val="tx1"/>
                </a:solidFill>
              </a:rPr>
              <a:t>8. Manage Fatigue</a:t>
            </a:r>
          </a:p>
          <a:p>
            <a:r>
              <a:rPr lang="en-GB" dirty="0">
                <a:solidFill>
                  <a:schemeClr val="tx1"/>
                </a:solidFill>
              </a:rPr>
              <a:t>9. Provide aids necessary for living</a:t>
            </a:r>
          </a:p>
          <a:p>
            <a:endParaRPr lang="en-GB" dirty="0"/>
          </a:p>
        </p:txBody>
      </p:sp>
    </p:spTree>
    <p:extLst>
      <p:ext uri="{BB962C8B-B14F-4D97-AF65-F5344CB8AC3E}">
        <p14:creationId xmlns:p14="http://schemas.microsoft.com/office/powerpoint/2010/main" val="497689419"/>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811</TotalTime>
  <Words>9703</Words>
  <Application>Microsoft Office PowerPoint</Application>
  <PresentationFormat>Widescreen</PresentationFormat>
  <Paragraphs>987</Paragraphs>
  <Slides>99</Slides>
  <Notes>54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99</vt:i4>
      </vt:variant>
    </vt:vector>
  </HeadingPairs>
  <TitlesOfParts>
    <vt:vector size="103" baseType="lpstr">
      <vt:lpstr>Arial</vt:lpstr>
      <vt:lpstr>Calibri</vt:lpstr>
      <vt:lpstr>Calibri Light</vt:lpstr>
      <vt:lpstr>Metropolitan</vt:lpstr>
      <vt:lpstr>Neurological Assessment in Common Clinical Conditions </vt:lpstr>
      <vt:lpstr>Lecture Learning Outcomes:</vt:lpstr>
      <vt:lpstr>Multiple Sclerosis MS</vt:lpstr>
      <vt:lpstr>MS  </vt:lpstr>
      <vt:lpstr>MS Aetiology </vt:lpstr>
      <vt:lpstr>MS  Epidemiology</vt:lpstr>
      <vt:lpstr>PowerPoint Presentation</vt:lpstr>
      <vt:lpstr>Pathophysiology</vt:lpstr>
      <vt:lpstr>Types and Progression</vt:lpstr>
      <vt:lpstr>MS Types Disease Course</vt:lpstr>
      <vt:lpstr>Hallmark Clinical Features</vt:lpstr>
      <vt:lpstr>Red Flags &amp; Urgent Referral Indicators</vt:lpstr>
      <vt:lpstr>Physiotherapy Assessment</vt:lpstr>
      <vt:lpstr>Physiotherapy Management</vt:lpstr>
      <vt:lpstr>PowerPoint Presentation</vt:lpstr>
      <vt:lpstr>Evidence-Based Interventions</vt:lpstr>
      <vt:lpstr>MS references </vt:lpstr>
      <vt:lpstr>Motor Neurone Disease</vt:lpstr>
      <vt:lpstr>MND</vt:lpstr>
      <vt:lpstr>MND Aetiology and Epidemiology</vt:lpstr>
      <vt:lpstr>PowerPoint Presentation</vt:lpstr>
      <vt:lpstr>Pathophysiology</vt:lpstr>
      <vt:lpstr>Disease Progression</vt:lpstr>
      <vt:lpstr>Clinical Features</vt:lpstr>
      <vt:lpstr>Motor &amp; Sensory Deficits</vt:lpstr>
      <vt:lpstr>Red Flag/Urgent referral Indicators</vt:lpstr>
      <vt:lpstr>Physiotherapy Assessment</vt:lpstr>
      <vt:lpstr>PowerPoint Presentation</vt:lpstr>
      <vt:lpstr>Physiotherapy Role in MDT</vt:lpstr>
      <vt:lpstr>References</vt:lpstr>
      <vt:lpstr>Parkinson's Disease </vt:lpstr>
      <vt:lpstr>Parkinson’s Disease</vt:lpstr>
      <vt:lpstr>Parkinson’s Aetiology and Epidemiology </vt:lpstr>
      <vt:lpstr>Pathophysiology</vt:lpstr>
      <vt:lpstr>Disease Progression</vt:lpstr>
      <vt:lpstr>Hallmark Clinical Features</vt:lpstr>
      <vt:lpstr>Non-Motor Features</vt:lpstr>
      <vt:lpstr>“On” and “Off”</vt:lpstr>
      <vt:lpstr>PD</vt:lpstr>
      <vt:lpstr>Red Flag/Urgent Referral Indicators</vt:lpstr>
      <vt:lpstr>Physiotherapy Assessment</vt:lpstr>
      <vt:lpstr>PowerPoint Presentation</vt:lpstr>
      <vt:lpstr>Physiotherapy Role in MDT</vt:lpstr>
      <vt:lpstr>References</vt:lpstr>
      <vt:lpstr>Cerebellar Ataxia</vt:lpstr>
      <vt:lpstr>Overview of Cerebellar Ataxia</vt:lpstr>
      <vt:lpstr>CA Aetiology and Epidemiology </vt:lpstr>
      <vt:lpstr>Pathophysiology</vt:lpstr>
      <vt:lpstr>Disease Progression</vt:lpstr>
      <vt:lpstr>Hallmark Clinical Features</vt:lpstr>
      <vt:lpstr>Motor &amp; Sensory Deficit Patterns</vt:lpstr>
      <vt:lpstr>Red Flag/Urgent Referral Indicators</vt:lpstr>
      <vt:lpstr>Physiotherapy Assessment</vt:lpstr>
      <vt:lpstr>Physiotherapy Management Principles</vt:lpstr>
      <vt:lpstr>PowerPoint Presentation</vt:lpstr>
      <vt:lpstr>Physiotherapy Role in the MDT</vt:lpstr>
      <vt:lpstr>References</vt:lpstr>
      <vt:lpstr>Hyperkinetic Disorders</vt:lpstr>
      <vt:lpstr>What Are Hyperkinetic Disorders?</vt:lpstr>
      <vt:lpstr>Basal Ganglia Pathophysiology</vt:lpstr>
      <vt:lpstr>Huntington’s Disease (HD)</vt:lpstr>
      <vt:lpstr>Dystonia</vt:lpstr>
      <vt:lpstr>Chorea and Athetosis</vt:lpstr>
      <vt:lpstr>Tremor and Tics</vt:lpstr>
      <vt:lpstr>Common Motor and Sensory Deficit Patterns</vt:lpstr>
      <vt:lpstr>Red Flags and Urgent Referral</vt:lpstr>
      <vt:lpstr>Physiotherapy Assessment</vt:lpstr>
      <vt:lpstr>Physiotherapy Management Strategies</vt:lpstr>
      <vt:lpstr>Multidisciplinary Collaboration</vt:lpstr>
      <vt:lpstr>References</vt:lpstr>
      <vt:lpstr>Functional Neurological Disorder (FND)</vt:lpstr>
      <vt:lpstr>What is Functional Neurological Disorder (FND)?</vt:lpstr>
      <vt:lpstr>Aetiology and Risk Factors</vt:lpstr>
      <vt:lpstr>Pathophysiology Overview</vt:lpstr>
      <vt:lpstr>Pathophysiology</vt:lpstr>
      <vt:lpstr>Clinical Features: Motor Presentations</vt:lpstr>
      <vt:lpstr>Clinical Features: Sensory and Seizure Presentations</vt:lpstr>
      <vt:lpstr>Distinguishing Features &amp; Diagnostic Clues</vt:lpstr>
      <vt:lpstr>Red Flags and Urgent Referral</vt:lpstr>
      <vt:lpstr>Physiotherapy Assessment</vt:lpstr>
      <vt:lpstr>Physiotherapy Management Strategies</vt:lpstr>
      <vt:lpstr>Multidisciplinary and Psychosocial Approach</vt:lpstr>
      <vt:lpstr>References  Nielsen G, Stone J, Matthews A, et alPhysiotherapy for functional motor disorders: a consensus recommendationJournal of Neurology, Neurosurgery &amp; Psychiatry 2015;86:1113-1119. Edwards, M. J., &amp; Bhatia, K. P. (2012). Functional (psychogenic) movement disorders: Merging mind and brain. The Lancet Neurology, 11(3), 250–260. Stone, J., &amp; Carson, A. (2020). Functional Neurological Disorder: The Bare Essentials. Practical Neurology, 20(1), 13–21. Nicholson, T. R., Aybek, S., Craig, T., Harris, T., Wojcik, W., David, A. S., &amp; Edwards, M. J. (2020). Functional neurological disorder: A common and treatable cause of neurological symptoms. Journal of Neurology, 267(7), 1989–1999 Espay, A. J., et al. (2018). Current Concepts in Diagnosis and Treatment of Functional Neurological Disorders. JAMA Neurology, 75(9), 1132–1141. American Psychiatric Association. (2022). Diagnostic and Statistical Manual of Mental Disorders (5th ed., Text Revision; DSM-5-TR). Washington, DC: APA Press. Better understanding Functional Neurological Disorder and how therapy can help - Aevum Health FND Action - Home FND Hope - FND Hope International Functional neurological disorder | Health topics A to Z | CKS | NICE  </vt:lpstr>
      <vt:lpstr>Stroke (CVA)</vt:lpstr>
      <vt:lpstr>Stroke</vt:lpstr>
      <vt:lpstr>Epidemiology </vt:lpstr>
      <vt:lpstr>Pathophysiology: Ischaemic Stroke</vt:lpstr>
      <vt:lpstr>Pathophysiology: Haemorrhagic Stroke</vt:lpstr>
      <vt:lpstr>PowerPoint Presentation</vt:lpstr>
      <vt:lpstr>Progression and Recovery</vt:lpstr>
      <vt:lpstr>Hallmark Clinical Features</vt:lpstr>
      <vt:lpstr>Common Motor Deficits</vt:lpstr>
      <vt:lpstr>Common Sensory and Perceptual Deficits</vt:lpstr>
      <vt:lpstr>Red Flags and Urgent Referral</vt:lpstr>
      <vt:lpstr>Physiotherapy Assessment</vt:lpstr>
      <vt:lpstr>PowerPoint Presentation</vt:lpstr>
      <vt:lpstr>References</vt:lpstr>
      <vt:lpstr>Considerations for assessment in lifelong neuro conditions</vt:lpstr>
      <vt:lpstr>Key Physiotherapy Treatment Aims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Neurological assessment in common clinical conditions</dc:title>
  <dc:creator>Price Charlotte</dc:creator>
  <cp:lastModifiedBy>Price Charlotte</cp:lastModifiedBy>
  <cp:revision>65</cp:revision>
  <dcterms:created xsi:type="dcterms:W3CDTF">2025-10-22T12:53:30Z</dcterms:created>
  <dcterms:modified xsi:type="dcterms:W3CDTF">2025-10-26T22:07:48Z</dcterms:modified>
</cp:coreProperties>
</file>