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69" r:id="rId2"/>
    <p:sldId id="670" r:id="rId3"/>
    <p:sldId id="671" r:id="rId4"/>
    <p:sldId id="672" r:id="rId5"/>
    <p:sldId id="673" r:id="rId6"/>
    <p:sldId id="674" r:id="rId7"/>
    <p:sldId id="638" r:id="rId8"/>
    <p:sldId id="675" r:id="rId9"/>
    <p:sldId id="676" r:id="rId10"/>
    <p:sldId id="677" r:id="rId11"/>
    <p:sldId id="678" r:id="rId12"/>
    <p:sldId id="679" r:id="rId13"/>
    <p:sldId id="680" r:id="rId14"/>
    <p:sldId id="681" r:id="rId15"/>
    <p:sldId id="682" r:id="rId16"/>
    <p:sldId id="683" r:id="rId17"/>
    <p:sldId id="624" r:id="rId18"/>
    <p:sldId id="684" r:id="rId19"/>
    <p:sldId id="685" r:id="rId20"/>
    <p:sldId id="6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2A6F-0ED8-E285-CA63-31491CF95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4E865-1D9E-6170-9F7F-EF627DA07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01457-5259-2E1A-D7DD-1F6B534A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F7577-23C0-DC05-35FE-A736A7C5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ED1CA-AE5F-579B-3517-227398F1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059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08B2-65F0-85C5-65F6-3618FE8E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1F289-C45E-A69C-8060-CC065D99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0400E-9A7C-6485-2195-90252B91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8149-6763-659F-7345-31A3CE24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BFCC1-111C-B710-005F-EEAF0336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75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48DA-8DED-616E-2507-C0F7196D1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7E13A-A52B-1722-E734-D645EC5D4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F7553-8A4E-D583-33F0-E91F9221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C30D0-6869-ECBD-85B8-18D71853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9945B-616D-F14E-0CD4-676AC5AA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60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7589-DBFD-88B8-C67F-A644A8BA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74DF-7BF9-73B2-18E7-9570158C8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24C3B-480F-9A9E-E163-9A151B685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9F282-A7DB-61E8-DAB0-711438FC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0F309-BF00-F4D3-E7F5-E05E92F5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796A8-A974-4A0A-8300-BA7B9C2E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36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D421-A465-D97C-8AC3-74A916A9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F8DCD-3D19-B193-D847-C0D85102F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85FCF-EE81-1028-C13A-138871883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7E91A8-8D73-4EC1-66DE-801038BDF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10077-BB22-52F6-FA4A-E3531CFE0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8783C9-FF59-C597-560D-5C19C321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388D4-DCCE-BB5D-8AAD-370ABEDF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59E97-799F-9B0D-DD36-9ED8172A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3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44098-919E-D172-9700-7FC74526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4A307E-F358-7E0C-7046-F1A5CF0F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C3DE9-6995-93D2-5FA2-E615BD92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02B02-FC45-780E-DCD1-F513F246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50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661715-6B8B-7027-1B39-0802E4A6E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CC1BE2-3F90-C9F8-283E-C8BBE05C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8845C-3CB4-D486-9667-6D11EA79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44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3A23-1CD9-90AE-AE1A-7A28C342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55C67-C604-7A27-8FEB-41C2EE4F3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71C35-29EB-5F27-5985-5BB4B4647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4077B-E4FC-6777-1526-4BF2552E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FD12D-4F4A-0605-A39C-4C387792E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94418-F7E5-2AC7-576B-67D9EF17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35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605C-F580-43F3-4CE0-A75C30A1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375B0-4852-5F8B-5B6B-3FA14D947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DE006-2E30-83CA-0C99-FDB9C74C7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294C1-B0CA-61E7-0AEB-1D5AB1BF7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CFFE3-7580-73CB-2CAF-9201E96F4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02E77-3B58-9B3A-1582-A4FD575A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360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7EE37-0893-2A81-25C1-9D638AD1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F0125-744C-0BBF-EC7F-66BCFB557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3646D-7524-A871-4691-C4617F4D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4590F-529F-BD2C-76B3-91DAB7B6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70FA0-DEEF-7835-C525-348153CC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80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4FE1DC-AA00-8F50-214D-02ACCD930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4A43F-79F0-C4FB-1FC2-71CC6ABA6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48778-63C3-BBAE-3287-1B4C345F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1BEBF-D112-0846-2677-3FB01952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D0E87-9E6B-DD3B-ADEE-0A93D83BB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65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F4773-1FC9-7CC7-EC15-B038AF98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4CB0C-00BC-C30E-37DA-2CD524BCE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1604E-D9A3-4893-A538-027EDF9E3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21DDC-8044-4117-8183-116AEB90CEA5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8C71C-C97C-F6FF-5D24-A279075E3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0D18C-43B3-CF91-E9FA-494F2B279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292A7-52DA-47E9-AD66-AD99E1B10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3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25C2-7FAF-B662-7496-83347043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CF19-CF62-08F4-D89D-DA8F6355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Cranial nerves of the pons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77A51-CB9B-A2E8-6695-D833DC3DBBD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</a:blip>
          <a:srcRect b="48195"/>
          <a:stretch/>
        </p:blipFill>
        <p:spPr>
          <a:xfrm>
            <a:off x="350183" y="1568377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8F7762-4B15-5FE6-C5C0-4DA0FC1ED95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</a:blip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  <p:pic>
        <p:nvPicPr>
          <p:cNvPr id="7" name="Picture 6" descr="A diagram of the muscles of the human body&#10;&#10;Description automatically generated">
            <a:extLst>
              <a:ext uri="{FF2B5EF4-FFF2-40B4-BE49-F238E27FC236}">
                <a16:creationId xmlns:a16="http://schemas.microsoft.com/office/drawing/2014/main" id="{36CAD6C6-B922-B13F-064D-8A106E2E2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950" y="2820414"/>
            <a:ext cx="4643698" cy="1515366"/>
          </a:xfrm>
          <a:prstGeom prst="rect">
            <a:avLst/>
          </a:prstGeom>
        </p:spPr>
      </p:pic>
      <p:pic>
        <p:nvPicPr>
          <p:cNvPr id="9" name="Picture 8" descr="A diagram of a human body&#10;&#10;Description automatically generated">
            <a:extLst>
              <a:ext uri="{FF2B5EF4-FFF2-40B4-BE49-F238E27FC236}">
                <a16:creationId xmlns:a16="http://schemas.microsoft.com/office/drawing/2014/main" id="{90BF5B27-9BF8-D3B3-1214-6F97F216A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297" y="2813383"/>
            <a:ext cx="5490978" cy="144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10CC-891E-22DB-A17E-9EF4A7F4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VIII - Vestibulocochlear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7C35D-CFB6-D197-218E-DEB72B2DD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369"/>
          <a:stretch/>
        </p:blipFill>
        <p:spPr>
          <a:xfrm>
            <a:off x="109852" y="1544824"/>
            <a:ext cx="7125536" cy="3987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3336FD-C692-CCD2-A98E-4BF7BD36D7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769"/>
          <a:stretch/>
        </p:blipFill>
        <p:spPr>
          <a:xfrm>
            <a:off x="6946080" y="2175250"/>
            <a:ext cx="5136068" cy="21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4465-CCE8-FE71-24BD-5C3D6348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VII - Facial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E4666-9471-992D-D715-F36D3CD43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6493"/>
          <a:stretch/>
        </p:blipFill>
        <p:spPr>
          <a:xfrm>
            <a:off x="362662" y="1405343"/>
            <a:ext cx="6083926" cy="4546776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6AE1EAE-F355-F767-73A6-513A7AF63E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443"/>
          <a:stretch/>
        </p:blipFill>
        <p:spPr>
          <a:xfrm>
            <a:off x="6466969" y="2518525"/>
            <a:ext cx="5545476" cy="232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84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9BD72-EFE6-A180-C16F-3C6D59ABF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 - Abducens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1C0ED7-B52E-2663-5967-95FA4398B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764" r="15312" b="24652"/>
          <a:stretch/>
        </p:blipFill>
        <p:spPr>
          <a:xfrm>
            <a:off x="1215414" y="1819372"/>
            <a:ext cx="4339140" cy="4038922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EE9B5BB-53CC-1B45-E5F3-7386896885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591"/>
          <a:stretch/>
        </p:blipFill>
        <p:spPr>
          <a:xfrm>
            <a:off x="6096000" y="3078822"/>
            <a:ext cx="5526630" cy="10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7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1520-45DB-0C73-E0B8-13848635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Trigeminal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BFE5B-5DBE-BFFA-E05C-1103D3F64E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80" b="40041"/>
          <a:stretch/>
        </p:blipFill>
        <p:spPr>
          <a:xfrm>
            <a:off x="283975" y="1567543"/>
            <a:ext cx="6411331" cy="4111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15A8CD-5D40-498A-AAB4-F00891649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692"/>
          <a:stretch/>
        </p:blipFill>
        <p:spPr>
          <a:xfrm>
            <a:off x="6595796" y="2577116"/>
            <a:ext cx="5495866" cy="209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12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68D05-A4DF-6889-C550-0EE7E084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107E-F78A-35A9-257F-DD5D1E35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Cranial nerves of the pons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A1ACB0-6ED5-02EC-5235-06480507E892}"/>
              </a:ext>
            </a:extLst>
          </p:cNvPr>
          <p:cNvGraphicFramePr>
            <a:graphicFrameLocks noGrp="1"/>
          </p:cNvGraphicFramePr>
          <p:nvPr/>
        </p:nvGraphicFramePr>
        <p:xfrm>
          <a:off x="204462" y="1380119"/>
          <a:ext cx="11466918" cy="402676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76875">
                  <a:extLst>
                    <a:ext uri="{9D8B030D-6E8A-4147-A177-3AD203B41FA5}">
                      <a16:colId xmlns:a16="http://schemas.microsoft.com/office/drawing/2014/main" val="3880467983"/>
                    </a:ext>
                  </a:extLst>
                </a:gridCol>
                <a:gridCol w="1806082">
                  <a:extLst>
                    <a:ext uri="{9D8B030D-6E8A-4147-A177-3AD203B41FA5}">
                      <a16:colId xmlns:a16="http://schemas.microsoft.com/office/drawing/2014/main" val="1963411889"/>
                    </a:ext>
                  </a:extLst>
                </a:gridCol>
                <a:gridCol w="2356993">
                  <a:extLst>
                    <a:ext uri="{9D8B030D-6E8A-4147-A177-3AD203B41FA5}">
                      <a16:colId xmlns:a16="http://schemas.microsoft.com/office/drawing/2014/main" val="1299710248"/>
                    </a:ext>
                  </a:extLst>
                </a:gridCol>
                <a:gridCol w="6326968">
                  <a:extLst>
                    <a:ext uri="{9D8B030D-6E8A-4147-A177-3AD203B41FA5}">
                      <a16:colId xmlns:a16="http://schemas.microsoft.com/office/drawing/2014/main" val="2499284477"/>
                    </a:ext>
                  </a:extLst>
                </a:gridCol>
              </a:tblGrid>
              <a:tr h="357809">
                <a:tc>
                  <a:txBody>
                    <a:bodyPr/>
                    <a:lstStyle/>
                    <a:p>
                      <a:r>
                        <a:rPr lang="en-GB" sz="16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Nuclei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Targets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276562"/>
                  </a:ext>
                </a:extLst>
              </a:tr>
              <a:tr h="584989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Vestibulocochlear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Vestibular nuclei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Cochlear nuclei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Semicircular canals or the maculae of the utricle and saccule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Organ of Corti of the cochlea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667687"/>
                  </a:ext>
                </a:extLst>
              </a:tr>
              <a:tr h="1433506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Facial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Spinal trigeminal nucleus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Nucleus solitarious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Facial nucleus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Superior salivatory nucleus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General sensation from a small portion of the external auditory meatus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Taste from front 2/3 of the tongue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Stapedius muscle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Muscles of facial expression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Stylohyoid muscle and posterior belly of digastric muscle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Nasal mucosa, lacrimal gland, submandibular and sublingual salivary glands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388058"/>
                  </a:ext>
                </a:extLst>
              </a:tr>
              <a:tr h="340771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Abducens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Nucleus abducens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Lateral rectus muscle of the eye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478704"/>
                  </a:ext>
                </a:extLst>
              </a:tr>
              <a:tr h="1020039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Trigeminal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Main sensory nucleus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Spinal trigeminal nucleus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Motor nucleus of trigeminal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General sensation of the face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Temporalis, masseter, medial, and lateral Pterygoid mastication muscles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Mylohyoid, the anterior belly of the digastric, the tensor tympani, and the tensor </a:t>
                      </a:r>
                      <a:r>
                        <a:rPr lang="en-GB" sz="1400" dirty="0" err="1">
                          <a:solidFill>
                            <a:srgbClr val="C00000"/>
                          </a:solidFill>
                        </a:rPr>
                        <a:t>veli</a:t>
                      </a: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 palatini accessory muscles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5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31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6BC27-3521-A68A-BBE7-E0F2982D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BC67-CBD5-D2E5-8A33-94A26A96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midbrain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2F075-8DEF-A10F-AD8F-4A9FD321E11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</a:blip>
          <a:srcRect b="48195"/>
          <a:stretch/>
        </p:blipFill>
        <p:spPr>
          <a:xfrm>
            <a:off x="350183" y="1568377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F44070-6A28-DA79-5540-BC028F7439E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</a:blip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  <p:pic>
        <p:nvPicPr>
          <p:cNvPr id="4" name="Picture 3" descr="A diagram of the internal organs of the human body&#10;&#10;Description automatically generated">
            <a:extLst>
              <a:ext uri="{FF2B5EF4-FFF2-40B4-BE49-F238E27FC236}">
                <a16:creationId xmlns:a16="http://schemas.microsoft.com/office/drawing/2014/main" id="{972D7B29-9D19-A364-A6AC-12A471569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28" y="1671411"/>
            <a:ext cx="4971040" cy="1779814"/>
          </a:xfrm>
          <a:prstGeom prst="rect">
            <a:avLst/>
          </a:prstGeom>
        </p:spPr>
      </p:pic>
      <p:pic>
        <p:nvPicPr>
          <p:cNvPr id="8" name="Picture 7" descr="A diagram of the human body&#10;&#10;Description automatically generated">
            <a:extLst>
              <a:ext uri="{FF2B5EF4-FFF2-40B4-BE49-F238E27FC236}">
                <a16:creationId xmlns:a16="http://schemas.microsoft.com/office/drawing/2014/main" id="{C88CB151-6F9C-CD44-8FC6-822974553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962" y="1922173"/>
            <a:ext cx="4712188" cy="99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6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F4D4-F046-DF7F-E5CE-AFDAFCFC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midbrain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A4139-CF1B-4284-DFC7-792A1140C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4"/>
          <a:stretch/>
        </p:blipFill>
        <p:spPr>
          <a:xfrm>
            <a:off x="838200" y="3642988"/>
            <a:ext cx="5034916" cy="28550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2691BD-4EBB-6102-E015-C24D59D4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388"/>
          <a:stretch/>
        </p:blipFill>
        <p:spPr>
          <a:xfrm>
            <a:off x="6492240" y="1543169"/>
            <a:ext cx="5257800" cy="449579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0E632B3-6651-A92F-9D5A-981C9816B3B0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14" name="Picture 13" descr="A drawing of a brain&#10;&#10;Description automatically generated">
              <a:extLst>
                <a:ext uri="{FF2B5EF4-FFF2-40B4-BE49-F238E27FC236}">
                  <a16:creationId xmlns:a16="http://schemas.microsoft.com/office/drawing/2014/main" id="{18E5F1D8-1203-A96E-213B-183EDD28D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97379E-F918-6643-F3AA-2D77C4FF2DF4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9C1D472-0802-8DB3-13E5-DA8E6DA4A891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2B8E4E-A825-99DE-3629-667180E352AB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937741-D2E8-8D15-B087-9948B60CF545}"/>
              </a:ext>
            </a:extLst>
          </p:cNvPr>
          <p:cNvCxnSpPr>
            <a:cxnSpLocks/>
          </p:cNvCxnSpPr>
          <p:nvPr/>
        </p:nvCxnSpPr>
        <p:spPr>
          <a:xfrm>
            <a:off x="1040529" y="1401425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52CCB2F-3878-CE3A-C799-097704DC0382}"/>
              </a:ext>
            </a:extLst>
          </p:cNvPr>
          <p:cNvGrpSpPr/>
          <p:nvPr/>
        </p:nvGrpSpPr>
        <p:grpSpPr>
          <a:xfrm>
            <a:off x="9331265" y="6283963"/>
            <a:ext cx="2531514" cy="369332"/>
            <a:chOff x="6025953" y="5898082"/>
            <a:chExt cx="2531514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AADCBC-FDBC-5738-E22B-C399E3243EC2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49133D-F101-6FAD-E461-27570E77C669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DAC13D-AA13-4634-2514-83704A963403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E97367-2AC3-818A-891A-816E257F9AA7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2799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3A48C-5446-D82F-8EC4-E255D645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9D79-D3AF-E1FC-1A63-F6843D88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Cranial nerves of the midbrain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70802-2126-922D-BE2E-33F85D9484C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</a:blip>
          <a:srcRect b="48195"/>
          <a:stretch/>
        </p:blipFill>
        <p:spPr>
          <a:xfrm>
            <a:off x="350183" y="1568377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09C20C-A658-F7FE-10E4-6EBCE749243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</a:blip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  <p:pic>
        <p:nvPicPr>
          <p:cNvPr id="4" name="Picture 3" descr="A diagram of the internal organs of the human body&#10;&#10;Description automatically generated">
            <a:extLst>
              <a:ext uri="{FF2B5EF4-FFF2-40B4-BE49-F238E27FC236}">
                <a16:creationId xmlns:a16="http://schemas.microsoft.com/office/drawing/2014/main" id="{3F47B1E4-B7D7-14EE-2321-B01466EEF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28" y="1671411"/>
            <a:ext cx="4971040" cy="1779814"/>
          </a:xfrm>
          <a:prstGeom prst="rect">
            <a:avLst/>
          </a:prstGeom>
        </p:spPr>
      </p:pic>
      <p:pic>
        <p:nvPicPr>
          <p:cNvPr id="8" name="Picture 7" descr="A diagram of the human body&#10;&#10;Description automatically generated">
            <a:extLst>
              <a:ext uri="{FF2B5EF4-FFF2-40B4-BE49-F238E27FC236}">
                <a16:creationId xmlns:a16="http://schemas.microsoft.com/office/drawing/2014/main" id="{9E5CB014-62DA-F600-409E-E06FCFBF1C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962" y="1922173"/>
            <a:ext cx="4712188" cy="99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3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06EA-9CCE-8FB5-111A-31391296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IV </a:t>
            </a:r>
            <a:r>
              <a:rPr lang="en-GB" dirty="0"/>
              <a:t>- Trochlear</a:t>
            </a:r>
          </a:p>
        </p:txBody>
      </p:sp>
      <p:pic>
        <p:nvPicPr>
          <p:cNvPr id="14" name="Picture 13" descr="A profile of a person with a skull&#10;&#10;Description automatically generated">
            <a:extLst>
              <a:ext uri="{FF2B5EF4-FFF2-40B4-BE49-F238E27FC236}">
                <a16:creationId xmlns:a16="http://schemas.microsoft.com/office/drawing/2014/main" id="{AE4F3BD1-8940-CCF7-5CE1-2419B74CF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00" y="1407600"/>
            <a:ext cx="3991182" cy="479244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547D945-938C-0C9E-49CC-E42B4AF0C86D}"/>
              </a:ext>
            </a:extLst>
          </p:cNvPr>
          <p:cNvSpPr/>
          <p:nvPr/>
        </p:nvSpPr>
        <p:spPr>
          <a:xfrm>
            <a:off x="1691640" y="1598295"/>
            <a:ext cx="101600" cy="101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D2988A7-6F3D-1437-4CE3-F7AB1FA879C3}"/>
              </a:ext>
            </a:extLst>
          </p:cNvPr>
          <p:cNvSpPr/>
          <p:nvPr/>
        </p:nvSpPr>
        <p:spPr>
          <a:xfrm>
            <a:off x="1257288" y="1535863"/>
            <a:ext cx="2567000" cy="2772014"/>
          </a:xfrm>
          <a:custGeom>
            <a:avLst/>
            <a:gdLst>
              <a:gd name="connsiteX0" fmla="*/ 476262 w 2567000"/>
              <a:gd name="connsiteY0" fmla="*/ 97675 h 2772014"/>
              <a:gd name="connsiteX1" fmla="*/ 338150 w 2567000"/>
              <a:gd name="connsiteY1" fmla="*/ 7187 h 2772014"/>
              <a:gd name="connsiteX2" fmla="*/ 209562 w 2567000"/>
              <a:gd name="connsiteY2" fmla="*/ 31000 h 2772014"/>
              <a:gd name="connsiteX3" fmla="*/ 12 w 2567000"/>
              <a:gd name="connsiteY3" fmla="*/ 231025 h 2772014"/>
              <a:gd name="connsiteX4" fmla="*/ 219087 w 2567000"/>
              <a:gd name="connsiteY4" fmla="*/ 307225 h 2772014"/>
              <a:gd name="connsiteX5" fmla="*/ 495312 w 2567000"/>
              <a:gd name="connsiteY5" fmla="*/ 254837 h 2772014"/>
              <a:gd name="connsiteX6" fmla="*/ 700100 w 2567000"/>
              <a:gd name="connsiteY6" fmla="*/ 150062 h 2772014"/>
              <a:gd name="connsiteX7" fmla="*/ 919175 w 2567000"/>
              <a:gd name="connsiteY7" fmla="*/ 183400 h 2772014"/>
              <a:gd name="connsiteX8" fmla="*/ 1128725 w 2567000"/>
              <a:gd name="connsiteY8" fmla="*/ 350087 h 2772014"/>
              <a:gd name="connsiteX9" fmla="*/ 1338275 w 2567000"/>
              <a:gd name="connsiteY9" fmla="*/ 893012 h 2772014"/>
              <a:gd name="connsiteX10" fmla="*/ 1519250 w 2567000"/>
              <a:gd name="connsiteY10" fmla="*/ 1688350 h 2772014"/>
              <a:gd name="connsiteX11" fmla="*/ 1752612 w 2567000"/>
              <a:gd name="connsiteY11" fmla="*/ 2336050 h 2772014"/>
              <a:gd name="connsiteX12" fmla="*/ 1924062 w 2567000"/>
              <a:gd name="connsiteY12" fmla="*/ 2602750 h 2772014"/>
              <a:gd name="connsiteX13" fmla="*/ 2247912 w 2567000"/>
              <a:gd name="connsiteY13" fmla="*/ 2769437 h 2772014"/>
              <a:gd name="connsiteX14" fmla="*/ 2567000 w 2567000"/>
              <a:gd name="connsiteY14" fmla="*/ 2688475 h 277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67000" h="2772014">
                <a:moveTo>
                  <a:pt x="476262" y="97675"/>
                </a:moveTo>
                <a:cubicBezTo>
                  <a:pt x="429431" y="57987"/>
                  <a:pt x="382600" y="18300"/>
                  <a:pt x="338150" y="7187"/>
                </a:cubicBezTo>
                <a:cubicBezTo>
                  <a:pt x="293700" y="-3926"/>
                  <a:pt x="265918" y="-6306"/>
                  <a:pt x="209562" y="31000"/>
                </a:cubicBezTo>
                <a:cubicBezTo>
                  <a:pt x="153206" y="68306"/>
                  <a:pt x="-1575" y="184988"/>
                  <a:pt x="12" y="231025"/>
                </a:cubicBezTo>
                <a:cubicBezTo>
                  <a:pt x="1599" y="277062"/>
                  <a:pt x="136537" y="303256"/>
                  <a:pt x="219087" y="307225"/>
                </a:cubicBezTo>
                <a:cubicBezTo>
                  <a:pt x="301637" y="311194"/>
                  <a:pt x="415143" y="281031"/>
                  <a:pt x="495312" y="254837"/>
                </a:cubicBezTo>
                <a:cubicBezTo>
                  <a:pt x="575481" y="228643"/>
                  <a:pt x="629456" y="161968"/>
                  <a:pt x="700100" y="150062"/>
                </a:cubicBezTo>
                <a:cubicBezTo>
                  <a:pt x="770744" y="138156"/>
                  <a:pt x="847738" y="150063"/>
                  <a:pt x="919175" y="183400"/>
                </a:cubicBezTo>
                <a:cubicBezTo>
                  <a:pt x="990612" y="216737"/>
                  <a:pt x="1058875" y="231818"/>
                  <a:pt x="1128725" y="350087"/>
                </a:cubicBezTo>
                <a:cubicBezTo>
                  <a:pt x="1198575" y="468356"/>
                  <a:pt x="1273188" y="669968"/>
                  <a:pt x="1338275" y="893012"/>
                </a:cubicBezTo>
                <a:cubicBezTo>
                  <a:pt x="1403362" y="1116056"/>
                  <a:pt x="1450194" y="1447844"/>
                  <a:pt x="1519250" y="1688350"/>
                </a:cubicBezTo>
                <a:cubicBezTo>
                  <a:pt x="1588306" y="1928856"/>
                  <a:pt x="1685143" y="2183650"/>
                  <a:pt x="1752612" y="2336050"/>
                </a:cubicBezTo>
                <a:cubicBezTo>
                  <a:pt x="1820081" y="2488450"/>
                  <a:pt x="1841512" y="2530519"/>
                  <a:pt x="1924062" y="2602750"/>
                </a:cubicBezTo>
                <a:cubicBezTo>
                  <a:pt x="2006612" y="2674981"/>
                  <a:pt x="2140756" y="2755150"/>
                  <a:pt x="2247912" y="2769437"/>
                </a:cubicBezTo>
                <a:cubicBezTo>
                  <a:pt x="2355068" y="2783724"/>
                  <a:pt x="2461034" y="2736099"/>
                  <a:pt x="2567000" y="268847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04A266-BC2A-4D08-2C32-2A05B6AA8B9A}"/>
              </a:ext>
            </a:extLst>
          </p:cNvPr>
          <p:cNvSpPr/>
          <p:nvPr/>
        </p:nvSpPr>
        <p:spPr>
          <a:xfrm>
            <a:off x="1638300" y="1541764"/>
            <a:ext cx="201612" cy="2016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E31C85-E805-C2B4-5849-ADCCEFD5C438}"/>
              </a:ext>
            </a:extLst>
          </p:cNvPr>
          <p:cNvSpPr txBox="1"/>
          <p:nvPr/>
        </p:nvSpPr>
        <p:spPr>
          <a:xfrm>
            <a:off x="2431530" y="1402520"/>
            <a:ext cx="7617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Trochlear</a:t>
            </a:r>
          </a:p>
          <a:p>
            <a:r>
              <a:rPr lang="en-GB" sz="1100" dirty="0"/>
              <a:t>Nucleus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D34623-E99C-B637-C194-3B92499E6BA4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826381" y="1617964"/>
            <a:ext cx="605149" cy="6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B86759-9D47-4215-6386-06247083AEB8}"/>
              </a:ext>
            </a:extLst>
          </p:cNvPr>
          <p:cNvGrpSpPr/>
          <p:nvPr/>
        </p:nvGrpSpPr>
        <p:grpSpPr>
          <a:xfrm>
            <a:off x="5523364" y="2481934"/>
            <a:ext cx="6273077" cy="1523816"/>
            <a:chOff x="5523364" y="2481934"/>
            <a:chExt cx="6273077" cy="152381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5B3BBD4-6100-607E-BE62-63B69020DAB0}"/>
                </a:ext>
              </a:extLst>
            </p:cNvPr>
            <p:cNvSpPr/>
            <p:nvPr/>
          </p:nvSpPr>
          <p:spPr>
            <a:xfrm>
              <a:off x="5523364" y="2646198"/>
              <a:ext cx="908720" cy="249898"/>
            </a:xfrm>
            <a:prstGeom prst="rect">
              <a:avLst/>
            </a:prstGeom>
            <a:gradFill flip="none" rotWithShape="1">
              <a:gsLst>
                <a:gs pos="100000">
                  <a:srgbClr val="F6ECDD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rgbClr val="C0B3A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Midbrain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9E897A-8C4E-13C1-517A-C08586A62F73}"/>
                </a:ext>
              </a:extLst>
            </p:cNvPr>
            <p:cNvSpPr txBox="1"/>
            <p:nvPr/>
          </p:nvSpPr>
          <p:spPr>
            <a:xfrm>
              <a:off x="8655422" y="2941793"/>
              <a:ext cx="74257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dirty="0"/>
                <a:t>Superior orbital</a:t>
              </a:r>
            </a:p>
            <a:p>
              <a:pPr algn="ctr"/>
              <a:r>
                <a:rPr lang="en-GB" sz="1100" dirty="0"/>
                <a:t>fissure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BB62309-AA22-1348-0540-4863246C6717}"/>
                </a:ext>
              </a:extLst>
            </p:cNvPr>
            <p:cNvSpPr/>
            <p:nvPr/>
          </p:nvSpPr>
          <p:spPr>
            <a:xfrm>
              <a:off x="6868295" y="3358050"/>
              <a:ext cx="213360" cy="6477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5E9829E-6299-7AD7-4F6E-5A02BB953A7B}"/>
                </a:ext>
              </a:extLst>
            </p:cNvPr>
            <p:cNvSpPr/>
            <p:nvPr/>
          </p:nvSpPr>
          <p:spPr>
            <a:xfrm>
              <a:off x="7656963" y="2525361"/>
              <a:ext cx="1069972" cy="408478"/>
            </a:xfrm>
            <a:prstGeom prst="rect">
              <a:avLst/>
            </a:prstGeom>
            <a:gradFill flip="none" rotWithShape="1">
              <a:gsLst>
                <a:gs pos="100000">
                  <a:srgbClr val="F6ECDD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rgbClr val="C0B3A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Cavernous sinus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FB2795A-B3AA-A422-F240-709836A0F58A}"/>
                </a:ext>
              </a:extLst>
            </p:cNvPr>
            <p:cNvGrpSpPr/>
            <p:nvPr/>
          </p:nvGrpSpPr>
          <p:grpSpPr>
            <a:xfrm>
              <a:off x="8933831" y="3518711"/>
              <a:ext cx="221456" cy="322226"/>
              <a:chOff x="9659506" y="3856427"/>
              <a:chExt cx="221456" cy="322226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719B00F-4043-902B-FE84-B2D68EC41B59}"/>
                  </a:ext>
                </a:extLst>
              </p:cNvPr>
              <p:cNvSpPr/>
              <p:nvPr/>
            </p:nvSpPr>
            <p:spPr>
              <a:xfrm>
                <a:off x="9709512" y="3856429"/>
                <a:ext cx="171450" cy="322223"/>
              </a:xfrm>
              <a:prstGeom prst="ellipse">
                <a:avLst/>
              </a:prstGeom>
              <a:solidFill>
                <a:srgbClr val="E2D2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81A73DE-DBF8-56EF-CDF2-6F1A131E0431}"/>
                  </a:ext>
                </a:extLst>
              </p:cNvPr>
              <p:cNvSpPr/>
              <p:nvPr/>
            </p:nvSpPr>
            <p:spPr>
              <a:xfrm>
                <a:off x="9705975" y="3857625"/>
                <a:ext cx="98787" cy="321027"/>
              </a:xfrm>
              <a:prstGeom prst="rect">
                <a:avLst/>
              </a:prstGeom>
              <a:solidFill>
                <a:srgbClr val="E2D2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F298DC-C3D5-B4E5-850D-62E5B1048031}"/>
                  </a:ext>
                </a:extLst>
              </p:cNvPr>
              <p:cNvSpPr/>
              <p:nvPr/>
            </p:nvSpPr>
            <p:spPr>
              <a:xfrm>
                <a:off x="9659506" y="3856427"/>
                <a:ext cx="171450" cy="322226"/>
              </a:xfrm>
              <a:prstGeom prst="ellipse">
                <a:avLst/>
              </a:prstGeom>
              <a:gradFill>
                <a:gsLst>
                  <a:gs pos="92000">
                    <a:srgbClr val="998377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E35F5A7-6E02-5534-69FD-76A9B3A3D158}"/>
                </a:ext>
              </a:extLst>
            </p:cNvPr>
            <p:cNvSpPr/>
            <p:nvPr/>
          </p:nvSpPr>
          <p:spPr>
            <a:xfrm>
              <a:off x="6354214" y="3570299"/>
              <a:ext cx="155740" cy="15574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C81B7AC-5151-6444-7A2D-9A6B5A319D9C}"/>
                </a:ext>
              </a:extLst>
            </p:cNvPr>
            <p:cNvCxnSpPr>
              <a:cxnSpLocks/>
              <a:stCxn id="28" idx="6"/>
            </p:cNvCxnSpPr>
            <p:nvPr/>
          </p:nvCxnSpPr>
          <p:spPr>
            <a:xfrm flipV="1">
              <a:off x="6509954" y="3638774"/>
              <a:ext cx="2979934" cy="9395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2487896-F6A1-FDA7-0F3D-2AFEC5F71D24}"/>
                </a:ext>
              </a:extLst>
            </p:cNvPr>
            <p:cNvSpPr txBox="1"/>
            <p:nvPr/>
          </p:nvSpPr>
          <p:spPr>
            <a:xfrm>
              <a:off x="6601315" y="2481934"/>
              <a:ext cx="8258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/>
                <a:t>Cerebellar</a:t>
              </a:r>
            </a:p>
            <a:p>
              <a:r>
                <a:rPr lang="en-GB" sz="1100" dirty="0"/>
                <a:t>peduncles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4A60A54-C518-E661-4B25-B7B4832F2F94}"/>
                </a:ext>
              </a:extLst>
            </p:cNvPr>
            <p:cNvSpPr/>
            <p:nvPr/>
          </p:nvSpPr>
          <p:spPr>
            <a:xfrm>
              <a:off x="9369649" y="2604651"/>
              <a:ext cx="908720" cy="249898"/>
            </a:xfrm>
            <a:prstGeom prst="rect">
              <a:avLst/>
            </a:prstGeom>
            <a:gradFill flip="none" rotWithShape="1">
              <a:gsLst>
                <a:gs pos="100000">
                  <a:srgbClr val="F6ECDD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rgbClr val="C0B3A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Orbit</a:t>
              </a: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36F3EFD-1D43-8534-8159-9670777E1BA9}"/>
                </a:ext>
              </a:extLst>
            </p:cNvPr>
            <p:cNvSpPr/>
            <p:nvPr/>
          </p:nvSpPr>
          <p:spPr>
            <a:xfrm>
              <a:off x="9464260" y="3435785"/>
              <a:ext cx="919179" cy="203200"/>
            </a:xfrm>
            <a:custGeom>
              <a:avLst/>
              <a:gdLst>
                <a:gd name="connsiteX0" fmla="*/ 0 w 609600"/>
                <a:gd name="connsiteY0" fmla="*/ 203200 h 203200"/>
                <a:gd name="connsiteX1" fmla="*/ 283028 w 609600"/>
                <a:gd name="connsiteY1" fmla="*/ 36285 h 203200"/>
                <a:gd name="connsiteX2" fmla="*/ 609600 w 609600"/>
                <a:gd name="connsiteY2" fmla="*/ 0 h 203200"/>
                <a:gd name="connsiteX0" fmla="*/ 0 w 609600"/>
                <a:gd name="connsiteY0" fmla="*/ 203200 h 203200"/>
                <a:gd name="connsiteX1" fmla="*/ 283028 w 609600"/>
                <a:gd name="connsiteY1" fmla="*/ 36285 h 203200"/>
                <a:gd name="connsiteX2" fmla="*/ 609600 w 609600"/>
                <a:gd name="connsiteY2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203200">
                  <a:moveTo>
                    <a:pt x="0" y="203200"/>
                  </a:moveTo>
                  <a:cubicBezTo>
                    <a:pt x="152626" y="201763"/>
                    <a:pt x="181428" y="70152"/>
                    <a:pt x="283028" y="36285"/>
                  </a:cubicBezTo>
                  <a:cubicBezTo>
                    <a:pt x="384628" y="2418"/>
                    <a:pt x="497114" y="1209"/>
                    <a:pt x="609600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tailEnd type="stealth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4D7A87-407E-5219-F2C8-1F996FB28C1F}"/>
                </a:ext>
              </a:extLst>
            </p:cNvPr>
            <p:cNvSpPr txBox="1"/>
            <p:nvPr/>
          </p:nvSpPr>
          <p:spPr>
            <a:xfrm>
              <a:off x="10449699" y="3298195"/>
              <a:ext cx="13467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Superior oblique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CAD570-2AB0-8592-0EAB-6C182A1CDAAA}"/>
                </a:ext>
              </a:extLst>
            </p:cNvPr>
            <p:cNvCxnSpPr>
              <a:cxnSpLocks/>
              <a:stCxn id="24" idx="3"/>
              <a:endCxn id="24" idx="3"/>
            </p:cNvCxnSpPr>
            <p:nvPr/>
          </p:nvCxnSpPr>
          <p:spPr>
            <a:xfrm>
              <a:off x="9398000" y="3241875"/>
              <a:ext cx="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51AA47-F970-9C5D-2CE6-8D87245F2715}"/>
                </a:ext>
              </a:extLst>
            </p:cNvPr>
            <p:cNvSpPr txBox="1"/>
            <p:nvPr/>
          </p:nvSpPr>
          <p:spPr>
            <a:xfrm>
              <a:off x="5873310" y="3117749"/>
              <a:ext cx="92365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/>
                <a:t>Oculomotor</a:t>
              </a:r>
            </a:p>
            <a:p>
              <a:r>
                <a:rPr lang="en-GB" sz="1100" dirty="0"/>
                <a:t>Nucleus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D9DE644-68B6-7586-65FF-E24E7891C50D}"/>
                </a:ext>
              </a:extLst>
            </p:cNvPr>
            <p:cNvSpPr txBox="1"/>
            <p:nvPr/>
          </p:nvSpPr>
          <p:spPr>
            <a:xfrm>
              <a:off x="10449699" y="3054049"/>
              <a:ext cx="13467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Eye muscles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5139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3115-508F-FE1C-A355-AF8F309D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III - Oculomotor</a:t>
            </a:r>
          </a:p>
        </p:txBody>
      </p:sp>
      <p:pic>
        <p:nvPicPr>
          <p:cNvPr id="6" name="Content Placeholder 5" descr="A profile of a person with a skull&#10;&#10;Description automatically generated">
            <a:extLst>
              <a:ext uri="{FF2B5EF4-FFF2-40B4-BE49-F238E27FC236}">
                <a16:creationId xmlns:a16="http://schemas.microsoft.com/office/drawing/2014/main" id="{EE512A00-88C3-3BA4-8AD2-23FA3C513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00" y="1407600"/>
            <a:ext cx="3991182" cy="4792441"/>
          </a:xfr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FAEA7A85-C4E5-59E5-302B-DA74967C05CB}"/>
              </a:ext>
            </a:extLst>
          </p:cNvPr>
          <p:cNvGrpSpPr/>
          <p:nvPr/>
        </p:nvGrpSpPr>
        <p:grpSpPr>
          <a:xfrm>
            <a:off x="1758950" y="1463675"/>
            <a:ext cx="2296418" cy="3034575"/>
            <a:chOff x="1758950" y="1463675"/>
            <a:chExt cx="2296418" cy="303457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018E72-4961-E268-7238-DDD4F63FF9CA}"/>
                </a:ext>
              </a:extLst>
            </p:cNvPr>
            <p:cNvSpPr/>
            <p:nvPr/>
          </p:nvSpPr>
          <p:spPr>
            <a:xfrm>
              <a:off x="1758950" y="1463675"/>
              <a:ext cx="101600" cy="1016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21297EA-C85D-BF2B-DDD9-3E5AA9F73CBB}"/>
                </a:ext>
              </a:extLst>
            </p:cNvPr>
            <p:cNvSpPr/>
            <p:nvPr/>
          </p:nvSpPr>
          <p:spPr>
            <a:xfrm>
              <a:off x="1816100" y="1517650"/>
              <a:ext cx="1403350" cy="2667000"/>
            </a:xfrm>
            <a:custGeom>
              <a:avLst/>
              <a:gdLst>
                <a:gd name="connsiteX0" fmla="*/ 0 w 1403350"/>
                <a:gd name="connsiteY0" fmla="*/ 0 h 2667000"/>
                <a:gd name="connsiteX1" fmla="*/ 311150 w 1403350"/>
                <a:gd name="connsiteY1" fmla="*/ 120650 h 2667000"/>
                <a:gd name="connsiteX2" fmla="*/ 730250 w 1403350"/>
                <a:gd name="connsiteY2" fmla="*/ 546100 h 2667000"/>
                <a:gd name="connsiteX3" fmla="*/ 768350 w 1403350"/>
                <a:gd name="connsiteY3" fmla="*/ 1517650 h 2667000"/>
                <a:gd name="connsiteX4" fmla="*/ 920750 w 1403350"/>
                <a:gd name="connsiteY4" fmla="*/ 2266950 h 2667000"/>
                <a:gd name="connsiteX5" fmla="*/ 1403350 w 1403350"/>
                <a:gd name="connsiteY5" fmla="*/ 2667000 h 266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03350" h="2667000">
                  <a:moveTo>
                    <a:pt x="0" y="0"/>
                  </a:moveTo>
                  <a:cubicBezTo>
                    <a:pt x="94721" y="14816"/>
                    <a:pt x="189442" y="29633"/>
                    <a:pt x="311150" y="120650"/>
                  </a:cubicBezTo>
                  <a:cubicBezTo>
                    <a:pt x="432858" y="211667"/>
                    <a:pt x="654050" y="313267"/>
                    <a:pt x="730250" y="546100"/>
                  </a:cubicBezTo>
                  <a:cubicBezTo>
                    <a:pt x="806450" y="778933"/>
                    <a:pt x="736600" y="1230842"/>
                    <a:pt x="768350" y="1517650"/>
                  </a:cubicBezTo>
                  <a:cubicBezTo>
                    <a:pt x="800100" y="1804458"/>
                    <a:pt x="814917" y="2075392"/>
                    <a:pt x="920750" y="2266950"/>
                  </a:cubicBezTo>
                  <a:cubicBezTo>
                    <a:pt x="1026583" y="2458508"/>
                    <a:pt x="1214966" y="2562754"/>
                    <a:pt x="1403350" y="266700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4286732-40E1-7401-EDD2-F0BA92840369}"/>
                </a:ext>
              </a:extLst>
            </p:cNvPr>
            <p:cNvSpPr/>
            <p:nvPr/>
          </p:nvSpPr>
          <p:spPr>
            <a:xfrm>
              <a:off x="3216275" y="4129283"/>
              <a:ext cx="581025" cy="65105"/>
            </a:xfrm>
            <a:custGeom>
              <a:avLst/>
              <a:gdLst>
                <a:gd name="connsiteX0" fmla="*/ 0 w 581025"/>
                <a:gd name="connsiteY0" fmla="*/ 52192 h 65105"/>
                <a:gd name="connsiteX1" fmla="*/ 257175 w 581025"/>
                <a:gd name="connsiteY1" fmla="*/ 61717 h 65105"/>
                <a:gd name="connsiteX2" fmla="*/ 458788 w 581025"/>
                <a:gd name="connsiteY2" fmla="*/ 1392 h 65105"/>
                <a:gd name="connsiteX3" fmla="*/ 581025 w 581025"/>
                <a:gd name="connsiteY3" fmla="*/ 25205 h 6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1025" h="65105">
                  <a:moveTo>
                    <a:pt x="0" y="52192"/>
                  </a:moveTo>
                  <a:cubicBezTo>
                    <a:pt x="90355" y="61188"/>
                    <a:pt x="180710" y="70184"/>
                    <a:pt x="257175" y="61717"/>
                  </a:cubicBezTo>
                  <a:cubicBezTo>
                    <a:pt x="333640" y="53250"/>
                    <a:pt x="404813" y="7477"/>
                    <a:pt x="458788" y="1392"/>
                  </a:cubicBezTo>
                  <a:cubicBezTo>
                    <a:pt x="512763" y="-4693"/>
                    <a:pt x="546894" y="10256"/>
                    <a:pt x="581025" y="25205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C7206EA-6324-005A-24A3-037589EF5FBB}"/>
                </a:ext>
              </a:extLst>
            </p:cNvPr>
            <p:cNvSpPr/>
            <p:nvPr/>
          </p:nvSpPr>
          <p:spPr>
            <a:xfrm>
              <a:off x="3216275" y="4187825"/>
              <a:ext cx="414338" cy="112713"/>
            </a:xfrm>
            <a:custGeom>
              <a:avLst/>
              <a:gdLst>
                <a:gd name="connsiteX0" fmla="*/ 0 w 414338"/>
                <a:gd name="connsiteY0" fmla="*/ 0 h 112713"/>
                <a:gd name="connsiteX1" fmla="*/ 147638 w 414338"/>
                <a:gd name="connsiteY1" fmla="*/ 41275 h 112713"/>
                <a:gd name="connsiteX2" fmla="*/ 244475 w 414338"/>
                <a:gd name="connsiteY2" fmla="*/ 98425 h 112713"/>
                <a:gd name="connsiteX3" fmla="*/ 414338 w 414338"/>
                <a:gd name="connsiteY3" fmla="*/ 112713 h 11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4338" h="112713">
                  <a:moveTo>
                    <a:pt x="0" y="0"/>
                  </a:moveTo>
                  <a:cubicBezTo>
                    <a:pt x="53446" y="12435"/>
                    <a:pt x="106892" y="24871"/>
                    <a:pt x="147638" y="41275"/>
                  </a:cubicBezTo>
                  <a:cubicBezTo>
                    <a:pt x="188384" y="57679"/>
                    <a:pt x="200025" y="86519"/>
                    <a:pt x="244475" y="98425"/>
                  </a:cubicBezTo>
                  <a:cubicBezTo>
                    <a:pt x="288925" y="110331"/>
                    <a:pt x="351631" y="111522"/>
                    <a:pt x="414338" y="112713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2087AA-8C7F-7B47-342D-EE761E47C837}"/>
                </a:ext>
              </a:extLst>
            </p:cNvPr>
            <p:cNvSpPr/>
            <p:nvPr/>
          </p:nvSpPr>
          <p:spPr>
            <a:xfrm>
              <a:off x="3222625" y="4195763"/>
              <a:ext cx="449263" cy="213231"/>
            </a:xfrm>
            <a:custGeom>
              <a:avLst/>
              <a:gdLst>
                <a:gd name="connsiteX0" fmla="*/ 0 w 449263"/>
                <a:gd name="connsiteY0" fmla="*/ 0 h 213231"/>
                <a:gd name="connsiteX1" fmla="*/ 109538 w 449263"/>
                <a:gd name="connsiteY1" fmla="*/ 92075 h 213231"/>
                <a:gd name="connsiteX2" fmla="*/ 274638 w 449263"/>
                <a:gd name="connsiteY2" fmla="*/ 206375 h 213231"/>
                <a:gd name="connsiteX3" fmla="*/ 449263 w 449263"/>
                <a:gd name="connsiteY3" fmla="*/ 190500 h 213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263" h="213231">
                  <a:moveTo>
                    <a:pt x="0" y="0"/>
                  </a:moveTo>
                  <a:cubicBezTo>
                    <a:pt x="31882" y="28839"/>
                    <a:pt x="63765" y="57679"/>
                    <a:pt x="109538" y="92075"/>
                  </a:cubicBezTo>
                  <a:cubicBezTo>
                    <a:pt x="155311" y="126471"/>
                    <a:pt x="218017" y="189971"/>
                    <a:pt x="274638" y="206375"/>
                  </a:cubicBezTo>
                  <a:cubicBezTo>
                    <a:pt x="331259" y="222779"/>
                    <a:pt x="390261" y="206639"/>
                    <a:pt x="449263" y="19050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88C00C-D2EF-E4C2-7F38-D4729B4CFB70}"/>
                </a:ext>
              </a:extLst>
            </p:cNvPr>
            <p:cNvSpPr/>
            <p:nvPr/>
          </p:nvSpPr>
          <p:spPr>
            <a:xfrm>
              <a:off x="3232150" y="4203700"/>
              <a:ext cx="601663" cy="294550"/>
            </a:xfrm>
            <a:custGeom>
              <a:avLst/>
              <a:gdLst>
                <a:gd name="connsiteX0" fmla="*/ 0 w 601663"/>
                <a:gd name="connsiteY0" fmla="*/ 0 h 294550"/>
                <a:gd name="connsiteX1" fmla="*/ 98425 w 601663"/>
                <a:gd name="connsiteY1" fmla="*/ 149225 h 294550"/>
                <a:gd name="connsiteX2" fmla="*/ 312738 w 601663"/>
                <a:gd name="connsiteY2" fmla="*/ 277813 h 294550"/>
                <a:gd name="connsiteX3" fmla="*/ 522288 w 601663"/>
                <a:gd name="connsiteY3" fmla="*/ 287338 h 294550"/>
                <a:gd name="connsiteX4" fmla="*/ 601663 w 601663"/>
                <a:gd name="connsiteY4" fmla="*/ 225425 h 294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663" h="294550">
                  <a:moveTo>
                    <a:pt x="0" y="0"/>
                  </a:moveTo>
                  <a:cubicBezTo>
                    <a:pt x="23151" y="51461"/>
                    <a:pt x="46302" y="102923"/>
                    <a:pt x="98425" y="149225"/>
                  </a:cubicBezTo>
                  <a:cubicBezTo>
                    <a:pt x="150548" y="195527"/>
                    <a:pt x="242094" y="254794"/>
                    <a:pt x="312738" y="277813"/>
                  </a:cubicBezTo>
                  <a:cubicBezTo>
                    <a:pt x="383382" y="300832"/>
                    <a:pt x="474134" y="296069"/>
                    <a:pt x="522288" y="287338"/>
                  </a:cubicBezTo>
                  <a:cubicBezTo>
                    <a:pt x="570442" y="278607"/>
                    <a:pt x="586052" y="252016"/>
                    <a:pt x="601663" y="225425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899187-79F1-72EA-4C9B-6A9278351C08}"/>
                </a:ext>
              </a:extLst>
            </p:cNvPr>
            <p:cNvSpPr/>
            <p:nvPr/>
          </p:nvSpPr>
          <p:spPr>
            <a:xfrm>
              <a:off x="3216275" y="4070827"/>
              <a:ext cx="839093" cy="101123"/>
            </a:xfrm>
            <a:custGeom>
              <a:avLst/>
              <a:gdLst>
                <a:gd name="connsiteX0" fmla="*/ 0 w 839093"/>
                <a:gd name="connsiteY0" fmla="*/ 99536 h 101123"/>
                <a:gd name="connsiteX1" fmla="*/ 188913 w 839093"/>
                <a:gd name="connsiteY1" fmla="*/ 75723 h 101123"/>
                <a:gd name="connsiteX2" fmla="*/ 411163 w 839093"/>
                <a:gd name="connsiteY2" fmla="*/ 7461 h 101123"/>
                <a:gd name="connsiteX3" fmla="*/ 647700 w 839093"/>
                <a:gd name="connsiteY3" fmla="*/ 4286 h 101123"/>
                <a:gd name="connsiteX4" fmla="*/ 819150 w 839093"/>
                <a:gd name="connsiteY4" fmla="*/ 29686 h 101123"/>
                <a:gd name="connsiteX5" fmla="*/ 828675 w 839093"/>
                <a:gd name="connsiteY5" fmla="*/ 101123 h 10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9093" h="101123">
                  <a:moveTo>
                    <a:pt x="0" y="99536"/>
                  </a:moveTo>
                  <a:cubicBezTo>
                    <a:pt x="60193" y="95302"/>
                    <a:pt x="120386" y="91069"/>
                    <a:pt x="188913" y="75723"/>
                  </a:cubicBezTo>
                  <a:cubicBezTo>
                    <a:pt x="257440" y="60377"/>
                    <a:pt x="334699" y="19367"/>
                    <a:pt x="411163" y="7461"/>
                  </a:cubicBezTo>
                  <a:cubicBezTo>
                    <a:pt x="487628" y="-4445"/>
                    <a:pt x="579702" y="582"/>
                    <a:pt x="647700" y="4286"/>
                  </a:cubicBezTo>
                  <a:cubicBezTo>
                    <a:pt x="715698" y="7990"/>
                    <a:pt x="788988" y="13547"/>
                    <a:pt x="819150" y="29686"/>
                  </a:cubicBezTo>
                  <a:cubicBezTo>
                    <a:pt x="849312" y="45825"/>
                    <a:pt x="838993" y="73474"/>
                    <a:pt x="828675" y="101123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A0E9EFB5-BDBE-789C-589E-66DDBD576EFA}"/>
              </a:ext>
            </a:extLst>
          </p:cNvPr>
          <p:cNvSpPr/>
          <p:nvPr/>
        </p:nvSpPr>
        <p:spPr>
          <a:xfrm>
            <a:off x="1708150" y="1412081"/>
            <a:ext cx="201612" cy="2016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183885-ABAC-FF9D-F8B2-9551B677D968}"/>
              </a:ext>
            </a:extLst>
          </p:cNvPr>
          <p:cNvSpPr txBox="1"/>
          <p:nvPr/>
        </p:nvSpPr>
        <p:spPr>
          <a:xfrm>
            <a:off x="2501380" y="1272837"/>
            <a:ext cx="9236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Oculomotor</a:t>
            </a:r>
          </a:p>
          <a:p>
            <a:r>
              <a:rPr lang="en-GB" sz="1100" dirty="0"/>
              <a:t>Nucleus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5D3AFB-97DB-C560-1C9E-AD1303708418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1896231" y="1488281"/>
            <a:ext cx="605149" cy="6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547DF37-93CB-2A93-FB8A-98DA4DF2B15F}"/>
              </a:ext>
            </a:extLst>
          </p:cNvPr>
          <p:cNvSpPr/>
          <p:nvPr/>
        </p:nvSpPr>
        <p:spPr>
          <a:xfrm>
            <a:off x="1510622" y="1363663"/>
            <a:ext cx="201612" cy="2016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C4B0436-E33A-0431-996C-1A9C48E43906}"/>
              </a:ext>
            </a:extLst>
          </p:cNvPr>
          <p:cNvGrpSpPr/>
          <p:nvPr/>
        </p:nvGrpSpPr>
        <p:grpSpPr>
          <a:xfrm>
            <a:off x="3184524" y="3810161"/>
            <a:ext cx="415926" cy="162796"/>
            <a:chOff x="3184524" y="3810161"/>
            <a:chExt cx="415926" cy="16279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93C0197-E442-2F72-12C8-7317ABE484E9}"/>
                </a:ext>
              </a:extLst>
            </p:cNvPr>
            <p:cNvSpPr/>
            <p:nvPr/>
          </p:nvSpPr>
          <p:spPr>
            <a:xfrm>
              <a:off x="3184525" y="3810161"/>
              <a:ext cx="415925" cy="64927"/>
            </a:xfrm>
            <a:custGeom>
              <a:avLst/>
              <a:gdLst>
                <a:gd name="connsiteX0" fmla="*/ 0 w 415925"/>
                <a:gd name="connsiteY0" fmla="*/ 100063 h 100063"/>
                <a:gd name="connsiteX1" fmla="*/ 82550 w 415925"/>
                <a:gd name="connsiteY1" fmla="*/ 88950 h 100063"/>
                <a:gd name="connsiteX2" fmla="*/ 142875 w 415925"/>
                <a:gd name="connsiteY2" fmla="*/ 33388 h 100063"/>
                <a:gd name="connsiteX3" fmla="*/ 217488 w 415925"/>
                <a:gd name="connsiteY3" fmla="*/ 50 h 100063"/>
                <a:gd name="connsiteX4" fmla="*/ 298450 w 415925"/>
                <a:gd name="connsiteY4" fmla="*/ 27038 h 100063"/>
                <a:gd name="connsiteX5" fmla="*/ 325438 w 415925"/>
                <a:gd name="connsiteY5" fmla="*/ 73075 h 100063"/>
                <a:gd name="connsiteX6" fmla="*/ 415925 w 415925"/>
                <a:gd name="connsiteY6" fmla="*/ 93713 h 100063"/>
                <a:gd name="connsiteX0" fmla="*/ 0 w 415925"/>
                <a:gd name="connsiteY0" fmla="*/ 100045 h 100045"/>
                <a:gd name="connsiteX1" fmla="*/ 82550 w 415925"/>
                <a:gd name="connsiteY1" fmla="*/ 88932 h 100045"/>
                <a:gd name="connsiteX2" fmla="*/ 142875 w 415925"/>
                <a:gd name="connsiteY2" fmla="*/ 33370 h 100045"/>
                <a:gd name="connsiteX3" fmla="*/ 217488 w 415925"/>
                <a:gd name="connsiteY3" fmla="*/ 32 h 100045"/>
                <a:gd name="connsiteX4" fmla="*/ 284163 w 415925"/>
                <a:gd name="connsiteY4" fmla="*/ 28211 h 100045"/>
                <a:gd name="connsiteX5" fmla="*/ 325438 w 415925"/>
                <a:gd name="connsiteY5" fmla="*/ 73057 h 100045"/>
                <a:gd name="connsiteX6" fmla="*/ 415925 w 415925"/>
                <a:gd name="connsiteY6" fmla="*/ 93695 h 100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5925" h="100045">
                  <a:moveTo>
                    <a:pt x="0" y="100045"/>
                  </a:moveTo>
                  <a:cubicBezTo>
                    <a:pt x="29369" y="100044"/>
                    <a:pt x="58738" y="100044"/>
                    <a:pt x="82550" y="88932"/>
                  </a:cubicBezTo>
                  <a:cubicBezTo>
                    <a:pt x="106363" y="77819"/>
                    <a:pt x="120385" y="48187"/>
                    <a:pt x="142875" y="33370"/>
                  </a:cubicBezTo>
                  <a:cubicBezTo>
                    <a:pt x="165365" y="18553"/>
                    <a:pt x="193940" y="892"/>
                    <a:pt x="217488" y="32"/>
                  </a:cubicBezTo>
                  <a:cubicBezTo>
                    <a:pt x="241036" y="-828"/>
                    <a:pt x="266171" y="16040"/>
                    <a:pt x="284163" y="28211"/>
                  </a:cubicBezTo>
                  <a:cubicBezTo>
                    <a:pt x="302155" y="40382"/>
                    <a:pt x="305859" y="61945"/>
                    <a:pt x="325438" y="73057"/>
                  </a:cubicBezTo>
                  <a:cubicBezTo>
                    <a:pt x="345017" y="84169"/>
                    <a:pt x="380471" y="88932"/>
                    <a:pt x="415925" y="93695"/>
                  </a:cubicBez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535A90-2E51-5CA0-AAC2-F0A4BADF839F}"/>
                </a:ext>
              </a:extLst>
            </p:cNvPr>
            <p:cNvSpPr/>
            <p:nvPr/>
          </p:nvSpPr>
          <p:spPr>
            <a:xfrm flipV="1">
              <a:off x="3184524" y="3908030"/>
              <a:ext cx="415925" cy="64927"/>
            </a:xfrm>
            <a:custGeom>
              <a:avLst/>
              <a:gdLst>
                <a:gd name="connsiteX0" fmla="*/ 0 w 415925"/>
                <a:gd name="connsiteY0" fmla="*/ 100063 h 100063"/>
                <a:gd name="connsiteX1" fmla="*/ 82550 w 415925"/>
                <a:gd name="connsiteY1" fmla="*/ 88950 h 100063"/>
                <a:gd name="connsiteX2" fmla="*/ 142875 w 415925"/>
                <a:gd name="connsiteY2" fmla="*/ 33388 h 100063"/>
                <a:gd name="connsiteX3" fmla="*/ 217488 w 415925"/>
                <a:gd name="connsiteY3" fmla="*/ 50 h 100063"/>
                <a:gd name="connsiteX4" fmla="*/ 298450 w 415925"/>
                <a:gd name="connsiteY4" fmla="*/ 27038 h 100063"/>
                <a:gd name="connsiteX5" fmla="*/ 325438 w 415925"/>
                <a:gd name="connsiteY5" fmla="*/ 73075 h 100063"/>
                <a:gd name="connsiteX6" fmla="*/ 415925 w 415925"/>
                <a:gd name="connsiteY6" fmla="*/ 93713 h 100063"/>
                <a:gd name="connsiteX0" fmla="*/ 0 w 415925"/>
                <a:gd name="connsiteY0" fmla="*/ 100045 h 100045"/>
                <a:gd name="connsiteX1" fmla="*/ 82550 w 415925"/>
                <a:gd name="connsiteY1" fmla="*/ 88932 h 100045"/>
                <a:gd name="connsiteX2" fmla="*/ 142875 w 415925"/>
                <a:gd name="connsiteY2" fmla="*/ 33370 h 100045"/>
                <a:gd name="connsiteX3" fmla="*/ 217488 w 415925"/>
                <a:gd name="connsiteY3" fmla="*/ 32 h 100045"/>
                <a:gd name="connsiteX4" fmla="*/ 284163 w 415925"/>
                <a:gd name="connsiteY4" fmla="*/ 28211 h 100045"/>
                <a:gd name="connsiteX5" fmla="*/ 325438 w 415925"/>
                <a:gd name="connsiteY5" fmla="*/ 73057 h 100045"/>
                <a:gd name="connsiteX6" fmla="*/ 415925 w 415925"/>
                <a:gd name="connsiteY6" fmla="*/ 93695 h 100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5925" h="100045">
                  <a:moveTo>
                    <a:pt x="0" y="100045"/>
                  </a:moveTo>
                  <a:cubicBezTo>
                    <a:pt x="29369" y="100044"/>
                    <a:pt x="58738" y="100044"/>
                    <a:pt x="82550" y="88932"/>
                  </a:cubicBezTo>
                  <a:cubicBezTo>
                    <a:pt x="106363" y="77819"/>
                    <a:pt x="120385" y="48187"/>
                    <a:pt x="142875" y="33370"/>
                  </a:cubicBezTo>
                  <a:cubicBezTo>
                    <a:pt x="165365" y="18553"/>
                    <a:pt x="193940" y="892"/>
                    <a:pt x="217488" y="32"/>
                  </a:cubicBezTo>
                  <a:cubicBezTo>
                    <a:pt x="241036" y="-828"/>
                    <a:pt x="266171" y="16040"/>
                    <a:pt x="284163" y="28211"/>
                  </a:cubicBezTo>
                  <a:cubicBezTo>
                    <a:pt x="302155" y="40382"/>
                    <a:pt x="305859" y="61945"/>
                    <a:pt x="325438" y="73057"/>
                  </a:cubicBezTo>
                  <a:cubicBezTo>
                    <a:pt x="345017" y="84169"/>
                    <a:pt x="380471" y="88932"/>
                    <a:pt x="415925" y="93695"/>
                  </a:cubicBez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7987E8-5FB4-9001-ADD2-21E7B03CBA57}"/>
              </a:ext>
            </a:extLst>
          </p:cNvPr>
          <p:cNvGrpSpPr/>
          <p:nvPr/>
        </p:nvGrpSpPr>
        <p:grpSpPr>
          <a:xfrm>
            <a:off x="1561422" y="1359827"/>
            <a:ext cx="1814000" cy="2584194"/>
            <a:chOff x="1561422" y="1359827"/>
            <a:chExt cx="1814000" cy="258419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F68C19-405E-F297-3C6F-429895E3826F}"/>
                </a:ext>
              </a:extLst>
            </p:cNvPr>
            <p:cNvSpPr/>
            <p:nvPr/>
          </p:nvSpPr>
          <p:spPr>
            <a:xfrm>
              <a:off x="1561422" y="1415257"/>
              <a:ext cx="101600" cy="101600"/>
            </a:xfrm>
            <a:prstGeom prst="ellips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E66B2CA-FACC-CC88-9CCD-14B9E89DE2B6}"/>
                </a:ext>
              </a:extLst>
            </p:cNvPr>
            <p:cNvSpPr/>
            <p:nvPr/>
          </p:nvSpPr>
          <p:spPr>
            <a:xfrm>
              <a:off x="1647825" y="1359827"/>
              <a:ext cx="1704975" cy="2535260"/>
            </a:xfrm>
            <a:custGeom>
              <a:avLst/>
              <a:gdLst>
                <a:gd name="connsiteX0" fmla="*/ 0 w 1704975"/>
                <a:gd name="connsiteY0" fmla="*/ 87973 h 2535260"/>
                <a:gd name="connsiteX1" fmla="*/ 128588 w 1704975"/>
                <a:gd name="connsiteY1" fmla="*/ 2248 h 2535260"/>
                <a:gd name="connsiteX2" fmla="*/ 295275 w 1704975"/>
                <a:gd name="connsiteY2" fmla="*/ 45111 h 2535260"/>
                <a:gd name="connsiteX3" fmla="*/ 533400 w 1704975"/>
                <a:gd name="connsiteY3" fmla="*/ 249898 h 2535260"/>
                <a:gd name="connsiteX4" fmla="*/ 747713 w 1704975"/>
                <a:gd name="connsiteY4" fmla="*/ 392773 h 2535260"/>
                <a:gd name="connsiteX5" fmla="*/ 952500 w 1704975"/>
                <a:gd name="connsiteY5" fmla="*/ 678523 h 2535260"/>
                <a:gd name="connsiteX6" fmla="*/ 1009650 w 1704975"/>
                <a:gd name="connsiteY6" fmla="*/ 1111911 h 2535260"/>
                <a:gd name="connsiteX7" fmla="*/ 985838 w 1704975"/>
                <a:gd name="connsiteY7" fmla="*/ 1502436 h 2535260"/>
                <a:gd name="connsiteX8" fmla="*/ 1019175 w 1704975"/>
                <a:gd name="connsiteY8" fmla="*/ 1983448 h 2535260"/>
                <a:gd name="connsiteX9" fmla="*/ 1090613 w 1704975"/>
                <a:gd name="connsiteY9" fmla="*/ 2307298 h 2535260"/>
                <a:gd name="connsiteX10" fmla="*/ 1223963 w 1704975"/>
                <a:gd name="connsiteY10" fmla="*/ 2488273 h 2535260"/>
                <a:gd name="connsiteX11" fmla="*/ 1533525 w 1704975"/>
                <a:gd name="connsiteY11" fmla="*/ 2531136 h 2535260"/>
                <a:gd name="connsiteX12" fmla="*/ 1704975 w 1704975"/>
                <a:gd name="connsiteY12" fmla="*/ 2531136 h 253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04975" h="2535260">
                  <a:moveTo>
                    <a:pt x="0" y="87973"/>
                  </a:moveTo>
                  <a:cubicBezTo>
                    <a:pt x="39688" y="48682"/>
                    <a:pt x="79376" y="9392"/>
                    <a:pt x="128588" y="2248"/>
                  </a:cubicBezTo>
                  <a:cubicBezTo>
                    <a:pt x="177800" y="-4896"/>
                    <a:pt x="227806" y="3836"/>
                    <a:pt x="295275" y="45111"/>
                  </a:cubicBezTo>
                  <a:cubicBezTo>
                    <a:pt x="362744" y="86386"/>
                    <a:pt x="457994" y="191954"/>
                    <a:pt x="533400" y="249898"/>
                  </a:cubicBezTo>
                  <a:cubicBezTo>
                    <a:pt x="608806" y="307842"/>
                    <a:pt x="677863" y="321336"/>
                    <a:pt x="747713" y="392773"/>
                  </a:cubicBezTo>
                  <a:cubicBezTo>
                    <a:pt x="817563" y="464210"/>
                    <a:pt x="908844" y="558667"/>
                    <a:pt x="952500" y="678523"/>
                  </a:cubicBezTo>
                  <a:cubicBezTo>
                    <a:pt x="996156" y="798379"/>
                    <a:pt x="1004094" y="974592"/>
                    <a:pt x="1009650" y="1111911"/>
                  </a:cubicBezTo>
                  <a:cubicBezTo>
                    <a:pt x="1015206" y="1249230"/>
                    <a:pt x="984251" y="1357180"/>
                    <a:pt x="985838" y="1502436"/>
                  </a:cubicBezTo>
                  <a:cubicBezTo>
                    <a:pt x="987425" y="1647692"/>
                    <a:pt x="1001713" y="1849304"/>
                    <a:pt x="1019175" y="1983448"/>
                  </a:cubicBezTo>
                  <a:cubicBezTo>
                    <a:pt x="1036637" y="2117592"/>
                    <a:pt x="1056482" y="2223161"/>
                    <a:pt x="1090613" y="2307298"/>
                  </a:cubicBezTo>
                  <a:cubicBezTo>
                    <a:pt x="1124744" y="2391435"/>
                    <a:pt x="1150144" y="2450967"/>
                    <a:pt x="1223963" y="2488273"/>
                  </a:cubicBezTo>
                  <a:cubicBezTo>
                    <a:pt x="1297782" y="2525579"/>
                    <a:pt x="1453356" y="2523992"/>
                    <a:pt x="1533525" y="2531136"/>
                  </a:cubicBezTo>
                  <a:cubicBezTo>
                    <a:pt x="1613694" y="2538280"/>
                    <a:pt x="1659334" y="2534708"/>
                    <a:pt x="1704975" y="2531136"/>
                  </a:cubicBezTo>
                </a:path>
              </a:pathLst>
            </a:custGeom>
            <a:noFill/>
            <a:ln>
              <a:solidFill>
                <a:srgbClr val="8A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0FD95D1-EC88-4FDB-8377-D96D3BD5FDBD}"/>
                </a:ext>
              </a:extLst>
            </p:cNvPr>
            <p:cNvCxnSpPr/>
            <p:nvPr/>
          </p:nvCxnSpPr>
          <p:spPr>
            <a:xfrm flipV="1">
              <a:off x="3352800" y="3842624"/>
              <a:ext cx="22622" cy="52463"/>
            </a:xfrm>
            <a:prstGeom prst="line">
              <a:avLst/>
            </a:prstGeom>
            <a:ln>
              <a:solidFill>
                <a:srgbClr val="8A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5218BE5-7F9E-7628-D7F6-455772B8F56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891558"/>
              <a:ext cx="22622" cy="52463"/>
            </a:xfrm>
            <a:prstGeom prst="line">
              <a:avLst/>
            </a:prstGeom>
            <a:ln>
              <a:solidFill>
                <a:srgbClr val="8A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ABF7226-2118-2DB3-E652-2916EF167B2C}"/>
              </a:ext>
            </a:extLst>
          </p:cNvPr>
          <p:cNvSpPr txBox="1"/>
          <p:nvPr/>
        </p:nvSpPr>
        <p:spPr>
          <a:xfrm>
            <a:off x="186484" y="1188198"/>
            <a:ext cx="84762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Edinger-Westphal</a:t>
            </a:r>
          </a:p>
          <a:p>
            <a:r>
              <a:rPr lang="en-GB" sz="1100" dirty="0"/>
              <a:t>Nucleus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1A43ACA-0357-DF44-DA21-6B16B0113661}"/>
              </a:ext>
            </a:extLst>
          </p:cNvPr>
          <p:cNvCxnSpPr>
            <a:cxnSpLocks/>
            <a:stCxn id="37" idx="3"/>
            <a:endCxn id="20" idx="2"/>
          </p:cNvCxnSpPr>
          <p:nvPr/>
        </p:nvCxnSpPr>
        <p:spPr>
          <a:xfrm flipV="1">
            <a:off x="1034110" y="1464469"/>
            <a:ext cx="476512" cy="23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021BD11-376A-AF70-D85E-11BE5B647A1F}"/>
              </a:ext>
            </a:extLst>
          </p:cNvPr>
          <p:cNvSpPr txBox="1"/>
          <p:nvPr/>
        </p:nvSpPr>
        <p:spPr>
          <a:xfrm>
            <a:off x="3071955" y="3422909"/>
            <a:ext cx="7344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Ciliary</a:t>
            </a:r>
          </a:p>
          <a:p>
            <a:r>
              <a:rPr lang="en-GB" sz="1100" dirty="0"/>
              <a:t>Ganglion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677E892-6812-289C-91F7-42B2638C79DB}"/>
              </a:ext>
            </a:extLst>
          </p:cNvPr>
          <p:cNvSpPr/>
          <p:nvPr/>
        </p:nvSpPr>
        <p:spPr>
          <a:xfrm>
            <a:off x="3380298" y="3837025"/>
            <a:ext cx="101600" cy="1016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A4FD503-5E5B-931F-92CE-D050A8CDD770}"/>
              </a:ext>
            </a:extLst>
          </p:cNvPr>
          <p:cNvSpPr/>
          <p:nvPr/>
        </p:nvSpPr>
        <p:spPr>
          <a:xfrm>
            <a:off x="3476625" y="3886200"/>
            <a:ext cx="756100" cy="381000"/>
          </a:xfrm>
          <a:custGeom>
            <a:avLst/>
            <a:gdLst>
              <a:gd name="connsiteX0" fmla="*/ 0 w 756100"/>
              <a:gd name="connsiteY0" fmla="*/ 0 h 381000"/>
              <a:gd name="connsiteX1" fmla="*/ 114300 w 756100"/>
              <a:gd name="connsiteY1" fmla="*/ 9525 h 381000"/>
              <a:gd name="connsiteX2" fmla="*/ 301625 w 756100"/>
              <a:gd name="connsiteY2" fmla="*/ 9525 h 381000"/>
              <a:gd name="connsiteX3" fmla="*/ 638175 w 756100"/>
              <a:gd name="connsiteY3" fmla="*/ 66675 h 381000"/>
              <a:gd name="connsiteX4" fmla="*/ 755650 w 756100"/>
              <a:gd name="connsiteY4" fmla="*/ 177800 h 381000"/>
              <a:gd name="connsiteX5" fmla="*/ 673100 w 756100"/>
              <a:gd name="connsiteY5" fmla="*/ 327025 h 381000"/>
              <a:gd name="connsiteX6" fmla="*/ 536575 w 756100"/>
              <a:gd name="connsiteY6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6100" h="381000">
                <a:moveTo>
                  <a:pt x="0" y="0"/>
                </a:moveTo>
                <a:cubicBezTo>
                  <a:pt x="32014" y="3969"/>
                  <a:pt x="64029" y="7938"/>
                  <a:pt x="114300" y="9525"/>
                </a:cubicBezTo>
                <a:cubicBezTo>
                  <a:pt x="164571" y="11112"/>
                  <a:pt x="214313" y="0"/>
                  <a:pt x="301625" y="9525"/>
                </a:cubicBezTo>
                <a:cubicBezTo>
                  <a:pt x="388937" y="19050"/>
                  <a:pt x="562504" y="38629"/>
                  <a:pt x="638175" y="66675"/>
                </a:cubicBezTo>
                <a:cubicBezTo>
                  <a:pt x="713846" y="94721"/>
                  <a:pt x="749829" y="134408"/>
                  <a:pt x="755650" y="177800"/>
                </a:cubicBezTo>
                <a:cubicBezTo>
                  <a:pt x="761471" y="221192"/>
                  <a:pt x="709612" y="293158"/>
                  <a:pt x="673100" y="327025"/>
                </a:cubicBezTo>
                <a:cubicBezTo>
                  <a:pt x="636588" y="360892"/>
                  <a:pt x="586581" y="370946"/>
                  <a:pt x="536575" y="38100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DDC274A-1D2F-1480-EF59-FA3535E7B778}"/>
              </a:ext>
            </a:extLst>
          </p:cNvPr>
          <p:cNvGrpSpPr/>
          <p:nvPr/>
        </p:nvGrpSpPr>
        <p:grpSpPr>
          <a:xfrm>
            <a:off x="5523364" y="2481934"/>
            <a:ext cx="6329759" cy="2122970"/>
            <a:chOff x="5523364" y="2481934"/>
            <a:chExt cx="6329759" cy="212297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489F9EF-0C3B-EC5F-2352-63317D643E36}"/>
                </a:ext>
              </a:extLst>
            </p:cNvPr>
            <p:cNvSpPr/>
            <p:nvPr/>
          </p:nvSpPr>
          <p:spPr>
            <a:xfrm>
              <a:off x="5523364" y="2646198"/>
              <a:ext cx="908720" cy="249898"/>
            </a:xfrm>
            <a:prstGeom prst="rect">
              <a:avLst/>
            </a:prstGeom>
            <a:gradFill flip="none" rotWithShape="1">
              <a:gsLst>
                <a:gs pos="100000">
                  <a:srgbClr val="F6ECDD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rgbClr val="C0B3A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Midbrain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E2AE3E7-E8AD-511C-205F-7A58629EA945}"/>
                </a:ext>
              </a:extLst>
            </p:cNvPr>
            <p:cNvSpPr txBox="1"/>
            <p:nvPr/>
          </p:nvSpPr>
          <p:spPr>
            <a:xfrm>
              <a:off x="8655422" y="2941793"/>
              <a:ext cx="74257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dirty="0"/>
                <a:t>Superior orbital</a:t>
              </a:r>
            </a:p>
            <a:p>
              <a:pPr algn="ctr"/>
              <a:r>
                <a:rPr lang="en-GB" sz="1100" dirty="0"/>
                <a:t>fissure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B468612-0E16-2DAA-A443-1C755ABC30FC}"/>
                </a:ext>
              </a:extLst>
            </p:cNvPr>
            <p:cNvSpPr/>
            <p:nvPr/>
          </p:nvSpPr>
          <p:spPr>
            <a:xfrm>
              <a:off x="6868295" y="3358050"/>
              <a:ext cx="213360" cy="6477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7D716D3-4853-B69D-7043-4DD889A6605A}"/>
                </a:ext>
              </a:extLst>
            </p:cNvPr>
            <p:cNvSpPr/>
            <p:nvPr/>
          </p:nvSpPr>
          <p:spPr>
            <a:xfrm>
              <a:off x="7656963" y="2525361"/>
              <a:ext cx="1069972" cy="408478"/>
            </a:xfrm>
            <a:prstGeom prst="rect">
              <a:avLst/>
            </a:prstGeom>
            <a:gradFill flip="none" rotWithShape="1">
              <a:gsLst>
                <a:gs pos="100000">
                  <a:srgbClr val="F6ECDD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rgbClr val="C0B3A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Cavernous sinus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E855E56-6D43-A538-1650-A4B50DD30049}"/>
                </a:ext>
              </a:extLst>
            </p:cNvPr>
            <p:cNvGrpSpPr/>
            <p:nvPr/>
          </p:nvGrpSpPr>
          <p:grpSpPr>
            <a:xfrm>
              <a:off x="8933831" y="3518711"/>
              <a:ext cx="221456" cy="322226"/>
              <a:chOff x="9659506" y="3856427"/>
              <a:chExt cx="221456" cy="322226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828D87A-D69C-D6D6-1F45-BBF7A75CFDE8}"/>
                  </a:ext>
                </a:extLst>
              </p:cNvPr>
              <p:cNvSpPr/>
              <p:nvPr/>
            </p:nvSpPr>
            <p:spPr>
              <a:xfrm>
                <a:off x="9709512" y="3856429"/>
                <a:ext cx="171450" cy="322223"/>
              </a:xfrm>
              <a:prstGeom prst="ellipse">
                <a:avLst/>
              </a:prstGeom>
              <a:solidFill>
                <a:srgbClr val="E2D2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78E41ED-372C-63D2-3F91-927D3DE4A970}"/>
                  </a:ext>
                </a:extLst>
              </p:cNvPr>
              <p:cNvSpPr/>
              <p:nvPr/>
            </p:nvSpPr>
            <p:spPr>
              <a:xfrm>
                <a:off x="9705975" y="3857625"/>
                <a:ext cx="98787" cy="321027"/>
              </a:xfrm>
              <a:prstGeom prst="rect">
                <a:avLst/>
              </a:prstGeom>
              <a:solidFill>
                <a:srgbClr val="E2D2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B4EF232-5E96-C47D-6F0C-6EC627E1FCEC}"/>
                  </a:ext>
                </a:extLst>
              </p:cNvPr>
              <p:cNvSpPr/>
              <p:nvPr/>
            </p:nvSpPr>
            <p:spPr>
              <a:xfrm>
                <a:off x="9659506" y="3856427"/>
                <a:ext cx="171450" cy="322226"/>
              </a:xfrm>
              <a:prstGeom prst="ellipse">
                <a:avLst/>
              </a:prstGeom>
              <a:gradFill>
                <a:gsLst>
                  <a:gs pos="92000">
                    <a:srgbClr val="998377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D038B88-AB48-352C-C010-1734AFD4B46D}"/>
                </a:ext>
              </a:extLst>
            </p:cNvPr>
            <p:cNvSpPr/>
            <p:nvPr/>
          </p:nvSpPr>
          <p:spPr>
            <a:xfrm>
              <a:off x="6354214" y="3570299"/>
              <a:ext cx="155740" cy="15574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7C195A48-4D3B-F92F-74B8-566CF7C3B231}"/>
                </a:ext>
              </a:extLst>
            </p:cNvPr>
            <p:cNvCxnSpPr>
              <a:cxnSpLocks/>
              <a:stCxn id="62" idx="6"/>
            </p:cNvCxnSpPr>
            <p:nvPr/>
          </p:nvCxnSpPr>
          <p:spPr>
            <a:xfrm flipV="1">
              <a:off x="6509954" y="3638774"/>
              <a:ext cx="2979934" cy="9395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FE395A9-3AB1-EE0F-A567-7865B3D15F68}"/>
                </a:ext>
              </a:extLst>
            </p:cNvPr>
            <p:cNvSpPr txBox="1"/>
            <p:nvPr/>
          </p:nvSpPr>
          <p:spPr>
            <a:xfrm>
              <a:off x="6601315" y="2481934"/>
              <a:ext cx="8258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/>
                <a:t>Cerebellar</a:t>
              </a:r>
            </a:p>
            <a:p>
              <a:r>
                <a:rPr lang="en-GB" sz="1100" dirty="0"/>
                <a:t>peduncles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ED709B4-B661-C7D3-E955-609CE67C0544}"/>
                </a:ext>
              </a:extLst>
            </p:cNvPr>
            <p:cNvSpPr/>
            <p:nvPr/>
          </p:nvSpPr>
          <p:spPr>
            <a:xfrm>
              <a:off x="9369649" y="2604651"/>
              <a:ext cx="908720" cy="249898"/>
            </a:xfrm>
            <a:prstGeom prst="rect">
              <a:avLst/>
            </a:prstGeom>
            <a:gradFill flip="none" rotWithShape="1">
              <a:gsLst>
                <a:gs pos="100000">
                  <a:srgbClr val="F6ECDD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rgbClr val="C0B3A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Orbit</a:t>
              </a: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2D2600C-E0B1-E5F4-9986-58B744C0ACDE}"/>
                </a:ext>
              </a:extLst>
            </p:cNvPr>
            <p:cNvSpPr/>
            <p:nvPr/>
          </p:nvSpPr>
          <p:spPr>
            <a:xfrm>
              <a:off x="9464260" y="3435785"/>
              <a:ext cx="919179" cy="203200"/>
            </a:xfrm>
            <a:custGeom>
              <a:avLst/>
              <a:gdLst>
                <a:gd name="connsiteX0" fmla="*/ 0 w 609600"/>
                <a:gd name="connsiteY0" fmla="*/ 203200 h 203200"/>
                <a:gd name="connsiteX1" fmla="*/ 283028 w 609600"/>
                <a:gd name="connsiteY1" fmla="*/ 36285 h 203200"/>
                <a:gd name="connsiteX2" fmla="*/ 609600 w 609600"/>
                <a:gd name="connsiteY2" fmla="*/ 0 h 203200"/>
                <a:gd name="connsiteX0" fmla="*/ 0 w 609600"/>
                <a:gd name="connsiteY0" fmla="*/ 203200 h 203200"/>
                <a:gd name="connsiteX1" fmla="*/ 283028 w 609600"/>
                <a:gd name="connsiteY1" fmla="*/ 36285 h 203200"/>
                <a:gd name="connsiteX2" fmla="*/ 609600 w 609600"/>
                <a:gd name="connsiteY2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203200">
                  <a:moveTo>
                    <a:pt x="0" y="203200"/>
                  </a:moveTo>
                  <a:cubicBezTo>
                    <a:pt x="152626" y="201763"/>
                    <a:pt x="181428" y="70152"/>
                    <a:pt x="283028" y="36285"/>
                  </a:cubicBezTo>
                  <a:cubicBezTo>
                    <a:pt x="384628" y="2418"/>
                    <a:pt x="497114" y="1209"/>
                    <a:pt x="609600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tailEnd type="stealth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3547B66-0DF4-E5C5-C826-A346FB22A160}"/>
                </a:ext>
              </a:extLst>
            </p:cNvPr>
            <p:cNvSpPr/>
            <p:nvPr/>
          </p:nvSpPr>
          <p:spPr>
            <a:xfrm flipV="1">
              <a:off x="9467832" y="3640573"/>
              <a:ext cx="919179" cy="203200"/>
            </a:xfrm>
            <a:custGeom>
              <a:avLst/>
              <a:gdLst>
                <a:gd name="connsiteX0" fmla="*/ 0 w 609600"/>
                <a:gd name="connsiteY0" fmla="*/ 203200 h 203200"/>
                <a:gd name="connsiteX1" fmla="*/ 283028 w 609600"/>
                <a:gd name="connsiteY1" fmla="*/ 36285 h 203200"/>
                <a:gd name="connsiteX2" fmla="*/ 609600 w 609600"/>
                <a:gd name="connsiteY2" fmla="*/ 0 h 203200"/>
                <a:gd name="connsiteX0" fmla="*/ 0 w 609600"/>
                <a:gd name="connsiteY0" fmla="*/ 203200 h 203200"/>
                <a:gd name="connsiteX1" fmla="*/ 283028 w 609600"/>
                <a:gd name="connsiteY1" fmla="*/ 36285 h 203200"/>
                <a:gd name="connsiteX2" fmla="*/ 609600 w 609600"/>
                <a:gd name="connsiteY2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203200">
                  <a:moveTo>
                    <a:pt x="0" y="203200"/>
                  </a:moveTo>
                  <a:cubicBezTo>
                    <a:pt x="152626" y="201763"/>
                    <a:pt x="181428" y="70152"/>
                    <a:pt x="283028" y="36285"/>
                  </a:cubicBezTo>
                  <a:cubicBezTo>
                    <a:pt x="384628" y="2418"/>
                    <a:pt x="497114" y="1209"/>
                    <a:pt x="609600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tailEnd type="stealth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FBCAD6C-CEA3-4B9D-375A-65A4CD8E386E}"/>
                </a:ext>
              </a:extLst>
            </p:cNvPr>
            <p:cNvSpPr txBox="1"/>
            <p:nvPr/>
          </p:nvSpPr>
          <p:spPr>
            <a:xfrm>
              <a:off x="10464319" y="2896744"/>
              <a:ext cx="1346742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Superior rectus</a:t>
              </a:r>
            </a:p>
            <a:p>
              <a:r>
                <a:rPr lang="en-GB" sz="1100" dirty="0"/>
                <a:t>Medial rectus</a:t>
              </a:r>
            </a:p>
            <a:p>
              <a:r>
                <a:rPr lang="en-GB" sz="1100" dirty="0"/>
                <a:t>Inferior rectus</a:t>
              </a:r>
            </a:p>
            <a:p>
              <a:r>
                <a:rPr lang="en-GB" sz="1100" dirty="0"/>
                <a:t>Inferior oblique</a:t>
              </a:r>
            </a:p>
            <a:p>
              <a:endParaRPr lang="en-GB" sz="1100" dirty="0"/>
            </a:p>
            <a:p>
              <a:r>
                <a:rPr lang="en-GB" sz="1100" dirty="0"/>
                <a:t>Levator palpebrae superioris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8D7313C-96DD-478C-BB06-D34B6297C3DD}"/>
                </a:ext>
              </a:extLst>
            </p:cNvPr>
            <p:cNvSpPr/>
            <p:nvPr/>
          </p:nvSpPr>
          <p:spPr>
            <a:xfrm>
              <a:off x="6143580" y="3672929"/>
              <a:ext cx="155740" cy="155740"/>
            </a:xfrm>
            <a:prstGeom prst="ellips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0244467-6D9D-315A-918D-A6A07B307FB5}"/>
                </a:ext>
              </a:extLst>
            </p:cNvPr>
            <p:cNvCxnSpPr>
              <a:cxnSpLocks/>
              <a:stCxn id="71" idx="6"/>
            </p:cNvCxnSpPr>
            <p:nvPr/>
          </p:nvCxnSpPr>
          <p:spPr>
            <a:xfrm flipV="1">
              <a:off x="6299320" y="3741404"/>
              <a:ext cx="2979934" cy="9395"/>
            </a:xfrm>
            <a:prstGeom prst="straightConnector1">
              <a:avLst/>
            </a:prstGeom>
            <a:ln w="22225">
              <a:solidFill>
                <a:srgbClr val="8A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72FEDCD-B50B-2B6E-79A8-30D52906C1C4}"/>
                </a:ext>
              </a:extLst>
            </p:cNvPr>
            <p:cNvSpPr txBox="1"/>
            <p:nvPr/>
          </p:nvSpPr>
          <p:spPr>
            <a:xfrm>
              <a:off x="10464319" y="4174017"/>
              <a:ext cx="138880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Constrictor pupillae</a:t>
              </a:r>
            </a:p>
            <a:p>
              <a:r>
                <a:rPr lang="en-GB" sz="1100" dirty="0"/>
                <a:t>Ciliary</a:t>
              </a: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29BBE50-2B96-2B0C-08C1-B6D673DA0D32}"/>
                </a:ext>
              </a:extLst>
            </p:cNvPr>
            <p:cNvSpPr/>
            <p:nvPr/>
          </p:nvSpPr>
          <p:spPr>
            <a:xfrm>
              <a:off x="9273779" y="3739993"/>
              <a:ext cx="321072" cy="256934"/>
            </a:xfrm>
            <a:custGeom>
              <a:avLst/>
              <a:gdLst>
                <a:gd name="connsiteX0" fmla="*/ 0 w 346075"/>
                <a:gd name="connsiteY0" fmla="*/ 15987 h 279512"/>
                <a:gd name="connsiteX1" fmla="*/ 174625 w 346075"/>
                <a:gd name="connsiteY1" fmla="*/ 28687 h 279512"/>
                <a:gd name="connsiteX2" fmla="*/ 346075 w 346075"/>
                <a:gd name="connsiteY2" fmla="*/ 279512 h 279512"/>
                <a:gd name="connsiteX0" fmla="*/ 0 w 346075"/>
                <a:gd name="connsiteY0" fmla="*/ 10097 h 273622"/>
                <a:gd name="connsiteX1" fmla="*/ 174625 w 346075"/>
                <a:gd name="connsiteY1" fmla="*/ 22797 h 273622"/>
                <a:gd name="connsiteX2" fmla="*/ 346075 w 346075"/>
                <a:gd name="connsiteY2" fmla="*/ 273622 h 273622"/>
                <a:gd name="connsiteX0" fmla="*/ 0 w 321072"/>
                <a:gd name="connsiteY0" fmla="*/ 14959 h 271340"/>
                <a:gd name="connsiteX1" fmla="*/ 149622 w 321072"/>
                <a:gd name="connsiteY1" fmla="*/ 20515 h 271340"/>
                <a:gd name="connsiteX2" fmla="*/ 321072 w 321072"/>
                <a:gd name="connsiteY2" fmla="*/ 271340 h 271340"/>
                <a:gd name="connsiteX0" fmla="*/ 0 w 321072"/>
                <a:gd name="connsiteY0" fmla="*/ 553 h 256934"/>
                <a:gd name="connsiteX1" fmla="*/ 161529 w 321072"/>
                <a:gd name="connsiteY1" fmla="*/ 32302 h 256934"/>
                <a:gd name="connsiteX2" fmla="*/ 321072 w 321072"/>
                <a:gd name="connsiteY2" fmla="*/ 256934 h 256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1072" h="256934">
                  <a:moveTo>
                    <a:pt x="0" y="553"/>
                  </a:moveTo>
                  <a:cubicBezTo>
                    <a:pt x="78714" y="2802"/>
                    <a:pt x="103850" y="-11619"/>
                    <a:pt x="161529" y="32302"/>
                  </a:cubicBezTo>
                  <a:cubicBezTo>
                    <a:pt x="219208" y="76223"/>
                    <a:pt x="264186" y="153482"/>
                    <a:pt x="321072" y="256934"/>
                  </a:cubicBezTo>
                </a:path>
              </a:pathLst>
            </a:custGeom>
            <a:noFill/>
            <a:ln w="22225">
              <a:solidFill>
                <a:srgbClr val="8A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6BC59E0-E05F-68F6-B7AD-704C5A38B72E}"/>
                </a:ext>
              </a:extLst>
            </p:cNvPr>
            <p:cNvCxnSpPr>
              <a:cxnSpLocks/>
              <a:stCxn id="54" idx="3"/>
              <a:endCxn id="54" idx="3"/>
            </p:cNvCxnSpPr>
            <p:nvPr/>
          </p:nvCxnSpPr>
          <p:spPr>
            <a:xfrm>
              <a:off x="9398000" y="3241875"/>
              <a:ext cx="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5A44869E-673B-47E4-26CC-7D4005193EF9}"/>
                </a:ext>
              </a:extLst>
            </p:cNvPr>
            <p:cNvGrpSpPr/>
            <p:nvPr/>
          </p:nvGrpSpPr>
          <p:grpSpPr>
            <a:xfrm rot="19883446">
              <a:off x="9553979" y="3995348"/>
              <a:ext cx="109870" cy="64100"/>
              <a:chOff x="6601315" y="5372100"/>
              <a:chExt cx="750995" cy="438150"/>
            </a:xfrm>
          </p:grpSpPr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BCA366B8-D91A-DFED-59B7-9EFBFEA78F08}"/>
                  </a:ext>
                </a:extLst>
              </p:cNvPr>
              <p:cNvCxnSpPr/>
              <p:nvPr/>
            </p:nvCxnSpPr>
            <p:spPr>
              <a:xfrm flipV="1">
                <a:off x="6601315" y="5372100"/>
                <a:ext cx="377335" cy="438150"/>
              </a:xfrm>
              <a:prstGeom prst="line">
                <a:avLst/>
              </a:prstGeom>
              <a:ln>
                <a:solidFill>
                  <a:srgbClr val="8A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484502A1-77D2-A21D-18E4-5B06E52200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74975" y="5372100"/>
                <a:ext cx="377335" cy="438150"/>
              </a:xfrm>
              <a:prstGeom prst="line">
                <a:avLst/>
              </a:prstGeom>
              <a:ln>
                <a:solidFill>
                  <a:srgbClr val="8A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EC9260B-B32A-578D-F6BA-9D27F0ED3869}"/>
                </a:ext>
              </a:extLst>
            </p:cNvPr>
            <p:cNvGrpSpPr/>
            <p:nvPr/>
          </p:nvGrpSpPr>
          <p:grpSpPr>
            <a:xfrm>
              <a:off x="9593331" y="4069643"/>
              <a:ext cx="790109" cy="304585"/>
              <a:chOff x="9593331" y="4069643"/>
              <a:chExt cx="790109" cy="304585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B5F8C17-8495-9BB7-B7EA-4E27CC28CBB6}"/>
                  </a:ext>
                </a:extLst>
              </p:cNvPr>
              <p:cNvSpPr/>
              <p:nvPr/>
            </p:nvSpPr>
            <p:spPr>
              <a:xfrm>
                <a:off x="9593331" y="4069643"/>
                <a:ext cx="155740" cy="155740"/>
              </a:xfrm>
              <a:prstGeom prst="ellipse">
                <a:avLst/>
              </a:prstGeom>
              <a:solidFill>
                <a:srgbClr val="8A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5C28BB7-4BA1-C39C-E446-2410E509E240}"/>
                  </a:ext>
                </a:extLst>
              </p:cNvPr>
              <p:cNvSpPr/>
              <p:nvPr/>
            </p:nvSpPr>
            <p:spPr>
              <a:xfrm>
                <a:off x="9707165" y="4194388"/>
                <a:ext cx="676275" cy="179840"/>
              </a:xfrm>
              <a:custGeom>
                <a:avLst/>
                <a:gdLst>
                  <a:gd name="connsiteX0" fmla="*/ 0 w 676275"/>
                  <a:gd name="connsiteY0" fmla="*/ 0 h 179840"/>
                  <a:gd name="connsiteX1" fmla="*/ 234553 w 676275"/>
                  <a:gd name="connsiteY1" fmla="*/ 152400 h 179840"/>
                  <a:gd name="connsiteX2" fmla="*/ 676275 w 676275"/>
                  <a:gd name="connsiteY2" fmla="*/ 179785 h 179840"/>
                  <a:gd name="connsiteX3" fmla="*/ 676275 w 676275"/>
                  <a:gd name="connsiteY3" fmla="*/ 179785 h 179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179840">
                    <a:moveTo>
                      <a:pt x="0" y="0"/>
                    </a:moveTo>
                    <a:cubicBezTo>
                      <a:pt x="60920" y="61218"/>
                      <a:pt x="121841" y="122436"/>
                      <a:pt x="234553" y="152400"/>
                    </a:cubicBezTo>
                    <a:cubicBezTo>
                      <a:pt x="347265" y="182364"/>
                      <a:pt x="676275" y="179785"/>
                      <a:pt x="676275" y="179785"/>
                    </a:cubicBezTo>
                    <a:lnTo>
                      <a:pt x="676275" y="179785"/>
                    </a:lnTo>
                  </a:path>
                </a:pathLst>
              </a:custGeom>
              <a:noFill/>
              <a:ln>
                <a:solidFill>
                  <a:srgbClr val="8A0000"/>
                </a:solidFill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3FACC4-0E5A-6963-C638-E921A9A21D07}"/>
                </a:ext>
              </a:extLst>
            </p:cNvPr>
            <p:cNvSpPr txBox="1"/>
            <p:nvPr/>
          </p:nvSpPr>
          <p:spPr>
            <a:xfrm>
              <a:off x="8985087" y="4147513"/>
              <a:ext cx="7425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dirty="0"/>
                <a:t>Celiac</a:t>
              </a:r>
            </a:p>
            <a:p>
              <a:pPr algn="ctr"/>
              <a:r>
                <a:rPr lang="en-GB" sz="1100" dirty="0"/>
                <a:t>ganglion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813AA89-E572-BF88-0292-A6C2ED3DB81E}"/>
                </a:ext>
              </a:extLst>
            </p:cNvPr>
            <p:cNvSpPr txBox="1"/>
            <p:nvPr/>
          </p:nvSpPr>
          <p:spPr>
            <a:xfrm>
              <a:off x="5873310" y="3117749"/>
              <a:ext cx="92365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/>
                <a:t>Oculomotor</a:t>
              </a:r>
            </a:p>
            <a:p>
              <a:r>
                <a:rPr lang="en-GB" sz="1100" dirty="0"/>
                <a:t>Nucleus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5ABCEB9-233F-519C-A68B-D825F684093A}"/>
                </a:ext>
              </a:extLst>
            </p:cNvPr>
            <p:cNvSpPr txBox="1"/>
            <p:nvPr/>
          </p:nvSpPr>
          <p:spPr>
            <a:xfrm>
              <a:off x="5854201" y="3851326"/>
              <a:ext cx="8476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Edinger-Westphal</a:t>
              </a:r>
            </a:p>
            <a:p>
              <a:r>
                <a:rPr lang="en-GB" sz="1100" dirty="0"/>
                <a:t>Nucleus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3D8FB14D-12E5-9266-B4B9-E55B48E69786}"/>
              </a:ext>
            </a:extLst>
          </p:cNvPr>
          <p:cNvSpPr txBox="1"/>
          <p:nvPr/>
        </p:nvSpPr>
        <p:spPr>
          <a:xfrm>
            <a:off x="10449699" y="2720345"/>
            <a:ext cx="1346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Eye muscles</a:t>
            </a:r>
          </a:p>
        </p:txBody>
      </p:sp>
    </p:spTree>
    <p:extLst>
      <p:ext uri="{BB962C8B-B14F-4D97-AF65-F5344CB8AC3E}">
        <p14:creationId xmlns:p14="http://schemas.microsoft.com/office/powerpoint/2010/main" val="2592977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5F254-79CB-2E34-0442-E12460985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061D9-33A9-71BD-839E-B6A79E925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Cranial nerves of the midbrain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EAFA56-F100-BECD-5505-18FDBBA88664}"/>
              </a:ext>
            </a:extLst>
          </p:cNvPr>
          <p:cNvGraphicFramePr>
            <a:graphicFrameLocks noGrp="1"/>
          </p:cNvGraphicFramePr>
          <p:nvPr/>
        </p:nvGraphicFramePr>
        <p:xfrm>
          <a:off x="319945" y="1385799"/>
          <a:ext cx="11552109" cy="248800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48478">
                  <a:extLst>
                    <a:ext uri="{9D8B030D-6E8A-4147-A177-3AD203B41FA5}">
                      <a16:colId xmlns:a16="http://schemas.microsoft.com/office/drawing/2014/main" val="3880467983"/>
                    </a:ext>
                  </a:extLst>
                </a:gridCol>
                <a:gridCol w="1601620">
                  <a:extLst>
                    <a:ext uri="{9D8B030D-6E8A-4147-A177-3AD203B41FA5}">
                      <a16:colId xmlns:a16="http://schemas.microsoft.com/office/drawing/2014/main" val="1963411889"/>
                    </a:ext>
                  </a:extLst>
                </a:gridCol>
                <a:gridCol w="3475855">
                  <a:extLst>
                    <a:ext uri="{9D8B030D-6E8A-4147-A177-3AD203B41FA5}">
                      <a16:colId xmlns:a16="http://schemas.microsoft.com/office/drawing/2014/main" val="1299710248"/>
                    </a:ext>
                  </a:extLst>
                </a:gridCol>
                <a:gridCol w="5526156">
                  <a:extLst>
                    <a:ext uri="{9D8B030D-6E8A-4147-A177-3AD203B41FA5}">
                      <a16:colId xmlns:a16="http://schemas.microsoft.com/office/drawing/2014/main" val="2499284477"/>
                    </a:ext>
                  </a:extLst>
                </a:gridCol>
              </a:tblGrid>
              <a:tr h="374847">
                <a:tc>
                  <a:txBody>
                    <a:bodyPr/>
                    <a:lstStyle/>
                    <a:p>
                      <a:r>
                        <a:rPr lang="en-GB" sz="16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Nuclei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Targets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276562"/>
                  </a:ext>
                </a:extLst>
              </a:tr>
              <a:tr h="528194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Trochlear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Trochlear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Superior oblique muscle of the eye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667687"/>
                  </a:ext>
                </a:extLst>
              </a:tr>
              <a:tr h="955292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Oculomotor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Oculomotor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dirty="0"/>
                        <a:t>Nucleus of Edinger‐Westphal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Levator palpebrae superioris muscle of the eye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Superior rectus muscle of the eye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Medial rectus muscle of the eye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Inferior rectus muscle of the eye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Inferior oblique muscle of the eye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Sphincter pupillae muscle and ciliary muscle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388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417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71EE-D643-F158-50A0-3D6C804B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Cranial nerves of the brainstem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6678584-6A0F-176A-94FE-5B76D14753AD}"/>
              </a:ext>
            </a:extLst>
          </p:cNvPr>
          <p:cNvGrpSpPr/>
          <p:nvPr/>
        </p:nvGrpSpPr>
        <p:grpSpPr>
          <a:xfrm>
            <a:off x="58536" y="1169978"/>
            <a:ext cx="12074928" cy="5463682"/>
            <a:chOff x="58536" y="1169978"/>
            <a:chExt cx="12074928" cy="5463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4AC6655-D9DA-BBF3-D093-305926B37D54}"/>
                </a:ext>
              </a:extLst>
            </p:cNvPr>
            <p:cNvSpPr/>
            <p:nvPr/>
          </p:nvSpPr>
          <p:spPr>
            <a:xfrm>
              <a:off x="58536" y="1169978"/>
              <a:ext cx="12074928" cy="5463682"/>
            </a:xfrm>
            <a:prstGeom prst="rect">
              <a:avLst/>
            </a:prstGeom>
            <a:solidFill>
              <a:srgbClr val="E7E5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141EA7B-8B99-EC47-1350-1A3A5342D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51392" y="1931031"/>
              <a:ext cx="6882072" cy="424661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7E03280-8DA7-DB34-0C9E-1FB5695E7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6" y="1513216"/>
              <a:ext cx="5347854" cy="48810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6477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0469-5414-4F16-A00B-B4989D33E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reticular formation and raphe nuclei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2FB3EA-2E21-4FD4-9DFA-5D85DB7BF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2337" y="6158987"/>
            <a:ext cx="4427326" cy="506413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GB" b="1" dirty="0"/>
              <a:t>Major source of serotonin in the brain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3A636B-745D-005E-07E3-BDC49EB882DE}"/>
              </a:ext>
            </a:extLst>
          </p:cNvPr>
          <p:cNvGrpSpPr/>
          <p:nvPr/>
        </p:nvGrpSpPr>
        <p:grpSpPr>
          <a:xfrm>
            <a:off x="4248954" y="1235813"/>
            <a:ext cx="3534522" cy="2702013"/>
            <a:chOff x="8027204" y="2260600"/>
            <a:chExt cx="3534522" cy="2702013"/>
          </a:xfrm>
        </p:grpSpPr>
        <p:pic>
          <p:nvPicPr>
            <p:cNvPr id="5" name="Content Placeholder 4">
              <a:extLst>
                <a:ext uri="{FF2B5EF4-FFF2-40B4-BE49-F238E27FC236}">
                  <a16:creationId xmlns:a16="http://schemas.microsoft.com/office/drawing/2014/main" id="{6D07D482-6595-6D05-37E9-E9A464C93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27204" y="2260600"/>
              <a:ext cx="3534522" cy="23368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EA0D0E2-914C-07BA-26CF-65C57B73B4EA}"/>
                </a:ext>
              </a:extLst>
            </p:cNvPr>
            <p:cNvSpPr txBox="1"/>
            <p:nvPr/>
          </p:nvSpPr>
          <p:spPr>
            <a:xfrm>
              <a:off x="9189958" y="4593281"/>
              <a:ext cx="1469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Midbrain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4BC30E-9C29-42E1-8C89-A4BF1A22B714}"/>
              </a:ext>
            </a:extLst>
          </p:cNvPr>
          <p:cNvGrpSpPr/>
          <p:nvPr/>
        </p:nvGrpSpPr>
        <p:grpSpPr>
          <a:xfrm>
            <a:off x="2405939" y="1907818"/>
            <a:ext cx="2715632" cy="2697594"/>
            <a:chOff x="4407468" y="2271219"/>
            <a:chExt cx="2715632" cy="269759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46F3378-2D48-0694-24D4-E0C4A34F8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7468" y="2271219"/>
              <a:ext cx="2715632" cy="229640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ADA60F-1A67-50AD-27EA-66BFCA3DEE50}"/>
                </a:ext>
              </a:extLst>
            </p:cNvPr>
            <p:cNvSpPr txBox="1"/>
            <p:nvPr/>
          </p:nvSpPr>
          <p:spPr>
            <a:xfrm>
              <a:off x="5028168" y="4599481"/>
              <a:ext cx="1474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Pons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FFCBB2B-5041-2055-7DB1-E66510C2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716" y="1194110"/>
            <a:ext cx="3465450" cy="48288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86C230-C2B5-4890-BAC5-8E28EC336A83}"/>
              </a:ext>
            </a:extLst>
          </p:cNvPr>
          <p:cNvSpPr txBox="1"/>
          <p:nvPr/>
        </p:nvSpPr>
        <p:spPr>
          <a:xfrm>
            <a:off x="16796" y="4858159"/>
            <a:ext cx="8684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HelveticaLTStd-Roman"/>
              </a:rPr>
              <a:t>N</a:t>
            </a:r>
            <a:r>
              <a:rPr lang="en-GB" sz="1800" b="0" i="0" u="none" strike="noStrike" baseline="0" dirty="0">
                <a:latin typeface="HelveticaLTStd-Roman"/>
              </a:rPr>
              <a:t>umerous functions, including mediation of cardiovascular and respiratory functions, involvement in awareness (sleep, consciousness, alertness, habituation), pain modulation and maintenance of muscle tone, balance, and motor coordination.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7EB433-5CCF-9825-9F2D-F16A022C732D}"/>
              </a:ext>
            </a:extLst>
          </p:cNvPr>
          <p:cNvGrpSpPr/>
          <p:nvPr/>
        </p:nvGrpSpPr>
        <p:grpSpPr>
          <a:xfrm>
            <a:off x="148590" y="1178644"/>
            <a:ext cx="2956269" cy="2955187"/>
            <a:chOff x="598162" y="2258144"/>
            <a:chExt cx="2956269" cy="295518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71095DC-0001-2A9C-975B-BD32BCB49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97" y="2258144"/>
              <a:ext cx="2883534" cy="230549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C675298-0874-8018-4F47-33BD479858FE}"/>
                </a:ext>
              </a:extLst>
            </p:cNvPr>
            <p:cNvSpPr txBox="1"/>
            <p:nvPr/>
          </p:nvSpPr>
          <p:spPr>
            <a:xfrm>
              <a:off x="598162" y="4567000"/>
              <a:ext cx="27482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Medulla</a:t>
              </a:r>
            </a:p>
            <a:p>
              <a:pPr algn="ctr"/>
              <a:r>
                <a:rPr lang="en-GB" dirty="0" err="1"/>
                <a:t>Oblungata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696225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4867-AAC1-45C8-E32D-B8E66DA1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II - Optic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D5473-6DB0-7993-52EC-6FCF4747F5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252"/>
          <a:stretch/>
        </p:blipFill>
        <p:spPr>
          <a:xfrm>
            <a:off x="225286" y="1311520"/>
            <a:ext cx="5528052" cy="5432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950EEE-78E7-CA7E-7847-70351F1480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51"/>
          <a:stretch/>
        </p:blipFill>
        <p:spPr>
          <a:xfrm>
            <a:off x="6244612" y="2215645"/>
            <a:ext cx="5528052" cy="319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4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8CE7-E2FA-8761-D851-B60F32BF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- Olfactory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2599C-3ACD-682A-7EE0-FFE2F9FAD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120"/>
          <a:stretch/>
        </p:blipFill>
        <p:spPr>
          <a:xfrm>
            <a:off x="219290" y="2032946"/>
            <a:ext cx="6028480" cy="29312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07D629-6A3E-F54F-21BB-32A41160B9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618" r="3408"/>
          <a:stretch/>
        </p:blipFill>
        <p:spPr>
          <a:xfrm>
            <a:off x="6137197" y="1723729"/>
            <a:ext cx="5823012" cy="341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37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48AC-C5A3-1F06-620F-DE8F969E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Cranial nerves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81222F0-ED2C-FE6D-0058-3B0C8CF8F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391" y="1825625"/>
            <a:ext cx="2461591" cy="4351338"/>
          </a:xfrm>
        </p:spPr>
        <p:txBody>
          <a:bodyPr>
            <a:normAutofit fontScale="62500" lnSpcReduction="20000"/>
          </a:bodyPr>
          <a:lstStyle/>
          <a:p>
            <a:pPr marL="400050" indent="-400050">
              <a:buFont typeface="+mj-lt"/>
              <a:buAutoNum type="romanUcPeriod"/>
            </a:pPr>
            <a:r>
              <a:rPr lang="en-GB" dirty="0"/>
              <a:t>Olfactory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Optic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Oculomotor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Trochlear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Trigeminal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Abducens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Facial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Vestibulocochlear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Glossopharyngeal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 err="1"/>
              <a:t>Vagus</a:t>
            </a:r>
            <a:endParaRPr lang="en-GB" dirty="0"/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Accessory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Hypoglossal</a:t>
            </a:r>
          </a:p>
          <a:p>
            <a:pPr marL="400050" indent="-400050">
              <a:buFont typeface="+mj-lt"/>
              <a:buAutoNum type="romanUcPeriod"/>
            </a:pPr>
            <a:endParaRPr lang="en-GB" dirty="0"/>
          </a:p>
          <a:p>
            <a:pPr marL="400050" indent="-400050">
              <a:buFont typeface="+mj-lt"/>
              <a:buAutoNum type="romanUcPeriod"/>
            </a:pPr>
            <a:endParaRPr lang="en-GB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B230B87-534D-87A6-3568-CA37DB82416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77154" y="1361394"/>
            <a:ext cx="7695192" cy="507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43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107C4-C2D1-CA2B-4343-B51EB299A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Cranial nerves and cranial cavity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A6A57B-E5FF-7B26-E9DE-B34BB9701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245" y="1200437"/>
            <a:ext cx="4231706" cy="54540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32E0E6-3987-B026-AA75-979508742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66" y="1200437"/>
            <a:ext cx="4275724" cy="54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69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5B71-58BE-BC00-5C2B-4CA0507C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Clinical cases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990211-BD57-5942-A365-0E8669E07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831"/>
          <a:stretch/>
        </p:blipFill>
        <p:spPr>
          <a:xfrm>
            <a:off x="196415" y="1720889"/>
            <a:ext cx="5688467" cy="39302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86A642-5374-A861-D9F6-ECE360819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39"/>
          <a:stretch/>
        </p:blipFill>
        <p:spPr>
          <a:xfrm>
            <a:off x="6015511" y="1760646"/>
            <a:ext cx="6061922" cy="402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86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6766-2894-83F8-BB9B-060A1AE85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Clinical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D949C-3C49-67D2-2BFE-19E0EF91D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4" y="2221650"/>
            <a:ext cx="6213377" cy="26855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E1A3ED-72FF-4DFD-FAEE-E6B284A01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120" y="1379607"/>
            <a:ext cx="5620065" cy="491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72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387</Words>
  <Application>Microsoft Office PowerPoint</Application>
  <PresentationFormat>Widescreen</PresentationFormat>
  <Paragraphs>137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HelveticaLTStd-Roman</vt:lpstr>
      <vt:lpstr>Office Theme</vt:lpstr>
      <vt:lpstr>Cranial nerves of the pons</vt:lpstr>
      <vt:lpstr>VIII - Vestibulocochlear</vt:lpstr>
      <vt:lpstr>VII - Facial</vt:lpstr>
      <vt:lpstr>VI - Abducens</vt:lpstr>
      <vt:lpstr>V - Trigeminal</vt:lpstr>
      <vt:lpstr>Cranial nerves of the pons</vt:lpstr>
      <vt:lpstr>The midbrain</vt:lpstr>
      <vt:lpstr>The midbrain</vt:lpstr>
      <vt:lpstr>Cranial nerves of the midbrain</vt:lpstr>
      <vt:lpstr>IV - Trochlear</vt:lpstr>
      <vt:lpstr>III - Oculomotor</vt:lpstr>
      <vt:lpstr>Cranial nerves of the midbrain</vt:lpstr>
      <vt:lpstr>Cranial nerves of the brainstem</vt:lpstr>
      <vt:lpstr>The reticular formation and raphe nuclei</vt:lpstr>
      <vt:lpstr>II - Optic </vt:lpstr>
      <vt:lpstr>I - Olfactory</vt:lpstr>
      <vt:lpstr>Cranial nerves</vt:lpstr>
      <vt:lpstr>Cranial nerves and cranial cavity</vt:lpstr>
      <vt:lpstr>Clinical cases</vt:lpstr>
      <vt:lpstr>Clinical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Elvio Mendes</dc:creator>
  <cp:lastModifiedBy>Elvio Mendes</cp:lastModifiedBy>
  <cp:revision>1</cp:revision>
  <dcterms:created xsi:type="dcterms:W3CDTF">2025-11-18T11:52:48Z</dcterms:created>
  <dcterms:modified xsi:type="dcterms:W3CDTF">2025-11-18T11:54:12Z</dcterms:modified>
</cp:coreProperties>
</file>