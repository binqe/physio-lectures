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645" r:id="rId2"/>
    <p:sldId id="646" r:id="rId3"/>
    <p:sldId id="648" r:id="rId4"/>
    <p:sldId id="340" r:id="rId5"/>
    <p:sldId id="649" r:id="rId6"/>
    <p:sldId id="650" r:id="rId7"/>
    <p:sldId id="651" r:id="rId8"/>
    <p:sldId id="652" r:id="rId9"/>
    <p:sldId id="657" r:id="rId10"/>
    <p:sldId id="301" r:id="rId11"/>
    <p:sldId id="347" r:id="rId12"/>
    <p:sldId id="345" r:id="rId13"/>
    <p:sldId id="653" r:id="rId14"/>
    <p:sldId id="654" r:id="rId15"/>
    <p:sldId id="331" r:id="rId16"/>
    <p:sldId id="330" r:id="rId17"/>
    <p:sldId id="655" r:id="rId18"/>
    <p:sldId id="333" r:id="rId19"/>
    <p:sldId id="349" r:id="rId20"/>
    <p:sldId id="351" r:id="rId21"/>
    <p:sldId id="353" r:id="rId22"/>
    <p:sldId id="352" r:id="rId23"/>
    <p:sldId id="257" r:id="rId24"/>
    <p:sldId id="630" r:id="rId25"/>
    <p:sldId id="355" r:id="rId26"/>
    <p:sldId id="658" r:id="rId27"/>
    <p:sldId id="65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1F8C65-EF05-466C-AC61-CDB374AE0A45}" v="30" dt="2025-02-02T13:36:35.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06" d="100"/>
          <a:sy n="106" d="100"/>
        </p:scale>
        <p:origin x="594"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2A81F4-18E2-42FB-AB9B-302DA4463628}" type="datetimeFigureOut">
              <a:rPr lang="en-GB" smtClean="0"/>
              <a:t>02/02/2025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B3E223-4F59-4227-B329-1C85F37774C9}" type="slidenum">
              <a:rPr lang="en-GB" smtClean="0"/>
              <a:t>‹#›</a:t>
            </a:fld>
            <a:endParaRPr lang="en-GB"/>
          </a:p>
        </p:txBody>
      </p:sp>
    </p:spTree>
    <p:extLst>
      <p:ext uri="{BB962C8B-B14F-4D97-AF65-F5344CB8AC3E}">
        <p14:creationId xmlns:p14="http://schemas.microsoft.com/office/powerpoint/2010/main" val="197904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2444DE-498F-42A0-A0CF-E563CE03C68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33573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2444DE-498F-42A0-A0CF-E563CE03C68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11016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2444DE-498F-42A0-A0CF-E563CE03C681}" type="slidenum">
              <a:rPr lang="en-GB" smtClean="0"/>
              <a:t>20</a:t>
            </a:fld>
            <a:endParaRPr lang="en-GB"/>
          </a:p>
        </p:txBody>
      </p:sp>
    </p:spTree>
    <p:extLst>
      <p:ext uri="{BB962C8B-B14F-4D97-AF65-F5344CB8AC3E}">
        <p14:creationId xmlns:p14="http://schemas.microsoft.com/office/powerpoint/2010/main" val="601490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2444DE-498F-42A0-A0CF-E563CE03C681}" type="slidenum">
              <a:rPr lang="en-GB" smtClean="0"/>
              <a:t>21</a:t>
            </a:fld>
            <a:endParaRPr lang="en-GB"/>
          </a:p>
        </p:txBody>
      </p:sp>
    </p:spTree>
    <p:extLst>
      <p:ext uri="{BB962C8B-B14F-4D97-AF65-F5344CB8AC3E}">
        <p14:creationId xmlns:p14="http://schemas.microsoft.com/office/powerpoint/2010/main" val="1144274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2444DE-498F-42A0-A0CF-E563CE03C681}" type="slidenum">
              <a:rPr lang="en-GB" smtClean="0"/>
              <a:t>24</a:t>
            </a:fld>
            <a:endParaRPr lang="en-GB"/>
          </a:p>
        </p:txBody>
      </p:sp>
    </p:spTree>
    <p:extLst>
      <p:ext uri="{BB962C8B-B14F-4D97-AF65-F5344CB8AC3E}">
        <p14:creationId xmlns:p14="http://schemas.microsoft.com/office/powerpoint/2010/main" val="1800675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0EEE0-6C15-332C-03CE-1FB7610799BA}"/>
              </a:ext>
            </a:extLst>
          </p:cNvPr>
          <p:cNvSpPr>
            <a:spLocks noGrp="1"/>
          </p:cNvSpPr>
          <p:nvPr>
            <p:ph type="ctrTitle"/>
          </p:nvPr>
        </p:nvSpPr>
        <p:spPr>
          <a:xfrm>
            <a:off x="1524000" y="2235200"/>
            <a:ext cx="9144000" cy="2387600"/>
          </a:xfrm>
        </p:spPr>
        <p:txBody>
          <a:bodyPr anchor="ctr">
            <a:normAutofit/>
          </a:bodyPr>
          <a:lstStyle>
            <a:lvl1pPr algn="ctr">
              <a:defRPr sz="44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06374650-05BC-2727-3E78-FE0D9FDD2492}"/>
              </a:ext>
            </a:extLst>
          </p:cNvPr>
          <p:cNvSpPr>
            <a:spLocks noGrp="1"/>
          </p:cNvSpPr>
          <p:nvPr>
            <p:ph type="subTitle" idx="1"/>
          </p:nvPr>
        </p:nvSpPr>
        <p:spPr>
          <a:xfrm>
            <a:off x="1524000" y="5041900"/>
            <a:ext cx="9144000" cy="10414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7F9E5A5-9A2E-BBC3-51DD-64C236D32482}"/>
              </a:ext>
            </a:extLst>
          </p:cNvPr>
          <p:cNvSpPr>
            <a:spLocks noGrp="1"/>
          </p:cNvSpPr>
          <p:nvPr>
            <p:ph type="dt" sz="half" idx="10"/>
          </p:nvPr>
        </p:nvSpPr>
        <p:spPr/>
        <p:txBody>
          <a:bodyPr/>
          <a:lstStyle/>
          <a:p>
            <a:fld id="{34816FF5-526B-4492-A089-2E1830DA809D}" type="datetimeFigureOut">
              <a:rPr lang="en-GB" smtClean="0"/>
              <a:t>02/02/2025</a:t>
            </a:fld>
            <a:endParaRPr lang="en-GB"/>
          </a:p>
        </p:txBody>
      </p:sp>
      <p:sp>
        <p:nvSpPr>
          <p:cNvPr id="5" name="Footer Placeholder 4">
            <a:extLst>
              <a:ext uri="{FF2B5EF4-FFF2-40B4-BE49-F238E27FC236}">
                <a16:creationId xmlns:a16="http://schemas.microsoft.com/office/drawing/2014/main" id="{24F6BD79-E916-CA00-4428-4C7D9233A6F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5C6289-CE30-D32A-A794-EAF2F08962B0}"/>
              </a:ext>
            </a:extLst>
          </p:cNvPr>
          <p:cNvSpPr>
            <a:spLocks noGrp="1"/>
          </p:cNvSpPr>
          <p:nvPr>
            <p:ph type="sldNum" sz="quarter" idx="12"/>
          </p:nvPr>
        </p:nvSpPr>
        <p:spPr/>
        <p:txBody>
          <a:bodyPr/>
          <a:lstStyle/>
          <a:p>
            <a:fld id="{6C383858-B318-42CB-ABE5-C0064C7AE68F}" type="slidenum">
              <a:rPr lang="en-GB" smtClean="0"/>
              <a:t>‹#›</a:t>
            </a:fld>
            <a:endParaRPr lang="en-GB"/>
          </a:p>
        </p:txBody>
      </p:sp>
    </p:spTree>
    <p:extLst>
      <p:ext uri="{BB962C8B-B14F-4D97-AF65-F5344CB8AC3E}">
        <p14:creationId xmlns:p14="http://schemas.microsoft.com/office/powerpoint/2010/main" val="3020446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EAB9F-74B9-519E-23CE-06079D3CA324}"/>
              </a:ext>
            </a:extLst>
          </p:cNvPr>
          <p:cNvSpPr>
            <a:spLocks noGrp="1"/>
          </p:cNvSpPr>
          <p:nvPr>
            <p:ph type="title"/>
          </p:nvPr>
        </p:nvSpPr>
        <p:spPr>
          <a:xfrm>
            <a:off x="148590" y="1"/>
            <a:ext cx="10515600" cy="1099738"/>
          </a:xfrm>
          <a:ln w="50800">
            <a:noFill/>
          </a:ln>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A94581E1-6CAB-684F-AF8C-DBE7BFB98784}"/>
              </a:ext>
            </a:extLst>
          </p:cNvPr>
          <p:cNvSpPr>
            <a:spLocks noGrp="1"/>
          </p:cNvSpPr>
          <p:nvPr>
            <p:ph idx="1"/>
          </p:nvPr>
        </p:nvSpPr>
        <p:spPr>
          <a:xfrm>
            <a:off x="838200" y="1825625"/>
            <a:ext cx="5257800" cy="4351338"/>
          </a:xfrm>
        </p:spPr>
        <p:txBody>
          <a:bodyPr>
            <a:normAutofit/>
          </a:bodyPr>
          <a:lstStyle>
            <a:lvl1pPr>
              <a:defRPr sz="1800"/>
            </a:lvl1pPr>
            <a:lvl2pPr marL="685800" indent="-228600">
              <a:buFont typeface="Calibri" panose="020F0502020204030204" pitchFamily="34" charset="0"/>
              <a:buChar cha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D0F9D57D-2FA7-E23E-5202-D2F5D7CFF3E9}"/>
              </a:ext>
            </a:extLst>
          </p:cNvPr>
          <p:cNvSpPr>
            <a:spLocks noGrp="1"/>
          </p:cNvSpPr>
          <p:nvPr>
            <p:ph type="dt" sz="half" idx="10"/>
          </p:nvPr>
        </p:nvSpPr>
        <p:spPr/>
        <p:txBody>
          <a:bodyPr/>
          <a:lstStyle/>
          <a:p>
            <a:fld id="{34816FF5-526B-4492-A089-2E1830DA809D}" type="datetimeFigureOut">
              <a:rPr lang="en-GB" smtClean="0"/>
              <a:t>02/02/2025</a:t>
            </a:fld>
            <a:endParaRPr lang="en-GB"/>
          </a:p>
        </p:txBody>
      </p:sp>
      <p:sp>
        <p:nvSpPr>
          <p:cNvPr id="5" name="Footer Placeholder 4">
            <a:extLst>
              <a:ext uri="{FF2B5EF4-FFF2-40B4-BE49-F238E27FC236}">
                <a16:creationId xmlns:a16="http://schemas.microsoft.com/office/drawing/2014/main" id="{2F861250-2AA3-7B82-250B-36C9C500DEA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86A65FA-49BE-BA14-AD4E-217BA9225356}"/>
              </a:ext>
            </a:extLst>
          </p:cNvPr>
          <p:cNvSpPr>
            <a:spLocks noGrp="1"/>
          </p:cNvSpPr>
          <p:nvPr>
            <p:ph type="sldNum" sz="quarter" idx="12"/>
          </p:nvPr>
        </p:nvSpPr>
        <p:spPr/>
        <p:txBody>
          <a:bodyPr/>
          <a:lstStyle/>
          <a:p>
            <a:fld id="{6C383858-B318-42CB-ABE5-C0064C7AE68F}" type="slidenum">
              <a:rPr lang="en-GB" smtClean="0"/>
              <a:t>‹#›</a:t>
            </a:fld>
            <a:endParaRPr lang="en-GB"/>
          </a:p>
        </p:txBody>
      </p:sp>
      <p:cxnSp>
        <p:nvCxnSpPr>
          <p:cNvPr id="8" name="Straight Connector 7">
            <a:extLst>
              <a:ext uri="{FF2B5EF4-FFF2-40B4-BE49-F238E27FC236}">
                <a16:creationId xmlns:a16="http://schemas.microsoft.com/office/drawing/2014/main" id="{EE43F5B8-64AC-AA8C-B0F0-34977FF8151B}"/>
              </a:ext>
            </a:extLst>
          </p:cNvPr>
          <p:cNvCxnSpPr>
            <a:cxnSpLocks/>
          </p:cNvCxnSpPr>
          <p:nvPr userDrawn="1"/>
        </p:nvCxnSpPr>
        <p:spPr>
          <a:xfrm>
            <a:off x="15240" y="1099738"/>
            <a:ext cx="6080760" cy="0"/>
          </a:xfrm>
          <a:prstGeom prst="line">
            <a:avLst/>
          </a:prstGeom>
          <a:ln w="76200">
            <a:gradFill flip="none" rotWithShape="1">
              <a:gsLst>
                <a:gs pos="9000">
                  <a:schemeClr val="bg1"/>
                </a:gs>
                <a:gs pos="100000">
                  <a:schemeClr val="tx2">
                    <a:lumMod val="75000"/>
                    <a:lumOff val="2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5325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6B4C-D83B-09F4-87FF-81995092C07B}"/>
              </a:ext>
            </a:extLst>
          </p:cNvPr>
          <p:cNvSpPr>
            <a:spLocks noGrp="1"/>
          </p:cNvSpPr>
          <p:nvPr>
            <p:ph type="title"/>
          </p:nvPr>
        </p:nvSpPr>
        <p:spPr>
          <a:xfrm>
            <a:off x="831850" y="2807500"/>
            <a:ext cx="10515600" cy="1243000"/>
          </a:xfrm>
        </p:spPr>
        <p:txBody>
          <a:bodyPr anchor="ctr">
            <a:normAutofit/>
          </a:bodyPr>
          <a:lstStyle>
            <a:lvl1pPr>
              <a:defRPr sz="4800"/>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FDDC1CB4-76D4-CD2D-FDD1-114A3E2D6BA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7BCA2F-3270-6FDC-F7DF-86388E11AA00}"/>
              </a:ext>
            </a:extLst>
          </p:cNvPr>
          <p:cNvSpPr>
            <a:spLocks noGrp="1"/>
          </p:cNvSpPr>
          <p:nvPr>
            <p:ph type="dt" sz="half" idx="10"/>
          </p:nvPr>
        </p:nvSpPr>
        <p:spPr/>
        <p:txBody>
          <a:bodyPr/>
          <a:lstStyle/>
          <a:p>
            <a:fld id="{34816FF5-526B-4492-A089-2E1830DA809D}" type="datetimeFigureOut">
              <a:rPr lang="en-GB" smtClean="0"/>
              <a:t>02/02/2025</a:t>
            </a:fld>
            <a:endParaRPr lang="en-GB"/>
          </a:p>
        </p:txBody>
      </p:sp>
      <p:sp>
        <p:nvSpPr>
          <p:cNvPr id="5" name="Footer Placeholder 4">
            <a:extLst>
              <a:ext uri="{FF2B5EF4-FFF2-40B4-BE49-F238E27FC236}">
                <a16:creationId xmlns:a16="http://schemas.microsoft.com/office/drawing/2014/main" id="{630F23F5-5057-AE1B-B770-54251FA7013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C0F9FC-0C0C-380F-3528-411C220B59DD}"/>
              </a:ext>
            </a:extLst>
          </p:cNvPr>
          <p:cNvSpPr>
            <a:spLocks noGrp="1"/>
          </p:cNvSpPr>
          <p:nvPr>
            <p:ph type="sldNum" sz="quarter" idx="12"/>
          </p:nvPr>
        </p:nvSpPr>
        <p:spPr/>
        <p:txBody>
          <a:bodyPr/>
          <a:lstStyle/>
          <a:p>
            <a:fld id="{6C383858-B318-42CB-ABE5-C0064C7AE68F}" type="slidenum">
              <a:rPr lang="en-GB" smtClean="0"/>
              <a:t>‹#›</a:t>
            </a:fld>
            <a:endParaRPr lang="en-GB"/>
          </a:p>
        </p:txBody>
      </p:sp>
      <p:cxnSp>
        <p:nvCxnSpPr>
          <p:cNvPr id="7" name="Straight Connector 6">
            <a:extLst>
              <a:ext uri="{FF2B5EF4-FFF2-40B4-BE49-F238E27FC236}">
                <a16:creationId xmlns:a16="http://schemas.microsoft.com/office/drawing/2014/main" id="{86BE8429-A823-FFFE-53D7-115B7A7E5959}"/>
              </a:ext>
            </a:extLst>
          </p:cNvPr>
          <p:cNvCxnSpPr>
            <a:cxnSpLocks/>
          </p:cNvCxnSpPr>
          <p:nvPr userDrawn="1"/>
        </p:nvCxnSpPr>
        <p:spPr>
          <a:xfrm>
            <a:off x="831850" y="4050500"/>
            <a:ext cx="7546837" cy="0"/>
          </a:xfrm>
          <a:prstGeom prst="line">
            <a:avLst/>
          </a:prstGeom>
          <a:ln w="76200">
            <a:gradFill flip="none" rotWithShape="1">
              <a:gsLst>
                <a:gs pos="9000">
                  <a:schemeClr val="bg1"/>
                </a:gs>
                <a:gs pos="100000">
                  <a:schemeClr val="tx2">
                    <a:lumMod val="75000"/>
                    <a:lumOff val="25000"/>
                  </a:schemeClr>
                </a:gs>
              </a:gsLst>
              <a:lin ang="10800000" scaled="1"/>
              <a:tileRect/>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3178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D1883-5795-340B-23C7-DE47019D27A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70403E4-7B9A-7900-4429-402EA796CC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11A5E7F-F98C-DDFB-40B5-21DCC0F3AC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666A96E-EF34-ED97-D773-6138A14EC46E}"/>
              </a:ext>
            </a:extLst>
          </p:cNvPr>
          <p:cNvSpPr>
            <a:spLocks noGrp="1"/>
          </p:cNvSpPr>
          <p:nvPr>
            <p:ph type="dt" sz="half" idx="10"/>
          </p:nvPr>
        </p:nvSpPr>
        <p:spPr/>
        <p:txBody>
          <a:bodyPr/>
          <a:lstStyle/>
          <a:p>
            <a:fld id="{34816FF5-526B-4492-A089-2E1830DA809D}" type="datetimeFigureOut">
              <a:rPr lang="en-GB" smtClean="0"/>
              <a:t>02/02/2025</a:t>
            </a:fld>
            <a:endParaRPr lang="en-GB"/>
          </a:p>
        </p:txBody>
      </p:sp>
      <p:sp>
        <p:nvSpPr>
          <p:cNvPr id="6" name="Footer Placeholder 5">
            <a:extLst>
              <a:ext uri="{FF2B5EF4-FFF2-40B4-BE49-F238E27FC236}">
                <a16:creationId xmlns:a16="http://schemas.microsoft.com/office/drawing/2014/main" id="{A475EB37-0393-0BB3-5104-F071DB6CA85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A15FE88-BD21-BDD1-5D6C-6AAF18213BA1}"/>
              </a:ext>
            </a:extLst>
          </p:cNvPr>
          <p:cNvSpPr>
            <a:spLocks noGrp="1"/>
          </p:cNvSpPr>
          <p:nvPr>
            <p:ph type="sldNum" sz="quarter" idx="12"/>
          </p:nvPr>
        </p:nvSpPr>
        <p:spPr/>
        <p:txBody>
          <a:bodyPr/>
          <a:lstStyle/>
          <a:p>
            <a:fld id="{6C383858-B318-42CB-ABE5-C0064C7AE68F}" type="slidenum">
              <a:rPr lang="en-GB" smtClean="0"/>
              <a:t>‹#›</a:t>
            </a:fld>
            <a:endParaRPr lang="en-GB"/>
          </a:p>
        </p:txBody>
      </p:sp>
    </p:spTree>
    <p:extLst>
      <p:ext uri="{BB962C8B-B14F-4D97-AF65-F5344CB8AC3E}">
        <p14:creationId xmlns:p14="http://schemas.microsoft.com/office/powerpoint/2010/main" val="1068476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C291D-716C-F890-3B69-F5C60B8FBEF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25A474B-0FB8-D02C-3343-889BDACBE6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7EDF34-0668-18EE-BBC5-1036190F3C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905ED98-F39C-AA73-33F9-A080642D8D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5D7CCF-9450-26D0-5693-A22DD3AC89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DC4316F-A405-DA59-BC21-AE1523004874}"/>
              </a:ext>
            </a:extLst>
          </p:cNvPr>
          <p:cNvSpPr>
            <a:spLocks noGrp="1"/>
          </p:cNvSpPr>
          <p:nvPr>
            <p:ph type="dt" sz="half" idx="10"/>
          </p:nvPr>
        </p:nvSpPr>
        <p:spPr/>
        <p:txBody>
          <a:bodyPr/>
          <a:lstStyle/>
          <a:p>
            <a:fld id="{34816FF5-526B-4492-A089-2E1830DA809D}" type="datetimeFigureOut">
              <a:rPr lang="en-GB" smtClean="0"/>
              <a:t>02/02/2025</a:t>
            </a:fld>
            <a:endParaRPr lang="en-GB"/>
          </a:p>
        </p:txBody>
      </p:sp>
      <p:sp>
        <p:nvSpPr>
          <p:cNvPr id="8" name="Footer Placeholder 7">
            <a:extLst>
              <a:ext uri="{FF2B5EF4-FFF2-40B4-BE49-F238E27FC236}">
                <a16:creationId xmlns:a16="http://schemas.microsoft.com/office/drawing/2014/main" id="{48EF9C19-BDE3-91EA-F420-51761BDD522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A9E628C-D854-4DDD-DC16-44534F9D6072}"/>
              </a:ext>
            </a:extLst>
          </p:cNvPr>
          <p:cNvSpPr>
            <a:spLocks noGrp="1"/>
          </p:cNvSpPr>
          <p:nvPr>
            <p:ph type="sldNum" sz="quarter" idx="12"/>
          </p:nvPr>
        </p:nvSpPr>
        <p:spPr/>
        <p:txBody>
          <a:bodyPr/>
          <a:lstStyle/>
          <a:p>
            <a:fld id="{6C383858-B318-42CB-ABE5-C0064C7AE68F}" type="slidenum">
              <a:rPr lang="en-GB" smtClean="0"/>
              <a:t>‹#›</a:t>
            </a:fld>
            <a:endParaRPr lang="en-GB"/>
          </a:p>
        </p:txBody>
      </p:sp>
    </p:spTree>
    <p:extLst>
      <p:ext uri="{BB962C8B-B14F-4D97-AF65-F5344CB8AC3E}">
        <p14:creationId xmlns:p14="http://schemas.microsoft.com/office/powerpoint/2010/main" val="2777348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0B5E9-A9B2-677A-09A0-F4905C43A54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5D378A0-9C42-0D12-FEC4-254EDA3D21A5}"/>
              </a:ext>
            </a:extLst>
          </p:cNvPr>
          <p:cNvSpPr>
            <a:spLocks noGrp="1"/>
          </p:cNvSpPr>
          <p:nvPr>
            <p:ph type="dt" sz="half" idx="10"/>
          </p:nvPr>
        </p:nvSpPr>
        <p:spPr/>
        <p:txBody>
          <a:bodyPr/>
          <a:lstStyle/>
          <a:p>
            <a:fld id="{34816FF5-526B-4492-A089-2E1830DA809D}" type="datetimeFigureOut">
              <a:rPr lang="en-GB" smtClean="0"/>
              <a:t>02/02/2025</a:t>
            </a:fld>
            <a:endParaRPr lang="en-GB"/>
          </a:p>
        </p:txBody>
      </p:sp>
      <p:sp>
        <p:nvSpPr>
          <p:cNvPr id="4" name="Footer Placeholder 3">
            <a:extLst>
              <a:ext uri="{FF2B5EF4-FFF2-40B4-BE49-F238E27FC236}">
                <a16:creationId xmlns:a16="http://schemas.microsoft.com/office/drawing/2014/main" id="{F4AFA7B4-10C7-A7D4-C6FB-03A565A333F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B11687A-E291-E9AA-2B28-17107DB8BDA1}"/>
              </a:ext>
            </a:extLst>
          </p:cNvPr>
          <p:cNvSpPr>
            <a:spLocks noGrp="1"/>
          </p:cNvSpPr>
          <p:nvPr>
            <p:ph type="sldNum" sz="quarter" idx="12"/>
          </p:nvPr>
        </p:nvSpPr>
        <p:spPr/>
        <p:txBody>
          <a:bodyPr/>
          <a:lstStyle/>
          <a:p>
            <a:fld id="{6C383858-B318-42CB-ABE5-C0064C7AE68F}" type="slidenum">
              <a:rPr lang="en-GB" smtClean="0"/>
              <a:t>‹#›</a:t>
            </a:fld>
            <a:endParaRPr lang="en-GB"/>
          </a:p>
        </p:txBody>
      </p:sp>
    </p:spTree>
    <p:extLst>
      <p:ext uri="{BB962C8B-B14F-4D97-AF65-F5344CB8AC3E}">
        <p14:creationId xmlns:p14="http://schemas.microsoft.com/office/powerpoint/2010/main" val="991504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0525F2-BB6B-9F3A-44E1-BAFB5E7CE412}"/>
              </a:ext>
            </a:extLst>
          </p:cNvPr>
          <p:cNvSpPr>
            <a:spLocks noGrp="1"/>
          </p:cNvSpPr>
          <p:nvPr>
            <p:ph type="dt" sz="half" idx="10"/>
          </p:nvPr>
        </p:nvSpPr>
        <p:spPr/>
        <p:txBody>
          <a:bodyPr/>
          <a:lstStyle/>
          <a:p>
            <a:fld id="{34816FF5-526B-4492-A089-2E1830DA809D}" type="datetimeFigureOut">
              <a:rPr lang="en-GB" smtClean="0"/>
              <a:t>02/02/2025</a:t>
            </a:fld>
            <a:endParaRPr lang="en-GB"/>
          </a:p>
        </p:txBody>
      </p:sp>
      <p:sp>
        <p:nvSpPr>
          <p:cNvPr id="3" name="Footer Placeholder 2">
            <a:extLst>
              <a:ext uri="{FF2B5EF4-FFF2-40B4-BE49-F238E27FC236}">
                <a16:creationId xmlns:a16="http://schemas.microsoft.com/office/drawing/2014/main" id="{2BED4260-4297-7D6A-0EDD-65B19CE6143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B700D78-6B24-6F9F-1E07-157D1233BC07}"/>
              </a:ext>
            </a:extLst>
          </p:cNvPr>
          <p:cNvSpPr>
            <a:spLocks noGrp="1"/>
          </p:cNvSpPr>
          <p:nvPr>
            <p:ph type="sldNum" sz="quarter" idx="12"/>
          </p:nvPr>
        </p:nvSpPr>
        <p:spPr/>
        <p:txBody>
          <a:bodyPr/>
          <a:lstStyle/>
          <a:p>
            <a:fld id="{6C383858-B318-42CB-ABE5-C0064C7AE68F}" type="slidenum">
              <a:rPr lang="en-GB" smtClean="0"/>
              <a:t>‹#›</a:t>
            </a:fld>
            <a:endParaRPr lang="en-GB"/>
          </a:p>
        </p:txBody>
      </p:sp>
    </p:spTree>
    <p:extLst>
      <p:ext uri="{BB962C8B-B14F-4D97-AF65-F5344CB8AC3E}">
        <p14:creationId xmlns:p14="http://schemas.microsoft.com/office/powerpoint/2010/main" val="970279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47722-B838-7B70-F10A-A1C16F1615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AC4B258-C8DB-21F3-3CFE-198E5D7320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F093F25-5630-5F34-80D2-BA2F782F1B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62ED58-FDA6-64DC-DCC2-1FFB3A440F4C}"/>
              </a:ext>
            </a:extLst>
          </p:cNvPr>
          <p:cNvSpPr>
            <a:spLocks noGrp="1"/>
          </p:cNvSpPr>
          <p:nvPr>
            <p:ph type="dt" sz="half" idx="10"/>
          </p:nvPr>
        </p:nvSpPr>
        <p:spPr/>
        <p:txBody>
          <a:bodyPr/>
          <a:lstStyle/>
          <a:p>
            <a:fld id="{34816FF5-526B-4492-A089-2E1830DA809D}" type="datetimeFigureOut">
              <a:rPr lang="en-GB" smtClean="0"/>
              <a:t>02/02/2025</a:t>
            </a:fld>
            <a:endParaRPr lang="en-GB"/>
          </a:p>
        </p:txBody>
      </p:sp>
      <p:sp>
        <p:nvSpPr>
          <p:cNvPr id="6" name="Footer Placeholder 5">
            <a:extLst>
              <a:ext uri="{FF2B5EF4-FFF2-40B4-BE49-F238E27FC236}">
                <a16:creationId xmlns:a16="http://schemas.microsoft.com/office/drawing/2014/main" id="{D631AA41-BC6F-FAB2-3708-57EA7701636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C594D31-620B-D654-EA8A-1D69CB513F20}"/>
              </a:ext>
            </a:extLst>
          </p:cNvPr>
          <p:cNvSpPr>
            <a:spLocks noGrp="1"/>
          </p:cNvSpPr>
          <p:nvPr>
            <p:ph type="sldNum" sz="quarter" idx="12"/>
          </p:nvPr>
        </p:nvSpPr>
        <p:spPr/>
        <p:txBody>
          <a:bodyPr/>
          <a:lstStyle/>
          <a:p>
            <a:fld id="{6C383858-B318-42CB-ABE5-C0064C7AE68F}" type="slidenum">
              <a:rPr lang="en-GB" smtClean="0"/>
              <a:t>‹#›</a:t>
            </a:fld>
            <a:endParaRPr lang="en-GB"/>
          </a:p>
        </p:txBody>
      </p:sp>
    </p:spTree>
    <p:extLst>
      <p:ext uri="{BB962C8B-B14F-4D97-AF65-F5344CB8AC3E}">
        <p14:creationId xmlns:p14="http://schemas.microsoft.com/office/powerpoint/2010/main" val="2167923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6B609-BB00-61B1-FFD0-1BBE9F51B2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BC7BDAA-37E0-0D86-12E7-35FAEF6192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E18628F-52E7-640C-95AB-9226ED6E0B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4458E4-A280-AEBB-A8E5-50848734F33A}"/>
              </a:ext>
            </a:extLst>
          </p:cNvPr>
          <p:cNvSpPr>
            <a:spLocks noGrp="1"/>
          </p:cNvSpPr>
          <p:nvPr>
            <p:ph type="dt" sz="half" idx="10"/>
          </p:nvPr>
        </p:nvSpPr>
        <p:spPr/>
        <p:txBody>
          <a:bodyPr/>
          <a:lstStyle/>
          <a:p>
            <a:fld id="{34816FF5-526B-4492-A089-2E1830DA809D}" type="datetimeFigureOut">
              <a:rPr lang="en-GB" smtClean="0"/>
              <a:t>02/02/2025</a:t>
            </a:fld>
            <a:endParaRPr lang="en-GB"/>
          </a:p>
        </p:txBody>
      </p:sp>
      <p:sp>
        <p:nvSpPr>
          <p:cNvPr id="6" name="Footer Placeholder 5">
            <a:extLst>
              <a:ext uri="{FF2B5EF4-FFF2-40B4-BE49-F238E27FC236}">
                <a16:creationId xmlns:a16="http://schemas.microsoft.com/office/drawing/2014/main" id="{340B8BF7-8BB6-908B-7AC2-ED5D3F25587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8F37CC8-8EE4-B673-6785-944453C4F0B9}"/>
              </a:ext>
            </a:extLst>
          </p:cNvPr>
          <p:cNvSpPr>
            <a:spLocks noGrp="1"/>
          </p:cNvSpPr>
          <p:nvPr>
            <p:ph type="sldNum" sz="quarter" idx="12"/>
          </p:nvPr>
        </p:nvSpPr>
        <p:spPr/>
        <p:txBody>
          <a:bodyPr/>
          <a:lstStyle/>
          <a:p>
            <a:fld id="{6C383858-B318-42CB-ABE5-C0064C7AE68F}" type="slidenum">
              <a:rPr lang="en-GB" smtClean="0"/>
              <a:t>‹#›</a:t>
            </a:fld>
            <a:endParaRPr lang="en-GB"/>
          </a:p>
        </p:txBody>
      </p:sp>
    </p:spTree>
    <p:extLst>
      <p:ext uri="{BB962C8B-B14F-4D97-AF65-F5344CB8AC3E}">
        <p14:creationId xmlns:p14="http://schemas.microsoft.com/office/powerpoint/2010/main" val="3652698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1B2BE-5837-D95B-7CFD-419F555E185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0B771DA-AD09-0675-D135-57EC778A35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9B563F8-C2B6-11B4-DA65-BEBE2FEEEC17}"/>
              </a:ext>
            </a:extLst>
          </p:cNvPr>
          <p:cNvSpPr>
            <a:spLocks noGrp="1"/>
          </p:cNvSpPr>
          <p:nvPr>
            <p:ph type="dt" sz="half" idx="10"/>
          </p:nvPr>
        </p:nvSpPr>
        <p:spPr/>
        <p:txBody>
          <a:bodyPr/>
          <a:lstStyle/>
          <a:p>
            <a:fld id="{34816FF5-526B-4492-A089-2E1830DA809D}" type="datetimeFigureOut">
              <a:rPr lang="en-GB" smtClean="0"/>
              <a:t>02/02/2025</a:t>
            </a:fld>
            <a:endParaRPr lang="en-GB"/>
          </a:p>
        </p:txBody>
      </p:sp>
      <p:sp>
        <p:nvSpPr>
          <p:cNvPr id="5" name="Footer Placeholder 4">
            <a:extLst>
              <a:ext uri="{FF2B5EF4-FFF2-40B4-BE49-F238E27FC236}">
                <a16:creationId xmlns:a16="http://schemas.microsoft.com/office/drawing/2014/main" id="{6C6672A6-5B50-C1D9-B33F-3EB5D33A558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C97D9C0-8D02-F971-C486-E51528CAB5DB}"/>
              </a:ext>
            </a:extLst>
          </p:cNvPr>
          <p:cNvSpPr>
            <a:spLocks noGrp="1"/>
          </p:cNvSpPr>
          <p:nvPr>
            <p:ph type="sldNum" sz="quarter" idx="12"/>
          </p:nvPr>
        </p:nvSpPr>
        <p:spPr/>
        <p:txBody>
          <a:bodyPr/>
          <a:lstStyle/>
          <a:p>
            <a:fld id="{6C383858-B318-42CB-ABE5-C0064C7AE68F}" type="slidenum">
              <a:rPr lang="en-GB" smtClean="0"/>
              <a:t>‹#›</a:t>
            </a:fld>
            <a:endParaRPr lang="en-GB"/>
          </a:p>
        </p:txBody>
      </p:sp>
    </p:spTree>
    <p:extLst>
      <p:ext uri="{BB962C8B-B14F-4D97-AF65-F5344CB8AC3E}">
        <p14:creationId xmlns:p14="http://schemas.microsoft.com/office/powerpoint/2010/main" val="1294517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CB8BCE-775E-9D23-5B9D-2B1A8BF6CB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71CFF2D-DE0F-BA2A-7B64-DB51047340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82B6DFB-18D8-9848-1A4D-D4C7F2D04947}"/>
              </a:ext>
            </a:extLst>
          </p:cNvPr>
          <p:cNvSpPr>
            <a:spLocks noGrp="1"/>
          </p:cNvSpPr>
          <p:nvPr>
            <p:ph type="dt" sz="half" idx="10"/>
          </p:nvPr>
        </p:nvSpPr>
        <p:spPr/>
        <p:txBody>
          <a:bodyPr/>
          <a:lstStyle/>
          <a:p>
            <a:fld id="{34816FF5-526B-4492-A089-2E1830DA809D}" type="datetimeFigureOut">
              <a:rPr lang="en-GB" smtClean="0"/>
              <a:t>02/02/2025</a:t>
            </a:fld>
            <a:endParaRPr lang="en-GB"/>
          </a:p>
        </p:txBody>
      </p:sp>
      <p:sp>
        <p:nvSpPr>
          <p:cNvPr id="5" name="Footer Placeholder 4">
            <a:extLst>
              <a:ext uri="{FF2B5EF4-FFF2-40B4-BE49-F238E27FC236}">
                <a16:creationId xmlns:a16="http://schemas.microsoft.com/office/drawing/2014/main" id="{01FD6FC4-FF86-1C96-7678-F2FAFBFD274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0E5692C-B137-FC06-4497-A047F44CF22F}"/>
              </a:ext>
            </a:extLst>
          </p:cNvPr>
          <p:cNvSpPr>
            <a:spLocks noGrp="1"/>
          </p:cNvSpPr>
          <p:nvPr>
            <p:ph type="sldNum" sz="quarter" idx="12"/>
          </p:nvPr>
        </p:nvSpPr>
        <p:spPr/>
        <p:txBody>
          <a:bodyPr/>
          <a:lstStyle/>
          <a:p>
            <a:fld id="{6C383858-B318-42CB-ABE5-C0064C7AE68F}" type="slidenum">
              <a:rPr lang="en-GB" smtClean="0"/>
              <a:t>‹#›</a:t>
            </a:fld>
            <a:endParaRPr lang="en-GB"/>
          </a:p>
        </p:txBody>
      </p:sp>
    </p:spTree>
    <p:extLst>
      <p:ext uri="{BB962C8B-B14F-4D97-AF65-F5344CB8AC3E}">
        <p14:creationId xmlns:p14="http://schemas.microsoft.com/office/powerpoint/2010/main" val="3762072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941B40-E42D-FBF7-8D4A-6006755CB3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1AB5BB4-11C5-3DF6-7713-27528F192E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3483B0-9224-8AD1-412A-BD9F1BACDC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816FF5-526B-4492-A089-2E1830DA809D}" type="datetimeFigureOut">
              <a:rPr lang="en-GB" smtClean="0"/>
              <a:t>02/02/2025</a:t>
            </a:fld>
            <a:endParaRPr lang="en-GB"/>
          </a:p>
        </p:txBody>
      </p:sp>
      <p:sp>
        <p:nvSpPr>
          <p:cNvPr id="5" name="Footer Placeholder 4">
            <a:extLst>
              <a:ext uri="{FF2B5EF4-FFF2-40B4-BE49-F238E27FC236}">
                <a16:creationId xmlns:a16="http://schemas.microsoft.com/office/drawing/2014/main" id="{3F77262E-E85F-10E3-9479-64D7A1FF53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1D4A64E-5116-C095-DDC5-7FC84BF147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383858-B318-42CB-ABE5-C0064C7AE68F}" type="slidenum">
              <a:rPr lang="en-GB" smtClean="0"/>
              <a:t>‹#›</a:t>
            </a:fld>
            <a:endParaRPr lang="en-GB"/>
          </a:p>
        </p:txBody>
      </p:sp>
    </p:spTree>
    <p:extLst>
      <p:ext uri="{BB962C8B-B14F-4D97-AF65-F5344CB8AC3E}">
        <p14:creationId xmlns:p14="http://schemas.microsoft.com/office/powerpoint/2010/main" val="17783082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gif"/><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23.emf"/></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2.xml"/><Relationship Id="rId5" Type="http://schemas.openxmlformats.org/officeDocument/2006/relationships/image" Target="../media/image26.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4.emf"/><Relationship Id="rId4" Type="http://schemas.openxmlformats.org/officeDocument/2006/relationships/image" Target="../media/image33.emf"/></Relationships>
</file>

<file path=ppt/slides/_rels/slide2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2.xml"/><Relationship Id="rId4" Type="http://schemas.openxmlformats.org/officeDocument/2006/relationships/image" Target="../media/image3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5890DA-4112-0D1C-4773-4694E3573335}"/>
              </a:ext>
            </a:extLst>
          </p:cNvPr>
          <p:cNvSpPr>
            <a:spLocks noGrp="1"/>
          </p:cNvSpPr>
          <p:nvPr>
            <p:ph type="ctrTitle"/>
          </p:nvPr>
        </p:nvSpPr>
        <p:spPr/>
        <p:txBody>
          <a:bodyPr/>
          <a:lstStyle/>
          <a:p>
            <a:r>
              <a:rPr lang="en-GB" dirty="0"/>
              <a:t>Electrical events in excitable tissues</a:t>
            </a:r>
          </a:p>
        </p:txBody>
      </p:sp>
      <p:pic>
        <p:nvPicPr>
          <p:cNvPr id="7" name="Picture 2">
            <a:extLst>
              <a:ext uri="{FF2B5EF4-FFF2-40B4-BE49-F238E27FC236}">
                <a16:creationId xmlns:a16="http://schemas.microsoft.com/office/drawing/2014/main" id="{2732A46C-D92D-6624-D1C3-299F0E0FB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88" y="180438"/>
            <a:ext cx="1630362" cy="124196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NEUReka! Seminar Series">
            <a:extLst>
              <a:ext uri="{FF2B5EF4-FFF2-40B4-BE49-F238E27FC236}">
                <a16:creationId xmlns:a16="http://schemas.microsoft.com/office/drawing/2014/main" id="{A6CD6A33-658C-D9DB-AB66-4BAB2FE783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7414" y="89482"/>
            <a:ext cx="4082498" cy="1332918"/>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E6DA663A-AFA6-216D-CA75-4E209451C040}"/>
              </a:ext>
            </a:extLst>
          </p:cNvPr>
          <p:cNvSpPr txBox="1">
            <a:spLocks/>
          </p:cNvSpPr>
          <p:nvPr/>
        </p:nvSpPr>
        <p:spPr>
          <a:xfrm>
            <a:off x="1524000" y="5561012"/>
            <a:ext cx="9144000" cy="100250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40000"/>
              </a:lnSpc>
              <a:spcBef>
                <a:spcPts val="1000"/>
              </a:spcBef>
              <a:spcAft>
                <a:spcPts val="0"/>
              </a:spcAft>
              <a:buClrTx/>
              <a:buSzTx/>
              <a:buFont typeface="Arial" panose="020B0604020202020204" pitchFamily="34" charset="0"/>
              <a:buNone/>
              <a:tabLst/>
              <a:defRPr/>
            </a:pPr>
            <a:r>
              <a:rPr kumimoji="0" lang="en-GB" sz="2000" b="1" i="1" u="none" strike="noStrike" kern="1200" cap="none" spc="0" normalizeH="0" baseline="0" noProof="0">
                <a:ln>
                  <a:noFill/>
                </a:ln>
                <a:solidFill>
                  <a:prstClr val="black"/>
                </a:solidFill>
                <a:effectLst/>
                <a:uLnTx/>
                <a:uFillTx/>
                <a:latin typeface="Aptos" panose="02110004020202020204"/>
                <a:ea typeface="+mn-ea"/>
                <a:cs typeface="+mn-cs"/>
              </a:rPr>
              <a:t>Vincenzo Mastrolia</a:t>
            </a:r>
          </a:p>
          <a:p>
            <a:pPr marL="0" marR="0" lvl="0" indent="0" algn="ctr" defTabSz="914400" rtl="0" eaLnBrk="1" fontAlgn="auto" latinLnBrk="0" hangingPunct="1">
              <a:lnSpc>
                <a:spcPct val="40000"/>
              </a:lnSpc>
              <a:spcBef>
                <a:spcPts val="1000"/>
              </a:spcBef>
              <a:spcAft>
                <a:spcPts val="0"/>
              </a:spcAft>
              <a:buClrTx/>
              <a:buSzTx/>
              <a:buFont typeface="Arial" panose="020B0604020202020204" pitchFamily="34" charset="0"/>
              <a:buNone/>
              <a:tabLst/>
              <a:defRPr/>
            </a:pPr>
            <a:r>
              <a:rPr kumimoji="0" lang="en-GB" sz="2000" b="0" i="1" u="none" strike="noStrike" kern="1200" cap="none" spc="0" normalizeH="0" baseline="0" noProof="0">
                <a:ln>
                  <a:noFill/>
                </a:ln>
                <a:solidFill>
                  <a:prstClr val="black"/>
                </a:solidFill>
                <a:effectLst/>
                <a:uLnTx/>
                <a:uFillTx/>
                <a:latin typeface="Aptos" panose="02110004020202020204"/>
                <a:ea typeface="+mn-ea"/>
                <a:cs typeface="+mn-cs"/>
              </a:rPr>
              <a:t>Research Associate</a:t>
            </a:r>
          </a:p>
          <a:p>
            <a:pPr marL="0" marR="0" lvl="0" indent="0" algn="ctr" defTabSz="914400" rtl="0" eaLnBrk="1" fontAlgn="auto" latinLnBrk="0" hangingPunct="1">
              <a:lnSpc>
                <a:spcPct val="40000"/>
              </a:lnSpc>
              <a:spcBef>
                <a:spcPts val="1000"/>
              </a:spcBef>
              <a:spcAft>
                <a:spcPts val="0"/>
              </a:spcAft>
              <a:buClrTx/>
              <a:buSzTx/>
              <a:buFont typeface="Arial" panose="020B0604020202020204" pitchFamily="34" charset="0"/>
              <a:buNone/>
              <a:tabLst/>
              <a:defRPr/>
            </a:pPr>
            <a:r>
              <a:rPr kumimoji="0" lang="en-GB" sz="2000" b="0" i="1" u="none" strike="noStrike" kern="1200" cap="none" spc="0" normalizeH="0" baseline="0" noProof="0">
                <a:ln>
                  <a:noFill/>
                </a:ln>
                <a:solidFill>
                  <a:prstClr val="black"/>
                </a:solidFill>
                <a:effectLst/>
                <a:uLnTx/>
                <a:uFillTx/>
                <a:latin typeface="Aptos" panose="02110004020202020204"/>
                <a:ea typeface="+mn-ea"/>
                <a:cs typeface="+mn-cs"/>
              </a:rPr>
              <a:t>Centre for Developmental Neurobiology (CDN)</a:t>
            </a:r>
          </a:p>
          <a:p>
            <a:pPr marL="0" marR="0" lvl="0" indent="0" algn="ctr" defTabSz="914400" rtl="0" eaLnBrk="1" fontAlgn="auto" latinLnBrk="0" hangingPunct="1">
              <a:lnSpc>
                <a:spcPct val="40000"/>
              </a:lnSpc>
              <a:spcBef>
                <a:spcPts val="1000"/>
              </a:spcBef>
              <a:spcAft>
                <a:spcPts val="0"/>
              </a:spcAft>
              <a:buClrTx/>
              <a:buSzTx/>
              <a:buFont typeface="Arial" panose="020B0604020202020204" pitchFamily="34" charset="0"/>
              <a:buNone/>
              <a:tabLst/>
              <a:defRPr/>
            </a:pPr>
            <a:r>
              <a:rPr kumimoji="0" lang="en-GB" sz="2000" b="0" i="1" u="none" strike="noStrike" kern="1200" cap="none" spc="0" normalizeH="0" baseline="0" noProof="0">
                <a:ln>
                  <a:noFill/>
                </a:ln>
                <a:solidFill>
                  <a:prstClr val="black"/>
                </a:solidFill>
                <a:effectLst/>
                <a:uLnTx/>
                <a:uFillTx/>
                <a:latin typeface="Aptos" panose="02110004020202020204"/>
                <a:ea typeface="+mn-ea"/>
                <a:cs typeface="+mn-cs"/>
              </a:rPr>
              <a:t>King’s College London</a:t>
            </a:r>
            <a:endParaRPr kumimoji="0" lang="en-GB" sz="2000" b="0" i="1"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82372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255BE-7ECA-A4BA-464F-01825842A7FA}"/>
              </a:ext>
            </a:extLst>
          </p:cNvPr>
          <p:cNvSpPr>
            <a:spLocks noGrp="1"/>
          </p:cNvSpPr>
          <p:nvPr>
            <p:ph type="title"/>
          </p:nvPr>
        </p:nvSpPr>
        <p:spPr/>
        <p:txBody>
          <a:bodyPr/>
          <a:lstStyle/>
          <a:p>
            <a:r>
              <a:rPr lang="en-GB" dirty="0"/>
              <a:t>Learning outcomes</a:t>
            </a:r>
          </a:p>
        </p:txBody>
      </p:sp>
      <p:sp>
        <p:nvSpPr>
          <p:cNvPr id="3" name="Content Placeholder 2">
            <a:extLst>
              <a:ext uri="{FF2B5EF4-FFF2-40B4-BE49-F238E27FC236}">
                <a16:creationId xmlns:a16="http://schemas.microsoft.com/office/drawing/2014/main" id="{37C79109-B8D7-AA6F-9586-B4E360CC7808}"/>
              </a:ext>
            </a:extLst>
          </p:cNvPr>
          <p:cNvSpPr>
            <a:spLocks noGrp="1"/>
          </p:cNvSpPr>
          <p:nvPr>
            <p:ph idx="1"/>
          </p:nvPr>
        </p:nvSpPr>
        <p:spPr>
          <a:xfrm>
            <a:off x="838199" y="1825625"/>
            <a:ext cx="9319591" cy="4351338"/>
          </a:xfrm>
        </p:spPr>
        <p:txBody>
          <a:bodyPr>
            <a:normAutofit/>
          </a:bodyPr>
          <a:lstStyle/>
          <a:p>
            <a:pPr marL="342900" indent="-342900" algn="l" rtl="0" fontAlgn="base">
              <a:buClr>
                <a:schemeClr val="tx2">
                  <a:lumMod val="75000"/>
                  <a:lumOff val="25000"/>
                </a:schemeClr>
              </a:buClr>
              <a:buFont typeface="+mj-lt"/>
              <a:buAutoNum type="arabicPeriod"/>
            </a:pPr>
            <a:r>
              <a:rPr lang="en-GB" sz="1800" b="0" i="0" dirty="0">
                <a:solidFill>
                  <a:srgbClr val="000000"/>
                </a:solidFill>
                <a:effectLst/>
                <a:latin typeface="Aptos" panose="020B0004020202020204" pitchFamily="34" charset="0"/>
              </a:rPr>
              <a:t>Describe how electrical events in excitable cells are measured  </a:t>
            </a:r>
          </a:p>
          <a:p>
            <a:pPr marL="342900" indent="-342900" algn="l" rtl="0" fontAlgn="base">
              <a:buClr>
                <a:schemeClr val="tx2">
                  <a:lumMod val="75000"/>
                  <a:lumOff val="25000"/>
                </a:schemeClr>
              </a:buClr>
              <a:buFont typeface="+mj-lt"/>
              <a:buAutoNum type="arabicPeriod"/>
            </a:pPr>
            <a:r>
              <a:rPr lang="en-GB" sz="1800" b="0" i="0" dirty="0">
                <a:solidFill>
                  <a:srgbClr val="000000"/>
                </a:solidFill>
                <a:effectLst/>
                <a:latin typeface="Aptos" panose="020B0004020202020204" pitchFamily="34" charset="0"/>
              </a:rPr>
              <a:t>Describe the properties of cell membranes </a:t>
            </a:r>
          </a:p>
          <a:p>
            <a:pPr marL="342900" indent="-342900" algn="l" rtl="0" fontAlgn="base">
              <a:buClr>
                <a:schemeClr val="tx2">
                  <a:lumMod val="75000"/>
                  <a:lumOff val="25000"/>
                </a:schemeClr>
              </a:buClr>
              <a:buFont typeface="+mj-lt"/>
              <a:buAutoNum type="arabicPeriod"/>
            </a:pPr>
            <a:r>
              <a:rPr lang="en-GB" sz="1800" b="0" i="0" dirty="0">
                <a:solidFill>
                  <a:srgbClr val="000000"/>
                </a:solidFill>
                <a:effectLst/>
                <a:latin typeface="Aptos" panose="020B0004020202020204" pitchFamily="34" charset="0"/>
              </a:rPr>
              <a:t>Understand how Na+ and K+ ion channels contribute to generating the membrane potential (MP) </a:t>
            </a:r>
          </a:p>
          <a:p>
            <a:pPr marL="342900" indent="-342900" algn="l" rtl="0" fontAlgn="base">
              <a:buClr>
                <a:schemeClr val="tx2">
                  <a:lumMod val="75000"/>
                  <a:lumOff val="25000"/>
                </a:schemeClr>
              </a:buClr>
              <a:buFont typeface="+mj-lt"/>
              <a:buAutoNum type="arabicPeriod"/>
            </a:pPr>
            <a:r>
              <a:rPr lang="en-GB" sz="1800" b="0" i="0" dirty="0">
                <a:solidFill>
                  <a:srgbClr val="000000"/>
                </a:solidFill>
                <a:effectLst/>
                <a:latin typeface="Aptos" panose="020B0004020202020204" pitchFamily="34" charset="0"/>
              </a:rPr>
              <a:t>Understand the significance of the differential permeability of the membrane to Na+ and K+  </a:t>
            </a:r>
          </a:p>
          <a:p>
            <a:pPr marL="342900" indent="-342900" algn="l" rtl="0" fontAlgn="base">
              <a:buClr>
                <a:schemeClr val="tx2">
                  <a:lumMod val="75000"/>
                  <a:lumOff val="25000"/>
                </a:schemeClr>
              </a:buClr>
              <a:buFont typeface="+mj-lt"/>
              <a:buAutoNum type="arabicPeriod"/>
            </a:pPr>
            <a:r>
              <a:rPr lang="en-GB" sz="1800" b="0" i="0" dirty="0">
                <a:solidFill>
                  <a:srgbClr val="000000"/>
                </a:solidFill>
                <a:effectLst/>
                <a:latin typeface="Aptos" panose="020B0004020202020204" pitchFamily="34" charset="0"/>
              </a:rPr>
              <a:t>Describe the establishment of electrochemical gradients </a:t>
            </a:r>
          </a:p>
          <a:p>
            <a:pPr marL="342900" indent="-342900" algn="l" rtl="0" fontAlgn="base">
              <a:buClr>
                <a:schemeClr val="tx2">
                  <a:lumMod val="75000"/>
                  <a:lumOff val="25000"/>
                </a:schemeClr>
              </a:buClr>
              <a:buFont typeface="+mj-lt"/>
              <a:buAutoNum type="arabicPeriod"/>
            </a:pPr>
            <a:r>
              <a:rPr lang="en-GB" sz="1800" b="0" i="0" dirty="0">
                <a:solidFill>
                  <a:srgbClr val="000000"/>
                </a:solidFill>
                <a:effectLst/>
                <a:latin typeface="Aptos" panose="020B0004020202020204" pitchFamily="34" charset="0"/>
              </a:rPr>
              <a:t>Describe the properties of the action potential (AP) </a:t>
            </a:r>
          </a:p>
          <a:p>
            <a:pPr marL="342900" indent="-342900" algn="l" rtl="0" fontAlgn="base">
              <a:buClr>
                <a:schemeClr val="tx2">
                  <a:lumMod val="75000"/>
                  <a:lumOff val="25000"/>
                </a:schemeClr>
              </a:buClr>
              <a:buFont typeface="+mj-lt"/>
              <a:buAutoNum type="arabicPeriod"/>
            </a:pPr>
            <a:r>
              <a:rPr lang="en-GB" sz="1800" b="0" i="0" dirty="0">
                <a:solidFill>
                  <a:srgbClr val="000000"/>
                </a:solidFill>
                <a:effectLst/>
                <a:latin typeface="Aptos" panose="020B0004020202020204" pitchFamily="34" charset="0"/>
              </a:rPr>
              <a:t>Explain the voltage and conductance changes during the AP  </a:t>
            </a:r>
          </a:p>
          <a:p>
            <a:pPr marL="342900" indent="-342900" algn="l" rtl="0" fontAlgn="base">
              <a:buClr>
                <a:schemeClr val="tx2">
                  <a:lumMod val="75000"/>
                  <a:lumOff val="25000"/>
                </a:schemeClr>
              </a:buClr>
              <a:buFont typeface="+mj-lt"/>
              <a:buAutoNum type="arabicPeriod"/>
            </a:pPr>
            <a:r>
              <a:rPr lang="en-GB" sz="1800" b="0" i="0" dirty="0">
                <a:solidFill>
                  <a:srgbClr val="000000"/>
                </a:solidFill>
                <a:effectLst/>
                <a:latin typeface="Aptos" panose="020B0004020202020204" pitchFamily="34" charset="0"/>
              </a:rPr>
              <a:t>Explain what is meant by ‘threshold’ and ‘refractory periods’  </a:t>
            </a:r>
          </a:p>
          <a:p>
            <a:pPr marL="342900" indent="-342900" algn="l" rtl="0" fontAlgn="base">
              <a:buClr>
                <a:schemeClr val="tx2">
                  <a:lumMod val="75000"/>
                  <a:lumOff val="25000"/>
                </a:schemeClr>
              </a:buClr>
              <a:buFont typeface="+mj-lt"/>
              <a:buAutoNum type="arabicPeriod"/>
            </a:pPr>
            <a:r>
              <a:rPr lang="en-GB" sz="1800" b="0" i="0" dirty="0">
                <a:solidFill>
                  <a:srgbClr val="000000"/>
                </a:solidFill>
                <a:effectLst/>
                <a:latin typeface="Aptos" panose="020B0004020202020204" pitchFamily="34" charset="0"/>
              </a:rPr>
              <a:t>Explain how the AP is conducted and the importance of myelin </a:t>
            </a:r>
          </a:p>
        </p:txBody>
      </p:sp>
    </p:spTree>
    <p:extLst>
      <p:ext uri="{BB962C8B-B14F-4D97-AF65-F5344CB8AC3E}">
        <p14:creationId xmlns:p14="http://schemas.microsoft.com/office/powerpoint/2010/main" val="4122772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75275-EED1-4626-91E7-CBD522C1DBC4}"/>
              </a:ext>
            </a:extLst>
          </p:cNvPr>
          <p:cNvSpPr>
            <a:spLocks noGrp="1"/>
          </p:cNvSpPr>
          <p:nvPr>
            <p:ph type="title"/>
          </p:nvPr>
        </p:nvSpPr>
        <p:spPr/>
        <p:txBody>
          <a:bodyPr/>
          <a:lstStyle/>
          <a:p>
            <a:r>
              <a:rPr lang="en-GB" dirty="0"/>
              <a:t>Excitability</a:t>
            </a:r>
          </a:p>
        </p:txBody>
      </p:sp>
      <p:sp>
        <p:nvSpPr>
          <p:cNvPr id="3" name="Content Placeholder 2">
            <a:extLst>
              <a:ext uri="{FF2B5EF4-FFF2-40B4-BE49-F238E27FC236}">
                <a16:creationId xmlns:a16="http://schemas.microsoft.com/office/drawing/2014/main" id="{3B3D59EA-08B1-4087-A5DD-FBF6A0A9B157}"/>
              </a:ext>
            </a:extLst>
          </p:cNvPr>
          <p:cNvSpPr>
            <a:spLocks noGrp="1"/>
          </p:cNvSpPr>
          <p:nvPr>
            <p:ph idx="1"/>
          </p:nvPr>
        </p:nvSpPr>
        <p:spPr>
          <a:xfrm>
            <a:off x="838200" y="1825625"/>
            <a:ext cx="10161760" cy="4351338"/>
          </a:xfrm>
        </p:spPr>
        <p:txBody>
          <a:bodyPr/>
          <a:lstStyle/>
          <a:p>
            <a:r>
              <a:rPr lang="en-GB" dirty="0"/>
              <a:t>The ability of cells to </a:t>
            </a:r>
            <a:r>
              <a:rPr lang="en-GB" b="1" dirty="0"/>
              <a:t>change their membrane potential </a:t>
            </a:r>
            <a:r>
              <a:rPr lang="en-GB" dirty="0"/>
              <a:t>in response to stimuli </a:t>
            </a:r>
          </a:p>
          <a:p>
            <a:pPr lvl="1"/>
            <a:r>
              <a:rPr lang="en-GB" dirty="0"/>
              <a:t>Voltage, ligands, light, mechanical stimulation</a:t>
            </a:r>
          </a:p>
          <a:p>
            <a:pPr lvl="1"/>
            <a:endParaRPr lang="en-GB" dirty="0"/>
          </a:p>
          <a:p>
            <a:r>
              <a:rPr lang="en-GB" dirty="0"/>
              <a:t>Not just neurons</a:t>
            </a:r>
          </a:p>
          <a:p>
            <a:pPr lvl="1"/>
            <a:r>
              <a:rPr lang="en-GB" dirty="0"/>
              <a:t>Muscle cells, endocrine cells, cochlear hair cells, rods and cones in the retina</a:t>
            </a:r>
          </a:p>
          <a:p>
            <a:pPr lvl="1"/>
            <a:endParaRPr lang="en-GB" dirty="0"/>
          </a:p>
          <a:p>
            <a:r>
              <a:rPr lang="en-GB" dirty="0"/>
              <a:t>Expression of voltage- and/or ligand-gated ion channels</a:t>
            </a:r>
          </a:p>
          <a:p>
            <a:pPr lvl="1"/>
            <a:r>
              <a:rPr lang="en-GB" dirty="0"/>
              <a:t>Change in membrane potential trigger a conformational change which opens a pore</a:t>
            </a:r>
          </a:p>
          <a:p>
            <a:pPr lvl="1"/>
            <a:r>
              <a:rPr lang="en-GB" dirty="0"/>
              <a:t>Permeability to ions (Na</a:t>
            </a:r>
            <a:r>
              <a:rPr lang="en-GB" baseline="30000" dirty="0"/>
              <a:t>+</a:t>
            </a:r>
            <a:r>
              <a:rPr lang="en-GB" dirty="0"/>
              <a:t>, Ca</a:t>
            </a:r>
            <a:r>
              <a:rPr lang="en-GB" baseline="30000" dirty="0"/>
              <a:t>2+</a:t>
            </a:r>
            <a:r>
              <a:rPr lang="en-GB" dirty="0"/>
              <a:t>, K</a:t>
            </a:r>
            <a:r>
              <a:rPr lang="en-GB" baseline="30000" dirty="0"/>
              <a:t>+</a:t>
            </a:r>
            <a:r>
              <a:rPr lang="en-GB" dirty="0"/>
              <a:t>, Cl</a:t>
            </a:r>
            <a:r>
              <a:rPr lang="en-GB" baseline="30000" dirty="0"/>
              <a:t>-</a:t>
            </a:r>
            <a:r>
              <a:rPr lang="en-GB" dirty="0"/>
              <a:t>)</a:t>
            </a:r>
          </a:p>
        </p:txBody>
      </p:sp>
      <p:pic>
        <p:nvPicPr>
          <p:cNvPr id="7" name="Picture 6">
            <a:extLst>
              <a:ext uri="{FF2B5EF4-FFF2-40B4-BE49-F238E27FC236}">
                <a16:creationId xmlns:a16="http://schemas.microsoft.com/office/drawing/2014/main" id="{994BAD3D-7E90-4373-8970-39C4693AF733}"/>
              </a:ext>
            </a:extLst>
          </p:cNvPr>
          <p:cNvPicPr>
            <a:picLocks noChangeAspect="1"/>
          </p:cNvPicPr>
          <p:nvPr/>
        </p:nvPicPr>
        <p:blipFill rotWithShape="1">
          <a:blip r:embed="rId2"/>
          <a:srcRect t="20185" b="18859"/>
          <a:stretch/>
        </p:blipFill>
        <p:spPr>
          <a:xfrm flipV="1">
            <a:off x="2673350" y="5227114"/>
            <a:ext cx="6845300" cy="1395930"/>
          </a:xfrm>
          <a:prstGeom prst="rect">
            <a:avLst/>
          </a:prstGeom>
        </p:spPr>
      </p:pic>
    </p:spTree>
    <p:extLst>
      <p:ext uri="{BB962C8B-B14F-4D97-AF65-F5344CB8AC3E}">
        <p14:creationId xmlns:p14="http://schemas.microsoft.com/office/powerpoint/2010/main" val="139127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8A18B-295D-44BF-B7C1-CC429519AD42}"/>
              </a:ext>
            </a:extLst>
          </p:cNvPr>
          <p:cNvSpPr>
            <a:spLocks noGrp="1"/>
          </p:cNvSpPr>
          <p:nvPr>
            <p:ph type="title"/>
          </p:nvPr>
        </p:nvSpPr>
        <p:spPr/>
        <p:txBody>
          <a:bodyPr/>
          <a:lstStyle/>
          <a:p>
            <a:r>
              <a:rPr lang="en-GB" dirty="0"/>
              <a:t>Ion channels</a:t>
            </a:r>
          </a:p>
        </p:txBody>
      </p:sp>
      <p:sp>
        <p:nvSpPr>
          <p:cNvPr id="3" name="Content Placeholder 2">
            <a:extLst>
              <a:ext uri="{FF2B5EF4-FFF2-40B4-BE49-F238E27FC236}">
                <a16:creationId xmlns:a16="http://schemas.microsoft.com/office/drawing/2014/main" id="{8A616CD2-3094-403B-B62E-6F157D36C216}"/>
              </a:ext>
            </a:extLst>
          </p:cNvPr>
          <p:cNvSpPr>
            <a:spLocks noGrp="1"/>
          </p:cNvSpPr>
          <p:nvPr>
            <p:ph idx="1"/>
          </p:nvPr>
        </p:nvSpPr>
        <p:spPr>
          <a:xfrm>
            <a:off x="838199" y="1825625"/>
            <a:ext cx="10252295" cy="2146249"/>
          </a:xfrm>
        </p:spPr>
        <p:txBody>
          <a:bodyPr numCol="2" spcCol="180000"/>
          <a:lstStyle/>
          <a:p>
            <a:r>
              <a:rPr lang="en-GB" dirty="0"/>
              <a:t>Transmembrane proteins</a:t>
            </a:r>
          </a:p>
          <a:p>
            <a:pPr lvl="1"/>
            <a:r>
              <a:rPr lang="en-GB" dirty="0"/>
              <a:t>Mono or multimeric</a:t>
            </a:r>
          </a:p>
          <a:p>
            <a:pPr lvl="1"/>
            <a:r>
              <a:rPr lang="en-GB" dirty="0"/>
              <a:t>Extracellular and intracellular domains</a:t>
            </a:r>
          </a:p>
          <a:p>
            <a:pPr lvl="1"/>
            <a:r>
              <a:rPr lang="en-GB" dirty="0"/>
              <a:t>Opening (pore)</a:t>
            </a:r>
          </a:p>
          <a:p>
            <a:r>
              <a:rPr lang="en-GB" dirty="0"/>
              <a:t>Selective permeability (pore)</a:t>
            </a:r>
          </a:p>
          <a:p>
            <a:pPr lvl="1"/>
            <a:r>
              <a:rPr lang="en-GB" dirty="0"/>
              <a:t>Specific ions (Na</a:t>
            </a:r>
            <a:r>
              <a:rPr lang="en-GB" baseline="30000" dirty="0"/>
              <a:t>+</a:t>
            </a:r>
            <a:r>
              <a:rPr lang="en-GB" dirty="0"/>
              <a:t>, K</a:t>
            </a:r>
            <a:r>
              <a:rPr lang="en-GB" baseline="30000" dirty="0"/>
              <a:t>+</a:t>
            </a:r>
            <a:r>
              <a:rPr lang="en-GB" dirty="0"/>
              <a:t>, Ca</a:t>
            </a:r>
            <a:r>
              <a:rPr lang="en-GB" baseline="30000" dirty="0"/>
              <a:t>2+</a:t>
            </a:r>
            <a:r>
              <a:rPr lang="en-GB" dirty="0"/>
              <a:t>, Cl</a:t>
            </a:r>
            <a:r>
              <a:rPr lang="en-GB" baseline="30000" dirty="0"/>
              <a:t>-</a:t>
            </a:r>
            <a:r>
              <a:rPr lang="en-GB" dirty="0"/>
              <a:t>)</a:t>
            </a:r>
          </a:p>
          <a:p>
            <a:pPr lvl="1"/>
            <a:r>
              <a:rPr lang="en-GB" dirty="0"/>
              <a:t>Groups of ions (cations, anions)</a:t>
            </a:r>
          </a:p>
          <a:p>
            <a:r>
              <a:rPr lang="en-GB" dirty="0"/>
              <a:t>Voltage-gated ion channels activate when reaching specific voltages</a:t>
            </a:r>
          </a:p>
          <a:p>
            <a:pPr lvl="1"/>
            <a:r>
              <a:rPr lang="en-GB" dirty="0"/>
              <a:t>Voltage sensors trigger </a:t>
            </a:r>
            <a:br>
              <a:rPr lang="en-GB" dirty="0"/>
            </a:br>
            <a:r>
              <a:rPr lang="en-GB" dirty="0"/>
              <a:t>conformational changes</a:t>
            </a:r>
          </a:p>
          <a:p>
            <a:pPr marL="457200" lvl="1" indent="0">
              <a:buNone/>
            </a:pPr>
            <a:endParaRPr lang="en-GB" dirty="0"/>
          </a:p>
        </p:txBody>
      </p:sp>
      <p:pic>
        <p:nvPicPr>
          <p:cNvPr id="8" name="Content Placeholder 4" descr="A picture containing text&#10;&#10;Description automatically generated">
            <a:extLst>
              <a:ext uri="{FF2B5EF4-FFF2-40B4-BE49-F238E27FC236}">
                <a16:creationId xmlns:a16="http://schemas.microsoft.com/office/drawing/2014/main" id="{D1D10424-0DE0-41B1-D527-2A09774E6B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5270" y="5412992"/>
            <a:ext cx="5396434" cy="1307960"/>
          </a:xfrm>
          <a:prstGeom prst="rect">
            <a:avLst/>
          </a:prstGeom>
        </p:spPr>
      </p:pic>
      <p:pic>
        <p:nvPicPr>
          <p:cNvPr id="9" name="Picture 8" descr="A picture containing silhouette, vector graphics&#10;&#10;Description automatically generated">
            <a:extLst>
              <a:ext uri="{FF2B5EF4-FFF2-40B4-BE49-F238E27FC236}">
                <a16:creationId xmlns:a16="http://schemas.microsoft.com/office/drawing/2014/main" id="{72EE09A7-B6FE-1370-57E9-E4531D6BD5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2553" y="5406596"/>
            <a:ext cx="2087030" cy="1266264"/>
          </a:xfrm>
          <a:prstGeom prst="rect">
            <a:avLst/>
          </a:prstGeom>
        </p:spPr>
      </p:pic>
      <p:sp>
        <p:nvSpPr>
          <p:cNvPr id="11" name="TextBox 10">
            <a:extLst>
              <a:ext uri="{FF2B5EF4-FFF2-40B4-BE49-F238E27FC236}">
                <a16:creationId xmlns:a16="http://schemas.microsoft.com/office/drawing/2014/main" id="{8D48C5D2-20B8-5AE4-B0B7-C213C2EB8090}"/>
              </a:ext>
            </a:extLst>
          </p:cNvPr>
          <p:cNvSpPr txBox="1"/>
          <p:nvPr/>
        </p:nvSpPr>
        <p:spPr>
          <a:xfrm>
            <a:off x="2049681" y="4329497"/>
            <a:ext cx="2572775" cy="338554"/>
          </a:xfrm>
          <a:prstGeom prst="rect">
            <a:avLst/>
          </a:prstGeom>
          <a:noFill/>
        </p:spPr>
        <p:txBody>
          <a:bodyPr wrap="square" rtlCol="0">
            <a:spAutoFit/>
          </a:bodyPr>
          <a:lstStyle/>
          <a:p>
            <a:pPr algn="ctr"/>
            <a:r>
              <a:rPr lang="en-GB" sz="1600" b="1" dirty="0"/>
              <a:t>Constantly open (leak)</a:t>
            </a:r>
          </a:p>
        </p:txBody>
      </p:sp>
      <p:sp>
        <p:nvSpPr>
          <p:cNvPr id="14" name="TextBox 13">
            <a:extLst>
              <a:ext uri="{FF2B5EF4-FFF2-40B4-BE49-F238E27FC236}">
                <a16:creationId xmlns:a16="http://schemas.microsoft.com/office/drawing/2014/main" id="{246CFD43-BBC3-1077-9D7B-AB01AFA2B650}"/>
              </a:ext>
            </a:extLst>
          </p:cNvPr>
          <p:cNvSpPr txBox="1"/>
          <p:nvPr/>
        </p:nvSpPr>
        <p:spPr>
          <a:xfrm>
            <a:off x="6290820" y="4356741"/>
            <a:ext cx="2705335" cy="338554"/>
          </a:xfrm>
          <a:prstGeom prst="rect">
            <a:avLst/>
          </a:prstGeom>
          <a:noFill/>
        </p:spPr>
        <p:txBody>
          <a:bodyPr wrap="square" rtlCol="0">
            <a:spAutoFit/>
          </a:bodyPr>
          <a:lstStyle/>
          <a:p>
            <a:pPr algn="ctr"/>
            <a:r>
              <a:rPr lang="en-GB" sz="1600" b="1" dirty="0"/>
              <a:t>Gated</a:t>
            </a:r>
          </a:p>
        </p:txBody>
      </p:sp>
      <p:sp>
        <p:nvSpPr>
          <p:cNvPr id="15" name="TextBox 14">
            <a:extLst>
              <a:ext uri="{FF2B5EF4-FFF2-40B4-BE49-F238E27FC236}">
                <a16:creationId xmlns:a16="http://schemas.microsoft.com/office/drawing/2014/main" id="{B189B067-CF41-2C19-E2FD-BD281C32B431}"/>
              </a:ext>
            </a:extLst>
          </p:cNvPr>
          <p:cNvSpPr txBox="1"/>
          <p:nvPr/>
        </p:nvSpPr>
        <p:spPr>
          <a:xfrm>
            <a:off x="7017469" y="5211549"/>
            <a:ext cx="1252036" cy="577081"/>
          </a:xfrm>
          <a:prstGeom prst="rect">
            <a:avLst/>
          </a:prstGeom>
          <a:noFill/>
          <a:ln>
            <a:noFill/>
          </a:ln>
        </p:spPr>
        <p:txBody>
          <a:bodyPr wrap="square" rtlCol="0">
            <a:spAutoFit/>
          </a:bodyPr>
          <a:lstStyle/>
          <a:p>
            <a:pPr algn="ctr"/>
            <a:r>
              <a:rPr lang="en-GB" sz="1050" dirty="0"/>
              <a:t>Voltage</a:t>
            </a:r>
          </a:p>
          <a:p>
            <a:pPr algn="ctr"/>
            <a:r>
              <a:rPr lang="en-GB" sz="1050" dirty="0"/>
              <a:t>Ligands</a:t>
            </a:r>
          </a:p>
          <a:p>
            <a:pPr algn="ctr"/>
            <a:r>
              <a:rPr lang="en-GB" sz="1050" dirty="0"/>
              <a:t>Light</a:t>
            </a:r>
          </a:p>
        </p:txBody>
      </p:sp>
      <p:cxnSp>
        <p:nvCxnSpPr>
          <p:cNvPr id="16" name="Straight Arrow Connector 15">
            <a:extLst>
              <a:ext uri="{FF2B5EF4-FFF2-40B4-BE49-F238E27FC236}">
                <a16:creationId xmlns:a16="http://schemas.microsoft.com/office/drawing/2014/main" id="{8FFDC12E-F0B3-1EBD-D93B-30696F5651FD}"/>
              </a:ext>
            </a:extLst>
          </p:cNvPr>
          <p:cNvCxnSpPr>
            <a:cxnSpLocks/>
          </p:cNvCxnSpPr>
          <p:nvPr/>
        </p:nvCxnSpPr>
        <p:spPr>
          <a:xfrm>
            <a:off x="3313076" y="5258133"/>
            <a:ext cx="0" cy="12192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DCB3491-B7B8-2612-B5C9-D2A432849B43}"/>
              </a:ext>
            </a:extLst>
          </p:cNvPr>
          <p:cNvCxnSpPr>
            <a:cxnSpLocks/>
          </p:cNvCxnSpPr>
          <p:nvPr/>
        </p:nvCxnSpPr>
        <p:spPr>
          <a:xfrm>
            <a:off x="9270957" y="5310777"/>
            <a:ext cx="0" cy="11684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5221D9B-C12B-95E3-9A64-DF7DA4382B7F}"/>
              </a:ext>
            </a:extLst>
          </p:cNvPr>
          <p:cNvSpPr txBox="1"/>
          <p:nvPr/>
        </p:nvSpPr>
        <p:spPr>
          <a:xfrm>
            <a:off x="6730321" y="6053854"/>
            <a:ext cx="1826330" cy="430887"/>
          </a:xfrm>
          <a:prstGeom prst="rect">
            <a:avLst/>
          </a:prstGeom>
          <a:noFill/>
        </p:spPr>
        <p:txBody>
          <a:bodyPr wrap="square" rtlCol="0">
            <a:spAutoFit/>
          </a:bodyPr>
          <a:lstStyle/>
          <a:p>
            <a:pPr algn="ctr"/>
            <a:r>
              <a:rPr lang="en-GB" sz="1100" dirty="0"/>
              <a:t>Conformational</a:t>
            </a:r>
            <a:br>
              <a:rPr lang="en-GB" sz="1100" dirty="0"/>
            </a:br>
            <a:r>
              <a:rPr lang="en-GB" sz="1100" dirty="0"/>
              <a:t>change</a:t>
            </a:r>
          </a:p>
        </p:txBody>
      </p:sp>
      <p:sp>
        <p:nvSpPr>
          <p:cNvPr id="20" name="TextBox 19">
            <a:extLst>
              <a:ext uri="{FF2B5EF4-FFF2-40B4-BE49-F238E27FC236}">
                <a16:creationId xmlns:a16="http://schemas.microsoft.com/office/drawing/2014/main" id="{9459C6AD-7F87-BD23-6E0E-60C7C34C97BB}"/>
              </a:ext>
            </a:extLst>
          </p:cNvPr>
          <p:cNvSpPr txBox="1"/>
          <p:nvPr/>
        </p:nvSpPr>
        <p:spPr>
          <a:xfrm>
            <a:off x="8871398" y="4865941"/>
            <a:ext cx="851938" cy="307777"/>
          </a:xfrm>
          <a:prstGeom prst="rect">
            <a:avLst/>
          </a:prstGeom>
          <a:noFill/>
        </p:spPr>
        <p:txBody>
          <a:bodyPr wrap="square" rtlCol="0">
            <a:spAutoFit/>
          </a:bodyPr>
          <a:lstStyle/>
          <a:p>
            <a:pPr algn="ctr"/>
            <a:r>
              <a:rPr lang="en-GB" sz="1400" dirty="0"/>
              <a:t>Open</a:t>
            </a:r>
          </a:p>
        </p:txBody>
      </p:sp>
      <p:sp>
        <p:nvSpPr>
          <p:cNvPr id="21" name="TextBox 20">
            <a:extLst>
              <a:ext uri="{FF2B5EF4-FFF2-40B4-BE49-F238E27FC236}">
                <a16:creationId xmlns:a16="http://schemas.microsoft.com/office/drawing/2014/main" id="{F403BF6A-132C-ECE2-97AF-EDE8D0C2C880}"/>
              </a:ext>
            </a:extLst>
          </p:cNvPr>
          <p:cNvSpPr txBox="1"/>
          <p:nvPr/>
        </p:nvSpPr>
        <p:spPr>
          <a:xfrm>
            <a:off x="5174532" y="4864011"/>
            <a:ext cx="1466760" cy="307777"/>
          </a:xfrm>
          <a:prstGeom prst="rect">
            <a:avLst/>
          </a:prstGeom>
          <a:noFill/>
        </p:spPr>
        <p:txBody>
          <a:bodyPr wrap="square" rtlCol="0">
            <a:spAutoFit/>
          </a:bodyPr>
          <a:lstStyle/>
          <a:p>
            <a:pPr algn="ctr"/>
            <a:r>
              <a:rPr lang="en-GB" sz="1400" dirty="0"/>
              <a:t>Closed</a:t>
            </a:r>
          </a:p>
        </p:txBody>
      </p:sp>
      <p:sp>
        <p:nvSpPr>
          <p:cNvPr id="22" name="TextBox 21">
            <a:extLst>
              <a:ext uri="{FF2B5EF4-FFF2-40B4-BE49-F238E27FC236}">
                <a16:creationId xmlns:a16="http://schemas.microsoft.com/office/drawing/2014/main" id="{D5186581-0453-D69C-AA23-285F92F9B965}"/>
              </a:ext>
            </a:extLst>
          </p:cNvPr>
          <p:cNvSpPr txBox="1"/>
          <p:nvPr/>
        </p:nvSpPr>
        <p:spPr>
          <a:xfrm>
            <a:off x="2026694" y="4606497"/>
            <a:ext cx="2572764" cy="430887"/>
          </a:xfrm>
          <a:prstGeom prst="rect">
            <a:avLst/>
          </a:prstGeom>
          <a:noFill/>
        </p:spPr>
        <p:txBody>
          <a:bodyPr wrap="square" rtlCol="0">
            <a:spAutoFit/>
          </a:bodyPr>
          <a:lstStyle/>
          <a:p>
            <a:pPr algn="ctr"/>
            <a:r>
              <a:rPr lang="en-GB" sz="1100" dirty="0"/>
              <a:t>Contribute to the resting membrane potential</a:t>
            </a:r>
          </a:p>
        </p:txBody>
      </p:sp>
      <p:sp>
        <p:nvSpPr>
          <p:cNvPr id="23" name="TextBox 22">
            <a:extLst>
              <a:ext uri="{FF2B5EF4-FFF2-40B4-BE49-F238E27FC236}">
                <a16:creationId xmlns:a16="http://schemas.microsoft.com/office/drawing/2014/main" id="{5D19BEF7-7D65-3826-5E7C-901911F1264F}"/>
              </a:ext>
            </a:extLst>
          </p:cNvPr>
          <p:cNvSpPr txBox="1"/>
          <p:nvPr/>
        </p:nvSpPr>
        <p:spPr>
          <a:xfrm>
            <a:off x="6357104" y="4633742"/>
            <a:ext cx="2572764" cy="261610"/>
          </a:xfrm>
          <a:prstGeom prst="rect">
            <a:avLst/>
          </a:prstGeom>
          <a:noFill/>
        </p:spPr>
        <p:txBody>
          <a:bodyPr wrap="square" rtlCol="0">
            <a:spAutoFit/>
          </a:bodyPr>
          <a:lstStyle/>
          <a:p>
            <a:pPr algn="ctr"/>
            <a:r>
              <a:rPr lang="en-GB" sz="1100" dirty="0"/>
              <a:t>Open in response to stimuli</a:t>
            </a:r>
          </a:p>
        </p:txBody>
      </p:sp>
    </p:spTree>
    <p:extLst>
      <p:ext uri="{BB962C8B-B14F-4D97-AF65-F5344CB8AC3E}">
        <p14:creationId xmlns:p14="http://schemas.microsoft.com/office/powerpoint/2010/main" val="228327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ED8EC-B7C8-082A-73DF-2B6BC2D74F44}"/>
              </a:ext>
            </a:extLst>
          </p:cNvPr>
          <p:cNvSpPr>
            <a:spLocks noGrp="1"/>
          </p:cNvSpPr>
          <p:nvPr>
            <p:ph type="title"/>
          </p:nvPr>
        </p:nvSpPr>
        <p:spPr/>
        <p:txBody>
          <a:bodyPr/>
          <a:lstStyle/>
          <a:p>
            <a:r>
              <a:rPr lang="en-GB" dirty="0"/>
              <a:t>Ion channels families</a:t>
            </a:r>
          </a:p>
        </p:txBody>
      </p:sp>
      <p:sp>
        <p:nvSpPr>
          <p:cNvPr id="10" name="Content Placeholder 9">
            <a:extLst>
              <a:ext uri="{FF2B5EF4-FFF2-40B4-BE49-F238E27FC236}">
                <a16:creationId xmlns:a16="http://schemas.microsoft.com/office/drawing/2014/main" id="{D1BA4AA6-9163-EE81-FC27-D002C1891B29}"/>
              </a:ext>
            </a:extLst>
          </p:cNvPr>
          <p:cNvSpPr>
            <a:spLocks noGrp="1"/>
          </p:cNvSpPr>
          <p:nvPr>
            <p:ph idx="1"/>
          </p:nvPr>
        </p:nvSpPr>
        <p:spPr/>
        <p:txBody>
          <a:bodyPr/>
          <a:lstStyle/>
          <a:p>
            <a:endParaRPr lang="en-GB"/>
          </a:p>
        </p:txBody>
      </p:sp>
      <p:pic>
        <p:nvPicPr>
          <p:cNvPr id="3" name="Content Placeholder 12">
            <a:extLst>
              <a:ext uri="{FF2B5EF4-FFF2-40B4-BE49-F238E27FC236}">
                <a16:creationId xmlns:a16="http://schemas.microsoft.com/office/drawing/2014/main" id="{53AB73D2-2724-BC12-122D-7996152FB481}"/>
              </a:ext>
            </a:extLst>
          </p:cNvPr>
          <p:cNvPicPr>
            <a:picLocks noChangeAspect="1"/>
          </p:cNvPicPr>
          <p:nvPr/>
        </p:nvPicPr>
        <p:blipFill rotWithShape="1">
          <a:blip r:embed="rId3"/>
          <a:srcRect r="13235"/>
          <a:stretch/>
        </p:blipFill>
        <p:spPr>
          <a:xfrm>
            <a:off x="3223646" y="1258432"/>
            <a:ext cx="5878058" cy="5200064"/>
          </a:xfrm>
          <a:prstGeom prst="rect">
            <a:avLst/>
          </a:prstGeom>
        </p:spPr>
      </p:pic>
    </p:spTree>
    <p:extLst>
      <p:ext uri="{BB962C8B-B14F-4D97-AF65-F5344CB8AC3E}">
        <p14:creationId xmlns:p14="http://schemas.microsoft.com/office/powerpoint/2010/main" val="1579703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A7476-30C7-4CBC-840A-4CA376B59DD1}"/>
              </a:ext>
            </a:extLst>
          </p:cNvPr>
          <p:cNvSpPr>
            <a:spLocks noGrp="1"/>
          </p:cNvSpPr>
          <p:nvPr>
            <p:ph type="title"/>
          </p:nvPr>
        </p:nvSpPr>
        <p:spPr/>
        <p:txBody>
          <a:bodyPr/>
          <a:lstStyle/>
          <a:p>
            <a:r>
              <a:rPr lang="en-GB" dirty="0"/>
              <a:t>Resting membrane potential (voltage)</a:t>
            </a:r>
          </a:p>
        </p:txBody>
      </p:sp>
      <p:sp>
        <p:nvSpPr>
          <p:cNvPr id="3" name="Content Placeholder 2">
            <a:extLst>
              <a:ext uri="{FF2B5EF4-FFF2-40B4-BE49-F238E27FC236}">
                <a16:creationId xmlns:a16="http://schemas.microsoft.com/office/drawing/2014/main" id="{55AF8B97-7FFA-42EA-836A-B1875D10C3B7}"/>
              </a:ext>
            </a:extLst>
          </p:cNvPr>
          <p:cNvSpPr>
            <a:spLocks noGrp="1"/>
          </p:cNvSpPr>
          <p:nvPr>
            <p:ph idx="1"/>
          </p:nvPr>
        </p:nvSpPr>
        <p:spPr/>
        <p:txBody>
          <a:bodyPr>
            <a:normAutofit/>
          </a:bodyPr>
          <a:lstStyle/>
          <a:p>
            <a:r>
              <a:rPr lang="en-GB" b="1" dirty="0"/>
              <a:t>Na</a:t>
            </a:r>
            <a:r>
              <a:rPr lang="en-GB" b="1" baseline="30000" dirty="0"/>
              <a:t>+</a:t>
            </a:r>
            <a:r>
              <a:rPr lang="en-GB" b="1" dirty="0"/>
              <a:t>/K</a:t>
            </a:r>
            <a:r>
              <a:rPr lang="en-GB" b="1" baseline="30000" dirty="0"/>
              <a:t>+</a:t>
            </a:r>
            <a:r>
              <a:rPr lang="en-GB" b="1" dirty="0"/>
              <a:t> ATPase </a:t>
            </a:r>
            <a:r>
              <a:rPr lang="en-GB" dirty="0"/>
              <a:t>keeps high extracellular Na</a:t>
            </a:r>
            <a:r>
              <a:rPr lang="en-GB" baseline="30000" dirty="0"/>
              <a:t>+ </a:t>
            </a:r>
            <a:r>
              <a:rPr lang="en-GB" dirty="0"/>
              <a:t>and high intracellular K</a:t>
            </a:r>
            <a:r>
              <a:rPr lang="en-GB" baseline="30000" dirty="0"/>
              <a:t>+</a:t>
            </a:r>
          </a:p>
          <a:p>
            <a:endParaRPr lang="en-GB" dirty="0"/>
          </a:p>
          <a:p>
            <a:r>
              <a:rPr lang="en-GB" b="1" dirty="0"/>
              <a:t>Imbalance of charges </a:t>
            </a:r>
            <a:r>
              <a:rPr lang="en-GB" dirty="0"/>
              <a:t>along the membrane</a:t>
            </a:r>
          </a:p>
          <a:p>
            <a:pPr lvl="1"/>
            <a:r>
              <a:rPr lang="en-GB" b="1" dirty="0"/>
              <a:t>Intracellular</a:t>
            </a:r>
            <a:r>
              <a:rPr lang="en-GB" dirty="0"/>
              <a:t> side of the membrane has a many </a:t>
            </a:r>
            <a:r>
              <a:rPr lang="en-GB" b="1" dirty="0"/>
              <a:t>negatively</a:t>
            </a:r>
            <a:r>
              <a:rPr lang="en-GB" dirty="0"/>
              <a:t> charged molecules (proteins, lipids, etc)</a:t>
            </a:r>
          </a:p>
          <a:p>
            <a:pPr lvl="1"/>
            <a:endParaRPr lang="en-GB" b="1" dirty="0"/>
          </a:p>
          <a:p>
            <a:pPr lvl="1"/>
            <a:r>
              <a:rPr lang="en-GB" b="1" dirty="0"/>
              <a:t>Extracellular</a:t>
            </a:r>
            <a:r>
              <a:rPr lang="en-GB" dirty="0"/>
              <a:t> side of the membrane has many </a:t>
            </a:r>
            <a:r>
              <a:rPr lang="en-GB" b="1" dirty="0"/>
              <a:t>Na</a:t>
            </a:r>
            <a:r>
              <a:rPr lang="en-GB" b="1" baseline="30000" dirty="0"/>
              <a:t>+</a:t>
            </a:r>
            <a:r>
              <a:rPr lang="en-GB" dirty="0"/>
              <a:t> cations</a:t>
            </a:r>
          </a:p>
          <a:p>
            <a:pPr lvl="1"/>
            <a:endParaRPr lang="en-GB" dirty="0"/>
          </a:p>
          <a:p>
            <a:pPr lvl="1"/>
            <a:r>
              <a:rPr lang="en-GB" dirty="0"/>
              <a:t>Ions can hardly pass through the membrane</a:t>
            </a:r>
          </a:p>
          <a:p>
            <a:endParaRPr lang="en-GB" dirty="0"/>
          </a:p>
        </p:txBody>
      </p:sp>
      <p:pic>
        <p:nvPicPr>
          <p:cNvPr id="12" name="Picture 2" descr="Sodium-potassium ATPase pump">
            <a:extLst>
              <a:ext uri="{FF2B5EF4-FFF2-40B4-BE49-F238E27FC236}">
                <a16:creationId xmlns:a16="http://schemas.microsoft.com/office/drawing/2014/main" id="{10512D3E-0910-0A6F-F9BC-999A2BF90F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3631" y="816889"/>
            <a:ext cx="1939870" cy="1816920"/>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8E7EF685-7358-0D0E-63FA-52FF44E0D34A}"/>
              </a:ext>
            </a:extLst>
          </p:cNvPr>
          <p:cNvGrpSpPr/>
          <p:nvPr/>
        </p:nvGrpSpPr>
        <p:grpSpPr>
          <a:xfrm>
            <a:off x="7873551" y="3238046"/>
            <a:ext cx="3578846" cy="3139500"/>
            <a:chOff x="4978400" y="3244334"/>
            <a:chExt cx="3984348" cy="3495222"/>
          </a:xfrm>
        </p:grpSpPr>
        <p:pic>
          <p:nvPicPr>
            <p:cNvPr id="14" name="Picture 2" descr="Membrane potential - Wikipedia">
              <a:extLst>
                <a:ext uri="{FF2B5EF4-FFF2-40B4-BE49-F238E27FC236}">
                  <a16:creationId xmlns:a16="http://schemas.microsoft.com/office/drawing/2014/main" id="{36828B19-A3EF-F5ED-A086-FE9A076232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09" t="860" r="1753" b="25861"/>
            <a:stretch/>
          </p:blipFill>
          <p:spPr bwMode="auto">
            <a:xfrm>
              <a:off x="4978400" y="3285067"/>
              <a:ext cx="3943350" cy="342714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EFDB6A08-9C8B-0A4B-EE3D-733C26BCCBD5}"/>
                </a:ext>
              </a:extLst>
            </p:cNvPr>
            <p:cNvSpPr txBox="1"/>
            <p:nvPr/>
          </p:nvSpPr>
          <p:spPr>
            <a:xfrm>
              <a:off x="4978400" y="3244851"/>
              <a:ext cx="1143000" cy="307777"/>
            </a:xfrm>
            <a:prstGeom prst="rect">
              <a:avLst/>
            </a:prstGeom>
            <a:noFill/>
          </p:spPr>
          <p:txBody>
            <a:bodyPr wrap="square" rtlCol="0">
              <a:spAutoFit/>
            </a:bodyPr>
            <a:lstStyle/>
            <a:p>
              <a:r>
                <a:rPr lang="en-GB" sz="1400" b="1" dirty="0"/>
                <a:t>High Na</a:t>
              </a:r>
              <a:r>
                <a:rPr lang="en-GB" sz="1400" b="1" baseline="30000" dirty="0"/>
                <a:t>+</a:t>
              </a:r>
            </a:p>
          </p:txBody>
        </p:sp>
        <p:sp>
          <p:nvSpPr>
            <p:cNvPr id="16" name="TextBox 15">
              <a:extLst>
                <a:ext uri="{FF2B5EF4-FFF2-40B4-BE49-F238E27FC236}">
                  <a16:creationId xmlns:a16="http://schemas.microsoft.com/office/drawing/2014/main" id="{21589CF0-AC80-D47F-7D61-13B205C475D3}"/>
                </a:ext>
              </a:extLst>
            </p:cNvPr>
            <p:cNvSpPr txBox="1"/>
            <p:nvPr/>
          </p:nvSpPr>
          <p:spPr>
            <a:xfrm>
              <a:off x="7766050" y="3244334"/>
              <a:ext cx="1143000" cy="307777"/>
            </a:xfrm>
            <a:prstGeom prst="rect">
              <a:avLst/>
            </a:prstGeom>
            <a:noFill/>
          </p:spPr>
          <p:txBody>
            <a:bodyPr wrap="square" rtlCol="0">
              <a:spAutoFit/>
            </a:bodyPr>
            <a:lstStyle/>
            <a:p>
              <a:pPr algn="r"/>
              <a:r>
                <a:rPr lang="en-GB" sz="1400" b="1" dirty="0"/>
                <a:t>High K</a:t>
              </a:r>
              <a:r>
                <a:rPr lang="en-GB" sz="1400" b="1" baseline="30000" dirty="0"/>
                <a:t>+</a:t>
              </a:r>
            </a:p>
          </p:txBody>
        </p:sp>
        <p:sp>
          <p:nvSpPr>
            <p:cNvPr id="17" name="TextBox 16">
              <a:extLst>
                <a:ext uri="{FF2B5EF4-FFF2-40B4-BE49-F238E27FC236}">
                  <a16:creationId xmlns:a16="http://schemas.microsoft.com/office/drawing/2014/main" id="{CBFD1053-DEC1-16BF-1781-F73B3CF99221}"/>
                </a:ext>
              </a:extLst>
            </p:cNvPr>
            <p:cNvSpPr txBox="1"/>
            <p:nvPr/>
          </p:nvSpPr>
          <p:spPr>
            <a:xfrm>
              <a:off x="5019398" y="6431779"/>
              <a:ext cx="1483002" cy="307777"/>
            </a:xfrm>
            <a:prstGeom prst="rect">
              <a:avLst/>
            </a:prstGeom>
            <a:solidFill>
              <a:schemeClr val="bg1"/>
            </a:solidFill>
          </p:spPr>
          <p:txBody>
            <a:bodyPr wrap="square" rtlCol="0">
              <a:spAutoFit/>
            </a:bodyPr>
            <a:lstStyle/>
            <a:p>
              <a:pPr algn="ctr"/>
              <a:r>
                <a:rPr lang="en-GB" sz="1400" b="1" dirty="0"/>
                <a:t>Extracellular</a:t>
              </a:r>
              <a:endParaRPr lang="en-GB" sz="1400" b="1" baseline="30000" dirty="0"/>
            </a:p>
          </p:txBody>
        </p:sp>
        <p:sp>
          <p:nvSpPr>
            <p:cNvPr id="18" name="TextBox 17">
              <a:extLst>
                <a:ext uri="{FF2B5EF4-FFF2-40B4-BE49-F238E27FC236}">
                  <a16:creationId xmlns:a16="http://schemas.microsoft.com/office/drawing/2014/main" id="{337C7A56-CF32-92C7-0D4B-BC42E225BB6D}"/>
                </a:ext>
              </a:extLst>
            </p:cNvPr>
            <p:cNvSpPr txBox="1"/>
            <p:nvPr/>
          </p:nvSpPr>
          <p:spPr>
            <a:xfrm>
              <a:off x="7479746" y="6431779"/>
              <a:ext cx="1483002" cy="307777"/>
            </a:xfrm>
            <a:prstGeom prst="rect">
              <a:avLst/>
            </a:prstGeom>
            <a:solidFill>
              <a:schemeClr val="bg1"/>
            </a:solidFill>
          </p:spPr>
          <p:txBody>
            <a:bodyPr wrap="square" rtlCol="0">
              <a:spAutoFit/>
            </a:bodyPr>
            <a:lstStyle/>
            <a:p>
              <a:pPr algn="ctr"/>
              <a:r>
                <a:rPr lang="en-GB" sz="1400" b="1" dirty="0"/>
                <a:t>Intracellular</a:t>
              </a:r>
              <a:endParaRPr lang="en-GB" sz="1400" b="1" baseline="30000" dirty="0"/>
            </a:p>
          </p:txBody>
        </p:sp>
        <p:sp>
          <p:nvSpPr>
            <p:cNvPr id="19" name="Rectangle 18">
              <a:extLst>
                <a:ext uri="{FF2B5EF4-FFF2-40B4-BE49-F238E27FC236}">
                  <a16:creationId xmlns:a16="http://schemas.microsoft.com/office/drawing/2014/main" id="{CAC82135-0960-ADDD-C7E2-1ED5F81161F5}"/>
                </a:ext>
              </a:extLst>
            </p:cNvPr>
            <p:cNvSpPr/>
            <p:nvPr/>
          </p:nvSpPr>
          <p:spPr>
            <a:xfrm>
              <a:off x="5207000" y="6261099"/>
              <a:ext cx="1016000" cy="143934"/>
            </a:xfrm>
            <a:prstGeom prst="rect">
              <a:avLst/>
            </a:prstGeom>
            <a:solidFill>
              <a:srgbClr val="9ECB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Rectangle 19">
              <a:extLst>
                <a:ext uri="{FF2B5EF4-FFF2-40B4-BE49-F238E27FC236}">
                  <a16:creationId xmlns:a16="http://schemas.microsoft.com/office/drawing/2014/main" id="{9C3A12F1-16D8-0F2C-8C66-7D0412F609DA}"/>
                </a:ext>
              </a:extLst>
            </p:cNvPr>
            <p:cNvSpPr/>
            <p:nvPr/>
          </p:nvSpPr>
          <p:spPr>
            <a:xfrm>
              <a:off x="7829550" y="6261099"/>
              <a:ext cx="1016000" cy="143934"/>
            </a:xfrm>
            <a:prstGeom prst="rect">
              <a:avLst/>
            </a:prstGeom>
            <a:solidFill>
              <a:srgbClr val="F2DC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Tree>
    <p:extLst>
      <p:ext uri="{BB962C8B-B14F-4D97-AF65-F5344CB8AC3E}">
        <p14:creationId xmlns:p14="http://schemas.microsoft.com/office/powerpoint/2010/main" val="3126988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4C225-2CAF-4BD2-9277-999AFEE2B3E5}"/>
              </a:ext>
            </a:extLst>
          </p:cNvPr>
          <p:cNvSpPr>
            <a:spLocks noGrp="1"/>
          </p:cNvSpPr>
          <p:nvPr>
            <p:ph type="title"/>
          </p:nvPr>
        </p:nvSpPr>
        <p:spPr/>
        <p:txBody>
          <a:bodyPr>
            <a:normAutofit/>
          </a:bodyPr>
          <a:lstStyle/>
          <a:p>
            <a:r>
              <a:rPr lang="en-GB" dirty="0"/>
              <a:t>The cell membrane as a circuit</a:t>
            </a:r>
          </a:p>
        </p:txBody>
      </p:sp>
      <p:sp>
        <p:nvSpPr>
          <p:cNvPr id="3" name="Content Placeholder 2">
            <a:extLst>
              <a:ext uri="{FF2B5EF4-FFF2-40B4-BE49-F238E27FC236}">
                <a16:creationId xmlns:a16="http://schemas.microsoft.com/office/drawing/2014/main" id="{EA1BB98B-6284-42F8-9B16-2EDBCBA9E8ED}"/>
              </a:ext>
            </a:extLst>
          </p:cNvPr>
          <p:cNvSpPr>
            <a:spLocks noGrp="1"/>
          </p:cNvSpPr>
          <p:nvPr>
            <p:ph idx="1"/>
          </p:nvPr>
        </p:nvSpPr>
        <p:spPr/>
        <p:txBody>
          <a:bodyPr>
            <a:normAutofit/>
          </a:bodyPr>
          <a:lstStyle/>
          <a:p>
            <a:r>
              <a:rPr lang="en-GB" dirty="0"/>
              <a:t>The cell membrane is a </a:t>
            </a:r>
            <a:r>
              <a:rPr lang="en-GB" b="1" dirty="0"/>
              <a:t>capacitor</a:t>
            </a:r>
          </a:p>
          <a:p>
            <a:pPr lvl="1"/>
            <a:r>
              <a:rPr lang="en-GB" dirty="0"/>
              <a:t>Insulation between intracellular and extracellular spaces</a:t>
            </a:r>
          </a:p>
          <a:p>
            <a:pPr lvl="1"/>
            <a:r>
              <a:rPr lang="en-GB" dirty="0">
                <a:sym typeface="Wingdings" panose="05000000000000000000" pitchFamily="2" charset="2"/>
              </a:rPr>
              <a:t>Membrane potential (</a:t>
            </a:r>
            <a:r>
              <a:rPr lang="en-GB" b="1" dirty="0">
                <a:sym typeface="Wingdings" panose="05000000000000000000" pitchFamily="2" charset="2"/>
              </a:rPr>
              <a:t>voltage source</a:t>
            </a:r>
            <a:r>
              <a:rPr lang="en-GB" dirty="0">
                <a:sym typeface="Wingdings" panose="05000000000000000000" pitchFamily="2" charset="2"/>
              </a:rPr>
              <a:t>)  Electric field</a:t>
            </a:r>
          </a:p>
          <a:p>
            <a:pPr lvl="1"/>
            <a:r>
              <a:rPr lang="en-GB" dirty="0"/>
              <a:t>Molecules with opposite charges accumulate on either side</a:t>
            </a:r>
          </a:p>
          <a:p>
            <a:pPr lvl="1"/>
            <a:r>
              <a:rPr lang="en-GB" dirty="0">
                <a:sym typeface="Wingdings" panose="05000000000000000000" pitchFamily="2" charset="2"/>
              </a:rPr>
              <a:t>The </a:t>
            </a:r>
            <a:r>
              <a:rPr lang="en-GB" b="1" dirty="0">
                <a:sym typeface="Wingdings" panose="05000000000000000000" pitchFamily="2" charset="2"/>
              </a:rPr>
              <a:t>membrane capacitance </a:t>
            </a:r>
            <a:r>
              <a:rPr lang="en-GB" dirty="0">
                <a:sym typeface="Wingdings" panose="05000000000000000000" pitchFamily="2" charset="2"/>
              </a:rPr>
              <a:t>is proportional to the membrane area</a:t>
            </a:r>
          </a:p>
          <a:p>
            <a:endParaRPr lang="en-GB" dirty="0">
              <a:sym typeface="Wingdings" panose="05000000000000000000" pitchFamily="2" charset="2"/>
            </a:endParaRPr>
          </a:p>
          <a:p>
            <a:r>
              <a:rPr lang="en-GB" dirty="0">
                <a:sym typeface="Wingdings" panose="05000000000000000000" pitchFamily="2" charset="2"/>
              </a:rPr>
              <a:t>The cell membrane is a </a:t>
            </a:r>
            <a:r>
              <a:rPr lang="en-GB" b="1" dirty="0">
                <a:sym typeface="Wingdings" panose="05000000000000000000" pitchFamily="2" charset="2"/>
              </a:rPr>
              <a:t>resistor</a:t>
            </a:r>
          </a:p>
          <a:p>
            <a:pPr lvl="1"/>
            <a:r>
              <a:rPr lang="en-GB" dirty="0">
                <a:sym typeface="Wingdings" panose="05000000000000000000" pitchFamily="2" charset="2"/>
              </a:rPr>
              <a:t>Ions are blocked by a barrier with high resistance</a:t>
            </a:r>
          </a:p>
          <a:p>
            <a:pPr lvl="1"/>
            <a:r>
              <a:rPr lang="en-GB" dirty="0">
                <a:sym typeface="Wingdings" panose="05000000000000000000" pitchFamily="2" charset="2"/>
              </a:rPr>
              <a:t>The number of open channels dictates the </a:t>
            </a:r>
            <a:r>
              <a:rPr lang="en-GB" b="1" dirty="0">
                <a:sym typeface="Wingdings" panose="05000000000000000000" pitchFamily="2" charset="2"/>
              </a:rPr>
              <a:t>membrane resistance (Rm)</a:t>
            </a:r>
            <a:r>
              <a:rPr lang="en-GB" dirty="0">
                <a:sym typeface="Wingdings" panose="05000000000000000000" pitchFamily="2" charset="2"/>
              </a:rPr>
              <a:t> and the amount of flow of ions (</a:t>
            </a:r>
            <a:r>
              <a:rPr lang="en-GB" b="1" dirty="0">
                <a:sym typeface="Wingdings" panose="05000000000000000000" pitchFamily="2" charset="2"/>
              </a:rPr>
              <a:t>current</a:t>
            </a:r>
            <a:r>
              <a:rPr lang="en-GB" dirty="0">
                <a:sym typeface="Wingdings" panose="05000000000000000000" pitchFamily="2" charset="2"/>
              </a:rPr>
              <a:t>)</a:t>
            </a:r>
            <a:endParaRPr lang="en-GB" dirty="0"/>
          </a:p>
        </p:txBody>
      </p:sp>
      <p:pic>
        <p:nvPicPr>
          <p:cNvPr id="9" name="Picture 8">
            <a:extLst>
              <a:ext uri="{FF2B5EF4-FFF2-40B4-BE49-F238E27FC236}">
                <a16:creationId xmlns:a16="http://schemas.microsoft.com/office/drawing/2014/main" id="{5A5598A2-694B-637D-3F26-610CC695A0D7}"/>
              </a:ext>
            </a:extLst>
          </p:cNvPr>
          <p:cNvPicPr>
            <a:picLocks noChangeAspect="1"/>
          </p:cNvPicPr>
          <p:nvPr/>
        </p:nvPicPr>
        <p:blipFill>
          <a:blip r:embed="rId3"/>
          <a:stretch>
            <a:fillRect/>
          </a:stretch>
        </p:blipFill>
        <p:spPr>
          <a:xfrm>
            <a:off x="6360931" y="4400010"/>
            <a:ext cx="3023958" cy="1600870"/>
          </a:xfrm>
          <a:prstGeom prst="rect">
            <a:avLst/>
          </a:prstGeom>
        </p:spPr>
      </p:pic>
      <p:pic>
        <p:nvPicPr>
          <p:cNvPr id="10" name="Picture 9">
            <a:extLst>
              <a:ext uri="{FF2B5EF4-FFF2-40B4-BE49-F238E27FC236}">
                <a16:creationId xmlns:a16="http://schemas.microsoft.com/office/drawing/2014/main" id="{C4E148E8-624B-B61B-D349-5564618F556C}"/>
              </a:ext>
            </a:extLst>
          </p:cNvPr>
          <p:cNvPicPr>
            <a:picLocks noChangeAspect="1"/>
          </p:cNvPicPr>
          <p:nvPr/>
        </p:nvPicPr>
        <p:blipFill>
          <a:blip r:embed="rId4"/>
          <a:stretch>
            <a:fillRect/>
          </a:stretch>
        </p:blipFill>
        <p:spPr>
          <a:xfrm>
            <a:off x="9289396" y="3879063"/>
            <a:ext cx="2739008" cy="2372214"/>
          </a:xfrm>
          <a:prstGeom prst="rect">
            <a:avLst/>
          </a:prstGeom>
        </p:spPr>
      </p:pic>
      <p:grpSp>
        <p:nvGrpSpPr>
          <p:cNvPr id="11" name="Group 10">
            <a:extLst>
              <a:ext uri="{FF2B5EF4-FFF2-40B4-BE49-F238E27FC236}">
                <a16:creationId xmlns:a16="http://schemas.microsoft.com/office/drawing/2014/main" id="{547DEEEE-4695-7D97-A261-6541CBAD5459}"/>
              </a:ext>
            </a:extLst>
          </p:cNvPr>
          <p:cNvGrpSpPr/>
          <p:nvPr/>
        </p:nvGrpSpPr>
        <p:grpSpPr>
          <a:xfrm>
            <a:off x="7872910" y="1007280"/>
            <a:ext cx="2736789" cy="2611310"/>
            <a:chOff x="6764490" y="3004776"/>
            <a:chExt cx="2321865" cy="2215409"/>
          </a:xfrm>
        </p:grpSpPr>
        <p:pic>
          <p:nvPicPr>
            <p:cNvPr id="12" name="Picture 11">
              <a:extLst>
                <a:ext uri="{FF2B5EF4-FFF2-40B4-BE49-F238E27FC236}">
                  <a16:creationId xmlns:a16="http://schemas.microsoft.com/office/drawing/2014/main" id="{F6B7CC7F-823D-8C78-557A-5AF4BA28BDA2}"/>
                </a:ext>
              </a:extLst>
            </p:cNvPr>
            <p:cNvPicPr>
              <a:picLocks noChangeAspect="1"/>
            </p:cNvPicPr>
            <p:nvPr/>
          </p:nvPicPr>
          <p:blipFill rotWithShape="1">
            <a:blip r:embed="rId5"/>
            <a:srcRect l="49815" t="5046" b="26058"/>
            <a:stretch/>
          </p:blipFill>
          <p:spPr>
            <a:xfrm>
              <a:off x="6838310" y="3551238"/>
              <a:ext cx="2248045" cy="1668947"/>
            </a:xfrm>
            <a:prstGeom prst="rect">
              <a:avLst/>
            </a:prstGeom>
          </p:spPr>
        </p:pic>
        <p:pic>
          <p:nvPicPr>
            <p:cNvPr id="13" name="Picture 12">
              <a:extLst>
                <a:ext uri="{FF2B5EF4-FFF2-40B4-BE49-F238E27FC236}">
                  <a16:creationId xmlns:a16="http://schemas.microsoft.com/office/drawing/2014/main" id="{220567CD-9E17-8BA2-6755-64C65911F23F}"/>
                </a:ext>
              </a:extLst>
            </p:cNvPr>
            <p:cNvPicPr>
              <a:picLocks noChangeAspect="1"/>
            </p:cNvPicPr>
            <p:nvPr/>
          </p:nvPicPr>
          <p:blipFill rotWithShape="1">
            <a:blip r:embed="rId5"/>
            <a:srcRect t="73488" r="49815" b="3249"/>
            <a:stretch/>
          </p:blipFill>
          <p:spPr>
            <a:xfrm>
              <a:off x="6764490" y="3004776"/>
              <a:ext cx="2248046" cy="563527"/>
            </a:xfrm>
            <a:prstGeom prst="rect">
              <a:avLst/>
            </a:prstGeom>
          </p:spPr>
        </p:pic>
      </p:grpSp>
    </p:spTree>
    <p:extLst>
      <p:ext uri="{BB962C8B-B14F-4D97-AF65-F5344CB8AC3E}">
        <p14:creationId xmlns:p14="http://schemas.microsoft.com/office/powerpoint/2010/main" val="3559487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A868E-2681-45F0-8AA1-28E9124E3847}"/>
              </a:ext>
            </a:extLst>
          </p:cNvPr>
          <p:cNvSpPr>
            <a:spLocks noGrp="1"/>
          </p:cNvSpPr>
          <p:nvPr>
            <p:ph type="title"/>
          </p:nvPr>
        </p:nvSpPr>
        <p:spPr/>
        <p:txBody>
          <a:bodyPr/>
          <a:lstStyle/>
          <a:p>
            <a:r>
              <a:rPr lang="en-GB" dirty="0"/>
              <a:t>Measuring the membrane potential (voltage)</a:t>
            </a:r>
          </a:p>
        </p:txBody>
      </p:sp>
      <p:sp>
        <p:nvSpPr>
          <p:cNvPr id="3" name="Content Placeholder 2">
            <a:extLst>
              <a:ext uri="{FF2B5EF4-FFF2-40B4-BE49-F238E27FC236}">
                <a16:creationId xmlns:a16="http://schemas.microsoft.com/office/drawing/2014/main" id="{F7672921-2E71-4282-978A-C4CE3B2C4DA1}"/>
              </a:ext>
            </a:extLst>
          </p:cNvPr>
          <p:cNvSpPr>
            <a:spLocks noGrp="1"/>
          </p:cNvSpPr>
          <p:nvPr>
            <p:ph idx="1"/>
          </p:nvPr>
        </p:nvSpPr>
        <p:spPr/>
        <p:txBody>
          <a:bodyPr/>
          <a:lstStyle/>
          <a:p>
            <a:r>
              <a:rPr lang="en-GB" dirty="0"/>
              <a:t>A voltmeter uses 2 probes to measure the voltage (potential) between 2 points</a:t>
            </a:r>
          </a:p>
          <a:p>
            <a:pPr lvl="1"/>
            <a:r>
              <a:rPr lang="en-GB" b="1" dirty="0"/>
              <a:t>Membrane potential</a:t>
            </a:r>
            <a:r>
              <a:rPr lang="en-GB" dirty="0"/>
              <a:t> </a:t>
            </a:r>
            <a:r>
              <a:rPr lang="en-GB" dirty="0">
                <a:sym typeface="Wingdings" panose="05000000000000000000" pitchFamily="2" charset="2"/>
              </a:rPr>
              <a:t> Between inside and outside the cell</a:t>
            </a:r>
          </a:p>
          <a:p>
            <a:pPr lvl="1"/>
            <a:r>
              <a:rPr lang="en-GB" dirty="0">
                <a:sym typeface="Wingdings" panose="05000000000000000000" pitchFamily="2" charset="2"/>
              </a:rPr>
              <a:t>Field potentials  Between a tissue area and a reference point</a:t>
            </a:r>
            <a:endParaRPr lang="en-GB" dirty="0"/>
          </a:p>
          <a:p>
            <a:r>
              <a:rPr lang="en-GB" dirty="0"/>
              <a:t>To measure the voltage across the cell membrane</a:t>
            </a:r>
          </a:p>
          <a:p>
            <a:pPr lvl="1"/>
            <a:r>
              <a:rPr lang="en-GB" dirty="0"/>
              <a:t>2 electrical connections (</a:t>
            </a:r>
            <a:r>
              <a:rPr lang="en-GB" b="1" dirty="0"/>
              <a:t>electrodes</a:t>
            </a:r>
            <a:r>
              <a:rPr lang="en-GB" dirty="0"/>
              <a:t>), one intracellular and one extracellular</a:t>
            </a:r>
          </a:p>
          <a:p>
            <a:r>
              <a:rPr lang="en-GB" dirty="0"/>
              <a:t>How to create an electrical connection with the inside of the cell?</a:t>
            </a:r>
          </a:p>
          <a:p>
            <a:pPr lvl="1"/>
            <a:r>
              <a:rPr lang="en-GB" dirty="0">
                <a:solidFill>
                  <a:schemeClr val="bg1">
                    <a:lumMod val="65000"/>
                  </a:schemeClr>
                </a:solidFill>
              </a:rPr>
              <a:t>Sharp electrodes</a:t>
            </a:r>
          </a:p>
          <a:p>
            <a:pPr lvl="1"/>
            <a:r>
              <a:rPr lang="en-GB" b="1" dirty="0"/>
              <a:t>Patch-clamp</a:t>
            </a:r>
          </a:p>
        </p:txBody>
      </p:sp>
      <p:pic>
        <p:nvPicPr>
          <p:cNvPr id="4" name="Picture 2">
            <a:extLst>
              <a:ext uri="{FF2B5EF4-FFF2-40B4-BE49-F238E27FC236}">
                <a16:creationId xmlns:a16="http://schemas.microsoft.com/office/drawing/2014/main" id="{70D27620-32E1-EDB4-3BF4-BF2444FEAB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9049" y="1347315"/>
            <a:ext cx="2168476" cy="187656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Digital Multimeters Car Battery Circuit Multi Tester Voltmeter Ammeter  Ohmmeter AC/DC Voltage DC Current Resistance Diodes Transistor Continuity  Electrical Test Meter with Test Leads Backlight LCD: Amazon.co.uk: DIY &amp;  Tools">
            <a:extLst>
              <a:ext uri="{FF2B5EF4-FFF2-40B4-BE49-F238E27FC236}">
                <a16:creationId xmlns:a16="http://schemas.microsoft.com/office/drawing/2014/main" id="{D3884BC5-F234-3F31-CD05-23EA0C14FD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9464" y="1004558"/>
            <a:ext cx="2066925" cy="22193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66CA7A1-8CF3-7B16-87AE-37FC37A74EE4}"/>
              </a:ext>
            </a:extLst>
          </p:cNvPr>
          <p:cNvPicPr>
            <a:picLocks noChangeAspect="1"/>
          </p:cNvPicPr>
          <p:nvPr/>
        </p:nvPicPr>
        <p:blipFill>
          <a:blip r:embed="rId4"/>
          <a:stretch>
            <a:fillRect/>
          </a:stretch>
        </p:blipFill>
        <p:spPr>
          <a:xfrm>
            <a:off x="7153109" y="3746069"/>
            <a:ext cx="4612710" cy="2441946"/>
          </a:xfrm>
          <a:prstGeom prst="rect">
            <a:avLst/>
          </a:prstGeom>
        </p:spPr>
      </p:pic>
    </p:spTree>
    <p:extLst>
      <p:ext uri="{BB962C8B-B14F-4D97-AF65-F5344CB8AC3E}">
        <p14:creationId xmlns:p14="http://schemas.microsoft.com/office/powerpoint/2010/main" val="3523437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AA41-0B8A-45E4-AAA2-72B2C53862C1}"/>
              </a:ext>
            </a:extLst>
          </p:cNvPr>
          <p:cNvSpPr>
            <a:spLocks noGrp="1"/>
          </p:cNvSpPr>
          <p:nvPr>
            <p:ph type="title"/>
          </p:nvPr>
        </p:nvSpPr>
        <p:spPr/>
        <p:txBody>
          <a:bodyPr/>
          <a:lstStyle/>
          <a:p>
            <a:r>
              <a:rPr lang="en-GB" dirty="0"/>
              <a:t>Single cell electrophysiology</a:t>
            </a:r>
          </a:p>
        </p:txBody>
      </p:sp>
      <p:pic>
        <p:nvPicPr>
          <p:cNvPr id="5" name="Content Placeholder 4" descr="A diagram of a cell culture&#10;&#10;Description automatically generated">
            <a:extLst>
              <a:ext uri="{FF2B5EF4-FFF2-40B4-BE49-F238E27FC236}">
                <a16:creationId xmlns:a16="http://schemas.microsoft.com/office/drawing/2014/main" id="{3E62284B-134B-B0D2-3FE1-B61AB9637029}"/>
              </a:ext>
            </a:extLst>
          </p:cNvPr>
          <p:cNvPicPr>
            <a:picLocks noGrp="1" noChangeAspect="1"/>
          </p:cNvPicPr>
          <p:nvPr>
            <p:ph idx="1"/>
          </p:nvPr>
        </p:nvPicPr>
        <p:blipFill>
          <a:blip r:embed="rId2"/>
          <a:stretch>
            <a:fillRect/>
          </a:stretch>
        </p:blipFill>
        <p:spPr>
          <a:xfrm>
            <a:off x="1051397" y="1303613"/>
            <a:ext cx="9741336" cy="5176700"/>
          </a:xfrm>
        </p:spPr>
      </p:pic>
    </p:spTree>
    <p:extLst>
      <p:ext uri="{BB962C8B-B14F-4D97-AF65-F5344CB8AC3E}">
        <p14:creationId xmlns:p14="http://schemas.microsoft.com/office/powerpoint/2010/main" val="1604411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AC5BE-E9C7-429D-BDC8-571FA18AFE13}"/>
              </a:ext>
            </a:extLst>
          </p:cNvPr>
          <p:cNvSpPr>
            <a:spLocks noGrp="1"/>
          </p:cNvSpPr>
          <p:nvPr>
            <p:ph type="title"/>
          </p:nvPr>
        </p:nvSpPr>
        <p:spPr/>
        <p:txBody>
          <a:bodyPr/>
          <a:lstStyle/>
          <a:p>
            <a:r>
              <a:rPr lang="en-GB" dirty="0"/>
              <a:t>Single cell electrophysiology</a:t>
            </a:r>
          </a:p>
        </p:txBody>
      </p:sp>
      <p:sp>
        <p:nvSpPr>
          <p:cNvPr id="3" name="Content Placeholder 2">
            <a:extLst>
              <a:ext uri="{FF2B5EF4-FFF2-40B4-BE49-F238E27FC236}">
                <a16:creationId xmlns:a16="http://schemas.microsoft.com/office/drawing/2014/main" id="{9948D48C-7300-4A29-9EC4-10B420FAC466}"/>
              </a:ext>
            </a:extLst>
          </p:cNvPr>
          <p:cNvSpPr>
            <a:spLocks noGrp="1"/>
          </p:cNvSpPr>
          <p:nvPr>
            <p:ph idx="1"/>
          </p:nvPr>
        </p:nvSpPr>
        <p:spPr>
          <a:xfrm>
            <a:off x="838200" y="1825625"/>
            <a:ext cx="3851495" cy="4351338"/>
          </a:xfrm>
        </p:spPr>
        <p:txBody>
          <a:bodyPr/>
          <a:lstStyle/>
          <a:p>
            <a:r>
              <a:rPr lang="en-GB" dirty="0"/>
              <a:t>Neuronal cultures</a:t>
            </a:r>
          </a:p>
          <a:p>
            <a:pPr lvl="1"/>
            <a:r>
              <a:rPr lang="en-GB" dirty="0"/>
              <a:t>Cells are easily distinguishable</a:t>
            </a:r>
          </a:p>
          <a:p>
            <a:pPr lvl="1"/>
            <a:r>
              <a:rPr lang="en-GB" dirty="0"/>
              <a:t>Easy to access to the cell to patch</a:t>
            </a:r>
          </a:p>
          <a:p>
            <a:endParaRPr lang="en-GB" dirty="0"/>
          </a:p>
          <a:p>
            <a:r>
              <a:rPr lang="en-GB" dirty="0"/>
              <a:t>Brain slices or in vivo</a:t>
            </a:r>
          </a:p>
          <a:p>
            <a:pPr lvl="1"/>
            <a:r>
              <a:rPr lang="en-GB" dirty="0"/>
              <a:t>The whole local network is intact</a:t>
            </a:r>
          </a:p>
          <a:p>
            <a:pPr lvl="1"/>
            <a:endParaRPr lang="en-GB" dirty="0">
              <a:sym typeface="Wingdings" panose="05000000000000000000" pitchFamily="2" charset="2"/>
            </a:endParaRPr>
          </a:p>
          <a:p>
            <a:pPr lvl="1"/>
            <a:r>
              <a:rPr lang="en-GB" dirty="0">
                <a:sym typeface="Wingdings" panose="05000000000000000000" pitchFamily="2" charset="2"/>
              </a:rPr>
              <a:t>Fluorescence labelling of neurons to visualize the entire neuronal morphology</a:t>
            </a:r>
          </a:p>
        </p:txBody>
      </p:sp>
      <p:pic>
        <p:nvPicPr>
          <p:cNvPr id="4" name="Picture 2" descr="Image result for patch clamp neuron">
            <a:extLst>
              <a:ext uri="{FF2B5EF4-FFF2-40B4-BE49-F238E27FC236}">
                <a16:creationId xmlns:a16="http://schemas.microsoft.com/office/drawing/2014/main" id="{0CF86C2E-8DB0-3FDF-BE14-A965384EBE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0989" y="1961351"/>
            <a:ext cx="4104311" cy="310193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3D9780D-8150-27C9-4EDC-D5D4601B4DC4}"/>
              </a:ext>
            </a:extLst>
          </p:cNvPr>
          <p:cNvPicPr>
            <a:picLocks noChangeAspect="1"/>
          </p:cNvPicPr>
          <p:nvPr/>
        </p:nvPicPr>
        <p:blipFill rotWithShape="1">
          <a:blip r:embed="rId3"/>
          <a:srcRect l="1" t="6791" r="52729" b="7459"/>
          <a:stretch/>
        </p:blipFill>
        <p:spPr>
          <a:xfrm>
            <a:off x="8640500" y="731786"/>
            <a:ext cx="3222120" cy="5561062"/>
          </a:xfrm>
          <a:prstGeom prst="rect">
            <a:avLst/>
          </a:prstGeom>
        </p:spPr>
      </p:pic>
    </p:spTree>
    <p:extLst>
      <p:ext uri="{BB962C8B-B14F-4D97-AF65-F5344CB8AC3E}">
        <p14:creationId xmlns:p14="http://schemas.microsoft.com/office/powerpoint/2010/main" val="815778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A7476-30C7-4CBC-840A-4CA376B59DD1}"/>
              </a:ext>
            </a:extLst>
          </p:cNvPr>
          <p:cNvSpPr>
            <a:spLocks noGrp="1"/>
          </p:cNvSpPr>
          <p:nvPr>
            <p:ph type="title"/>
          </p:nvPr>
        </p:nvSpPr>
        <p:spPr/>
        <p:txBody>
          <a:bodyPr/>
          <a:lstStyle/>
          <a:p>
            <a:r>
              <a:rPr lang="en-GB" dirty="0"/>
              <a:t>Action potential</a:t>
            </a:r>
          </a:p>
        </p:txBody>
      </p:sp>
      <p:sp>
        <p:nvSpPr>
          <p:cNvPr id="3" name="Content Placeholder 2">
            <a:extLst>
              <a:ext uri="{FF2B5EF4-FFF2-40B4-BE49-F238E27FC236}">
                <a16:creationId xmlns:a16="http://schemas.microsoft.com/office/drawing/2014/main" id="{55AF8B97-7FFA-42EA-836A-B1875D10C3B7}"/>
              </a:ext>
            </a:extLst>
          </p:cNvPr>
          <p:cNvSpPr>
            <a:spLocks noGrp="1"/>
          </p:cNvSpPr>
          <p:nvPr>
            <p:ph idx="1"/>
          </p:nvPr>
        </p:nvSpPr>
        <p:spPr>
          <a:xfrm>
            <a:off x="838200" y="1465199"/>
            <a:ext cx="5257800" cy="4905783"/>
          </a:xfrm>
        </p:spPr>
        <p:txBody>
          <a:bodyPr>
            <a:normAutofit/>
          </a:bodyPr>
          <a:lstStyle/>
          <a:p>
            <a:r>
              <a:rPr lang="en-GB" dirty="0"/>
              <a:t>At resting membrane potential</a:t>
            </a:r>
          </a:p>
          <a:p>
            <a:pPr lvl="1"/>
            <a:r>
              <a:rPr lang="en-GB" dirty="0"/>
              <a:t>Na</a:t>
            </a:r>
            <a:r>
              <a:rPr lang="en-GB" baseline="30000" dirty="0"/>
              <a:t>+</a:t>
            </a:r>
            <a:r>
              <a:rPr lang="en-GB" dirty="0"/>
              <a:t> and K</a:t>
            </a:r>
            <a:r>
              <a:rPr lang="en-GB" baseline="30000" dirty="0"/>
              <a:t>+</a:t>
            </a:r>
            <a:r>
              <a:rPr lang="en-GB" dirty="0"/>
              <a:t> channels are </a:t>
            </a:r>
            <a:r>
              <a:rPr lang="en-GB" b="1" dirty="0"/>
              <a:t>closed</a:t>
            </a:r>
          </a:p>
          <a:p>
            <a:endParaRPr lang="en-GB" b="1" dirty="0">
              <a:solidFill>
                <a:schemeClr val="bg1">
                  <a:lumMod val="65000"/>
                </a:schemeClr>
              </a:solidFill>
            </a:endParaRPr>
          </a:p>
          <a:p>
            <a:r>
              <a:rPr lang="en-GB" b="1" dirty="0">
                <a:solidFill>
                  <a:schemeClr val="bg1">
                    <a:lumMod val="65000"/>
                  </a:schemeClr>
                </a:solidFill>
              </a:rPr>
              <a:t>Stimuli </a:t>
            </a:r>
            <a:r>
              <a:rPr lang="en-GB" dirty="0">
                <a:solidFill>
                  <a:schemeClr val="bg1">
                    <a:lumMod val="65000"/>
                  </a:schemeClr>
                </a:solidFill>
              </a:rPr>
              <a:t>positively increase the membrane potential (voltage) (</a:t>
            </a:r>
            <a:r>
              <a:rPr lang="en-GB" b="1" dirty="0">
                <a:solidFill>
                  <a:schemeClr val="bg1">
                    <a:lumMod val="65000"/>
                  </a:schemeClr>
                </a:solidFill>
              </a:rPr>
              <a:t>depolarization</a:t>
            </a:r>
            <a:r>
              <a:rPr lang="en-GB" dirty="0">
                <a:solidFill>
                  <a:schemeClr val="bg1">
                    <a:lumMod val="65000"/>
                  </a:schemeClr>
                </a:solidFill>
              </a:rPr>
              <a:t>)</a:t>
            </a:r>
          </a:p>
          <a:p>
            <a:endParaRPr lang="en-GB" dirty="0">
              <a:solidFill>
                <a:schemeClr val="bg1">
                  <a:lumMod val="65000"/>
                </a:schemeClr>
              </a:solidFill>
            </a:endParaRPr>
          </a:p>
          <a:p>
            <a:r>
              <a:rPr lang="en-GB" dirty="0">
                <a:solidFill>
                  <a:schemeClr val="bg1">
                    <a:lumMod val="65000"/>
                  </a:schemeClr>
                </a:solidFill>
              </a:rPr>
              <a:t>Upon reaching a voltage </a:t>
            </a:r>
            <a:r>
              <a:rPr lang="en-GB" b="1" dirty="0">
                <a:solidFill>
                  <a:schemeClr val="bg1">
                    <a:lumMod val="65000"/>
                  </a:schemeClr>
                </a:solidFill>
              </a:rPr>
              <a:t>threshold</a:t>
            </a:r>
            <a:r>
              <a:rPr lang="en-GB" dirty="0">
                <a:solidFill>
                  <a:schemeClr val="bg1">
                    <a:lumMod val="65000"/>
                  </a:schemeClr>
                </a:solidFill>
              </a:rPr>
              <a:t>, </a:t>
            </a:r>
            <a:r>
              <a:rPr lang="en-GB" b="1" dirty="0">
                <a:solidFill>
                  <a:schemeClr val="bg1">
                    <a:lumMod val="65000"/>
                  </a:schemeClr>
                </a:solidFill>
              </a:rPr>
              <a:t>Na</a:t>
            </a:r>
            <a:r>
              <a:rPr lang="en-GB" b="1" baseline="30000" dirty="0">
                <a:solidFill>
                  <a:schemeClr val="bg1">
                    <a:lumMod val="65000"/>
                  </a:schemeClr>
                </a:solidFill>
              </a:rPr>
              <a:t>+</a:t>
            </a:r>
            <a:r>
              <a:rPr lang="en-GB" b="1" dirty="0">
                <a:solidFill>
                  <a:schemeClr val="bg1">
                    <a:lumMod val="65000"/>
                  </a:schemeClr>
                </a:solidFill>
              </a:rPr>
              <a:t> channels open</a:t>
            </a:r>
          </a:p>
          <a:p>
            <a:pPr lvl="1"/>
            <a:r>
              <a:rPr lang="en-GB" dirty="0">
                <a:solidFill>
                  <a:schemeClr val="bg1">
                    <a:lumMod val="65000"/>
                  </a:schemeClr>
                </a:solidFill>
              </a:rPr>
              <a:t>Massive </a:t>
            </a:r>
            <a:r>
              <a:rPr lang="en-GB" b="1" dirty="0">
                <a:solidFill>
                  <a:schemeClr val="bg1">
                    <a:lumMod val="65000"/>
                  </a:schemeClr>
                </a:solidFill>
              </a:rPr>
              <a:t>flow of Na</a:t>
            </a:r>
            <a:r>
              <a:rPr lang="en-GB" b="1" baseline="30000" dirty="0">
                <a:solidFill>
                  <a:schemeClr val="bg1">
                    <a:lumMod val="65000"/>
                  </a:schemeClr>
                </a:solidFill>
              </a:rPr>
              <a:t>+</a:t>
            </a:r>
            <a:r>
              <a:rPr lang="en-GB" b="1" dirty="0">
                <a:solidFill>
                  <a:schemeClr val="bg1">
                    <a:lumMod val="65000"/>
                  </a:schemeClr>
                </a:solidFill>
              </a:rPr>
              <a:t> ions inside the cell </a:t>
            </a:r>
            <a:r>
              <a:rPr lang="en-GB" dirty="0">
                <a:solidFill>
                  <a:schemeClr val="bg1">
                    <a:lumMod val="65000"/>
                  </a:schemeClr>
                </a:solidFill>
              </a:rPr>
              <a:t>depolarizes even more the membrane potential</a:t>
            </a:r>
          </a:p>
          <a:p>
            <a:endParaRPr lang="en-GB" dirty="0">
              <a:solidFill>
                <a:schemeClr val="bg1">
                  <a:lumMod val="65000"/>
                </a:schemeClr>
              </a:solidFill>
            </a:endParaRPr>
          </a:p>
          <a:p>
            <a:r>
              <a:rPr lang="en-GB" dirty="0">
                <a:solidFill>
                  <a:schemeClr val="bg1">
                    <a:lumMod val="65000"/>
                  </a:schemeClr>
                </a:solidFill>
              </a:rPr>
              <a:t>Further depolarization </a:t>
            </a:r>
            <a:r>
              <a:rPr lang="en-GB" b="1" dirty="0">
                <a:solidFill>
                  <a:schemeClr val="bg1">
                    <a:lumMod val="65000"/>
                  </a:schemeClr>
                </a:solidFill>
              </a:rPr>
              <a:t>opens K</a:t>
            </a:r>
            <a:r>
              <a:rPr lang="en-GB" b="1" baseline="30000" dirty="0">
                <a:solidFill>
                  <a:schemeClr val="bg1">
                    <a:lumMod val="65000"/>
                  </a:schemeClr>
                </a:solidFill>
              </a:rPr>
              <a:t>+</a:t>
            </a:r>
            <a:r>
              <a:rPr lang="en-GB" b="1" dirty="0">
                <a:solidFill>
                  <a:schemeClr val="bg1">
                    <a:lumMod val="65000"/>
                  </a:schemeClr>
                </a:solidFill>
              </a:rPr>
              <a:t> channels</a:t>
            </a:r>
          </a:p>
          <a:p>
            <a:pPr lvl="1"/>
            <a:r>
              <a:rPr lang="en-GB" b="1" dirty="0">
                <a:solidFill>
                  <a:schemeClr val="bg1">
                    <a:lumMod val="65000"/>
                  </a:schemeClr>
                </a:solidFill>
              </a:rPr>
              <a:t>Flow of K</a:t>
            </a:r>
            <a:r>
              <a:rPr lang="en-GB" b="1" baseline="30000" dirty="0">
                <a:solidFill>
                  <a:schemeClr val="bg1">
                    <a:lumMod val="65000"/>
                  </a:schemeClr>
                </a:solidFill>
              </a:rPr>
              <a:t>+</a:t>
            </a:r>
            <a:r>
              <a:rPr lang="en-GB" b="1" dirty="0">
                <a:solidFill>
                  <a:schemeClr val="bg1">
                    <a:lumMod val="65000"/>
                  </a:schemeClr>
                </a:solidFill>
              </a:rPr>
              <a:t> ions outside the cell </a:t>
            </a:r>
            <a:r>
              <a:rPr lang="en-GB" dirty="0">
                <a:solidFill>
                  <a:schemeClr val="bg1">
                    <a:lumMod val="65000"/>
                  </a:schemeClr>
                </a:solidFill>
              </a:rPr>
              <a:t>reduces negatively the membrane potential (repolarization + hyperpolarization)</a:t>
            </a:r>
          </a:p>
        </p:txBody>
      </p:sp>
      <p:pic>
        <p:nvPicPr>
          <p:cNvPr id="5124" name="Picture 4" descr="The resting membrane potential of minus seventy volts is maintained by a sodium/potassium transporter that transports sodium ions out of the cell and potassium ions in. Voltage gated sodium and potassium channels are closed. In response to a nerve impulse, some sodium channels open, allowing sodium ions to enter the cell. The membrane starts to depolarize; in other words, the charge across the membrane lessens. If the membrane potential increases to the threshold of excitation, all the sodium channels open. At the peak action potential, potassium channels open and potassium ions leave the cell. The membrane eventually becomes hyperpolarized.">
            <a:extLst>
              <a:ext uri="{FF2B5EF4-FFF2-40B4-BE49-F238E27FC236}">
                <a16:creationId xmlns:a16="http://schemas.microsoft.com/office/drawing/2014/main" id="{CF152131-DFE9-4FFF-BC5E-077A8FCC44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7234122" y="855137"/>
            <a:ext cx="3995124" cy="56586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02C45AD-8A74-4343-8B04-26D61BA278A8}"/>
              </a:ext>
            </a:extLst>
          </p:cNvPr>
          <p:cNvSpPr txBox="1"/>
          <p:nvPr/>
        </p:nvSpPr>
        <p:spPr>
          <a:xfrm>
            <a:off x="6614621" y="6513802"/>
            <a:ext cx="5234125"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https://courses.lumenlearning.com/wm-biology2/chapter/resting-membrane-potential/</a:t>
            </a:r>
          </a:p>
        </p:txBody>
      </p:sp>
      <p:pic>
        <p:nvPicPr>
          <p:cNvPr id="6" name="Picture 4" descr="The resting membrane potential of minus seventy volts is maintained by a sodium/potassium transporter that transports sodium ions out of the cell and potassium ions in. Voltage gated sodium and potassium channels are closed. In response to a nerve impulse, some sodium channels open, allowing sodium ions to enter the cell. The membrane starts to depolarize; in other words, the charge across the membrane lessens. If the membrane potential increases to the threshold of excitation, all the sodium channels open. At the peak action potential, potassium channels open and potassium ions leave the cell. The membrane eventually becomes hyperpolarized.">
            <a:extLst>
              <a:ext uri="{FF2B5EF4-FFF2-40B4-BE49-F238E27FC236}">
                <a16:creationId xmlns:a16="http://schemas.microsoft.com/office/drawing/2014/main" id="{B83B5DFA-1396-475D-92D7-E20EF30A8E62}"/>
              </a:ext>
            </a:extLst>
          </p:cNvPr>
          <p:cNvPicPr>
            <a:picLocks noChangeAspect="1" noChangeArrowheads="1"/>
          </p:cNvPicPr>
          <p:nvPr/>
        </p:nvPicPr>
        <p:blipFill rotWithShape="1">
          <a:blip r:embed="rId2">
            <a:grayscl/>
            <a:extLst>
              <a:ext uri="{28A0092B-C50C-407E-A947-70E740481C1C}">
                <a14:useLocalDpi xmlns:a14="http://schemas.microsoft.com/office/drawing/2010/main" val="0"/>
              </a:ext>
            </a:extLst>
          </a:blip>
          <a:srcRect t="67352"/>
          <a:stretch/>
        </p:blipFill>
        <p:spPr bwMode="auto">
          <a:xfrm>
            <a:off x="7234122" y="4666343"/>
            <a:ext cx="3995124" cy="184745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The resting membrane potential of minus seventy volts is maintained by a sodium/potassium transporter that transports sodium ions out of the cell and potassium ions in. Voltage gated sodium and potassium channels are closed. In response to a nerve impulse, some sodium channels open, allowing sodium ions to enter the cell. The membrane starts to depolarize; in other words, the charge across the membrane lessens. If the membrane potential increases to the threshold of excitation, all the sodium channels open. At the peak action potential, potassium channels open and potassium ions leave the cell. The membrane eventually becomes hyperpolarized.">
            <a:extLst>
              <a:ext uri="{FF2B5EF4-FFF2-40B4-BE49-F238E27FC236}">
                <a16:creationId xmlns:a16="http://schemas.microsoft.com/office/drawing/2014/main" id="{426E2DB1-DF91-4955-A7BB-A50E5E185AF5}"/>
              </a:ext>
            </a:extLst>
          </p:cNvPr>
          <p:cNvPicPr>
            <a:picLocks noChangeAspect="1" noChangeArrowheads="1"/>
          </p:cNvPicPr>
          <p:nvPr/>
        </p:nvPicPr>
        <p:blipFill rotWithShape="1">
          <a:blip r:embed="rId2">
            <a:grayscl/>
            <a:extLst>
              <a:ext uri="{28A0092B-C50C-407E-A947-70E740481C1C}">
                <a14:useLocalDpi xmlns:a14="http://schemas.microsoft.com/office/drawing/2010/main" val="0"/>
              </a:ext>
            </a:extLst>
          </a:blip>
          <a:srcRect t="33750" b="33601"/>
          <a:stretch/>
        </p:blipFill>
        <p:spPr bwMode="auto">
          <a:xfrm>
            <a:off x="7234122" y="2764971"/>
            <a:ext cx="3995124" cy="184745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The resting membrane potential of minus seventy volts is maintained by a sodium/potassium transporter that transports sodium ions out of the cell and potassium ions in. Voltage gated sodium and potassium channels are closed. In response to a nerve impulse, some sodium channels open, allowing sodium ions to enter the cell. The membrane starts to depolarize; in other words, the charge across the membrane lessens. If the membrane potential increases to the threshold of excitation, all the sodium channels open. At the peak action potential, potassium channels open and potassium ions leave the cell. The membrane eventually becomes hyperpolarized.">
            <a:extLst>
              <a:ext uri="{FF2B5EF4-FFF2-40B4-BE49-F238E27FC236}">
                <a16:creationId xmlns:a16="http://schemas.microsoft.com/office/drawing/2014/main" id="{EC6D286E-D43E-414A-8950-11B00933BFAF}"/>
              </a:ext>
            </a:extLst>
          </p:cNvPr>
          <p:cNvPicPr>
            <a:picLocks noChangeAspect="1" noChangeArrowheads="1"/>
          </p:cNvPicPr>
          <p:nvPr/>
        </p:nvPicPr>
        <p:blipFill rotWithShape="1">
          <a:blip r:embed="rId2">
            <a:grayscl/>
            <a:extLst>
              <a:ext uri="{28A0092B-C50C-407E-A947-70E740481C1C}">
                <a14:useLocalDpi xmlns:a14="http://schemas.microsoft.com/office/drawing/2010/main" val="0"/>
              </a:ext>
            </a:extLst>
          </a:blip>
          <a:srcRect b="67202"/>
          <a:stretch/>
        </p:blipFill>
        <p:spPr bwMode="auto">
          <a:xfrm>
            <a:off x="7234122" y="855135"/>
            <a:ext cx="3995124" cy="1855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3502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3" end="3"/>
                                            </p:txEl>
                                          </p:spTgt>
                                        </p:tgtEl>
                                        <p:attrNameLst>
                                          <p:attrName>style.color</p:attrName>
                                        </p:attrNameLst>
                                      </p:cBhvr>
                                      <p:to>
                                        <a:srgbClr val="000000"/>
                                      </p:to>
                                    </p:animClr>
                                    <p:animClr clrSpc="rgb" dir="cw">
                                      <p:cBhvr>
                                        <p:cTn id="7" dur="500" fill="hold"/>
                                        <p:tgtEl>
                                          <p:spTgt spid="3">
                                            <p:txEl>
                                              <p:pRg st="3" end="3"/>
                                            </p:txEl>
                                          </p:spTgt>
                                        </p:tgtEl>
                                        <p:attrNameLst>
                                          <p:attrName>fillcolor</p:attrName>
                                        </p:attrNameLst>
                                      </p:cBhvr>
                                      <p:to>
                                        <a:srgbClr val="000000"/>
                                      </p:to>
                                    </p:animClr>
                                    <p:set>
                                      <p:cBhvr>
                                        <p:cTn id="8" dur="500" fill="hold"/>
                                        <p:tgtEl>
                                          <p:spTgt spid="3">
                                            <p:txEl>
                                              <p:pRg st="3" end="3"/>
                                            </p:txEl>
                                          </p:spTgt>
                                        </p:tgtEl>
                                        <p:attrNameLst>
                                          <p:attrName>fill.type</p:attrName>
                                        </p:attrNameLst>
                                      </p:cBhvr>
                                      <p:to>
                                        <p:strVal val="solid"/>
                                      </p:to>
                                    </p:set>
                                    <p:set>
                                      <p:cBhvr>
                                        <p:cTn id="9" dur="500" fill="hold"/>
                                        <p:tgtEl>
                                          <p:spTgt spid="3">
                                            <p:txEl>
                                              <p:pRg st="3" end="3"/>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3">
                                            <p:txEl>
                                              <p:pRg st="5" end="5"/>
                                            </p:txEl>
                                          </p:spTgt>
                                        </p:tgtEl>
                                        <p:attrNameLst>
                                          <p:attrName>style.color</p:attrName>
                                        </p:attrNameLst>
                                      </p:cBhvr>
                                      <p:to>
                                        <a:srgbClr val="000000"/>
                                      </p:to>
                                    </p:animClr>
                                    <p:animClr clrSpc="rgb" dir="cw">
                                      <p:cBhvr>
                                        <p:cTn id="14" dur="500" fill="hold"/>
                                        <p:tgtEl>
                                          <p:spTgt spid="3">
                                            <p:txEl>
                                              <p:pRg st="5" end="5"/>
                                            </p:txEl>
                                          </p:spTgt>
                                        </p:tgtEl>
                                        <p:attrNameLst>
                                          <p:attrName>fillcolor</p:attrName>
                                        </p:attrNameLst>
                                      </p:cBhvr>
                                      <p:to>
                                        <a:srgbClr val="000000"/>
                                      </p:to>
                                    </p:animClr>
                                    <p:set>
                                      <p:cBhvr>
                                        <p:cTn id="15" dur="500" fill="hold"/>
                                        <p:tgtEl>
                                          <p:spTgt spid="3">
                                            <p:txEl>
                                              <p:pRg st="5" end="5"/>
                                            </p:txEl>
                                          </p:spTgt>
                                        </p:tgtEl>
                                        <p:attrNameLst>
                                          <p:attrName>fill.type</p:attrName>
                                        </p:attrNameLst>
                                      </p:cBhvr>
                                      <p:to>
                                        <p:strVal val="solid"/>
                                      </p:to>
                                    </p:set>
                                    <p:set>
                                      <p:cBhvr>
                                        <p:cTn id="16" dur="500" fill="hold"/>
                                        <p:tgtEl>
                                          <p:spTgt spid="3">
                                            <p:txEl>
                                              <p:pRg st="5" end="5"/>
                                            </p:txEl>
                                          </p:spTgt>
                                        </p:tgtEl>
                                        <p:attrNameLst>
                                          <p:attrName>fill.on</p:attrName>
                                        </p:attrNameLst>
                                      </p:cBhvr>
                                      <p:to>
                                        <p:strVal val="true"/>
                                      </p:to>
                                    </p:set>
                                  </p:childTnLst>
                                </p:cTn>
                              </p:par>
                              <p:par>
                                <p:cTn id="17" presetID="19" presetClass="emph" presetSubtype="0" fill="hold" nodeType="withEffect">
                                  <p:stCondLst>
                                    <p:cond delay="0"/>
                                  </p:stCondLst>
                                  <p:childTnLst>
                                    <p:animClr clrSpc="rgb" dir="cw">
                                      <p:cBhvr override="childStyle">
                                        <p:cTn id="18" dur="500" fill="hold"/>
                                        <p:tgtEl>
                                          <p:spTgt spid="3">
                                            <p:txEl>
                                              <p:pRg st="6" end="6"/>
                                            </p:txEl>
                                          </p:spTgt>
                                        </p:tgtEl>
                                        <p:attrNameLst>
                                          <p:attrName>style.color</p:attrName>
                                        </p:attrNameLst>
                                      </p:cBhvr>
                                      <p:to>
                                        <a:srgbClr val="000000"/>
                                      </p:to>
                                    </p:animClr>
                                    <p:animClr clrSpc="rgb" dir="cw">
                                      <p:cBhvr>
                                        <p:cTn id="19" dur="500" fill="hold"/>
                                        <p:tgtEl>
                                          <p:spTgt spid="3">
                                            <p:txEl>
                                              <p:pRg st="6" end="6"/>
                                            </p:txEl>
                                          </p:spTgt>
                                        </p:tgtEl>
                                        <p:attrNameLst>
                                          <p:attrName>fillcolor</p:attrName>
                                        </p:attrNameLst>
                                      </p:cBhvr>
                                      <p:to>
                                        <a:srgbClr val="000000"/>
                                      </p:to>
                                    </p:animClr>
                                    <p:set>
                                      <p:cBhvr>
                                        <p:cTn id="20" dur="500" fill="hold"/>
                                        <p:tgtEl>
                                          <p:spTgt spid="3">
                                            <p:txEl>
                                              <p:pRg st="6" end="6"/>
                                            </p:txEl>
                                          </p:spTgt>
                                        </p:tgtEl>
                                        <p:attrNameLst>
                                          <p:attrName>fill.type</p:attrName>
                                        </p:attrNameLst>
                                      </p:cBhvr>
                                      <p:to>
                                        <p:strVal val="solid"/>
                                      </p:to>
                                    </p:set>
                                    <p:set>
                                      <p:cBhvr>
                                        <p:cTn id="21" dur="500" fill="hold"/>
                                        <p:tgtEl>
                                          <p:spTgt spid="3">
                                            <p:txEl>
                                              <p:pRg st="6" end="6"/>
                                            </p:txEl>
                                          </p:spTgt>
                                        </p:tgtEl>
                                        <p:attrNameLst>
                                          <p:attrName>fill.on</p:attrName>
                                        </p:attrNameLst>
                                      </p:cBhvr>
                                      <p:to>
                                        <p:strVal val="true"/>
                                      </p:to>
                                    </p:set>
                                  </p:childTnLst>
                                </p:cTn>
                              </p:par>
                              <p:par>
                                <p:cTn id="22" presetID="19" presetClass="emph" presetSubtype="0" fill="hold" nodeType="withEffect">
                                  <p:stCondLst>
                                    <p:cond delay="0"/>
                                  </p:stCondLst>
                                  <p:childTnLst>
                                    <p:animClr clrSpc="rgb" dir="cw">
                                      <p:cBhvr override="childStyle">
                                        <p:cTn id="23" dur="500" fill="hold"/>
                                        <p:tgtEl>
                                          <p:spTgt spid="3">
                                            <p:txEl>
                                              <p:pRg st="0" end="0"/>
                                            </p:txEl>
                                          </p:spTgt>
                                        </p:tgtEl>
                                        <p:attrNameLst>
                                          <p:attrName>style.color</p:attrName>
                                        </p:attrNameLst>
                                      </p:cBhvr>
                                      <p:to>
                                        <a:srgbClr val="A5A5A5"/>
                                      </p:to>
                                    </p:animClr>
                                    <p:animClr clrSpc="rgb" dir="cw">
                                      <p:cBhvr>
                                        <p:cTn id="24" dur="500" fill="hold"/>
                                        <p:tgtEl>
                                          <p:spTgt spid="3">
                                            <p:txEl>
                                              <p:pRg st="0" end="0"/>
                                            </p:txEl>
                                          </p:spTgt>
                                        </p:tgtEl>
                                        <p:attrNameLst>
                                          <p:attrName>fillcolor</p:attrName>
                                        </p:attrNameLst>
                                      </p:cBhvr>
                                      <p:to>
                                        <a:srgbClr val="A5A5A5"/>
                                      </p:to>
                                    </p:animClr>
                                    <p:set>
                                      <p:cBhvr>
                                        <p:cTn id="25" dur="500" fill="hold"/>
                                        <p:tgtEl>
                                          <p:spTgt spid="3">
                                            <p:txEl>
                                              <p:pRg st="0" end="0"/>
                                            </p:txEl>
                                          </p:spTgt>
                                        </p:tgtEl>
                                        <p:attrNameLst>
                                          <p:attrName>fill.type</p:attrName>
                                        </p:attrNameLst>
                                      </p:cBhvr>
                                      <p:to>
                                        <p:strVal val="solid"/>
                                      </p:to>
                                    </p:set>
                                    <p:set>
                                      <p:cBhvr>
                                        <p:cTn id="26" dur="500" fill="hold"/>
                                        <p:tgtEl>
                                          <p:spTgt spid="3">
                                            <p:txEl>
                                              <p:pRg st="0" end="0"/>
                                            </p:txEl>
                                          </p:spTgt>
                                        </p:tgtEl>
                                        <p:attrNameLst>
                                          <p:attrName>fill.on</p:attrName>
                                        </p:attrNameLst>
                                      </p:cBhvr>
                                      <p:to>
                                        <p:strVal val="true"/>
                                      </p:to>
                                    </p:set>
                                  </p:childTnLst>
                                </p:cTn>
                              </p:par>
                              <p:par>
                                <p:cTn id="27" presetID="19" presetClass="emph" presetSubtype="0" fill="hold" nodeType="withEffect">
                                  <p:stCondLst>
                                    <p:cond delay="0"/>
                                  </p:stCondLst>
                                  <p:childTnLst>
                                    <p:animClr clrSpc="rgb" dir="cw">
                                      <p:cBhvr override="childStyle">
                                        <p:cTn id="28" dur="500" fill="hold"/>
                                        <p:tgtEl>
                                          <p:spTgt spid="3">
                                            <p:txEl>
                                              <p:pRg st="1" end="1"/>
                                            </p:txEl>
                                          </p:spTgt>
                                        </p:tgtEl>
                                        <p:attrNameLst>
                                          <p:attrName>style.color</p:attrName>
                                        </p:attrNameLst>
                                      </p:cBhvr>
                                      <p:to>
                                        <a:srgbClr val="A5A5A5"/>
                                      </p:to>
                                    </p:animClr>
                                    <p:animClr clrSpc="rgb" dir="cw">
                                      <p:cBhvr>
                                        <p:cTn id="29" dur="500" fill="hold"/>
                                        <p:tgtEl>
                                          <p:spTgt spid="3">
                                            <p:txEl>
                                              <p:pRg st="1" end="1"/>
                                            </p:txEl>
                                          </p:spTgt>
                                        </p:tgtEl>
                                        <p:attrNameLst>
                                          <p:attrName>fillcolor</p:attrName>
                                        </p:attrNameLst>
                                      </p:cBhvr>
                                      <p:to>
                                        <a:srgbClr val="A5A5A5"/>
                                      </p:to>
                                    </p:animClr>
                                    <p:set>
                                      <p:cBhvr>
                                        <p:cTn id="30" dur="500" fill="hold"/>
                                        <p:tgtEl>
                                          <p:spTgt spid="3">
                                            <p:txEl>
                                              <p:pRg st="1" end="1"/>
                                            </p:txEl>
                                          </p:spTgt>
                                        </p:tgtEl>
                                        <p:attrNameLst>
                                          <p:attrName>fill.type</p:attrName>
                                        </p:attrNameLst>
                                      </p:cBhvr>
                                      <p:to>
                                        <p:strVal val="solid"/>
                                      </p:to>
                                    </p:set>
                                    <p:set>
                                      <p:cBhvr>
                                        <p:cTn id="31" dur="500" fill="hold"/>
                                        <p:tgtEl>
                                          <p:spTgt spid="3">
                                            <p:txEl>
                                              <p:pRg st="1" end="1"/>
                                            </p:txEl>
                                          </p:spTgt>
                                        </p:tgtEl>
                                        <p:attrNameLst>
                                          <p:attrName>fill.on</p:attrName>
                                        </p:attrNameLst>
                                      </p:cBhvr>
                                      <p:to>
                                        <p:strVal val="true"/>
                                      </p:to>
                                    </p:set>
                                  </p:childTnLst>
                                </p:cTn>
                              </p:par>
                              <p:par>
                                <p:cTn id="32" presetID="1"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childTnLst>
                                </p:cTn>
                              </p:par>
                              <p:par>
                                <p:cTn id="34" presetID="1" presetClass="exit" presetSubtype="0" fill="hold" nodeType="withEffect">
                                  <p:stCondLst>
                                    <p:cond delay="0"/>
                                  </p:stCondLst>
                                  <p:childTnLst>
                                    <p:set>
                                      <p:cBhvr>
                                        <p:cTn id="35" dur="1" fill="hold">
                                          <p:stCondLst>
                                            <p:cond delay="0"/>
                                          </p:stCondLst>
                                        </p:cTn>
                                        <p:tgtEl>
                                          <p:spTgt spid="7"/>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9" presetClass="emph" presetSubtype="0" fill="hold" nodeType="clickEffect">
                                  <p:stCondLst>
                                    <p:cond delay="0"/>
                                  </p:stCondLst>
                                  <p:childTnLst>
                                    <p:animClr clrSpc="rgb" dir="cw">
                                      <p:cBhvr override="childStyle">
                                        <p:cTn id="39" dur="500" fill="hold"/>
                                        <p:tgtEl>
                                          <p:spTgt spid="3">
                                            <p:txEl>
                                              <p:pRg st="8" end="8"/>
                                            </p:txEl>
                                          </p:spTgt>
                                        </p:tgtEl>
                                        <p:attrNameLst>
                                          <p:attrName>style.color</p:attrName>
                                        </p:attrNameLst>
                                      </p:cBhvr>
                                      <p:to>
                                        <a:srgbClr val="000000"/>
                                      </p:to>
                                    </p:animClr>
                                    <p:animClr clrSpc="rgb" dir="cw">
                                      <p:cBhvr>
                                        <p:cTn id="40" dur="500" fill="hold"/>
                                        <p:tgtEl>
                                          <p:spTgt spid="3">
                                            <p:txEl>
                                              <p:pRg st="8" end="8"/>
                                            </p:txEl>
                                          </p:spTgt>
                                        </p:tgtEl>
                                        <p:attrNameLst>
                                          <p:attrName>fillcolor</p:attrName>
                                        </p:attrNameLst>
                                      </p:cBhvr>
                                      <p:to>
                                        <a:srgbClr val="000000"/>
                                      </p:to>
                                    </p:animClr>
                                    <p:set>
                                      <p:cBhvr>
                                        <p:cTn id="41" dur="500" fill="hold"/>
                                        <p:tgtEl>
                                          <p:spTgt spid="3">
                                            <p:txEl>
                                              <p:pRg st="8" end="8"/>
                                            </p:txEl>
                                          </p:spTgt>
                                        </p:tgtEl>
                                        <p:attrNameLst>
                                          <p:attrName>fill.type</p:attrName>
                                        </p:attrNameLst>
                                      </p:cBhvr>
                                      <p:to>
                                        <p:strVal val="solid"/>
                                      </p:to>
                                    </p:set>
                                    <p:set>
                                      <p:cBhvr>
                                        <p:cTn id="42" dur="500" fill="hold"/>
                                        <p:tgtEl>
                                          <p:spTgt spid="3">
                                            <p:txEl>
                                              <p:pRg st="8" end="8"/>
                                            </p:txEl>
                                          </p:spTgt>
                                        </p:tgtEl>
                                        <p:attrNameLst>
                                          <p:attrName>fill.on</p:attrName>
                                        </p:attrNameLst>
                                      </p:cBhvr>
                                      <p:to>
                                        <p:strVal val="true"/>
                                      </p:to>
                                    </p:set>
                                  </p:childTnLst>
                                </p:cTn>
                              </p:par>
                              <p:par>
                                <p:cTn id="43" presetID="19" presetClass="emph" presetSubtype="0" fill="hold" nodeType="withEffect">
                                  <p:stCondLst>
                                    <p:cond delay="0"/>
                                  </p:stCondLst>
                                  <p:childTnLst>
                                    <p:animClr clrSpc="rgb" dir="cw">
                                      <p:cBhvr override="childStyle">
                                        <p:cTn id="44" dur="500" fill="hold"/>
                                        <p:tgtEl>
                                          <p:spTgt spid="3">
                                            <p:txEl>
                                              <p:pRg st="9" end="9"/>
                                            </p:txEl>
                                          </p:spTgt>
                                        </p:tgtEl>
                                        <p:attrNameLst>
                                          <p:attrName>style.color</p:attrName>
                                        </p:attrNameLst>
                                      </p:cBhvr>
                                      <p:to>
                                        <a:srgbClr val="000000"/>
                                      </p:to>
                                    </p:animClr>
                                    <p:animClr clrSpc="rgb" dir="cw">
                                      <p:cBhvr>
                                        <p:cTn id="45" dur="500" fill="hold"/>
                                        <p:tgtEl>
                                          <p:spTgt spid="3">
                                            <p:txEl>
                                              <p:pRg st="9" end="9"/>
                                            </p:txEl>
                                          </p:spTgt>
                                        </p:tgtEl>
                                        <p:attrNameLst>
                                          <p:attrName>fillcolor</p:attrName>
                                        </p:attrNameLst>
                                      </p:cBhvr>
                                      <p:to>
                                        <a:srgbClr val="000000"/>
                                      </p:to>
                                    </p:animClr>
                                    <p:set>
                                      <p:cBhvr>
                                        <p:cTn id="46" dur="500" fill="hold"/>
                                        <p:tgtEl>
                                          <p:spTgt spid="3">
                                            <p:txEl>
                                              <p:pRg st="9" end="9"/>
                                            </p:txEl>
                                          </p:spTgt>
                                        </p:tgtEl>
                                        <p:attrNameLst>
                                          <p:attrName>fill.type</p:attrName>
                                        </p:attrNameLst>
                                      </p:cBhvr>
                                      <p:to>
                                        <p:strVal val="solid"/>
                                      </p:to>
                                    </p:set>
                                    <p:set>
                                      <p:cBhvr>
                                        <p:cTn id="47" dur="500" fill="hold"/>
                                        <p:tgtEl>
                                          <p:spTgt spid="3">
                                            <p:txEl>
                                              <p:pRg st="9" end="9"/>
                                            </p:txEl>
                                          </p:spTgt>
                                        </p:tgtEl>
                                        <p:attrNameLst>
                                          <p:attrName>fill.on</p:attrName>
                                        </p:attrNameLst>
                                      </p:cBhvr>
                                      <p:to>
                                        <p:strVal val="true"/>
                                      </p:to>
                                    </p:set>
                                  </p:childTnLst>
                                </p:cTn>
                              </p:par>
                              <p:par>
                                <p:cTn id="48" presetID="19" presetClass="emph" presetSubtype="0" fill="hold" nodeType="withEffect">
                                  <p:stCondLst>
                                    <p:cond delay="0"/>
                                  </p:stCondLst>
                                  <p:childTnLst>
                                    <p:animClr clrSpc="rgb" dir="cw">
                                      <p:cBhvr override="childStyle">
                                        <p:cTn id="49" dur="500" fill="hold"/>
                                        <p:tgtEl>
                                          <p:spTgt spid="3">
                                            <p:txEl>
                                              <p:pRg st="3" end="3"/>
                                            </p:txEl>
                                          </p:spTgt>
                                        </p:tgtEl>
                                        <p:attrNameLst>
                                          <p:attrName>style.color</p:attrName>
                                        </p:attrNameLst>
                                      </p:cBhvr>
                                      <p:to>
                                        <a:srgbClr val="A5A5A5"/>
                                      </p:to>
                                    </p:animClr>
                                    <p:animClr clrSpc="rgb" dir="cw">
                                      <p:cBhvr>
                                        <p:cTn id="50" dur="500" fill="hold"/>
                                        <p:tgtEl>
                                          <p:spTgt spid="3">
                                            <p:txEl>
                                              <p:pRg st="3" end="3"/>
                                            </p:txEl>
                                          </p:spTgt>
                                        </p:tgtEl>
                                        <p:attrNameLst>
                                          <p:attrName>fillcolor</p:attrName>
                                        </p:attrNameLst>
                                      </p:cBhvr>
                                      <p:to>
                                        <a:srgbClr val="A5A5A5"/>
                                      </p:to>
                                    </p:animClr>
                                    <p:set>
                                      <p:cBhvr>
                                        <p:cTn id="51" dur="500" fill="hold"/>
                                        <p:tgtEl>
                                          <p:spTgt spid="3">
                                            <p:txEl>
                                              <p:pRg st="3" end="3"/>
                                            </p:txEl>
                                          </p:spTgt>
                                        </p:tgtEl>
                                        <p:attrNameLst>
                                          <p:attrName>fill.type</p:attrName>
                                        </p:attrNameLst>
                                      </p:cBhvr>
                                      <p:to>
                                        <p:strVal val="solid"/>
                                      </p:to>
                                    </p:set>
                                    <p:set>
                                      <p:cBhvr>
                                        <p:cTn id="52" dur="500" fill="hold"/>
                                        <p:tgtEl>
                                          <p:spTgt spid="3">
                                            <p:txEl>
                                              <p:pRg st="3" end="3"/>
                                            </p:txEl>
                                          </p:spTgt>
                                        </p:tgtEl>
                                        <p:attrNameLst>
                                          <p:attrName>fill.on</p:attrName>
                                        </p:attrNameLst>
                                      </p:cBhvr>
                                      <p:to>
                                        <p:strVal val="true"/>
                                      </p:to>
                                    </p:set>
                                  </p:childTnLst>
                                </p:cTn>
                              </p:par>
                              <p:par>
                                <p:cTn id="53" presetID="19" presetClass="emph" presetSubtype="0" fill="hold" nodeType="withEffect">
                                  <p:stCondLst>
                                    <p:cond delay="0"/>
                                  </p:stCondLst>
                                  <p:childTnLst>
                                    <p:animClr clrSpc="rgb" dir="cw">
                                      <p:cBhvr override="childStyle">
                                        <p:cTn id="54" dur="500" fill="hold"/>
                                        <p:tgtEl>
                                          <p:spTgt spid="3">
                                            <p:txEl>
                                              <p:pRg st="5" end="5"/>
                                            </p:txEl>
                                          </p:spTgt>
                                        </p:tgtEl>
                                        <p:attrNameLst>
                                          <p:attrName>style.color</p:attrName>
                                        </p:attrNameLst>
                                      </p:cBhvr>
                                      <p:to>
                                        <a:srgbClr val="A5A5A5"/>
                                      </p:to>
                                    </p:animClr>
                                    <p:animClr clrSpc="rgb" dir="cw">
                                      <p:cBhvr>
                                        <p:cTn id="55" dur="500" fill="hold"/>
                                        <p:tgtEl>
                                          <p:spTgt spid="3">
                                            <p:txEl>
                                              <p:pRg st="5" end="5"/>
                                            </p:txEl>
                                          </p:spTgt>
                                        </p:tgtEl>
                                        <p:attrNameLst>
                                          <p:attrName>fillcolor</p:attrName>
                                        </p:attrNameLst>
                                      </p:cBhvr>
                                      <p:to>
                                        <a:srgbClr val="A5A5A5"/>
                                      </p:to>
                                    </p:animClr>
                                    <p:set>
                                      <p:cBhvr>
                                        <p:cTn id="56" dur="500" fill="hold"/>
                                        <p:tgtEl>
                                          <p:spTgt spid="3">
                                            <p:txEl>
                                              <p:pRg st="5" end="5"/>
                                            </p:txEl>
                                          </p:spTgt>
                                        </p:tgtEl>
                                        <p:attrNameLst>
                                          <p:attrName>fill.type</p:attrName>
                                        </p:attrNameLst>
                                      </p:cBhvr>
                                      <p:to>
                                        <p:strVal val="solid"/>
                                      </p:to>
                                    </p:set>
                                    <p:set>
                                      <p:cBhvr>
                                        <p:cTn id="57" dur="500" fill="hold"/>
                                        <p:tgtEl>
                                          <p:spTgt spid="3">
                                            <p:txEl>
                                              <p:pRg st="5" end="5"/>
                                            </p:txEl>
                                          </p:spTgt>
                                        </p:tgtEl>
                                        <p:attrNameLst>
                                          <p:attrName>fill.on</p:attrName>
                                        </p:attrNameLst>
                                      </p:cBhvr>
                                      <p:to>
                                        <p:strVal val="true"/>
                                      </p:to>
                                    </p:set>
                                  </p:childTnLst>
                                </p:cTn>
                              </p:par>
                              <p:par>
                                <p:cTn id="58" presetID="19" presetClass="emph" presetSubtype="0" fill="hold" nodeType="withEffect">
                                  <p:stCondLst>
                                    <p:cond delay="0"/>
                                  </p:stCondLst>
                                  <p:childTnLst>
                                    <p:animClr clrSpc="rgb" dir="cw">
                                      <p:cBhvr override="childStyle">
                                        <p:cTn id="59" dur="500" fill="hold"/>
                                        <p:tgtEl>
                                          <p:spTgt spid="3">
                                            <p:txEl>
                                              <p:pRg st="6" end="6"/>
                                            </p:txEl>
                                          </p:spTgt>
                                        </p:tgtEl>
                                        <p:attrNameLst>
                                          <p:attrName>style.color</p:attrName>
                                        </p:attrNameLst>
                                      </p:cBhvr>
                                      <p:to>
                                        <a:srgbClr val="A5A5A5"/>
                                      </p:to>
                                    </p:animClr>
                                    <p:animClr clrSpc="rgb" dir="cw">
                                      <p:cBhvr>
                                        <p:cTn id="60" dur="500" fill="hold"/>
                                        <p:tgtEl>
                                          <p:spTgt spid="3">
                                            <p:txEl>
                                              <p:pRg st="6" end="6"/>
                                            </p:txEl>
                                          </p:spTgt>
                                        </p:tgtEl>
                                        <p:attrNameLst>
                                          <p:attrName>fillcolor</p:attrName>
                                        </p:attrNameLst>
                                      </p:cBhvr>
                                      <p:to>
                                        <a:srgbClr val="A5A5A5"/>
                                      </p:to>
                                    </p:animClr>
                                    <p:set>
                                      <p:cBhvr>
                                        <p:cTn id="61" dur="500" fill="hold"/>
                                        <p:tgtEl>
                                          <p:spTgt spid="3">
                                            <p:txEl>
                                              <p:pRg st="6" end="6"/>
                                            </p:txEl>
                                          </p:spTgt>
                                        </p:tgtEl>
                                        <p:attrNameLst>
                                          <p:attrName>fill.type</p:attrName>
                                        </p:attrNameLst>
                                      </p:cBhvr>
                                      <p:to>
                                        <p:strVal val="solid"/>
                                      </p:to>
                                    </p:set>
                                    <p:set>
                                      <p:cBhvr>
                                        <p:cTn id="62" dur="500" fill="hold"/>
                                        <p:tgtEl>
                                          <p:spTgt spid="3">
                                            <p:txEl>
                                              <p:pRg st="6" end="6"/>
                                            </p:txEl>
                                          </p:spTgt>
                                        </p:tgtEl>
                                        <p:attrNameLst>
                                          <p:attrName>fill.on</p:attrName>
                                        </p:attrNameLst>
                                      </p:cBhvr>
                                      <p:to>
                                        <p:strVal val="true"/>
                                      </p:to>
                                    </p:set>
                                  </p:childTnLst>
                                </p:cTn>
                              </p:par>
                              <p:par>
                                <p:cTn id="63" presetID="1" presetClass="entr" presetSubtype="0" fill="hold" nodeType="withEffect">
                                  <p:stCondLst>
                                    <p:cond delay="0"/>
                                  </p:stCondLst>
                                  <p:childTnLst>
                                    <p:set>
                                      <p:cBhvr>
                                        <p:cTn id="64" dur="1" fill="hold">
                                          <p:stCondLst>
                                            <p:cond delay="0"/>
                                          </p:stCondLst>
                                        </p:cTn>
                                        <p:tgtEl>
                                          <p:spTgt spid="7"/>
                                        </p:tgtEl>
                                        <p:attrNameLst>
                                          <p:attrName>style.visibility</p:attrName>
                                        </p:attrNameLst>
                                      </p:cBhvr>
                                      <p:to>
                                        <p:strVal val="visible"/>
                                      </p:to>
                                    </p:set>
                                  </p:childTnLst>
                                </p:cTn>
                              </p:par>
                              <p:par>
                                <p:cTn id="65" presetID="1" presetClass="exit" presetSubtype="0" fill="hold" nodeType="withEffect">
                                  <p:stCondLst>
                                    <p:cond delay="0"/>
                                  </p:stCondLst>
                                  <p:childTnLst>
                                    <p:set>
                                      <p:cBhvr>
                                        <p:cTn id="6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A7476-30C7-4CBC-840A-4CA376B59DD1}"/>
              </a:ext>
            </a:extLst>
          </p:cNvPr>
          <p:cNvSpPr>
            <a:spLocks noGrp="1"/>
          </p:cNvSpPr>
          <p:nvPr>
            <p:ph type="title"/>
          </p:nvPr>
        </p:nvSpPr>
        <p:spPr/>
        <p:txBody>
          <a:bodyPr/>
          <a:lstStyle/>
          <a:p>
            <a:r>
              <a:rPr lang="en-GB" dirty="0"/>
              <a:t>Action potential</a:t>
            </a:r>
          </a:p>
        </p:txBody>
      </p:sp>
      <p:sp>
        <p:nvSpPr>
          <p:cNvPr id="3" name="Content Placeholder 2">
            <a:extLst>
              <a:ext uri="{FF2B5EF4-FFF2-40B4-BE49-F238E27FC236}">
                <a16:creationId xmlns:a16="http://schemas.microsoft.com/office/drawing/2014/main" id="{55AF8B97-7FFA-42EA-836A-B1875D10C3B7}"/>
              </a:ext>
            </a:extLst>
          </p:cNvPr>
          <p:cNvSpPr>
            <a:spLocks noGrp="1"/>
          </p:cNvSpPr>
          <p:nvPr>
            <p:ph idx="1"/>
          </p:nvPr>
        </p:nvSpPr>
        <p:spPr>
          <a:xfrm>
            <a:off x="838200" y="1465199"/>
            <a:ext cx="5257800" cy="5124443"/>
          </a:xfrm>
        </p:spPr>
        <p:txBody>
          <a:bodyPr>
            <a:normAutofit/>
          </a:bodyPr>
          <a:lstStyle/>
          <a:p>
            <a:r>
              <a:rPr lang="en-GB" dirty="0"/>
              <a:t>At resting membrane potential</a:t>
            </a:r>
          </a:p>
          <a:p>
            <a:pPr lvl="1"/>
            <a:r>
              <a:rPr lang="en-GB" dirty="0"/>
              <a:t>Na</a:t>
            </a:r>
            <a:r>
              <a:rPr lang="en-GB" baseline="30000" dirty="0"/>
              <a:t>+</a:t>
            </a:r>
            <a:r>
              <a:rPr lang="en-GB" dirty="0"/>
              <a:t> and K</a:t>
            </a:r>
            <a:r>
              <a:rPr lang="en-GB" baseline="30000" dirty="0"/>
              <a:t>+</a:t>
            </a:r>
            <a:r>
              <a:rPr lang="en-GB" dirty="0"/>
              <a:t> channels are </a:t>
            </a:r>
            <a:r>
              <a:rPr lang="en-GB" b="1" dirty="0"/>
              <a:t>closed</a:t>
            </a:r>
          </a:p>
          <a:p>
            <a:endParaRPr lang="en-GB" b="1" dirty="0"/>
          </a:p>
          <a:p>
            <a:r>
              <a:rPr lang="en-GB" b="1" dirty="0"/>
              <a:t>Stimuli </a:t>
            </a:r>
            <a:r>
              <a:rPr lang="en-GB" dirty="0"/>
              <a:t>positively increase the membrane potential (voltage) (</a:t>
            </a:r>
            <a:r>
              <a:rPr lang="en-GB" b="1" dirty="0"/>
              <a:t>depolarization</a:t>
            </a:r>
            <a:r>
              <a:rPr lang="en-GB" dirty="0"/>
              <a:t>)</a:t>
            </a:r>
          </a:p>
          <a:p>
            <a:endParaRPr lang="en-GB" dirty="0"/>
          </a:p>
          <a:p>
            <a:r>
              <a:rPr lang="en-GB" dirty="0"/>
              <a:t>Upon reaching a voltage </a:t>
            </a:r>
            <a:r>
              <a:rPr lang="en-GB" b="1" dirty="0"/>
              <a:t>threshold</a:t>
            </a:r>
            <a:r>
              <a:rPr lang="en-GB" dirty="0"/>
              <a:t>, </a:t>
            </a:r>
            <a:r>
              <a:rPr lang="en-GB" b="1" dirty="0"/>
              <a:t>Na</a:t>
            </a:r>
            <a:r>
              <a:rPr lang="en-GB" b="1" baseline="30000" dirty="0"/>
              <a:t>+</a:t>
            </a:r>
            <a:r>
              <a:rPr lang="en-GB" b="1" dirty="0"/>
              <a:t> channels open</a:t>
            </a:r>
          </a:p>
          <a:p>
            <a:pPr lvl="1"/>
            <a:r>
              <a:rPr lang="en-GB" dirty="0"/>
              <a:t>Massive </a:t>
            </a:r>
            <a:r>
              <a:rPr lang="en-GB" b="1" dirty="0"/>
              <a:t>flow of Na</a:t>
            </a:r>
            <a:r>
              <a:rPr lang="en-GB" b="1" baseline="30000" dirty="0"/>
              <a:t>+</a:t>
            </a:r>
            <a:r>
              <a:rPr lang="en-GB" b="1" dirty="0"/>
              <a:t> ions inside the cell </a:t>
            </a:r>
            <a:r>
              <a:rPr lang="en-GB" dirty="0"/>
              <a:t>depolarizes even more the membrane potential</a:t>
            </a:r>
          </a:p>
          <a:p>
            <a:endParaRPr lang="en-GB" dirty="0"/>
          </a:p>
          <a:p>
            <a:r>
              <a:rPr lang="en-GB" dirty="0"/>
              <a:t>Further depolarization </a:t>
            </a:r>
            <a:r>
              <a:rPr lang="en-GB" b="1" dirty="0"/>
              <a:t>opens K</a:t>
            </a:r>
            <a:r>
              <a:rPr lang="en-GB" b="1" baseline="30000" dirty="0"/>
              <a:t>+</a:t>
            </a:r>
            <a:r>
              <a:rPr lang="en-GB" b="1" dirty="0"/>
              <a:t> channels</a:t>
            </a:r>
          </a:p>
          <a:p>
            <a:pPr lvl="1"/>
            <a:r>
              <a:rPr lang="en-GB" b="1" dirty="0"/>
              <a:t>Flow of K</a:t>
            </a:r>
            <a:r>
              <a:rPr lang="en-GB" b="1" baseline="30000" dirty="0"/>
              <a:t>+</a:t>
            </a:r>
            <a:r>
              <a:rPr lang="en-GB" b="1" dirty="0"/>
              <a:t> ions outside the cell </a:t>
            </a:r>
            <a:r>
              <a:rPr lang="en-GB" dirty="0"/>
              <a:t>reduces negatively the membrane potential (repolarization + hyperpolarization	)</a:t>
            </a:r>
          </a:p>
          <a:p>
            <a:endParaRPr lang="en-GB" dirty="0"/>
          </a:p>
        </p:txBody>
      </p:sp>
      <p:pic>
        <p:nvPicPr>
          <p:cNvPr id="5122" name="Picture 2" descr="What is an Action Potential, Action Potential Chart, Membrane Potential |  Molecular devices">
            <a:extLst>
              <a:ext uri="{FF2B5EF4-FFF2-40B4-BE49-F238E27FC236}">
                <a16:creationId xmlns:a16="http://schemas.microsoft.com/office/drawing/2014/main" id="{6A349E7B-C25C-4ACA-B378-EC635F86AE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5234" y="1540934"/>
            <a:ext cx="4268566" cy="39502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67905CF-117E-469E-9DD7-E6547DB45002}"/>
              </a:ext>
            </a:extLst>
          </p:cNvPr>
          <p:cNvSpPr txBox="1"/>
          <p:nvPr/>
        </p:nvSpPr>
        <p:spPr>
          <a:xfrm>
            <a:off x="7410450" y="6351063"/>
            <a:ext cx="3943350"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https://www.moleculardevices.com/applications/patch-clamp-electrophysiology/what-action-potential#gref</a:t>
            </a:r>
          </a:p>
        </p:txBody>
      </p:sp>
      <p:sp>
        <p:nvSpPr>
          <p:cNvPr id="5" name="Oval 4">
            <a:extLst>
              <a:ext uri="{FF2B5EF4-FFF2-40B4-BE49-F238E27FC236}">
                <a16:creationId xmlns:a16="http://schemas.microsoft.com/office/drawing/2014/main" id="{88DFE0FF-802D-6942-EE68-2DE6425BAEB8}"/>
              </a:ext>
            </a:extLst>
          </p:cNvPr>
          <p:cNvSpPr/>
          <p:nvPr/>
        </p:nvSpPr>
        <p:spPr>
          <a:xfrm>
            <a:off x="788089" y="1485077"/>
            <a:ext cx="310184" cy="310184"/>
          </a:xfrm>
          <a:prstGeom prst="ellipse">
            <a:avLst/>
          </a:prstGeom>
          <a:solidFill>
            <a:srgbClr val="038E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rPr>
              <a:t>5</a:t>
            </a:r>
          </a:p>
        </p:txBody>
      </p:sp>
      <p:sp>
        <p:nvSpPr>
          <p:cNvPr id="6" name="Oval 5">
            <a:extLst>
              <a:ext uri="{FF2B5EF4-FFF2-40B4-BE49-F238E27FC236}">
                <a16:creationId xmlns:a16="http://schemas.microsoft.com/office/drawing/2014/main" id="{399C8584-AD51-D685-F759-65865312D0F0}"/>
              </a:ext>
            </a:extLst>
          </p:cNvPr>
          <p:cNvSpPr/>
          <p:nvPr/>
        </p:nvSpPr>
        <p:spPr>
          <a:xfrm>
            <a:off x="788089" y="2492242"/>
            <a:ext cx="310184" cy="310184"/>
          </a:xfrm>
          <a:prstGeom prst="ellipse">
            <a:avLst/>
          </a:prstGeom>
          <a:solidFill>
            <a:srgbClr val="038E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rPr>
              <a:t>1</a:t>
            </a:r>
          </a:p>
        </p:txBody>
      </p:sp>
      <p:sp>
        <p:nvSpPr>
          <p:cNvPr id="7" name="Oval 6">
            <a:extLst>
              <a:ext uri="{FF2B5EF4-FFF2-40B4-BE49-F238E27FC236}">
                <a16:creationId xmlns:a16="http://schemas.microsoft.com/office/drawing/2014/main" id="{198ED58F-9C49-5A3E-7BBA-25973882B601}"/>
              </a:ext>
            </a:extLst>
          </p:cNvPr>
          <p:cNvSpPr/>
          <p:nvPr/>
        </p:nvSpPr>
        <p:spPr>
          <a:xfrm>
            <a:off x="788089" y="3499407"/>
            <a:ext cx="310184" cy="310184"/>
          </a:xfrm>
          <a:prstGeom prst="ellipse">
            <a:avLst/>
          </a:prstGeom>
          <a:solidFill>
            <a:srgbClr val="038E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rPr>
              <a:t>2</a:t>
            </a:r>
          </a:p>
        </p:txBody>
      </p:sp>
      <p:sp>
        <p:nvSpPr>
          <p:cNvPr id="8" name="Oval 7">
            <a:extLst>
              <a:ext uri="{FF2B5EF4-FFF2-40B4-BE49-F238E27FC236}">
                <a16:creationId xmlns:a16="http://schemas.microsoft.com/office/drawing/2014/main" id="{B1A2F188-6D30-BF90-B4A9-70268FB3C36B}"/>
              </a:ext>
            </a:extLst>
          </p:cNvPr>
          <p:cNvSpPr/>
          <p:nvPr/>
        </p:nvSpPr>
        <p:spPr>
          <a:xfrm>
            <a:off x="3341825" y="5748964"/>
            <a:ext cx="310184" cy="310184"/>
          </a:xfrm>
          <a:prstGeom prst="ellipse">
            <a:avLst/>
          </a:prstGeom>
          <a:solidFill>
            <a:srgbClr val="038E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rPr>
              <a:t>4</a:t>
            </a:r>
          </a:p>
        </p:txBody>
      </p:sp>
      <p:sp>
        <p:nvSpPr>
          <p:cNvPr id="9" name="Oval 8">
            <a:extLst>
              <a:ext uri="{FF2B5EF4-FFF2-40B4-BE49-F238E27FC236}">
                <a16:creationId xmlns:a16="http://schemas.microsoft.com/office/drawing/2014/main" id="{982BDF54-6699-F644-4613-443AE2C6EA1A}"/>
              </a:ext>
            </a:extLst>
          </p:cNvPr>
          <p:cNvSpPr/>
          <p:nvPr/>
        </p:nvSpPr>
        <p:spPr>
          <a:xfrm>
            <a:off x="5990603" y="5520983"/>
            <a:ext cx="310184" cy="310184"/>
          </a:xfrm>
          <a:prstGeom prst="ellipse">
            <a:avLst/>
          </a:prstGeom>
          <a:solidFill>
            <a:srgbClr val="038E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rPr>
              <a:t>3</a:t>
            </a:r>
          </a:p>
        </p:txBody>
      </p:sp>
    </p:spTree>
    <p:extLst>
      <p:ext uri="{BB962C8B-B14F-4D97-AF65-F5344CB8AC3E}">
        <p14:creationId xmlns:p14="http://schemas.microsoft.com/office/powerpoint/2010/main" val="1394347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C5C5E-B63C-5007-BBD9-DFAC2279D332}"/>
              </a:ext>
            </a:extLst>
          </p:cNvPr>
          <p:cNvSpPr>
            <a:spLocks noGrp="1"/>
          </p:cNvSpPr>
          <p:nvPr>
            <p:ph type="title"/>
          </p:nvPr>
        </p:nvSpPr>
        <p:spPr/>
        <p:txBody>
          <a:bodyPr/>
          <a:lstStyle/>
          <a:p>
            <a:r>
              <a:rPr lang="en-GB" dirty="0"/>
              <a:t>The refractory period</a:t>
            </a:r>
          </a:p>
        </p:txBody>
      </p:sp>
      <p:sp>
        <p:nvSpPr>
          <p:cNvPr id="3" name="Content Placeholder 2">
            <a:extLst>
              <a:ext uri="{FF2B5EF4-FFF2-40B4-BE49-F238E27FC236}">
                <a16:creationId xmlns:a16="http://schemas.microsoft.com/office/drawing/2014/main" id="{7837A3E1-F589-7805-FB4E-B69A4ABAAE92}"/>
              </a:ext>
            </a:extLst>
          </p:cNvPr>
          <p:cNvSpPr>
            <a:spLocks noGrp="1"/>
          </p:cNvSpPr>
          <p:nvPr>
            <p:ph idx="1"/>
          </p:nvPr>
        </p:nvSpPr>
        <p:spPr/>
        <p:txBody>
          <a:bodyPr/>
          <a:lstStyle/>
          <a:p>
            <a:r>
              <a:rPr lang="en-GB" dirty="0"/>
              <a:t>Na</a:t>
            </a:r>
            <a:r>
              <a:rPr lang="en-GB" baseline="30000" dirty="0"/>
              <a:t>+</a:t>
            </a:r>
            <a:r>
              <a:rPr lang="en-GB" dirty="0"/>
              <a:t> channels inactivate (</a:t>
            </a:r>
            <a:r>
              <a:rPr lang="en-GB" b="1" dirty="0">
                <a:solidFill>
                  <a:srgbClr val="FF0000"/>
                </a:solidFill>
              </a:rPr>
              <a:t>absolute</a:t>
            </a:r>
            <a:r>
              <a:rPr lang="en-GB" dirty="0"/>
              <a:t> </a:t>
            </a:r>
            <a:r>
              <a:rPr lang="en-GB" b="1" dirty="0"/>
              <a:t>refractory period</a:t>
            </a:r>
            <a:r>
              <a:rPr lang="en-GB" dirty="0"/>
              <a:t>)</a:t>
            </a:r>
          </a:p>
          <a:p>
            <a:pPr lvl="1"/>
            <a:r>
              <a:rPr lang="en-GB" dirty="0"/>
              <a:t>No following action potential can be initiated</a:t>
            </a:r>
          </a:p>
          <a:p>
            <a:endParaRPr lang="en-GB" dirty="0"/>
          </a:p>
          <a:p>
            <a:r>
              <a:rPr lang="en-GB" dirty="0"/>
              <a:t>K</a:t>
            </a:r>
            <a:r>
              <a:rPr lang="en-GB" baseline="30000" dirty="0"/>
              <a:t>+</a:t>
            </a:r>
            <a:r>
              <a:rPr lang="en-GB" dirty="0"/>
              <a:t> channels are open (</a:t>
            </a:r>
            <a:r>
              <a:rPr lang="en-GB" b="1" dirty="0">
                <a:solidFill>
                  <a:srgbClr val="FFC000"/>
                </a:solidFill>
              </a:rPr>
              <a:t>relative</a:t>
            </a:r>
            <a:r>
              <a:rPr lang="en-GB" b="1" dirty="0"/>
              <a:t> refractory period</a:t>
            </a:r>
            <a:r>
              <a:rPr lang="en-GB" dirty="0"/>
              <a:t>)</a:t>
            </a:r>
          </a:p>
          <a:p>
            <a:pPr lvl="1"/>
            <a:r>
              <a:rPr lang="en-GB" dirty="0"/>
              <a:t>Very strong stimuli can initiate an action potential</a:t>
            </a:r>
          </a:p>
        </p:txBody>
      </p:sp>
      <p:pic>
        <p:nvPicPr>
          <p:cNvPr id="4" name="Picture 2" descr="What is an Action Potential, Action Potential Chart, Membrane Potential |  Molecular devices">
            <a:extLst>
              <a:ext uri="{FF2B5EF4-FFF2-40B4-BE49-F238E27FC236}">
                <a16:creationId xmlns:a16="http://schemas.microsoft.com/office/drawing/2014/main" id="{FDFF41ED-FCFD-E908-3BCE-B82E2DE283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5234" y="1540934"/>
            <a:ext cx="4268566" cy="395023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BDA667C-B312-FB02-9F6E-1BC80B01C32C}"/>
              </a:ext>
            </a:extLst>
          </p:cNvPr>
          <p:cNvSpPr txBox="1"/>
          <p:nvPr/>
        </p:nvSpPr>
        <p:spPr>
          <a:xfrm>
            <a:off x="7410450" y="6351063"/>
            <a:ext cx="3943350"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https://www.moleculardevices.com/applications/patch-clamp-electrophysiology/what-action-potential#gref</a:t>
            </a:r>
          </a:p>
        </p:txBody>
      </p:sp>
      <p:sp>
        <p:nvSpPr>
          <p:cNvPr id="6" name="Rectangle: Rounded Corners 5">
            <a:extLst>
              <a:ext uri="{FF2B5EF4-FFF2-40B4-BE49-F238E27FC236}">
                <a16:creationId xmlns:a16="http://schemas.microsoft.com/office/drawing/2014/main" id="{36F0FA1D-8F10-1E52-AA23-B12FFAD01E6F}"/>
              </a:ext>
            </a:extLst>
          </p:cNvPr>
          <p:cNvSpPr/>
          <p:nvPr/>
        </p:nvSpPr>
        <p:spPr>
          <a:xfrm>
            <a:off x="8806071" y="1825624"/>
            <a:ext cx="904460" cy="3223453"/>
          </a:xfrm>
          <a:prstGeom prst="roundRect">
            <a:avLst/>
          </a:prstGeom>
          <a:solidFill>
            <a:srgbClr val="FF0000">
              <a:alpha val="1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Rounded Corners 6">
            <a:extLst>
              <a:ext uri="{FF2B5EF4-FFF2-40B4-BE49-F238E27FC236}">
                <a16:creationId xmlns:a16="http://schemas.microsoft.com/office/drawing/2014/main" id="{591139D9-42E9-0800-88B9-560DE1E54F2A}"/>
              </a:ext>
            </a:extLst>
          </p:cNvPr>
          <p:cNvSpPr/>
          <p:nvPr/>
        </p:nvSpPr>
        <p:spPr>
          <a:xfrm>
            <a:off x="9710530" y="1817273"/>
            <a:ext cx="1172818" cy="3223453"/>
          </a:xfrm>
          <a:prstGeom prst="roundRect">
            <a:avLst/>
          </a:prstGeom>
          <a:solidFill>
            <a:srgbClr val="FFFF00">
              <a:alpha val="1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72767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945C6-58CB-3EBC-7D29-72710C4DAE26}"/>
              </a:ext>
            </a:extLst>
          </p:cNvPr>
          <p:cNvSpPr>
            <a:spLocks noGrp="1"/>
          </p:cNvSpPr>
          <p:nvPr>
            <p:ph type="title"/>
          </p:nvPr>
        </p:nvSpPr>
        <p:spPr/>
        <p:txBody>
          <a:bodyPr/>
          <a:lstStyle/>
          <a:p>
            <a:r>
              <a:rPr lang="en-GB" dirty="0"/>
              <a:t>AP conduction and refractory period</a:t>
            </a:r>
          </a:p>
        </p:txBody>
      </p:sp>
      <p:pic>
        <p:nvPicPr>
          <p:cNvPr id="21506" name="Picture 2" descr="The action potential travels from the soma down the axon to the axon terminal. The action potential is initiated when a signal from the soma causes the soma-end of the axon membrane to depolarize. The depolarization spreads down the axon. Meanwhile, the membrane at the start of the axon repolarizes. Because potassium channels are open, the membrane cannot depolarize again. The action potential continues to spread down the axon this way.">
            <a:extLst>
              <a:ext uri="{FF2B5EF4-FFF2-40B4-BE49-F238E27FC236}">
                <a16:creationId xmlns:a16="http://schemas.microsoft.com/office/drawing/2014/main" id="{A6F2E96E-63EE-8861-5CBC-5D1BB3BEA9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8475" y="1382317"/>
            <a:ext cx="7375830" cy="5142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6238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EA42F-1AFB-4B77-9EAE-6CAB46E1F556}"/>
              </a:ext>
            </a:extLst>
          </p:cNvPr>
          <p:cNvSpPr>
            <a:spLocks noGrp="1"/>
          </p:cNvSpPr>
          <p:nvPr>
            <p:ph type="title"/>
          </p:nvPr>
        </p:nvSpPr>
        <p:spPr/>
        <p:txBody>
          <a:bodyPr/>
          <a:lstStyle/>
          <a:p>
            <a:r>
              <a:rPr lang="en-GB" dirty="0"/>
              <a:t>AP conduction and myelin</a:t>
            </a:r>
          </a:p>
        </p:txBody>
      </p:sp>
      <p:sp>
        <p:nvSpPr>
          <p:cNvPr id="4" name="Content Placeholder 3">
            <a:extLst>
              <a:ext uri="{FF2B5EF4-FFF2-40B4-BE49-F238E27FC236}">
                <a16:creationId xmlns:a16="http://schemas.microsoft.com/office/drawing/2014/main" id="{7E38551C-EDFA-4903-9983-3A36713C0D09}"/>
              </a:ext>
            </a:extLst>
          </p:cNvPr>
          <p:cNvSpPr>
            <a:spLocks noGrp="1"/>
          </p:cNvSpPr>
          <p:nvPr>
            <p:ph idx="1"/>
          </p:nvPr>
        </p:nvSpPr>
        <p:spPr/>
        <p:txBody>
          <a:bodyPr>
            <a:normAutofit/>
          </a:bodyPr>
          <a:lstStyle/>
          <a:p>
            <a:r>
              <a:rPr lang="en-GB" dirty="0">
                <a:sym typeface="Wingdings" panose="05000000000000000000" pitchFamily="2" charset="2"/>
              </a:rPr>
              <a:t>Ability to process multiple inputs into an output</a:t>
            </a:r>
            <a:endParaRPr lang="en-GB" dirty="0"/>
          </a:p>
          <a:p>
            <a:r>
              <a:rPr lang="en-GB" dirty="0"/>
              <a:t>Specialized morphology</a:t>
            </a:r>
          </a:p>
          <a:p>
            <a:pPr lvl="1"/>
            <a:r>
              <a:rPr lang="en-GB" dirty="0"/>
              <a:t>Multitude of inputs </a:t>
            </a:r>
            <a:r>
              <a:rPr lang="en-GB" dirty="0">
                <a:sym typeface="Wingdings" panose="05000000000000000000" pitchFamily="2" charset="2"/>
              </a:rPr>
              <a:t> </a:t>
            </a:r>
            <a:r>
              <a:rPr lang="en-GB" b="1" dirty="0">
                <a:solidFill>
                  <a:schemeClr val="accent5">
                    <a:lumMod val="75000"/>
                  </a:schemeClr>
                </a:solidFill>
                <a:sym typeface="Wingdings" panose="05000000000000000000" pitchFamily="2" charset="2"/>
              </a:rPr>
              <a:t>Dendrites</a:t>
            </a:r>
          </a:p>
          <a:p>
            <a:pPr lvl="1"/>
            <a:r>
              <a:rPr lang="en-GB" dirty="0">
                <a:sym typeface="Wingdings" panose="05000000000000000000" pitchFamily="2" charset="2"/>
              </a:rPr>
              <a:t>Output  </a:t>
            </a:r>
            <a:r>
              <a:rPr lang="en-GB" b="1" dirty="0">
                <a:solidFill>
                  <a:srgbClr val="FF0000"/>
                </a:solidFill>
                <a:sym typeface="Wingdings" panose="05000000000000000000" pitchFamily="2" charset="2"/>
              </a:rPr>
              <a:t>Axon</a:t>
            </a:r>
          </a:p>
          <a:p>
            <a:pPr lvl="1"/>
            <a:r>
              <a:rPr lang="en-GB" dirty="0">
                <a:sym typeface="Wingdings" panose="05000000000000000000" pitchFamily="2" charset="2"/>
              </a:rPr>
              <a:t>Input neuron or target neuron can be very distant (projecting)</a:t>
            </a:r>
          </a:p>
          <a:p>
            <a:pPr lvl="1"/>
            <a:endParaRPr lang="en-GB" dirty="0">
              <a:sym typeface="Wingdings" panose="05000000000000000000" pitchFamily="2" charset="2"/>
            </a:endParaRPr>
          </a:p>
          <a:p>
            <a:r>
              <a:rPr lang="en-GB" dirty="0"/>
              <a:t>Excitable</a:t>
            </a:r>
          </a:p>
          <a:p>
            <a:pPr lvl="1"/>
            <a:r>
              <a:rPr lang="en-GB" dirty="0"/>
              <a:t>Voltage-/Ligand-gated ion channels</a:t>
            </a:r>
          </a:p>
          <a:p>
            <a:pPr marL="457200" lvl="1" indent="0">
              <a:buNone/>
            </a:pPr>
            <a:endParaRPr lang="en-GB" dirty="0">
              <a:sym typeface="Wingdings" panose="05000000000000000000" pitchFamily="2" charset="2"/>
            </a:endParaRPr>
          </a:p>
        </p:txBody>
      </p:sp>
      <p:pic>
        <p:nvPicPr>
          <p:cNvPr id="6" name="Picture 5">
            <a:extLst>
              <a:ext uri="{FF2B5EF4-FFF2-40B4-BE49-F238E27FC236}">
                <a16:creationId xmlns:a16="http://schemas.microsoft.com/office/drawing/2014/main" id="{BB7B942A-B408-4A5C-B0DB-F13CD6B109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5201" y="748800"/>
            <a:ext cx="2171501" cy="5873732"/>
          </a:xfrm>
          <a:prstGeom prst="rect">
            <a:avLst/>
          </a:prstGeom>
        </p:spPr>
      </p:pic>
      <p:sp>
        <p:nvSpPr>
          <p:cNvPr id="10" name="TextBox 9">
            <a:extLst>
              <a:ext uri="{FF2B5EF4-FFF2-40B4-BE49-F238E27FC236}">
                <a16:creationId xmlns:a16="http://schemas.microsoft.com/office/drawing/2014/main" id="{03D418EA-2C84-413B-998D-DBD65781C334}"/>
              </a:ext>
            </a:extLst>
          </p:cNvPr>
          <p:cNvSpPr txBox="1"/>
          <p:nvPr/>
        </p:nvSpPr>
        <p:spPr>
          <a:xfrm>
            <a:off x="7344866" y="2216901"/>
            <a:ext cx="193993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ptos" panose="02110004020202020204"/>
                <a:ea typeface="+mn-ea"/>
                <a:cs typeface="+mn-cs"/>
              </a:rPr>
              <a:t>Axon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ptos" panose="02110004020202020204"/>
                <a:ea typeface="+mn-ea"/>
                <a:cs typeface="+mn-cs"/>
              </a:rPr>
              <a:t>Initial  Segment (AIS)</a:t>
            </a:r>
          </a:p>
        </p:txBody>
      </p:sp>
      <p:cxnSp>
        <p:nvCxnSpPr>
          <p:cNvPr id="11" name="Straight Arrow Connector 10">
            <a:extLst>
              <a:ext uri="{FF2B5EF4-FFF2-40B4-BE49-F238E27FC236}">
                <a16:creationId xmlns:a16="http://schemas.microsoft.com/office/drawing/2014/main" id="{5E3DA455-F7AB-40D5-9917-A0BCDB5D150C}"/>
              </a:ext>
            </a:extLst>
          </p:cNvPr>
          <p:cNvCxnSpPr>
            <a:cxnSpLocks/>
          </p:cNvCxnSpPr>
          <p:nvPr/>
        </p:nvCxnSpPr>
        <p:spPr>
          <a:xfrm flipH="1" flipV="1">
            <a:off x="7476898" y="2180883"/>
            <a:ext cx="466952" cy="2101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9F21E63-813A-40B8-9D01-E2A2F45AE914}"/>
              </a:ext>
            </a:extLst>
          </p:cNvPr>
          <p:cNvSpPr txBox="1"/>
          <p:nvPr/>
        </p:nvSpPr>
        <p:spPr>
          <a:xfrm>
            <a:off x="5993358" y="5615553"/>
            <a:ext cx="118956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ptos" panose="02110004020202020204"/>
                <a:ea typeface="+mn-ea"/>
                <a:cs typeface="+mn-cs"/>
              </a:rPr>
              <a:t>Terminals</a:t>
            </a:r>
          </a:p>
        </p:txBody>
      </p:sp>
      <p:cxnSp>
        <p:nvCxnSpPr>
          <p:cNvPr id="13" name="Straight Arrow Connector 12">
            <a:extLst>
              <a:ext uri="{FF2B5EF4-FFF2-40B4-BE49-F238E27FC236}">
                <a16:creationId xmlns:a16="http://schemas.microsoft.com/office/drawing/2014/main" id="{8258DCE9-3300-4B46-B986-F18EF88375AB}"/>
              </a:ext>
            </a:extLst>
          </p:cNvPr>
          <p:cNvCxnSpPr>
            <a:cxnSpLocks/>
          </p:cNvCxnSpPr>
          <p:nvPr/>
        </p:nvCxnSpPr>
        <p:spPr>
          <a:xfrm>
            <a:off x="6694357" y="5920385"/>
            <a:ext cx="372051" cy="1485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765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picture containing necklet, colorful&#10;&#10;Description automatically generated">
            <a:extLst>
              <a:ext uri="{FF2B5EF4-FFF2-40B4-BE49-F238E27FC236}">
                <a16:creationId xmlns:a16="http://schemas.microsoft.com/office/drawing/2014/main" id="{038FF56F-566B-4C23-B16A-B9E85CC12A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5201" y="748800"/>
            <a:ext cx="2171501" cy="5873732"/>
          </a:xfrm>
          <a:prstGeom prst="rect">
            <a:avLst/>
          </a:prstGeom>
        </p:spPr>
      </p:pic>
      <p:sp>
        <p:nvSpPr>
          <p:cNvPr id="2" name="Title 1">
            <a:extLst>
              <a:ext uri="{FF2B5EF4-FFF2-40B4-BE49-F238E27FC236}">
                <a16:creationId xmlns:a16="http://schemas.microsoft.com/office/drawing/2014/main" id="{014EA42F-1AFB-4B77-9EAE-6CAB46E1F556}"/>
              </a:ext>
            </a:extLst>
          </p:cNvPr>
          <p:cNvSpPr>
            <a:spLocks noGrp="1"/>
          </p:cNvSpPr>
          <p:nvPr>
            <p:ph type="title"/>
          </p:nvPr>
        </p:nvSpPr>
        <p:spPr/>
        <p:txBody>
          <a:bodyPr/>
          <a:lstStyle/>
          <a:p>
            <a:r>
              <a:rPr lang="en-GB" dirty="0"/>
              <a:t>AP conduction and myelin</a:t>
            </a:r>
          </a:p>
        </p:txBody>
      </p:sp>
      <p:sp>
        <p:nvSpPr>
          <p:cNvPr id="3" name="TextBox 2">
            <a:extLst>
              <a:ext uri="{FF2B5EF4-FFF2-40B4-BE49-F238E27FC236}">
                <a16:creationId xmlns:a16="http://schemas.microsoft.com/office/drawing/2014/main" id="{FD13CFDC-660E-4E04-BCA1-0129F1D9288B}"/>
              </a:ext>
            </a:extLst>
          </p:cNvPr>
          <p:cNvSpPr txBox="1"/>
          <p:nvPr/>
        </p:nvSpPr>
        <p:spPr>
          <a:xfrm>
            <a:off x="6096001" y="3516050"/>
            <a:ext cx="1113781" cy="52322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ptos" panose="02110004020202020204"/>
                <a:ea typeface="+mn-ea"/>
                <a:cs typeface="+mn-cs"/>
              </a:rPr>
              <a:t>Myelin sheaths</a:t>
            </a:r>
          </a:p>
        </p:txBody>
      </p:sp>
      <p:cxnSp>
        <p:nvCxnSpPr>
          <p:cNvPr id="7" name="Straight Arrow Connector 6">
            <a:extLst>
              <a:ext uri="{FF2B5EF4-FFF2-40B4-BE49-F238E27FC236}">
                <a16:creationId xmlns:a16="http://schemas.microsoft.com/office/drawing/2014/main" id="{4B345371-67F6-414C-8EE4-8515CC9D35CD}"/>
              </a:ext>
            </a:extLst>
          </p:cNvPr>
          <p:cNvCxnSpPr/>
          <p:nvPr/>
        </p:nvCxnSpPr>
        <p:spPr>
          <a:xfrm flipV="1">
            <a:off x="6955399" y="3196963"/>
            <a:ext cx="233757" cy="5500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6AE3F92-794F-40E2-928A-B7E6A5307831}"/>
              </a:ext>
            </a:extLst>
          </p:cNvPr>
          <p:cNvCxnSpPr>
            <a:cxnSpLocks/>
          </p:cNvCxnSpPr>
          <p:nvPr/>
        </p:nvCxnSpPr>
        <p:spPr>
          <a:xfrm flipV="1">
            <a:off x="6955398" y="3556001"/>
            <a:ext cx="455052" cy="1909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B31567F-646C-41FF-B4E3-465089E7E27D}"/>
              </a:ext>
            </a:extLst>
          </p:cNvPr>
          <p:cNvCxnSpPr>
            <a:cxnSpLocks/>
          </p:cNvCxnSpPr>
          <p:nvPr/>
        </p:nvCxnSpPr>
        <p:spPr>
          <a:xfrm>
            <a:off x="6955399" y="3746978"/>
            <a:ext cx="711169" cy="2344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descr="A picture containing icon&#10;&#10;Description automatically generated">
            <a:extLst>
              <a:ext uri="{FF2B5EF4-FFF2-40B4-BE49-F238E27FC236}">
                <a16:creationId xmlns:a16="http://schemas.microsoft.com/office/drawing/2014/main" id="{7AD019DA-0871-4ABF-A04E-6F2CA32857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2305" y="4045315"/>
            <a:ext cx="744102" cy="447311"/>
          </a:xfrm>
          <a:prstGeom prst="rect">
            <a:avLst/>
          </a:prstGeom>
        </p:spPr>
      </p:pic>
      <p:sp>
        <p:nvSpPr>
          <p:cNvPr id="33" name="TextBox 32">
            <a:extLst>
              <a:ext uri="{FF2B5EF4-FFF2-40B4-BE49-F238E27FC236}">
                <a16:creationId xmlns:a16="http://schemas.microsoft.com/office/drawing/2014/main" id="{9D413802-C541-4726-A175-5F4D0408003C}"/>
              </a:ext>
            </a:extLst>
          </p:cNvPr>
          <p:cNvSpPr txBox="1"/>
          <p:nvPr/>
        </p:nvSpPr>
        <p:spPr>
          <a:xfrm>
            <a:off x="7739634" y="2879789"/>
            <a:ext cx="1113781" cy="52322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ptos" panose="02110004020202020204"/>
                <a:ea typeface="+mn-ea"/>
                <a:cs typeface="+mn-cs"/>
              </a:rPr>
              <a:t>Nodes of</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ptos" panose="02110004020202020204"/>
                <a:ea typeface="+mn-ea"/>
                <a:cs typeface="+mn-cs"/>
              </a:rPr>
              <a:t>Ranvier</a:t>
            </a:r>
          </a:p>
        </p:txBody>
      </p:sp>
      <p:cxnSp>
        <p:nvCxnSpPr>
          <p:cNvPr id="34" name="Straight Arrow Connector 33">
            <a:extLst>
              <a:ext uri="{FF2B5EF4-FFF2-40B4-BE49-F238E27FC236}">
                <a16:creationId xmlns:a16="http://schemas.microsoft.com/office/drawing/2014/main" id="{DBE4FE3C-359C-47A8-A63D-57AF37179698}"/>
              </a:ext>
            </a:extLst>
          </p:cNvPr>
          <p:cNvCxnSpPr>
            <a:cxnSpLocks/>
          </p:cNvCxnSpPr>
          <p:nvPr/>
        </p:nvCxnSpPr>
        <p:spPr>
          <a:xfrm flipH="1" flipV="1">
            <a:off x="7310984" y="2844279"/>
            <a:ext cx="632867" cy="31484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96BDFE4-4A2B-468D-835B-387E13F0202C}"/>
              </a:ext>
            </a:extLst>
          </p:cNvPr>
          <p:cNvCxnSpPr>
            <a:cxnSpLocks/>
          </p:cNvCxnSpPr>
          <p:nvPr/>
        </p:nvCxnSpPr>
        <p:spPr>
          <a:xfrm flipH="1">
            <a:off x="7410452" y="3159126"/>
            <a:ext cx="533399" cy="1345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DCCAC41-ECE2-4C90-A0BF-082B8A82FAAD}"/>
              </a:ext>
            </a:extLst>
          </p:cNvPr>
          <p:cNvCxnSpPr>
            <a:cxnSpLocks/>
          </p:cNvCxnSpPr>
          <p:nvPr/>
        </p:nvCxnSpPr>
        <p:spPr>
          <a:xfrm flipH="1">
            <a:off x="7663496" y="3159126"/>
            <a:ext cx="280355" cy="5429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8424BF08-D4E5-4FA9-A558-567910E04B55}"/>
              </a:ext>
            </a:extLst>
          </p:cNvPr>
          <p:cNvSpPr txBox="1"/>
          <p:nvPr/>
        </p:nvSpPr>
        <p:spPr>
          <a:xfrm>
            <a:off x="7344866" y="2216901"/>
            <a:ext cx="193993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ptos" panose="02110004020202020204"/>
                <a:ea typeface="+mn-ea"/>
                <a:cs typeface="+mn-cs"/>
              </a:rPr>
              <a:t>Axon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ptos" panose="02110004020202020204"/>
                <a:ea typeface="+mn-ea"/>
                <a:cs typeface="+mn-cs"/>
              </a:rPr>
              <a:t>Initial  Segment (AIS)</a:t>
            </a:r>
          </a:p>
        </p:txBody>
      </p:sp>
      <p:cxnSp>
        <p:nvCxnSpPr>
          <p:cNvPr id="38" name="Straight Arrow Connector 37">
            <a:extLst>
              <a:ext uri="{FF2B5EF4-FFF2-40B4-BE49-F238E27FC236}">
                <a16:creationId xmlns:a16="http://schemas.microsoft.com/office/drawing/2014/main" id="{D3DEF9BC-83BD-4AE7-926E-3EF86FDE489E}"/>
              </a:ext>
            </a:extLst>
          </p:cNvPr>
          <p:cNvCxnSpPr>
            <a:cxnSpLocks/>
          </p:cNvCxnSpPr>
          <p:nvPr/>
        </p:nvCxnSpPr>
        <p:spPr>
          <a:xfrm flipH="1" flipV="1">
            <a:off x="7476898" y="2180883"/>
            <a:ext cx="466952" cy="2101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E00A34C-3821-4E54-8BD1-FED0AD521BE9}"/>
              </a:ext>
            </a:extLst>
          </p:cNvPr>
          <p:cNvSpPr txBox="1"/>
          <p:nvPr/>
        </p:nvSpPr>
        <p:spPr>
          <a:xfrm>
            <a:off x="5993358" y="5615553"/>
            <a:ext cx="118956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prstClr val="black"/>
                </a:solidFill>
                <a:effectLst/>
                <a:uLnTx/>
                <a:uFillTx/>
                <a:latin typeface="Aptos" panose="02110004020202020204"/>
                <a:ea typeface="+mn-ea"/>
                <a:cs typeface="+mn-cs"/>
              </a:rPr>
              <a:t>Terminals</a:t>
            </a:r>
          </a:p>
        </p:txBody>
      </p:sp>
      <p:cxnSp>
        <p:nvCxnSpPr>
          <p:cNvPr id="40" name="Straight Arrow Connector 39">
            <a:extLst>
              <a:ext uri="{FF2B5EF4-FFF2-40B4-BE49-F238E27FC236}">
                <a16:creationId xmlns:a16="http://schemas.microsoft.com/office/drawing/2014/main" id="{DF4436BE-59C0-4F62-980E-90011ADFC56A}"/>
              </a:ext>
            </a:extLst>
          </p:cNvPr>
          <p:cNvCxnSpPr>
            <a:cxnSpLocks/>
          </p:cNvCxnSpPr>
          <p:nvPr/>
        </p:nvCxnSpPr>
        <p:spPr>
          <a:xfrm>
            <a:off x="6694357" y="5920385"/>
            <a:ext cx="372051" cy="1485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040326AA-B445-4539-A8E2-C2CDF01BD2B4}"/>
              </a:ext>
            </a:extLst>
          </p:cNvPr>
          <p:cNvSpPr>
            <a:spLocks noGrp="1"/>
          </p:cNvSpPr>
          <p:nvPr>
            <p:ph idx="1"/>
          </p:nvPr>
        </p:nvSpPr>
        <p:spPr/>
        <p:txBody>
          <a:bodyPr/>
          <a:lstStyle/>
          <a:p>
            <a:r>
              <a:rPr lang="en-GB" dirty="0">
                <a:sym typeface="Wingdings" panose="05000000000000000000" pitchFamily="2" charset="2"/>
              </a:rPr>
              <a:t>Ability to process multiple inputs into an output</a:t>
            </a:r>
            <a:endParaRPr lang="en-GB" dirty="0"/>
          </a:p>
          <a:p>
            <a:r>
              <a:rPr lang="en-GB" dirty="0"/>
              <a:t>Specialized morphology</a:t>
            </a:r>
          </a:p>
          <a:p>
            <a:pPr lvl="1"/>
            <a:r>
              <a:rPr lang="en-GB" dirty="0"/>
              <a:t>Multitude of inputs </a:t>
            </a:r>
            <a:r>
              <a:rPr lang="en-GB" dirty="0">
                <a:sym typeface="Wingdings" panose="05000000000000000000" pitchFamily="2" charset="2"/>
              </a:rPr>
              <a:t> </a:t>
            </a:r>
            <a:r>
              <a:rPr lang="en-GB" b="1" dirty="0">
                <a:solidFill>
                  <a:schemeClr val="accent5">
                    <a:lumMod val="75000"/>
                  </a:schemeClr>
                </a:solidFill>
                <a:sym typeface="Wingdings" panose="05000000000000000000" pitchFamily="2" charset="2"/>
              </a:rPr>
              <a:t>Dendrites</a:t>
            </a:r>
          </a:p>
          <a:p>
            <a:pPr lvl="1"/>
            <a:r>
              <a:rPr lang="en-GB" dirty="0">
                <a:sym typeface="Wingdings" panose="05000000000000000000" pitchFamily="2" charset="2"/>
              </a:rPr>
              <a:t>Output  </a:t>
            </a:r>
            <a:r>
              <a:rPr lang="en-GB" b="1" dirty="0">
                <a:solidFill>
                  <a:srgbClr val="FF0000"/>
                </a:solidFill>
                <a:sym typeface="Wingdings" panose="05000000000000000000" pitchFamily="2" charset="2"/>
              </a:rPr>
              <a:t>Axon</a:t>
            </a:r>
          </a:p>
          <a:p>
            <a:pPr lvl="1"/>
            <a:r>
              <a:rPr lang="en-GB" dirty="0">
                <a:sym typeface="Wingdings" panose="05000000000000000000" pitchFamily="2" charset="2"/>
              </a:rPr>
              <a:t>Input neuron or target neuron can be very distant (projecting)</a:t>
            </a:r>
          </a:p>
          <a:p>
            <a:pPr lvl="1"/>
            <a:endParaRPr lang="en-GB" dirty="0">
              <a:sym typeface="Wingdings" panose="05000000000000000000" pitchFamily="2" charset="2"/>
            </a:endParaRPr>
          </a:p>
          <a:p>
            <a:r>
              <a:rPr lang="en-GB" dirty="0"/>
              <a:t>Excitable</a:t>
            </a:r>
          </a:p>
          <a:p>
            <a:pPr lvl="1"/>
            <a:r>
              <a:rPr lang="en-GB" dirty="0"/>
              <a:t>Voltage-/Ligand-gated ion channels</a:t>
            </a:r>
          </a:p>
          <a:p>
            <a:pPr lvl="1"/>
            <a:r>
              <a:rPr lang="en-GB" b="1" dirty="0"/>
              <a:t>Fast conduction of signals </a:t>
            </a:r>
            <a:r>
              <a:rPr lang="en-GB" dirty="0"/>
              <a:t>(myelin)</a:t>
            </a:r>
          </a:p>
          <a:p>
            <a:pPr lvl="1"/>
            <a:endParaRPr lang="en-GB" dirty="0"/>
          </a:p>
          <a:p>
            <a:r>
              <a:rPr lang="en-GB" dirty="0"/>
              <a:t>Nodes of Ranvier have a high density of Na</a:t>
            </a:r>
            <a:r>
              <a:rPr lang="en-GB" baseline="30000" dirty="0"/>
              <a:t>+</a:t>
            </a:r>
            <a:r>
              <a:rPr lang="en-GB" dirty="0"/>
              <a:t> and K</a:t>
            </a:r>
            <a:r>
              <a:rPr lang="en-GB" baseline="30000" dirty="0"/>
              <a:t>+</a:t>
            </a:r>
            <a:r>
              <a:rPr lang="en-GB" dirty="0"/>
              <a:t> channels</a:t>
            </a:r>
          </a:p>
        </p:txBody>
      </p:sp>
      <p:pic>
        <p:nvPicPr>
          <p:cNvPr id="5" name="Picture 4">
            <a:extLst>
              <a:ext uri="{FF2B5EF4-FFF2-40B4-BE49-F238E27FC236}">
                <a16:creationId xmlns:a16="http://schemas.microsoft.com/office/drawing/2014/main" id="{B4C0A29C-6243-6596-B23D-804AEAE8F970}"/>
              </a:ext>
            </a:extLst>
          </p:cNvPr>
          <p:cNvPicPr>
            <a:picLocks noChangeAspect="1"/>
          </p:cNvPicPr>
          <p:nvPr/>
        </p:nvPicPr>
        <p:blipFill>
          <a:blip r:embed="rId4"/>
          <a:stretch>
            <a:fillRect/>
          </a:stretch>
        </p:blipFill>
        <p:spPr>
          <a:xfrm>
            <a:off x="9384267" y="1534092"/>
            <a:ext cx="2588453" cy="2028673"/>
          </a:xfrm>
          <a:prstGeom prst="rect">
            <a:avLst/>
          </a:prstGeom>
        </p:spPr>
      </p:pic>
      <p:pic>
        <p:nvPicPr>
          <p:cNvPr id="20482" name="Picture 2" descr="Figure 1">
            <a:extLst>
              <a:ext uri="{FF2B5EF4-FFF2-40B4-BE49-F238E27FC236}">
                <a16:creationId xmlns:a16="http://schemas.microsoft.com/office/drawing/2014/main" id="{3CD61C42-A2FD-4616-7552-DF0FF74FB8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42795" y="3981451"/>
            <a:ext cx="3529925" cy="2233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51867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89543-23B9-9DF7-AD07-3E5ED1F8A8F2}"/>
              </a:ext>
            </a:extLst>
          </p:cNvPr>
          <p:cNvSpPr>
            <a:spLocks noGrp="1"/>
          </p:cNvSpPr>
          <p:nvPr>
            <p:ph type="title"/>
          </p:nvPr>
        </p:nvSpPr>
        <p:spPr/>
        <p:txBody>
          <a:bodyPr/>
          <a:lstStyle/>
          <a:p>
            <a:r>
              <a:rPr lang="en-GB" dirty="0"/>
              <a:t>AP conduction and myelin</a:t>
            </a:r>
          </a:p>
        </p:txBody>
      </p:sp>
      <p:pic>
        <p:nvPicPr>
          <p:cNvPr id="4" name="Picture 2" descr="The action potential travels from the soma down the axon to the axon terminal. The action potential is initiated when a signal from the soma causes the soma-end of the axon membrane to depolarize. The depolarization spreads down the axon. Meanwhile, the membrane at the start of the axon repolarizes. Because potassium channels are open, the membrane cannot depolarize again. The action potential continues to spread down the axon this way.">
            <a:extLst>
              <a:ext uri="{FF2B5EF4-FFF2-40B4-BE49-F238E27FC236}">
                <a16:creationId xmlns:a16="http://schemas.microsoft.com/office/drawing/2014/main" id="{DEF8D238-67AD-CB28-6761-8024E9A7FD2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0757" y="1244327"/>
            <a:ext cx="5257800" cy="3666083"/>
          </a:xfrm>
          <a:prstGeom prst="rect">
            <a:avLst/>
          </a:prstGeom>
          <a:noFill/>
          <a:extLst>
            <a:ext uri="{909E8E84-426E-40DD-AFC4-6F175D3DCCD1}">
              <a14:hiddenFill xmlns:a14="http://schemas.microsoft.com/office/drawing/2010/main">
                <a:solidFill>
                  <a:srgbClr val="FFFFFF"/>
                </a:solidFill>
              </a14:hiddenFill>
            </a:ext>
          </a:extLst>
        </p:spPr>
      </p:pic>
      <p:pic>
        <p:nvPicPr>
          <p:cNvPr id="22530" name="Picture 2">
            <a:extLst>
              <a:ext uri="{FF2B5EF4-FFF2-40B4-BE49-F238E27FC236}">
                <a16:creationId xmlns:a16="http://schemas.microsoft.com/office/drawing/2014/main" id="{F1E45D64-5E55-9A16-4FD8-48C8767EB8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8218" y="2744028"/>
            <a:ext cx="5181600" cy="184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3994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shape&#10;&#10;Description automatically generated">
            <a:extLst>
              <a:ext uri="{FF2B5EF4-FFF2-40B4-BE49-F238E27FC236}">
                <a16:creationId xmlns:a16="http://schemas.microsoft.com/office/drawing/2014/main" id="{A5DD9B4B-06E9-4AF1-9E25-31AEEFBC13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2000" y="745200"/>
            <a:ext cx="4229572" cy="5881935"/>
          </a:xfrm>
          <a:prstGeom prst="rect">
            <a:avLst/>
          </a:prstGeom>
        </p:spPr>
      </p:pic>
      <p:sp>
        <p:nvSpPr>
          <p:cNvPr id="2" name="Title 1">
            <a:extLst>
              <a:ext uri="{FF2B5EF4-FFF2-40B4-BE49-F238E27FC236}">
                <a16:creationId xmlns:a16="http://schemas.microsoft.com/office/drawing/2014/main" id="{014EA42F-1AFB-4B77-9EAE-6CAB46E1F556}"/>
              </a:ext>
            </a:extLst>
          </p:cNvPr>
          <p:cNvSpPr>
            <a:spLocks noGrp="1"/>
          </p:cNvSpPr>
          <p:nvPr>
            <p:ph type="title"/>
          </p:nvPr>
        </p:nvSpPr>
        <p:spPr/>
        <p:txBody>
          <a:bodyPr/>
          <a:lstStyle/>
          <a:p>
            <a:r>
              <a:rPr lang="en-GB" dirty="0"/>
              <a:t>The neuron</a:t>
            </a:r>
          </a:p>
        </p:txBody>
      </p:sp>
      <p:sp>
        <p:nvSpPr>
          <p:cNvPr id="12" name="Content Placeholder 11">
            <a:extLst>
              <a:ext uri="{FF2B5EF4-FFF2-40B4-BE49-F238E27FC236}">
                <a16:creationId xmlns:a16="http://schemas.microsoft.com/office/drawing/2014/main" id="{2AE7B8A2-984F-4FF0-A9C8-441A0248911F}"/>
              </a:ext>
            </a:extLst>
          </p:cNvPr>
          <p:cNvSpPr>
            <a:spLocks noGrp="1"/>
          </p:cNvSpPr>
          <p:nvPr>
            <p:ph idx="1"/>
          </p:nvPr>
        </p:nvSpPr>
        <p:spPr/>
        <p:txBody>
          <a:bodyPr/>
          <a:lstStyle/>
          <a:p>
            <a:r>
              <a:rPr lang="en-GB" dirty="0">
                <a:sym typeface="Wingdings" panose="05000000000000000000" pitchFamily="2" charset="2"/>
              </a:rPr>
              <a:t>Ability to process multiple inputs into an output</a:t>
            </a:r>
            <a:endParaRPr lang="en-GB" dirty="0"/>
          </a:p>
          <a:p>
            <a:r>
              <a:rPr lang="en-GB" dirty="0"/>
              <a:t>Specialized morphology</a:t>
            </a:r>
          </a:p>
          <a:p>
            <a:pPr lvl="1"/>
            <a:r>
              <a:rPr lang="en-GB" dirty="0"/>
              <a:t>Multitude of inputs </a:t>
            </a:r>
            <a:r>
              <a:rPr lang="en-GB" dirty="0">
                <a:sym typeface="Wingdings" panose="05000000000000000000" pitchFamily="2" charset="2"/>
              </a:rPr>
              <a:t> </a:t>
            </a:r>
            <a:r>
              <a:rPr lang="en-GB" b="1" dirty="0">
                <a:solidFill>
                  <a:schemeClr val="accent5">
                    <a:lumMod val="75000"/>
                  </a:schemeClr>
                </a:solidFill>
                <a:sym typeface="Wingdings" panose="05000000000000000000" pitchFamily="2" charset="2"/>
              </a:rPr>
              <a:t>Dendrites</a:t>
            </a:r>
          </a:p>
          <a:p>
            <a:pPr lvl="1"/>
            <a:r>
              <a:rPr lang="en-GB" dirty="0">
                <a:sym typeface="Wingdings" panose="05000000000000000000" pitchFamily="2" charset="2"/>
              </a:rPr>
              <a:t>Output  </a:t>
            </a:r>
            <a:r>
              <a:rPr lang="en-GB" b="1" dirty="0">
                <a:solidFill>
                  <a:srgbClr val="FF0000"/>
                </a:solidFill>
                <a:sym typeface="Wingdings" panose="05000000000000000000" pitchFamily="2" charset="2"/>
              </a:rPr>
              <a:t>Axon</a:t>
            </a:r>
          </a:p>
          <a:p>
            <a:pPr lvl="1"/>
            <a:r>
              <a:rPr lang="en-GB" dirty="0">
                <a:sym typeface="Wingdings" panose="05000000000000000000" pitchFamily="2" charset="2"/>
              </a:rPr>
              <a:t>Input neuron or target neuron can be very distant (projecting)</a:t>
            </a:r>
          </a:p>
          <a:p>
            <a:pPr lvl="1"/>
            <a:endParaRPr lang="en-GB" dirty="0">
              <a:sym typeface="Wingdings" panose="05000000000000000000" pitchFamily="2" charset="2"/>
            </a:endParaRPr>
          </a:p>
          <a:p>
            <a:r>
              <a:rPr lang="en-GB" dirty="0"/>
              <a:t>Excitable</a:t>
            </a:r>
          </a:p>
          <a:p>
            <a:pPr lvl="1"/>
            <a:r>
              <a:rPr lang="en-GB" dirty="0"/>
              <a:t>Voltage-/Ligand-gated ion channels</a:t>
            </a:r>
          </a:p>
          <a:p>
            <a:pPr lvl="1"/>
            <a:r>
              <a:rPr lang="en-GB" dirty="0"/>
              <a:t>Fast conduction of signals (myelin)</a:t>
            </a:r>
          </a:p>
        </p:txBody>
      </p:sp>
      <p:sp>
        <p:nvSpPr>
          <p:cNvPr id="3" name="TextBox 2">
            <a:extLst>
              <a:ext uri="{FF2B5EF4-FFF2-40B4-BE49-F238E27FC236}">
                <a16:creationId xmlns:a16="http://schemas.microsoft.com/office/drawing/2014/main" id="{FD13CFDC-660E-4E04-BCA1-0129F1D9288B}"/>
              </a:ext>
            </a:extLst>
          </p:cNvPr>
          <p:cNvSpPr txBox="1"/>
          <p:nvPr/>
        </p:nvSpPr>
        <p:spPr>
          <a:xfrm>
            <a:off x="7010401" y="3516050"/>
            <a:ext cx="1113781" cy="523220"/>
          </a:xfrm>
          <a:prstGeom prst="rect">
            <a:avLst/>
          </a:prstGeom>
          <a:noFill/>
        </p:spPr>
        <p:txBody>
          <a:bodyPr wrap="square" rtlCol="0" anchor="ctr">
            <a:spAutoFit/>
          </a:bodyPr>
          <a:lstStyle/>
          <a:p>
            <a:pPr algn="ctr"/>
            <a:r>
              <a:rPr lang="en-GB" sz="1400" dirty="0"/>
              <a:t>Myelin sheaths</a:t>
            </a:r>
          </a:p>
        </p:txBody>
      </p:sp>
      <p:cxnSp>
        <p:nvCxnSpPr>
          <p:cNvPr id="7" name="Straight Arrow Connector 6">
            <a:extLst>
              <a:ext uri="{FF2B5EF4-FFF2-40B4-BE49-F238E27FC236}">
                <a16:creationId xmlns:a16="http://schemas.microsoft.com/office/drawing/2014/main" id="{4B345371-67F6-414C-8EE4-8515CC9D35CD}"/>
              </a:ext>
            </a:extLst>
          </p:cNvPr>
          <p:cNvCxnSpPr/>
          <p:nvPr/>
        </p:nvCxnSpPr>
        <p:spPr>
          <a:xfrm flipV="1">
            <a:off x="7869799" y="3196963"/>
            <a:ext cx="233757" cy="5500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6AE3F92-794F-40E2-928A-B7E6A5307831}"/>
              </a:ext>
            </a:extLst>
          </p:cNvPr>
          <p:cNvCxnSpPr>
            <a:cxnSpLocks/>
          </p:cNvCxnSpPr>
          <p:nvPr/>
        </p:nvCxnSpPr>
        <p:spPr>
          <a:xfrm flipV="1">
            <a:off x="7869798" y="3556001"/>
            <a:ext cx="455052" cy="1909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B31567F-646C-41FF-B4E3-465089E7E27D}"/>
              </a:ext>
            </a:extLst>
          </p:cNvPr>
          <p:cNvCxnSpPr>
            <a:cxnSpLocks/>
          </p:cNvCxnSpPr>
          <p:nvPr/>
        </p:nvCxnSpPr>
        <p:spPr>
          <a:xfrm>
            <a:off x="7869799" y="3746978"/>
            <a:ext cx="711169" cy="2344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D3F256D-62F1-4700-AFE5-ED8C695CB816}"/>
              </a:ext>
            </a:extLst>
          </p:cNvPr>
          <p:cNvSpPr txBox="1"/>
          <p:nvPr/>
        </p:nvSpPr>
        <p:spPr>
          <a:xfrm>
            <a:off x="10244667" y="2474650"/>
            <a:ext cx="1113781" cy="523220"/>
          </a:xfrm>
          <a:prstGeom prst="rect">
            <a:avLst/>
          </a:prstGeom>
          <a:noFill/>
        </p:spPr>
        <p:txBody>
          <a:bodyPr wrap="square" rtlCol="0" anchor="ctr">
            <a:spAutoFit/>
          </a:bodyPr>
          <a:lstStyle/>
          <a:p>
            <a:pPr algn="ctr"/>
            <a:r>
              <a:rPr lang="en-GB" sz="1400" dirty="0">
                <a:solidFill>
                  <a:schemeClr val="accent5">
                    <a:lumMod val="75000"/>
                  </a:schemeClr>
                </a:solidFill>
              </a:rPr>
              <a:t>Dendritic</a:t>
            </a:r>
          </a:p>
          <a:p>
            <a:pPr algn="ctr"/>
            <a:r>
              <a:rPr lang="en-GB" sz="1400" dirty="0">
                <a:solidFill>
                  <a:schemeClr val="accent5">
                    <a:lumMod val="75000"/>
                  </a:schemeClr>
                </a:solidFill>
              </a:rPr>
              <a:t>Spines</a:t>
            </a:r>
          </a:p>
        </p:txBody>
      </p:sp>
      <p:sp>
        <p:nvSpPr>
          <p:cNvPr id="15" name="TextBox 14">
            <a:extLst>
              <a:ext uri="{FF2B5EF4-FFF2-40B4-BE49-F238E27FC236}">
                <a16:creationId xmlns:a16="http://schemas.microsoft.com/office/drawing/2014/main" id="{73F1CAE5-11BE-4827-8FDF-01F45CCF2FB1}"/>
              </a:ext>
            </a:extLst>
          </p:cNvPr>
          <p:cNvSpPr txBox="1"/>
          <p:nvPr/>
        </p:nvSpPr>
        <p:spPr>
          <a:xfrm>
            <a:off x="10244666" y="4039270"/>
            <a:ext cx="1113781" cy="523220"/>
          </a:xfrm>
          <a:prstGeom prst="rect">
            <a:avLst/>
          </a:prstGeom>
          <a:noFill/>
        </p:spPr>
        <p:txBody>
          <a:bodyPr wrap="square" rtlCol="0" anchor="ctr">
            <a:spAutoFit/>
          </a:bodyPr>
          <a:lstStyle/>
          <a:p>
            <a:pPr algn="ctr"/>
            <a:r>
              <a:rPr lang="en-GB" sz="1400" dirty="0">
                <a:solidFill>
                  <a:srgbClr val="FF0000"/>
                </a:solidFill>
              </a:rPr>
              <a:t>Axonal Boutons</a:t>
            </a:r>
          </a:p>
        </p:txBody>
      </p:sp>
      <p:pic>
        <p:nvPicPr>
          <p:cNvPr id="6" name="Picture 5" descr="A picture containing icon&#10;&#10;Description automatically generated">
            <a:extLst>
              <a:ext uri="{FF2B5EF4-FFF2-40B4-BE49-F238E27FC236}">
                <a16:creationId xmlns:a16="http://schemas.microsoft.com/office/drawing/2014/main" id="{99429DDF-98F0-4BC6-8DA5-39907FE253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6705" y="4045315"/>
            <a:ext cx="744102" cy="447311"/>
          </a:xfrm>
          <a:prstGeom prst="rect">
            <a:avLst/>
          </a:prstGeom>
        </p:spPr>
      </p:pic>
      <p:sp>
        <p:nvSpPr>
          <p:cNvPr id="19" name="TextBox 18">
            <a:extLst>
              <a:ext uri="{FF2B5EF4-FFF2-40B4-BE49-F238E27FC236}">
                <a16:creationId xmlns:a16="http://schemas.microsoft.com/office/drawing/2014/main" id="{97145703-8778-47AB-9081-917C81D46ED3}"/>
              </a:ext>
            </a:extLst>
          </p:cNvPr>
          <p:cNvSpPr txBox="1"/>
          <p:nvPr/>
        </p:nvSpPr>
        <p:spPr>
          <a:xfrm>
            <a:off x="8654034" y="2879789"/>
            <a:ext cx="1113781" cy="523220"/>
          </a:xfrm>
          <a:prstGeom prst="rect">
            <a:avLst/>
          </a:prstGeom>
          <a:noFill/>
        </p:spPr>
        <p:txBody>
          <a:bodyPr wrap="square" rtlCol="0" anchor="ctr">
            <a:spAutoFit/>
          </a:bodyPr>
          <a:lstStyle/>
          <a:p>
            <a:pPr algn="ctr"/>
            <a:r>
              <a:rPr lang="en-GB" sz="1400" dirty="0"/>
              <a:t>Nodes of</a:t>
            </a:r>
          </a:p>
          <a:p>
            <a:pPr algn="ctr"/>
            <a:r>
              <a:rPr lang="en-GB" sz="1400" dirty="0"/>
              <a:t>Ranvier</a:t>
            </a:r>
          </a:p>
        </p:txBody>
      </p:sp>
      <p:cxnSp>
        <p:nvCxnSpPr>
          <p:cNvPr id="20" name="Straight Arrow Connector 19">
            <a:extLst>
              <a:ext uri="{FF2B5EF4-FFF2-40B4-BE49-F238E27FC236}">
                <a16:creationId xmlns:a16="http://schemas.microsoft.com/office/drawing/2014/main" id="{8BBF5837-80D1-43E5-8447-0B25E33671B2}"/>
              </a:ext>
            </a:extLst>
          </p:cNvPr>
          <p:cNvCxnSpPr>
            <a:cxnSpLocks/>
          </p:cNvCxnSpPr>
          <p:nvPr/>
        </p:nvCxnSpPr>
        <p:spPr>
          <a:xfrm flipH="1" flipV="1">
            <a:off x="8225384" y="2844279"/>
            <a:ext cx="632867" cy="31484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AE30EE2-6EC8-4A0A-82DF-B220836CF2FF}"/>
              </a:ext>
            </a:extLst>
          </p:cNvPr>
          <p:cNvCxnSpPr>
            <a:cxnSpLocks/>
          </p:cNvCxnSpPr>
          <p:nvPr/>
        </p:nvCxnSpPr>
        <p:spPr>
          <a:xfrm flipH="1">
            <a:off x="8324852" y="3159126"/>
            <a:ext cx="533399" cy="1345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5099C7A-1EF5-490A-BD1E-89F79C7A10FA}"/>
              </a:ext>
            </a:extLst>
          </p:cNvPr>
          <p:cNvCxnSpPr>
            <a:cxnSpLocks/>
          </p:cNvCxnSpPr>
          <p:nvPr/>
        </p:nvCxnSpPr>
        <p:spPr>
          <a:xfrm flipH="1">
            <a:off x="8577896" y="3159126"/>
            <a:ext cx="280355" cy="5429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F03FB14-FC6C-47ED-881E-538D8D83C937}"/>
              </a:ext>
            </a:extLst>
          </p:cNvPr>
          <p:cNvSpPr txBox="1"/>
          <p:nvPr/>
        </p:nvSpPr>
        <p:spPr>
          <a:xfrm>
            <a:off x="8259266" y="2216901"/>
            <a:ext cx="1939933" cy="523220"/>
          </a:xfrm>
          <a:prstGeom prst="rect">
            <a:avLst/>
          </a:prstGeom>
          <a:noFill/>
        </p:spPr>
        <p:txBody>
          <a:bodyPr wrap="square" rtlCol="0">
            <a:spAutoFit/>
          </a:bodyPr>
          <a:lstStyle/>
          <a:p>
            <a:pPr algn="ctr"/>
            <a:r>
              <a:rPr lang="en-GB" sz="1400" dirty="0"/>
              <a:t>Axon</a:t>
            </a:r>
          </a:p>
          <a:p>
            <a:pPr algn="ctr"/>
            <a:r>
              <a:rPr lang="en-GB" sz="1400" dirty="0"/>
              <a:t>Initial  Segment (AIS)</a:t>
            </a:r>
          </a:p>
        </p:txBody>
      </p:sp>
      <p:cxnSp>
        <p:nvCxnSpPr>
          <p:cNvPr id="27" name="Straight Arrow Connector 26">
            <a:extLst>
              <a:ext uri="{FF2B5EF4-FFF2-40B4-BE49-F238E27FC236}">
                <a16:creationId xmlns:a16="http://schemas.microsoft.com/office/drawing/2014/main" id="{D48214CE-2241-4AB7-931B-7811B380BCAE}"/>
              </a:ext>
            </a:extLst>
          </p:cNvPr>
          <p:cNvCxnSpPr>
            <a:cxnSpLocks/>
          </p:cNvCxnSpPr>
          <p:nvPr/>
        </p:nvCxnSpPr>
        <p:spPr>
          <a:xfrm flipH="1" flipV="1">
            <a:off x="8391298" y="2180883"/>
            <a:ext cx="466952" cy="2101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2EB7F6B-ABA6-4EBC-ABAD-630756E5B565}"/>
              </a:ext>
            </a:extLst>
          </p:cNvPr>
          <p:cNvSpPr txBox="1"/>
          <p:nvPr/>
        </p:nvSpPr>
        <p:spPr>
          <a:xfrm>
            <a:off x="6907758" y="5615553"/>
            <a:ext cx="1189567" cy="307777"/>
          </a:xfrm>
          <a:prstGeom prst="rect">
            <a:avLst/>
          </a:prstGeom>
          <a:noFill/>
        </p:spPr>
        <p:txBody>
          <a:bodyPr wrap="square" rtlCol="0">
            <a:spAutoFit/>
          </a:bodyPr>
          <a:lstStyle/>
          <a:p>
            <a:pPr algn="ctr"/>
            <a:r>
              <a:rPr lang="en-GB" sz="1400" dirty="0"/>
              <a:t>Terminals</a:t>
            </a:r>
          </a:p>
        </p:txBody>
      </p:sp>
      <p:cxnSp>
        <p:nvCxnSpPr>
          <p:cNvPr id="31" name="Straight Arrow Connector 30">
            <a:extLst>
              <a:ext uri="{FF2B5EF4-FFF2-40B4-BE49-F238E27FC236}">
                <a16:creationId xmlns:a16="http://schemas.microsoft.com/office/drawing/2014/main" id="{58A7CE91-D5A9-4C12-9E44-EBDD98FB681F}"/>
              </a:ext>
            </a:extLst>
          </p:cNvPr>
          <p:cNvCxnSpPr>
            <a:cxnSpLocks/>
          </p:cNvCxnSpPr>
          <p:nvPr/>
        </p:nvCxnSpPr>
        <p:spPr>
          <a:xfrm>
            <a:off x="7608757" y="5920385"/>
            <a:ext cx="372051" cy="1485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16038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A66C4-246B-4757-B653-22F7CE2606A4}"/>
              </a:ext>
            </a:extLst>
          </p:cNvPr>
          <p:cNvSpPr>
            <a:spLocks noGrp="1"/>
          </p:cNvSpPr>
          <p:nvPr>
            <p:ph type="title"/>
          </p:nvPr>
        </p:nvSpPr>
        <p:spPr/>
        <p:txBody>
          <a:bodyPr/>
          <a:lstStyle/>
          <a:p>
            <a:r>
              <a:rPr lang="en-GB" dirty="0"/>
              <a:t>Neuronal output: the bouton</a:t>
            </a:r>
          </a:p>
        </p:txBody>
      </p:sp>
      <p:sp>
        <p:nvSpPr>
          <p:cNvPr id="3" name="Content Placeholder 2">
            <a:extLst>
              <a:ext uri="{FF2B5EF4-FFF2-40B4-BE49-F238E27FC236}">
                <a16:creationId xmlns:a16="http://schemas.microsoft.com/office/drawing/2014/main" id="{37C69C9C-3D06-4F0E-B308-9BB34E53D823}"/>
              </a:ext>
            </a:extLst>
          </p:cNvPr>
          <p:cNvSpPr>
            <a:spLocks noGrp="1"/>
          </p:cNvSpPr>
          <p:nvPr>
            <p:ph idx="1"/>
          </p:nvPr>
        </p:nvSpPr>
        <p:spPr/>
        <p:txBody>
          <a:bodyPr/>
          <a:lstStyle/>
          <a:p>
            <a:r>
              <a:rPr lang="en-GB" dirty="0"/>
              <a:t>Majority of neuronal connections (synapses) are chemical</a:t>
            </a:r>
          </a:p>
          <a:p>
            <a:pPr lvl="1"/>
            <a:r>
              <a:rPr lang="en-GB" dirty="0"/>
              <a:t>The signal is released by the bouton in small messenger molecules </a:t>
            </a:r>
            <a:r>
              <a:rPr lang="en-GB" dirty="0">
                <a:sym typeface="Wingdings" panose="05000000000000000000" pitchFamily="2" charset="2"/>
              </a:rPr>
              <a:t> </a:t>
            </a:r>
            <a:r>
              <a:rPr lang="en-GB" b="1" dirty="0">
                <a:sym typeface="Wingdings" panose="05000000000000000000" pitchFamily="2" charset="2"/>
              </a:rPr>
              <a:t>Neurotransmitters</a:t>
            </a:r>
          </a:p>
          <a:p>
            <a:endParaRPr lang="en-GB" dirty="0">
              <a:sym typeface="Wingdings" panose="05000000000000000000" pitchFamily="2" charset="2"/>
            </a:endParaRPr>
          </a:p>
          <a:p>
            <a:r>
              <a:rPr lang="en-GB" dirty="0">
                <a:sym typeface="Wingdings" panose="05000000000000000000" pitchFamily="2" charset="2"/>
              </a:rPr>
              <a:t>Neurotransmitters</a:t>
            </a:r>
            <a:r>
              <a:rPr lang="en-GB" b="1" dirty="0">
                <a:sym typeface="Wingdings" panose="05000000000000000000" pitchFamily="2" charset="2"/>
              </a:rPr>
              <a:t> </a:t>
            </a:r>
            <a:r>
              <a:rPr lang="en-GB" dirty="0">
                <a:sym typeface="Wingdings" panose="05000000000000000000" pitchFamily="2" charset="2"/>
              </a:rPr>
              <a:t>are contained in synaptic </a:t>
            </a:r>
            <a:r>
              <a:rPr lang="en-GB" b="1" dirty="0">
                <a:sym typeface="Wingdings" panose="05000000000000000000" pitchFamily="2" charset="2"/>
              </a:rPr>
              <a:t>vesicles</a:t>
            </a:r>
          </a:p>
          <a:p>
            <a:pPr lvl="1"/>
            <a:r>
              <a:rPr lang="en-GB" dirty="0">
                <a:sym typeface="Wingdings" panose="05000000000000000000" pitchFamily="2" charset="2"/>
              </a:rPr>
              <a:t>The vesicles fuse with the membrane, releasing the neurotransmitters into the synaptic cleft</a:t>
            </a:r>
          </a:p>
          <a:p>
            <a:pPr lvl="1"/>
            <a:r>
              <a:rPr lang="en-GB" dirty="0">
                <a:sym typeface="Wingdings" panose="05000000000000000000" pitchFamily="2" charset="2"/>
              </a:rPr>
              <a:t>The </a:t>
            </a:r>
            <a:r>
              <a:rPr lang="en-GB" b="1" dirty="0">
                <a:sym typeface="Wingdings" panose="05000000000000000000" pitchFamily="2" charset="2"/>
              </a:rPr>
              <a:t>release machinery </a:t>
            </a:r>
            <a:r>
              <a:rPr lang="en-GB" dirty="0">
                <a:sym typeface="Wingdings" panose="05000000000000000000" pitchFamily="2" charset="2"/>
              </a:rPr>
              <a:t>fuses the vesicles and needs </a:t>
            </a:r>
            <a:r>
              <a:rPr lang="en-GB" b="1" dirty="0">
                <a:sym typeface="Wingdings" panose="05000000000000000000" pitchFamily="2" charset="2"/>
              </a:rPr>
              <a:t>Ca</a:t>
            </a:r>
            <a:r>
              <a:rPr lang="en-GB" b="1" baseline="30000" dirty="0">
                <a:sym typeface="Wingdings" panose="05000000000000000000" pitchFamily="2" charset="2"/>
              </a:rPr>
              <a:t>2+</a:t>
            </a:r>
            <a:r>
              <a:rPr lang="en-GB" b="1" dirty="0">
                <a:sym typeface="Wingdings" panose="05000000000000000000" pitchFamily="2" charset="2"/>
              </a:rPr>
              <a:t> channels</a:t>
            </a:r>
            <a:r>
              <a:rPr lang="en-GB" dirty="0">
                <a:sym typeface="Wingdings" panose="05000000000000000000" pitchFamily="2" charset="2"/>
              </a:rPr>
              <a:t> to work</a:t>
            </a:r>
          </a:p>
          <a:p>
            <a:pPr lvl="1"/>
            <a:r>
              <a:rPr lang="en-GB" dirty="0">
                <a:sym typeface="Wingdings" panose="05000000000000000000" pitchFamily="2" charset="2"/>
              </a:rPr>
              <a:t>The identity (</a:t>
            </a:r>
            <a:r>
              <a:rPr lang="en-GB" b="1" dirty="0">
                <a:sym typeface="Wingdings" panose="05000000000000000000" pitchFamily="2" charset="2"/>
              </a:rPr>
              <a:t>neuronal type</a:t>
            </a:r>
            <a:r>
              <a:rPr lang="en-GB" dirty="0">
                <a:sym typeface="Wingdings" panose="05000000000000000000" pitchFamily="2" charset="2"/>
              </a:rPr>
              <a:t>) of the neuron is defined by the </a:t>
            </a:r>
            <a:r>
              <a:rPr lang="en-GB" b="1" dirty="0">
                <a:sym typeface="Wingdings" panose="05000000000000000000" pitchFamily="2" charset="2"/>
              </a:rPr>
              <a:t>neurotransmitter</a:t>
            </a:r>
            <a:endParaRPr lang="en-GB" b="1" dirty="0"/>
          </a:p>
        </p:txBody>
      </p:sp>
      <p:pic>
        <p:nvPicPr>
          <p:cNvPr id="5" name="Picture 4" descr="A picture containing shape&#10;&#10;Description automatically generated">
            <a:extLst>
              <a:ext uri="{FF2B5EF4-FFF2-40B4-BE49-F238E27FC236}">
                <a16:creationId xmlns:a16="http://schemas.microsoft.com/office/drawing/2014/main" id="{2010742B-B0C2-4E69-8CE6-2AD3ADFB3B0D}"/>
              </a:ext>
            </a:extLst>
          </p:cNvPr>
          <p:cNvPicPr>
            <a:picLocks noChangeAspect="1"/>
          </p:cNvPicPr>
          <p:nvPr/>
        </p:nvPicPr>
        <p:blipFill rotWithShape="1">
          <a:blip r:embed="rId2">
            <a:extLst>
              <a:ext uri="{28A0092B-C50C-407E-A947-70E740481C1C}">
                <a14:useLocalDpi xmlns:a14="http://schemas.microsoft.com/office/drawing/2010/main" val="0"/>
              </a:ext>
            </a:extLst>
          </a:blip>
          <a:srcRect t="63092"/>
          <a:stretch/>
        </p:blipFill>
        <p:spPr>
          <a:xfrm>
            <a:off x="6236667" y="1175141"/>
            <a:ext cx="4229572" cy="2170918"/>
          </a:xfrm>
          <a:prstGeom prst="rect">
            <a:avLst/>
          </a:prstGeom>
        </p:spPr>
      </p:pic>
      <p:pic>
        <p:nvPicPr>
          <p:cNvPr id="10242" name="Picture 2" descr="Synapse Dr.Jastrow's electron microscopic atlas">
            <a:extLst>
              <a:ext uri="{FF2B5EF4-FFF2-40B4-BE49-F238E27FC236}">
                <a16:creationId xmlns:a16="http://schemas.microsoft.com/office/drawing/2014/main" id="{96278619-83D8-4220-865D-7F42659536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2417" y="3545615"/>
            <a:ext cx="3056782" cy="305081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D0E938B-70B1-45A3-B906-BD7DAEB83E62}"/>
              </a:ext>
            </a:extLst>
          </p:cNvPr>
          <p:cNvSpPr txBox="1"/>
          <p:nvPr/>
        </p:nvSpPr>
        <p:spPr>
          <a:xfrm>
            <a:off x="9119320" y="950246"/>
            <a:ext cx="1244600" cy="369332"/>
          </a:xfrm>
          <a:prstGeom prst="rect">
            <a:avLst/>
          </a:prstGeom>
          <a:noFill/>
        </p:spPr>
        <p:txBody>
          <a:bodyPr wrap="square" rtlCol="0">
            <a:spAutoFit/>
          </a:bodyPr>
          <a:lstStyle/>
          <a:p>
            <a:pPr algn="ctr"/>
            <a:r>
              <a:rPr lang="en-GB" dirty="0"/>
              <a:t>Boutons</a:t>
            </a:r>
          </a:p>
        </p:txBody>
      </p:sp>
      <p:cxnSp>
        <p:nvCxnSpPr>
          <p:cNvPr id="6" name="Straight Arrow Connector 5">
            <a:extLst>
              <a:ext uri="{FF2B5EF4-FFF2-40B4-BE49-F238E27FC236}">
                <a16:creationId xmlns:a16="http://schemas.microsoft.com/office/drawing/2014/main" id="{708FD704-AD73-4348-9BA3-D4909CA41031}"/>
              </a:ext>
            </a:extLst>
          </p:cNvPr>
          <p:cNvCxnSpPr>
            <a:cxnSpLocks/>
          </p:cNvCxnSpPr>
          <p:nvPr/>
        </p:nvCxnSpPr>
        <p:spPr>
          <a:xfrm flipV="1">
            <a:off x="6458969" y="4893087"/>
            <a:ext cx="1409991" cy="789772"/>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D81070E-C4A6-4B83-B000-A9D30152189E}"/>
              </a:ext>
            </a:extLst>
          </p:cNvPr>
          <p:cNvCxnSpPr>
            <a:cxnSpLocks/>
          </p:cNvCxnSpPr>
          <p:nvPr/>
        </p:nvCxnSpPr>
        <p:spPr>
          <a:xfrm flipV="1">
            <a:off x="6458969" y="4948929"/>
            <a:ext cx="1682217" cy="73393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6F0DBE6-8B31-4546-8288-D144C1B766DD}"/>
              </a:ext>
            </a:extLst>
          </p:cNvPr>
          <p:cNvCxnSpPr>
            <a:cxnSpLocks/>
          </p:cNvCxnSpPr>
          <p:nvPr/>
        </p:nvCxnSpPr>
        <p:spPr>
          <a:xfrm flipV="1">
            <a:off x="6458968" y="5542241"/>
            <a:ext cx="1549594" cy="140618"/>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4CE4609-1F62-4EFE-9F4B-F66942E441CB}"/>
              </a:ext>
            </a:extLst>
          </p:cNvPr>
          <p:cNvSpPr txBox="1"/>
          <p:nvPr/>
        </p:nvSpPr>
        <p:spPr>
          <a:xfrm>
            <a:off x="5661160" y="5542241"/>
            <a:ext cx="798872" cy="523220"/>
          </a:xfrm>
          <a:prstGeom prst="rect">
            <a:avLst/>
          </a:prstGeom>
          <a:noFill/>
        </p:spPr>
        <p:txBody>
          <a:bodyPr wrap="none" rtlCol="0">
            <a:spAutoFit/>
          </a:bodyPr>
          <a:lstStyle/>
          <a:p>
            <a:pPr algn="ctr"/>
            <a:r>
              <a:rPr lang="en-GB" sz="1400" dirty="0"/>
              <a:t>Synaptic</a:t>
            </a:r>
          </a:p>
          <a:p>
            <a:pPr algn="ctr"/>
            <a:r>
              <a:rPr lang="en-GB" sz="1400" dirty="0"/>
              <a:t>vesicles</a:t>
            </a:r>
          </a:p>
        </p:txBody>
      </p:sp>
    </p:spTree>
    <p:extLst>
      <p:ext uri="{BB962C8B-B14F-4D97-AF65-F5344CB8AC3E}">
        <p14:creationId xmlns:p14="http://schemas.microsoft.com/office/powerpoint/2010/main" val="1189695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A66C4-246B-4757-B653-22F7CE2606A4}"/>
              </a:ext>
            </a:extLst>
          </p:cNvPr>
          <p:cNvSpPr>
            <a:spLocks noGrp="1"/>
          </p:cNvSpPr>
          <p:nvPr>
            <p:ph type="title"/>
          </p:nvPr>
        </p:nvSpPr>
        <p:spPr/>
        <p:txBody>
          <a:bodyPr/>
          <a:lstStyle/>
          <a:p>
            <a:r>
              <a:rPr lang="en-GB" dirty="0"/>
              <a:t>Neuronal output: the bouton</a:t>
            </a:r>
          </a:p>
        </p:txBody>
      </p:sp>
      <p:sp>
        <p:nvSpPr>
          <p:cNvPr id="3" name="Content Placeholder 2">
            <a:extLst>
              <a:ext uri="{FF2B5EF4-FFF2-40B4-BE49-F238E27FC236}">
                <a16:creationId xmlns:a16="http://schemas.microsoft.com/office/drawing/2014/main" id="{37C69C9C-3D06-4F0E-B308-9BB34E53D823}"/>
              </a:ext>
            </a:extLst>
          </p:cNvPr>
          <p:cNvSpPr>
            <a:spLocks noGrp="1"/>
          </p:cNvSpPr>
          <p:nvPr>
            <p:ph idx="1"/>
          </p:nvPr>
        </p:nvSpPr>
        <p:spPr>
          <a:xfrm>
            <a:off x="2278592" y="5457070"/>
            <a:ext cx="7634817" cy="1091589"/>
          </a:xfrm>
        </p:spPr>
        <p:txBody>
          <a:bodyPr>
            <a:normAutofit/>
          </a:bodyPr>
          <a:lstStyle/>
          <a:p>
            <a:pPr marL="0" indent="0">
              <a:buNone/>
            </a:pPr>
            <a:r>
              <a:rPr lang="en-GB" dirty="0"/>
              <a:t>SNARE proteins in the release machinery forces the vesicle and the plasma membrane against each other, inducing their </a:t>
            </a:r>
            <a:r>
              <a:rPr lang="en-GB" b="1" dirty="0">
                <a:sym typeface="Wingdings" panose="05000000000000000000" pitchFamily="2" charset="2"/>
              </a:rPr>
              <a:t>Ca</a:t>
            </a:r>
            <a:r>
              <a:rPr lang="en-GB" b="1" baseline="30000" dirty="0">
                <a:sym typeface="Wingdings" panose="05000000000000000000" pitchFamily="2" charset="2"/>
              </a:rPr>
              <a:t>2+</a:t>
            </a:r>
            <a:r>
              <a:rPr lang="en-GB" b="1" dirty="0">
                <a:sym typeface="Wingdings" panose="05000000000000000000" pitchFamily="2" charset="2"/>
              </a:rPr>
              <a:t>-dependent </a:t>
            </a:r>
            <a:r>
              <a:rPr lang="en-GB" dirty="0"/>
              <a:t>fusion</a:t>
            </a:r>
          </a:p>
        </p:txBody>
      </p:sp>
      <p:pic>
        <p:nvPicPr>
          <p:cNvPr id="4" name="Picture 4" descr="SNARE (protein) - Wikipedia">
            <a:extLst>
              <a:ext uri="{FF2B5EF4-FFF2-40B4-BE49-F238E27FC236}">
                <a16:creationId xmlns:a16="http://schemas.microsoft.com/office/drawing/2014/main" id="{10A1647A-D51D-41BA-91B7-888F6BA79E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9814" y="1892175"/>
            <a:ext cx="5084554" cy="3450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2181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B9022-94D5-4938-BD20-6B3C6606589A}"/>
              </a:ext>
            </a:extLst>
          </p:cNvPr>
          <p:cNvSpPr>
            <a:spLocks noGrp="1"/>
          </p:cNvSpPr>
          <p:nvPr>
            <p:ph type="title"/>
          </p:nvPr>
        </p:nvSpPr>
        <p:spPr/>
        <p:txBody>
          <a:bodyPr/>
          <a:lstStyle/>
          <a:p>
            <a:r>
              <a:rPr lang="en-GB" dirty="0"/>
              <a:t>The neurotransmitter</a:t>
            </a:r>
          </a:p>
        </p:txBody>
      </p:sp>
      <p:sp>
        <p:nvSpPr>
          <p:cNvPr id="3" name="Content Placeholder 2">
            <a:extLst>
              <a:ext uri="{FF2B5EF4-FFF2-40B4-BE49-F238E27FC236}">
                <a16:creationId xmlns:a16="http://schemas.microsoft.com/office/drawing/2014/main" id="{F3FC7671-D759-41D2-A497-94C871EF113D}"/>
              </a:ext>
            </a:extLst>
          </p:cNvPr>
          <p:cNvSpPr>
            <a:spLocks noGrp="1"/>
          </p:cNvSpPr>
          <p:nvPr>
            <p:ph idx="1"/>
          </p:nvPr>
        </p:nvSpPr>
        <p:spPr/>
        <p:txBody>
          <a:bodyPr/>
          <a:lstStyle/>
          <a:p>
            <a:endParaRPr lang="en-GB" dirty="0"/>
          </a:p>
        </p:txBody>
      </p:sp>
      <p:pic>
        <p:nvPicPr>
          <p:cNvPr id="12290" name="Picture 2" descr="Chemical Structures of Neurotransmitters">
            <a:extLst>
              <a:ext uri="{FF2B5EF4-FFF2-40B4-BE49-F238E27FC236}">
                <a16:creationId xmlns:a16="http://schemas.microsoft.com/office/drawing/2014/main" id="{13621924-7FD9-458B-991F-E787C0CC96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08"/>
          <a:stretch/>
        </p:blipFill>
        <p:spPr bwMode="auto">
          <a:xfrm>
            <a:off x="2391742" y="1240325"/>
            <a:ext cx="7408516" cy="50616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7C893CF-28F7-44C9-BB09-BF658AD7804D}"/>
              </a:ext>
            </a:extLst>
          </p:cNvPr>
          <p:cNvSpPr txBox="1"/>
          <p:nvPr/>
        </p:nvSpPr>
        <p:spPr>
          <a:xfrm>
            <a:off x="3645529" y="6471432"/>
            <a:ext cx="4900942" cy="276999"/>
          </a:xfrm>
          <a:prstGeom prst="rect">
            <a:avLst/>
          </a:prstGeom>
          <a:noFill/>
        </p:spPr>
        <p:txBody>
          <a:bodyPr wrap="square">
            <a:spAutoFit/>
          </a:bodyPr>
          <a:lstStyle/>
          <a:p>
            <a:r>
              <a:rPr lang="en-GB" sz="1200" dirty="0"/>
              <a:t>https://www.compoundchem.com/2015/07/30/neurotransmitters/</a:t>
            </a:r>
          </a:p>
        </p:txBody>
      </p:sp>
      <p:grpSp>
        <p:nvGrpSpPr>
          <p:cNvPr id="4" name="Group 3">
            <a:extLst>
              <a:ext uri="{FF2B5EF4-FFF2-40B4-BE49-F238E27FC236}">
                <a16:creationId xmlns:a16="http://schemas.microsoft.com/office/drawing/2014/main" id="{BFB0FAB8-9ABC-4B7F-B17A-D7FD41AC5E20}"/>
              </a:ext>
            </a:extLst>
          </p:cNvPr>
          <p:cNvGrpSpPr/>
          <p:nvPr/>
        </p:nvGrpSpPr>
        <p:grpSpPr>
          <a:xfrm>
            <a:off x="2721256" y="3827975"/>
            <a:ext cx="5068196" cy="1807806"/>
            <a:chOff x="812801" y="3839028"/>
            <a:chExt cx="5656035" cy="2017486"/>
          </a:xfrm>
        </p:grpSpPr>
        <p:pic>
          <p:nvPicPr>
            <p:cNvPr id="7" name="Picture 2" descr="Chemical Structures of Neurotransmitters">
              <a:extLst>
                <a:ext uri="{FF2B5EF4-FFF2-40B4-BE49-F238E27FC236}">
                  <a16:creationId xmlns:a16="http://schemas.microsoft.com/office/drawing/2014/main" id="{471E414F-E380-4343-8CE9-716373CB5E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33" t="52816" r="72734" b="12650"/>
            <a:stretch/>
          </p:blipFill>
          <p:spPr bwMode="auto">
            <a:xfrm>
              <a:off x="812801" y="3839029"/>
              <a:ext cx="1879600" cy="201748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hemical Structures of Neurotransmitters">
              <a:extLst>
                <a:ext uri="{FF2B5EF4-FFF2-40B4-BE49-F238E27FC236}">
                  <a16:creationId xmlns:a16="http://schemas.microsoft.com/office/drawing/2014/main" id="{52578BD6-96B8-49DD-A170-071760CB45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704" t="52816" r="27354" b="12650"/>
            <a:stretch/>
          </p:blipFill>
          <p:spPr bwMode="auto">
            <a:xfrm>
              <a:off x="4572000" y="3839028"/>
              <a:ext cx="1896836" cy="201748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a:extLst>
              <a:ext uri="{FF2B5EF4-FFF2-40B4-BE49-F238E27FC236}">
                <a16:creationId xmlns:a16="http://schemas.microsoft.com/office/drawing/2014/main" id="{69B27B69-2B69-4390-A5EF-EA9DCDE58865}"/>
              </a:ext>
            </a:extLst>
          </p:cNvPr>
          <p:cNvGrpSpPr/>
          <p:nvPr/>
        </p:nvGrpSpPr>
        <p:grpSpPr>
          <a:xfrm>
            <a:off x="2494176" y="3269380"/>
            <a:ext cx="5495624" cy="579156"/>
            <a:chOff x="569990" y="3235791"/>
            <a:chExt cx="6133039" cy="646331"/>
          </a:xfrm>
        </p:grpSpPr>
        <p:sp>
          <p:nvSpPr>
            <p:cNvPr id="5" name="TextBox 4">
              <a:extLst>
                <a:ext uri="{FF2B5EF4-FFF2-40B4-BE49-F238E27FC236}">
                  <a16:creationId xmlns:a16="http://schemas.microsoft.com/office/drawing/2014/main" id="{6DD8DA5A-91B4-4F07-B409-B096B2C86844}"/>
                </a:ext>
              </a:extLst>
            </p:cNvPr>
            <p:cNvSpPr txBox="1"/>
            <p:nvPr/>
          </p:nvSpPr>
          <p:spPr>
            <a:xfrm>
              <a:off x="569990" y="3235791"/>
              <a:ext cx="2365222" cy="646331"/>
            </a:xfrm>
            <a:prstGeom prst="rect">
              <a:avLst/>
            </a:prstGeom>
            <a:noFill/>
          </p:spPr>
          <p:txBody>
            <a:bodyPr wrap="square" rtlCol="0">
              <a:spAutoFit/>
            </a:bodyPr>
            <a:lstStyle/>
            <a:p>
              <a:pPr algn="ctr"/>
              <a:r>
                <a:rPr lang="en-GB" dirty="0"/>
                <a:t>Main inhibitory</a:t>
              </a:r>
            </a:p>
            <a:p>
              <a:pPr algn="ctr"/>
              <a:r>
                <a:rPr lang="en-GB" dirty="0"/>
                <a:t>neurotransmitter </a:t>
              </a:r>
            </a:p>
          </p:txBody>
        </p:sp>
        <p:sp>
          <p:nvSpPr>
            <p:cNvPr id="10" name="TextBox 9">
              <a:extLst>
                <a:ext uri="{FF2B5EF4-FFF2-40B4-BE49-F238E27FC236}">
                  <a16:creationId xmlns:a16="http://schemas.microsoft.com/office/drawing/2014/main" id="{D5662D95-0918-4C64-8E32-F6767860E5B2}"/>
                </a:ext>
              </a:extLst>
            </p:cNvPr>
            <p:cNvSpPr txBox="1"/>
            <p:nvPr/>
          </p:nvSpPr>
          <p:spPr>
            <a:xfrm>
              <a:off x="4337807" y="3235791"/>
              <a:ext cx="2365222" cy="646331"/>
            </a:xfrm>
            <a:prstGeom prst="rect">
              <a:avLst/>
            </a:prstGeom>
            <a:noFill/>
          </p:spPr>
          <p:txBody>
            <a:bodyPr wrap="square" rtlCol="0">
              <a:spAutoFit/>
            </a:bodyPr>
            <a:lstStyle/>
            <a:p>
              <a:pPr algn="ctr"/>
              <a:r>
                <a:rPr lang="en-GB" dirty="0"/>
                <a:t>Main excitatory</a:t>
              </a:r>
            </a:p>
            <a:p>
              <a:pPr algn="ctr"/>
              <a:r>
                <a:rPr lang="en-GB" dirty="0"/>
                <a:t>neurotransmitter </a:t>
              </a:r>
            </a:p>
          </p:txBody>
        </p:sp>
      </p:grpSp>
    </p:spTree>
    <p:extLst>
      <p:ext uri="{BB962C8B-B14F-4D97-AF65-F5344CB8AC3E}">
        <p14:creationId xmlns:p14="http://schemas.microsoft.com/office/powerpoint/2010/main" val="2571364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2290"/>
                                        </p:tgtEl>
                                      </p:cBhvr>
                                    </p:animEffect>
                                    <p:set>
                                      <p:cBhvr>
                                        <p:cTn id="7" dur="1" fill="hold">
                                          <p:stCondLst>
                                            <p:cond delay="499"/>
                                          </p:stCondLst>
                                        </p:cTn>
                                        <p:tgtEl>
                                          <p:spTgt spid="12290"/>
                                        </p:tgtEl>
                                        <p:attrNameLst>
                                          <p:attrName>style.visibility</p:attrName>
                                        </p:attrNameLst>
                                      </p:cBhvr>
                                      <p:to>
                                        <p:strVal val="hidden"/>
                                      </p:to>
                                    </p:se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89482-EAC5-4914-96F1-24DFEE4E1E04}"/>
              </a:ext>
            </a:extLst>
          </p:cNvPr>
          <p:cNvSpPr>
            <a:spLocks noGrp="1"/>
          </p:cNvSpPr>
          <p:nvPr>
            <p:ph type="title"/>
          </p:nvPr>
        </p:nvSpPr>
        <p:spPr/>
        <p:txBody>
          <a:bodyPr/>
          <a:lstStyle/>
          <a:p>
            <a:r>
              <a:rPr lang="en-GB" dirty="0"/>
              <a:t>The synapse</a:t>
            </a:r>
          </a:p>
        </p:txBody>
      </p:sp>
      <p:sp>
        <p:nvSpPr>
          <p:cNvPr id="3" name="Content Placeholder 2">
            <a:extLst>
              <a:ext uri="{FF2B5EF4-FFF2-40B4-BE49-F238E27FC236}">
                <a16:creationId xmlns:a16="http://schemas.microsoft.com/office/drawing/2014/main" id="{A91631F4-3B29-4A75-9B0C-4D6D3824B6E3}"/>
              </a:ext>
            </a:extLst>
          </p:cNvPr>
          <p:cNvSpPr>
            <a:spLocks noGrp="1"/>
          </p:cNvSpPr>
          <p:nvPr>
            <p:ph idx="1"/>
          </p:nvPr>
        </p:nvSpPr>
        <p:spPr/>
        <p:txBody>
          <a:bodyPr/>
          <a:lstStyle/>
          <a:p>
            <a:r>
              <a:rPr lang="en-GB" b="1" dirty="0"/>
              <a:t>Boutons</a:t>
            </a:r>
            <a:r>
              <a:rPr lang="en-GB" dirty="0"/>
              <a:t> are the </a:t>
            </a:r>
            <a:r>
              <a:rPr lang="en-GB" b="1" dirty="0"/>
              <a:t>presynaptic</a:t>
            </a:r>
            <a:r>
              <a:rPr lang="en-GB" dirty="0"/>
              <a:t> components of the synapse</a:t>
            </a:r>
          </a:p>
          <a:p>
            <a:pPr lvl="1"/>
            <a:r>
              <a:rPr lang="en-GB" dirty="0"/>
              <a:t>Neurotransmitters are released in the synaptic cleft</a:t>
            </a:r>
          </a:p>
          <a:p>
            <a:r>
              <a:rPr lang="en-GB" b="1" dirty="0"/>
              <a:t>Dendritic spines </a:t>
            </a:r>
            <a:r>
              <a:rPr lang="en-GB" dirty="0"/>
              <a:t>are the </a:t>
            </a:r>
            <a:r>
              <a:rPr lang="en-GB" b="1" dirty="0"/>
              <a:t>postsynaptic</a:t>
            </a:r>
            <a:r>
              <a:rPr lang="en-GB" dirty="0"/>
              <a:t> components of the synapse</a:t>
            </a:r>
          </a:p>
          <a:p>
            <a:pPr lvl="1"/>
            <a:r>
              <a:rPr lang="en-GB" dirty="0"/>
              <a:t>The neurotransmitters bind to ligand-gated ion channels and metabotropic receptors</a:t>
            </a:r>
          </a:p>
          <a:p>
            <a:endParaRPr lang="en-GB" dirty="0"/>
          </a:p>
        </p:txBody>
      </p:sp>
      <p:pic>
        <p:nvPicPr>
          <p:cNvPr id="5" name="Picture 3" descr="D:\kuloth\2014\March\06-03-2014\nrn_aop\slides_img\nrn3708-f1.jpg">
            <a:extLst>
              <a:ext uri="{FF2B5EF4-FFF2-40B4-BE49-F238E27FC236}">
                <a16:creationId xmlns:a16="http://schemas.microsoft.com/office/drawing/2014/main" id="{6DE52DBC-E216-404D-8F23-6480CB6E06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5083"/>
          <a:stretch/>
        </p:blipFill>
        <p:spPr bwMode="auto">
          <a:xfrm>
            <a:off x="7128388" y="1012181"/>
            <a:ext cx="4362685" cy="4833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D:\kuloth\2014\March\06-03-2014\nrn_aop\slides_img\nrn3708-f1.jpg">
            <a:extLst>
              <a:ext uri="{FF2B5EF4-FFF2-40B4-BE49-F238E27FC236}">
                <a16:creationId xmlns:a16="http://schemas.microsoft.com/office/drawing/2014/main" id="{15873367-25DD-463B-8713-97B0659C573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53725" r="45083"/>
          <a:stretch/>
        </p:blipFill>
        <p:spPr bwMode="auto">
          <a:xfrm>
            <a:off x="7128388" y="3606801"/>
            <a:ext cx="4362685" cy="2236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A9BC33D3-EFC5-4ABF-AD32-95EE6005441B}"/>
              </a:ext>
            </a:extLst>
          </p:cNvPr>
          <p:cNvSpPr txBox="1"/>
          <p:nvPr/>
        </p:nvSpPr>
        <p:spPr>
          <a:xfrm>
            <a:off x="7365454" y="5740401"/>
            <a:ext cx="4168678" cy="276999"/>
          </a:xfrm>
          <a:prstGeom prst="rect">
            <a:avLst/>
          </a:prstGeom>
          <a:noFill/>
        </p:spPr>
        <p:txBody>
          <a:bodyPr wrap="square" rtlCol="0">
            <a:spAutoFit/>
          </a:bodyPr>
          <a:lstStyle/>
          <a:p>
            <a:r>
              <a:rPr lang="fr-FR" sz="1200" i="1" dirty="0"/>
              <a:t>Nature Reviews Neuroscience</a:t>
            </a:r>
            <a:r>
              <a:rPr lang="fr-FR" sz="1200" dirty="0"/>
              <a:t> </a:t>
            </a:r>
            <a:r>
              <a:rPr lang="fr-FR" sz="1200" b="1" dirty="0"/>
              <a:t>volume15</a:t>
            </a:r>
            <a:r>
              <a:rPr lang="fr-FR" sz="1200" dirty="0"/>
              <a:t>, pages 250–263 (2014)</a:t>
            </a:r>
            <a:endParaRPr lang="en-GB" sz="1200" dirty="0"/>
          </a:p>
        </p:txBody>
      </p:sp>
      <p:grpSp>
        <p:nvGrpSpPr>
          <p:cNvPr id="4" name="Group 3">
            <a:extLst>
              <a:ext uri="{FF2B5EF4-FFF2-40B4-BE49-F238E27FC236}">
                <a16:creationId xmlns:a16="http://schemas.microsoft.com/office/drawing/2014/main" id="{92AAEB72-3CFD-416A-9181-463821B2D7D1}"/>
              </a:ext>
            </a:extLst>
          </p:cNvPr>
          <p:cNvGrpSpPr/>
          <p:nvPr/>
        </p:nvGrpSpPr>
        <p:grpSpPr>
          <a:xfrm>
            <a:off x="2669005" y="4171627"/>
            <a:ext cx="4577915" cy="2328468"/>
            <a:chOff x="223895" y="3928278"/>
            <a:chExt cx="4577915" cy="2328468"/>
          </a:xfrm>
        </p:grpSpPr>
        <p:grpSp>
          <p:nvGrpSpPr>
            <p:cNvPr id="14" name="Group 13">
              <a:extLst>
                <a:ext uri="{FF2B5EF4-FFF2-40B4-BE49-F238E27FC236}">
                  <a16:creationId xmlns:a16="http://schemas.microsoft.com/office/drawing/2014/main" id="{60556957-A45D-4918-8902-24DF4F4515E5}"/>
                </a:ext>
              </a:extLst>
            </p:cNvPr>
            <p:cNvGrpSpPr/>
            <p:nvPr/>
          </p:nvGrpSpPr>
          <p:grpSpPr>
            <a:xfrm>
              <a:off x="223895" y="3928278"/>
              <a:ext cx="4577915" cy="2089121"/>
              <a:chOff x="223895" y="3928278"/>
              <a:chExt cx="4577915" cy="2089121"/>
            </a:xfrm>
          </p:grpSpPr>
          <p:pic>
            <p:nvPicPr>
              <p:cNvPr id="12" name="Picture 11" descr="A picture containing shape&#10;&#10;Description automatically generated">
                <a:extLst>
                  <a:ext uri="{FF2B5EF4-FFF2-40B4-BE49-F238E27FC236}">
                    <a16:creationId xmlns:a16="http://schemas.microsoft.com/office/drawing/2014/main" id="{FD9EEBB1-4ECC-49D5-9C36-6E083BEF1FFC}"/>
                  </a:ext>
                </a:extLst>
              </p:cNvPr>
              <p:cNvPicPr>
                <a:picLocks noChangeAspect="1"/>
              </p:cNvPicPr>
              <p:nvPr/>
            </p:nvPicPr>
            <p:blipFill rotWithShape="1">
              <a:blip r:embed="rId5">
                <a:extLst>
                  <a:ext uri="{28A0092B-C50C-407E-A947-70E740481C1C}">
                    <a14:useLocalDpi xmlns:a14="http://schemas.microsoft.com/office/drawing/2010/main" val="0"/>
                  </a:ext>
                </a:extLst>
              </a:blip>
              <a:srcRect b="64482"/>
              <a:stretch/>
            </p:blipFill>
            <p:spPr>
              <a:xfrm>
                <a:off x="223895" y="3928278"/>
                <a:ext cx="4229572" cy="2089121"/>
              </a:xfrm>
              <a:prstGeom prst="rect">
                <a:avLst/>
              </a:prstGeom>
            </p:spPr>
          </p:pic>
          <p:sp>
            <p:nvSpPr>
              <p:cNvPr id="13" name="Freeform: Shape 12">
                <a:extLst>
                  <a:ext uri="{FF2B5EF4-FFF2-40B4-BE49-F238E27FC236}">
                    <a16:creationId xmlns:a16="http://schemas.microsoft.com/office/drawing/2014/main" id="{383C9DDF-B0FA-4C01-909E-9F3C2A935A80}"/>
                  </a:ext>
                </a:extLst>
              </p:cNvPr>
              <p:cNvSpPr/>
              <p:nvPr/>
            </p:nvSpPr>
            <p:spPr>
              <a:xfrm>
                <a:off x="4124477" y="4031636"/>
                <a:ext cx="677333" cy="223468"/>
              </a:xfrm>
              <a:custGeom>
                <a:avLst/>
                <a:gdLst>
                  <a:gd name="connsiteX0" fmla="*/ 0 w 677333"/>
                  <a:gd name="connsiteY0" fmla="*/ 223468 h 223468"/>
                  <a:gd name="connsiteX1" fmla="*/ 254000 w 677333"/>
                  <a:gd name="connsiteY1" fmla="*/ 11802 h 223468"/>
                  <a:gd name="connsiteX2" fmla="*/ 677333 w 677333"/>
                  <a:gd name="connsiteY2" fmla="*/ 45668 h 223468"/>
                </a:gdLst>
                <a:ahLst/>
                <a:cxnLst>
                  <a:cxn ang="0">
                    <a:pos x="connsiteX0" y="connsiteY0"/>
                  </a:cxn>
                  <a:cxn ang="0">
                    <a:pos x="connsiteX1" y="connsiteY1"/>
                  </a:cxn>
                  <a:cxn ang="0">
                    <a:pos x="connsiteX2" y="connsiteY2"/>
                  </a:cxn>
                </a:cxnLst>
                <a:rect l="l" t="t" r="r" b="b"/>
                <a:pathLst>
                  <a:path w="677333" h="223468">
                    <a:moveTo>
                      <a:pt x="0" y="223468"/>
                    </a:moveTo>
                    <a:cubicBezTo>
                      <a:pt x="70555" y="132451"/>
                      <a:pt x="141111" y="41435"/>
                      <a:pt x="254000" y="11802"/>
                    </a:cubicBezTo>
                    <a:cubicBezTo>
                      <a:pt x="366889" y="-17831"/>
                      <a:pt x="522111" y="13918"/>
                      <a:pt x="677333" y="45668"/>
                    </a:cubicBezTo>
                  </a:path>
                </a:pathLst>
              </a:custGeom>
              <a:noFill/>
              <a:ln w="38100">
                <a:solidFill>
                  <a:schemeClr val="accent2">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6" name="TextBox 15">
              <a:extLst>
                <a:ext uri="{FF2B5EF4-FFF2-40B4-BE49-F238E27FC236}">
                  <a16:creationId xmlns:a16="http://schemas.microsoft.com/office/drawing/2014/main" id="{45FB6D1C-7707-441C-934C-BEB5FCFB43F4}"/>
                </a:ext>
              </a:extLst>
            </p:cNvPr>
            <p:cNvSpPr txBox="1"/>
            <p:nvPr/>
          </p:nvSpPr>
          <p:spPr>
            <a:xfrm>
              <a:off x="3103034" y="5610415"/>
              <a:ext cx="1244600" cy="646331"/>
            </a:xfrm>
            <a:prstGeom prst="rect">
              <a:avLst/>
            </a:prstGeom>
            <a:noFill/>
          </p:spPr>
          <p:txBody>
            <a:bodyPr wrap="square" rtlCol="0">
              <a:spAutoFit/>
            </a:bodyPr>
            <a:lstStyle/>
            <a:p>
              <a:pPr algn="ctr"/>
              <a:r>
                <a:rPr lang="en-GB" dirty="0"/>
                <a:t>Dendritic</a:t>
              </a:r>
            </a:p>
            <a:p>
              <a:pPr algn="ctr"/>
              <a:r>
                <a:rPr lang="en-GB" dirty="0"/>
                <a:t>spines</a:t>
              </a:r>
            </a:p>
          </p:txBody>
        </p:sp>
      </p:grpSp>
      <p:sp>
        <p:nvSpPr>
          <p:cNvPr id="7" name="TextBox 6">
            <a:extLst>
              <a:ext uri="{FF2B5EF4-FFF2-40B4-BE49-F238E27FC236}">
                <a16:creationId xmlns:a16="http://schemas.microsoft.com/office/drawing/2014/main" id="{A1D24705-C57F-4938-9B1B-4C2E71919E6A}"/>
              </a:ext>
            </a:extLst>
          </p:cNvPr>
          <p:cNvSpPr txBox="1"/>
          <p:nvPr/>
        </p:nvSpPr>
        <p:spPr>
          <a:xfrm>
            <a:off x="8164749" y="3466614"/>
            <a:ext cx="785899" cy="461665"/>
          </a:xfrm>
          <a:prstGeom prst="rect">
            <a:avLst/>
          </a:prstGeom>
          <a:noFill/>
        </p:spPr>
        <p:txBody>
          <a:bodyPr wrap="square" rtlCol="0">
            <a:spAutoFit/>
          </a:bodyPr>
          <a:lstStyle/>
          <a:p>
            <a:pPr algn="ctr"/>
            <a:r>
              <a:rPr lang="en-GB" sz="1200" dirty="0">
                <a:solidFill>
                  <a:schemeClr val="accent4">
                    <a:lumMod val="75000"/>
                  </a:schemeClr>
                </a:solidFill>
              </a:rPr>
              <a:t>Synaptic</a:t>
            </a:r>
            <a:br>
              <a:rPr lang="en-GB" sz="1200" dirty="0">
                <a:solidFill>
                  <a:schemeClr val="accent4">
                    <a:lumMod val="75000"/>
                  </a:schemeClr>
                </a:solidFill>
              </a:rPr>
            </a:br>
            <a:r>
              <a:rPr lang="en-GB" sz="1200" dirty="0">
                <a:solidFill>
                  <a:schemeClr val="accent4">
                    <a:lumMod val="75000"/>
                  </a:schemeClr>
                </a:solidFill>
              </a:rPr>
              <a:t>cleft</a:t>
            </a:r>
          </a:p>
        </p:txBody>
      </p:sp>
      <p:sp>
        <p:nvSpPr>
          <p:cNvPr id="9" name="Freeform: Shape 8">
            <a:extLst>
              <a:ext uri="{FF2B5EF4-FFF2-40B4-BE49-F238E27FC236}">
                <a16:creationId xmlns:a16="http://schemas.microsoft.com/office/drawing/2014/main" id="{840517B2-7942-432F-B9D6-9BD877E862C8}"/>
              </a:ext>
            </a:extLst>
          </p:cNvPr>
          <p:cNvSpPr/>
          <p:nvPr/>
        </p:nvSpPr>
        <p:spPr>
          <a:xfrm>
            <a:off x="7625554" y="3459711"/>
            <a:ext cx="2969415" cy="580928"/>
          </a:xfrm>
          <a:custGeom>
            <a:avLst/>
            <a:gdLst>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313820 w 2969415"/>
              <a:gd name="connsiteY15" fmla="*/ 4918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313820 w 2969415"/>
              <a:gd name="connsiteY15" fmla="*/ 491804 h 575393"/>
              <a:gd name="connsiteX16" fmla="*/ 25348 w 2969415"/>
              <a:gd name="connsiteY16" fmla="*/ 473661 h 575393"/>
              <a:gd name="connsiteX17" fmla="*/ 18091 w 2969415"/>
              <a:gd name="connsiteY17" fmla="*/ 81776 h 575393"/>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7184 w 2969415"/>
              <a:gd name="connsiteY10" fmla="*/ 52899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69415" h="580928">
                <a:moveTo>
                  <a:pt x="18091" y="81776"/>
                </a:moveTo>
                <a:cubicBezTo>
                  <a:pt x="72520" y="103396"/>
                  <a:pt x="125739" y="95081"/>
                  <a:pt x="199520" y="89033"/>
                </a:cubicBezTo>
                <a:cubicBezTo>
                  <a:pt x="273301" y="82985"/>
                  <a:pt x="315634" y="58795"/>
                  <a:pt x="460777" y="45490"/>
                </a:cubicBezTo>
                <a:cubicBezTo>
                  <a:pt x="605920" y="32185"/>
                  <a:pt x="862339" y="16461"/>
                  <a:pt x="1070377" y="9204"/>
                </a:cubicBezTo>
                <a:cubicBezTo>
                  <a:pt x="1278415" y="1947"/>
                  <a:pt x="1504596" y="-2891"/>
                  <a:pt x="1709005" y="1947"/>
                </a:cubicBezTo>
                <a:cubicBezTo>
                  <a:pt x="1913414" y="6785"/>
                  <a:pt x="2140806" y="26138"/>
                  <a:pt x="2296834" y="38233"/>
                </a:cubicBezTo>
                <a:cubicBezTo>
                  <a:pt x="2452862" y="50328"/>
                  <a:pt x="2548415" y="63633"/>
                  <a:pt x="2645177" y="74519"/>
                </a:cubicBezTo>
                <a:cubicBezTo>
                  <a:pt x="2741939" y="85405"/>
                  <a:pt x="2830234" y="98709"/>
                  <a:pt x="2877405" y="103547"/>
                </a:cubicBezTo>
                <a:cubicBezTo>
                  <a:pt x="2924576" y="108385"/>
                  <a:pt x="2841119" y="101733"/>
                  <a:pt x="2928205" y="103547"/>
                </a:cubicBezTo>
                <a:cubicBezTo>
                  <a:pt x="2939091" y="168861"/>
                  <a:pt x="3005615" y="427700"/>
                  <a:pt x="2942720" y="495433"/>
                </a:cubicBezTo>
                <a:cubicBezTo>
                  <a:pt x="2844900" y="496491"/>
                  <a:pt x="2678137" y="519321"/>
                  <a:pt x="2557184" y="528997"/>
                </a:cubicBezTo>
                <a:cubicBezTo>
                  <a:pt x="2436232" y="538673"/>
                  <a:pt x="2363206" y="545779"/>
                  <a:pt x="2217005" y="553490"/>
                </a:cubicBezTo>
                <a:cubicBezTo>
                  <a:pt x="2070804" y="561201"/>
                  <a:pt x="1846891" y="571406"/>
                  <a:pt x="1679977" y="575261"/>
                </a:cubicBezTo>
                <a:cubicBezTo>
                  <a:pt x="1513063" y="579116"/>
                  <a:pt x="1398158" y="585089"/>
                  <a:pt x="1215520" y="576622"/>
                </a:cubicBezTo>
                <a:cubicBezTo>
                  <a:pt x="1032882" y="568155"/>
                  <a:pt x="734431" y="538597"/>
                  <a:pt x="584148" y="524461"/>
                </a:cubicBezTo>
                <a:cubicBezTo>
                  <a:pt x="433865" y="510325"/>
                  <a:pt x="432353" y="509796"/>
                  <a:pt x="313820" y="491804"/>
                </a:cubicBezTo>
                <a:cubicBezTo>
                  <a:pt x="220687" y="483337"/>
                  <a:pt x="148417" y="485756"/>
                  <a:pt x="25348" y="473661"/>
                </a:cubicBezTo>
                <a:cubicBezTo>
                  <a:pt x="-2471" y="410766"/>
                  <a:pt x="-10938" y="145881"/>
                  <a:pt x="18091" y="81776"/>
                </a:cubicBezTo>
                <a:close/>
              </a:path>
            </a:pathLst>
          </a:custGeom>
          <a:solidFill>
            <a:schemeClr val="accent4">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4">
                  <a:lumMod val="75000"/>
                </a:schemeClr>
              </a:solidFill>
            </a:endParaRPr>
          </a:p>
        </p:txBody>
      </p:sp>
    </p:spTree>
    <p:extLst>
      <p:ext uri="{BB962C8B-B14F-4D97-AF65-F5344CB8AC3E}">
        <p14:creationId xmlns:p14="http://schemas.microsoft.com/office/powerpoint/2010/main" val="2728036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C4C0B-5CFA-41D7-905D-AF430079A3C2}"/>
              </a:ext>
            </a:extLst>
          </p:cNvPr>
          <p:cNvSpPr>
            <a:spLocks noGrp="1"/>
          </p:cNvSpPr>
          <p:nvPr>
            <p:ph type="title"/>
          </p:nvPr>
        </p:nvSpPr>
        <p:spPr/>
        <p:txBody>
          <a:bodyPr/>
          <a:lstStyle/>
          <a:p>
            <a:r>
              <a:rPr lang="en-GB" dirty="0"/>
              <a:t>The Postsynaptic Density</a:t>
            </a:r>
          </a:p>
        </p:txBody>
      </p:sp>
      <p:sp>
        <p:nvSpPr>
          <p:cNvPr id="3" name="Content Placeholder 2">
            <a:extLst>
              <a:ext uri="{FF2B5EF4-FFF2-40B4-BE49-F238E27FC236}">
                <a16:creationId xmlns:a16="http://schemas.microsoft.com/office/drawing/2014/main" id="{6D7C7EFA-1EC6-4EA3-A5F3-8DED78057404}"/>
              </a:ext>
            </a:extLst>
          </p:cNvPr>
          <p:cNvSpPr>
            <a:spLocks noGrp="1"/>
          </p:cNvSpPr>
          <p:nvPr>
            <p:ph idx="1"/>
          </p:nvPr>
        </p:nvSpPr>
        <p:spPr>
          <a:xfrm>
            <a:off x="320617" y="1262269"/>
            <a:ext cx="5766620" cy="5046514"/>
          </a:xfrm>
        </p:spPr>
        <p:txBody>
          <a:bodyPr>
            <a:normAutofit fontScale="70000" lnSpcReduction="20000"/>
          </a:bodyPr>
          <a:lstStyle/>
          <a:p>
            <a:r>
              <a:rPr lang="en-GB" dirty="0"/>
              <a:t>Ion channels (ionotropic)</a:t>
            </a:r>
          </a:p>
          <a:p>
            <a:pPr lvl="1"/>
            <a:r>
              <a:rPr lang="en-GB" b="1" dirty="0">
                <a:solidFill>
                  <a:schemeClr val="accent1"/>
                </a:solidFill>
              </a:rPr>
              <a:t>NMDARs, AMPARs, KainateR</a:t>
            </a:r>
          </a:p>
          <a:p>
            <a:pPr lvl="1"/>
            <a:r>
              <a:rPr lang="en-GB" b="1" dirty="0">
                <a:solidFill>
                  <a:schemeClr val="accent6">
                    <a:lumMod val="75000"/>
                  </a:schemeClr>
                </a:solidFill>
              </a:rPr>
              <a:t>GABA</a:t>
            </a:r>
            <a:r>
              <a:rPr lang="en-GB" b="1" baseline="-25000" dirty="0">
                <a:solidFill>
                  <a:schemeClr val="accent6">
                    <a:lumMod val="75000"/>
                  </a:schemeClr>
                </a:solidFill>
              </a:rPr>
              <a:t>A</a:t>
            </a:r>
            <a:r>
              <a:rPr lang="en-GB" dirty="0"/>
              <a:t> </a:t>
            </a:r>
            <a:r>
              <a:rPr lang="en-GB" b="1" dirty="0">
                <a:solidFill>
                  <a:schemeClr val="accent6">
                    <a:lumMod val="75000"/>
                  </a:schemeClr>
                </a:solidFill>
              </a:rPr>
              <a:t>receptors</a:t>
            </a:r>
          </a:p>
          <a:p>
            <a:pPr lvl="1"/>
            <a:r>
              <a:rPr lang="en-GB" dirty="0"/>
              <a:t>Voltage-gated ion channels (Ca</a:t>
            </a:r>
            <a:r>
              <a:rPr lang="en-GB" baseline="30000" dirty="0"/>
              <a:t>2+</a:t>
            </a:r>
            <a:r>
              <a:rPr lang="en-GB" dirty="0"/>
              <a:t>, K</a:t>
            </a:r>
            <a:r>
              <a:rPr lang="en-GB" baseline="30000" dirty="0"/>
              <a:t>+</a:t>
            </a:r>
            <a:r>
              <a:rPr lang="en-GB" dirty="0"/>
              <a:t>, Na</a:t>
            </a:r>
            <a:r>
              <a:rPr lang="en-GB" baseline="30000" dirty="0"/>
              <a:t>+</a:t>
            </a:r>
            <a:r>
              <a:rPr lang="en-GB" dirty="0"/>
              <a:t>)</a:t>
            </a:r>
          </a:p>
          <a:p>
            <a:r>
              <a:rPr lang="en-GB" dirty="0"/>
              <a:t>GPCRs/TKRs</a:t>
            </a:r>
          </a:p>
          <a:p>
            <a:pPr lvl="1"/>
            <a:r>
              <a:rPr lang="en-GB" b="1" dirty="0"/>
              <a:t>Catecholamine receptors </a:t>
            </a:r>
            <a:r>
              <a:rPr lang="en-GB" dirty="0"/>
              <a:t>(Dopamine, Noradrenaline)</a:t>
            </a:r>
          </a:p>
          <a:p>
            <a:pPr lvl="1"/>
            <a:r>
              <a:rPr lang="en-GB" dirty="0"/>
              <a:t>Serotonin Receptors</a:t>
            </a:r>
          </a:p>
          <a:p>
            <a:pPr lvl="1"/>
            <a:r>
              <a:rPr lang="en-GB" b="1" dirty="0">
                <a:solidFill>
                  <a:schemeClr val="accent1">
                    <a:lumMod val="75000"/>
                  </a:schemeClr>
                </a:solidFill>
              </a:rPr>
              <a:t>Glutamate metabotropic receptors</a:t>
            </a:r>
            <a:endParaRPr lang="en-GB" dirty="0"/>
          </a:p>
          <a:p>
            <a:pPr lvl="1"/>
            <a:r>
              <a:rPr lang="en-GB" b="1" dirty="0">
                <a:solidFill>
                  <a:schemeClr val="accent6">
                    <a:lumMod val="75000"/>
                  </a:schemeClr>
                </a:solidFill>
              </a:rPr>
              <a:t>GABA</a:t>
            </a:r>
            <a:r>
              <a:rPr lang="en-GB" b="1" baseline="-25000" dirty="0">
                <a:solidFill>
                  <a:schemeClr val="accent6">
                    <a:lumMod val="75000"/>
                  </a:schemeClr>
                </a:solidFill>
              </a:rPr>
              <a:t>B</a:t>
            </a:r>
            <a:r>
              <a:rPr lang="en-GB" dirty="0"/>
              <a:t> </a:t>
            </a:r>
            <a:r>
              <a:rPr lang="en-GB" b="1" dirty="0">
                <a:solidFill>
                  <a:schemeClr val="accent6">
                    <a:lumMod val="75000"/>
                  </a:schemeClr>
                </a:solidFill>
              </a:rPr>
              <a:t>metabotropic receptors</a:t>
            </a:r>
          </a:p>
          <a:p>
            <a:pPr lvl="1"/>
            <a:r>
              <a:rPr lang="en-GB" dirty="0"/>
              <a:t>TrKB/BDNF</a:t>
            </a:r>
          </a:p>
          <a:p>
            <a:r>
              <a:rPr lang="en-GB" dirty="0"/>
              <a:t>Transporters</a:t>
            </a:r>
          </a:p>
          <a:p>
            <a:r>
              <a:rPr lang="en-GB" dirty="0"/>
              <a:t>Kinases/phosphatases</a:t>
            </a:r>
          </a:p>
          <a:p>
            <a:pPr lvl="1"/>
            <a:r>
              <a:rPr lang="en-GB" b="1" dirty="0"/>
              <a:t>CaMKII</a:t>
            </a:r>
          </a:p>
          <a:p>
            <a:pPr lvl="1"/>
            <a:r>
              <a:rPr lang="en-GB" b="1" dirty="0"/>
              <a:t>PKA</a:t>
            </a:r>
          </a:p>
          <a:p>
            <a:pPr lvl="1"/>
            <a:r>
              <a:rPr lang="en-GB" dirty="0"/>
              <a:t>PKC</a:t>
            </a:r>
          </a:p>
          <a:p>
            <a:pPr lvl="1"/>
            <a:r>
              <a:rPr lang="en-GB" dirty="0"/>
              <a:t>Src</a:t>
            </a:r>
          </a:p>
          <a:p>
            <a:pPr lvl="1"/>
            <a:r>
              <a:rPr lang="en-GB" b="1" dirty="0"/>
              <a:t>ERK</a:t>
            </a:r>
          </a:p>
          <a:p>
            <a:pPr lvl="1"/>
            <a:r>
              <a:rPr lang="en-GB" dirty="0"/>
              <a:t>PDEs</a:t>
            </a:r>
          </a:p>
          <a:p>
            <a:pPr lvl="1"/>
            <a:r>
              <a:rPr lang="en-GB" dirty="0"/>
              <a:t>PP-1</a:t>
            </a:r>
          </a:p>
          <a:p>
            <a:r>
              <a:rPr lang="en-GB" dirty="0"/>
              <a:t>Adaptor proteins</a:t>
            </a:r>
          </a:p>
          <a:p>
            <a:pPr lvl="1"/>
            <a:r>
              <a:rPr lang="en-GB" b="1" dirty="0"/>
              <a:t>PSD-95</a:t>
            </a:r>
            <a:r>
              <a:rPr lang="en-GB" dirty="0"/>
              <a:t>/PSD-93</a:t>
            </a:r>
          </a:p>
          <a:p>
            <a:pPr lvl="1"/>
            <a:r>
              <a:rPr lang="en-GB" dirty="0"/>
              <a:t>Homer</a:t>
            </a:r>
          </a:p>
          <a:p>
            <a:pPr lvl="1"/>
            <a:r>
              <a:rPr lang="en-GB" dirty="0"/>
              <a:t>Shank</a:t>
            </a:r>
          </a:p>
          <a:p>
            <a:r>
              <a:rPr lang="en-GB" dirty="0"/>
              <a:t>Cytoskeleton proteins</a:t>
            </a:r>
          </a:p>
        </p:txBody>
      </p:sp>
      <p:pic>
        <p:nvPicPr>
          <p:cNvPr id="9" name="Picture 3" descr="D:\kuloth\2014\March\06-03-2014\nrn_aop\slides_img\nrn3708-f1.jpg">
            <a:extLst>
              <a:ext uri="{FF2B5EF4-FFF2-40B4-BE49-F238E27FC236}">
                <a16:creationId xmlns:a16="http://schemas.microsoft.com/office/drawing/2014/main" id="{8B6F00BA-E781-494D-8F70-9FD5F8E3C29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5083"/>
          <a:stretch/>
        </p:blipFill>
        <p:spPr bwMode="auto">
          <a:xfrm>
            <a:off x="7128000" y="1012181"/>
            <a:ext cx="4362685" cy="4833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374DBE08-29D6-4FA4-B14C-B08B11A57A53}"/>
              </a:ext>
            </a:extLst>
          </p:cNvPr>
          <p:cNvSpPr txBox="1"/>
          <p:nvPr/>
        </p:nvSpPr>
        <p:spPr>
          <a:xfrm>
            <a:off x="6333067" y="5740401"/>
            <a:ext cx="4168678" cy="276999"/>
          </a:xfrm>
          <a:prstGeom prst="rect">
            <a:avLst/>
          </a:prstGeom>
          <a:noFill/>
        </p:spPr>
        <p:txBody>
          <a:bodyPr wrap="square" rtlCol="0">
            <a:spAutoFit/>
          </a:bodyPr>
          <a:lstStyle/>
          <a:p>
            <a:r>
              <a:rPr lang="fr-FR" sz="1200" i="1" dirty="0"/>
              <a:t>Nature Reviews Neuroscience</a:t>
            </a:r>
            <a:r>
              <a:rPr lang="fr-FR" sz="1200" dirty="0"/>
              <a:t> </a:t>
            </a:r>
            <a:r>
              <a:rPr lang="fr-FR" sz="1200" b="1" dirty="0"/>
              <a:t>volume15</a:t>
            </a:r>
            <a:r>
              <a:rPr lang="fr-FR" sz="1200" dirty="0"/>
              <a:t>, pages 250–263 (2014)</a:t>
            </a:r>
            <a:endParaRPr lang="en-GB" sz="1200" dirty="0"/>
          </a:p>
        </p:txBody>
      </p:sp>
      <p:sp>
        <p:nvSpPr>
          <p:cNvPr id="5" name="Freeform: Shape 4">
            <a:extLst>
              <a:ext uri="{FF2B5EF4-FFF2-40B4-BE49-F238E27FC236}">
                <a16:creationId xmlns:a16="http://schemas.microsoft.com/office/drawing/2014/main" id="{FB69E54C-DF27-4B89-A29D-5CBA6B4D8316}"/>
              </a:ext>
            </a:extLst>
          </p:cNvPr>
          <p:cNvSpPr/>
          <p:nvPr/>
        </p:nvSpPr>
        <p:spPr>
          <a:xfrm>
            <a:off x="7611710" y="4011688"/>
            <a:ext cx="3157756" cy="388340"/>
          </a:xfrm>
          <a:custGeom>
            <a:avLst/>
            <a:gdLst>
              <a:gd name="connsiteX0" fmla="*/ 48227 w 3114403"/>
              <a:gd name="connsiteY0" fmla="*/ 922 h 371013"/>
              <a:gd name="connsiteX1" fmla="*/ 530827 w 3114403"/>
              <a:gd name="connsiteY1" fmla="*/ 60189 h 371013"/>
              <a:gd name="connsiteX2" fmla="*/ 1284361 w 3114403"/>
              <a:gd name="connsiteY2" fmla="*/ 94055 h 371013"/>
              <a:gd name="connsiteX3" fmla="*/ 1792361 w 3114403"/>
              <a:gd name="connsiteY3" fmla="*/ 94055 h 371013"/>
              <a:gd name="connsiteX4" fmla="*/ 2198761 w 3114403"/>
              <a:gd name="connsiteY4" fmla="*/ 60189 h 371013"/>
              <a:gd name="connsiteX5" fmla="*/ 2766027 w 3114403"/>
              <a:gd name="connsiteY5" fmla="*/ 9389 h 371013"/>
              <a:gd name="connsiteX6" fmla="*/ 2926894 w 3114403"/>
              <a:gd name="connsiteY6" fmla="*/ 17855 h 371013"/>
              <a:gd name="connsiteX7" fmla="*/ 3113161 w 3114403"/>
              <a:gd name="connsiteY7" fmla="*/ 136389 h 371013"/>
              <a:gd name="connsiteX8" fmla="*/ 2969227 w 3114403"/>
              <a:gd name="connsiteY8" fmla="*/ 263389 h 371013"/>
              <a:gd name="connsiteX9" fmla="*/ 2325761 w 3114403"/>
              <a:gd name="connsiteY9" fmla="*/ 356522 h 371013"/>
              <a:gd name="connsiteX10" fmla="*/ 1639961 w 3114403"/>
              <a:gd name="connsiteY10" fmla="*/ 356522 h 371013"/>
              <a:gd name="connsiteX11" fmla="*/ 988027 w 3114403"/>
              <a:gd name="connsiteY11" fmla="*/ 364989 h 371013"/>
              <a:gd name="connsiteX12" fmla="*/ 107494 w 3114403"/>
              <a:gd name="connsiteY12" fmla="*/ 254922 h 371013"/>
              <a:gd name="connsiteX13" fmla="*/ 22827 w 3114403"/>
              <a:gd name="connsiteY13" fmla="*/ 110989 h 371013"/>
              <a:gd name="connsiteX14" fmla="*/ 48227 w 3114403"/>
              <a:gd name="connsiteY14" fmla="*/ 922 h 371013"/>
              <a:gd name="connsiteX0" fmla="*/ 88315 w 3154491"/>
              <a:gd name="connsiteY0" fmla="*/ 1514 h 371605"/>
              <a:gd name="connsiteX1" fmla="*/ 570915 w 3154491"/>
              <a:gd name="connsiteY1" fmla="*/ 60781 h 371605"/>
              <a:gd name="connsiteX2" fmla="*/ 1324449 w 3154491"/>
              <a:gd name="connsiteY2" fmla="*/ 94647 h 371605"/>
              <a:gd name="connsiteX3" fmla="*/ 1832449 w 3154491"/>
              <a:gd name="connsiteY3" fmla="*/ 94647 h 371605"/>
              <a:gd name="connsiteX4" fmla="*/ 2238849 w 3154491"/>
              <a:gd name="connsiteY4" fmla="*/ 60781 h 371605"/>
              <a:gd name="connsiteX5" fmla="*/ 2806115 w 3154491"/>
              <a:gd name="connsiteY5" fmla="*/ 9981 h 371605"/>
              <a:gd name="connsiteX6" fmla="*/ 2966982 w 3154491"/>
              <a:gd name="connsiteY6" fmla="*/ 18447 h 371605"/>
              <a:gd name="connsiteX7" fmla="*/ 3153249 w 3154491"/>
              <a:gd name="connsiteY7" fmla="*/ 136981 h 371605"/>
              <a:gd name="connsiteX8" fmla="*/ 3009315 w 3154491"/>
              <a:gd name="connsiteY8" fmla="*/ 263981 h 371605"/>
              <a:gd name="connsiteX9" fmla="*/ 2365849 w 3154491"/>
              <a:gd name="connsiteY9" fmla="*/ 357114 h 371605"/>
              <a:gd name="connsiteX10" fmla="*/ 1680049 w 3154491"/>
              <a:gd name="connsiteY10" fmla="*/ 357114 h 371605"/>
              <a:gd name="connsiteX11" fmla="*/ 1028115 w 3154491"/>
              <a:gd name="connsiteY11" fmla="*/ 365581 h 371605"/>
              <a:gd name="connsiteX12" fmla="*/ 147582 w 3154491"/>
              <a:gd name="connsiteY12" fmla="*/ 255514 h 371605"/>
              <a:gd name="connsiteX13" fmla="*/ 3648 w 3154491"/>
              <a:gd name="connsiteY13" fmla="*/ 128514 h 371605"/>
              <a:gd name="connsiteX14" fmla="*/ 88315 w 3154491"/>
              <a:gd name="connsiteY14" fmla="*/ 1514 h 371605"/>
              <a:gd name="connsiteX0" fmla="*/ 88315 w 3154491"/>
              <a:gd name="connsiteY0" fmla="*/ 1514 h 374810"/>
              <a:gd name="connsiteX1" fmla="*/ 570915 w 3154491"/>
              <a:gd name="connsiteY1" fmla="*/ 60781 h 374810"/>
              <a:gd name="connsiteX2" fmla="*/ 1324449 w 3154491"/>
              <a:gd name="connsiteY2" fmla="*/ 94647 h 374810"/>
              <a:gd name="connsiteX3" fmla="*/ 1832449 w 3154491"/>
              <a:gd name="connsiteY3" fmla="*/ 94647 h 374810"/>
              <a:gd name="connsiteX4" fmla="*/ 2238849 w 3154491"/>
              <a:gd name="connsiteY4" fmla="*/ 60781 h 374810"/>
              <a:gd name="connsiteX5" fmla="*/ 2806115 w 3154491"/>
              <a:gd name="connsiteY5" fmla="*/ 9981 h 374810"/>
              <a:gd name="connsiteX6" fmla="*/ 2966982 w 3154491"/>
              <a:gd name="connsiteY6" fmla="*/ 18447 h 374810"/>
              <a:gd name="connsiteX7" fmla="*/ 3153249 w 3154491"/>
              <a:gd name="connsiteY7" fmla="*/ 136981 h 374810"/>
              <a:gd name="connsiteX8" fmla="*/ 3009315 w 3154491"/>
              <a:gd name="connsiteY8" fmla="*/ 263981 h 374810"/>
              <a:gd name="connsiteX9" fmla="*/ 2365849 w 3154491"/>
              <a:gd name="connsiteY9" fmla="*/ 357114 h 374810"/>
              <a:gd name="connsiteX10" fmla="*/ 1028115 w 3154491"/>
              <a:gd name="connsiteY10" fmla="*/ 365581 h 374810"/>
              <a:gd name="connsiteX11" fmla="*/ 147582 w 3154491"/>
              <a:gd name="connsiteY11" fmla="*/ 255514 h 374810"/>
              <a:gd name="connsiteX12" fmla="*/ 3648 w 3154491"/>
              <a:gd name="connsiteY12" fmla="*/ 128514 h 374810"/>
              <a:gd name="connsiteX13" fmla="*/ 88315 w 3154491"/>
              <a:gd name="connsiteY13" fmla="*/ 1514 h 374810"/>
              <a:gd name="connsiteX0" fmla="*/ 88315 w 3154491"/>
              <a:gd name="connsiteY0" fmla="*/ 1514 h 381325"/>
              <a:gd name="connsiteX1" fmla="*/ 570915 w 3154491"/>
              <a:gd name="connsiteY1" fmla="*/ 60781 h 381325"/>
              <a:gd name="connsiteX2" fmla="*/ 1324449 w 3154491"/>
              <a:gd name="connsiteY2" fmla="*/ 94647 h 381325"/>
              <a:gd name="connsiteX3" fmla="*/ 1832449 w 3154491"/>
              <a:gd name="connsiteY3" fmla="*/ 94647 h 381325"/>
              <a:gd name="connsiteX4" fmla="*/ 2238849 w 3154491"/>
              <a:gd name="connsiteY4" fmla="*/ 60781 h 381325"/>
              <a:gd name="connsiteX5" fmla="*/ 2806115 w 3154491"/>
              <a:gd name="connsiteY5" fmla="*/ 9981 h 381325"/>
              <a:gd name="connsiteX6" fmla="*/ 2966982 w 3154491"/>
              <a:gd name="connsiteY6" fmla="*/ 18447 h 381325"/>
              <a:gd name="connsiteX7" fmla="*/ 3153249 w 3154491"/>
              <a:gd name="connsiteY7" fmla="*/ 136981 h 381325"/>
              <a:gd name="connsiteX8" fmla="*/ 3009315 w 3154491"/>
              <a:gd name="connsiteY8" fmla="*/ 263981 h 381325"/>
              <a:gd name="connsiteX9" fmla="*/ 2365849 w 3154491"/>
              <a:gd name="connsiteY9" fmla="*/ 357114 h 381325"/>
              <a:gd name="connsiteX10" fmla="*/ 833382 w 3154491"/>
              <a:gd name="connsiteY10" fmla="*/ 374048 h 381325"/>
              <a:gd name="connsiteX11" fmla="*/ 147582 w 3154491"/>
              <a:gd name="connsiteY11" fmla="*/ 255514 h 381325"/>
              <a:gd name="connsiteX12" fmla="*/ 3648 w 3154491"/>
              <a:gd name="connsiteY12" fmla="*/ 128514 h 381325"/>
              <a:gd name="connsiteX13" fmla="*/ 88315 w 3154491"/>
              <a:gd name="connsiteY13" fmla="*/ 1514 h 381325"/>
              <a:gd name="connsiteX0" fmla="*/ 88315 w 3157756"/>
              <a:gd name="connsiteY0" fmla="*/ 1514 h 388340"/>
              <a:gd name="connsiteX1" fmla="*/ 570915 w 3157756"/>
              <a:gd name="connsiteY1" fmla="*/ 60781 h 388340"/>
              <a:gd name="connsiteX2" fmla="*/ 1324449 w 3157756"/>
              <a:gd name="connsiteY2" fmla="*/ 94647 h 388340"/>
              <a:gd name="connsiteX3" fmla="*/ 1832449 w 3157756"/>
              <a:gd name="connsiteY3" fmla="*/ 94647 h 388340"/>
              <a:gd name="connsiteX4" fmla="*/ 2238849 w 3157756"/>
              <a:gd name="connsiteY4" fmla="*/ 60781 h 388340"/>
              <a:gd name="connsiteX5" fmla="*/ 2806115 w 3157756"/>
              <a:gd name="connsiteY5" fmla="*/ 9981 h 388340"/>
              <a:gd name="connsiteX6" fmla="*/ 2966982 w 3157756"/>
              <a:gd name="connsiteY6" fmla="*/ 18447 h 388340"/>
              <a:gd name="connsiteX7" fmla="*/ 3153249 w 3157756"/>
              <a:gd name="connsiteY7" fmla="*/ 136981 h 388340"/>
              <a:gd name="connsiteX8" fmla="*/ 3009315 w 3157756"/>
              <a:gd name="connsiteY8" fmla="*/ 263981 h 388340"/>
              <a:gd name="connsiteX9" fmla="*/ 2128782 w 3157756"/>
              <a:gd name="connsiteY9" fmla="*/ 374048 h 388340"/>
              <a:gd name="connsiteX10" fmla="*/ 833382 w 3157756"/>
              <a:gd name="connsiteY10" fmla="*/ 374048 h 388340"/>
              <a:gd name="connsiteX11" fmla="*/ 147582 w 3157756"/>
              <a:gd name="connsiteY11" fmla="*/ 255514 h 388340"/>
              <a:gd name="connsiteX12" fmla="*/ 3648 w 3157756"/>
              <a:gd name="connsiteY12" fmla="*/ 128514 h 388340"/>
              <a:gd name="connsiteX13" fmla="*/ 88315 w 3157756"/>
              <a:gd name="connsiteY13" fmla="*/ 1514 h 388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57756" h="388340">
                <a:moveTo>
                  <a:pt x="88315" y="1514"/>
                </a:moveTo>
                <a:cubicBezTo>
                  <a:pt x="182860" y="-9775"/>
                  <a:pt x="364893" y="45259"/>
                  <a:pt x="570915" y="60781"/>
                </a:cubicBezTo>
                <a:cubicBezTo>
                  <a:pt x="776937" y="76303"/>
                  <a:pt x="1114193" y="89003"/>
                  <a:pt x="1324449" y="94647"/>
                </a:cubicBezTo>
                <a:cubicBezTo>
                  <a:pt x="1534705" y="100291"/>
                  <a:pt x="1680049" y="100291"/>
                  <a:pt x="1832449" y="94647"/>
                </a:cubicBezTo>
                <a:cubicBezTo>
                  <a:pt x="1984849" y="89003"/>
                  <a:pt x="2238849" y="60781"/>
                  <a:pt x="2238849" y="60781"/>
                </a:cubicBezTo>
                <a:lnTo>
                  <a:pt x="2806115" y="9981"/>
                </a:lnTo>
                <a:cubicBezTo>
                  <a:pt x="2927471" y="2925"/>
                  <a:pt x="2909126" y="-2720"/>
                  <a:pt x="2966982" y="18447"/>
                </a:cubicBezTo>
                <a:cubicBezTo>
                  <a:pt x="3024838" y="39614"/>
                  <a:pt x="3146194" y="96059"/>
                  <a:pt x="3153249" y="136981"/>
                </a:cubicBezTo>
                <a:cubicBezTo>
                  <a:pt x="3160304" y="177903"/>
                  <a:pt x="3180059" y="224470"/>
                  <a:pt x="3009315" y="263981"/>
                </a:cubicBezTo>
                <a:cubicBezTo>
                  <a:pt x="2838571" y="303492"/>
                  <a:pt x="2491438" y="355703"/>
                  <a:pt x="2128782" y="374048"/>
                </a:cubicBezTo>
                <a:cubicBezTo>
                  <a:pt x="1766126" y="392393"/>
                  <a:pt x="1163582" y="393804"/>
                  <a:pt x="833382" y="374048"/>
                </a:cubicBezTo>
                <a:cubicBezTo>
                  <a:pt x="503182" y="354292"/>
                  <a:pt x="308449" y="297847"/>
                  <a:pt x="147582" y="255514"/>
                </a:cubicBezTo>
                <a:cubicBezTo>
                  <a:pt x="-13285" y="213181"/>
                  <a:pt x="12115" y="166614"/>
                  <a:pt x="3648" y="128514"/>
                </a:cubicBezTo>
                <a:cubicBezTo>
                  <a:pt x="-4819" y="90414"/>
                  <a:pt x="-6230" y="12803"/>
                  <a:pt x="88315" y="1514"/>
                </a:cubicBezTo>
                <a:close/>
              </a:path>
            </a:pathLst>
          </a:custGeom>
          <a:solidFill>
            <a:schemeClr val="accent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9E3C9592-6DDD-4590-B686-27A11666C234}"/>
              </a:ext>
            </a:extLst>
          </p:cNvPr>
          <p:cNvSpPr txBox="1"/>
          <p:nvPr/>
        </p:nvSpPr>
        <p:spPr>
          <a:xfrm>
            <a:off x="5333450" y="3785526"/>
            <a:ext cx="2235200" cy="646331"/>
          </a:xfrm>
          <a:prstGeom prst="rect">
            <a:avLst/>
          </a:prstGeom>
          <a:noFill/>
        </p:spPr>
        <p:txBody>
          <a:bodyPr wrap="square" rtlCol="0">
            <a:spAutoFit/>
          </a:bodyPr>
          <a:lstStyle/>
          <a:p>
            <a:pPr algn="ctr"/>
            <a:r>
              <a:rPr lang="en-GB" dirty="0">
                <a:solidFill>
                  <a:schemeClr val="accent1">
                    <a:lumMod val="75000"/>
                  </a:schemeClr>
                </a:solidFill>
              </a:rPr>
              <a:t>Postsynaptic density (PSD)</a:t>
            </a:r>
          </a:p>
        </p:txBody>
      </p:sp>
      <p:cxnSp>
        <p:nvCxnSpPr>
          <p:cNvPr id="8" name="Straight Arrow Connector 7">
            <a:extLst>
              <a:ext uri="{FF2B5EF4-FFF2-40B4-BE49-F238E27FC236}">
                <a16:creationId xmlns:a16="http://schemas.microsoft.com/office/drawing/2014/main" id="{DBF9B2E6-07CE-4C57-892E-CC300C636B79}"/>
              </a:ext>
            </a:extLst>
          </p:cNvPr>
          <p:cNvCxnSpPr>
            <a:cxnSpLocks/>
          </p:cNvCxnSpPr>
          <p:nvPr/>
        </p:nvCxnSpPr>
        <p:spPr>
          <a:xfrm flipV="1">
            <a:off x="6841023" y="4205859"/>
            <a:ext cx="669349" cy="1"/>
          </a:xfrm>
          <a:prstGeom prst="straightConnector1">
            <a:avLst/>
          </a:prstGeom>
          <a:ln w="381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8164FE3-5DD9-4B7F-BB08-6F8D553225F4}"/>
              </a:ext>
            </a:extLst>
          </p:cNvPr>
          <p:cNvSpPr txBox="1"/>
          <p:nvPr/>
        </p:nvSpPr>
        <p:spPr>
          <a:xfrm>
            <a:off x="8150905" y="3466614"/>
            <a:ext cx="785899" cy="461665"/>
          </a:xfrm>
          <a:prstGeom prst="rect">
            <a:avLst/>
          </a:prstGeom>
          <a:noFill/>
        </p:spPr>
        <p:txBody>
          <a:bodyPr wrap="square" rtlCol="0">
            <a:spAutoFit/>
          </a:bodyPr>
          <a:lstStyle/>
          <a:p>
            <a:pPr algn="ctr"/>
            <a:r>
              <a:rPr lang="en-GB" sz="1200" dirty="0">
                <a:solidFill>
                  <a:schemeClr val="accent4">
                    <a:lumMod val="75000"/>
                  </a:schemeClr>
                </a:solidFill>
              </a:rPr>
              <a:t>Synaptic</a:t>
            </a:r>
            <a:br>
              <a:rPr lang="en-GB" sz="1200" dirty="0">
                <a:solidFill>
                  <a:schemeClr val="accent4">
                    <a:lumMod val="75000"/>
                  </a:schemeClr>
                </a:solidFill>
              </a:rPr>
            </a:br>
            <a:r>
              <a:rPr lang="en-GB" sz="1200" dirty="0">
                <a:solidFill>
                  <a:schemeClr val="accent4">
                    <a:lumMod val="75000"/>
                  </a:schemeClr>
                </a:solidFill>
              </a:rPr>
              <a:t>cleft</a:t>
            </a:r>
          </a:p>
        </p:txBody>
      </p:sp>
      <p:sp>
        <p:nvSpPr>
          <p:cNvPr id="12" name="Freeform: Shape 11">
            <a:extLst>
              <a:ext uri="{FF2B5EF4-FFF2-40B4-BE49-F238E27FC236}">
                <a16:creationId xmlns:a16="http://schemas.microsoft.com/office/drawing/2014/main" id="{353600DD-9954-4889-9F0E-ECFBD6A36B6A}"/>
              </a:ext>
            </a:extLst>
          </p:cNvPr>
          <p:cNvSpPr/>
          <p:nvPr/>
        </p:nvSpPr>
        <p:spPr>
          <a:xfrm>
            <a:off x="7670765" y="3472964"/>
            <a:ext cx="2969415" cy="580928"/>
          </a:xfrm>
          <a:custGeom>
            <a:avLst/>
            <a:gdLst>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199520 w 2969415"/>
              <a:gd name="connsiteY15" fmla="*/ 4664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313820 w 2969415"/>
              <a:gd name="connsiteY15" fmla="*/ 491804 h 575393"/>
              <a:gd name="connsiteX16" fmla="*/ 25348 w 2969415"/>
              <a:gd name="connsiteY16" fmla="*/ 473661 h 575393"/>
              <a:gd name="connsiteX17" fmla="*/ 18091 w 2969415"/>
              <a:gd name="connsiteY17" fmla="*/ 81776 h 575393"/>
              <a:gd name="connsiteX0" fmla="*/ 18091 w 2969415"/>
              <a:gd name="connsiteY0" fmla="*/ 81776 h 575393"/>
              <a:gd name="connsiteX1" fmla="*/ 199520 w 2969415"/>
              <a:gd name="connsiteY1" fmla="*/ 89033 h 575393"/>
              <a:gd name="connsiteX2" fmla="*/ 460777 w 2969415"/>
              <a:gd name="connsiteY2" fmla="*/ 45490 h 575393"/>
              <a:gd name="connsiteX3" fmla="*/ 1070377 w 2969415"/>
              <a:gd name="connsiteY3" fmla="*/ 9204 h 575393"/>
              <a:gd name="connsiteX4" fmla="*/ 1709005 w 2969415"/>
              <a:gd name="connsiteY4" fmla="*/ 1947 h 575393"/>
              <a:gd name="connsiteX5" fmla="*/ 2296834 w 2969415"/>
              <a:gd name="connsiteY5" fmla="*/ 38233 h 575393"/>
              <a:gd name="connsiteX6" fmla="*/ 2645177 w 2969415"/>
              <a:gd name="connsiteY6" fmla="*/ 74519 h 575393"/>
              <a:gd name="connsiteX7" fmla="*/ 2877405 w 2969415"/>
              <a:gd name="connsiteY7" fmla="*/ 103547 h 575393"/>
              <a:gd name="connsiteX8" fmla="*/ 2928205 w 2969415"/>
              <a:gd name="connsiteY8" fmla="*/ 103547 h 575393"/>
              <a:gd name="connsiteX9" fmla="*/ 2942720 w 2969415"/>
              <a:gd name="connsiteY9" fmla="*/ 495433 h 575393"/>
              <a:gd name="connsiteX10" fmla="*/ 2550834 w 2969415"/>
              <a:gd name="connsiteY10" fmla="*/ 509947 h 575393"/>
              <a:gd name="connsiteX11" fmla="*/ 2217005 w 2969415"/>
              <a:gd name="connsiteY11" fmla="*/ 553490 h 575393"/>
              <a:gd name="connsiteX12" fmla="*/ 1679977 w 2969415"/>
              <a:gd name="connsiteY12" fmla="*/ 575261 h 575393"/>
              <a:gd name="connsiteX13" fmla="*/ 1164720 w 2969415"/>
              <a:gd name="connsiteY13" fmla="*/ 560747 h 575393"/>
              <a:gd name="connsiteX14" fmla="*/ 584148 w 2969415"/>
              <a:gd name="connsiteY14" fmla="*/ 524461 h 575393"/>
              <a:gd name="connsiteX15" fmla="*/ 313820 w 2969415"/>
              <a:gd name="connsiteY15" fmla="*/ 491804 h 575393"/>
              <a:gd name="connsiteX16" fmla="*/ 25348 w 2969415"/>
              <a:gd name="connsiteY16" fmla="*/ 473661 h 575393"/>
              <a:gd name="connsiteX17" fmla="*/ 18091 w 2969415"/>
              <a:gd name="connsiteY17" fmla="*/ 81776 h 575393"/>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0834 w 2969415"/>
              <a:gd name="connsiteY10" fmla="*/ 50994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 name="connsiteX0" fmla="*/ 18091 w 2969415"/>
              <a:gd name="connsiteY0" fmla="*/ 81776 h 580928"/>
              <a:gd name="connsiteX1" fmla="*/ 199520 w 2969415"/>
              <a:gd name="connsiteY1" fmla="*/ 89033 h 580928"/>
              <a:gd name="connsiteX2" fmla="*/ 460777 w 2969415"/>
              <a:gd name="connsiteY2" fmla="*/ 45490 h 580928"/>
              <a:gd name="connsiteX3" fmla="*/ 1070377 w 2969415"/>
              <a:gd name="connsiteY3" fmla="*/ 9204 h 580928"/>
              <a:gd name="connsiteX4" fmla="*/ 1709005 w 2969415"/>
              <a:gd name="connsiteY4" fmla="*/ 1947 h 580928"/>
              <a:gd name="connsiteX5" fmla="*/ 2296834 w 2969415"/>
              <a:gd name="connsiteY5" fmla="*/ 38233 h 580928"/>
              <a:gd name="connsiteX6" fmla="*/ 2645177 w 2969415"/>
              <a:gd name="connsiteY6" fmla="*/ 74519 h 580928"/>
              <a:gd name="connsiteX7" fmla="*/ 2877405 w 2969415"/>
              <a:gd name="connsiteY7" fmla="*/ 103547 h 580928"/>
              <a:gd name="connsiteX8" fmla="*/ 2928205 w 2969415"/>
              <a:gd name="connsiteY8" fmla="*/ 103547 h 580928"/>
              <a:gd name="connsiteX9" fmla="*/ 2942720 w 2969415"/>
              <a:gd name="connsiteY9" fmla="*/ 495433 h 580928"/>
              <a:gd name="connsiteX10" fmla="*/ 2557184 w 2969415"/>
              <a:gd name="connsiteY10" fmla="*/ 528997 h 580928"/>
              <a:gd name="connsiteX11" fmla="*/ 2217005 w 2969415"/>
              <a:gd name="connsiteY11" fmla="*/ 553490 h 580928"/>
              <a:gd name="connsiteX12" fmla="*/ 1679977 w 2969415"/>
              <a:gd name="connsiteY12" fmla="*/ 575261 h 580928"/>
              <a:gd name="connsiteX13" fmla="*/ 1215520 w 2969415"/>
              <a:gd name="connsiteY13" fmla="*/ 576622 h 580928"/>
              <a:gd name="connsiteX14" fmla="*/ 584148 w 2969415"/>
              <a:gd name="connsiteY14" fmla="*/ 524461 h 580928"/>
              <a:gd name="connsiteX15" fmla="*/ 313820 w 2969415"/>
              <a:gd name="connsiteY15" fmla="*/ 491804 h 580928"/>
              <a:gd name="connsiteX16" fmla="*/ 25348 w 2969415"/>
              <a:gd name="connsiteY16" fmla="*/ 473661 h 580928"/>
              <a:gd name="connsiteX17" fmla="*/ 18091 w 2969415"/>
              <a:gd name="connsiteY17" fmla="*/ 81776 h 580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69415" h="580928">
                <a:moveTo>
                  <a:pt x="18091" y="81776"/>
                </a:moveTo>
                <a:cubicBezTo>
                  <a:pt x="72520" y="103396"/>
                  <a:pt x="125739" y="95081"/>
                  <a:pt x="199520" y="89033"/>
                </a:cubicBezTo>
                <a:cubicBezTo>
                  <a:pt x="273301" y="82985"/>
                  <a:pt x="315634" y="58795"/>
                  <a:pt x="460777" y="45490"/>
                </a:cubicBezTo>
                <a:cubicBezTo>
                  <a:pt x="605920" y="32185"/>
                  <a:pt x="862339" y="16461"/>
                  <a:pt x="1070377" y="9204"/>
                </a:cubicBezTo>
                <a:cubicBezTo>
                  <a:pt x="1278415" y="1947"/>
                  <a:pt x="1504596" y="-2891"/>
                  <a:pt x="1709005" y="1947"/>
                </a:cubicBezTo>
                <a:cubicBezTo>
                  <a:pt x="1913414" y="6785"/>
                  <a:pt x="2140806" y="26138"/>
                  <a:pt x="2296834" y="38233"/>
                </a:cubicBezTo>
                <a:cubicBezTo>
                  <a:pt x="2452862" y="50328"/>
                  <a:pt x="2548415" y="63633"/>
                  <a:pt x="2645177" y="74519"/>
                </a:cubicBezTo>
                <a:cubicBezTo>
                  <a:pt x="2741939" y="85405"/>
                  <a:pt x="2830234" y="98709"/>
                  <a:pt x="2877405" y="103547"/>
                </a:cubicBezTo>
                <a:cubicBezTo>
                  <a:pt x="2924576" y="108385"/>
                  <a:pt x="2841119" y="101733"/>
                  <a:pt x="2928205" y="103547"/>
                </a:cubicBezTo>
                <a:cubicBezTo>
                  <a:pt x="2939091" y="168861"/>
                  <a:pt x="3005615" y="427700"/>
                  <a:pt x="2942720" y="495433"/>
                </a:cubicBezTo>
                <a:cubicBezTo>
                  <a:pt x="2844900" y="496491"/>
                  <a:pt x="2678137" y="519321"/>
                  <a:pt x="2557184" y="528997"/>
                </a:cubicBezTo>
                <a:cubicBezTo>
                  <a:pt x="2436232" y="538673"/>
                  <a:pt x="2363206" y="545779"/>
                  <a:pt x="2217005" y="553490"/>
                </a:cubicBezTo>
                <a:cubicBezTo>
                  <a:pt x="2070804" y="561201"/>
                  <a:pt x="1846891" y="571406"/>
                  <a:pt x="1679977" y="575261"/>
                </a:cubicBezTo>
                <a:cubicBezTo>
                  <a:pt x="1513063" y="579116"/>
                  <a:pt x="1398158" y="585089"/>
                  <a:pt x="1215520" y="576622"/>
                </a:cubicBezTo>
                <a:cubicBezTo>
                  <a:pt x="1032882" y="568155"/>
                  <a:pt x="734431" y="538597"/>
                  <a:pt x="584148" y="524461"/>
                </a:cubicBezTo>
                <a:cubicBezTo>
                  <a:pt x="433865" y="510325"/>
                  <a:pt x="432353" y="509796"/>
                  <a:pt x="313820" y="491804"/>
                </a:cubicBezTo>
                <a:cubicBezTo>
                  <a:pt x="220687" y="483337"/>
                  <a:pt x="148417" y="485756"/>
                  <a:pt x="25348" y="473661"/>
                </a:cubicBezTo>
                <a:cubicBezTo>
                  <a:pt x="-2471" y="410766"/>
                  <a:pt x="-10938" y="145881"/>
                  <a:pt x="18091" y="81776"/>
                </a:cubicBezTo>
                <a:close/>
              </a:path>
            </a:pathLst>
          </a:custGeom>
          <a:solidFill>
            <a:schemeClr val="accent4">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4">
                  <a:lumMod val="75000"/>
                </a:schemeClr>
              </a:solidFill>
            </a:endParaRPr>
          </a:p>
        </p:txBody>
      </p:sp>
      <p:pic>
        <p:nvPicPr>
          <p:cNvPr id="10" name="Picture 2" descr="Synapse Dr.Jastrow's electron microscopic atlas">
            <a:extLst>
              <a:ext uri="{FF2B5EF4-FFF2-40B4-BE49-F238E27FC236}">
                <a16:creationId xmlns:a16="http://schemas.microsoft.com/office/drawing/2014/main" id="{00A15D66-54D4-459E-AEE0-C76A243B4A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5932" y="1663774"/>
            <a:ext cx="3726874" cy="3719592"/>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5506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5BC7B-F815-41DD-8E1B-91849681EAA5}"/>
              </a:ext>
            </a:extLst>
          </p:cNvPr>
          <p:cNvSpPr>
            <a:spLocks noGrp="1"/>
          </p:cNvSpPr>
          <p:nvPr>
            <p:ph type="title"/>
          </p:nvPr>
        </p:nvSpPr>
        <p:spPr/>
        <p:txBody>
          <a:bodyPr/>
          <a:lstStyle/>
          <a:p>
            <a:r>
              <a:rPr lang="en-GB" dirty="0"/>
              <a:t>Neuronal signal integration</a:t>
            </a:r>
          </a:p>
        </p:txBody>
      </p:sp>
      <p:sp>
        <p:nvSpPr>
          <p:cNvPr id="3" name="Content Placeholder 2">
            <a:extLst>
              <a:ext uri="{FF2B5EF4-FFF2-40B4-BE49-F238E27FC236}">
                <a16:creationId xmlns:a16="http://schemas.microsoft.com/office/drawing/2014/main" id="{A01CB688-1E8D-487F-81D2-CE8DC653EEA6}"/>
              </a:ext>
            </a:extLst>
          </p:cNvPr>
          <p:cNvSpPr>
            <a:spLocks noGrp="1"/>
          </p:cNvSpPr>
          <p:nvPr>
            <p:ph idx="1"/>
          </p:nvPr>
        </p:nvSpPr>
        <p:spPr/>
        <p:txBody>
          <a:bodyPr>
            <a:normAutofit/>
          </a:bodyPr>
          <a:lstStyle/>
          <a:p>
            <a:r>
              <a:rPr lang="en-GB" dirty="0"/>
              <a:t>Each neuron receives numerous inputs</a:t>
            </a:r>
          </a:p>
          <a:p>
            <a:pPr lvl="1"/>
            <a:r>
              <a:rPr lang="en-GB" dirty="0"/>
              <a:t>Axo-dendritic</a:t>
            </a:r>
          </a:p>
          <a:p>
            <a:pPr lvl="1"/>
            <a:r>
              <a:rPr lang="en-GB" dirty="0"/>
              <a:t>Axo-somatic</a:t>
            </a:r>
          </a:p>
          <a:p>
            <a:pPr lvl="1"/>
            <a:r>
              <a:rPr lang="en-GB" dirty="0"/>
              <a:t>Axo-axonic (AIS and terminals)</a:t>
            </a:r>
          </a:p>
          <a:p>
            <a:endParaRPr lang="en-GB" dirty="0"/>
          </a:p>
          <a:p>
            <a:r>
              <a:rPr lang="en-GB" dirty="0"/>
              <a:t>When a synapse is activated, it will either generate:</a:t>
            </a:r>
          </a:p>
          <a:p>
            <a:pPr lvl="1"/>
            <a:r>
              <a:rPr lang="en-GB" b="1" dirty="0"/>
              <a:t>Excitatory</a:t>
            </a:r>
            <a:r>
              <a:rPr lang="en-GB" dirty="0"/>
              <a:t> Post-Synaptic Potential (</a:t>
            </a:r>
            <a:r>
              <a:rPr lang="en-GB" b="1" dirty="0"/>
              <a:t>EPSP</a:t>
            </a:r>
            <a:r>
              <a:rPr lang="en-GB" dirty="0"/>
              <a:t>)</a:t>
            </a:r>
          </a:p>
          <a:p>
            <a:pPr lvl="1"/>
            <a:r>
              <a:rPr lang="en-GB" b="1" dirty="0"/>
              <a:t>Inhibitory</a:t>
            </a:r>
            <a:r>
              <a:rPr lang="en-GB" dirty="0"/>
              <a:t> Post-Synaptic Potential (</a:t>
            </a:r>
            <a:r>
              <a:rPr lang="en-GB" b="1" dirty="0"/>
              <a:t>IPSP</a:t>
            </a:r>
            <a:r>
              <a:rPr lang="en-GB" dirty="0"/>
              <a:t>)</a:t>
            </a:r>
          </a:p>
          <a:p>
            <a:endParaRPr lang="en-GB" dirty="0"/>
          </a:p>
          <a:p>
            <a:r>
              <a:rPr lang="en-GB" dirty="0"/>
              <a:t>The summation of EPSPs and IPSPs will determine the level of depolarization reaching the soma</a:t>
            </a:r>
          </a:p>
        </p:txBody>
      </p:sp>
      <p:pic>
        <p:nvPicPr>
          <p:cNvPr id="4" name="Picture 3">
            <a:extLst>
              <a:ext uri="{FF2B5EF4-FFF2-40B4-BE49-F238E27FC236}">
                <a16:creationId xmlns:a16="http://schemas.microsoft.com/office/drawing/2014/main" id="{B4A6BE44-63F9-4FED-9731-B3DD685410B4}"/>
              </a:ext>
            </a:extLst>
          </p:cNvPr>
          <p:cNvPicPr>
            <a:picLocks noChangeAspect="1"/>
          </p:cNvPicPr>
          <p:nvPr/>
        </p:nvPicPr>
        <p:blipFill>
          <a:blip r:embed="rId3"/>
          <a:stretch>
            <a:fillRect/>
          </a:stretch>
        </p:blipFill>
        <p:spPr>
          <a:xfrm>
            <a:off x="6338233" y="929390"/>
            <a:ext cx="3668028" cy="5169321"/>
          </a:xfrm>
          <a:prstGeom prst="rect">
            <a:avLst/>
          </a:prstGeom>
        </p:spPr>
      </p:pic>
      <p:pic>
        <p:nvPicPr>
          <p:cNvPr id="6" name="Picture 5">
            <a:extLst>
              <a:ext uri="{FF2B5EF4-FFF2-40B4-BE49-F238E27FC236}">
                <a16:creationId xmlns:a16="http://schemas.microsoft.com/office/drawing/2014/main" id="{8F3CDBC0-0892-4548-982F-9BC46C4963BE}"/>
              </a:ext>
            </a:extLst>
          </p:cNvPr>
          <p:cNvPicPr>
            <a:picLocks noChangeAspect="1"/>
          </p:cNvPicPr>
          <p:nvPr/>
        </p:nvPicPr>
        <p:blipFill rotWithShape="1">
          <a:blip r:embed="rId4"/>
          <a:srcRect l="26289" r="47675" b="89980"/>
          <a:stretch/>
        </p:blipFill>
        <p:spPr>
          <a:xfrm>
            <a:off x="8671408" y="3092369"/>
            <a:ext cx="1463117" cy="561110"/>
          </a:xfrm>
          <a:prstGeom prst="rect">
            <a:avLst/>
          </a:prstGeom>
        </p:spPr>
      </p:pic>
      <p:pic>
        <p:nvPicPr>
          <p:cNvPr id="7" name="Picture 6">
            <a:extLst>
              <a:ext uri="{FF2B5EF4-FFF2-40B4-BE49-F238E27FC236}">
                <a16:creationId xmlns:a16="http://schemas.microsoft.com/office/drawing/2014/main" id="{5B77DED8-9B3B-44DC-BAA5-8E4CD2824059}"/>
              </a:ext>
            </a:extLst>
          </p:cNvPr>
          <p:cNvPicPr>
            <a:picLocks noChangeAspect="1"/>
          </p:cNvPicPr>
          <p:nvPr/>
        </p:nvPicPr>
        <p:blipFill rotWithShape="1">
          <a:blip r:embed="rId5"/>
          <a:srcRect l="60242" b="41732"/>
          <a:stretch/>
        </p:blipFill>
        <p:spPr>
          <a:xfrm>
            <a:off x="8098367" y="3777655"/>
            <a:ext cx="1814562" cy="2746911"/>
          </a:xfrm>
          <a:prstGeom prst="rect">
            <a:avLst/>
          </a:prstGeom>
        </p:spPr>
      </p:pic>
      <p:sp>
        <p:nvSpPr>
          <p:cNvPr id="5" name="Freeform: Shape 4">
            <a:extLst>
              <a:ext uri="{FF2B5EF4-FFF2-40B4-BE49-F238E27FC236}">
                <a16:creationId xmlns:a16="http://schemas.microsoft.com/office/drawing/2014/main" id="{DB764745-8050-40E1-9EF6-FCF90DA514EE}"/>
              </a:ext>
            </a:extLst>
          </p:cNvPr>
          <p:cNvSpPr/>
          <p:nvPr/>
        </p:nvSpPr>
        <p:spPr>
          <a:xfrm rot="5594498">
            <a:off x="7049227" y="2465796"/>
            <a:ext cx="129785" cy="143486"/>
          </a:xfrm>
          <a:custGeom>
            <a:avLst/>
            <a:gdLst>
              <a:gd name="connsiteX0" fmla="*/ 114937 w 115900"/>
              <a:gd name="connsiteY0" fmla="*/ 139821 h 143944"/>
              <a:gd name="connsiteX1" fmla="*/ 92712 w 115900"/>
              <a:gd name="connsiteY1" fmla="*/ 76321 h 143944"/>
              <a:gd name="connsiteX2" fmla="*/ 80012 w 115900"/>
              <a:gd name="connsiteY2" fmla="*/ 57271 h 143944"/>
              <a:gd name="connsiteX3" fmla="*/ 102237 w 115900"/>
              <a:gd name="connsiteY3" fmla="*/ 22346 h 143944"/>
              <a:gd name="connsiteX4" fmla="*/ 76837 w 115900"/>
              <a:gd name="connsiteY4" fmla="*/ 121 h 143944"/>
              <a:gd name="connsiteX5" fmla="*/ 10162 w 115900"/>
              <a:gd name="connsiteY5" fmla="*/ 31871 h 143944"/>
              <a:gd name="connsiteX6" fmla="*/ 3812 w 115900"/>
              <a:gd name="connsiteY6" fmla="*/ 69971 h 143944"/>
              <a:gd name="connsiteX7" fmla="*/ 637 w 115900"/>
              <a:gd name="connsiteY7" fmla="*/ 89021 h 143944"/>
              <a:gd name="connsiteX8" fmla="*/ 16512 w 115900"/>
              <a:gd name="connsiteY8" fmla="*/ 92196 h 143944"/>
              <a:gd name="connsiteX9" fmla="*/ 41912 w 115900"/>
              <a:gd name="connsiteY9" fmla="*/ 92196 h 143944"/>
              <a:gd name="connsiteX10" fmla="*/ 57787 w 115900"/>
              <a:gd name="connsiteY10" fmla="*/ 130296 h 143944"/>
              <a:gd name="connsiteX11" fmla="*/ 114937 w 115900"/>
              <a:gd name="connsiteY11" fmla="*/ 139821 h 143944"/>
              <a:gd name="connsiteX0" fmla="*/ 130316 w 131279"/>
              <a:gd name="connsiteY0" fmla="*/ 139821 h 143944"/>
              <a:gd name="connsiteX1" fmla="*/ 108091 w 131279"/>
              <a:gd name="connsiteY1" fmla="*/ 76321 h 143944"/>
              <a:gd name="connsiteX2" fmla="*/ 95391 w 131279"/>
              <a:gd name="connsiteY2" fmla="*/ 57271 h 143944"/>
              <a:gd name="connsiteX3" fmla="*/ 117616 w 131279"/>
              <a:gd name="connsiteY3" fmla="*/ 22346 h 143944"/>
              <a:gd name="connsiteX4" fmla="*/ 92216 w 131279"/>
              <a:gd name="connsiteY4" fmla="*/ 121 h 143944"/>
              <a:gd name="connsiteX5" fmla="*/ 25541 w 131279"/>
              <a:gd name="connsiteY5" fmla="*/ 31871 h 143944"/>
              <a:gd name="connsiteX6" fmla="*/ 141 w 131279"/>
              <a:gd name="connsiteY6" fmla="*/ 55684 h 143944"/>
              <a:gd name="connsiteX7" fmla="*/ 16016 w 131279"/>
              <a:gd name="connsiteY7" fmla="*/ 89021 h 143944"/>
              <a:gd name="connsiteX8" fmla="*/ 31891 w 131279"/>
              <a:gd name="connsiteY8" fmla="*/ 92196 h 143944"/>
              <a:gd name="connsiteX9" fmla="*/ 57291 w 131279"/>
              <a:gd name="connsiteY9" fmla="*/ 92196 h 143944"/>
              <a:gd name="connsiteX10" fmla="*/ 73166 w 131279"/>
              <a:gd name="connsiteY10" fmla="*/ 130296 h 143944"/>
              <a:gd name="connsiteX11" fmla="*/ 130316 w 131279"/>
              <a:gd name="connsiteY11" fmla="*/ 139821 h 143944"/>
              <a:gd name="connsiteX0" fmla="*/ 128745 w 129708"/>
              <a:gd name="connsiteY0" fmla="*/ 139821 h 143944"/>
              <a:gd name="connsiteX1" fmla="*/ 106520 w 129708"/>
              <a:gd name="connsiteY1" fmla="*/ 76321 h 143944"/>
              <a:gd name="connsiteX2" fmla="*/ 93820 w 129708"/>
              <a:gd name="connsiteY2" fmla="*/ 57271 h 143944"/>
              <a:gd name="connsiteX3" fmla="*/ 116045 w 129708"/>
              <a:gd name="connsiteY3" fmla="*/ 22346 h 143944"/>
              <a:gd name="connsiteX4" fmla="*/ 90645 w 129708"/>
              <a:gd name="connsiteY4" fmla="*/ 121 h 143944"/>
              <a:gd name="connsiteX5" fmla="*/ 23970 w 129708"/>
              <a:gd name="connsiteY5" fmla="*/ 31871 h 143944"/>
              <a:gd name="connsiteX6" fmla="*/ 158 w 129708"/>
              <a:gd name="connsiteY6" fmla="*/ 52509 h 143944"/>
              <a:gd name="connsiteX7" fmla="*/ 14445 w 129708"/>
              <a:gd name="connsiteY7" fmla="*/ 89021 h 143944"/>
              <a:gd name="connsiteX8" fmla="*/ 30320 w 129708"/>
              <a:gd name="connsiteY8" fmla="*/ 92196 h 143944"/>
              <a:gd name="connsiteX9" fmla="*/ 55720 w 129708"/>
              <a:gd name="connsiteY9" fmla="*/ 92196 h 143944"/>
              <a:gd name="connsiteX10" fmla="*/ 71595 w 129708"/>
              <a:gd name="connsiteY10" fmla="*/ 130296 h 143944"/>
              <a:gd name="connsiteX11" fmla="*/ 128745 w 129708"/>
              <a:gd name="connsiteY11" fmla="*/ 139821 h 143944"/>
              <a:gd name="connsiteX0" fmla="*/ 128822 w 129785"/>
              <a:gd name="connsiteY0" fmla="*/ 139821 h 143944"/>
              <a:gd name="connsiteX1" fmla="*/ 106597 w 129785"/>
              <a:gd name="connsiteY1" fmla="*/ 76321 h 143944"/>
              <a:gd name="connsiteX2" fmla="*/ 93897 w 129785"/>
              <a:gd name="connsiteY2" fmla="*/ 57271 h 143944"/>
              <a:gd name="connsiteX3" fmla="*/ 116122 w 129785"/>
              <a:gd name="connsiteY3" fmla="*/ 22346 h 143944"/>
              <a:gd name="connsiteX4" fmla="*/ 90722 w 129785"/>
              <a:gd name="connsiteY4" fmla="*/ 121 h 143944"/>
              <a:gd name="connsiteX5" fmla="*/ 24047 w 129785"/>
              <a:gd name="connsiteY5" fmla="*/ 31871 h 143944"/>
              <a:gd name="connsiteX6" fmla="*/ 235 w 129785"/>
              <a:gd name="connsiteY6" fmla="*/ 52509 h 143944"/>
              <a:gd name="connsiteX7" fmla="*/ 14522 w 129785"/>
              <a:gd name="connsiteY7" fmla="*/ 89021 h 143944"/>
              <a:gd name="connsiteX8" fmla="*/ 55797 w 129785"/>
              <a:gd name="connsiteY8" fmla="*/ 92196 h 143944"/>
              <a:gd name="connsiteX9" fmla="*/ 71672 w 129785"/>
              <a:gd name="connsiteY9" fmla="*/ 130296 h 143944"/>
              <a:gd name="connsiteX10" fmla="*/ 128822 w 129785"/>
              <a:gd name="connsiteY10" fmla="*/ 139821 h 143944"/>
              <a:gd name="connsiteX0" fmla="*/ 128822 w 129785"/>
              <a:gd name="connsiteY0" fmla="*/ 139821 h 143486"/>
              <a:gd name="connsiteX1" fmla="*/ 106597 w 129785"/>
              <a:gd name="connsiteY1" fmla="*/ 76321 h 143486"/>
              <a:gd name="connsiteX2" fmla="*/ 93897 w 129785"/>
              <a:gd name="connsiteY2" fmla="*/ 57271 h 143486"/>
              <a:gd name="connsiteX3" fmla="*/ 116122 w 129785"/>
              <a:gd name="connsiteY3" fmla="*/ 22346 h 143486"/>
              <a:gd name="connsiteX4" fmla="*/ 90722 w 129785"/>
              <a:gd name="connsiteY4" fmla="*/ 121 h 143486"/>
              <a:gd name="connsiteX5" fmla="*/ 24047 w 129785"/>
              <a:gd name="connsiteY5" fmla="*/ 31871 h 143486"/>
              <a:gd name="connsiteX6" fmla="*/ 235 w 129785"/>
              <a:gd name="connsiteY6" fmla="*/ 52509 h 143486"/>
              <a:gd name="connsiteX7" fmla="*/ 14522 w 129785"/>
              <a:gd name="connsiteY7" fmla="*/ 89021 h 143486"/>
              <a:gd name="connsiteX8" fmla="*/ 55797 w 129785"/>
              <a:gd name="connsiteY8" fmla="*/ 84259 h 143486"/>
              <a:gd name="connsiteX9" fmla="*/ 71672 w 129785"/>
              <a:gd name="connsiteY9" fmla="*/ 130296 h 143486"/>
              <a:gd name="connsiteX10" fmla="*/ 128822 w 129785"/>
              <a:gd name="connsiteY10" fmla="*/ 139821 h 143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785" h="143486">
                <a:moveTo>
                  <a:pt x="128822" y="139821"/>
                </a:moveTo>
                <a:cubicBezTo>
                  <a:pt x="134643" y="130825"/>
                  <a:pt x="112418" y="90079"/>
                  <a:pt x="106597" y="76321"/>
                </a:cubicBezTo>
                <a:cubicBezTo>
                  <a:pt x="100776" y="62563"/>
                  <a:pt x="92310" y="66267"/>
                  <a:pt x="93897" y="57271"/>
                </a:cubicBezTo>
                <a:cubicBezTo>
                  <a:pt x="95484" y="48275"/>
                  <a:pt x="116651" y="31871"/>
                  <a:pt x="116122" y="22346"/>
                </a:cubicBezTo>
                <a:cubicBezTo>
                  <a:pt x="115593" y="12821"/>
                  <a:pt x="106068" y="-1467"/>
                  <a:pt x="90722" y="121"/>
                </a:cubicBezTo>
                <a:cubicBezTo>
                  <a:pt x="75376" y="1708"/>
                  <a:pt x="39128" y="23140"/>
                  <a:pt x="24047" y="31871"/>
                </a:cubicBezTo>
                <a:cubicBezTo>
                  <a:pt x="8966" y="40602"/>
                  <a:pt x="235" y="52509"/>
                  <a:pt x="235" y="52509"/>
                </a:cubicBezTo>
                <a:cubicBezTo>
                  <a:pt x="-1353" y="62034"/>
                  <a:pt x="5262" y="83729"/>
                  <a:pt x="14522" y="89021"/>
                </a:cubicBezTo>
                <a:cubicBezTo>
                  <a:pt x="23782" y="94313"/>
                  <a:pt x="46272" y="77380"/>
                  <a:pt x="55797" y="84259"/>
                </a:cubicBezTo>
                <a:cubicBezTo>
                  <a:pt x="65322" y="91138"/>
                  <a:pt x="59501" y="121036"/>
                  <a:pt x="71672" y="130296"/>
                </a:cubicBezTo>
                <a:cubicBezTo>
                  <a:pt x="83843" y="139556"/>
                  <a:pt x="123001" y="148817"/>
                  <a:pt x="128822" y="139821"/>
                </a:cubicBezTo>
                <a:close/>
              </a:path>
            </a:pathLst>
          </a:custGeom>
          <a:solidFill>
            <a:srgbClr val="2A3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554946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06E83-4130-4BD3-95FB-95B638292939}"/>
              </a:ext>
            </a:extLst>
          </p:cNvPr>
          <p:cNvSpPr>
            <a:spLocks noGrp="1"/>
          </p:cNvSpPr>
          <p:nvPr>
            <p:ph type="title"/>
          </p:nvPr>
        </p:nvSpPr>
        <p:spPr/>
        <p:txBody>
          <a:bodyPr/>
          <a:lstStyle/>
          <a:p>
            <a:r>
              <a:rPr lang="en-GB" dirty="0"/>
              <a:t>Neuronal networks</a:t>
            </a:r>
          </a:p>
        </p:txBody>
      </p:sp>
      <p:sp>
        <p:nvSpPr>
          <p:cNvPr id="3" name="Content Placeholder 2">
            <a:extLst>
              <a:ext uri="{FF2B5EF4-FFF2-40B4-BE49-F238E27FC236}">
                <a16:creationId xmlns:a16="http://schemas.microsoft.com/office/drawing/2014/main" id="{02DC3FCA-217B-4140-86D9-8043A31E3EDD}"/>
              </a:ext>
            </a:extLst>
          </p:cNvPr>
          <p:cNvSpPr>
            <a:spLocks noGrp="1"/>
          </p:cNvSpPr>
          <p:nvPr>
            <p:ph idx="1"/>
          </p:nvPr>
        </p:nvSpPr>
        <p:spPr/>
        <p:txBody>
          <a:bodyPr/>
          <a:lstStyle/>
          <a:p>
            <a:r>
              <a:rPr lang="en-GB" dirty="0"/>
              <a:t>In the CNS 2 main types of neurons:</a:t>
            </a:r>
          </a:p>
          <a:p>
            <a:pPr lvl="1"/>
            <a:r>
              <a:rPr lang="en-GB" b="1" dirty="0"/>
              <a:t>Excitatory</a:t>
            </a:r>
            <a:r>
              <a:rPr lang="en-GB" dirty="0"/>
              <a:t> neurons - principal cells</a:t>
            </a:r>
          </a:p>
          <a:p>
            <a:pPr lvl="1"/>
            <a:r>
              <a:rPr lang="en-GB" b="1" dirty="0"/>
              <a:t>Inhibitory</a:t>
            </a:r>
            <a:r>
              <a:rPr lang="en-GB" dirty="0"/>
              <a:t> neurons  - </a:t>
            </a:r>
            <a:r>
              <a:rPr lang="en-GB" b="1" dirty="0"/>
              <a:t>interneurons</a:t>
            </a:r>
          </a:p>
          <a:p>
            <a:endParaRPr lang="en-GB" dirty="0"/>
          </a:p>
          <a:p>
            <a:r>
              <a:rPr lang="en-GB" dirty="0"/>
              <a:t>In cortex and hippocampus</a:t>
            </a:r>
          </a:p>
          <a:p>
            <a:pPr lvl="1"/>
            <a:r>
              <a:rPr lang="en-GB" dirty="0"/>
              <a:t>Principal cells are the </a:t>
            </a:r>
            <a:r>
              <a:rPr lang="en-GB" b="1" dirty="0"/>
              <a:t>pyramidal cells</a:t>
            </a:r>
            <a:r>
              <a:rPr lang="en-GB" dirty="0"/>
              <a:t> (</a:t>
            </a:r>
            <a:r>
              <a:rPr lang="en-GB" b="1" dirty="0"/>
              <a:t>glutamatergic</a:t>
            </a:r>
            <a:r>
              <a:rPr lang="en-GB" dirty="0"/>
              <a:t>)</a:t>
            </a:r>
          </a:p>
          <a:p>
            <a:pPr lvl="1"/>
            <a:r>
              <a:rPr lang="en-GB" b="1" dirty="0"/>
              <a:t>Interneuron</a:t>
            </a:r>
            <a:r>
              <a:rPr lang="en-GB" dirty="0"/>
              <a:t> (</a:t>
            </a:r>
            <a:r>
              <a:rPr lang="en-GB" b="1" dirty="0"/>
              <a:t>GABAergic</a:t>
            </a:r>
            <a:r>
              <a:rPr lang="en-GB" dirty="0"/>
              <a:t>) types can be many (parvalbumin, somatostatin, etc)</a:t>
            </a:r>
          </a:p>
        </p:txBody>
      </p:sp>
      <p:pic>
        <p:nvPicPr>
          <p:cNvPr id="2050" name="Picture 2" descr="Neural circuit - Wikipedia">
            <a:extLst>
              <a:ext uri="{FF2B5EF4-FFF2-40B4-BE49-F238E27FC236}">
                <a16:creationId xmlns:a16="http://schemas.microsoft.com/office/drawing/2014/main" id="{0847DED2-4208-47DD-B6CD-B201F472CB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762003"/>
            <a:ext cx="4385734" cy="5759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6835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CB0C3-C059-1565-69F5-3761B1DD7916}"/>
              </a:ext>
            </a:extLst>
          </p:cNvPr>
          <p:cNvSpPr>
            <a:spLocks noGrp="1"/>
          </p:cNvSpPr>
          <p:nvPr>
            <p:ph type="title"/>
          </p:nvPr>
        </p:nvSpPr>
        <p:spPr/>
        <p:txBody>
          <a:bodyPr/>
          <a:lstStyle/>
          <a:p>
            <a:r>
              <a:rPr lang="en-GB" dirty="0"/>
              <a:t>The neuromuscular junction</a:t>
            </a:r>
          </a:p>
        </p:txBody>
      </p:sp>
      <p:sp>
        <p:nvSpPr>
          <p:cNvPr id="3" name="Content Placeholder 2">
            <a:extLst>
              <a:ext uri="{FF2B5EF4-FFF2-40B4-BE49-F238E27FC236}">
                <a16:creationId xmlns:a16="http://schemas.microsoft.com/office/drawing/2014/main" id="{C487BF3B-705F-FAC5-9F8C-A90A3859E6FC}"/>
              </a:ext>
            </a:extLst>
          </p:cNvPr>
          <p:cNvSpPr>
            <a:spLocks noGrp="1"/>
          </p:cNvSpPr>
          <p:nvPr>
            <p:ph idx="1"/>
          </p:nvPr>
        </p:nvSpPr>
        <p:spPr/>
        <p:txBody>
          <a:bodyPr/>
          <a:lstStyle/>
          <a:p>
            <a:r>
              <a:rPr lang="en-GB" dirty="0"/>
              <a:t>Motor neurons axonal terminals highly branch onto the muscle to form neuromuscular junctions (NMJ)</a:t>
            </a:r>
          </a:p>
          <a:p>
            <a:endParaRPr lang="en-GB" dirty="0"/>
          </a:p>
          <a:p>
            <a:r>
              <a:rPr lang="en-GB" dirty="0"/>
              <a:t>NMJ are rich in nicotinic receptors, which recognize </a:t>
            </a:r>
            <a:r>
              <a:rPr lang="en-GB" b="1" dirty="0"/>
              <a:t>acetylcholine</a:t>
            </a:r>
          </a:p>
          <a:p>
            <a:endParaRPr lang="en-GB" dirty="0"/>
          </a:p>
          <a:p>
            <a:r>
              <a:rPr lang="en-GB" dirty="0"/>
              <a:t>Nicotinic receptors opening allows Na</a:t>
            </a:r>
            <a:r>
              <a:rPr lang="en-GB" baseline="30000" dirty="0"/>
              <a:t>+</a:t>
            </a:r>
            <a:r>
              <a:rPr lang="en-GB" dirty="0"/>
              <a:t> and Ca</a:t>
            </a:r>
            <a:r>
              <a:rPr lang="en-GB" baseline="30000" dirty="0"/>
              <a:t>+</a:t>
            </a:r>
            <a:r>
              <a:rPr lang="en-GB" dirty="0"/>
              <a:t> to and depolarization of the muscle cell</a:t>
            </a:r>
          </a:p>
        </p:txBody>
      </p:sp>
      <p:pic>
        <p:nvPicPr>
          <p:cNvPr id="5" name="Picture 4">
            <a:extLst>
              <a:ext uri="{FF2B5EF4-FFF2-40B4-BE49-F238E27FC236}">
                <a16:creationId xmlns:a16="http://schemas.microsoft.com/office/drawing/2014/main" id="{51FDA4EB-EDEE-514B-BEFA-913B982CA97D}"/>
              </a:ext>
            </a:extLst>
          </p:cNvPr>
          <p:cNvPicPr>
            <a:picLocks noChangeAspect="1"/>
          </p:cNvPicPr>
          <p:nvPr/>
        </p:nvPicPr>
        <p:blipFill>
          <a:blip r:embed="rId2"/>
          <a:stretch>
            <a:fillRect/>
          </a:stretch>
        </p:blipFill>
        <p:spPr>
          <a:xfrm>
            <a:off x="7502305" y="268740"/>
            <a:ext cx="2872966" cy="6320520"/>
          </a:xfrm>
          <a:prstGeom prst="rect">
            <a:avLst/>
          </a:prstGeom>
        </p:spPr>
      </p:pic>
    </p:spTree>
    <p:extLst>
      <p:ext uri="{BB962C8B-B14F-4D97-AF65-F5344CB8AC3E}">
        <p14:creationId xmlns:p14="http://schemas.microsoft.com/office/powerpoint/2010/main" val="3672013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1EAD9C1-05DC-469E-9CCF-64E96F7F6F5B}"/>
              </a:ext>
            </a:extLst>
          </p:cNvPr>
          <p:cNvSpPr>
            <a:spLocks noGrp="1"/>
          </p:cNvSpPr>
          <p:nvPr>
            <p:ph type="title"/>
          </p:nvPr>
        </p:nvSpPr>
        <p:spPr/>
        <p:txBody>
          <a:bodyPr/>
          <a:lstStyle/>
          <a:p>
            <a:r>
              <a:rPr lang="en-GB" dirty="0"/>
              <a:t>Questions?</a:t>
            </a:r>
          </a:p>
        </p:txBody>
      </p:sp>
      <p:sp>
        <p:nvSpPr>
          <p:cNvPr id="2" name="Content Placeholder 1">
            <a:extLst>
              <a:ext uri="{FF2B5EF4-FFF2-40B4-BE49-F238E27FC236}">
                <a16:creationId xmlns:a16="http://schemas.microsoft.com/office/drawing/2014/main" id="{46233025-42BD-46A6-9662-2B5B26B7ABA2}"/>
              </a:ext>
            </a:extLst>
          </p:cNvPr>
          <p:cNvSpPr>
            <a:spLocks noGrp="1"/>
          </p:cNvSpPr>
          <p:nvPr>
            <p:ph idx="1"/>
          </p:nvPr>
        </p:nvSpPr>
        <p:spPr>
          <a:xfrm>
            <a:off x="178043" y="2847902"/>
            <a:ext cx="4962452" cy="3552426"/>
          </a:xfrm>
        </p:spPr>
        <p:txBody>
          <a:bodyPr/>
          <a:lstStyle/>
          <a:p>
            <a:r>
              <a:rPr lang="en-GB" dirty="0"/>
              <a:t>Specific reading:</a:t>
            </a:r>
          </a:p>
          <a:p>
            <a:pPr lvl="1"/>
            <a:r>
              <a:rPr lang="en-GB" dirty="0">
                <a:solidFill>
                  <a:schemeClr val="accent1">
                    <a:lumMod val="75000"/>
                  </a:schemeClr>
                </a:solidFill>
              </a:rPr>
              <a:t>Guyton and Hall - </a:t>
            </a:r>
            <a:r>
              <a:rPr lang="en-GB" b="1" dirty="0">
                <a:solidFill>
                  <a:schemeClr val="accent1">
                    <a:lumMod val="75000"/>
                  </a:schemeClr>
                </a:solidFill>
              </a:rPr>
              <a:t>Textbook of Medical Physiology </a:t>
            </a:r>
            <a:r>
              <a:rPr lang="en-GB" dirty="0">
                <a:solidFill>
                  <a:schemeClr val="accent1">
                    <a:lumMod val="75000"/>
                  </a:schemeClr>
                </a:solidFill>
              </a:rPr>
              <a:t>12</a:t>
            </a:r>
            <a:r>
              <a:rPr lang="en-GB" baseline="30000" dirty="0">
                <a:solidFill>
                  <a:schemeClr val="accent1">
                    <a:lumMod val="75000"/>
                  </a:schemeClr>
                </a:solidFill>
              </a:rPr>
              <a:t>th</a:t>
            </a:r>
            <a:r>
              <a:rPr lang="en-GB" dirty="0">
                <a:solidFill>
                  <a:schemeClr val="accent1">
                    <a:lumMod val="75000"/>
                  </a:schemeClr>
                </a:solidFill>
              </a:rPr>
              <a:t> ed (2011) ISBN: 978-0-8089-2400-5</a:t>
            </a:r>
          </a:p>
          <a:p>
            <a:pPr lvl="1"/>
            <a:endParaRPr lang="en-GB" dirty="0"/>
          </a:p>
          <a:p>
            <a:pPr lvl="1"/>
            <a:r>
              <a:rPr lang="en-GB" dirty="0"/>
              <a:t>Constance Hammond </a:t>
            </a:r>
            <a:r>
              <a:rPr lang="en-GB" b="1" dirty="0"/>
              <a:t>– Cellular and Molecular Neurophysiology </a:t>
            </a:r>
            <a:r>
              <a:rPr lang="en-GB" dirty="0"/>
              <a:t>4</a:t>
            </a:r>
            <a:r>
              <a:rPr lang="en-GB" baseline="30000" dirty="0"/>
              <a:t>th</a:t>
            </a:r>
            <a:r>
              <a:rPr lang="en-GB" dirty="0"/>
              <a:t> ed (2015) ISBN: 978-0-12-397032-9</a:t>
            </a:r>
          </a:p>
          <a:p>
            <a:pPr lvl="1"/>
            <a:r>
              <a:rPr lang="en-GB" dirty="0"/>
              <a:t>Greg Stuart, Nelson Spruston, Micheal Häusser – </a:t>
            </a:r>
            <a:r>
              <a:rPr lang="en-GB" b="1" dirty="0"/>
              <a:t>Dendrites</a:t>
            </a:r>
            <a:r>
              <a:rPr lang="en-GB" dirty="0"/>
              <a:t> 3th ed (2016) </a:t>
            </a:r>
            <a:br>
              <a:rPr lang="en-GB" dirty="0"/>
            </a:br>
            <a:r>
              <a:rPr lang="en-GB" dirty="0"/>
              <a:t>ISBN 978–0–19–874527–3</a:t>
            </a:r>
          </a:p>
        </p:txBody>
      </p:sp>
      <p:sp>
        <p:nvSpPr>
          <p:cNvPr id="8" name="TextBox 7">
            <a:extLst>
              <a:ext uri="{FF2B5EF4-FFF2-40B4-BE49-F238E27FC236}">
                <a16:creationId xmlns:a16="http://schemas.microsoft.com/office/drawing/2014/main" id="{55570673-E8FA-47E3-8D51-98B831132C8E}"/>
              </a:ext>
            </a:extLst>
          </p:cNvPr>
          <p:cNvSpPr txBox="1"/>
          <p:nvPr/>
        </p:nvSpPr>
        <p:spPr>
          <a:xfrm>
            <a:off x="929038" y="1441305"/>
            <a:ext cx="3452840" cy="646331"/>
          </a:xfrm>
          <a:prstGeom prst="rect">
            <a:avLst/>
          </a:prstGeom>
          <a:solidFill>
            <a:schemeClr val="accent1">
              <a:lumMod val="40000"/>
              <a:lumOff val="60000"/>
            </a:schemeClr>
          </a:solidFill>
          <a:ln w="381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For follow-up questions: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vincenzo.mastrolia@kcl.ac.uk</a:t>
            </a:r>
          </a:p>
        </p:txBody>
      </p:sp>
      <p:pic>
        <p:nvPicPr>
          <p:cNvPr id="3" name="Picture 2">
            <a:extLst>
              <a:ext uri="{FF2B5EF4-FFF2-40B4-BE49-F238E27FC236}">
                <a16:creationId xmlns:a16="http://schemas.microsoft.com/office/drawing/2014/main" id="{405E2ACF-9B4A-98B7-1450-F9987597CBF0}"/>
              </a:ext>
            </a:extLst>
          </p:cNvPr>
          <p:cNvPicPr>
            <a:picLocks noChangeAspect="1"/>
          </p:cNvPicPr>
          <p:nvPr/>
        </p:nvPicPr>
        <p:blipFill>
          <a:blip r:embed="rId2"/>
          <a:stretch>
            <a:fillRect/>
          </a:stretch>
        </p:blipFill>
        <p:spPr>
          <a:xfrm>
            <a:off x="9702498" y="3608279"/>
            <a:ext cx="1937033" cy="2792049"/>
          </a:xfrm>
          <a:prstGeom prst="rect">
            <a:avLst/>
          </a:prstGeom>
        </p:spPr>
      </p:pic>
      <p:pic>
        <p:nvPicPr>
          <p:cNvPr id="5" name="Picture 4">
            <a:extLst>
              <a:ext uri="{FF2B5EF4-FFF2-40B4-BE49-F238E27FC236}">
                <a16:creationId xmlns:a16="http://schemas.microsoft.com/office/drawing/2014/main" id="{11EE7B89-9340-B58D-D728-7D75E2BCFEBB}"/>
              </a:ext>
            </a:extLst>
          </p:cNvPr>
          <p:cNvPicPr>
            <a:picLocks noChangeAspect="1"/>
          </p:cNvPicPr>
          <p:nvPr/>
        </p:nvPicPr>
        <p:blipFill>
          <a:blip r:embed="rId3"/>
          <a:stretch>
            <a:fillRect/>
          </a:stretch>
        </p:blipFill>
        <p:spPr>
          <a:xfrm>
            <a:off x="9702498" y="1023471"/>
            <a:ext cx="1984687" cy="2538355"/>
          </a:xfrm>
          <a:prstGeom prst="rect">
            <a:avLst/>
          </a:prstGeom>
        </p:spPr>
      </p:pic>
      <p:pic>
        <p:nvPicPr>
          <p:cNvPr id="9" name="Picture 8">
            <a:extLst>
              <a:ext uri="{FF2B5EF4-FFF2-40B4-BE49-F238E27FC236}">
                <a16:creationId xmlns:a16="http://schemas.microsoft.com/office/drawing/2014/main" id="{3B11F31B-D6D1-5592-41F6-4F6D66BBFF41}"/>
              </a:ext>
            </a:extLst>
          </p:cNvPr>
          <p:cNvPicPr>
            <a:picLocks noChangeAspect="1"/>
          </p:cNvPicPr>
          <p:nvPr/>
        </p:nvPicPr>
        <p:blipFill>
          <a:blip r:embed="rId4"/>
          <a:stretch>
            <a:fillRect/>
          </a:stretch>
        </p:blipFill>
        <p:spPr>
          <a:xfrm>
            <a:off x="5636838" y="1320801"/>
            <a:ext cx="3699624" cy="4713598"/>
          </a:xfrm>
          <a:prstGeom prst="rect">
            <a:avLst/>
          </a:prstGeom>
        </p:spPr>
      </p:pic>
    </p:spTree>
    <p:extLst>
      <p:ext uri="{BB962C8B-B14F-4D97-AF65-F5344CB8AC3E}">
        <p14:creationId xmlns:p14="http://schemas.microsoft.com/office/powerpoint/2010/main" val="384659102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1449</Words>
  <Application>Microsoft Office PowerPoint</Application>
  <PresentationFormat>Widescreen</PresentationFormat>
  <Paragraphs>269</Paragraphs>
  <Slides>27</Slides>
  <Notes>5</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1_Office Theme</vt:lpstr>
      <vt:lpstr>Electrical events in excitable tissues</vt:lpstr>
      <vt:lpstr>Learning outcomes</vt:lpstr>
      <vt:lpstr>Excitability</vt:lpstr>
      <vt:lpstr>Ion channels</vt:lpstr>
      <vt:lpstr>Ion channels families</vt:lpstr>
      <vt:lpstr>Resting membrane potential (voltage)</vt:lpstr>
      <vt:lpstr>The cell membrane as a circuit</vt:lpstr>
      <vt:lpstr>Measuring the membrane potential (voltage)</vt:lpstr>
      <vt:lpstr>Single cell electrophysiology</vt:lpstr>
      <vt:lpstr>Single cell electrophysiology</vt:lpstr>
      <vt:lpstr>Action potential</vt:lpstr>
      <vt:lpstr>Action potential</vt:lpstr>
      <vt:lpstr>The refractory period</vt:lpstr>
      <vt:lpstr>AP conduction and refractory period</vt:lpstr>
      <vt:lpstr>AP conduction and myelin</vt:lpstr>
      <vt:lpstr>AP conduction and myelin</vt:lpstr>
      <vt:lpstr>AP conduction and myelin</vt:lpstr>
      <vt:lpstr>The neuron</vt:lpstr>
      <vt:lpstr>Neuronal output: the bouton</vt:lpstr>
      <vt:lpstr>Neuronal output: the bouton</vt:lpstr>
      <vt:lpstr>The neurotransmitter</vt:lpstr>
      <vt:lpstr>The synapse</vt:lpstr>
      <vt:lpstr>The Postsynaptic Density</vt:lpstr>
      <vt:lpstr>Neuronal signal integration</vt:lpstr>
      <vt:lpstr>Neuronal networks</vt:lpstr>
      <vt:lpstr>The neuromuscular junction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Vincenzo Mastrolia</dc:creator>
  <cp:lastModifiedBy>Vincenzo Mastrolia</cp:lastModifiedBy>
  <cp:revision>2</cp:revision>
  <dcterms:created xsi:type="dcterms:W3CDTF">2025-02-02T13:04:09Z</dcterms:created>
  <dcterms:modified xsi:type="dcterms:W3CDTF">2025-02-02T18:30:08Z</dcterms:modified>
</cp:coreProperties>
</file>