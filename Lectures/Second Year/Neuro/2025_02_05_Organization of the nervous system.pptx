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1" r:id="rId4"/>
    <p:sldId id="334" r:id="rId5"/>
    <p:sldId id="335" r:id="rId6"/>
    <p:sldId id="259" r:id="rId7"/>
    <p:sldId id="621" r:id="rId8"/>
    <p:sldId id="263" r:id="rId9"/>
    <p:sldId id="260" r:id="rId10"/>
    <p:sldId id="262" r:id="rId11"/>
    <p:sldId id="269" r:id="rId12"/>
    <p:sldId id="333" r:id="rId13"/>
    <p:sldId id="348" r:id="rId14"/>
    <p:sldId id="337" r:id="rId15"/>
    <p:sldId id="356" r:id="rId16"/>
    <p:sldId id="355" r:id="rId17"/>
    <p:sldId id="264" r:id="rId18"/>
    <p:sldId id="268" r:id="rId19"/>
    <p:sldId id="265" r:id="rId20"/>
    <p:sldId id="266" r:id="rId21"/>
    <p:sldId id="336" r:id="rId22"/>
    <p:sldId id="267" r:id="rId23"/>
    <p:sldId id="622" r:id="rId24"/>
    <p:sldId id="620" r:id="rId25"/>
    <p:sldId id="623" r:id="rId26"/>
    <p:sldId id="357" r:id="rId27"/>
    <p:sldId id="358" r:id="rId28"/>
    <p:sldId id="61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AF8FA-3F82-4773-89BE-4E7D8AB7F9B7}" v="2" dt="2025-02-02T13:21:57.518"/>
    <p1510:client id="{DC937D72-567A-4369-805E-168E0E4F451D}" v="3" dt="2025-02-02T13:00:34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94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EEE0-6C15-332C-03CE-1FB761079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74650-05BC-2727-3E78-FE0D9FDD2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1900"/>
            <a:ext cx="9144000" cy="1041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9E5A5-9A2E-BBC3-51DD-64C236D3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6BD79-E916-CA00-4428-4C7D9233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6289-CE30-D32A-A794-EAF2F089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346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AB9F-74B9-519E-23CE-06079D3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" y="1"/>
            <a:ext cx="10515600" cy="1099738"/>
          </a:xfrm>
          <a:ln w="50800">
            <a:noFill/>
          </a:ln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81E1-6CAB-684F-AF8C-DBE7BFB9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buFont typeface="Calibri" panose="020F0502020204030204" pitchFamily="34" charset="0"/>
              <a:buChar char="-"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D57D-2FA7-E23E-5202-D2F5D7CF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61250-2AA3-7B82-250B-36C9C500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A65FA-49BE-BA14-AD4E-217BA922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43F5B8-64AC-AA8C-B0F0-34977FF8151B}"/>
              </a:ext>
            </a:extLst>
          </p:cNvPr>
          <p:cNvCxnSpPr>
            <a:cxnSpLocks/>
          </p:cNvCxnSpPr>
          <p:nvPr userDrawn="1"/>
        </p:nvCxnSpPr>
        <p:spPr>
          <a:xfrm>
            <a:off x="15240" y="1099738"/>
            <a:ext cx="6080760" cy="0"/>
          </a:xfrm>
          <a:prstGeom prst="line">
            <a:avLst/>
          </a:prstGeom>
          <a:ln w="76200">
            <a:gradFill flip="none" rotWithShape="1">
              <a:gsLst>
                <a:gs pos="9000">
                  <a:schemeClr val="bg1"/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64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6B4C-D83B-09F4-87FF-81995092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807500"/>
            <a:ext cx="10515600" cy="1243000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C1CB4-76D4-CD2D-FDD1-114A3E2D6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BCA2F-3270-6FDC-F7DF-86388E11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F23F5-5057-AE1B-B770-54251FA7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F9FC-0C0C-380F-3528-411C220B5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BE8429-A823-FFFE-53D7-115B7A7E5959}"/>
              </a:ext>
            </a:extLst>
          </p:cNvPr>
          <p:cNvCxnSpPr>
            <a:cxnSpLocks/>
          </p:cNvCxnSpPr>
          <p:nvPr userDrawn="1"/>
        </p:nvCxnSpPr>
        <p:spPr>
          <a:xfrm>
            <a:off x="831850" y="4050500"/>
            <a:ext cx="7546837" cy="0"/>
          </a:xfrm>
          <a:prstGeom prst="line">
            <a:avLst/>
          </a:prstGeom>
          <a:ln w="76200">
            <a:gradFill flip="none" rotWithShape="1">
              <a:gsLst>
                <a:gs pos="9000">
                  <a:schemeClr val="bg1"/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287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D1883-5795-340B-23C7-DE47019D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403E4-7B9A-7900-4429-402EA796C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A5E7F-F98C-DDFB-40B5-21DCC0F3A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6A96E-EF34-ED97-D773-6138A14E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5EB37-0393-0BB3-5104-F071DB6C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5FE88-BD21-BDD1-5D6C-6AAF1821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94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291D-716C-F890-3B69-F5C60B8F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A474B-0FB8-D02C-3343-889BDACBE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EDF34-0668-18EE-BBC5-1036190F3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5ED98-F39C-AA73-33F9-A080642D8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D7CCF-9450-26D0-5693-A22DD3AC8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4316F-A405-DA59-BC21-AE152300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F9C19-BDE3-91EA-F420-51761BDD5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E628C-D854-4DDD-DC16-44534F9D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01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B5E9-A9B2-677A-09A0-F4905C43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378A0-9C42-0D12-FEC4-254EDA3D2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FA7B4-10C7-A7D4-C6FB-03A565A3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1687A-E291-E9AA-2B28-17107DB8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01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525F2-BB6B-9F3A-44E1-BAFB5E7C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D4260-4297-7D6A-0EDD-65B19CE6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00D78-6B24-6F9F-1E07-157D1233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64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7722-B838-7B70-F10A-A1C16F16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B258-C8DB-21F3-3CFE-198E5D732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3F25-5630-5F34-80D2-BA2F782F1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2ED58-FDA6-64DC-DCC2-1FFB3A44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AA41-BC6F-FAB2-3708-57EA7701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94D31-620B-D654-EA8A-1D69CB51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35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B609-BB00-61B1-FFD0-1BBE9F51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7BDAA-37E0-0D86-12E7-35FAEF619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8628F-52E7-640C-95AB-9226ED6E0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458E4-A280-AEBB-A8E5-50848734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B8BF7-8BB6-908B-7AC2-ED5D3F25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37CC8-8EE4-B673-6785-944453C4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35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B2BE-5837-D95B-7CFD-419F555E1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771DA-AD09-0675-D135-57EC778A3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63F8-C2B6-11B4-DA65-BEBE2FE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672A6-5B50-C1D9-B33F-3EB5D33A5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7D9C0-8D02-F971-C486-E51528CA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04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B8BCE-775E-9D23-5B9D-2B1A8BF6C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CFF2D-DE0F-BA2A-7B64-DB5104734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B6DFB-18D8-9848-1A4D-D4C7F2D0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D6FC4-FF86-1C96-7678-F2FAFBFD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5692C-B137-FC06-4497-A047F44C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002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41B40-E42D-FBF7-8D4A-6006755C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B5BB4-11C5-3DF6-7713-27528F192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483B0-9224-8AD1-412A-BD9F1BACD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16FF5-526B-4492-A089-2E1830DA809D}" type="datetimeFigureOut">
              <a:rPr lang="en-GB" smtClean="0"/>
              <a:t>02/02/2025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7262E-E85F-10E3-9479-64D7A1FF5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4A64E-5116-C095-DDC5-7FC84BF14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83858-B318-42CB-ABE5-C0064C7AE6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46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5493-AFD3-A52C-12F7-ECC2C7986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500" y="2297906"/>
            <a:ext cx="10795000" cy="2387600"/>
          </a:xfrm>
        </p:spPr>
        <p:txBody>
          <a:bodyPr>
            <a:normAutofit/>
          </a:bodyPr>
          <a:lstStyle/>
          <a:p>
            <a:r>
              <a:rPr lang="en-GB" dirty="0"/>
              <a:t>Organisation of the nervous system: Nerves and cells and structure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6F2B666-4218-DF2F-2EC6-56D37C3C5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80438"/>
            <a:ext cx="1630362" cy="124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NEUReka! Seminar Series">
            <a:extLst>
              <a:ext uri="{FF2B5EF4-FFF2-40B4-BE49-F238E27FC236}">
                <a16:creationId xmlns:a16="http://schemas.microsoft.com/office/drawing/2014/main" id="{E2858D24-304A-0A43-FDDC-86E85BFD3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414" y="89482"/>
            <a:ext cx="4082498" cy="133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BBAC2CC-FA94-6BE8-0AB8-87B222DCA171}"/>
              </a:ext>
            </a:extLst>
          </p:cNvPr>
          <p:cNvSpPr txBox="1">
            <a:spLocks/>
          </p:cNvSpPr>
          <p:nvPr/>
        </p:nvSpPr>
        <p:spPr>
          <a:xfrm>
            <a:off x="1524000" y="5561012"/>
            <a:ext cx="9144000" cy="1002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Vincenzo Mastrolia</a:t>
            </a:r>
          </a:p>
          <a:p>
            <a:pPr marL="0" marR="0" lvl="0" indent="0" algn="ctr" defTabSz="914400" rtl="0" eaLnBrk="1" fontAlgn="auto" latinLnBrk="0" hangingPunct="1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Research Associate</a:t>
            </a:r>
          </a:p>
          <a:p>
            <a:pPr marL="0" marR="0" lvl="0" indent="0" algn="ctr" defTabSz="914400" rtl="0" eaLnBrk="1" fontAlgn="auto" latinLnBrk="0" hangingPunct="1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Centre for Developmental Neurobiology (CDN)</a:t>
            </a:r>
          </a:p>
          <a:p>
            <a:pPr marL="0" marR="0" lvl="0" indent="0" algn="ctr" defTabSz="914400" rtl="0" eaLnBrk="1" fontAlgn="auto" latinLnBrk="0" hangingPunct="1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King’s College London</a:t>
            </a:r>
            <a:endParaRPr kumimoji="0" lang="en-GB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93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2302-3920-BD66-20D7-973F85B6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1140C-597D-6F42-51FE-BC079CD2B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46325"/>
            <a:ext cx="10035209" cy="2936875"/>
          </a:xfrm>
        </p:spPr>
        <p:txBody>
          <a:bodyPr/>
          <a:lstStyle/>
          <a:p>
            <a:pPr marL="342900" indent="-342900" algn="l" rtl="0" fontAlgn="base">
              <a:buClr>
                <a:schemeClr val="tx2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Define the divisions of the nervous system </a:t>
            </a:r>
          </a:p>
          <a:p>
            <a:pPr marL="342900" indent="-342900" algn="l" rtl="0" fontAlgn="base">
              <a:buClr>
                <a:schemeClr val="tx2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Define the terminology used for different parts of the brain and meninges </a:t>
            </a:r>
          </a:p>
          <a:p>
            <a:pPr marL="342900" indent="-342900" algn="l" rtl="0" fontAlgn="base">
              <a:buClr>
                <a:schemeClr val="tx2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Explain what is meant by neurones and neuroglia and give an account of their main features and functions </a:t>
            </a:r>
          </a:p>
          <a:p>
            <a:pPr marL="342900" indent="-342900" algn="l" rtl="0" fontAlgn="base">
              <a:buClr>
                <a:schemeClr val="tx2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Describe the basic arrangement of motor and sensory nerves </a:t>
            </a:r>
          </a:p>
          <a:p>
            <a:pPr marL="342900" indent="-342900" algn="l" rtl="0" fontAlgn="base">
              <a:buClr>
                <a:schemeClr val="tx2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Give an account of the organisation of nerve and neural connective tissues  </a:t>
            </a:r>
          </a:p>
          <a:p>
            <a:pPr marL="342900" indent="-342900" algn="l" rtl="0" fontAlgn="base">
              <a:buClr>
                <a:schemeClr val="tx2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Explain the classification schemes for nerves </a:t>
            </a:r>
          </a:p>
          <a:p>
            <a:pPr marL="342900" indent="-342900" algn="l" rtl="0" fontAlgn="base">
              <a:buClr>
                <a:schemeClr val="tx2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Explain the range of sensory receptors, each with a precise function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804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EE04-7346-D222-305F-DC960665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Anatomical orientation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CC698-B35F-DF43-7133-06D6C99C1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4162" y="1843323"/>
            <a:ext cx="4641756" cy="4351338"/>
          </a:xfrm>
        </p:spPr>
      </p:pic>
      <p:pic>
        <p:nvPicPr>
          <p:cNvPr id="3074" name="Picture 2" descr="Anatomical Orientation and Directions | Human Anatomy and Physiology Lab  (BSB 141) | Study Guides">
            <a:extLst>
              <a:ext uri="{FF2B5EF4-FFF2-40B4-BE49-F238E27FC236}">
                <a16:creationId xmlns:a16="http://schemas.microsoft.com/office/drawing/2014/main" id="{DF5217C9-C5A2-CDC7-3B9A-EB3C9C7A7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70" y="1843323"/>
            <a:ext cx="5956153" cy="475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16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8F9CBA-5C68-1EF0-8B1C-6E982F71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Gross Anatomy of the nervous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DA320-8A64-1615-64B3-FD9E5D871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415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D07B-F7D0-AEA7-A2BD-000B0E7E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nervous system</a:t>
            </a:r>
          </a:p>
        </p:txBody>
      </p:sp>
      <p:pic>
        <p:nvPicPr>
          <p:cNvPr id="2050" name="Picture 2" descr="Central nervous system (CNS) - function, disorders | healthdirect">
            <a:extLst>
              <a:ext uri="{FF2B5EF4-FFF2-40B4-BE49-F238E27FC236}">
                <a16:creationId xmlns:a16="http://schemas.microsoft.com/office/drawing/2014/main" id="{6EEB4F5D-0F13-6849-3BCD-F6C6C84B0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12" y="1760028"/>
            <a:ext cx="4799970" cy="427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0392D1-9FAB-7B13-E068-98A1AFD30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1104" y="1603904"/>
            <a:ext cx="5505418" cy="4582402"/>
          </a:xfrm>
        </p:spPr>
      </p:pic>
    </p:spTree>
    <p:extLst>
      <p:ext uri="{BB962C8B-B14F-4D97-AF65-F5344CB8AC3E}">
        <p14:creationId xmlns:p14="http://schemas.microsoft.com/office/powerpoint/2010/main" val="43579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FAF2-ABEE-E804-9960-A6468285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CNS - Brain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A9172-D487-E117-F056-AE5336EA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1855099"/>
            <a:ext cx="5849386" cy="3367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3F709-0C4C-2E88-C149-48A82D64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669" y="1940165"/>
            <a:ext cx="5791612" cy="348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1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CAD82-B444-CD5E-4AF1-600D5C24F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5EF5-7901-0552-F8E5-3744AE1A8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CNS - Brain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3811F-7FDC-CE6D-E623-6A7641E8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14" y="1325563"/>
            <a:ext cx="2734711" cy="1574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148B8E-45BD-BAAC-ECD5-87C3AEC7C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4" y="3222617"/>
            <a:ext cx="5809002" cy="3232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05778-9557-E1B8-0904-F4A0EAFEE8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57" r="14428"/>
          <a:stretch/>
        </p:blipFill>
        <p:spPr>
          <a:xfrm>
            <a:off x="6612635" y="1325563"/>
            <a:ext cx="4625829" cy="46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9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F303-DDC5-B097-31D8-BFE7AA66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ventricles and the CSF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F88992D-4372-56AF-6273-8DC74F2E1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120" y="1704731"/>
            <a:ext cx="4735468" cy="361665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236E455-EE0F-43A7-0F05-3D1210879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" y="1536619"/>
            <a:ext cx="34099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3AE6810-C48E-58D3-CB60-B1DCF6BDC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13943"/>
          <a:stretch/>
        </p:blipFill>
        <p:spPr>
          <a:xfrm>
            <a:off x="8277224" y="1947867"/>
            <a:ext cx="3409950" cy="337351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C73DC5-FF32-1EB0-D5B2-3FDB2DB67E40}"/>
              </a:ext>
            </a:extLst>
          </p:cNvPr>
          <p:cNvSpPr txBox="1"/>
          <p:nvPr/>
        </p:nvSpPr>
        <p:spPr>
          <a:xfrm>
            <a:off x="588024" y="6174463"/>
            <a:ext cx="284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CSF = Cerebrospinal fluid</a:t>
            </a:r>
          </a:p>
        </p:txBody>
      </p:sp>
    </p:spTree>
    <p:extLst>
      <p:ext uri="{BB962C8B-B14F-4D97-AF65-F5344CB8AC3E}">
        <p14:creationId xmlns:p14="http://schemas.microsoft.com/office/powerpoint/2010/main" val="394392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34C5-96B3-1EEF-E53D-5D487EAC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CNS - Spinal Cord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C4A32-38A9-F458-3073-DAB1D15D2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536" y="1711736"/>
            <a:ext cx="5574802" cy="4095254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1B154A7-BF4A-2B24-CF43-85A61F065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77196" y="1350078"/>
            <a:ext cx="2151030" cy="4422072"/>
          </a:xfr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00396CE-862B-E802-AD55-E3C3B044F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03" y="1903319"/>
            <a:ext cx="2269710" cy="40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937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EE70-5A2A-36BE-F780-5CD440C87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Meninges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0F566E-1A80-5791-863D-D2FA5F9ED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011" y="1337233"/>
            <a:ext cx="7279664" cy="29338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920844-6C88-9356-0197-86B1B760F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16" y="3451684"/>
            <a:ext cx="3355422" cy="244935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B543E96-4FB2-5373-D87C-BB5E486E6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267" y="2365514"/>
            <a:ext cx="4236160" cy="4007012"/>
          </a:xfrm>
          <a:prstGeom prst="snip2SameRect">
            <a:avLst>
              <a:gd name="adj1" fmla="val 19147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5757D3-D123-E6BC-E8F4-34C459C22760}"/>
              </a:ext>
            </a:extLst>
          </p:cNvPr>
          <p:cNvSpPr txBox="1"/>
          <p:nvPr/>
        </p:nvSpPr>
        <p:spPr>
          <a:xfrm>
            <a:off x="4263843" y="4676361"/>
            <a:ext cx="3519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Layers from inside to outside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Pia mater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Subarachnoid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Arachnoid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Dura mater</a:t>
            </a:r>
          </a:p>
        </p:txBody>
      </p:sp>
    </p:spTree>
    <p:extLst>
      <p:ext uri="{BB962C8B-B14F-4D97-AF65-F5344CB8AC3E}">
        <p14:creationId xmlns:p14="http://schemas.microsoft.com/office/powerpoint/2010/main" val="1384157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892CDE-3ABE-575C-9B33-D7BA2FCB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Cells of the nervous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FBB7B-C06C-500E-4E76-0692E3828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5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EA42F-1AFB-4B77-9EAE-6CAB46E1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Cells of the nervous system - Neurons</a:t>
            </a: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A5DD9B4B-06E9-4AF1-9E25-31AEEFBC1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175" y="1497763"/>
            <a:ext cx="3364711" cy="4679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3CFDC-660E-4E04-BCA1-0129F1D9288B}"/>
              </a:ext>
            </a:extLst>
          </p:cNvPr>
          <p:cNvSpPr txBox="1"/>
          <p:nvPr/>
        </p:nvSpPr>
        <p:spPr>
          <a:xfrm>
            <a:off x="7925977" y="3681502"/>
            <a:ext cx="88603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Myelin sheaths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345371-67F6-414C-8EE4-8515CC9D35CD}"/>
              </a:ext>
            </a:extLst>
          </p:cNvPr>
          <p:cNvCxnSpPr/>
          <p:nvPr/>
        </p:nvCxnSpPr>
        <p:spPr>
          <a:xfrm flipV="1">
            <a:off x="8609645" y="3450378"/>
            <a:ext cx="185958" cy="437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AE3F92-794F-40E2-928A-B7E6A5307831}"/>
              </a:ext>
            </a:extLst>
          </p:cNvPr>
          <p:cNvCxnSpPr>
            <a:cxnSpLocks/>
          </p:cNvCxnSpPr>
          <p:nvPr/>
        </p:nvCxnSpPr>
        <p:spPr>
          <a:xfrm flipV="1">
            <a:off x="8609645" y="3736000"/>
            <a:ext cx="362003" cy="151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31567F-646C-41FF-B4E3-465089E7E27D}"/>
              </a:ext>
            </a:extLst>
          </p:cNvPr>
          <p:cNvCxnSpPr>
            <a:cxnSpLocks/>
          </p:cNvCxnSpPr>
          <p:nvPr/>
        </p:nvCxnSpPr>
        <p:spPr>
          <a:xfrm>
            <a:off x="8609645" y="3887926"/>
            <a:ext cx="565750" cy="186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D3F256D-62F1-4700-AFE5-ED8C695CB816}"/>
              </a:ext>
            </a:extLst>
          </p:cNvPr>
          <p:cNvSpPr txBox="1"/>
          <p:nvPr/>
        </p:nvSpPr>
        <p:spPr>
          <a:xfrm>
            <a:off x="10498902" y="2853047"/>
            <a:ext cx="88603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Dendritic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F1CAE5-11BE-4827-8FDF-01F45CCF2FB1}"/>
              </a:ext>
            </a:extLst>
          </p:cNvPr>
          <p:cNvSpPr txBox="1"/>
          <p:nvPr/>
        </p:nvSpPr>
        <p:spPr>
          <a:xfrm>
            <a:off x="10498901" y="4097734"/>
            <a:ext cx="88603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Axonal Boutons</a:t>
            </a:r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99429DDF-98F0-4BC6-8DA5-39907FE25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006" y="4125259"/>
            <a:ext cx="591948" cy="35584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145703-8778-47AB-9081-917C81D46ED3}"/>
              </a:ext>
            </a:extLst>
          </p:cNvPr>
          <p:cNvSpPr txBox="1"/>
          <p:nvPr/>
        </p:nvSpPr>
        <p:spPr>
          <a:xfrm>
            <a:off x="9233520" y="3175343"/>
            <a:ext cx="88603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Nodes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Ranvier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BF5837-80D1-43E5-8447-0B25E33671B2}"/>
              </a:ext>
            </a:extLst>
          </p:cNvPr>
          <p:cNvCxnSpPr>
            <a:cxnSpLocks/>
          </p:cNvCxnSpPr>
          <p:nvPr/>
        </p:nvCxnSpPr>
        <p:spPr>
          <a:xfrm flipH="1" flipV="1">
            <a:off x="8892521" y="3169810"/>
            <a:ext cx="503459" cy="2504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E30EE2-6EC8-4A0A-82DF-B220836CF2FF}"/>
              </a:ext>
            </a:extLst>
          </p:cNvPr>
          <p:cNvCxnSpPr>
            <a:cxnSpLocks/>
          </p:cNvCxnSpPr>
          <p:nvPr/>
        </p:nvCxnSpPr>
        <p:spPr>
          <a:xfrm flipH="1">
            <a:off x="8971649" y="3420278"/>
            <a:ext cx="424330" cy="107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099C7A-1EF5-490A-BD1E-89F79C7A10FA}"/>
              </a:ext>
            </a:extLst>
          </p:cNvPr>
          <p:cNvCxnSpPr>
            <a:cxnSpLocks/>
          </p:cNvCxnSpPr>
          <p:nvPr/>
        </p:nvCxnSpPr>
        <p:spPr>
          <a:xfrm flipH="1">
            <a:off x="9172951" y="3420278"/>
            <a:ext cx="223028" cy="4319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F03FB14-FC6C-47ED-881E-538D8D83C937}"/>
              </a:ext>
            </a:extLst>
          </p:cNvPr>
          <p:cNvSpPr txBox="1"/>
          <p:nvPr/>
        </p:nvSpPr>
        <p:spPr>
          <a:xfrm>
            <a:off x="8919474" y="2670718"/>
            <a:ext cx="1543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Axon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Initial  Segment (AIS)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8214CE-2241-4AB7-931B-7811B380BCAE}"/>
              </a:ext>
            </a:extLst>
          </p:cNvPr>
          <p:cNvCxnSpPr>
            <a:cxnSpLocks/>
          </p:cNvCxnSpPr>
          <p:nvPr/>
        </p:nvCxnSpPr>
        <p:spPr>
          <a:xfrm flipH="1" flipV="1">
            <a:off x="9024508" y="2642065"/>
            <a:ext cx="371470" cy="1671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EB7F6B-ABA6-4EBC-ABAD-630756E5B565}"/>
              </a:ext>
            </a:extLst>
          </p:cNvPr>
          <p:cNvSpPr txBox="1"/>
          <p:nvPr/>
        </p:nvSpPr>
        <p:spPr>
          <a:xfrm>
            <a:off x="7844322" y="5374416"/>
            <a:ext cx="946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Terminals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A7CE91-D5A9-4C12-9E44-EBDD98FB681F}"/>
              </a:ext>
            </a:extLst>
          </p:cNvPr>
          <p:cNvCxnSpPr>
            <a:cxnSpLocks/>
          </p:cNvCxnSpPr>
          <p:nvPr/>
        </p:nvCxnSpPr>
        <p:spPr>
          <a:xfrm>
            <a:off x="8401981" y="5616916"/>
            <a:ext cx="295974" cy="1181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E7B8A2-984F-4FF0-A9C8-441A02489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6776" cy="4351338"/>
          </a:xfrm>
        </p:spPr>
        <p:txBody>
          <a:bodyPr>
            <a:norm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Ability to process multiple inputs into an output</a:t>
            </a:r>
            <a:endParaRPr lang="en-GB" dirty="0"/>
          </a:p>
          <a:p>
            <a:r>
              <a:rPr lang="en-GB" dirty="0"/>
              <a:t>Specialized morphology</a:t>
            </a:r>
          </a:p>
          <a:p>
            <a:pPr lvl="1"/>
            <a:r>
              <a:rPr lang="en-GB" dirty="0"/>
              <a:t>Multitude of inputs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Dendrites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Output  </a:t>
            </a:r>
            <a:r>
              <a:rPr lang="en-GB" b="1" dirty="0">
                <a:solidFill>
                  <a:srgbClr val="FF0000"/>
                </a:solidFill>
                <a:sym typeface="Wingdings" panose="05000000000000000000" pitchFamily="2" charset="2"/>
              </a:rPr>
              <a:t>Axon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Input neuron or target neuron can be very distant (projecting)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r>
              <a:rPr lang="en-GB" dirty="0"/>
              <a:t>Excitable</a:t>
            </a:r>
          </a:p>
          <a:p>
            <a:pPr lvl="1"/>
            <a:r>
              <a:rPr lang="en-GB" dirty="0"/>
              <a:t>Voltage-/Ligand-gated ion channels</a:t>
            </a:r>
          </a:p>
          <a:p>
            <a:pPr lvl="1"/>
            <a:r>
              <a:rPr lang="en-GB" dirty="0"/>
              <a:t>Fast conduction of signals (myelin)</a:t>
            </a:r>
          </a:p>
        </p:txBody>
      </p:sp>
    </p:spTree>
    <p:extLst>
      <p:ext uri="{BB962C8B-B14F-4D97-AF65-F5344CB8AC3E}">
        <p14:creationId xmlns:p14="http://schemas.microsoft.com/office/powerpoint/2010/main" val="408160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A7E2-92A5-4051-8669-8E2A2B77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Neuronal-specific dendritic morphology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A3EE3-E810-4AB6-8647-E3CCF5AD4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21" y="6084631"/>
            <a:ext cx="11713879" cy="37283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Dendrites organize in a </a:t>
            </a:r>
            <a:r>
              <a:rPr lang="en-GB" b="1" dirty="0"/>
              <a:t>dendritic arbour </a:t>
            </a:r>
            <a:r>
              <a:rPr lang="en-GB" dirty="0"/>
              <a:t>which is optimized to the tissue and inputs the neuron receives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8F501C-B3B4-42B7-92E4-05E8FCBC4A47}"/>
              </a:ext>
            </a:extLst>
          </p:cNvPr>
          <p:cNvGrpSpPr/>
          <p:nvPr/>
        </p:nvGrpSpPr>
        <p:grpSpPr>
          <a:xfrm>
            <a:off x="2993056" y="1281328"/>
            <a:ext cx="6275738" cy="4312800"/>
            <a:chOff x="962758" y="1595133"/>
            <a:chExt cx="7218484" cy="4960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D5E0FD8-21C1-45DB-9DF5-8B8860D5F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758" y="2017730"/>
              <a:ext cx="7218484" cy="414866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B43DBDF-D52F-45CA-9601-274B46FD3580}"/>
                </a:ext>
              </a:extLst>
            </p:cNvPr>
            <p:cNvSpPr txBox="1"/>
            <p:nvPr/>
          </p:nvSpPr>
          <p:spPr>
            <a:xfrm>
              <a:off x="1030491" y="5356533"/>
              <a:ext cx="1803400" cy="672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Olfactory sensory cell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48EC0D-1E5A-4622-8CEE-BE6E2D2E8CB7}"/>
                </a:ext>
              </a:extLst>
            </p:cNvPr>
            <p:cNvSpPr txBox="1"/>
            <p:nvPr/>
          </p:nvSpPr>
          <p:spPr>
            <a:xfrm>
              <a:off x="1364924" y="1595133"/>
              <a:ext cx="1134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Selecting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BBE20F-927C-438D-A62E-D12A268CE48C}"/>
                </a:ext>
              </a:extLst>
            </p:cNvPr>
            <p:cNvSpPr txBox="1"/>
            <p:nvPr/>
          </p:nvSpPr>
          <p:spPr>
            <a:xfrm>
              <a:off x="5572858" y="1595133"/>
              <a:ext cx="16830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Space-filling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8BCFDC-6C73-42CE-B702-AA5BD0CD8F12}"/>
                </a:ext>
              </a:extLst>
            </p:cNvPr>
            <p:cNvSpPr txBox="1"/>
            <p:nvPr/>
          </p:nvSpPr>
          <p:spPr>
            <a:xfrm>
              <a:off x="3109058" y="1595133"/>
              <a:ext cx="1134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Sampling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A4994A-C36B-4AA5-B609-46F21E11070E}"/>
                </a:ext>
              </a:extLst>
            </p:cNvPr>
            <p:cNvSpPr txBox="1"/>
            <p:nvPr/>
          </p:nvSpPr>
          <p:spPr>
            <a:xfrm>
              <a:off x="5512695" y="5535917"/>
              <a:ext cx="1803400" cy="672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Cerebellar Purkinje cell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C22C7A-1D37-4AF2-833B-CD8F1C80E08B}"/>
                </a:ext>
              </a:extLst>
            </p:cNvPr>
            <p:cNvSpPr txBox="1"/>
            <p:nvPr/>
          </p:nvSpPr>
          <p:spPr>
            <a:xfrm>
              <a:off x="2515572" y="6166395"/>
              <a:ext cx="2231470" cy="389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Pyramidal cell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2BE59E7-2E65-43FC-A601-FAC0D424BD9F}"/>
              </a:ext>
            </a:extLst>
          </p:cNvPr>
          <p:cNvSpPr txBox="1"/>
          <p:nvPr/>
        </p:nvSpPr>
        <p:spPr>
          <a:xfrm>
            <a:off x="4755812" y="6560761"/>
            <a:ext cx="71821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Greg Stuart, Nelson Spruston, Michael Häusser - Dendrites (2016, Oxford University Press)</a:t>
            </a:r>
          </a:p>
        </p:txBody>
      </p:sp>
    </p:spTree>
    <p:extLst>
      <p:ext uri="{BB962C8B-B14F-4D97-AF65-F5344CB8AC3E}">
        <p14:creationId xmlns:p14="http://schemas.microsoft.com/office/powerpoint/2010/main" val="650769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76D8-4B4C-7578-6DA2-F75BCACF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neurons based on their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99EA4F-58F4-5FC1-E888-C9DCEC5FB10D}"/>
              </a:ext>
            </a:extLst>
          </p:cNvPr>
          <p:cNvSpPr/>
          <p:nvPr/>
        </p:nvSpPr>
        <p:spPr>
          <a:xfrm>
            <a:off x="7924521" y="2276475"/>
            <a:ext cx="2009774" cy="544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Neurotransmitters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released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42FF08-0454-F37B-81D7-D11C6B6D7C36}"/>
              </a:ext>
            </a:extLst>
          </p:cNvPr>
          <p:cNvSpPr/>
          <p:nvPr/>
        </p:nvSpPr>
        <p:spPr>
          <a:xfrm>
            <a:off x="6862999" y="3684588"/>
            <a:ext cx="1157461" cy="5445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Activating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2C19CA-CF18-402B-DF22-B8A65F7DB0F1}"/>
              </a:ext>
            </a:extLst>
          </p:cNvPr>
          <p:cNvSpPr/>
          <p:nvPr/>
        </p:nvSpPr>
        <p:spPr>
          <a:xfrm>
            <a:off x="9759948" y="3684588"/>
            <a:ext cx="1157461" cy="544512"/>
          </a:xfrm>
          <a:prstGeom prst="roundRect">
            <a:avLst/>
          </a:prstGeom>
          <a:solidFill>
            <a:srgbClr val="FF33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Inhibiting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0961E1-FEEF-77E8-0FAD-6427A30E5261}"/>
              </a:ext>
            </a:extLst>
          </p:cNvPr>
          <p:cNvSpPr/>
          <p:nvPr/>
        </p:nvSpPr>
        <p:spPr>
          <a:xfrm>
            <a:off x="6062897" y="5060157"/>
            <a:ext cx="1157461" cy="5445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Glutamate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(CNS)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416854-2F32-5D4E-EEB7-0A6609F86957}"/>
              </a:ext>
            </a:extLst>
          </p:cNvPr>
          <p:cNvSpPr/>
          <p:nvPr/>
        </p:nvSpPr>
        <p:spPr>
          <a:xfrm>
            <a:off x="7561499" y="5060157"/>
            <a:ext cx="1367909" cy="5445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Acetylcholine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(PNS)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C36222-A4D7-08DB-13D1-24B2A3777322}"/>
              </a:ext>
            </a:extLst>
          </p:cNvPr>
          <p:cNvSpPr/>
          <p:nvPr/>
        </p:nvSpPr>
        <p:spPr>
          <a:xfrm>
            <a:off x="9004297" y="5053013"/>
            <a:ext cx="1157461" cy="544512"/>
          </a:xfrm>
          <a:prstGeom prst="roundRect">
            <a:avLst/>
          </a:prstGeom>
          <a:solidFill>
            <a:srgbClr val="F6D2D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GABA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(CNS)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99159A-A42A-2171-F2E4-C16841D39AA2}"/>
              </a:ext>
            </a:extLst>
          </p:cNvPr>
          <p:cNvSpPr/>
          <p:nvPr/>
        </p:nvSpPr>
        <p:spPr>
          <a:xfrm>
            <a:off x="10515599" y="5060157"/>
            <a:ext cx="1157461" cy="544512"/>
          </a:xfrm>
          <a:prstGeom prst="roundRect">
            <a:avLst/>
          </a:prstGeom>
          <a:solidFill>
            <a:srgbClr val="F6D2D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Glycine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(PNS)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4B55FA7-8337-844D-4EF5-A1903711FCCB}"/>
              </a:ext>
            </a:extLst>
          </p:cNvPr>
          <p:cNvCxnSpPr>
            <a:stCxn id="4" idx="1"/>
            <a:endCxn id="5" idx="0"/>
          </p:cNvCxnSpPr>
          <p:nvPr/>
        </p:nvCxnSpPr>
        <p:spPr>
          <a:xfrm rot="10800000" flipV="1">
            <a:off x="7441731" y="2548730"/>
            <a:ext cx="482791" cy="113585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FC54819-F887-C49F-A6A5-7F4581B1FE96}"/>
              </a:ext>
            </a:extLst>
          </p:cNvPr>
          <p:cNvCxnSpPr>
            <a:stCxn id="4" idx="3"/>
            <a:endCxn id="6" idx="0"/>
          </p:cNvCxnSpPr>
          <p:nvPr/>
        </p:nvCxnSpPr>
        <p:spPr>
          <a:xfrm>
            <a:off x="9934295" y="2548731"/>
            <a:ext cx="404384" cy="113585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D1EF007-CC63-85E8-EBA0-D34FBB040DB5}"/>
              </a:ext>
            </a:extLst>
          </p:cNvPr>
          <p:cNvCxnSpPr>
            <a:stCxn id="5" idx="1"/>
            <a:endCxn id="7" idx="0"/>
          </p:cNvCxnSpPr>
          <p:nvPr/>
        </p:nvCxnSpPr>
        <p:spPr>
          <a:xfrm rot="10800000" flipV="1">
            <a:off x="6641629" y="3956843"/>
            <a:ext cx="221371" cy="110331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56AAC1D-B742-60CD-6980-103EAEFEC26C}"/>
              </a:ext>
            </a:extLst>
          </p:cNvPr>
          <p:cNvCxnSpPr>
            <a:stCxn id="5" idx="3"/>
            <a:endCxn id="8" idx="0"/>
          </p:cNvCxnSpPr>
          <p:nvPr/>
        </p:nvCxnSpPr>
        <p:spPr>
          <a:xfrm>
            <a:off x="8020460" y="3956844"/>
            <a:ext cx="224994" cy="110331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6945CAC-4540-B31B-315A-FDDC2C342FAA}"/>
              </a:ext>
            </a:extLst>
          </p:cNvPr>
          <p:cNvCxnSpPr>
            <a:stCxn id="6" idx="1"/>
            <a:endCxn id="9" idx="0"/>
          </p:cNvCxnSpPr>
          <p:nvPr/>
        </p:nvCxnSpPr>
        <p:spPr>
          <a:xfrm rot="10800000" flipV="1">
            <a:off x="9583028" y="3956843"/>
            <a:ext cx="176920" cy="109616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84B45FC-505D-5478-D805-6C5026B98284}"/>
              </a:ext>
            </a:extLst>
          </p:cNvPr>
          <p:cNvCxnSpPr>
            <a:stCxn id="6" idx="3"/>
            <a:endCxn id="10" idx="0"/>
          </p:cNvCxnSpPr>
          <p:nvPr/>
        </p:nvCxnSpPr>
        <p:spPr>
          <a:xfrm>
            <a:off x="10917409" y="3956844"/>
            <a:ext cx="176921" cy="110331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" descr="Chemical Structures of Neurotransmitters">
            <a:extLst>
              <a:ext uri="{FF2B5EF4-FFF2-40B4-BE49-F238E27FC236}">
                <a16:creationId xmlns:a16="http://schemas.microsoft.com/office/drawing/2014/main" id="{A642F7D3-7B82-ECBC-4793-ED578CB8D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"/>
          <a:stretch/>
        </p:blipFill>
        <p:spPr bwMode="auto">
          <a:xfrm>
            <a:off x="304238" y="2133600"/>
            <a:ext cx="4963090" cy="339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508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E3961-EA92-05C8-ED7E-9CFCF35C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775D-A3CF-9572-5A7A-D716A8C6C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neurons based on their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770AF-73BB-0E15-2226-9BBCFC99B5D6}"/>
              </a:ext>
            </a:extLst>
          </p:cNvPr>
          <p:cNvSpPr/>
          <p:nvPr/>
        </p:nvSpPr>
        <p:spPr>
          <a:xfrm>
            <a:off x="4634460" y="1849437"/>
            <a:ext cx="2020340" cy="605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Distance of projections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74682B-A73E-B2CF-0EB8-2EA879AC914C}"/>
              </a:ext>
            </a:extLst>
          </p:cNvPr>
          <p:cNvSpPr/>
          <p:nvPr/>
        </p:nvSpPr>
        <p:spPr>
          <a:xfrm>
            <a:off x="2225511" y="3257550"/>
            <a:ext cx="1163547" cy="60563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5643F8-FB4D-7F1C-43AF-FE97148781D1}"/>
              </a:ext>
            </a:extLst>
          </p:cNvPr>
          <p:cNvSpPr/>
          <p:nvPr/>
        </p:nvSpPr>
        <p:spPr>
          <a:xfrm>
            <a:off x="7981950" y="3257550"/>
            <a:ext cx="1163547" cy="60563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Long-projecting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CB9AB1-BFF0-0D38-92DD-565DED2CC6CB}"/>
              </a:ext>
            </a:extLst>
          </p:cNvPr>
          <p:cNvSpPr/>
          <p:nvPr/>
        </p:nvSpPr>
        <p:spPr>
          <a:xfrm>
            <a:off x="596735" y="4633119"/>
            <a:ext cx="1163547" cy="6056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Pyramidal neurons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(CNS)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EA3126-C230-2DBA-FC4E-E860F137F783}"/>
              </a:ext>
            </a:extLst>
          </p:cNvPr>
          <p:cNvSpPr/>
          <p:nvPr/>
        </p:nvSpPr>
        <p:spPr>
          <a:xfrm>
            <a:off x="2095337" y="4633119"/>
            <a:ext cx="1375101" cy="6056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Interneurons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(PNS)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4814E9-D63E-7C36-0467-2C46CCA7FE55}"/>
              </a:ext>
            </a:extLst>
          </p:cNvPr>
          <p:cNvSpPr/>
          <p:nvPr/>
        </p:nvSpPr>
        <p:spPr>
          <a:xfrm>
            <a:off x="9330000" y="5433218"/>
            <a:ext cx="1480875" cy="605632"/>
          </a:xfrm>
          <a:prstGeom prst="roundRect">
            <a:avLst/>
          </a:prstGeom>
          <a:solidFill>
            <a:srgbClr val="F6D2D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Interneurons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(CNS &amp; PNS)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9075CF1-4B61-79E3-25BF-9CD1EACCFA7B}"/>
              </a:ext>
            </a:extLst>
          </p:cNvPr>
          <p:cNvCxnSpPr>
            <a:stCxn id="4" idx="1"/>
            <a:endCxn id="5" idx="0"/>
          </p:cNvCxnSpPr>
          <p:nvPr/>
        </p:nvCxnSpPr>
        <p:spPr>
          <a:xfrm rot="10800000" flipV="1">
            <a:off x="2807286" y="2152252"/>
            <a:ext cx="1827175" cy="110529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0595EDB-B0EA-7D78-0784-5CA644252BDE}"/>
              </a:ext>
            </a:extLst>
          </p:cNvPr>
          <p:cNvCxnSpPr>
            <a:stCxn id="4" idx="3"/>
            <a:endCxn id="6" idx="0"/>
          </p:cNvCxnSpPr>
          <p:nvPr/>
        </p:nvCxnSpPr>
        <p:spPr>
          <a:xfrm>
            <a:off x="6654800" y="2152253"/>
            <a:ext cx="1908924" cy="110529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D1B10DA-6555-FBD5-7654-421EDCFA2E4F}"/>
              </a:ext>
            </a:extLst>
          </p:cNvPr>
          <p:cNvCxnSpPr>
            <a:stCxn id="5" idx="1"/>
            <a:endCxn id="7" idx="0"/>
          </p:cNvCxnSpPr>
          <p:nvPr/>
        </p:nvCxnSpPr>
        <p:spPr>
          <a:xfrm rot="10800000" flipV="1">
            <a:off x="1178509" y="3560365"/>
            <a:ext cx="1047002" cy="107275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3B352E9-CF35-3DFF-C759-8198000C4C80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 rot="5400000">
            <a:off x="7511825" y="4381319"/>
            <a:ext cx="1570036" cy="533762"/>
          </a:xfrm>
          <a:prstGeom prst="bentConnector3">
            <a:avLst>
              <a:gd name="adj1" fmla="val 2232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78D014B-DA33-67FA-CC0A-0C136CD0D645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>
            <a:off x="9145497" y="3560366"/>
            <a:ext cx="924941" cy="187285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01B8FB-5C01-678B-9B8F-EF10E7FE037D}"/>
              </a:ext>
            </a:extLst>
          </p:cNvPr>
          <p:cNvSpPr/>
          <p:nvPr/>
        </p:nvSpPr>
        <p:spPr>
          <a:xfrm>
            <a:off x="7289524" y="5433218"/>
            <a:ext cx="1480876" cy="6056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Motor neurons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(CNS &amp; PNS)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61A84A-733C-FAE5-D033-12C968BBB7CE}"/>
              </a:ext>
            </a:extLst>
          </p:cNvPr>
          <p:cNvSpPr/>
          <p:nvPr/>
        </p:nvSpPr>
        <p:spPr>
          <a:xfrm>
            <a:off x="3841586" y="4633118"/>
            <a:ext cx="1359235" cy="605632"/>
          </a:xfrm>
          <a:prstGeom prst="roundRect">
            <a:avLst/>
          </a:prstGeom>
          <a:solidFill>
            <a:srgbClr val="F6D2D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Interneurons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(CNS &amp; PNS)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8144CB7-F9FE-B9C2-A085-9B33A9C8D5BC}"/>
              </a:ext>
            </a:extLst>
          </p:cNvPr>
          <p:cNvCxnSpPr>
            <a:cxnSpLocks/>
            <a:stCxn id="5" idx="3"/>
            <a:endCxn id="19" idx="0"/>
          </p:cNvCxnSpPr>
          <p:nvPr/>
        </p:nvCxnSpPr>
        <p:spPr>
          <a:xfrm>
            <a:off x="3389058" y="3560366"/>
            <a:ext cx="1132146" cy="107275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B9D9C10-9131-DDFC-D523-7AE2F88AFD27}"/>
              </a:ext>
            </a:extLst>
          </p:cNvPr>
          <p:cNvSpPr/>
          <p:nvPr/>
        </p:nvSpPr>
        <p:spPr>
          <a:xfrm>
            <a:off x="8340727" y="4561580"/>
            <a:ext cx="1480876" cy="6056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Sensory neurons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(PNS)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88C2CDF-09D4-97D1-4E54-D448F6204513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2782888" y="3863182"/>
            <a:ext cx="24397" cy="769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89FC97D-960C-18D8-8213-632BC35E1EC6}"/>
              </a:ext>
            </a:extLst>
          </p:cNvPr>
          <p:cNvSpPr/>
          <p:nvPr/>
        </p:nvSpPr>
        <p:spPr>
          <a:xfrm>
            <a:off x="6654800" y="4561581"/>
            <a:ext cx="1163547" cy="6056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Pyramidal neurons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(CNS)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2A800F9-58F8-9BAF-2FF6-9994473F0F13}"/>
              </a:ext>
            </a:extLst>
          </p:cNvPr>
          <p:cNvCxnSpPr>
            <a:cxnSpLocks/>
            <a:stCxn id="6" idx="1"/>
            <a:endCxn id="59" idx="0"/>
          </p:cNvCxnSpPr>
          <p:nvPr/>
        </p:nvCxnSpPr>
        <p:spPr>
          <a:xfrm rot="10800000" flipV="1">
            <a:off x="7236574" y="3560365"/>
            <a:ext cx="745376" cy="100121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0E136EC0-D8F7-9359-D242-E102B0EDCD3A}"/>
              </a:ext>
            </a:extLst>
          </p:cNvPr>
          <p:cNvCxnSpPr>
            <a:cxnSpLocks/>
            <a:stCxn id="6" idx="2"/>
            <a:endCxn id="35" idx="0"/>
          </p:cNvCxnSpPr>
          <p:nvPr/>
        </p:nvCxnSpPr>
        <p:spPr>
          <a:xfrm rot="16200000" flipH="1">
            <a:off x="8473245" y="3953660"/>
            <a:ext cx="698398" cy="51744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776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6E83-4130-4BD3-95FB-95B63829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Neuronal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C3FCA-217B-4140-86D9-8043A31E3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Highly specialized organization, depending on brain area</a:t>
            </a:r>
          </a:p>
          <a:p>
            <a:r>
              <a:rPr lang="en-GB" dirty="0"/>
              <a:t>Specific neuronal distribution</a:t>
            </a:r>
          </a:p>
          <a:p>
            <a:pPr lvl="1"/>
            <a:r>
              <a:rPr lang="en-GB" dirty="0"/>
              <a:t>Brain cortex has 6 layers</a:t>
            </a:r>
          </a:p>
          <a:p>
            <a:pPr lvl="1"/>
            <a:r>
              <a:rPr lang="en-GB" dirty="0"/>
              <a:t>Spinal cord has 10 laminae</a:t>
            </a:r>
          </a:p>
          <a:p>
            <a:endParaRPr lang="en-GB" dirty="0"/>
          </a:p>
        </p:txBody>
      </p:sp>
      <p:pic>
        <p:nvPicPr>
          <p:cNvPr id="2050" name="Picture 2" descr="Neural circuit - Wikipedia">
            <a:extLst>
              <a:ext uri="{FF2B5EF4-FFF2-40B4-BE49-F238E27FC236}">
                <a16:creationId xmlns:a16="http://schemas.microsoft.com/office/drawing/2014/main" id="{0847DED2-4208-47DD-B6CD-B201F472C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62003"/>
            <a:ext cx="4385734" cy="575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DED020-7DE4-3F29-CC02-1BCCDBE14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78" y="3641968"/>
            <a:ext cx="3658484" cy="292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35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F50-5A81-8C96-694C-1F044A64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89" y="1"/>
            <a:ext cx="11900535" cy="1099738"/>
          </a:xfrm>
        </p:spPr>
        <p:txBody>
          <a:bodyPr>
            <a:normAutofit/>
          </a:bodyPr>
          <a:lstStyle/>
          <a:p>
            <a:r>
              <a:rPr lang="en-GB" dirty="0"/>
              <a:t>Cells of the nervous system - Oligodendrocytes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0C8833E-9E85-0111-E1DE-241626E74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DEE27-966F-8C61-F072-7AFE87DA9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966" y="1858014"/>
            <a:ext cx="2176068" cy="4086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470C0D-8BA4-DB5E-F181-15B8A76FB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6" y="2098991"/>
            <a:ext cx="3128032" cy="3420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A9A635-0E87-4148-263B-2BA384256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207" y="2095501"/>
            <a:ext cx="3408896" cy="361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85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FAB7-C0A0-0912-8F3B-EF762F59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Cells of the nervous system - Schwann Cells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0AEC0F9-77E4-C5A2-3031-350C3D919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865" y="1343818"/>
            <a:ext cx="4932310" cy="5139474"/>
          </a:xfrm>
        </p:spPr>
      </p:pic>
      <p:pic>
        <p:nvPicPr>
          <p:cNvPr id="3074" name="Picture 2" descr="schwann cell - Keyword Search - Science Photo Library">
            <a:extLst>
              <a:ext uri="{FF2B5EF4-FFF2-40B4-BE49-F238E27FC236}">
                <a16:creationId xmlns:a16="http://schemas.microsoft.com/office/drawing/2014/main" id="{D1A7D8A4-BF10-306A-131F-424FFBC8F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415" y="2177827"/>
            <a:ext cx="4987636" cy="3229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81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8C48B-446E-32C9-7FC2-A92F0FFB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D679-5581-D428-A5ED-CF6A9923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Cells of the nervous system - Microglia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993D48A-403D-3CC4-66CB-5C22729DC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2783" cy="4351338"/>
          </a:xfrm>
        </p:spPr>
        <p:txBody>
          <a:bodyPr/>
          <a:lstStyle/>
          <a:p>
            <a:r>
              <a:rPr lang="en-GB" b="1" dirty="0"/>
              <a:t>Resident immune cells </a:t>
            </a:r>
            <a:r>
              <a:rPr lang="en-GB" dirty="0"/>
              <a:t>of the nervous system</a:t>
            </a:r>
          </a:p>
          <a:p>
            <a:r>
              <a:rPr lang="en-GB" dirty="0"/>
              <a:t>Sentinel/physiological role in </a:t>
            </a:r>
            <a:r>
              <a:rPr lang="en-GB" b="1" dirty="0"/>
              <a:t>surveillance</a:t>
            </a:r>
            <a:r>
              <a:rPr lang="en-GB" dirty="0"/>
              <a:t> of the nervous tissue</a:t>
            </a:r>
          </a:p>
          <a:p>
            <a:r>
              <a:rPr lang="en-GB" dirty="0"/>
              <a:t>Role in neuronal development and synapse refinement</a:t>
            </a:r>
          </a:p>
          <a:p>
            <a:r>
              <a:rPr lang="en-GB" dirty="0"/>
              <a:t>Similar to macrophages (belonging to the myeloid lineage)</a:t>
            </a:r>
          </a:p>
          <a:p>
            <a:r>
              <a:rPr lang="en-GB" dirty="0"/>
              <a:t>Can be activated during neuronal damage and inflammation (e.g. Alzheimer’s disease)</a:t>
            </a:r>
          </a:p>
        </p:txBody>
      </p:sp>
      <p:pic>
        <p:nvPicPr>
          <p:cNvPr id="5122" name="Picture 2" descr="Fig. 1">
            <a:extLst>
              <a:ext uri="{FF2B5EF4-FFF2-40B4-BE49-F238E27FC236}">
                <a16:creationId xmlns:a16="http://schemas.microsoft.com/office/drawing/2014/main" id="{06A831AB-46A9-DBC6-58A0-BAC640ACF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104" y="1536701"/>
            <a:ext cx="4509598" cy="456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4DFD3DD6-3BB7-4201-2FEB-2ED338C0C8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03" t="6697" r="16755" b="29118"/>
          <a:stretch/>
        </p:blipFill>
        <p:spPr>
          <a:xfrm>
            <a:off x="5077122" y="4910522"/>
            <a:ext cx="2037756" cy="174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24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3D75-DA9F-1B16-CDCE-0AB0CDC0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Cells of the nervous system - Astrocytes</a:t>
            </a:r>
          </a:p>
        </p:txBody>
      </p:sp>
      <p:pic>
        <p:nvPicPr>
          <p:cNvPr id="6146" name="Picture 2" descr="Fig. 1">
            <a:extLst>
              <a:ext uri="{FF2B5EF4-FFF2-40B4-BE49-F238E27FC236}">
                <a16:creationId xmlns:a16="http://schemas.microsoft.com/office/drawing/2014/main" id="{FFEBE05E-007B-DC8E-46B1-1084382E6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321" y="1105692"/>
            <a:ext cx="4969958" cy="433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BBDC91-9714-7A60-E238-F29408A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7225" cy="4351338"/>
          </a:xfrm>
        </p:spPr>
        <p:txBody>
          <a:bodyPr/>
          <a:lstStyle/>
          <a:p>
            <a:r>
              <a:rPr lang="en-GB" b="1" dirty="0"/>
              <a:t>Support</a:t>
            </a:r>
            <a:r>
              <a:rPr lang="en-GB" dirty="0"/>
              <a:t> cells for the neurons</a:t>
            </a:r>
          </a:p>
          <a:p>
            <a:r>
              <a:rPr lang="en-GB" dirty="0"/>
              <a:t>Form the </a:t>
            </a:r>
            <a:r>
              <a:rPr lang="en-GB" b="1" dirty="0"/>
              <a:t>blood brain barrier</a:t>
            </a:r>
          </a:p>
          <a:p>
            <a:pPr lvl="1"/>
            <a:r>
              <a:rPr lang="en-GB" dirty="0"/>
              <a:t>Delivery of nutrients to the neurons</a:t>
            </a:r>
          </a:p>
          <a:p>
            <a:pPr lvl="1"/>
            <a:r>
              <a:rPr lang="en-GB" dirty="0"/>
              <a:t>Limited access from the bloodstream</a:t>
            </a:r>
          </a:p>
          <a:p>
            <a:r>
              <a:rPr lang="en-GB" dirty="0"/>
              <a:t>Interact with synapses</a:t>
            </a:r>
          </a:p>
          <a:p>
            <a:pPr lvl="1"/>
            <a:r>
              <a:rPr lang="en-GB" b="1" dirty="0"/>
              <a:t>Modulation of synaptic transmission</a:t>
            </a:r>
          </a:p>
          <a:p>
            <a:r>
              <a:rPr lang="en-GB" dirty="0"/>
              <a:t>Influences in inflammatory situations</a:t>
            </a:r>
          </a:p>
          <a:p>
            <a:pPr lvl="1"/>
            <a:r>
              <a:rPr lang="en-GB" dirty="0"/>
              <a:t>Neurodegenerative diseases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0AF383-8DA7-9136-6060-08BB75D4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040" y="3198339"/>
            <a:ext cx="1986337" cy="297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96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9E9A-8484-E652-9B2B-14171982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Neurons and 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9194-8DA5-32EE-BB06-37EBF287D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8725" cy="4351338"/>
          </a:xfrm>
        </p:spPr>
        <p:txBody>
          <a:bodyPr/>
          <a:lstStyle/>
          <a:p>
            <a:r>
              <a:rPr lang="en-GB" b="1" dirty="0"/>
              <a:t>Glial cells</a:t>
            </a:r>
          </a:p>
          <a:p>
            <a:pPr lvl="1"/>
            <a:r>
              <a:rPr lang="en-GB" dirty="0"/>
              <a:t>Astrocytes</a:t>
            </a:r>
          </a:p>
          <a:p>
            <a:pPr lvl="1"/>
            <a:r>
              <a:rPr lang="en-GB" dirty="0"/>
              <a:t>Oligodendrocytes/Schwann cells</a:t>
            </a:r>
          </a:p>
          <a:p>
            <a:pPr lvl="1"/>
            <a:r>
              <a:rPr lang="en-GB" dirty="0"/>
              <a:t>Microglia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Ependymal cells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Radial glia</a:t>
            </a:r>
          </a:p>
          <a:p>
            <a:r>
              <a:rPr lang="en-GB" dirty="0"/>
              <a:t>Interaction between neurons and the glial cells is essential to the physiology of the nervous system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D0F9F9-9FB7-4619-3E5B-B7DA01100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09" y="1514475"/>
            <a:ext cx="5632352" cy="448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00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2AF5-111D-120F-43FB-6146293D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Brain and Spinal Cord: Grey vs white matter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9F1135-1754-49FB-C7B8-C0438642E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38" y="1656660"/>
            <a:ext cx="5697435" cy="4351338"/>
          </a:xfrm>
        </p:spPr>
      </p:pic>
      <p:pic>
        <p:nvPicPr>
          <p:cNvPr id="6" name="Content Placeholder 12">
            <a:extLst>
              <a:ext uri="{FF2B5EF4-FFF2-40B4-BE49-F238E27FC236}">
                <a16:creationId xmlns:a16="http://schemas.microsoft.com/office/drawing/2014/main" id="{63916953-FAA9-F0F2-B02E-04061BDC0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257" y="1343818"/>
            <a:ext cx="2195798" cy="45141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372B74-6237-2958-25BB-D194B9DBF7C5}"/>
              </a:ext>
            </a:extLst>
          </p:cNvPr>
          <p:cNvSpPr txBox="1"/>
          <p:nvPr/>
        </p:nvSpPr>
        <p:spPr>
          <a:xfrm>
            <a:off x="6096000" y="2257425"/>
            <a:ext cx="256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White Matter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Neuronal projections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Myelin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Glial cells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BD516-5839-FD10-409B-538368CF9A2D}"/>
              </a:ext>
            </a:extLst>
          </p:cNvPr>
          <p:cNvSpPr txBox="1"/>
          <p:nvPr/>
        </p:nvSpPr>
        <p:spPr>
          <a:xfrm>
            <a:off x="6096000" y="4648200"/>
            <a:ext cx="25267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Grey Matter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Neuronal cell bodies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Glial cells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61EF70-BA34-3BE9-BDD5-3F8231CDCF5A}"/>
              </a:ext>
            </a:extLst>
          </p:cNvPr>
          <p:cNvCxnSpPr>
            <a:cxnSpLocks/>
          </p:cNvCxnSpPr>
          <p:nvPr/>
        </p:nvCxnSpPr>
        <p:spPr>
          <a:xfrm flipV="1">
            <a:off x="3352800" y="2448321"/>
            <a:ext cx="2743200" cy="1018779"/>
          </a:xfrm>
          <a:prstGeom prst="bentConnector3">
            <a:avLst>
              <a:gd name="adj1" fmla="val 0"/>
            </a:avLst>
          </a:prstGeom>
          <a:ln w="22225">
            <a:solidFill>
              <a:schemeClr val="tx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9">
            <a:extLst>
              <a:ext uri="{FF2B5EF4-FFF2-40B4-BE49-F238E27FC236}">
                <a16:creationId xmlns:a16="http://schemas.microsoft.com/office/drawing/2014/main" id="{9E862CB1-0DAA-84AA-F112-22F61BE1CE1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58100" y="1971079"/>
            <a:ext cx="1316684" cy="477241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9">
            <a:extLst>
              <a:ext uri="{FF2B5EF4-FFF2-40B4-BE49-F238E27FC236}">
                <a16:creationId xmlns:a16="http://schemas.microsoft.com/office/drawing/2014/main" id="{9197708F-9806-8170-2850-6CB1C9A71812}"/>
              </a:ext>
            </a:extLst>
          </p:cNvPr>
          <p:cNvCxnSpPr>
            <a:cxnSpLocks/>
          </p:cNvCxnSpPr>
          <p:nvPr/>
        </p:nvCxnSpPr>
        <p:spPr>
          <a:xfrm>
            <a:off x="3990975" y="4772025"/>
            <a:ext cx="2063362" cy="67120"/>
          </a:xfrm>
          <a:prstGeom prst="bentConnector3">
            <a:avLst>
              <a:gd name="adj1" fmla="val 144"/>
            </a:avLst>
          </a:prstGeom>
          <a:ln w="22225">
            <a:solidFill>
              <a:schemeClr val="tx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9">
            <a:extLst>
              <a:ext uri="{FF2B5EF4-FFF2-40B4-BE49-F238E27FC236}">
                <a16:creationId xmlns:a16="http://schemas.microsoft.com/office/drawing/2014/main" id="{486BBC11-557C-DCFF-1EF0-27B780A4D5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96175" y="4361853"/>
            <a:ext cx="2019302" cy="477292"/>
          </a:xfrm>
          <a:prstGeom prst="bentConnector3">
            <a:avLst>
              <a:gd name="adj1" fmla="val -472"/>
            </a:avLst>
          </a:prstGeom>
          <a:ln w="22225">
            <a:solidFill>
              <a:schemeClr val="tx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23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4ECB-AC33-F107-0DAC-10505FE2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White matter in the brain: projections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0A043E-A491-C413-D44D-A4307F823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950" y="1446388"/>
            <a:ext cx="3581400" cy="524316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EC8E92-B34D-FB47-EEA6-268C2263E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1311107"/>
            <a:ext cx="4343400" cy="507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93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790C19-A7FF-F34F-811F-A4CD8469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spinal cord and the nerves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A0844-A823-E5AA-8068-2347F31B4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646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0C25-1E7F-DACD-E266-AE63FAE9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spinal cord and the nerves</a:t>
            </a:r>
          </a:p>
        </p:txBody>
      </p:sp>
      <p:pic>
        <p:nvPicPr>
          <p:cNvPr id="7170" name="Picture 2" descr="Back view and top view of section of spine, showing discs, spinal cord, nerve roots, and vertebrae">
            <a:extLst>
              <a:ext uri="{FF2B5EF4-FFF2-40B4-BE49-F238E27FC236}">
                <a16:creationId xmlns:a16="http://schemas.microsoft.com/office/drawing/2014/main" id="{19DB83E2-E3B7-C12F-E187-2823495E0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455" y="1099739"/>
            <a:ext cx="4102542" cy="267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69246B88-5D76-99EE-59DD-BBD43F66A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3411"/>
          <a:stretch/>
        </p:blipFill>
        <p:spPr>
          <a:xfrm>
            <a:off x="498316" y="1343818"/>
            <a:ext cx="4560702" cy="4980922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0A6A83-08E3-D046-8831-20804D83F3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04" t="15853" r="3233"/>
          <a:stretch/>
        </p:blipFill>
        <p:spPr>
          <a:xfrm>
            <a:off x="5748130" y="3827355"/>
            <a:ext cx="5701748" cy="266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34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2331-1839-38C2-14AE-DBA33441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spinal cord and the nerves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F4C8AC-BC73-08B6-3DBD-A8003E05C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1AE336-77F1-B462-3B75-25BE03CD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8" y="1324768"/>
            <a:ext cx="5767644" cy="4750904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B844F77D-AD57-E86B-DE0C-0F022D842D3C}"/>
              </a:ext>
            </a:extLst>
          </p:cNvPr>
          <p:cNvGrpSpPr/>
          <p:nvPr/>
        </p:nvGrpSpPr>
        <p:grpSpPr>
          <a:xfrm>
            <a:off x="7407061" y="595311"/>
            <a:ext cx="4201661" cy="6003836"/>
            <a:chOff x="7407061" y="595311"/>
            <a:chExt cx="4201661" cy="60038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4B1F82-EC12-0909-F80E-8037AF691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5060"/>
            <a:stretch/>
          </p:blipFill>
          <p:spPr>
            <a:xfrm>
              <a:off x="7407061" y="595311"/>
              <a:ext cx="3227062" cy="32378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BB2AC9-E78C-8910-23BD-7C2A8ED99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5726"/>
            <a:stretch/>
          </p:blipFill>
          <p:spPr>
            <a:xfrm>
              <a:off x="7711412" y="3361333"/>
              <a:ext cx="3897310" cy="3237814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E6ABE7-541E-F9C8-B505-17574BE34391}"/>
                </a:ext>
              </a:extLst>
            </p:cNvPr>
            <p:cNvCxnSpPr>
              <a:cxnSpLocks/>
            </p:cNvCxnSpPr>
            <p:nvPr/>
          </p:nvCxnSpPr>
          <p:spPr>
            <a:xfrm>
              <a:off x="9934575" y="2936081"/>
              <a:ext cx="807244" cy="0"/>
            </a:xfrm>
            <a:prstGeom prst="line">
              <a:avLst/>
            </a:prstGeom>
            <a:ln w="28575">
              <a:solidFill>
                <a:srgbClr val="0055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5C98800-CB4D-1E08-9430-10051E59D428}"/>
                </a:ext>
              </a:extLst>
            </p:cNvPr>
            <p:cNvCxnSpPr>
              <a:cxnSpLocks/>
            </p:cNvCxnSpPr>
            <p:nvPr/>
          </p:nvCxnSpPr>
          <p:spPr>
            <a:xfrm>
              <a:off x="10741819" y="2936081"/>
              <a:ext cx="0" cy="1116807"/>
            </a:xfrm>
            <a:prstGeom prst="line">
              <a:avLst/>
            </a:prstGeom>
            <a:ln w="28575">
              <a:solidFill>
                <a:srgbClr val="0055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4442E-4754-FB62-859C-B59985DD9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6225" y="4045744"/>
              <a:ext cx="305594" cy="0"/>
            </a:xfrm>
            <a:prstGeom prst="line">
              <a:avLst/>
            </a:prstGeom>
            <a:ln w="28575">
              <a:solidFill>
                <a:srgbClr val="0055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8536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E0F0-9B95-5338-37EC-BFA9037B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Nerve conduction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1160F-39B7-7668-ED41-5024EA13E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4" y="1254494"/>
            <a:ext cx="5473146" cy="5215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39A32D-C525-FE8B-DCFD-67F832740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56"/>
          <a:stretch/>
        </p:blipFill>
        <p:spPr>
          <a:xfrm>
            <a:off x="7083287" y="523138"/>
            <a:ext cx="3849756" cy="5850502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D84406-96DC-6834-D73F-AD46398DF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7096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1EAD9C1-05DC-469E-9CCF-64E96F7F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233025-42BD-46A6-9662-2B5B26B7A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43" y="2847902"/>
            <a:ext cx="4962452" cy="3552426"/>
          </a:xfrm>
        </p:spPr>
        <p:txBody>
          <a:bodyPr/>
          <a:lstStyle/>
          <a:p>
            <a:r>
              <a:rPr lang="en-GB" dirty="0"/>
              <a:t>Specific reading:</a:t>
            </a:r>
          </a:p>
          <a:p>
            <a:pPr lvl="1"/>
            <a:r>
              <a:rPr lang="en-GB" dirty="0"/>
              <a:t>Guyton and Hall - </a:t>
            </a:r>
            <a:r>
              <a:rPr lang="en-GB" b="1" dirty="0"/>
              <a:t>Textbook of Medical Physiology </a:t>
            </a:r>
            <a:r>
              <a:rPr lang="en-GB" dirty="0"/>
              <a:t>12</a:t>
            </a:r>
            <a:r>
              <a:rPr lang="en-GB" baseline="30000" dirty="0"/>
              <a:t>th</a:t>
            </a:r>
            <a:r>
              <a:rPr lang="en-GB" dirty="0"/>
              <a:t> ed (2011) ISBN: 978-0-8089-2400-5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Fitzgerald's Clinical Neuroanatomy and neuroscience</a:t>
            </a:r>
            <a:r>
              <a:rPr lang="en-GB" dirty="0"/>
              <a:t> 8</a:t>
            </a:r>
            <a:r>
              <a:rPr lang="en-GB" baseline="30000" dirty="0"/>
              <a:t>th</a:t>
            </a:r>
            <a:r>
              <a:rPr lang="en-GB" dirty="0"/>
              <a:t> ed</a:t>
            </a:r>
            <a:r>
              <a:rPr lang="en-GB" b="1" dirty="0"/>
              <a:t> </a:t>
            </a:r>
            <a:r>
              <a:rPr lang="en-GB" dirty="0"/>
              <a:t>(2021, Elsevier) ISBN: 9780702079092</a:t>
            </a:r>
          </a:p>
          <a:p>
            <a:pPr lvl="1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70673-E8FA-47E3-8D51-98B831132C8E}"/>
              </a:ext>
            </a:extLst>
          </p:cNvPr>
          <p:cNvSpPr txBox="1"/>
          <p:nvPr/>
        </p:nvSpPr>
        <p:spPr>
          <a:xfrm>
            <a:off x="966794" y="1441305"/>
            <a:ext cx="3538531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follow-up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vincenzo.mastrolia@kcl.ac.uk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0B64FB-3F43-3FB7-D5C9-C07EE5BC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649" y="1657540"/>
            <a:ext cx="2581716" cy="3289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114573-0274-3607-200D-5C58B5125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033" y="1657541"/>
            <a:ext cx="2582224" cy="328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536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Office PowerPoint</Application>
  <PresentationFormat>Widescreen</PresentationFormat>
  <Paragraphs>137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1_Office Theme</vt:lpstr>
      <vt:lpstr>Organisation of the nervous system: Nerves and cells and structure</vt:lpstr>
      <vt:lpstr>Learning outcomes</vt:lpstr>
      <vt:lpstr>Anatomical orientation</vt:lpstr>
      <vt:lpstr>Gross Anatomy of the nervous system</vt:lpstr>
      <vt:lpstr>The nervous system</vt:lpstr>
      <vt:lpstr>The CNS - Brain</vt:lpstr>
      <vt:lpstr>The CNS - Brain</vt:lpstr>
      <vt:lpstr>The ventricles and the CSF</vt:lpstr>
      <vt:lpstr>The CNS - Spinal Cord</vt:lpstr>
      <vt:lpstr>Meninges</vt:lpstr>
      <vt:lpstr>Cells of the nervous system</vt:lpstr>
      <vt:lpstr>Cells of the nervous system - Neurons</vt:lpstr>
      <vt:lpstr>Neuronal-specific dendritic morphology</vt:lpstr>
      <vt:lpstr>Types of neurons based on their output</vt:lpstr>
      <vt:lpstr>Types of neurons based on their output</vt:lpstr>
      <vt:lpstr>Neuronal networks</vt:lpstr>
      <vt:lpstr>Cells of the nervous system - Oligodendrocytes</vt:lpstr>
      <vt:lpstr>Cells of the nervous system - Schwann Cells</vt:lpstr>
      <vt:lpstr>Cells of the nervous system - Microglia</vt:lpstr>
      <vt:lpstr>Cells of the nervous system - Astrocytes</vt:lpstr>
      <vt:lpstr>Neurons and glia</vt:lpstr>
      <vt:lpstr>Brain and Spinal Cord: Grey vs white matter</vt:lpstr>
      <vt:lpstr>White matter in the brain: projections</vt:lpstr>
      <vt:lpstr>The spinal cord and the nerves</vt:lpstr>
      <vt:lpstr>The spinal cord and the nerves</vt:lpstr>
      <vt:lpstr>The spinal cord and the nerves</vt:lpstr>
      <vt:lpstr>Nerve conduction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Mastrolia</dc:creator>
  <cp:lastModifiedBy>Vincenzo Mastrolia</cp:lastModifiedBy>
  <cp:revision>2</cp:revision>
  <dcterms:created xsi:type="dcterms:W3CDTF">2025-02-02T13:00:01Z</dcterms:created>
  <dcterms:modified xsi:type="dcterms:W3CDTF">2025-02-02T18:29:18Z</dcterms:modified>
</cp:coreProperties>
</file>