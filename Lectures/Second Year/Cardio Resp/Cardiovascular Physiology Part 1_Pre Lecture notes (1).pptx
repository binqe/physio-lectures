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52"/>
  </p:notesMasterIdLst>
  <p:handoutMasterIdLst>
    <p:handoutMasterId r:id="rId53"/>
  </p:handoutMasterIdLst>
  <p:sldIdLst>
    <p:sldId id="256" r:id="rId2"/>
    <p:sldId id="417" r:id="rId3"/>
    <p:sldId id="429" r:id="rId4"/>
    <p:sldId id="438" r:id="rId5"/>
    <p:sldId id="430" r:id="rId6"/>
    <p:sldId id="300" r:id="rId7"/>
    <p:sldId id="273" r:id="rId8"/>
    <p:sldId id="503" r:id="rId9"/>
    <p:sldId id="365" r:id="rId10"/>
    <p:sldId id="436" r:id="rId11"/>
    <p:sldId id="502" r:id="rId12"/>
    <p:sldId id="304" r:id="rId13"/>
    <p:sldId id="260" r:id="rId14"/>
    <p:sldId id="331" r:id="rId15"/>
    <p:sldId id="266" r:id="rId16"/>
    <p:sldId id="262" r:id="rId17"/>
    <p:sldId id="332" r:id="rId18"/>
    <p:sldId id="338" r:id="rId19"/>
    <p:sldId id="431" r:id="rId20"/>
    <p:sldId id="439" r:id="rId21"/>
    <p:sldId id="441" r:id="rId22"/>
    <p:sldId id="442" r:id="rId23"/>
    <p:sldId id="504" r:id="rId24"/>
    <p:sldId id="440" r:id="rId25"/>
    <p:sldId id="505" r:id="rId26"/>
    <p:sldId id="506" r:id="rId27"/>
    <p:sldId id="456" r:id="rId28"/>
    <p:sldId id="453" r:id="rId29"/>
    <p:sldId id="451" r:id="rId30"/>
    <p:sldId id="452" r:id="rId31"/>
    <p:sldId id="454" r:id="rId32"/>
    <p:sldId id="455" r:id="rId33"/>
    <p:sldId id="448" r:id="rId34"/>
    <p:sldId id="447" r:id="rId35"/>
    <p:sldId id="315" r:id="rId36"/>
    <p:sldId id="446" r:id="rId37"/>
    <p:sldId id="324" r:id="rId38"/>
    <p:sldId id="449" r:id="rId39"/>
    <p:sldId id="418" r:id="rId40"/>
    <p:sldId id="443" r:id="rId41"/>
    <p:sldId id="444" r:id="rId42"/>
    <p:sldId id="419" r:id="rId43"/>
    <p:sldId id="445" r:id="rId44"/>
    <p:sldId id="432" r:id="rId45"/>
    <p:sldId id="410" r:id="rId46"/>
    <p:sldId id="411" r:id="rId47"/>
    <p:sldId id="434" r:id="rId48"/>
    <p:sldId id="508" r:id="rId49"/>
    <p:sldId id="373" r:id="rId50"/>
    <p:sldId id="509" r:id="rId51"/>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91" autoAdjust="0"/>
    <p:restoredTop sz="88249" autoAdjust="0"/>
  </p:normalViewPr>
  <p:slideViewPr>
    <p:cSldViewPr snapToGrid="0">
      <p:cViewPr varScale="1">
        <p:scale>
          <a:sx n="90" d="100"/>
          <a:sy n="90" d="100"/>
        </p:scale>
        <p:origin x="212" y="52"/>
      </p:cViewPr>
      <p:guideLst>
        <p:guide orient="horz" pos="2160"/>
        <p:guide pos="3840"/>
      </p:guideLst>
    </p:cSldViewPr>
  </p:slid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03F5211-0A1E-44B5-B55C-53D9904663F7}" type="datetimeFigureOut">
              <a:rPr lang="en-GB" smtClean="0"/>
              <a:pPr/>
              <a:t>12/02/2025</a:t>
            </a:fld>
            <a:endParaRPr lang="en-GB"/>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688509DF-7F08-474D-9D81-6C588E60A8F4}" type="slidenum">
              <a:rPr lang="en-GB" smtClean="0"/>
              <a:pPr/>
              <a:t>‹#›</a:t>
            </a:fld>
            <a:endParaRPr lang="en-GB"/>
          </a:p>
        </p:txBody>
      </p:sp>
    </p:spTree>
    <p:extLst>
      <p:ext uri="{BB962C8B-B14F-4D97-AF65-F5344CB8AC3E}">
        <p14:creationId xmlns:p14="http://schemas.microsoft.com/office/powerpoint/2010/main" val="14322441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56E472F-CC7D-497D-BF5E-FEDA11E084BB}" type="datetimeFigureOut">
              <a:rPr lang="en-GB" smtClean="0"/>
              <a:pPr/>
              <a:t>12/02/2025</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5AD7A7A-7544-4B24-90EE-B6FC3D98CDDD}" type="slidenum">
              <a:rPr lang="en-GB" smtClean="0"/>
              <a:pPr/>
              <a:t>‹#›</a:t>
            </a:fld>
            <a:endParaRPr lang="en-GB"/>
          </a:p>
        </p:txBody>
      </p:sp>
    </p:spTree>
    <p:extLst>
      <p:ext uri="{BB962C8B-B14F-4D97-AF65-F5344CB8AC3E}">
        <p14:creationId xmlns:p14="http://schemas.microsoft.com/office/powerpoint/2010/main" val="2988723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i.org/10.1152/ajpheart.1992.263.6.H1675"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oi.org/10.1152/ajpheart.1992.263.6.H1675"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s://doi.org/10.1016/s1054-8807(99)00029-0"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Diffusion barrier of O2 = 30 micrometres (1/1000</a:t>
            </a:r>
            <a:r>
              <a:rPr lang="en-GB" baseline="30000" dirty="0"/>
              <a:t>th</a:t>
            </a:r>
            <a:r>
              <a:rPr lang="en-GB" dirty="0"/>
              <a:t> of a mm)</a:t>
            </a:r>
          </a:p>
          <a:p>
            <a:r>
              <a:rPr lang="en-GB" dirty="0"/>
              <a:t>1</a:t>
            </a:r>
            <a:r>
              <a:rPr lang="en-GB" baseline="30000" dirty="0"/>
              <a:t>st</a:t>
            </a:r>
            <a:r>
              <a:rPr lang="en-GB" dirty="0"/>
              <a:t> Law = high to low</a:t>
            </a:r>
          </a:p>
          <a:p>
            <a:r>
              <a:rPr lang="en-GB" dirty="0"/>
              <a:t>2</a:t>
            </a:r>
            <a:r>
              <a:rPr lang="en-GB" baseline="30000" dirty="0"/>
              <a:t>nd</a:t>
            </a:r>
            <a:r>
              <a:rPr lang="en-GB" dirty="0"/>
              <a:t> Law = concentration gradient changes with time</a:t>
            </a:r>
          </a:p>
        </p:txBody>
      </p:sp>
      <p:sp>
        <p:nvSpPr>
          <p:cNvPr id="4" name="Slide Number Placeholder 3"/>
          <p:cNvSpPr>
            <a:spLocks noGrp="1"/>
          </p:cNvSpPr>
          <p:nvPr>
            <p:ph type="sldNum" sz="quarter" idx="5"/>
          </p:nvPr>
        </p:nvSpPr>
        <p:spPr/>
        <p:txBody>
          <a:bodyPr/>
          <a:lstStyle/>
          <a:p>
            <a:fld id="{A5AD7A7A-7544-4B24-90EE-B6FC3D98CDDD}" type="slidenum">
              <a:rPr lang="en-GB" smtClean="0"/>
              <a:pPr/>
              <a:t>3</a:t>
            </a:fld>
            <a:endParaRPr lang="en-GB"/>
          </a:p>
        </p:txBody>
      </p:sp>
    </p:spTree>
    <p:extLst>
      <p:ext uri="{BB962C8B-B14F-4D97-AF65-F5344CB8AC3E}">
        <p14:creationId xmlns:p14="http://schemas.microsoft.com/office/powerpoint/2010/main" val="226282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A2A2A"/>
                </a:solidFill>
                <a:effectLst/>
                <a:latin typeface="Merriweather" panose="00000500000000000000" pitchFamily="2" charset="0"/>
              </a:rPr>
              <a:t>PaO2 = 19.95 ml 100 ml</a:t>
            </a:r>
            <a:r>
              <a:rPr lang="en-GB" b="0" i="0" baseline="30000" dirty="0">
                <a:solidFill>
                  <a:srgbClr val="2A2A2A"/>
                </a:solidFill>
                <a:effectLst/>
                <a:latin typeface="Source Sans Pro" panose="020B0503030403020204" pitchFamily="34" charset="0"/>
              </a:rPr>
              <a:t>−1</a:t>
            </a:r>
            <a:r>
              <a:rPr lang="en-GB" b="0" i="0" dirty="0">
                <a:solidFill>
                  <a:srgbClr val="2A2A2A"/>
                </a:solidFill>
                <a:effectLst/>
                <a:latin typeface="Merriweather" panose="00000500000000000000" pitchFamily="2" charset="0"/>
              </a:rPr>
              <a:t> blood</a:t>
            </a:r>
          </a:p>
          <a:p>
            <a:r>
              <a:rPr lang="en-GB" b="0" i="0" dirty="0">
                <a:solidFill>
                  <a:srgbClr val="2A2A2A"/>
                </a:solidFill>
                <a:effectLst/>
                <a:latin typeface="Merriweather" panose="00000500000000000000" pitchFamily="2" charset="0"/>
              </a:rPr>
              <a:t>Normal male ‘delivery’ at rest = 997.5 ml min</a:t>
            </a:r>
            <a:r>
              <a:rPr lang="en-GB" b="0" i="0" baseline="30000" dirty="0">
                <a:solidFill>
                  <a:srgbClr val="2A2A2A"/>
                </a:solidFill>
                <a:effectLst/>
                <a:latin typeface="Source Sans Pro" panose="020B0503030403020204" pitchFamily="34" charset="0"/>
              </a:rPr>
              <a:t>−1</a:t>
            </a:r>
            <a:endParaRPr lang="en-GB" dirty="0"/>
          </a:p>
        </p:txBody>
      </p:sp>
      <p:sp>
        <p:nvSpPr>
          <p:cNvPr id="4" name="Slide Number Placeholder 3"/>
          <p:cNvSpPr>
            <a:spLocks noGrp="1"/>
          </p:cNvSpPr>
          <p:nvPr>
            <p:ph type="sldNum" sz="quarter" idx="5"/>
          </p:nvPr>
        </p:nvSpPr>
        <p:spPr/>
        <p:txBody>
          <a:bodyPr/>
          <a:lstStyle/>
          <a:p>
            <a:fld id="{A5AD7A7A-7544-4B24-90EE-B6FC3D98CDDD}" type="slidenum">
              <a:rPr lang="en-GB" smtClean="0"/>
              <a:pPr/>
              <a:t>4</a:t>
            </a:fld>
            <a:endParaRPr lang="en-GB"/>
          </a:p>
        </p:txBody>
      </p:sp>
    </p:spTree>
    <p:extLst>
      <p:ext uri="{BB962C8B-B14F-4D97-AF65-F5344CB8AC3E}">
        <p14:creationId xmlns:p14="http://schemas.microsoft.com/office/powerpoint/2010/main" val="107932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ED261C29-8B57-AC0D-D0CC-CB372F5E71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96695A0-8CEE-4577-9019-31BC2C0F35DA}" type="slidenum">
              <a:rPr lang="en-US" altLang="en-US" sz="1300" smtClean="0"/>
              <a:pPr/>
              <a:t>6</a:t>
            </a:fld>
            <a:endParaRPr lang="en-US" altLang="en-US" sz="1300"/>
          </a:p>
        </p:txBody>
      </p:sp>
      <p:sp>
        <p:nvSpPr>
          <p:cNvPr id="19459" name="Rectangle 2">
            <a:extLst>
              <a:ext uri="{FF2B5EF4-FFF2-40B4-BE49-F238E27FC236}">
                <a16:creationId xmlns:a16="http://schemas.microsoft.com/office/drawing/2014/main" id="{ADFC09E8-AE59-6095-A4A7-A8C9A09ADB16}"/>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DEA82661-AB0B-8308-CDB5-795B7D6F7D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A2A2A"/>
                </a:solidFill>
                <a:effectLst/>
                <a:latin typeface="Merriweather" panose="00000500000000000000" pitchFamily="2" charset="0"/>
              </a:rPr>
              <a:t>However, existence of abnormal forms of haemoglobin such as methaemoglobin and carboxyhaemoglobin, empirically this value seems to be closer to 1.31 ml O</a:t>
            </a:r>
            <a:r>
              <a:rPr lang="en-GB" b="0" i="0" baseline="-25000" dirty="0">
                <a:solidFill>
                  <a:srgbClr val="2A2A2A"/>
                </a:solidFill>
                <a:effectLst/>
                <a:latin typeface="Merriweather" panose="00000500000000000000" pitchFamily="2" charset="0"/>
              </a:rPr>
              <a:t>2</a:t>
            </a:r>
            <a:r>
              <a:rPr lang="en-GB" b="0" i="0" dirty="0">
                <a:solidFill>
                  <a:srgbClr val="2A2A2A"/>
                </a:solidFill>
                <a:effectLst/>
                <a:latin typeface="Merriweather" panose="00000500000000000000" pitchFamily="2" charset="0"/>
              </a:rPr>
              <a:t> g</a:t>
            </a:r>
            <a:r>
              <a:rPr lang="en-GB" b="0" i="0" baseline="30000" dirty="0">
                <a:solidFill>
                  <a:srgbClr val="2A2A2A"/>
                </a:solidFill>
                <a:effectLst/>
                <a:latin typeface="Source Sans Pro" panose="020B0503030403020204" pitchFamily="34" charset="0"/>
              </a:rPr>
              <a:t>−1</a:t>
            </a:r>
            <a:r>
              <a:rPr lang="en-GB" b="0" i="0" dirty="0">
                <a:solidFill>
                  <a:srgbClr val="2A2A2A"/>
                </a:solidFill>
                <a:effectLst/>
                <a:latin typeface="Merriweather" panose="00000500000000000000" pitchFamily="2" charset="0"/>
              </a:rPr>
              <a:t> Hb</a:t>
            </a:r>
            <a:endParaRPr lang="en-GB" dirty="0"/>
          </a:p>
        </p:txBody>
      </p:sp>
      <p:sp>
        <p:nvSpPr>
          <p:cNvPr id="4" name="Slide Number Placeholder 3"/>
          <p:cNvSpPr>
            <a:spLocks noGrp="1"/>
          </p:cNvSpPr>
          <p:nvPr>
            <p:ph type="sldNum" sz="quarter" idx="5"/>
          </p:nvPr>
        </p:nvSpPr>
        <p:spPr/>
        <p:txBody>
          <a:bodyPr/>
          <a:lstStyle/>
          <a:p>
            <a:fld id="{A5AD7A7A-7544-4B24-90EE-B6FC3D98CDDD}" type="slidenum">
              <a:rPr lang="en-GB" smtClean="0"/>
              <a:pPr/>
              <a:t>10</a:t>
            </a:fld>
            <a:endParaRPr lang="en-GB"/>
          </a:p>
        </p:txBody>
      </p:sp>
    </p:spTree>
    <p:extLst>
      <p:ext uri="{BB962C8B-B14F-4D97-AF65-F5344CB8AC3E}">
        <p14:creationId xmlns:p14="http://schemas.microsoft.com/office/powerpoint/2010/main" val="2056302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AFE8FCE7-D9CA-D05E-CC99-669CDC9E5B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40BF627-8C0D-44B4-96ED-ACEDDB5254B5}" type="slidenum">
              <a:rPr lang="en-US" altLang="en-US" sz="1300" smtClean="0"/>
              <a:pPr/>
              <a:t>12</a:t>
            </a:fld>
            <a:endParaRPr lang="en-US" altLang="en-US" sz="1300"/>
          </a:p>
        </p:txBody>
      </p:sp>
      <p:sp>
        <p:nvSpPr>
          <p:cNvPr id="21507" name="Rectangle 2">
            <a:extLst>
              <a:ext uri="{FF2B5EF4-FFF2-40B4-BE49-F238E27FC236}">
                <a16:creationId xmlns:a16="http://schemas.microsoft.com/office/drawing/2014/main" id="{66039243-5139-F991-BC4B-4F27C1687DD2}"/>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864D7598-0362-798E-4437-76DB54BF0C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2A4C6BA-1F63-9F86-17A7-697CED859B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DFC7DDA-D91B-44AF-8B0C-FD1599D33E17}" type="slidenum">
              <a:rPr lang="en-US" altLang="en-US" sz="1300" smtClean="0"/>
              <a:pPr/>
              <a:t>13</a:t>
            </a:fld>
            <a:endParaRPr lang="en-US" altLang="en-US" sz="1300"/>
          </a:p>
        </p:txBody>
      </p:sp>
      <p:sp>
        <p:nvSpPr>
          <p:cNvPr id="24579" name="Rectangle 2">
            <a:extLst>
              <a:ext uri="{FF2B5EF4-FFF2-40B4-BE49-F238E27FC236}">
                <a16:creationId xmlns:a16="http://schemas.microsoft.com/office/drawing/2014/main" id="{0DEB03C8-A2A5-3FAA-BA31-19FD175EC5E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CB98D1FE-63F0-F22C-8435-82E1C49F8C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Osmolarity = Particles per 1L of solvent – temperature dependent (volume larger at higher temperature) Measure Osmolality</a:t>
            </a:r>
          </a:p>
          <a:p>
            <a:r>
              <a:rPr lang="en-US" altLang="en-US" dirty="0"/>
              <a:t>Osmolality = Particles per 1kg of solvent – temperature independent. Calculate Osmolarity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61605AA3-A8A1-502B-7127-CFCA64CCDC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A7E09E3A-7F75-4F78-ABB3-988ED160F0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21508" name="Slide Number Placeholder 3">
            <a:extLst>
              <a:ext uri="{FF2B5EF4-FFF2-40B4-BE49-F238E27FC236}">
                <a16:creationId xmlns:a16="http://schemas.microsoft.com/office/drawing/2014/main" id="{0C1C257C-8CEF-582E-3A8D-F7A4A800809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09D91326-B6DF-4F5A-8DA4-7DAFE7BBFA08}" type="slidenum">
              <a:rPr lang="en-GB" altLang="en-US" sz="1200" smtClean="0"/>
              <a:pPr/>
              <a:t>20</a:t>
            </a:fld>
            <a:endParaRPr lang="en-GB" altLang="en-US" sz="1200"/>
          </a:p>
        </p:txBody>
      </p:sp>
    </p:spTree>
    <p:extLst>
      <p:ext uri="{BB962C8B-B14F-4D97-AF65-F5344CB8AC3E}">
        <p14:creationId xmlns:p14="http://schemas.microsoft.com/office/powerpoint/2010/main" val="1314195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82E107EF-3453-BAF0-A297-7C83F3B8A3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C76FC30B-7149-49B3-9A60-B00028B38D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25604" name="Slide Number Placeholder 3">
            <a:extLst>
              <a:ext uri="{FF2B5EF4-FFF2-40B4-BE49-F238E27FC236}">
                <a16:creationId xmlns:a16="http://schemas.microsoft.com/office/drawing/2014/main" id="{5FCBD3A0-9A78-69D1-C430-0256FC41DC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C332E059-C617-439D-8534-5EADCB8EA4DE}" type="slidenum">
              <a:rPr lang="en-GB" altLang="en-US" sz="1200" smtClean="0"/>
              <a:pPr/>
              <a:t>23</a:t>
            </a:fld>
            <a:endParaRPr lang="en-GB"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7866D6B1-66EB-E9F9-5586-37164EB05F3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AD72EF32-F5CB-0819-B505-B5590C1932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1748" name="Slide Number Placeholder 3">
            <a:extLst>
              <a:ext uri="{FF2B5EF4-FFF2-40B4-BE49-F238E27FC236}">
                <a16:creationId xmlns:a16="http://schemas.microsoft.com/office/drawing/2014/main" id="{C770DE92-B59B-B601-08E0-D2808C24D1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33FCDCB3-58F2-4FE2-B825-9F39A1B93FE0}" type="slidenum">
              <a:rPr lang="en-GB" altLang="en-US" sz="1200" smtClean="0"/>
              <a:pPr/>
              <a:t>24</a:t>
            </a:fld>
            <a:endParaRPr lang="en-GB" altLang="en-US" sz="1200"/>
          </a:p>
        </p:txBody>
      </p:sp>
    </p:spTree>
    <p:extLst>
      <p:ext uri="{BB962C8B-B14F-4D97-AF65-F5344CB8AC3E}">
        <p14:creationId xmlns:p14="http://schemas.microsoft.com/office/powerpoint/2010/main" val="1444205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94414699-D101-D5D7-94C1-08C6BC42C0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E81F1A8B-1D6D-AB79-728A-30088C425D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3796" name="Slide Number Placeholder 3">
            <a:extLst>
              <a:ext uri="{FF2B5EF4-FFF2-40B4-BE49-F238E27FC236}">
                <a16:creationId xmlns:a16="http://schemas.microsoft.com/office/drawing/2014/main" id="{F78A66F9-696A-7ECC-F6FA-B7614397446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A6373458-530F-42C6-B07C-5AE26F4B1BE5}" type="slidenum">
              <a:rPr lang="en-GB" altLang="en-US" sz="1200" smtClean="0"/>
              <a:pPr/>
              <a:t>25</a:t>
            </a:fld>
            <a:endParaRPr lang="en-GB"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Tricuspid – blood flow to right ventricle</a:t>
            </a:r>
          </a:p>
          <a:p>
            <a:r>
              <a:rPr lang="en-GB" dirty="0"/>
              <a:t>Mitral (atrioventricular) – prevents backflow during left ventricular ejection</a:t>
            </a:r>
          </a:p>
        </p:txBody>
      </p:sp>
      <p:sp>
        <p:nvSpPr>
          <p:cNvPr id="4" name="Slide Number Placeholder 3"/>
          <p:cNvSpPr>
            <a:spLocks noGrp="1"/>
          </p:cNvSpPr>
          <p:nvPr>
            <p:ph type="sldNum" sz="quarter" idx="5"/>
          </p:nvPr>
        </p:nvSpPr>
        <p:spPr/>
        <p:txBody>
          <a:bodyPr/>
          <a:lstStyle/>
          <a:p>
            <a:fld id="{A5AD7A7A-7544-4B24-90EE-B6FC3D98CDDD}" type="slidenum">
              <a:rPr lang="en-GB" smtClean="0"/>
              <a:pPr/>
              <a:t>26</a:t>
            </a:fld>
            <a:endParaRPr lang="en-GB"/>
          </a:p>
        </p:txBody>
      </p:sp>
    </p:spTree>
    <p:extLst>
      <p:ext uri="{BB962C8B-B14F-4D97-AF65-F5344CB8AC3E}">
        <p14:creationId xmlns:p14="http://schemas.microsoft.com/office/powerpoint/2010/main" val="1869704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Pulmonary – blood flow from right ventricle</a:t>
            </a:r>
          </a:p>
          <a:p>
            <a:r>
              <a:rPr lang="en-GB" dirty="0"/>
              <a:t>Aortic – allows ejection from the left ventricle</a:t>
            </a:r>
          </a:p>
        </p:txBody>
      </p:sp>
      <p:sp>
        <p:nvSpPr>
          <p:cNvPr id="4" name="Slide Number Placeholder 3"/>
          <p:cNvSpPr>
            <a:spLocks noGrp="1"/>
          </p:cNvSpPr>
          <p:nvPr>
            <p:ph type="sldNum" sz="quarter" idx="5"/>
          </p:nvPr>
        </p:nvSpPr>
        <p:spPr/>
        <p:txBody>
          <a:bodyPr/>
          <a:lstStyle/>
          <a:p>
            <a:fld id="{A5AD7A7A-7544-4B24-90EE-B6FC3D98CDDD}" type="slidenum">
              <a:rPr lang="en-GB" smtClean="0"/>
              <a:pPr/>
              <a:t>27</a:t>
            </a:fld>
            <a:endParaRPr lang="en-GB"/>
          </a:p>
        </p:txBody>
      </p:sp>
    </p:spTree>
    <p:extLst>
      <p:ext uri="{BB962C8B-B14F-4D97-AF65-F5344CB8AC3E}">
        <p14:creationId xmlns:p14="http://schemas.microsoft.com/office/powerpoint/2010/main" val="2694020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AD7A7A-7544-4B24-90EE-B6FC3D98CDDD}" type="slidenum">
              <a:rPr lang="en-GB" smtClean="0"/>
              <a:pPr/>
              <a:t>31</a:t>
            </a:fld>
            <a:endParaRPr lang="en-GB"/>
          </a:p>
        </p:txBody>
      </p:sp>
    </p:spTree>
    <p:extLst>
      <p:ext uri="{BB962C8B-B14F-4D97-AF65-F5344CB8AC3E}">
        <p14:creationId xmlns:p14="http://schemas.microsoft.com/office/powerpoint/2010/main" val="2842586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Tricuspid – blood flow to right ventricle</a:t>
            </a:r>
          </a:p>
          <a:p>
            <a:r>
              <a:rPr lang="en-GB" dirty="0"/>
              <a:t>Pulmonary – blood flow from right ventricle</a:t>
            </a:r>
          </a:p>
          <a:p>
            <a:r>
              <a:rPr lang="en-GB" dirty="0"/>
              <a:t>Mitral (atrioventricular) – prevents backflow during left ventricular ejection</a:t>
            </a:r>
          </a:p>
          <a:p>
            <a:r>
              <a:rPr lang="en-GB" dirty="0"/>
              <a:t>Aortic – allows ejection from the left ventricle</a:t>
            </a:r>
          </a:p>
        </p:txBody>
      </p:sp>
      <p:sp>
        <p:nvSpPr>
          <p:cNvPr id="4" name="Slide Number Placeholder 3"/>
          <p:cNvSpPr>
            <a:spLocks noGrp="1"/>
          </p:cNvSpPr>
          <p:nvPr>
            <p:ph type="sldNum" sz="quarter" idx="5"/>
          </p:nvPr>
        </p:nvSpPr>
        <p:spPr/>
        <p:txBody>
          <a:bodyPr/>
          <a:lstStyle/>
          <a:p>
            <a:fld id="{A5AD7A7A-7544-4B24-90EE-B6FC3D98CDDD}" type="slidenum">
              <a:rPr lang="en-GB" smtClean="0"/>
              <a:pPr/>
              <a:t>32</a:t>
            </a:fld>
            <a:endParaRPr lang="en-GB"/>
          </a:p>
        </p:txBody>
      </p:sp>
    </p:spTree>
    <p:extLst>
      <p:ext uri="{BB962C8B-B14F-4D97-AF65-F5344CB8AC3E}">
        <p14:creationId xmlns:p14="http://schemas.microsoft.com/office/powerpoint/2010/main" val="14634787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Myo</a:t>
            </a:r>
            <a:r>
              <a:rPr lang="en-GB" dirty="0"/>
              <a:t> = muscle</a:t>
            </a:r>
          </a:p>
          <a:p>
            <a:r>
              <a:rPr lang="en-GB" dirty="0"/>
              <a:t>Endo = within, inner</a:t>
            </a:r>
          </a:p>
          <a:p>
            <a:r>
              <a:rPr lang="en-GB" dirty="0"/>
              <a:t>Epi = on, upon, against</a:t>
            </a:r>
          </a:p>
        </p:txBody>
      </p:sp>
      <p:sp>
        <p:nvSpPr>
          <p:cNvPr id="4" name="Slide Number Placeholder 3"/>
          <p:cNvSpPr>
            <a:spLocks noGrp="1"/>
          </p:cNvSpPr>
          <p:nvPr>
            <p:ph type="sldNum" sz="quarter" idx="5"/>
          </p:nvPr>
        </p:nvSpPr>
        <p:spPr/>
        <p:txBody>
          <a:bodyPr/>
          <a:lstStyle/>
          <a:p>
            <a:fld id="{A5AD7A7A-7544-4B24-90EE-B6FC3D98CDDD}" type="slidenum">
              <a:rPr lang="en-GB" smtClean="0"/>
              <a:pPr/>
              <a:t>33</a:t>
            </a:fld>
            <a:endParaRPr lang="en-GB"/>
          </a:p>
        </p:txBody>
      </p:sp>
    </p:spTree>
    <p:extLst>
      <p:ext uri="{BB962C8B-B14F-4D97-AF65-F5344CB8AC3E}">
        <p14:creationId xmlns:p14="http://schemas.microsoft.com/office/powerpoint/2010/main" val="3913882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F1F1F"/>
                </a:solidFill>
                <a:effectLst/>
                <a:latin typeface="Muli"/>
              </a:rPr>
              <a:t>Pericardiectomy = increased maximal Q (29%), VO2max (31%). Increased left ventricular end-diastolic dimension (10%) and 33% increase in end-diastolic volume</a:t>
            </a:r>
          </a:p>
          <a:p>
            <a:r>
              <a:rPr lang="en-GB" b="0" i="0" u="none" strike="noStrike" dirty="0">
                <a:solidFill>
                  <a:srgbClr val="5E8AB4"/>
                </a:solidFill>
                <a:effectLst/>
                <a:latin typeface="Muli"/>
                <a:hlinkClick r:id="rId3"/>
              </a:rPr>
              <a:t>https://doi.org/10.1152/ajpheart.1992.263.6.H1675</a:t>
            </a:r>
            <a:endParaRPr lang="en-GB" dirty="0"/>
          </a:p>
        </p:txBody>
      </p:sp>
      <p:sp>
        <p:nvSpPr>
          <p:cNvPr id="4" name="Slide Number Placeholder 3"/>
          <p:cNvSpPr>
            <a:spLocks noGrp="1"/>
          </p:cNvSpPr>
          <p:nvPr>
            <p:ph type="sldNum" sz="quarter" idx="5"/>
          </p:nvPr>
        </p:nvSpPr>
        <p:spPr/>
        <p:txBody>
          <a:bodyPr/>
          <a:lstStyle/>
          <a:p>
            <a:fld id="{A5AD7A7A-7544-4B24-90EE-B6FC3D98CDDD}" type="slidenum">
              <a:rPr lang="en-GB" smtClean="0"/>
              <a:pPr/>
              <a:t>34</a:t>
            </a:fld>
            <a:endParaRPr lang="en-GB"/>
          </a:p>
        </p:txBody>
      </p:sp>
    </p:spTree>
    <p:extLst>
      <p:ext uri="{BB962C8B-B14F-4D97-AF65-F5344CB8AC3E}">
        <p14:creationId xmlns:p14="http://schemas.microsoft.com/office/powerpoint/2010/main" val="2238834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1833905D-0B02-084E-F6C4-E64175DEDDA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0747AA8B-A522-5BC0-8D40-65711F2379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GB" b="0" i="0" dirty="0">
                <a:solidFill>
                  <a:srgbClr val="202122"/>
                </a:solidFill>
                <a:effectLst/>
                <a:latin typeface="Arial" panose="020B0604020202020204" pitchFamily="34" charset="0"/>
              </a:rPr>
              <a:t>Cardiac muscle cells are roughly rectangular, measuring 100–150μm by 30–40μm – contrast skeletal muscle cells (hence called </a:t>
            </a:r>
            <a:r>
              <a:rPr lang="en-GB" b="0" i="0" dirty="0" err="1">
                <a:solidFill>
                  <a:srgbClr val="202122"/>
                </a:solidFill>
                <a:effectLst/>
                <a:latin typeface="Arial" panose="020B0604020202020204" pitchFamily="34" charset="0"/>
              </a:rPr>
              <a:t>fibers</a:t>
            </a:r>
            <a:r>
              <a:rPr lang="en-GB" b="0" i="0" dirty="0">
                <a:solidFill>
                  <a:srgbClr val="202122"/>
                </a:solidFill>
                <a:effectLst/>
                <a:latin typeface="Arial" panose="020B0604020202020204" pitchFamily="34" charset="0"/>
              </a:rPr>
              <a:t>) of </a:t>
            </a:r>
            <a:r>
              <a:rPr lang="en-GB" b="0" i="0" dirty="0">
                <a:solidFill>
                  <a:srgbClr val="202124"/>
                </a:solidFill>
                <a:effectLst/>
                <a:latin typeface="arial" panose="020B0604020202020204" pitchFamily="34" charset="0"/>
              </a:rPr>
              <a:t>2–3 cm long and 100 </a:t>
            </a:r>
            <a:r>
              <a:rPr lang="en-GB" b="0" i="0" dirty="0" err="1">
                <a:solidFill>
                  <a:srgbClr val="202124"/>
                </a:solidFill>
                <a:effectLst/>
                <a:latin typeface="arial" panose="020B0604020202020204" pitchFamily="34" charset="0"/>
              </a:rPr>
              <a:t>μm</a:t>
            </a:r>
            <a:r>
              <a:rPr lang="en-GB" b="0" i="0" dirty="0">
                <a:solidFill>
                  <a:srgbClr val="202124"/>
                </a:solidFill>
                <a:effectLst/>
                <a:latin typeface="arial" panose="020B0604020202020204" pitchFamily="34" charset="0"/>
              </a:rPr>
              <a:t> in diameter.</a:t>
            </a:r>
            <a:endParaRPr lang="en-US" altLang="en-US" b="0" dirty="0"/>
          </a:p>
        </p:txBody>
      </p:sp>
      <p:sp>
        <p:nvSpPr>
          <p:cNvPr id="37892" name="Slide Number Placeholder 3">
            <a:extLst>
              <a:ext uri="{FF2B5EF4-FFF2-40B4-BE49-F238E27FC236}">
                <a16:creationId xmlns:a16="http://schemas.microsoft.com/office/drawing/2014/main" id="{15933CA2-8F9A-1646-0996-A513E0BAC3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EA5A92D8-CB5B-4552-AE33-715A6CAC6891}" type="slidenum">
              <a:rPr lang="en-GB" altLang="en-US" sz="1200" smtClean="0"/>
              <a:pPr/>
              <a:t>35</a:t>
            </a:fld>
            <a:endParaRPr lang="en-GB" altLang="en-US" sz="1200"/>
          </a:p>
        </p:txBody>
      </p:sp>
    </p:spTree>
    <p:extLst>
      <p:ext uri="{BB962C8B-B14F-4D97-AF65-F5344CB8AC3E}">
        <p14:creationId xmlns:p14="http://schemas.microsoft.com/office/powerpoint/2010/main" val="2339325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F1F1F"/>
                </a:solidFill>
                <a:effectLst/>
                <a:latin typeface="Muli"/>
              </a:rPr>
              <a:t>Pericardiectomy = increased maximal Q (29%), VO2max (31%). Increased left ventricular end-diastolic dimension (10%) and 33% increase in end-diastolic volume</a:t>
            </a:r>
          </a:p>
          <a:p>
            <a:r>
              <a:rPr lang="en-GB" b="0" i="0" u="none" strike="noStrike" dirty="0">
                <a:solidFill>
                  <a:srgbClr val="5E8AB4"/>
                </a:solidFill>
                <a:effectLst/>
                <a:latin typeface="Muli"/>
                <a:hlinkClick r:id="rId3"/>
              </a:rPr>
              <a:t>https://doi.org/10.1152/ajpheart.1992.263.6.H1675</a:t>
            </a:r>
            <a:endParaRPr lang="en-GB" b="0" i="0" u="none" strike="noStrike" dirty="0">
              <a:solidFill>
                <a:srgbClr val="5E8AB4"/>
              </a:solidFill>
              <a:effectLst/>
              <a:latin typeface="Muli"/>
            </a:endParaRPr>
          </a:p>
          <a:p>
            <a:endParaRPr lang="en-GB" b="0" i="0" u="none" strike="noStrike" dirty="0">
              <a:solidFill>
                <a:srgbClr val="5E8AB4"/>
              </a:solidFill>
              <a:effectLst/>
              <a:latin typeface="Mul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5E8AB4"/>
                </a:solidFill>
                <a:effectLst/>
                <a:latin typeface="Muli"/>
              </a:rPr>
              <a:t>250-350 gram heart normal pericardium volume [15-50 ml fluid], </a:t>
            </a:r>
            <a:r>
              <a:rPr lang="en-GB" b="0" i="0" dirty="0">
                <a:solidFill>
                  <a:srgbClr val="212121"/>
                </a:solidFill>
                <a:effectLst/>
                <a:latin typeface="BlinkMacSystemFont"/>
              </a:rPr>
              <a:t>DOI: </a:t>
            </a:r>
            <a:r>
              <a:rPr lang="en-GB" b="0" i="0" u="none" strike="noStrike" dirty="0">
                <a:solidFill>
                  <a:srgbClr val="0071BC"/>
                </a:solidFill>
                <a:effectLst/>
                <a:latin typeface="BlinkMacSystemFont"/>
                <a:hlinkClick r:id="rId4"/>
              </a:rPr>
              <a:t>10.1016/s1054-8807(99)00029-0</a:t>
            </a:r>
            <a:endParaRPr lang="en-GB" b="0" i="0" dirty="0">
              <a:solidFill>
                <a:srgbClr val="212121"/>
              </a:solidFill>
              <a:effectLst/>
              <a:latin typeface="BlinkMacSystemFont"/>
            </a:endParaRPr>
          </a:p>
          <a:p>
            <a:endParaRPr lang="en-GB" dirty="0"/>
          </a:p>
        </p:txBody>
      </p:sp>
      <p:sp>
        <p:nvSpPr>
          <p:cNvPr id="4" name="Slide Number Placeholder 3"/>
          <p:cNvSpPr>
            <a:spLocks noGrp="1"/>
          </p:cNvSpPr>
          <p:nvPr>
            <p:ph type="sldNum" sz="quarter" idx="5"/>
          </p:nvPr>
        </p:nvSpPr>
        <p:spPr/>
        <p:txBody>
          <a:bodyPr/>
          <a:lstStyle/>
          <a:p>
            <a:fld id="{A5AD7A7A-7544-4B24-90EE-B6FC3D98CDDD}" type="slidenum">
              <a:rPr lang="en-GB" smtClean="0"/>
              <a:pPr/>
              <a:t>36</a:t>
            </a:fld>
            <a:endParaRPr lang="en-GB"/>
          </a:p>
        </p:txBody>
      </p:sp>
    </p:spTree>
    <p:extLst>
      <p:ext uri="{BB962C8B-B14F-4D97-AF65-F5344CB8AC3E}">
        <p14:creationId xmlns:p14="http://schemas.microsoft.com/office/powerpoint/2010/main" val="743488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09BF19ED-B0AC-188E-964A-91BDD6409D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F36D5090-599C-EC1A-3675-DDA51FEC0A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GB" b="0" i="0" dirty="0">
                <a:solidFill>
                  <a:srgbClr val="2A2A2A"/>
                </a:solidFill>
                <a:effectLst/>
                <a:latin typeface="Merriweather" panose="020B0604020202020204" pitchFamily="2" charset="0"/>
              </a:rPr>
              <a:t>Branch off base of aorta</a:t>
            </a:r>
          </a:p>
          <a:p>
            <a:pPr eaLnBrk="1" hangingPunct="1">
              <a:spcBef>
                <a:spcPct val="0"/>
              </a:spcBef>
            </a:pPr>
            <a:r>
              <a:rPr lang="en-GB" b="0" i="0" dirty="0">
                <a:solidFill>
                  <a:srgbClr val="2A2A2A"/>
                </a:solidFill>
                <a:effectLst/>
                <a:latin typeface="Merriweather" panose="020B0604020202020204" pitchFamily="2" charset="0"/>
              </a:rPr>
              <a:t>The resting coronary blood flow is ∼250 ml min</a:t>
            </a:r>
            <a:r>
              <a:rPr lang="en-GB" b="0" i="0" baseline="30000" dirty="0">
                <a:solidFill>
                  <a:srgbClr val="2A2A2A"/>
                </a:solidFill>
                <a:effectLst/>
                <a:latin typeface="Source Sans Pro" panose="020B0503030403020204" pitchFamily="34" charset="0"/>
              </a:rPr>
              <a:t>−1</a:t>
            </a:r>
            <a:r>
              <a:rPr lang="en-GB" b="0" i="0" dirty="0">
                <a:solidFill>
                  <a:srgbClr val="2A2A2A"/>
                </a:solidFill>
                <a:effectLst/>
                <a:latin typeface="Merriweather" panose="020B0604020202020204" pitchFamily="2" charset="0"/>
              </a:rPr>
              <a:t> (0.8 ml min</a:t>
            </a:r>
            <a:r>
              <a:rPr lang="en-GB" b="0" i="0" baseline="30000" dirty="0">
                <a:solidFill>
                  <a:srgbClr val="2A2A2A"/>
                </a:solidFill>
                <a:effectLst/>
                <a:latin typeface="Source Sans Pro" panose="020B0503030403020204" pitchFamily="34" charset="0"/>
              </a:rPr>
              <a:t>−1</a:t>
            </a:r>
            <a:r>
              <a:rPr lang="en-GB" b="0" i="0" dirty="0">
                <a:solidFill>
                  <a:srgbClr val="2A2A2A"/>
                </a:solidFill>
                <a:effectLst/>
                <a:latin typeface="Merriweather" panose="020B0604020202020204" pitchFamily="2" charset="0"/>
              </a:rPr>
              <a:t> g</a:t>
            </a:r>
            <a:r>
              <a:rPr lang="en-GB" b="0" i="0" baseline="30000" dirty="0">
                <a:solidFill>
                  <a:srgbClr val="2A2A2A"/>
                </a:solidFill>
                <a:effectLst/>
                <a:latin typeface="Source Sans Pro" panose="020B0503030403020204" pitchFamily="34" charset="0"/>
              </a:rPr>
              <a:t>−1</a:t>
            </a:r>
            <a:r>
              <a:rPr lang="en-GB" b="0" i="0" dirty="0">
                <a:solidFill>
                  <a:srgbClr val="2A2A2A"/>
                </a:solidFill>
                <a:effectLst/>
                <a:latin typeface="Merriweather" panose="020B0604020202020204" pitchFamily="2" charset="0"/>
              </a:rPr>
              <a:t> of heart muscle); this represents 5% of cardiac output – highest VO2 of any tissue in humans.</a:t>
            </a:r>
          </a:p>
          <a:p>
            <a:pPr eaLnBrk="1" hangingPunct="1">
              <a:spcBef>
                <a:spcPct val="0"/>
              </a:spcBef>
            </a:pPr>
            <a:r>
              <a:rPr lang="en-GB" altLang="en-US" b="0" i="0" dirty="0">
                <a:solidFill>
                  <a:srgbClr val="2A2A2A"/>
                </a:solidFill>
                <a:effectLst/>
                <a:latin typeface="Merriweather" panose="020B0604020202020204" pitchFamily="2" charset="0"/>
              </a:rPr>
              <a:t>Arterial extraction at rest = 70-80% contrast 25% in all other tissues.</a:t>
            </a:r>
          </a:p>
          <a:p>
            <a:pPr eaLnBrk="1" hangingPunct="1">
              <a:spcBef>
                <a:spcPct val="0"/>
              </a:spcBef>
            </a:pPr>
            <a:endParaRPr lang="en-US" altLang="en-US" dirty="0"/>
          </a:p>
        </p:txBody>
      </p:sp>
      <p:sp>
        <p:nvSpPr>
          <p:cNvPr id="27652" name="Slide Number Placeholder 3">
            <a:extLst>
              <a:ext uri="{FF2B5EF4-FFF2-40B4-BE49-F238E27FC236}">
                <a16:creationId xmlns:a16="http://schemas.microsoft.com/office/drawing/2014/main" id="{88E473A3-351F-F0C2-C219-C9E6F1F446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130DF388-1B5C-4283-BA73-D96E2A0BDADC}" type="slidenum">
              <a:rPr lang="en-GB" altLang="en-US" sz="1200" smtClean="0"/>
              <a:pPr/>
              <a:t>37</a:t>
            </a:fld>
            <a:endParaRPr lang="en-GB" alt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09BF19ED-B0AC-188E-964A-91BDD6409D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F36D5090-599C-EC1A-3675-DDA51FEC0A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GB" b="0" i="0" dirty="0">
                <a:solidFill>
                  <a:srgbClr val="2A2A2A"/>
                </a:solidFill>
                <a:effectLst/>
                <a:latin typeface="Merriweather" panose="020B0604020202020204" pitchFamily="2" charset="0"/>
              </a:rPr>
              <a:t>Branch off base of aorta</a:t>
            </a:r>
          </a:p>
          <a:p>
            <a:pPr eaLnBrk="1" hangingPunct="1">
              <a:spcBef>
                <a:spcPct val="0"/>
              </a:spcBef>
            </a:pPr>
            <a:r>
              <a:rPr lang="en-GB" b="0" i="0" dirty="0">
                <a:solidFill>
                  <a:srgbClr val="2A2A2A"/>
                </a:solidFill>
                <a:effectLst/>
                <a:latin typeface="Merriweather" panose="020B0604020202020204" pitchFamily="2" charset="0"/>
              </a:rPr>
              <a:t>The resting coronary blood flow is ∼250 ml min</a:t>
            </a:r>
            <a:r>
              <a:rPr lang="en-GB" b="0" i="0" baseline="30000" dirty="0">
                <a:solidFill>
                  <a:srgbClr val="2A2A2A"/>
                </a:solidFill>
                <a:effectLst/>
                <a:latin typeface="Source Sans Pro" panose="020B0503030403020204" pitchFamily="34" charset="0"/>
              </a:rPr>
              <a:t>−1</a:t>
            </a:r>
            <a:r>
              <a:rPr lang="en-GB" b="0" i="0" dirty="0">
                <a:solidFill>
                  <a:srgbClr val="2A2A2A"/>
                </a:solidFill>
                <a:effectLst/>
                <a:latin typeface="Merriweather" panose="020B0604020202020204" pitchFamily="2" charset="0"/>
              </a:rPr>
              <a:t> (0.8 ml min</a:t>
            </a:r>
            <a:r>
              <a:rPr lang="en-GB" b="0" i="0" baseline="30000" dirty="0">
                <a:solidFill>
                  <a:srgbClr val="2A2A2A"/>
                </a:solidFill>
                <a:effectLst/>
                <a:latin typeface="Source Sans Pro" panose="020B0503030403020204" pitchFamily="34" charset="0"/>
              </a:rPr>
              <a:t>−1</a:t>
            </a:r>
            <a:r>
              <a:rPr lang="en-GB" b="0" i="0" dirty="0">
                <a:solidFill>
                  <a:srgbClr val="2A2A2A"/>
                </a:solidFill>
                <a:effectLst/>
                <a:latin typeface="Merriweather" panose="020B0604020202020204" pitchFamily="2" charset="0"/>
              </a:rPr>
              <a:t> g</a:t>
            </a:r>
            <a:r>
              <a:rPr lang="en-GB" b="0" i="0" baseline="30000" dirty="0">
                <a:solidFill>
                  <a:srgbClr val="2A2A2A"/>
                </a:solidFill>
                <a:effectLst/>
                <a:latin typeface="Source Sans Pro" panose="020B0503030403020204" pitchFamily="34" charset="0"/>
              </a:rPr>
              <a:t>−1</a:t>
            </a:r>
            <a:r>
              <a:rPr lang="en-GB" b="0" i="0" dirty="0">
                <a:solidFill>
                  <a:srgbClr val="2A2A2A"/>
                </a:solidFill>
                <a:effectLst/>
                <a:latin typeface="Merriweather" panose="020B0604020202020204" pitchFamily="2" charset="0"/>
              </a:rPr>
              <a:t> of heart muscle); this represents 5% of cardiac output – highest VO2 of any tissue in humans.</a:t>
            </a:r>
          </a:p>
          <a:p>
            <a:pPr eaLnBrk="1" hangingPunct="1">
              <a:spcBef>
                <a:spcPct val="0"/>
              </a:spcBef>
            </a:pPr>
            <a:r>
              <a:rPr lang="en-GB" altLang="en-US" b="0" i="0" dirty="0">
                <a:solidFill>
                  <a:srgbClr val="2A2A2A"/>
                </a:solidFill>
                <a:effectLst/>
                <a:latin typeface="Merriweather" panose="020B0604020202020204" pitchFamily="2" charset="0"/>
              </a:rPr>
              <a:t>Arterial extraction at rest = 70-80% contrast 25% in all other tissues.</a:t>
            </a:r>
          </a:p>
          <a:p>
            <a:pPr eaLnBrk="1" hangingPunct="1">
              <a:spcBef>
                <a:spcPct val="0"/>
              </a:spcBef>
            </a:pPr>
            <a:endParaRPr lang="en-US" altLang="en-US" dirty="0"/>
          </a:p>
        </p:txBody>
      </p:sp>
      <p:sp>
        <p:nvSpPr>
          <p:cNvPr id="27652" name="Slide Number Placeholder 3">
            <a:extLst>
              <a:ext uri="{FF2B5EF4-FFF2-40B4-BE49-F238E27FC236}">
                <a16:creationId xmlns:a16="http://schemas.microsoft.com/office/drawing/2014/main" id="{88E473A3-351F-F0C2-C219-C9E6F1F446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130DF388-1B5C-4283-BA73-D96E2A0BDADC}" type="slidenum">
              <a:rPr lang="en-GB" altLang="en-US" sz="1200" smtClean="0"/>
              <a:pPr/>
              <a:t>38</a:t>
            </a:fld>
            <a:endParaRPr lang="en-GB" altLang="en-US" sz="1200"/>
          </a:p>
        </p:txBody>
      </p:sp>
    </p:spTree>
    <p:extLst>
      <p:ext uri="{BB962C8B-B14F-4D97-AF65-F5344CB8AC3E}">
        <p14:creationId xmlns:p14="http://schemas.microsoft.com/office/powerpoint/2010/main" val="6513618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dirty="0">
                <a:solidFill>
                  <a:srgbClr val="000000"/>
                </a:solidFill>
                <a:effectLst/>
                <a:latin typeface="Rockwell" panose="02060603020205020403" pitchFamily="18" charset="0"/>
              </a:rPr>
              <a:t>houses vital structures - heart, great vessels, trachea, essential nerves. </a:t>
            </a:r>
          </a:p>
          <a:p>
            <a:pPr rtl="0"/>
            <a:r>
              <a:rPr lang="en-GB" sz="1200" b="0" i="0" dirty="0">
                <a:solidFill>
                  <a:srgbClr val="000000"/>
                </a:solidFill>
                <a:effectLst/>
                <a:latin typeface="Rockwell" panose="02060603020205020403" pitchFamily="18" charset="0"/>
              </a:rPr>
              <a:t>Protected pathway for structures traversing from the neck, superiorly, and into the abdomen, inferiorly. </a:t>
            </a:r>
          </a:p>
          <a:p>
            <a:pPr rtl="0"/>
            <a:endParaRPr lang="en-GB" dirty="0"/>
          </a:p>
        </p:txBody>
      </p:sp>
      <p:sp>
        <p:nvSpPr>
          <p:cNvPr id="4" name="Slide Number Placeholder 3"/>
          <p:cNvSpPr>
            <a:spLocks noGrp="1"/>
          </p:cNvSpPr>
          <p:nvPr>
            <p:ph type="sldNum" sz="quarter" idx="5"/>
          </p:nvPr>
        </p:nvSpPr>
        <p:spPr/>
        <p:txBody>
          <a:bodyPr/>
          <a:lstStyle/>
          <a:p>
            <a:fld id="{A5AD7A7A-7544-4B24-90EE-B6FC3D98CDDD}" type="slidenum">
              <a:rPr lang="en-GB" smtClean="0"/>
              <a:pPr/>
              <a:t>39</a:t>
            </a:fld>
            <a:endParaRPr lang="en-GB"/>
          </a:p>
        </p:txBody>
      </p:sp>
    </p:spTree>
    <p:extLst>
      <p:ext uri="{BB962C8B-B14F-4D97-AF65-F5344CB8AC3E}">
        <p14:creationId xmlns:p14="http://schemas.microsoft.com/office/powerpoint/2010/main" val="2031577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43B2FE3C-EFC4-F691-CB41-947D3943F3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a:extLst>
              <a:ext uri="{FF2B5EF4-FFF2-40B4-BE49-F238E27FC236}">
                <a16:creationId xmlns:a16="http://schemas.microsoft.com/office/drawing/2014/main" id="{4AA5490F-4A36-7129-363F-0C21D6DB9F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41988" name="Slide Number Placeholder 3">
            <a:extLst>
              <a:ext uri="{FF2B5EF4-FFF2-40B4-BE49-F238E27FC236}">
                <a16:creationId xmlns:a16="http://schemas.microsoft.com/office/drawing/2014/main" id="{04EC1318-6B86-5853-795E-021EC92502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B9EE4B-4FDF-4CC8-A0BC-BC55AA8BD24E}" type="slidenum">
              <a:rPr lang="en-GB" altLang="en-US" smtClean="0"/>
              <a:pPr/>
              <a:t>45</a:t>
            </a:fld>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BE1559C5-8E78-4661-81C7-153F0C00D4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D6FD5ABD-9B83-6648-42C5-CE071246ED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45060" name="Slide Number Placeholder 3">
            <a:extLst>
              <a:ext uri="{FF2B5EF4-FFF2-40B4-BE49-F238E27FC236}">
                <a16:creationId xmlns:a16="http://schemas.microsoft.com/office/drawing/2014/main" id="{AA8CFEF4-99B0-DE35-521E-B23DE2BB76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0B575E5-82F0-45A7-B80C-D189E30DDA21}" type="slidenum">
              <a:rPr lang="en-GB" altLang="en-US" smtClean="0"/>
              <a:pPr/>
              <a:t>46</a:t>
            </a:fld>
            <a:endParaRPr lang="en-GB"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1" dirty="0">
                <a:latin typeface="Arial" panose="020B0604020202020204" pitchFamily="34" charset="0"/>
                <a:cs typeface="Arial" panose="020B0604020202020204" pitchFamily="34" charset="0"/>
              </a:rPr>
              <a:t>Cardiomyocytes</a:t>
            </a:r>
            <a:r>
              <a:rPr lang="en-GB" dirty="0">
                <a:latin typeface="Arial" panose="020B0604020202020204" pitchFamily="34" charset="0"/>
                <a:cs typeface="Arial" panose="020B0604020202020204" pitchFamily="34" charset="0"/>
              </a:rPr>
              <a:t>- Cells which make up the atria and the ventricles. A myocardial cell contains myofibrils, which are specialized organelles consisting of long chains of sarcomeres, the fundamental contractile units of muscle cells. </a:t>
            </a:r>
          </a:p>
          <a:p>
            <a:endParaRPr lang="en-GB" b="1" dirty="0">
              <a:latin typeface="Arial" panose="020B0604020202020204" pitchFamily="34" charset="0"/>
              <a:cs typeface="Arial" panose="020B0604020202020204" pitchFamily="34" charset="0"/>
            </a:endParaRPr>
          </a:p>
          <a:p>
            <a:r>
              <a:rPr lang="en-GB" b="1" dirty="0" err="1">
                <a:latin typeface="Arial" panose="020B0604020202020204" pitchFamily="34" charset="0"/>
                <a:cs typeface="Arial" panose="020B0604020202020204" pitchFamily="34" charset="0"/>
              </a:rPr>
              <a:t>Autorhythmic</a:t>
            </a:r>
            <a:r>
              <a:rPr lang="en-GB" b="1" dirty="0">
                <a:latin typeface="Arial" panose="020B0604020202020204" pitchFamily="34" charset="0"/>
                <a:cs typeface="Arial" panose="020B0604020202020204" pitchFamily="34" charset="0"/>
              </a:rPr>
              <a:t> cells </a:t>
            </a:r>
            <a:r>
              <a:rPr lang="en-GB" dirty="0">
                <a:latin typeface="Arial" panose="020B0604020202020204" pitchFamily="34" charset="0"/>
                <a:cs typeface="Arial" panose="020B0604020202020204" pitchFamily="34" charset="0"/>
              </a:rPr>
              <a:t>- Specialised cardiac muscle cells, which are self-excitable (intrinsic). Therefore </a:t>
            </a:r>
            <a:r>
              <a:rPr lang="en-GB" dirty="0" err="1">
                <a:latin typeface="Arial" panose="020B0604020202020204" pitchFamily="34" charset="0"/>
                <a:cs typeface="Arial" panose="020B0604020202020204" pitchFamily="34" charset="0"/>
              </a:rPr>
              <a:t>Autorhythmic</a:t>
            </a:r>
            <a:r>
              <a:rPr lang="en-GB" dirty="0">
                <a:latin typeface="Arial" panose="020B0604020202020204" pitchFamily="34" charset="0"/>
                <a:cs typeface="Arial" panose="020B0604020202020204" pitchFamily="34" charset="0"/>
              </a:rPr>
              <a:t> cells repeatedly generate action potentials that trigger heart contractions, through the conduction nodes and pathways</a:t>
            </a:r>
            <a:r>
              <a:rPr lang="en-GB" dirty="0"/>
              <a:t>.</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b="1" dirty="0">
                <a:latin typeface="Arial" panose="020B0604020202020204" pitchFamily="34" charset="0"/>
                <a:cs typeface="Arial" panose="020B0604020202020204" pitchFamily="34" charset="0"/>
              </a:rPr>
              <a:t>Action potentials </a:t>
            </a:r>
            <a:r>
              <a:rPr lang="en-GB" dirty="0">
                <a:latin typeface="Arial" panose="020B0604020202020204" pitchFamily="34" charset="0"/>
                <a:cs typeface="Arial" panose="020B0604020202020204" pitchFamily="34" charset="0"/>
              </a:rPr>
              <a:t>– Spread from the </a:t>
            </a:r>
            <a:r>
              <a:rPr lang="en-GB" dirty="0" err="1">
                <a:latin typeface="Arial" panose="020B0604020202020204" pitchFamily="34" charset="0"/>
                <a:cs typeface="Arial" panose="020B0604020202020204" pitchFamily="34" charset="0"/>
              </a:rPr>
              <a:t>autorhythmic</a:t>
            </a:r>
            <a:r>
              <a:rPr lang="en-GB" dirty="0">
                <a:latin typeface="Arial" panose="020B0604020202020204" pitchFamily="34" charset="0"/>
                <a:cs typeface="Arial" panose="020B0604020202020204" pitchFamily="34" charset="0"/>
              </a:rPr>
              <a:t> cells within the intrinsic conduction system to the contractile cells are electrical events. Contracting the Cardiomyocytes causing a heartbeat.</a:t>
            </a:r>
          </a:p>
          <a:p>
            <a:endParaRPr lang="en-GB" dirty="0"/>
          </a:p>
        </p:txBody>
      </p:sp>
      <p:sp>
        <p:nvSpPr>
          <p:cNvPr id="4" name="Slide Number Placeholder 3"/>
          <p:cNvSpPr>
            <a:spLocks noGrp="1"/>
          </p:cNvSpPr>
          <p:nvPr>
            <p:ph type="sldNum" sz="quarter" idx="10"/>
          </p:nvPr>
        </p:nvSpPr>
        <p:spPr/>
        <p:txBody>
          <a:bodyPr/>
          <a:lstStyle/>
          <a:p>
            <a:fld id="{22895272-6C8B-4A97-BDA5-FD6526036724}" type="slidenum">
              <a:rPr lang="en-GB" smtClean="0"/>
              <a:t>48</a:t>
            </a:fld>
            <a:endParaRPr lang="en-GB"/>
          </a:p>
        </p:txBody>
      </p:sp>
    </p:spTree>
    <p:extLst>
      <p:ext uri="{BB962C8B-B14F-4D97-AF65-F5344CB8AC3E}">
        <p14:creationId xmlns:p14="http://schemas.microsoft.com/office/powerpoint/2010/main" val="298366684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cstate="print">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cstate="print">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cstate="print">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C34BFFC3-AF7F-4CF6-A883-87E941C9770B}" type="slidenum">
              <a:rPr lang="en-GB" smtClean="0"/>
              <a:pPr/>
              <a:t>‹#›</a:t>
            </a:fld>
            <a:endParaRPr lang="en-GB"/>
          </a:p>
        </p:txBody>
      </p:sp>
    </p:spTree>
    <p:extLst>
      <p:ext uri="{BB962C8B-B14F-4D97-AF65-F5344CB8AC3E}">
        <p14:creationId xmlns:p14="http://schemas.microsoft.com/office/powerpoint/2010/main" val="2815661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4235727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cstate="print">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E485C71E-5F81-4E07-822B-8417DE214936}" type="datetimeFigureOut">
              <a:rPr lang="en-GB" smtClean="0"/>
              <a:pPr/>
              <a:t>12/02/2025</a:t>
            </a:fld>
            <a:endParaRPr lang="en-GB"/>
          </a:p>
        </p:txBody>
      </p:sp>
      <p:sp>
        <p:nvSpPr>
          <p:cNvPr id="5" name="Footer Placeholder 4"/>
          <p:cNvSpPr>
            <a:spLocks noGrp="1"/>
          </p:cNvSpPr>
          <p:nvPr>
            <p:ph type="ftr" sz="quarter" idx="11"/>
          </p:nvPr>
        </p:nvSpPr>
        <p:spPr>
          <a:xfrm>
            <a:off x="2182708" y="6272784"/>
            <a:ext cx="6327648" cy="365125"/>
          </a:xfrm>
        </p:spPr>
        <p:txBody>
          <a:bodyPr/>
          <a:lstStyle/>
          <a:p>
            <a:endParaRPr lang="en-GB"/>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C34BFFC3-AF7F-4CF6-A883-87E941C9770B}" type="slidenum">
              <a:rPr lang="en-GB" smtClean="0"/>
              <a:pPr/>
              <a:t>‹#›</a:t>
            </a:fld>
            <a:endParaRPr lang="en-GB"/>
          </a:p>
        </p:txBody>
      </p:sp>
    </p:spTree>
    <p:extLst>
      <p:ext uri="{BB962C8B-B14F-4D97-AF65-F5344CB8AC3E}">
        <p14:creationId xmlns:p14="http://schemas.microsoft.com/office/powerpoint/2010/main" val="1051478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2672223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334906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370860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3001481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cstate="print">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6" name="Footer Placeholder 5"/>
          <p:cNvSpPr>
            <a:spLocks noGrp="1"/>
          </p:cNvSpPr>
          <p:nvPr>
            <p:ph type="ftr" sz="quarter" idx="11"/>
          </p:nvPr>
        </p:nvSpPr>
        <p:spPr/>
        <p:txBody>
          <a:bodyPr/>
          <a:lstStyle/>
          <a:p>
            <a:endParaRPr lang="en-GB"/>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747047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cstate="print">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85C71E-5F81-4E07-822B-8417DE214936}" type="datetimeFigureOut">
              <a:rPr lang="en-GB" smtClean="0"/>
              <a:pPr/>
              <a:t>12/02/2025</a:t>
            </a:fld>
            <a:endParaRPr lang="en-GB"/>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3819896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1873589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5C71E-5F81-4E07-822B-8417DE214936}" type="datetimeFigureOut">
              <a:rPr lang="en-GB" smtClean="0"/>
              <a:pPr/>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1437603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Content Placeholder 2"/>
          <p:cNvSpPr>
            <a:spLocks noGrp="1"/>
          </p:cNvSpPr>
          <p:nvPr>
            <p:ph sz="quarter" idx="1"/>
          </p:nvPr>
        </p:nvSpPr>
        <p:spPr>
          <a:xfrm>
            <a:off x="9144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9144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half" idx="3"/>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4">
            <a:extLst>
              <a:ext uri="{FF2B5EF4-FFF2-40B4-BE49-F238E27FC236}">
                <a16:creationId xmlns:a16="http://schemas.microsoft.com/office/drawing/2014/main" id="{B4EB3140-19AB-9E81-9EA4-5B29D4D058AA}"/>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F6005EA2-6581-6EE7-F3EE-22E2F8E9E48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4A53E6AD-A866-A452-4A77-B9B0FA033627}"/>
              </a:ext>
            </a:extLst>
          </p:cNvPr>
          <p:cNvSpPr>
            <a:spLocks noGrp="1" noChangeArrowheads="1"/>
          </p:cNvSpPr>
          <p:nvPr>
            <p:ph type="sldNum" sz="quarter" idx="12"/>
          </p:nvPr>
        </p:nvSpPr>
        <p:spPr>
          <a:ln/>
        </p:spPr>
        <p:txBody>
          <a:bodyPr/>
          <a:lstStyle>
            <a:lvl1pPr>
              <a:defRPr/>
            </a:lvl1pPr>
          </a:lstStyle>
          <a:p>
            <a:pPr>
              <a:defRPr/>
            </a:pPr>
            <a:r>
              <a:rPr lang="en-US" altLang="en-US"/>
              <a:t>27-</a:t>
            </a:r>
            <a:fld id="{4D0F1E6D-06F8-4A30-A4F2-90EB4C81140D}" type="slidenum">
              <a:rPr lang="en-US" altLang="en-US" smtClean="0"/>
              <a:pPr>
                <a:defRPr/>
              </a:pPr>
              <a:t>‹#›</a:t>
            </a:fld>
            <a:endParaRPr lang="en-US" altLang="en-US"/>
          </a:p>
        </p:txBody>
      </p:sp>
    </p:spTree>
    <p:extLst>
      <p:ext uri="{BB962C8B-B14F-4D97-AF65-F5344CB8AC3E}">
        <p14:creationId xmlns:p14="http://schemas.microsoft.com/office/powerpoint/2010/main" val="24230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lipArt Placeholder 3"/>
          <p:cNvSpPr>
            <a:spLocks noGrp="1"/>
          </p:cNvSpPr>
          <p:nvPr>
            <p:ph type="clipArt" sz="half" idx="2"/>
          </p:nvPr>
        </p:nvSpPr>
        <p:spPr>
          <a:xfrm>
            <a:off x="6197600" y="1981200"/>
            <a:ext cx="5080000" cy="4114800"/>
          </a:xfrm>
        </p:spPr>
        <p:txBody>
          <a:bodyPr/>
          <a:lstStyle/>
          <a:p>
            <a:pPr lvl="0"/>
            <a:endParaRPr lang="en-GB" noProof="0"/>
          </a:p>
        </p:txBody>
      </p:sp>
      <p:sp>
        <p:nvSpPr>
          <p:cNvPr id="5" name="Rectangle 4">
            <a:extLst>
              <a:ext uri="{FF2B5EF4-FFF2-40B4-BE49-F238E27FC236}">
                <a16:creationId xmlns:a16="http://schemas.microsoft.com/office/drawing/2014/main" id="{C9A79A82-F65B-34B5-CD84-5B1D9D5A93B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1FD36C3-3126-A0AC-717A-F35F2B9AABF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FA64794-10E7-3ECB-BC6D-D7C66AFE8181}"/>
              </a:ext>
            </a:extLst>
          </p:cNvPr>
          <p:cNvSpPr>
            <a:spLocks noGrp="1" noChangeArrowheads="1"/>
          </p:cNvSpPr>
          <p:nvPr>
            <p:ph type="sldNum" sz="quarter" idx="12"/>
          </p:nvPr>
        </p:nvSpPr>
        <p:spPr>
          <a:ln/>
        </p:spPr>
        <p:txBody>
          <a:bodyPr/>
          <a:lstStyle>
            <a:lvl1pPr>
              <a:defRPr/>
            </a:lvl1pPr>
          </a:lstStyle>
          <a:p>
            <a:pPr>
              <a:defRPr/>
            </a:pPr>
            <a:r>
              <a:rPr lang="en-US" altLang="en-US"/>
              <a:t>27-</a:t>
            </a:r>
            <a:fld id="{0E0A835D-6AD3-4BAE-B730-66678AD007F7}" type="slidenum">
              <a:rPr lang="en-US" altLang="en-US" smtClean="0"/>
              <a:pPr>
                <a:defRPr/>
              </a:pPr>
              <a:t>‹#›</a:t>
            </a:fld>
            <a:endParaRPr lang="en-US" altLang="en-US"/>
          </a:p>
        </p:txBody>
      </p:sp>
    </p:spTree>
    <p:extLst>
      <p:ext uri="{BB962C8B-B14F-4D97-AF65-F5344CB8AC3E}">
        <p14:creationId xmlns:p14="http://schemas.microsoft.com/office/powerpoint/2010/main" val="2815587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E485C71E-5F81-4E07-822B-8417DE214936}" type="datetimeFigureOut">
              <a:rPr lang="en-GB" smtClean="0"/>
              <a:pPr/>
              <a:t>12/02/2025</a:t>
            </a:fld>
            <a:endParaRPr lang="en-GB"/>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GB"/>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5" cstate="print">
                <a:duotone>
                  <a:schemeClr val="accent1">
                    <a:shade val="45000"/>
                    <a:satMod val="135000"/>
                  </a:schemeClr>
                  <a:prstClr val="white"/>
                </a:duotone>
                <a:extLst>
                  <a:ext uri="{BEBA8EAE-BF5A-486C-A8C5-ECC9F3942E4B}">
                    <a14:imgProps xmlns:a14="http://schemas.microsoft.com/office/drawing/2010/main">
                      <a14:imgLayer r:embed="rId1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C34BFFC3-AF7F-4CF6-A883-87E941C9770B}" type="slidenum">
              <a:rPr lang="en-GB" smtClean="0"/>
              <a:pPr/>
              <a:t>‹#›</a:t>
            </a:fld>
            <a:endParaRPr lang="en-GB"/>
          </a:p>
        </p:txBody>
      </p:sp>
    </p:spTree>
    <p:extLst>
      <p:ext uri="{BB962C8B-B14F-4D97-AF65-F5344CB8AC3E}">
        <p14:creationId xmlns:p14="http://schemas.microsoft.com/office/powerpoint/2010/main" val="3748561658"/>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Lst>
  <p:txStyles>
    <p:titleStyle>
      <a:lvl1pPr algn="l" defTabSz="914400" rtl="0" eaLnBrk="1" latinLnBrk="0" hangingPunct="1">
        <a:lnSpc>
          <a:spcPct val="90000"/>
        </a:lnSpc>
        <a:spcBef>
          <a:spcPct val="0"/>
        </a:spcBef>
        <a:buNone/>
        <a:defRPr sz="5400" kern="1200" cap="all" baseline="0">
          <a:blipFill>
            <a:blip r:embed="rId17">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file:///D:\Image_Library\JPEG_IL\19_IL_jpeg\19-01_artveincap_1.jpg"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3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nSpc>
                <a:spcPct val="107000"/>
              </a:lnSpc>
              <a:spcAft>
                <a:spcPts val="800"/>
              </a:spcAft>
            </a:pPr>
            <a:r>
              <a:rPr lang="en-GB" sz="4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Cardio-vascular 1</a:t>
            </a:r>
            <a:br>
              <a:rPr lang="en-GB" sz="4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GB" sz="4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Pre-lecture notes: </a:t>
            </a:r>
            <a:endParaRPr lang="en-GB" sz="4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Subtitle 2">
            <a:extLst>
              <a:ext uri="{FF2B5EF4-FFF2-40B4-BE49-F238E27FC236}">
                <a16:creationId xmlns:a16="http://schemas.microsoft.com/office/drawing/2014/main" id="{334EAA66-EAA4-337B-5EF0-BCD51A4767A5}"/>
              </a:ext>
            </a:extLst>
          </p:cNvPr>
          <p:cNvSpPr>
            <a:spLocks noGrp="1"/>
          </p:cNvSpPr>
          <p:nvPr>
            <p:ph type="subTitle" idx="1"/>
          </p:nvPr>
        </p:nvSpPr>
        <p:spPr>
          <a:xfrm>
            <a:off x="1069848" y="4389120"/>
            <a:ext cx="7891272" cy="1069848"/>
          </a:xfrm>
        </p:spPr>
        <p:txBody>
          <a:bodyPr>
            <a:normAutofit/>
          </a:bodyPr>
          <a:lstStyle/>
          <a:p>
            <a:r>
              <a:rPr lang="en-GB" sz="2800" dirty="0"/>
              <a:t>PT7001 + PT4054</a:t>
            </a:r>
          </a:p>
          <a:p>
            <a:r>
              <a:rPr lang="en-GB" sz="2800" dirty="0"/>
              <a:t>February 2025 </a:t>
            </a:r>
          </a:p>
          <a:p>
            <a:endParaRPr lang="en-GB" sz="2800" dirty="0"/>
          </a:p>
        </p:txBody>
      </p:sp>
      <p:sp>
        <p:nvSpPr>
          <p:cNvPr id="3" name="Subtitle 2">
            <a:extLst>
              <a:ext uri="{FF2B5EF4-FFF2-40B4-BE49-F238E27FC236}">
                <a16:creationId xmlns:a16="http://schemas.microsoft.com/office/drawing/2014/main" id="{3F90F244-B8F5-F42C-63B7-23FA5D70B74E}"/>
              </a:ext>
            </a:extLst>
          </p:cNvPr>
          <p:cNvSpPr txBox="1">
            <a:spLocks/>
          </p:cNvSpPr>
          <p:nvPr/>
        </p:nvSpPr>
        <p:spPr>
          <a:xfrm>
            <a:off x="1051560" y="5458968"/>
            <a:ext cx="9966960" cy="106984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20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endParaRPr lang="en-GB" sz="2800" dirty="0"/>
          </a:p>
          <a:p>
            <a:pPr algn="r"/>
            <a:r>
              <a:rPr lang="en-GB" sz="1600" dirty="0"/>
              <a:t>c.chamberlin@londonmet.ac.uk</a:t>
            </a:r>
          </a:p>
        </p:txBody>
      </p:sp>
    </p:spTree>
    <p:extLst>
      <p:ext uri="{BB962C8B-B14F-4D97-AF65-F5344CB8AC3E}">
        <p14:creationId xmlns:p14="http://schemas.microsoft.com/office/powerpoint/2010/main" val="190142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E090-B937-22C3-7091-8528B8B57718}"/>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D00CEE09-9CC0-328E-8550-680F0F316096}"/>
              </a:ext>
            </a:extLst>
          </p:cNvPr>
          <p:cNvSpPr>
            <a:spLocks noGrp="1"/>
          </p:cNvSpPr>
          <p:nvPr>
            <p:ph idx="1"/>
          </p:nvPr>
        </p:nvSpPr>
        <p:spPr>
          <a:xfrm>
            <a:off x="101600" y="2121408"/>
            <a:ext cx="12090400" cy="4050792"/>
          </a:xfrm>
        </p:spPr>
        <p:txBody>
          <a:bodyPr>
            <a:noAutofit/>
          </a:bodyPr>
          <a:lstStyle/>
          <a:p>
            <a:pPr marL="388620" indent="-342900">
              <a:buFont typeface="+mj-lt"/>
              <a:buAutoNum type="arabicPeriod"/>
            </a:pPr>
            <a:r>
              <a:rPr lang="en-GB" sz="2800" dirty="0">
                <a:solidFill>
                  <a:srgbClr val="222222"/>
                </a:solidFill>
                <a:effectLst/>
                <a:ea typeface="Times New Roman" panose="02020603050405020304" pitchFamily="18" charset="0"/>
              </a:rPr>
              <a:t>Why we need a cardiovascular system: diffusion vs convection</a:t>
            </a:r>
            <a:endParaRPr lang="en-GB" sz="2800" dirty="0">
              <a:effectLst/>
              <a:ea typeface="Times New Roman" panose="02020603050405020304" pitchFamily="18" charset="0"/>
            </a:endParaRPr>
          </a:p>
          <a:p>
            <a:pPr marL="388620" indent="-342900">
              <a:buFont typeface="+mj-lt"/>
              <a:buAutoNum type="arabicPeriod"/>
            </a:pPr>
            <a:r>
              <a:rPr lang="en-GB" sz="2800" dirty="0">
                <a:solidFill>
                  <a:srgbClr val="222222"/>
                </a:solidFill>
                <a:effectLst/>
                <a:ea typeface="Times New Roman" panose="02020603050405020304" pitchFamily="18" charset="0"/>
              </a:rPr>
              <a:t>Body water compartments and the composition of blood Osmolarity and equilibria across membranes and capillaries, Pressures and flows in the CVS</a:t>
            </a:r>
            <a:endParaRPr lang="en-GB" sz="2800" dirty="0">
              <a:effectLst/>
              <a:ea typeface="Times New Roman" panose="02020603050405020304" pitchFamily="18" charset="0"/>
            </a:endParaRPr>
          </a:p>
          <a:p>
            <a:pPr marL="388620" indent="-342900">
              <a:buFont typeface="+mj-lt"/>
              <a:buAutoNum type="arabicPeriod"/>
            </a:pPr>
            <a:r>
              <a:rPr lang="en-GB" sz="2800" dirty="0">
                <a:solidFill>
                  <a:srgbClr val="222222"/>
                </a:solidFill>
                <a:effectLst/>
                <a:ea typeface="Times New Roman" panose="02020603050405020304" pitchFamily="18" charset="0"/>
              </a:rPr>
              <a:t>The structure of the heart</a:t>
            </a:r>
            <a:endParaRPr lang="en-GB" sz="2800" dirty="0">
              <a:effectLst/>
              <a:ea typeface="Times New Roman" panose="02020603050405020304" pitchFamily="18" charset="0"/>
            </a:endParaRPr>
          </a:p>
          <a:p>
            <a:pPr marL="388620" indent="-342900">
              <a:buFont typeface="+mj-lt"/>
              <a:buAutoNum type="arabicPeriod"/>
            </a:pPr>
            <a:r>
              <a:rPr lang="en-GB" sz="2800" dirty="0">
                <a:solidFill>
                  <a:srgbClr val="222222"/>
                </a:solidFill>
                <a:effectLst/>
                <a:ea typeface="Times New Roman" panose="02020603050405020304" pitchFamily="18" charset="0"/>
              </a:rPr>
              <a:t>The Cardiac Cycle</a:t>
            </a:r>
            <a:endParaRPr lang="en-GB" sz="2800" dirty="0">
              <a:effectLst/>
              <a:ea typeface="Times New Roman" panose="02020603050405020304" pitchFamily="18" charset="0"/>
            </a:endParaRPr>
          </a:p>
          <a:p>
            <a:pPr marL="388620" indent="-342900">
              <a:buFont typeface="+mj-lt"/>
              <a:buAutoNum type="arabicPeriod"/>
            </a:pPr>
            <a:r>
              <a:rPr lang="en-GB" sz="2800" dirty="0">
                <a:solidFill>
                  <a:srgbClr val="222222"/>
                </a:solidFill>
                <a:effectLst/>
                <a:ea typeface="Times New Roman" panose="02020603050405020304" pitchFamily="18" charset="0"/>
              </a:rPr>
              <a:t>Myocardial action potential and contraction coupling</a:t>
            </a:r>
            <a:endParaRPr lang="en-GB" sz="2800" dirty="0">
              <a:effectLst/>
              <a:ea typeface="Times New Roman" panose="02020603050405020304" pitchFamily="18" charset="0"/>
            </a:endParaRPr>
          </a:p>
          <a:p>
            <a:pPr marL="45720" indent="0">
              <a:buNone/>
            </a:pPr>
            <a:endParaRPr lang="en-GB" sz="2800" dirty="0">
              <a:effectLst/>
              <a:ea typeface="Times New Roman" panose="02020603050405020304" pitchFamily="18" charset="0"/>
            </a:endParaRPr>
          </a:p>
        </p:txBody>
      </p:sp>
    </p:spTree>
    <p:extLst>
      <p:ext uri="{BB962C8B-B14F-4D97-AF65-F5344CB8AC3E}">
        <p14:creationId xmlns:p14="http://schemas.microsoft.com/office/powerpoint/2010/main" val="3428149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0DE73-4ACD-9679-B452-DC2D058CE3D9}"/>
              </a:ext>
            </a:extLst>
          </p:cNvPr>
          <p:cNvSpPr>
            <a:spLocks noGrp="1"/>
          </p:cNvSpPr>
          <p:nvPr>
            <p:ph type="title"/>
          </p:nvPr>
        </p:nvSpPr>
        <p:spPr/>
        <p:txBody>
          <a:bodyPr/>
          <a:lstStyle/>
          <a:p>
            <a:r>
              <a:rPr lang="en-GB" sz="5400" dirty="0">
                <a:solidFill>
                  <a:srgbClr val="222222"/>
                </a:solidFill>
                <a:effectLst/>
                <a:latin typeface="Calibri" panose="020F0502020204030204" pitchFamily="34" charset="0"/>
                <a:ea typeface="Times New Roman" panose="02020603050405020304" pitchFamily="18" charset="0"/>
              </a:rPr>
              <a:t>1. diffusion vs convection</a:t>
            </a:r>
            <a:endParaRPr lang="en-GB" dirty="0"/>
          </a:p>
        </p:txBody>
      </p:sp>
      <p:sp>
        <p:nvSpPr>
          <p:cNvPr id="3" name="TextBox 2">
            <a:extLst>
              <a:ext uri="{FF2B5EF4-FFF2-40B4-BE49-F238E27FC236}">
                <a16:creationId xmlns:a16="http://schemas.microsoft.com/office/drawing/2014/main" id="{76AE6768-2834-9CE9-9483-4F0CA5726D53}"/>
              </a:ext>
            </a:extLst>
          </p:cNvPr>
          <p:cNvSpPr txBox="1"/>
          <p:nvPr/>
        </p:nvSpPr>
        <p:spPr>
          <a:xfrm>
            <a:off x="853440" y="2397760"/>
            <a:ext cx="9845040" cy="3108543"/>
          </a:xfrm>
          <a:prstGeom prst="rect">
            <a:avLst/>
          </a:prstGeom>
          <a:noFill/>
        </p:spPr>
        <p:txBody>
          <a:bodyPr wrap="square" rtlCol="0">
            <a:spAutoFit/>
          </a:bodyPr>
          <a:lstStyle/>
          <a:p>
            <a:r>
              <a:rPr lang="en-GB" sz="2800" b="1" dirty="0"/>
              <a:t>Diffusion</a:t>
            </a:r>
          </a:p>
          <a:p>
            <a:r>
              <a:rPr lang="en-GB" sz="2800" dirty="0"/>
              <a:t>Concentration gradient </a:t>
            </a:r>
          </a:p>
          <a:p>
            <a:r>
              <a:rPr lang="en-GB" sz="2800" dirty="0"/>
              <a:t>Passive oxygen transport</a:t>
            </a:r>
          </a:p>
          <a:p>
            <a:endParaRPr lang="en-GB" sz="2800" dirty="0"/>
          </a:p>
          <a:p>
            <a:r>
              <a:rPr lang="en-GB" sz="2800" dirty="0"/>
              <a:t>Within Lungs and tissues</a:t>
            </a:r>
          </a:p>
          <a:p>
            <a:endParaRPr lang="en-GB" sz="2800" dirty="0"/>
          </a:p>
          <a:p>
            <a:r>
              <a:rPr lang="en-GB" sz="2800" dirty="0"/>
              <a:t>Fick’s 1st and 2</a:t>
            </a:r>
            <a:r>
              <a:rPr lang="en-GB" sz="2800" baseline="30000" dirty="0"/>
              <a:t>nd</a:t>
            </a:r>
            <a:r>
              <a:rPr lang="en-GB" sz="2800" dirty="0"/>
              <a:t> laws</a:t>
            </a:r>
          </a:p>
        </p:txBody>
      </p:sp>
    </p:spTree>
    <p:extLst>
      <p:ext uri="{BB962C8B-B14F-4D97-AF65-F5344CB8AC3E}">
        <p14:creationId xmlns:p14="http://schemas.microsoft.com/office/powerpoint/2010/main" val="1134331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AE6768-2834-9CE9-9483-4F0CA5726D53}"/>
              </a:ext>
            </a:extLst>
          </p:cNvPr>
          <p:cNvSpPr txBox="1"/>
          <p:nvPr/>
        </p:nvSpPr>
        <p:spPr>
          <a:xfrm>
            <a:off x="853440" y="2397760"/>
            <a:ext cx="9845040" cy="2677656"/>
          </a:xfrm>
          <a:prstGeom prst="rect">
            <a:avLst/>
          </a:prstGeom>
          <a:noFill/>
        </p:spPr>
        <p:txBody>
          <a:bodyPr wrap="square" rtlCol="0">
            <a:spAutoFit/>
          </a:bodyPr>
          <a:lstStyle/>
          <a:p>
            <a:r>
              <a:rPr lang="en-GB" sz="2800" b="1" dirty="0"/>
              <a:t>Convection</a:t>
            </a:r>
          </a:p>
          <a:p>
            <a:r>
              <a:rPr lang="en-GB" sz="2800" dirty="0"/>
              <a:t>Pressure gradient</a:t>
            </a:r>
          </a:p>
          <a:p>
            <a:endParaRPr lang="en-GB" sz="2800" dirty="0"/>
          </a:p>
          <a:p>
            <a:r>
              <a:rPr lang="en-GB" sz="2800" dirty="0"/>
              <a:t>Oxygen ‘bulk transport’ within the circulation</a:t>
            </a:r>
          </a:p>
          <a:p>
            <a:r>
              <a:rPr lang="en-GB" sz="2800" dirty="0" err="1"/>
              <a:t>Avtive</a:t>
            </a:r>
            <a:r>
              <a:rPr lang="en-GB" sz="2800" dirty="0"/>
              <a:t> not passive and dependant upon the force production of the heart.</a:t>
            </a:r>
          </a:p>
        </p:txBody>
      </p:sp>
    </p:spTree>
    <p:extLst>
      <p:ext uri="{BB962C8B-B14F-4D97-AF65-F5344CB8AC3E}">
        <p14:creationId xmlns:p14="http://schemas.microsoft.com/office/powerpoint/2010/main" val="4107214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0DE73-4ACD-9679-B452-DC2D058CE3D9}"/>
              </a:ext>
            </a:extLst>
          </p:cNvPr>
          <p:cNvSpPr>
            <a:spLocks noGrp="1"/>
          </p:cNvSpPr>
          <p:nvPr>
            <p:ph type="title"/>
          </p:nvPr>
        </p:nvSpPr>
        <p:spPr>
          <a:xfrm>
            <a:off x="1336548" y="2275332"/>
            <a:ext cx="10058400" cy="1609344"/>
          </a:xfrm>
        </p:spPr>
        <p:txBody>
          <a:bodyPr>
            <a:normAutofit fontScale="90000"/>
          </a:bodyPr>
          <a:lstStyle/>
          <a:p>
            <a:r>
              <a:rPr lang="en-GB" sz="5400" dirty="0">
                <a:solidFill>
                  <a:srgbClr val="222222"/>
                </a:solidFill>
                <a:effectLst/>
                <a:latin typeface="Calibri" panose="020F0502020204030204" pitchFamily="34" charset="0"/>
                <a:ea typeface="Times New Roman" panose="02020603050405020304" pitchFamily="18" charset="0"/>
              </a:rPr>
              <a:t>2. Body water compartments </a:t>
            </a:r>
            <a:br>
              <a:rPr lang="en-GB" sz="5400" dirty="0">
                <a:solidFill>
                  <a:srgbClr val="222222"/>
                </a:solidFill>
                <a:effectLst/>
                <a:latin typeface="Calibri" panose="020F0502020204030204" pitchFamily="34" charset="0"/>
                <a:ea typeface="Times New Roman" panose="02020603050405020304" pitchFamily="18" charset="0"/>
              </a:rPr>
            </a:br>
            <a:r>
              <a:rPr lang="en-GB" sz="5400" dirty="0">
                <a:solidFill>
                  <a:srgbClr val="222222"/>
                </a:solidFill>
                <a:effectLst/>
                <a:latin typeface="Calibri" panose="020F0502020204030204" pitchFamily="34" charset="0"/>
                <a:ea typeface="Times New Roman" panose="02020603050405020304" pitchFamily="18" charset="0"/>
              </a:rPr>
              <a:t>composition of blood Osmolarity and equilibria across membranes, capillaries                         </a:t>
            </a:r>
            <a:br>
              <a:rPr lang="en-GB" sz="5400" dirty="0">
                <a:solidFill>
                  <a:srgbClr val="222222"/>
                </a:solidFill>
                <a:effectLst/>
                <a:latin typeface="Calibri" panose="020F0502020204030204" pitchFamily="34" charset="0"/>
                <a:ea typeface="Times New Roman" panose="02020603050405020304" pitchFamily="18" charset="0"/>
              </a:rPr>
            </a:br>
            <a:br>
              <a:rPr lang="en-GB" sz="5400" dirty="0">
                <a:effectLst/>
                <a:latin typeface="Times New Roman" panose="02020603050405020304" pitchFamily="18" charset="0"/>
                <a:ea typeface="Times New Roman" panose="02020603050405020304" pitchFamily="18" charset="0"/>
              </a:rPr>
            </a:br>
            <a:endParaRPr lang="en-GB" dirty="0"/>
          </a:p>
        </p:txBody>
      </p:sp>
    </p:spTree>
    <p:extLst>
      <p:ext uri="{BB962C8B-B14F-4D97-AF65-F5344CB8AC3E}">
        <p14:creationId xmlns:p14="http://schemas.microsoft.com/office/powerpoint/2010/main" val="715213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12" descr="van25618_t27_02">
            <a:extLst>
              <a:ext uri="{FF2B5EF4-FFF2-40B4-BE49-F238E27FC236}">
                <a16:creationId xmlns:a16="http://schemas.microsoft.com/office/drawing/2014/main" id="{ADD44F47-F24F-BD17-4779-3591040A86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775" y="1600200"/>
            <a:ext cx="89154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Rectangle 2">
            <a:extLst>
              <a:ext uri="{FF2B5EF4-FFF2-40B4-BE49-F238E27FC236}">
                <a16:creationId xmlns:a16="http://schemas.microsoft.com/office/drawing/2014/main" id="{DDBB0D8A-31D8-5D8C-434C-21C59B7E0217}"/>
              </a:ext>
            </a:extLst>
          </p:cNvPr>
          <p:cNvSpPr>
            <a:spLocks noGrp="1" noChangeArrowheads="1"/>
          </p:cNvSpPr>
          <p:nvPr>
            <p:ph type="title"/>
          </p:nvPr>
        </p:nvSpPr>
        <p:spPr>
          <a:xfrm>
            <a:off x="2209800" y="381000"/>
            <a:ext cx="7772400" cy="457200"/>
          </a:xfrm>
        </p:spPr>
        <p:txBody>
          <a:bodyPr>
            <a:normAutofit fontScale="90000"/>
          </a:bodyPr>
          <a:lstStyle/>
          <a:p>
            <a:r>
              <a:rPr lang="en-US" altLang="en-US" sz="3600"/>
              <a:t>Body Fluid Compartments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78E8B3A-A8B8-BDD4-40F0-3F473D8EDE82}"/>
              </a:ext>
            </a:extLst>
          </p:cNvPr>
          <p:cNvSpPr>
            <a:spLocks noGrp="1" noChangeArrowheads="1"/>
          </p:cNvSpPr>
          <p:nvPr>
            <p:ph type="title"/>
          </p:nvPr>
        </p:nvSpPr>
        <p:spPr/>
        <p:txBody>
          <a:bodyPr/>
          <a:lstStyle/>
          <a:p>
            <a:pPr eaLnBrk="1" hangingPunct="1"/>
            <a:r>
              <a:rPr lang="en-US" altLang="en-US"/>
              <a:t>Arterial Blood Pressure</a:t>
            </a:r>
          </a:p>
        </p:txBody>
      </p:sp>
      <p:sp>
        <p:nvSpPr>
          <p:cNvPr id="31747" name="Rectangle 3">
            <a:extLst>
              <a:ext uri="{FF2B5EF4-FFF2-40B4-BE49-F238E27FC236}">
                <a16:creationId xmlns:a16="http://schemas.microsoft.com/office/drawing/2014/main" id="{B11DBCE9-F699-D50B-BBDB-E459BF45A286}"/>
              </a:ext>
            </a:extLst>
          </p:cNvPr>
          <p:cNvSpPr>
            <a:spLocks noGrp="1" noChangeArrowheads="1"/>
          </p:cNvSpPr>
          <p:nvPr>
            <p:ph type="body" idx="1"/>
          </p:nvPr>
        </p:nvSpPr>
        <p:spPr>
          <a:xfrm>
            <a:off x="659258" y="1800798"/>
            <a:ext cx="3889375" cy="4681537"/>
          </a:xfrm>
        </p:spPr>
        <p:txBody>
          <a:bodyPr/>
          <a:lstStyle/>
          <a:p>
            <a:pPr eaLnBrk="1" hangingPunct="1">
              <a:lnSpc>
                <a:spcPct val="90000"/>
              </a:lnSpc>
            </a:pPr>
            <a:r>
              <a:rPr lang="en-GB" altLang="en-US" dirty="0"/>
              <a:t>Blood pressure in the arteries is pulsatile </a:t>
            </a:r>
          </a:p>
          <a:p>
            <a:pPr eaLnBrk="1" hangingPunct="1">
              <a:lnSpc>
                <a:spcPct val="90000"/>
              </a:lnSpc>
            </a:pPr>
            <a:r>
              <a:rPr lang="en-GB" altLang="en-US" dirty="0"/>
              <a:t>i.e. it rises as the left ventricle contracts and falls when it relaxes. </a:t>
            </a:r>
          </a:p>
        </p:txBody>
      </p:sp>
      <p:pic>
        <p:nvPicPr>
          <p:cNvPr id="31748" name="Picture 4">
            <a:extLst>
              <a:ext uri="{FF2B5EF4-FFF2-40B4-BE49-F238E27FC236}">
                <a16:creationId xmlns:a16="http://schemas.microsoft.com/office/drawing/2014/main" id="{18FDE890-3F23-B8F9-934F-A4C41B351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492" b="6938"/>
          <a:stretch>
            <a:fillRect/>
          </a:stretch>
        </p:blipFill>
        <p:spPr bwMode="auto">
          <a:xfrm>
            <a:off x="5610059" y="1813190"/>
            <a:ext cx="6249709" cy="4221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Line 5">
            <a:extLst>
              <a:ext uri="{FF2B5EF4-FFF2-40B4-BE49-F238E27FC236}">
                <a16:creationId xmlns:a16="http://schemas.microsoft.com/office/drawing/2014/main" id="{E62EB652-B93E-B6EC-E436-EB9985A162EC}"/>
              </a:ext>
            </a:extLst>
          </p:cNvPr>
          <p:cNvSpPr>
            <a:spLocks noChangeShapeType="1"/>
          </p:cNvSpPr>
          <p:nvPr/>
        </p:nvSpPr>
        <p:spPr bwMode="auto">
          <a:xfrm>
            <a:off x="4023360" y="2240280"/>
            <a:ext cx="2660016" cy="351345"/>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1750" name="TextBox 2">
            <a:extLst>
              <a:ext uri="{FF2B5EF4-FFF2-40B4-BE49-F238E27FC236}">
                <a16:creationId xmlns:a16="http://schemas.microsoft.com/office/drawing/2014/main" id="{D0D287DD-27CB-7A54-8C99-A163CB77307E}"/>
              </a:ext>
            </a:extLst>
          </p:cNvPr>
          <p:cNvSpPr txBox="1">
            <a:spLocks noChangeArrowheads="1"/>
          </p:cNvSpPr>
          <p:nvPr/>
        </p:nvSpPr>
        <p:spPr bwMode="auto">
          <a:xfrm>
            <a:off x="837820" y="5804207"/>
            <a:ext cx="8924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dirty="0">
                <a:solidFill>
                  <a:srgbClr val="000000"/>
                </a:solidFill>
              </a:rPr>
              <a:t>Blood velocity is inversely proportional to the cross-sectional area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1750"/>
                                        </p:tgtEl>
                                        <p:attrNameLst>
                                          <p:attrName>style.visibility</p:attrName>
                                        </p:attrNameLst>
                                      </p:cBhvr>
                                      <p:to>
                                        <p:strVal val="visible"/>
                                      </p:to>
                                    </p:set>
                                    <p:animEffect transition="in" filter="wheel(1)">
                                      <p:cBhvr>
                                        <p:cTn id="7" dur="2000"/>
                                        <p:tgtEl>
                                          <p:spTgt spid="31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2">
            <a:extLst>
              <a:ext uri="{FF2B5EF4-FFF2-40B4-BE49-F238E27FC236}">
                <a16:creationId xmlns:a16="http://schemas.microsoft.com/office/drawing/2014/main" id="{F012AF2A-D7AE-82A2-E8CA-7D3A01114356}"/>
              </a:ext>
            </a:extLst>
          </p:cNvPr>
          <p:cNvGrpSpPr>
            <a:grpSpLocks/>
          </p:cNvGrpSpPr>
          <p:nvPr/>
        </p:nvGrpSpPr>
        <p:grpSpPr bwMode="auto">
          <a:xfrm>
            <a:off x="1904206" y="868362"/>
            <a:ext cx="8383587" cy="5121275"/>
            <a:chOff x="323" y="929"/>
            <a:chExt cx="5281" cy="3226"/>
          </a:xfrm>
        </p:grpSpPr>
        <p:pic>
          <p:nvPicPr>
            <p:cNvPr id="8" name="Picture 3">
              <a:extLst>
                <a:ext uri="{FF2B5EF4-FFF2-40B4-BE49-F238E27FC236}">
                  <a16:creationId xmlns:a16="http://schemas.microsoft.com/office/drawing/2014/main" id="{737898ED-B11C-C280-6376-2FAFA07576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9642"/>
            <a:stretch>
              <a:fillRect/>
            </a:stretch>
          </p:blipFill>
          <p:spPr bwMode="auto">
            <a:xfrm>
              <a:off x="323" y="929"/>
              <a:ext cx="5281" cy="3226"/>
            </a:xfrm>
            <a:prstGeom prst="rect">
              <a:avLst/>
            </a:prstGeom>
            <a:noFill/>
            <a:ln>
              <a:noFill/>
            </a:ln>
            <a:effectLst/>
            <a:extLst>
              <a:ext uri="{909E8E84-426E-40DD-AFC4-6F175D3DCCD1}">
                <a14:hiddenFill xmlns:a14="http://schemas.microsoft.com/office/drawing/2010/main">
                  <a:blipFill dpi="0" rotWithShape="0">
                    <a:blip/>
                    <a:srcRect b="9642"/>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Text Box 4">
              <a:extLst>
                <a:ext uri="{FF2B5EF4-FFF2-40B4-BE49-F238E27FC236}">
                  <a16:creationId xmlns:a16="http://schemas.microsoft.com/office/drawing/2014/main" id="{8226F272-DEEA-E8B4-97D6-B81F6B3D9EC6}"/>
                </a:ext>
              </a:extLst>
            </p:cNvPr>
            <p:cNvSpPr txBox="1">
              <a:spLocks noChangeArrowheads="1"/>
            </p:cNvSpPr>
            <p:nvPr/>
          </p:nvSpPr>
          <p:spPr bwMode="auto">
            <a:xfrm>
              <a:off x="323" y="929"/>
              <a:ext cx="5281" cy="3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188651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Image result for hematocrit">
            <a:extLst>
              <a:ext uri="{FF2B5EF4-FFF2-40B4-BE49-F238E27FC236}">
                <a16:creationId xmlns:a16="http://schemas.microsoft.com/office/drawing/2014/main" id="{B4B4EEEF-2799-E484-CA3F-5BE28C4A2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1539" y="1524000"/>
            <a:ext cx="5368925" cy="343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3">
            <a:extLst>
              <a:ext uri="{FF2B5EF4-FFF2-40B4-BE49-F238E27FC236}">
                <a16:creationId xmlns:a16="http://schemas.microsoft.com/office/drawing/2014/main" id="{3D5F79A1-8F77-36C6-6CB9-AC5E1467B68E}"/>
              </a:ext>
            </a:extLst>
          </p:cNvPr>
          <p:cNvSpPr>
            <a:spLocks noChangeArrowheads="1"/>
          </p:cNvSpPr>
          <p:nvPr/>
        </p:nvSpPr>
        <p:spPr bwMode="auto">
          <a:xfrm>
            <a:off x="2971800" y="5029200"/>
            <a:ext cx="693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GB" altLang="en-US" sz="2400"/>
          </a:p>
          <a:p>
            <a:pPr>
              <a:spcBef>
                <a:spcPct val="0"/>
              </a:spcBef>
              <a:buFontTx/>
              <a:buNone/>
            </a:pPr>
            <a:r>
              <a:rPr lang="en-GB" altLang="en-US" sz="2400">
                <a:solidFill>
                  <a:schemeClr val="accent2"/>
                </a:solidFill>
              </a:rPr>
              <a:t>47% (</a:t>
            </a:r>
            <a:r>
              <a:rPr lang="en-GB" altLang="en-US" sz="1800">
                <a:solidFill>
                  <a:schemeClr val="accent2"/>
                </a:solidFill>
              </a:rPr>
              <a:t>±</a:t>
            </a:r>
            <a:r>
              <a:rPr lang="en-GB" altLang="en-US" sz="2400">
                <a:solidFill>
                  <a:schemeClr val="accent2"/>
                </a:solidFill>
              </a:rPr>
              <a:t>5% for men)</a:t>
            </a:r>
          </a:p>
          <a:p>
            <a:pPr>
              <a:spcBef>
                <a:spcPct val="0"/>
              </a:spcBef>
              <a:buFontTx/>
              <a:buNone/>
            </a:pPr>
            <a:r>
              <a:rPr lang="en-GB" altLang="en-US" sz="2400">
                <a:solidFill>
                  <a:schemeClr val="accent2"/>
                </a:solidFill>
              </a:rPr>
              <a:t>42% (</a:t>
            </a:r>
            <a:r>
              <a:rPr lang="en-GB" altLang="en-US" sz="1800">
                <a:solidFill>
                  <a:schemeClr val="accent2"/>
                </a:solidFill>
              </a:rPr>
              <a:t>±</a:t>
            </a:r>
            <a:r>
              <a:rPr lang="en-GB" altLang="en-US" sz="2400">
                <a:solidFill>
                  <a:schemeClr val="accent2"/>
                </a:solidFill>
              </a:rPr>
              <a:t>5% for women)</a:t>
            </a:r>
          </a:p>
        </p:txBody>
      </p:sp>
      <p:sp>
        <p:nvSpPr>
          <p:cNvPr id="22532" name="TextBox 4">
            <a:extLst>
              <a:ext uri="{FF2B5EF4-FFF2-40B4-BE49-F238E27FC236}">
                <a16:creationId xmlns:a16="http://schemas.microsoft.com/office/drawing/2014/main" id="{FC9962E3-FBCF-6CAC-5F94-B00994BAF86F}"/>
              </a:ext>
            </a:extLst>
          </p:cNvPr>
          <p:cNvSpPr txBox="1">
            <a:spLocks noChangeArrowheads="1"/>
          </p:cNvSpPr>
          <p:nvPr/>
        </p:nvSpPr>
        <p:spPr bwMode="auto">
          <a:xfrm>
            <a:off x="5105400" y="304801"/>
            <a:ext cx="2895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GB" altLang="en-US" sz="3600" b="1">
                <a:solidFill>
                  <a:schemeClr val="accent2"/>
                </a:solidFill>
              </a:rPr>
              <a:t>Haematocrit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357E69-BC5C-CC8F-6AC2-D43FB48786D9}"/>
              </a:ext>
            </a:extLst>
          </p:cNvPr>
          <p:cNvSpPr txBox="1"/>
          <p:nvPr/>
        </p:nvSpPr>
        <p:spPr>
          <a:xfrm>
            <a:off x="917972" y="1750189"/>
            <a:ext cx="10356056" cy="3785652"/>
          </a:xfrm>
          <a:prstGeom prst="rect">
            <a:avLst/>
          </a:prstGeom>
          <a:noFill/>
        </p:spPr>
        <p:txBody>
          <a:bodyPr wrap="square">
            <a:spAutoFit/>
          </a:bodyPr>
          <a:lstStyle/>
          <a:p>
            <a:pPr>
              <a:lnSpc>
                <a:spcPct val="200000"/>
              </a:lnSpc>
            </a:pPr>
            <a:r>
              <a:rPr lang="en-GB" sz="2400" b="0" i="0" dirty="0">
                <a:solidFill>
                  <a:srgbClr val="2A2A2A"/>
                </a:solidFill>
                <a:effectLst/>
                <a:latin typeface="Merriweather" panose="00000500000000000000" pitchFamily="2" charset="0"/>
              </a:rPr>
              <a:t>1.39 ml O</a:t>
            </a:r>
            <a:r>
              <a:rPr lang="en-GB" sz="2400" b="0" i="0" baseline="-25000" dirty="0">
                <a:solidFill>
                  <a:srgbClr val="2A2A2A"/>
                </a:solidFill>
                <a:effectLst/>
                <a:latin typeface="Merriweather" panose="00000500000000000000" pitchFamily="2" charset="0"/>
              </a:rPr>
              <a:t>2</a:t>
            </a:r>
            <a:r>
              <a:rPr lang="en-GB" sz="2400" b="0" i="0" dirty="0">
                <a:solidFill>
                  <a:srgbClr val="2A2A2A"/>
                </a:solidFill>
                <a:effectLst/>
                <a:latin typeface="Merriweather" panose="00000500000000000000" pitchFamily="2" charset="0"/>
              </a:rPr>
              <a:t> g</a:t>
            </a:r>
            <a:r>
              <a:rPr lang="en-GB" sz="2400" b="0" i="0" baseline="30000" dirty="0">
                <a:solidFill>
                  <a:srgbClr val="2A2A2A"/>
                </a:solidFill>
                <a:effectLst/>
                <a:latin typeface="Source Sans Pro" panose="020B0503030403020204" pitchFamily="34" charset="0"/>
              </a:rPr>
              <a:t>−1</a:t>
            </a:r>
            <a:r>
              <a:rPr lang="en-GB" sz="2400" b="0" i="0" dirty="0">
                <a:solidFill>
                  <a:srgbClr val="2A2A2A"/>
                </a:solidFill>
                <a:effectLst/>
                <a:latin typeface="Merriweather" panose="00000500000000000000" pitchFamily="2" charset="0"/>
              </a:rPr>
              <a:t> Hb =  theoretical maximum oxygen capacity of 20.85 ml O</a:t>
            </a:r>
            <a:r>
              <a:rPr lang="en-GB" sz="2400" b="0" i="0" baseline="-25000" dirty="0">
                <a:solidFill>
                  <a:srgbClr val="2A2A2A"/>
                </a:solidFill>
                <a:effectLst/>
                <a:latin typeface="Merriweather" panose="00000500000000000000" pitchFamily="2" charset="0"/>
              </a:rPr>
              <a:t>2</a:t>
            </a:r>
            <a:r>
              <a:rPr lang="en-GB" sz="2400" b="0" i="0" dirty="0">
                <a:solidFill>
                  <a:srgbClr val="2A2A2A"/>
                </a:solidFill>
                <a:effectLst/>
                <a:latin typeface="Merriweather" panose="00000500000000000000" pitchFamily="2" charset="0"/>
              </a:rPr>
              <a:t> 100 ml</a:t>
            </a:r>
            <a:r>
              <a:rPr lang="en-GB" sz="2400" b="0" i="0" baseline="30000" dirty="0">
                <a:solidFill>
                  <a:srgbClr val="2A2A2A"/>
                </a:solidFill>
                <a:effectLst/>
                <a:latin typeface="Source Sans Pro" panose="020B0503030403020204" pitchFamily="34" charset="0"/>
              </a:rPr>
              <a:t>−1</a:t>
            </a:r>
            <a:r>
              <a:rPr lang="en-GB" sz="2400" b="0" i="0" dirty="0">
                <a:solidFill>
                  <a:srgbClr val="2A2A2A"/>
                </a:solidFill>
                <a:effectLst/>
                <a:latin typeface="Merriweather" panose="00000500000000000000" pitchFamily="2" charset="0"/>
              </a:rPr>
              <a:t> blood at a ‘normal’ haemoglobin concentration of 15 g dl</a:t>
            </a:r>
            <a:r>
              <a:rPr lang="en-GB" sz="2400" b="0" i="0" baseline="30000" dirty="0">
                <a:solidFill>
                  <a:srgbClr val="2A2A2A"/>
                </a:solidFill>
                <a:effectLst/>
                <a:latin typeface="Source Sans Pro" panose="020B0503030403020204" pitchFamily="34" charset="0"/>
              </a:rPr>
              <a:t>−1</a:t>
            </a:r>
            <a:r>
              <a:rPr lang="en-GB" sz="2400" b="0" i="0" dirty="0">
                <a:solidFill>
                  <a:srgbClr val="2A2A2A"/>
                </a:solidFill>
                <a:effectLst/>
                <a:latin typeface="Merriweather" panose="00000500000000000000" pitchFamily="2" charset="0"/>
              </a:rPr>
              <a:t> </a:t>
            </a:r>
          </a:p>
          <a:p>
            <a:endParaRPr lang="en-GB" sz="2400" dirty="0">
              <a:solidFill>
                <a:srgbClr val="2A2A2A"/>
              </a:solidFill>
              <a:latin typeface="Merriweather" panose="00000500000000000000" pitchFamily="2" charset="0"/>
            </a:endParaRPr>
          </a:p>
          <a:p>
            <a:endParaRPr lang="en-GB" sz="2400" dirty="0">
              <a:solidFill>
                <a:srgbClr val="2A2A2A"/>
              </a:solidFill>
              <a:latin typeface="Merriweather" panose="00000500000000000000" pitchFamily="2" charset="0"/>
            </a:endParaRPr>
          </a:p>
          <a:p>
            <a:pPr marL="342900" indent="-342900">
              <a:buFont typeface="Wingdings" panose="05000000000000000000" pitchFamily="2" charset="2"/>
              <a:buChar char="q"/>
            </a:pPr>
            <a:r>
              <a:rPr lang="en-GB" sz="2400" dirty="0">
                <a:solidFill>
                  <a:srgbClr val="2A2A2A"/>
                </a:solidFill>
                <a:latin typeface="Merriweather" panose="00000500000000000000" pitchFamily="2" charset="0"/>
              </a:rPr>
              <a:t>Male:       </a:t>
            </a:r>
            <a:r>
              <a:rPr lang="en-GB" sz="2400" b="0" i="0" dirty="0">
                <a:solidFill>
                  <a:srgbClr val="2A2A2A"/>
                </a:solidFill>
                <a:effectLst/>
                <a:latin typeface="Merriweather" panose="00000500000000000000" pitchFamily="2" charset="0"/>
              </a:rPr>
              <a:t>13.5–18.0</a:t>
            </a:r>
          </a:p>
          <a:p>
            <a:pPr marL="342900" indent="-342900">
              <a:buFont typeface="Wingdings" panose="05000000000000000000" pitchFamily="2" charset="2"/>
              <a:buChar char="q"/>
            </a:pPr>
            <a:r>
              <a:rPr lang="en-GB" sz="2400" dirty="0">
                <a:solidFill>
                  <a:srgbClr val="2A2A2A"/>
                </a:solidFill>
                <a:latin typeface="Merriweather" panose="00000500000000000000" pitchFamily="2" charset="0"/>
              </a:rPr>
              <a:t>Female:  </a:t>
            </a:r>
            <a:r>
              <a:rPr lang="en-GB" sz="2400" b="0" i="0" dirty="0">
                <a:solidFill>
                  <a:srgbClr val="2A2A2A"/>
                </a:solidFill>
                <a:effectLst/>
                <a:latin typeface="Merriweather" panose="00000500000000000000" pitchFamily="2" charset="0"/>
              </a:rPr>
              <a:t>11.5–16.0.</a:t>
            </a:r>
            <a:endParaRPr lang="en-GB" sz="2400" dirty="0"/>
          </a:p>
        </p:txBody>
      </p:sp>
      <p:sp>
        <p:nvSpPr>
          <p:cNvPr id="2" name="TextBox 1">
            <a:extLst>
              <a:ext uri="{FF2B5EF4-FFF2-40B4-BE49-F238E27FC236}">
                <a16:creationId xmlns:a16="http://schemas.microsoft.com/office/drawing/2014/main" id="{24580778-849D-95E0-BFE0-E9FEFC10804C}"/>
              </a:ext>
            </a:extLst>
          </p:cNvPr>
          <p:cNvSpPr txBox="1"/>
          <p:nvPr/>
        </p:nvSpPr>
        <p:spPr>
          <a:xfrm>
            <a:off x="1276350" y="781050"/>
            <a:ext cx="4686300" cy="646331"/>
          </a:xfrm>
          <a:prstGeom prst="rect">
            <a:avLst/>
          </a:prstGeom>
          <a:noFill/>
        </p:spPr>
        <p:txBody>
          <a:bodyPr wrap="square" rtlCol="0">
            <a:spAutoFit/>
          </a:bodyPr>
          <a:lstStyle/>
          <a:p>
            <a:r>
              <a:rPr lang="en-GB" sz="3600" dirty="0"/>
              <a:t>Haemoglobin</a:t>
            </a:r>
          </a:p>
        </p:txBody>
      </p:sp>
    </p:spTree>
    <p:extLst>
      <p:ext uri="{BB962C8B-B14F-4D97-AF65-F5344CB8AC3E}">
        <p14:creationId xmlns:p14="http://schemas.microsoft.com/office/powerpoint/2010/main" val="3221609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C:\Users\user\Documents\MIDDLESEX UNIVERSITY\LECTURES SES2222\Slides for CC endurance lecture\Slides for endurance\rbc.jpg"/>
          <p:cNvPicPr>
            <a:picLocks noChangeAspect="1" noChangeArrowheads="1"/>
          </p:cNvPicPr>
          <p:nvPr/>
        </p:nvPicPr>
        <p:blipFill>
          <a:blip r:embed="rId2" cstate="print"/>
          <a:srcRect/>
          <a:stretch>
            <a:fillRect/>
          </a:stretch>
        </p:blipFill>
        <p:spPr bwMode="auto">
          <a:xfrm>
            <a:off x="3352800" y="2743200"/>
            <a:ext cx="5487988" cy="3170238"/>
          </a:xfrm>
          <a:prstGeom prst="rect">
            <a:avLst/>
          </a:prstGeom>
          <a:noFill/>
          <a:ln w="9525">
            <a:noFill/>
            <a:miter lim="800000"/>
            <a:headEnd/>
            <a:tailEnd/>
          </a:ln>
        </p:spPr>
      </p:pic>
      <p:sp>
        <p:nvSpPr>
          <p:cNvPr id="3" name="TextBox 2"/>
          <p:cNvSpPr txBox="1"/>
          <p:nvPr/>
        </p:nvSpPr>
        <p:spPr>
          <a:xfrm>
            <a:off x="1943100" y="548680"/>
            <a:ext cx="8305800" cy="1569660"/>
          </a:xfrm>
          <a:prstGeom prst="rect">
            <a:avLst/>
          </a:prstGeom>
          <a:noFill/>
        </p:spPr>
        <p:txBody>
          <a:bodyPr>
            <a:spAutoFit/>
          </a:bodyPr>
          <a:lstStyle/>
          <a:p>
            <a:pPr>
              <a:defRPr/>
            </a:pPr>
            <a:r>
              <a:rPr lang="en-GB" sz="2400" b="1" dirty="0">
                <a:solidFill>
                  <a:srgbClr val="0000CC"/>
                </a:solidFill>
              </a:rPr>
              <a:t>Red blood cells</a:t>
            </a:r>
          </a:p>
          <a:p>
            <a:pPr>
              <a:defRPr/>
            </a:pPr>
            <a:r>
              <a:rPr lang="en-GB" sz="2400" b="1" dirty="0">
                <a:solidFill>
                  <a:srgbClr val="0000CC"/>
                </a:solidFill>
              </a:rPr>
              <a:t>Bi-concave discs that must deform as they pass through capillaries because they Have a diameter larger than the lumen of a capillary. </a:t>
            </a:r>
          </a:p>
        </p:txBody>
      </p:sp>
    </p:spTree>
    <p:extLst>
      <p:ext uri="{BB962C8B-B14F-4D97-AF65-F5344CB8AC3E}">
        <p14:creationId xmlns:p14="http://schemas.microsoft.com/office/powerpoint/2010/main" val="2060714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a:extLst>
              <a:ext uri="{FF2B5EF4-FFF2-40B4-BE49-F238E27FC236}">
                <a16:creationId xmlns:a16="http://schemas.microsoft.com/office/drawing/2014/main" id="{C2D3DF72-FEB9-0C44-78FB-8043B3117211}"/>
              </a:ext>
            </a:extLst>
          </p:cNvPr>
          <p:cNvSpPr>
            <a:spLocks noGrp="1" noChangeArrowheads="1"/>
          </p:cNvSpPr>
          <p:nvPr>
            <p:ph type="title"/>
          </p:nvPr>
        </p:nvSpPr>
        <p:spPr>
          <a:xfrm>
            <a:off x="2133600" y="533400"/>
            <a:ext cx="7772400" cy="304800"/>
          </a:xfrm>
        </p:spPr>
        <p:txBody>
          <a:bodyPr>
            <a:normAutofit fontScale="90000"/>
          </a:bodyPr>
          <a:lstStyle/>
          <a:p>
            <a:r>
              <a:rPr lang="en-US" altLang="en-US" sz="3600"/>
              <a:t>Regulation of Intracellular Fluid</a:t>
            </a:r>
          </a:p>
        </p:txBody>
      </p:sp>
      <p:pic>
        <p:nvPicPr>
          <p:cNvPr id="20483" name="Picture 8" descr="van25618_27_07">
            <a:extLst>
              <a:ext uri="{FF2B5EF4-FFF2-40B4-BE49-F238E27FC236}">
                <a16:creationId xmlns:a16="http://schemas.microsoft.com/office/drawing/2014/main" id="{423AF0E7-18B3-FC96-FA14-AE2E53E2E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113" y="1597026"/>
            <a:ext cx="8991600"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8065629-3302-B875-1A9A-4990A618B347}"/>
              </a:ext>
            </a:extLst>
          </p:cNvPr>
          <p:cNvSpPr>
            <a:spLocks noGrp="1" noChangeArrowheads="1"/>
          </p:cNvSpPr>
          <p:nvPr>
            <p:ph type="title"/>
          </p:nvPr>
        </p:nvSpPr>
        <p:spPr>
          <a:xfrm>
            <a:off x="2209800" y="304800"/>
            <a:ext cx="7772400" cy="304800"/>
          </a:xfrm>
        </p:spPr>
        <p:txBody>
          <a:bodyPr>
            <a:normAutofit fontScale="90000"/>
          </a:bodyPr>
          <a:lstStyle/>
          <a:p>
            <a:r>
              <a:rPr lang="en-US" altLang="en-US" sz="3600" dirty="0"/>
              <a:t>Extracellular Fluid Osmolarity</a:t>
            </a:r>
          </a:p>
        </p:txBody>
      </p:sp>
      <p:sp>
        <p:nvSpPr>
          <p:cNvPr id="23555" name="Rectangle 3">
            <a:extLst>
              <a:ext uri="{FF2B5EF4-FFF2-40B4-BE49-F238E27FC236}">
                <a16:creationId xmlns:a16="http://schemas.microsoft.com/office/drawing/2014/main" id="{1E0F2CD2-9BC9-61DA-5D1B-B437D08587A3}"/>
              </a:ext>
            </a:extLst>
          </p:cNvPr>
          <p:cNvSpPr>
            <a:spLocks noGrp="1" noChangeArrowheads="1"/>
          </p:cNvSpPr>
          <p:nvPr>
            <p:ph type="body" sz="half" idx="1"/>
          </p:nvPr>
        </p:nvSpPr>
        <p:spPr>
          <a:xfrm>
            <a:off x="1767840" y="1269492"/>
            <a:ext cx="8001000" cy="2023872"/>
          </a:xfrm>
        </p:spPr>
        <p:txBody>
          <a:bodyPr>
            <a:normAutofit/>
          </a:bodyPr>
          <a:lstStyle/>
          <a:p>
            <a:r>
              <a:rPr lang="en-US" altLang="en-US" sz="2400" dirty="0"/>
              <a:t>Osmolarity</a:t>
            </a:r>
          </a:p>
          <a:p>
            <a:pPr lvl="1">
              <a:buClr>
                <a:srgbClr val="FF0000"/>
              </a:buClr>
            </a:pPr>
            <a:r>
              <a:rPr lang="en-US" altLang="en-US" sz="1600" dirty="0"/>
              <a:t>Particles per 1L of solvent – temperature dependent (volume larger at higher temperature)</a:t>
            </a:r>
            <a:endParaRPr lang="en-US" altLang="en-US" sz="2400" dirty="0"/>
          </a:p>
        </p:txBody>
      </p:sp>
      <p:sp>
        <p:nvSpPr>
          <p:cNvPr id="2" name="Rectangle 3">
            <a:extLst>
              <a:ext uri="{FF2B5EF4-FFF2-40B4-BE49-F238E27FC236}">
                <a16:creationId xmlns:a16="http://schemas.microsoft.com/office/drawing/2014/main" id="{03A7AE22-BAFB-E3C1-8F6F-8C47BDBC24A3}"/>
              </a:ext>
            </a:extLst>
          </p:cNvPr>
          <p:cNvSpPr txBox="1">
            <a:spLocks noChangeArrowheads="1"/>
          </p:cNvSpPr>
          <p:nvPr/>
        </p:nvSpPr>
        <p:spPr>
          <a:xfrm>
            <a:off x="1859280" y="5149596"/>
            <a:ext cx="8001000" cy="783336"/>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US" altLang="en-US" sz="2400" dirty="0"/>
              <a:t>Decreased osmolality: inhibits thirst and ADH secretion</a:t>
            </a:r>
          </a:p>
        </p:txBody>
      </p:sp>
      <p:sp>
        <p:nvSpPr>
          <p:cNvPr id="3" name="Rectangle 3">
            <a:extLst>
              <a:ext uri="{FF2B5EF4-FFF2-40B4-BE49-F238E27FC236}">
                <a16:creationId xmlns:a16="http://schemas.microsoft.com/office/drawing/2014/main" id="{7BE28A87-5FE3-965B-1AA4-48BE33CE1F73}"/>
              </a:ext>
            </a:extLst>
          </p:cNvPr>
          <p:cNvSpPr txBox="1">
            <a:spLocks noChangeArrowheads="1"/>
          </p:cNvSpPr>
          <p:nvPr/>
        </p:nvSpPr>
        <p:spPr>
          <a:xfrm>
            <a:off x="1859280" y="3293364"/>
            <a:ext cx="8001000" cy="1112520"/>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lvl="1">
              <a:buClr>
                <a:srgbClr val="FF0000"/>
              </a:buClr>
            </a:pPr>
            <a:endParaRPr lang="en-US" altLang="en-US" sz="2400" dirty="0"/>
          </a:p>
          <a:p>
            <a:r>
              <a:rPr lang="en-US" altLang="en-US" sz="2600" dirty="0"/>
              <a:t>Increased osmolality: triggers thirst and ADH secretion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1)">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descr="van25618_27_01">
            <a:extLst>
              <a:ext uri="{FF2B5EF4-FFF2-40B4-BE49-F238E27FC236}">
                <a16:creationId xmlns:a16="http://schemas.microsoft.com/office/drawing/2014/main" id="{5EC09DD2-D328-5220-7D54-58635FA9D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0689" y="1504950"/>
            <a:ext cx="6262687" cy="651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2">
            <a:extLst>
              <a:ext uri="{FF2B5EF4-FFF2-40B4-BE49-F238E27FC236}">
                <a16:creationId xmlns:a16="http://schemas.microsoft.com/office/drawing/2014/main" id="{02C97127-2997-277F-B79D-6902783C3A11}"/>
              </a:ext>
            </a:extLst>
          </p:cNvPr>
          <p:cNvSpPr>
            <a:spLocks noGrp="1" noChangeArrowheads="1"/>
          </p:cNvSpPr>
          <p:nvPr>
            <p:ph type="title"/>
          </p:nvPr>
        </p:nvSpPr>
        <p:spPr>
          <a:xfrm>
            <a:off x="2209800" y="381000"/>
            <a:ext cx="7772400" cy="457200"/>
          </a:xfrm>
        </p:spPr>
        <p:txBody>
          <a:bodyPr>
            <a:normAutofit fontScale="90000"/>
          </a:bodyPr>
          <a:lstStyle/>
          <a:p>
            <a:r>
              <a:rPr lang="en-US" altLang="en-US" sz="3600"/>
              <a:t>Effect of Blood Osmolality and Blood Pressure on Thirst</a:t>
            </a:r>
          </a:p>
        </p:txBody>
      </p:sp>
      <p:sp>
        <p:nvSpPr>
          <p:cNvPr id="25604" name="Rectangle 4">
            <a:extLst>
              <a:ext uri="{FF2B5EF4-FFF2-40B4-BE49-F238E27FC236}">
                <a16:creationId xmlns:a16="http://schemas.microsoft.com/office/drawing/2014/main" id="{AFF3B288-1D2D-A45E-A88C-A2FD7AC325E9}"/>
              </a:ext>
            </a:extLst>
          </p:cNvPr>
          <p:cNvSpPr>
            <a:spLocks noChangeArrowheads="1"/>
          </p:cNvSpPr>
          <p:nvPr/>
        </p:nvSpPr>
        <p:spPr bwMode="auto">
          <a:xfrm>
            <a:off x="2438400" y="5605463"/>
            <a:ext cx="7315200" cy="2362200"/>
          </a:xfrm>
          <a:prstGeom prst="rect">
            <a:avLst/>
          </a:prstGeom>
          <a:solidFill>
            <a:srgbClr val="FFFFFF"/>
          </a:solidFill>
          <a:ln w="9525" algn="ctr">
            <a:solidFill>
              <a:srgbClr val="FFFFFF"/>
            </a:solidFill>
            <a:round/>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GB"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4DF436E-9AC1-AC0D-9FC8-47DE0E828692}"/>
              </a:ext>
            </a:extLst>
          </p:cNvPr>
          <p:cNvSpPr>
            <a:spLocks noGrp="1" noChangeArrowheads="1"/>
          </p:cNvSpPr>
          <p:nvPr>
            <p:ph type="title"/>
          </p:nvPr>
        </p:nvSpPr>
        <p:spPr>
          <a:xfrm>
            <a:off x="1981200" y="152400"/>
            <a:ext cx="8229600" cy="1143000"/>
          </a:xfrm>
        </p:spPr>
        <p:txBody>
          <a:bodyPr/>
          <a:lstStyle/>
          <a:p>
            <a:r>
              <a:rPr lang="en-US" altLang="en-US" sz="3600"/>
              <a:t>Regulation of Extracellular Fluid Osmolality</a:t>
            </a:r>
          </a:p>
        </p:txBody>
      </p:sp>
      <p:sp>
        <p:nvSpPr>
          <p:cNvPr id="26627" name="Rectangle 3">
            <a:extLst>
              <a:ext uri="{FF2B5EF4-FFF2-40B4-BE49-F238E27FC236}">
                <a16:creationId xmlns:a16="http://schemas.microsoft.com/office/drawing/2014/main" id="{342A2B56-332C-E050-2B4B-C4C4AA944236}"/>
              </a:ext>
            </a:extLst>
          </p:cNvPr>
          <p:cNvSpPr>
            <a:spLocks noGrp="1" noChangeArrowheads="1"/>
          </p:cNvSpPr>
          <p:nvPr>
            <p:ph type="body" sz="half" idx="1"/>
          </p:nvPr>
        </p:nvSpPr>
        <p:spPr>
          <a:xfrm>
            <a:off x="1752600" y="1524000"/>
            <a:ext cx="8686800" cy="4876800"/>
          </a:xfrm>
        </p:spPr>
        <p:txBody>
          <a:bodyPr/>
          <a:lstStyle/>
          <a:p>
            <a:pPr>
              <a:lnSpc>
                <a:spcPct val="80000"/>
              </a:lnSpc>
            </a:pPr>
            <a:r>
              <a:rPr lang="en-US" altLang="en-US" sz="2400"/>
              <a:t>Electrolytes</a:t>
            </a:r>
          </a:p>
          <a:p>
            <a:pPr lvl="1">
              <a:lnSpc>
                <a:spcPct val="80000"/>
              </a:lnSpc>
              <a:buClr>
                <a:srgbClr val="FF0000"/>
              </a:buClr>
            </a:pPr>
            <a:r>
              <a:rPr lang="en-US" altLang="en-US"/>
              <a:t>Molecules or ions with an electrical charge</a:t>
            </a:r>
          </a:p>
          <a:p>
            <a:pPr lvl="2">
              <a:lnSpc>
                <a:spcPct val="80000"/>
              </a:lnSpc>
            </a:pPr>
            <a:r>
              <a:rPr lang="en-US" altLang="en-US"/>
              <a:t>Ingestion adds electrolytes to body</a:t>
            </a:r>
          </a:p>
          <a:p>
            <a:pPr lvl="2">
              <a:lnSpc>
                <a:spcPct val="80000"/>
              </a:lnSpc>
            </a:pPr>
            <a:r>
              <a:rPr lang="en-US" altLang="en-US"/>
              <a:t>Kidneys, liver, skin, lungs remove from body</a:t>
            </a:r>
          </a:p>
          <a:p>
            <a:pPr>
              <a:lnSpc>
                <a:spcPct val="80000"/>
              </a:lnSpc>
            </a:pPr>
            <a:r>
              <a:rPr lang="en-US" altLang="en-US" sz="2400"/>
              <a:t>Sodium Ions (Na</a:t>
            </a:r>
            <a:r>
              <a:rPr lang="en-US" altLang="en-US" sz="2400" baseline="30000"/>
              <a:t>+</a:t>
            </a:r>
            <a:r>
              <a:rPr lang="en-US" altLang="en-US" sz="2400"/>
              <a:t>)</a:t>
            </a:r>
          </a:p>
          <a:p>
            <a:pPr lvl="1">
              <a:lnSpc>
                <a:spcPct val="80000"/>
              </a:lnSpc>
              <a:buClr>
                <a:srgbClr val="FF0000"/>
              </a:buClr>
            </a:pPr>
            <a:r>
              <a:rPr lang="en-US" altLang="en-US" sz="2000"/>
              <a:t>Dominant Extracellular Fluid cations</a:t>
            </a:r>
          </a:p>
          <a:p>
            <a:pPr lvl="1">
              <a:lnSpc>
                <a:spcPct val="80000"/>
              </a:lnSpc>
              <a:buClr>
                <a:srgbClr val="FF0000"/>
              </a:buClr>
            </a:pPr>
            <a:r>
              <a:rPr lang="en-US" altLang="en-US" sz="2000"/>
              <a:t>Responsible for 90-95% of osmotic pressure</a:t>
            </a:r>
          </a:p>
          <a:p>
            <a:pPr>
              <a:lnSpc>
                <a:spcPct val="80000"/>
              </a:lnSpc>
            </a:pPr>
            <a:r>
              <a:rPr lang="en-US" altLang="en-US" sz="2400"/>
              <a:t>Regulation of Na</a:t>
            </a:r>
            <a:r>
              <a:rPr lang="en-US" altLang="en-US" sz="2400" baseline="30000"/>
              <a:t>+</a:t>
            </a:r>
            <a:r>
              <a:rPr lang="en-US" altLang="en-US" sz="2400"/>
              <a:t> ions</a:t>
            </a:r>
          </a:p>
          <a:p>
            <a:pPr lvl="1">
              <a:lnSpc>
                <a:spcPct val="80000"/>
              </a:lnSpc>
              <a:buClr>
                <a:srgbClr val="FF0000"/>
              </a:buClr>
            </a:pPr>
            <a:r>
              <a:rPr lang="en-US" altLang="en-US" sz="2000"/>
              <a:t>Kidneys major route of excretion</a:t>
            </a:r>
          </a:p>
          <a:p>
            <a:pPr lvl="1">
              <a:lnSpc>
                <a:spcPct val="80000"/>
              </a:lnSpc>
              <a:buClr>
                <a:srgbClr val="FF0000"/>
              </a:buClr>
            </a:pPr>
            <a:r>
              <a:rPr lang="en-US" altLang="en-US" sz="2000"/>
              <a:t>Small quantities lost in sweat {sweat = water, Na</a:t>
            </a:r>
            <a:r>
              <a:rPr lang="en-US" altLang="en-US" sz="2000" baseline="30000"/>
              <a:t>+</a:t>
            </a:r>
            <a:r>
              <a:rPr lang="en-US" altLang="en-US" sz="2000"/>
              <a:t>, urea, Cl</a:t>
            </a:r>
            <a:r>
              <a:rPr lang="en-US" altLang="en-US" sz="2000" baseline="30000"/>
              <a:t>-</a:t>
            </a:r>
            <a:r>
              <a:rPr lang="en-US" altLang="en-US" sz="2000"/>
              <a:t>K</a:t>
            </a:r>
            <a:r>
              <a:rPr lang="en-US" altLang="en-US" sz="2000" baseline="30000"/>
              <a:t>+</a:t>
            </a:r>
            <a:r>
              <a:rPr lang="en-US" altLang="en-US" sz="2000"/>
              <a:t>, NH</a:t>
            </a:r>
            <a:r>
              <a:rPr lang="en-US" altLang="en-US" sz="2000" baseline="-25000"/>
              <a:t>3</a:t>
            </a:r>
            <a:r>
              <a:rPr lang="en-US" altLang="en-US" sz="2000"/>
              <a:t>}.</a:t>
            </a:r>
          </a:p>
          <a:p>
            <a:pPr>
              <a:lnSpc>
                <a:spcPct val="80000"/>
              </a:lnSpc>
            </a:pPr>
            <a:r>
              <a:rPr lang="en-US" altLang="en-US" sz="2400"/>
              <a:t>Terms</a:t>
            </a:r>
          </a:p>
          <a:p>
            <a:pPr lvl="1">
              <a:lnSpc>
                <a:spcPct val="80000"/>
              </a:lnSpc>
              <a:buClr>
                <a:srgbClr val="FF0000"/>
              </a:buClr>
            </a:pPr>
            <a:r>
              <a:rPr lang="en-US" altLang="en-US" sz="2000" b="1">
                <a:solidFill>
                  <a:schemeClr val="accent2"/>
                </a:solidFill>
              </a:rPr>
              <a:t>Hypernatremia</a:t>
            </a:r>
            <a:r>
              <a:rPr lang="en-US" altLang="en-US" sz="2000"/>
              <a:t>: elevated plasma  Na</a:t>
            </a:r>
            <a:r>
              <a:rPr lang="en-US" altLang="en-US" sz="2000" baseline="30000"/>
              <a:t>+</a:t>
            </a:r>
            <a:r>
              <a:rPr lang="en-US" altLang="en-US" sz="2000"/>
              <a:t> </a:t>
            </a:r>
          </a:p>
          <a:p>
            <a:pPr lvl="1">
              <a:lnSpc>
                <a:spcPct val="80000"/>
              </a:lnSpc>
              <a:buClr>
                <a:srgbClr val="FF0000"/>
              </a:buClr>
            </a:pPr>
            <a:r>
              <a:rPr lang="en-US" altLang="en-US" sz="2000" b="1">
                <a:solidFill>
                  <a:schemeClr val="accent2"/>
                </a:solidFill>
              </a:rPr>
              <a:t>Hyponatremia</a:t>
            </a:r>
            <a:r>
              <a:rPr lang="en-US" altLang="en-US" sz="2000"/>
              <a:t>: decreased Na</a:t>
            </a:r>
            <a:r>
              <a:rPr lang="en-US" altLang="en-US" sz="2000" baseline="30000"/>
              <a:t>+</a:t>
            </a:r>
            <a:r>
              <a:rPr lang="en-US" altLang="en-US" sz="2000"/>
              <a:t> </a:t>
            </a:r>
          </a:p>
          <a:p>
            <a:pPr lvl="1">
              <a:lnSpc>
                <a:spcPct val="80000"/>
              </a:lnSpc>
              <a:buClr>
                <a:srgbClr val="FF0000"/>
              </a:buClr>
              <a:buFontTx/>
              <a:buNone/>
            </a:pP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descr="D:\Image_Library\JPEG_IL\19_IL_jpeg\19-01_artveincap_1.jpg">
            <a:extLst>
              <a:ext uri="{FF2B5EF4-FFF2-40B4-BE49-F238E27FC236}">
                <a16:creationId xmlns:a16="http://schemas.microsoft.com/office/drawing/2014/main" id="{430A8CCA-6A5D-B87F-8086-5FB6D35A3649}"/>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524000" y="9525"/>
            <a:ext cx="6732588"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2">
            <a:extLst>
              <a:ext uri="{FF2B5EF4-FFF2-40B4-BE49-F238E27FC236}">
                <a16:creationId xmlns:a16="http://schemas.microsoft.com/office/drawing/2014/main" id="{7E1897E4-DE7A-A91D-BE90-3206BCEE7A5C}"/>
              </a:ext>
            </a:extLst>
          </p:cNvPr>
          <p:cNvSpPr>
            <a:spLocks noGrp="1" noChangeArrowheads="1"/>
          </p:cNvSpPr>
          <p:nvPr>
            <p:ph type="title"/>
          </p:nvPr>
        </p:nvSpPr>
        <p:spPr>
          <a:xfrm>
            <a:off x="7896226" y="0"/>
            <a:ext cx="2771775" cy="1663700"/>
          </a:xfrm>
        </p:spPr>
        <p:txBody>
          <a:bodyPr/>
          <a:lstStyle/>
          <a:p>
            <a:pPr eaLnBrk="1" hangingPunct="1"/>
            <a:r>
              <a:rPr lang="en-GB" altLang="en-US" sz="1800"/>
              <a:t>The structure of arteries, veins and capillaries:  </a:t>
            </a:r>
            <a:br>
              <a:rPr lang="en-GB" altLang="en-US" sz="1400"/>
            </a:br>
            <a:r>
              <a:rPr lang="en-GB" altLang="en-US" sz="1400"/>
              <a:t>a) photomicrograph of an artery and vein in cross section </a:t>
            </a:r>
            <a:br>
              <a:rPr lang="en-GB" altLang="en-US" sz="1400"/>
            </a:br>
            <a:r>
              <a:rPr lang="en-GB" altLang="en-US" sz="1400"/>
              <a:t>b) diagrammatic view of an artery, a vein and a capillary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Image result">
            <a:extLst>
              <a:ext uri="{FF2B5EF4-FFF2-40B4-BE49-F238E27FC236}">
                <a16:creationId xmlns:a16="http://schemas.microsoft.com/office/drawing/2014/main" id="{E8F6FFE7-E6B0-7B09-8FC5-85EAC9AFE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1296" y="146304"/>
            <a:ext cx="8730705" cy="654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descr="Image result">
            <a:extLst>
              <a:ext uri="{FF2B5EF4-FFF2-40B4-BE49-F238E27FC236}">
                <a16:creationId xmlns:a16="http://schemas.microsoft.com/office/drawing/2014/main" id="{D9B8A101-D595-4F62-66E5-904DC695D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49" r="61031" b="4745"/>
          <a:stretch>
            <a:fillRect/>
          </a:stretch>
        </p:blipFill>
        <p:spPr bwMode="auto">
          <a:xfrm>
            <a:off x="724513" y="314325"/>
            <a:ext cx="1836126" cy="609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a:extLst>
              <a:ext uri="{FF2B5EF4-FFF2-40B4-BE49-F238E27FC236}">
                <a16:creationId xmlns:a16="http://schemas.microsoft.com/office/drawing/2014/main" id="{9AD17B2E-3F28-9640-433B-949997E38D5D}"/>
              </a:ext>
            </a:extLst>
          </p:cNvPr>
          <p:cNvSpPr>
            <a:spLocks noChangeArrowheads="1"/>
          </p:cNvSpPr>
          <p:nvPr/>
        </p:nvSpPr>
        <p:spPr bwMode="auto">
          <a:xfrm>
            <a:off x="502920" y="1226007"/>
            <a:ext cx="10165080"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eaLnBrk="1" hangingPunct="1">
              <a:buClr>
                <a:srgbClr val="FF0000"/>
              </a:buClr>
              <a:buFont typeface="Arial" panose="020B0604020202020204" pitchFamily="34" charset="0"/>
              <a:buChar char="•"/>
            </a:pPr>
            <a:r>
              <a:rPr lang="en-GB" altLang="en-US" sz="1800" dirty="0">
                <a:latin typeface="Rockwell" panose="02060603020205020403" pitchFamily="18" charset="0"/>
                <a:cs typeface="Times New Roman" panose="02020603050405020304" pitchFamily="18" charset="0"/>
              </a:rPr>
              <a:t>Capillary blood flow is slow and intermittent reflecting the need for an erythrocyte transit time of &gt;1 second for complete O</a:t>
            </a:r>
            <a:r>
              <a:rPr lang="en-GB" altLang="en-US" sz="1800" baseline="-30000" dirty="0">
                <a:latin typeface="Rockwell" panose="02060603020205020403" pitchFamily="18" charset="0"/>
                <a:cs typeface="Times New Roman" panose="02020603050405020304" pitchFamily="18" charset="0"/>
              </a:rPr>
              <a:t>2</a:t>
            </a:r>
            <a:r>
              <a:rPr lang="en-GB" altLang="en-US" sz="1800" dirty="0">
                <a:latin typeface="Rockwell" panose="02060603020205020403" pitchFamily="18" charset="0"/>
                <a:cs typeface="Times New Roman" panose="02020603050405020304" pitchFamily="18" charset="0"/>
              </a:rPr>
              <a:t> diffusion from the capillary to surrounding tissue. </a:t>
            </a:r>
          </a:p>
          <a:p>
            <a:pPr algn="just" eaLnBrk="1" hangingPunct="1">
              <a:buClr>
                <a:srgbClr val="FF0000"/>
              </a:buClr>
            </a:pPr>
            <a:endParaRPr lang="en-GB" altLang="en-US" sz="1800" dirty="0">
              <a:latin typeface="Rockwell" panose="02060603020205020403" pitchFamily="18" charset="0"/>
              <a:cs typeface="Times New Roman" panose="02020603050405020304" pitchFamily="18" charset="0"/>
            </a:endParaRPr>
          </a:p>
          <a:p>
            <a:pPr algn="just" eaLnBrk="1" hangingPunct="1">
              <a:buClr>
                <a:srgbClr val="FF0000"/>
              </a:buClr>
              <a:buFont typeface="Arial" panose="020B0604020202020204" pitchFamily="34" charset="0"/>
              <a:buChar char="•"/>
            </a:pPr>
            <a:r>
              <a:rPr lang="en-GB" altLang="en-US" sz="1800" dirty="0">
                <a:latin typeface="Rockwell" panose="02060603020205020403" pitchFamily="18" charset="0"/>
                <a:cs typeface="Times New Roman" panose="02020603050405020304" pitchFamily="18" charset="0"/>
              </a:rPr>
              <a:t>The erythrocyte has a diameter of 7.2μm, slowing its passage through the capillary due to their diameter exceeding the size of the capillary lumen (erythrocyte diameter = 3-20μm). The erythrocyte deforms enabling passage through the capillary loop, slowing the transit time and encouraging complete O</a:t>
            </a:r>
            <a:r>
              <a:rPr lang="en-GB" altLang="en-US" sz="1800" baseline="-30000" dirty="0">
                <a:latin typeface="Rockwell" panose="02060603020205020403" pitchFamily="18" charset="0"/>
                <a:cs typeface="Times New Roman" panose="02020603050405020304" pitchFamily="18" charset="0"/>
              </a:rPr>
              <a:t>2</a:t>
            </a:r>
            <a:r>
              <a:rPr lang="en-GB" altLang="en-US" sz="1800" baseline="30000" dirty="0">
                <a:latin typeface="Rockwell" panose="02060603020205020403" pitchFamily="18" charset="0"/>
                <a:cs typeface="Times New Roman" panose="02020603050405020304" pitchFamily="18" charset="0"/>
              </a:rPr>
              <a:t> </a:t>
            </a:r>
            <a:r>
              <a:rPr lang="en-GB" altLang="en-US" sz="1800" dirty="0">
                <a:latin typeface="Rockwell" panose="02060603020205020403" pitchFamily="18" charset="0"/>
                <a:cs typeface="Times New Roman" panose="02020603050405020304" pitchFamily="18" charset="0"/>
              </a:rPr>
              <a:t>conductance. </a:t>
            </a:r>
          </a:p>
          <a:p>
            <a:pPr algn="just" eaLnBrk="1" hangingPunct="1">
              <a:buClr>
                <a:srgbClr val="FF0000"/>
              </a:buClr>
            </a:pPr>
            <a:endParaRPr lang="en-GB" altLang="en-US" sz="1800" dirty="0">
              <a:latin typeface="Rockwell" panose="02060603020205020403" pitchFamily="18" charset="0"/>
              <a:cs typeface="Times New Roman" panose="02020603050405020304" pitchFamily="18" charset="0"/>
            </a:endParaRPr>
          </a:p>
          <a:p>
            <a:pPr algn="just">
              <a:buClr>
                <a:srgbClr val="FF0000"/>
              </a:buClr>
              <a:buFont typeface="Arial" panose="020B0604020202020204" pitchFamily="34" charset="0"/>
              <a:buChar char="•"/>
            </a:pPr>
            <a:r>
              <a:rPr lang="en-GB" altLang="en-US" sz="1800" dirty="0">
                <a:latin typeface="Rockwell" panose="02060603020205020403" pitchFamily="18" charset="0"/>
                <a:cs typeface="Times New Roman" panose="02020603050405020304" pitchFamily="18" charset="0"/>
              </a:rPr>
              <a:t>Types: nutritional [unresponsive to thermal stress and do not increase blood flow in response to heat]capillaries &amp; thermoregulatory capillaries </a:t>
            </a:r>
          </a:p>
          <a:p>
            <a:pPr algn="just">
              <a:buClr>
                <a:srgbClr val="FF0000"/>
              </a:buClr>
            </a:pPr>
            <a:endParaRPr lang="en-GB" altLang="en-US" sz="1800" dirty="0">
              <a:latin typeface="Rockwell" panose="02060603020205020403" pitchFamily="18" charset="0"/>
              <a:cs typeface="Times New Roman" panose="02020603050405020304" pitchFamily="18" charset="0"/>
            </a:endParaRPr>
          </a:p>
          <a:p>
            <a:pPr algn="just">
              <a:buClr>
                <a:srgbClr val="FF0000"/>
              </a:buClr>
              <a:buFont typeface="Arial" panose="020B0604020202020204" pitchFamily="34" charset="0"/>
              <a:buChar char="•"/>
            </a:pPr>
            <a:endParaRPr lang="en-GB" altLang="en-US" sz="1800" dirty="0">
              <a:latin typeface="Rockwell" panose="02060603020205020403" pitchFamily="18" charset="0"/>
              <a:cs typeface="Times New Roman" panose="02020603050405020304" pitchFamily="18" charset="0"/>
            </a:endParaRPr>
          </a:p>
          <a:p>
            <a:pPr algn="just">
              <a:buClr>
                <a:srgbClr val="FF0000"/>
              </a:buClr>
              <a:buFont typeface="Arial" panose="020B0604020202020204" pitchFamily="34" charset="0"/>
              <a:buChar char="•"/>
            </a:pPr>
            <a:r>
              <a:rPr lang="en-GB" altLang="en-US" sz="1800" dirty="0">
                <a:latin typeface="Rockwell" panose="02060603020205020403" pitchFamily="18" charset="0"/>
                <a:cs typeface="Times New Roman" panose="02020603050405020304" pitchFamily="18" charset="0"/>
              </a:rPr>
              <a:t>Under resting conditions skin may be over-perfused and available figures suggest that 0.8 ml of blood/min/100 ml would be adequate to supply the skin oxygen requirements at rest. However the mean and maximum skin blood flow is higher than this value. A considerable reserve capacity therefore exists which would enable flow to increase by a magnitude of 100 times the resting value during </a:t>
            </a:r>
            <a:r>
              <a:rPr lang="en-GB" altLang="en-US" sz="1800" dirty="0">
                <a:highlight>
                  <a:srgbClr val="C0C0C0"/>
                </a:highlight>
                <a:latin typeface="Rockwell" panose="02060603020205020403" pitchFamily="18" charset="0"/>
                <a:cs typeface="Times New Roman" panose="02020603050405020304" pitchFamily="18" charset="0"/>
              </a:rPr>
              <a:t>hyperaemia</a:t>
            </a:r>
            <a:r>
              <a:rPr lang="en-GB" altLang="en-US" sz="1800" dirty="0">
                <a:latin typeface="Rockwell" panose="02060603020205020403" pitchFamily="18" charset="0"/>
                <a:cs typeface="Times New Roman" panose="02020603050405020304" pitchFamily="18" charset="0"/>
              </a:rPr>
              <a:t>.</a:t>
            </a:r>
          </a:p>
          <a:p>
            <a:pPr>
              <a:buClr>
                <a:srgbClr val="FF0000"/>
              </a:buClr>
            </a:pPr>
            <a:endParaRPr lang="en-GB" altLang="en-US" sz="1800" dirty="0">
              <a:latin typeface="Rockwell" panose="02060603020205020403" pitchFamily="18" charset="0"/>
            </a:endParaRPr>
          </a:p>
          <a:p>
            <a:pPr>
              <a:buClr>
                <a:srgbClr val="FF0000"/>
              </a:buClr>
              <a:buFont typeface="Arial" panose="020B0604020202020204" pitchFamily="34" charset="0"/>
              <a:buChar char="•"/>
            </a:pPr>
            <a:r>
              <a:rPr lang="en-GB" altLang="en-US" sz="1800" dirty="0">
                <a:latin typeface="Rockwell" panose="02060603020205020403" pitchFamily="18" charset="0"/>
              </a:rPr>
              <a:t>The number of capillaries per unit area is considered a determinant of tissue oxygenation</a:t>
            </a:r>
          </a:p>
        </p:txBody>
      </p:sp>
      <p:sp>
        <p:nvSpPr>
          <p:cNvPr id="16387" name="TextBox 2">
            <a:extLst>
              <a:ext uri="{FF2B5EF4-FFF2-40B4-BE49-F238E27FC236}">
                <a16:creationId xmlns:a16="http://schemas.microsoft.com/office/drawing/2014/main" id="{C27C7A81-E2CF-97E6-2274-98913321CBDC}"/>
              </a:ext>
            </a:extLst>
          </p:cNvPr>
          <p:cNvSpPr txBox="1">
            <a:spLocks noChangeArrowheads="1"/>
          </p:cNvSpPr>
          <p:nvPr/>
        </p:nvSpPr>
        <p:spPr bwMode="auto">
          <a:xfrm>
            <a:off x="4800601" y="188913"/>
            <a:ext cx="3095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GB" altLang="en-US" sz="3200" b="1" dirty="0">
                <a:latin typeface="Rockwell" panose="02060603020205020403" pitchFamily="18" charset="0"/>
              </a:rPr>
              <a:t>Capillaries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0DE73-4ACD-9679-B452-DC2D058CE3D9}"/>
              </a:ext>
            </a:extLst>
          </p:cNvPr>
          <p:cNvSpPr>
            <a:spLocks noGrp="1"/>
          </p:cNvSpPr>
          <p:nvPr>
            <p:ph type="title"/>
          </p:nvPr>
        </p:nvSpPr>
        <p:spPr/>
        <p:txBody>
          <a:bodyPr/>
          <a:lstStyle/>
          <a:p>
            <a:r>
              <a:rPr lang="en-GB" sz="5400" dirty="0">
                <a:solidFill>
                  <a:srgbClr val="222222"/>
                </a:solidFill>
                <a:effectLst/>
                <a:latin typeface="Calibri" panose="020F0502020204030204" pitchFamily="34" charset="0"/>
                <a:ea typeface="Times New Roman" panose="02020603050405020304" pitchFamily="18" charset="0"/>
              </a:rPr>
              <a:t>3. The structure of the heart</a:t>
            </a:r>
            <a:br>
              <a:rPr lang="en-GB" sz="5400" dirty="0">
                <a:effectLst/>
                <a:latin typeface="Times New Roman" panose="02020603050405020304" pitchFamily="18" charset="0"/>
                <a:ea typeface="Times New Roman" panose="02020603050405020304" pitchFamily="18" charset="0"/>
              </a:rPr>
            </a:br>
            <a:endParaRPr lang="en-GB" dirty="0"/>
          </a:p>
        </p:txBody>
      </p:sp>
    </p:spTree>
    <p:extLst>
      <p:ext uri="{BB962C8B-B14F-4D97-AF65-F5344CB8AC3E}">
        <p14:creationId xmlns:p14="http://schemas.microsoft.com/office/powerpoint/2010/main" val="2393866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6D23A384-1A07-541A-B128-C491B28197A7}"/>
              </a:ext>
            </a:extLst>
          </p:cNvPr>
          <p:cNvSpPr>
            <a:spLocks noGrp="1"/>
          </p:cNvSpPr>
          <p:nvPr>
            <p:ph type="title"/>
          </p:nvPr>
        </p:nvSpPr>
        <p:spPr>
          <a:xfrm>
            <a:off x="4082143" y="50346"/>
            <a:ext cx="7772400" cy="1143000"/>
          </a:xfrm>
        </p:spPr>
        <p:txBody>
          <a:bodyPr>
            <a:normAutofit/>
          </a:bodyPr>
          <a:lstStyle/>
          <a:p>
            <a:pPr eaLnBrk="1" hangingPunct="1"/>
            <a:r>
              <a:rPr lang="en-US" altLang="en-US" dirty="0"/>
              <a:t>Surface Anatomy</a:t>
            </a:r>
          </a:p>
        </p:txBody>
      </p:sp>
      <p:sp>
        <p:nvSpPr>
          <p:cNvPr id="2" name="TextBox 1">
            <a:extLst>
              <a:ext uri="{FF2B5EF4-FFF2-40B4-BE49-F238E27FC236}">
                <a16:creationId xmlns:a16="http://schemas.microsoft.com/office/drawing/2014/main" id="{70A8BF97-CEC2-DBCE-9F42-A14D4458527D}"/>
              </a:ext>
            </a:extLst>
          </p:cNvPr>
          <p:cNvSpPr txBox="1"/>
          <p:nvPr/>
        </p:nvSpPr>
        <p:spPr>
          <a:xfrm>
            <a:off x="420915" y="1698171"/>
            <a:ext cx="5675086" cy="4681731"/>
          </a:xfrm>
          <a:prstGeom prst="rect">
            <a:avLst/>
          </a:prstGeom>
          <a:noFill/>
        </p:spPr>
        <p:txBody>
          <a:bodyPr wrap="square" rtlCol="0">
            <a:spAutoFit/>
          </a:bodyPr>
          <a:lstStyle/>
          <a:p>
            <a:r>
              <a:rPr lang="en-GB" sz="3200" b="1" dirty="0"/>
              <a:t>Five surfaces: </a:t>
            </a:r>
          </a:p>
          <a:p>
            <a:endParaRPr lang="en-GB" sz="3200" dirty="0"/>
          </a:p>
          <a:p>
            <a:pPr marL="457200" indent="-457200">
              <a:lnSpc>
                <a:spcPct val="150000"/>
              </a:lnSpc>
              <a:buFont typeface="Arial" panose="020B0604020202020204" pitchFamily="34" charset="0"/>
              <a:buChar char="•"/>
            </a:pPr>
            <a:r>
              <a:rPr lang="en-GB" sz="3200" dirty="0"/>
              <a:t>Anterior (right ventricle)</a:t>
            </a:r>
          </a:p>
          <a:p>
            <a:pPr marL="457200" indent="-457200">
              <a:lnSpc>
                <a:spcPct val="150000"/>
              </a:lnSpc>
              <a:buFont typeface="Arial" panose="020B0604020202020204" pitchFamily="34" charset="0"/>
              <a:buChar char="•"/>
            </a:pPr>
            <a:r>
              <a:rPr lang="en-GB" sz="3200" dirty="0"/>
              <a:t>Posterior (left atrium)</a:t>
            </a:r>
          </a:p>
          <a:p>
            <a:pPr marL="457200" indent="-457200">
              <a:lnSpc>
                <a:spcPct val="150000"/>
              </a:lnSpc>
              <a:buFont typeface="Arial" panose="020B0604020202020204" pitchFamily="34" charset="0"/>
              <a:buChar char="•"/>
            </a:pPr>
            <a:r>
              <a:rPr lang="en-GB" sz="3200" dirty="0"/>
              <a:t>Inferior</a:t>
            </a:r>
          </a:p>
          <a:p>
            <a:pPr marL="457200" indent="-457200">
              <a:lnSpc>
                <a:spcPct val="150000"/>
              </a:lnSpc>
              <a:buFont typeface="Arial" panose="020B0604020202020204" pitchFamily="34" charset="0"/>
              <a:buChar char="•"/>
            </a:pPr>
            <a:r>
              <a:rPr lang="en-GB" sz="3200" dirty="0"/>
              <a:t>Right pulmonary</a:t>
            </a:r>
          </a:p>
          <a:p>
            <a:pPr marL="457200" indent="-457200">
              <a:lnSpc>
                <a:spcPct val="150000"/>
              </a:lnSpc>
              <a:buFont typeface="Arial" panose="020B0604020202020204" pitchFamily="34" charset="0"/>
              <a:buChar char="•"/>
            </a:pPr>
            <a:r>
              <a:rPr lang="en-GB" sz="3200" dirty="0"/>
              <a:t>Left pulmonary</a:t>
            </a:r>
          </a:p>
        </p:txBody>
      </p:sp>
      <p:pic>
        <p:nvPicPr>
          <p:cNvPr id="2052" name="Picture 4" descr="Sulci of the Heart">
            <a:extLst>
              <a:ext uri="{FF2B5EF4-FFF2-40B4-BE49-F238E27FC236}">
                <a16:creationId xmlns:a16="http://schemas.microsoft.com/office/drawing/2014/main" id="{4602F339-CD33-EBD8-5AB3-10C870434C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483"/>
          <a:stretch/>
        </p:blipFill>
        <p:spPr bwMode="auto">
          <a:xfrm>
            <a:off x="6110513" y="1069066"/>
            <a:ext cx="4426857" cy="47321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ulci of the Heart">
            <a:extLst>
              <a:ext uri="{FF2B5EF4-FFF2-40B4-BE49-F238E27FC236}">
                <a16:creationId xmlns:a16="http://schemas.microsoft.com/office/drawing/2014/main" id="{3E11551C-343E-916E-E112-79456368A0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434" b="3603"/>
          <a:stretch/>
        </p:blipFill>
        <p:spPr bwMode="auto">
          <a:xfrm>
            <a:off x="6276747" y="1193346"/>
            <a:ext cx="4260623" cy="4878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389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205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E9F4-2560-DAF7-5CC1-5522497BA5CF}"/>
              </a:ext>
            </a:extLst>
          </p:cNvPr>
          <p:cNvSpPr>
            <a:spLocks noGrp="1"/>
          </p:cNvSpPr>
          <p:nvPr>
            <p:ph type="title"/>
          </p:nvPr>
        </p:nvSpPr>
        <p:spPr>
          <a:xfrm>
            <a:off x="1069848" y="368518"/>
            <a:ext cx="10058400" cy="1609344"/>
          </a:xfrm>
        </p:spPr>
        <p:txBody>
          <a:bodyPr/>
          <a:lstStyle/>
          <a:p>
            <a:r>
              <a:rPr lang="en-GB" b="1">
                <a:solidFill>
                  <a:srgbClr val="32323C"/>
                </a:solidFill>
                <a:latin typeface="+mn-lt"/>
              </a:rPr>
              <a:t>Sulci of the Heart</a:t>
            </a:r>
            <a:br>
              <a:rPr lang="en-GB" b="1">
                <a:solidFill>
                  <a:srgbClr val="32323C"/>
                </a:solidFill>
                <a:latin typeface="+mn-lt"/>
              </a:rPr>
            </a:br>
            <a:endParaRPr lang="en-GB" dirty="0">
              <a:latin typeface="+mn-lt"/>
            </a:endParaRPr>
          </a:p>
        </p:txBody>
      </p:sp>
      <p:sp>
        <p:nvSpPr>
          <p:cNvPr id="3" name="Content Placeholder 2">
            <a:extLst>
              <a:ext uri="{FF2B5EF4-FFF2-40B4-BE49-F238E27FC236}">
                <a16:creationId xmlns:a16="http://schemas.microsoft.com/office/drawing/2014/main" id="{C63A7E14-7B5D-4455-53B5-8BDFAD2895EA}"/>
              </a:ext>
            </a:extLst>
          </p:cNvPr>
          <p:cNvSpPr>
            <a:spLocks noGrp="1"/>
          </p:cNvSpPr>
          <p:nvPr>
            <p:ph idx="1"/>
          </p:nvPr>
        </p:nvSpPr>
        <p:spPr/>
        <p:txBody>
          <a:bodyPr>
            <a:normAutofit lnSpcReduction="10000"/>
          </a:bodyPr>
          <a:lstStyle/>
          <a:p>
            <a:pPr algn="just"/>
            <a:r>
              <a:rPr lang="en-GB" sz="2800" dirty="0">
                <a:solidFill>
                  <a:srgbClr val="32323C"/>
                </a:solidFill>
              </a:rPr>
              <a:t>Heart interior is</a:t>
            </a:r>
            <a:r>
              <a:rPr lang="en-GB" sz="2800" b="0" i="0" dirty="0">
                <a:solidFill>
                  <a:srgbClr val="32323C"/>
                </a:solidFill>
                <a:effectLst/>
              </a:rPr>
              <a:t> divided into four chambers demarcated by grooves on the external surface (Sulci [plural]).</a:t>
            </a:r>
          </a:p>
          <a:p>
            <a:pPr marL="0" indent="0" algn="just">
              <a:buNone/>
            </a:pPr>
            <a:endParaRPr lang="en-GB" sz="2800" b="0" i="0" dirty="0">
              <a:solidFill>
                <a:srgbClr val="32323C"/>
              </a:solidFill>
              <a:effectLst/>
            </a:endParaRPr>
          </a:p>
          <a:p>
            <a:pPr algn="just"/>
            <a:r>
              <a:rPr lang="en-GB" sz="2800" b="1" i="0" dirty="0">
                <a:solidFill>
                  <a:srgbClr val="32323C"/>
                </a:solidFill>
                <a:effectLst/>
              </a:rPr>
              <a:t>Coronary / atrioventricular sulcus</a:t>
            </a:r>
            <a:r>
              <a:rPr lang="en-GB" sz="2800" i="0" dirty="0">
                <a:solidFill>
                  <a:srgbClr val="32323C"/>
                </a:solidFill>
                <a:effectLst/>
              </a:rPr>
              <a:t> is a </a:t>
            </a:r>
            <a:r>
              <a:rPr lang="en-GB" sz="2800" u="sng" dirty="0">
                <a:solidFill>
                  <a:srgbClr val="32323C"/>
                </a:solidFill>
                <a:effectLst/>
              </a:rPr>
              <a:t>transverse</a:t>
            </a:r>
            <a:r>
              <a:rPr lang="en-GB" sz="2800" i="0" dirty="0">
                <a:solidFill>
                  <a:srgbClr val="32323C"/>
                </a:solidFill>
                <a:effectLst/>
              </a:rPr>
              <a:t> band around the heart </a:t>
            </a:r>
            <a:r>
              <a:rPr lang="en-GB" sz="2800" i="0" dirty="0">
                <a:solidFill>
                  <a:srgbClr val="FF0000"/>
                </a:solidFill>
                <a:effectLst/>
              </a:rPr>
              <a:t>separating atria </a:t>
            </a:r>
            <a:r>
              <a:rPr lang="en-GB" sz="2800" b="0" i="0" dirty="0">
                <a:solidFill>
                  <a:srgbClr val="FF0000"/>
                </a:solidFill>
                <a:effectLst/>
              </a:rPr>
              <a:t>&amp; ventricles </a:t>
            </a:r>
            <a:r>
              <a:rPr lang="en-GB" sz="2800" b="0" i="0" dirty="0">
                <a:solidFill>
                  <a:srgbClr val="32323C"/>
                </a:solidFill>
                <a:effectLst/>
              </a:rPr>
              <a:t>(contains the right coronary artery).</a:t>
            </a:r>
          </a:p>
          <a:p>
            <a:pPr marL="0" indent="0" algn="just">
              <a:buNone/>
            </a:pPr>
            <a:endParaRPr lang="en-GB" sz="2800" b="0" i="0" dirty="0">
              <a:solidFill>
                <a:srgbClr val="32323C"/>
              </a:solidFill>
              <a:effectLst/>
            </a:endParaRPr>
          </a:p>
          <a:p>
            <a:pPr algn="just"/>
            <a:r>
              <a:rPr lang="en-GB" sz="2800" b="1" i="0" dirty="0">
                <a:solidFill>
                  <a:srgbClr val="32323C"/>
                </a:solidFill>
                <a:effectLst/>
              </a:rPr>
              <a:t>Anterior</a:t>
            </a:r>
            <a:r>
              <a:rPr lang="en-GB" sz="2800" b="0" i="0" dirty="0">
                <a:solidFill>
                  <a:srgbClr val="32323C"/>
                </a:solidFill>
                <a:effectLst/>
              </a:rPr>
              <a:t> and </a:t>
            </a:r>
            <a:r>
              <a:rPr lang="en-GB" sz="2800" b="1" i="0" dirty="0">
                <a:solidFill>
                  <a:srgbClr val="32323C"/>
                </a:solidFill>
                <a:effectLst/>
              </a:rPr>
              <a:t>Posterior</a:t>
            </a:r>
            <a:r>
              <a:rPr lang="en-GB" sz="2800" b="0" i="0" dirty="0">
                <a:solidFill>
                  <a:srgbClr val="32323C"/>
                </a:solidFill>
                <a:effectLst/>
              </a:rPr>
              <a:t> </a:t>
            </a:r>
            <a:r>
              <a:rPr lang="en-GB" sz="2800" b="1" i="0" dirty="0">
                <a:solidFill>
                  <a:srgbClr val="32323C"/>
                </a:solidFill>
                <a:effectLst/>
              </a:rPr>
              <a:t>interventricular</a:t>
            </a:r>
            <a:r>
              <a:rPr lang="en-GB" sz="2800" b="0" i="0" dirty="0">
                <a:solidFill>
                  <a:srgbClr val="32323C"/>
                </a:solidFill>
                <a:effectLst/>
              </a:rPr>
              <a:t> sulci, </a:t>
            </a:r>
            <a:r>
              <a:rPr lang="en-GB" sz="2800" b="0" i="0" u="sng" dirty="0">
                <a:solidFill>
                  <a:srgbClr val="32323C"/>
                </a:solidFill>
                <a:effectLst/>
              </a:rPr>
              <a:t>vertically</a:t>
            </a:r>
            <a:r>
              <a:rPr lang="en-GB" sz="2800" b="0" i="0" dirty="0">
                <a:solidFill>
                  <a:srgbClr val="32323C"/>
                </a:solidFill>
                <a:effectLst/>
              </a:rPr>
              <a:t> aligned bands on front and rear, </a:t>
            </a:r>
            <a:r>
              <a:rPr lang="en-GB" sz="2800" b="0" i="0" dirty="0">
                <a:solidFill>
                  <a:srgbClr val="FF0000"/>
                </a:solidFill>
                <a:effectLst/>
              </a:rPr>
              <a:t>separating the ventricles</a:t>
            </a:r>
            <a:r>
              <a:rPr lang="en-GB" sz="2800" b="0" i="0" dirty="0">
                <a:solidFill>
                  <a:srgbClr val="32323C"/>
                </a:solidFill>
                <a:effectLst/>
              </a:rPr>
              <a:t>.</a:t>
            </a:r>
            <a:endParaRPr lang="en-GB" sz="2800" dirty="0"/>
          </a:p>
        </p:txBody>
      </p:sp>
    </p:spTree>
    <p:extLst>
      <p:ext uri="{BB962C8B-B14F-4D97-AF65-F5344CB8AC3E}">
        <p14:creationId xmlns:p14="http://schemas.microsoft.com/office/powerpoint/2010/main" val="2031846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9218B53-F91D-D899-CFA9-4AAD8537687E}"/>
              </a:ext>
            </a:extLst>
          </p:cNvPr>
          <p:cNvGrpSpPr/>
          <p:nvPr/>
        </p:nvGrpSpPr>
        <p:grpSpPr>
          <a:xfrm>
            <a:off x="1814286" y="993911"/>
            <a:ext cx="8085088" cy="5654783"/>
            <a:chOff x="1814286" y="1305306"/>
            <a:chExt cx="7228114" cy="5204242"/>
          </a:xfrm>
        </p:grpSpPr>
        <p:pic>
          <p:nvPicPr>
            <p:cNvPr id="3076" name="Picture 4" descr="Heart structure">
              <a:extLst>
                <a:ext uri="{FF2B5EF4-FFF2-40B4-BE49-F238E27FC236}">
                  <a16:creationId xmlns:a16="http://schemas.microsoft.com/office/drawing/2014/main" id="{5F55EE6F-84AE-C0AA-F665-DE5269B43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286" y="1305306"/>
              <a:ext cx="7228114" cy="520424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8BDCC17-6DFE-6EC1-940C-1BD189AD7780}"/>
                </a:ext>
              </a:extLst>
            </p:cNvPr>
            <p:cNvSpPr/>
            <p:nvPr/>
          </p:nvSpPr>
          <p:spPr>
            <a:xfrm>
              <a:off x="6734629" y="3857013"/>
              <a:ext cx="1625600" cy="406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456A408-D72E-EE0E-39AF-A9F5F66F5516}"/>
                </a:ext>
              </a:extLst>
            </p:cNvPr>
            <p:cNvSpPr/>
            <p:nvPr/>
          </p:nvSpPr>
          <p:spPr>
            <a:xfrm>
              <a:off x="6734628" y="4683640"/>
              <a:ext cx="2307771" cy="8889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itle 1">
            <a:extLst>
              <a:ext uri="{FF2B5EF4-FFF2-40B4-BE49-F238E27FC236}">
                <a16:creationId xmlns:a16="http://schemas.microsoft.com/office/drawing/2014/main" id="{E929E9F4-2560-DAF7-5CC1-5522497BA5CF}"/>
              </a:ext>
            </a:extLst>
          </p:cNvPr>
          <p:cNvSpPr>
            <a:spLocks noGrp="1"/>
          </p:cNvSpPr>
          <p:nvPr>
            <p:ph type="title"/>
          </p:nvPr>
        </p:nvSpPr>
        <p:spPr>
          <a:xfrm>
            <a:off x="1069848" y="368518"/>
            <a:ext cx="10058400" cy="1609344"/>
          </a:xfrm>
        </p:spPr>
        <p:txBody>
          <a:bodyPr/>
          <a:lstStyle/>
          <a:p>
            <a:r>
              <a:rPr lang="en-GB" b="1">
                <a:solidFill>
                  <a:srgbClr val="32323C"/>
                </a:solidFill>
                <a:latin typeface="+mn-lt"/>
              </a:rPr>
              <a:t>Sulci of the Heart</a:t>
            </a:r>
            <a:br>
              <a:rPr lang="en-GB" b="1">
                <a:solidFill>
                  <a:srgbClr val="32323C"/>
                </a:solidFill>
                <a:latin typeface="+mn-lt"/>
              </a:rPr>
            </a:br>
            <a:endParaRPr lang="en-GB" dirty="0">
              <a:latin typeface="+mn-lt"/>
            </a:endParaRPr>
          </a:p>
        </p:txBody>
      </p:sp>
    </p:spTree>
    <p:extLst>
      <p:ext uri="{BB962C8B-B14F-4D97-AF65-F5344CB8AC3E}">
        <p14:creationId xmlns:p14="http://schemas.microsoft.com/office/powerpoint/2010/main" val="2984421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964B3A47-20CF-EEC4-1BCE-A8231397E30B}"/>
              </a:ext>
            </a:extLst>
          </p:cNvPr>
          <p:cNvSpPr>
            <a:spLocks noGrp="1"/>
          </p:cNvSpPr>
          <p:nvPr>
            <p:ph type="title"/>
          </p:nvPr>
        </p:nvSpPr>
        <p:spPr>
          <a:xfrm>
            <a:off x="2209800" y="0"/>
            <a:ext cx="7772400" cy="1143000"/>
          </a:xfrm>
        </p:spPr>
        <p:txBody>
          <a:bodyPr/>
          <a:lstStyle/>
          <a:p>
            <a:pPr eaLnBrk="1" hangingPunct="1"/>
            <a:r>
              <a:rPr lang="en-US" altLang="en-US"/>
              <a:t>Basic Anatomy of the Heart</a:t>
            </a:r>
          </a:p>
        </p:txBody>
      </p:sp>
      <p:pic>
        <p:nvPicPr>
          <p:cNvPr id="24579" name="Picture 5" descr="FIG05-01">
            <a:extLst>
              <a:ext uri="{FF2B5EF4-FFF2-40B4-BE49-F238E27FC236}">
                <a16:creationId xmlns:a16="http://schemas.microsoft.com/office/drawing/2014/main" id="{6CCB0065-A2C7-25A1-69FF-A2227216C3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939800"/>
            <a:ext cx="6248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9" descr="18-05_circuits_1">
            <a:extLst>
              <a:ext uri="{FF2B5EF4-FFF2-40B4-BE49-F238E27FC236}">
                <a16:creationId xmlns:a16="http://schemas.microsoft.com/office/drawing/2014/main" id="{88DC85A5-47C3-AA3A-4C7C-37F93C2698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
          <a:stretch/>
        </p:blipFill>
        <p:spPr bwMode="auto">
          <a:xfrm>
            <a:off x="9707138" y="90714"/>
            <a:ext cx="2481230" cy="359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2" name="Rectangle 2">
            <a:extLst>
              <a:ext uri="{FF2B5EF4-FFF2-40B4-BE49-F238E27FC236}">
                <a16:creationId xmlns:a16="http://schemas.microsoft.com/office/drawing/2014/main" id="{7BF9B4C1-D79B-8035-0330-E0F054DF5136}"/>
              </a:ext>
            </a:extLst>
          </p:cNvPr>
          <p:cNvSpPr>
            <a:spLocks noGrp="1"/>
          </p:cNvSpPr>
          <p:nvPr>
            <p:ph type="title"/>
          </p:nvPr>
        </p:nvSpPr>
        <p:spPr>
          <a:xfrm>
            <a:off x="1981200" y="188913"/>
            <a:ext cx="8229600" cy="1143000"/>
          </a:xfrm>
        </p:spPr>
        <p:txBody>
          <a:bodyPr/>
          <a:lstStyle/>
          <a:p>
            <a:pPr eaLnBrk="1" hangingPunct="1"/>
            <a:r>
              <a:rPr lang="en-US" altLang="en-US"/>
              <a:t>Atria of the Heart</a:t>
            </a:r>
          </a:p>
        </p:txBody>
      </p:sp>
      <p:sp>
        <p:nvSpPr>
          <p:cNvPr id="11267" name="Rectangle 3">
            <a:extLst>
              <a:ext uri="{FF2B5EF4-FFF2-40B4-BE49-F238E27FC236}">
                <a16:creationId xmlns:a16="http://schemas.microsoft.com/office/drawing/2014/main" id="{670D3110-C2FF-67D8-5113-B33A2353AB7D}"/>
              </a:ext>
            </a:extLst>
          </p:cNvPr>
          <p:cNvSpPr>
            <a:spLocks noGrp="1" noChangeArrowheads="1"/>
          </p:cNvSpPr>
          <p:nvPr>
            <p:ph idx="1"/>
          </p:nvPr>
        </p:nvSpPr>
        <p:spPr>
          <a:xfrm>
            <a:off x="412523" y="1920649"/>
            <a:ext cx="8092847" cy="4446587"/>
          </a:xfrm>
        </p:spPr>
        <p:txBody>
          <a:bodyPr>
            <a:noAutofit/>
          </a:bodyPr>
          <a:lstStyle/>
          <a:p>
            <a:pPr marL="274320" indent="-274320">
              <a:lnSpc>
                <a:spcPct val="200000"/>
              </a:lnSpc>
              <a:buClr>
                <a:schemeClr val="accent3"/>
              </a:buClr>
              <a:buFont typeface="Wingdings 2"/>
              <a:buChar char=""/>
              <a:defRPr/>
            </a:pPr>
            <a:r>
              <a:rPr lang="en-US" sz="2400" dirty="0"/>
              <a:t>Atria receive</a:t>
            </a:r>
          </a:p>
          <a:p>
            <a:pPr marL="274320" indent="-274320">
              <a:lnSpc>
                <a:spcPct val="100000"/>
              </a:lnSpc>
              <a:buClr>
                <a:schemeClr val="accent3"/>
              </a:buClr>
              <a:buFont typeface="Wingdings 2"/>
              <a:buChar char=""/>
              <a:defRPr/>
            </a:pPr>
            <a:r>
              <a:rPr lang="en-US" sz="2400" dirty="0"/>
              <a:t>Blood enters right atria from superior and inferior </a:t>
            </a:r>
          </a:p>
          <a:p>
            <a:pPr marL="0" indent="0">
              <a:lnSpc>
                <a:spcPct val="100000"/>
              </a:lnSpc>
              <a:buClr>
                <a:schemeClr val="accent3"/>
              </a:buClr>
              <a:buNone/>
              <a:defRPr/>
            </a:pPr>
            <a:r>
              <a:rPr lang="en-US" sz="2400" dirty="0"/>
              <a:t>    venae cavae and coronary sinus</a:t>
            </a:r>
          </a:p>
          <a:p>
            <a:pPr marL="274320" indent="-274320">
              <a:lnSpc>
                <a:spcPct val="200000"/>
              </a:lnSpc>
              <a:buClr>
                <a:schemeClr val="accent3"/>
              </a:buClr>
              <a:buFont typeface="Wingdings 2"/>
              <a:buChar char=""/>
              <a:defRPr/>
            </a:pPr>
            <a:r>
              <a:rPr lang="en-US" sz="2400" dirty="0"/>
              <a:t>Blood enters left atria from pulmonary veins</a:t>
            </a:r>
          </a:p>
        </p:txBody>
      </p:sp>
    </p:spTree>
    <p:extLst>
      <p:ext uri="{BB962C8B-B14F-4D97-AF65-F5344CB8AC3E}">
        <p14:creationId xmlns:p14="http://schemas.microsoft.com/office/powerpoint/2010/main" val="12238151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childTnLst>
                                    <p:animEffect transition="out" filter="fade">
                                      <p:cBhvr>
                                        <p:cTn id="6" dur="2000"/>
                                        <p:tgtEl>
                                          <p:spTgt spid="2"/>
                                        </p:tgtEl>
                                      </p:cBhvr>
                                    </p:animEffect>
                                    <p:anim calcmode="lin" valueType="num">
                                      <p:cBhvr>
                                        <p:cTn id="7" dur="2000"/>
                                        <p:tgtEl>
                                          <p:spTgt spid="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2"/>
                                        </p:tgtEl>
                                        <p:attrNameLst>
                                          <p:attrName>ppt_h</p:attrName>
                                        </p:attrNameLst>
                                      </p:cBhvr>
                                      <p:tavLst>
                                        <p:tav tm="0">
                                          <p:val>
                                            <p:strVal val="ppt_h"/>
                                          </p:val>
                                        </p:tav>
                                        <p:tav tm="100000">
                                          <p:val>
                                            <p:strVal val="ppt_h"/>
                                          </p:val>
                                        </p:tav>
                                      </p:tavLst>
                                    </p:anim>
                                    <p:set>
                                      <p:cBhvr>
                                        <p:cTn id="9"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B6FDF42-58EE-BD10-15DE-7DBD3564B372}"/>
              </a:ext>
            </a:extLst>
          </p:cNvPr>
          <p:cNvSpPr>
            <a:spLocks noGrp="1"/>
          </p:cNvSpPr>
          <p:nvPr>
            <p:ph type="title"/>
          </p:nvPr>
        </p:nvSpPr>
        <p:spPr>
          <a:xfrm>
            <a:off x="1981200" y="260350"/>
            <a:ext cx="8229600" cy="1143000"/>
          </a:xfrm>
        </p:spPr>
        <p:txBody>
          <a:bodyPr/>
          <a:lstStyle/>
          <a:p>
            <a:pPr eaLnBrk="1" hangingPunct="1"/>
            <a:r>
              <a:rPr lang="en-US" altLang="en-US"/>
              <a:t>Ventricles of the Heart</a:t>
            </a:r>
          </a:p>
        </p:txBody>
      </p:sp>
      <p:sp>
        <p:nvSpPr>
          <p:cNvPr id="12291" name="Rectangle 3">
            <a:extLst>
              <a:ext uri="{FF2B5EF4-FFF2-40B4-BE49-F238E27FC236}">
                <a16:creationId xmlns:a16="http://schemas.microsoft.com/office/drawing/2014/main" id="{4F45B162-6F84-7DE5-0F71-D862F567DF5F}"/>
              </a:ext>
            </a:extLst>
          </p:cNvPr>
          <p:cNvSpPr>
            <a:spLocks noGrp="1" noChangeArrowheads="1"/>
          </p:cNvSpPr>
          <p:nvPr>
            <p:ph idx="1"/>
          </p:nvPr>
        </p:nvSpPr>
        <p:spPr>
          <a:xfrm>
            <a:off x="297543" y="2350861"/>
            <a:ext cx="8229599" cy="3584575"/>
          </a:xfrm>
        </p:spPr>
        <p:txBody>
          <a:bodyPr>
            <a:normAutofit/>
          </a:bodyPr>
          <a:lstStyle/>
          <a:p>
            <a:pPr marL="274320" indent="-274320">
              <a:lnSpc>
                <a:spcPct val="200000"/>
              </a:lnSpc>
              <a:buClr>
                <a:schemeClr val="accent3"/>
              </a:buClr>
              <a:buFont typeface="Wingdings 2"/>
              <a:buChar char=""/>
              <a:defRPr/>
            </a:pPr>
            <a:r>
              <a:rPr lang="en-US" sz="2400" dirty="0"/>
              <a:t>Ventricles discharge</a:t>
            </a:r>
          </a:p>
          <a:p>
            <a:pPr marL="274320" indent="-274320">
              <a:lnSpc>
                <a:spcPct val="200000"/>
              </a:lnSpc>
              <a:buClr>
                <a:schemeClr val="accent3"/>
              </a:buClr>
              <a:buFont typeface="Wingdings 2"/>
              <a:buChar char=""/>
              <a:defRPr/>
            </a:pPr>
            <a:r>
              <a:rPr lang="en-US" sz="2400" dirty="0"/>
              <a:t>Right ventricle pumps blood into the pulmonary trunk</a:t>
            </a:r>
          </a:p>
          <a:p>
            <a:pPr marL="274320" indent="-274320">
              <a:lnSpc>
                <a:spcPct val="200000"/>
              </a:lnSpc>
              <a:buClr>
                <a:schemeClr val="accent3"/>
              </a:buClr>
              <a:buFont typeface="Wingdings 2"/>
              <a:buChar char=""/>
              <a:defRPr/>
            </a:pPr>
            <a:r>
              <a:rPr lang="en-US" sz="2400" dirty="0"/>
              <a:t>Left ventricle pumps blood into the aorta</a:t>
            </a:r>
          </a:p>
        </p:txBody>
      </p:sp>
      <p:pic>
        <p:nvPicPr>
          <p:cNvPr id="2" name="Picture 9" descr="18-05_circuits_1">
            <a:extLst>
              <a:ext uri="{FF2B5EF4-FFF2-40B4-BE49-F238E27FC236}">
                <a16:creationId xmlns:a16="http://schemas.microsoft.com/office/drawing/2014/main" id="{F8E84C54-ED0E-2962-4EC9-0ABE8BD88F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
          <a:stretch/>
        </p:blipFill>
        <p:spPr bwMode="auto">
          <a:xfrm>
            <a:off x="9630650" y="90716"/>
            <a:ext cx="2561350" cy="371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childTnLst>
                                    <p:animEffect transition="out" filter="fade">
                                      <p:cBhvr>
                                        <p:cTn id="6" dur="2000"/>
                                        <p:tgtEl>
                                          <p:spTgt spid="2"/>
                                        </p:tgtEl>
                                      </p:cBhvr>
                                    </p:animEffect>
                                    <p:anim calcmode="lin" valueType="num">
                                      <p:cBhvr>
                                        <p:cTn id="7" dur="2000"/>
                                        <p:tgtEl>
                                          <p:spTgt spid="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2"/>
                                        </p:tgtEl>
                                        <p:attrNameLst>
                                          <p:attrName>ppt_h</p:attrName>
                                        </p:attrNameLst>
                                      </p:cBhvr>
                                      <p:tavLst>
                                        <p:tav tm="0">
                                          <p:val>
                                            <p:strVal val="ppt_h"/>
                                          </p:val>
                                        </p:tav>
                                        <p:tav tm="100000">
                                          <p:val>
                                            <p:strVal val="ppt_h"/>
                                          </p:val>
                                        </p:tav>
                                      </p:tavLst>
                                    </p:anim>
                                    <p:set>
                                      <p:cBhvr>
                                        <p:cTn id="9"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B6CDC3F-BFDE-D800-1831-421D07A5C1D8}"/>
              </a:ext>
            </a:extLst>
          </p:cNvPr>
          <p:cNvGrpSpPr/>
          <p:nvPr/>
        </p:nvGrpSpPr>
        <p:grpSpPr>
          <a:xfrm>
            <a:off x="400049" y="3212663"/>
            <a:ext cx="9191625" cy="3302437"/>
            <a:chOff x="400049" y="3212663"/>
            <a:chExt cx="9191625" cy="3302437"/>
          </a:xfrm>
        </p:grpSpPr>
        <p:sp>
          <p:nvSpPr>
            <p:cNvPr id="6" name="TextBox 5">
              <a:extLst>
                <a:ext uri="{FF2B5EF4-FFF2-40B4-BE49-F238E27FC236}">
                  <a16:creationId xmlns:a16="http://schemas.microsoft.com/office/drawing/2014/main" id="{369F8421-4356-735C-751A-818B366A859B}"/>
                </a:ext>
              </a:extLst>
            </p:cNvPr>
            <p:cNvSpPr txBox="1"/>
            <p:nvPr/>
          </p:nvSpPr>
          <p:spPr>
            <a:xfrm>
              <a:off x="400049" y="3212663"/>
              <a:ext cx="6677026" cy="1200329"/>
            </a:xfrm>
            <a:prstGeom prst="rect">
              <a:avLst/>
            </a:prstGeom>
            <a:noFill/>
          </p:spPr>
          <p:txBody>
            <a:bodyPr wrap="square">
              <a:spAutoFit/>
            </a:bodyPr>
            <a:lstStyle/>
            <a:p>
              <a:pPr algn="l">
                <a:buFont typeface="Arial" panose="020B0604020202020204" pitchFamily="34" charset="0"/>
                <a:buChar char="•"/>
              </a:pPr>
              <a:r>
                <a:rPr lang="en-GB" sz="2400" b="1" i="0" dirty="0">
                  <a:solidFill>
                    <a:srgbClr val="333333"/>
                  </a:solidFill>
                  <a:effectLst/>
                  <a:latin typeface="Open Sans" panose="020B0606030504020204" pitchFamily="34" charset="0"/>
                </a:rPr>
                <a:t>Mitral (bicuspid) valve [left side]</a:t>
              </a:r>
              <a:r>
                <a:rPr lang="en-GB" sz="2400" b="0" i="0" dirty="0">
                  <a:solidFill>
                    <a:srgbClr val="333333"/>
                  </a:solidFill>
                  <a:effectLst/>
                  <a:latin typeface="Open Sans" panose="020B0606030504020204" pitchFamily="34" charset="0"/>
                </a:rPr>
                <a:t> This valve is located between the left atrium and the left ventricle. It has only 2 leaflets.</a:t>
              </a:r>
            </a:p>
          </p:txBody>
        </p:sp>
        <p:pic>
          <p:nvPicPr>
            <p:cNvPr id="1032" name="Picture 8" descr="Aortic valve repair and aortic valve replacement - Mayo Clinic">
              <a:extLst>
                <a:ext uri="{FF2B5EF4-FFF2-40B4-BE49-F238E27FC236}">
                  <a16:creationId xmlns:a16="http://schemas.microsoft.com/office/drawing/2014/main" id="{30B53805-8D06-0143-01DF-D6FC13EB3E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5" t="7702" r="48833" b="20394"/>
            <a:stretch/>
          </p:blipFill>
          <p:spPr bwMode="auto">
            <a:xfrm>
              <a:off x="6540102" y="3535829"/>
              <a:ext cx="3051572" cy="2979271"/>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BC32E934-7AB3-D619-56D8-9525BC4C34B2}"/>
              </a:ext>
            </a:extLst>
          </p:cNvPr>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GB" dirty="0"/>
              <a:t>Two Atrioventricular valves</a:t>
            </a:r>
          </a:p>
        </p:txBody>
      </p:sp>
      <p:grpSp>
        <p:nvGrpSpPr>
          <p:cNvPr id="14" name="Group 13">
            <a:extLst>
              <a:ext uri="{FF2B5EF4-FFF2-40B4-BE49-F238E27FC236}">
                <a16:creationId xmlns:a16="http://schemas.microsoft.com/office/drawing/2014/main" id="{B262653B-CC4B-EDCD-C0DC-DC8BCA70E9D5}"/>
              </a:ext>
            </a:extLst>
          </p:cNvPr>
          <p:cNvGrpSpPr/>
          <p:nvPr/>
        </p:nvGrpSpPr>
        <p:grpSpPr>
          <a:xfrm>
            <a:off x="400049" y="1030412"/>
            <a:ext cx="11279125" cy="3124200"/>
            <a:chOff x="400049" y="1030412"/>
            <a:chExt cx="11279125" cy="3124200"/>
          </a:xfrm>
        </p:grpSpPr>
        <p:sp>
          <p:nvSpPr>
            <p:cNvPr id="3" name="TextBox 2">
              <a:extLst>
                <a:ext uri="{FF2B5EF4-FFF2-40B4-BE49-F238E27FC236}">
                  <a16:creationId xmlns:a16="http://schemas.microsoft.com/office/drawing/2014/main" id="{284B57EE-C23D-3048-E71E-B6CC73BF3D5A}"/>
                </a:ext>
              </a:extLst>
            </p:cNvPr>
            <p:cNvSpPr txBox="1"/>
            <p:nvPr/>
          </p:nvSpPr>
          <p:spPr>
            <a:xfrm>
              <a:off x="400049" y="2093976"/>
              <a:ext cx="9191625" cy="830997"/>
            </a:xfrm>
            <a:prstGeom prst="rect">
              <a:avLst/>
            </a:prstGeom>
            <a:noFill/>
          </p:spPr>
          <p:txBody>
            <a:bodyPr wrap="square">
              <a:spAutoFit/>
            </a:bodyPr>
            <a:lstStyle/>
            <a:p>
              <a:pPr algn="l">
                <a:buFont typeface="Arial" panose="020B0604020202020204" pitchFamily="34" charset="0"/>
                <a:buChar char="•"/>
              </a:pPr>
              <a:r>
                <a:rPr lang="en-GB" sz="2400" b="1" i="0" dirty="0">
                  <a:solidFill>
                    <a:srgbClr val="333333"/>
                  </a:solidFill>
                  <a:effectLst/>
                  <a:latin typeface="Open Sans" panose="020B0606030504020204" pitchFamily="34" charset="0"/>
                </a:rPr>
                <a:t>Tricuspid valve [right side] </a:t>
              </a:r>
              <a:r>
                <a:rPr lang="en-GB" sz="2400" b="0" i="0" dirty="0">
                  <a:solidFill>
                    <a:srgbClr val="333333"/>
                  </a:solidFill>
                  <a:effectLst/>
                  <a:latin typeface="Open Sans" panose="020B0606030504020204" pitchFamily="34" charset="0"/>
                </a:rPr>
                <a:t>This valve is located between </a:t>
              </a:r>
            </a:p>
            <a:p>
              <a:pPr algn="l"/>
              <a:r>
                <a:rPr lang="en-GB" sz="2400" b="0" i="0" dirty="0">
                  <a:solidFill>
                    <a:srgbClr val="333333"/>
                  </a:solidFill>
                  <a:effectLst/>
                  <a:latin typeface="Open Sans" panose="020B0606030504020204" pitchFamily="34" charset="0"/>
                </a:rPr>
                <a:t>the right atrium and the right ventricle.</a:t>
              </a:r>
            </a:p>
          </p:txBody>
        </p:sp>
        <p:pic>
          <p:nvPicPr>
            <p:cNvPr id="9" name="Picture 2" descr="Ebstein anomaly">
              <a:extLst>
                <a:ext uri="{FF2B5EF4-FFF2-40B4-BE49-F238E27FC236}">
                  <a16:creationId xmlns:a16="http://schemas.microsoft.com/office/drawing/2014/main" id="{5E292B7B-0A3D-9FD4-AF4D-2FC8D530654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14706" r="56170" b="16386"/>
            <a:stretch/>
          </p:blipFill>
          <p:spPr bwMode="auto">
            <a:xfrm>
              <a:off x="9040749" y="1030412"/>
              <a:ext cx="2638425" cy="3124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0551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A8ADF5D-C943-DC7E-637D-5E2E94FE894F}"/>
              </a:ext>
            </a:extLst>
          </p:cNvPr>
          <p:cNvSpPr txBox="1"/>
          <p:nvPr/>
        </p:nvSpPr>
        <p:spPr>
          <a:xfrm>
            <a:off x="600074" y="4469964"/>
            <a:ext cx="6096000" cy="646331"/>
          </a:xfrm>
          <a:prstGeom prst="rect">
            <a:avLst/>
          </a:prstGeom>
          <a:noFill/>
        </p:spPr>
        <p:txBody>
          <a:bodyPr wrap="square">
            <a:spAutoFit/>
          </a:bodyPr>
          <a:lstStyle/>
          <a:p>
            <a:pPr algn="l">
              <a:buFont typeface="Arial" panose="020B0604020202020204" pitchFamily="34" charset="0"/>
              <a:buChar char="•"/>
            </a:pPr>
            <a:r>
              <a:rPr lang="en-GB" b="1" i="0" dirty="0">
                <a:solidFill>
                  <a:srgbClr val="333333"/>
                </a:solidFill>
                <a:effectLst/>
                <a:latin typeface="Open Sans" panose="020B0606030504020204" pitchFamily="34" charset="0"/>
              </a:rPr>
              <a:t>Aortic valve.</a:t>
            </a:r>
            <a:r>
              <a:rPr lang="en-GB" b="0" i="0" dirty="0">
                <a:solidFill>
                  <a:srgbClr val="333333"/>
                </a:solidFill>
                <a:effectLst/>
                <a:latin typeface="Open Sans" panose="020B0606030504020204" pitchFamily="34" charset="0"/>
              </a:rPr>
              <a:t> The aortic valve is located between the left ventricle and the aorta.</a:t>
            </a:r>
          </a:p>
        </p:txBody>
      </p:sp>
      <p:grpSp>
        <p:nvGrpSpPr>
          <p:cNvPr id="7" name="Group 6">
            <a:extLst>
              <a:ext uri="{FF2B5EF4-FFF2-40B4-BE49-F238E27FC236}">
                <a16:creationId xmlns:a16="http://schemas.microsoft.com/office/drawing/2014/main" id="{7AF6D045-704F-91FC-BCEC-7FD4E44528BB}"/>
              </a:ext>
            </a:extLst>
          </p:cNvPr>
          <p:cNvGrpSpPr/>
          <p:nvPr/>
        </p:nvGrpSpPr>
        <p:grpSpPr>
          <a:xfrm>
            <a:off x="574675" y="1129319"/>
            <a:ext cx="10794206" cy="3269969"/>
            <a:chOff x="574675" y="1129319"/>
            <a:chExt cx="10794206" cy="3269969"/>
          </a:xfrm>
        </p:grpSpPr>
        <p:sp>
          <p:nvSpPr>
            <p:cNvPr id="4" name="TextBox 3">
              <a:extLst>
                <a:ext uri="{FF2B5EF4-FFF2-40B4-BE49-F238E27FC236}">
                  <a16:creationId xmlns:a16="http://schemas.microsoft.com/office/drawing/2014/main" id="{97B90BC7-4F41-D6C8-4120-193C738D7052}"/>
                </a:ext>
              </a:extLst>
            </p:cNvPr>
            <p:cNvSpPr txBox="1"/>
            <p:nvPr/>
          </p:nvSpPr>
          <p:spPr>
            <a:xfrm>
              <a:off x="574675" y="1875398"/>
              <a:ext cx="9191625" cy="646331"/>
            </a:xfrm>
            <a:prstGeom prst="rect">
              <a:avLst/>
            </a:prstGeom>
            <a:noFill/>
          </p:spPr>
          <p:txBody>
            <a:bodyPr wrap="square">
              <a:spAutoFit/>
            </a:bodyPr>
            <a:lstStyle/>
            <a:p>
              <a:pPr algn="l">
                <a:buFont typeface="Arial" panose="020B0604020202020204" pitchFamily="34" charset="0"/>
                <a:buChar char="•"/>
              </a:pPr>
              <a:r>
                <a:rPr lang="en-GB" b="1" i="0" dirty="0">
                  <a:solidFill>
                    <a:srgbClr val="333333"/>
                  </a:solidFill>
                  <a:effectLst/>
                  <a:latin typeface="Open Sans" panose="020B0606030504020204" pitchFamily="34" charset="0"/>
                </a:rPr>
                <a:t>Pulmonary valve. </a:t>
              </a:r>
              <a:r>
                <a:rPr lang="en-GB" b="0" i="0" dirty="0">
                  <a:solidFill>
                    <a:srgbClr val="333333"/>
                  </a:solidFill>
                  <a:effectLst/>
                  <a:latin typeface="Open Sans" panose="020B0606030504020204" pitchFamily="34" charset="0"/>
                </a:rPr>
                <a:t>The pulmonary valve is located between the right ventricle </a:t>
              </a:r>
            </a:p>
            <a:p>
              <a:pPr algn="l"/>
              <a:r>
                <a:rPr lang="en-GB" b="0" i="0" dirty="0">
                  <a:solidFill>
                    <a:srgbClr val="333333"/>
                  </a:solidFill>
                  <a:effectLst/>
                  <a:latin typeface="Open Sans" panose="020B0606030504020204" pitchFamily="34" charset="0"/>
                </a:rPr>
                <a:t>and the pulmonary artery.</a:t>
              </a:r>
            </a:p>
          </p:txBody>
        </p:sp>
        <p:pic>
          <p:nvPicPr>
            <p:cNvPr id="2" name="Picture 6" descr="Mitral valve disease - Symptoms and causes - Mayo Clinic">
              <a:extLst>
                <a:ext uri="{FF2B5EF4-FFF2-40B4-BE49-F238E27FC236}">
                  <a16:creationId xmlns:a16="http://schemas.microsoft.com/office/drawing/2014/main" id="{52B8EEFB-EED1-6A58-8AD1-137DCF6FCB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t="12708" r="59916" b="17087"/>
            <a:stretch/>
          </p:blipFill>
          <p:spPr bwMode="auto">
            <a:xfrm>
              <a:off x="8955880" y="1129319"/>
              <a:ext cx="2413001" cy="3269969"/>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itle 1">
            <a:extLst>
              <a:ext uri="{FF2B5EF4-FFF2-40B4-BE49-F238E27FC236}">
                <a16:creationId xmlns:a16="http://schemas.microsoft.com/office/drawing/2014/main" id="{3BDAEA9D-3EC4-6260-F203-8124104CA04D}"/>
              </a:ext>
            </a:extLst>
          </p:cNvPr>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GB" dirty="0"/>
              <a:t>Two semilunar valves</a:t>
            </a:r>
          </a:p>
        </p:txBody>
      </p:sp>
    </p:spTree>
    <p:extLst>
      <p:ext uri="{BB962C8B-B14F-4D97-AF65-F5344CB8AC3E}">
        <p14:creationId xmlns:p14="http://schemas.microsoft.com/office/powerpoint/2010/main" val="2379387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Pulmonary Valve - StoryMD">
            <a:extLst>
              <a:ext uri="{FF2B5EF4-FFF2-40B4-BE49-F238E27FC236}">
                <a16:creationId xmlns:a16="http://schemas.microsoft.com/office/drawing/2014/main" id="{175AB541-DB8C-18CA-C02B-2A421C3AA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000125"/>
            <a:ext cx="6096000" cy="485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318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4E7D9-33A8-3FCE-0D3B-65051099A90E}"/>
              </a:ext>
            </a:extLst>
          </p:cNvPr>
          <p:cNvSpPr>
            <a:spLocks noGrp="1"/>
          </p:cNvSpPr>
          <p:nvPr>
            <p:ph type="title"/>
          </p:nvPr>
        </p:nvSpPr>
        <p:spPr/>
        <p:txBody>
          <a:bodyPr/>
          <a:lstStyle/>
          <a:p>
            <a:r>
              <a:rPr lang="en-GB" dirty="0"/>
              <a:t>Mitral / Bicuspid valve</a:t>
            </a:r>
          </a:p>
        </p:txBody>
      </p:sp>
      <p:pic>
        <p:nvPicPr>
          <p:cNvPr id="4" name="Picture 3">
            <a:extLst>
              <a:ext uri="{FF2B5EF4-FFF2-40B4-BE49-F238E27FC236}">
                <a16:creationId xmlns:a16="http://schemas.microsoft.com/office/drawing/2014/main" id="{06046421-F199-931C-4F9E-ACB9B65A24AE}"/>
              </a:ext>
            </a:extLst>
          </p:cNvPr>
          <p:cNvPicPr>
            <a:picLocks noChangeAspect="1"/>
          </p:cNvPicPr>
          <p:nvPr/>
        </p:nvPicPr>
        <p:blipFill rotWithShape="1">
          <a:blip r:embed="rId2"/>
          <a:srcRect l="7578" t="27251" r="77734" b="44999"/>
          <a:stretch/>
        </p:blipFill>
        <p:spPr>
          <a:xfrm>
            <a:off x="638721" y="2409424"/>
            <a:ext cx="5050125" cy="2981726"/>
          </a:xfrm>
          <a:prstGeom prst="rect">
            <a:avLst/>
          </a:prstGeom>
        </p:spPr>
      </p:pic>
      <p:pic>
        <p:nvPicPr>
          <p:cNvPr id="1026" name="Picture 2" descr="Mitre : Hat Guide">
            <a:extLst>
              <a:ext uri="{FF2B5EF4-FFF2-40B4-BE49-F238E27FC236}">
                <a16:creationId xmlns:a16="http://schemas.microsoft.com/office/drawing/2014/main" id="{4EE51DC4-9ADE-3A4B-DA29-5EB632A999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0825" y="1714500"/>
            <a:ext cx="4400550" cy="440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572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heel(1)">
                                      <p:cBhvr>
                                        <p:cTn id="7"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BE513-8668-494F-4DD5-FD943791E3EC}"/>
              </a:ext>
            </a:extLst>
          </p:cNvPr>
          <p:cNvSpPr>
            <a:spLocks noGrp="1"/>
          </p:cNvSpPr>
          <p:nvPr>
            <p:ph type="title"/>
          </p:nvPr>
        </p:nvSpPr>
        <p:spPr/>
        <p:txBody>
          <a:bodyPr/>
          <a:lstStyle/>
          <a:p>
            <a:r>
              <a:rPr lang="en-GB" dirty="0"/>
              <a:t>Tricuspid valve</a:t>
            </a:r>
          </a:p>
        </p:txBody>
      </p:sp>
      <p:pic>
        <p:nvPicPr>
          <p:cNvPr id="4" name="Picture 3">
            <a:extLst>
              <a:ext uri="{FF2B5EF4-FFF2-40B4-BE49-F238E27FC236}">
                <a16:creationId xmlns:a16="http://schemas.microsoft.com/office/drawing/2014/main" id="{D61F4EF3-2A63-C2BA-0471-ADA5B0C1E554}"/>
              </a:ext>
            </a:extLst>
          </p:cNvPr>
          <p:cNvPicPr>
            <a:picLocks noChangeAspect="1"/>
          </p:cNvPicPr>
          <p:nvPr/>
        </p:nvPicPr>
        <p:blipFill rotWithShape="1">
          <a:blip r:embed="rId2"/>
          <a:srcRect l="7344" t="39500" r="80859" b="32250"/>
          <a:stretch/>
        </p:blipFill>
        <p:spPr>
          <a:xfrm>
            <a:off x="1208412" y="2093976"/>
            <a:ext cx="4249414" cy="3180025"/>
          </a:xfrm>
          <a:prstGeom prst="rect">
            <a:avLst/>
          </a:prstGeom>
        </p:spPr>
      </p:pic>
      <p:pic>
        <p:nvPicPr>
          <p:cNvPr id="3074" name="Picture 2">
            <a:extLst>
              <a:ext uri="{FF2B5EF4-FFF2-40B4-BE49-F238E27FC236}">
                <a16:creationId xmlns:a16="http://schemas.microsoft.com/office/drawing/2014/main" id="{E877D7E2-404D-E8D7-1D98-683DD3FC2D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2140" y="2255043"/>
            <a:ext cx="2622035" cy="2347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51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09C02-C80B-E659-6654-DB85B3FFBC8F}"/>
              </a:ext>
            </a:extLst>
          </p:cNvPr>
          <p:cNvSpPr>
            <a:spLocks noGrp="1"/>
          </p:cNvSpPr>
          <p:nvPr>
            <p:ph type="title"/>
          </p:nvPr>
        </p:nvSpPr>
        <p:spPr/>
        <p:txBody>
          <a:bodyPr/>
          <a:lstStyle/>
          <a:p>
            <a:r>
              <a:rPr lang="en-GB" dirty="0"/>
              <a:t>Aortic valve</a:t>
            </a:r>
          </a:p>
        </p:txBody>
      </p:sp>
      <p:pic>
        <p:nvPicPr>
          <p:cNvPr id="4" name="Picture 3">
            <a:extLst>
              <a:ext uri="{FF2B5EF4-FFF2-40B4-BE49-F238E27FC236}">
                <a16:creationId xmlns:a16="http://schemas.microsoft.com/office/drawing/2014/main" id="{CD7F4796-F272-F9B7-8BF3-54190EF2AECB}"/>
              </a:ext>
            </a:extLst>
          </p:cNvPr>
          <p:cNvPicPr>
            <a:picLocks noChangeAspect="1"/>
          </p:cNvPicPr>
          <p:nvPr/>
        </p:nvPicPr>
        <p:blipFill rotWithShape="1">
          <a:blip r:embed="rId3"/>
          <a:srcRect l="18828" t="39932" r="73828" b="38198"/>
          <a:stretch/>
        </p:blipFill>
        <p:spPr>
          <a:xfrm>
            <a:off x="7391400" y="714375"/>
            <a:ext cx="3943350" cy="3714750"/>
          </a:xfrm>
          <a:prstGeom prst="rect">
            <a:avLst/>
          </a:prstGeom>
        </p:spPr>
      </p:pic>
    </p:spTree>
    <p:extLst>
      <p:ext uri="{BB962C8B-B14F-4D97-AF65-F5344CB8AC3E}">
        <p14:creationId xmlns:p14="http://schemas.microsoft.com/office/powerpoint/2010/main" val="2281602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FIG05-01">
            <a:extLst>
              <a:ext uri="{FF2B5EF4-FFF2-40B4-BE49-F238E27FC236}">
                <a16:creationId xmlns:a16="http://schemas.microsoft.com/office/drawing/2014/main" id="{15B67ED3-BCAA-871E-20A3-E3060601E79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39" t="1984" r="3310" b="2513"/>
          <a:stretch/>
        </p:blipFill>
        <p:spPr bwMode="auto">
          <a:xfrm>
            <a:off x="6994318" y="2249714"/>
            <a:ext cx="5179535" cy="4608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284B57EE-C23D-3048-E71E-B6CC73BF3D5A}"/>
              </a:ext>
            </a:extLst>
          </p:cNvPr>
          <p:cNvSpPr txBox="1"/>
          <p:nvPr/>
        </p:nvSpPr>
        <p:spPr>
          <a:xfrm>
            <a:off x="600074" y="585818"/>
            <a:ext cx="9191625" cy="646331"/>
          </a:xfrm>
          <a:prstGeom prst="rect">
            <a:avLst/>
          </a:prstGeom>
          <a:noFill/>
        </p:spPr>
        <p:txBody>
          <a:bodyPr wrap="square">
            <a:spAutoFit/>
          </a:bodyPr>
          <a:lstStyle/>
          <a:p>
            <a:pPr algn="l">
              <a:buFont typeface="Arial" panose="020B0604020202020204" pitchFamily="34" charset="0"/>
              <a:buChar char="•"/>
            </a:pPr>
            <a:r>
              <a:rPr lang="en-GB" b="1" i="0" dirty="0">
                <a:solidFill>
                  <a:srgbClr val="333333"/>
                </a:solidFill>
                <a:effectLst/>
                <a:latin typeface="Open Sans" panose="020B0606030504020204" pitchFamily="34" charset="0"/>
              </a:rPr>
              <a:t>Tricuspid valve. </a:t>
            </a:r>
            <a:r>
              <a:rPr lang="en-GB" b="0" i="0" dirty="0">
                <a:solidFill>
                  <a:srgbClr val="333333"/>
                </a:solidFill>
                <a:effectLst/>
                <a:latin typeface="Open Sans" panose="020B0606030504020204" pitchFamily="34" charset="0"/>
              </a:rPr>
              <a:t>This valve is located between the right atrium and the right ventricle.</a:t>
            </a:r>
          </a:p>
        </p:txBody>
      </p:sp>
      <p:sp>
        <p:nvSpPr>
          <p:cNvPr id="4" name="TextBox 3">
            <a:extLst>
              <a:ext uri="{FF2B5EF4-FFF2-40B4-BE49-F238E27FC236}">
                <a16:creationId xmlns:a16="http://schemas.microsoft.com/office/drawing/2014/main" id="{97B90BC7-4F41-D6C8-4120-193C738D7052}"/>
              </a:ext>
            </a:extLst>
          </p:cNvPr>
          <p:cNvSpPr txBox="1"/>
          <p:nvPr/>
        </p:nvSpPr>
        <p:spPr>
          <a:xfrm>
            <a:off x="574675" y="1875398"/>
            <a:ext cx="9191625" cy="646331"/>
          </a:xfrm>
          <a:prstGeom prst="rect">
            <a:avLst/>
          </a:prstGeom>
          <a:noFill/>
        </p:spPr>
        <p:txBody>
          <a:bodyPr wrap="square">
            <a:spAutoFit/>
          </a:bodyPr>
          <a:lstStyle/>
          <a:p>
            <a:pPr algn="l">
              <a:buFont typeface="Arial" panose="020B0604020202020204" pitchFamily="34" charset="0"/>
              <a:buChar char="•"/>
            </a:pPr>
            <a:r>
              <a:rPr lang="en-GB" b="1" i="0" dirty="0">
                <a:solidFill>
                  <a:srgbClr val="333333"/>
                </a:solidFill>
                <a:effectLst/>
                <a:latin typeface="Open Sans" panose="020B0606030504020204" pitchFamily="34" charset="0"/>
              </a:rPr>
              <a:t>Pulmonary valve. </a:t>
            </a:r>
            <a:r>
              <a:rPr lang="en-GB" b="0" i="0" dirty="0">
                <a:solidFill>
                  <a:srgbClr val="333333"/>
                </a:solidFill>
                <a:effectLst/>
                <a:latin typeface="Open Sans" panose="020B0606030504020204" pitchFamily="34" charset="0"/>
              </a:rPr>
              <a:t>The pulmonary valve is located between the right ventricle and the pulmonary artery.</a:t>
            </a:r>
          </a:p>
        </p:txBody>
      </p:sp>
      <p:sp>
        <p:nvSpPr>
          <p:cNvPr id="6" name="TextBox 5">
            <a:extLst>
              <a:ext uri="{FF2B5EF4-FFF2-40B4-BE49-F238E27FC236}">
                <a16:creationId xmlns:a16="http://schemas.microsoft.com/office/drawing/2014/main" id="{369F8421-4356-735C-751A-818B366A859B}"/>
              </a:ext>
            </a:extLst>
          </p:cNvPr>
          <p:cNvSpPr txBox="1"/>
          <p:nvPr/>
        </p:nvSpPr>
        <p:spPr>
          <a:xfrm>
            <a:off x="600074" y="3212664"/>
            <a:ext cx="6096000" cy="646331"/>
          </a:xfrm>
          <a:prstGeom prst="rect">
            <a:avLst/>
          </a:prstGeom>
          <a:noFill/>
        </p:spPr>
        <p:txBody>
          <a:bodyPr wrap="square">
            <a:spAutoFit/>
          </a:bodyPr>
          <a:lstStyle/>
          <a:p>
            <a:pPr algn="l">
              <a:buFont typeface="Arial" panose="020B0604020202020204" pitchFamily="34" charset="0"/>
              <a:buChar char="•"/>
            </a:pPr>
            <a:r>
              <a:rPr lang="en-GB" b="1" i="0" dirty="0">
                <a:solidFill>
                  <a:srgbClr val="333333"/>
                </a:solidFill>
                <a:effectLst/>
                <a:latin typeface="Open Sans" panose="020B0606030504020204" pitchFamily="34" charset="0"/>
              </a:rPr>
              <a:t>Mitral valve.</a:t>
            </a:r>
            <a:r>
              <a:rPr lang="en-GB" b="0" i="0" dirty="0">
                <a:solidFill>
                  <a:srgbClr val="333333"/>
                </a:solidFill>
                <a:effectLst/>
                <a:latin typeface="Open Sans" panose="020B0606030504020204" pitchFamily="34" charset="0"/>
              </a:rPr>
              <a:t> This valve is located between the left atrium and the left ventricle. It has only 2 leaflets.</a:t>
            </a:r>
          </a:p>
        </p:txBody>
      </p:sp>
      <p:sp>
        <p:nvSpPr>
          <p:cNvPr id="8" name="TextBox 7">
            <a:extLst>
              <a:ext uri="{FF2B5EF4-FFF2-40B4-BE49-F238E27FC236}">
                <a16:creationId xmlns:a16="http://schemas.microsoft.com/office/drawing/2014/main" id="{5A8ADF5D-C943-DC7E-637D-5E2E94FE894F}"/>
              </a:ext>
            </a:extLst>
          </p:cNvPr>
          <p:cNvSpPr txBox="1"/>
          <p:nvPr/>
        </p:nvSpPr>
        <p:spPr>
          <a:xfrm>
            <a:off x="600074" y="4469964"/>
            <a:ext cx="6096000" cy="646331"/>
          </a:xfrm>
          <a:prstGeom prst="rect">
            <a:avLst/>
          </a:prstGeom>
          <a:noFill/>
        </p:spPr>
        <p:txBody>
          <a:bodyPr wrap="square">
            <a:spAutoFit/>
          </a:bodyPr>
          <a:lstStyle/>
          <a:p>
            <a:pPr algn="l">
              <a:buFont typeface="Arial" panose="020B0604020202020204" pitchFamily="34" charset="0"/>
              <a:buChar char="•"/>
            </a:pPr>
            <a:r>
              <a:rPr lang="en-GB" b="1" i="0" dirty="0">
                <a:solidFill>
                  <a:srgbClr val="333333"/>
                </a:solidFill>
                <a:effectLst/>
                <a:latin typeface="Open Sans" panose="020B0606030504020204" pitchFamily="34" charset="0"/>
              </a:rPr>
              <a:t>Aortic valve.</a:t>
            </a:r>
            <a:r>
              <a:rPr lang="en-GB" b="0" i="0" dirty="0">
                <a:solidFill>
                  <a:srgbClr val="333333"/>
                </a:solidFill>
                <a:effectLst/>
                <a:latin typeface="Open Sans" panose="020B0606030504020204" pitchFamily="34" charset="0"/>
              </a:rPr>
              <a:t> The aortic valve is located between the left ventricle and the aorta.</a:t>
            </a:r>
          </a:p>
        </p:txBody>
      </p:sp>
    </p:spTree>
    <p:extLst>
      <p:ext uri="{BB962C8B-B14F-4D97-AF65-F5344CB8AC3E}">
        <p14:creationId xmlns:p14="http://schemas.microsoft.com/office/powerpoint/2010/main" val="724047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descr="Image result for myocardium">
            <a:extLst>
              <a:ext uri="{FF2B5EF4-FFF2-40B4-BE49-F238E27FC236}">
                <a16:creationId xmlns:a16="http://schemas.microsoft.com/office/drawing/2014/main" id="{31CE332E-8501-9A03-6650-0584CD954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1226" y="1243545"/>
            <a:ext cx="8649548" cy="5095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4B6D8936-78F3-393D-A382-DDF6860EE608}"/>
              </a:ext>
            </a:extLst>
          </p:cNvPr>
          <p:cNvSpPr txBox="1">
            <a:spLocks/>
          </p:cNvSpPr>
          <p:nvPr/>
        </p:nvSpPr>
        <p:spPr>
          <a:xfrm>
            <a:off x="2648374" y="275772"/>
            <a:ext cx="7772400" cy="1143000"/>
          </a:xfrm>
          <a:prstGeom prst="rect">
            <a:avLst/>
          </a:prstGeom>
        </p:spPr>
        <p:txBody>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ltLang="en-US" dirty="0"/>
              <a:t>Heart layers</a:t>
            </a:r>
          </a:p>
        </p:txBody>
      </p:sp>
      <p:pic>
        <p:nvPicPr>
          <p:cNvPr id="3" name="Picture 4" descr="Image result for myocardium">
            <a:extLst>
              <a:ext uri="{FF2B5EF4-FFF2-40B4-BE49-F238E27FC236}">
                <a16:creationId xmlns:a16="http://schemas.microsoft.com/office/drawing/2014/main" id="{33CA5035-93C3-C582-3578-A0C0F7C4A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3626" y="1395945"/>
            <a:ext cx="8649548" cy="5095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6068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B6D8936-78F3-393D-A382-DDF6860EE608}"/>
              </a:ext>
            </a:extLst>
          </p:cNvPr>
          <p:cNvSpPr txBox="1">
            <a:spLocks/>
          </p:cNvSpPr>
          <p:nvPr/>
        </p:nvSpPr>
        <p:spPr>
          <a:xfrm>
            <a:off x="2648374" y="275772"/>
            <a:ext cx="7772400" cy="1143000"/>
          </a:xfrm>
          <a:prstGeom prst="rect">
            <a:avLst/>
          </a:prstGeom>
        </p:spPr>
        <p:txBody>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ltLang="en-US" dirty="0"/>
              <a:t>Heart layers</a:t>
            </a:r>
          </a:p>
        </p:txBody>
      </p:sp>
      <p:pic>
        <p:nvPicPr>
          <p:cNvPr id="3" name="Picture 4" descr="Image result for myocardium">
            <a:extLst>
              <a:ext uri="{FF2B5EF4-FFF2-40B4-BE49-F238E27FC236}">
                <a16:creationId xmlns:a16="http://schemas.microsoft.com/office/drawing/2014/main" id="{33CA5035-93C3-C582-3578-A0C0F7C4AE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4792" y="2335861"/>
            <a:ext cx="5194462" cy="3059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95833B0B-423B-74AE-224A-13329EE87497}"/>
              </a:ext>
            </a:extLst>
          </p:cNvPr>
          <p:cNvSpPr txBox="1"/>
          <p:nvPr/>
        </p:nvSpPr>
        <p:spPr>
          <a:xfrm>
            <a:off x="288792" y="2348814"/>
            <a:ext cx="6096000" cy="3046988"/>
          </a:xfrm>
          <a:prstGeom prst="rect">
            <a:avLst/>
          </a:prstGeom>
          <a:noFill/>
        </p:spPr>
        <p:txBody>
          <a:bodyPr wrap="square">
            <a:spAutoFit/>
          </a:bodyPr>
          <a:lstStyle/>
          <a:p>
            <a:r>
              <a:rPr lang="en-GB" sz="2400" b="0" i="0" dirty="0">
                <a:solidFill>
                  <a:srgbClr val="202122"/>
                </a:solidFill>
                <a:effectLst/>
                <a:latin typeface="Rockwell" panose="02060603020205020403" pitchFamily="18" charset="0"/>
              </a:rPr>
              <a:t>Epicardium = visceral pericardium</a:t>
            </a:r>
          </a:p>
          <a:p>
            <a:endParaRPr lang="en-GB" sz="2400" dirty="0">
              <a:solidFill>
                <a:srgbClr val="202122"/>
              </a:solidFill>
              <a:latin typeface="Rockwell" panose="02060603020205020403" pitchFamily="18" charset="0"/>
            </a:endParaRPr>
          </a:p>
          <a:p>
            <a:r>
              <a:rPr lang="en-GB" sz="2400" dirty="0">
                <a:solidFill>
                  <a:srgbClr val="202122"/>
                </a:solidFill>
                <a:latin typeface="Rockwell" panose="02060603020205020403" pitchFamily="18" charset="0"/>
              </a:rPr>
              <a:t>Endocardium  composed of connective tissues layers</a:t>
            </a:r>
          </a:p>
          <a:p>
            <a:endParaRPr lang="en-GB" sz="2400" dirty="0">
              <a:solidFill>
                <a:srgbClr val="202122"/>
              </a:solidFill>
              <a:latin typeface="Rockwell" panose="02060603020205020403" pitchFamily="18" charset="0"/>
            </a:endParaRPr>
          </a:p>
          <a:p>
            <a:r>
              <a:rPr lang="en-GB" sz="2400" dirty="0" err="1">
                <a:solidFill>
                  <a:srgbClr val="202122"/>
                </a:solidFill>
                <a:latin typeface="Rockwell" panose="02060603020205020403" pitchFamily="18" charset="0"/>
              </a:rPr>
              <a:t>Subendocardium</a:t>
            </a:r>
            <a:r>
              <a:rPr lang="en-GB" sz="2400" dirty="0">
                <a:solidFill>
                  <a:srgbClr val="202122"/>
                </a:solidFill>
                <a:latin typeface="Rockwell" panose="02060603020205020403" pitchFamily="18" charset="0"/>
              </a:rPr>
              <a:t> lies between the myocardium and the endocardium and contains the conduction system.</a:t>
            </a:r>
            <a:endParaRPr lang="en-GB" sz="2400" dirty="0">
              <a:latin typeface="Rockwell" panose="02060603020205020403" pitchFamily="18" charset="0"/>
            </a:endParaRPr>
          </a:p>
        </p:txBody>
      </p:sp>
    </p:spTree>
    <p:extLst>
      <p:ext uri="{BB962C8B-B14F-4D97-AF65-F5344CB8AC3E}">
        <p14:creationId xmlns:p14="http://schemas.microsoft.com/office/powerpoint/2010/main" val="922610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9AA5209-9B31-8AED-64CE-2CEE33C56F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800" y="159654"/>
            <a:ext cx="5900926" cy="5834746"/>
          </a:xfrm>
          <a:prstGeom prst="rect">
            <a:avLst/>
          </a:prstGeom>
          <a:noFill/>
          <a:extLst>
            <a:ext uri="{909E8E84-426E-40DD-AFC4-6F175D3DCCD1}">
              <a14:hiddenFill xmlns:a14="http://schemas.microsoft.com/office/drawing/2010/main">
                <a:solidFill>
                  <a:srgbClr val="FFFFFF"/>
                </a:solidFill>
              </a14:hiddenFill>
            </a:ext>
          </a:extLst>
        </p:spPr>
      </p:pic>
      <p:sp>
        <p:nvSpPr>
          <p:cNvPr id="36866" name="Rectangle 2">
            <a:extLst>
              <a:ext uri="{FF2B5EF4-FFF2-40B4-BE49-F238E27FC236}">
                <a16:creationId xmlns:a16="http://schemas.microsoft.com/office/drawing/2014/main" id="{0DB23B8F-987A-DDDB-D78A-8098F7DFCC61}"/>
              </a:ext>
            </a:extLst>
          </p:cNvPr>
          <p:cNvSpPr>
            <a:spLocks noGrp="1"/>
          </p:cNvSpPr>
          <p:nvPr>
            <p:ph type="title"/>
          </p:nvPr>
        </p:nvSpPr>
        <p:spPr>
          <a:xfrm>
            <a:off x="508001" y="1136651"/>
            <a:ext cx="4579938" cy="1635578"/>
          </a:xfrm>
        </p:spPr>
        <p:txBody>
          <a:bodyPr>
            <a:noAutofit/>
          </a:bodyPr>
          <a:lstStyle/>
          <a:p>
            <a:pPr eaLnBrk="1" hangingPunct="1"/>
            <a:r>
              <a:rPr lang="en-GB" altLang="en-US" sz="4000" dirty="0"/>
              <a:t>Arrangement of myocardial bundles in the heart.</a:t>
            </a:r>
          </a:p>
        </p:txBody>
      </p:sp>
      <p:sp>
        <p:nvSpPr>
          <p:cNvPr id="3" name="TextBox 2">
            <a:extLst>
              <a:ext uri="{FF2B5EF4-FFF2-40B4-BE49-F238E27FC236}">
                <a16:creationId xmlns:a16="http://schemas.microsoft.com/office/drawing/2014/main" id="{ACE3ACC1-3A59-03DA-5600-F3EFBEF2AAD7}"/>
              </a:ext>
            </a:extLst>
          </p:cNvPr>
          <p:cNvSpPr txBox="1"/>
          <p:nvPr/>
        </p:nvSpPr>
        <p:spPr>
          <a:xfrm>
            <a:off x="508001" y="5380334"/>
            <a:ext cx="6096000" cy="1200329"/>
          </a:xfrm>
          <a:prstGeom prst="rect">
            <a:avLst/>
          </a:prstGeom>
          <a:noFill/>
        </p:spPr>
        <p:txBody>
          <a:bodyPr wrap="square">
            <a:spAutoFit/>
          </a:bodyPr>
          <a:lstStyle/>
          <a:p>
            <a:r>
              <a:rPr lang="en-GB" sz="2400" b="0" i="0" dirty="0">
                <a:solidFill>
                  <a:srgbClr val="202122"/>
                </a:solidFill>
                <a:effectLst/>
                <a:latin typeface="Rockwell" panose="02060603020205020403" pitchFamily="18" charset="0"/>
              </a:rPr>
              <a:t>Ventricular muscle is thick relative to the thinner Atrial muscle, allowing more forceful contraction.</a:t>
            </a:r>
            <a:endParaRPr lang="en-GB" sz="2400" dirty="0">
              <a:latin typeface="Rockwell" panose="02060603020205020403" pitchFamily="18" charset="0"/>
            </a:endParaRPr>
          </a:p>
        </p:txBody>
      </p:sp>
    </p:spTree>
    <p:extLst>
      <p:ext uri="{BB962C8B-B14F-4D97-AF65-F5344CB8AC3E}">
        <p14:creationId xmlns:p14="http://schemas.microsoft.com/office/powerpoint/2010/main" val="10146662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B6D8936-78F3-393D-A382-DDF6860EE608}"/>
              </a:ext>
            </a:extLst>
          </p:cNvPr>
          <p:cNvSpPr txBox="1">
            <a:spLocks/>
          </p:cNvSpPr>
          <p:nvPr/>
        </p:nvSpPr>
        <p:spPr>
          <a:xfrm>
            <a:off x="2648374" y="275772"/>
            <a:ext cx="7772400" cy="1143000"/>
          </a:xfrm>
          <a:prstGeom prst="rect">
            <a:avLst/>
          </a:prstGeom>
        </p:spPr>
        <p:txBody>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ltLang="en-US" dirty="0"/>
              <a:t>Pericardium</a:t>
            </a:r>
          </a:p>
        </p:txBody>
      </p:sp>
      <p:pic>
        <p:nvPicPr>
          <p:cNvPr id="9218" name="Picture 2" descr="Patient education: Pericarditis (Beyond the Basics) - UpToDate">
            <a:extLst>
              <a:ext uri="{FF2B5EF4-FFF2-40B4-BE49-F238E27FC236}">
                <a16:creationId xmlns:a16="http://schemas.microsoft.com/office/drawing/2014/main" id="{E3EBB9BB-F630-5FEA-0986-BA96D8C8BF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6743" y="1418772"/>
            <a:ext cx="3846285" cy="39681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868D8DC-5644-64C8-C94A-463462579F15}"/>
              </a:ext>
            </a:extLst>
          </p:cNvPr>
          <p:cNvSpPr txBox="1"/>
          <p:nvPr/>
        </p:nvSpPr>
        <p:spPr>
          <a:xfrm>
            <a:off x="631372" y="1243872"/>
            <a:ext cx="7387771" cy="5381025"/>
          </a:xfrm>
          <a:prstGeom prst="rect">
            <a:avLst/>
          </a:prstGeom>
          <a:noFill/>
        </p:spPr>
        <p:txBody>
          <a:bodyPr wrap="square" rtlCol="0">
            <a:spAutoFit/>
          </a:bodyPr>
          <a:lstStyle/>
          <a:p>
            <a:pPr>
              <a:lnSpc>
                <a:spcPct val="150000"/>
              </a:lnSpc>
            </a:pPr>
            <a:r>
              <a:rPr lang="en-GB" sz="2400" dirty="0"/>
              <a:t>Double layered and fluid filled sack.</a:t>
            </a:r>
          </a:p>
          <a:p>
            <a:pPr lvl="1">
              <a:lnSpc>
                <a:spcPct val="150000"/>
              </a:lnSpc>
            </a:pPr>
            <a:r>
              <a:rPr lang="en-GB" sz="2400" dirty="0"/>
              <a:t>Outer parietal pericardium</a:t>
            </a:r>
          </a:p>
          <a:p>
            <a:pPr lvl="1">
              <a:lnSpc>
                <a:spcPct val="150000"/>
              </a:lnSpc>
            </a:pPr>
            <a:r>
              <a:rPr lang="en-GB" sz="2400" dirty="0"/>
              <a:t>Inner visceral pericardium</a:t>
            </a:r>
          </a:p>
          <a:p>
            <a:endParaRPr lang="en-GB" sz="2400" dirty="0"/>
          </a:p>
          <a:p>
            <a:pPr>
              <a:lnSpc>
                <a:spcPct val="150000"/>
              </a:lnSpc>
            </a:pPr>
            <a:r>
              <a:rPr lang="en-GB" sz="2400" dirty="0"/>
              <a:t>Role: </a:t>
            </a:r>
          </a:p>
          <a:p>
            <a:pPr marL="342900" indent="-342900">
              <a:lnSpc>
                <a:spcPct val="150000"/>
              </a:lnSpc>
              <a:buFont typeface="Arial" panose="020B0604020202020204" pitchFamily="34" charset="0"/>
              <a:buChar char="•"/>
            </a:pPr>
            <a:r>
              <a:rPr lang="en-GB" sz="2400" dirty="0"/>
              <a:t>Impact reduction</a:t>
            </a:r>
          </a:p>
          <a:p>
            <a:pPr marL="342900" indent="-342900">
              <a:lnSpc>
                <a:spcPct val="150000"/>
              </a:lnSpc>
              <a:buFont typeface="Arial" panose="020B0604020202020204" pitchFamily="34" charset="0"/>
              <a:buChar char="•"/>
            </a:pPr>
            <a:r>
              <a:rPr lang="en-GB" sz="2400" dirty="0"/>
              <a:t>Prevention of over expansion and fluid volume</a:t>
            </a:r>
          </a:p>
          <a:p>
            <a:pPr marL="342900" indent="-342900">
              <a:lnSpc>
                <a:spcPct val="150000"/>
              </a:lnSpc>
              <a:buFont typeface="Arial" panose="020B0604020202020204" pitchFamily="34" charset="0"/>
              <a:buChar char="•"/>
            </a:pPr>
            <a:r>
              <a:rPr lang="en-GB" sz="2400" dirty="0"/>
              <a:t>Immuno-enhancing</a:t>
            </a:r>
          </a:p>
          <a:p>
            <a:pPr marL="342900" indent="-342900">
              <a:lnSpc>
                <a:spcPct val="150000"/>
              </a:lnSpc>
              <a:buFont typeface="Arial" panose="020B0604020202020204" pitchFamily="34" charset="0"/>
              <a:buChar char="•"/>
            </a:pPr>
            <a:r>
              <a:rPr lang="en-GB" sz="2400" dirty="0"/>
              <a:t>Reduces friction via lubrication relative to adjacent tissues.</a:t>
            </a:r>
          </a:p>
        </p:txBody>
      </p:sp>
    </p:spTree>
    <p:extLst>
      <p:ext uri="{BB962C8B-B14F-4D97-AF65-F5344CB8AC3E}">
        <p14:creationId xmlns:p14="http://schemas.microsoft.com/office/powerpoint/2010/main" val="468411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AE62591-92A0-8DF0-D9C3-A47DE9A3DFD1}"/>
              </a:ext>
            </a:extLst>
          </p:cNvPr>
          <p:cNvSpPr>
            <a:spLocks noGrp="1" noChangeArrowheads="1"/>
          </p:cNvSpPr>
          <p:nvPr>
            <p:ph type="title"/>
          </p:nvPr>
        </p:nvSpPr>
        <p:spPr>
          <a:xfrm>
            <a:off x="8200102" y="1432223"/>
            <a:ext cx="2818417" cy="3357976"/>
          </a:xfrm>
        </p:spPr>
        <p:txBody>
          <a:bodyPr vert="horz" lIns="91440" tIns="45720" rIns="91440" bIns="45720" rtlCol="0" anchor="ctr">
            <a:normAutofit/>
          </a:bodyPr>
          <a:lstStyle/>
          <a:p>
            <a:pPr>
              <a:lnSpc>
                <a:spcPct val="80000"/>
              </a:lnSpc>
              <a:defRPr/>
            </a:pPr>
            <a:r>
              <a:rPr lang="en-US" sz="4200">
                <a:blipFill dpi="0" rotWithShape="1">
                  <a:blip r:embed="rId3"/>
                  <a:srcRect/>
                  <a:tile tx="6350" ty="-127000" sx="65000" sy="64000" flip="none" algn="tl"/>
                </a:blipFill>
              </a:rPr>
              <a:t>Coronary Circulation: </a:t>
            </a:r>
            <a:r>
              <a:rPr lang="en-US" sz="4200">
                <a:blipFill dpi="0" rotWithShape="1">
                  <a:blip r:embed="rId3"/>
                  <a:srcRect/>
                  <a:tile tx="6350" ty="-127000" sx="65000" sy="64000" flip="none" algn="tl"/>
                </a:blipFill>
                <a:effectLst>
                  <a:outerShdw blurRad="38100" dist="38100" dir="2700000" algn="tl">
                    <a:srgbClr val="000000">
                      <a:alpha val="43137"/>
                    </a:srgbClr>
                  </a:outerShdw>
                </a:effectLst>
              </a:rPr>
              <a:t>Arterial</a:t>
            </a:r>
            <a:r>
              <a:rPr lang="en-US" sz="4200">
                <a:blipFill dpi="0" rotWithShape="1">
                  <a:blip r:embed="rId3"/>
                  <a:srcRect/>
                  <a:tile tx="6350" ty="-127000" sx="65000" sy="64000" flip="none" algn="tl"/>
                </a:blipFill>
              </a:rPr>
              <a:t> </a:t>
            </a:r>
            <a:r>
              <a:rPr lang="en-US" sz="4200">
                <a:blipFill dpi="0" rotWithShape="1">
                  <a:blip r:embed="rId3"/>
                  <a:srcRect/>
                  <a:tile tx="6350" ty="-127000" sx="65000" sy="64000" flip="none" algn="tl"/>
                </a:blipFill>
                <a:effectLst>
                  <a:outerShdw blurRad="38100" dist="38100" dir="2700000" algn="tl">
                    <a:srgbClr val="000000">
                      <a:alpha val="43137"/>
                    </a:srgbClr>
                  </a:outerShdw>
                </a:effectLst>
              </a:rPr>
              <a:t>Supply</a:t>
            </a:r>
          </a:p>
        </p:txBody>
      </p:sp>
      <p:sp>
        <p:nvSpPr>
          <p:cNvPr id="2" name="TextBox 1">
            <a:extLst>
              <a:ext uri="{FF2B5EF4-FFF2-40B4-BE49-F238E27FC236}">
                <a16:creationId xmlns:a16="http://schemas.microsoft.com/office/drawing/2014/main" id="{5F5DCCF1-8BBB-D7EA-EA30-1DF94F797D7E}"/>
              </a:ext>
            </a:extLst>
          </p:cNvPr>
          <p:cNvSpPr txBox="1"/>
          <p:nvPr/>
        </p:nvSpPr>
        <p:spPr>
          <a:xfrm>
            <a:off x="741656" y="5840135"/>
            <a:ext cx="8797174" cy="830997"/>
          </a:xfrm>
          <a:prstGeom prst="rect">
            <a:avLst/>
          </a:prstGeom>
          <a:noFill/>
        </p:spPr>
        <p:txBody>
          <a:bodyPr wrap="square" rtlCol="0">
            <a:spAutoFit/>
          </a:bodyPr>
          <a:lstStyle/>
          <a:p>
            <a:r>
              <a:rPr lang="en-GB" sz="2400" dirty="0"/>
              <a:t>Branching off the lower Aorta, these vessels supply the heart which has the highest oxygen requirement of any tissue.</a:t>
            </a:r>
          </a:p>
        </p:txBody>
      </p:sp>
      <p:pic>
        <p:nvPicPr>
          <p:cNvPr id="4" name="Picture 2" descr="Intraoperative Imaging Of The Coronary Arteries And Related Anomalies -  Congenital Cardiac Anesthesia Society">
            <a:extLst>
              <a:ext uri="{FF2B5EF4-FFF2-40B4-BE49-F238E27FC236}">
                <a16:creationId xmlns:a16="http://schemas.microsoft.com/office/drawing/2014/main" id="{9FB36BF0-FA62-577C-39A3-7278C14B48C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90684" y="1394431"/>
            <a:ext cx="6470230" cy="40115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AE62591-92A0-8DF0-D9C3-A47DE9A3DFD1}"/>
              </a:ext>
            </a:extLst>
          </p:cNvPr>
          <p:cNvSpPr>
            <a:spLocks noGrp="1" noChangeArrowheads="1"/>
          </p:cNvSpPr>
          <p:nvPr>
            <p:ph type="title"/>
          </p:nvPr>
        </p:nvSpPr>
        <p:spPr>
          <a:xfrm>
            <a:off x="8200102" y="1432223"/>
            <a:ext cx="2818417" cy="3357976"/>
          </a:xfrm>
        </p:spPr>
        <p:txBody>
          <a:bodyPr vert="horz" lIns="91440" tIns="45720" rIns="91440" bIns="45720" rtlCol="0" anchor="ctr">
            <a:normAutofit/>
          </a:bodyPr>
          <a:lstStyle/>
          <a:p>
            <a:pPr>
              <a:lnSpc>
                <a:spcPct val="80000"/>
              </a:lnSpc>
              <a:defRPr/>
            </a:pPr>
            <a:r>
              <a:rPr lang="en-US" sz="4200">
                <a:blipFill dpi="0" rotWithShape="1">
                  <a:blip r:embed="rId3"/>
                  <a:srcRect/>
                  <a:tile tx="6350" ty="-127000" sx="65000" sy="64000" flip="none" algn="tl"/>
                </a:blipFill>
              </a:rPr>
              <a:t>Coronary Circulation: </a:t>
            </a:r>
            <a:r>
              <a:rPr lang="en-US" sz="4200">
                <a:blipFill dpi="0" rotWithShape="1">
                  <a:blip r:embed="rId3"/>
                  <a:srcRect/>
                  <a:tile tx="6350" ty="-127000" sx="65000" sy="64000" flip="none" algn="tl"/>
                </a:blipFill>
                <a:effectLst>
                  <a:outerShdw blurRad="38100" dist="38100" dir="2700000" algn="tl">
                    <a:srgbClr val="000000">
                      <a:alpha val="43137"/>
                    </a:srgbClr>
                  </a:outerShdw>
                </a:effectLst>
              </a:rPr>
              <a:t>Arterial</a:t>
            </a:r>
            <a:r>
              <a:rPr lang="en-US" sz="4200">
                <a:blipFill dpi="0" rotWithShape="1">
                  <a:blip r:embed="rId3"/>
                  <a:srcRect/>
                  <a:tile tx="6350" ty="-127000" sx="65000" sy="64000" flip="none" algn="tl"/>
                </a:blipFill>
              </a:rPr>
              <a:t> </a:t>
            </a:r>
            <a:r>
              <a:rPr lang="en-US" sz="4200">
                <a:blipFill dpi="0" rotWithShape="1">
                  <a:blip r:embed="rId3"/>
                  <a:srcRect/>
                  <a:tile tx="6350" ty="-127000" sx="65000" sy="64000" flip="none" algn="tl"/>
                </a:blipFill>
                <a:effectLst>
                  <a:outerShdw blurRad="38100" dist="38100" dir="2700000" algn="tl">
                    <a:srgbClr val="000000">
                      <a:alpha val="43137"/>
                    </a:srgbClr>
                  </a:outerShdw>
                </a:effectLst>
              </a:rPr>
              <a:t>Supply</a:t>
            </a:r>
          </a:p>
        </p:txBody>
      </p:sp>
      <p:pic>
        <p:nvPicPr>
          <p:cNvPr id="12290" name="Picture 2" descr="Intraoperative Imaging Of The Coronary Arteries And Related Anomalies -  Congenital Cardiac Anesthesia Society">
            <a:extLst>
              <a:ext uri="{FF2B5EF4-FFF2-40B4-BE49-F238E27FC236}">
                <a16:creationId xmlns:a16="http://schemas.microsoft.com/office/drawing/2014/main" id="{DC224949-2F65-1259-5E78-42673790CA4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313312" y="378431"/>
            <a:ext cx="3286231" cy="20374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E55E51C-3335-B8BF-8D91-88D1077D2AA5}"/>
              </a:ext>
            </a:extLst>
          </p:cNvPr>
          <p:cNvSpPr txBox="1"/>
          <p:nvPr/>
        </p:nvSpPr>
        <p:spPr>
          <a:xfrm>
            <a:off x="313312" y="3570514"/>
            <a:ext cx="11211031" cy="2954655"/>
          </a:xfrm>
          <a:prstGeom prst="rect">
            <a:avLst/>
          </a:prstGeom>
          <a:noFill/>
        </p:spPr>
        <p:txBody>
          <a:bodyPr wrap="square" rtlCol="0">
            <a:spAutoFit/>
          </a:bodyPr>
          <a:lstStyle/>
          <a:p>
            <a:pPr marL="342900" indent="-342900">
              <a:buFont typeface="Arial" panose="020B0604020202020204" pitchFamily="34" charset="0"/>
              <a:buChar char="•"/>
            </a:pPr>
            <a:r>
              <a:rPr lang="en-GB" sz="2400" dirty="0"/>
              <a:t>Left and right coronary arteries</a:t>
            </a:r>
          </a:p>
          <a:p>
            <a:endParaRPr lang="en-GB" sz="2400" dirty="0"/>
          </a:p>
          <a:p>
            <a:pPr marL="342900" indent="-342900">
              <a:buFont typeface="Arial" panose="020B0604020202020204" pitchFamily="34" charset="0"/>
              <a:buChar char="•"/>
            </a:pPr>
            <a:r>
              <a:rPr lang="en-GB" sz="2400" dirty="0"/>
              <a:t>Circumflex artery – supplies posterior heart</a:t>
            </a:r>
          </a:p>
          <a:p>
            <a:endParaRPr lang="en-GB" sz="2400" dirty="0"/>
          </a:p>
          <a:p>
            <a:pPr marL="342900" indent="-342900">
              <a:buFont typeface="Arial" panose="020B0604020202020204" pitchFamily="34" charset="0"/>
              <a:buChar char="•"/>
            </a:pPr>
            <a:r>
              <a:rPr lang="en-GB" sz="2400" dirty="0"/>
              <a:t>Left anterior descending artery – supplies anterior heart</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dirty="0"/>
              <a:t>Smaller branches include: acute marginal, posterior descending, obtuse marginal and diagonals.</a:t>
            </a:r>
          </a:p>
          <a:p>
            <a:pPr marL="342900" indent="-342900">
              <a:buFont typeface="Arial" panose="020B0604020202020204" pitchFamily="34" charset="0"/>
              <a:buChar char="•"/>
            </a:pPr>
            <a:endParaRPr lang="en-GB" sz="2400" dirty="0"/>
          </a:p>
        </p:txBody>
      </p:sp>
    </p:spTree>
    <p:extLst>
      <p:ext uri="{BB962C8B-B14F-4D97-AF65-F5344CB8AC3E}">
        <p14:creationId xmlns:p14="http://schemas.microsoft.com/office/powerpoint/2010/main" val="412825230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ediastinum and Great Vessels: Anatomy | Concise Medical Knowledge">
            <a:extLst>
              <a:ext uri="{FF2B5EF4-FFF2-40B4-BE49-F238E27FC236}">
                <a16:creationId xmlns:a16="http://schemas.microsoft.com/office/drawing/2014/main" id="{D56EE174-186D-DD34-1048-E698D9B40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7960" y="0"/>
            <a:ext cx="821848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BD41B29-E497-2E36-7BAA-302ADA8E8EFF}"/>
              </a:ext>
            </a:extLst>
          </p:cNvPr>
          <p:cNvSpPr>
            <a:spLocks noGrp="1"/>
          </p:cNvSpPr>
          <p:nvPr>
            <p:ph type="title"/>
          </p:nvPr>
        </p:nvSpPr>
        <p:spPr/>
        <p:txBody>
          <a:bodyPr/>
          <a:lstStyle/>
          <a:p>
            <a:r>
              <a:rPr lang="en-GB" dirty="0"/>
              <a:t>Mediastinum</a:t>
            </a:r>
          </a:p>
        </p:txBody>
      </p:sp>
      <p:sp>
        <p:nvSpPr>
          <p:cNvPr id="3" name="TextBox 2">
            <a:extLst>
              <a:ext uri="{FF2B5EF4-FFF2-40B4-BE49-F238E27FC236}">
                <a16:creationId xmlns:a16="http://schemas.microsoft.com/office/drawing/2014/main" id="{DC6C973A-B70D-3E69-3434-1EBB871051FE}"/>
              </a:ext>
            </a:extLst>
          </p:cNvPr>
          <p:cNvSpPr txBox="1"/>
          <p:nvPr/>
        </p:nvSpPr>
        <p:spPr>
          <a:xfrm>
            <a:off x="333828" y="2409371"/>
            <a:ext cx="3875315" cy="2308324"/>
          </a:xfrm>
          <a:prstGeom prst="rect">
            <a:avLst/>
          </a:prstGeom>
          <a:noFill/>
        </p:spPr>
        <p:txBody>
          <a:bodyPr wrap="square" rtlCol="0">
            <a:spAutoFit/>
          </a:bodyPr>
          <a:lstStyle/>
          <a:p>
            <a:r>
              <a:rPr lang="en-GB" sz="2400" dirty="0"/>
              <a:t>Chest space holding heart and several significant structures</a:t>
            </a:r>
          </a:p>
          <a:p>
            <a:r>
              <a:rPr lang="en-GB" sz="2400" dirty="0"/>
              <a:t>Located mid thoracic between left and right plural  cavities</a:t>
            </a:r>
          </a:p>
        </p:txBody>
      </p:sp>
    </p:spTree>
    <p:extLst>
      <p:ext uri="{BB962C8B-B14F-4D97-AF65-F5344CB8AC3E}">
        <p14:creationId xmlns:p14="http://schemas.microsoft.com/office/powerpoint/2010/main" val="23222423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Mediastinum and Great Vessels: Anatomy | Concise Medical Knowledge">
            <a:extLst>
              <a:ext uri="{FF2B5EF4-FFF2-40B4-BE49-F238E27FC236}">
                <a16:creationId xmlns:a16="http://schemas.microsoft.com/office/drawing/2014/main" id="{31DD4D07-0B1B-F8A0-CEE0-9D2A3728BD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83" r="42790"/>
          <a:stretch/>
        </p:blipFill>
        <p:spPr bwMode="auto">
          <a:xfrm>
            <a:off x="9085943" y="2398536"/>
            <a:ext cx="3106057" cy="43998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1AE3729-D3B4-05D8-E383-4F3B067FB342}"/>
              </a:ext>
            </a:extLst>
          </p:cNvPr>
          <p:cNvSpPr txBox="1"/>
          <p:nvPr/>
        </p:nvSpPr>
        <p:spPr>
          <a:xfrm>
            <a:off x="489276" y="1678608"/>
            <a:ext cx="11524343" cy="5565691"/>
          </a:xfrm>
          <a:prstGeom prst="rect">
            <a:avLst/>
          </a:prstGeom>
          <a:noFill/>
        </p:spPr>
        <p:txBody>
          <a:bodyPr wrap="square">
            <a:spAutoFit/>
          </a:bodyPr>
          <a:lstStyle/>
          <a:p>
            <a:pPr algn="l">
              <a:lnSpc>
                <a:spcPct val="150000"/>
              </a:lnSpc>
            </a:pPr>
            <a:r>
              <a:rPr lang="en-GB" sz="2400" b="0" i="0" dirty="0">
                <a:solidFill>
                  <a:srgbClr val="000000"/>
                </a:solidFill>
                <a:effectLst/>
                <a:latin typeface="Rockwell" panose="02060603020205020403" pitchFamily="18" charset="0"/>
              </a:rPr>
              <a:t>Borders of each region:</a:t>
            </a:r>
          </a:p>
          <a:p>
            <a:pPr>
              <a:lnSpc>
                <a:spcPct val="150000"/>
              </a:lnSpc>
            </a:pPr>
            <a:r>
              <a:rPr lang="en-GB" sz="2400" b="1" dirty="0">
                <a:solidFill>
                  <a:srgbClr val="000000"/>
                </a:solidFill>
                <a:latin typeface="Rockwell" panose="02060603020205020403" pitchFamily="18" charset="0"/>
              </a:rPr>
              <a:t>1. </a:t>
            </a:r>
            <a:r>
              <a:rPr lang="en-GB" sz="2400" b="1" i="0" dirty="0">
                <a:solidFill>
                  <a:srgbClr val="000000"/>
                </a:solidFill>
                <a:effectLst/>
                <a:latin typeface="Rockwell" panose="02060603020205020403" pitchFamily="18" charset="0"/>
              </a:rPr>
              <a:t>Superior: </a:t>
            </a:r>
            <a:r>
              <a:rPr lang="en-GB" sz="2400" b="0" i="0" dirty="0">
                <a:solidFill>
                  <a:srgbClr val="000000"/>
                </a:solidFill>
                <a:effectLst/>
                <a:latin typeface="Rockwell" panose="02060603020205020403" pitchFamily="18" charset="0"/>
              </a:rPr>
              <a:t>bordered by the thoracic outlet superiorly, transverse thoracic plane or sternal angle inferiorly, medial border of the pleural sacs laterally, dorsal surface of the sternum anteriorly, and ventral surface of the first four thoracic vertebral bodies posteriorly</a:t>
            </a:r>
            <a:r>
              <a:rPr lang="en-GB" sz="2400" b="0" i="0" dirty="0">
                <a:solidFill>
                  <a:srgbClr val="2F4A8B"/>
                </a:solidFill>
                <a:effectLst/>
                <a:latin typeface="Rockwell" panose="02060603020205020403" pitchFamily="18" charset="0"/>
              </a:rPr>
              <a:t>.</a:t>
            </a:r>
          </a:p>
          <a:p>
            <a:pPr lvl="1" algn="l"/>
            <a:endParaRPr lang="en-GB" sz="2400" b="0" i="0" dirty="0">
              <a:solidFill>
                <a:srgbClr val="000000"/>
              </a:solidFill>
              <a:effectLst/>
              <a:latin typeface="Times New Roman" panose="02020603050405020304" pitchFamily="18" charset="0"/>
            </a:endParaRPr>
          </a:p>
          <a:p>
            <a:r>
              <a:rPr lang="en-GB" sz="2400" b="0" i="0" dirty="0">
                <a:solidFill>
                  <a:srgbClr val="000000"/>
                </a:solidFill>
                <a:effectLst/>
                <a:latin typeface="Rockwell" panose="02060603020205020403" pitchFamily="18" charset="0"/>
              </a:rPr>
              <a:t>Organs: thymus, trachea, </a:t>
            </a:r>
            <a:r>
              <a:rPr lang="en-GB" sz="2400" b="0" i="0" dirty="0" err="1">
                <a:solidFill>
                  <a:srgbClr val="000000"/>
                </a:solidFill>
                <a:effectLst/>
                <a:latin typeface="Rockwell" panose="02060603020205020403" pitchFamily="18" charset="0"/>
              </a:rPr>
              <a:t>eosophagus</a:t>
            </a:r>
            <a:endParaRPr lang="en-GB" sz="2400" b="0" i="0" dirty="0">
              <a:solidFill>
                <a:srgbClr val="000000"/>
              </a:solidFill>
              <a:effectLst/>
              <a:latin typeface="Rockwell" panose="02060603020205020403" pitchFamily="18" charset="0"/>
            </a:endParaRPr>
          </a:p>
          <a:p>
            <a:r>
              <a:rPr lang="en-GB" sz="2400" b="0" i="0" dirty="0">
                <a:solidFill>
                  <a:srgbClr val="FF0000"/>
                </a:solidFill>
                <a:effectLst/>
                <a:latin typeface="Rockwell" panose="02060603020205020403" pitchFamily="18" charset="0"/>
              </a:rPr>
              <a:t>Nerves: left and right </a:t>
            </a:r>
            <a:r>
              <a:rPr lang="en-GB" sz="2400" b="0" i="0" dirty="0" err="1">
                <a:solidFill>
                  <a:srgbClr val="FF0000"/>
                </a:solidFill>
                <a:effectLst/>
                <a:latin typeface="Rockwell" panose="02060603020205020403" pitchFamily="18" charset="0"/>
              </a:rPr>
              <a:t>vagus</a:t>
            </a:r>
            <a:r>
              <a:rPr lang="en-GB" sz="2400" b="0" i="0" dirty="0">
                <a:solidFill>
                  <a:srgbClr val="FF0000"/>
                </a:solidFill>
                <a:effectLst/>
                <a:latin typeface="Rockwell" panose="02060603020205020403" pitchFamily="18" charset="0"/>
              </a:rPr>
              <a:t>, recurrent laryngeal, cardiac, left and right phrenic</a:t>
            </a:r>
          </a:p>
          <a:p>
            <a:pPr marL="457200" indent="-457200">
              <a:lnSpc>
                <a:spcPct val="150000"/>
              </a:lnSpc>
              <a:buFont typeface="+mj-lt"/>
              <a:buAutoNum type="arabicPeriod"/>
            </a:pPr>
            <a:endParaRPr lang="en-GB" sz="2400" b="0" i="0" dirty="0">
              <a:solidFill>
                <a:srgbClr val="2F4A8B"/>
              </a:solidFill>
              <a:effectLst/>
              <a:latin typeface="Rockwell" panose="02060603020205020403" pitchFamily="18" charset="0"/>
            </a:endParaRPr>
          </a:p>
          <a:p>
            <a:pPr marL="457200" indent="-457200" algn="l">
              <a:lnSpc>
                <a:spcPct val="150000"/>
              </a:lnSpc>
              <a:buFont typeface="+mj-lt"/>
              <a:buAutoNum type="arabicPeriod"/>
            </a:pPr>
            <a:endParaRPr lang="en-GB" sz="2400" b="0" i="0" dirty="0">
              <a:solidFill>
                <a:srgbClr val="000000"/>
              </a:solidFill>
              <a:effectLst/>
              <a:latin typeface="Rockwell" panose="02060603020205020403" pitchFamily="18" charset="0"/>
            </a:endParaRPr>
          </a:p>
          <a:p>
            <a:pPr algn="l">
              <a:lnSpc>
                <a:spcPct val="150000"/>
              </a:lnSpc>
            </a:pPr>
            <a:endParaRPr lang="en-GB" sz="2400" b="0" i="0" dirty="0">
              <a:solidFill>
                <a:srgbClr val="000000"/>
              </a:solidFill>
              <a:effectLst/>
              <a:latin typeface="Rockwell" panose="02060603020205020403" pitchFamily="18" charset="0"/>
            </a:endParaRPr>
          </a:p>
        </p:txBody>
      </p:sp>
      <p:sp>
        <p:nvSpPr>
          <p:cNvPr id="3" name="Title 1">
            <a:extLst>
              <a:ext uri="{FF2B5EF4-FFF2-40B4-BE49-F238E27FC236}">
                <a16:creationId xmlns:a16="http://schemas.microsoft.com/office/drawing/2014/main" id="{41957651-4383-D7FC-83BE-CAE1B871F2B4}"/>
              </a:ext>
            </a:extLst>
          </p:cNvPr>
          <p:cNvSpPr txBox="1">
            <a:spLocks/>
          </p:cNvSpPr>
          <p:nvPr/>
        </p:nvSpPr>
        <p:spPr>
          <a:xfrm>
            <a:off x="1066800" y="343294"/>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GB" dirty="0"/>
              <a:t>Mediastinum</a:t>
            </a:r>
          </a:p>
        </p:txBody>
      </p:sp>
    </p:spTree>
    <p:extLst>
      <p:ext uri="{BB962C8B-B14F-4D97-AF65-F5344CB8AC3E}">
        <p14:creationId xmlns:p14="http://schemas.microsoft.com/office/powerpoint/2010/main" val="42039007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ediastinum and Great Vessels: Anatomy | Concise Medical Knowledge">
            <a:extLst>
              <a:ext uri="{FF2B5EF4-FFF2-40B4-BE49-F238E27FC236}">
                <a16:creationId xmlns:a16="http://schemas.microsoft.com/office/drawing/2014/main" id="{BA736BF3-8F87-8001-40BE-609ECD096D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83" r="42790"/>
          <a:stretch/>
        </p:blipFill>
        <p:spPr bwMode="auto">
          <a:xfrm>
            <a:off x="9085943" y="2398536"/>
            <a:ext cx="3106057" cy="43998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1AE3729-D3B4-05D8-E383-4F3B067FB342}"/>
              </a:ext>
            </a:extLst>
          </p:cNvPr>
          <p:cNvSpPr txBox="1"/>
          <p:nvPr/>
        </p:nvSpPr>
        <p:spPr>
          <a:xfrm>
            <a:off x="489276" y="1678608"/>
            <a:ext cx="11524343" cy="3903697"/>
          </a:xfrm>
          <a:prstGeom prst="rect">
            <a:avLst/>
          </a:prstGeom>
          <a:noFill/>
        </p:spPr>
        <p:txBody>
          <a:bodyPr wrap="square">
            <a:spAutoFit/>
          </a:bodyPr>
          <a:lstStyle/>
          <a:p>
            <a:pPr algn="l">
              <a:lnSpc>
                <a:spcPct val="150000"/>
              </a:lnSpc>
            </a:pPr>
            <a:endParaRPr lang="en-GB" sz="2400" b="0" i="0" dirty="0">
              <a:solidFill>
                <a:srgbClr val="000000"/>
              </a:solidFill>
              <a:effectLst/>
              <a:latin typeface="Rockwell" panose="02060603020205020403" pitchFamily="18" charset="0"/>
            </a:endParaRPr>
          </a:p>
          <a:p>
            <a:pPr algn="l">
              <a:lnSpc>
                <a:spcPct val="150000"/>
              </a:lnSpc>
            </a:pPr>
            <a:r>
              <a:rPr lang="en-GB" sz="2400" b="1" i="0" dirty="0">
                <a:solidFill>
                  <a:srgbClr val="000000"/>
                </a:solidFill>
                <a:effectLst/>
                <a:latin typeface="Rockwell" panose="02060603020205020403" pitchFamily="18" charset="0"/>
              </a:rPr>
              <a:t>2. Anterior: </a:t>
            </a:r>
            <a:r>
              <a:rPr lang="en-GB" sz="2400" b="0" i="0" dirty="0">
                <a:solidFill>
                  <a:srgbClr val="000000"/>
                </a:solidFill>
                <a:effectLst/>
                <a:latin typeface="Rockwell" panose="02060603020205020403" pitchFamily="18" charset="0"/>
              </a:rPr>
              <a:t>bordered by the pericardium posteriorly, medial border of the pleural sacs laterally, and the sternum, transversus thoracis muscles, and 5</a:t>
            </a:r>
            <a:r>
              <a:rPr lang="en-GB" sz="2400" b="0" i="0" baseline="30000" dirty="0">
                <a:solidFill>
                  <a:srgbClr val="000000"/>
                </a:solidFill>
                <a:effectLst/>
                <a:latin typeface="Rockwell" panose="02060603020205020403" pitchFamily="18" charset="0"/>
              </a:rPr>
              <a:t>th</a:t>
            </a:r>
            <a:r>
              <a:rPr lang="en-GB" sz="2400" b="0" i="0" dirty="0">
                <a:solidFill>
                  <a:srgbClr val="000000"/>
                </a:solidFill>
                <a:effectLst/>
                <a:latin typeface="Rockwell" panose="02060603020205020403" pitchFamily="18" charset="0"/>
              </a:rPr>
              <a:t>, 6</a:t>
            </a:r>
            <a:r>
              <a:rPr lang="en-GB" sz="2400" b="0" i="0" baseline="30000" dirty="0">
                <a:solidFill>
                  <a:srgbClr val="000000"/>
                </a:solidFill>
                <a:effectLst/>
                <a:latin typeface="Rockwell" panose="02060603020205020403" pitchFamily="18" charset="0"/>
              </a:rPr>
              <a:t>th</a:t>
            </a:r>
            <a:r>
              <a:rPr lang="en-GB" sz="2400" b="0" i="0" dirty="0">
                <a:solidFill>
                  <a:srgbClr val="000000"/>
                </a:solidFill>
                <a:effectLst/>
                <a:latin typeface="Rockwell" panose="02060603020205020403" pitchFamily="18" charset="0"/>
              </a:rPr>
              <a:t> and 7</a:t>
            </a:r>
            <a:r>
              <a:rPr lang="en-GB" sz="2400" b="0" i="0" baseline="30000" dirty="0">
                <a:solidFill>
                  <a:srgbClr val="000000"/>
                </a:solidFill>
                <a:effectLst/>
                <a:latin typeface="Rockwell" panose="02060603020205020403" pitchFamily="18" charset="0"/>
              </a:rPr>
              <a:t>th</a:t>
            </a:r>
            <a:r>
              <a:rPr lang="en-GB" sz="2400" b="0" i="0" dirty="0">
                <a:solidFill>
                  <a:srgbClr val="000000"/>
                </a:solidFill>
                <a:effectLst/>
                <a:latin typeface="Rockwell" panose="02060603020205020403" pitchFamily="18" charset="0"/>
              </a:rPr>
              <a:t> left costal cartilages anteriorly</a:t>
            </a:r>
            <a:r>
              <a:rPr lang="en-GB" sz="2400" b="0" i="0" dirty="0">
                <a:solidFill>
                  <a:srgbClr val="2F4A8B"/>
                </a:solidFill>
                <a:effectLst/>
                <a:latin typeface="Rockwell" panose="02060603020205020403" pitchFamily="18" charset="0"/>
              </a:rPr>
              <a:t>.</a:t>
            </a:r>
          </a:p>
          <a:p>
            <a:pPr lvl="1" algn="l"/>
            <a:endParaRPr lang="en-GB" sz="2400" dirty="0">
              <a:solidFill>
                <a:srgbClr val="000000"/>
              </a:solidFill>
              <a:latin typeface="Times New Roman" panose="02020603050405020304" pitchFamily="18" charset="0"/>
            </a:endParaRPr>
          </a:p>
          <a:p>
            <a:r>
              <a:rPr lang="en-GB" sz="2400" b="0" i="0" dirty="0">
                <a:solidFill>
                  <a:srgbClr val="000000"/>
                </a:solidFill>
                <a:effectLst/>
                <a:latin typeface="Rockwell" panose="02060603020205020403" pitchFamily="18" charset="0"/>
              </a:rPr>
              <a:t>Organs: thymus</a:t>
            </a:r>
          </a:p>
          <a:p>
            <a:r>
              <a:rPr lang="en-GB" sz="2400" b="0" i="0" dirty="0">
                <a:solidFill>
                  <a:srgbClr val="FF0000"/>
                </a:solidFill>
                <a:effectLst/>
                <a:latin typeface="Rockwell" panose="02060603020205020403" pitchFamily="18" charset="0"/>
              </a:rPr>
              <a:t>Nerves: none</a:t>
            </a:r>
          </a:p>
          <a:p>
            <a:pPr algn="l">
              <a:lnSpc>
                <a:spcPct val="150000"/>
              </a:lnSpc>
            </a:pPr>
            <a:endParaRPr lang="en-GB" sz="2400" b="0" i="0" dirty="0">
              <a:solidFill>
                <a:srgbClr val="000000"/>
              </a:solidFill>
              <a:effectLst/>
              <a:latin typeface="Rockwell" panose="02060603020205020403" pitchFamily="18" charset="0"/>
            </a:endParaRPr>
          </a:p>
        </p:txBody>
      </p:sp>
      <p:sp>
        <p:nvSpPr>
          <p:cNvPr id="3" name="Title 1">
            <a:extLst>
              <a:ext uri="{FF2B5EF4-FFF2-40B4-BE49-F238E27FC236}">
                <a16:creationId xmlns:a16="http://schemas.microsoft.com/office/drawing/2014/main" id="{41957651-4383-D7FC-83BE-CAE1B871F2B4}"/>
              </a:ext>
            </a:extLst>
          </p:cNvPr>
          <p:cNvSpPr txBox="1">
            <a:spLocks/>
          </p:cNvSpPr>
          <p:nvPr/>
        </p:nvSpPr>
        <p:spPr>
          <a:xfrm>
            <a:off x="1066800" y="343294"/>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GB" dirty="0"/>
              <a:t>Mediastinum</a:t>
            </a:r>
          </a:p>
        </p:txBody>
      </p:sp>
    </p:spTree>
    <p:extLst>
      <p:ext uri="{BB962C8B-B14F-4D97-AF65-F5344CB8AC3E}">
        <p14:creationId xmlns:p14="http://schemas.microsoft.com/office/powerpoint/2010/main" val="27756102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ediastinum and Great Vessels: Anatomy | Concise Medical Knowledge">
            <a:extLst>
              <a:ext uri="{FF2B5EF4-FFF2-40B4-BE49-F238E27FC236}">
                <a16:creationId xmlns:a16="http://schemas.microsoft.com/office/drawing/2014/main" id="{0D04CDC3-197B-7576-7842-48E5A18624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83" r="42790"/>
          <a:stretch/>
        </p:blipFill>
        <p:spPr bwMode="auto">
          <a:xfrm>
            <a:off x="9085943" y="2398536"/>
            <a:ext cx="3106057" cy="439986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BD41B29-E497-2E36-7BAA-302ADA8E8EFF}"/>
              </a:ext>
            </a:extLst>
          </p:cNvPr>
          <p:cNvSpPr>
            <a:spLocks noGrp="1"/>
          </p:cNvSpPr>
          <p:nvPr>
            <p:ph type="title"/>
          </p:nvPr>
        </p:nvSpPr>
        <p:spPr/>
        <p:txBody>
          <a:bodyPr/>
          <a:lstStyle/>
          <a:p>
            <a:r>
              <a:rPr lang="en-GB" dirty="0"/>
              <a:t>Mediastinum</a:t>
            </a:r>
          </a:p>
        </p:txBody>
      </p:sp>
      <p:sp>
        <p:nvSpPr>
          <p:cNvPr id="4" name="TextBox 3">
            <a:extLst>
              <a:ext uri="{FF2B5EF4-FFF2-40B4-BE49-F238E27FC236}">
                <a16:creationId xmlns:a16="http://schemas.microsoft.com/office/drawing/2014/main" id="{11AE3729-D3B4-05D8-E383-4F3B067FB342}"/>
              </a:ext>
            </a:extLst>
          </p:cNvPr>
          <p:cNvSpPr txBox="1"/>
          <p:nvPr/>
        </p:nvSpPr>
        <p:spPr>
          <a:xfrm>
            <a:off x="333828" y="1794722"/>
            <a:ext cx="11524343" cy="4642361"/>
          </a:xfrm>
          <a:prstGeom prst="rect">
            <a:avLst/>
          </a:prstGeom>
          <a:noFill/>
        </p:spPr>
        <p:txBody>
          <a:bodyPr wrap="square">
            <a:spAutoFit/>
          </a:bodyPr>
          <a:lstStyle/>
          <a:p>
            <a:pPr lvl="1" algn="l"/>
            <a:endParaRPr lang="en-GB" sz="2400" b="1" i="0" dirty="0">
              <a:solidFill>
                <a:srgbClr val="000000"/>
              </a:solidFill>
              <a:effectLst/>
              <a:latin typeface="Rockwell" panose="02060603020205020403" pitchFamily="18" charset="0"/>
            </a:endParaRPr>
          </a:p>
          <a:p>
            <a:r>
              <a:rPr lang="en-GB" sz="2400" b="1" dirty="0">
                <a:solidFill>
                  <a:srgbClr val="000000"/>
                </a:solidFill>
                <a:latin typeface="Rockwell" panose="02060603020205020403" pitchFamily="18" charset="0"/>
              </a:rPr>
              <a:t>3. </a:t>
            </a:r>
            <a:r>
              <a:rPr lang="en-GB" sz="2400" b="1" i="0" dirty="0">
                <a:solidFill>
                  <a:srgbClr val="000000"/>
                </a:solidFill>
                <a:effectLst/>
                <a:latin typeface="Rockwell" panose="02060603020205020403" pitchFamily="18" charset="0"/>
              </a:rPr>
              <a:t>Middle: </a:t>
            </a:r>
            <a:r>
              <a:rPr lang="en-GB" sz="2400" b="0" i="0" dirty="0">
                <a:solidFill>
                  <a:srgbClr val="000000"/>
                </a:solidFill>
                <a:effectLst/>
                <a:latin typeface="Rockwell" panose="02060603020205020403" pitchFamily="18" charset="0"/>
              </a:rPr>
              <a:t>formed by the borders of the pericardial sac anteriorly and posteriorly, reflected to the medial borders of the pleural sacs bilaterally, transverse thoracic plane superiorly, and thoracic surface of the diaphragm inferiorly</a:t>
            </a:r>
            <a:endParaRPr lang="en-GB" sz="2400" dirty="0">
              <a:solidFill>
                <a:srgbClr val="2F4A8B"/>
              </a:solidFill>
              <a:latin typeface="Rockwell" panose="02060603020205020403" pitchFamily="18" charset="0"/>
            </a:endParaRPr>
          </a:p>
          <a:p>
            <a:endParaRPr lang="en-GB" sz="2400" b="0" i="0" dirty="0">
              <a:solidFill>
                <a:srgbClr val="2F4A8B"/>
              </a:solidFill>
              <a:effectLst/>
              <a:latin typeface="Rockwell" panose="02060603020205020403" pitchFamily="18" charset="0"/>
            </a:endParaRPr>
          </a:p>
          <a:p>
            <a:r>
              <a:rPr lang="en-GB" sz="2400" b="0" i="0" dirty="0">
                <a:solidFill>
                  <a:srgbClr val="000000"/>
                </a:solidFill>
                <a:effectLst/>
                <a:latin typeface="Rockwell" panose="02060603020205020403" pitchFamily="18" charset="0"/>
              </a:rPr>
              <a:t>Organs: the heart and its great vessel roots, trachea and main bronchi</a:t>
            </a:r>
          </a:p>
          <a:p>
            <a:r>
              <a:rPr lang="en-GB" sz="2400" b="0" i="0" dirty="0">
                <a:solidFill>
                  <a:srgbClr val="FF0000"/>
                </a:solidFill>
                <a:effectLst/>
                <a:latin typeface="Rockwell" panose="02060603020205020403" pitchFamily="18" charset="0"/>
              </a:rPr>
              <a:t>Nerves: phrenic, </a:t>
            </a:r>
            <a:r>
              <a:rPr lang="en-GB" sz="2400" b="0" i="0" dirty="0" err="1">
                <a:solidFill>
                  <a:srgbClr val="FF0000"/>
                </a:solidFill>
                <a:effectLst/>
                <a:latin typeface="Rockwell" panose="02060603020205020403" pitchFamily="18" charset="0"/>
              </a:rPr>
              <a:t>vagus</a:t>
            </a:r>
            <a:r>
              <a:rPr lang="en-GB" sz="2400" b="0" i="0" dirty="0">
                <a:solidFill>
                  <a:srgbClr val="FF0000"/>
                </a:solidFill>
                <a:effectLst/>
                <a:latin typeface="Rockwell" panose="02060603020205020403" pitchFamily="18" charset="0"/>
              </a:rPr>
              <a:t>, </a:t>
            </a:r>
            <a:r>
              <a:rPr lang="en-GB" sz="2400" b="0" i="0" dirty="0" err="1">
                <a:solidFill>
                  <a:srgbClr val="FF0000"/>
                </a:solidFill>
                <a:effectLst/>
                <a:latin typeface="Rockwell" panose="02060603020205020403" pitchFamily="18" charset="0"/>
              </a:rPr>
              <a:t>sympathetics</a:t>
            </a:r>
            <a:endParaRPr lang="en-GB" sz="2400" b="0" i="0" dirty="0">
              <a:solidFill>
                <a:srgbClr val="FF0000"/>
              </a:solidFill>
              <a:effectLst/>
              <a:latin typeface="Rockwell" panose="02060603020205020403" pitchFamily="18" charset="0"/>
            </a:endParaRPr>
          </a:p>
          <a:p>
            <a:pPr marL="457200" indent="-457200" algn="l">
              <a:lnSpc>
                <a:spcPct val="150000"/>
              </a:lnSpc>
              <a:buFont typeface="+mj-lt"/>
              <a:buAutoNum type="arabicPeriod"/>
            </a:pPr>
            <a:endParaRPr lang="en-GB" sz="2400" b="0" i="0" dirty="0">
              <a:solidFill>
                <a:srgbClr val="2F4A8B"/>
              </a:solidFill>
              <a:effectLst/>
              <a:latin typeface="Rockwell" panose="02060603020205020403" pitchFamily="18" charset="0"/>
            </a:endParaRPr>
          </a:p>
          <a:p>
            <a:pPr marL="457200" indent="-457200" algn="l">
              <a:lnSpc>
                <a:spcPct val="150000"/>
              </a:lnSpc>
              <a:buFont typeface="+mj-lt"/>
              <a:buAutoNum type="arabicPeriod"/>
            </a:pPr>
            <a:endParaRPr lang="en-GB" sz="2400" b="0" i="0" dirty="0">
              <a:solidFill>
                <a:srgbClr val="000000"/>
              </a:solidFill>
              <a:effectLst/>
              <a:latin typeface="Rockwell" panose="02060603020205020403" pitchFamily="18" charset="0"/>
            </a:endParaRPr>
          </a:p>
          <a:p>
            <a:pPr algn="l">
              <a:lnSpc>
                <a:spcPct val="150000"/>
              </a:lnSpc>
            </a:pPr>
            <a:endParaRPr lang="en-GB" sz="2400" b="0" i="0" dirty="0">
              <a:solidFill>
                <a:srgbClr val="000000"/>
              </a:solidFill>
              <a:effectLst/>
              <a:latin typeface="Rockwell" panose="02060603020205020403" pitchFamily="18" charset="0"/>
            </a:endParaRPr>
          </a:p>
        </p:txBody>
      </p:sp>
    </p:spTree>
    <p:extLst>
      <p:ext uri="{BB962C8B-B14F-4D97-AF65-F5344CB8AC3E}">
        <p14:creationId xmlns:p14="http://schemas.microsoft.com/office/powerpoint/2010/main" val="40865715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ediastinum and Great Vessels: Anatomy | Concise Medical Knowledge">
            <a:extLst>
              <a:ext uri="{FF2B5EF4-FFF2-40B4-BE49-F238E27FC236}">
                <a16:creationId xmlns:a16="http://schemas.microsoft.com/office/drawing/2014/main" id="{243D2ECB-8D90-5171-6F95-34F0F6F09F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83" r="42790"/>
          <a:stretch/>
        </p:blipFill>
        <p:spPr bwMode="auto">
          <a:xfrm>
            <a:off x="9085943" y="2398536"/>
            <a:ext cx="3106057" cy="439986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BD41B29-E497-2E36-7BAA-302ADA8E8EFF}"/>
              </a:ext>
            </a:extLst>
          </p:cNvPr>
          <p:cNvSpPr>
            <a:spLocks noGrp="1"/>
          </p:cNvSpPr>
          <p:nvPr>
            <p:ph type="title"/>
          </p:nvPr>
        </p:nvSpPr>
        <p:spPr/>
        <p:txBody>
          <a:bodyPr/>
          <a:lstStyle/>
          <a:p>
            <a:r>
              <a:rPr lang="en-GB" dirty="0"/>
              <a:t>Mediastinum</a:t>
            </a:r>
          </a:p>
        </p:txBody>
      </p:sp>
      <p:sp>
        <p:nvSpPr>
          <p:cNvPr id="4" name="TextBox 3">
            <a:extLst>
              <a:ext uri="{FF2B5EF4-FFF2-40B4-BE49-F238E27FC236}">
                <a16:creationId xmlns:a16="http://schemas.microsoft.com/office/drawing/2014/main" id="{11AE3729-D3B4-05D8-E383-4F3B067FB342}"/>
              </a:ext>
            </a:extLst>
          </p:cNvPr>
          <p:cNvSpPr txBox="1"/>
          <p:nvPr/>
        </p:nvSpPr>
        <p:spPr>
          <a:xfrm>
            <a:off x="333828" y="1794722"/>
            <a:ext cx="11524343" cy="3903697"/>
          </a:xfrm>
          <a:prstGeom prst="rect">
            <a:avLst/>
          </a:prstGeom>
          <a:noFill/>
        </p:spPr>
        <p:txBody>
          <a:bodyPr wrap="square">
            <a:spAutoFit/>
          </a:bodyPr>
          <a:lstStyle/>
          <a:p>
            <a:pPr marL="457200" indent="-457200" algn="l">
              <a:lnSpc>
                <a:spcPct val="150000"/>
              </a:lnSpc>
              <a:buFont typeface="+mj-lt"/>
              <a:buAutoNum type="arabicPeriod"/>
            </a:pPr>
            <a:endParaRPr lang="en-GB" sz="2400" b="0" i="0" dirty="0">
              <a:solidFill>
                <a:srgbClr val="000000"/>
              </a:solidFill>
              <a:effectLst/>
              <a:latin typeface="Rockwell" panose="02060603020205020403" pitchFamily="18" charset="0"/>
            </a:endParaRPr>
          </a:p>
          <a:p>
            <a:pPr algn="l">
              <a:lnSpc>
                <a:spcPct val="150000"/>
              </a:lnSpc>
            </a:pPr>
            <a:r>
              <a:rPr lang="en-GB" sz="2400" b="1" i="0" dirty="0">
                <a:solidFill>
                  <a:srgbClr val="000000"/>
                </a:solidFill>
                <a:effectLst/>
                <a:latin typeface="Rockwell" panose="02060603020205020403" pitchFamily="18" charset="0"/>
              </a:rPr>
              <a:t>4. Posterior: </a:t>
            </a:r>
            <a:r>
              <a:rPr lang="en-GB" sz="2400" b="0" i="0" dirty="0">
                <a:solidFill>
                  <a:srgbClr val="000000"/>
                </a:solidFill>
                <a:effectLst/>
                <a:latin typeface="Rockwell" panose="02060603020205020403" pitchFamily="18" charset="0"/>
              </a:rPr>
              <a:t>bordered by the pericardium anteriorly, the thoracic surface of the diaphragm inferiorly, transverse thoracic plane superiorly, 5</a:t>
            </a:r>
            <a:r>
              <a:rPr lang="en-GB" sz="2400" b="0" i="0" baseline="30000" dirty="0">
                <a:solidFill>
                  <a:srgbClr val="000000"/>
                </a:solidFill>
                <a:effectLst/>
                <a:latin typeface="Rockwell" panose="02060603020205020403" pitchFamily="18" charset="0"/>
              </a:rPr>
              <a:t>th</a:t>
            </a:r>
            <a:r>
              <a:rPr lang="en-GB" sz="2400" b="0" i="0" dirty="0">
                <a:solidFill>
                  <a:srgbClr val="000000"/>
                </a:solidFill>
                <a:effectLst/>
                <a:latin typeface="Rockwell" panose="02060603020205020403" pitchFamily="18" charset="0"/>
              </a:rPr>
              <a:t> – 12</a:t>
            </a:r>
            <a:r>
              <a:rPr lang="en-GB" sz="2400" b="0" i="0" baseline="30000" dirty="0">
                <a:solidFill>
                  <a:srgbClr val="000000"/>
                </a:solidFill>
                <a:effectLst/>
                <a:latin typeface="Rockwell" panose="02060603020205020403" pitchFamily="18" charset="0"/>
              </a:rPr>
              <a:t>th</a:t>
            </a:r>
            <a:r>
              <a:rPr lang="en-GB" sz="2400" b="0" i="0" dirty="0">
                <a:solidFill>
                  <a:srgbClr val="000000"/>
                </a:solidFill>
                <a:effectLst/>
                <a:latin typeface="Rockwell" panose="02060603020205020403" pitchFamily="18" charset="0"/>
              </a:rPr>
              <a:t> thoracic vertebral bodies posteriorly, and the pleural sacs laterally</a:t>
            </a:r>
            <a:r>
              <a:rPr lang="en-GB" sz="2400" b="0" i="0" dirty="0">
                <a:solidFill>
                  <a:srgbClr val="2F4A8B"/>
                </a:solidFill>
                <a:effectLst/>
                <a:latin typeface="Rockwell" panose="02060603020205020403" pitchFamily="18" charset="0"/>
              </a:rPr>
              <a:t>.</a:t>
            </a:r>
          </a:p>
          <a:p>
            <a:pPr lvl="1" algn="l"/>
            <a:endParaRPr lang="en-GB" sz="2400" b="0" i="0" dirty="0">
              <a:solidFill>
                <a:srgbClr val="000000"/>
              </a:solidFill>
              <a:effectLst/>
              <a:latin typeface="Times New Roman" panose="02020603050405020304" pitchFamily="18" charset="0"/>
            </a:endParaRPr>
          </a:p>
          <a:p>
            <a:r>
              <a:rPr lang="en-GB" sz="2400" b="0" i="0" dirty="0">
                <a:solidFill>
                  <a:srgbClr val="000000"/>
                </a:solidFill>
                <a:effectLst/>
              </a:rPr>
              <a:t>Organs: </a:t>
            </a:r>
            <a:r>
              <a:rPr lang="en-GB" sz="2400" b="0" i="0" dirty="0" err="1">
                <a:solidFill>
                  <a:srgbClr val="000000"/>
                </a:solidFill>
                <a:effectLst/>
              </a:rPr>
              <a:t>esophagus</a:t>
            </a:r>
            <a:endParaRPr lang="en-GB" sz="2400" b="0" i="0" dirty="0">
              <a:solidFill>
                <a:srgbClr val="000000"/>
              </a:solidFill>
              <a:effectLst/>
            </a:endParaRPr>
          </a:p>
          <a:p>
            <a:r>
              <a:rPr lang="en-GB" sz="2400" b="0" i="0" dirty="0">
                <a:solidFill>
                  <a:srgbClr val="FF0000"/>
                </a:solidFill>
                <a:effectLst/>
              </a:rPr>
              <a:t>Nerves: </a:t>
            </a:r>
            <a:r>
              <a:rPr lang="en-GB" sz="2400" b="0" i="0" dirty="0" err="1">
                <a:solidFill>
                  <a:srgbClr val="FF0000"/>
                </a:solidFill>
                <a:effectLst/>
              </a:rPr>
              <a:t>vagus</a:t>
            </a:r>
            <a:r>
              <a:rPr lang="en-GB" sz="2400" b="0" i="0" dirty="0">
                <a:solidFill>
                  <a:srgbClr val="FF0000"/>
                </a:solidFill>
                <a:effectLst/>
              </a:rPr>
              <a:t>, splanchnic, sympathetic chain</a:t>
            </a:r>
          </a:p>
          <a:p>
            <a:pPr marL="457200" indent="-457200" algn="l">
              <a:lnSpc>
                <a:spcPct val="150000"/>
              </a:lnSpc>
              <a:buFont typeface="+mj-lt"/>
              <a:buAutoNum type="arabicPeriod"/>
            </a:pPr>
            <a:endParaRPr lang="en-GB" sz="2400" b="0" i="0" dirty="0">
              <a:solidFill>
                <a:srgbClr val="000000"/>
              </a:solidFill>
              <a:effectLst/>
              <a:latin typeface="Rockwell" panose="02060603020205020403" pitchFamily="18" charset="0"/>
            </a:endParaRPr>
          </a:p>
        </p:txBody>
      </p:sp>
    </p:spTree>
    <p:extLst>
      <p:ext uri="{BB962C8B-B14F-4D97-AF65-F5344CB8AC3E}">
        <p14:creationId xmlns:p14="http://schemas.microsoft.com/office/powerpoint/2010/main" val="3821701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0DE73-4ACD-9679-B452-DC2D058CE3D9}"/>
              </a:ext>
            </a:extLst>
          </p:cNvPr>
          <p:cNvSpPr>
            <a:spLocks noGrp="1"/>
          </p:cNvSpPr>
          <p:nvPr>
            <p:ph type="title"/>
          </p:nvPr>
        </p:nvSpPr>
        <p:spPr/>
        <p:txBody>
          <a:bodyPr/>
          <a:lstStyle/>
          <a:p>
            <a:r>
              <a:rPr lang="en-GB" sz="5400" dirty="0">
                <a:solidFill>
                  <a:srgbClr val="222222"/>
                </a:solidFill>
                <a:effectLst/>
                <a:latin typeface="Rockwell" panose="02060603020205020403" pitchFamily="18" charset="0"/>
                <a:ea typeface="Times New Roman" panose="02020603050405020304" pitchFamily="18" charset="0"/>
              </a:rPr>
              <a:t>4. The Cardiac Cycle</a:t>
            </a:r>
            <a:br>
              <a:rPr lang="en-GB" sz="5400" dirty="0">
                <a:effectLst/>
                <a:latin typeface="Rockwell" panose="02060603020205020403" pitchFamily="18" charset="0"/>
                <a:ea typeface="Times New Roman" panose="02020603050405020304" pitchFamily="18" charset="0"/>
              </a:rPr>
            </a:br>
            <a:endParaRPr lang="en-GB" dirty="0">
              <a:latin typeface="Rockwell" panose="02060603020205020403" pitchFamily="18" charset="0"/>
            </a:endParaRPr>
          </a:p>
        </p:txBody>
      </p:sp>
    </p:spTree>
    <p:extLst>
      <p:ext uri="{BB962C8B-B14F-4D97-AF65-F5344CB8AC3E}">
        <p14:creationId xmlns:p14="http://schemas.microsoft.com/office/powerpoint/2010/main" val="34258359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998C0A-F478-9517-6EF8-61D2379787C7}"/>
              </a:ext>
            </a:extLst>
          </p:cNvPr>
          <p:cNvSpPr/>
          <p:nvPr/>
        </p:nvSpPr>
        <p:spPr>
          <a:xfrm>
            <a:off x="1847528" y="44625"/>
            <a:ext cx="8352928" cy="6740307"/>
          </a:xfrm>
          <a:prstGeom prst="rect">
            <a:avLst/>
          </a:prstGeom>
        </p:spPr>
        <p:txBody>
          <a:bodyPr>
            <a:spAutoFit/>
          </a:bodyPr>
          <a:lstStyle/>
          <a:p>
            <a:pPr algn="ctr">
              <a:lnSpc>
                <a:spcPct val="150000"/>
              </a:lnSpc>
              <a:defRPr/>
            </a:pPr>
            <a:r>
              <a:rPr lang="en-US" sz="4800" dirty="0">
                <a:highlight>
                  <a:srgbClr val="808080"/>
                </a:highlight>
                <a:latin typeface="Arial" charset="0"/>
                <a:ea typeface="Times New Roman" panose="02020603050405020304" pitchFamily="18" charset="0"/>
              </a:rPr>
              <a:t>Resting</a:t>
            </a:r>
            <a:r>
              <a:rPr lang="en-US" sz="4800" dirty="0">
                <a:solidFill>
                  <a:schemeClr val="bg1"/>
                </a:solidFill>
                <a:highlight>
                  <a:srgbClr val="808080"/>
                </a:highlight>
                <a:latin typeface="Arial" charset="0"/>
                <a:ea typeface="Times New Roman" panose="02020603050405020304" pitchFamily="18" charset="0"/>
              </a:rPr>
              <a:t> HR of 74 bpm </a:t>
            </a:r>
          </a:p>
          <a:p>
            <a:pPr algn="ctr">
              <a:lnSpc>
                <a:spcPct val="150000"/>
              </a:lnSpc>
              <a:defRPr/>
            </a:pPr>
            <a:r>
              <a:rPr lang="en-US" sz="4800" dirty="0">
                <a:solidFill>
                  <a:schemeClr val="bg1"/>
                </a:solidFill>
                <a:highlight>
                  <a:srgbClr val="808080"/>
                </a:highlight>
                <a:latin typeface="Arial" charset="0"/>
                <a:ea typeface="Times New Roman" panose="02020603050405020304" pitchFamily="18" charset="0"/>
              </a:rPr>
              <a:t>Cardiac cycle = 0.81sec (60÷74)</a:t>
            </a:r>
            <a:endParaRPr lang="en-GB" sz="4800" dirty="0">
              <a:solidFill>
                <a:schemeClr val="bg1"/>
              </a:solidFill>
              <a:latin typeface="Arial" charset="0"/>
              <a:ea typeface="Times New Roman" panose="02020603050405020304" pitchFamily="18" charset="0"/>
            </a:endParaRPr>
          </a:p>
          <a:p>
            <a:pPr algn="ctr">
              <a:lnSpc>
                <a:spcPct val="150000"/>
              </a:lnSpc>
              <a:defRPr/>
            </a:pPr>
            <a:endParaRPr lang="en-US" sz="4800" dirty="0">
              <a:solidFill>
                <a:schemeClr val="bg1"/>
              </a:solidFill>
              <a:highlight>
                <a:srgbClr val="808080"/>
              </a:highlight>
              <a:latin typeface="Arial" charset="0"/>
              <a:ea typeface="Times New Roman" panose="02020603050405020304" pitchFamily="18" charset="0"/>
            </a:endParaRPr>
          </a:p>
          <a:p>
            <a:pPr algn="ctr">
              <a:lnSpc>
                <a:spcPct val="150000"/>
              </a:lnSpc>
              <a:defRPr/>
            </a:pPr>
            <a:r>
              <a:rPr lang="en-US" sz="4800" dirty="0">
                <a:solidFill>
                  <a:schemeClr val="bg1"/>
                </a:solidFill>
                <a:highlight>
                  <a:srgbClr val="808080"/>
                </a:highlight>
                <a:latin typeface="Arial" charset="0"/>
                <a:ea typeface="Times New Roman" panose="02020603050405020304" pitchFamily="18" charset="0"/>
              </a:rPr>
              <a:t>Diastole = .5  sec / 62%</a:t>
            </a:r>
            <a:endParaRPr lang="en-GB" sz="4800" dirty="0">
              <a:solidFill>
                <a:schemeClr val="bg1"/>
              </a:solidFill>
              <a:latin typeface="Arial" charset="0"/>
              <a:ea typeface="Times New Roman" panose="02020603050405020304" pitchFamily="18" charset="0"/>
            </a:endParaRPr>
          </a:p>
          <a:p>
            <a:pPr algn="ctr">
              <a:lnSpc>
                <a:spcPct val="150000"/>
              </a:lnSpc>
              <a:defRPr/>
            </a:pPr>
            <a:r>
              <a:rPr lang="en-US" sz="4800" dirty="0">
                <a:solidFill>
                  <a:schemeClr val="bg1"/>
                </a:solidFill>
                <a:highlight>
                  <a:srgbClr val="808080"/>
                </a:highlight>
                <a:latin typeface="Arial" charset="0"/>
                <a:ea typeface="Times New Roman" panose="02020603050405020304" pitchFamily="18" charset="0"/>
              </a:rPr>
              <a:t>Systole  = .31 sec / 38%</a:t>
            </a:r>
            <a:endParaRPr lang="en-GB" sz="4800" dirty="0">
              <a:solidFill>
                <a:schemeClr val="bg1"/>
              </a:solidFill>
              <a:latin typeface="Arial" charset="0"/>
              <a:ea typeface="Times New Roman" panose="02020603050405020304" pitchFamily="18" charset="0"/>
            </a:endParaRPr>
          </a:p>
        </p:txBody>
      </p:sp>
    </p:spTree>
  </p:cSld>
  <p:clrMapOvr>
    <a:masterClrMapping/>
  </p:clrMapOvr>
  <p:transition spd="slow">
    <p:circl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50D48F-55D9-B14A-9AA9-DF443C49E7FB}"/>
              </a:ext>
            </a:extLst>
          </p:cNvPr>
          <p:cNvSpPr/>
          <p:nvPr/>
        </p:nvSpPr>
        <p:spPr>
          <a:xfrm>
            <a:off x="1847528" y="44625"/>
            <a:ext cx="8352928" cy="6740307"/>
          </a:xfrm>
          <a:prstGeom prst="rect">
            <a:avLst/>
          </a:prstGeom>
        </p:spPr>
        <p:txBody>
          <a:bodyPr>
            <a:spAutoFit/>
          </a:bodyPr>
          <a:lstStyle/>
          <a:p>
            <a:pPr algn="ctr">
              <a:lnSpc>
                <a:spcPct val="150000"/>
              </a:lnSpc>
              <a:defRPr/>
            </a:pPr>
            <a:r>
              <a:rPr lang="en-US" sz="4800" dirty="0">
                <a:highlight>
                  <a:srgbClr val="808080"/>
                </a:highlight>
                <a:latin typeface="Arial" charset="0"/>
                <a:ea typeface="Times New Roman" panose="02020603050405020304" pitchFamily="18" charset="0"/>
              </a:rPr>
              <a:t>Maximal</a:t>
            </a:r>
            <a:r>
              <a:rPr lang="en-US" sz="4800" dirty="0">
                <a:solidFill>
                  <a:schemeClr val="bg1"/>
                </a:solidFill>
                <a:highlight>
                  <a:srgbClr val="808080"/>
                </a:highlight>
                <a:latin typeface="Arial" charset="0"/>
                <a:ea typeface="Times New Roman" panose="02020603050405020304" pitchFamily="18" charset="0"/>
              </a:rPr>
              <a:t> HR of 185 bpm </a:t>
            </a:r>
          </a:p>
          <a:p>
            <a:pPr algn="ctr">
              <a:lnSpc>
                <a:spcPct val="150000"/>
              </a:lnSpc>
              <a:defRPr/>
            </a:pPr>
            <a:r>
              <a:rPr lang="en-US" sz="4800" dirty="0">
                <a:solidFill>
                  <a:schemeClr val="bg1"/>
                </a:solidFill>
                <a:highlight>
                  <a:srgbClr val="808080"/>
                </a:highlight>
                <a:latin typeface="Arial" charset="0"/>
                <a:ea typeface="Times New Roman" panose="02020603050405020304" pitchFamily="18" charset="0"/>
              </a:rPr>
              <a:t>Cardiac cycle = 0.32sec (60÷185)</a:t>
            </a:r>
            <a:endParaRPr lang="en-GB" sz="4800" dirty="0">
              <a:solidFill>
                <a:schemeClr val="bg1"/>
              </a:solidFill>
              <a:latin typeface="Arial" charset="0"/>
              <a:ea typeface="Times New Roman" panose="02020603050405020304" pitchFamily="18" charset="0"/>
            </a:endParaRPr>
          </a:p>
          <a:p>
            <a:pPr algn="ctr">
              <a:lnSpc>
                <a:spcPct val="150000"/>
              </a:lnSpc>
              <a:defRPr/>
            </a:pPr>
            <a:endParaRPr lang="en-US" sz="4800" dirty="0">
              <a:solidFill>
                <a:schemeClr val="bg1"/>
              </a:solidFill>
              <a:highlight>
                <a:srgbClr val="808080"/>
              </a:highlight>
              <a:latin typeface="Arial" charset="0"/>
              <a:ea typeface="Times New Roman" panose="02020603050405020304" pitchFamily="18" charset="0"/>
            </a:endParaRPr>
          </a:p>
          <a:p>
            <a:pPr algn="ctr">
              <a:lnSpc>
                <a:spcPct val="150000"/>
              </a:lnSpc>
              <a:defRPr/>
            </a:pPr>
            <a:r>
              <a:rPr lang="en-US" sz="4800" dirty="0">
                <a:solidFill>
                  <a:schemeClr val="bg1"/>
                </a:solidFill>
                <a:highlight>
                  <a:srgbClr val="808080"/>
                </a:highlight>
                <a:latin typeface="Arial" charset="0"/>
                <a:ea typeface="Times New Roman" panose="02020603050405020304" pitchFamily="18" charset="0"/>
              </a:rPr>
              <a:t>Diastole = .19 sec / 62%</a:t>
            </a:r>
            <a:endParaRPr lang="en-GB" sz="4800" dirty="0">
              <a:solidFill>
                <a:schemeClr val="bg1"/>
              </a:solidFill>
              <a:latin typeface="Arial" charset="0"/>
              <a:ea typeface="Times New Roman" panose="02020603050405020304" pitchFamily="18" charset="0"/>
            </a:endParaRPr>
          </a:p>
          <a:p>
            <a:pPr algn="ctr">
              <a:lnSpc>
                <a:spcPct val="150000"/>
              </a:lnSpc>
              <a:defRPr/>
            </a:pPr>
            <a:r>
              <a:rPr lang="en-US" sz="4800" dirty="0">
                <a:solidFill>
                  <a:schemeClr val="bg1"/>
                </a:solidFill>
                <a:highlight>
                  <a:srgbClr val="808080"/>
                </a:highlight>
                <a:latin typeface="Arial" charset="0"/>
                <a:ea typeface="Times New Roman" panose="02020603050405020304" pitchFamily="18" charset="0"/>
              </a:rPr>
              <a:t>Systole  = .12 sec / 38%</a:t>
            </a:r>
            <a:endParaRPr lang="en-GB" sz="4800" dirty="0">
              <a:solidFill>
                <a:schemeClr val="bg1"/>
              </a:solidFill>
              <a:latin typeface="Arial" charset="0"/>
              <a:ea typeface="Times New Roman" panose="02020603050405020304" pitchFamily="18" charset="0"/>
            </a:endParaRPr>
          </a:p>
        </p:txBody>
      </p:sp>
    </p:spTree>
  </p:cSld>
  <p:clrMapOvr>
    <a:masterClrMapping/>
  </p:clrMapOvr>
  <p:transition spd="slow">
    <p:circl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919DD-46E0-4DF6-2A9A-54EDC638C574}"/>
              </a:ext>
            </a:extLst>
          </p:cNvPr>
          <p:cNvSpPr>
            <a:spLocks noGrp="1"/>
          </p:cNvSpPr>
          <p:nvPr>
            <p:ph type="title"/>
          </p:nvPr>
        </p:nvSpPr>
        <p:spPr>
          <a:xfrm>
            <a:off x="1066800" y="768096"/>
            <a:ext cx="10058400" cy="1609344"/>
          </a:xfrm>
        </p:spPr>
        <p:txBody>
          <a:bodyPr>
            <a:normAutofit fontScale="90000"/>
          </a:bodyPr>
          <a:lstStyle/>
          <a:p>
            <a:r>
              <a:rPr lang="en-GB" dirty="0">
                <a:latin typeface="Rockwell" panose="02060603020205020403" pitchFamily="18" charset="0"/>
              </a:rPr>
              <a:t>5. </a:t>
            </a:r>
            <a:r>
              <a:rPr lang="en-GB" sz="5400" dirty="0">
                <a:solidFill>
                  <a:srgbClr val="222222"/>
                </a:solidFill>
                <a:effectLst/>
                <a:latin typeface="Rockwell" panose="02060603020205020403" pitchFamily="18" charset="0"/>
                <a:ea typeface="Times New Roman" panose="02020603050405020304" pitchFamily="18" charset="0"/>
              </a:rPr>
              <a:t>Myocardial action potential and contraction coupling</a:t>
            </a:r>
            <a:br>
              <a:rPr lang="en-GB" sz="5400" dirty="0">
                <a:effectLst/>
                <a:latin typeface="Rockwell" panose="02060603020205020403" pitchFamily="18" charset="0"/>
                <a:ea typeface="Times New Roman" panose="02020603050405020304" pitchFamily="18" charset="0"/>
              </a:rPr>
            </a:br>
            <a:endParaRPr lang="en-GB" dirty="0">
              <a:latin typeface="Rockwell" panose="02060603020205020403" pitchFamily="18" charset="0"/>
            </a:endParaRPr>
          </a:p>
        </p:txBody>
      </p:sp>
    </p:spTree>
    <p:extLst>
      <p:ext uri="{BB962C8B-B14F-4D97-AF65-F5344CB8AC3E}">
        <p14:creationId xmlns:p14="http://schemas.microsoft.com/office/powerpoint/2010/main" val="20545580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anose="020B0604020202020204" pitchFamily="34" charset="0"/>
                <a:cs typeface="Arial" panose="020B0604020202020204" pitchFamily="34" charset="0"/>
              </a:rPr>
              <a:t>Cardiac Rhythm </a:t>
            </a:r>
          </a:p>
        </p:txBody>
      </p:sp>
      <p:sp>
        <p:nvSpPr>
          <p:cNvPr id="6" name="TextBox 5"/>
          <p:cNvSpPr txBox="1"/>
          <p:nvPr/>
        </p:nvSpPr>
        <p:spPr>
          <a:xfrm>
            <a:off x="1824898" y="1628801"/>
            <a:ext cx="7943510" cy="1323439"/>
          </a:xfrm>
          <a:prstGeom prst="rect">
            <a:avLst/>
          </a:prstGeom>
          <a:noFill/>
        </p:spPr>
        <p:txBody>
          <a:bodyPr wrap="square" rtlCol="0">
            <a:spAutoFit/>
          </a:bodyPr>
          <a:lstStyle/>
          <a:p>
            <a:r>
              <a:rPr lang="en-GB" sz="2000" b="1" dirty="0">
                <a:solidFill>
                  <a:srgbClr val="FF0000"/>
                </a:solidFill>
                <a:latin typeface="Arial" panose="020B0604020202020204" pitchFamily="34" charset="0"/>
                <a:cs typeface="Arial" panose="020B0604020202020204" pitchFamily="34" charset="0"/>
              </a:rPr>
              <a:t>Key words!</a:t>
            </a:r>
          </a:p>
          <a:p>
            <a:endParaRPr lang="en-GB" sz="2000" b="1" dirty="0">
              <a:latin typeface="Arial" panose="020B0604020202020204" pitchFamily="34" charset="0"/>
              <a:cs typeface="Arial" panose="020B0604020202020204" pitchFamily="34" charset="0"/>
            </a:endParaRPr>
          </a:p>
          <a:p>
            <a:r>
              <a:rPr lang="en-GB" sz="2000" b="1" dirty="0">
                <a:solidFill>
                  <a:srgbClr val="FF0000"/>
                </a:solidFill>
                <a:latin typeface="Arial" panose="020B0604020202020204" pitchFamily="34" charset="0"/>
                <a:cs typeface="Arial" panose="020B0604020202020204" pitchFamily="34" charset="0"/>
              </a:rPr>
              <a:t>Depolarisation</a:t>
            </a:r>
            <a:r>
              <a:rPr lang="en-GB" sz="2000" dirty="0">
                <a:solidFill>
                  <a:srgbClr val="FF0000"/>
                </a:solidFill>
                <a:latin typeface="Arial" panose="020B0604020202020204" pitchFamily="34" charset="0"/>
                <a:cs typeface="Arial" panose="020B0604020202020204" pitchFamily="34" charset="0"/>
              </a:rPr>
              <a:t>- Contraction, blood leaving, systole   </a:t>
            </a:r>
          </a:p>
          <a:p>
            <a:r>
              <a:rPr lang="en-GB" sz="2000" b="1" dirty="0">
                <a:solidFill>
                  <a:srgbClr val="FF0000"/>
                </a:solidFill>
                <a:latin typeface="Arial" panose="020B0604020202020204" pitchFamily="34" charset="0"/>
                <a:cs typeface="Arial" panose="020B0604020202020204" pitchFamily="34" charset="0"/>
              </a:rPr>
              <a:t>Repolarisation</a:t>
            </a:r>
            <a:r>
              <a:rPr lang="en-GB" sz="2000" dirty="0">
                <a:solidFill>
                  <a:srgbClr val="FF0000"/>
                </a:solidFill>
                <a:latin typeface="Arial" panose="020B0604020202020204" pitchFamily="34" charset="0"/>
                <a:cs typeface="Arial" panose="020B0604020202020204" pitchFamily="34" charset="0"/>
              </a:rPr>
              <a:t>- Relaxation, blood filling, diastole </a:t>
            </a:r>
          </a:p>
        </p:txBody>
      </p:sp>
      <p:sp>
        <p:nvSpPr>
          <p:cNvPr id="7" name="TextBox 6"/>
          <p:cNvSpPr txBox="1"/>
          <p:nvPr/>
        </p:nvSpPr>
        <p:spPr>
          <a:xfrm>
            <a:off x="1824898" y="3180021"/>
            <a:ext cx="8496944" cy="1938992"/>
          </a:xfrm>
          <a:prstGeom prst="rect">
            <a:avLst/>
          </a:prstGeom>
          <a:noFill/>
        </p:spPr>
        <p:txBody>
          <a:bodyPr wrap="square" rtlCol="0">
            <a:spAutoFit/>
          </a:bodyPr>
          <a:lstStyle/>
          <a:p>
            <a:r>
              <a:rPr lang="en-GB" sz="2000" dirty="0">
                <a:latin typeface="Arial" panose="020B0604020202020204" pitchFamily="34" charset="0"/>
                <a:cs typeface="Arial" panose="020B0604020202020204" pitchFamily="34" charset="0"/>
              </a:rPr>
              <a:t>There are two types of cells within the cardiac muscle:  </a:t>
            </a:r>
          </a:p>
          <a:p>
            <a:endParaRPr lang="en-GB" sz="2000" b="1" dirty="0">
              <a:latin typeface="Arial" panose="020B0604020202020204" pitchFamily="34" charset="0"/>
              <a:cs typeface="Arial" panose="020B0604020202020204" pitchFamily="34" charset="0"/>
            </a:endParaRPr>
          </a:p>
          <a:p>
            <a:r>
              <a:rPr lang="en-GB" sz="2000" b="1" dirty="0">
                <a:latin typeface="Arial" panose="020B0604020202020204" pitchFamily="34" charset="0"/>
                <a:cs typeface="Arial" panose="020B0604020202020204" pitchFamily="34" charset="0"/>
              </a:rPr>
              <a:t>Cardiomyocytes</a:t>
            </a:r>
            <a:r>
              <a:rPr lang="en-GB" sz="2000" dirty="0">
                <a:latin typeface="Arial" panose="020B0604020202020204" pitchFamily="34" charset="0"/>
                <a:cs typeface="Arial" panose="020B0604020202020204" pitchFamily="34" charset="0"/>
              </a:rPr>
              <a:t>- Cells which make up the atria and the ventricles. </a:t>
            </a:r>
          </a:p>
          <a:p>
            <a:endParaRPr lang="en-GB" sz="2000" b="1" dirty="0">
              <a:latin typeface="Arial" panose="020B0604020202020204" pitchFamily="34" charset="0"/>
              <a:cs typeface="Arial" panose="020B0604020202020204" pitchFamily="34" charset="0"/>
            </a:endParaRPr>
          </a:p>
          <a:p>
            <a:r>
              <a:rPr lang="en-GB" sz="2000" b="1" dirty="0">
                <a:latin typeface="Arial" panose="020B0604020202020204" pitchFamily="34" charset="0"/>
                <a:cs typeface="Arial" panose="020B0604020202020204" pitchFamily="34" charset="0"/>
              </a:rPr>
              <a:t>Autorhythmic cells </a:t>
            </a:r>
            <a:r>
              <a:rPr lang="en-GB" sz="2000" dirty="0">
                <a:latin typeface="Arial" panose="020B0604020202020204" pitchFamily="34" charset="0"/>
                <a:cs typeface="Arial" panose="020B0604020202020204" pitchFamily="34" charset="0"/>
              </a:rPr>
              <a:t>- Specialised cardiac muscle cells, which are self-excitable (intrinsic). </a:t>
            </a:r>
            <a:endParaRPr lang="en-GB" sz="2000" dirty="0"/>
          </a:p>
        </p:txBody>
      </p:sp>
      <p:sp>
        <p:nvSpPr>
          <p:cNvPr id="9" name="Rectangle 8"/>
          <p:cNvSpPr/>
          <p:nvPr/>
        </p:nvSpPr>
        <p:spPr>
          <a:xfrm>
            <a:off x="1847528" y="5157193"/>
            <a:ext cx="8291264" cy="1015663"/>
          </a:xfrm>
          <a:prstGeom prst="rect">
            <a:avLst/>
          </a:prstGeom>
        </p:spPr>
        <p:txBody>
          <a:bodyPr wrap="square">
            <a:spAutoFit/>
          </a:bodyPr>
          <a:lstStyle/>
          <a:p>
            <a:endParaRPr lang="en-GB" sz="2000" b="1" dirty="0">
              <a:latin typeface="Arial" panose="020B0604020202020204" pitchFamily="34" charset="0"/>
              <a:cs typeface="Arial" panose="020B0604020202020204" pitchFamily="34" charset="0"/>
            </a:endParaRPr>
          </a:p>
          <a:p>
            <a:r>
              <a:rPr lang="en-GB" sz="2000" b="1" dirty="0">
                <a:latin typeface="Arial" panose="020B0604020202020204" pitchFamily="34" charset="0"/>
                <a:cs typeface="Arial" panose="020B0604020202020204" pitchFamily="34" charset="0"/>
              </a:rPr>
              <a:t>Action potential </a:t>
            </a:r>
            <a:r>
              <a:rPr lang="en-GB" sz="2000" dirty="0">
                <a:latin typeface="Arial" panose="020B0604020202020204" pitchFamily="34" charset="0"/>
                <a:cs typeface="Arial" panose="020B0604020202020204" pitchFamily="34" charset="0"/>
              </a:rPr>
              <a:t>– Spread from the autorhythmic cells and kick start the intrinsic conduction system</a:t>
            </a:r>
            <a:r>
              <a:rPr lang="en-GB" sz="2000" dirty="0">
                <a:solidFill>
                  <a:srgbClr val="FF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58962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20A9264-E06B-E111-7267-FD8D0DEC67AF}"/>
              </a:ext>
            </a:extLst>
          </p:cNvPr>
          <p:cNvSpPr>
            <a:spLocks noGrp="1" noChangeArrowheads="1"/>
          </p:cNvSpPr>
          <p:nvPr>
            <p:ph type="title"/>
          </p:nvPr>
        </p:nvSpPr>
        <p:spPr>
          <a:xfrm>
            <a:off x="2209800" y="304800"/>
            <a:ext cx="7772400" cy="1143000"/>
          </a:xfrm>
        </p:spPr>
        <p:txBody>
          <a:bodyPr>
            <a:normAutofit fontScale="90000"/>
          </a:bodyPr>
          <a:lstStyle/>
          <a:p>
            <a:pPr>
              <a:defRPr/>
            </a:pPr>
            <a:r>
              <a:rPr lang="en-US" altLang="en-US">
                <a:solidFill>
                  <a:schemeClr val="tx1">
                    <a:lumMod val="95000"/>
                    <a:lumOff val="5000"/>
                  </a:schemeClr>
                </a:solidFill>
              </a:rPr>
              <a:t>Conducting System</a:t>
            </a:r>
            <a:br>
              <a:rPr lang="en-US" altLang="en-US">
                <a:solidFill>
                  <a:schemeClr val="tx1">
                    <a:lumMod val="95000"/>
                    <a:lumOff val="5000"/>
                  </a:schemeClr>
                </a:solidFill>
              </a:rPr>
            </a:br>
            <a:r>
              <a:rPr lang="en-US" altLang="en-US">
                <a:solidFill>
                  <a:schemeClr val="tx1">
                    <a:lumMod val="95000"/>
                    <a:lumOff val="5000"/>
                  </a:schemeClr>
                </a:solidFill>
              </a:rPr>
              <a:t>of the Heart</a:t>
            </a:r>
          </a:p>
        </p:txBody>
      </p:sp>
      <p:pic>
        <p:nvPicPr>
          <p:cNvPr id="27651" name="Picture 5" descr="FIG05-02">
            <a:extLst>
              <a:ext uri="{FF2B5EF4-FFF2-40B4-BE49-F238E27FC236}">
                <a16:creationId xmlns:a16="http://schemas.microsoft.com/office/drawing/2014/main" id="{C2B17A12-241F-27EB-0802-53F7C67A0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2163" y="2060575"/>
            <a:ext cx="368300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5" descr="Image result for cardiac conductive fibres&quot;">
            <a:extLst>
              <a:ext uri="{FF2B5EF4-FFF2-40B4-BE49-F238E27FC236}">
                <a16:creationId xmlns:a16="http://schemas.microsoft.com/office/drawing/2014/main" id="{58E2FE7D-88E0-A4A4-0193-3F0AAB1451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5164" y="3141664"/>
            <a:ext cx="479742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73F8055-8E1C-DC28-56BF-00A09F5E4D70}"/>
              </a:ext>
            </a:extLst>
          </p:cNvPr>
          <p:cNvGrpSpPr/>
          <p:nvPr/>
        </p:nvGrpSpPr>
        <p:grpSpPr>
          <a:xfrm>
            <a:off x="5614416" y="327064"/>
            <a:ext cx="7461504" cy="5891432"/>
            <a:chOff x="4462272" y="564808"/>
            <a:chExt cx="7729728" cy="5891432"/>
          </a:xfrm>
        </p:grpSpPr>
        <p:pic>
          <p:nvPicPr>
            <p:cNvPr id="3" name="Picture 5" descr="Image result for cardiac conductive fibres&quot;">
              <a:extLst>
                <a:ext uri="{FF2B5EF4-FFF2-40B4-BE49-F238E27FC236}">
                  <a16:creationId xmlns:a16="http://schemas.microsoft.com/office/drawing/2014/main" id="{457D1E3F-BE76-85E8-559A-E074CB0CF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2272" y="564808"/>
              <a:ext cx="7537641" cy="5891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1C5FA30B-E2C7-F01F-8440-6576CD3AB4CE}"/>
                </a:ext>
              </a:extLst>
            </p:cNvPr>
            <p:cNvSpPr/>
            <p:nvPr/>
          </p:nvSpPr>
          <p:spPr>
            <a:xfrm>
              <a:off x="5047488" y="3102556"/>
              <a:ext cx="2212848" cy="8159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31D2E768-69AC-3432-CC85-89ED5AF32C3E}"/>
                </a:ext>
              </a:extLst>
            </p:cNvPr>
            <p:cNvSpPr/>
            <p:nvPr/>
          </p:nvSpPr>
          <p:spPr>
            <a:xfrm>
              <a:off x="9710928" y="564808"/>
              <a:ext cx="1905000" cy="943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2C33606-6ADB-700B-60E7-38E851A43EFF}"/>
                </a:ext>
              </a:extLst>
            </p:cNvPr>
            <p:cNvSpPr/>
            <p:nvPr/>
          </p:nvSpPr>
          <p:spPr>
            <a:xfrm>
              <a:off x="8089392" y="2140624"/>
              <a:ext cx="1283208" cy="791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54EAB76-FBC7-21F1-DED8-9196614AE080}"/>
                </a:ext>
              </a:extLst>
            </p:cNvPr>
            <p:cNvSpPr/>
            <p:nvPr/>
          </p:nvSpPr>
          <p:spPr>
            <a:xfrm>
              <a:off x="10287000" y="3918492"/>
              <a:ext cx="1905000" cy="19153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2E6B21E2-E8DB-D1D9-4F0F-B7A006DFFA80}"/>
              </a:ext>
            </a:extLst>
          </p:cNvPr>
          <p:cNvSpPr txBox="1"/>
          <p:nvPr/>
        </p:nvSpPr>
        <p:spPr>
          <a:xfrm>
            <a:off x="384048" y="1143000"/>
            <a:ext cx="8156448" cy="5150192"/>
          </a:xfrm>
          <a:prstGeom prst="rect">
            <a:avLst/>
          </a:prstGeom>
          <a:noFill/>
        </p:spPr>
        <p:txBody>
          <a:bodyPr wrap="square" rtlCol="0">
            <a:spAutoFit/>
          </a:bodyPr>
          <a:lstStyle/>
          <a:p>
            <a:pPr>
              <a:lnSpc>
                <a:spcPct val="200000"/>
              </a:lnSpc>
            </a:pPr>
            <a:r>
              <a:rPr lang="en-GB" sz="2400" dirty="0"/>
              <a:t>Excitation – contraction coupling involves an ‘action potential’ activating contraction then relaxation of a cardiac myocyte.</a:t>
            </a:r>
          </a:p>
          <a:p>
            <a:pPr>
              <a:lnSpc>
                <a:spcPct val="200000"/>
              </a:lnSpc>
            </a:pPr>
            <a:endParaRPr lang="en-GB" sz="2400" dirty="0"/>
          </a:p>
          <a:p>
            <a:pPr>
              <a:lnSpc>
                <a:spcPct val="200000"/>
              </a:lnSpc>
            </a:pPr>
            <a:r>
              <a:rPr lang="en-GB" sz="2400" dirty="0"/>
              <a:t>In the heart, nervous activity is not responsible for the action potential – cardiac pacemaker cells located in the </a:t>
            </a:r>
            <a:r>
              <a:rPr lang="en-GB" sz="2400" dirty="0">
                <a:highlight>
                  <a:srgbClr val="C0C0C0"/>
                </a:highlight>
              </a:rPr>
              <a:t>sinoatrial node </a:t>
            </a:r>
            <a:r>
              <a:rPr lang="en-GB" sz="2400" dirty="0"/>
              <a:t>of the right atrium initiate contraction.</a:t>
            </a:r>
          </a:p>
        </p:txBody>
      </p:sp>
    </p:spTree>
    <p:extLst>
      <p:ext uri="{BB962C8B-B14F-4D97-AF65-F5344CB8AC3E}">
        <p14:creationId xmlns:p14="http://schemas.microsoft.com/office/powerpoint/2010/main" val="10335460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0</TotalTime>
  <Words>2114</Words>
  <Application>Microsoft Office PowerPoint</Application>
  <PresentationFormat>Widescreen</PresentationFormat>
  <Paragraphs>266</Paragraphs>
  <Slides>50</Slides>
  <Notes>24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50</vt:i4>
      </vt:variant>
    </vt:vector>
  </HeadingPairs>
  <TitlesOfParts>
    <vt:vector size="64" baseType="lpstr">
      <vt:lpstr>arial</vt:lpstr>
      <vt:lpstr>arial</vt:lpstr>
      <vt:lpstr>BlinkMacSystemFont</vt:lpstr>
      <vt:lpstr>Calibri</vt:lpstr>
      <vt:lpstr>Merriweather</vt:lpstr>
      <vt:lpstr>Muli</vt:lpstr>
      <vt:lpstr>Open Sans</vt:lpstr>
      <vt:lpstr>Rockwell</vt:lpstr>
      <vt:lpstr>Rockwell Condensed</vt:lpstr>
      <vt:lpstr>Source Sans Pro</vt:lpstr>
      <vt:lpstr>Times New Roman</vt:lpstr>
      <vt:lpstr>Wingdings</vt:lpstr>
      <vt:lpstr>Wingdings 2</vt:lpstr>
      <vt:lpstr>Wood Type</vt:lpstr>
      <vt:lpstr>Cardio-vascular 1 Pre-lecture notes: </vt:lpstr>
      <vt:lpstr>learning outcomes:</vt:lpstr>
      <vt:lpstr>1. diffusion vs convection</vt:lpstr>
      <vt:lpstr>PowerPoint Presentation</vt:lpstr>
      <vt:lpstr>2. Body water compartments  composition of blood Osmolarity and equilibria across membranes, capillaries                           </vt:lpstr>
      <vt:lpstr>Body Fluid Compartments</vt:lpstr>
      <vt:lpstr>Arterial Blood Pressure</vt:lpstr>
      <vt:lpstr>PowerPoint Presentation</vt:lpstr>
      <vt:lpstr>PowerPoint Presentation</vt:lpstr>
      <vt:lpstr>PowerPoint Presentation</vt:lpstr>
      <vt:lpstr>PowerPoint Presentation</vt:lpstr>
      <vt:lpstr>Regulation of Intracellular Fluid</vt:lpstr>
      <vt:lpstr>Extracellular Fluid Osmolarity</vt:lpstr>
      <vt:lpstr>Effect of Blood Osmolality and Blood Pressure on Thirst</vt:lpstr>
      <vt:lpstr>Regulation of Extracellular Fluid Osmolality</vt:lpstr>
      <vt:lpstr>The structure of arteries, veins and capillaries:   a) photomicrograph of an artery and vein in cross section  b) diagrammatic view of an artery, a vein and a capillary</vt:lpstr>
      <vt:lpstr>PowerPoint Presentation</vt:lpstr>
      <vt:lpstr>PowerPoint Presentation</vt:lpstr>
      <vt:lpstr>3. The structure of the heart </vt:lpstr>
      <vt:lpstr>Surface Anatomy</vt:lpstr>
      <vt:lpstr>Sulci of the Heart </vt:lpstr>
      <vt:lpstr>Sulci of the Heart </vt:lpstr>
      <vt:lpstr>Basic Anatomy of the Heart</vt:lpstr>
      <vt:lpstr>Atria of the Heart</vt:lpstr>
      <vt:lpstr>Ventricles of the Heart</vt:lpstr>
      <vt:lpstr>PowerPoint Presentation</vt:lpstr>
      <vt:lpstr>PowerPoint Presentation</vt:lpstr>
      <vt:lpstr>PowerPoint Presentation</vt:lpstr>
      <vt:lpstr>Mitral / Bicuspid valve</vt:lpstr>
      <vt:lpstr>Tricuspid valve</vt:lpstr>
      <vt:lpstr>Aortic valve</vt:lpstr>
      <vt:lpstr>PowerPoint Presentation</vt:lpstr>
      <vt:lpstr>PowerPoint Presentation</vt:lpstr>
      <vt:lpstr>PowerPoint Presentation</vt:lpstr>
      <vt:lpstr>Arrangement of myocardial bundles in the heart.</vt:lpstr>
      <vt:lpstr>PowerPoint Presentation</vt:lpstr>
      <vt:lpstr>Coronary Circulation: Arterial Supply</vt:lpstr>
      <vt:lpstr>Coronary Circulation: Arterial Supply</vt:lpstr>
      <vt:lpstr>Mediastinum</vt:lpstr>
      <vt:lpstr>PowerPoint Presentation</vt:lpstr>
      <vt:lpstr>PowerPoint Presentation</vt:lpstr>
      <vt:lpstr>Mediastinum</vt:lpstr>
      <vt:lpstr>Mediastinum</vt:lpstr>
      <vt:lpstr>4. The Cardiac Cycle </vt:lpstr>
      <vt:lpstr>PowerPoint Presentation</vt:lpstr>
      <vt:lpstr>PowerPoint Presentation</vt:lpstr>
      <vt:lpstr>5. Myocardial action potential and contraction coupling </vt:lpstr>
      <vt:lpstr>Cardiac Rhythm </vt:lpstr>
      <vt:lpstr>Conducting System of the Heart</vt:lpstr>
      <vt:lpstr>PowerPoint Presentation</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Physiology</dc:title>
  <dc:creator>Georgia Whitfield</dc:creator>
  <cp:lastModifiedBy>Christopher Chamberlin</cp:lastModifiedBy>
  <cp:revision>159</cp:revision>
  <cp:lastPrinted>2015-12-09T10:33:20Z</cp:lastPrinted>
  <dcterms:created xsi:type="dcterms:W3CDTF">2015-12-09T09:06:43Z</dcterms:created>
  <dcterms:modified xsi:type="dcterms:W3CDTF">2025-02-12T12:10:01Z</dcterms:modified>
</cp:coreProperties>
</file>