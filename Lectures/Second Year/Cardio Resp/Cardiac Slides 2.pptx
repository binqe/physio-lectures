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2" r:id="rId3"/>
    <p:sldId id="263" r:id="rId4"/>
    <p:sldId id="264" r:id="rId5"/>
    <p:sldId id="261" r:id="rId6"/>
    <p:sldId id="265" r:id="rId7"/>
    <p:sldId id="266" r:id="rId8"/>
    <p:sldId id="267" r:id="rId9"/>
    <p:sldId id="268" r:id="rId10"/>
    <p:sldId id="269" r:id="rId11"/>
    <p:sldId id="270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94"/>
    <p:restoredTop sz="95638"/>
  </p:normalViewPr>
  <p:slideViewPr>
    <p:cSldViewPr snapToGrid="0">
      <p:cViewPr varScale="1">
        <p:scale>
          <a:sx n="125" d="100"/>
          <a:sy n="125" d="100"/>
        </p:scale>
        <p:origin x="16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9D8FF-CD9F-0843-9892-3E6DE74EF191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37A3CF-ECA4-5645-89FB-A934ABC97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986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ECEC5-1ECE-F0EF-CCE2-992C6CAE3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11B149-BACF-E66F-F69E-C61EB399F9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36609-3104-7ADB-1EA3-D705AEE5E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9DFCE-DE2B-964C-BFB4-D1FEB1BF56C1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E4418-C3FE-5074-C7E5-6C2CAAAEC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0F97F-C201-754A-689E-8E5754953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BAF81-FF09-8A4D-B4A7-423C33F58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538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48F7-4981-9A15-B040-7BFB1DDE7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023AF-6F44-CCB1-3667-B4B28C2A5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69B45-2436-9A47-F399-0EDBA8691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9DFCE-DE2B-964C-BFB4-D1FEB1BF56C1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FB2E9-B75B-26EB-E999-CC0E89227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06376-2E10-070C-5933-4E795BD35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BAF81-FF09-8A4D-B4A7-423C33F58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648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DFA28-DDDD-2EC6-769D-2022FB59B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B6B58-7F2A-0DAA-F453-633057E88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2B82D-D758-F808-448B-56EA93DF6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9DFCE-DE2B-964C-BFB4-D1FEB1BF56C1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8AB7C-359B-9C6A-D06B-317C53895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28F69-8F56-AE1E-9301-2823D5D7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BAF81-FF09-8A4D-B4A7-423C33F58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51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D3DCE-9AD1-1881-3EBB-CD7445DAD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A388A-5DE2-EB8D-7731-6BBFDD8FAD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54BD60-D7F5-5ADF-E18E-5FC4BA67D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2B726-5DE7-23F0-DABB-CE4821D6E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9DFCE-DE2B-964C-BFB4-D1FEB1BF56C1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977BFF-A27D-3919-EC31-37A19E477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44E901-A9DD-33B2-9A40-F28A2EBFD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BAF81-FF09-8A4D-B4A7-423C33F58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145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5CC67-887A-46A7-D584-B6814C922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B17A1-5B07-1BB5-29FD-82213B292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B760C1-44D0-31E1-F958-B1F06B8E21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1F1F47-243E-CC5C-7A5D-770CFD690A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E83531-5FE1-31C2-80D0-BE0C098666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F6872A-B1BC-B251-AA77-C4BDBC2B0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9DFCE-DE2B-964C-BFB4-D1FEB1BF56C1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99AD0E-AE6A-A50D-B1B1-5BAD9FB7B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744419-39B3-DBE6-733A-E9F24B545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BAF81-FF09-8A4D-B4A7-423C33F58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83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2BC4F-CF12-0BB2-6CF9-516429F76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65489F-2D05-7BE6-A868-2CAD04E17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9DFCE-DE2B-964C-BFB4-D1FEB1BF56C1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75F0B2-D296-7E44-B388-EC2D389E0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09D873-1402-88BD-5854-E9F80AAD9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BAF81-FF09-8A4D-B4A7-423C33F58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87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59A159-E566-C6E6-33DF-9AD27354C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9DFCE-DE2B-964C-BFB4-D1FEB1BF56C1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986DF4-FEFF-EC22-BEC2-620EB0B65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2FDC6-604E-A351-84E6-60ACD4849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BAF81-FF09-8A4D-B4A7-423C33F58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011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432F2-636E-EE68-703D-82A08F7DD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FADA0-8DDD-4CC9-DB0B-287F1BEC7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FE8E4E-A1F8-01ED-77D5-E9E487680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4A488-1D14-F2CD-DA9F-B5EE8B7CE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9DFCE-DE2B-964C-BFB4-D1FEB1BF56C1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5003E-A1D7-3EDF-5CD8-E09852640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DE0E3-5CAC-A47C-4186-30712BE97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BAF81-FF09-8A4D-B4A7-423C33F58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324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E986B-43E1-B0E0-BAF8-7E8AF7936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89D970-72A3-2B87-A4D4-BA00A412FE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78B51-6A4B-C192-1245-49EECE8F2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5DA8A0-506E-746C-B407-C2CFEE62C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9DFCE-DE2B-964C-BFB4-D1FEB1BF56C1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BE3B72-C0EB-86A4-AD13-398D3220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38A8C0-9F24-BB38-3164-3E05C219B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BAF81-FF09-8A4D-B4A7-423C33F58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574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AD829-D1E4-97C4-7CA1-1872AB6DB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C69490-088B-B1BA-71E2-7033A97D8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997D1-FFE3-CA6E-6269-EBD9D7A9C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9DFCE-DE2B-964C-BFB4-D1FEB1BF56C1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4D202-1F6E-DE92-154E-FE7553B28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B5CCD-B228-C9BF-02E0-6C883BEC6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BAF81-FF09-8A4D-B4A7-423C33F58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99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9AD9A2-9C15-202D-569A-9AF3239257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9D0088-558D-CEF5-025C-BDF5F703E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0FDC3-4E8E-9927-8A44-DACBE7244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9DFCE-DE2B-964C-BFB4-D1FEB1BF56C1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8CA9C-009C-8B2C-7008-69AB14A6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007AF-CDF0-5F7C-2714-2DEE4298D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BAF81-FF09-8A4D-B4A7-423C33F58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928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9753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15F1F4-7EB1-C5B3-E99C-2699E386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77C7C-1D27-7D9A-61E8-D15C61723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9638C-3DE3-A466-FEB6-E95F6AC7DC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D9DFCE-DE2B-964C-BFB4-D1FEB1BF56C1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E65DD-AC1B-1DED-5D7B-3ECA338ED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0F974-1A52-DB6A-62AE-9B1E0D60A8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2BAF81-FF09-8A4D-B4A7-423C33F58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756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Intubation&amp;client=safari&amp;hs=yQjp&amp;sca_esv=7a3e106727178f17&amp;rls=en&amp;sxsrf=ANbL-n6VhQ4M51y-x3247A7fAR9-XIYzCA%3A1776527964132&amp;ei=XKrjafDoB82ThbIPmqOFkAE&amp;biw=720&amp;bih=694&amp;ved=2ahUKEwil_b_I4veTAxURW0EAHddjHtYQgK4QegYIAQgAEAw&amp;uact=5&amp;oq=pneumonia+post+surgery&amp;gs_lp=Egxnd3Mtd2l6LXNlcnAiFnBuZXVtb25pYSBwb3N0IHN1cmdlcnkyBRAAGIAEMgUQABiABDIGEAAYFhgeMgYQABgWGB4yBhAAGBYYHjIGEAAYFhgeMgYQABgWGB4yBhAAGBYYHjIGEAAYFhgeMgYQABgWGB5IpDlQAFiJOHAKeAGQAQCYAdsBoAHHFKoBBjI0LjUuMbgBA8gBAPgBAZgCKKAC5RaoAgrCAg0QIxjwBRiABBgnGIoFwgIKECMYgAQYJxiKBcICEBAjGPAFGIAEGCcYyQIYigXCAgoQABiABBhDGIoFwgINEAAYgAQYsQMYQxiKBcICCBAAGIAEGLEDwgILEC4YgAQY0QMYxwHCAggQLhiABBixA8ICExAuGIAEGLEDGNEDGEMYxwEYigXCAgcQABiABBgKwgIHECMYJxjqAsICDRAjGPAFGCcYyQIY6gLCAgsQABiABBiRAhiKBcICBRAhGKABwgIHECEYoAEYCsICBRAhGJ8FmAMM8QVFu4PUMyiwL5IHBjMxLjguMaAHmc4BsgcGMjEuOC4xuAefFsIHCDEuNC4yOS42yAfUAYAIAA&amp;sclient=gws-wiz-serp" TargetMode="External"/><Relationship Id="rId2" Type="http://schemas.openxmlformats.org/officeDocument/2006/relationships/hyperlink" Target="https://www.google.com/search?q=Anesthesia&amp;client=safari&amp;hs=yQjp&amp;sca_esv=7a3e106727178f17&amp;rls=en&amp;sxsrf=ANbL-n6VhQ4M51y-x3247A7fAR9-XIYzCA%3A1776527964132&amp;ei=XKrjafDoB82ThbIPmqOFkAE&amp;biw=720&amp;bih=694&amp;ved=2ahUKEwil_b_I4veTAxURW0EAHddjHtYQgK4QegYIAQgAEAk&amp;uact=5&amp;oq=pneumonia+post+surgery&amp;gs_lp=Egxnd3Mtd2l6LXNlcnAiFnBuZXVtb25pYSBwb3N0IHN1cmdlcnkyBRAAGIAEMgUQABiABDIGEAAYFhgeMgYQABgWGB4yBhAAGBYYHjIGEAAYFhgeMgYQABgWGB4yBhAAGBYYHjIGEAAYFhgeMgYQABgWGB5IpDlQAFiJOHAKeAGQAQCYAdsBoAHHFKoBBjI0LjUuMbgBA8gBAPgBAZgCKKAC5RaoAgrCAg0QIxjwBRiABBgnGIoFwgIKECMYgAQYJxiKBcICEBAjGPAFGIAEGCcYyQIYigXCAgoQABiABBhDGIoFwgINEAAYgAQYsQMYQxiKBcICCBAAGIAEGLEDwgILEC4YgAQY0QMYxwHCAggQLhiABBixA8ICExAuGIAEGLEDGNEDGEMYxwEYigXCAgcQABiABBgKwgIHECMYJxjqAsICDRAjGPAFGCcYyQIY6gLCAgsQABiABBiRAhiKBcICBRAhGKABwgIHECEYoAEYCsICBRAhGJ8FmAMM8QVFu4PUMyiwL5IHBjMxLjguMaAHmc4BsgcGMjEuOC4xuAefFsIHCDEuNC4yOS42yAfUAYAIAA&amp;sclient=gws-wiz-serp" TargetMode="Externa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B1E70C-9394-ACBD-AE17-F9648B7F3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802955"/>
            <a:ext cx="4977976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8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Physiological Consequences of Major Surgery</a:t>
            </a:r>
            <a:br>
              <a:rPr lang="en-US" sz="28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28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158E2B-4775-4542-7B38-EC03D8D63AB1}"/>
              </a:ext>
            </a:extLst>
          </p:cNvPr>
          <p:cNvSpPr txBox="1"/>
          <p:nvPr/>
        </p:nvSpPr>
        <p:spPr>
          <a:xfrm>
            <a:off x="804671" y="1426784"/>
            <a:ext cx="4977578" cy="3639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lvl="0" indent="-228600">
              <a:lnSpc>
                <a:spcPct val="90000"/>
              </a:lnSpc>
              <a:spcAft>
                <a:spcPts val="6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b="1" dirty="0">
                <a:solidFill>
                  <a:schemeClr val="tx2"/>
                </a:solidFill>
                <a:effectLst/>
              </a:rPr>
              <a:t>Evaluate</a:t>
            </a:r>
            <a:r>
              <a:rPr lang="en-US" dirty="0">
                <a:solidFill>
                  <a:schemeClr val="tx2"/>
                </a:solidFill>
                <a:effectLst/>
              </a:rPr>
              <a:t> the impact of general anesthesia, sternotomy, and thoracotomy on respiratory mechanics and gas exchange.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b="1" dirty="0">
                <a:solidFill>
                  <a:schemeClr val="tx2"/>
                </a:solidFill>
                <a:effectLst/>
              </a:rPr>
              <a:t>Understand</a:t>
            </a:r>
            <a:r>
              <a:rPr lang="en-US" dirty="0">
                <a:solidFill>
                  <a:schemeClr val="tx2"/>
                </a:solidFill>
                <a:effectLst/>
              </a:rPr>
              <a:t> the systemic inflammatory response and its implications for physiotherapy timing and intensity.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b="1" dirty="0">
                <a:solidFill>
                  <a:schemeClr val="tx2"/>
                </a:solidFill>
                <a:effectLst/>
              </a:rPr>
              <a:t>Review</a:t>
            </a:r>
            <a:r>
              <a:rPr lang="en-US" dirty="0">
                <a:solidFill>
                  <a:schemeClr val="tx2"/>
                </a:solidFill>
                <a:effectLst/>
              </a:rPr>
              <a:t> common post-operative complications, such as atelectasis, pleural effusion, and arrhythmias (AF).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Graphic 8" descr="Doctor">
            <a:extLst>
              <a:ext uri="{FF2B5EF4-FFF2-40B4-BE49-F238E27FC236}">
                <a16:creationId xmlns:a16="http://schemas.microsoft.com/office/drawing/2014/main" id="{93E17C77-1511-89E5-DFA3-E19724743D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549267-89A1-39D9-11BE-049DD931EEAC}"/>
              </a:ext>
            </a:extLst>
          </p:cNvPr>
          <p:cNvSpPr txBox="1"/>
          <p:nvPr/>
        </p:nvSpPr>
        <p:spPr>
          <a:xfrm>
            <a:off x="804671" y="5689902"/>
            <a:ext cx="28144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Advanced Physiotherapist </a:t>
            </a:r>
          </a:p>
          <a:p>
            <a:r>
              <a:rPr lang="en-US" dirty="0"/>
              <a:t>Peter Chong</a:t>
            </a:r>
          </a:p>
        </p:txBody>
      </p:sp>
    </p:spTree>
    <p:extLst>
      <p:ext uri="{BB962C8B-B14F-4D97-AF65-F5344CB8AC3E}">
        <p14:creationId xmlns:p14="http://schemas.microsoft.com/office/powerpoint/2010/main" val="3555411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7D95DD-85AC-3828-81EC-A396158AFB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691285"/>
              </p:ext>
            </p:extLst>
          </p:nvPr>
        </p:nvGraphicFramePr>
        <p:xfrm>
          <a:off x="725214" y="966952"/>
          <a:ext cx="10373710" cy="5276195"/>
        </p:xfrm>
        <a:graphic>
          <a:graphicData uri="http://schemas.openxmlformats.org/drawingml/2006/table">
            <a:tbl>
              <a:tblPr/>
              <a:tblGrid>
                <a:gridCol w="6072585">
                  <a:extLst>
                    <a:ext uri="{9D8B030D-6E8A-4147-A177-3AD203B41FA5}">
                      <a16:colId xmlns:a16="http://schemas.microsoft.com/office/drawing/2014/main" val="2506303897"/>
                    </a:ext>
                  </a:extLst>
                </a:gridCol>
                <a:gridCol w="4301125">
                  <a:extLst>
                    <a:ext uri="{9D8B030D-6E8A-4147-A177-3AD203B41FA5}">
                      <a16:colId xmlns:a16="http://schemas.microsoft.com/office/drawing/2014/main" val="2717006555"/>
                    </a:ext>
                  </a:extLst>
                </a:gridCol>
              </a:tblGrid>
              <a:tr h="376871">
                <a:tc>
                  <a:txBody>
                    <a:bodyPr/>
                    <a:lstStyle/>
                    <a:p>
                      <a:r>
                        <a:rPr lang="en-AU" sz="1000" b="1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Mechanism</a:t>
                      </a:r>
                      <a:endParaRPr lang="en-A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Clinical Consequence</a:t>
                      </a:r>
                      <a:endParaRPr lang="en-A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966143"/>
                  </a:ext>
                </a:extLst>
              </a:tr>
              <a:tr h="829116">
                <a:tc>
                  <a:txBody>
                    <a:bodyPr/>
                    <a:lstStyle/>
                    <a:p>
                      <a:r>
                        <a:rPr lang="en-AU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Loss of conscious respiratory drive</a:t>
                      </a:r>
                      <a:endParaRPr lang="en-A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Dependence on mechanical ventilation intraoperatively; risk of apnoea on emergence from anaesthesia</a:t>
                      </a:r>
                      <a:endParaRPr lang="en-A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598318"/>
                  </a:ext>
                </a:extLst>
              </a:tr>
              <a:tr h="829116">
                <a:tc>
                  <a:txBody>
                    <a:bodyPr/>
                    <a:lstStyle/>
                    <a:p>
                      <a:r>
                        <a:rPr lang="en-AU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Reduced functional residual capacity (FRC) - by 15 - 20% when supine</a:t>
                      </a:r>
                      <a:endParaRPr lang="en-AU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Airway closure occurs at higher lung volumes; increased V/Q mismatch and intrapulmonary shunting → hypoxaemia</a:t>
                      </a:r>
                      <a:endParaRPr lang="en-A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488343"/>
                  </a:ext>
                </a:extLst>
              </a:tr>
              <a:tr h="602994">
                <a:tc>
                  <a:txBody>
                    <a:bodyPr/>
                    <a:lstStyle/>
                    <a:p>
                      <a:r>
                        <a:rPr lang="en-AU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Impairment of hypoxic pulmonary vasoconstriction (HPV)</a:t>
                      </a:r>
                      <a:endParaRPr lang="en-A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Worsening intrapulmonary shunt; areas of atelectasis receive perfusion without ventilation</a:t>
                      </a:r>
                      <a:endParaRPr lang="en-A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043641"/>
                  </a:ext>
                </a:extLst>
              </a:tr>
              <a:tr h="602994">
                <a:tc>
                  <a:txBody>
                    <a:bodyPr/>
                    <a:lstStyle/>
                    <a:p>
                      <a:r>
                        <a:rPr lang="en-AU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Ciliary suppression </a:t>
                      </a:r>
                      <a:endParaRPr lang="en-AU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Reduced mucociliary clearance → secretion retention → lobar collapse risk</a:t>
                      </a:r>
                      <a:endParaRPr lang="en-A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41060"/>
                  </a:ext>
                </a:extLst>
              </a:tr>
              <a:tr h="602994">
                <a:tc>
                  <a:txBody>
                    <a:bodyPr/>
                    <a:lstStyle/>
                    <a:p>
                      <a:r>
                        <a:rPr lang="en-AU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Diaphragm dysfunction - altered phrenic nerve signalling</a:t>
                      </a:r>
                      <a:endParaRPr lang="en-AU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Paradoxical respiratory patterns; reduced tidal volume post-extubation</a:t>
                      </a:r>
                      <a:endParaRPr lang="en-A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530652"/>
                  </a:ext>
                </a:extLst>
              </a:tr>
              <a:tr h="602994">
                <a:tc>
                  <a:txBody>
                    <a:bodyPr/>
                    <a:lstStyle/>
                    <a:p>
                      <a:r>
                        <a:rPr lang="en-AU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Residual neuromuscular blockade</a:t>
                      </a:r>
                      <a:endParaRPr lang="en-A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Ventilatory muscle weakness; aspiration risk; atelectasis</a:t>
                      </a:r>
                      <a:endParaRPr lang="en-A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740231"/>
                  </a:ext>
                </a:extLst>
              </a:tr>
              <a:tr h="829116">
                <a:tc>
                  <a:txBody>
                    <a:bodyPr/>
                    <a:lstStyle/>
                    <a:p>
                      <a:r>
                        <a:rPr lang="en-AU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Opioid analgesics (post-operatively)</a:t>
                      </a:r>
                      <a:endParaRPr lang="en-A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Respiratory depression, reduced cough reflex, splinting due to pain - all impair secretion clearance</a:t>
                      </a:r>
                      <a:endParaRPr lang="en-AU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0444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ECAD894-BAB0-6EDD-42E0-80B9A7F38974}"/>
              </a:ext>
            </a:extLst>
          </p:cNvPr>
          <p:cNvSpPr txBox="1"/>
          <p:nvPr/>
        </p:nvSpPr>
        <p:spPr>
          <a:xfrm>
            <a:off x="603743" y="381079"/>
            <a:ext cx="90839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400"/>
              </a:spcAft>
            </a:pPr>
            <a:r>
              <a:rPr lang="en-AU" sz="2400" b="1" dirty="0">
                <a:solidFill>
                  <a:srgbClr val="1A5276"/>
                </a:solidFill>
                <a:effectLst/>
                <a:latin typeface="Arial" panose="020B0604020202020204" pitchFamily="34" charset="0"/>
              </a:rPr>
              <a:t>General Anaesthesia</a:t>
            </a:r>
            <a:endParaRPr lang="en-AU" sz="2000" b="1" dirty="0">
              <a:solidFill>
                <a:srgbClr val="1A5276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73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Freeform: Shape 308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FECA57-521D-15CE-6E77-8041A7FA62B4}"/>
              </a:ext>
            </a:extLst>
          </p:cNvPr>
          <p:cNvSpPr txBox="1"/>
          <p:nvPr/>
        </p:nvSpPr>
        <p:spPr>
          <a:xfrm>
            <a:off x="1137034" y="609597"/>
            <a:ext cx="9392421" cy="13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Sternotomy - Specific Respiratory Consequences</a:t>
            </a:r>
            <a:r>
              <a:rPr lang="en-US" sz="44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endParaRPr lang="en-US" sz="4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6E43F4-E61B-AF4B-7365-1133F7406D7F}"/>
              </a:ext>
            </a:extLst>
          </p:cNvPr>
          <p:cNvSpPr txBox="1"/>
          <p:nvPr/>
        </p:nvSpPr>
        <p:spPr>
          <a:xfrm>
            <a:off x="1137034" y="2198362"/>
            <a:ext cx="4958966" cy="3917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14300" lv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100" b="1" dirty="0">
                <a:effectLst/>
              </a:rPr>
              <a:t>Chest wall splinting: </a:t>
            </a:r>
          </a:p>
          <a:p>
            <a:pPr lvl="0" indent="-2286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P</a:t>
            </a:r>
            <a:r>
              <a:rPr lang="en-US" sz="1100" dirty="0">
                <a:effectLst/>
              </a:rPr>
              <a:t>ost-operative pain causes patients to adopt shallow, rapid breathing patterns, reducing tidal volume and preventing effective coughing. This is the single most important physiotherapy target in the early post-operative period.</a:t>
            </a:r>
          </a:p>
          <a:p>
            <a:pPr marL="114300" lv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100" b="1" dirty="0">
                <a:effectLst/>
              </a:rPr>
              <a:t>Reduced lung compliance: </a:t>
            </a:r>
          </a:p>
          <a:p>
            <a:pPr lvl="0" indent="-2286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A</a:t>
            </a:r>
            <a:r>
              <a:rPr lang="en-US" sz="1100" dirty="0">
                <a:effectLst/>
              </a:rPr>
              <a:t>ltering the pressure-volume relationship. </a:t>
            </a:r>
            <a:r>
              <a:rPr lang="en-US" sz="1100" dirty="0"/>
              <a:t>Can impair gas flow and therefore </a:t>
            </a:r>
            <a:r>
              <a:rPr lang="en-US" sz="1100" dirty="0" err="1"/>
              <a:t>mucociliary</a:t>
            </a:r>
            <a:r>
              <a:rPr lang="en-US" sz="1100" dirty="0"/>
              <a:t> clearance </a:t>
            </a:r>
            <a:endParaRPr lang="en-US" sz="1100" dirty="0">
              <a:effectLst/>
            </a:endParaRPr>
          </a:p>
          <a:p>
            <a:pPr lv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100" b="1" dirty="0">
                <a:effectLst/>
              </a:rPr>
              <a:t>Phrenic nerve injury: </a:t>
            </a:r>
          </a:p>
          <a:p>
            <a:pPr lvl="0" indent="-2286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O</a:t>
            </a:r>
            <a:r>
              <a:rPr lang="en-US" sz="1100" dirty="0">
                <a:effectLst/>
              </a:rPr>
              <a:t>ccurs in up to 10–15% of cardiac surgical cases. Causes ipsilateral diaphragmatic palsy - a significant contributor to post-operative </a:t>
            </a:r>
            <a:r>
              <a:rPr lang="en-US" sz="1100" dirty="0" err="1">
                <a:effectLst/>
              </a:rPr>
              <a:t>hypoxaemia</a:t>
            </a:r>
            <a:r>
              <a:rPr lang="en-US" sz="1100" dirty="0">
                <a:effectLst/>
              </a:rPr>
              <a:t> and prolonged weaning.</a:t>
            </a:r>
          </a:p>
          <a:p>
            <a:pPr marL="114300" lv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100" b="1" dirty="0">
                <a:effectLst/>
              </a:rPr>
              <a:t>Pleural breach: </a:t>
            </a:r>
            <a:endParaRPr lang="en-US" sz="1100" b="1" dirty="0"/>
          </a:p>
          <a:p>
            <a:pPr lvl="0" indent="-2286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B</a:t>
            </a:r>
            <a:r>
              <a:rPr lang="en-US" sz="1100" dirty="0">
                <a:effectLst/>
              </a:rPr>
              <a:t>oth pleural spaces are routinely entered during cardiac surgery; even if pleural drains are placed, residual effusions and pneumothorax risk persist and impair lung expansion.</a:t>
            </a:r>
          </a:p>
          <a:p>
            <a:pPr marL="114300" lv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100" b="1" dirty="0">
                <a:effectLst/>
              </a:rPr>
              <a:t>Sternal instability (rare): </a:t>
            </a:r>
          </a:p>
          <a:p>
            <a:pPr lvl="0" indent="-2286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P</a:t>
            </a:r>
            <a:r>
              <a:rPr lang="en-US" sz="1100" dirty="0">
                <a:effectLst/>
              </a:rPr>
              <a:t>resents as paradoxical chest wall movement, palpable 'click', and significantly impairs coughing and deep breathing. Requires surgical review and modification of physiotherapy techniques (avoid resistive breathing techniques; use hands-over-sternum support for all coughing).</a:t>
            </a:r>
          </a:p>
        </p:txBody>
      </p:sp>
      <p:pic>
        <p:nvPicPr>
          <p:cNvPr id="3074" name="Picture 2" descr="State Health">
            <a:extLst>
              <a:ext uri="{FF2B5EF4-FFF2-40B4-BE49-F238E27FC236}">
                <a16:creationId xmlns:a16="http://schemas.microsoft.com/office/drawing/2014/main" id="{F0A4E1F1-5644-75E3-A205-CF158E47C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19367" y="2466703"/>
            <a:ext cx="4788505" cy="3192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Freeform: Shape 308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436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Minimally Invasive Pulmonary Resection ...">
            <a:extLst>
              <a:ext uri="{FF2B5EF4-FFF2-40B4-BE49-F238E27FC236}">
                <a16:creationId xmlns:a16="http://schemas.microsoft.com/office/drawing/2014/main" id="{6853847C-4027-874B-902E-182CDF822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0446" y="1264117"/>
            <a:ext cx="4776882" cy="4522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B24941-5543-A446-959B-864DC1B936E5}"/>
              </a:ext>
            </a:extLst>
          </p:cNvPr>
          <p:cNvSpPr txBox="1"/>
          <p:nvPr/>
        </p:nvSpPr>
        <p:spPr>
          <a:xfrm>
            <a:off x="537115" y="370279"/>
            <a:ext cx="6643331" cy="6005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400"/>
              </a:spcAft>
            </a:pPr>
            <a:r>
              <a:rPr lang="en-AU" sz="2400" b="1" dirty="0">
                <a:solidFill>
                  <a:srgbClr val="1A5276"/>
                </a:solidFill>
                <a:effectLst/>
                <a:latin typeface="Arial" panose="020B0604020202020204" pitchFamily="34" charset="0"/>
              </a:rPr>
              <a:t>Thoracotomy - Specific Respiratory Consequences</a:t>
            </a:r>
            <a:endParaRPr lang="en-AU" sz="2000" b="1" dirty="0">
              <a:solidFill>
                <a:srgbClr val="1A5276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AU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Lateral thoracotomy (used for lung resection, transplantation, and oesophageal surgery) involves division of chest wall muscles and rib spreading, with distinct physiological consequences.</a:t>
            </a: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2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Intercostal nerve damage: </a:t>
            </a:r>
            <a:r>
              <a:rPr lang="en-AU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thoracotomy causes direct trauma to intercostal nerves at the level of rib spreading. This produces significant post-operative pain and sensory loss, severely impairing the ability to take deep breaths and cough.</a:t>
            </a: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2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Muscle division: </a:t>
            </a:r>
            <a:r>
              <a:rPr lang="en-AU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division of serratus anterior, latissimus dorsi, and intercostal muscles reduces the mechanical efficiency of the respiratory pump on the operative side.</a:t>
            </a: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2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Pneumothorax and pleural space management: </a:t>
            </a:r>
            <a:r>
              <a:rPr lang="en-AU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post-thoracotomy chest drains are placed to evacuate air and blood. Drain management is critical to physiotherapy - </a:t>
            </a:r>
            <a:r>
              <a:rPr lang="en-AU" sz="12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malpositioned</a:t>
            </a:r>
            <a:r>
              <a:rPr lang="en-AU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or blocked drains delay lung re-expansion.</a:t>
            </a: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2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Loss of lung tissue (post-resection): </a:t>
            </a:r>
            <a:r>
              <a:rPr lang="en-AU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lobectomy or pneumonectomy reduces total lung parenchyma and requires significant adaptation of the remaining lung. Post-pneumonectomy, the contralateral lung must compensate for the entire gas exchange load.</a:t>
            </a: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2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VATS (Video-Assisted Thoracoscopic Surgery): </a:t>
            </a:r>
            <a:r>
              <a:rPr lang="en-AU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compared to open thoracotomy, VATS is associated with less pain, fewer pulmonary complications, and faster physiotherapy progression - but does not eliminate the risk of atelectasis or secretion retention.</a:t>
            </a:r>
          </a:p>
        </p:txBody>
      </p:sp>
    </p:spTree>
    <p:extLst>
      <p:ext uri="{BB962C8B-B14F-4D97-AF65-F5344CB8AC3E}">
        <p14:creationId xmlns:p14="http://schemas.microsoft.com/office/powerpoint/2010/main" val="1094256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219456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Consequences of Major Surgery</a:t>
            </a:r>
            <a:endParaRPr lang="en-US" sz="2933" dirty="0"/>
          </a:p>
        </p:txBody>
      </p:sp>
      <p:sp>
        <p:nvSpPr>
          <p:cNvPr id="5" name="Text 3"/>
          <p:cNvSpPr/>
          <p:nvPr/>
        </p:nvSpPr>
        <p:spPr>
          <a:xfrm>
            <a:off x="548640" y="75590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i="1" dirty="0">
                <a:solidFill>
                  <a:srgbClr val="0B7A7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Impact on Respiratory Mechanics &amp; Gas Exchange</a:t>
            </a:r>
            <a:endParaRPr lang="en-US" sz="1867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868341"/>
              </p:ext>
            </p:extLst>
          </p:nvPr>
        </p:nvGraphicFramePr>
        <p:xfrm>
          <a:off x="548640" y="1243584"/>
          <a:ext cx="11094720" cy="468172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5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Consequence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Physio Response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FRC by 15–20% (supine)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Airway closure → V/Q mismatch → hypoxaemia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Upright positioning, deep breathing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Ciliary suppression (volatile agents)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Mucociliary clearance → secretion retention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ACBT, manual techniques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Diaphragm dysfunction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Tidal volume, paradoxical breathing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Respiratory muscle training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neuromuscular block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Ventilatory weakness, aspiration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Spirometry, early extubation support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analgesia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Respiratory depression, reduced cough reflex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optimisation; supported coughing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Phrenic nerve injury (CABG)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Ipsilateral diaphragmatic palsy → hypoxaemia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Positioning, non-invasive ventilation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Pleural breach (sternotomy/thoracotomy)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Effusion, pneumothorax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Auscultate, CXR, Monitor drains; targeted expansion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CA1077-65A4-9992-4E55-A44436EE227D}"/>
              </a:ext>
            </a:extLst>
          </p:cNvPr>
          <p:cNvSpPr txBox="1"/>
          <p:nvPr/>
        </p:nvSpPr>
        <p:spPr>
          <a:xfrm>
            <a:off x="513182" y="271785"/>
            <a:ext cx="11027509" cy="179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AU" sz="2400" b="1" dirty="0">
                <a:solidFill>
                  <a:srgbClr val="2E75B6"/>
                </a:solidFill>
                <a:effectLst/>
                <a:latin typeface="Arial" panose="020B0604020202020204" pitchFamily="34" charset="0"/>
              </a:rPr>
              <a:t>2.2  Systemic Inflammatory Response and Implications for Physiotherapy</a:t>
            </a:r>
          </a:p>
          <a:p>
            <a:pPr>
              <a:lnSpc>
                <a:spcPct val="150000"/>
              </a:lnSpc>
            </a:pPr>
            <a:r>
              <a:rPr lang="en-AU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Major surgery </a:t>
            </a:r>
            <a:r>
              <a:rPr lang="en-AU" sz="1600" dirty="0">
                <a:latin typeface="Arial" panose="020B0604020202020204" pitchFamily="34" charset="0"/>
                <a:ea typeface="Arial" panose="020B0604020202020204" pitchFamily="34" charset="0"/>
              </a:rPr>
              <a:t>- </a:t>
            </a:r>
            <a:r>
              <a:rPr lang="en-AU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particularly cardiac surgery with cardiopulmonary bypass (CPB</a:t>
            </a:r>
            <a:r>
              <a:rPr lang="en-AU" sz="1600" dirty="0">
                <a:latin typeface="Arial" panose="020B0604020202020204" pitchFamily="34" charset="0"/>
                <a:ea typeface="Arial" panose="020B0604020202020204" pitchFamily="34" charset="0"/>
              </a:rPr>
              <a:t>/ blood pumping machine) - </a:t>
            </a:r>
            <a:r>
              <a:rPr lang="en-AU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activates a profound systemic inflammatory response syndrome (SIRS), which has direct implications for physiotherapy timing and intensity</a:t>
            </a:r>
            <a:r>
              <a:rPr lang="en-AU" sz="1600" dirty="0">
                <a:effectLst/>
              </a:rPr>
              <a:t> </a:t>
            </a: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341674-8219-5F16-219D-0F1AA7975F96}"/>
              </a:ext>
            </a:extLst>
          </p:cNvPr>
          <p:cNvSpPr txBox="1"/>
          <p:nvPr/>
        </p:nvSpPr>
        <p:spPr>
          <a:xfrm>
            <a:off x="513181" y="2460727"/>
            <a:ext cx="11027509" cy="3691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400"/>
              </a:spcAft>
            </a:pPr>
            <a:r>
              <a:rPr lang="en-AU" b="1" dirty="0">
                <a:solidFill>
                  <a:srgbClr val="1A5276"/>
                </a:solidFill>
                <a:effectLst/>
                <a:latin typeface="Arial" panose="020B0604020202020204" pitchFamily="34" charset="0"/>
              </a:rPr>
              <a:t>Pathophysiology of SIRS Post-Cardiac Surgery</a:t>
            </a: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CPB exposes blood to non-</a:t>
            </a:r>
            <a:r>
              <a:rPr lang="en-AU" sz="16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endothelialised</a:t>
            </a:r>
            <a:r>
              <a:rPr lang="en-AU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circuit surfaces, activating complement, neutrophils, platelets, and the coagulation cascade. This generates a 'whole-body' inflammatory state.</a:t>
            </a: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Cytokine surge peaks within 2–4 hours post-CPB and can persist for 24–72 hours. Consequences include capillary leak, oedema, myocardial depression, and multi-organ dysfunction in severe cases.</a:t>
            </a: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Reperfusion injury: restoration of coronary blood flow after </a:t>
            </a:r>
            <a:r>
              <a:rPr lang="en-AU" sz="16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ischaemia</a:t>
            </a:r>
            <a:r>
              <a:rPr lang="en-AU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generates reactive oxygen species (ROS), contributing to myocardial stunning, endothelial damage, and systemic inflammation.</a:t>
            </a: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Coagulopathy (clotting issues or DVT) is near-universal post-CPB - heparinisation, haemodilution, and platelet dysfunction all contribute. Chest drain losses must be closely monitored.</a:t>
            </a:r>
          </a:p>
        </p:txBody>
      </p:sp>
    </p:spTree>
    <p:extLst>
      <p:ext uri="{BB962C8B-B14F-4D97-AF65-F5344CB8AC3E}">
        <p14:creationId xmlns:p14="http://schemas.microsoft.com/office/powerpoint/2010/main" val="3469783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5D91C7-38CE-D6A6-5973-CAF703BB8950}"/>
              </a:ext>
            </a:extLst>
          </p:cNvPr>
          <p:cNvSpPr txBox="1"/>
          <p:nvPr/>
        </p:nvSpPr>
        <p:spPr>
          <a:xfrm>
            <a:off x="270587" y="144516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400"/>
              </a:spcAft>
            </a:pPr>
            <a:r>
              <a:rPr lang="en-AU" sz="1800" b="1" dirty="0">
                <a:solidFill>
                  <a:srgbClr val="1A5276"/>
                </a:solidFill>
                <a:effectLst/>
                <a:latin typeface="Arial" panose="020B0604020202020204" pitchFamily="34" charset="0"/>
              </a:rPr>
              <a:t>Physiotherapy Implications</a:t>
            </a:r>
            <a:endParaRPr lang="en-AU" sz="1600" b="1" dirty="0">
              <a:solidFill>
                <a:srgbClr val="1A5276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3503BA-640A-0642-5370-1E83FDD29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085572"/>
              </p:ext>
            </p:extLst>
          </p:nvPr>
        </p:nvGraphicFramePr>
        <p:xfrm>
          <a:off x="709127" y="1821017"/>
          <a:ext cx="10133046" cy="4758611"/>
        </p:xfrm>
        <a:graphic>
          <a:graphicData uri="http://schemas.openxmlformats.org/drawingml/2006/table">
            <a:tbl>
              <a:tblPr/>
              <a:tblGrid>
                <a:gridCol w="5066523">
                  <a:extLst>
                    <a:ext uri="{9D8B030D-6E8A-4147-A177-3AD203B41FA5}">
                      <a16:colId xmlns:a16="http://schemas.microsoft.com/office/drawing/2014/main" val="994632063"/>
                    </a:ext>
                  </a:extLst>
                </a:gridCol>
                <a:gridCol w="5066523">
                  <a:extLst>
                    <a:ext uri="{9D8B030D-6E8A-4147-A177-3AD203B41FA5}">
                      <a16:colId xmlns:a16="http://schemas.microsoft.com/office/drawing/2014/main" val="3438942368"/>
                    </a:ext>
                  </a:extLst>
                </a:gridCol>
              </a:tblGrid>
              <a:tr h="321528">
                <a:tc>
                  <a:txBody>
                    <a:bodyPr/>
                    <a:lstStyle/>
                    <a:p>
                      <a:r>
                        <a:rPr lang="en-AU" sz="1000" b="1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SIRS Feature</a:t>
                      </a:r>
                      <a:endParaRPr lang="en-AU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Physiotherapy Consideration</a:t>
                      </a:r>
                      <a:endParaRPr lang="en-AU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415808"/>
                  </a:ext>
                </a:extLst>
              </a:tr>
              <a:tr h="707361">
                <a:tc>
                  <a:txBody>
                    <a:bodyPr/>
                    <a:lstStyle/>
                    <a:p>
                      <a:r>
                        <a:rPr lang="en-AU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Myocardial stunning - reduced cardiac output</a:t>
                      </a:r>
                      <a:endParaRPr lang="en-AU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Strict haemodynamic monitoring during any activity; low-intensity early mobilisation; avoid isometric exercises</a:t>
                      </a:r>
                      <a:endParaRPr lang="en-AU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420153"/>
                  </a:ext>
                </a:extLst>
              </a:tr>
              <a:tr h="707361">
                <a:tc>
                  <a:txBody>
                    <a:bodyPr/>
                    <a:lstStyle/>
                    <a:p>
                      <a:r>
                        <a:rPr lang="en-AU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Capillary leak / fluid shifts - third-spacing</a:t>
                      </a:r>
                      <a:endParaRPr lang="en-AU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Significant oedema may impair range of motion and comfort; respiratory muscle function may be compromised</a:t>
                      </a:r>
                      <a:endParaRPr lang="en-A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4803"/>
                  </a:ext>
                </a:extLst>
              </a:tr>
              <a:tr h="707361">
                <a:tc>
                  <a:txBody>
                    <a:bodyPr/>
                    <a:lstStyle/>
                    <a:p>
                      <a:r>
                        <a:rPr lang="en-AU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Coagulopathy - drain losses</a:t>
                      </a:r>
                      <a:endParaRPr lang="en-AU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Confirm coagulation status before invasive physiotherapy (e.g., manual techniques over wound sites); ensure drain patency. What is their INR levels </a:t>
                      </a:r>
                      <a:endParaRPr lang="en-AU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443512"/>
                  </a:ext>
                </a:extLst>
              </a:tr>
              <a:tr h="707361">
                <a:tc>
                  <a:txBody>
                    <a:bodyPr/>
                    <a:lstStyle/>
                    <a:p>
                      <a:r>
                        <a:rPr lang="en-AU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Fever / pyrexia</a:t>
                      </a:r>
                      <a:endParaRPr lang="en-A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Pyrexia increases metabolic demand - increased VO2 and VCO2. High fever (&gt;38.5°C) should prompt medical review before active exercise</a:t>
                      </a:r>
                      <a:endParaRPr lang="en-AU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579530"/>
                  </a:ext>
                </a:extLst>
              </a:tr>
              <a:tr h="707361">
                <a:tc>
                  <a:txBody>
                    <a:bodyPr/>
                    <a:lstStyle/>
                    <a:p>
                      <a:r>
                        <a:rPr lang="en-AU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Delirium / reduced consciousness</a:t>
                      </a:r>
                      <a:endParaRPr lang="en-A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SIRS contributes to cerebral hypoperfusion and ICU delirium. Assess cognitive status before exercise; prioritise orientation and communication</a:t>
                      </a:r>
                      <a:endParaRPr lang="en-A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985605"/>
                  </a:ext>
                </a:extLst>
              </a:tr>
              <a:tr h="900278">
                <a:tc>
                  <a:txBody>
                    <a:bodyPr/>
                    <a:lstStyle/>
                    <a:p>
                      <a:r>
                        <a:rPr lang="en-AU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Pulmonary inflammation - increased alveolar permeability</a:t>
                      </a:r>
                      <a:endParaRPr lang="en-AU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ARDS risk in severe cases. Monitor for worsening P:F ratio, CXR changes. Early positioning (semi-recumbent) and secretion management remain priorities</a:t>
                      </a:r>
                      <a:endParaRPr lang="en-AU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60631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6406C5B-D7C1-A2C8-B9D7-6E48970768B1}"/>
              </a:ext>
            </a:extLst>
          </p:cNvPr>
          <p:cNvSpPr txBox="1"/>
          <p:nvPr/>
        </p:nvSpPr>
        <p:spPr>
          <a:xfrm>
            <a:off x="270587" y="526145"/>
            <a:ext cx="11404857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AU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 inflammatory response typically resolves by 48–72 hours post-operatively in uncomplicated cases. This is the key window where physiotherapy should shift from low-intensity supportive care (positioning, passive exercises, breathing techniques) to active mobilisation.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AU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Progressing too early (within the first 12–24 hours in a </a:t>
            </a:r>
            <a:r>
              <a:rPr lang="en-AU" sz="12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haemodynamically</a:t>
            </a:r>
            <a:r>
              <a:rPr lang="en-AU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unstable patient) risks cardiovascular compromise; delaying beyond 48–72 hours risks deconditioning, atelectasis, and prolonged ICU admission.</a:t>
            </a:r>
          </a:p>
        </p:txBody>
      </p:sp>
    </p:spTree>
    <p:extLst>
      <p:ext uri="{BB962C8B-B14F-4D97-AF65-F5344CB8AC3E}">
        <p14:creationId xmlns:p14="http://schemas.microsoft.com/office/powerpoint/2010/main" val="1967097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041076-99B0-618C-015E-2A351356F50F}"/>
              </a:ext>
            </a:extLst>
          </p:cNvPr>
          <p:cNvSpPr txBox="1"/>
          <p:nvPr/>
        </p:nvSpPr>
        <p:spPr>
          <a:xfrm>
            <a:off x="475860" y="712045"/>
            <a:ext cx="11382463" cy="5888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AU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r>
              <a:rPr lang="en-AU" sz="1600" b="1" dirty="0">
                <a:solidFill>
                  <a:srgbClr val="1A5276"/>
                </a:solidFill>
                <a:effectLst/>
                <a:latin typeface="Arial" panose="020B0604020202020204" pitchFamily="34" charset="0"/>
              </a:rPr>
              <a:t>Atelectasis</a:t>
            </a: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Partial or complete collapse of the alveoli</a:t>
            </a: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Most common post-operative pulmonary complication, occurring in up to 70–80% of cardiac surgical patients to some degree.</a:t>
            </a: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Mechanism: airway closure below FRC (due to anaesthesia, pain, diaphragmatic dysfunction, and increased closing volume), secretion plugging, and compression from pleural effusion.</a:t>
            </a: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Radiographic findings: basal linear opacities, elevated hemidiaphragm, mediastinal shift towards the collapse.</a:t>
            </a: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AU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lvl="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AU" sz="16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Physiotherapy is the primary treatment:</a:t>
            </a:r>
          </a:p>
          <a:p>
            <a:pPr marL="285750" lvl="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ACBT, incentive spirometry, positioning (sitting upright, lateral positioning towards the unaffected lung), and supported coughing.</a:t>
            </a:r>
          </a:p>
          <a:p>
            <a:pPr marL="285750" lvl="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Severe lobar collapse may require suction if secretion plugging is severe - this is a medical decision, but the physiotherapist's assessment is critical in identifying those who are failing to respond.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5BF862-930A-CAED-D735-6A1992BFF579}"/>
              </a:ext>
            </a:extLst>
          </p:cNvPr>
          <p:cNvSpPr txBox="1"/>
          <p:nvPr/>
        </p:nvSpPr>
        <p:spPr>
          <a:xfrm>
            <a:off x="475861" y="342713"/>
            <a:ext cx="10246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AU" sz="1800" b="1" dirty="0">
                <a:solidFill>
                  <a:srgbClr val="2E75B6"/>
                </a:solidFill>
                <a:effectLst/>
                <a:latin typeface="Arial" panose="020B0604020202020204" pitchFamily="34" charset="0"/>
              </a:rPr>
              <a:t>2.3  Common Post-Operative Complications Relevant to Physiotherapy</a:t>
            </a:r>
          </a:p>
        </p:txBody>
      </p:sp>
    </p:spTree>
    <p:extLst>
      <p:ext uri="{BB962C8B-B14F-4D97-AF65-F5344CB8AC3E}">
        <p14:creationId xmlns:p14="http://schemas.microsoft.com/office/powerpoint/2010/main" val="553096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D7196C-D9F4-96F2-09DE-B685F815B971}"/>
              </a:ext>
            </a:extLst>
          </p:cNvPr>
          <p:cNvSpPr txBox="1"/>
          <p:nvPr/>
        </p:nvSpPr>
        <p:spPr>
          <a:xfrm>
            <a:off x="326572" y="259883"/>
            <a:ext cx="7136110" cy="3657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400"/>
              </a:spcAft>
            </a:pPr>
            <a:r>
              <a:rPr lang="en-AU" sz="1600" b="1" dirty="0">
                <a:solidFill>
                  <a:srgbClr val="1A5276"/>
                </a:solidFill>
                <a:effectLst/>
                <a:latin typeface="Arial" panose="020B0604020202020204" pitchFamily="34" charset="0"/>
              </a:rPr>
              <a:t>Pleural Effusion</a:t>
            </a: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 abnormal build-up of fluid between your lungs and chest wall (Pleura) </a:t>
            </a: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Near-universal post-cardiac surgery, particularly left-sided following CABG (from pleural breach and pericardial fluid).</a:t>
            </a: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Small effusions resolve spontaneously and do not require physiotherapy modification. Significant effusions (compromising lung expansion, producing dyspnoea, or causing mediastinal shift) require drainage.</a:t>
            </a:r>
          </a:p>
          <a:p>
            <a:pPr lvl="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endParaRPr lang="en-AU" sz="1600" b="1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AU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  <p:pic>
        <p:nvPicPr>
          <p:cNvPr id="5124" name="Picture 4" descr="Pleural effusion | healthdirect">
            <a:extLst>
              <a:ext uri="{FF2B5EF4-FFF2-40B4-BE49-F238E27FC236}">
                <a16:creationId xmlns:a16="http://schemas.microsoft.com/office/drawing/2014/main" id="{197A23E5-A1FB-2AA3-7439-85F3E8C5D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682" y="539016"/>
            <a:ext cx="4267305" cy="234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0DADA6-0C9B-96E8-DA87-C91D0E7B12C5}"/>
              </a:ext>
            </a:extLst>
          </p:cNvPr>
          <p:cNvSpPr txBox="1"/>
          <p:nvPr/>
        </p:nvSpPr>
        <p:spPr>
          <a:xfrm>
            <a:off x="326573" y="3532471"/>
            <a:ext cx="11538856" cy="3131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AU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Physiotherapy role: </a:t>
            </a:r>
            <a:endParaRPr lang="en-AU" sz="1800" b="1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lvl="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Positioning to optimise drainage and ventilation to non-effused areas; avoid placing the patient in side-lying with the effusion-side down if it causes significant hypoxaemia.</a:t>
            </a:r>
          </a:p>
          <a:p>
            <a:pPr marL="285750" lvl="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Post-thoracentesis or drain insertion: monitor for pneumothorax; re-assess breath sounds and encourage deep breathing to re-expand the lung.</a:t>
            </a:r>
          </a:p>
          <a:p>
            <a:pPr marL="285750" lvl="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800" dirty="0">
                <a:latin typeface="Arial" panose="020B0604020202020204" pitchFamily="34" charset="0"/>
                <a:ea typeface="Arial" panose="020B0604020202020204" pitchFamily="34" charset="0"/>
              </a:rPr>
              <a:t>Liaise with medical team to confirm appropriate plans for pleural effusion</a:t>
            </a:r>
            <a:endParaRPr lang="en-AU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229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3DC32A-1B2D-AE16-5A6B-D2331C97864F}"/>
              </a:ext>
            </a:extLst>
          </p:cNvPr>
          <p:cNvSpPr txBox="1"/>
          <p:nvPr/>
        </p:nvSpPr>
        <p:spPr>
          <a:xfrm>
            <a:off x="457198" y="229404"/>
            <a:ext cx="11016116" cy="5476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400"/>
              </a:spcAft>
            </a:pPr>
            <a:r>
              <a:rPr lang="en-AU" sz="2400" b="1" dirty="0">
                <a:solidFill>
                  <a:srgbClr val="1A5276"/>
                </a:solidFill>
                <a:effectLst/>
                <a:latin typeface="Arial" panose="020B0604020202020204" pitchFamily="34" charset="0"/>
              </a:rPr>
              <a:t>Atrial Fibrillation (AF)</a:t>
            </a:r>
            <a:endParaRPr lang="en-AU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Rapid irregular heart beat</a:t>
            </a: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 most common arrhythmia post-cardiac surgery, occurring in 20–40% of CABG patients and up to 60% of valve surgery patients. Peak incidence is Day 2–3 post-operatively.</a:t>
            </a: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Mechanism: surgical trauma to atrial tissue, pericardial inflammation, autonomic imbalance, electrolyte disturbances (hypokalaemia, hypomagnesaemia), and adrenergic surge all contribute.</a:t>
            </a:r>
          </a:p>
          <a:p>
            <a:pPr lvl="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endParaRPr lang="en-AU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lvl="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AU" sz="16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Physiotherapy implications: </a:t>
            </a:r>
          </a:p>
          <a:p>
            <a:pPr marL="285750" lvl="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latin typeface="Arial" panose="020B0604020202020204" pitchFamily="34" charset="0"/>
                <a:ea typeface="Arial" panose="020B0604020202020204" pitchFamily="34" charset="0"/>
              </a:rPr>
              <a:t>N</a:t>
            </a:r>
            <a:r>
              <a:rPr lang="en-AU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ew AF requires prompt medical notification. Assess rate ventricular rates &gt;110 bpm at rest significantly reduce cardiac output and exercise tolerance. Do not commence or continue active mobilisation during uncontrolled rapid AF.</a:t>
            </a:r>
          </a:p>
          <a:p>
            <a:pPr marL="285750" lvl="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Haemodynamically</a:t>
            </a:r>
            <a:r>
              <a:rPr lang="en-AU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stable AF (controlled rate, no hypotension) does not necessarily preclude mobilisation -  discuss with the medical team and use close monitoring.</a:t>
            </a:r>
          </a:p>
          <a:p>
            <a:pPr marL="285750" lvl="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AF increases stroke risk significantly: ensure anticoagulation is commenced or confirmed before any vigorous activity.</a:t>
            </a:r>
          </a:p>
        </p:txBody>
      </p:sp>
    </p:spTree>
    <p:extLst>
      <p:ext uri="{BB962C8B-B14F-4D97-AF65-F5344CB8AC3E}">
        <p14:creationId xmlns:p14="http://schemas.microsoft.com/office/powerpoint/2010/main" val="2578717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B44A1A-E21A-E414-A7BF-0A87C7C84F5B}"/>
              </a:ext>
            </a:extLst>
          </p:cNvPr>
          <p:cNvSpPr txBox="1"/>
          <p:nvPr/>
        </p:nvSpPr>
        <p:spPr>
          <a:xfrm>
            <a:off x="238873" y="271046"/>
            <a:ext cx="3523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Hospital Acquired Pneumonia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372AEA-847D-6AAE-2430-99D2664E862B}"/>
              </a:ext>
            </a:extLst>
          </p:cNvPr>
          <p:cNvSpPr txBox="1"/>
          <p:nvPr/>
        </p:nvSpPr>
        <p:spPr>
          <a:xfrm>
            <a:off x="238873" y="776925"/>
            <a:ext cx="96142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Pneumonia after surgery (post-operative pneumonia) is </a:t>
            </a:r>
            <a: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  <a:t>a serious, often hospital-acquired infection occurring when bacteria infects the lungs, frequently due to reduced breathing, immobility, or intubation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46753-0DB5-BF28-20A1-EF344B858F10}"/>
              </a:ext>
            </a:extLst>
          </p:cNvPr>
          <p:cNvSpPr txBox="1"/>
          <p:nvPr/>
        </p:nvSpPr>
        <p:spPr>
          <a:xfrm>
            <a:off x="238873" y="1554284"/>
            <a:ext cx="9934254" cy="1893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AU" sz="1600" b="1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 Causes and Risk Factors</a:t>
            </a:r>
            <a:endParaRPr lang="en-AU" sz="1600" b="0" i="0" dirty="0">
              <a:solidFill>
                <a:srgbClr val="0A0A0A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AU" sz="1600" b="1" i="0" dirty="0">
                <a:solidFill>
                  <a:srgbClr val="681DA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Anesthesia</a:t>
            </a:r>
            <a:r>
              <a:rPr lang="en-AU" sz="1600" b="1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/Sedation:</a:t>
            </a:r>
            <a:r>
              <a:rPr lang="en-AU" sz="16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Affects the ability to breathe deeply and clear mucus from the lungs.</a:t>
            </a:r>
          </a:p>
          <a:p>
            <a:pPr algn="l">
              <a:lnSpc>
                <a:spcPct val="150000"/>
              </a:lnSpc>
            </a:pPr>
            <a:r>
              <a:rPr lang="en-AU" sz="1600" b="1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Immobility:</a:t>
            </a:r>
            <a:r>
              <a:rPr lang="en-AU" sz="16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Bed rest leads to fluid accumulation in the lungs.</a:t>
            </a:r>
          </a:p>
          <a:p>
            <a:pPr algn="l">
              <a:lnSpc>
                <a:spcPct val="150000"/>
              </a:lnSpc>
            </a:pPr>
            <a:r>
              <a:rPr lang="en-AU" sz="1600" b="1" dirty="0">
                <a:solidFill>
                  <a:srgbClr val="681DA8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I</a:t>
            </a:r>
            <a:r>
              <a:rPr lang="en-AU" sz="1600" b="1" i="0" dirty="0">
                <a:solidFill>
                  <a:srgbClr val="681DA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ntubation</a:t>
            </a:r>
            <a:r>
              <a:rPr lang="en-AU" sz="1600" b="1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AU" sz="16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Ventilation during surgery raises the risk of bacteria entering the lungs.</a:t>
            </a:r>
          </a:p>
          <a:p>
            <a:pPr algn="l">
              <a:lnSpc>
                <a:spcPct val="150000"/>
              </a:lnSpc>
            </a:pPr>
            <a:r>
              <a:rPr lang="en-AU" sz="1600" b="1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Pain:</a:t>
            </a:r>
            <a:r>
              <a:rPr lang="en-AU" sz="16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Pain from the surgical site may limit deep breathing or coughing.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A7A16F-9214-CBEB-5CA6-CF7B36C2EB39}"/>
              </a:ext>
            </a:extLst>
          </p:cNvPr>
          <p:cNvSpPr txBox="1"/>
          <p:nvPr/>
        </p:nvSpPr>
        <p:spPr>
          <a:xfrm>
            <a:off x="238873" y="3722152"/>
            <a:ext cx="9934254" cy="2262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AU" sz="1600" b="1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Prevention</a:t>
            </a:r>
            <a:endParaRPr lang="en-AU" sz="1600" b="0" i="0" dirty="0">
              <a:solidFill>
                <a:srgbClr val="0A0A0A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1600" b="1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Incentive Spirometry:</a:t>
            </a:r>
            <a:r>
              <a:rPr lang="en-AU" sz="16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Using a device to encourage deep breathing.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1600" b="1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Early Movement:</a:t>
            </a:r>
            <a:r>
              <a:rPr lang="en-AU" sz="16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Walking or moving around as soon as permitted.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1600" b="1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Deep Breathing/Coughing Exercises:</a:t>
            </a:r>
            <a:r>
              <a:rPr lang="en-AU" sz="16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Taking deep breaths and coughing frequently (using a pillow to support the abdomen, known as splinting).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1600" b="1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Positioning:</a:t>
            </a:r>
            <a:r>
              <a:rPr lang="en-AU" sz="16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improved FRC and therefore </a:t>
            </a:r>
            <a:r>
              <a:rPr lang="en-AU" sz="1600" b="0" i="0" dirty="0" err="1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mucociliary</a:t>
            </a:r>
            <a:r>
              <a:rPr lang="en-AU" sz="16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clearance </a:t>
            </a:r>
          </a:p>
        </p:txBody>
      </p:sp>
    </p:spTree>
    <p:extLst>
      <p:ext uri="{BB962C8B-B14F-4D97-AF65-F5344CB8AC3E}">
        <p14:creationId xmlns:p14="http://schemas.microsoft.com/office/powerpoint/2010/main" val="2647137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EAC203-7BE0-9BE3-7ECC-483681A1A75D}"/>
              </a:ext>
            </a:extLst>
          </p:cNvPr>
          <p:cNvSpPr txBox="1"/>
          <p:nvPr/>
        </p:nvSpPr>
        <p:spPr>
          <a:xfrm>
            <a:off x="354563" y="289679"/>
            <a:ext cx="10646229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Deep Vein Thrombosis:</a:t>
            </a:r>
            <a:endParaRPr lang="en-AU" sz="1600" b="0" i="0" u="none" strike="noStrike" dirty="0">
              <a:solidFill>
                <a:srgbClr val="0A0A0A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AU" sz="1600" b="0" i="0" u="none" strike="noStrike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blood clot that forms in a deep vein, usually the leg or pelvis. If left untreated can lead to seriously life-threatening pulmonary embolism (PE)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AU" sz="1600" b="1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Symptoms to Watch For:</a:t>
            </a:r>
            <a:endParaRPr lang="en-AU" sz="1600" b="0" i="0" dirty="0">
              <a:solidFill>
                <a:srgbClr val="0A0A0A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16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Pain, swelling, or tenderness in one leg (usually the calf).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16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Redness or discolouration of the skin.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16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Veins that are hard or warm to the touch.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1600" i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AU" sz="1600" b="0" i="1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hest pain, breathlessness, or collapse, seek emergency care immediately</a:t>
            </a:r>
            <a:endParaRPr lang="en-AU" sz="1600" b="0" i="0" dirty="0">
              <a:solidFill>
                <a:srgbClr val="0A0A0A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590008-8493-D6C1-0F19-AD40FBE42451}"/>
              </a:ext>
            </a:extLst>
          </p:cNvPr>
          <p:cNvSpPr txBox="1"/>
          <p:nvPr/>
        </p:nvSpPr>
        <p:spPr>
          <a:xfrm>
            <a:off x="354562" y="3390045"/>
            <a:ext cx="10646229" cy="2632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AU" sz="1600" b="1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Preventive Measures</a:t>
            </a:r>
            <a:endParaRPr lang="en-AU" sz="1600" b="0" i="0" dirty="0">
              <a:solidFill>
                <a:srgbClr val="0A0A0A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AU" sz="1600" b="1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Early Mobilization:</a:t>
            </a:r>
            <a:r>
              <a:rPr lang="en-AU" sz="16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Getting up and walking as soon as possible after surgery.</a:t>
            </a:r>
          </a:p>
          <a:p>
            <a:pPr algn="l">
              <a:lnSpc>
                <a:spcPct val="150000"/>
              </a:lnSpc>
            </a:pPr>
            <a:r>
              <a:rPr lang="en-AU" sz="1600" b="1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Ankle Pumps: </a:t>
            </a:r>
            <a:r>
              <a:rPr lang="en-AU" sz="16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ankles up and down, mobilising </a:t>
            </a:r>
          </a:p>
          <a:p>
            <a:pPr algn="l">
              <a:lnSpc>
                <a:spcPct val="150000"/>
              </a:lnSpc>
            </a:pPr>
            <a:r>
              <a:rPr lang="en-AU" sz="1600" b="1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Compression Stockings:</a:t>
            </a:r>
            <a:r>
              <a:rPr lang="en-AU" sz="16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Elastic stockings to improve circulation.</a:t>
            </a:r>
          </a:p>
          <a:p>
            <a:pPr algn="l">
              <a:lnSpc>
                <a:spcPct val="150000"/>
              </a:lnSpc>
            </a:pPr>
            <a:r>
              <a:rPr lang="en-AU" sz="1600" b="1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Medication:</a:t>
            </a:r>
            <a:r>
              <a:rPr lang="en-AU" sz="16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Blood thinners (e.g., heparin) to prevent clotting.</a:t>
            </a:r>
          </a:p>
          <a:p>
            <a:pPr algn="l">
              <a:lnSpc>
                <a:spcPct val="150000"/>
              </a:lnSpc>
            </a:pPr>
            <a:r>
              <a:rPr lang="en-AU" sz="1600" b="1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Mechanical Devices:</a:t>
            </a:r>
            <a:r>
              <a:rPr lang="en-AU" sz="16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Devices that squeeze the legs to encourage blood flow.</a:t>
            </a:r>
          </a:p>
          <a:p>
            <a:pPr algn="l">
              <a:lnSpc>
                <a:spcPct val="150000"/>
              </a:lnSpc>
            </a:pPr>
            <a:r>
              <a:rPr lang="en-AU" sz="1600" b="1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Hydration:</a:t>
            </a:r>
            <a:r>
              <a:rPr lang="en-AU" sz="16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Maintaining good fluid intake.</a:t>
            </a:r>
          </a:p>
        </p:txBody>
      </p:sp>
    </p:spTree>
    <p:extLst>
      <p:ext uri="{BB962C8B-B14F-4D97-AF65-F5344CB8AC3E}">
        <p14:creationId xmlns:p14="http://schemas.microsoft.com/office/powerpoint/2010/main" val="4000130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3413</TotalTime>
  <Words>1811</Words>
  <Application>Microsoft Macintosh PowerPoint</Application>
  <PresentationFormat>Widescreen</PresentationFormat>
  <Paragraphs>148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Calibri Light</vt:lpstr>
      <vt:lpstr>Office Theme</vt:lpstr>
      <vt:lpstr>Physiological Consequences of Major Surgery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Physiological Consequences of Major Surgery </dc:title>
  <dc:creator>Peter Chong</dc:creator>
  <cp:lastModifiedBy>Peter Chong</cp:lastModifiedBy>
  <cp:revision>6</cp:revision>
  <dcterms:created xsi:type="dcterms:W3CDTF">2026-04-18T14:57:38Z</dcterms:created>
  <dcterms:modified xsi:type="dcterms:W3CDTF">2026-04-21T07:16:12Z</dcterms:modified>
</cp:coreProperties>
</file>