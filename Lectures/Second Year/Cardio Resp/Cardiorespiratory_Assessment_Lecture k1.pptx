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1" r:id="rId10"/>
    <p:sldId id="272" r:id="rId11"/>
    <p:sldId id="273" r:id="rId12"/>
    <p:sldId id="261" r:id="rId13"/>
    <p:sldId id="262" r:id="rId14"/>
    <p:sldId id="263" r:id="rId15"/>
    <p:sldId id="274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181091-286C-4610-AFF9-F40FEBB6622C}" v="49" dt="2025-10-20T09:12:22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Cardiorespiratory Assessment in Clinical Conditions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Bronchiectasis, Emphysema, Chronic Bronchitis, Cystic Fibrosis, Surgical Conditions, and Heart Failure</a:t>
            </a:r>
          </a:p>
          <a:p>
            <a:endParaRPr/>
          </a:p>
          <a:p>
            <a:r>
              <a:t>BSc &amp; MSc Physiotherapy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By the end of this session, students will be able to:</a:t>
            </a:r>
          </a:p>
          <a:p>
            <a:pPr>
              <a:spcAft>
                <a:spcPts val="600"/>
              </a:spcAft>
            </a:pPr>
            <a:r>
              <a:t>• Understand the principles of cardiorespiratory assessment.</a:t>
            </a:r>
          </a:p>
          <a:p>
            <a:pPr>
              <a:spcAft>
                <a:spcPts val="600"/>
              </a:spcAft>
            </a:pPr>
            <a:r>
              <a:t>• Apply assessment techniques to specific clinical conditions.</a:t>
            </a:r>
          </a:p>
          <a:p>
            <a:pPr>
              <a:spcAft>
                <a:spcPts val="600"/>
              </a:spcAft>
            </a:pPr>
            <a:r>
              <a:t>• Interpret physiological findings and relate to pathology.</a:t>
            </a:r>
          </a:p>
          <a:p>
            <a:pPr>
              <a:spcAft>
                <a:spcPts val="600"/>
              </a:spcAft>
            </a:pPr>
            <a:r>
              <a:t>• Identify physiotherapy priorities in complex multimorbidity cases.</a:t>
            </a:r>
          </a:p>
          <a:p>
            <a:pPr>
              <a:spcAft>
                <a:spcPts val="600"/>
              </a:spcAft>
            </a:pPr>
            <a:r>
              <a:t>• Use evidence-based frameworks for respiratory assessment.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Overview of Cardiorespiratory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Importance of assessment in physiotherapy practice.</a:t>
            </a:r>
          </a:p>
          <a:p>
            <a:pPr>
              <a:spcAft>
                <a:spcPts val="600"/>
              </a:spcAft>
            </a:pPr>
            <a:r>
              <a:t>• Integration of subjective and objective findings.</a:t>
            </a:r>
          </a:p>
          <a:p>
            <a:pPr>
              <a:spcAft>
                <a:spcPts val="600"/>
              </a:spcAft>
            </a:pPr>
            <a:r>
              <a:t>• Use of frameworks: SOAP, ICF, or hypothesis-oriented reasoning.</a:t>
            </a:r>
          </a:p>
          <a:p>
            <a:pPr>
              <a:spcAft>
                <a:spcPts val="600"/>
              </a:spcAft>
            </a:pPr>
            <a:r>
              <a:t>• Link between pathophysiology, symptoms, and function.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Subjective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Presenting complaint (breathlessness, cough, sputum).</a:t>
            </a:r>
          </a:p>
          <a:p>
            <a:pPr>
              <a:spcAft>
                <a:spcPts val="600"/>
              </a:spcAft>
            </a:pPr>
            <a:r>
              <a:t>• History of presenting condition and past medical history.</a:t>
            </a:r>
          </a:p>
          <a:p>
            <a:pPr>
              <a:spcAft>
                <a:spcPts val="600"/>
              </a:spcAft>
            </a:pPr>
            <a:r>
              <a:t>• Functional impact (ADL, exercise tolerance).</a:t>
            </a:r>
          </a:p>
          <a:p>
            <a:pPr>
              <a:spcAft>
                <a:spcPts val="600"/>
              </a:spcAft>
            </a:pPr>
            <a:r>
              <a:t>• Medications, smoking history, and psychosocial factors.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Observation: posture, breathing pattern, cyanosis, accessory muscles.</a:t>
            </a:r>
          </a:p>
          <a:p>
            <a:pPr>
              <a:spcAft>
                <a:spcPts val="600"/>
              </a:spcAft>
            </a:pPr>
            <a:r>
              <a:t>• Palpation: chest expansion, tactile fremitus, tracheal position.</a:t>
            </a:r>
          </a:p>
          <a:p>
            <a:pPr>
              <a:spcAft>
                <a:spcPts val="600"/>
              </a:spcAft>
            </a:pPr>
            <a:r>
              <a:t>• Percussion: resonance, dullness, hyper-resonance.</a:t>
            </a:r>
          </a:p>
          <a:p>
            <a:pPr>
              <a:spcAft>
                <a:spcPts val="600"/>
              </a:spcAft>
            </a:pPr>
            <a:r>
              <a:t>• Auscultation: vesicular, crackles, wheeze, diminished breath sounds.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r>
              <a:rPr lang="en-GB" sz="4700"/>
              <a:t>Pathophysiology of Bronchiectasis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706624"/>
            <a:ext cx="5170932" cy="348386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 sz="1900"/>
              <a:t>Definition: Chronic irreversible dilation of bronchi due to wall destruction.</a:t>
            </a:r>
          </a:p>
          <a:p>
            <a:pPr>
              <a:defRPr sz="1800"/>
            </a:pPr>
            <a:r>
              <a:rPr lang="en-GB" sz="1900"/>
              <a:t>Key Mechanism: Infection → Inflammation → Structural Damage → Impaired Clearance → Recurrent Infection.</a:t>
            </a:r>
          </a:p>
          <a:p>
            <a:pPr>
              <a:defRPr sz="1800"/>
            </a:pPr>
            <a:r>
              <a:rPr lang="en-GB" sz="1900"/>
              <a:t>Neutrophilic inflammation leads to protease release and mucus hypersecretion.</a:t>
            </a:r>
          </a:p>
          <a:p>
            <a:pPr>
              <a:defRPr sz="1800"/>
            </a:pPr>
            <a:r>
              <a:rPr lang="en-GB" sz="1900"/>
              <a:t>Airway remodeling causes thickening, fibrosis, and airflow obstruction.</a:t>
            </a:r>
          </a:p>
        </p:txBody>
      </p:sp>
      <p:pic>
        <p:nvPicPr>
          <p:cNvPr id="1026" name="Picture 2" descr="Non-cystic fibrosis bronchiectasis in a primary care setting: what do GPs  need to know? | Respiratory Medicine Today">
            <a:extLst>
              <a:ext uri="{FF2B5EF4-FFF2-40B4-BE49-F238E27FC236}">
                <a16:creationId xmlns:a16="http://schemas.microsoft.com/office/drawing/2014/main" id="{79CD1CCB-0880-F600-E09D-3C68662B6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512024"/>
            <a:ext cx="3010662" cy="306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MC Pulmonary Medicine ...">
            <a:extLst>
              <a:ext uri="{FF2B5EF4-FFF2-40B4-BE49-F238E27FC236}">
                <a16:creationId xmlns:a16="http://schemas.microsoft.com/office/drawing/2014/main" id="{FFE2C6A5-DA8C-CB72-4E21-C393A12FC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4349084"/>
            <a:ext cx="2996946" cy="163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500"/>
              <a:t>Pictorial Depiction of Pathophysiology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/>
              <a:t>Include diagrams:</a:t>
            </a:r>
          </a:p>
          <a:p>
            <a:pPr>
              <a:defRPr sz="1800"/>
            </a:pPr>
            <a:r>
              <a:rPr lang="en-GB" sz="1700"/>
              <a:t>- Normal vs. bronchiectatic airway (mucus plugs, ciliary damage).</a:t>
            </a:r>
          </a:p>
          <a:p>
            <a:pPr>
              <a:defRPr sz="1800"/>
            </a:pPr>
            <a:r>
              <a:rPr lang="en-GB" sz="1700"/>
              <a:t>- Vicious cycle: infection–inflammation–damage loop.</a:t>
            </a:r>
          </a:p>
          <a:p>
            <a:pPr>
              <a:defRPr sz="1800"/>
            </a:pPr>
            <a:r>
              <a:rPr lang="en-GB" sz="1700"/>
              <a:t>- Cross-section showing airway wall thickening and mucus pooling.</a:t>
            </a:r>
          </a:p>
        </p:txBody>
      </p:sp>
      <p:pic>
        <p:nvPicPr>
          <p:cNvPr id="4" name="Picture 4" descr="Bronchiectasis - Wikipedia">
            <a:extLst>
              <a:ext uri="{FF2B5EF4-FFF2-40B4-BE49-F238E27FC236}">
                <a16:creationId xmlns:a16="http://schemas.microsoft.com/office/drawing/2014/main" id="{D31ED5B5-8B09-13B7-D876-F89195150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3" r="6272" b="1"/>
          <a:stretch>
            <a:fillRect/>
          </a:stretch>
        </p:blipFill>
        <p:spPr bwMode="auto">
          <a:xfrm>
            <a:off x="4572000" y="1"/>
            <a:ext cx="457711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1078992"/>
            <a:ext cx="4704588" cy="154533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800"/>
              <a:t>Radiological Features (CT Imaging)</a:t>
            </a:r>
          </a:p>
        </p:txBody>
      </p:sp>
      <p:pic>
        <p:nvPicPr>
          <p:cNvPr id="3076" name="Picture 4" descr="Bronchiectasis | Radiology Reference ...">
            <a:extLst>
              <a:ext uri="{FF2B5EF4-FFF2-40B4-BE49-F238E27FC236}">
                <a16:creationId xmlns:a16="http://schemas.microsoft.com/office/drawing/2014/main" id="{822AA3B3-6726-0E35-D108-EE25789B5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"/>
          <a:stretch>
            <a:fillRect/>
          </a:stretch>
        </p:blipFill>
        <p:spPr bwMode="auto">
          <a:xfrm>
            <a:off x="5763006" y="1"/>
            <a:ext cx="3380994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3355848"/>
            <a:ext cx="4704588" cy="28254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en-GB" sz="1800"/>
              <a:t>Gold Standard: HRCT.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800"/>
              <a:t>Key Signs: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800"/>
              <a:t>- Signet ring sign (dilated bronchus &gt; artery).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800"/>
              <a:t>- Tram-track sign (parallel lines).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800"/>
              <a:t>- Tree-in-bud (small airway impaction).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800"/>
              <a:t>Types: Cylindrical, varicose, cystic bronchiectasis.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800"/>
              <a:t>Distribution: Upper (CF), lower (aspiration), central (ABPA).</a:t>
            </a:r>
          </a:p>
        </p:txBody>
      </p:sp>
      <p:pic>
        <p:nvPicPr>
          <p:cNvPr id="3078" name="Picture 6" descr="Signet ring sign, Tram track sign ...">
            <a:extLst>
              <a:ext uri="{FF2B5EF4-FFF2-40B4-BE49-F238E27FC236}">
                <a16:creationId xmlns:a16="http://schemas.microsoft.com/office/drawing/2014/main" id="{41D4435D-BEF9-7336-447D-04734F43B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1" r="16193" b="-2"/>
          <a:stretch>
            <a:fillRect/>
          </a:stretch>
        </p:blipFill>
        <p:spPr bwMode="auto">
          <a:xfrm>
            <a:off x="5763006" y="2308860"/>
            <a:ext cx="3380994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natomy of the lungs, mediastinum and heart in axial slice | e-Anatomy">
            <a:extLst>
              <a:ext uri="{FF2B5EF4-FFF2-40B4-BE49-F238E27FC236}">
                <a16:creationId xmlns:a16="http://schemas.microsoft.com/office/drawing/2014/main" id="{E7247027-1DD2-8D6B-7398-9CFEAC64A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0" r="9926" b="-1"/>
          <a:stretch>
            <a:fillRect/>
          </a:stretch>
        </p:blipFill>
        <p:spPr bwMode="auto">
          <a:xfrm>
            <a:off x="5763006" y="4617720"/>
            <a:ext cx="3380994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t>Respiratory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8362"/>
            <a:ext cx="3719225" cy="3917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 sz="1700"/>
              <a:t>History: Frequency of infections, sputum, dyspnoea, exercise tolerance.</a:t>
            </a:r>
          </a:p>
          <a:p>
            <a:pPr>
              <a:defRPr sz="1800"/>
            </a:pPr>
            <a:r>
              <a:rPr lang="en-GB" sz="1700"/>
              <a:t>Observation: Posture, accessory muscle use, clubbing, cyanosis.</a:t>
            </a:r>
          </a:p>
          <a:p>
            <a:pPr>
              <a:defRPr sz="1800"/>
            </a:pPr>
            <a:r>
              <a:rPr lang="en-GB" sz="1700"/>
              <a:t>Inspection: Chest wall movement, scars, hyperinflation.</a:t>
            </a:r>
          </a:p>
          <a:p>
            <a:pPr>
              <a:defRPr sz="1800"/>
            </a:pPr>
            <a:r>
              <a:rPr lang="en-GB" sz="1700"/>
              <a:t>Palpation &amp; Percussion: Chest expansion, resonance changes.</a:t>
            </a:r>
          </a:p>
          <a:p>
            <a:pPr>
              <a:defRPr sz="1800"/>
            </a:pPr>
            <a:r>
              <a:rPr lang="en-GB" sz="1700"/>
              <a:t>Auscultation: Coarse crackles, rhonchi, wheeze.</a:t>
            </a:r>
          </a:p>
          <a:p>
            <a:pPr>
              <a:defRPr sz="1800"/>
            </a:pPr>
            <a:r>
              <a:rPr lang="en-GB" sz="1700"/>
              <a:t>Functional Tests: 6MWT, MRC Dyspnoea, CAT score.</a:t>
            </a:r>
          </a:p>
        </p:txBody>
      </p:sp>
      <p:pic>
        <p:nvPicPr>
          <p:cNvPr id="1026" name="Picture 2" descr="Bronchiectasis – Zero To Finals">
            <a:extLst>
              <a:ext uri="{FF2B5EF4-FFF2-40B4-BE49-F238E27FC236}">
                <a16:creationId xmlns:a16="http://schemas.microsoft.com/office/drawing/2014/main" id="{22E46DFF-CEF7-7585-FF30-D982C8628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9525" y="2198362"/>
            <a:ext cx="3591379" cy="340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Bronchiectasis – Physiotherapy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Assess sputum load, cough effectiveness, infection status.</a:t>
            </a:r>
          </a:p>
          <a:p>
            <a:pPr>
              <a:spcAft>
                <a:spcPts val="600"/>
              </a:spcAft>
            </a:pPr>
            <a:r>
              <a:t>• Observe posture, chest expansion, and exercise tolerance.</a:t>
            </a:r>
          </a:p>
          <a:p>
            <a:pPr>
              <a:spcAft>
                <a:spcPts val="600"/>
              </a:spcAft>
            </a:pPr>
            <a:r>
              <a:t>• Outcome measures: sputum volume, 6MWT, MRC dyspnoea scale.</a:t>
            </a:r>
          </a:p>
          <a:p>
            <a:pPr>
              <a:spcAft>
                <a:spcPts val="600"/>
              </a:spcAft>
            </a:pPr>
            <a:r>
              <a:t>• Prioritise airway clearance and energy conservation education.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79" name="Rectangle 5178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3971261" cy="2063808"/>
          </a:xfrm>
        </p:spPr>
        <p:txBody>
          <a:bodyPr anchor="b">
            <a:normAutofit/>
          </a:bodyPr>
          <a:lstStyle/>
          <a:p>
            <a:r>
              <a:rPr lang="en-GB" sz="4300"/>
              <a:t>Emphysema – Pathophysiology &amp; Assessment</a:t>
            </a:r>
          </a:p>
        </p:txBody>
      </p:sp>
      <p:sp>
        <p:nvSpPr>
          <p:cNvPr id="5180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onnsiteX0" fmla="*/ 0 w 3257550"/>
              <a:gd name="connsiteY0" fmla="*/ 0 h 18288"/>
              <a:gd name="connsiteX1" fmla="*/ 618935 w 3257550"/>
              <a:gd name="connsiteY1" fmla="*/ 0 h 18288"/>
              <a:gd name="connsiteX2" fmla="*/ 1270445 w 3257550"/>
              <a:gd name="connsiteY2" fmla="*/ 0 h 18288"/>
              <a:gd name="connsiteX3" fmla="*/ 1954530 w 3257550"/>
              <a:gd name="connsiteY3" fmla="*/ 0 h 18288"/>
              <a:gd name="connsiteX4" fmla="*/ 2638616 w 3257550"/>
              <a:gd name="connsiteY4" fmla="*/ 0 h 18288"/>
              <a:gd name="connsiteX5" fmla="*/ 3257550 w 3257550"/>
              <a:gd name="connsiteY5" fmla="*/ 0 h 18288"/>
              <a:gd name="connsiteX6" fmla="*/ 3257550 w 3257550"/>
              <a:gd name="connsiteY6" fmla="*/ 18288 h 18288"/>
              <a:gd name="connsiteX7" fmla="*/ 2540889 w 3257550"/>
              <a:gd name="connsiteY7" fmla="*/ 18288 h 18288"/>
              <a:gd name="connsiteX8" fmla="*/ 1824228 w 3257550"/>
              <a:gd name="connsiteY8" fmla="*/ 18288 h 18288"/>
              <a:gd name="connsiteX9" fmla="*/ 1172718 w 3257550"/>
              <a:gd name="connsiteY9" fmla="*/ 18288 h 18288"/>
              <a:gd name="connsiteX10" fmla="*/ 0 w 3257550"/>
              <a:gd name="connsiteY10" fmla="*/ 18288 h 18288"/>
              <a:gd name="connsiteX11" fmla="*/ 0 w 3257550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908005"/>
            <a:ext cx="3971261" cy="3268957"/>
          </a:xfrm>
        </p:spPr>
        <p:txBody>
          <a:bodyPr>
            <a:normAutofit/>
          </a:bodyPr>
          <a:lstStyle/>
          <a:p>
            <a:endParaRPr lang="en-GB" sz="1800" dirty="0"/>
          </a:p>
          <a:p>
            <a:pPr>
              <a:spcAft>
                <a:spcPts val="600"/>
              </a:spcAft>
            </a:pPr>
            <a:r>
              <a:rPr lang="en-GB" sz="1800" dirty="0"/>
              <a:t>• Alveolar wall destruction → reduced elastic recoil, hyperinflation.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• Clinical: barrel chest, reduced breath sounds, pursed-lip breathing.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• Spirometry: ↓FEV₁, ↑TLC, ↓DLCO.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• Assess dyspnoea, exercise capacity, and secretion management needs.</a:t>
            </a:r>
          </a:p>
        </p:txBody>
      </p:sp>
      <p:pic>
        <p:nvPicPr>
          <p:cNvPr id="5126" name="Picture 6" descr="Emphysema - Physiopedia">
            <a:extLst>
              <a:ext uri="{FF2B5EF4-FFF2-40B4-BE49-F238E27FC236}">
                <a16:creationId xmlns:a16="http://schemas.microsoft.com/office/drawing/2014/main" id="{BD255D9A-1FC3-B4B0-EEF2-E8099701C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0747" y="336810"/>
            <a:ext cx="1952704" cy="195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Emphysema - Physiopedia">
            <a:extLst>
              <a:ext uri="{FF2B5EF4-FFF2-40B4-BE49-F238E27FC236}">
                <a16:creationId xmlns:a16="http://schemas.microsoft.com/office/drawing/2014/main" id="{E5A15CA5-C224-F752-9E46-A710F922B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6832" y="438912"/>
            <a:ext cx="2214117" cy="279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Emphysema">
            <a:extLst>
              <a:ext uri="{FF2B5EF4-FFF2-40B4-BE49-F238E27FC236}">
                <a16:creationId xmlns:a16="http://schemas.microsoft.com/office/drawing/2014/main" id="{6586FA45-66CC-E065-1437-7B552DC66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67"/>
          <a:stretch>
            <a:fillRect/>
          </a:stretch>
        </p:blipFill>
        <p:spPr bwMode="auto">
          <a:xfrm>
            <a:off x="4797297" y="3786220"/>
            <a:ext cx="4073652" cy="203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3BDD-C8BA-8036-2B40-D40DB155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features and assessment</a:t>
            </a:r>
          </a:p>
        </p:txBody>
      </p:sp>
      <p:pic>
        <p:nvPicPr>
          <p:cNvPr id="6154" name="Picture 10" descr="Barrel Chest: Causes, Symptoms ...">
            <a:extLst>
              <a:ext uri="{FF2B5EF4-FFF2-40B4-BE49-F238E27FC236}">
                <a16:creationId xmlns:a16="http://schemas.microsoft.com/office/drawing/2014/main" id="{4061181F-6D8D-72D6-2960-ED6BF6AD7D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6" y="1554480"/>
            <a:ext cx="3321558" cy="285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5 Step to Improve Your Lung Function">
            <a:extLst>
              <a:ext uri="{FF2B5EF4-FFF2-40B4-BE49-F238E27FC236}">
                <a16:creationId xmlns:a16="http://schemas.microsoft.com/office/drawing/2014/main" id="{9FF2D6FB-62D1-B507-6032-CE8A1723A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833" y="1855770"/>
            <a:ext cx="3794760" cy="36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436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Chronic Bronchitis – Assessment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Productive cough for ≥3 months in 2 consecutive years.</a:t>
            </a:r>
          </a:p>
          <a:p>
            <a:pPr>
              <a:spcAft>
                <a:spcPts val="600"/>
              </a:spcAft>
            </a:pPr>
            <a:r>
              <a:t>• Clinical: wheeze, cyanosis, peripheral oedema (blue bloater).</a:t>
            </a:r>
          </a:p>
          <a:p>
            <a:pPr>
              <a:spcAft>
                <a:spcPts val="600"/>
              </a:spcAft>
            </a:pPr>
            <a:r>
              <a:t>• Objective: coarse crackles, sputum assessment, auscultation findings.</a:t>
            </a:r>
          </a:p>
          <a:p>
            <a:pPr>
              <a:spcAft>
                <a:spcPts val="600"/>
              </a:spcAft>
            </a:pPr>
            <a:r>
              <a:t>• Priorities: airway clearance, breathing control, exercise tolerance.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Cystic Fibrosis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Autosomal recessive disorder causing thick, sticky mucus production.</a:t>
            </a:r>
          </a:p>
          <a:p>
            <a:pPr>
              <a:spcAft>
                <a:spcPts val="600"/>
              </a:spcAft>
            </a:pPr>
            <a:r>
              <a:t>• Multisystem disease: respiratory, GI, reproductive.</a:t>
            </a:r>
          </a:p>
          <a:p>
            <a:pPr>
              <a:spcAft>
                <a:spcPts val="600"/>
              </a:spcAft>
            </a:pPr>
            <a:r>
              <a:t>• Assess sputum viscosity, infection frequency, nutritional status.</a:t>
            </a:r>
          </a:p>
          <a:p>
            <a:pPr>
              <a:spcAft>
                <a:spcPts val="600"/>
              </a:spcAft>
            </a:pPr>
            <a:r>
              <a:t>• Physiotherapy: airway clearance, exercise prescription, inhalation therapy.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Surgical Conditions – Assessment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Post-op risks: atelectasis, infection, secretion retention, pain.</a:t>
            </a:r>
          </a:p>
          <a:p>
            <a:pPr>
              <a:spcAft>
                <a:spcPts val="600"/>
              </a:spcAft>
            </a:pPr>
            <a:r>
              <a:t>• Pre-op assessment: smoking status, baseline lung function.</a:t>
            </a:r>
          </a:p>
          <a:p>
            <a:pPr>
              <a:spcAft>
                <a:spcPts val="600"/>
              </a:spcAft>
            </a:pPr>
            <a:r>
              <a:t>• Post-op assessment: pain score, cough effectiveness, SpO₂, mobility.</a:t>
            </a:r>
          </a:p>
          <a:p>
            <a:pPr>
              <a:spcAft>
                <a:spcPts val="600"/>
              </a:spcAft>
            </a:pPr>
            <a:r>
              <a:t>• Priorities: breathing exercises, early mobilisation, airway clearance.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Heart Failure – Pathophysiology &amp;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Pump failure → pulmonary congestion and systemic hypoperfusion.</a:t>
            </a:r>
          </a:p>
          <a:p>
            <a:pPr>
              <a:spcAft>
                <a:spcPts val="600"/>
              </a:spcAft>
            </a:pPr>
            <a:r>
              <a:t>• Symptoms: orthopnoea, PND, fatigue, ankle oedema.</a:t>
            </a:r>
          </a:p>
          <a:p>
            <a:pPr>
              <a:spcAft>
                <a:spcPts val="600"/>
              </a:spcAft>
            </a:pPr>
            <a:r>
              <a:t>• Signs: crackles, JVP, hepatomegaly, weight gain.</a:t>
            </a:r>
          </a:p>
          <a:p>
            <a:pPr>
              <a:spcAft>
                <a:spcPts val="600"/>
              </a:spcAft>
            </a:pPr>
            <a:r>
              <a:t>• Physiotherapy: low-intensity exercise, pacing, education,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Multimorbidity – Physiotherapy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Common overlap: COPD + heart failure, diabetes, obesity.</a:t>
            </a:r>
          </a:p>
          <a:p>
            <a:pPr>
              <a:spcAft>
                <a:spcPts val="600"/>
              </a:spcAft>
            </a:pPr>
            <a:r>
              <a:t>• Requires integrated assessment and prioritisation of treatment goals.</a:t>
            </a:r>
          </a:p>
          <a:p>
            <a:pPr>
              <a:spcAft>
                <a:spcPts val="600"/>
              </a:spcAft>
            </a:pPr>
            <a:r>
              <a:t>• Red flag awareness: unstable vitals, acute decompensation.</a:t>
            </a:r>
          </a:p>
          <a:p>
            <a:pPr>
              <a:spcAft>
                <a:spcPts val="600"/>
              </a:spcAft>
            </a:pPr>
            <a:r>
              <a:t>• Holistic management and MDT collaboration essential.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• Systematic cardiorespiratory assessment underpins clinical reasoning.</a:t>
            </a:r>
          </a:p>
          <a:p>
            <a:pPr>
              <a:spcAft>
                <a:spcPts val="600"/>
              </a:spcAft>
            </a:pPr>
            <a:r>
              <a:t>• Identify pathophysiological patterns across conditions.</a:t>
            </a:r>
          </a:p>
          <a:p>
            <a:pPr>
              <a:spcAft>
                <a:spcPts val="600"/>
              </a:spcAft>
            </a:pPr>
            <a:r>
              <a:t>• Link findings to prioritised physiotherapy goals.</a:t>
            </a:r>
          </a:p>
          <a:p>
            <a:pPr>
              <a:spcAft>
                <a:spcPts val="600"/>
              </a:spcAft>
            </a:pPr>
            <a:r>
              <a:t>• Promote patient-centred, evidence-based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A1C434E910648B716F1B8A4452C7C" ma:contentTypeVersion="20" ma:contentTypeDescription="Create a new document." ma:contentTypeScope="" ma:versionID="8523d9ecdeba7f86ef67d63d5ae1ab90">
  <xsd:schema xmlns:xsd="http://www.w3.org/2001/XMLSchema" xmlns:xs="http://www.w3.org/2001/XMLSchema" xmlns:p="http://schemas.microsoft.com/office/2006/metadata/properties" xmlns:ns1="http://schemas.microsoft.com/sharepoint/v3" xmlns:ns3="a8e734a9-52cf-49e3-bcde-90df6cef9c0a" xmlns:ns4="fc8c83e1-e4af-414a-b3b5-326eb82e57bc" targetNamespace="http://schemas.microsoft.com/office/2006/metadata/properties" ma:root="true" ma:fieldsID="11db89c22071a703b7e8d40204d65fa5" ns1:_="" ns3:_="" ns4:_="">
    <xsd:import namespace="http://schemas.microsoft.com/sharepoint/v3"/>
    <xsd:import namespace="a8e734a9-52cf-49e3-bcde-90df6cef9c0a"/>
    <xsd:import namespace="fc8c83e1-e4af-414a-b3b5-326eb82e57b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1:_ip_UnifiedCompliancePolicyProperties" minOccurs="0"/>
                <xsd:element ref="ns1:_ip_UnifiedCompliancePolicyUIAction" minOccurs="0"/>
                <xsd:element ref="ns4:MediaLengthInSeconds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734a9-52cf-49e3-bcde-90df6ce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c83e1-e4af-414a-b3b5-326eb82e57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c8c83e1-e4af-414a-b3b5-326eb82e57bc" xsi:nil="true"/>
  </documentManagement>
</p:properties>
</file>

<file path=customXml/itemProps1.xml><?xml version="1.0" encoding="utf-8"?>
<ds:datastoreItem xmlns:ds="http://schemas.openxmlformats.org/officeDocument/2006/customXml" ds:itemID="{58DD74A9-2629-498B-83CA-5B7BBD474B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8e734a9-52cf-49e3-bcde-90df6cef9c0a"/>
    <ds:schemaRef ds:uri="fc8c83e1-e4af-414a-b3b5-326eb82e57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DAC19E-F2F7-4040-9E92-F9691EA324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AAC0E9-FEDB-40C7-9D02-3D12C0FA888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fc8c83e1-e4af-414a-b3b5-326eb82e57bc"/>
    <ds:schemaRef ds:uri="a8e734a9-52cf-49e3-bcde-90df6cef9c0a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834</Words>
  <Application>Microsoft Office PowerPoint</Application>
  <PresentationFormat>On-screen Show (4:3)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Cardiorespiratory Assessment in Clinical Conditions</vt:lpstr>
      <vt:lpstr>Learning Outcomes</vt:lpstr>
      <vt:lpstr>Overview of Cardiorespiratory Assessment</vt:lpstr>
      <vt:lpstr>Subjective Assessment</vt:lpstr>
      <vt:lpstr>Objective Assessment</vt:lpstr>
      <vt:lpstr>Pathophysiology of Bronchiectasis</vt:lpstr>
      <vt:lpstr>Pictorial Depiction of Pathophysiology</vt:lpstr>
      <vt:lpstr>Radiological Features (CT Imaging)</vt:lpstr>
      <vt:lpstr>Respiratory Assessment</vt:lpstr>
      <vt:lpstr>Bronchiectasis – Physiotherapy Assessment</vt:lpstr>
      <vt:lpstr>Emphysema – Pathophysiology &amp; Assessment</vt:lpstr>
      <vt:lpstr>Clinical features and assessment</vt:lpstr>
      <vt:lpstr>Chronic Bronchitis – Assessment Focus</vt:lpstr>
      <vt:lpstr>Cystic Fibrosis – Overview</vt:lpstr>
      <vt:lpstr>Surgical Conditions – Assessment &amp; Risks</vt:lpstr>
      <vt:lpstr>Heart Failure – Pathophysiology &amp; Assessment</vt:lpstr>
      <vt:lpstr>Multimorbidity – Physiotherapy Implications</vt:lpstr>
      <vt:lpstr>Summary &amp; Integration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 Akinlabi</dc:creator>
  <cp:keywords/>
  <dc:description>generated using python-pptx</dc:description>
  <cp:lastModifiedBy>AKINLABI, Kola (CENTRAL LONDON COMMUNITY HEALTHCARE NHS TRUST)</cp:lastModifiedBy>
  <cp:revision>3</cp:revision>
  <dcterms:created xsi:type="dcterms:W3CDTF">2013-01-27T09:14:16Z</dcterms:created>
  <dcterms:modified xsi:type="dcterms:W3CDTF">2025-10-20T09:12:22Z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0x010100204A1C434E910648B716F1B8A4452C7C</vt:lpwstr>
  </property>
</Properties>
</file>