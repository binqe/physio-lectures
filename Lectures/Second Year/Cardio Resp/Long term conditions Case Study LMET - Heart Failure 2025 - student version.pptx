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259" r:id="rId4"/>
    <p:sldId id="261" r:id="rId5"/>
    <p:sldId id="260" r:id="rId6"/>
    <p:sldId id="270" r:id="rId7"/>
    <p:sldId id="262" r:id="rId8"/>
    <p:sldId id="263" r:id="rId9"/>
    <p:sldId id="264" r:id="rId10"/>
    <p:sldId id="265" r:id="rId11"/>
    <p:sldId id="266" r:id="rId12"/>
    <p:sldId id="267" r:id="rId13"/>
    <p:sldId id="268" r:id="rId14"/>
    <p:sldId id="271"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ABB8DB-18DF-4C22-83A1-25EB5DF1B9B8}" v="1" dt="2025-03-26T11:27:20.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4771" autoAdjust="0"/>
  </p:normalViewPr>
  <p:slideViewPr>
    <p:cSldViewPr snapToGrid="0" showGuides="1">
      <p:cViewPr varScale="1">
        <p:scale>
          <a:sx n="61" d="100"/>
          <a:sy n="61" d="100"/>
        </p:scale>
        <p:origin x="2059"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3FF9E-3404-4BF2-AD9D-24EF961B5BDB}" type="datetimeFigureOut">
              <a:rPr lang="en-GB" smtClean="0"/>
              <a:t>28/03/2025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B148F-B8BE-4F30-819E-65D3EC99E93C}" type="slidenum">
              <a:rPr lang="en-GB" smtClean="0"/>
              <a:t>‹#›</a:t>
            </a:fld>
            <a:endParaRPr lang="en-GB"/>
          </a:p>
        </p:txBody>
      </p:sp>
    </p:spTree>
    <p:extLst>
      <p:ext uri="{BB962C8B-B14F-4D97-AF65-F5344CB8AC3E}">
        <p14:creationId xmlns:p14="http://schemas.microsoft.com/office/powerpoint/2010/main" val="1441151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3</a:t>
            </a:fld>
            <a:endParaRPr lang="en-GB"/>
          </a:p>
        </p:txBody>
      </p:sp>
    </p:spTree>
    <p:extLst>
      <p:ext uri="{BB962C8B-B14F-4D97-AF65-F5344CB8AC3E}">
        <p14:creationId xmlns:p14="http://schemas.microsoft.com/office/powerpoint/2010/main" val="565500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5</a:t>
            </a:fld>
            <a:endParaRPr lang="en-GB"/>
          </a:p>
        </p:txBody>
      </p:sp>
    </p:spTree>
    <p:extLst>
      <p:ext uri="{BB962C8B-B14F-4D97-AF65-F5344CB8AC3E}">
        <p14:creationId xmlns:p14="http://schemas.microsoft.com/office/powerpoint/2010/main" val="361710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6</a:t>
            </a:fld>
            <a:endParaRPr lang="en-GB"/>
          </a:p>
        </p:txBody>
      </p:sp>
    </p:spTree>
    <p:extLst>
      <p:ext uri="{BB962C8B-B14F-4D97-AF65-F5344CB8AC3E}">
        <p14:creationId xmlns:p14="http://schemas.microsoft.com/office/powerpoint/2010/main" val="2367396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11</a:t>
            </a:fld>
            <a:endParaRPr lang="en-GB"/>
          </a:p>
        </p:txBody>
      </p:sp>
    </p:spTree>
    <p:extLst>
      <p:ext uri="{BB962C8B-B14F-4D97-AF65-F5344CB8AC3E}">
        <p14:creationId xmlns:p14="http://schemas.microsoft.com/office/powerpoint/2010/main" val="405373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12</a:t>
            </a:fld>
            <a:endParaRPr lang="en-GB"/>
          </a:p>
        </p:txBody>
      </p:sp>
    </p:spTree>
    <p:extLst>
      <p:ext uri="{BB962C8B-B14F-4D97-AF65-F5344CB8AC3E}">
        <p14:creationId xmlns:p14="http://schemas.microsoft.com/office/powerpoint/2010/main" val="2954964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13</a:t>
            </a:fld>
            <a:endParaRPr lang="en-GB"/>
          </a:p>
        </p:txBody>
      </p:sp>
    </p:spTree>
    <p:extLst>
      <p:ext uri="{BB962C8B-B14F-4D97-AF65-F5344CB8AC3E}">
        <p14:creationId xmlns:p14="http://schemas.microsoft.com/office/powerpoint/2010/main" val="319011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5B148F-B8BE-4F30-819E-65D3EC99E93C}" type="slidenum">
              <a:rPr lang="en-GB" smtClean="0"/>
              <a:t>15</a:t>
            </a:fld>
            <a:endParaRPr lang="en-GB"/>
          </a:p>
        </p:txBody>
      </p:sp>
    </p:spTree>
    <p:extLst>
      <p:ext uri="{BB962C8B-B14F-4D97-AF65-F5344CB8AC3E}">
        <p14:creationId xmlns:p14="http://schemas.microsoft.com/office/powerpoint/2010/main" val="22034850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Generic">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3091"/>
            <a:ext cx="7772400" cy="1226872"/>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685799" y="3602038"/>
            <a:ext cx="7772399" cy="16557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A picture containing logo&#10;&#10;Description automatically generated">
            <a:extLst>
              <a:ext uri="{FF2B5EF4-FFF2-40B4-BE49-F238E27FC236}">
                <a16:creationId xmlns:a16="http://schemas.microsoft.com/office/drawing/2014/main" id="{043DFAF9-585E-FA96-5672-573C8BA04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387" y="379413"/>
            <a:ext cx="1753200" cy="590012"/>
          </a:xfrm>
          <a:prstGeom prst="rect">
            <a:avLst/>
          </a:prstGeom>
        </p:spPr>
      </p:pic>
      <p:sp>
        <p:nvSpPr>
          <p:cNvPr id="12" name="TextBox 11">
            <a:extLst>
              <a:ext uri="{FF2B5EF4-FFF2-40B4-BE49-F238E27FC236}">
                <a16:creationId xmlns:a16="http://schemas.microsoft.com/office/drawing/2014/main" id="{11812190-3136-893A-762D-3298527FE7ED}"/>
              </a:ext>
            </a:extLst>
          </p:cNvPr>
          <p:cNvSpPr txBox="1"/>
          <p:nvPr userDrawn="1"/>
        </p:nvSpPr>
        <p:spPr>
          <a:xfrm>
            <a:off x="6706395" y="1224000"/>
            <a:ext cx="2056605" cy="394147"/>
          </a:xfrm>
          <a:prstGeom prst="rect">
            <a:avLst/>
          </a:prstGeom>
          <a:noFill/>
        </p:spPr>
        <p:txBody>
          <a:bodyPr wrap="square" lIns="0" tIns="0" rIns="0" bIns="0">
            <a:spAutoFit/>
          </a:bodyPr>
          <a:lstStyle/>
          <a:p>
            <a:pPr algn="r">
              <a:lnSpc>
                <a:spcPts val="1600"/>
              </a:lnSpc>
            </a:pPr>
            <a:r>
              <a:rPr lang="en-GB" sz="1200" b="1" dirty="0">
                <a:solidFill>
                  <a:schemeClr val="tx2"/>
                </a:solidFill>
              </a:rPr>
              <a:t>Royal Brompton Hospital  </a:t>
            </a:r>
          </a:p>
          <a:p>
            <a:pPr algn="r">
              <a:lnSpc>
                <a:spcPts val="1600"/>
              </a:lnSpc>
            </a:pPr>
            <a:r>
              <a:rPr lang="en-GB" sz="1200" b="1" dirty="0">
                <a:solidFill>
                  <a:schemeClr val="tx2"/>
                </a:solidFill>
              </a:rPr>
              <a:t>Harefield Hospital</a:t>
            </a:r>
          </a:p>
        </p:txBody>
      </p:sp>
      <p:pic>
        <p:nvPicPr>
          <p:cNvPr id="5" name="Picture 4" descr="A picture containing icon&#10;&#10;Description automatically generated">
            <a:extLst>
              <a:ext uri="{FF2B5EF4-FFF2-40B4-BE49-F238E27FC236}">
                <a16:creationId xmlns:a16="http://schemas.microsoft.com/office/drawing/2014/main" id="{D03E5D52-75B4-6E72-B78C-7A201FB704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8000" y="378000"/>
            <a:ext cx="2570400" cy="474187"/>
          </a:xfrm>
          <a:prstGeom prst="rect">
            <a:avLst/>
          </a:prstGeom>
        </p:spPr>
      </p:pic>
    </p:spTree>
    <p:extLst>
      <p:ext uri="{BB962C8B-B14F-4D97-AF65-F5344CB8AC3E}">
        <p14:creationId xmlns:p14="http://schemas.microsoft.com/office/powerpoint/2010/main" val="1031529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Royal Brompton">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3091"/>
            <a:ext cx="7772400" cy="1226872"/>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685799" y="3602038"/>
            <a:ext cx="7772399" cy="16557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A picture containing logo&#10;&#10;Description automatically generated">
            <a:extLst>
              <a:ext uri="{FF2B5EF4-FFF2-40B4-BE49-F238E27FC236}">
                <a16:creationId xmlns:a16="http://schemas.microsoft.com/office/drawing/2014/main" id="{043DFAF9-585E-FA96-5672-573C8BA04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387" y="379413"/>
            <a:ext cx="1753200" cy="590012"/>
          </a:xfrm>
          <a:prstGeom prst="rect">
            <a:avLst/>
          </a:prstGeom>
        </p:spPr>
      </p:pic>
      <p:pic>
        <p:nvPicPr>
          <p:cNvPr id="6" name="Picture 5" descr="A picture containing icon&#10;&#10;Description automatically generated">
            <a:extLst>
              <a:ext uri="{FF2B5EF4-FFF2-40B4-BE49-F238E27FC236}">
                <a16:creationId xmlns:a16="http://schemas.microsoft.com/office/drawing/2014/main" id="{481319EE-52A4-B66C-4641-572AF7448E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8000" y="378000"/>
            <a:ext cx="2570400" cy="474187"/>
          </a:xfrm>
          <a:prstGeom prst="rect">
            <a:avLst/>
          </a:prstGeom>
        </p:spPr>
      </p:pic>
      <p:sp>
        <p:nvSpPr>
          <p:cNvPr id="7" name="TextBox 6">
            <a:extLst>
              <a:ext uri="{FF2B5EF4-FFF2-40B4-BE49-F238E27FC236}">
                <a16:creationId xmlns:a16="http://schemas.microsoft.com/office/drawing/2014/main" id="{8A8BFFC9-41AF-7B52-09AB-1B768800E6BC}"/>
              </a:ext>
            </a:extLst>
          </p:cNvPr>
          <p:cNvSpPr txBox="1"/>
          <p:nvPr userDrawn="1"/>
        </p:nvSpPr>
        <p:spPr>
          <a:xfrm>
            <a:off x="6706395" y="1224000"/>
            <a:ext cx="2056605" cy="188962"/>
          </a:xfrm>
          <a:prstGeom prst="rect">
            <a:avLst/>
          </a:prstGeom>
          <a:noFill/>
        </p:spPr>
        <p:txBody>
          <a:bodyPr wrap="square" lIns="0" tIns="0" rIns="0" bIns="0">
            <a:spAutoFit/>
          </a:bodyPr>
          <a:lstStyle/>
          <a:p>
            <a:pPr algn="r">
              <a:lnSpc>
                <a:spcPts val="1600"/>
              </a:lnSpc>
            </a:pPr>
            <a:r>
              <a:rPr lang="en-GB" sz="1200" b="1" dirty="0">
                <a:solidFill>
                  <a:schemeClr val="tx2"/>
                </a:solidFill>
              </a:rPr>
              <a:t>Royal Brompton Hospital</a:t>
            </a:r>
          </a:p>
        </p:txBody>
      </p:sp>
    </p:spTree>
    <p:extLst>
      <p:ext uri="{BB962C8B-B14F-4D97-AF65-F5344CB8AC3E}">
        <p14:creationId xmlns:p14="http://schemas.microsoft.com/office/powerpoint/2010/main" val="842418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Harefie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3091"/>
            <a:ext cx="7772400" cy="1226872"/>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685799" y="3602038"/>
            <a:ext cx="7772399" cy="16557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A picture containing logo&#10;&#10;Description automatically generated">
            <a:extLst>
              <a:ext uri="{FF2B5EF4-FFF2-40B4-BE49-F238E27FC236}">
                <a16:creationId xmlns:a16="http://schemas.microsoft.com/office/drawing/2014/main" id="{043DFAF9-585E-FA96-5672-573C8BA04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387" y="379413"/>
            <a:ext cx="1753200" cy="590012"/>
          </a:xfrm>
          <a:prstGeom prst="rect">
            <a:avLst/>
          </a:prstGeom>
        </p:spPr>
      </p:pic>
      <p:pic>
        <p:nvPicPr>
          <p:cNvPr id="7" name="Picture 6" descr="A picture containing icon&#10;&#10;Description automatically generated">
            <a:extLst>
              <a:ext uri="{FF2B5EF4-FFF2-40B4-BE49-F238E27FC236}">
                <a16:creationId xmlns:a16="http://schemas.microsoft.com/office/drawing/2014/main" id="{C7D482A8-130E-2370-11E1-82F104BCCAA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8000" y="378000"/>
            <a:ext cx="2570400" cy="474187"/>
          </a:xfrm>
          <a:prstGeom prst="rect">
            <a:avLst/>
          </a:prstGeom>
        </p:spPr>
      </p:pic>
      <p:sp>
        <p:nvSpPr>
          <p:cNvPr id="8" name="TextBox 7">
            <a:extLst>
              <a:ext uri="{FF2B5EF4-FFF2-40B4-BE49-F238E27FC236}">
                <a16:creationId xmlns:a16="http://schemas.microsoft.com/office/drawing/2014/main" id="{076EE31F-0E07-5D99-91B4-1ABA954C9321}"/>
              </a:ext>
            </a:extLst>
          </p:cNvPr>
          <p:cNvSpPr txBox="1"/>
          <p:nvPr userDrawn="1"/>
        </p:nvSpPr>
        <p:spPr>
          <a:xfrm>
            <a:off x="6706395" y="1224000"/>
            <a:ext cx="2056605" cy="188962"/>
          </a:xfrm>
          <a:prstGeom prst="rect">
            <a:avLst/>
          </a:prstGeom>
          <a:noFill/>
        </p:spPr>
        <p:txBody>
          <a:bodyPr wrap="square" lIns="0" tIns="0" rIns="0" bIns="0">
            <a:spAutoFit/>
          </a:bodyPr>
          <a:lstStyle/>
          <a:p>
            <a:pPr algn="r">
              <a:lnSpc>
                <a:spcPts val="1600"/>
              </a:lnSpc>
            </a:pPr>
            <a:r>
              <a:rPr lang="en-GB" sz="1200" b="1" dirty="0">
                <a:solidFill>
                  <a:schemeClr val="tx2"/>
                </a:solidFill>
              </a:rPr>
              <a:t>Harefield Hospital</a:t>
            </a:r>
          </a:p>
        </p:txBody>
      </p:sp>
    </p:spTree>
    <p:extLst>
      <p:ext uri="{BB962C8B-B14F-4D97-AF65-F5344CB8AC3E}">
        <p14:creationId xmlns:p14="http://schemas.microsoft.com/office/powerpoint/2010/main" val="123692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Guy's">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3091"/>
            <a:ext cx="7772400" cy="1226872"/>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685799" y="3602038"/>
            <a:ext cx="7772399" cy="16557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A picture containing logo&#10;&#10;Description automatically generated">
            <a:extLst>
              <a:ext uri="{FF2B5EF4-FFF2-40B4-BE49-F238E27FC236}">
                <a16:creationId xmlns:a16="http://schemas.microsoft.com/office/drawing/2014/main" id="{043DFAF9-585E-FA96-5672-573C8BA04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387" y="379413"/>
            <a:ext cx="1753200" cy="590012"/>
          </a:xfrm>
          <a:prstGeom prst="rect">
            <a:avLst/>
          </a:prstGeom>
        </p:spPr>
      </p:pic>
      <p:sp>
        <p:nvSpPr>
          <p:cNvPr id="6" name="TextBox 5">
            <a:extLst>
              <a:ext uri="{FF2B5EF4-FFF2-40B4-BE49-F238E27FC236}">
                <a16:creationId xmlns:a16="http://schemas.microsoft.com/office/drawing/2014/main" id="{80672E9E-9114-6844-8CD9-F57AEE23DE4A}"/>
              </a:ext>
            </a:extLst>
          </p:cNvPr>
          <p:cNvSpPr txBox="1"/>
          <p:nvPr userDrawn="1"/>
        </p:nvSpPr>
        <p:spPr>
          <a:xfrm>
            <a:off x="6706395" y="1224000"/>
            <a:ext cx="2056605" cy="188962"/>
          </a:xfrm>
          <a:prstGeom prst="rect">
            <a:avLst/>
          </a:prstGeom>
          <a:noFill/>
        </p:spPr>
        <p:txBody>
          <a:bodyPr wrap="square" lIns="0" tIns="0" rIns="0" bIns="0">
            <a:spAutoFit/>
          </a:bodyPr>
          <a:lstStyle/>
          <a:p>
            <a:pPr algn="r">
              <a:lnSpc>
                <a:spcPts val="1600"/>
              </a:lnSpc>
            </a:pPr>
            <a:r>
              <a:rPr lang="en-GB" sz="1200" b="1" dirty="0">
                <a:solidFill>
                  <a:schemeClr val="tx2"/>
                </a:solidFill>
              </a:rPr>
              <a:t>Guy’s Hospital </a:t>
            </a:r>
          </a:p>
        </p:txBody>
      </p:sp>
      <p:pic>
        <p:nvPicPr>
          <p:cNvPr id="7" name="Picture 6" descr="A picture containing icon&#10;&#10;Description automatically generated">
            <a:extLst>
              <a:ext uri="{FF2B5EF4-FFF2-40B4-BE49-F238E27FC236}">
                <a16:creationId xmlns:a16="http://schemas.microsoft.com/office/drawing/2014/main" id="{D5E118C3-C098-593D-3D3C-1AC232B494E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8000" y="378000"/>
            <a:ext cx="2570400" cy="474187"/>
          </a:xfrm>
          <a:prstGeom prst="rect">
            <a:avLst/>
          </a:prstGeom>
        </p:spPr>
      </p:pic>
    </p:spTree>
    <p:extLst>
      <p:ext uri="{BB962C8B-B14F-4D97-AF65-F5344CB8AC3E}">
        <p14:creationId xmlns:p14="http://schemas.microsoft.com/office/powerpoint/2010/main" val="21695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t Thomas'">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3091"/>
            <a:ext cx="7772400" cy="1226872"/>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685799" y="3602038"/>
            <a:ext cx="7772399" cy="16557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A picture containing logo&#10;&#10;Description automatically generated">
            <a:extLst>
              <a:ext uri="{FF2B5EF4-FFF2-40B4-BE49-F238E27FC236}">
                <a16:creationId xmlns:a16="http://schemas.microsoft.com/office/drawing/2014/main" id="{043DFAF9-585E-FA96-5672-573C8BA043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387" y="379413"/>
            <a:ext cx="1753200" cy="590012"/>
          </a:xfrm>
          <a:prstGeom prst="rect">
            <a:avLst/>
          </a:prstGeom>
        </p:spPr>
      </p:pic>
      <p:sp>
        <p:nvSpPr>
          <p:cNvPr id="7" name="TextBox 6">
            <a:extLst>
              <a:ext uri="{FF2B5EF4-FFF2-40B4-BE49-F238E27FC236}">
                <a16:creationId xmlns:a16="http://schemas.microsoft.com/office/drawing/2014/main" id="{2783272E-1A66-2504-C55A-798A197D478F}"/>
              </a:ext>
            </a:extLst>
          </p:cNvPr>
          <p:cNvSpPr txBox="1"/>
          <p:nvPr userDrawn="1"/>
        </p:nvSpPr>
        <p:spPr>
          <a:xfrm>
            <a:off x="6706395" y="1224000"/>
            <a:ext cx="2056605" cy="188962"/>
          </a:xfrm>
          <a:prstGeom prst="rect">
            <a:avLst/>
          </a:prstGeom>
          <a:noFill/>
        </p:spPr>
        <p:txBody>
          <a:bodyPr wrap="square" lIns="0" tIns="0" rIns="0" bIns="0">
            <a:spAutoFit/>
          </a:bodyPr>
          <a:lstStyle/>
          <a:p>
            <a:pPr algn="r">
              <a:lnSpc>
                <a:spcPts val="1600"/>
              </a:lnSpc>
            </a:pPr>
            <a:r>
              <a:rPr lang="en-GB" sz="1200" b="1" dirty="0">
                <a:solidFill>
                  <a:schemeClr val="tx2"/>
                </a:solidFill>
              </a:rPr>
              <a:t>St Thomas’ Hospital </a:t>
            </a:r>
          </a:p>
        </p:txBody>
      </p:sp>
      <p:pic>
        <p:nvPicPr>
          <p:cNvPr id="8" name="Picture 7" descr="A picture containing icon&#10;&#10;Description automatically generated">
            <a:extLst>
              <a:ext uri="{FF2B5EF4-FFF2-40B4-BE49-F238E27FC236}">
                <a16:creationId xmlns:a16="http://schemas.microsoft.com/office/drawing/2014/main" id="{34B96EE9-B923-1F53-956B-DE785AEEA5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8000" y="378000"/>
            <a:ext cx="2570400" cy="474187"/>
          </a:xfrm>
          <a:prstGeom prst="rect">
            <a:avLst/>
          </a:prstGeom>
        </p:spPr>
      </p:pic>
    </p:spTree>
    <p:extLst>
      <p:ext uri="{BB962C8B-B14F-4D97-AF65-F5344CB8AC3E}">
        <p14:creationId xmlns:p14="http://schemas.microsoft.com/office/powerpoint/2010/main" val="3429305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7261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NHS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577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05835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260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9413" y="287492"/>
            <a:ext cx="8383587" cy="615553"/>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379413" y="1260000"/>
            <a:ext cx="8383587" cy="5217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7774334"/>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69" r:id="rId3"/>
    <p:sldLayoutId id="2147483670" r:id="rId4"/>
    <p:sldLayoutId id="2147483671" r:id="rId5"/>
    <p:sldLayoutId id="2147483662" r:id="rId6"/>
    <p:sldLayoutId id="2147483672" r:id="rId7"/>
    <p:sldLayoutId id="2147483666" r:id="rId8"/>
    <p:sldLayoutId id="2147483667" r:id="rId9"/>
  </p:sldLayoutIdLst>
  <p:txStyles>
    <p:titleStyle>
      <a:lvl1pPr algn="l" defTabSz="914400" rtl="0" eaLnBrk="1" latinLnBrk="0" hangingPunct="1">
        <a:lnSpc>
          <a:spcPts val="4800"/>
        </a:lnSpc>
        <a:spcBef>
          <a:spcPct val="0"/>
        </a:spcBef>
        <a:buNone/>
        <a:defRPr sz="4000" b="1" kern="1200">
          <a:solidFill>
            <a:schemeClr val="tx2"/>
          </a:solidFill>
          <a:latin typeface="+mj-lt"/>
          <a:ea typeface="+mj-ea"/>
          <a:cs typeface="+mj-cs"/>
        </a:defRPr>
      </a:lvl1pPr>
    </p:titleStyle>
    <p:bodyStyle>
      <a:lvl1pPr marL="432000" indent="-432000" algn="l" defTabSz="914400" rtl="0" eaLnBrk="1" latinLnBrk="0" hangingPunct="1">
        <a:lnSpc>
          <a:spcPts val="3400"/>
        </a:lnSpc>
        <a:spcBef>
          <a:spcPts val="1000"/>
        </a:spcBef>
        <a:buClr>
          <a:schemeClr val="tx2"/>
        </a:buClr>
        <a:buFont typeface="Wingdings" panose="05000000000000000000" pitchFamily="2" charset="2"/>
        <a:buChar char=""/>
        <a:defRPr sz="2800" kern="1200">
          <a:solidFill>
            <a:schemeClr val="tx1"/>
          </a:solidFill>
          <a:latin typeface="+mn-lt"/>
          <a:ea typeface="+mn-ea"/>
          <a:cs typeface="+mn-cs"/>
        </a:defRPr>
      </a:lvl1pPr>
      <a:lvl2pPr marL="864000" indent="-432000" algn="l" defTabSz="914400" rtl="0" eaLnBrk="1" latinLnBrk="0" hangingPunct="1">
        <a:lnSpc>
          <a:spcPts val="3400"/>
        </a:lnSpc>
        <a:spcBef>
          <a:spcPts val="500"/>
        </a:spcBef>
        <a:buClr>
          <a:schemeClr val="tx2"/>
        </a:buClr>
        <a:buSzPct val="80000"/>
        <a:buFont typeface="Wingdings" panose="05000000000000000000" pitchFamily="2" charset="2"/>
        <a:buChar char="n"/>
        <a:defRPr sz="2800" kern="1200">
          <a:solidFill>
            <a:schemeClr val="tx1"/>
          </a:solidFill>
          <a:latin typeface="+mn-lt"/>
          <a:ea typeface="+mn-ea"/>
          <a:cs typeface="+mn-cs"/>
        </a:defRPr>
      </a:lvl2pPr>
      <a:lvl3pPr marL="1296000" indent="-432000" algn="l" defTabSz="914400" rtl="0" eaLnBrk="1" latinLnBrk="0" hangingPunct="1">
        <a:lnSpc>
          <a:spcPts val="3400"/>
        </a:lnSpc>
        <a:spcBef>
          <a:spcPts val="500"/>
        </a:spcBef>
        <a:buClr>
          <a:schemeClr val="tx2"/>
        </a:buClr>
        <a:buSzPct val="80000"/>
        <a:buFont typeface="Wingdings" panose="05000000000000000000" pitchFamily="2" charset="2"/>
        <a:buChar char="n"/>
        <a:defRPr sz="2800" kern="1200">
          <a:solidFill>
            <a:schemeClr val="tx1"/>
          </a:solidFill>
          <a:latin typeface="+mn-lt"/>
          <a:ea typeface="+mn-ea"/>
          <a:cs typeface="+mn-cs"/>
        </a:defRPr>
      </a:lvl3pPr>
      <a:lvl4pPr marL="1728000" indent="-432000" algn="l" defTabSz="914400" rtl="0" eaLnBrk="1" latinLnBrk="0" hangingPunct="1">
        <a:lnSpc>
          <a:spcPts val="3400"/>
        </a:lnSpc>
        <a:spcBef>
          <a:spcPts val="500"/>
        </a:spcBef>
        <a:buClr>
          <a:schemeClr val="tx2"/>
        </a:buClr>
        <a:buSzPct val="80000"/>
        <a:buFont typeface="Wingdings" panose="05000000000000000000" pitchFamily="2" charset="2"/>
        <a:buChar char="n"/>
        <a:defRPr sz="2800" kern="1200">
          <a:solidFill>
            <a:schemeClr val="tx1"/>
          </a:solidFill>
          <a:latin typeface="+mn-lt"/>
          <a:ea typeface="+mn-ea"/>
          <a:cs typeface="+mn-cs"/>
        </a:defRPr>
      </a:lvl4pPr>
      <a:lvl5pPr marL="2160000" indent="-432000" algn="l" defTabSz="914400" rtl="0" eaLnBrk="1" latinLnBrk="0" hangingPunct="1">
        <a:lnSpc>
          <a:spcPts val="3400"/>
        </a:lnSpc>
        <a:spcBef>
          <a:spcPts val="500"/>
        </a:spcBef>
        <a:buClr>
          <a:schemeClr val="tx2"/>
        </a:buClr>
        <a:buSzPct val="80000"/>
        <a:buFont typeface="Wingdings" panose="05000000000000000000" pitchFamily="2" charset="2"/>
        <a:buChar char="n"/>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5760" userDrawn="1">
          <p15:clr>
            <a:srgbClr val="F26B43"/>
          </p15:clr>
        </p15:guide>
        <p15:guide id="3" pos="239" userDrawn="1">
          <p15:clr>
            <a:srgbClr val="F26B43"/>
          </p15:clr>
        </p15:guide>
        <p15:guide id="4" pos="5520" userDrawn="1">
          <p15:clr>
            <a:srgbClr val="F26B43"/>
          </p15:clr>
        </p15:guide>
        <p15:guide id="5" orient="horz" userDrawn="1">
          <p15:clr>
            <a:srgbClr val="F26B43"/>
          </p15:clr>
        </p15:guide>
        <p15:guide id="6" orient="horz" pos="4320" userDrawn="1">
          <p15:clr>
            <a:srgbClr val="F26B43"/>
          </p15:clr>
        </p15:guide>
        <p15:guide id="7" orient="horz" pos="239" userDrawn="1">
          <p15:clr>
            <a:srgbClr val="F26B43"/>
          </p15:clr>
        </p15:guide>
        <p15:guide id="8" orient="horz" pos="40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F3E6BD7-D969-7D38-1174-C7F552223832}"/>
              </a:ext>
            </a:extLst>
          </p:cNvPr>
          <p:cNvSpPr>
            <a:spLocks noGrp="1"/>
          </p:cNvSpPr>
          <p:nvPr>
            <p:ph type="ctrTitle"/>
          </p:nvPr>
        </p:nvSpPr>
        <p:spPr/>
        <p:txBody>
          <a:bodyPr/>
          <a:lstStyle/>
          <a:p>
            <a:r>
              <a:rPr lang="en-GB" dirty="0"/>
              <a:t>Long Term Conditions</a:t>
            </a:r>
          </a:p>
        </p:txBody>
      </p:sp>
      <p:sp>
        <p:nvSpPr>
          <p:cNvPr id="13" name="Subtitle 12">
            <a:extLst>
              <a:ext uri="{FF2B5EF4-FFF2-40B4-BE49-F238E27FC236}">
                <a16:creationId xmlns:a16="http://schemas.microsoft.com/office/drawing/2014/main" id="{F9E4EC50-365F-EB36-3021-13E359BCCAAC}"/>
              </a:ext>
            </a:extLst>
          </p:cNvPr>
          <p:cNvSpPr>
            <a:spLocks noGrp="1"/>
          </p:cNvSpPr>
          <p:nvPr>
            <p:ph type="subTitle" idx="1"/>
          </p:nvPr>
        </p:nvSpPr>
        <p:spPr/>
        <p:txBody>
          <a:bodyPr>
            <a:normAutofit/>
          </a:bodyPr>
          <a:lstStyle/>
          <a:p>
            <a:r>
              <a:rPr lang="en-GB" dirty="0"/>
              <a:t>Heart Failure Case Study</a:t>
            </a:r>
          </a:p>
        </p:txBody>
      </p:sp>
      <p:pic>
        <p:nvPicPr>
          <p:cNvPr id="2" name="Picture 6" descr="London Metropolitan University - London ...">
            <a:extLst>
              <a:ext uri="{FF2B5EF4-FFF2-40B4-BE49-F238E27FC236}">
                <a16:creationId xmlns:a16="http://schemas.microsoft.com/office/drawing/2014/main" id="{C869D44A-FFB3-8D6F-1B12-2444D3D7E73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68533" y="6328394"/>
            <a:ext cx="1525215" cy="3924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59E2FFB-C7FA-D80E-409D-DF8A2361E737}"/>
              </a:ext>
            </a:extLst>
          </p:cNvPr>
          <p:cNvSpPr txBox="1"/>
          <p:nvPr/>
        </p:nvSpPr>
        <p:spPr>
          <a:xfrm>
            <a:off x="2576381" y="5004486"/>
            <a:ext cx="3991233" cy="923330"/>
          </a:xfrm>
          <a:prstGeom prst="rect">
            <a:avLst/>
          </a:prstGeom>
          <a:noFill/>
        </p:spPr>
        <p:txBody>
          <a:bodyPr wrap="square" rtlCol="0">
            <a:spAutoFit/>
          </a:bodyPr>
          <a:lstStyle/>
          <a:p>
            <a:pPr algn="ctr"/>
            <a:r>
              <a:rPr lang="en-GB" dirty="0"/>
              <a:t>Alison Clarke</a:t>
            </a:r>
          </a:p>
          <a:p>
            <a:pPr algn="ctr"/>
            <a:r>
              <a:rPr lang="en-GB" dirty="0"/>
              <a:t>Highly Specialist Physiotherapist</a:t>
            </a:r>
          </a:p>
          <a:p>
            <a:pPr algn="ctr"/>
            <a:r>
              <a:rPr lang="en-GB" dirty="0"/>
              <a:t>Cardiothoracic Transplantation</a:t>
            </a:r>
          </a:p>
        </p:txBody>
      </p:sp>
    </p:spTree>
    <p:extLst>
      <p:ext uri="{BB962C8B-B14F-4D97-AF65-F5344CB8AC3E}">
        <p14:creationId xmlns:p14="http://schemas.microsoft.com/office/powerpoint/2010/main" val="21734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ECCE7E-8A75-6D34-59E3-F07AC72E15BE}"/>
              </a:ext>
            </a:extLst>
          </p:cNvPr>
          <p:cNvSpPr>
            <a:spLocks noGrp="1"/>
          </p:cNvSpPr>
          <p:nvPr>
            <p:ph type="title"/>
          </p:nvPr>
        </p:nvSpPr>
        <p:spPr/>
        <p:txBody>
          <a:bodyPr/>
          <a:lstStyle/>
          <a:p>
            <a:r>
              <a:rPr lang="en-GB" dirty="0"/>
              <a:t>Cardiology Ward</a:t>
            </a:r>
          </a:p>
        </p:txBody>
      </p:sp>
      <p:sp>
        <p:nvSpPr>
          <p:cNvPr id="5" name="Content Placeholder 4">
            <a:extLst>
              <a:ext uri="{FF2B5EF4-FFF2-40B4-BE49-F238E27FC236}">
                <a16:creationId xmlns:a16="http://schemas.microsoft.com/office/drawing/2014/main" id="{1A17942B-A1FF-7977-AEE3-862EAA9FF8B9}"/>
              </a:ext>
            </a:extLst>
          </p:cNvPr>
          <p:cNvSpPr>
            <a:spLocks noGrp="1"/>
          </p:cNvSpPr>
          <p:nvPr>
            <p:ph idx="1"/>
          </p:nvPr>
        </p:nvSpPr>
        <p:spPr/>
        <p:txBody>
          <a:bodyPr/>
          <a:lstStyle/>
          <a:p>
            <a:endParaRPr lang="en-GB" dirty="0"/>
          </a:p>
        </p:txBody>
      </p:sp>
      <p:pic>
        <p:nvPicPr>
          <p:cNvPr id="1026" name="Picture 2" descr="Real Patients In Hospital Bed">
            <a:extLst>
              <a:ext uri="{FF2B5EF4-FFF2-40B4-BE49-F238E27FC236}">
                <a16:creationId xmlns:a16="http://schemas.microsoft.com/office/drawing/2014/main" id="{B654AB42-7354-8BD4-E1A0-A9702E3F8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43" y="3180216"/>
            <a:ext cx="5496230" cy="3296784"/>
          </a:xfrm>
          <a:prstGeom prst="rect">
            <a:avLst/>
          </a:prstGeom>
          <a:noFill/>
          <a:extLst>
            <a:ext uri="{909E8E84-426E-40DD-AFC4-6F175D3DCCD1}">
              <a14:hiddenFill xmlns:a14="http://schemas.microsoft.com/office/drawing/2010/main">
                <a:solidFill>
                  <a:srgbClr val="FFFFFF"/>
                </a:solidFill>
              </a14:hiddenFill>
            </a:ext>
          </a:extLst>
        </p:spPr>
      </p:pic>
      <p:sp>
        <p:nvSpPr>
          <p:cNvPr id="6" name="Speech Bubble: Rectangle 5">
            <a:extLst>
              <a:ext uri="{FF2B5EF4-FFF2-40B4-BE49-F238E27FC236}">
                <a16:creationId xmlns:a16="http://schemas.microsoft.com/office/drawing/2014/main" id="{D4AE1F8F-2714-5DD6-20EB-94149E181E85}"/>
              </a:ext>
            </a:extLst>
          </p:cNvPr>
          <p:cNvSpPr/>
          <p:nvPr/>
        </p:nvSpPr>
        <p:spPr>
          <a:xfrm>
            <a:off x="5197152" y="381000"/>
            <a:ext cx="3423279" cy="4676192"/>
          </a:xfrm>
          <a:prstGeom prst="wedgeRectCallout">
            <a:avLst>
              <a:gd name="adj1" fmla="val -96606"/>
              <a:gd name="adj2" fmla="val 309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Are you the physio on the ward today?</a:t>
            </a:r>
          </a:p>
          <a:p>
            <a:pPr algn="ctr"/>
            <a:endParaRPr lang="en-GB" dirty="0"/>
          </a:p>
          <a:p>
            <a:pPr algn="ctr"/>
            <a:r>
              <a:rPr lang="en-GB" dirty="0"/>
              <a:t>I’m worried about Mr A’s mobility. He has deteriorated over the last week and now he can’t walk to the toilet by himself. He will be medically fit for discharge next week but I’m worried about how he will manage at home.</a:t>
            </a:r>
          </a:p>
          <a:p>
            <a:pPr algn="ctr"/>
            <a:endParaRPr lang="en-GB" dirty="0"/>
          </a:p>
          <a:p>
            <a:pPr algn="ctr"/>
            <a:r>
              <a:rPr lang="en-GB" dirty="0"/>
              <a:t>Do you mind having a look at him?</a:t>
            </a:r>
          </a:p>
        </p:txBody>
      </p:sp>
    </p:spTree>
    <p:extLst>
      <p:ext uri="{BB962C8B-B14F-4D97-AF65-F5344CB8AC3E}">
        <p14:creationId xmlns:p14="http://schemas.microsoft.com/office/powerpoint/2010/main" val="903985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334B-0C08-75AA-4DD2-9056060D47BE}"/>
              </a:ext>
            </a:extLst>
          </p:cNvPr>
          <p:cNvSpPr>
            <a:spLocks noGrp="1"/>
          </p:cNvSpPr>
          <p:nvPr>
            <p:ph type="title"/>
          </p:nvPr>
        </p:nvSpPr>
        <p:spPr/>
        <p:txBody>
          <a:bodyPr/>
          <a:lstStyle/>
          <a:p>
            <a:r>
              <a:rPr lang="en-GB" dirty="0"/>
              <a:t>Medical notes</a:t>
            </a:r>
          </a:p>
        </p:txBody>
      </p:sp>
      <p:sp>
        <p:nvSpPr>
          <p:cNvPr id="3" name="Content Placeholder 2">
            <a:extLst>
              <a:ext uri="{FF2B5EF4-FFF2-40B4-BE49-F238E27FC236}">
                <a16:creationId xmlns:a16="http://schemas.microsoft.com/office/drawing/2014/main" id="{94548A66-7A3E-CE5B-5AA2-677F7943B9AE}"/>
              </a:ext>
            </a:extLst>
          </p:cNvPr>
          <p:cNvSpPr>
            <a:spLocks noGrp="1"/>
          </p:cNvSpPr>
          <p:nvPr>
            <p:ph idx="1"/>
          </p:nvPr>
        </p:nvSpPr>
        <p:spPr>
          <a:xfrm>
            <a:off x="379414" y="1260000"/>
            <a:ext cx="5938271" cy="5217000"/>
          </a:xfrm>
        </p:spPr>
        <p:txBody>
          <a:bodyPr>
            <a:normAutofit fontScale="92500"/>
          </a:bodyPr>
          <a:lstStyle/>
          <a:p>
            <a:r>
              <a:rPr lang="en-GB" dirty="0"/>
              <a:t>63 year old male</a:t>
            </a:r>
          </a:p>
          <a:p>
            <a:r>
              <a:rPr lang="en-GB" dirty="0"/>
              <a:t>Admitted to hospital 2 weeks ago with acute congestive heart failure </a:t>
            </a:r>
          </a:p>
          <a:p>
            <a:pPr lvl="1"/>
            <a:r>
              <a:rPr lang="en-GB" dirty="0"/>
              <a:t>Shortness of breath</a:t>
            </a:r>
          </a:p>
          <a:p>
            <a:pPr lvl="1"/>
            <a:r>
              <a:rPr lang="en-GB" dirty="0"/>
              <a:t>Reduced mobility</a:t>
            </a:r>
          </a:p>
          <a:p>
            <a:r>
              <a:rPr lang="en-GB" dirty="0"/>
              <a:t>PMH:</a:t>
            </a:r>
          </a:p>
          <a:p>
            <a:pPr lvl="1"/>
            <a:r>
              <a:rPr lang="en-GB" dirty="0"/>
              <a:t>Class III heart failure diagnosed 2 years ago</a:t>
            </a:r>
          </a:p>
          <a:p>
            <a:pPr lvl="1"/>
            <a:r>
              <a:rPr lang="en-GB" dirty="0"/>
              <a:t>T2DM</a:t>
            </a:r>
          </a:p>
          <a:p>
            <a:pPr lvl="1"/>
            <a:r>
              <a:rPr lang="en-GB" dirty="0"/>
              <a:t>GORD</a:t>
            </a:r>
          </a:p>
        </p:txBody>
      </p:sp>
      <p:pic>
        <p:nvPicPr>
          <p:cNvPr id="4" name="Picture 3">
            <a:extLst>
              <a:ext uri="{FF2B5EF4-FFF2-40B4-BE49-F238E27FC236}">
                <a16:creationId xmlns:a16="http://schemas.microsoft.com/office/drawing/2014/main" id="{8DB18B9A-3213-06BE-7A1B-00A7AB2D6152}"/>
              </a:ext>
            </a:extLst>
          </p:cNvPr>
          <p:cNvPicPr>
            <a:picLocks noChangeAspect="1"/>
          </p:cNvPicPr>
          <p:nvPr/>
        </p:nvPicPr>
        <p:blipFill>
          <a:blip r:embed="rId3"/>
          <a:srcRect r="43690"/>
          <a:stretch/>
        </p:blipFill>
        <p:spPr>
          <a:xfrm>
            <a:off x="6317685" y="287492"/>
            <a:ext cx="2550743" cy="2305050"/>
          </a:xfrm>
          <a:prstGeom prst="rect">
            <a:avLst/>
          </a:prstGeom>
        </p:spPr>
      </p:pic>
    </p:spTree>
    <p:extLst>
      <p:ext uri="{BB962C8B-B14F-4D97-AF65-F5344CB8AC3E}">
        <p14:creationId xmlns:p14="http://schemas.microsoft.com/office/powerpoint/2010/main" val="330713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E0E3-DF6A-3A9C-1B15-AEF53C3FAFC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3DA7051-4F74-2A8F-EF9C-690C892C20E4}"/>
              </a:ext>
            </a:extLst>
          </p:cNvPr>
          <p:cNvSpPr>
            <a:spLocks noGrp="1"/>
          </p:cNvSpPr>
          <p:nvPr>
            <p:ph idx="1"/>
          </p:nvPr>
        </p:nvSpPr>
        <p:spPr/>
        <p:txBody>
          <a:bodyPr/>
          <a:lstStyle/>
          <a:p>
            <a:endParaRPr lang="en-GB"/>
          </a:p>
        </p:txBody>
      </p:sp>
      <p:pic>
        <p:nvPicPr>
          <p:cNvPr id="2050" name="Picture 2" descr="Pin on Cardio">
            <a:extLst>
              <a:ext uri="{FF2B5EF4-FFF2-40B4-BE49-F238E27FC236}">
                <a16:creationId xmlns:a16="http://schemas.microsoft.com/office/drawing/2014/main" id="{19D74AE4-ECF4-3078-17C2-1205A470C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42913"/>
            <a:ext cx="6096000" cy="597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310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B6440-7589-097B-8D27-C73DE9D3A9C0}"/>
              </a:ext>
            </a:extLst>
          </p:cNvPr>
          <p:cNvSpPr>
            <a:spLocks noGrp="1"/>
          </p:cNvSpPr>
          <p:nvPr>
            <p:ph type="title"/>
          </p:nvPr>
        </p:nvSpPr>
        <p:spPr/>
        <p:txBody>
          <a:bodyPr/>
          <a:lstStyle/>
          <a:p>
            <a:r>
              <a:rPr lang="en-GB" dirty="0"/>
              <a:t>What would you like to ask Mr. A. in your subjective Assessment? </a:t>
            </a:r>
          </a:p>
        </p:txBody>
      </p:sp>
      <p:sp>
        <p:nvSpPr>
          <p:cNvPr id="3" name="Content Placeholder 2">
            <a:extLst>
              <a:ext uri="{FF2B5EF4-FFF2-40B4-BE49-F238E27FC236}">
                <a16:creationId xmlns:a16="http://schemas.microsoft.com/office/drawing/2014/main" id="{8BE43843-8411-6B02-5228-772625B04A9D}"/>
              </a:ext>
            </a:extLst>
          </p:cNvPr>
          <p:cNvSpPr>
            <a:spLocks noGrp="1"/>
          </p:cNvSpPr>
          <p:nvPr>
            <p:ph idx="1"/>
          </p:nvPr>
        </p:nvSpPr>
        <p:spPr>
          <a:xfrm>
            <a:off x="379413" y="2071396"/>
            <a:ext cx="8383587" cy="4405604"/>
          </a:xfrm>
        </p:spPr>
        <p:txBody>
          <a:bodyPr/>
          <a:lstStyle/>
          <a:p>
            <a:pPr marL="0" indent="0">
              <a:buNone/>
            </a:pPr>
            <a:endParaRPr lang="en-GB" dirty="0"/>
          </a:p>
        </p:txBody>
      </p:sp>
    </p:spTree>
    <p:extLst>
      <p:ext uri="{BB962C8B-B14F-4D97-AF65-F5344CB8AC3E}">
        <p14:creationId xmlns:p14="http://schemas.microsoft.com/office/powerpoint/2010/main" val="4134230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E30F6-4244-474C-E67E-6F9D2A9EE5FE}"/>
              </a:ext>
            </a:extLst>
          </p:cNvPr>
          <p:cNvSpPr>
            <a:spLocks noGrp="1"/>
          </p:cNvSpPr>
          <p:nvPr>
            <p:ph type="title"/>
          </p:nvPr>
        </p:nvSpPr>
        <p:spPr/>
        <p:txBody>
          <a:bodyPr/>
          <a:lstStyle/>
          <a:p>
            <a:r>
              <a:rPr lang="en-GB" dirty="0"/>
              <a:t>Present condition of Mr. A</a:t>
            </a:r>
          </a:p>
        </p:txBody>
      </p:sp>
      <p:sp>
        <p:nvSpPr>
          <p:cNvPr id="3" name="Content Placeholder 2">
            <a:extLst>
              <a:ext uri="{FF2B5EF4-FFF2-40B4-BE49-F238E27FC236}">
                <a16:creationId xmlns:a16="http://schemas.microsoft.com/office/drawing/2014/main" id="{71E45905-5182-F4DC-53AE-CED4F11FCB04}"/>
              </a:ext>
            </a:extLst>
          </p:cNvPr>
          <p:cNvSpPr>
            <a:spLocks noGrp="1"/>
          </p:cNvSpPr>
          <p:nvPr>
            <p:ph idx="1"/>
          </p:nvPr>
        </p:nvSpPr>
        <p:spPr>
          <a:xfrm>
            <a:off x="379413" y="1773567"/>
            <a:ext cx="3365869" cy="4527025"/>
          </a:xfrm>
        </p:spPr>
        <p:txBody>
          <a:bodyPr/>
          <a:lstStyle/>
          <a:p>
            <a:r>
              <a:rPr lang="en-GB" dirty="0"/>
              <a:t>Struggling to walk: feels breathless and legs are heavy</a:t>
            </a:r>
          </a:p>
          <a:p>
            <a:pPr marL="0" indent="0">
              <a:buNone/>
            </a:pPr>
            <a:endParaRPr lang="en-GB" dirty="0"/>
          </a:p>
          <a:p>
            <a:r>
              <a:rPr lang="en-GB" dirty="0"/>
              <a:t>Having to sleep with head bed elevated</a:t>
            </a:r>
          </a:p>
        </p:txBody>
      </p:sp>
      <p:pic>
        <p:nvPicPr>
          <p:cNvPr id="4098" name="Picture 2" descr="Image result for Heart Failure Swollen Feet">
            <a:extLst>
              <a:ext uri="{FF2B5EF4-FFF2-40B4-BE49-F238E27FC236}">
                <a16:creationId xmlns:a16="http://schemas.microsoft.com/office/drawing/2014/main" id="{B256F95E-ECB8-50F8-161A-602676F0A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681" y="2104573"/>
            <a:ext cx="4359319" cy="3493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31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E165-717B-9A99-AF65-D027F2A722EB}"/>
              </a:ext>
            </a:extLst>
          </p:cNvPr>
          <p:cNvSpPr>
            <a:spLocks noGrp="1"/>
          </p:cNvSpPr>
          <p:nvPr>
            <p:ph type="title"/>
          </p:nvPr>
        </p:nvSpPr>
        <p:spPr/>
        <p:txBody>
          <a:bodyPr/>
          <a:lstStyle/>
          <a:p>
            <a:r>
              <a:rPr lang="en-GB" dirty="0"/>
              <a:t>Social History from Mr. A </a:t>
            </a:r>
          </a:p>
        </p:txBody>
      </p:sp>
      <p:sp>
        <p:nvSpPr>
          <p:cNvPr id="3" name="Content Placeholder 2">
            <a:extLst>
              <a:ext uri="{FF2B5EF4-FFF2-40B4-BE49-F238E27FC236}">
                <a16:creationId xmlns:a16="http://schemas.microsoft.com/office/drawing/2014/main" id="{0E89C610-F363-1C60-371D-79128E94111A}"/>
              </a:ext>
            </a:extLst>
          </p:cNvPr>
          <p:cNvSpPr>
            <a:spLocks noGrp="1"/>
          </p:cNvSpPr>
          <p:nvPr>
            <p:ph idx="1"/>
          </p:nvPr>
        </p:nvSpPr>
        <p:spPr/>
        <p:txBody>
          <a:bodyPr/>
          <a:lstStyle/>
          <a:p>
            <a:r>
              <a:rPr lang="en-GB" dirty="0"/>
              <a:t>Lives with wife</a:t>
            </a:r>
          </a:p>
          <a:p>
            <a:r>
              <a:rPr lang="en-GB" dirty="0"/>
              <a:t>1 flight of stairs with 1 rail on the left ascending</a:t>
            </a:r>
          </a:p>
          <a:p>
            <a:r>
              <a:rPr lang="en-GB" dirty="0"/>
              <a:t>No equipment</a:t>
            </a:r>
          </a:p>
          <a:p>
            <a:r>
              <a:rPr lang="en-GB" dirty="0"/>
              <a:t>Walks unaided indoors</a:t>
            </a:r>
          </a:p>
          <a:p>
            <a:r>
              <a:rPr lang="en-GB" dirty="0"/>
              <a:t>Walks with a walking w/stick longer distances outdoors</a:t>
            </a:r>
          </a:p>
          <a:p>
            <a:r>
              <a:rPr lang="en-GB" dirty="0" err="1"/>
              <a:t>Exs</a:t>
            </a:r>
            <a:r>
              <a:rPr lang="en-GB" dirty="0"/>
              <a:t> </a:t>
            </a:r>
            <a:r>
              <a:rPr lang="en-GB" dirty="0" err="1"/>
              <a:t>tol</a:t>
            </a:r>
            <a:r>
              <a:rPr lang="en-GB" dirty="0"/>
              <a:t>: 20 mins without stopping</a:t>
            </a:r>
          </a:p>
        </p:txBody>
      </p:sp>
    </p:spTree>
    <p:extLst>
      <p:ext uri="{BB962C8B-B14F-4D97-AF65-F5344CB8AC3E}">
        <p14:creationId xmlns:p14="http://schemas.microsoft.com/office/powerpoint/2010/main" val="2099004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A66B-A7E5-2A1C-E135-42A12600B5A9}"/>
              </a:ext>
            </a:extLst>
          </p:cNvPr>
          <p:cNvSpPr>
            <a:spLocks noGrp="1"/>
          </p:cNvSpPr>
          <p:nvPr>
            <p:ph type="title"/>
          </p:nvPr>
        </p:nvSpPr>
        <p:spPr/>
        <p:txBody>
          <a:bodyPr/>
          <a:lstStyle/>
          <a:p>
            <a:r>
              <a:rPr lang="en-GB" dirty="0"/>
              <a:t>What would you like to include in your objective assessment? </a:t>
            </a:r>
          </a:p>
        </p:txBody>
      </p:sp>
      <p:sp>
        <p:nvSpPr>
          <p:cNvPr id="3" name="Content Placeholder 2">
            <a:extLst>
              <a:ext uri="{FF2B5EF4-FFF2-40B4-BE49-F238E27FC236}">
                <a16:creationId xmlns:a16="http://schemas.microsoft.com/office/drawing/2014/main" id="{C73AB06F-309A-64B5-B64A-EC931A29D601}"/>
              </a:ext>
            </a:extLst>
          </p:cNvPr>
          <p:cNvSpPr>
            <a:spLocks noGrp="1"/>
          </p:cNvSpPr>
          <p:nvPr>
            <p:ph idx="1"/>
          </p:nvPr>
        </p:nvSpPr>
        <p:spPr>
          <a:xfrm>
            <a:off x="379413" y="1816274"/>
            <a:ext cx="8383587" cy="4660726"/>
          </a:xfrm>
        </p:spPr>
        <p:txBody>
          <a:bodyPr/>
          <a:lstStyle/>
          <a:p>
            <a:endParaRPr lang="en-GB" dirty="0"/>
          </a:p>
        </p:txBody>
      </p:sp>
    </p:spTree>
    <p:extLst>
      <p:ext uri="{BB962C8B-B14F-4D97-AF65-F5344CB8AC3E}">
        <p14:creationId xmlns:p14="http://schemas.microsoft.com/office/powerpoint/2010/main" val="809149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FFD7-A0CF-D924-5244-163FC5DED987}"/>
              </a:ext>
            </a:extLst>
          </p:cNvPr>
          <p:cNvSpPr>
            <a:spLocks noGrp="1"/>
          </p:cNvSpPr>
          <p:nvPr>
            <p:ph type="title"/>
          </p:nvPr>
        </p:nvSpPr>
        <p:spPr/>
        <p:txBody>
          <a:bodyPr/>
          <a:lstStyle/>
          <a:p>
            <a:r>
              <a:rPr lang="en-GB" dirty="0"/>
              <a:t>A-E assessment</a:t>
            </a:r>
          </a:p>
        </p:txBody>
      </p:sp>
      <p:sp>
        <p:nvSpPr>
          <p:cNvPr id="3" name="Content Placeholder 2">
            <a:extLst>
              <a:ext uri="{FF2B5EF4-FFF2-40B4-BE49-F238E27FC236}">
                <a16:creationId xmlns:a16="http://schemas.microsoft.com/office/drawing/2014/main" id="{7F333F3E-996F-1293-43C1-5F62B9CF3664}"/>
              </a:ext>
            </a:extLst>
          </p:cNvPr>
          <p:cNvSpPr>
            <a:spLocks noGrp="1"/>
          </p:cNvSpPr>
          <p:nvPr>
            <p:ph idx="1"/>
          </p:nvPr>
        </p:nvSpPr>
        <p:spPr>
          <a:xfrm>
            <a:off x="379413" y="1260000"/>
            <a:ext cx="8501540" cy="5217000"/>
          </a:xfrm>
        </p:spPr>
        <p:txBody>
          <a:bodyPr>
            <a:normAutofit/>
          </a:bodyPr>
          <a:lstStyle/>
          <a:p>
            <a:pPr marL="0" indent="0">
              <a:buNone/>
            </a:pPr>
            <a:r>
              <a:rPr lang="en-GB" dirty="0"/>
              <a:t>A: 	Own</a:t>
            </a:r>
          </a:p>
          <a:p>
            <a:pPr marL="0" indent="0">
              <a:buNone/>
            </a:pPr>
            <a:r>
              <a:rPr lang="en-GB" dirty="0"/>
              <a:t>B: 	S/V on 1lO2 via n/c. SpO2 95%. RR 12</a:t>
            </a:r>
          </a:p>
          <a:p>
            <a:pPr marL="0" indent="0">
              <a:buNone/>
            </a:pPr>
            <a:r>
              <a:rPr lang="en-GB" dirty="0"/>
              <a:t>C: 	HR 90, BP 100/80 (70), T 36.5</a:t>
            </a:r>
          </a:p>
          <a:p>
            <a:pPr marL="0" indent="0">
              <a:buNone/>
            </a:pPr>
            <a:r>
              <a:rPr lang="en-GB" dirty="0"/>
              <a:t>D: 	Alert and talking in bed. GCS 15/15. Able to 	move all 4 limbs</a:t>
            </a:r>
          </a:p>
          <a:p>
            <a:pPr marL="0" indent="0">
              <a:buNone/>
            </a:pPr>
            <a:r>
              <a:rPr lang="en-GB" dirty="0"/>
              <a:t>E: 	In pyjamas. Nasal cannula, cardiac monitor: 	Peripheral 	oedema, especially legs and feet</a:t>
            </a:r>
          </a:p>
          <a:p>
            <a:pPr marL="0" indent="0">
              <a:buNone/>
            </a:pPr>
            <a:endParaRPr lang="en-GB" dirty="0"/>
          </a:p>
        </p:txBody>
      </p:sp>
    </p:spTree>
    <p:extLst>
      <p:ext uri="{BB962C8B-B14F-4D97-AF65-F5344CB8AC3E}">
        <p14:creationId xmlns:p14="http://schemas.microsoft.com/office/powerpoint/2010/main" val="2962299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EA98-939F-9624-1C04-D0E943E125AE}"/>
              </a:ext>
            </a:extLst>
          </p:cNvPr>
          <p:cNvSpPr>
            <a:spLocks noGrp="1"/>
          </p:cNvSpPr>
          <p:nvPr>
            <p:ph type="title"/>
          </p:nvPr>
        </p:nvSpPr>
        <p:spPr/>
        <p:txBody>
          <a:bodyPr/>
          <a:lstStyle/>
          <a:p>
            <a:r>
              <a:rPr lang="en-GB" dirty="0"/>
              <a:t>Is it safe to start getting Mr. A out of bed to start a functional assessment? </a:t>
            </a:r>
          </a:p>
        </p:txBody>
      </p:sp>
      <p:sp>
        <p:nvSpPr>
          <p:cNvPr id="4" name="Title 1">
            <a:extLst>
              <a:ext uri="{FF2B5EF4-FFF2-40B4-BE49-F238E27FC236}">
                <a16:creationId xmlns:a16="http://schemas.microsoft.com/office/drawing/2014/main" id="{03569B9F-FF0B-C637-5CFB-3B70D63171FC}"/>
              </a:ext>
            </a:extLst>
          </p:cNvPr>
          <p:cNvSpPr txBox="1">
            <a:spLocks/>
          </p:cNvSpPr>
          <p:nvPr/>
        </p:nvSpPr>
        <p:spPr>
          <a:xfrm>
            <a:off x="379412" y="3208062"/>
            <a:ext cx="8383587" cy="615553"/>
          </a:xfrm>
          <a:prstGeom prst="rect">
            <a:avLst/>
          </a:prstGeom>
        </p:spPr>
        <p:txBody>
          <a:bodyPr vert="horz" lIns="0" tIns="0" rIns="0" bIns="0" rtlCol="0" anchor="t" anchorCtr="0">
            <a:noAutofit/>
          </a:bodyPr>
          <a:lstStyle>
            <a:lvl1pPr algn="l" defTabSz="914400" rtl="0" eaLnBrk="1" latinLnBrk="0" hangingPunct="1">
              <a:lnSpc>
                <a:spcPts val="4800"/>
              </a:lnSpc>
              <a:spcBef>
                <a:spcPct val="0"/>
              </a:spcBef>
              <a:buNone/>
              <a:defRPr sz="4000" b="1" kern="1200">
                <a:solidFill>
                  <a:schemeClr val="tx2"/>
                </a:solidFill>
                <a:latin typeface="+mj-lt"/>
                <a:ea typeface="+mj-ea"/>
                <a:cs typeface="+mj-cs"/>
              </a:defRPr>
            </a:lvl1pPr>
          </a:lstStyle>
          <a:p>
            <a:endParaRPr lang="en-GB" dirty="0"/>
          </a:p>
          <a:p>
            <a:r>
              <a:rPr lang="en-GB" dirty="0"/>
              <a:t>What would you like to include in your functional assessment? </a:t>
            </a:r>
          </a:p>
        </p:txBody>
      </p:sp>
    </p:spTree>
    <p:extLst>
      <p:ext uri="{BB962C8B-B14F-4D97-AF65-F5344CB8AC3E}">
        <p14:creationId xmlns:p14="http://schemas.microsoft.com/office/powerpoint/2010/main" val="231773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EB19D-2B89-CB66-B698-DA36563F3C5C}"/>
              </a:ext>
            </a:extLst>
          </p:cNvPr>
          <p:cNvSpPr>
            <a:spLocks noGrp="1"/>
          </p:cNvSpPr>
          <p:nvPr>
            <p:ph type="title"/>
          </p:nvPr>
        </p:nvSpPr>
        <p:spPr/>
        <p:txBody>
          <a:bodyPr/>
          <a:lstStyle/>
          <a:p>
            <a:r>
              <a:rPr lang="en-GB" dirty="0"/>
              <a:t>Functional Assessment</a:t>
            </a:r>
          </a:p>
        </p:txBody>
      </p:sp>
      <p:sp>
        <p:nvSpPr>
          <p:cNvPr id="3" name="Content Placeholder 2">
            <a:extLst>
              <a:ext uri="{FF2B5EF4-FFF2-40B4-BE49-F238E27FC236}">
                <a16:creationId xmlns:a16="http://schemas.microsoft.com/office/drawing/2014/main" id="{F11E95E1-B705-1645-60B4-154062CAD419}"/>
              </a:ext>
            </a:extLst>
          </p:cNvPr>
          <p:cNvSpPr>
            <a:spLocks noGrp="1"/>
          </p:cNvSpPr>
          <p:nvPr>
            <p:ph idx="1"/>
          </p:nvPr>
        </p:nvSpPr>
        <p:spPr/>
        <p:txBody>
          <a:bodyPr/>
          <a:lstStyle/>
          <a:p>
            <a:r>
              <a:rPr lang="en-GB" dirty="0"/>
              <a:t>Lie to SOEOB with difficulty but (I)</a:t>
            </a:r>
          </a:p>
          <a:p>
            <a:r>
              <a:rPr lang="en-GB" dirty="0"/>
              <a:t>Needs AO1 to put slippers on. Can’t bend forward as feeling so breathless</a:t>
            </a:r>
          </a:p>
          <a:p>
            <a:r>
              <a:rPr lang="en-GB" dirty="0"/>
              <a:t>STS (I) slowly, felt dizzy for about 5 seconds </a:t>
            </a:r>
          </a:p>
          <a:p>
            <a:r>
              <a:rPr lang="en-GB" dirty="0"/>
              <a:t>Mobilised approximately 10m with HHAO1 // very breathless</a:t>
            </a:r>
          </a:p>
          <a:p>
            <a:r>
              <a:rPr lang="en-GB" dirty="0"/>
              <a:t>Sat in chair</a:t>
            </a:r>
          </a:p>
        </p:txBody>
      </p:sp>
    </p:spTree>
    <p:extLst>
      <p:ext uri="{BB962C8B-B14F-4D97-AF65-F5344CB8AC3E}">
        <p14:creationId xmlns:p14="http://schemas.microsoft.com/office/powerpoint/2010/main" val="1592669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6767-2EE8-43CA-5FC8-1E22383DB066}"/>
              </a:ext>
            </a:extLst>
          </p:cNvPr>
          <p:cNvSpPr>
            <a:spLocks noGrp="1"/>
          </p:cNvSpPr>
          <p:nvPr>
            <p:ph type="title"/>
          </p:nvPr>
        </p:nvSpPr>
        <p:spPr/>
        <p:txBody>
          <a:bodyPr/>
          <a:lstStyle/>
          <a:p>
            <a:r>
              <a:rPr lang="en-GB" dirty="0"/>
              <a:t>What is your problem list? </a:t>
            </a:r>
          </a:p>
        </p:txBody>
      </p:sp>
      <p:sp>
        <p:nvSpPr>
          <p:cNvPr id="3" name="Content Placeholder 2">
            <a:extLst>
              <a:ext uri="{FF2B5EF4-FFF2-40B4-BE49-F238E27FC236}">
                <a16:creationId xmlns:a16="http://schemas.microsoft.com/office/drawing/2014/main" id="{8FC547A7-5C8D-E2B4-7D1C-AA1C727AFEE4}"/>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1949155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E90AB-3E89-2377-E834-0D2188791E7D}"/>
              </a:ext>
            </a:extLst>
          </p:cNvPr>
          <p:cNvSpPr>
            <a:spLocks noGrp="1"/>
          </p:cNvSpPr>
          <p:nvPr>
            <p:ph type="title"/>
          </p:nvPr>
        </p:nvSpPr>
        <p:spPr/>
        <p:txBody>
          <a:bodyPr/>
          <a:lstStyle/>
          <a:p>
            <a:r>
              <a:rPr lang="en-GB" dirty="0"/>
              <a:t>What is your treatment plan?</a:t>
            </a:r>
          </a:p>
        </p:txBody>
      </p:sp>
      <p:sp>
        <p:nvSpPr>
          <p:cNvPr id="3" name="Content Placeholder 2">
            <a:extLst>
              <a:ext uri="{FF2B5EF4-FFF2-40B4-BE49-F238E27FC236}">
                <a16:creationId xmlns:a16="http://schemas.microsoft.com/office/drawing/2014/main" id="{2F52AE94-043E-6485-1F10-4A0F6D347A6D}"/>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704488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1EA0E-243A-9A4C-B1EB-52AC2370BAE2}"/>
              </a:ext>
            </a:extLst>
          </p:cNvPr>
          <p:cNvSpPr>
            <a:spLocks noGrp="1"/>
          </p:cNvSpPr>
          <p:nvPr>
            <p:ph type="title"/>
          </p:nvPr>
        </p:nvSpPr>
        <p:spPr/>
        <p:txBody>
          <a:bodyPr/>
          <a:lstStyle/>
          <a:p>
            <a:r>
              <a:rPr lang="en-GB" dirty="0"/>
              <a:t>Goal setting</a:t>
            </a:r>
          </a:p>
        </p:txBody>
      </p:sp>
      <p:sp>
        <p:nvSpPr>
          <p:cNvPr id="3" name="Content Placeholder 2">
            <a:extLst>
              <a:ext uri="{FF2B5EF4-FFF2-40B4-BE49-F238E27FC236}">
                <a16:creationId xmlns:a16="http://schemas.microsoft.com/office/drawing/2014/main" id="{949CB116-E68B-6D4F-258B-D5F5AB6469E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18563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40402-0381-0B6E-388B-90B94A5E4E5B}"/>
              </a:ext>
            </a:extLst>
          </p:cNvPr>
          <p:cNvSpPr>
            <a:spLocks noGrp="1"/>
          </p:cNvSpPr>
          <p:nvPr>
            <p:ph type="title"/>
          </p:nvPr>
        </p:nvSpPr>
        <p:spPr/>
        <p:txBody>
          <a:bodyPr/>
          <a:lstStyle/>
          <a:p>
            <a:r>
              <a:rPr lang="en-GB" dirty="0"/>
              <a:t>Ward handover the next morning</a:t>
            </a:r>
          </a:p>
        </p:txBody>
      </p:sp>
      <p:pic>
        <p:nvPicPr>
          <p:cNvPr id="3074" name="Picture 2" descr="Shift Handover Meeting Photograph by Arno Massee/science Photo Library ...">
            <a:extLst>
              <a:ext uri="{FF2B5EF4-FFF2-40B4-BE49-F238E27FC236}">
                <a16:creationId xmlns:a16="http://schemas.microsoft.com/office/drawing/2014/main" id="{31E09895-6074-0D5B-582F-0BF38C53D11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88516" y="2708688"/>
            <a:ext cx="5278927" cy="3513419"/>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Rectangle with Corners Rounded 3">
            <a:extLst>
              <a:ext uri="{FF2B5EF4-FFF2-40B4-BE49-F238E27FC236}">
                <a16:creationId xmlns:a16="http://schemas.microsoft.com/office/drawing/2014/main" id="{E8BCEACA-04A7-AF16-60EF-C0E2C30482FD}"/>
              </a:ext>
            </a:extLst>
          </p:cNvPr>
          <p:cNvSpPr/>
          <p:nvPr/>
        </p:nvSpPr>
        <p:spPr>
          <a:xfrm>
            <a:off x="6005384" y="1643449"/>
            <a:ext cx="2891481" cy="3128967"/>
          </a:xfrm>
          <a:prstGeom prst="wedgeRoundRectCallout">
            <a:avLst>
              <a:gd name="adj1" fmla="val -95344"/>
              <a:gd name="adj2" fmla="val 2147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Physio…..</a:t>
            </a:r>
          </a:p>
          <a:p>
            <a:pPr algn="ctr"/>
            <a:endParaRPr lang="en-GB" dirty="0"/>
          </a:p>
          <a:p>
            <a:pPr algn="ctr"/>
            <a:r>
              <a:rPr lang="en-GB" dirty="0"/>
              <a:t>Did you get a chance to assess Mr. A yesterday? </a:t>
            </a:r>
          </a:p>
          <a:p>
            <a:pPr algn="ctr"/>
            <a:endParaRPr lang="en-GB" dirty="0"/>
          </a:p>
          <a:p>
            <a:pPr algn="ctr"/>
            <a:r>
              <a:rPr lang="en-GB" dirty="0"/>
              <a:t>Do you think he can go home next week? </a:t>
            </a:r>
          </a:p>
          <a:p>
            <a:pPr algn="ctr"/>
            <a:endParaRPr lang="en-GB" dirty="0"/>
          </a:p>
        </p:txBody>
      </p:sp>
    </p:spTree>
    <p:extLst>
      <p:ext uri="{BB962C8B-B14F-4D97-AF65-F5344CB8AC3E}">
        <p14:creationId xmlns:p14="http://schemas.microsoft.com/office/powerpoint/2010/main" val="3297219679"/>
      </p:ext>
    </p:extLst>
  </p:cSld>
  <p:clrMapOvr>
    <a:masterClrMapping/>
  </p:clrMapOvr>
</p:sld>
</file>

<file path=ppt/theme/theme1.xml><?xml version="1.0" encoding="utf-8"?>
<a:theme xmlns:a="http://schemas.openxmlformats.org/drawingml/2006/main" name="Guy's and St Thomas' NHS Foundation Trust">
  <a:themeElements>
    <a:clrScheme name="NHS Blue">
      <a:dk1>
        <a:sysClr val="windowText" lastClr="000000"/>
      </a:dk1>
      <a:lt1>
        <a:sysClr val="window" lastClr="FFFFFF"/>
      </a:lt1>
      <a:dk2>
        <a:srgbClr val="005EB8"/>
      </a:dk2>
      <a:lt2>
        <a:srgbClr val="EEECE1"/>
      </a:lt2>
      <a:accent1>
        <a:srgbClr val="005EB8"/>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 Powerpoint standard - HL&amp;CC.potx" id="{8D2ADE58-0BC9-49A0-8885-10F14AABE666}" vid="{F1CC4FA5-7DB5-4150-8F1D-3BB6EF03C0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 Powerpoint standard - HL&amp;CC</Template>
  <TotalTime>0</TotalTime>
  <Words>408</Words>
  <Application>Microsoft Office PowerPoint</Application>
  <PresentationFormat>On-screen Show (4:3)</PresentationFormat>
  <Paragraphs>64</Paragraphs>
  <Slides>15</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Guy's and St Thomas' NHS Foundation Trust</vt:lpstr>
      <vt:lpstr>Long Term Conditions</vt:lpstr>
      <vt:lpstr>Cardiology Ward</vt:lpstr>
      <vt:lpstr>Medical notes</vt:lpstr>
      <vt:lpstr>PowerPoint Presentation</vt:lpstr>
      <vt:lpstr>What would you like to ask Mr. A. in your subjective Assessment? </vt:lpstr>
      <vt:lpstr>Present condition of Mr. A</vt:lpstr>
      <vt:lpstr>Social History from Mr. A </vt:lpstr>
      <vt:lpstr>What would you like to include in your objective assessment? </vt:lpstr>
      <vt:lpstr>A-E assessment</vt:lpstr>
      <vt:lpstr>Is it safe to start getting Mr. A out of bed to start a functional assessment? </vt:lpstr>
      <vt:lpstr>Functional Assessment</vt:lpstr>
      <vt:lpstr>What is your problem list? </vt:lpstr>
      <vt:lpstr>What is your treatment plan?</vt:lpstr>
      <vt:lpstr>Goal setting</vt:lpstr>
      <vt:lpstr>Ward handover the next morning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Rippingham Kayo</dc:creator>
  <cp:lastModifiedBy>Alison Clarke</cp:lastModifiedBy>
  <cp:revision>6</cp:revision>
  <dcterms:created xsi:type="dcterms:W3CDTF">2022-06-20T07:19:31Z</dcterms:created>
  <dcterms:modified xsi:type="dcterms:W3CDTF">2025-03-28T13:19:20Z</dcterms:modified>
</cp:coreProperties>
</file>