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92" autoAdjust="0"/>
  </p:normalViewPr>
  <p:slideViewPr>
    <p:cSldViewPr snapToGrid="0" showGuides="1">
      <p:cViewPr varScale="1">
        <p:scale>
          <a:sx n="67" d="100"/>
          <a:sy n="67" d="100"/>
        </p:scale>
        <p:origin x="72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620CF8-2DE9-42AE-8497-686A75171492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84BCD7F-4816-4307-BB97-683D88E3B5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Practically apply theory to maximise V/Q ratio in patients</a:t>
          </a:r>
          <a:endParaRPr lang="en-US" dirty="0"/>
        </a:p>
      </dgm:t>
    </dgm:pt>
    <dgm:pt modelId="{3C2D006C-3CF5-4F1A-96C8-E76DF33615D1}" type="parTrans" cxnId="{A94BA32A-3C3E-4F91-B6B2-D30B663793DE}">
      <dgm:prSet/>
      <dgm:spPr/>
      <dgm:t>
        <a:bodyPr/>
        <a:lstStyle/>
        <a:p>
          <a:endParaRPr lang="en-US"/>
        </a:p>
      </dgm:t>
    </dgm:pt>
    <dgm:pt modelId="{F4D6E904-B356-4F8B-962C-EA31835A1550}" type="sibTrans" cxnId="{A94BA32A-3C3E-4F91-B6B2-D30B663793DE}">
      <dgm:prSet/>
      <dgm:spPr/>
      <dgm:t>
        <a:bodyPr/>
        <a:lstStyle/>
        <a:p>
          <a:endParaRPr lang="en-US"/>
        </a:p>
      </dgm:t>
    </dgm:pt>
    <dgm:pt modelId="{9D2468A8-AC76-4746-A996-A6289681D56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Develop a theoretical understanding of the differences in ventilation and perfusion throughout the lungs (V/Q)</a:t>
          </a:r>
          <a:endParaRPr lang="en-US" dirty="0"/>
        </a:p>
      </dgm:t>
    </dgm:pt>
    <dgm:pt modelId="{B3D961CF-9055-4CA2-84DE-73C42C1FEC1C}" type="parTrans" cxnId="{246AD924-21C7-465A-9505-97F8C9A37623}">
      <dgm:prSet/>
      <dgm:spPr/>
      <dgm:t>
        <a:bodyPr/>
        <a:lstStyle/>
        <a:p>
          <a:endParaRPr lang="en-GB"/>
        </a:p>
      </dgm:t>
    </dgm:pt>
    <dgm:pt modelId="{17E2EB74-22F5-457E-B950-8EA80662B6E2}" type="sibTrans" cxnId="{246AD924-21C7-465A-9505-97F8C9A37623}">
      <dgm:prSet/>
      <dgm:spPr/>
      <dgm:t>
        <a:bodyPr/>
        <a:lstStyle/>
        <a:p>
          <a:endParaRPr lang="en-GB"/>
        </a:p>
      </dgm:t>
    </dgm:pt>
    <dgm:pt modelId="{EE88A98B-FB8E-48C9-8B9E-62AB53DE88BE}">
      <dgm:prSet/>
      <dgm:spPr/>
      <dgm:t>
        <a:bodyPr/>
        <a:lstStyle/>
        <a:p>
          <a:r>
            <a:rPr lang="en-GB" dirty="0"/>
            <a:t>Differentiate between self-ventilating and ventilated adults</a:t>
          </a:r>
        </a:p>
      </dgm:t>
    </dgm:pt>
    <dgm:pt modelId="{58E36999-6929-4FD6-BAF9-64E44F9F950F}" type="parTrans" cxnId="{54C889FB-18DE-4BFC-8640-91F7498B23F1}">
      <dgm:prSet/>
      <dgm:spPr/>
      <dgm:t>
        <a:bodyPr/>
        <a:lstStyle/>
        <a:p>
          <a:endParaRPr lang="en-GB"/>
        </a:p>
      </dgm:t>
    </dgm:pt>
    <dgm:pt modelId="{BE343705-AA62-4672-B31A-0D2E6AA32772}" type="sibTrans" cxnId="{54C889FB-18DE-4BFC-8640-91F7498B23F1}">
      <dgm:prSet/>
      <dgm:spPr/>
      <dgm:t>
        <a:bodyPr/>
        <a:lstStyle/>
        <a:p>
          <a:endParaRPr lang="en-GB"/>
        </a:p>
      </dgm:t>
    </dgm:pt>
    <dgm:pt modelId="{504B2310-8054-4FD5-8F1A-36777BB69DD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Understand the physiological effects of positioning </a:t>
          </a:r>
        </a:p>
      </dgm:t>
    </dgm:pt>
    <dgm:pt modelId="{19C8B6F3-2BA4-4EB0-A865-D60E6C91E581}" type="sibTrans" cxnId="{C867DCBC-28B2-4530-9134-4E42E0577BAB}">
      <dgm:prSet/>
      <dgm:spPr/>
      <dgm:t>
        <a:bodyPr/>
        <a:lstStyle/>
        <a:p>
          <a:endParaRPr lang="en-GB"/>
        </a:p>
      </dgm:t>
    </dgm:pt>
    <dgm:pt modelId="{FAE232B4-D3F4-4C68-AADC-30AC17152714}" type="parTrans" cxnId="{C867DCBC-28B2-4530-9134-4E42E0577BAB}">
      <dgm:prSet/>
      <dgm:spPr/>
      <dgm:t>
        <a:bodyPr/>
        <a:lstStyle/>
        <a:p>
          <a:endParaRPr lang="en-GB"/>
        </a:p>
      </dgm:t>
    </dgm:pt>
    <dgm:pt modelId="{0AFF6B6C-4404-429A-A9F3-49D5577E4F1D}" type="pres">
      <dgm:prSet presAssocID="{23620CF8-2DE9-42AE-8497-686A75171492}" presName="outerComposite" presStyleCnt="0">
        <dgm:presLayoutVars>
          <dgm:chMax val="5"/>
          <dgm:dir/>
          <dgm:resizeHandles val="exact"/>
        </dgm:presLayoutVars>
      </dgm:prSet>
      <dgm:spPr/>
    </dgm:pt>
    <dgm:pt modelId="{DF8FE79B-B351-49ED-94C7-CA7B346EF176}" type="pres">
      <dgm:prSet presAssocID="{23620CF8-2DE9-42AE-8497-686A75171492}" presName="dummyMaxCanvas" presStyleCnt="0">
        <dgm:presLayoutVars/>
      </dgm:prSet>
      <dgm:spPr/>
    </dgm:pt>
    <dgm:pt modelId="{1F1A0B12-48A1-4C83-9A7C-BB43A07FF0BF}" type="pres">
      <dgm:prSet presAssocID="{23620CF8-2DE9-42AE-8497-686A75171492}" presName="FourNodes_1" presStyleLbl="node1" presStyleIdx="0" presStyleCnt="4">
        <dgm:presLayoutVars>
          <dgm:bulletEnabled val="1"/>
        </dgm:presLayoutVars>
      </dgm:prSet>
      <dgm:spPr/>
    </dgm:pt>
    <dgm:pt modelId="{9F2C0266-FD4D-4941-906C-BA7906BC4865}" type="pres">
      <dgm:prSet presAssocID="{23620CF8-2DE9-42AE-8497-686A75171492}" presName="FourNodes_2" presStyleLbl="node1" presStyleIdx="1" presStyleCnt="4">
        <dgm:presLayoutVars>
          <dgm:bulletEnabled val="1"/>
        </dgm:presLayoutVars>
      </dgm:prSet>
      <dgm:spPr/>
    </dgm:pt>
    <dgm:pt modelId="{B97350AB-3378-4149-B837-7C2545D9FADC}" type="pres">
      <dgm:prSet presAssocID="{23620CF8-2DE9-42AE-8497-686A75171492}" presName="FourNodes_3" presStyleLbl="node1" presStyleIdx="2" presStyleCnt="4">
        <dgm:presLayoutVars>
          <dgm:bulletEnabled val="1"/>
        </dgm:presLayoutVars>
      </dgm:prSet>
      <dgm:spPr/>
    </dgm:pt>
    <dgm:pt modelId="{C0D6BF38-96F1-40B0-AC2F-9802E358F12F}" type="pres">
      <dgm:prSet presAssocID="{23620CF8-2DE9-42AE-8497-686A75171492}" presName="FourNodes_4" presStyleLbl="node1" presStyleIdx="3" presStyleCnt="4">
        <dgm:presLayoutVars>
          <dgm:bulletEnabled val="1"/>
        </dgm:presLayoutVars>
      </dgm:prSet>
      <dgm:spPr/>
    </dgm:pt>
    <dgm:pt modelId="{19DCE8E7-CE3E-4603-8E7C-AA819637C296}" type="pres">
      <dgm:prSet presAssocID="{23620CF8-2DE9-42AE-8497-686A75171492}" presName="FourConn_1-2" presStyleLbl="fgAccFollowNode1" presStyleIdx="0" presStyleCnt="3">
        <dgm:presLayoutVars>
          <dgm:bulletEnabled val="1"/>
        </dgm:presLayoutVars>
      </dgm:prSet>
      <dgm:spPr/>
    </dgm:pt>
    <dgm:pt modelId="{69F602AD-0702-4758-86FB-7C2DE21B6301}" type="pres">
      <dgm:prSet presAssocID="{23620CF8-2DE9-42AE-8497-686A75171492}" presName="FourConn_2-3" presStyleLbl="fgAccFollowNode1" presStyleIdx="1" presStyleCnt="3">
        <dgm:presLayoutVars>
          <dgm:bulletEnabled val="1"/>
        </dgm:presLayoutVars>
      </dgm:prSet>
      <dgm:spPr/>
    </dgm:pt>
    <dgm:pt modelId="{6F197259-DE7E-40B1-8D9F-A5314D6D7FDB}" type="pres">
      <dgm:prSet presAssocID="{23620CF8-2DE9-42AE-8497-686A75171492}" presName="FourConn_3-4" presStyleLbl="fgAccFollowNode1" presStyleIdx="2" presStyleCnt="3">
        <dgm:presLayoutVars>
          <dgm:bulletEnabled val="1"/>
        </dgm:presLayoutVars>
      </dgm:prSet>
      <dgm:spPr/>
    </dgm:pt>
    <dgm:pt modelId="{EAC1B834-C65C-4892-8581-FD7939196A0A}" type="pres">
      <dgm:prSet presAssocID="{23620CF8-2DE9-42AE-8497-686A75171492}" presName="FourNodes_1_text" presStyleLbl="node1" presStyleIdx="3" presStyleCnt="4">
        <dgm:presLayoutVars>
          <dgm:bulletEnabled val="1"/>
        </dgm:presLayoutVars>
      </dgm:prSet>
      <dgm:spPr/>
    </dgm:pt>
    <dgm:pt modelId="{C608545A-B464-492F-B132-CC674F98F5B5}" type="pres">
      <dgm:prSet presAssocID="{23620CF8-2DE9-42AE-8497-686A75171492}" presName="FourNodes_2_text" presStyleLbl="node1" presStyleIdx="3" presStyleCnt="4">
        <dgm:presLayoutVars>
          <dgm:bulletEnabled val="1"/>
        </dgm:presLayoutVars>
      </dgm:prSet>
      <dgm:spPr/>
    </dgm:pt>
    <dgm:pt modelId="{E10756B2-3CDE-4277-8D71-D36957EA1C0C}" type="pres">
      <dgm:prSet presAssocID="{23620CF8-2DE9-42AE-8497-686A75171492}" presName="FourNodes_3_text" presStyleLbl="node1" presStyleIdx="3" presStyleCnt="4">
        <dgm:presLayoutVars>
          <dgm:bulletEnabled val="1"/>
        </dgm:presLayoutVars>
      </dgm:prSet>
      <dgm:spPr/>
    </dgm:pt>
    <dgm:pt modelId="{8D16C6A0-A7E8-49C4-AB32-6DF0EA77C8DE}" type="pres">
      <dgm:prSet presAssocID="{23620CF8-2DE9-42AE-8497-686A751714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C0AC702-20AA-4536-9B67-4A7B5A9C9503}" type="presOf" srcId="{084BCD7F-4816-4307-BB97-683D88E3B566}" destId="{B97350AB-3378-4149-B837-7C2545D9FADC}" srcOrd="0" destOrd="0" presId="urn:microsoft.com/office/officeart/2005/8/layout/vProcess5"/>
    <dgm:cxn modelId="{DBB31A14-BECE-4839-B06A-93D2B64C82EF}" type="presOf" srcId="{EE88A98B-FB8E-48C9-8B9E-62AB53DE88BE}" destId="{8D16C6A0-A7E8-49C4-AB32-6DF0EA77C8DE}" srcOrd="1" destOrd="0" presId="urn:microsoft.com/office/officeart/2005/8/layout/vProcess5"/>
    <dgm:cxn modelId="{246AD924-21C7-465A-9505-97F8C9A37623}" srcId="{23620CF8-2DE9-42AE-8497-686A75171492}" destId="{9D2468A8-AC76-4746-A996-A6289681D56B}" srcOrd="1" destOrd="0" parTransId="{B3D961CF-9055-4CA2-84DE-73C42C1FEC1C}" sibTransId="{17E2EB74-22F5-457E-B950-8EA80662B6E2}"/>
    <dgm:cxn modelId="{5BFBAC27-2A6F-4158-9403-EBA2216F7A54}" type="presOf" srcId="{9D2468A8-AC76-4746-A996-A6289681D56B}" destId="{9F2C0266-FD4D-4941-906C-BA7906BC4865}" srcOrd="0" destOrd="0" presId="urn:microsoft.com/office/officeart/2005/8/layout/vProcess5"/>
    <dgm:cxn modelId="{A94BA32A-3C3E-4F91-B6B2-D30B663793DE}" srcId="{23620CF8-2DE9-42AE-8497-686A75171492}" destId="{084BCD7F-4816-4307-BB97-683D88E3B566}" srcOrd="2" destOrd="0" parTransId="{3C2D006C-3CF5-4F1A-96C8-E76DF33615D1}" sibTransId="{F4D6E904-B356-4F8B-962C-EA31835A1550}"/>
    <dgm:cxn modelId="{FABFD643-BECB-4A6D-9C5B-D5741AC87610}" type="presOf" srcId="{23620CF8-2DE9-42AE-8497-686A75171492}" destId="{0AFF6B6C-4404-429A-A9F3-49D5577E4F1D}" srcOrd="0" destOrd="0" presId="urn:microsoft.com/office/officeart/2005/8/layout/vProcess5"/>
    <dgm:cxn modelId="{AA651849-8EBC-4634-998A-962722F3378A}" type="presOf" srcId="{9D2468A8-AC76-4746-A996-A6289681D56B}" destId="{C608545A-B464-492F-B132-CC674F98F5B5}" srcOrd="1" destOrd="0" presId="urn:microsoft.com/office/officeart/2005/8/layout/vProcess5"/>
    <dgm:cxn modelId="{A07E204A-1AD2-4CF0-AFD2-F5639DEEE0BE}" type="presOf" srcId="{504B2310-8054-4FD5-8F1A-36777BB69DD4}" destId="{1F1A0B12-48A1-4C83-9A7C-BB43A07FF0BF}" srcOrd="0" destOrd="0" presId="urn:microsoft.com/office/officeart/2005/8/layout/vProcess5"/>
    <dgm:cxn modelId="{EC6E4E4E-8E2E-4E56-A9A6-324B55E22629}" type="presOf" srcId="{F4D6E904-B356-4F8B-962C-EA31835A1550}" destId="{6F197259-DE7E-40B1-8D9F-A5314D6D7FDB}" srcOrd="0" destOrd="0" presId="urn:microsoft.com/office/officeart/2005/8/layout/vProcess5"/>
    <dgm:cxn modelId="{DBD6B279-DE04-4004-BFBC-039FB0F9D735}" type="presOf" srcId="{084BCD7F-4816-4307-BB97-683D88E3B566}" destId="{E10756B2-3CDE-4277-8D71-D36957EA1C0C}" srcOrd="1" destOrd="0" presId="urn:microsoft.com/office/officeart/2005/8/layout/vProcess5"/>
    <dgm:cxn modelId="{B04A538B-3DB6-4CAD-B5ED-83F6CA32B37D}" type="presOf" srcId="{504B2310-8054-4FD5-8F1A-36777BB69DD4}" destId="{EAC1B834-C65C-4892-8581-FD7939196A0A}" srcOrd="1" destOrd="0" presId="urn:microsoft.com/office/officeart/2005/8/layout/vProcess5"/>
    <dgm:cxn modelId="{2D6360B8-83C9-42B7-8816-400B123183BF}" type="presOf" srcId="{19C8B6F3-2BA4-4EB0-A865-D60E6C91E581}" destId="{19DCE8E7-CE3E-4603-8E7C-AA819637C296}" srcOrd="0" destOrd="0" presId="urn:microsoft.com/office/officeart/2005/8/layout/vProcess5"/>
    <dgm:cxn modelId="{C867DCBC-28B2-4530-9134-4E42E0577BAB}" srcId="{23620CF8-2DE9-42AE-8497-686A75171492}" destId="{504B2310-8054-4FD5-8F1A-36777BB69DD4}" srcOrd="0" destOrd="0" parTransId="{FAE232B4-D3F4-4C68-AADC-30AC17152714}" sibTransId="{19C8B6F3-2BA4-4EB0-A865-D60E6C91E581}"/>
    <dgm:cxn modelId="{C07D04BE-0E48-4099-9BF9-40BE78E54727}" type="presOf" srcId="{17E2EB74-22F5-457E-B950-8EA80662B6E2}" destId="{69F602AD-0702-4758-86FB-7C2DE21B6301}" srcOrd="0" destOrd="0" presId="urn:microsoft.com/office/officeart/2005/8/layout/vProcess5"/>
    <dgm:cxn modelId="{20FFC8E7-5031-4A76-AF77-2F756C707DD7}" type="presOf" srcId="{EE88A98B-FB8E-48C9-8B9E-62AB53DE88BE}" destId="{C0D6BF38-96F1-40B0-AC2F-9802E358F12F}" srcOrd="0" destOrd="0" presId="urn:microsoft.com/office/officeart/2005/8/layout/vProcess5"/>
    <dgm:cxn modelId="{54C889FB-18DE-4BFC-8640-91F7498B23F1}" srcId="{23620CF8-2DE9-42AE-8497-686A75171492}" destId="{EE88A98B-FB8E-48C9-8B9E-62AB53DE88BE}" srcOrd="3" destOrd="0" parTransId="{58E36999-6929-4FD6-BAF9-64E44F9F950F}" sibTransId="{BE343705-AA62-4672-B31A-0D2E6AA32772}"/>
    <dgm:cxn modelId="{7F96BBDE-B8E9-4F91-924D-E330662483E5}" type="presParOf" srcId="{0AFF6B6C-4404-429A-A9F3-49D5577E4F1D}" destId="{DF8FE79B-B351-49ED-94C7-CA7B346EF176}" srcOrd="0" destOrd="0" presId="urn:microsoft.com/office/officeart/2005/8/layout/vProcess5"/>
    <dgm:cxn modelId="{456085B2-9035-48C8-A73A-8F660FD93B2E}" type="presParOf" srcId="{0AFF6B6C-4404-429A-A9F3-49D5577E4F1D}" destId="{1F1A0B12-48A1-4C83-9A7C-BB43A07FF0BF}" srcOrd="1" destOrd="0" presId="urn:microsoft.com/office/officeart/2005/8/layout/vProcess5"/>
    <dgm:cxn modelId="{40219BBB-750D-4F49-BCD3-9E8E2762EE29}" type="presParOf" srcId="{0AFF6B6C-4404-429A-A9F3-49D5577E4F1D}" destId="{9F2C0266-FD4D-4941-906C-BA7906BC4865}" srcOrd="2" destOrd="0" presId="urn:microsoft.com/office/officeart/2005/8/layout/vProcess5"/>
    <dgm:cxn modelId="{E283E859-ED5A-4F95-BDFE-34F0718C3C07}" type="presParOf" srcId="{0AFF6B6C-4404-429A-A9F3-49D5577E4F1D}" destId="{B97350AB-3378-4149-B837-7C2545D9FADC}" srcOrd="3" destOrd="0" presId="urn:microsoft.com/office/officeart/2005/8/layout/vProcess5"/>
    <dgm:cxn modelId="{B4B17B4F-E2C5-4D75-BBB9-FE8EE2B4B8D9}" type="presParOf" srcId="{0AFF6B6C-4404-429A-A9F3-49D5577E4F1D}" destId="{C0D6BF38-96F1-40B0-AC2F-9802E358F12F}" srcOrd="4" destOrd="0" presId="urn:microsoft.com/office/officeart/2005/8/layout/vProcess5"/>
    <dgm:cxn modelId="{7C54C640-2C3C-4DF3-9077-F7A6825DD64C}" type="presParOf" srcId="{0AFF6B6C-4404-429A-A9F3-49D5577E4F1D}" destId="{19DCE8E7-CE3E-4603-8E7C-AA819637C296}" srcOrd="5" destOrd="0" presId="urn:microsoft.com/office/officeart/2005/8/layout/vProcess5"/>
    <dgm:cxn modelId="{CF95361B-CAD0-4F8E-8AF9-A910F9042779}" type="presParOf" srcId="{0AFF6B6C-4404-429A-A9F3-49D5577E4F1D}" destId="{69F602AD-0702-4758-86FB-7C2DE21B6301}" srcOrd="6" destOrd="0" presId="urn:microsoft.com/office/officeart/2005/8/layout/vProcess5"/>
    <dgm:cxn modelId="{552F2E34-F565-4C5B-940E-9ADCDD1467EE}" type="presParOf" srcId="{0AFF6B6C-4404-429A-A9F3-49D5577E4F1D}" destId="{6F197259-DE7E-40B1-8D9F-A5314D6D7FDB}" srcOrd="7" destOrd="0" presId="urn:microsoft.com/office/officeart/2005/8/layout/vProcess5"/>
    <dgm:cxn modelId="{6FB5ECD2-0EBD-4C55-8506-FEF819202F75}" type="presParOf" srcId="{0AFF6B6C-4404-429A-A9F3-49D5577E4F1D}" destId="{EAC1B834-C65C-4892-8581-FD7939196A0A}" srcOrd="8" destOrd="0" presId="urn:microsoft.com/office/officeart/2005/8/layout/vProcess5"/>
    <dgm:cxn modelId="{62B8A527-80CB-44E5-B992-23B993E78509}" type="presParOf" srcId="{0AFF6B6C-4404-429A-A9F3-49D5577E4F1D}" destId="{C608545A-B464-492F-B132-CC674F98F5B5}" srcOrd="9" destOrd="0" presId="urn:microsoft.com/office/officeart/2005/8/layout/vProcess5"/>
    <dgm:cxn modelId="{9D9701C8-DBA9-469E-B903-7CF9E5A3A63D}" type="presParOf" srcId="{0AFF6B6C-4404-429A-A9F3-49D5577E4F1D}" destId="{E10756B2-3CDE-4277-8D71-D36957EA1C0C}" srcOrd="10" destOrd="0" presId="urn:microsoft.com/office/officeart/2005/8/layout/vProcess5"/>
    <dgm:cxn modelId="{C8351DCB-5BC4-43F1-9FF5-C85EFAC99E7D}" type="presParOf" srcId="{0AFF6B6C-4404-429A-A9F3-49D5577E4F1D}" destId="{8D16C6A0-A7E8-49C4-AB32-6DF0EA77C8D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0092E5-B813-4212-917C-D9136F353D32}" type="doc">
      <dgm:prSet loTypeId="urn:microsoft.com/office/officeart/2005/8/layout/vList2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C3F301D6-71DA-4F3F-9291-7A60AA9A8EC1}">
      <dgm:prSet/>
      <dgm:spPr/>
      <dgm:t>
        <a:bodyPr/>
        <a:lstStyle/>
        <a:p>
          <a:r>
            <a:rPr lang="en-GB" dirty="0"/>
            <a:t>Negative effects well documented but still frequently used (Dean &amp; Ross, 1992)</a:t>
          </a:r>
          <a:endParaRPr lang="en-US" dirty="0"/>
        </a:p>
      </dgm:t>
    </dgm:pt>
    <dgm:pt modelId="{90A8AA62-77FF-424A-AD0B-23DAAFE38629}" type="parTrans" cxnId="{62523901-204D-4094-885F-7EA5EE7AF651}">
      <dgm:prSet/>
      <dgm:spPr/>
      <dgm:t>
        <a:bodyPr/>
        <a:lstStyle/>
        <a:p>
          <a:endParaRPr lang="en-US"/>
        </a:p>
      </dgm:t>
    </dgm:pt>
    <dgm:pt modelId="{E59BA974-BE13-43CE-AE7B-C2DA85BE1F8C}" type="sibTrans" cxnId="{62523901-204D-4094-885F-7EA5EE7AF651}">
      <dgm:prSet/>
      <dgm:spPr/>
      <dgm:t>
        <a:bodyPr/>
        <a:lstStyle/>
        <a:p>
          <a:endParaRPr lang="en-US"/>
        </a:p>
      </dgm:t>
    </dgm:pt>
    <dgm:pt modelId="{0FDEBE42-2D35-41D7-AE23-B1DD1B8DF028}">
      <dgm:prSet/>
      <dgm:spPr/>
      <dgm:t>
        <a:bodyPr/>
        <a:lstStyle/>
        <a:p>
          <a:r>
            <a:rPr lang="en-GB" dirty="0"/>
            <a:t>Reduced flow rates</a:t>
          </a:r>
          <a:endParaRPr lang="en-US" dirty="0"/>
        </a:p>
      </dgm:t>
    </dgm:pt>
    <dgm:pt modelId="{82744985-41FA-41A2-B697-E244CD40D75A}" type="parTrans" cxnId="{382064FA-716E-4459-A6E8-843030968741}">
      <dgm:prSet/>
      <dgm:spPr/>
      <dgm:t>
        <a:bodyPr/>
        <a:lstStyle/>
        <a:p>
          <a:endParaRPr lang="en-US"/>
        </a:p>
      </dgm:t>
    </dgm:pt>
    <dgm:pt modelId="{3BF4BE98-89CF-471B-918A-D42B34F47EBC}" type="sibTrans" cxnId="{382064FA-716E-4459-A6E8-843030968741}">
      <dgm:prSet/>
      <dgm:spPr/>
      <dgm:t>
        <a:bodyPr/>
        <a:lstStyle/>
        <a:p>
          <a:endParaRPr lang="en-US"/>
        </a:p>
      </dgm:t>
    </dgm:pt>
    <dgm:pt modelId="{EC2D93FA-7974-4EE6-8FF6-E06B7ED95F81}">
      <dgm:prSet/>
      <dgm:spPr/>
      <dgm:t>
        <a:bodyPr/>
        <a:lstStyle/>
        <a:p>
          <a:r>
            <a:rPr lang="en-GB" dirty="0"/>
            <a:t>Increased work of breathing (Craig et al., 1971) </a:t>
          </a:r>
          <a:endParaRPr lang="en-US" dirty="0"/>
        </a:p>
      </dgm:t>
    </dgm:pt>
    <dgm:pt modelId="{5A30054F-9EE4-41A0-8E37-E7F04E47A019}" type="parTrans" cxnId="{8F886DD5-A70E-426E-AD85-FABDA9179107}">
      <dgm:prSet/>
      <dgm:spPr/>
      <dgm:t>
        <a:bodyPr/>
        <a:lstStyle/>
        <a:p>
          <a:endParaRPr lang="en-US"/>
        </a:p>
      </dgm:t>
    </dgm:pt>
    <dgm:pt modelId="{531B526F-4EF9-4F24-8006-A63545AAF5E3}" type="sibTrans" cxnId="{8F886DD5-A70E-426E-AD85-FABDA9179107}">
      <dgm:prSet/>
      <dgm:spPr/>
      <dgm:t>
        <a:bodyPr/>
        <a:lstStyle/>
        <a:p>
          <a:endParaRPr lang="en-US"/>
        </a:p>
      </dgm:t>
    </dgm:pt>
    <dgm:pt modelId="{1F26590E-C050-4D8F-A7CD-E0D5F333C46F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/>
            <a:t>Airway closure and reduced PaO</a:t>
          </a:r>
          <a:r>
            <a:rPr lang="en-GB" baseline="-25000"/>
            <a:t>2 </a:t>
          </a:r>
          <a:r>
            <a:rPr lang="en-GB" baseline="0"/>
            <a:t>(Ray et al., 1974)</a:t>
          </a:r>
          <a:endParaRPr lang="en-GB" baseline="0" dirty="0"/>
        </a:p>
      </dgm:t>
    </dgm:pt>
    <dgm:pt modelId="{E75CF8AC-7433-4AB6-862B-78629C960C0B}" type="parTrans" cxnId="{1BBA4AA3-7D7E-4095-8D20-C5E8CCAB4509}">
      <dgm:prSet/>
      <dgm:spPr/>
      <dgm:t>
        <a:bodyPr/>
        <a:lstStyle/>
        <a:p>
          <a:endParaRPr lang="en-GB"/>
        </a:p>
      </dgm:t>
    </dgm:pt>
    <dgm:pt modelId="{E12356D8-7B08-4EEA-90FC-046942C2DC73}" type="sibTrans" cxnId="{1BBA4AA3-7D7E-4095-8D20-C5E8CCAB4509}">
      <dgm:prSet/>
      <dgm:spPr/>
      <dgm:t>
        <a:bodyPr/>
        <a:lstStyle/>
        <a:p>
          <a:endParaRPr lang="en-GB"/>
        </a:p>
      </dgm:t>
    </dgm:pt>
    <dgm:pt modelId="{CCD01420-5EFE-4D05-BF2B-1441343FB5DE}">
      <dgm:prSet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baseline="0" dirty="0"/>
            <a:t>Reduced lung volumes</a:t>
          </a:r>
        </a:p>
      </dgm:t>
    </dgm:pt>
    <dgm:pt modelId="{B85ACECA-E0F5-4724-B59D-DC4F804E3562}" type="parTrans" cxnId="{0334BD73-20DB-4A1A-B8F2-0A8F06C359E6}">
      <dgm:prSet/>
      <dgm:spPr/>
      <dgm:t>
        <a:bodyPr/>
        <a:lstStyle/>
        <a:p>
          <a:endParaRPr lang="en-GB"/>
        </a:p>
      </dgm:t>
    </dgm:pt>
    <dgm:pt modelId="{4B16505B-A842-40E1-BDEE-586D6850092D}" type="sibTrans" cxnId="{0334BD73-20DB-4A1A-B8F2-0A8F06C359E6}">
      <dgm:prSet/>
      <dgm:spPr/>
      <dgm:t>
        <a:bodyPr/>
        <a:lstStyle/>
        <a:p>
          <a:endParaRPr lang="en-GB"/>
        </a:p>
      </dgm:t>
    </dgm:pt>
    <dgm:pt modelId="{EB382998-5DAB-43B8-A83F-DD660B8E5C97}" type="pres">
      <dgm:prSet presAssocID="{7E0092E5-B813-4212-917C-D9136F353D32}" presName="linear" presStyleCnt="0">
        <dgm:presLayoutVars>
          <dgm:animLvl val="lvl"/>
          <dgm:resizeHandles val="exact"/>
        </dgm:presLayoutVars>
      </dgm:prSet>
      <dgm:spPr/>
    </dgm:pt>
    <dgm:pt modelId="{6E6011CD-15B9-4EA3-9ECF-06655EC49A20}" type="pres">
      <dgm:prSet presAssocID="{C3F301D6-71DA-4F3F-9291-7A60AA9A8EC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76CFEA-1722-4BFE-B491-FCFC873458CA}" type="pres">
      <dgm:prSet presAssocID="{E59BA974-BE13-43CE-AE7B-C2DA85BE1F8C}" presName="spacer" presStyleCnt="0"/>
      <dgm:spPr/>
    </dgm:pt>
    <dgm:pt modelId="{BB25B875-7A3E-400E-AEFE-26E9C7C84B40}" type="pres">
      <dgm:prSet presAssocID="{0FDEBE42-2D35-41D7-AE23-B1DD1B8DF02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0CCE33C-0CBC-4F5B-A2E9-7F57F3029B39}" type="pres">
      <dgm:prSet presAssocID="{3BF4BE98-89CF-471B-918A-D42B34F47EBC}" presName="spacer" presStyleCnt="0"/>
      <dgm:spPr/>
    </dgm:pt>
    <dgm:pt modelId="{64EA57B5-A1DA-4870-8849-37CF52B80653}" type="pres">
      <dgm:prSet presAssocID="{EC2D93FA-7974-4EE6-8FF6-E06B7ED95F8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41ECAC0-0FD6-4367-BD28-026A7F8AC56C}" type="pres">
      <dgm:prSet presAssocID="{531B526F-4EF9-4F24-8006-A63545AAF5E3}" presName="spacer" presStyleCnt="0"/>
      <dgm:spPr/>
    </dgm:pt>
    <dgm:pt modelId="{AEEB0891-9A23-4484-A97F-876036CEE897}" type="pres">
      <dgm:prSet presAssocID="{1F26590E-C050-4D8F-A7CD-E0D5F333C46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9CCE9C4-A2C2-47BD-92DC-62592DEA466F}" type="pres">
      <dgm:prSet presAssocID="{E12356D8-7B08-4EEA-90FC-046942C2DC73}" presName="spacer" presStyleCnt="0"/>
      <dgm:spPr/>
    </dgm:pt>
    <dgm:pt modelId="{A770FFC4-8E9B-46E5-9C0E-AAD9D38E57FC}" type="pres">
      <dgm:prSet presAssocID="{CCD01420-5EFE-4D05-BF2B-1441343FB5D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2523901-204D-4094-885F-7EA5EE7AF651}" srcId="{7E0092E5-B813-4212-917C-D9136F353D32}" destId="{C3F301D6-71DA-4F3F-9291-7A60AA9A8EC1}" srcOrd="0" destOrd="0" parTransId="{90A8AA62-77FF-424A-AD0B-23DAAFE38629}" sibTransId="{E59BA974-BE13-43CE-AE7B-C2DA85BE1F8C}"/>
    <dgm:cxn modelId="{BCD3611D-9BB9-4F3E-8CAC-BBF92EFBFBA0}" type="presOf" srcId="{7E0092E5-B813-4212-917C-D9136F353D32}" destId="{EB382998-5DAB-43B8-A83F-DD660B8E5C97}" srcOrd="0" destOrd="0" presId="urn:microsoft.com/office/officeart/2005/8/layout/vList2"/>
    <dgm:cxn modelId="{E901C96B-8316-426D-BC68-AE89D1A92E00}" type="presOf" srcId="{C3F301D6-71DA-4F3F-9291-7A60AA9A8EC1}" destId="{6E6011CD-15B9-4EA3-9ECF-06655EC49A20}" srcOrd="0" destOrd="0" presId="urn:microsoft.com/office/officeart/2005/8/layout/vList2"/>
    <dgm:cxn modelId="{0334BD73-20DB-4A1A-B8F2-0A8F06C359E6}" srcId="{7E0092E5-B813-4212-917C-D9136F353D32}" destId="{CCD01420-5EFE-4D05-BF2B-1441343FB5DE}" srcOrd="4" destOrd="0" parTransId="{B85ACECA-E0F5-4724-B59D-DC4F804E3562}" sibTransId="{4B16505B-A842-40E1-BDEE-586D6850092D}"/>
    <dgm:cxn modelId="{F905C97D-6CF7-4687-A52B-7CEA29E97816}" type="presOf" srcId="{EC2D93FA-7974-4EE6-8FF6-E06B7ED95F81}" destId="{64EA57B5-A1DA-4870-8849-37CF52B80653}" srcOrd="0" destOrd="0" presId="urn:microsoft.com/office/officeart/2005/8/layout/vList2"/>
    <dgm:cxn modelId="{42B7AA8E-AA75-4542-B8A4-888D13416F28}" type="presOf" srcId="{CCD01420-5EFE-4D05-BF2B-1441343FB5DE}" destId="{A770FFC4-8E9B-46E5-9C0E-AAD9D38E57FC}" srcOrd="0" destOrd="0" presId="urn:microsoft.com/office/officeart/2005/8/layout/vList2"/>
    <dgm:cxn modelId="{1BBA4AA3-7D7E-4095-8D20-C5E8CCAB4509}" srcId="{7E0092E5-B813-4212-917C-D9136F353D32}" destId="{1F26590E-C050-4D8F-A7CD-E0D5F333C46F}" srcOrd="3" destOrd="0" parTransId="{E75CF8AC-7433-4AB6-862B-78629C960C0B}" sibTransId="{E12356D8-7B08-4EEA-90FC-046942C2DC73}"/>
    <dgm:cxn modelId="{712346D2-A582-40DC-8EDC-00ED9BA94F5B}" type="presOf" srcId="{0FDEBE42-2D35-41D7-AE23-B1DD1B8DF028}" destId="{BB25B875-7A3E-400E-AEFE-26E9C7C84B40}" srcOrd="0" destOrd="0" presId="urn:microsoft.com/office/officeart/2005/8/layout/vList2"/>
    <dgm:cxn modelId="{8F886DD5-A70E-426E-AD85-FABDA9179107}" srcId="{7E0092E5-B813-4212-917C-D9136F353D32}" destId="{EC2D93FA-7974-4EE6-8FF6-E06B7ED95F81}" srcOrd="2" destOrd="0" parTransId="{5A30054F-9EE4-41A0-8E37-E7F04E47A019}" sibTransId="{531B526F-4EF9-4F24-8006-A63545AAF5E3}"/>
    <dgm:cxn modelId="{6CC31EEB-0B7E-4D36-B96E-BF45D20D7DEA}" type="presOf" srcId="{1F26590E-C050-4D8F-A7CD-E0D5F333C46F}" destId="{AEEB0891-9A23-4484-A97F-876036CEE897}" srcOrd="0" destOrd="0" presId="urn:microsoft.com/office/officeart/2005/8/layout/vList2"/>
    <dgm:cxn modelId="{382064FA-716E-4459-A6E8-843030968741}" srcId="{7E0092E5-B813-4212-917C-D9136F353D32}" destId="{0FDEBE42-2D35-41D7-AE23-B1DD1B8DF028}" srcOrd="1" destOrd="0" parTransId="{82744985-41FA-41A2-B697-E244CD40D75A}" sibTransId="{3BF4BE98-89CF-471B-918A-D42B34F47EBC}"/>
    <dgm:cxn modelId="{8D8CD088-3E68-4D6C-AB1F-7371AA5C0628}" type="presParOf" srcId="{EB382998-5DAB-43B8-A83F-DD660B8E5C97}" destId="{6E6011CD-15B9-4EA3-9ECF-06655EC49A20}" srcOrd="0" destOrd="0" presId="urn:microsoft.com/office/officeart/2005/8/layout/vList2"/>
    <dgm:cxn modelId="{324B5F09-9B33-4AE2-B575-7C05256B8243}" type="presParOf" srcId="{EB382998-5DAB-43B8-A83F-DD660B8E5C97}" destId="{C376CFEA-1722-4BFE-B491-FCFC873458CA}" srcOrd="1" destOrd="0" presId="urn:microsoft.com/office/officeart/2005/8/layout/vList2"/>
    <dgm:cxn modelId="{0E29098F-96D3-42C6-85F5-14FFA7899EB4}" type="presParOf" srcId="{EB382998-5DAB-43B8-A83F-DD660B8E5C97}" destId="{BB25B875-7A3E-400E-AEFE-26E9C7C84B40}" srcOrd="2" destOrd="0" presId="urn:microsoft.com/office/officeart/2005/8/layout/vList2"/>
    <dgm:cxn modelId="{8DF96F87-A078-4680-BC58-EDB0D4284E22}" type="presParOf" srcId="{EB382998-5DAB-43B8-A83F-DD660B8E5C97}" destId="{30CCE33C-0CBC-4F5B-A2E9-7F57F3029B39}" srcOrd="3" destOrd="0" presId="urn:microsoft.com/office/officeart/2005/8/layout/vList2"/>
    <dgm:cxn modelId="{A8001C12-5E61-43EC-B81D-1B709950A0F1}" type="presParOf" srcId="{EB382998-5DAB-43B8-A83F-DD660B8E5C97}" destId="{64EA57B5-A1DA-4870-8849-37CF52B80653}" srcOrd="4" destOrd="0" presId="urn:microsoft.com/office/officeart/2005/8/layout/vList2"/>
    <dgm:cxn modelId="{2C93BE80-E55F-4E00-9CFC-381534411CC4}" type="presParOf" srcId="{EB382998-5DAB-43B8-A83F-DD660B8E5C97}" destId="{341ECAC0-0FD6-4367-BD28-026A7F8AC56C}" srcOrd="5" destOrd="0" presId="urn:microsoft.com/office/officeart/2005/8/layout/vList2"/>
    <dgm:cxn modelId="{AA9541EC-17F9-4676-BD3F-C5F1C404ACE5}" type="presParOf" srcId="{EB382998-5DAB-43B8-A83F-DD660B8E5C97}" destId="{AEEB0891-9A23-4484-A97F-876036CEE897}" srcOrd="6" destOrd="0" presId="urn:microsoft.com/office/officeart/2005/8/layout/vList2"/>
    <dgm:cxn modelId="{864BD608-E0F0-4A22-9084-66CD767A8012}" type="presParOf" srcId="{EB382998-5DAB-43B8-A83F-DD660B8E5C97}" destId="{09CCE9C4-A2C2-47BD-92DC-62592DEA466F}" srcOrd="7" destOrd="0" presId="urn:microsoft.com/office/officeart/2005/8/layout/vList2"/>
    <dgm:cxn modelId="{2BC5F36D-5EDB-4FDD-B96E-20D902AAC00F}" type="presParOf" srcId="{EB382998-5DAB-43B8-A83F-DD660B8E5C97}" destId="{A770FFC4-8E9B-46E5-9C0E-AAD9D38E57F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174D10-FD1F-4398-805F-A075328E32B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379B5124-C63B-459C-A3D3-EFE2B5F86332}">
      <dgm:prSet/>
      <dgm:spPr/>
      <dgm:t>
        <a:bodyPr/>
        <a:lstStyle/>
        <a:p>
          <a:r>
            <a:rPr lang="en-GB"/>
            <a:t>Total lung capacity </a:t>
          </a:r>
          <a:endParaRPr lang="en-US"/>
        </a:p>
      </dgm:t>
    </dgm:pt>
    <dgm:pt modelId="{4797172C-7725-4D3F-8605-04066AFF0666}" type="parTrans" cxnId="{13851CB2-2D2C-4A34-8A91-020A7C108B45}">
      <dgm:prSet/>
      <dgm:spPr/>
      <dgm:t>
        <a:bodyPr/>
        <a:lstStyle/>
        <a:p>
          <a:endParaRPr lang="en-US"/>
        </a:p>
      </dgm:t>
    </dgm:pt>
    <dgm:pt modelId="{15206308-5C93-4ACB-96D8-148285F8005A}" type="sibTrans" cxnId="{13851CB2-2D2C-4A34-8A91-020A7C108B45}">
      <dgm:prSet/>
      <dgm:spPr/>
      <dgm:t>
        <a:bodyPr/>
        <a:lstStyle/>
        <a:p>
          <a:endParaRPr lang="en-US"/>
        </a:p>
      </dgm:t>
    </dgm:pt>
    <dgm:pt modelId="{09E4A26C-9C3F-4499-9C12-24F44202A039}">
      <dgm:prSet/>
      <dgm:spPr/>
      <dgm:t>
        <a:bodyPr/>
        <a:lstStyle/>
        <a:p>
          <a:r>
            <a:rPr lang="en-GB"/>
            <a:t>Tidal volume (V</a:t>
          </a:r>
          <a:r>
            <a:rPr lang="en-GB" baseline="-25000"/>
            <a:t>T</a:t>
          </a:r>
          <a:r>
            <a:rPr lang="en-GB"/>
            <a:t>)</a:t>
          </a:r>
          <a:endParaRPr lang="en-US"/>
        </a:p>
      </dgm:t>
    </dgm:pt>
    <dgm:pt modelId="{671C53D5-A3CE-4A18-A574-1BF2A5E9BABB}" type="parTrans" cxnId="{6E1956F5-E1B7-4B4D-AA2F-977E09529D3B}">
      <dgm:prSet/>
      <dgm:spPr/>
      <dgm:t>
        <a:bodyPr/>
        <a:lstStyle/>
        <a:p>
          <a:endParaRPr lang="en-US"/>
        </a:p>
      </dgm:t>
    </dgm:pt>
    <dgm:pt modelId="{6BC247F5-4C86-4216-8BAA-69183B58066A}" type="sibTrans" cxnId="{6E1956F5-E1B7-4B4D-AA2F-977E09529D3B}">
      <dgm:prSet/>
      <dgm:spPr/>
      <dgm:t>
        <a:bodyPr/>
        <a:lstStyle/>
        <a:p>
          <a:endParaRPr lang="en-US"/>
        </a:p>
      </dgm:t>
    </dgm:pt>
    <dgm:pt modelId="{203CE700-1E14-4A60-86BC-AE6B66CF3507}">
      <dgm:prSet/>
      <dgm:spPr/>
      <dgm:t>
        <a:bodyPr/>
        <a:lstStyle/>
        <a:p>
          <a:r>
            <a:rPr lang="en-GB"/>
            <a:t>Vital capacity (VC) </a:t>
          </a:r>
          <a:endParaRPr lang="en-US"/>
        </a:p>
      </dgm:t>
    </dgm:pt>
    <dgm:pt modelId="{ADC01144-2B99-4913-A732-D6A14C3B980E}" type="parTrans" cxnId="{2D2E5D13-8970-4AF1-8784-6412B78FAAFE}">
      <dgm:prSet/>
      <dgm:spPr/>
      <dgm:t>
        <a:bodyPr/>
        <a:lstStyle/>
        <a:p>
          <a:endParaRPr lang="en-US"/>
        </a:p>
      </dgm:t>
    </dgm:pt>
    <dgm:pt modelId="{C4D217B5-7BF2-41FA-90BE-151065BDD8BF}" type="sibTrans" cxnId="{2D2E5D13-8970-4AF1-8784-6412B78FAAFE}">
      <dgm:prSet/>
      <dgm:spPr/>
      <dgm:t>
        <a:bodyPr/>
        <a:lstStyle/>
        <a:p>
          <a:endParaRPr lang="en-US"/>
        </a:p>
      </dgm:t>
    </dgm:pt>
    <dgm:pt modelId="{2D37BFFF-6B57-4065-9628-32BF6FA6DAA1}">
      <dgm:prSet/>
      <dgm:spPr/>
      <dgm:t>
        <a:bodyPr/>
        <a:lstStyle/>
        <a:p>
          <a:r>
            <a:rPr lang="en-GB"/>
            <a:t>Residual volume (RV)</a:t>
          </a:r>
          <a:endParaRPr lang="en-US"/>
        </a:p>
      </dgm:t>
    </dgm:pt>
    <dgm:pt modelId="{EDEFB05E-7D30-4C24-98A0-6A68EE79F757}" type="parTrans" cxnId="{1781F6DA-D0BD-47E1-9D81-E2CF97DF09CC}">
      <dgm:prSet/>
      <dgm:spPr/>
      <dgm:t>
        <a:bodyPr/>
        <a:lstStyle/>
        <a:p>
          <a:endParaRPr lang="en-US"/>
        </a:p>
      </dgm:t>
    </dgm:pt>
    <dgm:pt modelId="{1988C664-1272-48B5-B229-931F3F6D9EC7}" type="sibTrans" cxnId="{1781F6DA-D0BD-47E1-9D81-E2CF97DF09CC}">
      <dgm:prSet/>
      <dgm:spPr/>
      <dgm:t>
        <a:bodyPr/>
        <a:lstStyle/>
        <a:p>
          <a:endParaRPr lang="en-US"/>
        </a:p>
      </dgm:t>
    </dgm:pt>
    <dgm:pt modelId="{276B99D9-E598-4450-B1B1-34AC098E0C4F}">
      <dgm:prSet/>
      <dgm:spPr/>
      <dgm:t>
        <a:bodyPr/>
        <a:lstStyle/>
        <a:p>
          <a:r>
            <a:rPr lang="en-GB"/>
            <a:t>Functional residual capacity (FRC)</a:t>
          </a:r>
          <a:endParaRPr lang="en-US"/>
        </a:p>
      </dgm:t>
    </dgm:pt>
    <dgm:pt modelId="{7E225028-CB46-4D74-8E20-7F030B5A8071}" type="parTrans" cxnId="{D2430AC7-8F2B-4429-AC33-0A3DE04742FC}">
      <dgm:prSet/>
      <dgm:spPr/>
      <dgm:t>
        <a:bodyPr/>
        <a:lstStyle/>
        <a:p>
          <a:endParaRPr lang="en-US"/>
        </a:p>
      </dgm:t>
    </dgm:pt>
    <dgm:pt modelId="{5122E372-FDC9-4D95-A4A7-000805C648C6}" type="sibTrans" cxnId="{D2430AC7-8F2B-4429-AC33-0A3DE04742FC}">
      <dgm:prSet/>
      <dgm:spPr/>
      <dgm:t>
        <a:bodyPr/>
        <a:lstStyle/>
        <a:p>
          <a:endParaRPr lang="en-US"/>
        </a:p>
      </dgm:t>
    </dgm:pt>
    <dgm:pt modelId="{47FBEB2C-D0A4-45E1-9ED5-0FDF5E8D2CD1}">
      <dgm:prSet/>
      <dgm:spPr/>
      <dgm:t>
        <a:bodyPr/>
        <a:lstStyle/>
        <a:p>
          <a:r>
            <a:rPr lang="en-GB"/>
            <a:t>Forced expiratory flow</a:t>
          </a:r>
          <a:endParaRPr lang="en-US"/>
        </a:p>
      </dgm:t>
    </dgm:pt>
    <dgm:pt modelId="{4C863EA6-CB6C-4E99-8954-E08267A48201}" type="parTrans" cxnId="{7ED93C73-E34E-4AF8-936C-47C4253034CA}">
      <dgm:prSet/>
      <dgm:spPr/>
      <dgm:t>
        <a:bodyPr/>
        <a:lstStyle/>
        <a:p>
          <a:endParaRPr lang="en-US"/>
        </a:p>
      </dgm:t>
    </dgm:pt>
    <dgm:pt modelId="{A9DE1EBA-09D8-4E70-BF09-537C865CCB04}" type="sibTrans" cxnId="{7ED93C73-E34E-4AF8-936C-47C4253034CA}">
      <dgm:prSet/>
      <dgm:spPr/>
      <dgm:t>
        <a:bodyPr/>
        <a:lstStyle/>
        <a:p>
          <a:endParaRPr lang="en-US"/>
        </a:p>
      </dgm:t>
    </dgm:pt>
    <dgm:pt modelId="{4A07EE4B-A27B-4A93-89DB-3BE379C44E5D}">
      <dgm:prSet/>
      <dgm:spPr/>
      <dgm:t>
        <a:bodyPr/>
        <a:lstStyle/>
        <a:p>
          <a:r>
            <a:rPr lang="en-GB"/>
            <a:t>Lung compliance</a:t>
          </a:r>
          <a:endParaRPr lang="en-US"/>
        </a:p>
      </dgm:t>
    </dgm:pt>
    <dgm:pt modelId="{E2016600-3E76-4760-AB31-D07486782DDD}" type="parTrans" cxnId="{5765B82F-3627-459A-9115-12E213F277EA}">
      <dgm:prSet/>
      <dgm:spPr/>
      <dgm:t>
        <a:bodyPr/>
        <a:lstStyle/>
        <a:p>
          <a:endParaRPr lang="en-US"/>
        </a:p>
      </dgm:t>
    </dgm:pt>
    <dgm:pt modelId="{412DA563-F3AE-486C-AE5F-EBB9D959A625}" type="sibTrans" cxnId="{5765B82F-3627-459A-9115-12E213F277EA}">
      <dgm:prSet/>
      <dgm:spPr/>
      <dgm:t>
        <a:bodyPr/>
        <a:lstStyle/>
        <a:p>
          <a:endParaRPr lang="en-US"/>
        </a:p>
      </dgm:t>
    </dgm:pt>
    <dgm:pt modelId="{6EF4CD8A-5E94-4B4E-9B4A-779B44C6A260}">
      <dgm:prSet/>
      <dgm:spPr/>
      <dgm:t>
        <a:bodyPr/>
        <a:lstStyle/>
        <a:p>
          <a:r>
            <a:rPr lang="en-GB"/>
            <a:t>PaO</a:t>
          </a:r>
          <a:r>
            <a:rPr lang="en-GB" baseline="-25000"/>
            <a:t>2</a:t>
          </a:r>
          <a:endParaRPr lang="en-US"/>
        </a:p>
      </dgm:t>
    </dgm:pt>
    <dgm:pt modelId="{E9C52C54-CC55-4439-9F55-86B567BF4FD6}" type="parTrans" cxnId="{D6BDC8D0-1EFB-4C5B-A34B-B25CEC977CEE}">
      <dgm:prSet/>
      <dgm:spPr/>
      <dgm:t>
        <a:bodyPr/>
        <a:lstStyle/>
        <a:p>
          <a:endParaRPr lang="en-US"/>
        </a:p>
      </dgm:t>
    </dgm:pt>
    <dgm:pt modelId="{D62C5FF0-C803-48CC-9EEE-38DD3AD99A58}" type="sibTrans" cxnId="{D6BDC8D0-1EFB-4C5B-A34B-B25CEC977CEE}">
      <dgm:prSet/>
      <dgm:spPr/>
      <dgm:t>
        <a:bodyPr/>
        <a:lstStyle/>
        <a:p>
          <a:endParaRPr lang="en-US"/>
        </a:p>
      </dgm:t>
    </dgm:pt>
    <dgm:pt modelId="{341D4AD5-BA49-4301-9DCF-78DD6A617B58}">
      <dgm:prSet/>
      <dgm:spPr/>
      <dgm:t>
        <a:bodyPr/>
        <a:lstStyle/>
        <a:p>
          <a:r>
            <a:rPr lang="en-GB"/>
            <a:t>AP diameter of chest</a:t>
          </a:r>
          <a:endParaRPr lang="en-US"/>
        </a:p>
      </dgm:t>
    </dgm:pt>
    <dgm:pt modelId="{5082750C-A384-4789-95FD-620D85717EFE}" type="parTrans" cxnId="{2CD6C4A9-11B1-4B8A-AE88-0B66D461F0CB}">
      <dgm:prSet/>
      <dgm:spPr/>
      <dgm:t>
        <a:bodyPr/>
        <a:lstStyle/>
        <a:p>
          <a:endParaRPr lang="en-US"/>
        </a:p>
      </dgm:t>
    </dgm:pt>
    <dgm:pt modelId="{4658F259-BAB5-425C-B887-BC3B1F864B4C}" type="sibTrans" cxnId="{2CD6C4A9-11B1-4B8A-AE88-0B66D461F0CB}">
      <dgm:prSet/>
      <dgm:spPr/>
      <dgm:t>
        <a:bodyPr/>
        <a:lstStyle/>
        <a:p>
          <a:endParaRPr lang="en-US"/>
        </a:p>
      </dgm:t>
    </dgm:pt>
    <dgm:pt modelId="{8CF1E556-AC49-4237-AC03-C4A0EBB44942}">
      <dgm:prSet/>
      <dgm:spPr/>
      <dgm:t>
        <a:bodyPr/>
        <a:lstStyle/>
        <a:p>
          <a:r>
            <a:rPr lang="en-GB"/>
            <a:t>Diaphragmatic excursion </a:t>
          </a:r>
          <a:endParaRPr lang="en-US"/>
        </a:p>
      </dgm:t>
    </dgm:pt>
    <dgm:pt modelId="{CEB36322-C7BF-48C8-882F-39409F8AE4BB}" type="parTrans" cxnId="{68CFA408-7657-4C6F-A5C7-6CBCB01583AA}">
      <dgm:prSet/>
      <dgm:spPr/>
      <dgm:t>
        <a:bodyPr/>
        <a:lstStyle/>
        <a:p>
          <a:endParaRPr lang="en-US"/>
        </a:p>
      </dgm:t>
    </dgm:pt>
    <dgm:pt modelId="{8A39CE40-7258-414A-94BB-A7D0A1A084A9}" type="sibTrans" cxnId="{68CFA408-7657-4C6F-A5C7-6CBCB01583AA}">
      <dgm:prSet/>
      <dgm:spPr/>
      <dgm:t>
        <a:bodyPr/>
        <a:lstStyle/>
        <a:p>
          <a:endParaRPr lang="en-US"/>
        </a:p>
      </dgm:t>
    </dgm:pt>
    <dgm:pt modelId="{BD72F64F-4518-406A-98F8-28FB853635F2}">
      <dgm:prSet/>
      <dgm:spPr/>
      <dgm:t>
        <a:bodyPr/>
        <a:lstStyle/>
        <a:p>
          <a:r>
            <a:rPr lang="en-GB"/>
            <a:t>Mobilisation of secretions</a:t>
          </a:r>
          <a:endParaRPr lang="en-US"/>
        </a:p>
      </dgm:t>
    </dgm:pt>
    <dgm:pt modelId="{3EB08CB5-EB97-4A82-9E87-F8305E2E5233}" type="parTrans" cxnId="{19508015-FD78-4176-97F9-6C94155B7857}">
      <dgm:prSet/>
      <dgm:spPr/>
      <dgm:t>
        <a:bodyPr/>
        <a:lstStyle/>
        <a:p>
          <a:endParaRPr lang="en-US"/>
        </a:p>
      </dgm:t>
    </dgm:pt>
    <dgm:pt modelId="{384A1BFD-8B23-4F08-8D3C-AB75D0DB9ED9}" type="sibTrans" cxnId="{19508015-FD78-4176-97F9-6C94155B7857}">
      <dgm:prSet/>
      <dgm:spPr/>
      <dgm:t>
        <a:bodyPr/>
        <a:lstStyle/>
        <a:p>
          <a:endParaRPr lang="en-US"/>
        </a:p>
      </dgm:t>
    </dgm:pt>
    <dgm:pt modelId="{8B370FFD-B4B2-4259-9F69-D0E464C2A787}">
      <dgm:prSet/>
      <dgm:spPr/>
      <dgm:t>
        <a:bodyPr/>
        <a:lstStyle/>
        <a:p>
          <a:r>
            <a:rPr lang="en-GB"/>
            <a:t>Lymphatic drainage </a:t>
          </a:r>
          <a:endParaRPr lang="en-US"/>
        </a:p>
      </dgm:t>
    </dgm:pt>
    <dgm:pt modelId="{240DBD19-A403-4D94-85DE-D728B34B06D4}" type="parTrans" cxnId="{A5A25036-62F3-46A0-9940-A69676BBB78D}">
      <dgm:prSet/>
      <dgm:spPr/>
      <dgm:t>
        <a:bodyPr/>
        <a:lstStyle/>
        <a:p>
          <a:endParaRPr lang="en-US"/>
        </a:p>
      </dgm:t>
    </dgm:pt>
    <dgm:pt modelId="{3CC2D8BA-2214-4CFC-9591-AF2286624D65}" type="sibTrans" cxnId="{A5A25036-62F3-46A0-9940-A69676BBB78D}">
      <dgm:prSet/>
      <dgm:spPr/>
      <dgm:t>
        <a:bodyPr/>
        <a:lstStyle/>
        <a:p>
          <a:endParaRPr lang="en-US"/>
        </a:p>
      </dgm:t>
    </dgm:pt>
    <dgm:pt modelId="{FFD85A46-7206-44CA-82B4-6C362FE0B9B9}" type="pres">
      <dgm:prSet presAssocID="{0A174D10-FD1F-4398-805F-A075328E32B5}" presName="Name0" presStyleCnt="0">
        <dgm:presLayoutVars>
          <dgm:dir/>
          <dgm:resizeHandles val="exact"/>
        </dgm:presLayoutVars>
      </dgm:prSet>
      <dgm:spPr/>
    </dgm:pt>
    <dgm:pt modelId="{671A9A1E-DE01-4E74-8060-74BA231125D4}" type="pres">
      <dgm:prSet presAssocID="{379B5124-C63B-459C-A3D3-EFE2B5F86332}" presName="node" presStyleLbl="node1" presStyleIdx="0" presStyleCnt="12">
        <dgm:presLayoutVars>
          <dgm:bulletEnabled val="1"/>
        </dgm:presLayoutVars>
      </dgm:prSet>
      <dgm:spPr/>
    </dgm:pt>
    <dgm:pt modelId="{7C14E9E8-FFBD-45CE-AF35-65054458F595}" type="pres">
      <dgm:prSet presAssocID="{15206308-5C93-4ACB-96D8-148285F8005A}" presName="sibTrans" presStyleLbl="sibTrans1D1" presStyleIdx="0" presStyleCnt="11"/>
      <dgm:spPr/>
    </dgm:pt>
    <dgm:pt modelId="{6E3AB23C-4873-45C5-BBC0-3AF800C3B2C6}" type="pres">
      <dgm:prSet presAssocID="{15206308-5C93-4ACB-96D8-148285F8005A}" presName="connectorText" presStyleLbl="sibTrans1D1" presStyleIdx="0" presStyleCnt="11"/>
      <dgm:spPr/>
    </dgm:pt>
    <dgm:pt modelId="{F41749B2-C417-498E-8654-E77691E9756A}" type="pres">
      <dgm:prSet presAssocID="{09E4A26C-9C3F-4499-9C12-24F44202A039}" presName="node" presStyleLbl="node1" presStyleIdx="1" presStyleCnt="12">
        <dgm:presLayoutVars>
          <dgm:bulletEnabled val="1"/>
        </dgm:presLayoutVars>
      </dgm:prSet>
      <dgm:spPr/>
    </dgm:pt>
    <dgm:pt modelId="{FC7A139C-5719-47A4-B023-0319D2CBECCC}" type="pres">
      <dgm:prSet presAssocID="{6BC247F5-4C86-4216-8BAA-69183B58066A}" presName="sibTrans" presStyleLbl="sibTrans1D1" presStyleIdx="1" presStyleCnt="11"/>
      <dgm:spPr/>
    </dgm:pt>
    <dgm:pt modelId="{057A31FF-4D7F-46BF-A4CE-1ADA4D7F45DA}" type="pres">
      <dgm:prSet presAssocID="{6BC247F5-4C86-4216-8BAA-69183B58066A}" presName="connectorText" presStyleLbl="sibTrans1D1" presStyleIdx="1" presStyleCnt="11"/>
      <dgm:spPr/>
    </dgm:pt>
    <dgm:pt modelId="{0EF9FC8E-4367-431B-894E-B17066477354}" type="pres">
      <dgm:prSet presAssocID="{203CE700-1E14-4A60-86BC-AE6B66CF3507}" presName="node" presStyleLbl="node1" presStyleIdx="2" presStyleCnt="12">
        <dgm:presLayoutVars>
          <dgm:bulletEnabled val="1"/>
        </dgm:presLayoutVars>
      </dgm:prSet>
      <dgm:spPr/>
    </dgm:pt>
    <dgm:pt modelId="{12D0A1A4-266C-4AE6-870D-BD92CD593AD6}" type="pres">
      <dgm:prSet presAssocID="{C4D217B5-7BF2-41FA-90BE-151065BDD8BF}" presName="sibTrans" presStyleLbl="sibTrans1D1" presStyleIdx="2" presStyleCnt="11"/>
      <dgm:spPr/>
    </dgm:pt>
    <dgm:pt modelId="{769AE758-9C8E-41A2-A3E8-D6860F73F033}" type="pres">
      <dgm:prSet presAssocID="{C4D217B5-7BF2-41FA-90BE-151065BDD8BF}" presName="connectorText" presStyleLbl="sibTrans1D1" presStyleIdx="2" presStyleCnt="11"/>
      <dgm:spPr/>
    </dgm:pt>
    <dgm:pt modelId="{27AB4F2B-7C6D-49B8-BB89-AF22CC024386}" type="pres">
      <dgm:prSet presAssocID="{2D37BFFF-6B57-4065-9628-32BF6FA6DAA1}" presName="node" presStyleLbl="node1" presStyleIdx="3" presStyleCnt="12">
        <dgm:presLayoutVars>
          <dgm:bulletEnabled val="1"/>
        </dgm:presLayoutVars>
      </dgm:prSet>
      <dgm:spPr/>
    </dgm:pt>
    <dgm:pt modelId="{BF364E2C-3FE3-42D9-8A1E-D0F65E8356E0}" type="pres">
      <dgm:prSet presAssocID="{1988C664-1272-48B5-B229-931F3F6D9EC7}" presName="sibTrans" presStyleLbl="sibTrans1D1" presStyleIdx="3" presStyleCnt="11"/>
      <dgm:spPr/>
    </dgm:pt>
    <dgm:pt modelId="{A4C65F21-BCBE-4EE9-8A1E-02405747FFDF}" type="pres">
      <dgm:prSet presAssocID="{1988C664-1272-48B5-B229-931F3F6D9EC7}" presName="connectorText" presStyleLbl="sibTrans1D1" presStyleIdx="3" presStyleCnt="11"/>
      <dgm:spPr/>
    </dgm:pt>
    <dgm:pt modelId="{F55CC547-A328-475E-8C45-EED7BF33D261}" type="pres">
      <dgm:prSet presAssocID="{276B99D9-E598-4450-B1B1-34AC098E0C4F}" presName="node" presStyleLbl="node1" presStyleIdx="4" presStyleCnt="12">
        <dgm:presLayoutVars>
          <dgm:bulletEnabled val="1"/>
        </dgm:presLayoutVars>
      </dgm:prSet>
      <dgm:spPr/>
    </dgm:pt>
    <dgm:pt modelId="{CFEAD83B-9C51-4E83-AFA1-DD26A00F28B8}" type="pres">
      <dgm:prSet presAssocID="{5122E372-FDC9-4D95-A4A7-000805C648C6}" presName="sibTrans" presStyleLbl="sibTrans1D1" presStyleIdx="4" presStyleCnt="11"/>
      <dgm:spPr/>
    </dgm:pt>
    <dgm:pt modelId="{D3DF9A21-8E97-46BF-80F3-B28A31BF263F}" type="pres">
      <dgm:prSet presAssocID="{5122E372-FDC9-4D95-A4A7-000805C648C6}" presName="connectorText" presStyleLbl="sibTrans1D1" presStyleIdx="4" presStyleCnt="11"/>
      <dgm:spPr/>
    </dgm:pt>
    <dgm:pt modelId="{2CB5311E-ECB5-4E63-AB0C-31EC5499CFAE}" type="pres">
      <dgm:prSet presAssocID="{47FBEB2C-D0A4-45E1-9ED5-0FDF5E8D2CD1}" presName="node" presStyleLbl="node1" presStyleIdx="5" presStyleCnt="12">
        <dgm:presLayoutVars>
          <dgm:bulletEnabled val="1"/>
        </dgm:presLayoutVars>
      </dgm:prSet>
      <dgm:spPr/>
    </dgm:pt>
    <dgm:pt modelId="{84D2DD92-D600-4CB3-A654-69F10D5E5CE9}" type="pres">
      <dgm:prSet presAssocID="{A9DE1EBA-09D8-4E70-BF09-537C865CCB04}" presName="sibTrans" presStyleLbl="sibTrans1D1" presStyleIdx="5" presStyleCnt="11"/>
      <dgm:spPr/>
    </dgm:pt>
    <dgm:pt modelId="{C7DF12D1-E362-452A-86ED-40BE67BD53F5}" type="pres">
      <dgm:prSet presAssocID="{A9DE1EBA-09D8-4E70-BF09-537C865CCB04}" presName="connectorText" presStyleLbl="sibTrans1D1" presStyleIdx="5" presStyleCnt="11"/>
      <dgm:spPr/>
    </dgm:pt>
    <dgm:pt modelId="{64EBE61A-0D1B-4D32-87BB-F250C8153C4D}" type="pres">
      <dgm:prSet presAssocID="{4A07EE4B-A27B-4A93-89DB-3BE379C44E5D}" presName="node" presStyleLbl="node1" presStyleIdx="6" presStyleCnt="12">
        <dgm:presLayoutVars>
          <dgm:bulletEnabled val="1"/>
        </dgm:presLayoutVars>
      </dgm:prSet>
      <dgm:spPr/>
    </dgm:pt>
    <dgm:pt modelId="{992412BB-8CF9-42AE-86C3-575FE496DBBC}" type="pres">
      <dgm:prSet presAssocID="{412DA563-F3AE-486C-AE5F-EBB9D959A625}" presName="sibTrans" presStyleLbl="sibTrans1D1" presStyleIdx="6" presStyleCnt="11"/>
      <dgm:spPr/>
    </dgm:pt>
    <dgm:pt modelId="{26AB114B-A804-49C6-86D7-D06C08554E3B}" type="pres">
      <dgm:prSet presAssocID="{412DA563-F3AE-486C-AE5F-EBB9D959A625}" presName="connectorText" presStyleLbl="sibTrans1D1" presStyleIdx="6" presStyleCnt="11"/>
      <dgm:spPr/>
    </dgm:pt>
    <dgm:pt modelId="{AAB1A2E7-4D5B-464A-93C3-E767470EA495}" type="pres">
      <dgm:prSet presAssocID="{6EF4CD8A-5E94-4B4E-9B4A-779B44C6A260}" presName="node" presStyleLbl="node1" presStyleIdx="7" presStyleCnt="12">
        <dgm:presLayoutVars>
          <dgm:bulletEnabled val="1"/>
        </dgm:presLayoutVars>
      </dgm:prSet>
      <dgm:spPr/>
    </dgm:pt>
    <dgm:pt modelId="{712D463A-BC29-4390-B2BF-45703CB35AB9}" type="pres">
      <dgm:prSet presAssocID="{D62C5FF0-C803-48CC-9EEE-38DD3AD99A58}" presName="sibTrans" presStyleLbl="sibTrans1D1" presStyleIdx="7" presStyleCnt="11"/>
      <dgm:spPr/>
    </dgm:pt>
    <dgm:pt modelId="{C16124AB-DC41-4609-93D6-5C5A0FB55517}" type="pres">
      <dgm:prSet presAssocID="{D62C5FF0-C803-48CC-9EEE-38DD3AD99A58}" presName="connectorText" presStyleLbl="sibTrans1D1" presStyleIdx="7" presStyleCnt="11"/>
      <dgm:spPr/>
    </dgm:pt>
    <dgm:pt modelId="{F8D69FFF-1354-41E3-842A-87C2FA6C409D}" type="pres">
      <dgm:prSet presAssocID="{341D4AD5-BA49-4301-9DCF-78DD6A617B58}" presName="node" presStyleLbl="node1" presStyleIdx="8" presStyleCnt="12">
        <dgm:presLayoutVars>
          <dgm:bulletEnabled val="1"/>
        </dgm:presLayoutVars>
      </dgm:prSet>
      <dgm:spPr/>
    </dgm:pt>
    <dgm:pt modelId="{B82F1087-0CA0-4834-876E-96B54BF8DBE4}" type="pres">
      <dgm:prSet presAssocID="{4658F259-BAB5-425C-B887-BC3B1F864B4C}" presName="sibTrans" presStyleLbl="sibTrans1D1" presStyleIdx="8" presStyleCnt="11"/>
      <dgm:spPr/>
    </dgm:pt>
    <dgm:pt modelId="{67D395D8-16CA-40AC-9DF5-5C2E9B7E80C9}" type="pres">
      <dgm:prSet presAssocID="{4658F259-BAB5-425C-B887-BC3B1F864B4C}" presName="connectorText" presStyleLbl="sibTrans1D1" presStyleIdx="8" presStyleCnt="11"/>
      <dgm:spPr/>
    </dgm:pt>
    <dgm:pt modelId="{05494847-28C9-4A8B-AE16-E7BA63BA55C2}" type="pres">
      <dgm:prSet presAssocID="{8CF1E556-AC49-4237-AC03-C4A0EBB44942}" presName="node" presStyleLbl="node1" presStyleIdx="9" presStyleCnt="12">
        <dgm:presLayoutVars>
          <dgm:bulletEnabled val="1"/>
        </dgm:presLayoutVars>
      </dgm:prSet>
      <dgm:spPr/>
    </dgm:pt>
    <dgm:pt modelId="{A2966024-5CAF-4737-8DE6-7060F77843DB}" type="pres">
      <dgm:prSet presAssocID="{8A39CE40-7258-414A-94BB-A7D0A1A084A9}" presName="sibTrans" presStyleLbl="sibTrans1D1" presStyleIdx="9" presStyleCnt="11"/>
      <dgm:spPr/>
    </dgm:pt>
    <dgm:pt modelId="{E61CED73-6966-44A0-B176-3B8AF53AC85A}" type="pres">
      <dgm:prSet presAssocID="{8A39CE40-7258-414A-94BB-A7D0A1A084A9}" presName="connectorText" presStyleLbl="sibTrans1D1" presStyleIdx="9" presStyleCnt="11"/>
      <dgm:spPr/>
    </dgm:pt>
    <dgm:pt modelId="{DFC8DE7F-9506-42E9-A2BD-7935BDFEDD73}" type="pres">
      <dgm:prSet presAssocID="{BD72F64F-4518-406A-98F8-28FB853635F2}" presName="node" presStyleLbl="node1" presStyleIdx="10" presStyleCnt="12">
        <dgm:presLayoutVars>
          <dgm:bulletEnabled val="1"/>
        </dgm:presLayoutVars>
      </dgm:prSet>
      <dgm:spPr/>
    </dgm:pt>
    <dgm:pt modelId="{57A82EA1-D43D-4EC1-9070-DA1381C51091}" type="pres">
      <dgm:prSet presAssocID="{384A1BFD-8B23-4F08-8D3C-AB75D0DB9ED9}" presName="sibTrans" presStyleLbl="sibTrans1D1" presStyleIdx="10" presStyleCnt="11"/>
      <dgm:spPr/>
    </dgm:pt>
    <dgm:pt modelId="{A6E6AF62-09FF-4E0B-8F94-0EAF6E787ED6}" type="pres">
      <dgm:prSet presAssocID="{384A1BFD-8B23-4F08-8D3C-AB75D0DB9ED9}" presName="connectorText" presStyleLbl="sibTrans1D1" presStyleIdx="10" presStyleCnt="11"/>
      <dgm:spPr/>
    </dgm:pt>
    <dgm:pt modelId="{6A73E579-BC6F-471C-AB20-85C576190290}" type="pres">
      <dgm:prSet presAssocID="{8B370FFD-B4B2-4259-9F69-D0E464C2A78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4DE4E08-9310-4DB0-A89A-C2E029692EC6}" type="presOf" srcId="{0A174D10-FD1F-4398-805F-A075328E32B5}" destId="{FFD85A46-7206-44CA-82B4-6C362FE0B9B9}" srcOrd="0" destOrd="0" presId="urn:microsoft.com/office/officeart/2016/7/layout/RepeatingBendingProcessNew"/>
    <dgm:cxn modelId="{68CFA408-7657-4C6F-A5C7-6CBCB01583AA}" srcId="{0A174D10-FD1F-4398-805F-A075328E32B5}" destId="{8CF1E556-AC49-4237-AC03-C4A0EBB44942}" srcOrd="9" destOrd="0" parTransId="{CEB36322-C7BF-48C8-882F-39409F8AE4BB}" sibTransId="{8A39CE40-7258-414A-94BB-A7D0A1A084A9}"/>
    <dgm:cxn modelId="{2D2E5D13-8970-4AF1-8784-6412B78FAAFE}" srcId="{0A174D10-FD1F-4398-805F-A075328E32B5}" destId="{203CE700-1E14-4A60-86BC-AE6B66CF3507}" srcOrd="2" destOrd="0" parTransId="{ADC01144-2B99-4913-A732-D6A14C3B980E}" sibTransId="{C4D217B5-7BF2-41FA-90BE-151065BDD8BF}"/>
    <dgm:cxn modelId="{93F24E15-5C35-4C49-9010-FADAFF41C2C9}" type="presOf" srcId="{4A07EE4B-A27B-4A93-89DB-3BE379C44E5D}" destId="{64EBE61A-0D1B-4D32-87BB-F250C8153C4D}" srcOrd="0" destOrd="0" presId="urn:microsoft.com/office/officeart/2016/7/layout/RepeatingBendingProcessNew"/>
    <dgm:cxn modelId="{19508015-FD78-4176-97F9-6C94155B7857}" srcId="{0A174D10-FD1F-4398-805F-A075328E32B5}" destId="{BD72F64F-4518-406A-98F8-28FB853635F2}" srcOrd="10" destOrd="0" parTransId="{3EB08CB5-EB97-4A82-9E87-F8305E2E5233}" sibTransId="{384A1BFD-8B23-4F08-8D3C-AB75D0DB9ED9}"/>
    <dgm:cxn modelId="{320ACD17-0637-49D3-9B55-849B0BADAD9C}" type="presOf" srcId="{A9DE1EBA-09D8-4E70-BF09-537C865CCB04}" destId="{84D2DD92-D600-4CB3-A654-69F10D5E5CE9}" srcOrd="0" destOrd="0" presId="urn:microsoft.com/office/officeart/2016/7/layout/RepeatingBendingProcessNew"/>
    <dgm:cxn modelId="{2EA4861E-0A6C-48DB-8376-C69C03F81339}" type="presOf" srcId="{203CE700-1E14-4A60-86BC-AE6B66CF3507}" destId="{0EF9FC8E-4367-431B-894E-B17066477354}" srcOrd="0" destOrd="0" presId="urn:microsoft.com/office/officeart/2016/7/layout/RepeatingBendingProcessNew"/>
    <dgm:cxn modelId="{1749E528-4DC4-4854-B82E-1C15C094ABF9}" type="presOf" srcId="{8A39CE40-7258-414A-94BB-A7D0A1A084A9}" destId="{E61CED73-6966-44A0-B176-3B8AF53AC85A}" srcOrd="1" destOrd="0" presId="urn:microsoft.com/office/officeart/2016/7/layout/RepeatingBendingProcessNew"/>
    <dgm:cxn modelId="{C769112D-82EC-4900-89CF-FF27125F16D4}" type="presOf" srcId="{D62C5FF0-C803-48CC-9EEE-38DD3AD99A58}" destId="{712D463A-BC29-4390-B2BF-45703CB35AB9}" srcOrd="0" destOrd="0" presId="urn:microsoft.com/office/officeart/2016/7/layout/RepeatingBendingProcessNew"/>
    <dgm:cxn modelId="{5765B82F-3627-459A-9115-12E213F277EA}" srcId="{0A174D10-FD1F-4398-805F-A075328E32B5}" destId="{4A07EE4B-A27B-4A93-89DB-3BE379C44E5D}" srcOrd="6" destOrd="0" parTransId="{E2016600-3E76-4760-AB31-D07486782DDD}" sibTransId="{412DA563-F3AE-486C-AE5F-EBB9D959A625}"/>
    <dgm:cxn modelId="{A5A25036-62F3-46A0-9940-A69676BBB78D}" srcId="{0A174D10-FD1F-4398-805F-A075328E32B5}" destId="{8B370FFD-B4B2-4259-9F69-D0E464C2A787}" srcOrd="11" destOrd="0" parTransId="{240DBD19-A403-4D94-85DE-D728B34B06D4}" sibTransId="{3CC2D8BA-2214-4CFC-9591-AF2286624D65}"/>
    <dgm:cxn modelId="{441C093A-E021-4A23-9B9F-3A13CE7D7084}" type="presOf" srcId="{D62C5FF0-C803-48CC-9EEE-38DD3AD99A58}" destId="{C16124AB-DC41-4609-93D6-5C5A0FB55517}" srcOrd="1" destOrd="0" presId="urn:microsoft.com/office/officeart/2016/7/layout/RepeatingBendingProcessNew"/>
    <dgm:cxn modelId="{4489A13F-4B85-4C58-8343-2746631D326A}" type="presOf" srcId="{6EF4CD8A-5E94-4B4E-9B4A-779B44C6A260}" destId="{AAB1A2E7-4D5B-464A-93C3-E767470EA495}" srcOrd="0" destOrd="0" presId="urn:microsoft.com/office/officeart/2016/7/layout/RepeatingBendingProcessNew"/>
    <dgm:cxn modelId="{90E8C75F-FC63-41A7-AA2E-575D1064058A}" type="presOf" srcId="{BD72F64F-4518-406A-98F8-28FB853635F2}" destId="{DFC8DE7F-9506-42E9-A2BD-7935BDFEDD73}" srcOrd="0" destOrd="0" presId="urn:microsoft.com/office/officeart/2016/7/layout/RepeatingBendingProcessNew"/>
    <dgm:cxn modelId="{EC3BFD63-DC48-438F-A551-382CA25FC20A}" type="presOf" srcId="{412DA563-F3AE-486C-AE5F-EBB9D959A625}" destId="{26AB114B-A804-49C6-86D7-D06C08554E3B}" srcOrd="1" destOrd="0" presId="urn:microsoft.com/office/officeart/2016/7/layout/RepeatingBendingProcessNew"/>
    <dgm:cxn modelId="{76DD6A44-9A15-473A-BB22-82BE830BDA36}" type="presOf" srcId="{8B370FFD-B4B2-4259-9F69-D0E464C2A787}" destId="{6A73E579-BC6F-471C-AB20-85C576190290}" srcOrd="0" destOrd="0" presId="urn:microsoft.com/office/officeart/2016/7/layout/RepeatingBendingProcessNew"/>
    <dgm:cxn modelId="{A4F5824F-F0FC-49FB-9E48-25A112A54D7D}" type="presOf" srcId="{47FBEB2C-D0A4-45E1-9ED5-0FDF5E8D2CD1}" destId="{2CB5311E-ECB5-4E63-AB0C-31EC5499CFAE}" srcOrd="0" destOrd="0" presId="urn:microsoft.com/office/officeart/2016/7/layout/RepeatingBendingProcessNew"/>
    <dgm:cxn modelId="{D446A451-7C19-4688-93B8-0E9833F3A294}" type="presOf" srcId="{1988C664-1272-48B5-B229-931F3F6D9EC7}" destId="{A4C65F21-BCBE-4EE9-8A1E-02405747FFDF}" srcOrd="1" destOrd="0" presId="urn:microsoft.com/office/officeart/2016/7/layout/RepeatingBendingProcessNew"/>
    <dgm:cxn modelId="{7ED93C73-E34E-4AF8-936C-47C4253034CA}" srcId="{0A174D10-FD1F-4398-805F-A075328E32B5}" destId="{47FBEB2C-D0A4-45E1-9ED5-0FDF5E8D2CD1}" srcOrd="5" destOrd="0" parTransId="{4C863EA6-CB6C-4E99-8954-E08267A48201}" sibTransId="{A9DE1EBA-09D8-4E70-BF09-537C865CCB04}"/>
    <dgm:cxn modelId="{F5927153-7C72-45E1-A8E1-9FAC3EC81EEB}" type="presOf" srcId="{384A1BFD-8B23-4F08-8D3C-AB75D0DB9ED9}" destId="{A6E6AF62-09FF-4E0B-8F94-0EAF6E787ED6}" srcOrd="1" destOrd="0" presId="urn:microsoft.com/office/officeart/2016/7/layout/RepeatingBendingProcessNew"/>
    <dgm:cxn modelId="{85B9A858-10A4-42C1-AA93-64B594398632}" type="presOf" srcId="{8CF1E556-AC49-4237-AC03-C4A0EBB44942}" destId="{05494847-28C9-4A8B-AE16-E7BA63BA55C2}" srcOrd="0" destOrd="0" presId="urn:microsoft.com/office/officeart/2016/7/layout/RepeatingBendingProcessNew"/>
    <dgm:cxn modelId="{226A3379-0BC4-4069-B8C0-90A608CF0FFF}" type="presOf" srcId="{6BC247F5-4C86-4216-8BAA-69183B58066A}" destId="{057A31FF-4D7F-46BF-A4CE-1ADA4D7F45DA}" srcOrd="1" destOrd="0" presId="urn:microsoft.com/office/officeart/2016/7/layout/RepeatingBendingProcessNew"/>
    <dgm:cxn modelId="{2CFEFB84-99F2-43ED-AA38-F587B2BB7C21}" type="presOf" srcId="{5122E372-FDC9-4D95-A4A7-000805C648C6}" destId="{D3DF9A21-8E97-46BF-80F3-B28A31BF263F}" srcOrd="1" destOrd="0" presId="urn:microsoft.com/office/officeart/2016/7/layout/RepeatingBendingProcessNew"/>
    <dgm:cxn modelId="{13466088-F216-4C91-8D39-008575C059DA}" type="presOf" srcId="{384A1BFD-8B23-4F08-8D3C-AB75D0DB9ED9}" destId="{57A82EA1-D43D-4EC1-9070-DA1381C51091}" srcOrd="0" destOrd="0" presId="urn:microsoft.com/office/officeart/2016/7/layout/RepeatingBendingProcessNew"/>
    <dgm:cxn modelId="{C784F591-1FDD-43B7-B39B-C4595B94C90E}" type="presOf" srcId="{8A39CE40-7258-414A-94BB-A7D0A1A084A9}" destId="{A2966024-5CAF-4737-8DE6-7060F77843DB}" srcOrd="0" destOrd="0" presId="urn:microsoft.com/office/officeart/2016/7/layout/RepeatingBendingProcessNew"/>
    <dgm:cxn modelId="{05CE6692-25C1-4B76-9BD5-288AAA5BC762}" type="presOf" srcId="{5122E372-FDC9-4D95-A4A7-000805C648C6}" destId="{CFEAD83B-9C51-4E83-AFA1-DD26A00F28B8}" srcOrd="0" destOrd="0" presId="urn:microsoft.com/office/officeart/2016/7/layout/RepeatingBendingProcessNew"/>
    <dgm:cxn modelId="{A746C696-4010-4504-A060-8FBE5730B7B3}" type="presOf" srcId="{2D37BFFF-6B57-4065-9628-32BF6FA6DAA1}" destId="{27AB4F2B-7C6D-49B8-BB89-AF22CC024386}" srcOrd="0" destOrd="0" presId="urn:microsoft.com/office/officeart/2016/7/layout/RepeatingBendingProcessNew"/>
    <dgm:cxn modelId="{E4025D99-35A7-4E07-B2F4-E54283404F48}" type="presOf" srcId="{A9DE1EBA-09D8-4E70-BF09-537C865CCB04}" destId="{C7DF12D1-E362-452A-86ED-40BE67BD53F5}" srcOrd="1" destOrd="0" presId="urn:microsoft.com/office/officeart/2016/7/layout/RepeatingBendingProcessNew"/>
    <dgm:cxn modelId="{2CD6C4A9-11B1-4B8A-AE88-0B66D461F0CB}" srcId="{0A174D10-FD1F-4398-805F-A075328E32B5}" destId="{341D4AD5-BA49-4301-9DCF-78DD6A617B58}" srcOrd="8" destOrd="0" parTransId="{5082750C-A384-4789-95FD-620D85717EFE}" sibTransId="{4658F259-BAB5-425C-B887-BC3B1F864B4C}"/>
    <dgm:cxn modelId="{8E29E4AE-73BA-4FC1-B486-0CC29902C8DF}" type="presOf" srcId="{09E4A26C-9C3F-4499-9C12-24F44202A039}" destId="{F41749B2-C417-498E-8654-E77691E9756A}" srcOrd="0" destOrd="0" presId="urn:microsoft.com/office/officeart/2016/7/layout/RepeatingBendingProcessNew"/>
    <dgm:cxn modelId="{13851CB2-2D2C-4A34-8A91-020A7C108B45}" srcId="{0A174D10-FD1F-4398-805F-A075328E32B5}" destId="{379B5124-C63B-459C-A3D3-EFE2B5F86332}" srcOrd="0" destOrd="0" parTransId="{4797172C-7725-4D3F-8605-04066AFF0666}" sibTransId="{15206308-5C93-4ACB-96D8-148285F8005A}"/>
    <dgm:cxn modelId="{923AFFB2-5D04-453D-B638-470CF277A579}" type="presOf" srcId="{379B5124-C63B-459C-A3D3-EFE2B5F86332}" destId="{671A9A1E-DE01-4E74-8060-74BA231125D4}" srcOrd="0" destOrd="0" presId="urn:microsoft.com/office/officeart/2016/7/layout/RepeatingBendingProcessNew"/>
    <dgm:cxn modelId="{30EE99B5-9177-467A-8052-233256FD0917}" type="presOf" srcId="{4658F259-BAB5-425C-B887-BC3B1F864B4C}" destId="{B82F1087-0CA0-4834-876E-96B54BF8DBE4}" srcOrd="0" destOrd="0" presId="urn:microsoft.com/office/officeart/2016/7/layout/RepeatingBendingProcessNew"/>
    <dgm:cxn modelId="{F14DC6B8-B8E3-4F0B-84CA-89A18EBF3B41}" type="presOf" srcId="{4658F259-BAB5-425C-B887-BC3B1F864B4C}" destId="{67D395D8-16CA-40AC-9DF5-5C2E9B7E80C9}" srcOrd="1" destOrd="0" presId="urn:microsoft.com/office/officeart/2016/7/layout/RepeatingBendingProcessNew"/>
    <dgm:cxn modelId="{F4C96BBC-2BAE-4A48-A780-35798F177761}" type="presOf" srcId="{276B99D9-E598-4450-B1B1-34AC098E0C4F}" destId="{F55CC547-A328-475E-8C45-EED7BF33D261}" srcOrd="0" destOrd="0" presId="urn:microsoft.com/office/officeart/2016/7/layout/RepeatingBendingProcessNew"/>
    <dgm:cxn modelId="{4EB4A0BD-3734-44A6-B70F-02D3A75C6D51}" type="presOf" srcId="{15206308-5C93-4ACB-96D8-148285F8005A}" destId="{7C14E9E8-FFBD-45CE-AF35-65054458F595}" srcOrd="0" destOrd="0" presId="urn:microsoft.com/office/officeart/2016/7/layout/RepeatingBendingProcessNew"/>
    <dgm:cxn modelId="{F88952C1-FDB7-4E48-BCA9-91B1B298021C}" type="presOf" srcId="{C4D217B5-7BF2-41FA-90BE-151065BDD8BF}" destId="{12D0A1A4-266C-4AE6-870D-BD92CD593AD6}" srcOrd="0" destOrd="0" presId="urn:microsoft.com/office/officeart/2016/7/layout/RepeatingBendingProcessNew"/>
    <dgm:cxn modelId="{73EDC3C4-BB62-4BC1-8B99-D4D44C348B0C}" type="presOf" srcId="{15206308-5C93-4ACB-96D8-148285F8005A}" destId="{6E3AB23C-4873-45C5-BBC0-3AF800C3B2C6}" srcOrd="1" destOrd="0" presId="urn:microsoft.com/office/officeart/2016/7/layout/RepeatingBendingProcessNew"/>
    <dgm:cxn modelId="{D2430AC7-8F2B-4429-AC33-0A3DE04742FC}" srcId="{0A174D10-FD1F-4398-805F-A075328E32B5}" destId="{276B99D9-E598-4450-B1B1-34AC098E0C4F}" srcOrd="4" destOrd="0" parTransId="{7E225028-CB46-4D74-8E20-7F030B5A8071}" sibTransId="{5122E372-FDC9-4D95-A4A7-000805C648C6}"/>
    <dgm:cxn modelId="{D6BDC8D0-1EFB-4C5B-A34B-B25CEC977CEE}" srcId="{0A174D10-FD1F-4398-805F-A075328E32B5}" destId="{6EF4CD8A-5E94-4B4E-9B4A-779B44C6A260}" srcOrd="7" destOrd="0" parTransId="{E9C52C54-CC55-4439-9F55-86B567BF4FD6}" sibTransId="{D62C5FF0-C803-48CC-9EEE-38DD3AD99A58}"/>
    <dgm:cxn modelId="{1781F6DA-D0BD-47E1-9D81-E2CF97DF09CC}" srcId="{0A174D10-FD1F-4398-805F-A075328E32B5}" destId="{2D37BFFF-6B57-4065-9628-32BF6FA6DAA1}" srcOrd="3" destOrd="0" parTransId="{EDEFB05E-7D30-4C24-98A0-6A68EE79F757}" sibTransId="{1988C664-1272-48B5-B229-931F3F6D9EC7}"/>
    <dgm:cxn modelId="{48F6DCDC-9DFE-48A0-8D47-08FBD1B352F3}" type="presOf" srcId="{341D4AD5-BA49-4301-9DCF-78DD6A617B58}" destId="{F8D69FFF-1354-41E3-842A-87C2FA6C409D}" srcOrd="0" destOrd="0" presId="urn:microsoft.com/office/officeart/2016/7/layout/RepeatingBendingProcessNew"/>
    <dgm:cxn modelId="{0D4C85E3-1B01-4994-824A-BC3AE5526F5E}" type="presOf" srcId="{6BC247F5-4C86-4216-8BAA-69183B58066A}" destId="{FC7A139C-5719-47A4-B023-0319D2CBECCC}" srcOrd="0" destOrd="0" presId="urn:microsoft.com/office/officeart/2016/7/layout/RepeatingBendingProcessNew"/>
    <dgm:cxn modelId="{1B101CE4-0914-48EA-ABE5-334967F8A5F4}" type="presOf" srcId="{1988C664-1272-48B5-B229-931F3F6D9EC7}" destId="{BF364E2C-3FE3-42D9-8A1E-D0F65E8356E0}" srcOrd="0" destOrd="0" presId="urn:microsoft.com/office/officeart/2016/7/layout/RepeatingBendingProcessNew"/>
    <dgm:cxn modelId="{2AE367F3-E4FB-4106-B570-A14A794864B0}" type="presOf" srcId="{C4D217B5-7BF2-41FA-90BE-151065BDD8BF}" destId="{769AE758-9C8E-41A2-A3E8-D6860F73F033}" srcOrd="1" destOrd="0" presId="urn:microsoft.com/office/officeart/2016/7/layout/RepeatingBendingProcessNew"/>
    <dgm:cxn modelId="{6E1956F5-E1B7-4B4D-AA2F-977E09529D3B}" srcId="{0A174D10-FD1F-4398-805F-A075328E32B5}" destId="{09E4A26C-9C3F-4499-9C12-24F44202A039}" srcOrd="1" destOrd="0" parTransId="{671C53D5-A3CE-4A18-A574-1BF2A5E9BABB}" sibTransId="{6BC247F5-4C86-4216-8BAA-69183B58066A}"/>
    <dgm:cxn modelId="{080B83FF-1872-4B68-B79A-67AC68CBF611}" type="presOf" srcId="{412DA563-F3AE-486C-AE5F-EBB9D959A625}" destId="{992412BB-8CF9-42AE-86C3-575FE496DBBC}" srcOrd="0" destOrd="0" presId="urn:microsoft.com/office/officeart/2016/7/layout/RepeatingBendingProcessNew"/>
    <dgm:cxn modelId="{8296FF35-34FA-490B-8067-E5C30499F565}" type="presParOf" srcId="{FFD85A46-7206-44CA-82B4-6C362FE0B9B9}" destId="{671A9A1E-DE01-4E74-8060-74BA231125D4}" srcOrd="0" destOrd="0" presId="urn:microsoft.com/office/officeart/2016/7/layout/RepeatingBendingProcessNew"/>
    <dgm:cxn modelId="{57721F11-547F-4BED-8131-09E3A9285A0B}" type="presParOf" srcId="{FFD85A46-7206-44CA-82B4-6C362FE0B9B9}" destId="{7C14E9E8-FFBD-45CE-AF35-65054458F595}" srcOrd="1" destOrd="0" presId="urn:microsoft.com/office/officeart/2016/7/layout/RepeatingBendingProcessNew"/>
    <dgm:cxn modelId="{94998727-26A6-45E3-A01B-D035B3D3D0B2}" type="presParOf" srcId="{7C14E9E8-FFBD-45CE-AF35-65054458F595}" destId="{6E3AB23C-4873-45C5-BBC0-3AF800C3B2C6}" srcOrd="0" destOrd="0" presId="urn:microsoft.com/office/officeart/2016/7/layout/RepeatingBendingProcessNew"/>
    <dgm:cxn modelId="{466E98C0-EA49-49CE-9319-8A893A4BCBF0}" type="presParOf" srcId="{FFD85A46-7206-44CA-82B4-6C362FE0B9B9}" destId="{F41749B2-C417-498E-8654-E77691E9756A}" srcOrd="2" destOrd="0" presId="urn:microsoft.com/office/officeart/2016/7/layout/RepeatingBendingProcessNew"/>
    <dgm:cxn modelId="{C84695D2-E863-4A6D-855C-3BFFC711FAB9}" type="presParOf" srcId="{FFD85A46-7206-44CA-82B4-6C362FE0B9B9}" destId="{FC7A139C-5719-47A4-B023-0319D2CBECCC}" srcOrd="3" destOrd="0" presId="urn:microsoft.com/office/officeart/2016/7/layout/RepeatingBendingProcessNew"/>
    <dgm:cxn modelId="{E19D1BE1-EBAC-4FF2-8D71-A9B9110EB776}" type="presParOf" srcId="{FC7A139C-5719-47A4-B023-0319D2CBECCC}" destId="{057A31FF-4D7F-46BF-A4CE-1ADA4D7F45DA}" srcOrd="0" destOrd="0" presId="urn:microsoft.com/office/officeart/2016/7/layout/RepeatingBendingProcessNew"/>
    <dgm:cxn modelId="{90DA4BF8-C1E6-45F9-AC80-5B5276D77CAD}" type="presParOf" srcId="{FFD85A46-7206-44CA-82B4-6C362FE0B9B9}" destId="{0EF9FC8E-4367-431B-894E-B17066477354}" srcOrd="4" destOrd="0" presId="urn:microsoft.com/office/officeart/2016/7/layout/RepeatingBendingProcessNew"/>
    <dgm:cxn modelId="{2F5DDC33-E25B-4730-A2D1-5BE2E5C537DC}" type="presParOf" srcId="{FFD85A46-7206-44CA-82B4-6C362FE0B9B9}" destId="{12D0A1A4-266C-4AE6-870D-BD92CD593AD6}" srcOrd="5" destOrd="0" presId="urn:microsoft.com/office/officeart/2016/7/layout/RepeatingBendingProcessNew"/>
    <dgm:cxn modelId="{5135A9C2-FFE1-4D60-9CBB-26ECD68C1C79}" type="presParOf" srcId="{12D0A1A4-266C-4AE6-870D-BD92CD593AD6}" destId="{769AE758-9C8E-41A2-A3E8-D6860F73F033}" srcOrd="0" destOrd="0" presId="urn:microsoft.com/office/officeart/2016/7/layout/RepeatingBendingProcessNew"/>
    <dgm:cxn modelId="{2E010038-6E20-4A8A-A5E0-AD707CA0D3FA}" type="presParOf" srcId="{FFD85A46-7206-44CA-82B4-6C362FE0B9B9}" destId="{27AB4F2B-7C6D-49B8-BB89-AF22CC024386}" srcOrd="6" destOrd="0" presId="urn:microsoft.com/office/officeart/2016/7/layout/RepeatingBendingProcessNew"/>
    <dgm:cxn modelId="{71DDB744-3769-454B-B325-E3A41F70BC98}" type="presParOf" srcId="{FFD85A46-7206-44CA-82B4-6C362FE0B9B9}" destId="{BF364E2C-3FE3-42D9-8A1E-D0F65E8356E0}" srcOrd="7" destOrd="0" presId="urn:microsoft.com/office/officeart/2016/7/layout/RepeatingBendingProcessNew"/>
    <dgm:cxn modelId="{96BD2ABB-76A7-4A50-9CAF-FD6A31DE8162}" type="presParOf" srcId="{BF364E2C-3FE3-42D9-8A1E-D0F65E8356E0}" destId="{A4C65F21-BCBE-4EE9-8A1E-02405747FFDF}" srcOrd="0" destOrd="0" presId="urn:microsoft.com/office/officeart/2016/7/layout/RepeatingBendingProcessNew"/>
    <dgm:cxn modelId="{43460E1E-CB4D-4277-8E2F-FE7CDCBA0893}" type="presParOf" srcId="{FFD85A46-7206-44CA-82B4-6C362FE0B9B9}" destId="{F55CC547-A328-475E-8C45-EED7BF33D261}" srcOrd="8" destOrd="0" presId="urn:microsoft.com/office/officeart/2016/7/layout/RepeatingBendingProcessNew"/>
    <dgm:cxn modelId="{74E64B16-7CE5-4C2A-8EAB-73317A1FD8C3}" type="presParOf" srcId="{FFD85A46-7206-44CA-82B4-6C362FE0B9B9}" destId="{CFEAD83B-9C51-4E83-AFA1-DD26A00F28B8}" srcOrd="9" destOrd="0" presId="urn:microsoft.com/office/officeart/2016/7/layout/RepeatingBendingProcessNew"/>
    <dgm:cxn modelId="{86A48D7E-7C8C-4ED2-94CA-F4C8410BB15B}" type="presParOf" srcId="{CFEAD83B-9C51-4E83-AFA1-DD26A00F28B8}" destId="{D3DF9A21-8E97-46BF-80F3-B28A31BF263F}" srcOrd="0" destOrd="0" presId="urn:microsoft.com/office/officeart/2016/7/layout/RepeatingBendingProcessNew"/>
    <dgm:cxn modelId="{73A9454C-E652-40A9-9573-2C67D0B861DB}" type="presParOf" srcId="{FFD85A46-7206-44CA-82B4-6C362FE0B9B9}" destId="{2CB5311E-ECB5-4E63-AB0C-31EC5499CFAE}" srcOrd="10" destOrd="0" presId="urn:microsoft.com/office/officeart/2016/7/layout/RepeatingBendingProcessNew"/>
    <dgm:cxn modelId="{573377FD-432E-40F4-B88B-EB600E7EF7BF}" type="presParOf" srcId="{FFD85A46-7206-44CA-82B4-6C362FE0B9B9}" destId="{84D2DD92-D600-4CB3-A654-69F10D5E5CE9}" srcOrd="11" destOrd="0" presId="urn:microsoft.com/office/officeart/2016/7/layout/RepeatingBendingProcessNew"/>
    <dgm:cxn modelId="{0D802AE5-C183-4434-B76C-FEBB652DBFD4}" type="presParOf" srcId="{84D2DD92-D600-4CB3-A654-69F10D5E5CE9}" destId="{C7DF12D1-E362-452A-86ED-40BE67BD53F5}" srcOrd="0" destOrd="0" presId="urn:microsoft.com/office/officeart/2016/7/layout/RepeatingBendingProcessNew"/>
    <dgm:cxn modelId="{FC6D3359-C980-480F-B65F-85035278032A}" type="presParOf" srcId="{FFD85A46-7206-44CA-82B4-6C362FE0B9B9}" destId="{64EBE61A-0D1B-4D32-87BB-F250C8153C4D}" srcOrd="12" destOrd="0" presId="urn:microsoft.com/office/officeart/2016/7/layout/RepeatingBendingProcessNew"/>
    <dgm:cxn modelId="{A90E3706-D5CF-4208-AF19-D433746435C9}" type="presParOf" srcId="{FFD85A46-7206-44CA-82B4-6C362FE0B9B9}" destId="{992412BB-8CF9-42AE-86C3-575FE496DBBC}" srcOrd="13" destOrd="0" presId="urn:microsoft.com/office/officeart/2016/7/layout/RepeatingBendingProcessNew"/>
    <dgm:cxn modelId="{75749B18-D82D-404C-9430-A93441C7B26A}" type="presParOf" srcId="{992412BB-8CF9-42AE-86C3-575FE496DBBC}" destId="{26AB114B-A804-49C6-86D7-D06C08554E3B}" srcOrd="0" destOrd="0" presId="urn:microsoft.com/office/officeart/2016/7/layout/RepeatingBendingProcessNew"/>
    <dgm:cxn modelId="{C4CB882B-39C1-4494-846E-33E341A600A4}" type="presParOf" srcId="{FFD85A46-7206-44CA-82B4-6C362FE0B9B9}" destId="{AAB1A2E7-4D5B-464A-93C3-E767470EA495}" srcOrd="14" destOrd="0" presId="urn:microsoft.com/office/officeart/2016/7/layout/RepeatingBendingProcessNew"/>
    <dgm:cxn modelId="{4A367555-8812-41F9-AEDD-68F382970478}" type="presParOf" srcId="{FFD85A46-7206-44CA-82B4-6C362FE0B9B9}" destId="{712D463A-BC29-4390-B2BF-45703CB35AB9}" srcOrd="15" destOrd="0" presId="urn:microsoft.com/office/officeart/2016/7/layout/RepeatingBendingProcessNew"/>
    <dgm:cxn modelId="{C1B2B446-71D1-425E-B451-395ECB44268E}" type="presParOf" srcId="{712D463A-BC29-4390-B2BF-45703CB35AB9}" destId="{C16124AB-DC41-4609-93D6-5C5A0FB55517}" srcOrd="0" destOrd="0" presId="urn:microsoft.com/office/officeart/2016/7/layout/RepeatingBendingProcessNew"/>
    <dgm:cxn modelId="{BB2FE1A6-D8BB-47CA-A747-611FF1423AD5}" type="presParOf" srcId="{FFD85A46-7206-44CA-82B4-6C362FE0B9B9}" destId="{F8D69FFF-1354-41E3-842A-87C2FA6C409D}" srcOrd="16" destOrd="0" presId="urn:microsoft.com/office/officeart/2016/7/layout/RepeatingBendingProcessNew"/>
    <dgm:cxn modelId="{B90C4D0A-8894-4E97-B438-2ECF8EB0E8AF}" type="presParOf" srcId="{FFD85A46-7206-44CA-82B4-6C362FE0B9B9}" destId="{B82F1087-0CA0-4834-876E-96B54BF8DBE4}" srcOrd="17" destOrd="0" presId="urn:microsoft.com/office/officeart/2016/7/layout/RepeatingBendingProcessNew"/>
    <dgm:cxn modelId="{4F0BB22B-8791-4D67-A908-5CFE46B0CAB7}" type="presParOf" srcId="{B82F1087-0CA0-4834-876E-96B54BF8DBE4}" destId="{67D395D8-16CA-40AC-9DF5-5C2E9B7E80C9}" srcOrd="0" destOrd="0" presId="urn:microsoft.com/office/officeart/2016/7/layout/RepeatingBendingProcessNew"/>
    <dgm:cxn modelId="{71C22D92-1BD6-4B5F-9525-2A5117E41682}" type="presParOf" srcId="{FFD85A46-7206-44CA-82B4-6C362FE0B9B9}" destId="{05494847-28C9-4A8B-AE16-E7BA63BA55C2}" srcOrd="18" destOrd="0" presId="urn:microsoft.com/office/officeart/2016/7/layout/RepeatingBendingProcessNew"/>
    <dgm:cxn modelId="{DD9D42CB-98ED-4909-83D4-04CDFD16648B}" type="presParOf" srcId="{FFD85A46-7206-44CA-82B4-6C362FE0B9B9}" destId="{A2966024-5CAF-4737-8DE6-7060F77843DB}" srcOrd="19" destOrd="0" presId="urn:microsoft.com/office/officeart/2016/7/layout/RepeatingBendingProcessNew"/>
    <dgm:cxn modelId="{8DD09864-FA48-483D-AB09-FBA5608F8D47}" type="presParOf" srcId="{A2966024-5CAF-4737-8DE6-7060F77843DB}" destId="{E61CED73-6966-44A0-B176-3B8AF53AC85A}" srcOrd="0" destOrd="0" presId="urn:microsoft.com/office/officeart/2016/7/layout/RepeatingBendingProcessNew"/>
    <dgm:cxn modelId="{7871FCBA-B7AF-4A66-BE05-8683FB508E50}" type="presParOf" srcId="{FFD85A46-7206-44CA-82B4-6C362FE0B9B9}" destId="{DFC8DE7F-9506-42E9-A2BD-7935BDFEDD73}" srcOrd="20" destOrd="0" presId="urn:microsoft.com/office/officeart/2016/7/layout/RepeatingBendingProcessNew"/>
    <dgm:cxn modelId="{DA1A7AC8-76DD-441C-AB11-BA538BA4802E}" type="presParOf" srcId="{FFD85A46-7206-44CA-82B4-6C362FE0B9B9}" destId="{57A82EA1-D43D-4EC1-9070-DA1381C51091}" srcOrd="21" destOrd="0" presId="urn:microsoft.com/office/officeart/2016/7/layout/RepeatingBendingProcessNew"/>
    <dgm:cxn modelId="{2128531B-A2C9-4238-97F4-45F0A00D28D3}" type="presParOf" srcId="{57A82EA1-D43D-4EC1-9070-DA1381C51091}" destId="{A6E6AF62-09FF-4E0B-8F94-0EAF6E787ED6}" srcOrd="0" destOrd="0" presId="urn:microsoft.com/office/officeart/2016/7/layout/RepeatingBendingProcessNew"/>
    <dgm:cxn modelId="{B378C562-6427-46CE-92F3-9E1B17778D63}" type="presParOf" srcId="{FFD85A46-7206-44CA-82B4-6C362FE0B9B9}" destId="{6A73E579-BC6F-471C-AB20-85C576190290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689509-0637-46A0-892C-6A0E8941A87C}" type="doc">
      <dgm:prSet loTypeId="urn:microsoft.com/office/officeart/2005/8/layout/vList2" loCatId="list" qsTypeId="urn:microsoft.com/office/officeart/2005/8/quickstyle/simple4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080E9915-250D-4604-B28A-9DF31DD90EC8}">
      <dgm:prSet/>
      <dgm:spPr/>
      <dgm:t>
        <a:bodyPr/>
        <a:lstStyle/>
        <a:p>
          <a:r>
            <a:rPr lang="en-GB"/>
            <a:t>Airway closure</a:t>
          </a:r>
          <a:endParaRPr lang="en-US"/>
        </a:p>
      </dgm:t>
    </dgm:pt>
    <dgm:pt modelId="{C34F57F4-ED94-4C7F-B980-DC37BDB241BE}" type="parTrans" cxnId="{D0F116C8-682B-4B0F-BCFF-2B189F62DF5A}">
      <dgm:prSet/>
      <dgm:spPr/>
      <dgm:t>
        <a:bodyPr/>
        <a:lstStyle/>
        <a:p>
          <a:endParaRPr lang="en-US"/>
        </a:p>
      </dgm:t>
    </dgm:pt>
    <dgm:pt modelId="{3F2DD22D-1A89-455B-90E0-10916002739C}" type="sibTrans" cxnId="{D0F116C8-682B-4B0F-BCFF-2B189F62DF5A}">
      <dgm:prSet/>
      <dgm:spPr/>
      <dgm:t>
        <a:bodyPr/>
        <a:lstStyle/>
        <a:p>
          <a:endParaRPr lang="en-US"/>
        </a:p>
      </dgm:t>
    </dgm:pt>
    <dgm:pt modelId="{C579AD6A-A5C0-44F5-B6ED-913CF99B2BD2}">
      <dgm:prSet/>
      <dgm:spPr/>
      <dgm:t>
        <a:bodyPr/>
        <a:lstStyle/>
        <a:p>
          <a:r>
            <a:rPr lang="en-GB"/>
            <a:t>Airway resistance</a:t>
          </a:r>
          <a:endParaRPr lang="en-US"/>
        </a:p>
      </dgm:t>
    </dgm:pt>
    <dgm:pt modelId="{871905B7-D092-4431-820E-824A5901BAF3}" type="parTrans" cxnId="{9687BBB5-7A0D-44E5-B626-F35B4DEA14EA}">
      <dgm:prSet/>
      <dgm:spPr/>
      <dgm:t>
        <a:bodyPr/>
        <a:lstStyle/>
        <a:p>
          <a:endParaRPr lang="en-US"/>
        </a:p>
      </dgm:t>
    </dgm:pt>
    <dgm:pt modelId="{32EBB471-2DA3-40E3-B9E3-02FE1217E35D}" type="sibTrans" cxnId="{9687BBB5-7A0D-44E5-B626-F35B4DEA14EA}">
      <dgm:prSet/>
      <dgm:spPr/>
      <dgm:t>
        <a:bodyPr/>
        <a:lstStyle/>
        <a:p>
          <a:endParaRPr lang="en-US"/>
        </a:p>
      </dgm:t>
    </dgm:pt>
    <dgm:pt modelId="{46C778C6-910D-4B7C-897F-9A7E23438B8F}">
      <dgm:prSet/>
      <dgm:spPr/>
      <dgm:t>
        <a:bodyPr/>
        <a:lstStyle/>
        <a:p>
          <a:r>
            <a:rPr lang="en-GB"/>
            <a:t>Work of breathing</a:t>
          </a:r>
          <a:endParaRPr lang="en-US"/>
        </a:p>
      </dgm:t>
    </dgm:pt>
    <dgm:pt modelId="{6580B15B-E933-447C-AD08-EBF82456D4BF}" type="parTrans" cxnId="{2820F469-B0CE-464D-8F14-6543CDC0C9F5}">
      <dgm:prSet/>
      <dgm:spPr/>
      <dgm:t>
        <a:bodyPr/>
        <a:lstStyle/>
        <a:p>
          <a:endParaRPr lang="en-US"/>
        </a:p>
      </dgm:t>
    </dgm:pt>
    <dgm:pt modelId="{E84E4970-D388-4C9D-937B-312239911165}" type="sibTrans" cxnId="{2820F469-B0CE-464D-8F14-6543CDC0C9F5}">
      <dgm:prSet/>
      <dgm:spPr/>
      <dgm:t>
        <a:bodyPr/>
        <a:lstStyle/>
        <a:p>
          <a:endParaRPr lang="en-US"/>
        </a:p>
      </dgm:t>
    </dgm:pt>
    <dgm:pt modelId="{12A3A1FD-ADA9-4A83-AE65-2CC753EB2D3A}">
      <dgm:prSet/>
      <dgm:spPr/>
      <dgm:t>
        <a:bodyPr/>
        <a:lstStyle/>
        <a:p>
          <a:r>
            <a:rPr lang="en-GB"/>
            <a:t>Work of the heart</a:t>
          </a:r>
          <a:endParaRPr lang="en-US"/>
        </a:p>
      </dgm:t>
    </dgm:pt>
    <dgm:pt modelId="{9BADBF72-F1C1-47B8-ABB5-0102DA0E4D5C}" type="parTrans" cxnId="{AC9442E6-35C7-47AC-AE03-9A7D322595B2}">
      <dgm:prSet/>
      <dgm:spPr/>
      <dgm:t>
        <a:bodyPr/>
        <a:lstStyle/>
        <a:p>
          <a:endParaRPr lang="en-US"/>
        </a:p>
      </dgm:t>
    </dgm:pt>
    <dgm:pt modelId="{B8A2563F-8D68-4E4E-9E81-55EC4A9477AD}" type="sibTrans" cxnId="{AC9442E6-35C7-47AC-AE03-9A7D322595B2}">
      <dgm:prSet/>
      <dgm:spPr/>
      <dgm:t>
        <a:bodyPr/>
        <a:lstStyle/>
        <a:p>
          <a:endParaRPr lang="en-US"/>
        </a:p>
      </dgm:t>
    </dgm:pt>
    <dgm:pt modelId="{67B8BA3B-A0F0-4EA0-AC2E-167EB584AE51}">
      <dgm:prSet/>
      <dgm:spPr/>
      <dgm:t>
        <a:bodyPr/>
        <a:lstStyle/>
        <a:p>
          <a:r>
            <a:rPr lang="en-GB"/>
            <a:t>Pulmonary vascular congestion</a:t>
          </a:r>
          <a:endParaRPr lang="en-US"/>
        </a:p>
      </dgm:t>
    </dgm:pt>
    <dgm:pt modelId="{5155E6C3-091A-4A36-901D-4AD9BBA2143C}" type="parTrans" cxnId="{C04862AE-B4E6-4033-8D80-0567172D7554}">
      <dgm:prSet/>
      <dgm:spPr/>
      <dgm:t>
        <a:bodyPr/>
        <a:lstStyle/>
        <a:p>
          <a:endParaRPr lang="en-US"/>
        </a:p>
      </dgm:t>
    </dgm:pt>
    <dgm:pt modelId="{E84311FC-F85E-4FBF-94DE-AFA9A016F5C8}" type="sibTrans" cxnId="{C04862AE-B4E6-4033-8D80-0567172D7554}">
      <dgm:prSet/>
      <dgm:spPr/>
      <dgm:t>
        <a:bodyPr/>
        <a:lstStyle/>
        <a:p>
          <a:endParaRPr lang="en-US"/>
        </a:p>
      </dgm:t>
    </dgm:pt>
    <dgm:pt modelId="{4E2704C9-E92C-42BE-B4CA-F65E33AC3204}">
      <dgm:prSet/>
      <dgm:spPr/>
      <dgm:t>
        <a:bodyPr/>
        <a:lstStyle/>
        <a:p>
          <a:r>
            <a:rPr lang="en-GB"/>
            <a:t>Central venous pressure</a:t>
          </a:r>
          <a:endParaRPr lang="en-US"/>
        </a:p>
      </dgm:t>
    </dgm:pt>
    <dgm:pt modelId="{34E3F2A3-E56E-4A19-BE51-1D1E29FEA37B}" type="parTrans" cxnId="{F26A8C8D-04AC-44FC-B92D-62B94BCE3D3A}">
      <dgm:prSet/>
      <dgm:spPr/>
      <dgm:t>
        <a:bodyPr/>
        <a:lstStyle/>
        <a:p>
          <a:endParaRPr lang="en-US"/>
        </a:p>
      </dgm:t>
    </dgm:pt>
    <dgm:pt modelId="{72F38BDF-EC83-4748-9CBA-D474042CCB2B}" type="sibTrans" cxnId="{F26A8C8D-04AC-44FC-B92D-62B94BCE3D3A}">
      <dgm:prSet/>
      <dgm:spPr/>
      <dgm:t>
        <a:bodyPr/>
        <a:lstStyle/>
        <a:p>
          <a:endParaRPr lang="en-US"/>
        </a:p>
      </dgm:t>
    </dgm:pt>
    <dgm:pt modelId="{2B5A482E-3714-4491-BFFF-A55A9690E405}">
      <dgm:prSet/>
      <dgm:spPr/>
      <dgm:t>
        <a:bodyPr/>
        <a:lstStyle/>
        <a:p>
          <a:r>
            <a:rPr lang="en-GB"/>
            <a:t>Central blood volume</a:t>
          </a:r>
          <a:endParaRPr lang="en-US"/>
        </a:p>
      </dgm:t>
    </dgm:pt>
    <dgm:pt modelId="{B695DBB2-959F-491B-8156-2D496C2FD01A}" type="parTrans" cxnId="{1DD32EC1-2681-4C8F-AB75-99D343820C0E}">
      <dgm:prSet/>
      <dgm:spPr/>
      <dgm:t>
        <a:bodyPr/>
        <a:lstStyle/>
        <a:p>
          <a:endParaRPr lang="en-US"/>
        </a:p>
      </dgm:t>
    </dgm:pt>
    <dgm:pt modelId="{C5D4503E-C6EB-4A1D-862F-D6440B140213}" type="sibTrans" cxnId="{1DD32EC1-2681-4C8F-AB75-99D343820C0E}">
      <dgm:prSet/>
      <dgm:spPr/>
      <dgm:t>
        <a:bodyPr/>
        <a:lstStyle/>
        <a:p>
          <a:endParaRPr lang="en-US"/>
        </a:p>
      </dgm:t>
    </dgm:pt>
    <dgm:pt modelId="{8460FEFA-EA9C-4849-8455-0654945AA8C2}" type="pres">
      <dgm:prSet presAssocID="{B9689509-0637-46A0-892C-6A0E8941A87C}" presName="linear" presStyleCnt="0">
        <dgm:presLayoutVars>
          <dgm:animLvl val="lvl"/>
          <dgm:resizeHandles val="exact"/>
        </dgm:presLayoutVars>
      </dgm:prSet>
      <dgm:spPr/>
    </dgm:pt>
    <dgm:pt modelId="{651DD622-C4CB-4C15-A869-9014BE1C327E}" type="pres">
      <dgm:prSet presAssocID="{080E9915-250D-4604-B28A-9DF31DD90EC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51BA912-0EFA-4A1B-A255-EEEDFE6D61A7}" type="pres">
      <dgm:prSet presAssocID="{3F2DD22D-1A89-455B-90E0-10916002739C}" presName="spacer" presStyleCnt="0"/>
      <dgm:spPr/>
    </dgm:pt>
    <dgm:pt modelId="{CD029311-84B9-4052-870B-C3AA84B2BF43}" type="pres">
      <dgm:prSet presAssocID="{C579AD6A-A5C0-44F5-B6ED-913CF99B2BD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BFBA728-3233-4034-A202-230BE1609BFD}" type="pres">
      <dgm:prSet presAssocID="{32EBB471-2DA3-40E3-B9E3-02FE1217E35D}" presName="spacer" presStyleCnt="0"/>
      <dgm:spPr/>
    </dgm:pt>
    <dgm:pt modelId="{F8255967-7ED5-4B31-81CF-731ED028750B}" type="pres">
      <dgm:prSet presAssocID="{46C778C6-910D-4B7C-897F-9A7E23438B8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B7A08A7-DD00-4544-90BA-8E78260B8FA0}" type="pres">
      <dgm:prSet presAssocID="{E84E4970-D388-4C9D-937B-312239911165}" presName="spacer" presStyleCnt="0"/>
      <dgm:spPr/>
    </dgm:pt>
    <dgm:pt modelId="{DE30D399-2606-4D80-9470-029572DC6DA3}" type="pres">
      <dgm:prSet presAssocID="{12A3A1FD-ADA9-4A83-AE65-2CC753EB2D3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A3A540E-3D0E-4CC8-A61C-C7D7059C5981}" type="pres">
      <dgm:prSet presAssocID="{B8A2563F-8D68-4E4E-9E81-55EC4A9477AD}" presName="spacer" presStyleCnt="0"/>
      <dgm:spPr/>
    </dgm:pt>
    <dgm:pt modelId="{6E65D4FD-FAAC-4CE8-B0C0-D7FDF1B2E843}" type="pres">
      <dgm:prSet presAssocID="{67B8BA3B-A0F0-4EA0-AC2E-167EB584AE5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88CD0BB-E136-4575-B924-0D15FE9F13CA}" type="pres">
      <dgm:prSet presAssocID="{E84311FC-F85E-4FBF-94DE-AFA9A016F5C8}" presName="spacer" presStyleCnt="0"/>
      <dgm:spPr/>
    </dgm:pt>
    <dgm:pt modelId="{211D670A-6D41-4542-B164-D3C400F421A3}" type="pres">
      <dgm:prSet presAssocID="{4E2704C9-E92C-42BE-B4CA-F65E33AC320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5B7177C-0754-4531-9C28-38FCEC7AE925}" type="pres">
      <dgm:prSet presAssocID="{72F38BDF-EC83-4748-9CBA-D474042CCB2B}" presName="spacer" presStyleCnt="0"/>
      <dgm:spPr/>
    </dgm:pt>
    <dgm:pt modelId="{09A78965-DF86-43E9-BA6E-766F489D7C53}" type="pres">
      <dgm:prSet presAssocID="{2B5A482E-3714-4491-BFFF-A55A9690E40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480B707-C153-44EC-AE9C-CE1D0E2065DC}" type="presOf" srcId="{12A3A1FD-ADA9-4A83-AE65-2CC753EB2D3A}" destId="{DE30D399-2606-4D80-9470-029572DC6DA3}" srcOrd="0" destOrd="0" presId="urn:microsoft.com/office/officeart/2005/8/layout/vList2"/>
    <dgm:cxn modelId="{F6C7EA13-7F3E-46AE-823F-420B0CD36039}" type="presOf" srcId="{46C778C6-910D-4B7C-897F-9A7E23438B8F}" destId="{F8255967-7ED5-4B31-81CF-731ED028750B}" srcOrd="0" destOrd="0" presId="urn:microsoft.com/office/officeart/2005/8/layout/vList2"/>
    <dgm:cxn modelId="{9F02FC44-B7AE-4BE4-8DAD-685E97CD07FD}" type="presOf" srcId="{080E9915-250D-4604-B28A-9DF31DD90EC8}" destId="{651DD622-C4CB-4C15-A869-9014BE1C327E}" srcOrd="0" destOrd="0" presId="urn:microsoft.com/office/officeart/2005/8/layout/vList2"/>
    <dgm:cxn modelId="{44B7EB66-365B-4FDB-A451-F63D57A85A25}" type="presOf" srcId="{2B5A482E-3714-4491-BFFF-A55A9690E405}" destId="{09A78965-DF86-43E9-BA6E-766F489D7C53}" srcOrd="0" destOrd="0" presId="urn:microsoft.com/office/officeart/2005/8/layout/vList2"/>
    <dgm:cxn modelId="{F3A2D447-A09A-4238-9AA8-B980ECD25929}" type="presOf" srcId="{67B8BA3B-A0F0-4EA0-AC2E-167EB584AE51}" destId="{6E65D4FD-FAAC-4CE8-B0C0-D7FDF1B2E843}" srcOrd="0" destOrd="0" presId="urn:microsoft.com/office/officeart/2005/8/layout/vList2"/>
    <dgm:cxn modelId="{2820F469-B0CE-464D-8F14-6543CDC0C9F5}" srcId="{B9689509-0637-46A0-892C-6A0E8941A87C}" destId="{46C778C6-910D-4B7C-897F-9A7E23438B8F}" srcOrd="2" destOrd="0" parTransId="{6580B15B-E933-447C-AD08-EBF82456D4BF}" sibTransId="{E84E4970-D388-4C9D-937B-312239911165}"/>
    <dgm:cxn modelId="{60054389-89D2-46A1-85CE-A9E35E44148C}" type="presOf" srcId="{4E2704C9-E92C-42BE-B4CA-F65E33AC3204}" destId="{211D670A-6D41-4542-B164-D3C400F421A3}" srcOrd="0" destOrd="0" presId="urn:microsoft.com/office/officeart/2005/8/layout/vList2"/>
    <dgm:cxn modelId="{F26A8C8D-04AC-44FC-B92D-62B94BCE3D3A}" srcId="{B9689509-0637-46A0-892C-6A0E8941A87C}" destId="{4E2704C9-E92C-42BE-B4CA-F65E33AC3204}" srcOrd="5" destOrd="0" parTransId="{34E3F2A3-E56E-4A19-BE51-1D1E29FEA37B}" sibTransId="{72F38BDF-EC83-4748-9CBA-D474042CCB2B}"/>
    <dgm:cxn modelId="{C04862AE-B4E6-4033-8D80-0567172D7554}" srcId="{B9689509-0637-46A0-892C-6A0E8941A87C}" destId="{67B8BA3B-A0F0-4EA0-AC2E-167EB584AE51}" srcOrd="4" destOrd="0" parTransId="{5155E6C3-091A-4A36-901D-4AD9BBA2143C}" sibTransId="{E84311FC-F85E-4FBF-94DE-AFA9A016F5C8}"/>
    <dgm:cxn modelId="{9687BBB5-7A0D-44E5-B626-F35B4DEA14EA}" srcId="{B9689509-0637-46A0-892C-6A0E8941A87C}" destId="{C579AD6A-A5C0-44F5-B6ED-913CF99B2BD2}" srcOrd="1" destOrd="0" parTransId="{871905B7-D092-4431-820E-824A5901BAF3}" sibTransId="{32EBB471-2DA3-40E3-B9E3-02FE1217E35D}"/>
    <dgm:cxn modelId="{1DD32EC1-2681-4C8F-AB75-99D343820C0E}" srcId="{B9689509-0637-46A0-892C-6A0E8941A87C}" destId="{2B5A482E-3714-4491-BFFF-A55A9690E405}" srcOrd="6" destOrd="0" parTransId="{B695DBB2-959F-491B-8156-2D496C2FD01A}" sibTransId="{C5D4503E-C6EB-4A1D-862F-D6440B140213}"/>
    <dgm:cxn modelId="{D0F116C8-682B-4B0F-BCFF-2B189F62DF5A}" srcId="{B9689509-0637-46A0-892C-6A0E8941A87C}" destId="{080E9915-250D-4604-B28A-9DF31DD90EC8}" srcOrd="0" destOrd="0" parTransId="{C34F57F4-ED94-4C7F-B980-DC37BDB241BE}" sibTransId="{3F2DD22D-1A89-455B-90E0-10916002739C}"/>
    <dgm:cxn modelId="{5DE060CB-5E32-493D-9DEB-5FDE7F82B3FF}" type="presOf" srcId="{B9689509-0637-46A0-892C-6A0E8941A87C}" destId="{8460FEFA-EA9C-4849-8455-0654945AA8C2}" srcOrd="0" destOrd="0" presId="urn:microsoft.com/office/officeart/2005/8/layout/vList2"/>
    <dgm:cxn modelId="{AC9442E6-35C7-47AC-AE03-9A7D322595B2}" srcId="{B9689509-0637-46A0-892C-6A0E8941A87C}" destId="{12A3A1FD-ADA9-4A83-AE65-2CC753EB2D3A}" srcOrd="3" destOrd="0" parTransId="{9BADBF72-F1C1-47B8-ABB5-0102DA0E4D5C}" sibTransId="{B8A2563F-8D68-4E4E-9E81-55EC4A9477AD}"/>
    <dgm:cxn modelId="{3E3A9EF9-0853-4607-A6A8-57A2B5152ACA}" type="presOf" srcId="{C579AD6A-A5C0-44F5-B6ED-913CF99B2BD2}" destId="{CD029311-84B9-4052-870B-C3AA84B2BF43}" srcOrd="0" destOrd="0" presId="urn:microsoft.com/office/officeart/2005/8/layout/vList2"/>
    <dgm:cxn modelId="{60936B4A-C451-403F-987D-EFB348D427DE}" type="presParOf" srcId="{8460FEFA-EA9C-4849-8455-0654945AA8C2}" destId="{651DD622-C4CB-4C15-A869-9014BE1C327E}" srcOrd="0" destOrd="0" presId="urn:microsoft.com/office/officeart/2005/8/layout/vList2"/>
    <dgm:cxn modelId="{4D6D5D72-4755-4F6B-AF15-E4F1F0C9E7A8}" type="presParOf" srcId="{8460FEFA-EA9C-4849-8455-0654945AA8C2}" destId="{951BA912-0EFA-4A1B-A255-EEEDFE6D61A7}" srcOrd="1" destOrd="0" presId="urn:microsoft.com/office/officeart/2005/8/layout/vList2"/>
    <dgm:cxn modelId="{840880FB-77C4-4587-B064-10388698BBF4}" type="presParOf" srcId="{8460FEFA-EA9C-4849-8455-0654945AA8C2}" destId="{CD029311-84B9-4052-870B-C3AA84B2BF43}" srcOrd="2" destOrd="0" presId="urn:microsoft.com/office/officeart/2005/8/layout/vList2"/>
    <dgm:cxn modelId="{C2E5D1C6-CB77-4374-8784-F4D7F6546C8E}" type="presParOf" srcId="{8460FEFA-EA9C-4849-8455-0654945AA8C2}" destId="{9BFBA728-3233-4034-A202-230BE1609BFD}" srcOrd="3" destOrd="0" presId="urn:microsoft.com/office/officeart/2005/8/layout/vList2"/>
    <dgm:cxn modelId="{922D6900-DBEE-4B43-BC71-7636352EEA66}" type="presParOf" srcId="{8460FEFA-EA9C-4849-8455-0654945AA8C2}" destId="{F8255967-7ED5-4B31-81CF-731ED028750B}" srcOrd="4" destOrd="0" presId="urn:microsoft.com/office/officeart/2005/8/layout/vList2"/>
    <dgm:cxn modelId="{9BB2FF67-463D-4537-9B38-A05BC0753930}" type="presParOf" srcId="{8460FEFA-EA9C-4849-8455-0654945AA8C2}" destId="{9B7A08A7-DD00-4544-90BA-8E78260B8FA0}" srcOrd="5" destOrd="0" presId="urn:microsoft.com/office/officeart/2005/8/layout/vList2"/>
    <dgm:cxn modelId="{737D47C9-EA23-4555-A5B0-D2975F4C1831}" type="presParOf" srcId="{8460FEFA-EA9C-4849-8455-0654945AA8C2}" destId="{DE30D399-2606-4D80-9470-029572DC6DA3}" srcOrd="6" destOrd="0" presId="urn:microsoft.com/office/officeart/2005/8/layout/vList2"/>
    <dgm:cxn modelId="{045A00F6-19A8-448A-AD9E-1DF6E8A91739}" type="presParOf" srcId="{8460FEFA-EA9C-4849-8455-0654945AA8C2}" destId="{DA3A540E-3D0E-4CC8-A61C-C7D7059C5981}" srcOrd="7" destOrd="0" presId="urn:microsoft.com/office/officeart/2005/8/layout/vList2"/>
    <dgm:cxn modelId="{4D8092A0-72D3-4E75-81D5-2BAAE80EA4B2}" type="presParOf" srcId="{8460FEFA-EA9C-4849-8455-0654945AA8C2}" destId="{6E65D4FD-FAAC-4CE8-B0C0-D7FDF1B2E843}" srcOrd="8" destOrd="0" presId="urn:microsoft.com/office/officeart/2005/8/layout/vList2"/>
    <dgm:cxn modelId="{8FE72D13-8645-4461-9B56-DA35AFCFEC35}" type="presParOf" srcId="{8460FEFA-EA9C-4849-8455-0654945AA8C2}" destId="{E88CD0BB-E136-4575-B924-0D15FE9F13CA}" srcOrd="9" destOrd="0" presId="urn:microsoft.com/office/officeart/2005/8/layout/vList2"/>
    <dgm:cxn modelId="{97F28591-573B-4FCC-B1B3-B832C06235B8}" type="presParOf" srcId="{8460FEFA-EA9C-4849-8455-0654945AA8C2}" destId="{211D670A-6D41-4542-B164-D3C400F421A3}" srcOrd="10" destOrd="0" presId="urn:microsoft.com/office/officeart/2005/8/layout/vList2"/>
    <dgm:cxn modelId="{765E9BD7-526C-4521-AC13-62D17C351513}" type="presParOf" srcId="{8460FEFA-EA9C-4849-8455-0654945AA8C2}" destId="{55B7177C-0754-4531-9C28-38FCEC7AE925}" srcOrd="11" destOrd="0" presId="urn:microsoft.com/office/officeart/2005/8/layout/vList2"/>
    <dgm:cxn modelId="{5A3361E2-C5A3-419E-BD4C-E511D36E3055}" type="presParOf" srcId="{8460FEFA-EA9C-4849-8455-0654945AA8C2}" destId="{09A78965-DF86-43E9-BA6E-766F489D7C5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F355C6-5700-4D1E-9B21-20B90A49B6AA}" type="doc">
      <dgm:prSet loTypeId="urn:microsoft.com/office/officeart/2005/8/layout/process2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9849EB1F-E221-4DDE-A0E8-125795B724A3}">
      <dgm:prSet/>
      <dgm:spPr/>
      <dgm:t>
        <a:bodyPr/>
        <a:lstStyle/>
        <a:p>
          <a:r>
            <a:rPr lang="en-GB" dirty="0"/>
            <a:t>Normal perfusion</a:t>
          </a:r>
          <a:endParaRPr lang="en-US" dirty="0"/>
        </a:p>
      </dgm:t>
    </dgm:pt>
    <dgm:pt modelId="{C99D37DE-8A03-4333-B9B2-0463ABCDAF9C}" type="parTrans" cxnId="{E8C5B68D-868E-4D6D-855D-082F0A61A33A}">
      <dgm:prSet/>
      <dgm:spPr/>
      <dgm:t>
        <a:bodyPr/>
        <a:lstStyle/>
        <a:p>
          <a:endParaRPr lang="en-US"/>
        </a:p>
      </dgm:t>
    </dgm:pt>
    <dgm:pt modelId="{60C51C05-EF06-48F4-8005-D39E52DD460F}" type="sibTrans" cxnId="{E8C5B68D-868E-4D6D-855D-082F0A61A33A}">
      <dgm:prSet/>
      <dgm:spPr/>
      <dgm:t>
        <a:bodyPr/>
        <a:lstStyle/>
        <a:p>
          <a:endParaRPr lang="en-US"/>
        </a:p>
      </dgm:t>
    </dgm:pt>
    <dgm:pt modelId="{0CB4A8CB-179B-4D7E-8DC0-61FBC94842F1}">
      <dgm:prSet/>
      <dgm:spPr/>
      <dgm:t>
        <a:bodyPr/>
        <a:lstStyle/>
        <a:p>
          <a:r>
            <a:rPr lang="en-GB"/>
            <a:t>Abnormal ventilation</a:t>
          </a:r>
          <a:endParaRPr lang="en-US"/>
        </a:p>
      </dgm:t>
    </dgm:pt>
    <dgm:pt modelId="{3E596BF8-45A8-45FE-8336-464876741FC2}" type="parTrans" cxnId="{CFF2D0A5-DAB3-4E16-94DC-28F0FFDA7B00}">
      <dgm:prSet/>
      <dgm:spPr/>
      <dgm:t>
        <a:bodyPr/>
        <a:lstStyle/>
        <a:p>
          <a:endParaRPr lang="en-US"/>
        </a:p>
      </dgm:t>
    </dgm:pt>
    <dgm:pt modelId="{A347F9B2-24BF-4E42-9CE0-CA8051A8B625}" type="sibTrans" cxnId="{CFF2D0A5-DAB3-4E16-94DC-28F0FFDA7B00}">
      <dgm:prSet/>
      <dgm:spPr/>
      <dgm:t>
        <a:bodyPr/>
        <a:lstStyle/>
        <a:p>
          <a:endParaRPr lang="en-US"/>
        </a:p>
      </dgm:t>
    </dgm:pt>
    <dgm:pt modelId="{943BCA8C-4D85-4D3A-A06C-4710E13F82FA}">
      <dgm:prSet/>
      <dgm:spPr/>
      <dgm:t>
        <a:bodyPr/>
        <a:lstStyle/>
        <a:p>
          <a:r>
            <a:rPr lang="en-GB" dirty="0"/>
            <a:t>Occurs in the presence of airway obstruction e.g. increased sputum production in pneumonia </a:t>
          </a:r>
          <a:endParaRPr lang="en-US" dirty="0"/>
        </a:p>
      </dgm:t>
    </dgm:pt>
    <dgm:pt modelId="{BEE77615-A2F6-48A5-ACAC-699460FC1DD8}" type="parTrans" cxnId="{FE39384A-9860-484A-AE5B-9C1F09567293}">
      <dgm:prSet/>
      <dgm:spPr/>
      <dgm:t>
        <a:bodyPr/>
        <a:lstStyle/>
        <a:p>
          <a:endParaRPr lang="en-US"/>
        </a:p>
      </dgm:t>
    </dgm:pt>
    <dgm:pt modelId="{AEC375A6-8B9F-42E2-871F-7BB090A54513}" type="sibTrans" cxnId="{FE39384A-9860-484A-AE5B-9C1F09567293}">
      <dgm:prSet/>
      <dgm:spPr/>
      <dgm:t>
        <a:bodyPr/>
        <a:lstStyle/>
        <a:p>
          <a:endParaRPr lang="en-US"/>
        </a:p>
      </dgm:t>
    </dgm:pt>
    <dgm:pt modelId="{0AF38FD4-281A-420A-8A6E-2E6DCDDD8853}" type="pres">
      <dgm:prSet presAssocID="{3DF355C6-5700-4D1E-9B21-20B90A49B6AA}" presName="linearFlow" presStyleCnt="0">
        <dgm:presLayoutVars>
          <dgm:resizeHandles val="exact"/>
        </dgm:presLayoutVars>
      </dgm:prSet>
      <dgm:spPr/>
    </dgm:pt>
    <dgm:pt modelId="{946AF3D0-E427-45F4-BC94-A6E8E3DE947F}" type="pres">
      <dgm:prSet presAssocID="{9849EB1F-E221-4DDE-A0E8-125795B724A3}" presName="node" presStyleLbl="node1" presStyleIdx="0" presStyleCnt="3" custLinFactY="-27856" custLinFactNeighborX="579" custLinFactNeighborY="-100000">
        <dgm:presLayoutVars>
          <dgm:bulletEnabled val="1"/>
        </dgm:presLayoutVars>
      </dgm:prSet>
      <dgm:spPr/>
    </dgm:pt>
    <dgm:pt modelId="{F53094E6-F9BB-4BD9-9AED-B4485DC30126}" type="pres">
      <dgm:prSet presAssocID="{60C51C05-EF06-48F4-8005-D39E52DD460F}" presName="sibTrans" presStyleLbl="sibTrans2D1" presStyleIdx="0" presStyleCnt="2"/>
      <dgm:spPr/>
    </dgm:pt>
    <dgm:pt modelId="{5179189D-9F04-4071-BDC9-575486C4EDE6}" type="pres">
      <dgm:prSet presAssocID="{60C51C05-EF06-48F4-8005-D39E52DD460F}" presName="connectorText" presStyleLbl="sibTrans2D1" presStyleIdx="0" presStyleCnt="2"/>
      <dgm:spPr/>
    </dgm:pt>
    <dgm:pt modelId="{04EA4962-799C-4874-89C1-77AB41E3513C}" type="pres">
      <dgm:prSet presAssocID="{0CB4A8CB-179B-4D7E-8DC0-61FBC94842F1}" presName="node" presStyleLbl="node1" presStyleIdx="1" presStyleCnt="3">
        <dgm:presLayoutVars>
          <dgm:bulletEnabled val="1"/>
        </dgm:presLayoutVars>
      </dgm:prSet>
      <dgm:spPr/>
    </dgm:pt>
    <dgm:pt modelId="{F38E66E7-320E-494A-B57D-F12F760DEBC8}" type="pres">
      <dgm:prSet presAssocID="{A347F9B2-24BF-4E42-9CE0-CA8051A8B625}" presName="sibTrans" presStyleLbl="sibTrans2D1" presStyleIdx="1" presStyleCnt="2"/>
      <dgm:spPr/>
    </dgm:pt>
    <dgm:pt modelId="{32A94C22-B8C8-4568-88D9-290B737256F8}" type="pres">
      <dgm:prSet presAssocID="{A347F9B2-24BF-4E42-9CE0-CA8051A8B625}" presName="connectorText" presStyleLbl="sibTrans2D1" presStyleIdx="1" presStyleCnt="2"/>
      <dgm:spPr/>
    </dgm:pt>
    <dgm:pt modelId="{FECFA21C-5D6B-4693-B880-C013B7E6E574}" type="pres">
      <dgm:prSet presAssocID="{943BCA8C-4D85-4D3A-A06C-4710E13F82FA}" presName="node" presStyleLbl="node1" presStyleIdx="2" presStyleCnt="3">
        <dgm:presLayoutVars>
          <dgm:bulletEnabled val="1"/>
        </dgm:presLayoutVars>
      </dgm:prSet>
      <dgm:spPr/>
    </dgm:pt>
  </dgm:ptLst>
  <dgm:cxnLst>
    <dgm:cxn modelId="{F0510311-094B-4E04-A7C8-BEDCB541DCE8}" type="presOf" srcId="{A347F9B2-24BF-4E42-9CE0-CA8051A8B625}" destId="{F38E66E7-320E-494A-B57D-F12F760DEBC8}" srcOrd="0" destOrd="0" presId="urn:microsoft.com/office/officeart/2005/8/layout/process2"/>
    <dgm:cxn modelId="{CE12741D-7EB6-4434-A856-040220820B65}" type="presOf" srcId="{3DF355C6-5700-4D1E-9B21-20B90A49B6AA}" destId="{0AF38FD4-281A-420A-8A6E-2E6DCDDD8853}" srcOrd="0" destOrd="0" presId="urn:microsoft.com/office/officeart/2005/8/layout/process2"/>
    <dgm:cxn modelId="{D85B732B-8074-4722-8E95-BA5B45AF88DB}" type="presOf" srcId="{943BCA8C-4D85-4D3A-A06C-4710E13F82FA}" destId="{FECFA21C-5D6B-4693-B880-C013B7E6E574}" srcOrd="0" destOrd="0" presId="urn:microsoft.com/office/officeart/2005/8/layout/process2"/>
    <dgm:cxn modelId="{A5B6F840-2D27-4D1B-839C-4A878B9104FB}" type="presOf" srcId="{9849EB1F-E221-4DDE-A0E8-125795B724A3}" destId="{946AF3D0-E427-45F4-BC94-A6E8E3DE947F}" srcOrd="0" destOrd="0" presId="urn:microsoft.com/office/officeart/2005/8/layout/process2"/>
    <dgm:cxn modelId="{B3F36361-5AF8-4F37-AA4C-4FF906C4073E}" type="presOf" srcId="{60C51C05-EF06-48F4-8005-D39E52DD460F}" destId="{5179189D-9F04-4071-BDC9-575486C4EDE6}" srcOrd="1" destOrd="0" presId="urn:microsoft.com/office/officeart/2005/8/layout/process2"/>
    <dgm:cxn modelId="{21620D62-9F79-4F49-9A3E-B061D503D7CA}" type="presOf" srcId="{0CB4A8CB-179B-4D7E-8DC0-61FBC94842F1}" destId="{04EA4962-799C-4874-89C1-77AB41E3513C}" srcOrd="0" destOrd="0" presId="urn:microsoft.com/office/officeart/2005/8/layout/process2"/>
    <dgm:cxn modelId="{FE39384A-9860-484A-AE5B-9C1F09567293}" srcId="{3DF355C6-5700-4D1E-9B21-20B90A49B6AA}" destId="{943BCA8C-4D85-4D3A-A06C-4710E13F82FA}" srcOrd="2" destOrd="0" parTransId="{BEE77615-A2F6-48A5-ACAC-699460FC1DD8}" sibTransId="{AEC375A6-8B9F-42E2-871F-7BB090A54513}"/>
    <dgm:cxn modelId="{E8C5B68D-868E-4D6D-855D-082F0A61A33A}" srcId="{3DF355C6-5700-4D1E-9B21-20B90A49B6AA}" destId="{9849EB1F-E221-4DDE-A0E8-125795B724A3}" srcOrd="0" destOrd="0" parTransId="{C99D37DE-8A03-4333-B9B2-0463ABCDAF9C}" sibTransId="{60C51C05-EF06-48F4-8005-D39E52DD460F}"/>
    <dgm:cxn modelId="{CFF2D0A5-DAB3-4E16-94DC-28F0FFDA7B00}" srcId="{3DF355C6-5700-4D1E-9B21-20B90A49B6AA}" destId="{0CB4A8CB-179B-4D7E-8DC0-61FBC94842F1}" srcOrd="1" destOrd="0" parTransId="{3E596BF8-45A8-45FE-8336-464876741FC2}" sibTransId="{A347F9B2-24BF-4E42-9CE0-CA8051A8B625}"/>
    <dgm:cxn modelId="{C73481C3-0E04-468C-AE52-F89FCB8E10AF}" type="presOf" srcId="{60C51C05-EF06-48F4-8005-D39E52DD460F}" destId="{F53094E6-F9BB-4BD9-9AED-B4485DC30126}" srcOrd="0" destOrd="0" presId="urn:microsoft.com/office/officeart/2005/8/layout/process2"/>
    <dgm:cxn modelId="{96B7CFCC-04C9-437B-BED3-48E5955B3B57}" type="presOf" srcId="{A347F9B2-24BF-4E42-9CE0-CA8051A8B625}" destId="{32A94C22-B8C8-4568-88D9-290B737256F8}" srcOrd="1" destOrd="0" presId="urn:microsoft.com/office/officeart/2005/8/layout/process2"/>
    <dgm:cxn modelId="{04548485-1D0D-43C3-B368-12EBD65C843A}" type="presParOf" srcId="{0AF38FD4-281A-420A-8A6E-2E6DCDDD8853}" destId="{946AF3D0-E427-45F4-BC94-A6E8E3DE947F}" srcOrd="0" destOrd="0" presId="urn:microsoft.com/office/officeart/2005/8/layout/process2"/>
    <dgm:cxn modelId="{C30577EA-4174-407E-9893-240BB7232181}" type="presParOf" srcId="{0AF38FD4-281A-420A-8A6E-2E6DCDDD8853}" destId="{F53094E6-F9BB-4BD9-9AED-B4485DC30126}" srcOrd="1" destOrd="0" presId="urn:microsoft.com/office/officeart/2005/8/layout/process2"/>
    <dgm:cxn modelId="{BD84410B-1097-42D9-9E73-F2B1B0AAC034}" type="presParOf" srcId="{F53094E6-F9BB-4BD9-9AED-B4485DC30126}" destId="{5179189D-9F04-4071-BDC9-575486C4EDE6}" srcOrd="0" destOrd="0" presId="urn:microsoft.com/office/officeart/2005/8/layout/process2"/>
    <dgm:cxn modelId="{67261CCC-C32B-438D-89A2-D0F7A3E272AE}" type="presParOf" srcId="{0AF38FD4-281A-420A-8A6E-2E6DCDDD8853}" destId="{04EA4962-799C-4874-89C1-77AB41E3513C}" srcOrd="2" destOrd="0" presId="urn:microsoft.com/office/officeart/2005/8/layout/process2"/>
    <dgm:cxn modelId="{331918CE-28C1-4ED9-8C57-1ADC40B25DC8}" type="presParOf" srcId="{0AF38FD4-281A-420A-8A6E-2E6DCDDD8853}" destId="{F38E66E7-320E-494A-B57D-F12F760DEBC8}" srcOrd="3" destOrd="0" presId="urn:microsoft.com/office/officeart/2005/8/layout/process2"/>
    <dgm:cxn modelId="{F0618CEB-FA25-48D7-97D3-523358F7F9A5}" type="presParOf" srcId="{F38E66E7-320E-494A-B57D-F12F760DEBC8}" destId="{32A94C22-B8C8-4568-88D9-290B737256F8}" srcOrd="0" destOrd="0" presId="urn:microsoft.com/office/officeart/2005/8/layout/process2"/>
    <dgm:cxn modelId="{2498DC6C-5B69-4BE8-A1A1-941A1636E634}" type="presParOf" srcId="{0AF38FD4-281A-420A-8A6E-2E6DCDDD8853}" destId="{FECFA21C-5D6B-4693-B880-C013B7E6E57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F355C6-5700-4D1E-9B21-20B90A49B6AA}" type="doc">
      <dgm:prSet loTypeId="urn:microsoft.com/office/officeart/2005/8/layout/process2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9849EB1F-E221-4DDE-A0E8-125795B724A3}">
      <dgm:prSet/>
      <dgm:spPr/>
      <dgm:t>
        <a:bodyPr/>
        <a:lstStyle/>
        <a:p>
          <a:r>
            <a:rPr lang="en-GB" dirty="0"/>
            <a:t>Normal ventilation</a:t>
          </a:r>
          <a:endParaRPr lang="en-US" dirty="0"/>
        </a:p>
      </dgm:t>
    </dgm:pt>
    <dgm:pt modelId="{C99D37DE-8A03-4333-B9B2-0463ABCDAF9C}" type="parTrans" cxnId="{E8C5B68D-868E-4D6D-855D-082F0A61A33A}">
      <dgm:prSet/>
      <dgm:spPr/>
      <dgm:t>
        <a:bodyPr/>
        <a:lstStyle/>
        <a:p>
          <a:endParaRPr lang="en-US"/>
        </a:p>
      </dgm:t>
    </dgm:pt>
    <dgm:pt modelId="{60C51C05-EF06-48F4-8005-D39E52DD460F}" type="sibTrans" cxnId="{E8C5B68D-868E-4D6D-855D-082F0A61A33A}">
      <dgm:prSet/>
      <dgm:spPr/>
      <dgm:t>
        <a:bodyPr/>
        <a:lstStyle/>
        <a:p>
          <a:endParaRPr lang="en-US"/>
        </a:p>
      </dgm:t>
    </dgm:pt>
    <dgm:pt modelId="{0CB4A8CB-179B-4D7E-8DC0-61FBC94842F1}">
      <dgm:prSet/>
      <dgm:spPr/>
      <dgm:t>
        <a:bodyPr/>
        <a:lstStyle/>
        <a:p>
          <a:r>
            <a:rPr lang="en-GB" dirty="0"/>
            <a:t>Abnormal perfusion</a:t>
          </a:r>
          <a:endParaRPr lang="en-US" dirty="0"/>
        </a:p>
      </dgm:t>
    </dgm:pt>
    <dgm:pt modelId="{3E596BF8-45A8-45FE-8336-464876741FC2}" type="parTrans" cxnId="{CFF2D0A5-DAB3-4E16-94DC-28F0FFDA7B00}">
      <dgm:prSet/>
      <dgm:spPr/>
      <dgm:t>
        <a:bodyPr/>
        <a:lstStyle/>
        <a:p>
          <a:endParaRPr lang="en-US"/>
        </a:p>
      </dgm:t>
    </dgm:pt>
    <dgm:pt modelId="{A347F9B2-24BF-4E42-9CE0-CA8051A8B625}" type="sibTrans" cxnId="{CFF2D0A5-DAB3-4E16-94DC-28F0FFDA7B00}">
      <dgm:prSet/>
      <dgm:spPr/>
      <dgm:t>
        <a:bodyPr/>
        <a:lstStyle/>
        <a:p>
          <a:endParaRPr lang="en-US"/>
        </a:p>
      </dgm:t>
    </dgm:pt>
    <dgm:pt modelId="{943BCA8C-4D85-4D3A-A06C-4710E13F82FA}">
      <dgm:prSet/>
      <dgm:spPr/>
      <dgm:t>
        <a:bodyPr/>
        <a:lstStyle/>
        <a:p>
          <a:r>
            <a:rPr lang="en-GB" dirty="0"/>
            <a:t>e.g. pulmonary embolism </a:t>
          </a:r>
          <a:endParaRPr lang="en-US" dirty="0"/>
        </a:p>
      </dgm:t>
    </dgm:pt>
    <dgm:pt modelId="{BEE77615-A2F6-48A5-ACAC-699460FC1DD8}" type="parTrans" cxnId="{FE39384A-9860-484A-AE5B-9C1F09567293}">
      <dgm:prSet/>
      <dgm:spPr/>
      <dgm:t>
        <a:bodyPr/>
        <a:lstStyle/>
        <a:p>
          <a:endParaRPr lang="en-US"/>
        </a:p>
      </dgm:t>
    </dgm:pt>
    <dgm:pt modelId="{AEC375A6-8B9F-42E2-871F-7BB090A54513}" type="sibTrans" cxnId="{FE39384A-9860-484A-AE5B-9C1F09567293}">
      <dgm:prSet/>
      <dgm:spPr/>
      <dgm:t>
        <a:bodyPr/>
        <a:lstStyle/>
        <a:p>
          <a:endParaRPr lang="en-US"/>
        </a:p>
      </dgm:t>
    </dgm:pt>
    <dgm:pt modelId="{0AF38FD4-281A-420A-8A6E-2E6DCDDD8853}" type="pres">
      <dgm:prSet presAssocID="{3DF355C6-5700-4D1E-9B21-20B90A49B6AA}" presName="linearFlow" presStyleCnt="0">
        <dgm:presLayoutVars>
          <dgm:resizeHandles val="exact"/>
        </dgm:presLayoutVars>
      </dgm:prSet>
      <dgm:spPr/>
    </dgm:pt>
    <dgm:pt modelId="{946AF3D0-E427-45F4-BC94-A6E8E3DE947F}" type="pres">
      <dgm:prSet presAssocID="{9849EB1F-E221-4DDE-A0E8-125795B724A3}" presName="node" presStyleLbl="node1" presStyleIdx="0" presStyleCnt="3">
        <dgm:presLayoutVars>
          <dgm:bulletEnabled val="1"/>
        </dgm:presLayoutVars>
      </dgm:prSet>
      <dgm:spPr/>
    </dgm:pt>
    <dgm:pt modelId="{F53094E6-F9BB-4BD9-9AED-B4485DC30126}" type="pres">
      <dgm:prSet presAssocID="{60C51C05-EF06-48F4-8005-D39E52DD460F}" presName="sibTrans" presStyleLbl="sibTrans2D1" presStyleIdx="0" presStyleCnt="2"/>
      <dgm:spPr/>
    </dgm:pt>
    <dgm:pt modelId="{5179189D-9F04-4071-BDC9-575486C4EDE6}" type="pres">
      <dgm:prSet presAssocID="{60C51C05-EF06-48F4-8005-D39E52DD460F}" presName="connectorText" presStyleLbl="sibTrans2D1" presStyleIdx="0" presStyleCnt="2"/>
      <dgm:spPr/>
    </dgm:pt>
    <dgm:pt modelId="{04EA4962-799C-4874-89C1-77AB41E3513C}" type="pres">
      <dgm:prSet presAssocID="{0CB4A8CB-179B-4D7E-8DC0-61FBC94842F1}" presName="node" presStyleLbl="node1" presStyleIdx="1" presStyleCnt="3">
        <dgm:presLayoutVars>
          <dgm:bulletEnabled val="1"/>
        </dgm:presLayoutVars>
      </dgm:prSet>
      <dgm:spPr/>
    </dgm:pt>
    <dgm:pt modelId="{F38E66E7-320E-494A-B57D-F12F760DEBC8}" type="pres">
      <dgm:prSet presAssocID="{A347F9B2-24BF-4E42-9CE0-CA8051A8B625}" presName="sibTrans" presStyleLbl="sibTrans2D1" presStyleIdx="1" presStyleCnt="2"/>
      <dgm:spPr/>
    </dgm:pt>
    <dgm:pt modelId="{32A94C22-B8C8-4568-88D9-290B737256F8}" type="pres">
      <dgm:prSet presAssocID="{A347F9B2-24BF-4E42-9CE0-CA8051A8B625}" presName="connectorText" presStyleLbl="sibTrans2D1" presStyleIdx="1" presStyleCnt="2"/>
      <dgm:spPr/>
    </dgm:pt>
    <dgm:pt modelId="{FECFA21C-5D6B-4693-B880-C013B7E6E574}" type="pres">
      <dgm:prSet presAssocID="{943BCA8C-4D85-4D3A-A06C-4710E13F82FA}" presName="node" presStyleLbl="node1" presStyleIdx="2" presStyleCnt="3">
        <dgm:presLayoutVars>
          <dgm:bulletEnabled val="1"/>
        </dgm:presLayoutVars>
      </dgm:prSet>
      <dgm:spPr/>
    </dgm:pt>
  </dgm:ptLst>
  <dgm:cxnLst>
    <dgm:cxn modelId="{F0510311-094B-4E04-A7C8-BEDCB541DCE8}" type="presOf" srcId="{A347F9B2-24BF-4E42-9CE0-CA8051A8B625}" destId="{F38E66E7-320E-494A-B57D-F12F760DEBC8}" srcOrd="0" destOrd="0" presId="urn:microsoft.com/office/officeart/2005/8/layout/process2"/>
    <dgm:cxn modelId="{CE12741D-7EB6-4434-A856-040220820B65}" type="presOf" srcId="{3DF355C6-5700-4D1E-9B21-20B90A49B6AA}" destId="{0AF38FD4-281A-420A-8A6E-2E6DCDDD8853}" srcOrd="0" destOrd="0" presId="urn:microsoft.com/office/officeart/2005/8/layout/process2"/>
    <dgm:cxn modelId="{D85B732B-8074-4722-8E95-BA5B45AF88DB}" type="presOf" srcId="{943BCA8C-4D85-4D3A-A06C-4710E13F82FA}" destId="{FECFA21C-5D6B-4693-B880-C013B7E6E574}" srcOrd="0" destOrd="0" presId="urn:microsoft.com/office/officeart/2005/8/layout/process2"/>
    <dgm:cxn modelId="{A5B6F840-2D27-4D1B-839C-4A878B9104FB}" type="presOf" srcId="{9849EB1F-E221-4DDE-A0E8-125795B724A3}" destId="{946AF3D0-E427-45F4-BC94-A6E8E3DE947F}" srcOrd="0" destOrd="0" presId="urn:microsoft.com/office/officeart/2005/8/layout/process2"/>
    <dgm:cxn modelId="{B3F36361-5AF8-4F37-AA4C-4FF906C4073E}" type="presOf" srcId="{60C51C05-EF06-48F4-8005-D39E52DD460F}" destId="{5179189D-9F04-4071-BDC9-575486C4EDE6}" srcOrd="1" destOrd="0" presId="urn:microsoft.com/office/officeart/2005/8/layout/process2"/>
    <dgm:cxn modelId="{21620D62-9F79-4F49-9A3E-B061D503D7CA}" type="presOf" srcId="{0CB4A8CB-179B-4D7E-8DC0-61FBC94842F1}" destId="{04EA4962-799C-4874-89C1-77AB41E3513C}" srcOrd="0" destOrd="0" presId="urn:microsoft.com/office/officeart/2005/8/layout/process2"/>
    <dgm:cxn modelId="{FE39384A-9860-484A-AE5B-9C1F09567293}" srcId="{3DF355C6-5700-4D1E-9B21-20B90A49B6AA}" destId="{943BCA8C-4D85-4D3A-A06C-4710E13F82FA}" srcOrd="2" destOrd="0" parTransId="{BEE77615-A2F6-48A5-ACAC-699460FC1DD8}" sibTransId="{AEC375A6-8B9F-42E2-871F-7BB090A54513}"/>
    <dgm:cxn modelId="{E8C5B68D-868E-4D6D-855D-082F0A61A33A}" srcId="{3DF355C6-5700-4D1E-9B21-20B90A49B6AA}" destId="{9849EB1F-E221-4DDE-A0E8-125795B724A3}" srcOrd="0" destOrd="0" parTransId="{C99D37DE-8A03-4333-B9B2-0463ABCDAF9C}" sibTransId="{60C51C05-EF06-48F4-8005-D39E52DD460F}"/>
    <dgm:cxn modelId="{CFF2D0A5-DAB3-4E16-94DC-28F0FFDA7B00}" srcId="{3DF355C6-5700-4D1E-9B21-20B90A49B6AA}" destId="{0CB4A8CB-179B-4D7E-8DC0-61FBC94842F1}" srcOrd="1" destOrd="0" parTransId="{3E596BF8-45A8-45FE-8336-464876741FC2}" sibTransId="{A347F9B2-24BF-4E42-9CE0-CA8051A8B625}"/>
    <dgm:cxn modelId="{C73481C3-0E04-468C-AE52-F89FCB8E10AF}" type="presOf" srcId="{60C51C05-EF06-48F4-8005-D39E52DD460F}" destId="{F53094E6-F9BB-4BD9-9AED-B4485DC30126}" srcOrd="0" destOrd="0" presId="urn:microsoft.com/office/officeart/2005/8/layout/process2"/>
    <dgm:cxn modelId="{96B7CFCC-04C9-437B-BED3-48E5955B3B57}" type="presOf" srcId="{A347F9B2-24BF-4E42-9CE0-CA8051A8B625}" destId="{32A94C22-B8C8-4568-88D9-290B737256F8}" srcOrd="1" destOrd="0" presId="urn:microsoft.com/office/officeart/2005/8/layout/process2"/>
    <dgm:cxn modelId="{04548485-1D0D-43C3-B368-12EBD65C843A}" type="presParOf" srcId="{0AF38FD4-281A-420A-8A6E-2E6DCDDD8853}" destId="{946AF3D0-E427-45F4-BC94-A6E8E3DE947F}" srcOrd="0" destOrd="0" presId="urn:microsoft.com/office/officeart/2005/8/layout/process2"/>
    <dgm:cxn modelId="{C30577EA-4174-407E-9893-240BB7232181}" type="presParOf" srcId="{0AF38FD4-281A-420A-8A6E-2E6DCDDD8853}" destId="{F53094E6-F9BB-4BD9-9AED-B4485DC30126}" srcOrd="1" destOrd="0" presId="urn:microsoft.com/office/officeart/2005/8/layout/process2"/>
    <dgm:cxn modelId="{BD84410B-1097-42D9-9E73-F2B1B0AAC034}" type="presParOf" srcId="{F53094E6-F9BB-4BD9-9AED-B4485DC30126}" destId="{5179189D-9F04-4071-BDC9-575486C4EDE6}" srcOrd="0" destOrd="0" presId="urn:microsoft.com/office/officeart/2005/8/layout/process2"/>
    <dgm:cxn modelId="{67261CCC-C32B-438D-89A2-D0F7A3E272AE}" type="presParOf" srcId="{0AF38FD4-281A-420A-8A6E-2E6DCDDD8853}" destId="{04EA4962-799C-4874-89C1-77AB41E3513C}" srcOrd="2" destOrd="0" presId="urn:microsoft.com/office/officeart/2005/8/layout/process2"/>
    <dgm:cxn modelId="{331918CE-28C1-4ED9-8C57-1ADC40B25DC8}" type="presParOf" srcId="{0AF38FD4-281A-420A-8A6E-2E6DCDDD8853}" destId="{F38E66E7-320E-494A-B57D-F12F760DEBC8}" srcOrd="3" destOrd="0" presId="urn:microsoft.com/office/officeart/2005/8/layout/process2"/>
    <dgm:cxn modelId="{F0618CEB-FA25-48D7-97D3-523358F7F9A5}" type="presParOf" srcId="{F38E66E7-320E-494A-B57D-F12F760DEBC8}" destId="{32A94C22-B8C8-4568-88D9-290B737256F8}" srcOrd="0" destOrd="0" presId="urn:microsoft.com/office/officeart/2005/8/layout/process2"/>
    <dgm:cxn modelId="{2498DC6C-5B69-4BE8-A1A1-941A1636E634}" type="presParOf" srcId="{0AF38FD4-281A-420A-8A6E-2E6DCDDD8853}" destId="{FECFA21C-5D6B-4693-B880-C013B7E6E57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A0B12-48A1-4C83-9A7C-BB43A07FF0BF}">
      <dsp:nvSpPr>
        <dsp:cNvPr id="0" name=""/>
        <dsp:cNvSpPr/>
      </dsp:nvSpPr>
      <dsp:spPr>
        <a:xfrm>
          <a:off x="0" y="0"/>
          <a:ext cx="6877049" cy="8539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/>
            <a:t>Understand the physiological effects of positioning </a:t>
          </a:r>
        </a:p>
      </dsp:txBody>
      <dsp:txXfrm>
        <a:off x="25010" y="25010"/>
        <a:ext cx="5883452" cy="803896"/>
      </dsp:txXfrm>
    </dsp:sp>
    <dsp:sp modelId="{9F2C0266-FD4D-4941-906C-BA7906BC4865}">
      <dsp:nvSpPr>
        <dsp:cNvPr id="0" name=""/>
        <dsp:cNvSpPr/>
      </dsp:nvSpPr>
      <dsp:spPr>
        <a:xfrm>
          <a:off x="575952" y="1009173"/>
          <a:ext cx="6877049" cy="853916"/>
        </a:xfrm>
        <a:prstGeom prst="roundRect">
          <a:avLst>
            <a:gd name="adj" fmla="val 1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/>
            <a:t>Develop a theoretical understanding of the differences in ventilation and perfusion throughout the lungs (V/Q)</a:t>
          </a:r>
          <a:endParaRPr lang="en-US" sz="1800" kern="1200" dirty="0"/>
        </a:p>
      </dsp:txBody>
      <dsp:txXfrm>
        <a:off x="600962" y="1034183"/>
        <a:ext cx="5696031" cy="803896"/>
      </dsp:txXfrm>
    </dsp:sp>
    <dsp:sp modelId="{B97350AB-3378-4149-B837-7C2545D9FADC}">
      <dsp:nvSpPr>
        <dsp:cNvPr id="0" name=""/>
        <dsp:cNvSpPr/>
      </dsp:nvSpPr>
      <dsp:spPr>
        <a:xfrm>
          <a:off x="1143309" y="2018347"/>
          <a:ext cx="6877049" cy="853916"/>
        </a:xfrm>
        <a:prstGeom prst="roundRect">
          <a:avLst>
            <a:gd name="adj" fmla="val 1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/>
            <a:t>Practically apply theory to maximise V/Q ratio in patients</a:t>
          </a:r>
          <a:endParaRPr lang="en-US" sz="1800" kern="1200" dirty="0"/>
        </a:p>
      </dsp:txBody>
      <dsp:txXfrm>
        <a:off x="1168319" y="2043357"/>
        <a:ext cx="5704627" cy="803896"/>
      </dsp:txXfrm>
    </dsp:sp>
    <dsp:sp modelId="{C0D6BF38-96F1-40B0-AC2F-9802E358F12F}">
      <dsp:nvSpPr>
        <dsp:cNvPr id="0" name=""/>
        <dsp:cNvSpPr/>
      </dsp:nvSpPr>
      <dsp:spPr>
        <a:xfrm>
          <a:off x="1719262" y="3027520"/>
          <a:ext cx="6877049" cy="853916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Differentiate between self-ventilating and ventilated adults</a:t>
          </a:r>
        </a:p>
      </dsp:txBody>
      <dsp:txXfrm>
        <a:off x="1744272" y="3052530"/>
        <a:ext cx="5696031" cy="803896"/>
      </dsp:txXfrm>
    </dsp:sp>
    <dsp:sp modelId="{19DCE8E7-CE3E-4603-8E7C-AA819637C296}">
      <dsp:nvSpPr>
        <dsp:cNvPr id="0" name=""/>
        <dsp:cNvSpPr/>
      </dsp:nvSpPr>
      <dsp:spPr>
        <a:xfrm>
          <a:off x="6322004" y="654022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/>
        </a:p>
      </dsp:txBody>
      <dsp:txXfrm>
        <a:off x="6446889" y="654022"/>
        <a:ext cx="305275" cy="417671"/>
      </dsp:txXfrm>
    </dsp:sp>
    <dsp:sp modelId="{69F602AD-0702-4758-86FB-7C2DE21B6301}">
      <dsp:nvSpPr>
        <dsp:cNvPr id="0" name=""/>
        <dsp:cNvSpPr/>
      </dsp:nvSpPr>
      <dsp:spPr>
        <a:xfrm>
          <a:off x="6897957" y="1663195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/>
        </a:p>
      </dsp:txBody>
      <dsp:txXfrm>
        <a:off x="7022842" y="1663195"/>
        <a:ext cx="305275" cy="417671"/>
      </dsp:txXfrm>
    </dsp:sp>
    <dsp:sp modelId="{6F197259-DE7E-40B1-8D9F-A5314D6D7FDB}">
      <dsp:nvSpPr>
        <dsp:cNvPr id="0" name=""/>
        <dsp:cNvSpPr/>
      </dsp:nvSpPr>
      <dsp:spPr>
        <a:xfrm>
          <a:off x="7465313" y="2672369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590198" y="2672369"/>
        <a:ext cx="305275" cy="417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011CD-15B9-4EA3-9ECF-06655EC49A20}">
      <dsp:nvSpPr>
        <dsp:cNvPr id="0" name=""/>
        <dsp:cNvSpPr/>
      </dsp:nvSpPr>
      <dsp:spPr>
        <a:xfrm>
          <a:off x="0" y="73035"/>
          <a:ext cx="5498041" cy="84942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Negative effects well documented but still frequently used (Dean &amp; Ross, 1992)</a:t>
          </a:r>
          <a:endParaRPr lang="en-US" sz="2200" kern="1200" dirty="0"/>
        </a:p>
      </dsp:txBody>
      <dsp:txXfrm>
        <a:off x="41465" y="114500"/>
        <a:ext cx="5415111" cy="766490"/>
      </dsp:txXfrm>
    </dsp:sp>
    <dsp:sp modelId="{BB25B875-7A3E-400E-AEFE-26E9C7C84B40}">
      <dsp:nvSpPr>
        <dsp:cNvPr id="0" name=""/>
        <dsp:cNvSpPr/>
      </dsp:nvSpPr>
      <dsp:spPr>
        <a:xfrm>
          <a:off x="0" y="985815"/>
          <a:ext cx="5498041" cy="84942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207682"/>
                <a:satOff val="-15189"/>
                <a:lumOff val="93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07682"/>
                <a:satOff val="-15189"/>
                <a:lumOff val="93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07682"/>
                <a:satOff val="-15189"/>
                <a:lumOff val="93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Reduced flow rates</a:t>
          </a:r>
          <a:endParaRPr lang="en-US" sz="2200" kern="1200" dirty="0"/>
        </a:p>
      </dsp:txBody>
      <dsp:txXfrm>
        <a:off x="41465" y="1027280"/>
        <a:ext cx="5415111" cy="766490"/>
      </dsp:txXfrm>
    </dsp:sp>
    <dsp:sp modelId="{64EA57B5-A1DA-4870-8849-37CF52B80653}">
      <dsp:nvSpPr>
        <dsp:cNvPr id="0" name=""/>
        <dsp:cNvSpPr/>
      </dsp:nvSpPr>
      <dsp:spPr>
        <a:xfrm>
          <a:off x="0" y="1898595"/>
          <a:ext cx="5498041" cy="84942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415364"/>
                <a:satOff val="-30378"/>
                <a:lumOff val="187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15364"/>
                <a:satOff val="-30378"/>
                <a:lumOff val="187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15364"/>
                <a:satOff val="-30378"/>
                <a:lumOff val="187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Increased work of breathing (Craig et al., 1971) </a:t>
          </a:r>
          <a:endParaRPr lang="en-US" sz="2200" kern="1200" dirty="0"/>
        </a:p>
      </dsp:txBody>
      <dsp:txXfrm>
        <a:off x="41465" y="1940060"/>
        <a:ext cx="5415111" cy="766490"/>
      </dsp:txXfrm>
    </dsp:sp>
    <dsp:sp modelId="{AEEB0891-9A23-4484-A97F-876036CEE897}">
      <dsp:nvSpPr>
        <dsp:cNvPr id="0" name=""/>
        <dsp:cNvSpPr/>
      </dsp:nvSpPr>
      <dsp:spPr>
        <a:xfrm>
          <a:off x="0" y="2811376"/>
          <a:ext cx="5498041" cy="849420"/>
        </a:xfrm>
        <a:prstGeom prst="round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Airway closure and reduced PaO</a:t>
          </a:r>
          <a:r>
            <a:rPr lang="en-GB" sz="2200" kern="1200" baseline="-25000"/>
            <a:t>2 </a:t>
          </a:r>
          <a:r>
            <a:rPr lang="en-GB" sz="2200" kern="1200" baseline="0"/>
            <a:t>(Ray et al., 1974)</a:t>
          </a:r>
          <a:endParaRPr lang="en-GB" sz="2200" kern="1200" baseline="0" dirty="0"/>
        </a:p>
      </dsp:txBody>
      <dsp:txXfrm>
        <a:off x="41465" y="2852841"/>
        <a:ext cx="5415111" cy="766490"/>
      </dsp:txXfrm>
    </dsp:sp>
    <dsp:sp modelId="{A770FFC4-8E9B-46E5-9C0E-AAD9D38E57FC}">
      <dsp:nvSpPr>
        <dsp:cNvPr id="0" name=""/>
        <dsp:cNvSpPr/>
      </dsp:nvSpPr>
      <dsp:spPr>
        <a:xfrm>
          <a:off x="0" y="3724156"/>
          <a:ext cx="5498041" cy="849420"/>
        </a:xfrm>
        <a:prstGeom prst="round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baseline="0" dirty="0"/>
            <a:t>Reduced lung volumes</a:t>
          </a:r>
        </a:p>
      </dsp:txBody>
      <dsp:txXfrm>
        <a:off x="41465" y="3765621"/>
        <a:ext cx="5415111" cy="766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4E9E8-FFBD-45CE-AF35-65054458F595}">
      <dsp:nvSpPr>
        <dsp:cNvPr id="0" name=""/>
        <dsp:cNvSpPr/>
      </dsp:nvSpPr>
      <dsp:spPr>
        <a:xfrm>
          <a:off x="2137105" y="439286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727" y="483154"/>
        <a:ext cx="18518" cy="3703"/>
      </dsp:txXfrm>
    </dsp:sp>
    <dsp:sp modelId="{671A9A1E-DE01-4E74-8060-74BA231125D4}">
      <dsp:nvSpPr>
        <dsp:cNvPr id="0" name=""/>
        <dsp:cNvSpPr/>
      </dsp:nvSpPr>
      <dsp:spPr>
        <a:xfrm>
          <a:off x="528637" y="1925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Total lung capacity </a:t>
          </a:r>
          <a:endParaRPr lang="en-US" sz="1700" kern="1200"/>
        </a:p>
      </dsp:txBody>
      <dsp:txXfrm>
        <a:off x="528637" y="1925"/>
        <a:ext cx="1610268" cy="966161"/>
      </dsp:txXfrm>
    </dsp:sp>
    <dsp:sp modelId="{FC7A139C-5719-47A4-B023-0319D2CBECCC}">
      <dsp:nvSpPr>
        <dsp:cNvPr id="0" name=""/>
        <dsp:cNvSpPr/>
      </dsp:nvSpPr>
      <dsp:spPr>
        <a:xfrm>
          <a:off x="4117736" y="439286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166341"/>
              <a:satOff val="-11639"/>
              <a:lumOff val="838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8358" y="483154"/>
        <a:ext cx="18518" cy="3703"/>
      </dsp:txXfrm>
    </dsp:sp>
    <dsp:sp modelId="{F41749B2-C417-498E-8654-E77691E9756A}">
      <dsp:nvSpPr>
        <dsp:cNvPr id="0" name=""/>
        <dsp:cNvSpPr/>
      </dsp:nvSpPr>
      <dsp:spPr>
        <a:xfrm>
          <a:off x="2509267" y="1925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43383"/>
                <a:satOff val="-10555"/>
                <a:lumOff val="86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43383"/>
                <a:satOff val="-10555"/>
                <a:lumOff val="86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43383"/>
                <a:satOff val="-10555"/>
                <a:lumOff val="86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Tidal volume (V</a:t>
          </a:r>
          <a:r>
            <a:rPr lang="en-GB" sz="1700" kern="1200" baseline="-25000"/>
            <a:t>T</a:t>
          </a:r>
          <a:r>
            <a:rPr lang="en-GB" sz="1700" kern="1200"/>
            <a:t>)</a:t>
          </a:r>
          <a:endParaRPr lang="en-US" sz="1700" kern="1200"/>
        </a:p>
      </dsp:txBody>
      <dsp:txXfrm>
        <a:off x="2509267" y="1925"/>
        <a:ext cx="1610268" cy="966161"/>
      </dsp:txXfrm>
    </dsp:sp>
    <dsp:sp modelId="{12D0A1A4-266C-4AE6-870D-BD92CD593AD6}">
      <dsp:nvSpPr>
        <dsp:cNvPr id="0" name=""/>
        <dsp:cNvSpPr/>
      </dsp:nvSpPr>
      <dsp:spPr>
        <a:xfrm>
          <a:off x="1333771" y="966286"/>
          <a:ext cx="3961260" cy="339761"/>
        </a:xfrm>
        <a:custGeom>
          <a:avLst/>
          <a:gdLst/>
          <a:ahLst/>
          <a:cxnLst/>
          <a:rect l="0" t="0" r="0" b="0"/>
          <a:pathLst>
            <a:path>
              <a:moveTo>
                <a:pt x="3961260" y="0"/>
              </a:moveTo>
              <a:lnTo>
                <a:pt x="3961260" y="186980"/>
              </a:lnTo>
              <a:lnTo>
                <a:pt x="0" y="186980"/>
              </a:lnTo>
              <a:lnTo>
                <a:pt x="0" y="339761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332681"/>
              <a:satOff val="-23277"/>
              <a:lumOff val="167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938" y="1134315"/>
        <a:ext cx="198926" cy="3703"/>
      </dsp:txXfrm>
    </dsp:sp>
    <dsp:sp modelId="{0EF9FC8E-4367-431B-894E-B17066477354}">
      <dsp:nvSpPr>
        <dsp:cNvPr id="0" name=""/>
        <dsp:cNvSpPr/>
      </dsp:nvSpPr>
      <dsp:spPr>
        <a:xfrm>
          <a:off x="4489898" y="1925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86766"/>
                <a:satOff val="-21110"/>
                <a:lumOff val="172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86766"/>
                <a:satOff val="-21110"/>
                <a:lumOff val="172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86766"/>
                <a:satOff val="-21110"/>
                <a:lumOff val="172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Vital capacity (VC) </a:t>
          </a:r>
          <a:endParaRPr lang="en-US" sz="1700" kern="1200"/>
        </a:p>
      </dsp:txBody>
      <dsp:txXfrm>
        <a:off x="4489898" y="1925"/>
        <a:ext cx="1610268" cy="966161"/>
      </dsp:txXfrm>
    </dsp:sp>
    <dsp:sp modelId="{BF364E2C-3FE3-42D9-8A1E-D0F65E8356E0}">
      <dsp:nvSpPr>
        <dsp:cNvPr id="0" name=""/>
        <dsp:cNvSpPr/>
      </dsp:nvSpPr>
      <dsp:spPr>
        <a:xfrm>
          <a:off x="2137105" y="1775809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499022"/>
              <a:satOff val="-34916"/>
              <a:lumOff val="251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727" y="1819677"/>
        <a:ext cx="18518" cy="3703"/>
      </dsp:txXfrm>
    </dsp:sp>
    <dsp:sp modelId="{27AB4F2B-7C6D-49B8-BB89-AF22CC024386}">
      <dsp:nvSpPr>
        <dsp:cNvPr id="0" name=""/>
        <dsp:cNvSpPr/>
      </dsp:nvSpPr>
      <dsp:spPr>
        <a:xfrm>
          <a:off x="528637" y="1338448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430150"/>
                <a:satOff val="-31665"/>
                <a:lumOff val="259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30150"/>
                <a:satOff val="-31665"/>
                <a:lumOff val="259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30150"/>
                <a:satOff val="-31665"/>
                <a:lumOff val="259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Residual volume (RV)</a:t>
          </a:r>
          <a:endParaRPr lang="en-US" sz="1700" kern="1200"/>
        </a:p>
      </dsp:txBody>
      <dsp:txXfrm>
        <a:off x="528637" y="1338448"/>
        <a:ext cx="1610268" cy="966161"/>
      </dsp:txXfrm>
    </dsp:sp>
    <dsp:sp modelId="{CFEAD83B-9C51-4E83-AFA1-DD26A00F28B8}">
      <dsp:nvSpPr>
        <dsp:cNvPr id="0" name=""/>
        <dsp:cNvSpPr/>
      </dsp:nvSpPr>
      <dsp:spPr>
        <a:xfrm>
          <a:off x="4117736" y="1775809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665362"/>
              <a:satOff val="-46554"/>
              <a:lumOff val="3354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8358" y="1819677"/>
        <a:ext cx="18518" cy="3703"/>
      </dsp:txXfrm>
    </dsp:sp>
    <dsp:sp modelId="{F55CC547-A328-475E-8C45-EED7BF33D261}">
      <dsp:nvSpPr>
        <dsp:cNvPr id="0" name=""/>
        <dsp:cNvSpPr/>
      </dsp:nvSpPr>
      <dsp:spPr>
        <a:xfrm>
          <a:off x="2509267" y="1338448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573533"/>
                <a:satOff val="-42220"/>
                <a:lumOff val="345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573533"/>
                <a:satOff val="-42220"/>
                <a:lumOff val="345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573533"/>
                <a:satOff val="-42220"/>
                <a:lumOff val="345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Functional residual capacity (FRC)</a:t>
          </a:r>
          <a:endParaRPr lang="en-US" sz="1700" kern="1200"/>
        </a:p>
      </dsp:txBody>
      <dsp:txXfrm>
        <a:off x="2509267" y="1338448"/>
        <a:ext cx="1610268" cy="966161"/>
      </dsp:txXfrm>
    </dsp:sp>
    <dsp:sp modelId="{84D2DD92-D600-4CB3-A654-69F10D5E5CE9}">
      <dsp:nvSpPr>
        <dsp:cNvPr id="0" name=""/>
        <dsp:cNvSpPr/>
      </dsp:nvSpPr>
      <dsp:spPr>
        <a:xfrm>
          <a:off x="1333771" y="2302809"/>
          <a:ext cx="3961260" cy="339761"/>
        </a:xfrm>
        <a:custGeom>
          <a:avLst/>
          <a:gdLst/>
          <a:ahLst/>
          <a:cxnLst/>
          <a:rect l="0" t="0" r="0" b="0"/>
          <a:pathLst>
            <a:path>
              <a:moveTo>
                <a:pt x="3961260" y="0"/>
              </a:moveTo>
              <a:lnTo>
                <a:pt x="3961260" y="186980"/>
              </a:lnTo>
              <a:lnTo>
                <a:pt x="0" y="186980"/>
              </a:lnTo>
              <a:lnTo>
                <a:pt x="0" y="339761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831703"/>
              <a:satOff val="-58193"/>
              <a:lumOff val="41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938" y="2470838"/>
        <a:ext cx="198926" cy="3703"/>
      </dsp:txXfrm>
    </dsp:sp>
    <dsp:sp modelId="{2CB5311E-ECB5-4E63-AB0C-31EC5499CFAE}">
      <dsp:nvSpPr>
        <dsp:cNvPr id="0" name=""/>
        <dsp:cNvSpPr/>
      </dsp:nvSpPr>
      <dsp:spPr>
        <a:xfrm>
          <a:off x="4489898" y="1338448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716916"/>
                <a:satOff val="-52775"/>
                <a:lumOff val="431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716916"/>
                <a:satOff val="-52775"/>
                <a:lumOff val="431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716916"/>
                <a:satOff val="-52775"/>
                <a:lumOff val="431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Forced expiratory flow</a:t>
          </a:r>
          <a:endParaRPr lang="en-US" sz="1700" kern="1200"/>
        </a:p>
      </dsp:txBody>
      <dsp:txXfrm>
        <a:off x="4489898" y="1338448"/>
        <a:ext cx="1610268" cy="966161"/>
      </dsp:txXfrm>
    </dsp:sp>
    <dsp:sp modelId="{992412BB-8CF9-42AE-86C3-575FE496DBBC}">
      <dsp:nvSpPr>
        <dsp:cNvPr id="0" name=""/>
        <dsp:cNvSpPr/>
      </dsp:nvSpPr>
      <dsp:spPr>
        <a:xfrm>
          <a:off x="2137105" y="3112331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831703"/>
              <a:satOff val="-58193"/>
              <a:lumOff val="41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727" y="3156200"/>
        <a:ext cx="18518" cy="3703"/>
      </dsp:txXfrm>
    </dsp:sp>
    <dsp:sp modelId="{64EBE61A-0D1B-4D32-87BB-F250C8153C4D}">
      <dsp:nvSpPr>
        <dsp:cNvPr id="0" name=""/>
        <dsp:cNvSpPr/>
      </dsp:nvSpPr>
      <dsp:spPr>
        <a:xfrm>
          <a:off x="528637" y="2674971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860299"/>
                <a:satOff val="-63330"/>
                <a:lumOff val="518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860299"/>
                <a:satOff val="-63330"/>
                <a:lumOff val="518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860299"/>
                <a:satOff val="-63330"/>
                <a:lumOff val="518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Lung compliance</a:t>
          </a:r>
          <a:endParaRPr lang="en-US" sz="1700" kern="1200"/>
        </a:p>
      </dsp:txBody>
      <dsp:txXfrm>
        <a:off x="528637" y="2674971"/>
        <a:ext cx="1610268" cy="966161"/>
      </dsp:txXfrm>
    </dsp:sp>
    <dsp:sp modelId="{712D463A-BC29-4390-B2BF-45703CB35AB9}">
      <dsp:nvSpPr>
        <dsp:cNvPr id="0" name=""/>
        <dsp:cNvSpPr/>
      </dsp:nvSpPr>
      <dsp:spPr>
        <a:xfrm>
          <a:off x="4117736" y="3112331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665362"/>
              <a:satOff val="-46554"/>
              <a:lumOff val="3354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8358" y="3156200"/>
        <a:ext cx="18518" cy="3703"/>
      </dsp:txXfrm>
    </dsp:sp>
    <dsp:sp modelId="{AAB1A2E7-4D5B-464A-93C3-E767470EA495}">
      <dsp:nvSpPr>
        <dsp:cNvPr id="0" name=""/>
        <dsp:cNvSpPr/>
      </dsp:nvSpPr>
      <dsp:spPr>
        <a:xfrm>
          <a:off x="2509267" y="2674971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716916"/>
                <a:satOff val="-52775"/>
                <a:lumOff val="431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716916"/>
                <a:satOff val="-52775"/>
                <a:lumOff val="431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716916"/>
                <a:satOff val="-52775"/>
                <a:lumOff val="431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PaO</a:t>
          </a:r>
          <a:r>
            <a:rPr lang="en-GB" sz="1700" kern="1200" baseline="-25000"/>
            <a:t>2</a:t>
          </a:r>
          <a:endParaRPr lang="en-US" sz="1700" kern="1200"/>
        </a:p>
      </dsp:txBody>
      <dsp:txXfrm>
        <a:off x="2509267" y="2674971"/>
        <a:ext cx="1610268" cy="966161"/>
      </dsp:txXfrm>
    </dsp:sp>
    <dsp:sp modelId="{B82F1087-0CA0-4834-876E-96B54BF8DBE4}">
      <dsp:nvSpPr>
        <dsp:cNvPr id="0" name=""/>
        <dsp:cNvSpPr/>
      </dsp:nvSpPr>
      <dsp:spPr>
        <a:xfrm>
          <a:off x="1333771" y="3639332"/>
          <a:ext cx="3961260" cy="339761"/>
        </a:xfrm>
        <a:custGeom>
          <a:avLst/>
          <a:gdLst/>
          <a:ahLst/>
          <a:cxnLst/>
          <a:rect l="0" t="0" r="0" b="0"/>
          <a:pathLst>
            <a:path>
              <a:moveTo>
                <a:pt x="3961260" y="0"/>
              </a:moveTo>
              <a:lnTo>
                <a:pt x="3961260" y="186980"/>
              </a:lnTo>
              <a:lnTo>
                <a:pt x="0" y="186980"/>
              </a:lnTo>
              <a:lnTo>
                <a:pt x="0" y="339761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499022"/>
              <a:satOff val="-34916"/>
              <a:lumOff val="251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938" y="3807361"/>
        <a:ext cx="198926" cy="3703"/>
      </dsp:txXfrm>
    </dsp:sp>
    <dsp:sp modelId="{F8D69FFF-1354-41E3-842A-87C2FA6C409D}">
      <dsp:nvSpPr>
        <dsp:cNvPr id="0" name=""/>
        <dsp:cNvSpPr/>
      </dsp:nvSpPr>
      <dsp:spPr>
        <a:xfrm>
          <a:off x="4489898" y="2674971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573533"/>
                <a:satOff val="-42220"/>
                <a:lumOff val="345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573533"/>
                <a:satOff val="-42220"/>
                <a:lumOff val="345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573533"/>
                <a:satOff val="-42220"/>
                <a:lumOff val="345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 diameter of chest</a:t>
          </a:r>
          <a:endParaRPr lang="en-US" sz="1700" kern="1200"/>
        </a:p>
      </dsp:txBody>
      <dsp:txXfrm>
        <a:off x="4489898" y="2674971"/>
        <a:ext cx="1610268" cy="966161"/>
      </dsp:txXfrm>
    </dsp:sp>
    <dsp:sp modelId="{A2966024-5CAF-4737-8DE6-7060F77843DB}">
      <dsp:nvSpPr>
        <dsp:cNvPr id="0" name=""/>
        <dsp:cNvSpPr/>
      </dsp:nvSpPr>
      <dsp:spPr>
        <a:xfrm>
          <a:off x="2137105" y="4448854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332681"/>
              <a:satOff val="-23277"/>
              <a:lumOff val="167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727" y="4492723"/>
        <a:ext cx="18518" cy="3703"/>
      </dsp:txXfrm>
    </dsp:sp>
    <dsp:sp modelId="{05494847-28C9-4A8B-AE16-E7BA63BA55C2}">
      <dsp:nvSpPr>
        <dsp:cNvPr id="0" name=""/>
        <dsp:cNvSpPr/>
      </dsp:nvSpPr>
      <dsp:spPr>
        <a:xfrm>
          <a:off x="528637" y="4011494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430150"/>
                <a:satOff val="-31665"/>
                <a:lumOff val="259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30150"/>
                <a:satOff val="-31665"/>
                <a:lumOff val="259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30150"/>
                <a:satOff val="-31665"/>
                <a:lumOff val="259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Diaphragmatic excursion </a:t>
          </a:r>
          <a:endParaRPr lang="en-US" sz="1700" kern="1200"/>
        </a:p>
      </dsp:txBody>
      <dsp:txXfrm>
        <a:off x="528637" y="4011494"/>
        <a:ext cx="1610268" cy="966161"/>
      </dsp:txXfrm>
    </dsp:sp>
    <dsp:sp modelId="{57A82EA1-D43D-4EC1-9070-DA1381C51091}">
      <dsp:nvSpPr>
        <dsp:cNvPr id="0" name=""/>
        <dsp:cNvSpPr/>
      </dsp:nvSpPr>
      <dsp:spPr>
        <a:xfrm>
          <a:off x="4117736" y="4448854"/>
          <a:ext cx="339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9761" y="45720"/>
              </a:lnTo>
            </a:path>
          </a:pathLst>
        </a:custGeom>
        <a:noFill/>
        <a:ln w="6350" cap="flat" cmpd="sng" algn="ctr">
          <a:solidFill>
            <a:schemeClr val="accent1">
              <a:shade val="90000"/>
              <a:hueOff val="166341"/>
              <a:satOff val="-11639"/>
              <a:lumOff val="838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8358" y="4492723"/>
        <a:ext cx="18518" cy="3703"/>
      </dsp:txXfrm>
    </dsp:sp>
    <dsp:sp modelId="{DFC8DE7F-9506-42E9-A2BD-7935BDFEDD73}">
      <dsp:nvSpPr>
        <dsp:cNvPr id="0" name=""/>
        <dsp:cNvSpPr/>
      </dsp:nvSpPr>
      <dsp:spPr>
        <a:xfrm>
          <a:off x="2509267" y="4011494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86766"/>
                <a:satOff val="-21110"/>
                <a:lumOff val="172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86766"/>
                <a:satOff val="-21110"/>
                <a:lumOff val="172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86766"/>
                <a:satOff val="-21110"/>
                <a:lumOff val="172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Mobilisation of secretions</a:t>
          </a:r>
          <a:endParaRPr lang="en-US" sz="1700" kern="1200"/>
        </a:p>
      </dsp:txBody>
      <dsp:txXfrm>
        <a:off x="2509267" y="4011494"/>
        <a:ext cx="1610268" cy="966161"/>
      </dsp:txXfrm>
    </dsp:sp>
    <dsp:sp modelId="{6A73E579-BC6F-471C-AB20-85C576190290}">
      <dsp:nvSpPr>
        <dsp:cNvPr id="0" name=""/>
        <dsp:cNvSpPr/>
      </dsp:nvSpPr>
      <dsp:spPr>
        <a:xfrm>
          <a:off x="4489898" y="4011494"/>
          <a:ext cx="1610268" cy="96616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43383"/>
                <a:satOff val="-10555"/>
                <a:lumOff val="86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43383"/>
                <a:satOff val="-10555"/>
                <a:lumOff val="86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43383"/>
                <a:satOff val="-10555"/>
                <a:lumOff val="86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905" tIns="82824" rIns="78905" bIns="8282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Lymphatic drainage </a:t>
          </a:r>
          <a:endParaRPr lang="en-US" sz="1700" kern="1200"/>
        </a:p>
      </dsp:txBody>
      <dsp:txXfrm>
        <a:off x="4489898" y="4011494"/>
        <a:ext cx="1610268" cy="9661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DD622-C4CB-4C15-A869-9014BE1C327E}">
      <dsp:nvSpPr>
        <dsp:cNvPr id="0" name=""/>
        <dsp:cNvSpPr/>
      </dsp:nvSpPr>
      <dsp:spPr>
        <a:xfrm>
          <a:off x="0" y="5775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Airway closure</a:t>
          </a:r>
          <a:endParaRPr lang="en-US" sz="2300" kern="1200"/>
        </a:p>
      </dsp:txBody>
      <dsp:txXfrm>
        <a:off x="26273" y="84028"/>
        <a:ext cx="4948319" cy="485654"/>
      </dsp:txXfrm>
    </dsp:sp>
    <dsp:sp modelId="{CD029311-84B9-4052-870B-C3AA84B2BF43}">
      <dsp:nvSpPr>
        <dsp:cNvPr id="0" name=""/>
        <dsp:cNvSpPr/>
      </dsp:nvSpPr>
      <dsp:spPr>
        <a:xfrm>
          <a:off x="0" y="66219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6667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6667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Airway resistance</a:t>
          </a:r>
          <a:endParaRPr lang="en-US" sz="2300" kern="1200"/>
        </a:p>
      </dsp:txBody>
      <dsp:txXfrm>
        <a:off x="26273" y="688468"/>
        <a:ext cx="4948319" cy="485654"/>
      </dsp:txXfrm>
    </dsp:sp>
    <dsp:sp modelId="{F8255967-7ED5-4B31-81CF-731ED028750B}">
      <dsp:nvSpPr>
        <dsp:cNvPr id="0" name=""/>
        <dsp:cNvSpPr/>
      </dsp:nvSpPr>
      <dsp:spPr>
        <a:xfrm>
          <a:off x="0" y="126663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Work of breathing</a:t>
          </a:r>
          <a:endParaRPr lang="en-US" sz="2300" kern="1200"/>
        </a:p>
      </dsp:txBody>
      <dsp:txXfrm>
        <a:off x="26273" y="1292908"/>
        <a:ext cx="4948319" cy="485654"/>
      </dsp:txXfrm>
    </dsp:sp>
    <dsp:sp modelId="{DE30D399-2606-4D80-9470-029572DC6DA3}">
      <dsp:nvSpPr>
        <dsp:cNvPr id="0" name=""/>
        <dsp:cNvSpPr/>
      </dsp:nvSpPr>
      <dsp:spPr>
        <a:xfrm>
          <a:off x="0" y="187107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Work of the heart</a:t>
          </a:r>
          <a:endParaRPr lang="en-US" sz="2300" kern="1200"/>
        </a:p>
      </dsp:txBody>
      <dsp:txXfrm>
        <a:off x="26273" y="1897348"/>
        <a:ext cx="4948319" cy="485654"/>
      </dsp:txXfrm>
    </dsp:sp>
    <dsp:sp modelId="{6E65D4FD-FAAC-4CE8-B0C0-D7FDF1B2E843}">
      <dsp:nvSpPr>
        <dsp:cNvPr id="0" name=""/>
        <dsp:cNvSpPr/>
      </dsp:nvSpPr>
      <dsp:spPr>
        <a:xfrm>
          <a:off x="0" y="247551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Pulmonary vascular congestion</a:t>
          </a:r>
          <a:endParaRPr lang="en-US" sz="2300" kern="1200"/>
        </a:p>
      </dsp:txBody>
      <dsp:txXfrm>
        <a:off x="26273" y="2501788"/>
        <a:ext cx="4948319" cy="485654"/>
      </dsp:txXfrm>
    </dsp:sp>
    <dsp:sp modelId="{211D670A-6D41-4542-B164-D3C400F421A3}">
      <dsp:nvSpPr>
        <dsp:cNvPr id="0" name=""/>
        <dsp:cNvSpPr/>
      </dsp:nvSpPr>
      <dsp:spPr>
        <a:xfrm>
          <a:off x="0" y="307995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3333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3333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Central venous pressure</a:t>
          </a:r>
          <a:endParaRPr lang="en-US" sz="2300" kern="1200"/>
        </a:p>
      </dsp:txBody>
      <dsp:txXfrm>
        <a:off x="26273" y="3106228"/>
        <a:ext cx="4948319" cy="485654"/>
      </dsp:txXfrm>
    </dsp:sp>
    <dsp:sp modelId="{09A78965-DF86-43E9-BA6E-766F489D7C53}">
      <dsp:nvSpPr>
        <dsp:cNvPr id="0" name=""/>
        <dsp:cNvSpPr/>
      </dsp:nvSpPr>
      <dsp:spPr>
        <a:xfrm>
          <a:off x="0" y="3684395"/>
          <a:ext cx="5000865" cy="53820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Central blood volume</a:t>
          </a:r>
          <a:endParaRPr lang="en-US" sz="2300" kern="1200"/>
        </a:p>
      </dsp:txBody>
      <dsp:txXfrm>
        <a:off x="26273" y="3710668"/>
        <a:ext cx="4948319" cy="485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AF3D0-E427-45F4-BC94-A6E8E3DE947F}">
      <dsp:nvSpPr>
        <dsp:cNvPr id="0" name=""/>
        <dsp:cNvSpPr/>
      </dsp:nvSpPr>
      <dsp:spPr>
        <a:xfrm>
          <a:off x="1198881" y="0"/>
          <a:ext cx="3547269" cy="97019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Normal perfusion</a:t>
          </a:r>
          <a:endParaRPr lang="en-US" sz="1800" kern="1200" dirty="0"/>
        </a:p>
      </dsp:txBody>
      <dsp:txXfrm>
        <a:off x="1227297" y="28416"/>
        <a:ext cx="3490437" cy="913361"/>
      </dsp:txXfrm>
    </dsp:sp>
    <dsp:sp modelId="{F53094E6-F9BB-4BD9-9AED-B4485DC30126}">
      <dsp:nvSpPr>
        <dsp:cNvPr id="0" name=""/>
        <dsp:cNvSpPr/>
      </dsp:nvSpPr>
      <dsp:spPr>
        <a:xfrm rot="5448514">
          <a:off x="2780317" y="994448"/>
          <a:ext cx="363858" cy="4365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832041" y="1030817"/>
        <a:ext cx="261952" cy="254701"/>
      </dsp:txXfrm>
    </dsp:sp>
    <dsp:sp modelId="{04EA4962-799C-4874-89C1-77AB41E3513C}">
      <dsp:nvSpPr>
        <dsp:cNvPr id="0" name=""/>
        <dsp:cNvSpPr/>
      </dsp:nvSpPr>
      <dsp:spPr>
        <a:xfrm>
          <a:off x="1178342" y="1455289"/>
          <a:ext cx="3547269" cy="97019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Abnormal ventilation</a:t>
          </a:r>
          <a:endParaRPr lang="en-US" sz="1800" kern="1200"/>
        </a:p>
      </dsp:txBody>
      <dsp:txXfrm>
        <a:off x="1206758" y="1483705"/>
        <a:ext cx="3490437" cy="913361"/>
      </dsp:txXfrm>
    </dsp:sp>
    <dsp:sp modelId="{F38E66E7-320E-494A-B57D-F12F760DEBC8}">
      <dsp:nvSpPr>
        <dsp:cNvPr id="0" name=""/>
        <dsp:cNvSpPr/>
      </dsp:nvSpPr>
      <dsp:spPr>
        <a:xfrm rot="5400000">
          <a:off x="2770066" y="2449737"/>
          <a:ext cx="363822" cy="4365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914873"/>
            <a:satOff val="-64012"/>
            <a:lumOff val="461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821002" y="2486119"/>
        <a:ext cx="261952" cy="254675"/>
      </dsp:txXfrm>
    </dsp:sp>
    <dsp:sp modelId="{FECFA21C-5D6B-4693-B880-C013B7E6E574}">
      <dsp:nvSpPr>
        <dsp:cNvPr id="0" name=""/>
        <dsp:cNvSpPr/>
      </dsp:nvSpPr>
      <dsp:spPr>
        <a:xfrm>
          <a:off x="1178342" y="2910579"/>
          <a:ext cx="3547269" cy="97019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Occurs in the presence of airway obstruction e.g. increased sputum production in pneumonia </a:t>
          </a:r>
          <a:endParaRPr lang="en-US" sz="1800" kern="1200" dirty="0"/>
        </a:p>
      </dsp:txBody>
      <dsp:txXfrm>
        <a:off x="1206758" y="2938995"/>
        <a:ext cx="3490437" cy="9133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AF3D0-E427-45F4-BC94-A6E8E3DE947F}">
      <dsp:nvSpPr>
        <dsp:cNvPr id="0" name=""/>
        <dsp:cNvSpPr/>
      </dsp:nvSpPr>
      <dsp:spPr>
        <a:xfrm>
          <a:off x="2078803" y="0"/>
          <a:ext cx="1746347" cy="97019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Normal ventilation</a:t>
          </a:r>
          <a:endParaRPr lang="en-US" sz="1900" kern="1200" dirty="0"/>
        </a:p>
      </dsp:txBody>
      <dsp:txXfrm>
        <a:off x="2107219" y="28416"/>
        <a:ext cx="1689515" cy="913361"/>
      </dsp:txXfrm>
    </dsp:sp>
    <dsp:sp modelId="{F53094E6-F9BB-4BD9-9AED-B4485DC30126}">
      <dsp:nvSpPr>
        <dsp:cNvPr id="0" name=""/>
        <dsp:cNvSpPr/>
      </dsp:nvSpPr>
      <dsp:spPr>
        <a:xfrm rot="5400000">
          <a:off x="2770066" y="994448"/>
          <a:ext cx="363822" cy="4365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2821002" y="1030830"/>
        <a:ext cx="261952" cy="254675"/>
      </dsp:txXfrm>
    </dsp:sp>
    <dsp:sp modelId="{04EA4962-799C-4874-89C1-77AB41E3513C}">
      <dsp:nvSpPr>
        <dsp:cNvPr id="0" name=""/>
        <dsp:cNvSpPr/>
      </dsp:nvSpPr>
      <dsp:spPr>
        <a:xfrm>
          <a:off x="2078803" y="1455289"/>
          <a:ext cx="1746347" cy="97019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15364"/>
            <a:satOff val="-30378"/>
            <a:lumOff val="187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Abnormal perfusion</a:t>
          </a:r>
          <a:endParaRPr lang="en-US" sz="1900" kern="1200" dirty="0"/>
        </a:p>
      </dsp:txBody>
      <dsp:txXfrm>
        <a:off x="2107219" y="1483705"/>
        <a:ext cx="1689515" cy="913361"/>
      </dsp:txXfrm>
    </dsp:sp>
    <dsp:sp modelId="{F38E66E7-320E-494A-B57D-F12F760DEBC8}">
      <dsp:nvSpPr>
        <dsp:cNvPr id="0" name=""/>
        <dsp:cNvSpPr/>
      </dsp:nvSpPr>
      <dsp:spPr>
        <a:xfrm rot="5400000">
          <a:off x="2770066" y="2449737"/>
          <a:ext cx="363822" cy="4365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837930"/>
            <a:satOff val="-60755"/>
            <a:lumOff val="357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2821002" y="2486119"/>
        <a:ext cx="261952" cy="254675"/>
      </dsp:txXfrm>
    </dsp:sp>
    <dsp:sp modelId="{FECFA21C-5D6B-4693-B880-C013B7E6E574}">
      <dsp:nvSpPr>
        <dsp:cNvPr id="0" name=""/>
        <dsp:cNvSpPr/>
      </dsp:nvSpPr>
      <dsp:spPr>
        <a:xfrm>
          <a:off x="2078803" y="2910579"/>
          <a:ext cx="1746347" cy="97019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830728"/>
            <a:satOff val="-60755"/>
            <a:lumOff val="374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e.g. pulmonary embolism </a:t>
          </a:r>
          <a:endParaRPr lang="en-US" sz="1900" kern="1200" dirty="0"/>
        </a:p>
      </dsp:txBody>
      <dsp:txXfrm>
        <a:off x="2107219" y="2938995"/>
        <a:ext cx="1689515" cy="913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3FF9E-3404-4BF2-AD9D-24EF961B5BD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148F-B8BE-4F30-819E-65D3EC99E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15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504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82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9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958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295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addition to positioning, the body will try and compensate for a V/Q mismatch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695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the absence of pathology, V and Q vary throughout the upright lung. Ventilation increases slowly from the top to the bottom of the lungs whereas blood flow increases more rapidly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110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Anything that is supported requires a larger pressure below it than above it to balance the downward acting weight forces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772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balloon and then slinky.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At the bases the lungs are slumped under their own weight and alveoli are squashed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Mid zones more compliant – balloon expands easier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Apex – the alveoli are stretched and held semi open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Ventilation is greater at the at the bases due to their being a smaller resting volume at the end of expiration and therefore a larger change in volume of air than the apex at the end of inspiration where the alveoli have a higher resting volume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lower pressure is required to elicit a change in volume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060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336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Blood flow increases from top to bottom with very low values at the apex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Hydrostatic pressure differences between blood vessels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Zone 1: Capillaries squashed flat but normally some blood flow unless haemorrhage or positive pressure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Random arrangement of blood vessels throughout the lungs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Affected by position and exercise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Centre better perfused than periphery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Affected by position in same way as ventilation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064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421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069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96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812190-3136-893A-762D-3298527FE7ED}"/>
              </a:ext>
            </a:extLst>
          </p:cNvPr>
          <p:cNvSpPr txBox="1"/>
          <p:nvPr userDrawn="1"/>
        </p:nvSpPr>
        <p:spPr>
          <a:xfrm>
            <a:off x="6706395" y="1224000"/>
            <a:ext cx="2056605" cy="3941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Royal Brompton Hospital  </a:t>
            </a:r>
          </a:p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Harefield Hospital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D03E5D52-75B4-6E72-B78C-7A201FB704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2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Royal Bromp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481319EE-52A4-B66C-4641-572AF7448E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8BFFC9-41AF-7B52-09AB-1B768800E6BC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Royal Brompton Hospital</a:t>
            </a:r>
          </a:p>
        </p:txBody>
      </p:sp>
    </p:spTree>
    <p:extLst>
      <p:ext uri="{BB962C8B-B14F-4D97-AF65-F5344CB8AC3E}">
        <p14:creationId xmlns:p14="http://schemas.microsoft.com/office/powerpoint/2010/main" val="84241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Hare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C7D482A8-130E-2370-11E1-82F104BCCA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6EE31F-0E07-5D99-91B4-1ABA954C9321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Harefield Hospital</a:t>
            </a:r>
          </a:p>
        </p:txBody>
      </p:sp>
    </p:spTree>
    <p:extLst>
      <p:ext uri="{BB962C8B-B14F-4D97-AF65-F5344CB8AC3E}">
        <p14:creationId xmlns:p14="http://schemas.microsoft.com/office/powerpoint/2010/main" val="123692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Guy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672E9E-9114-6844-8CD9-F57AEE23DE4A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Guy’s Hospital </a:t>
            </a: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D5E118C3-C098-593D-3D3C-1AC232B494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t Thomas'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83272E-1A66-2504-C55A-798A197D478F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St Thomas’ Hospital </a:t>
            </a:r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34B96EE9-B923-1F53-956B-DE785AEEA5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0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6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NH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77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3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26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9413" y="287492"/>
            <a:ext cx="8383587" cy="6155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3" y="1260000"/>
            <a:ext cx="8383587" cy="521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7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9" r:id="rId3"/>
    <p:sldLayoutId id="2147483670" r:id="rId4"/>
    <p:sldLayoutId id="2147483671" r:id="rId5"/>
    <p:sldLayoutId id="2147483662" r:id="rId6"/>
    <p:sldLayoutId id="2147483672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ts val="48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32000" indent="-432000" algn="l" defTabSz="914400" rtl="0" eaLnBrk="1" latinLnBrk="0" hangingPunct="1">
        <a:lnSpc>
          <a:spcPts val="3400"/>
        </a:lnSpc>
        <a:spcBef>
          <a:spcPts val="1000"/>
        </a:spcBef>
        <a:buClr>
          <a:schemeClr val="tx2"/>
        </a:buClr>
        <a:buFont typeface="Wingdings" panose="05000000000000000000" pitchFamily="2" charset="2"/>
        <a:buChar char="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4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239" userDrawn="1">
          <p15:clr>
            <a:srgbClr val="F26B43"/>
          </p15:clr>
        </p15:guide>
        <p15:guide id="4" pos="5520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39" userDrawn="1">
          <p15:clr>
            <a:srgbClr val="F26B43"/>
          </p15:clr>
        </p15:guide>
        <p15:guide id="8" orient="horz" pos="4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google.co.uk/url?sa=i&amp;rct=j&amp;q=&amp;esrc=s&amp;source=images&amp;cd=&amp;cad=rja&amp;uact=8&amp;ved=2ahUKEwj_uKHetYThAhUE8uAKHdPiBpgQjRx6BAgBEAU&amp;url=https://courses.lumenlearning.com/wm-biology2/chapter/breathing-capacity/&amp;psig=AOvVaw3D1RahegkFwsKyeBlYGp6T&amp;ust=155274864308776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1.gif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microsoft.com/office/2007/relationships/diagramDrawing" Target="../diagrams/drawin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52/jappl.1971.31.5.717" TargetMode="External"/><Relationship Id="rId2" Type="http://schemas.openxmlformats.org/officeDocument/2006/relationships/hyperlink" Target="https://doi.org/10.1378/chest.68.4.608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C869D44A-FFB3-8D6F-1B12-2444D3D7E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BAE3F94-CF29-E02B-7309-F83A8474A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211" y="1098858"/>
            <a:ext cx="3861931" cy="304344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dirty="0"/>
              <a:t>Positioning to Optimise Gas Exchange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D98F2C2-054C-4A11-6055-39E993A60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211" y="4592418"/>
            <a:ext cx="3861931" cy="815901"/>
          </a:xfrm>
        </p:spPr>
        <p:txBody>
          <a:bodyPr>
            <a:noAutofit/>
          </a:bodyPr>
          <a:lstStyle/>
          <a:p>
            <a:pPr algn="l"/>
            <a:r>
              <a:rPr lang="en-GB" sz="1600" dirty="0"/>
              <a:t>Stuart Clarke</a:t>
            </a:r>
          </a:p>
          <a:p>
            <a:pPr algn="l"/>
            <a:r>
              <a:rPr lang="en-GB" sz="1600" dirty="0"/>
              <a:t>Highly Specialist Physiotherapist</a:t>
            </a:r>
          </a:p>
          <a:p>
            <a:pPr algn="l"/>
            <a:r>
              <a:rPr lang="en-GB" sz="1600" dirty="0"/>
              <a:t>Harefield Hospital </a:t>
            </a:r>
          </a:p>
        </p:txBody>
      </p:sp>
      <p:pic>
        <p:nvPicPr>
          <p:cNvPr id="5" name="Picture 2" descr="Lungs Breathing GIFs | Tenor">
            <a:extLst>
              <a:ext uri="{FF2B5EF4-FFF2-40B4-BE49-F238E27FC236}">
                <a16:creationId xmlns:a16="http://schemas.microsoft.com/office/drawing/2014/main" id="{1D785528-169D-09D3-928E-9DEB60F40C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479" y="1934908"/>
            <a:ext cx="3732022" cy="279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6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330355-67D6-E357-6FCA-655B07599A7B}"/>
              </a:ext>
            </a:extLst>
          </p:cNvPr>
          <p:cNvSpPr txBox="1">
            <a:spLocks/>
          </p:cNvSpPr>
          <p:nvPr/>
        </p:nvSpPr>
        <p:spPr>
          <a:xfrm>
            <a:off x="98598" y="1096962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Learning Outcomes  </a:t>
            </a:r>
          </a:p>
        </p:txBody>
      </p:sp>
      <p:pic>
        <p:nvPicPr>
          <p:cNvPr id="6" name="Picture 4" descr="Checklist GIF | Gfycat">
            <a:extLst>
              <a:ext uri="{FF2B5EF4-FFF2-40B4-BE49-F238E27FC236}">
                <a16:creationId xmlns:a16="http://schemas.microsoft.com/office/drawing/2014/main" id="{B31DEE7E-377F-54A0-EA51-C9FB34044A0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2" y="263525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A361CB2-FDAE-21F9-0739-E5E898B969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69527"/>
              </p:ext>
            </p:extLst>
          </p:nvPr>
        </p:nvGraphicFramePr>
        <p:xfrm>
          <a:off x="273844" y="271303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7C64DE0D-E3E4-D0A6-8016-5C31C8148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63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804885-BEC8-D656-A165-B155B9AB84DF}"/>
              </a:ext>
            </a:extLst>
          </p:cNvPr>
          <p:cNvSpPr txBox="1">
            <a:spLocks/>
          </p:cNvSpPr>
          <p:nvPr/>
        </p:nvSpPr>
        <p:spPr>
          <a:xfrm>
            <a:off x="380204" y="1313724"/>
            <a:ext cx="8383587" cy="61555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b="1" kern="1200" dirty="0"/>
              <a:t>Physiological Effect of Positioning </a:t>
            </a:r>
          </a:p>
        </p:txBody>
      </p:sp>
      <p:pic>
        <p:nvPicPr>
          <p:cNvPr id="5" name="Picture 2" descr="How ventilators work and why we need them to fight covid-19">
            <a:extLst>
              <a:ext uri="{FF2B5EF4-FFF2-40B4-BE49-F238E27FC236}">
                <a16:creationId xmlns:a16="http://schemas.microsoft.com/office/drawing/2014/main" id="{16C14A8D-15EB-2CF6-8685-E1323004933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413" y="2716347"/>
            <a:ext cx="4096543" cy="230430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30E91EF-9775-EBAC-9338-E009205B3831}"/>
              </a:ext>
            </a:extLst>
          </p:cNvPr>
          <p:cNvSpPr txBox="1">
            <a:spLocks/>
          </p:cNvSpPr>
          <p:nvPr/>
        </p:nvSpPr>
        <p:spPr>
          <a:xfrm>
            <a:off x="4666457" y="1848678"/>
            <a:ext cx="3652596" cy="4628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indent="-432000" algn="l">
              <a:buFont typeface="Wingdings" panose="05000000000000000000" pitchFamily="2" charset="2"/>
              <a:buChar char=""/>
            </a:pPr>
            <a:r>
              <a:rPr lang="en-US" sz="1400" b="0" kern="1200" dirty="0"/>
              <a:t>Has profound acute effects on</a:t>
            </a:r>
          </a:p>
          <a:p>
            <a:pPr marL="171450" indent="-171450" algn="l">
              <a:buFontTx/>
              <a:buChar char="-"/>
            </a:pPr>
            <a:r>
              <a:rPr lang="en-US" sz="1400" b="0" dirty="0"/>
              <a:t>C</a:t>
            </a:r>
            <a:r>
              <a:rPr lang="en-US" sz="1400" b="0" kern="1200" dirty="0"/>
              <a:t>ardiovascular and cardiopulmonary function</a:t>
            </a:r>
          </a:p>
          <a:p>
            <a:pPr marL="171450" indent="-171450" algn="l">
              <a:buFontTx/>
              <a:buChar char="-"/>
            </a:pPr>
            <a:r>
              <a:rPr lang="en-US" sz="1400" b="0" kern="1200" dirty="0"/>
              <a:t>Influences oxygen transport </a:t>
            </a:r>
          </a:p>
          <a:p>
            <a:pPr marL="171450" indent="-171450" algn="l">
              <a:buFontTx/>
              <a:buChar char="-"/>
            </a:pPr>
            <a:r>
              <a:rPr lang="en-US" sz="1400" b="0" kern="1200" dirty="0"/>
              <a:t>Improved gas exchange</a:t>
            </a:r>
          </a:p>
          <a:p>
            <a:pPr marL="171450" indent="-171450" algn="l">
              <a:buFontTx/>
              <a:buChar char="-"/>
            </a:pPr>
            <a:r>
              <a:rPr lang="en-US" sz="1400" b="0" kern="1200" dirty="0"/>
              <a:t>Reduced supplementary oxygen</a:t>
            </a:r>
          </a:p>
          <a:p>
            <a:pPr marL="171450" indent="-171450" algn="l">
              <a:buFontTx/>
              <a:buChar char="-"/>
            </a:pPr>
            <a:r>
              <a:rPr lang="en-US" sz="1400" b="0" kern="1200" dirty="0"/>
              <a:t>Reduced pharmacological support </a:t>
            </a:r>
          </a:p>
          <a:p>
            <a:pPr marL="171450" indent="-171450" algn="l">
              <a:buFontTx/>
              <a:buChar char="-"/>
            </a:pPr>
            <a:r>
              <a:rPr lang="en-US" sz="1400" b="0" kern="1200" dirty="0"/>
              <a:t>Reduced ventilatory support</a:t>
            </a:r>
          </a:p>
          <a:p>
            <a:pPr algn="l"/>
            <a:r>
              <a:rPr lang="en-US" sz="1400" b="0" kern="1200" dirty="0"/>
              <a:t>              (Burns &amp; Jones, 1975; Dean, 1985)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3FD5187E-80C1-71D8-CA54-5757E885C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16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8F61CFE-FCB8-F5FF-7620-412E860AD7FE}"/>
              </a:ext>
            </a:extLst>
          </p:cNvPr>
          <p:cNvSpPr txBox="1">
            <a:spLocks/>
          </p:cNvSpPr>
          <p:nvPr/>
        </p:nvSpPr>
        <p:spPr>
          <a:xfrm>
            <a:off x="181224" y="1153717"/>
            <a:ext cx="3547581" cy="409302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Supine Position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8AA7CE-427E-3D97-18A8-E1E649290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3556106"/>
              </p:ext>
            </p:extLst>
          </p:nvPr>
        </p:nvGraphicFramePr>
        <p:xfrm>
          <a:off x="3560233" y="1535114"/>
          <a:ext cx="5498042" cy="4646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 descr="Supine Position: Definition, Explanation, Pros, and Cons">
            <a:extLst>
              <a:ext uri="{FF2B5EF4-FFF2-40B4-BE49-F238E27FC236}">
                <a16:creationId xmlns:a16="http://schemas.microsoft.com/office/drawing/2014/main" id="{ECF074FB-6BD5-193D-BEF4-7359B92E8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97" y="3937382"/>
            <a:ext cx="3210436" cy="96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E3EE4E06-E157-1EE1-C652-A646215B9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54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1FD0DB-6016-9E68-10B3-F32964F5DB0A}"/>
              </a:ext>
            </a:extLst>
          </p:cNvPr>
          <p:cNvSpPr txBox="1">
            <a:spLocks/>
          </p:cNvSpPr>
          <p:nvPr/>
        </p:nvSpPr>
        <p:spPr>
          <a:xfrm>
            <a:off x="-134325" y="1382486"/>
            <a:ext cx="3547581" cy="409302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Positioning Supine to Upright increases: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9EC6B0-AE37-98D4-2ABD-9CF0189F8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642286"/>
              </p:ext>
            </p:extLst>
          </p:nvPr>
        </p:nvGraphicFramePr>
        <p:xfrm>
          <a:off x="2735328" y="1544638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5803A1C3-16D7-54B4-6BD0-D165FCE5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36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CED7-9FF0-DD8F-3A02-67A993BF8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4161"/>
            <a:ext cx="7772400" cy="1226872"/>
          </a:xfrm>
        </p:spPr>
        <p:txBody>
          <a:bodyPr/>
          <a:lstStyle/>
          <a:p>
            <a:r>
              <a:rPr lang="en-GB" dirty="0"/>
              <a:t>Lung Volumes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EBFC9-2001-6436-5E5D-05B0AFC74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8984" y="1870883"/>
            <a:ext cx="4543745" cy="2504412"/>
          </a:xfrm>
        </p:spPr>
        <p:txBody>
          <a:bodyPr>
            <a:normAutofit fontScale="25000" lnSpcReduction="20000"/>
          </a:bodyPr>
          <a:lstStyle/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480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US" sz="4800" dirty="0"/>
          </a:p>
          <a:p>
            <a:pPr marL="685800" indent="-685800" algn="l" defTabSz="45720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5600" b="0" dirty="0"/>
              <a:t>TLC (Total Lung Capacity): The total amount of air in the lungs after a full inspiration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5600" b="0" dirty="0"/>
              <a:t>TV (Tidal Volume): The volume of air moving into or out of the lungs during a normal breath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5600" b="0" dirty="0"/>
              <a:t>RV (Residual Volume): The amount of air left in the lungs when expiration is complete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5600" b="0" dirty="0"/>
              <a:t>VC (Vital Capacity): The maximal amount of gas which can be expired from TLC to RV gently (or inspired)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5600" b="0" dirty="0"/>
              <a:t>FRC (Functional Residual Capacity): The amount of air remaining in the lungs after a normal passive exhalation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5600" b="0" i="0" dirty="0">
                <a:effectLst/>
              </a:rPr>
              <a:t> ERV (Expiratory </a:t>
            </a:r>
            <a:r>
              <a:rPr lang="en-GB" sz="5600" b="0" dirty="0"/>
              <a:t>R</a:t>
            </a:r>
            <a:r>
              <a:rPr lang="en-GB" sz="5600" b="0" i="0" dirty="0">
                <a:effectLst/>
              </a:rPr>
              <a:t>eserve </a:t>
            </a:r>
            <a:r>
              <a:rPr lang="en-GB" sz="5600" b="0" dirty="0"/>
              <a:t>V</a:t>
            </a:r>
            <a:r>
              <a:rPr lang="en-GB" sz="5600" b="0" i="0" dirty="0">
                <a:effectLst/>
              </a:rPr>
              <a:t>olume): The extra volume of air that can be expired with maximum effort beyond the level reached at the end of a normal tidal volume expiration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5600" b="0" i="0" dirty="0">
                <a:effectLst/>
              </a:rPr>
              <a:t> </a:t>
            </a:r>
            <a:r>
              <a:rPr lang="en-GB" sz="5600" b="0" dirty="0"/>
              <a:t>IRV (Inspiratory Reserve Volume): The volume </a:t>
            </a:r>
            <a:r>
              <a:rPr lang="en-GB" sz="5600" b="0" i="0" dirty="0">
                <a:effectLst/>
              </a:rPr>
              <a:t>of air that can be inhaled forcefully after normal tidal volume inspiration</a:t>
            </a:r>
            <a:r>
              <a:rPr lang="en-GB" sz="5600" b="0" dirty="0"/>
              <a:t> 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5600" b="0" i="0" dirty="0">
                <a:effectLst/>
              </a:rPr>
              <a:t>CV (Closing </a:t>
            </a:r>
            <a:r>
              <a:rPr lang="en-GB" sz="5600" b="0" dirty="0"/>
              <a:t>V</a:t>
            </a:r>
            <a:r>
              <a:rPr lang="en-GB" sz="5600" b="0" i="0" dirty="0">
                <a:effectLst/>
              </a:rPr>
              <a:t>olume/Capacity): The volume of air at which small basal airways start to close on expiration 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4800" i="0" dirty="0">
              <a:effectLst/>
            </a:endParaRPr>
          </a:p>
          <a:p>
            <a:endParaRPr lang="en-GB" dirty="0"/>
          </a:p>
        </p:txBody>
      </p:sp>
      <p:pic>
        <p:nvPicPr>
          <p:cNvPr id="22" name="Picture 4" descr="Image result for lung volumes">
            <a:hlinkClick r:id="rId2"/>
            <a:extLst>
              <a:ext uri="{FF2B5EF4-FFF2-40B4-BE49-F238E27FC236}">
                <a16:creationId xmlns:a16="http://schemas.microsoft.com/office/drawing/2014/main" id="{A1B34CAC-83FC-623B-5214-8C3DB6FB2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10"/>
          <a:stretch/>
        </p:blipFill>
        <p:spPr bwMode="auto">
          <a:xfrm>
            <a:off x="141271" y="2566023"/>
            <a:ext cx="3856774" cy="314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61A91D-F306-503C-E5E9-60D30F4D75A7}"/>
              </a:ext>
            </a:extLst>
          </p:cNvPr>
          <p:cNvCxnSpPr/>
          <p:nvPr/>
        </p:nvCxnSpPr>
        <p:spPr>
          <a:xfrm flipV="1">
            <a:off x="4109663" y="2561437"/>
            <a:ext cx="0" cy="143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25B545-73BF-D53B-D4C8-E6504ED997C7}"/>
              </a:ext>
            </a:extLst>
          </p:cNvPr>
          <p:cNvCxnSpPr>
            <a:cxnSpLocks/>
          </p:cNvCxnSpPr>
          <p:nvPr/>
        </p:nvCxnSpPr>
        <p:spPr>
          <a:xfrm>
            <a:off x="4084611" y="4375295"/>
            <a:ext cx="0" cy="1335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B2DA19-DFA1-D07C-7977-3E10750761CE}"/>
              </a:ext>
            </a:extLst>
          </p:cNvPr>
          <p:cNvSpPr txBox="1"/>
          <p:nvPr/>
        </p:nvSpPr>
        <p:spPr>
          <a:xfrm>
            <a:off x="3881221" y="3981823"/>
            <a:ext cx="73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TLC</a:t>
            </a:r>
          </a:p>
        </p:txBody>
      </p:sp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3C0BB3FB-69A1-5A04-5574-983328CED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6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11B5A1-CC61-8411-609D-F4269984F358}"/>
              </a:ext>
            </a:extLst>
          </p:cNvPr>
          <p:cNvSpPr txBox="1">
            <a:spLocks/>
          </p:cNvSpPr>
          <p:nvPr/>
        </p:nvSpPr>
        <p:spPr>
          <a:xfrm>
            <a:off x="601111" y="1762630"/>
            <a:ext cx="3159231" cy="351828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Positioning Supine to Upright decreases: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7B70382-8AB9-7B42-B307-37F347738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5223849"/>
              </p:ext>
            </p:extLst>
          </p:nvPr>
        </p:nvGraphicFramePr>
        <p:xfrm>
          <a:off x="3971331" y="1674028"/>
          <a:ext cx="5000865" cy="4280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F3D03146-20C9-D434-8E24-874E6A081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188" y="1701009"/>
            <a:ext cx="4358812" cy="1226872"/>
          </a:xfrm>
        </p:spPr>
        <p:txBody>
          <a:bodyPr/>
          <a:lstStyle/>
          <a:p>
            <a:r>
              <a:rPr lang="en-GB" dirty="0"/>
              <a:t>Prone Position: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504F23-27F8-711F-1BA8-2EDBB9596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1675675"/>
            <a:ext cx="4543745" cy="2504412"/>
          </a:xfrm>
        </p:spPr>
        <p:txBody>
          <a:bodyPr>
            <a:normAutofit fontScale="25000" lnSpcReduction="20000"/>
          </a:bodyPr>
          <a:lstStyle/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480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US" sz="480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7200" b="0" dirty="0"/>
              <a:t>Improved lung compliance secondary to stabilisation of the anterior chest wall</a:t>
            </a:r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72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7200" b="0" dirty="0"/>
              <a:t>Improved diaphragmatic excursion</a:t>
            </a:r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72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7200" b="0" dirty="0"/>
              <a:t>Increased FRC</a:t>
            </a:r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72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7200" b="0" dirty="0"/>
              <a:t>Reduced airway closure</a:t>
            </a:r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72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7200" b="0" dirty="0"/>
              <a:t>Improved PaO</a:t>
            </a:r>
            <a:r>
              <a:rPr lang="en-GB" sz="7200" b="0" baseline="-25000" dirty="0"/>
              <a:t>2</a:t>
            </a:r>
          </a:p>
          <a:p>
            <a:endParaRPr lang="en-GB" sz="7200" b="0" baseline="-25000" dirty="0"/>
          </a:p>
          <a:p>
            <a:pPr marL="0" indent="0" algn="r">
              <a:buNone/>
            </a:pPr>
            <a:r>
              <a:rPr lang="en-GB" sz="7200" b="0" dirty="0"/>
              <a:t>(Dean, 1985; Pelosi et al, 1998)</a:t>
            </a: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7200" i="0" dirty="0">
              <a:effectLst/>
            </a:endParaRPr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4800" i="0" dirty="0">
              <a:effectLst/>
            </a:endParaRPr>
          </a:p>
          <a:p>
            <a:endParaRPr lang="en-GB" dirty="0"/>
          </a:p>
        </p:txBody>
      </p:sp>
      <p:pic>
        <p:nvPicPr>
          <p:cNvPr id="12" name="Picture 2" descr="Frontiers | Prolonged Active Prone Positioning in Spontaneously Breathing  Non-intubated Patients With COVID-19-Associated Hypoxemic Acute Respiratory  Failure With PaO2/FiO2 &gt;150">
            <a:extLst>
              <a:ext uri="{FF2B5EF4-FFF2-40B4-BE49-F238E27FC236}">
                <a16:creationId xmlns:a16="http://schemas.microsoft.com/office/drawing/2014/main" id="{3813BC2C-DCE7-E4FA-8054-CE0EDA99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188" y="3418738"/>
            <a:ext cx="4281186" cy="215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083CC5D3-11C2-A403-4967-23F229432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80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23504F23-27F8-711F-1BA8-2EDBB9596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0519" y="2135440"/>
            <a:ext cx="5174743" cy="4906113"/>
          </a:xfrm>
        </p:spPr>
        <p:txBody>
          <a:bodyPr>
            <a:noAutofit/>
          </a:bodyPr>
          <a:lstStyle/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3600" dirty="0"/>
          </a:p>
          <a:p>
            <a:pPr marL="685800" indent="-685800" algn="l" defTabSz="4572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US" sz="3600" b="0" dirty="0"/>
          </a:p>
          <a:p>
            <a:pPr marL="342900" indent="-3429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2000" b="0" dirty="0"/>
              <a:t>For efficient gas exchange there needs to be a close match between:</a:t>
            </a:r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2000" b="0" dirty="0"/>
          </a:p>
          <a:p>
            <a:pPr marL="342900" indent="-342900" algn="l">
              <a:buFontTx/>
              <a:buChar char="-"/>
            </a:pPr>
            <a:r>
              <a:rPr lang="en-GB" sz="2000" dirty="0"/>
              <a:t>Alveolar ventilation (V)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Alveolar perfusion (Q)</a:t>
            </a:r>
          </a:p>
          <a:p>
            <a:pPr algn="l"/>
            <a:endParaRPr lang="en-GB" sz="20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2000" b="0" baseline="-25000" dirty="0"/>
          </a:p>
          <a:p>
            <a:endParaRPr lang="en-GB" sz="3600" b="0" baseline="-25000" dirty="0"/>
          </a:p>
          <a:p>
            <a:endParaRPr lang="en-GB" sz="3600" dirty="0"/>
          </a:p>
        </p:txBody>
      </p:sp>
      <p:pic>
        <p:nvPicPr>
          <p:cNvPr id="14" name="Picture 2" descr="What's a V/Q Mismatch? - Straight A Nursing">
            <a:extLst>
              <a:ext uri="{FF2B5EF4-FFF2-40B4-BE49-F238E27FC236}">
                <a16:creationId xmlns:a16="http://schemas.microsoft.com/office/drawing/2014/main" id="{39E58CE3-3ED0-5690-28DD-FDC30C5AD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877" y="882529"/>
            <a:ext cx="2530607" cy="525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361EF4-2C8B-C258-1162-FD929646CF59}"/>
              </a:ext>
            </a:extLst>
          </p:cNvPr>
          <p:cNvCxnSpPr>
            <a:cxnSpLocks/>
          </p:cNvCxnSpPr>
          <p:nvPr/>
        </p:nvCxnSpPr>
        <p:spPr>
          <a:xfrm>
            <a:off x="1869346" y="1098425"/>
            <a:ext cx="0" cy="1977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BADDC1-2100-C3C0-9D5B-8693ED5A2DF3}"/>
              </a:ext>
            </a:extLst>
          </p:cNvPr>
          <p:cNvCxnSpPr>
            <a:cxnSpLocks/>
          </p:cNvCxnSpPr>
          <p:nvPr/>
        </p:nvCxnSpPr>
        <p:spPr>
          <a:xfrm>
            <a:off x="575345" y="5854179"/>
            <a:ext cx="2530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F686FB-B90A-A891-D8FF-BDCC6F68A117}"/>
              </a:ext>
            </a:extLst>
          </p:cNvPr>
          <p:cNvSpPr txBox="1"/>
          <p:nvPr/>
        </p:nvSpPr>
        <p:spPr>
          <a:xfrm>
            <a:off x="186087" y="5680615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31F44-8CA6-4EB0-F3CC-AA4FDE5E4AC0}"/>
              </a:ext>
            </a:extLst>
          </p:cNvPr>
          <p:cNvSpPr txBox="1"/>
          <p:nvPr/>
        </p:nvSpPr>
        <p:spPr>
          <a:xfrm>
            <a:off x="1693748" y="774536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22888E-665B-86B9-67E5-C65080A2C79F}"/>
              </a:ext>
            </a:extLst>
          </p:cNvPr>
          <p:cNvSpPr txBox="1"/>
          <p:nvPr/>
        </p:nvSpPr>
        <p:spPr>
          <a:xfrm>
            <a:off x="1175497" y="4275747"/>
            <a:ext cx="14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Alveolar gas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9AC20-F430-6451-E4FA-614C7A0845C0}"/>
              </a:ext>
            </a:extLst>
          </p:cNvPr>
          <p:cNvSpPr txBox="1"/>
          <p:nvPr/>
        </p:nvSpPr>
        <p:spPr>
          <a:xfrm>
            <a:off x="1008379" y="5910723"/>
            <a:ext cx="174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Capillary flow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3630950-726B-C6D3-A101-0E7DC39D2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6111" y="1504452"/>
            <a:ext cx="5961579" cy="1226872"/>
          </a:xfrm>
        </p:spPr>
        <p:txBody>
          <a:bodyPr/>
          <a:lstStyle/>
          <a:p>
            <a:r>
              <a:rPr lang="en-GB" dirty="0"/>
              <a:t>Ventilation/Perfusion (V/Q) Matching</a:t>
            </a:r>
          </a:p>
        </p:txBody>
      </p:sp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8BA535D6-168A-137D-D56D-824D5D2D2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19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DF686FB-B90A-A891-D8FF-BDCC6F68A117}"/>
              </a:ext>
            </a:extLst>
          </p:cNvPr>
          <p:cNvSpPr txBox="1"/>
          <p:nvPr/>
        </p:nvSpPr>
        <p:spPr>
          <a:xfrm>
            <a:off x="840271" y="5959062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C627BF-CE8B-BD59-95C9-FA716B896C70}"/>
              </a:ext>
            </a:extLst>
          </p:cNvPr>
          <p:cNvCxnSpPr>
            <a:cxnSpLocks/>
          </p:cNvCxnSpPr>
          <p:nvPr/>
        </p:nvCxnSpPr>
        <p:spPr>
          <a:xfrm>
            <a:off x="-1142413" y="10202776"/>
            <a:ext cx="2530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634EE2-B350-A5A2-D8FE-F231B943B9F5}"/>
              </a:ext>
            </a:extLst>
          </p:cNvPr>
          <p:cNvSpPr txBox="1"/>
          <p:nvPr/>
        </p:nvSpPr>
        <p:spPr>
          <a:xfrm>
            <a:off x="-1384264" y="9649018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06E13-D0A8-275B-6BB5-178CFC114183}"/>
              </a:ext>
            </a:extLst>
          </p:cNvPr>
          <p:cNvSpPr txBox="1"/>
          <p:nvPr/>
        </p:nvSpPr>
        <p:spPr>
          <a:xfrm>
            <a:off x="-538029" y="8597842"/>
            <a:ext cx="14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Alveolar gas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834EE-9E7A-98E5-CDC2-C263F209EF6E}"/>
              </a:ext>
            </a:extLst>
          </p:cNvPr>
          <p:cNvSpPr txBox="1"/>
          <p:nvPr/>
        </p:nvSpPr>
        <p:spPr>
          <a:xfrm>
            <a:off x="-750911" y="10318204"/>
            <a:ext cx="174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Capillary flow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6986D32-30B9-AABD-FE2A-9402146BDA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377111"/>
              </p:ext>
            </p:extLst>
          </p:nvPr>
        </p:nvGraphicFramePr>
        <p:xfrm>
          <a:off x="3995918" y="2618436"/>
          <a:ext cx="5903955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Picture 2" descr="Checkmark-sticker GIFs - Get the best GIF on GIPHY">
            <a:extLst>
              <a:ext uri="{FF2B5EF4-FFF2-40B4-BE49-F238E27FC236}">
                <a16:creationId xmlns:a16="http://schemas.microsoft.com/office/drawing/2014/main" id="{63A2CE89-064F-392C-A911-D586B53FE52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00" y="9197860"/>
            <a:ext cx="1688443" cy="168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What's a V/Q Mismatch? - Straight A Nursing">
            <a:extLst>
              <a:ext uri="{FF2B5EF4-FFF2-40B4-BE49-F238E27FC236}">
                <a16:creationId xmlns:a16="http://schemas.microsoft.com/office/drawing/2014/main" id="{73AF24FB-8844-2347-3C06-568CCE0D3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2993" y="1037301"/>
            <a:ext cx="2530607" cy="525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581599-1F0A-EB25-8CEE-600EB26102C8}"/>
              </a:ext>
            </a:extLst>
          </p:cNvPr>
          <p:cNvCxnSpPr>
            <a:cxnSpLocks/>
          </p:cNvCxnSpPr>
          <p:nvPr/>
        </p:nvCxnSpPr>
        <p:spPr>
          <a:xfrm flipH="1">
            <a:off x="2529659" y="1166190"/>
            <a:ext cx="1" cy="2067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1972DE-20C7-DE2E-AFE5-012FC3D772AB}"/>
              </a:ext>
            </a:extLst>
          </p:cNvPr>
          <p:cNvCxnSpPr>
            <a:cxnSpLocks/>
          </p:cNvCxnSpPr>
          <p:nvPr/>
        </p:nvCxnSpPr>
        <p:spPr>
          <a:xfrm>
            <a:off x="1232992" y="6199118"/>
            <a:ext cx="2530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BA1F6A1-1F70-C5F5-AD88-5F4D44C88860}"/>
              </a:ext>
            </a:extLst>
          </p:cNvPr>
          <p:cNvSpPr txBox="1"/>
          <p:nvPr/>
        </p:nvSpPr>
        <p:spPr>
          <a:xfrm>
            <a:off x="2368195" y="827487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906F8-A2A5-8E98-CB82-A2F2D60652A3}"/>
              </a:ext>
            </a:extLst>
          </p:cNvPr>
          <p:cNvSpPr txBox="1"/>
          <p:nvPr/>
        </p:nvSpPr>
        <p:spPr>
          <a:xfrm>
            <a:off x="1868740" y="4734759"/>
            <a:ext cx="14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Alveolar gas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F5FA93-0E81-81DA-E634-8DC8BD605B85}"/>
              </a:ext>
            </a:extLst>
          </p:cNvPr>
          <p:cNvSpPr txBox="1"/>
          <p:nvPr/>
        </p:nvSpPr>
        <p:spPr>
          <a:xfrm>
            <a:off x="1776762" y="6239826"/>
            <a:ext cx="174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Capillary flow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EF313CD-1C5A-7D47-6875-90874F43995F}"/>
              </a:ext>
            </a:extLst>
          </p:cNvPr>
          <p:cNvSpPr/>
          <p:nvPr/>
        </p:nvSpPr>
        <p:spPr>
          <a:xfrm>
            <a:off x="2239616" y="3233530"/>
            <a:ext cx="636105" cy="71561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3352986-E72E-3E30-0030-831ACB617A7C}"/>
              </a:ext>
            </a:extLst>
          </p:cNvPr>
          <p:cNvCxnSpPr/>
          <p:nvPr/>
        </p:nvCxnSpPr>
        <p:spPr>
          <a:xfrm>
            <a:off x="1856814" y="1489269"/>
            <a:ext cx="1345690" cy="11529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683C9D-3C86-92FB-3364-87CF0D134DF3}"/>
              </a:ext>
            </a:extLst>
          </p:cNvPr>
          <p:cNvCxnSpPr>
            <a:cxnSpLocks/>
          </p:cNvCxnSpPr>
          <p:nvPr/>
        </p:nvCxnSpPr>
        <p:spPr>
          <a:xfrm flipH="1">
            <a:off x="1856814" y="1502514"/>
            <a:ext cx="1282966" cy="11396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Checkmark-sticker GIFs - Get the best GIF on GIPHY">
            <a:extLst>
              <a:ext uri="{FF2B5EF4-FFF2-40B4-BE49-F238E27FC236}">
                <a16:creationId xmlns:a16="http://schemas.microsoft.com/office/drawing/2014/main" id="{CCBB6740-3F20-EFDE-AAD9-C263248BBA7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537" y="5628244"/>
            <a:ext cx="1229756" cy="122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itle 36">
            <a:extLst>
              <a:ext uri="{FF2B5EF4-FFF2-40B4-BE49-F238E27FC236}">
                <a16:creationId xmlns:a16="http://schemas.microsoft.com/office/drawing/2014/main" id="{F9715164-9780-58F2-B6C4-DD65A87A7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1124" y="928853"/>
            <a:ext cx="7772400" cy="1226872"/>
          </a:xfrm>
        </p:spPr>
        <p:txBody>
          <a:bodyPr/>
          <a:lstStyle/>
          <a:p>
            <a:r>
              <a:rPr lang="en-GB" dirty="0"/>
              <a:t>V/Q Mismatch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84C8FE2A-9874-0194-E9B3-09723F995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8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C627BF-CE8B-BD59-95C9-FA716B896C70}"/>
              </a:ext>
            </a:extLst>
          </p:cNvPr>
          <p:cNvCxnSpPr>
            <a:cxnSpLocks/>
          </p:cNvCxnSpPr>
          <p:nvPr/>
        </p:nvCxnSpPr>
        <p:spPr>
          <a:xfrm>
            <a:off x="-1142413" y="10202776"/>
            <a:ext cx="2530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634EE2-B350-A5A2-D8FE-F231B943B9F5}"/>
              </a:ext>
            </a:extLst>
          </p:cNvPr>
          <p:cNvSpPr txBox="1"/>
          <p:nvPr/>
        </p:nvSpPr>
        <p:spPr>
          <a:xfrm>
            <a:off x="-1384264" y="9649018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06E13-D0A8-275B-6BB5-178CFC114183}"/>
              </a:ext>
            </a:extLst>
          </p:cNvPr>
          <p:cNvSpPr txBox="1"/>
          <p:nvPr/>
        </p:nvSpPr>
        <p:spPr>
          <a:xfrm>
            <a:off x="-538029" y="8597842"/>
            <a:ext cx="14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Alveolar gas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834EE-9E7A-98E5-CDC2-C263F209EF6E}"/>
              </a:ext>
            </a:extLst>
          </p:cNvPr>
          <p:cNvSpPr txBox="1"/>
          <p:nvPr/>
        </p:nvSpPr>
        <p:spPr>
          <a:xfrm>
            <a:off x="-750911" y="10318204"/>
            <a:ext cx="174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Capillary flow</a:t>
            </a:r>
          </a:p>
        </p:txBody>
      </p:sp>
      <p:pic>
        <p:nvPicPr>
          <p:cNvPr id="22" name="Picture 2" descr="Checkmark-sticker GIFs - Get the best GIF on GIPHY">
            <a:extLst>
              <a:ext uri="{FF2B5EF4-FFF2-40B4-BE49-F238E27FC236}">
                <a16:creationId xmlns:a16="http://schemas.microsoft.com/office/drawing/2014/main" id="{63A2CE89-064F-392C-A911-D586B53FE52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00" y="9197860"/>
            <a:ext cx="1688443" cy="168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BA1F6A1-1F70-C5F5-AD88-5F4D44C88860}"/>
              </a:ext>
            </a:extLst>
          </p:cNvPr>
          <p:cNvSpPr txBox="1"/>
          <p:nvPr/>
        </p:nvSpPr>
        <p:spPr>
          <a:xfrm>
            <a:off x="2519571" y="654786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F9715164-9780-58F2-B6C4-DD65A87A7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1124" y="928853"/>
            <a:ext cx="7772400" cy="1226872"/>
          </a:xfrm>
        </p:spPr>
        <p:txBody>
          <a:bodyPr/>
          <a:lstStyle/>
          <a:p>
            <a:r>
              <a:rPr lang="en-GB" dirty="0"/>
              <a:t>V/Q Mismatch</a:t>
            </a:r>
          </a:p>
        </p:txBody>
      </p:sp>
      <p:pic>
        <p:nvPicPr>
          <p:cNvPr id="2" name="Picture 2" descr="What's a V/Q Mismatch? - Straight A Nursing">
            <a:extLst>
              <a:ext uri="{FF2B5EF4-FFF2-40B4-BE49-F238E27FC236}">
                <a16:creationId xmlns:a16="http://schemas.microsoft.com/office/drawing/2014/main" id="{4577845C-25F1-5101-CD5F-6C5DDA35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5820" y="1167840"/>
            <a:ext cx="2530607" cy="525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8E674EB-BB6B-5914-713F-22D219498BE7}"/>
              </a:ext>
            </a:extLst>
          </p:cNvPr>
          <p:cNvCxnSpPr>
            <a:cxnSpLocks/>
          </p:cNvCxnSpPr>
          <p:nvPr/>
        </p:nvCxnSpPr>
        <p:spPr>
          <a:xfrm flipH="1">
            <a:off x="2691123" y="952545"/>
            <a:ext cx="1" cy="2067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F52A72-620A-995D-AF7A-B2993BDA6E51}"/>
              </a:ext>
            </a:extLst>
          </p:cNvPr>
          <p:cNvCxnSpPr>
            <a:cxnSpLocks/>
          </p:cNvCxnSpPr>
          <p:nvPr/>
        </p:nvCxnSpPr>
        <p:spPr>
          <a:xfrm>
            <a:off x="1425820" y="6126048"/>
            <a:ext cx="975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9BC895-9D19-123D-4A39-8EFDEDB29577}"/>
              </a:ext>
            </a:extLst>
          </p:cNvPr>
          <p:cNvSpPr txBox="1"/>
          <p:nvPr/>
        </p:nvSpPr>
        <p:spPr>
          <a:xfrm>
            <a:off x="1060568" y="5929858"/>
            <a:ext cx="96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5C7ED-538D-D481-7A45-B6D8EEC38423}"/>
              </a:ext>
            </a:extLst>
          </p:cNvPr>
          <p:cNvSpPr txBox="1"/>
          <p:nvPr/>
        </p:nvSpPr>
        <p:spPr>
          <a:xfrm>
            <a:off x="2030204" y="4521114"/>
            <a:ext cx="14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Alveolar gas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A3F1B4-6256-865D-77D6-08D4CEF63452}"/>
              </a:ext>
            </a:extLst>
          </p:cNvPr>
          <p:cNvSpPr txBox="1"/>
          <p:nvPr/>
        </p:nvSpPr>
        <p:spPr>
          <a:xfrm>
            <a:off x="1801979" y="6395215"/>
            <a:ext cx="174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Capillary flow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E9DB97D-C65A-6B42-BAC7-667E4A838F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9471991"/>
              </p:ext>
            </p:extLst>
          </p:nvPr>
        </p:nvGraphicFramePr>
        <p:xfrm>
          <a:off x="3560618" y="2300131"/>
          <a:ext cx="5903955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E4998A13-4CA9-1884-EC21-13F6DB928FCF}"/>
              </a:ext>
            </a:extLst>
          </p:cNvPr>
          <p:cNvSpPr/>
          <p:nvPr/>
        </p:nvSpPr>
        <p:spPr>
          <a:xfrm>
            <a:off x="2395456" y="5941621"/>
            <a:ext cx="389325" cy="369329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5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5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2" descr="Checkmark-sticker GIFs - Get the best GIF on GIPHY">
            <a:extLst>
              <a:ext uri="{FF2B5EF4-FFF2-40B4-BE49-F238E27FC236}">
                <a16:creationId xmlns:a16="http://schemas.microsoft.com/office/drawing/2014/main" id="{AE48669A-9C9D-538F-EE4B-B73453F3DFA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450" y="928853"/>
            <a:ext cx="1688443" cy="168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14B3C2-8CF2-A31E-0EBC-1412C8BA35CA}"/>
              </a:ext>
            </a:extLst>
          </p:cNvPr>
          <p:cNvCxnSpPr>
            <a:cxnSpLocks/>
          </p:cNvCxnSpPr>
          <p:nvPr/>
        </p:nvCxnSpPr>
        <p:spPr>
          <a:xfrm>
            <a:off x="3248327" y="5801707"/>
            <a:ext cx="555572" cy="73347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3A90B4-6255-FECF-7B71-F7D26BCB9768}"/>
              </a:ext>
            </a:extLst>
          </p:cNvPr>
          <p:cNvCxnSpPr>
            <a:cxnSpLocks/>
          </p:cNvCxnSpPr>
          <p:nvPr/>
        </p:nvCxnSpPr>
        <p:spPr>
          <a:xfrm flipV="1">
            <a:off x="3142735" y="5815991"/>
            <a:ext cx="813692" cy="6297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6" descr="London Metropolitan University - London ...">
            <a:extLst>
              <a:ext uri="{FF2B5EF4-FFF2-40B4-BE49-F238E27FC236}">
                <a16:creationId xmlns:a16="http://schemas.microsoft.com/office/drawing/2014/main" id="{4C8AA0E7-15DF-DBA3-E90A-DF230C803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60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7A84-CD36-4ED4-168F-BE9F05206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944" y="813887"/>
            <a:ext cx="7772400" cy="1226872"/>
          </a:xfrm>
        </p:spPr>
        <p:txBody>
          <a:bodyPr/>
          <a:lstStyle/>
          <a:p>
            <a:r>
              <a:rPr lang="en-GB" dirty="0"/>
              <a:t>Autoregulatory Mechanisms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64C61B5-28AA-99EC-4DB3-23F1A87AA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04" y="1684962"/>
            <a:ext cx="8542987" cy="2568540"/>
          </a:xfrm>
        </p:spPr>
        <p:txBody>
          <a:bodyPr>
            <a:noAutofit/>
          </a:bodyPr>
          <a:lstStyle/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1600" dirty="0"/>
          </a:p>
          <a:p>
            <a:pPr marL="285750" indent="-2857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800" dirty="0"/>
              <a:t>Hypoxic Pulmonary Vasoconstriction </a:t>
            </a:r>
          </a:p>
          <a:p>
            <a:pPr marL="171450" indent="-1714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Tx/>
              <a:buChar char="-"/>
            </a:pPr>
            <a:r>
              <a:rPr lang="en-GB" sz="1600" b="0" dirty="0"/>
              <a:t>Occurs in regions of poorly ventilated alveoli</a:t>
            </a:r>
          </a:p>
          <a:p>
            <a:pPr marL="171450" indent="-1714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Tx/>
              <a:buChar char="-"/>
            </a:pPr>
            <a:r>
              <a:rPr lang="en-GB" sz="1600" b="0" dirty="0"/>
              <a:t>Matching of poor Q to poor V</a:t>
            </a:r>
          </a:p>
          <a:p>
            <a:pPr marL="171450" indent="-1714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Tx/>
              <a:buChar char="-"/>
            </a:pPr>
            <a:r>
              <a:rPr lang="en-GB" sz="1600" b="0" dirty="0"/>
              <a:t>Diverts blood to better ventilated alveoli </a:t>
            </a:r>
          </a:p>
          <a:p>
            <a:pPr marL="171450" indent="-1714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Tx/>
              <a:buChar char="-"/>
            </a:pPr>
            <a:r>
              <a:rPr lang="en-GB" sz="1600" b="0" dirty="0"/>
              <a:t>Can become chronic and widespread leading to increased resistance to blood flow and right heart failure</a:t>
            </a:r>
          </a:p>
          <a:p>
            <a:pPr marL="171450" indent="-17145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Tx/>
              <a:buChar char="-"/>
            </a:pPr>
            <a:r>
              <a:rPr lang="en-GB" sz="1600" b="0" dirty="0"/>
              <a:t>Cor Pulmonale</a:t>
            </a:r>
          </a:p>
          <a:p>
            <a:pPr marL="0" indent="0">
              <a:buNone/>
            </a:pPr>
            <a:r>
              <a:rPr lang="en-GB" sz="1600" dirty="0"/>
              <a:t> </a:t>
            </a:r>
          </a:p>
          <a:p>
            <a:pPr marL="342900" indent="-3429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1600" b="0" dirty="0"/>
          </a:p>
          <a:p>
            <a:pPr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GB" sz="1600" b="0" dirty="0"/>
          </a:p>
          <a:p>
            <a:pPr algn="l"/>
            <a:endParaRPr lang="en-GB" sz="1600" b="0" dirty="0"/>
          </a:p>
          <a:p>
            <a:pPr marL="685800" indent="-685800" algn="l" defTabSz="457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</a:pPr>
            <a:endParaRPr lang="en-GB" sz="1600" b="0" baseline="-25000" dirty="0"/>
          </a:p>
          <a:p>
            <a:endParaRPr lang="en-GB" sz="1600" b="0" baseline="-25000" dirty="0"/>
          </a:p>
          <a:p>
            <a:endParaRPr lang="en-GB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9280AE-7DC7-A7C6-DBE0-6DB98C20473B}"/>
              </a:ext>
            </a:extLst>
          </p:cNvPr>
          <p:cNvSpPr txBox="1">
            <a:spLocks/>
          </p:cNvSpPr>
          <p:nvPr/>
        </p:nvSpPr>
        <p:spPr>
          <a:xfrm>
            <a:off x="489381" y="4479925"/>
            <a:ext cx="4904552" cy="190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tx1"/>
                </a:solidFill>
              </a:rPr>
              <a:t>Pulmonary Vasodilation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Occurs in areas where ventilation is good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Arterioles dilate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Matching good V to good Q</a:t>
            </a:r>
          </a:p>
          <a:p>
            <a:pPr marL="0" indent="0">
              <a:buFont typeface="Wingdings 3" charset="2"/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73DA1-2B7A-63F8-352A-965075C57960}"/>
              </a:ext>
            </a:extLst>
          </p:cNvPr>
          <p:cNvSpPr txBox="1">
            <a:spLocks/>
          </p:cNvSpPr>
          <p:nvPr/>
        </p:nvSpPr>
        <p:spPr>
          <a:xfrm>
            <a:off x="5275318" y="4243620"/>
            <a:ext cx="3868682" cy="24725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tx1"/>
                </a:solidFill>
              </a:rPr>
              <a:t>The Bronchial Response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Sensitive to CO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Bronchodilation in the presence of high CO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Bronchoconstriction in the presence of low CO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</a:p>
          <a:p>
            <a:pPr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Normalising CO</a:t>
            </a:r>
            <a:r>
              <a:rPr lang="en-GB" baseline="-25000" dirty="0">
                <a:solidFill>
                  <a:schemeClr val="tx1"/>
                </a:solidFill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 levels </a:t>
            </a:r>
          </a:p>
          <a:p>
            <a:pPr>
              <a:buFontTx/>
              <a:buChar char="-"/>
            </a:pPr>
            <a:endParaRPr lang="en-GB" baseline="-25000" dirty="0"/>
          </a:p>
          <a:p>
            <a:pPr marL="0" indent="0">
              <a:buFont typeface="Wingdings 3" charset="2"/>
              <a:buNone/>
            </a:pPr>
            <a:endParaRPr lang="en-GB" dirty="0"/>
          </a:p>
        </p:txBody>
      </p:sp>
      <p:pic>
        <p:nvPicPr>
          <p:cNvPr id="10" name="Picture 2" descr="Blood Flow &amp; Vascular Resistance on Make a GIF">
            <a:extLst>
              <a:ext uri="{FF2B5EF4-FFF2-40B4-BE49-F238E27FC236}">
                <a16:creationId xmlns:a16="http://schemas.microsoft.com/office/drawing/2014/main" id="{E9167632-D688-A553-5F28-D3C10201527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595" y="2040759"/>
            <a:ext cx="2462749" cy="138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C6DCB822-89CA-4D43-C418-C4FDBAE98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635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E607-54F0-2B22-2C03-9CC4BF025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8223" y="969518"/>
            <a:ext cx="6187613" cy="1226872"/>
          </a:xfrm>
        </p:spPr>
        <p:txBody>
          <a:bodyPr/>
          <a:lstStyle/>
          <a:p>
            <a:r>
              <a:rPr lang="en-GB" dirty="0"/>
              <a:t>V/Q Throughout the Upright Lung</a:t>
            </a:r>
          </a:p>
        </p:txBody>
      </p:sp>
      <p:pic>
        <p:nvPicPr>
          <p:cNvPr id="4" name="Picture 2" descr="Ventilation/Perfusion Matching and Estimating Alveolar Ventilation |  Thoracic Key">
            <a:extLst>
              <a:ext uri="{FF2B5EF4-FFF2-40B4-BE49-F238E27FC236}">
                <a16:creationId xmlns:a16="http://schemas.microsoft.com/office/drawing/2014/main" id="{DACF7CB6-AF9D-3625-FECC-DE305BAE4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68"/>
          <a:stretch/>
        </p:blipFill>
        <p:spPr bwMode="auto">
          <a:xfrm>
            <a:off x="889782" y="2270143"/>
            <a:ext cx="7568420" cy="452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6A591-075D-D689-E843-22CD9097DEFC}"/>
              </a:ext>
            </a:extLst>
          </p:cNvPr>
          <p:cNvSpPr txBox="1">
            <a:spLocks/>
          </p:cNvSpPr>
          <p:nvPr/>
        </p:nvSpPr>
        <p:spPr>
          <a:xfrm>
            <a:off x="5896544" y="6401759"/>
            <a:ext cx="4512988" cy="785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GB" b="0" dirty="0"/>
              <a:t> </a:t>
            </a:r>
            <a:r>
              <a:rPr lang="en-GB" sz="1800" b="0" dirty="0"/>
              <a:t>(West, 2012)</a:t>
            </a:r>
          </a:p>
        </p:txBody>
      </p:sp>
      <p:pic>
        <p:nvPicPr>
          <p:cNvPr id="6" name="Picture 6" descr="London Metropolitan University - London ...">
            <a:extLst>
              <a:ext uri="{FF2B5EF4-FFF2-40B4-BE49-F238E27FC236}">
                <a16:creationId xmlns:a16="http://schemas.microsoft.com/office/drawing/2014/main" id="{585A6C4B-8840-DC5C-5D72-E12B14DC6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31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1464703"/>
            <a:ext cx="4358812" cy="1226872"/>
          </a:xfrm>
        </p:spPr>
        <p:txBody>
          <a:bodyPr/>
          <a:lstStyle/>
          <a:p>
            <a:r>
              <a:rPr lang="en-GB" sz="2800" dirty="0"/>
              <a:t>Causes of regional differences in ventilation: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F2B8-16FE-7D90-2CD9-53F0519DC44C}"/>
              </a:ext>
            </a:extLst>
          </p:cNvPr>
          <p:cNvSpPr txBox="1">
            <a:spLocks/>
          </p:cNvSpPr>
          <p:nvPr/>
        </p:nvSpPr>
        <p:spPr>
          <a:xfrm>
            <a:off x="4572000" y="2868151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700" b="0" dirty="0"/>
              <a:t>Intra-pleural pressure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700" b="0" dirty="0"/>
              <a:t>This is the pressure within the pleural cavity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700" b="0" dirty="0"/>
              <a:t>Intra-pleural pressure is negative to intra-alveolar pressure allowing alveoli to expand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700" b="0" dirty="0"/>
              <a:t>Spontaneous ventilation = negative pressure ventilation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700" b="0" dirty="0"/>
              <a:t>Intra-pleural pressure higher (less negative) at the bases due to the weight of the lungs in an erect posture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700" b="0" dirty="0"/>
              <a:t>The lungs are squashed under their own weight and contained inferiorly by the diaphragm and underlying abdominal organs 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GB" sz="1700" dirty="0">
              <a:solidFill>
                <a:srgbClr val="FFFFFF"/>
              </a:solidFill>
            </a:endParaRPr>
          </a:p>
        </p:txBody>
      </p:sp>
      <p:pic>
        <p:nvPicPr>
          <p:cNvPr id="6" name="Picture 2" descr="transparent slinky gif | WiffleGif">
            <a:extLst>
              <a:ext uri="{FF2B5EF4-FFF2-40B4-BE49-F238E27FC236}">
                <a16:creationId xmlns:a16="http://schemas.microsoft.com/office/drawing/2014/main" id="{921E64E2-FA4A-EEC9-BF6B-CFA2CD1BAFD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518" y="1464703"/>
            <a:ext cx="4343116" cy="469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52C69553-8107-00D1-49C5-B77B7C904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9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1464703"/>
            <a:ext cx="4358812" cy="1226872"/>
          </a:xfrm>
        </p:spPr>
        <p:txBody>
          <a:bodyPr/>
          <a:lstStyle/>
          <a:p>
            <a:r>
              <a:rPr lang="en-GB" sz="2800" dirty="0"/>
              <a:t>Causes of regional differences in ventilation: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F2B8-16FE-7D90-2CD9-53F0519DC44C}"/>
              </a:ext>
            </a:extLst>
          </p:cNvPr>
          <p:cNvSpPr txBox="1">
            <a:spLocks/>
          </p:cNvSpPr>
          <p:nvPr/>
        </p:nvSpPr>
        <p:spPr>
          <a:xfrm>
            <a:off x="4572000" y="2868151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700" b="0" dirty="0"/>
              <a:t>Compliance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r>
              <a:rPr lang="en-GB" sz="1400" b="0" dirty="0"/>
              <a:t>A measure of the ability of an object to yield elastically when a distending force is applied</a:t>
            </a:r>
          </a:p>
          <a:p>
            <a:pPr>
              <a:lnSpc>
                <a:spcPct val="90000"/>
              </a:lnSpc>
            </a:pPr>
            <a:r>
              <a:rPr lang="en-GB" sz="1700" b="0" dirty="0"/>
              <a:t> 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GB" sz="1700" b="0" dirty="0"/>
          </a:p>
          <a:p>
            <a:pPr>
              <a:lnSpc>
                <a:spcPct val="90000"/>
              </a:lnSpc>
              <a:buFontTx/>
              <a:buChar char="-"/>
            </a:pPr>
            <a:endParaRPr lang="en-GB" sz="1700" dirty="0">
              <a:solidFill>
                <a:srgbClr val="FFFFFF"/>
              </a:solidFill>
            </a:endParaRPr>
          </a:p>
        </p:txBody>
      </p:sp>
      <p:pic>
        <p:nvPicPr>
          <p:cNvPr id="7" name="Picture 2" descr="S-Curve Analysis : Strategic Diversity">
            <a:extLst>
              <a:ext uri="{FF2B5EF4-FFF2-40B4-BE49-F238E27FC236}">
                <a16:creationId xmlns:a16="http://schemas.microsoft.com/office/drawing/2014/main" id="{1881C615-B78F-4D92-8407-50F169A9F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1" b="7927"/>
          <a:stretch/>
        </p:blipFill>
        <p:spPr bwMode="auto">
          <a:xfrm>
            <a:off x="213188" y="2339731"/>
            <a:ext cx="4253516" cy="305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82D15F-EDD7-46A9-51C6-592E8DBF4903}"/>
              </a:ext>
            </a:extLst>
          </p:cNvPr>
          <p:cNvSpPr txBox="1"/>
          <p:nvPr/>
        </p:nvSpPr>
        <p:spPr>
          <a:xfrm>
            <a:off x="4320530" y="5095029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D9CE67-DF32-A1EE-E88D-A48C68EA9C85}"/>
              </a:ext>
            </a:extLst>
          </p:cNvPr>
          <p:cNvSpPr/>
          <p:nvPr/>
        </p:nvSpPr>
        <p:spPr>
          <a:xfrm>
            <a:off x="2444459" y="2562553"/>
            <a:ext cx="422030" cy="469284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DDB7CE-6892-B712-29F5-DCE5F77705C6}"/>
              </a:ext>
            </a:extLst>
          </p:cNvPr>
          <p:cNvSpPr/>
          <p:nvPr/>
        </p:nvSpPr>
        <p:spPr>
          <a:xfrm>
            <a:off x="1192375" y="4672787"/>
            <a:ext cx="422030" cy="227585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0DD463-263F-8CEF-274D-CAEE322D6DF9}"/>
              </a:ext>
            </a:extLst>
          </p:cNvPr>
          <p:cNvSpPr/>
          <p:nvPr/>
        </p:nvSpPr>
        <p:spPr>
          <a:xfrm>
            <a:off x="1619474" y="4022564"/>
            <a:ext cx="422030" cy="298268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A2A0BE-2905-612E-50DD-D0EC4CEC34A3}"/>
              </a:ext>
            </a:extLst>
          </p:cNvPr>
          <p:cNvSpPr/>
          <p:nvPr/>
        </p:nvSpPr>
        <p:spPr>
          <a:xfrm>
            <a:off x="2041504" y="3208139"/>
            <a:ext cx="340234" cy="360107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40E20-E58E-CB45-BE87-0C01FDC8461F}"/>
              </a:ext>
            </a:extLst>
          </p:cNvPr>
          <p:cNvSpPr txBox="1"/>
          <p:nvPr/>
        </p:nvSpPr>
        <p:spPr>
          <a:xfrm>
            <a:off x="1830489" y="2238410"/>
            <a:ext cx="933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Apex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F33AF-BFF1-CE5D-414F-A81540B13855}"/>
              </a:ext>
            </a:extLst>
          </p:cNvPr>
          <p:cNvSpPr txBox="1"/>
          <p:nvPr/>
        </p:nvSpPr>
        <p:spPr>
          <a:xfrm>
            <a:off x="858573" y="3157956"/>
            <a:ext cx="118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Mid-zone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6494BC-B18C-CF39-E6D7-60CD83EDBEB1}"/>
              </a:ext>
            </a:extLst>
          </p:cNvPr>
          <p:cNvSpPr txBox="1"/>
          <p:nvPr/>
        </p:nvSpPr>
        <p:spPr>
          <a:xfrm>
            <a:off x="379381" y="4232391"/>
            <a:ext cx="118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6CA6A1-755A-2583-8E26-4B55F3286A21}"/>
              </a:ext>
            </a:extLst>
          </p:cNvPr>
          <p:cNvSpPr txBox="1"/>
          <p:nvPr/>
        </p:nvSpPr>
        <p:spPr>
          <a:xfrm>
            <a:off x="107892" y="2053744"/>
            <a:ext cx="30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</a:p>
        </p:txBody>
      </p:sp>
      <p:pic>
        <p:nvPicPr>
          <p:cNvPr id="17" name="Picture 6" descr="Balloon Blowing Up Sticker by Bright Light Bright Light for iOS &amp; Android |  GIPHY">
            <a:extLst>
              <a:ext uri="{FF2B5EF4-FFF2-40B4-BE49-F238E27FC236}">
                <a16:creationId xmlns:a16="http://schemas.microsoft.com/office/drawing/2014/main" id="{476D5692-4ECA-4E88-641E-D0A765D646A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900" y="3900767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E40D37AC-3485-DAE0-DC5F-46450EEE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49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6036" y="1048967"/>
            <a:ext cx="4358812" cy="1226872"/>
          </a:xfrm>
        </p:spPr>
        <p:txBody>
          <a:bodyPr/>
          <a:lstStyle/>
          <a:p>
            <a:r>
              <a:rPr lang="en-GB" sz="2800" dirty="0"/>
              <a:t>Dependent 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F2B8-16FE-7D90-2CD9-53F0519DC44C}"/>
              </a:ext>
            </a:extLst>
          </p:cNvPr>
          <p:cNvSpPr txBox="1">
            <a:spLocks/>
          </p:cNvSpPr>
          <p:nvPr/>
        </p:nvSpPr>
        <p:spPr>
          <a:xfrm>
            <a:off x="5776685" y="2275839"/>
            <a:ext cx="3057515" cy="44007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GB" sz="1400" b="0" dirty="0"/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1400" b="0" dirty="0"/>
              <a:t>Dependent region of lung = t</a:t>
            </a:r>
            <a:r>
              <a:rPr lang="en-GB" sz="1400" b="0" dirty="0"/>
              <a:t>he lowest areas of the lung, in relation to gravity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b="0" dirty="0"/>
              <a:t>Where there is the most alveolar compliance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1400" b="0" dirty="0"/>
              <a:t>In upright position this is the middle to lower parts of the lung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1400" b="0" dirty="0"/>
              <a:t>In side lying (lateral decubitus position) this is the lower lung, because the hemidiaphragm is at a mechanical advantage due to the pressure of the abdominal contents</a:t>
            </a:r>
            <a:endParaRPr lang="en-GB" altLang="en-US" sz="1400" dirty="0"/>
          </a:p>
          <a:p>
            <a:pPr marL="285750" indent="-285750">
              <a:lnSpc>
                <a:spcPct val="90000"/>
              </a:lnSpc>
              <a:buFontTx/>
              <a:buChar char="-"/>
            </a:pPr>
            <a:endParaRPr lang="en-GB" sz="1400" b="0" dirty="0"/>
          </a:p>
          <a:p>
            <a:pPr>
              <a:lnSpc>
                <a:spcPct val="90000"/>
              </a:lnSpc>
            </a:pPr>
            <a:r>
              <a:rPr lang="en-GB" sz="1700" b="0" dirty="0"/>
              <a:t> 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GB" sz="1700" b="0" dirty="0"/>
          </a:p>
          <a:p>
            <a:pPr>
              <a:lnSpc>
                <a:spcPct val="90000"/>
              </a:lnSpc>
              <a:buFontTx/>
              <a:buChar char="-"/>
            </a:pPr>
            <a:endParaRPr lang="en-GB" sz="1700" dirty="0">
              <a:solidFill>
                <a:srgbClr val="FFFFFF"/>
              </a:solidFill>
            </a:endParaRPr>
          </a:p>
        </p:txBody>
      </p:sp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F46BDC0-1255-7867-588B-35EA9A0F9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5162"/>
            <a:ext cx="5776685" cy="2629352"/>
          </a:xfrm>
          <a:prstGeom prst="rect">
            <a:avLst/>
          </a:prstGeom>
        </p:spPr>
      </p:pic>
      <p:pic>
        <p:nvPicPr>
          <p:cNvPr id="5" name="Picture 6" descr="London Metropolitan University - London ...">
            <a:extLst>
              <a:ext uri="{FF2B5EF4-FFF2-40B4-BE49-F238E27FC236}">
                <a16:creationId xmlns:a16="http://schemas.microsoft.com/office/drawing/2014/main" id="{5C5D0974-2A19-7572-DA79-649698DD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760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7A84-CD36-4ED4-168F-BE9F05206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5106" y="887366"/>
            <a:ext cx="7772400" cy="1226872"/>
          </a:xfrm>
        </p:spPr>
        <p:txBody>
          <a:bodyPr/>
          <a:lstStyle/>
          <a:p>
            <a:r>
              <a:rPr lang="en-GB" dirty="0"/>
              <a:t>Regional Differences in Perfusion</a:t>
            </a:r>
          </a:p>
        </p:txBody>
      </p:sp>
      <p:pic>
        <p:nvPicPr>
          <p:cNvPr id="8" name="Picture 2" descr="Pulmonary Blood Flow Distribution | Pathway Medicine">
            <a:extLst>
              <a:ext uri="{FF2B5EF4-FFF2-40B4-BE49-F238E27FC236}">
                <a16:creationId xmlns:a16="http://schemas.microsoft.com/office/drawing/2014/main" id="{40B577B2-9685-AA65-42D7-1D9BE9643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" y="1841655"/>
            <a:ext cx="5167580" cy="447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916E49-A23B-F292-BFDF-F5120D49B926}"/>
              </a:ext>
            </a:extLst>
          </p:cNvPr>
          <p:cNvSpPr txBox="1">
            <a:spLocks/>
          </p:cNvSpPr>
          <p:nvPr/>
        </p:nvSpPr>
        <p:spPr>
          <a:xfrm>
            <a:off x="5499559" y="3023867"/>
            <a:ext cx="3585611" cy="3481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GB" b="0" dirty="0"/>
              <a:t>P</a:t>
            </a:r>
            <a:r>
              <a:rPr lang="en-GB" b="0" baseline="-25000" dirty="0"/>
              <a:t>A </a:t>
            </a:r>
            <a:r>
              <a:rPr lang="en-GB" b="0" dirty="0"/>
              <a:t>= Alveolar pressure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GB" b="0" dirty="0"/>
              <a:t>P</a:t>
            </a:r>
            <a:r>
              <a:rPr lang="en-GB" b="0" baseline="-25000" dirty="0"/>
              <a:t>a</a:t>
            </a:r>
            <a:r>
              <a:rPr lang="en-GB" b="0" dirty="0"/>
              <a:t>= Arterial pressure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GB" b="0" dirty="0"/>
              <a:t> </a:t>
            </a:r>
            <a:r>
              <a:rPr lang="en-GB" b="0" dirty="0" err="1"/>
              <a:t>P</a:t>
            </a:r>
            <a:r>
              <a:rPr lang="en-GB" b="0" baseline="-25000" dirty="0" err="1"/>
              <a:t>v</a:t>
            </a:r>
            <a:r>
              <a:rPr lang="en-GB" b="0" baseline="-25000" dirty="0"/>
              <a:t> </a:t>
            </a:r>
            <a:r>
              <a:rPr lang="en-GB" b="0" dirty="0"/>
              <a:t>= Venous pressure </a:t>
            </a:r>
          </a:p>
          <a:p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9E0BA0C1-74BD-1D28-0B40-7E3AF38C8B60}"/>
              </a:ext>
            </a:extLst>
          </p:cNvPr>
          <p:cNvSpPr txBox="1">
            <a:spLocks/>
          </p:cNvSpPr>
          <p:nvPr/>
        </p:nvSpPr>
        <p:spPr>
          <a:xfrm>
            <a:off x="6741665" y="6312704"/>
            <a:ext cx="3989872" cy="704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 3" charset="2"/>
              <a:buNone/>
            </a:pPr>
            <a:r>
              <a:rPr lang="en-GB" sz="2400" dirty="0">
                <a:solidFill>
                  <a:schemeClr val="tx1"/>
                </a:solidFill>
              </a:rPr>
              <a:t> (West, 2012)</a:t>
            </a:r>
          </a:p>
        </p:txBody>
      </p:sp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D39EFED2-EB84-0D91-C4D9-1D70A19D3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793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9634" y="1434435"/>
            <a:ext cx="4358812" cy="1226872"/>
          </a:xfrm>
        </p:spPr>
        <p:txBody>
          <a:bodyPr/>
          <a:lstStyle/>
          <a:p>
            <a:r>
              <a:rPr lang="en-GB" sz="2800" dirty="0"/>
              <a:t>V/Q in a Self-Ventilating Adult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3F8D0B-7688-2C51-9387-68B99887AF65}"/>
              </a:ext>
            </a:extLst>
          </p:cNvPr>
          <p:cNvSpPr txBox="1">
            <a:spLocks/>
          </p:cNvSpPr>
          <p:nvPr/>
        </p:nvSpPr>
        <p:spPr>
          <a:xfrm>
            <a:off x="4694368" y="2837329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Dependent lung preferentially ventilated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Lower zones of the dependent lung preferentially perfused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Uni-lateral lung disease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Greatest benefit having the unaffected lung dependent (</a:t>
            </a:r>
            <a:r>
              <a:rPr lang="en-GB" sz="1300" b="0" dirty="0" err="1"/>
              <a:t>Remolina</a:t>
            </a:r>
            <a:r>
              <a:rPr lang="en-GB" sz="1300" b="0" dirty="0"/>
              <a:t>, 1981)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Drainage of secretions from the affected lung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Gravity will help to open atelectasis 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Bilateral lung disease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Right lung dependent (Zach, 1974)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High sitting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300" b="0" dirty="0"/>
              <a:t>Alternate side lying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GB" sz="13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Tx/>
              <a:buChar char="-"/>
            </a:pPr>
            <a:endParaRPr lang="en-GB" sz="1300" dirty="0">
              <a:solidFill>
                <a:srgbClr val="FFFFFF"/>
              </a:solidFill>
            </a:endParaRPr>
          </a:p>
        </p:txBody>
      </p:sp>
      <p:pic>
        <p:nvPicPr>
          <p:cNvPr id="5" name="Picture 4" descr="side lying 2">
            <a:extLst>
              <a:ext uri="{FF2B5EF4-FFF2-40B4-BE49-F238E27FC236}">
                <a16:creationId xmlns:a16="http://schemas.microsoft.com/office/drawing/2014/main" id="{BEC9D556-C177-D1F5-BE16-40D11579F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49" y="1025077"/>
            <a:ext cx="3856774" cy="28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5" descr="Side lying">
            <a:extLst>
              <a:ext uri="{FF2B5EF4-FFF2-40B4-BE49-F238E27FC236}">
                <a16:creationId xmlns:a16="http://schemas.microsoft.com/office/drawing/2014/main" id="{A9E7296B-A4E3-402B-B0A9-854BE0FEA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49" y="4014379"/>
            <a:ext cx="3189709" cy="2217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8C26CC21-5BE0-FED0-CA21-C129EAD11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889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23F-A401-FA0F-5AAF-684FAA061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7685" y="447463"/>
            <a:ext cx="3388080" cy="2085003"/>
          </a:xfrm>
        </p:spPr>
        <p:txBody>
          <a:bodyPr/>
          <a:lstStyle/>
          <a:p>
            <a:r>
              <a:rPr lang="en-GB" sz="2800" dirty="0"/>
              <a:t>V/Q in a Ventilated Adult</a:t>
            </a:r>
          </a:p>
        </p:txBody>
      </p:sp>
      <p:pic>
        <p:nvPicPr>
          <p:cNvPr id="3" name="Picture 2" descr="Diagram, engineering drawing&#10;&#10;Description automatically generated">
            <a:extLst>
              <a:ext uri="{FF2B5EF4-FFF2-40B4-BE49-F238E27FC236}">
                <a16:creationId xmlns:a16="http://schemas.microsoft.com/office/drawing/2014/main" id="{0834C415-31BB-D456-8696-10A8FF1DD5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110"/>
          <a:stretch/>
        </p:blipFill>
        <p:spPr>
          <a:xfrm>
            <a:off x="188511" y="3010612"/>
            <a:ext cx="4705254" cy="19097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657A19-D5E4-9D57-0175-5B73235A8FBD}"/>
              </a:ext>
            </a:extLst>
          </p:cNvPr>
          <p:cNvSpPr txBox="1">
            <a:spLocks/>
          </p:cNvSpPr>
          <p:nvPr/>
        </p:nvSpPr>
        <p:spPr>
          <a:xfrm>
            <a:off x="4734108" y="2518234"/>
            <a:ext cx="4512988" cy="43397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Non-dependent lung preferentially ventilated 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Diaphragm becomes passive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Positive pressure takes the path of least resistance 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Dependent lung better perfused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V/Q mismatch!!!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Unilateral lung disease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Unaffected lung dependent 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Supplementary oxygen, inspiratory pause and good minute ventilation counteract this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Drainage of secretions 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High sitting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Bilateral lung disease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Alternate side lying</a:t>
            </a:r>
          </a:p>
          <a:p>
            <a:pPr marL="285750" indent="-285750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sz="1500" b="0" dirty="0"/>
              <a:t>High sitting</a:t>
            </a:r>
          </a:p>
          <a:p>
            <a:pPr>
              <a:lnSpc>
                <a:spcPct val="90000"/>
              </a:lnSpc>
            </a:pPr>
            <a:endParaRPr lang="en-GB" sz="1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22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053665-4ECF-5199-D081-32EE4BBA6488}"/>
              </a:ext>
            </a:extLst>
          </p:cNvPr>
          <p:cNvSpPr txBox="1">
            <a:spLocks/>
          </p:cNvSpPr>
          <p:nvPr/>
        </p:nvSpPr>
        <p:spPr>
          <a:xfrm>
            <a:off x="0" y="340244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Position for….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0E637E-9393-DC03-EE3E-0D6947E3A888}"/>
              </a:ext>
            </a:extLst>
          </p:cNvPr>
          <p:cNvSpPr txBox="1">
            <a:spLocks/>
          </p:cNvSpPr>
          <p:nvPr/>
        </p:nvSpPr>
        <p:spPr>
          <a:xfrm>
            <a:off x="104420" y="1475306"/>
            <a:ext cx="8596668" cy="73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GB" sz="1800" dirty="0"/>
              <a:t>45 year old man with an unproductive left lower lobe pneumonia who is desaturating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28ECAB-CB5A-F210-FDE3-8475912F481A}"/>
              </a:ext>
            </a:extLst>
          </p:cNvPr>
          <p:cNvSpPr txBox="1">
            <a:spLocks/>
          </p:cNvSpPr>
          <p:nvPr/>
        </p:nvSpPr>
        <p:spPr>
          <a:xfrm>
            <a:off x="104420" y="2886393"/>
            <a:ext cx="8596668" cy="73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b="1" dirty="0"/>
              <a:t>25 year old women with a pulmonary embolism in her right middle lobe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9984CF-68D6-D0D3-3358-1E631BA53AA6}"/>
              </a:ext>
            </a:extLst>
          </p:cNvPr>
          <p:cNvSpPr txBox="1">
            <a:spLocks/>
          </p:cNvSpPr>
          <p:nvPr/>
        </p:nvSpPr>
        <p:spPr>
          <a:xfrm>
            <a:off x="104420" y="4044959"/>
            <a:ext cx="8596668" cy="73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b="1" dirty="0"/>
              <a:t>78 year old man who is sedated and ventilated with left lower lobe collapse post cardiac surgery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D1A004C-0D2C-370E-5544-4EFF485DAEB7}"/>
              </a:ext>
            </a:extLst>
          </p:cNvPr>
          <p:cNvSpPr txBox="1">
            <a:spLocks/>
          </p:cNvSpPr>
          <p:nvPr/>
        </p:nvSpPr>
        <p:spPr>
          <a:xfrm>
            <a:off x="104420" y="5540030"/>
            <a:ext cx="8596668" cy="73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b="1" dirty="0"/>
              <a:t>35 year old lady who is sedated and ventilated with widespread COVID Pneumonitis</a:t>
            </a:r>
          </a:p>
          <a:p>
            <a:endParaRPr lang="en-GB" dirty="0"/>
          </a:p>
        </p:txBody>
      </p:sp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DAFA0ADD-359D-2D7D-8627-9CA6BDEAA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67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F1C8-BF9E-E13D-FE28-995C23428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406" y="379756"/>
            <a:ext cx="7772400" cy="1226872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0E6C-8EA0-ECDC-DFFE-E29851112930}"/>
              </a:ext>
            </a:extLst>
          </p:cNvPr>
          <p:cNvSpPr txBox="1"/>
          <p:nvPr/>
        </p:nvSpPr>
        <p:spPr>
          <a:xfrm>
            <a:off x="206406" y="1659187"/>
            <a:ext cx="893981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</a:rPr>
              <a:t>Burns, J.R. and Jones, F.L. (1975) “Early ambulation of patients requiring ventilatory assistance,” </a:t>
            </a:r>
            <a:r>
              <a:rPr lang="en-GB" sz="1400" i="1" dirty="0">
                <a:effectLst/>
              </a:rPr>
              <a:t>Chest</a:t>
            </a:r>
            <a:r>
              <a:rPr lang="en-GB" sz="1400" dirty="0">
                <a:effectLst/>
              </a:rPr>
              <a:t>, 68(4), p. 608. Available at: </a:t>
            </a:r>
            <a:r>
              <a:rPr lang="en-GB" sz="1400" dirty="0">
                <a:effectLst/>
                <a:hlinkClick r:id="rId2"/>
              </a:rPr>
              <a:t>https://doi.org/10.1378/chest.68.4.608a</a:t>
            </a:r>
            <a:endParaRPr lang="en-GB" sz="1400" dirty="0">
              <a:effectLst/>
            </a:endParaRPr>
          </a:p>
          <a:p>
            <a:endParaRPr lang="en-GB" sz="1400" dirty="0"/>
          </a:p>
          <a:p>
            <a:r>
              <a:rPr lang="en-GB" sz="1400" dirty="0">
                <a:effectLst/>
              </a:rPr>
              <a:t>Craig, D.B. </a:t>
            </a:r>
            <a:r>
              <a:rPr lang="en-GB" sz="1400" i="1" dirty="0">
                <a:effectLst/>
              </a:rPr>
              <a:t>et al.</a:t>
            </a:r>
            <a:r>
              <a:rPr lang="en-GB" sz="1400" dirty="0">
                <a:effectLst/>
              </a:rPr>
              <a:t> (1971) “‘closing volume’ and its relationship to gas exchange in seated and supine positions.,” </a:t>
            </a:r>
            <a:r>
              <a:rPr lang="en-GB" sz="1400" i="1" dirty="0">
                <a:effectLst/>
              </a:rPr>
              <a:t>Journal of Applied Physiology</a:t>
            </a:r>
            <a:r>
              <a:rPr lang="en-GB" sz="1400" dirty="0">
                <a:effectLst/>
              </a:rPr>
              <a:t>, 31(5), pp. 717–721. Available at: </a:t>
            </a:r>
            <a:r>
              <a:rPr lang="en-GB" sz="1400" dirty="0">
                <a:effectLst/>
                <a:hlinkClick r:id="rId3"/>
              </a:rPr>
              <a:t>https://doi.org/10.1152/jappl.1971.31.5.717</a:t>
            </a:r>
            <a:endParaRPr lang="en-GB" sz="1400" dirty="0">
              <a:effectLst/>
            </a:endParaRPr>
          </a:p>
          <a:p>
            <a:pPr marL="0" indent="0">
              <a:buNone/>
            </a:pPr>
            <a:endParaRPr lang="en-GB" sz="1400" dirty="0">
              <a:effectLst/>
            </a:endParaRPr>
          </a:p>
          <a:p>
            <a:r>
              <a:rPr lang="en-GB" sz="1400" dirty="0">
                <a:effectLst/>
              </a:rPr>
              <a:t>Dean, E. and Ross, J. (1992) “Discordance between cardiopulmonary physiology and physical therapy,” </a:t>
            </a:r>
            <a:r>
              <a:rPr lang="en-GB" sz="1400" i="1" dirty="0">
                <a:effectLst/>
              </a:rPr>
              <a:t>Chest</a:t>
            </a:r>
            <a:r>
              <a:rPr lang="en-GB" sz="1400" dirty="0">
                <a:effectLst/>
              </a:rPr>
              <a:t>, 101(6), pp. 1694–1698. Available at: https://doi.org/10.1378/chest.101.6.1694 </a:t>
            </a:r>
          </a:p>
          <a:p>
            <a:endParaRPr lang="en-GB" sz="1400" dirty="0"/>
          </a:p>
          <a:p>
            <a:r>
              <a:rPr lang="en-GB" sz="1400" dirty="0">
                <a:effectLst/>
              </a:rPr>
              <a:t>Dean, E. (1985) “Effect of body position on pulmonary function,” </a:t>
            </a:r>
            <a:r>
              <a:rPr lang="en-GB" sz="1400" i="1" dirty="0">
                <a:effectLst/>
              </a:rPr>
              <a:t>Physical Therapy</a:t>
            </a:r>
            <a:r>
              <a:rPr lang="en-GB" sz="1400" dirty="0">
                <a:effectLst/>
              </a:rPr>
              <a:t>, 65(5), pp. 613–618. Available at: https://doi.org/10.1093/ptj/65.5.613. </a:t>
            </a:r>
          </a:p>
          <a:p>
            <a:endParaRPr lang="en-GB" sz="1400" dirty="0"/>
          </a:p>
          <a:p>
            <a:r>
              <a:rPr lang="en-GB" sz="1400" dirty="0">
                <a:effectLst/>
              </a:rPr>
              <a:t>PELOSI, P.A.O.L.O. </a:t>
            </a:r>
            <a:r>
              <a:rPr lang="en-GB" sz="1400" i="1" dirty="0">
                <a:effectLst/>
              </a:rPr>
              <a:t>et al.</a:t>
            </a:r>
            <a:r>
              <a:rPr lang="en-GB" sz="1400" dirty="0">
                <a:effectLst/>
              </a:rPr>
              <a:t> (1998) “Effects of the prone position on respiratory mechanics and gas exchange during Acute lung injury,” </a:t>
            </a:r>
            <a:r>
              <a:rPr lang="en-GB" sz="1400" i="1" dirty="0">
                <a:effectLst/>
              </a:rPr>
              <a:t>American Journal of Respiratory and Critical Care Medicine</a:t>
            </a:r>
            <a:r>
              <a:rPr lang="en-GB" sz="1400" dirty="0">
                <a:effectLst/>
              </a:rPr>
              <a:t>, 157(2), pp. 387–393. Available at: https://doi.org/10.1164/ajrccm.157.2.97-04023</a:t>
            </a:r>
          </a:p>
          <a:p>
            <a:endParaRPr lang="en-GB" sz="1400" dirty="0"/>
          </a:p>
          <a:p>
            <a:r>
              <a:rPr lang="en-GB" sz="1400" dirty="0">
                <a:effectLst/>
              </a:rPr>
              <a:t>Pryor, J.A. and Prasad, S.A. (2002) </a:t>
            </a:r>
            <a:r>
              <a:rPr lang="en-GB" sz="1400" i="1" dirty="0">
                <a:effectLst/>
              </a:rPr>
              <a:t>Physiotherapy for respiratory and cardiac problems: Adults and Paediatrics</a:t>
            </a:r>
            <a:r>
              <a:rPr lang="en-GB" sz="1400" dirty="0">
                <a:effectLst/>
              </a:rPr>
              <a:t>. Edinburgh, UK: Churchill Livingstone</a:t>
            </a:r>
          </a:p>
          <a:p>
            <a:endParaRPr lang="en-GB" sz="1400" dirty="0">
              <a:effectLst/>
            </a:endParaRPr>
          </a:p>
          <a:p>
            <a:r>
              <a:rPr lang="en-GB" sz="1400" dirty="0">
                <a:effectLst/>
              </a:rPr>
              <a:t>Ray, J.F. (1974) “Immobility, hypoxemia, and pulmonary arteriovenous shunting,” </a:t>
            </a:r>
            <a:r>
              <a:rPr lang="en-GB" sz="1400" i="1" dirty="0">
                <a:effectLst/>
              </a:rPr>
              <a:t>Archives of Surgery</a:t>
            </a:r>
            <a:r>
              <a:rPr lang="en-GB" sz="1400" dirty="0">
                <a:effectLst/>
              </a:rPr>
              <a:t>, 109(4), p. 537. Available at: https://doi.org/10.1001/archsurg.1974.01360040055014 </a:t>
            </a:r>
          </a:p>
        </p:txBody>
      </p:sp>
      <p:pic>
        <p:nvPicPr>
          <p:cNvPr id="3" name="Picture 6" descr="London Metropolitan University - London ...">
            <a:extLst>
              <a:ext uri="{FF2B5EF4-FFF2-40B4-BE49-F238E27FC236}">
                <a16:creationId xmlns:a16="http://schemas.microsoft.com/office/drawing/2014/main" id="{532A847E-80DD-6A04-D8E6-D85265872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424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2F712A-B0A9-183F-0F22-08BEC44512F0}"/>
              </a:ext>
            </a:extLst>
          </p:cNvPr>
          <p:cNvSpPr txBox="1"/>
          <p:nvPr/>
        </p:nvSpPr>
        <p:spPr>
          <a:xfrm>
            <a:off x="401540" y="1527288"/>
            <a:ext cx="7231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effectLst/>
              </a:rPr>
              <a:t>Remolina</a:t>
            </a:r>
            <a:r>
              <a:rPr lang="en-GB" sz="1400" dirty="0">
                <a:effectLst/>
              </a:rPr>
              <a:t>, C. </a:t>
            </a:r>
            <a:r>
              <a:rPr lang="en-GB" sz="1400" i="1" dirty="0">
                <a:effectLst/>
              </a:rPr>
              <a:t>et al.</a:t>
            </a:r>
            <a:r>
              <a:rPr lang="en-GB" sz="1400" dirty="0">
                <a:effectLst/>
              </a:rPr>
              <a:t> (1981) “Positional hypoxemia in unilateral lung disease,” </a:t>
            </a:r>
            <a:r>
              <a:rPr lang="en-GB" sz="1400" i="1" dirty="0">
                <a:effectLst/>
              </a:rPr>
              <a:t>New England Journal of Medicine</a:t>
            </a:r>
            <a:r>
              <a:rPr lang="en-GB" sz="1400" dirty="0">
                <a:effectLst/>
              </a:rPr>
              <a:t>, 304(9), pp. 523–525. Available at: https://doi.org/10.1056/nejm198102263040906</a:t>
            </a:r>
          </a:p>
          <a:p>
            <a:endParaRPr lang="en-GB" sz="1400" dirty="0">
              <a:effectLst/>
            </a:endParaRPr>
          </a:p>
          <a:p>
            <a:r>
              <a:rPr lang="en-GB" sz="1400" dirty="0">
                <a:effectLst/>
              </a:rPr>
              <a:t>West, J. (2012) </a:t>
            </a:r>
            <a:r>
              <a:rPr lang="en-GB" sz="1400" i="1" dirty="0">
                <a:effectLst/>
              </a:rPr>
              <a:t>Respiratory physiology: The essentials</a:t>
            </a:r>
            <a:r>
              <a:rPr lang="en-GB" sz="1400" dirty="0">
                <a:effectLst/>
              </a:rPr>
              <a:t>. Ninth Edition. LWW</a:t>
            </a:r>
          </a:p>
          <a:p>
            <a:endParaRPr lang="en-GB" sz="1400" dirty="0"/>
          </a:p>
          <a:p>
            <a:r>
              <a:rPr lang="en-GB" sz="1400" dirty="0">
                <a:effectLst/>
              </a:rPr>
              <a:t>ZACK, M.B., PONTOPPIDAN, H. and KAZEMI, H. (1974) “The effect of lateral positions on gas exchange in pulmonary disease,” </a:t>
            </a:r>
            <a:r>
              <a:rPr lang="en-GB" sz="1400" i="1" dirty="0">
                <a:effectLst/>
              </a:rPr>
              <a:t>American Review of Respiratory Disease</a:t>
            </a:r>
            <a:r>
              <a:rPr lang="en-GB" sz="1400" dirty="0">
                <a:effectLst/>
              </a:rPr>
              <a:t>, 110, pp. 49–55. Available at: https://doi.org/10.1097/00132586-197510000-00005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98B784AA-81EE-EEB7-7525-B8C9F0C1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085748"/>
      </p:ext>
    </p:extLst>
  </p:cSld>
  <p:clrMapOvr>
    <a:masterClrMapping/>
  </p:clrMapOvr>
</p:sld>
</file>

<file path=ppt/theme/theme1.xml><?xml version="1.0" encoding="utf-8"?>
<a:theme xmlns:a="http://schemas.openxmlformats.org/drawingml/2006/main" name="Guy's and St Thomas' NHS Foundation Trust">
  <a:themeElements>
    <a:clrScheme name="NHS Blue">
      <a:dk1>
        <a:sysClr val="windowText" lastClr="000000"/>
      </a:dk1>
      <a:lt1>
        <a:sysClr val="window" lastClr="FFFFFF"/>
      </a:lt1>
      <a:dk2>
        <a:srgbClr val="005EB8"/>
      </a:dk2>
      <a:lt2>
        <a:srgbClr val="EEECE1"/>
      </a:lt2>
      <a:accent1>
        <a:srgbClr val="005EB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Powerpoint standard - HL&amp;CC.potx" id="{8D2ADE58-0BC9-49A0-8885-10F14AABE666}" vid="{F1CC4FA5-7DB5-4150-8F1D-3BB6EF03C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1. Powerpoint standard - HL&amp;CC</Template>
  <TotalTime>124</TotalTime>
  <Words>1677</Words>
  <Application>Microsoft Office PowerPoint</Application>
  <PresentationFormat>On-screen Show (4:3)</PresentationFormat>
  <Paragraphs>240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Wingdings</vt:lpstr>
      <vt:lpstr>Wingdings 3</vt:lpstr>
      <vt:lpstr>Guy's and St Thomas' NHS Foundation Trust</vt:lpstr>
      <vt:lpstr>Positioning to Optimise Gas Exchange</vt:lpstr>
      <vt:lpstr>PowerPoint Presentation</vt:lpstr>
      <vt:lpstr>PowerPoint Presentation</vt:lpstr>
      <vt:lpstr>PowerPoint Presentation</vt:lpstr>
      <vt:lpstr>PowerPoint Presentation</vt:lpstr>
      <vt:lpstr>Lung Volumes</vt:lpstr>
      <vt:lpstr>PowerPoint Presentation</vt:lpstr>
      <vt:lpstr>Prone Position:</vt:lpstr>
      <vt:lpstr>Ventilation/Perfusion (V/Q) Matching</vt:lpstr>
      <vt:lpstr>V/Q Mismatch</vt:lpstr>
      <vt:lpstr>V/Q Mismatch</vt:lpstr>
      <vt:lpstr>Autoregulatory Mechanisms</vt:lpstr>
      <vt:lpstr>V/Q Throughout the Upright Lung</vt:lpstr>
      <vt:lpstr>Causes of regional differences in ventilation:</vt:lpstr>
      <vt:lpstr>Causes of regional differences in ventilation:</vt:lpstr>
      <vt:lpstr>Dependent Lung</vt:lpstr>
      <vt:lpstr>Regional Differences in Perfusion</vt:lpstr>
      <vt:lpstr>V/Q in a Self-Ventilating Adult</vt:lpstr>
      <vt:lpstr>V/Q in a Ventilated Adult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Rippingham Kayo</dc:creator>
  <cp:lastModifiedBy>Stuart Clarke</cp:lastModifiedBy>
  <cp:revision>14</cp:revision>
  <dcterms:created xsi:type="dcterms:W3CDTF">2022-06-20T07:19:31Z</dcterms:created>
  <dcterms:modified xsi:type="dcterms:W3CDTF">2025-02-06T18:43:58Z</dcterms:modified>
</cp:coreProperties>
</file>