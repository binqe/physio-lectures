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69" r:id="rId15"/>
    <p:sldId id="273" r:id="rId16"/>
    <p:sldId id="270" r:id="rId17"/>
    <p:sldId id="274" r:id="rId18"/>
    <p:sldId id="271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620CF8-2DE9-42AE-8497-686A7517149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84BCD7F-4816-4307-BB97-683D88E3B56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GB" dirty="0"/>
            <a:t>To be able to recognise type 1 and type 2 respiratory failure </a:t>
          </a:r>
          <a:endParaRPr lang="en-US" dirty="0"/>
        </a:p>
      </dgm:t>
    </dgm:pt>
    <dgm:pt modelId="{3C2D006C-3CF5-4F1A-96C8-E76DF33615D1}" type="parTrans" cxnId="{A94BA32A-3C3E-4F91-B6B2-D30B663793DE}">
      <dgm:prSet/>
      <dgm:spPr/>
      <dgm:t>
        <a:bodyPr/>
        <a:lstStyle/>
        <a:p>
          <a:endParaRPr lang="en-US"/>
        </a:p>
      </dgm:t>
    </dgm:pt>
    <dgm:pt modelId="{F4D6E904-B356-4F8B-962C-EA31835A1550}" type="sibTrans" cxnId="{A94BA32A-3C3E-4F91-B6B2-D30B663793DE}">
      <dgm:prSet/>
      <dgm:spPr/>
      <dgm:t>
        <a:bodyPr/>
        <a:lstStyle/>
        <a:p>
          <a:endParaRPr lang="en-US"/>
        </a:p>
      </dgm:t>
    </dgm:pt>
    <dgm:pt modelId="{9D2468A8-AC76-4746-A996-A6289681D56B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GB" dirty="0"/>
            <a:t>To be able to read and interpret arterial blood gases</a:t>
          </a:r>
          <a:endParaRPr lang="en-US" dirty="0"/>
        </a:p>
      </dgm:t>
    </dgm:pt>
    <dgm:pt modelId="{B3D961CF-9055-4CA2-84DE-73C42C1FEC1C}" type="parTrans" cxnId="{246AD924-21C7-465A-9505-97F8C9A37623}">
      <dgm:prSet/>
      <dgm:spPr/>
      <dgm:t>
        <a:bodyPr/>
        <a:lstStyle/>
        <a:p>
          <a:endParaRPr lang="en-GB"/>
        </a:p>
      </dgm:t>
    </dgm:pt>
    <dgm:pt modelId="{17E2EB74-22F5-457E-B950-8EA80662B6E2}" type="sibTrans" cxnId="{246AD924-21C7-465A-9505-97F8C9A37623}">
      <dgm:prSet/>
      <dgm:spPr/>
      <dgm:t>
        <a:bodyPr/>
        <a:lstStyle/>
        <a:p>
          <a:endParaRPr lang="en-GB"/>
        </a:p>
      </dgm:t>
    </dgm:pt>
    <dgm:pt modelId="{504B2310-8054-4FD5-8F1A-36777BB69DD4}">
      <dgm:prSet/>
      <dgm:spPr>
        <a:solidFill>
          <a:srgbClr val="FF0000"/>
        </a:solidFill>
      </dgm:spPr>
      <dgm:t>
        <a:bodyPr/>
        <a:lstStyle/>
        <a:p>
          <a:r>
            <a:rPr lang="en-GB" dirty="0"/>
            <a:t>To understand the physiology of acid-base balance and how the lungs and kidneys react to maintain homeostasis</a:t>
          </a:r>
        </a:p>
      </dgm:t>
    </dgm:pt>
    <dgm:pt modelId="{FAE232B4-D3F4-4C68-AADC-30AC17152714}" type="parTrans" cxnId="{C867DCBC-28B2-4530-9134-4E42E0577BAB}">
      <dgm:prSet/>
      <dgm:spPr/>
      <dgm:t>
        <a:bodyPr/>
        <a:lstStyle/>
        <a:p>
          <a:endParaRPr lang="en-GB"/>
        </a:p>
      </dgm:t>
    </dgm:pt>
    <dgm:pt modelId="{19C8B6F3-2BA4-4EB0-A865-D60E6C91E581}" type="sibTrans" cxnId="{C867DCBC-28B2-4530-9134-4E42E0577BAB}">
      <dgm:prSet/>
      <dgm:spPr/>
      <dgm:t>
        <a:bodyPr/>
        <a:lstStyle/>
        <a:p>
          <a:endParaRPr lang="en-GB"/>
        </a:p>
      </dgm:t>
    </dgm:pt>
    <dgm:pt modelId="{EE88A98B-FB8E-48C9-8B9E-62AB53DE88BE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GB" dirty="0"/>
            <a:t>To be able to recognise acute, chronic and acute on chronic respiratory failure</a:t>
          </a:r>
        </a:p>
      </dgm:t>
    </dgm:pt>
    <dgm:pt modelId="{58E36999-6929-4FD6-BAF9-64E44F9F950F}" type="parTrans" cxnId="{54C889FB-18DE-4BFC-8640-91F7498B23F1}">
      <dgm:prSet/>
      <dgm:spPr/>
      <dgm:t>
        <a:bodyPr/>
        <a:lstStyle/>
        <a:p>
          <a:endParaRPr lang="en-GB"/>
        </a:p>
      </dgm:t>
    </dgm:pt>
    <dgm:pt modelId="{BE343705-AA62-4672-B31A-0D2E6AA32772}" type="sibTrans" cxnId="{54C889FB-18DE-4BFC-8640-91F7498B23F1}">
      <dgm:prSet/>
      <dgm:spPr/>
      <dgm:t>
        <a:bodyPr/>
        <a:lstStyle/>
        <a:p>
          <a:endParaRPr lang="en-GB"/>
        </a:p>
      </dgm:t>
    </dgm:pt>
    <dgm:pt modelId="{0AFF6B6C-4404-429A-A9F3-49D5577E4F1D}" type="pres">
      <dgm:prSet presAssocID="{23620CF8-2DE9-42AE-8497-686A75171492}" presName="outerComposite" presStyleCnt="0">
        <dgm:presLayoutVars>
          <dgm:chMax val="5"/>
          <dgm:dir/>
          <dgm:resizeHandles val="exact"/>
        </dgm:presLayoutVars>
      </dgm:prSet>
      <dgm:spPr/>
    </dgm:pt>
    <dgm:pt modelId="{DF8FE79B-B351-49ED-94C7-CA7B346EF176}" type="pres">
      <dgm:prSet presAssocID="{23620CF8-2DE9-42AE-8497-686A75171492}" presName="dummyMaxCanvas" presStyleCnt="0">
        <dgm:presLayoutVars/>
      </dgm:prSet>
      <dgm:spPr/>
    </dgm:pt>
    <dgm:pt modelId="{1F1A0B12-48A1-4C83-9A7C-BB43A07FF0BF}" type="pres">
      <dgm:prSet presAssocID="{23620CF8-2DE9-42AE-8497-686A75171492}" presName="FourNodes_1" presStyleLbl="node1" presStyleIdx="0" presStyleCnt="4">
        <dgm:presLayoutVars>
          <dgm:bulletEnabled val="1"/>
        </dgm:presLayoutVars>
      </dgm:prSet>
      <dgm:spPr/>
    </dgm:pt>
    <dgm:pt modelId="{9F2C0266-FD4D-4941-906C-BA7906BC4865}" type="pres">
      <dgm:prSet presAssocID="{23620CF8-2DE9-42AE-8497-686A75171492}" presName="FourNodes_2" presStyleLbl="node1" presStyleIdx="1" presStyleCnt="4">
        <dgm:presLayoutVars>
          <dgm:bulletEnabled val="1"/>
        </dgm:presLayoutVars>
      </dgm:prSet>
      <dgm:spPr/>
    </dgm:pt>
    <dgm:pt modelId="{B97350AB-3378-4149-B837-7C2545D9FADC}" type="pres">
      <dgm:prSet presAssocID="{23620CF8-2DE9-42AE-8497-686A75171492}" presName="FourNodes_3" presStyleLbl="node1" presStyleIdx="2" presStyleCnt="4">
        <dgm:presLayoutVars>
          <dgm:bulletEnabled val="1"/>
        </dgm:presLayoutVars>
      </dgm:prSet>
      <dgm:spPr/>
    </dgm:pt>
    <dgm:pt modelId="{C0D6BF38-96F1-40B0-AC2F-9802E358F12F}" type="pres">
      <dgm:prSet presAssocID="{23620CF8-2DE9-42AE-8497-686A75171492}" presName="FourNodes_4" presStyleLbl="node1" presStyleIdx="3" presStyleCnt="4">
        <dgm:presLayoutVars>
          <dgm:bulletEnabled val="1"/>
        </dgm:presLayoutVars>
      </dgm:prSet>
      <dgm:spPr/>
    </dgm:pt>
    <dgm:pt modelId="{19DCE8E7-CE3E-4603-8E7C-AA819637C296}" type="pres">
      <dgm:prSet presAssocID="{23620CF8-2DE9-42AE-8497-686A75171492}" presName="FourConn_1-2" presStyleLbl="fgAccFollowNode1" presStyleIdx="0" presStyleCnt="3">
        <dgm:presLayoutVars>
          <dgm:bulletEnabled val="1"/>
        </dgm:presLayoutVars>
      </dgm:prSet>
      <dgm:spPr/>
    </dgm:pt>
    <dgm:pt modelId="{69F602AD-0702-4758-86FB-7C2DE21B6301}" type="pres">
      <dgm:prSet presAssocID="{23620CF8-2DE9-42AE-8497-686A75171492}" presName="FourConn_2-3" presStyleLbl="fgAccFollowNode1" presStyleIdx="1" presStyleCnt="3">
        <dgm:presLayoutVars>
          <dgm:bulletEnabled val="1"/>
        </dgm:presLayoutVars>
      </dgm:prSet>
      <dgm:spPr/>
    </dgm:pt>
    <dgm:pt modelId="{6F197259-DE7E-40B1-8D9F-A5314D6D7FDB}" type="pres">
      <dgm:prSet presAssocID="{23620CF8-2DE9-42AE-8497-686A75171492}" presName="FourConn_3-4" presStyleLbl="fgAccFollowNode1" presStyleIdx="2" presStyleCnt="3">
        <dgm:presLayoutVars>
          <dgm:bulletEnabled val="1"/>
        </dgm:presLayoutVars>
      </dgm:prSet>
      <dgm:spPr/>
    </dgm:pt>
    <dgm:pt modelId="{EAC1B834-C65C-4892-8581-FD7939196A0A}" type="pres">
      <dgm:prSet presAssocID="{23620CF8-2DE9-42AE-8497-686A75171492}" presName="FourNodes_1_text" presStyleLbl="node1" presStyleIdx="3" presStyleCnt="4">
        <dgm:presLayoutVars>
          <dgm:bulletEnabled val="1"/>
        </dgm:presLayoutVars>
      </dgm:prSet>
      <dgm:spPr/>
    </dgm:pt>
    <dgm:pt modelId="{C608545A-B464-492F-B132-CC674F98F5B5}" type="pres">
      <dgm:prSet presAssocID="{23620CF8-2DE9-42AE-8497-686A75171492}" presName="FourNodes_2_text" presStyleLbl="node1" presStyleIdx="3" presStyleCnt="4">
        <dgm:presLayoutVars>
          <dgm:bulletEnabled val="1"/>
        </dgm:presLayoutVars>
      </dgm:prSet>
      <dgm:spPr/>
    </dgm:pt>
    <dgm:pt modelId="{E10756B2-3CDE-4277-8D71-D36957EA1C0C}" type="pres">
      <dgm:prSet presAssocID="{23620CF8-2DE9-42AE-8497-686A75171492}" presName="FourNodes_3_text" presStyleLbl="node1" presStyleIdx="3" presStyleCnt="4">
        <dgm:presLayoutVars>
          <dgm:bulletEnabled val="1"/>
        </dgm:presLayoutVars>
      </dgm:prSet>
      <dgm:spPr/>
    </dgm:pt>
    <dgm:pt modelId="{8D16C6A0-A7E8-49C4-AB32-6DF0EA77C8DE}" type="pres">
      <dgm:prSet presAssocID="{23620CF8-2DE9-42AE-8497-686A7517149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C0AC702-20AA-4536-9B67-4A7B5A9C9503}" type="presOf" srcId="{084BCD7F-4816-4307-BB97-683D88E3B566}" destId="{B97350AB-3378-4149-B837-7C2545D9FADC}" srcOrd="0" destOrd="0" presId="urn:microsoft.com/office/officeart/2005/8/layout/vProcess5"/>
    <dgm:cxn modelId="{DBB31A14-BECE-4839-B06A-93D2B64C82EF}" type="presOf" srcId="{EE88A98B-FB8E-48C9-8B9E-62AB53DE88BE}" destId="{8D16C6A0-A7E8-49C4-AB32-6DF0EA77C8DE}" srcOrd="1" destOrd="0" presId="urn:microsoft.com/office/officeart/2005/8/layout/vProcess5"/>
    <dgm:cxn modelId="{246AD924-21C7-465A-9505-97F8C9A37623}" srcId="{23620CF8-2DE9-42AE-8497-686A75171492}" destId="{9D2468A8-AC76-4746-A996-A6289681D56B}" srcOrd="1" destOrd="0" parTransId="{B3D961CF-9055-4CA2-84DE-73C42C1FEC1C}" sibTransId="{17E2EB74-22F5-457E-B950-8EA80662B6E2}"/>
    <dgm:cxn modelId="{5BFBAC27-2A6F-4158-9403-EBA2216F7A54}" type="presOf" srcId="{9D2468A8-AC76-4746-A996-A6289681D56B}" destId="{9F2C0266-FD4D-4941-906C-BA7906BC4865}" srcOrd="0" destOrd="0" presId="urn:microsoft.com/office/officeart/2005/8/layout/vProcess5"/>
    <dgm:cxn modelId="{A94BA32A-3C3E-4F91-B6B2-D30B663793DE}" srcId="{23620CF8-2DE9-42AE-8497-686A75171492}" destId="{084BCD7F-4816-4307-BB97-683D88E3B566}" srcOrd="2" destOrd="0" parTransId="{3C2D006C-3CF5-4F1A-96C8-E76DF33615D1}" sibTransId="{F4D6E904-B356-4F8B-962C-EA31835A1550}"/>
    <dgm:cxn modelId="{FABFD643-BECB-4A6D-9C5B-D5741AC87610}" type="presOf" srcId="{23620CF8-2DE9-42AE-8497-686A75171492}" destId="{0AFF6B6C-4404-429A-A9F3-49D5577E4F1D}" srcOrd="0" destOrd="0" presId="urn:microsoft.com/office/officeart/2005/8/layout/vProcess5"/>
    <dgm:cxn modelId="{AA651849-8EBC-4634-998A-962722F3378A}" type="presOf" srcId="{9D2468A8-AC76-4746-A996-A6289681D56B}" destId="{C608545A-B464-492F-B132-CC674F98F5B5}" srcOrd="1" destOrd="0" presId="urn:microsoft.com/office/officeart/2005/8/layout/vProcess5"/>
    <dgm:cxn modelId="{A07E204A-1AD2-4CF0-AFD2-F5639DEEE0BE}" type="presOf" srcId="{504B2310-8054-4FD5-8F1A-36777BB69DD4}" destId="{1F1A0B12-48A1-4C83-9A7C-BB43A07FF0BF}" srcOrd="0" destOrd="0" presId="urn:microsoft.com/office/officeart/2005/8/layout/vProcess5"/>
    <dgm:cxn modelId="{EC6E4E4E-8E2E-4E56-A9A6-324B55E22629}" type="presOf" srcId="{F4D6E904-B356-4F8B-962C-EA31835A1550}" destId="{6F197259-DE7E-40B1-8D9F-A5314D6D7FDB}" srcOrd="0" destOrd="0" presId="urn:microsoft.com/office/officeart/2005/8/layout/vProcess5"/>
    <dgm:cxn modelId="{DBD6B279-DE04-4004-BFBC-039FB0F9D735}" type="presOf" srcId="{084BCD7F-4816-4307-BB97-683D88E3B566}" destId="{E10756B2-3CDE-4277-8D71-D36957EA1C0C}" srcOrd="1" destOrd="0" presId="urn:microsoft.com/office/officeart/2005/8/layout/vProcess5"/>
    <dgm:cxn modelId="{B04A538B-3DB6-4CAD-B5ED-83F6CA32B37D}" type="presOf" srcId="{504B2310-8054-4FD5-8F1A-36777BB69DD4}" destId="{EAC1B834-C65C-4892-8581-FD7939196A0A}" srcOrd="1" destOrd="0" presId="urn:microsoft.com/office/officeart/2005/8/layout/vProcess5"/>
    <dgm:cxn modelId="{2D6360B8-83C9-42B7-8816-400B123183BF}" type="presOf" srcId="{19C8B6F3-2BA4-4EB0-A865-D60E6C91E581}" destId="{19DCE8E7-CE3E-4603-8E7C-AA819637C296}" srcOrd="0" destOrd="0" presId="urn:microsoft.com/office/officeart/2005/8/layout/vProcess5"/>
    <dgm:cxn modelId="{C867DCBC-28B2-4530-9134-4E42E0577BAB}" srcId="{23620CF8-2DE9-42AE-8497-686A75171492}" destId="{504B2310-8054-4FD5-8F1A-36777BB69DD4}" srcOrd="0" destOrd="0" parTransId="{FAE232B4-D3F4-4C68-AADC-30AC17152714}" sibTransId="{19C8B6F3-2BA4-4EB0-A865-D60E6C91E581}"/>
    <dgm:cxn modelId="{C07D04BE-0E48-4099-9BF9-40BE78E54727}" type="presOf" srcId="{17E2EB74-22F5-457E-B950-8EA80662B6E2}" destId="{69F602AD-0702-4758-86FB-7C2DE21B6301}" srcOrd="0" destOrd="0" presId="urn:microsoft.com/office/officeart/2005/8/layout/vProcess5"/>
    <dgm:cxn modelId="{20FFC8E7-5031-4A76-AF77-2F756C707DD7}" type="presOf" srcId="{EE88A98B-FB8E-48C9-8B9E-62AB53DE88BE}" destId="{C0D6BF38-96F1-40B0-AC2F-9802E358F12F}" srcOrd="0" destOrd="0" presId="urn:microsoft.com/office/officeart/2005/8/layout/vProcess5"/>
    <dgm:cxn modelId="{54C889FB-18DE-4BFC-8640-91F7498B23F1}" srcId="{23620CF8-2DE9-42AE-8497-686A75171492}" destId="{EE88A98B-FB8E-48C9-8B9E-62AB53DE88BE}" srcOrd="3" destOrd="0" parTransId="{58E36999-6929-4FD6-BAF9-64E44F9F950F}" sibTransId="{BE343705-AA62-4672-B31A-0D2E6AA32772}"/>
    <dgm:cxn modelId="{7F96BBDE-B8E9-4F91-924D-E330662483E5}" type="presParOf" srcId="{0AFF6B6C-4404-429A-A9F3-49D5577E4F1D}" destId="{DF8FE79B-B351-49ED-94C7-CA7B346EF176}" srcOrd="0" destOrd="0" presId="urn:microsoft.com/office/officeart/2005/8/layout/vProcess5"/>
    <dgm:cxn modelId="{456085B2-9035-48C8-A73A-8F660FD93B2E}" type="presParOf" srcId="{0AFF6B6C-4404-429A-A9F3-49D5577E4F1D}" destId="{1F1A0B12-48A1-4C83-9A7C-BB43A07FF0BF}" srcOrd="1" destOrd="0" presId="urn:microsoft.com/office/officeart/2005/8/layout/vProcess5"/>
    <dgm:cxn modelId="{40219BBB-750D-4F49-BCD3-9E8E2762EE29}" type="presParOf" srcId="{0AFF6B6C-4404-429A-A9F3-49D5577E4F1D}" destId="{9F2C0266-FD4D-4941-906C-BA7906BC4865}" srcOrd="2" destOrd="0" presId="urn:microsoft.com/office/officeart/2005/8/layout/vProcess5"/>
    <dgm:cxn modelId="{E283E859-ED5A-4F95-BDFE-34F0718C3C07}" type="presParOf" srcId="{0AFF6B6C-4404-429A-A9F3-49D5577E4F1D}" destId="{B97350AB-3378-4149-B837-7C2545D9FADC}" srcOrd="3" destOrd="0" presId="urn:microsoft.com/office/officeart/2005/8/layout/vProcess5"/>
    <dgm:cxn modelId="{B4B17B4F-E2C5-4D75-BBB9-FE8EE2B4B8D9}" type="presParOf" srcId="{0AFF6B6C-4404-429A-A9F3-49D5577E4F1D}" destId="{C0D6BF38-96F1-40B0-AC2F-9802E358F12F}" srcOrd="4" destOrd="0" presId="urn:microsoft.com/office/officeart/2005/8/layout/vProcess5"/>
    <dgm:cxn modelId="{7C54C640-2C3C-4DF3-9077-F7A6825DD64C}" type="presParOf" srcId="{0AFF6B6C-4404-429A-A9F3-49D5577E4F1D}" destId="{19DCE8E7-CE3E-4603-8E7C-AA819637C296}" srcOrd="5" destOrd="0" presId="urn:microsoft.com/office/officeart/2005/8/layout/vProcess5"/>
    <dgm:cxn modelId="{CF95361B-CAD0-4F8E-8AF9-A910F9042779}" type="presParOf" srcId="{0AFF6B6C-4404-429A-A9F3-49D5577E4F1D}" destId="{69F602AD-0702-4758-86FB-7C2DE21B6301}" srcOrd="6" destOrd="0" presId="urn:microsoft.com/office/officeart/2005/8/layout/vProcess5"/>
    <dgm:cxn modelId="{552F2E34-F565-4C5B-940E-9ADCDD1467EE}" type="presParOf" srcId="{0AFF6B6C-4404-429A-A9F3-49D5577E4F1D}" destId="{6F197259-DE7E-40B1-8D9F-A5314D6D7FDB}" srcOrd="7" destOrd="0" presId="urn:microsoft.com/office/officeart/2005/8/layout/vProcess5"/>
    <dgm:cxn modelId="{6FB5ECD2-0EBD-4C55-8506-FEF819202F75}" type="presParOf" srcId="{0AFF6B6C-4404-429A-A9F3-49D5577E4F1D}" destId="{EAC1B834-C65C-4892-8581-FD7939196A0A}" srcOrd="8" destOrd="0" presId="urn:microsoft.com/office/officeart/2005/8/layout/vProcess5"/>
    <dgm:cxn modelId="{62B8A527-80CB-44E5-B992-23B993E78509}" type="presParOf" srcId="{0AFF6B6C-4404-429A-A9F3-49D5577E4F1D}" destId="{C608545A-B464-492F-B132-CC674F98F5B5}" srcOrd="9" destOrd="0" presId="urn:microsoft.com/office/officeart/2005/8/layout/vProcess5"/>
    <dgm:cxn modelId="{9D9701C8-DBA9-469E-B903-7CF9E5A3A63D}" type="presParOf" srcId="{0AFF6B6C-4404-429A-A9F3-49D5577E4F1D}" destId="{E10756B2-3CDE-4277-8D71-D36957EA1C0C}" srcOrd="10" destOrd="0" presId="urn:microsoft.com/office/officeart/2005/8/layout/vProcess5"/>
    <dgm:cxn modelId="{C8351DCB-5BC4-43F1-9FF5-C85EFAC99E7D}" type="presParOf" srcId="{0AFF6B6C-4404-429A-A9F3-49D5577E4F1D}" destId="{8D16C6A0-A7E8-49C4-AB32-6DF0EA77C8D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1A0B12-48A1-4C83-9A7C-BB43A07FF0BF}">
      <dsp:nvSpPr>
        <dsp:cNvPr id="0" name=""/>
        <dsp:cNvSpPr/>
      </dsp:nvSpPr>
      <dsp:spPr>
        <a:xfrm>
          <a:off x="0" y="0"/>
          <a:ext cx="6877049" cy="853916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understand the physiology of acid-base balance and how the lungs and kidneys react to maintain homeostasis</a:t>
          </a:r>
        </a:p>
      </dsp:txBody>
      <dsp:txXfrm>
        <a:off x="25010" y="25010"/>
        <a:ext cx="5883452" cy="803896"/>
      </dsp:txXfrm>
    </dsp:sp>
    <dsp:sp modelId="{9F2C0266-FD4D-4941-906C-BA7906BC4865}">
      <dsp:nvSpPr>
        <dsp:cNvPr id="0" name=""/>
        <dsp:cNvSpPr/>
      </dsp:nvSpPr>
      <dsp:spPr>
        <a:xfrm>
          <a:off x="575952" y="1009173"/>
          <a:ext cx="6877049" cy="853916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be able to read and interpret arterial blood gases</a:t>
          </a:r>
          <a:endParaRPr lang="en-US" sz="1700" kern="1200" dirty="0"/>
        </a:p>
      </dsp:txBody>
      <dsp:txXfrm>
        <a:off x="600962" y="1034183"/>
        <a:ext cx="5696031" cy="803896"/>
      </dsp:txXfrm>
    </dsp:sp>
    <dsp:sp modelId="{B97350AB-3378-4149-B837-7C2545D9FADC}">
      <dsp:nvSpPr>
        <dsp:cNvPr id="0" name=""/>
        <dsp:cNvSpPr/>
      </dsp:nvSpPr>
      <dsp:spPr>
        <a:xfrm>
          <a:off x="1143309" y="2018347"/>
          <a:ext cx="6877049" cy="85391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be able to recognise type 1 and type 2 respiratory failure </a:t>
          </a:r>
          <a:endParaRPr lang="en-US" sz="1700" kern="1200" dirty="0"/>
        </a:p>
      </dsp:txBody>
      <dsp:txXfrm>
        <a:off x="1168319" y="2043357"/>
        <a:ext cx="5704627" cy="803896"/>
      </dsp:txXfrm>
    </dsp:sp>
    <dsp:sp modelId="{C0D6BF38-96F1-40B0-AC2F-9802E358F12F}">
      <dsp:nvSpPr>
        <dsp:cNvPr id="0" name=""/>
        <dsp:cNvSpPr/>
      </dsp:nvSpPr>
      <dsp:spPr>
        <a:xfrm>
          <a:off x="1719262" y="3027520"/>
          <a:ext cx="6877049" cy="853916"/>
        </a:xfrm>
        <a:prstGeom prst="roundRect">
          <a:avLst>
            <a:gd name="adj" fmla="val 10000"/>
          </a:avLst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To be able to recognise acute, chronic and acute on chronic respiratory failure</a:t>
          </a:r>
        </a:p>
      </dsp:txBody>
      <dsp:txXfrm>
        <a:off x="1744272" y="3052530"/>
        <a:ext cx="5696031" cy="803896"/>
      </dsp:txXfrm>
    </dsp:sp>
    <dsp:sp modelId="{19DCE8E7-CE3E-4603-8E7C-AA819637C296}">
      <dsp:nvSpPr>
        <dsp:cNvPr id="0" name=""/>
        <dsp:cNvSpPr/>
      </dsp:nvSpPr>
      <dsp:spPr>
        <a:xfrm>
          <a:off x="6322004" y="654022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/>
        </a:p>
      </dsp:txBody>
      <dsp:txXfrm>
        <a:off x="6446889" y="654022"/>
        <a:ext cx="305275" cy="417671"/>
      </dsp:txXfrm>
    </dsp:sp>
    <dsp:sp modelId="{69F602AD-0702-4758-86FB-7C2DE21B6301}">
      <dsp:nvSpPr>
        <dsp:cNvPr id="0" name=""/>
        <dsp:cNvSpPr/>
      </dsp:nvSpPr>
      <dsp:spPr>
        <a:xfrm>
          <a:off x="6897957" y="1663195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/>
        </a:p>
      </dsp:txBody>
      <dsp:txXfrm>
        <a:off x="7022842" y="1663195"/>
        <a:ext cx="305275" cy="417671"/>
      </dsp:txXfrm>
    </dsp:sp>
    <dsp:sp modelId="{6F197259-DE7E-40B1-8D9F-A5314D6D7FDB}">
      <dsp:nvSpPr>
        <dsp:cNvPr id="0" name=""/>
        <dsp:cNvSpPr/>
      </dsp:nvSpPr>
      <dsp:spPr>
        <a:xfrm>
          <a:off x="7465313" y="2672369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590198" y="2672369"/>
        <a:ext cx="305275" cy="417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3FF9E-3404-4BF2-AD9D-24EF961B5BDB}" type="datetimeFigureOut">
              <a:rPr lang="en-GB" smtClean="0"/>
              <a:t>06/02/2025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B148F-B8BE-4F30-819E-65D3EC99E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15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Reduced ability to excrete bicarbonate/Excessive loss of acid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B148F-B8BE-4F30-819E-65D3EC99E93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26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812190-3136-893A-762D-3298527FE7ED}"/>
              </a:ext>
            </a:extLst>
          </p:cNvPr>
          <p:cNvSpPr txBox="1"/>
          <p:nvPr userDrawn="1"/>
        </p:nvSpPr>
        <p:spPr>
          <a:xfrm>
            <a:off x="6706395" y="1224000"/>
            <a:ext cx="2056605" cy="3941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Royal Brompton Hospital  </a:t>
            </a:r>
          </a:p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Harefield Hospital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D03E5D52-75B4-6E72-B78C-7A201FB704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2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Royal Bromp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481319EE-52A4-B66C-4641-572AF7448E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8BFFC9-41AF-7B52-09AB-1B768800E6BC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Royal Brompton Hospital</a:t>
            </a:r>
          </a:p>
        </p:txBody>
      </p:sp>
    </p:spTree>
    <p:extLst>
      <p:ext uri="{BB962C8B-B14F-4D97-AF65-F5344CB8AC3E}">
        <p14:creationId xmlns:p14="http://schemas.microsoft.com/office/powerpoint/2010/main" val="84241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Haref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C7D482A8-130E-2370-11E1-82F104BCCA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6EE31F-0E07-5D99-91B4-1ABA954C9321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Harefield Hospital</a:t>
            </a:r>
          </a:p>
        </p:txBody>
      </p:sp>
    </p:spTree>
    <p:extLst>
      <p:ext uri="{BB962C8B-B14F-4D97-AF65-F5344CB8AC3E}">
        <p14:creationId xmlns:p14="http://schemas.microsoft.com/office/powerpoint/2010/main" val="1236926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Guy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672E9E-9114-6844-8CD9-F57AEE23DE4A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Guy’s Hospital </a:t>
            </a:r>
          </a:p>
        </p:txBody>
      </p:sp>
      <p:pic>
        <p:nvPicPr>
          <p:cNvPr id="7" name="Picture 6" descr="A picture containing icon&#10;&#10;Description automatically generated">
            <a:extLst>
              <a:ext uri="{FF2B5EF4-FFF2-40B4-BE49-F238E27FC236}">
                <a16:creationId xmlns:a16="http://schemas.microsoft.com/office/drawing/2014/main" id="{D5E118C3-C098-593D-3D3C-1AC232B494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t Thomas'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3091"/>
            <a:ext cx="7772400" cy="1226872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2038"/>
            <a:ext cx="7772399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043DFAF9-585E-FA96-5672-573C8BA043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387" y="379413"/>
            <a:ext cx="1753200" cy="590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83272E-1A66-2504-C55A-798A197D478F}"/>
              </a:ext>
            </a:extLst>
          </p:cNvPr>
          <p:cNvSpPr txBox="1"/>
          <p:nvPr userDrawn="1"/>
        </p:nvSpPr>
        <p:spPr>
          <a:xfrm>
            <a:off x="6706395" y="1224000"/>
            <a:ext cx="2056605" cy="1889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600"/>
              </a:lnSpc>
            </a:pPr>
            <a:r>
              <a:rPr lang="en-GB" sz="1200" b="1" dirty="0">
                <a:solidFill>
                  <a:schemeClr val="tx2"/>
                </a:solidFill>
              </a:rPr>
              <a:t>St Thomas’ Hospital </a:t>
            </a:r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34B96EE9-B923-1F53-956B-DE785AEEA5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378000"/>
            <a:ext cx="2570400" cy="47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0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6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NHS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77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3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26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9413" y="287492"/>
            <a:ext cx="8383587" cy="6155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413" y="1260000"/>
            <a:ext cx="8383587" cy="521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7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9" r:id="rId3"/>
    <p:sldLayoutId id="2147483670" r:id="rId4"/>
    <p:sldLayoutId id="2147483671" r:id="rId5"/>
    <p:sldLayoutId id="2147483662" r:id="rId6"/>
    <p:sldLayoutId id="2147483672" r:id="rId7"/>
    <p:sldLayoutId id="2147483666" r:id="rId8"/>
    <p:sldLayoutId id="2147483667" r:id="rId9"/>
  </p:sldLayoutIdLst>
  <p:txStyles>
    <p:titleStyle>
      <a:lvl1pPr algn="l" defTabSz="914400" rtl="0" eaLnBrk="1" latinLnBrk="0" hangingPunct="1">
        <a:lnSpc>
          <a:spcPts val="48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32000" indent="-432000" algn="l" defTabSz="914400" rtl="0" eaLnBrk="1" latinLnBrk="0" hangingPunct="1">
        <a:lnSpc>
          <a:spcPts val="3400"/>
        </a:lnSpc>
        <a:spcBef>
          <a:spcPts val="1000"/>
        </a:spcBef>
        <a:buClr>
          <a:schemeClr val="tx2"/>
        </a:buClr>
        <a:buFont typeface="Wingdings" panose="05000000000000000000" pitchFamily="2" charset="2"/>
        <a:buChar char="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4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96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0" indent="-432000" algn="l" defTabSz="914400" rtl="0" eaLnBrk="1" latinLnBrk="0" hangingPunct="1">
        <a:lnSpc>
          <a:spcPts val="34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pos="239" userDrawn="1">
          <p15:clr>
            <a:srgbClr val="F26B43"/>
          </p15:clr>
        </p15:guide>
        <p15:guide id="4" pos="5520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39" userDrawn="1">
          <p15:clr>
            <a:srgbClr val="F26B43"/>
          </p15:clr>
        </p15:guide>
        <p15:guide id="8" orient="horz" pos="4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gif"/><Relationship Id="rId4" Type="http://schemas.openxmlformats.org/officeDocument/2006/relationships/image" Target="../media/image14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gif"/><Relationship Id="rId3" Type="http://schemas.openxmlformats.org/officeDocument/2006/relationships/image" Target="../media/image14.gif"/><Relationship Id="rId7" Type="http://schemas.openxmlformats.org/officeDocument/2006/relationships/image" Target="../media/image20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gif"/><Relationship Id="rId4" Type="http://schemas.openxmlformats.org/officeDocument/2006/relationships/hyperlink" Target="https://www.google.co.uk/url?sa=i&amp;rct=j&amp;q=&amp;esrc=s&amp;frm=1&amp;source=images&amp;cd=&amp;cad=rja&amp;uact=8&amp;docid=wFFU9m5L1I8vYM&amp;tbnid=QAg5sMyMpxkTLM:&amp;ved=0CAUQjRw&amp;url=https://johntmcgowan.wordpress.com/category/animation/&amp;ei=46-xU-X2AsTZOaaMgOAK&amp;bvm=bv.69837884,d.ZWU&amp;psig=AFQjCNE9LzFLdnagHjDli4cE04xoP_RIdw&amp;ust=1404240082742654" TargetMode="External"/><Relationship Id="rId9" Type="http://schemas.openxmlformats.org/officeDocument/2006/relationships/image" Target="../media/image2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gif"/><Relationship Id="rId3" Type="http://schemas.openxmlformats.org/officeDocument/2006/relationships/image" Target="../media/image3.png"/><Relationship Id="rId7" Type="http://schemas.openxmlformats.org/officeDocument/2006/relationships/image" Target="../media/image8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gif"/><Relationship Id="rId5" Type="http://schemas.openxmlformats.org/officeDocument/2006/relationships/image" Target="../media/image24.jpeg"/><Relationship Id="rId4" Type="http://schemas.openxmlformats.org/officeDocument/2006/relationships/image" Target="../media/image23.gif"/><Relationship Id="rId9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7" Type="http://schemas.openxmlformats.org/officeDocument/2006/relationships/image" Target="../media/image3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gif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F3E6BD7-D969-7D38-1174-C7F552223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Arterial Blood Gases (ABGs)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F9E4EC50-365F-EB36-3021-13E359BCC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Stuart Clarke</a:t>
            </a:r>
          </a:p>
          <a:p>
            <a:r>
              <a:rPr lang="en-GB" dirty="0"/>
              <a:t>Highly Specialist Physiotherapist</a:t>
            </a:r>
          </a:p>
          <a:p>
            <a:r>
              <a:rPr lang="en-GB" dirty="0"/>
              <a:t>Harefield Hospital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C869D44A-FFB3-8D6F-1B12-2444D3D7E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ripping blood Animation">
            <a:extLst>
              <a:ext uri="{FF2B5EF4-FFF2-40B4-BE49-F238E27FC236}">
                <a16:creationId xmlns:a16="http://schemas.microsoft.com/office/drawing/2014/main" id="{9D2B5DA5-6DC6-510B-410B-1A12ACAA9D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390" y="39327"/>
            <a:ext cx="3933825" cy="6433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6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B8DE7BE6-BE04-98B6-2731-E06D52D96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London Metropolitan University - London ...">
            <a:extLst>
              <a:ext uri="{FF2B5EF4-FFF2-40B4-BE49-F238E27FC236}">
                <a16:creationId xmlns:a16="http://schemas.microsoft.com/office/drawing/2014/main" id="{66F9CECF-AB09-FD16-93A4-028C42A6D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388A125-2AEF-0E1C-6806-C367A2A44D8B}"/>
              </a:ext>
            </a:extLst>
          </p:cNvPr>
          <p:cNvSpPr txBox="1">
            <a:spLocks/>
          </p:cNvSpPr>
          <p:nvPr/>
        </p:nvSpPr>
        <p:spPr>
          <a:xfrm>
            <a:off x="273666" y="66040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Learning Outcomes 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AA56E02-4AA0-3EF5-A831-64BB6995F3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0387558"/>
              </p:ext>
            </p:extLst>
          </p:nvPr>
        </p:nvGraphicFramePr>
        <p:xfrm>
          <a:off x="274195" y="22113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3111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ndon Metropolitan University - London ...">
            <a:extLst>
              <a:ext uri="{FF2B5EF4-FFF2-40B4-BE49-F238E27FC236}">
                <a16:creationId xmlns:a16="http://schemas.microsoft.com/office/drawing/2014/main" id="{1FD012BB-C495-D36E-F017-2BCE03E87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://www.abundanthealthcenter.com/blog/wp-content/uploads/2011/04/PH-Scale.jpg">
            <a:extLst>
              <a:ext uri="{FF2B5EF4-FFF2-40B4-BE49-F238E27FC236}">
                <a16:creationId xmlns:a16="http://schemas.microsoft.com/office/drawing/2014/main" id="{A1734EF1-4C51-A96E-A164-C374E25F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64" y="3922608"/>
            <a:ext cx="6851662" cy="2377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12E417-7D75-8E1D-E511-A2E27445C23D}"/>
              </a:ext>
            </a:extLst>
          </p:cNvPr>
          <p:cNvSpPr txBox="1">
            <a:spLocks/>
          </p:cNvSpPr>
          <p:nvPr/>
        </p:nvSpPr>
        <p:spPr>
          <a:xfrm>
            <a:off x="1054088" y="1440597"/>
            <a:ext cx="6281983" cy="5205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400" b="0" dirty="0"/>
              <a:t>Acid-base balance refers to the degree of acidity or alkalinity in the body which is measured by the pH scale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400" b="0" dirty="0"/>
              <a:t>Measure of H</a:t>
            </a:r>
            <a:r>
              <a:rPr lang="en-GB" altLang="en-US" sz="1400" b="0" baseline="30000" dirty="0"/>
              <a:t>+</a:t>
            </a:r>
            <a:r>
              <a:rPr lang="en-GB" altLang="en-US" sz="1400" b="0" dirty="0"/>
              <a:t> concentration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400" b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altLang="en-US" sz="1400" dirty="0"/>
              <a:t>Normal pH: 7.35-7.45</a:t>
            </a:r>
          </a:p>
          <a:p>
            <a:pPr algn="l"/>
            <a:endParaRPr lang="en-GB" altLang="en-US" sz="1400" b="0" dirty="0"/>
          </a:p>
          <a:p>
            <a:pPr algn="l"/>
            <a:endParaRPr lang="en-GB" altLang="en-US" sz="1400" b="0" dirty="0"/>
          </a:p>
          <a:p>
            <a:pPr algn="l"/>
            <a:endParaRPr lang="en-GB" altLang="en-US" sz="1400" b="0" dirty="0"/>
          </a:p>
          <a:p>
            <a:pPr algn="l"/>
            <a:endParaRPr lang="en-GB" altLang="en-US" sz="1400" b="0" dirty="0"/>
          </a:p>
          <a:p>
            <a:pPr algn="l"/>
            <a:endParaRPr lang="en-GB" altLang="en-US" sz="1400" b="0" dirty="0"/>
          </a:p>
          <a:p>
            <a:endParaRPr lang="en-GB" altLang="en-US" sz="2000" b="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  <a:p>
            <a:endParaRPr lang="en-GB" alt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C919B38-D82E-66B0-5CB8-044542254243}"/>
              </a:ext>
            </a:extLst>
          </p:cNvPr>
          <p:cNvSpPr txBox="1">
            <a:spLocks/>
          </p:cNvSpPr>
          <p:nvPr/>
        </p:nvSpPr>
        <p:spPr>
          <a:xfrm>
            <a:off x="273666" y="66040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Acid-base Relationship </a:t>
            </a:r>
          </a:p>
        </p:txBody>
      </p:sp>
    </p:spTree>
    <p:extLst>
      <p:ext uri="{BB962C8B-B14F-4D97-AF65-F5344CB8AC3E}">
        <p14:creationId xmlns:p14="http://schemas.microsoft.com/office/powerpoint/2010/main" val="381964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B4F33C-5AA6-F737-D765-431E29B986AE}"/>
              </a:ext>
            </a:extLst>
          </p:cNvPr>
          <p:cNvSpPr txBox="1">
            <a:spLocks/>
          </p:cNvSpPr>
          <p:nvPr/>
        </p:nvSpPr>
        <p:spPr>
          <a:xfrm>
            <a:off x="1545308" y="1343091"/>
            <a:ext cx="6281983" cy="4470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600" b="0" dirty="0"/>
              <a:t>Acid-base is controlled by the lungs, the kidneys and their associated buffer systems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600" b="0" dirty="0"/>
              <a:t>Optimum cell function requires maintenance of well controlled H</a:t>
            </a:r>
            <a:r>
              <a:rPr lang="en-GB" altLang="en-US" sz="1600" b="0" baseline="30000" dirty="0"/>
              <a:t>+</a:t>
            </a:r>
            <a:r>
              <a:rPr lang="en-GB" altLang="en-US" sz="1600" b="0" dirty="0"/>
              <a:t> concentration – homeostasis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600" b="0" dirty="0"/>
              <a:t>Normal metabolism results in the production of acids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600" dirty="0"/>
              <a:t>An acid is a proton or hydrogen ion (H</a:t>
            </a:r>
            <a:r>
              <a:rPr lang="en-GB" altLang="en-US" sz="1600" baseline="30000" dirty="0"/>
              <a:t>+</a:t>
            </a:r>
            <a:r>
              <a:rPr lang="en-GB" altLang="en-US" sz="1600" dirty="0"/>
              <a:t>) donor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en-US" sz="1600" dirty="0"/>
              <a:t>A base is a proton or hydrogen ion acceptor</a:t>
            </a:r>
          </a:p>
        </p:txBody>
      </p:sp>
      <p:pic>
        <p:nvPicPr>
          <p:cNvPr id="1028" name="Picture 4" descr="Valentines see-saw by Jordi Ayguasenosa Jara on Dribbble">
            <a:extLst>
              <a:ext uri="{FF2B5EF4-FFF2-40B4-BE49-F238E27FC236}">
                <a16:creationId xmlns:a16="http://schemas.microsoft.com/office/drawing/2014/main" id="{D18376A7-264C-1A88-9D7A-484251193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3103"/>
            <a:ext cx="1952625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London Metropolitan University - London ...">
            <a:extLst>
              <a:ext uri="{FF2B5EF4-FFF2-40B4-BE49-F238E27FC236}">
                <a16:creationId xmlns:a16="http://schemas.microsoft.com/office/drawing/2014/main" id="{8EF2FBC8-819A-569E-39A4-5CC63F961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125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2CC552-5D6E-4EC4-08B0-977408043D91}"/>
              </a:ext>
            </a:extLst>
          </p:cNvPr>
          <p:cNvSpPr txBox="1">
            <a:spLocks/>
          </p:cNvSpPr>
          <p:nvPr/>
        </p:nvSpPr>
        <p:spPr>
          <a:xfrm>
            <a:off x="273666" y="66040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Acid-base Relationship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F87CCF-1E59-3CBA-D90F-6686CE8C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4799813"/>
            <a:ext cx="4429125" cy="205818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BE383E2-734D-A36F-ED70-F5860C8B9C46}"/>
              </a:ext>
            </a:extLst>
          </p:cNvPr>
          <p:cNvSpPr txBox="1">
            <a:spLocks/>
          </p:cNvSpPr>
          <p:nvPr/>
        </p:nvSpPr>
        <p:spPr>
          <a:xfrm>
            <a:off x="144217" y="1724026"/>
            <a:ext cx="8037758" cy="32385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Bicarbonate buffer system</a:t>
            </a:r>
          </a:p>
          <a:p>
            <a:pPr marL="571500" indent="-571500" algn="l">
              <a:buFontTx/>
              <a:buChar char="-"/>
            </a:pPr>
            <a:r>
              <a:rPr lang="en-GB" sz="2000" b="0" dirty="0"/>
              <a:t>Involving the balance between carbonic acid, bicarbonate ion &amp; carbon dioxide to maintain pH in the blood to support metabolic function</a:t>
            </a:r>
          </a:p>
          <a:p>
            <a:pPr marL="571500" indent="-571500" algn="l">
              <a:buFontTx/>
              <a:buChar char="-"/>
            </a:pPr>
            <a:r>
              <a:rPr lang="en-GB" sz="2000" b="0" dirty="0"/>
              <a:t>Failure of this buffer system to work correctly will alter the pH of the blood causing acidosis or alkalosis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050" name="Picture 2" descr="Kidney - Flat - Wired - Lordicon">
            <a:extLst>
              <a:ext uri="{FF2B5EF4-FFF2-40B4-BE49-F238E27FC236}">
                <a16:creationId xmlns:a16="http://schemas.microsoft.com/office/drawing/2014/main" id="{3C2FA0F4-57AA-7511-A1D3-F7D89E62F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036" y="25401"/>
            <a:ext cx="1320801" cy="13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2983E0-1E2D-1E94-FC13-99219DDDC150}"/>
              </a:ext>
            </a:extLst>
          </p:cNvPr>
          <p:cNvSpPr txBox="1">
            <a:spLocks/>
          </p:cNvSpPr>
          <p:nvPr/>
        </p:nvSpPr>
        <p:spPr>
          <a:xfrm>
            <a:off x="2681957" y="4660505"/>
            <a:ext cx="8986167" cy="2058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algn="l"/>
            <a:r>
              <a:rPr lang="en-GB" altLang="en-US" sz="1600" dirty="0"/>
              <a:t>What could effect this equation?</a:t>
            </a:r>
          </a:p>
        </p:txBody>
      </p:sp>
      <p:pic>
        <p:nvPicPr>
          <p:cNvPr id="12" name="Picture 6" descr="London Metropolitan University - London ...">
            <a:extLst>
              <a:ext uri="{FF2B5EF4-FFF2-40B4-BE49-F238E27FC236}">
                <a16:creationId xmlns:a16="http://schemas.microsoft.com/office/drawing/2014/main" id="{7C3471FE-1187-2D52-2099-9C60E842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06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E94A71-2321-E705-362E-D1331642F2A9}"/>
              </a:ext>
            </a:extLst>
          </p:cNvPr>
          <p:cNvSpPr txBox="1">
            <a:spLocks/>
          </p:cNvSpPr>
          <p:nvPr/>
        </p:nvSpPr>
        <p:spPr>
          <a:xfrm>
            <a:off x="273666" y="66040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		</a:t>
            </a:r>
          </a:p>
          <a:p>
            <a:r>
              <a:rPr lang="en-GB" dirty="0"/>
              <a:t>Normal Values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A280E4-D974-28E1-996C-F6D728CC7DA1}"/>
              </a:ext>
            </a:extLst>
          </p:cNvPr>
          <p:cNvSpPr txBox="1">
            <a:spLocks/>
          </p:cNvSpPr>
          <p:nvPr/>
        </p:nvSpPr>
        <p:spPr>
          <a:xfrm>
            <a:off x="1185617" y="1726802"/>
            <a:ext cx="6615358" cy="4769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pH 7.35-7.45</a:t>
            </a:r>
          </a:p>
          <a:p>
            <a:pPr marL="171450" indent="-171450" algn="l">
              <a:buFontTx/>
              <a:buChar char="-"/>
            </a:pPr>
            <a:r>
              <a:rPr lang="en-GB" sz="2000" b="0" dirty="0"/>
              <a:t>Mean 7.4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pCO</a:t>
            </a:r>
            <a:r>
              <a:rPr lang="en-GB" sz="2000" b="0" baseline="-25000" dirty="0"/>
              <a:t>2</a:t>
            </a:r>
            <a:r>
              <a:rPr lang="en-GB" sz="2000" b="0" dirty="0"/>
              <a:t> 4.7-6kPa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pO</a:t>
            </a:r>
            <a:r>
              <a:rPr lang="en-GB" sz="2000" b="0" baseline="-25000" dirty="0"/>
              <a:t>2</a:t>
            </a:r>
            <a:r>
              <a:rPr lang="en-GB" sz="2000" b="0" dirty="0"/>
              <a:t> 11-14kPa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HCO</a:t>
            </a:r>
            <a:r>
              <a:rPr lang="en-GB" sz="2000" b="0" baseline="-25000" dirty="0"/>
              <a:t>3</a:t>
            </a:r>
            <a:r>
              <a:rPr lang="en-GB" sz="2000" b="0" baseline="30000" dirty="0"/>
              <a:t>-</a:t>
            </a:r>
            <a:r>
              <a:rPr lang="en-GB" sz="2000" b="0" dirty="0"/>
              <a:t> 22-26mmol</a:t>
            </a:r>
          </a:p>
          <a:p>
            <a:pPr marL="171450" indent="-171450" algn="l">
              <a:buFontTx/>
              <a:buChar char="-"/>
            </a:pPr>
            <a:r>
              <a:rPr lang="en-GB" sz="2000" b="0" dirty="0"/>
              <a:t>Mean 25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b="0" dirty="0"/>
              <a:t>BE -2 - +2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3074" name="Picture 2" descr="Blooddoner Stickers - Find &amp; Share on GIPHY">
            <a:extLst>
              <a:ext uri="{FF2B5EF4-FFF2-40B4-BE49-F238E27FC236}">
                <a16:creationId xmlns:a16="http://schemas.microsoft.com/office/drawing/2014/main" id="{241536D5-F888-63F7-9FDF-34C9137FC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824" y="2666206"/>
            <a:ext cx="3109375" cy="3096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London Metropolitan University - London ...">
            <a:extLst>
              <a:ext uri="{FF2B5EF4-FFF2-40B4-BE49-F238E27FC236}">
                <a16:creationId xmlns:a16="http://schemas.microsoft.com/office/drawing/2014/main" id="{54AC32AF-9E4C-9C29-9F56-B42C85534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83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135238" y="631825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Interpretation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144217" y="1476860"/>
            <a:ext cx="8037758" cy="323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/>
              <a:t>Step 1</a:t>
            </a:r>
          </a:p>
          <a:p>
            <a:pPr marL="342900" indent="-342900" algn="l">
              <a:buFontTx/>
              <a:buChar char="-"/>
            </a:pPr>
            <a:r>
              <a:rPr lang="en-GB" sz="1800" b="0" dirty="0"/>
              <a:t>Look at the pH</a:t>
            </a:r>
          </a:p>
          <a:p>
            <a:pPr marL="342900" indent="-342900" algn="l">
              <a:buFontTx/>
              <a:buChar char="-"/>
            </a:pPr>
            <a:r>
              <a:rPr lang="en-GB" sz="1800" b="0" dirty="0"/>
              <a:t>Is it acidic or is it alkaline?</a:t>
            </a: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6" name="Picture 2" descr="http://www.abundanthealthcenter.com/blog/wp-content/uploads/2011/04/PH-Scale.jpg">
            <a:extLst>
              <a:ext uri="{FF2B5EF4-FFF2-40B4-BE49-F238E27FC236}">
                <a16:creationId xmlns:a16="http://schemas.microsoft.com/office/drawing/2014/main" id="{684D4FB3-9644-C9EB-7383-E8170784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40" y="4429125"/>
            <a:ext cx="6851662" cy="262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595064-7BE5-7BEC-1215-8C30736D44EF}"/>
              </a:ext>
            </a:extLst>
          </p:cNvPr>
          <p:cNvSpPr txBox="1"/>
          <p:nvPr/>
        </p:nvSpPr>
        <p:spPr>
          <a:xfrm>
            <a:off x="3117925" y="3642609"/>
            <a:ext cx="2478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dirty="0"/>
              <a:t>pH &gt; 7.45 = alkalotic</a:t>
            </a:r>
          </a:p>
          <a:p>
            <a:pPr algn="l"/>
            <a:r>
              <a:rPr lang="en-GB" sz="1800" b="1" dirty="0"/>
              <a:t>pH &lt; 7.35 = acidotic</a:t>
            </a:r>
          </a:p>
        </p:txBody>
      </p:sp>
      <p:pic>
        <p:nvPicPr>
          <p:cNvPr id="9" name="Picture 6" descr="London Metropolitan University - London ...">
            <a:extLst>
              <a:ext uri="{FF2B5EF4-FFF2-40B4-BE49-F238E27FC236}">
                <a16:creationId xmlns:a16="http://schemas.microsoft.com/office/drawing/2014/main" id="{0B20ACE4-8250-B25F-4CD7-BB12AC55F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34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Interpretation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144216" y="1651000"/>
            <a:ext cx="8416123" cy="331152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6400" dirty="0"/>
              <a:t>Step 2</a:t>
            </a:r>
          </a:p>
          <a:p>
            <a:pPr marL="1143000" indent="-1143000" algn="l">
              <a:buFontTx/>
              <a:buChar char="-"/>
            </a:pPr>
            <a:r>
              <a:rPr lang="en-GB" sz="6400" b="0" dirty="0"/>
              <a:t>Look at the pCO</a:t>
            </a:r>
            <a:r>
              <a:rPr lang="en-GB" sz="6400" b="0" baseline="-25000" dirty="0"/>
              <a:t>2</a:t>
            </a:r>
          </a:p>
          <a:p>
            <a:pPr marL="1143000" indent="-1143000" algn="l">
              <a:buFontTx/>
              <a:buChar char="-"/>
            </a:pPr>
            <a:r>
              <a:rPr lang="en-GB" sz="6400" b="0" dirty="0"/>
              <a:t>A high pCO</a:t>
            </a:r>
            <a:r>
              <a:rPr lang="en-GB" sz="6400" b="0" baseline="-25000" dirty="0"/>
              <a:t>2</a:t>
            </a:r>
            <a:r>
              <a:rPr lang="en-GB" sz="6400" b="0" dirty="0"/>
              <a:t> will cause the pH to become more acidotic whereas a low pCO</a:t>
            </a:r>
            <a:r>
              <a:rPr lang="en-GB" sz="6400" b="0" baseline="-25000" dirty="0"/>
              <a:t>2</a:t>
            </a:r>
            <a:r>
              <a:rPr lang="en-GB" sz="6400" b="0" dirty="0"/>
              <a:t> will cause the pH to become more alkalotic</a:t>
            </a:r>
          </a:p>
          <a:p>
            <a:pPr marL="1143000" indent="-1143000" algn="l">
              <a:buFontTx/>
              <a:buChar char="-"/>
            </a:pPr>
            <a:r>
              <a:rPr lang="en-GB" sz="6400" b="0" dirty="0"/>
              <a:t>Is it within normal range?</a:t>
            </a:r>
          </a:p>
          <a:p>
            <a:pPr marL="1143000" indent="-1143000" algn="l">
              <a:buFontTx/>
              <a:buChar char="-"/>
            </a:pPr>
            <a:r>
              <a:rPr lang="en-GB" sz="6400" b="0" dirty="0"/>
              <a:t>If no, does the abnormality match that of the pH i.e. is the pCO</a:t>
            </a:r>
            <a:r>
              <a:rPr lang="en-GB" sz="6400" b="0" baseline="-25000" dirty="0"/>
              <a:t>2 </a:t>
            </a:r>
            <a:r>
              <a:rPr lang="en-GB" sz="6400" b="0" dirty="0"/>
              <a:t> high and the pH low or is the pH high and the pCO</a:t>
            </a:r>
            <a:r>
              <a:rPr lang="en-GB" sz="6400" b="0" baseline="-25000" dirty="0"/>
              <a:t>2 </a:t>
            </a:r>
            <a:r>
              <a:rPr lang="en-GB" sz="6400" b="0" dirty="0"/>
              <a:t> low? (Seesaw)</a:t>
            </a:r>
          </a:p>
          <a:p>
            <a:pPr marL="1143000" indent="-1143000" algn="l">
              <a:buFontTx/>
              <a:buChar char="-"/>
            </a:pPr>
            <a:r>
              <a:rPr lang="en-GB" sz="6400" dirty="0"/>
              <a:t>If this is the case then a primary respiratory problem has been identified</a:t>
            </a:r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1F1725-593D-D45B-83D8-72EFD57B507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394" y="1820766"/>
            <a:ext cx="2859082" cy="160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788D3-D952-03A2-4A54-27460BF33011}"/>
              </a:ext>
            </a:extLst>
          </p:cNvPr>
          <p:cNvSpPr txBox="1"/>
          <p:nvPr/>
        </p:nvSpPr>
        <p:spPr>
          <a:xfrm>
            <a:off x="3631153" y="4402939"/>
            <a:ext cx="4929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dirty="0"/>
              <a:t>(4.7-6.0kPa)</a:t>
            </a:r>
          </a:p>
        </p:txBody>
      </p:sp>
    </p:spTree>
    <p:extLst>
      <p:ext uri="{BB962C8B-B14F-4D97-AF65-F5344CB8AC3E}">
        <p14:creationId xmlns:p14="http://schemas.microsoft.com/office/powerpoint/2010/main" val="406070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Interpretation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144216" y="165100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6400" dirty="0"/>
              <a:t>Step 3</a:t>
            </a:r>
          </a:p>
          <a:p>
            <a:pPr marL="685800" indent="-685800" algn="l">
              <a:buFontTx/>
              <a:buChar char="-"/>
            </a:pPr>
            <a:r>
              <a:rPr lang="en-GB" sz="4800" b="0" dirty="0"/>
              <a:t>Look at HCO</a:t>
            </a:r>
            <a:r>
              <a:rPr lang="en-GB" sz="4800" b="0" baseline="-25000" dirty="0"/>
              <a:t>3</a:t>
            </a:r>
            <a:r>
              <a:rPr lang="en-GB" sz="4800" b="0" baseline="30000" dirty="0"/>
              <a:t>-</a:t>
            </a:r>
          </a:p>
          <a:p>
            <a:pPr marL="685800" indent="-685800" algn="l">
              <a:buFontTx/>
              <a:buChar char="-"/>
            </a:pPr>
            <a:r>
              <a:rPr lang="en-GB" sz="4800" b="0" dirty="0"/>
              <a:t>A high HCO</a:t>
            </a:r>
            <a:r>
              <a:rPr lang="en-GB" sz="4800" b="0" baseline="-25000" dirty="0"/>
              <a:t>3</a:t>
            </a:r>
            <a:r>
              <a:rPr lang="en-GB" sz="4800" b="0" baseline="30000" dirty="0"/>
              <a:t>- </a:t>
            </a:r>
            <a:r>
              <a:rPr lang="en-GB" sz="4800" b="0" dirty="0"/>
              <a:t>will cause the pH to become more alkalotic whereas a low HCO</a:t>
            </a:r>
            <a:r>
              <a:rPr lang="en-GB" sz="4800" b="0" baseline="-25000" dirty="0"/>
              <a:t>3</a:t>
            </a:r>
            <a:r>
              <a:rPr lang="en-GB" sz="4800" b="0" baseline="30000" dirty="0"/>
              <a:t>- </a:t>
            </a:r>
            <a:r>
              <a:rPr lang="en-GB" sz="4800" b="0" dirty="0"/>
              <a:t>will cause the pH to become more acidotic</a:t>
            </a:r>
          </a:p>
          <a:p>
            <a:pPr marL="685800" indent="-685800" algn="l">
              <a:buFontTx/>
              <a:buChar char="-"/>
            </a:pPr>
            <a:r>
              <a:rPr lang="en-GB" sz="4800" b="0" dirty="0"/>
              <a:t>Is it within normal range?</a:t>
            </a:r>
          </a:p>
          <a:p>
            <a:pPr marL="685800" indent="-685800" algn="l">
              <a:buFontTx/>
              <a:buChar char="-"/>
            </a:pPr>
            <a:r>
              <a:rPr lang="en-GB" sz="4800" b="0" dirty="0"/>
              <a:t>If no, does the abnormality match that of  the pH i.e. is the HCO</a:t>
            </a:r>
            <a:r>
              <a:rPr lang="en-GB" sz="4800" b="0" baseline="-25000" dirty="0"/>
              <a:t>3</a:t>
            </a:r>
            <a:r>
              <a:rPr lang="en-GB" sz="4800" b="0" baseline="30000" dirty="0"/>
              <a:t>- </a:t>
            </a:r>
            <a:r>
              <a:rPr lang="en-GB" sz="4800" b="0" dirty="0"/>
              <a:t>high and the pH High or is the pH low and the HCO</a:t>
            </a:r>
            <a:r>
              <a:rPr lang="en-GB" sz="4800" b="0" baseline="-25000" dirty="0"/>
              <a:t>3</a:t>
            </a:r>
            <a:r>
              <a:rPr lang="en-GB" sz="4800" b="0" baseline="30000" dirty="0"/>
              <a:t>- </a:t>
            </a:r>
            <a:r>
              <a:rPr lang="en-GB" sz="4800" b="0" baseline="-25000" dirty="0"/>
              <a:t> </a:t>
            </a:r>
            <a:r>
              <a:rPr lang="en-GB" sz="4800" b="0" dirty="0"/>
              <a:t>low? (Elevator)</a:t>
            </a:r>
          </a:p>
          <a:p>
            <a:pPr marL="685800" indent="-685800" algn="l">
              <a:buFontTx/>
              <a:buChar char="-"/>
            </a:pPr>
            <a:r>
              <a:rPr lang="en-GB" sz="4800" dirty="0"/>
              <a:t>If this is the case then a primary Metabolic problem has been identified</a:t>
            </a:r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EC9FD8-C884-7403-4193-B430C4C296DF}"/>
              </a:ext>
            </a:extLst>
          </p:cNvPr>
          <p:cNvSpPr txBox="1"/>
          <p:nvPr/>
        </p:nvSpPr>
        <p:spPr>
          <a:xfrm>
            <a:off x="2769394" y="4505671"/>
            <a:ext cx="49291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dirty="0"/>
              <a:t>(22-26mmol)</a:t>
            </a:r>
          </a:p>
        </p:txBody>
      </p:sp>
      <p:pic>
        <p:nvPicPr>
          <p:cNvPr id="8" name="Picture 2" descr="http://www.gifs.net/Animation11/Everything_Else/Doors_and_Gates/Elevator_door.gif">
            <a:extLst>
              <a:ext uri="{FF2B5EF4-FFF2-40B4-BE49-F238E27FC236}">
                <a16:creationId xmlns:a16="http://schemas.microsoft.com/office/drawing/2014/main" id="{12FE618A-B451-BE4A-A410-294E0743EB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729" y="1519629"/>
            <a:ext cx="2186403" cy="163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28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Interpretation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168533" y="1655965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6400" dirty="0"/>
              <a:t>Compensation </a:t>
            </a:r>
          </a:p>
          <a:p>
            <a:pPr marL="685800" indent="-685800" algn="l">
              <a:buFontTx/>
              <a:buChar char="-"/>
            </a:pPr>
            <a:r>
              <a:rPr lang="en-GB" sz="6400" b="0" dirty="0"/>
              <a:t>Look at compensating variable</a:t>
            </a:r>
          </a:p>
          <a:p>
            <a:pPr marL="685800" indent="-685800" algn="l">
              <a:buFontTx/>
              <a:buChar char="-"/>
            </a:pPr>
            <a:r>
              <a:rPr lang="en-GB" sz="6400" b="0" dirty="0"/>
              <a:t>Is it within its normal range? </a:t>
            </a:r>
          </a:p>
          <a:p>
            <a:pPr marL="685800" indent="-685800" algn="l">
              <a:buFontTx/>
              <a:buChar char="-"/>
            </a:pPr>
            <a:r>
              <a:rPr lang="en-GB" sz="6400" b="0" dirty="0"/>
              <a:t>If yes, then it is uncompensated</a:t>
            </a:r>
          </a:p>
          <a:p>
            <a:pPr marL="685800" indent="-685800" algn="l">
              <a:buFontTx/>
              <a:buChar char="-"/>
            </a:pPr>
            <a:r>
              <a:rPr lang="en-GB" sz="6400" b="0" dirty="0"/>
              <a:t>If no, it has started to compensate</a:t>
            </a:r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A4B2E-9450-6B9B-61C9-30E382533D1C}"/>
              </a:ext>
            </a:extLst>
          </p:cNvPr>
          <p:cNvSpPr txBox="1"/>
          <p:nvPr/>
        </p:nvSpPr>
        <p:spPr>
          <a:xfrm>
            <a:off x="3788571" y="2515376"/>
            <a:ext cx="49291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Tx/>
              <a:buChar char="-"/>
            </a:pPr>
            <a:r>
              <a:rPr lang="en-GB" sz="1600" b="0" dirty="0"/>
              <a:t>Refer back to the pH</a:t>
            </a:r>
          </a:p>
          <a:p>
            <a:pPr marL="685800" indent="-685800" algn="l">
              <a:buFontTx/>
              <a:buChar char="-"/>
            </a:pPr>
            <a:endParaRPr lang="en-GB" sz="1600" dirty="0"/>
          </a:p>
          <a:p>
            <a:pPr marL="685800" indent="-685800" algn="l">
              <a:buFontTx/>
              <a:buChar char="-"/>
            </a:pPr>
            <a:r>
              <a:rPr lang="en-GB" sz="1600" dirty="0"/>
              <a:t>Is it within normal range?</a:t>
            </a:r>
          </a:p>
          <a:p>
            <a:pPr algn="l"/>
            <a:endParaRPr lang="en-GB" sz="1600" dirty="0"/>
          </a:p>
          <a:p>
            <a:pPr marL="685800" indent="-685800" algn="l">
              <a:buFontTx/>
              <a:buChar char="-"/>
            </a:pPr>
            <a:r>
              <a:rPr lang="en-GB" sz="1600" b="1" dirty="0"/>
              <a:t>Yes – full compensation has occurred</a:t>
            </a:r>
          </a:p>
          <a:p>
            <a:pPr algn="l"/>
            <a:endParaRPr lang="en-GB" sz="1600" b="1" dirty="0"/>
          </a:p>
          <a:p>
            <a:pPr marL="685800" indent="-685800" algn="l">
              <a:buFontTx/>
              <a:buChar char="-"/>
            </a:pPr>
            <a:r>
              <a:rPr lang="en-GB" sz="1600" b="1" dirty="0"/>
              <a:t>No – partial compensation has occurred</a:t>
            </a:r>
          </a:p>
        </p:txBody>
      </p:sp>
      <p:pic>
        <p:nvPicPr>
          <p:cNvPr id="1026" name="Picture 2" descr="Stick Figure Balance Board | 3D Animated Clipart for ...">
            <a:extLst>
              <a:ext uri="{FF2B5EF4-FFF2-40B4-BE49-F238E27FC236}">
                <a16:creationId xmlns:a16="http://schemas.microsoft.com/office/drawing/2014/main" id="{63CD5EBA-8602-1505-F79A-519719F4C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1"/>
          <a:stretch/>
        </p:blipFill>
        <p:spPr bwMode="auto">
          <a:xfrm>
            <a:off x="6753225" y="1543590"/>
            <a:ext cx="1964532" cy="1506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110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Interpretation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578715" y="1543590"/>
            <a:ext cx="8416123" cy="4466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/>
              <a:t>Base excess  </a:t>
            </a:r>
          </a:p>
          <a:p>
            <a:pPr marL="685800" indent="-685800" algn="l">
              <a:buFontTx/>
              <a:buChar char="-"/>
            </a:pPr>
            <a:r>
              <a:rPr lang="en-GB" sz="2000" b="0" dirty="0"/>
              <a:t>Acidotic:  BE &lt; -2</a:t>
            </a:r>
          </a:p>
          <a:p>
            <a:pPr marL="685800" indent="-685800" algn="l">
              <a:buFontTx/>
              <a:buChar char="-"/>
            </a:pPr>
            <a:r>
              <a:rPr lang="en-GB" sz="2000" b="0" dirty="0"/>
              <a:t>Normal: BE -2 to +2</a:t>
            </a:r>
          </a:p>
          <a:p>
            <a:pPr marL="685800" indent="-685800" algn="l">
              <a:buFontTx/>
              <a:buChar char="-"/>
            </a:pPr>
            <a:r>
              <a:rPr lang="en-GB" sz="2000" b="0" dirty="0"/>
              <a:t>Alkalotic: BE &gt;+2</a:t>
            </a:r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://www.gifs.net/Animation11/Everything_Else/Doors_and_Gates/Elevator_door.gif">
            <a:extLst>
              <a:ext uri="{FF2B5EF4-FFF2-40B4-BE49-F238E27FC236}">
                <a16:creationId xmlns:a16="http://schemas.microsoft.com/office/drawing/2014/main" id="{79A75B91-9C59-B7DB-958E-A198D2B7559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729" y="1519629"/>
            <a:ext cx="2186403" cy="163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00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FB0F8589-E912-C34E-88C6-88D301ECD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033572"/>
              </p:ext>
            </p:extLst>
          </p:nvPr>
        </p:nvGraphicFramePr>
        <p:xfrm>
          <a:off x="1078162" y="2281573"/>
          <a:ext cx="5742612" cy="292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306">
                  <a:extLst>
                    <a:ext uri="{9D8B030D-6E8A-4147-A177-3AD203B41FA5}">
                      <a16:colId xmlns:a16="http://schemas.microsoft.com/office/drawing/2014/main" val="3923436365"/>
                    </a:ext>
                  </a:extLst>
                </a:gridCol>
                <a:gridCol w="2871306">
                  <a:extLst>
                    <a:ext uri="{9D8B030D-6E8A-4147-A177-3AD203B41FA5}">
                      <a16:colId xmlns:a16="http://schemas.microsoft.com/office/drawing/2014/main" val="54672699"/>
                    </a:ext>
                  </a:extLst>
                </a:gridCol>
              </a:tblGrid>
              <a:tr h="488100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1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737523"/>
                  </a:ext>
                </a:extLst>
              </a:tr>
              <a:tr h="4881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19148"/>
                  </a:ext>
                </a:extLst>
              </a:tr>
              <a:tr h="4881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8.0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516336"/>
                  </a:ext>
                </a:extLst>
              </a:tr>
              <a:tr h="4881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361044"/>
                  </a:ext>
                </a:extLst>
              </a:tr>
              <a:tr h="488100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383318"/>
                  </a:ext>
                </a:extLst>
              </a:tr>
            </a:tbl>
          </a:graphicData>
        </a:graphic>
      </p:graphicFrame>
      <p:sp>
        <p:nvSpPr>
          <p:cNvPr id="8" name="AutoShape 2" descr="Arrow PNG Images - CleanPNG / KissPNG">
            <a:extLst>
              <a:ext uri="{FF2B5EF4-FFF2-40B4-BE49-F238E27FC236}">
                <a16:creationId xmlns:a16="http://schemas.microsoft.com/office/drawing/2014/main" id="{1072B2EF-70EB-6D75-1BB5-53A251DA0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CB14F3-528E-2A31-13E4-36980B1C5DC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34" y="5295026"/>
            <a:ext cx="2165279" cy="121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312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3236E-4465-55F8-6651-C4D25DE3EA23}"/>
              </a:ext>
            </a:extLst>
          </p:cNvPr>
          <p:cNvSpPr txBox="1"/>
          <p:nvPr/>
        </p:nvSpPr>
        <p:spPr>
          <a:xfrm>
            <a:off x="3997265" y="5159715"/>
            <a:ext cx="2650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 </a:t>
            </a:r>
          </a:p>
          <a:p>
            <a:pPr lvl="1"/>
            <a:r>
              <a:rPr lang="en-US" altLang="en-US" b="1" dirty="0"/>
              <a:t>CNS disturbance</a:t>
            </a:r>
          </a:p>
        </p:txBody>
      </p:sp>
      <p:pic>
        <p:nvPicPr>
          <p:cNvPr id="3074" name="Picture 2" descr="Stomachache Cartoon Images – Browse 6,667 Stock Photos, Vectors, and Video  | Adobe Stock">
            <a:extLst>
              <a:ext uri="{FF2B5EF4-FFF2-40B4-BE49-F238E27FC236}">
                <a16:creationId xmlns:a16="http://schemas.microsoft.com/office/drawing/2014/main" id="{7739015A-202E-31D5-383A-6B9C74EB8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79" y="1861660"/>
            <a:ext cx="2257425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0E2A2D-529C-C6D0-D31E-42FD5FF68B30}"/>
              </a:ext>
            </a:extLst>
          </p:cNvPr>
          <p:cNvSpPr txBox="1"/>
          <p:nvPr/>
        </p:nvSpPr>
        <p:spPr>
          <a:xfrm>
            <a:off x="945284" y="3989830"/>
            <a:ext cx="74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Pain</a:t>
            </a:r>
            <a:endParaRPr lang="en-GB" sz="1800" b="1" dirty="0"/>
          </a:p>
        </p:txBody>
      </p:sp>
      <p:pic>
        <p:nvPicPr>
          <p:cNvPr id="3078" name="Picture 6" descr="How ventilators work and why we need them to fight covid-19">
            <a:extLst>
              <a:ext uri="{FF2B5EF4-FFF2-40B4-BE49-F238E27FC236}">
                <a16:creationId xmlns:a16="http://schemas.microsoft.com/office/drawing/2014/main" id="{5EC4CA4F-B6D0-B8EA-A024-F15FFA7A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652" y="2074665"/>
            <a:ext cx="2763305" cy="155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39ECE3-7113-476F-2577-F9AAC2D1C9C8}"/>
              </a:ext>
            </a:extLst>
          </p:cNvPr>
          <p:cNvSpPr txBox="1"/>
          <p:nvPr/>
        </p:nvSpPr>
        <p:spPr>
          <a:xfrm>
            <a:off x="2631432" y="3777777"/>
            <a:ext cx="388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dirty="0"/>
              <a:t>Excessive Artificial Ventilation </a:t>
            </a:r>
          </a:p>
        </p:txBody>
      </p:sp>
      <p:pic>
        <p:nvPicPr>
          <p:cNvPr id="12" name="Picture 8" descr="http://www.pneumothorax.co.uk/pictures/pneumothorax-pictures.gif">
            <a:extLst>
              <a:ext uri="{FF2B5EF4-FFF2-40B4-BE49-F238E27FC236}">
                <a16:creationId xmlns:a16="http://schemas.microsoft.com/office/drawing/2014/main" id="{8E841072-8A45-27CA-6779-31FA6B37F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21" y="1810291"/>
            <a:ext cx="2163192" cy="217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A16C06-9F14-3084-ADB2-61F57BA7ABD1}"/>
              </a:ext>
            </a:extLst>
          </p:cNvPr>
          <p:cNvSpPr txBox="1"/>
          <p:nvPr/>
        </p:nvSpPr>
        <p:spPr>
          <a:xfrm>
            <a:off x="7090872" y="3989830"/>
            <a:ext cx="1208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Hypoxia</a:t>
            </a:r>
            <a:r>
              <a:rPr lang="en-GB" sz="1800" b="1" dirty="0"/>
              <a:t> </a:t>
            </a:r>
          </a:p>
        </p:txBody>
      </p:sp>
      <p:pic>
        <p:nvPicPr>
          <p:cNvPr id="15" name="Picture 14" descr="Thermometer rises 2 Animation">
            <a:extLst>
              <a:ext uri="{FF2B5EF4-FFF2-40B4-BE49-F238E27FC236}">
                <a16:creationId xmlns:a16="http://schemas.microsoft.com/office/drawing/2014/main" id="{23BBE67B-6E96-AF59-8981-6FC43F8148D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87" y="4119085"/>
            <a:ext cx="1230931" cy="202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09AC9F-53A5-A7D2-4128-32DB902C0B1B}"/>
              </a:ext>
            </a:extLst>
          </p:cNvPr>
          <p:cNvSpPr txBox="1"/>
          <p:nvPr/>
        </p:nvSpPr>
        <p:spPr>
          <a:xfrm>
            <a:off x="1091941" y="5929598"/>
            <a:ext cx="388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Fever/Sepsis/Shock</a:t>
            </a:r>
            <a:r>
              <a:rPr lang="en-GB" sz="1800" b="1" dirty="0"/>
              <a:t> </a:t>
            </a:r>
          </a:p>
        </p:txBody>
      </p:sp>
      <p:pic>
        <p:nvPicPr>
          <p:cNvPr id="17" name="Picture 12" descr="American brain Animation">
            <a:extLst>
              <a:ext uri="{FF2B5EF4-FFF2-40B4-BE49-F238E27FC236}">
                <a16:creationId xmlns:a16="http://schemas.microsoft.com/office/drawing/2014/main" id="{FC409EB3-3649-4032-05E2-E76169AA950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4529228"/>
            <a:ext cx="1219200" cy="121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77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" descr="Arrow PNG Images - CleanPNG / KissPNG">
            <a:extLst>
              <a:ext uri="{FF2B5EF4-FFF2-40B4-BE49-F238E27FC236}">
                <a16:creationId xmlns:a16="http://schemas.microsoft.com/office/drawing/2014/main" id="{1072B2EF-70EB-6D75-1BB5-53A251DA0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21B8EE-9A4D-FA5D-8046-1035D116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09295"/>
              </p:ext>
            </p:extLst>
          </p:nvPr>
        </p:nvGraphicFramePr>
        <p:xfrm>
          <a:off x="1114421" y="2468389"/>
          <a:ext cx="5890336" cy="2785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68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2945168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402775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8.3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29.3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B1AAD476-16EE-F9B0-9E6E-D682F28A81C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34" y="5295026"/>
            <a:ext cx="2165279" cy="121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158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3236E-4465-55F8-6651-C4D25DE3EA23}"/>
              </a:ext>
            </a:extLst>
          </p:cNvPr>
          <p:cNvSpPr txBox="1"/>
          <p:nvPr/>
        </p:nvSpPr>
        <p:spPr>
          <a:xfrm>
            <a:off x="2346958" y="5459992"/>
            <a:ext cx="4602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 </a:t>
            </a:r>
          </a:p>
          <a:p>
            <a:pPr lvl="1"/>
            <a:r>
              <a:rPr lang="en-US" altLang="en-US" b="1" dirty="0"/>
              <a:t>CNS Depression/Excess Sedation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E2A2D-529C-C6D0-D31E-42FD5FF68B30}"/>
              </a:ext>
            </a:extLst>
          </p:cNvPr>
          <p:cNvSpPr txBox="1"/>
          <p:nvPr/>
        </p:nvSpPr>
        <p:spPr>
          <a:xfrm>
            <a:off x="733952" y="3722525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/>
              <a:t>Respiratory Disease - COPD</a:t>
            </a:r>
          </a:p>
        </p:txBody>
      </p:sp>
      <p:pic>
        <p:nvPicPr>
          <p:cNvPr id="3078" name="Picture 6" descr="How ventilators work and why we need them to fight covid-19">
            <a:extLst>
              <a:ext uri="{FF2B5EF4-FFF2-40B4-BE49-F238E27FC236}">
                <a16:creationId xmlns:a16="http://schemas.microsoft.com/office/drawing/2014/main" id="{5EC4CA4F-B6D0-B8EA-A024-F15FFA7A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677" y="1987991"/>
            <a:ext cx="2763305" cy="155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39ECE3-7113-476F-2577-F9AAC2D1C9C8}"/>
              </a:ext>
            </a:extLst>
          </p:cNvPr>
          <p:cNvSpPr txBox="1"/>
          <p:nvPr/>
        </p:nvSpPr>
        <p:spPr>
          <a:xfrm>
            <a:off x="2824876" y="3647538"/>
            <a:ext cx="388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dirty="0"/>
              <a:t>Inadequate Artificial Ventilation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16C06-9F14-3084-ADB2-61F57BA7ABD1}"/>
              </a:ext>
            </a:extLst>
          </p:cNvPr>
          <p:cNvSpPr txBox="1"/>
          <p:nvPr/>
        </p:nvSpPr>
        <p:spPr>
          <a:xfrm>
            <a:off x="6426746" y="3684738"/>
            <a:ext cx="290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dirty="0"/>
              <a:t>Neuromuscular Disease </a:t>
            </a:r>
          </a:p>
        </p:txBody>
      </p:sp>
      <p:pic>
        <p:nvPicPr>
          <p:cNvPr id="3" name="Picture 2" descr="https://johntmcgowan.files.wordpress.com/2011/08/breathing50.gif?w=460">
            <a:hlinkClick r:id="rId4"/>
            <a:extLst>
              <a:ext uri="{FF2B5EF4-FFF2-40B4-BE49-F238E27FC236}">
                <a16:creationId xmlns:a16="http://schemas.microsoft.com/office/drawing/2014/main" id="{E0D4AA32-CBF8-15EA-986E-7A452F28A83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603" y="2296537"/>
            <a:ext cx="1761067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ablemagazine.co.uk/wp-content/uploads/2010/05/Stephen-Hawkings.jpg">
            <a:extLst>
              <a:ext uri="{FF2B5EF4-FFF2-40B4-BE49-F238E27FC236}">
                <a16:creationId xmlns:a16="http://schemas.microsoft.com/office/drawing/2014/main" id="{41AE4261-74AB-9F07-F032-00BF7CC11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997" y="1960616"/>
            <a:ext cx="1809750" cy="168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The Nervous System">
            <a:extLst>
              <a:ext uri="{FF2B5EF4-FFF2-40B4-BE49-F238E27FC236}">
                <a16:creationId xmlns:a16="http://schemas.microsoft.com/office/drawing/2014/main" id="{FE72AA45-04C0-9D68-47E0-43820BC20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230" y="4044666"/>
            <a:ext cx="1345539" cy="201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wiss knife Animation">
            <a:extLst>
              <a:ext uri="{FF2B5EF4-FFF2-40B4-BE49-F238E27FC236}">
                <a16:creationId xmlns:a16="http://schemas.microsoft.com/office/drawing/2014/main" id="{BA752922-5FD1-AB43-2E84-A0BBEB6AC2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09" y="4575983"/>
            <a:ext cx="2549185" cy="104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9C1566-3818-D91E-841D-692546160AE3}"/>
              </a:ext>
            </a:extLst>
          </p:cNvPr>
          <p:cNvSpPr txBox="1"/>
          <p:nvPr/>
        </p:nvSpPr>
        <p:spPr>
          <a:xfrm>
            <a:off x="607898" y="5563224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Chest Wall Trauma</a:t>
            </a:r>
            <a:endParaRPr lang="en-GB" sz="1800" b="1" dirty="0"/>
          </a:p>
        </p:txBody>
      </p:sp>
      <p:pic>
        <p:nvPicPr>
          <p:cNvPr id="11" name="Picture 18" descr="Bat and moon 2 Animation">
            <a:extLst>
              <a:ext uri="{FF2B5EF4-FFF2-40B4-BE49-F238E27FC236}">
                <a16:creationId xmlns:a16="http://schemas.microsoft.com/office/drawing/2014/main" id="{5C17A2D3-7365-BF5B-52CC-4080D2D3ACA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440" y="4474515"/>
            <a:ext cx="1416467" cy="141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933922-A225-84E9-0C14-02A227F25B40}"/>
              </a:ext>
            </a:extLst>
          </p:cNvPr>
          <p:cNvSpPr txBox="1"/>
          <p:nvPr/>
        </p:nvSpPr>
        <p:spPr>
          <a:xfrm>
            <a:off x="6789997" y="5647000"/>
            <a:ext cx="290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Pulmonary Oedema </a:t>
            </a:r>
            <a:r>
              <a:rPr lang="en-GB" sz="1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816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" descr="Arrow PNG Images - CleanPNG / KissPNG">
            <a:extLst>
              <a:ext uri="{FF2B5EF4-FFF2-40B4-BE49-F238E27FC236}">
                <a16:creationId xmlns:a16="http://schemas.microsoft.com/office/drawing/2014/main" id="{1072B2EF-70EB-6D75-1BB5-53A251DA0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21B8EE-9A4D-FA5D-8046-1035D116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70634"/>
              </p:ext>
            </p:extLst>
          </p:nvPr>
        </p:nvGraphicFramePr>
        <p:xfrm>
          <a:off x="1186340" y="2164629"/>
          <a:ext cx="5890336" cy="2785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68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2945168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402775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4.1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14.2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  <p:pic>
        <p:nvPicPr>
          <p:cNvPr id="24" name="Picture 23" descr="http://www.gifs.net/Animation11/Everything_Else/Doors_and_Gates/Elevator_door.gif">
            <a:extLst>
              <a:ext uri="{FF2B5EF4-FFF2-40B4-BE49-F238E27FC236}">
                <a16:creationId xmlns:a16="http://schemas.microsoft.com/office/drawing/2014/main" id="{F4790AB4-5322-68C6-D28A-32EA9BA708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597" y="5081084"/>
            <a:ext cx="2186403" cy="163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645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3236E-4465-55F8-6651-C4D25DE3EA23}"/>
              </a:ext>
            </a:extLst>
          </p:cNvPr>
          <p:cNvSpPr txBox="1"/>
          <p:nvPr/>
        </p:nvSpPr>
        <p:spPr>
          <a:xfrm>
            <a:off x="3263412" y="5467933"/>
            <a:ext cx="2472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 </a:t>
            </a:r>
          </a:p>
          <a:p>
            <a:pPr lvl="1"/>
            <a:r>
              <a:rPr lang="en-US" altLang="en-US" b="1" dirty="0"/>
              <a:t>Heart Failure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E2A2D-529C-C6D0-D31E-42FD5FF68B30}"/>
              </a:ext>
            </a:extLst>
          </p:cNvPr>
          <p:cNvSpPr txBox="1"/>
          <p:nvPr/>
        </p:nvSpPr>
        <p:spPr>
          <a:xfrm>
            <a:off x="656103" y="4009080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Excessive vomiting </a:t>
            </a:r>
            <a:endParaRPr lang="en-GB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9ECE3-7113-476F-2577-F9AAC2D1C9C8}"/>
              </a:ext>
            </a:extLst>
          </p:cNvPr>
          <p:cNvSpPr txBox="1"/>
          <p:nvPr/>
        </p:nvSpPr>
        <p:spPr>
          <a:xfrm>
            <a:off x="3049958" y="3638125"/>
            <a:ext cx="3881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Prolonged Diuretic Therapy </a:t>
            </a:r>
            <a:endParaRPr lang="en-GB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16C06-9F14-3084-ADB2-61F57BA7ABD1}"/>
              </a:ext>
            </a:extLst>
          </p:cNvPr>
          <p:cNvSpPr txBox="1"/>
          <p:nvPr/>
        </p:nvSpPr>
        <p:spPr>
          <a:xfrm>
            <a:off x="6991201" y="3617759"/>
            <a:ext cx="1981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Liver Cirrhosis </a:t>
            </a:r>
            <a:r>
              <a:rPr lang="en-GB" sz="1800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C1566-3818-D91E-841D-692546160AE3}"/>
              </a:ext>
            </a:extLst>
          </p:cNvPr>
          <p:cNvSpPr txBox="1"/>
          <p:nvPr/>
        </p:nvSpPr>
        <p:spPr>
          <a:xfrm>
            <a:off x="637942" y="5867536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/>
              <a:t>Chronic Renal Failure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933922-A225-84E9-0C14-02A227F25B40}"/>
              </a:ext>
            </a:extLst>
          </p:cNvPr>
          <p:cNvSpPr txBox="1"/>
          <p:nvPr/>
        </p:nvSpPr>
        <p:spPr>
          <a:xfrm>
            <a:off x="6722165" y="5904906"/>
            <a:ext cx="290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Hypervolaemia </a:t>
            </a:r>
            <a:r>
              <a:rPr lang="en-GB" sz="1800" b="1" dirty="0"/>
              <a:t> </a:t>
            </a:r>
          </a:p>
        </p:txBody>
      </p:sp>
      <p:pic>
        <p:nvPicPr>
          <p:cNvPr id="12" name="Picture 10" descr="Vomit animated emoticon">
            <a:extLst>
              <a:ext uri="{FF2B5EF4-FFF2-40B4-BE49-F238E27FC236}">
                <a16:creationId xmlns:a16="http://schemas.microsoft.com/office/drawing/2014/main" id="{C3329009-55D4-DF70-A98D-0F57C315688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55" y="2045268"/>
            <a:ext cx="210023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Buy Furosemide 20mg Tablets, 28 Tablets - Dock Pharmacy">
            <a:extLst>
              <a:ext uri="{FF2B5EF4-FFF2-40B4-BE49-F238E27FC236}">
                <a16:creationId xmlns:a16="http://schemas.microsoft.com/office/drawing/2014/main" id="{60EC0E7B-70D2-D3FE-7DAF-BFEB123BF4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8" t="29823" r="6943" b="30704"/>
          <a:stretch/>
        </p:blipFill>
        <p:spPr bwMode="auto">
          <a:xfrm>
            <a:off x="2744951" y="1884711"/>
            <a:ext cx="3654095" cy="166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49CB401-19CD-A831-ADA9-366669BE7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623" y="1537892"/>
            <a:ext cx="2100233" cy="210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Kidney - Flat - Wired - Lordicon">
            <a:extLst>
              <a:ext uri="{FF2B5EF4-FFF2-40B4-BE49-F238E27FC236}">
                <a16:creationId xmlns:a16="http://schemas.microsoft.com/office/drawing/2014/main" id="{79CA97C6-B038-3129-BF3B-A4B227B4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47" y="4615229"/>
            <a:ext cx="1320801" cy="13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if-shape-heart - medisimaging">
            <a:extLst>
              <a:ext uri="{FF2B5EF4-FFF2-40B4-BE49-F238E27FC236}">
                <a16:creationId xmlns:a16="http://schemas.microsoft.com/office/drawing/2014/main" id="{9417DDAD-5B92-A957-B51B-F02196C1F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094" y="4165582"/>
            <a:ext cx="2293923" cy="2133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Clinical clanger: 'My ankles are really swollen, doctor – can you give me  some of those water tablets?' - Pulse Today">
            <a:extLst>
              <a:ext uri="{FF2B5EF4-FFF2-40B4-BE49-F238E27FC236}">
                <a16:creationId xmlns:a16="http://schemas.microsoft.com/office/drawing/2014/main" id="{74C7D8B2-5F80-BCB1-39A6-609570CC6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87" y="4146651"/>
            <a:ext cx="2682671" cy="178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205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" descr="Arrow PNG Images - CleanPNG / KissPNG">
            <a:extLst>
              <a:ext uri="{FF2B5EF4-FFF2-40B4-BE49-F238E27FC236}">
                <a16:creationId xmlns:a16="http://schemas.microsoft.com/office/drawing/2014/main" id="{1072B2EF-70EB-6D75-1BB5-53A251DA0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21B8EE-9A4D-FA5D-8046-1035D116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58829"/>
              </p:ext>
            </p:extLst>
          </p:nvPr>
        </p:nvGraphicFramePr>
        <p:xfrm>
          <a:off x="1114421" y="2468389"/>
          <a:ext cx="5890336" cy="2785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5168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2945168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402775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518925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6.9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46584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  <p:pic>
        <p:nvPicPr>
          <p:cNvPr id="11" name="Picture 10" descr="http://www.gifs.net/Animation11/Everything_Else/Doors_and_Gates/Elevator_door.gif">
            <a:extLst>
              <a:ext uri="{FF2B5EF4-FFF2-40B4-BE49-F238E27FC236}">
                <a16:creationId xmlns:a16="http://schemas.microsoft.com/office/drawing/2014/main" id="{2FEEE9E9-CA20-41B8-F2BC-80CD84BB089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597" y="5081084"/>
            <a:ext cx="2186403" cy="163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70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3236E-4465-55F8-6651-C4D25DE3EA23}"/>
              </a:ext>
            </a:extLst>
          </p:cNvPr>
          <p:cNvSpPr txBox="1"/>
          <p:nvPr/>
        </p:nvSpPr>
        <p:spPr>
          <a:xfrm>
            <a:off x="4682656" y="5375600"/>
            <a:ext cx="27418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 </a:t>
            </a:r>
          </a:p>
          <a:p>
            <a:pPr lvl="1"/>
            <a:r>
              <a:rPr lang="en-US" altLang="en-US" b="1" dirty="0"/>
              <a:t>Medication Related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0E2A2D-529C-C6D0-D31E-42FD5FF68B30}"/>
              </a:ext>
            </a:extLst>
          </p:cNvPr>
          <p:cNvSpPr txBox="1"/>
          <p:nvPr/>
        </p:nvSpPr>
        <p:spPr>
          <a:xfrm>
            <a:off x="607898" y="3860628"/>
            <a:ext cx="217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Ketoacidosis </a:t>
            </a:r>
            <a:endParaRPr lang="en-GB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39ECE3-7113-476F-2577-F9AAC2D1C9C8}"/>
              </a:ext>
            </a:extLst>
          </p:cNvPr>
          <p:cNvSpPr txBox="1"/>
          <p:nvPr/>
        </p:nvSpPr>
        <p:spPr>
          <a:xfrm>
            <a:off x="4068792" y="3721467"/>
            <a:ext cx="1398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Diarrhoea  </a:t>
            </a:r>
            <a:endParaRPr lang="en-GB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A16C06-9F14-3084-ADB2-61F57BA7ABD1}"/>
              </a:ext>
            </a:extLst>
          </p:cNvPr>
          <p:cNvSpPr txBox="1"/>
          <p:nvPr/>
        </p:nvSpPr>
        <p:spPr>
          <a:xfrm>
            <a:off x="6722165" y="3613875"/>
            <a:ext cx="1981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/>
              <a:t>Lactic Acidosis  </a:t>
            </a:r>
            <a:r>
              <a:rPr lang="en-GB" sz="1800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C1566-3818-D91E-841D-692546160AE3}"/>
              </a:ext>
            </a:extLst>
          </p:cNvPr>
          <p:cNvSpPr txBox="1"/>
          <p:nvPr/>
        </p:nvSpPr>
        <p:spPr>
          <a:xfrm>
            <a:off x="562673" y="5659567"/>
            <a:ext cx="2171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/>
              <a:t>Acute Renal Failure</a:t>
            </a:r>
          </a:p>
        </p:txBody>
      </p:sp>
      <p:pic>
        <p:nvPicPr>
          <p:cNvPr id="15" name="Picture 2" descr="Kidney - Flat - Wired - Lordicon">
            <a:extLst>
              <a:ext uri="{FF2B5EF4-FFF2-40B4-BE49-F238E27FC236}">
                <a16:creationId xmlns:a16="http://schemas.microsoft.com/office/drawing/2014/main" id="{79CA97C6-B038-3129-BF3B-A4B227B4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6" y="4365261"/>
            <a:ext cx="1320801" cy="13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://plumbananas.files.wordpress.com/2012/03/diarrhea.jpg">
            <a:extLst>
              <a:ext uri="{FF2B5EF4-FFF2-40B4-BE49-F238E27FC236}">
                <a16:creationId xmlns:a16="http://schemas.microsoft.com/office/drawing/2014/main" id="{8B462C2F-B9AF-D246-90A0-90BA5BDDC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990" y="1879870"/>
            <a:ext cx="2484277" cy="179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http://www.moderndiabetes.com/wp-content/uploads/2012/04/Diabetes.jpg">
            <a:extLst>
              <a:ext uri="{FF2B5EF4-FFF2-40B4-BE49-F238E27FC236}">
                <a16:creationId xmlns:a16="http://schemas.microsoft.com/office/drawing/2014/main" id="{57E0D5C0-A742-ED9A-FBCF-3E9F8198B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21" y="1879870"/>
            <a:ext cx="2880320" cy="192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ArtStation - Animation: Jogging">
            <a:extLst>
              <a:ext uri="{FF2B5EF4-FFF2-40B4-BE49-F238E27FC236}">
                <a16:creationId xmlns:a16="http://schemas.microsoft.com/office/drawing/2014/main" id="{AD5AB982-8C67-F3DB-FD03-FA43DE995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616" y="1426714"/>
            <a:ext cx="2177790" cy="220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ithium Carbonate Tablet - Licab Tablet Latest Price, Manufacturers &amp;  Suppliers">
            <a:extLst>
              <a:ext uri="{FF2B5EF4-FFF2-40B4-BE49-F238E27FC236}">
                <a16:creationId xmlns:a16="http://schemas.microsoft.com/office/drawing/2014/main" id="{CB8A3497-3CF5-B683-0E5B-3F24822BE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009" y="4201532"/>
            <a:ext cx="1597122" cy="159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923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578715" y="15435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8000" b="0" dirty="0"/>
              <a:t>The inability to maintain partial pressures in arterial blood of carbon dioxide (pCO</a:t>
            </a:r>
            <a:r>
              <a:rPr lang="en-GB" sz="8000" b="0" baseline="-25000" dirty="0"/>
              <a:t>2</a:t>
            </a:r>
            <a:r>
              <a:rPr lang="en-GB" sz="8000" b="0" dirty="0"/>
              <a:t>) and oxygen (pO</a:t>
            </a:r>
            <a:r>
              <a:rPr lang="en-GB" sz="8000" b="0" baseline="-25000" dirty="0"/>
              <a:t>2</a:t>
            </a:r>
            <a:r>
              <a:rPr lang="en-GB" sz="8000" b="0" dirty="0"/>
              <a:t>) within normal physiological limits</a:t>
            </a:r>
          </a:p>
          <a:p>
            <a:pPr algn="l"/>
            <a:endParaRPr lang="en-GB" sz="8000" b="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8000" b="0" dirty="0"/>
              <a:t>PaO</a:t>
            </a:r>
            <a:r>
              <a:rPr lang="en-GB" sz="8000" b="0" baseline="-25000" dirty="0"/>
              <a:t>2</a:t>
            </a:r>
            <a:r>
              <a:rPr lang="en-GB" sz="8000" b="0" dirty="0"/>
              <a:t> &lt; 8kPa</a:t>
            </a:r>
          </a:p>
          <a:p>
            <a:pPr algn="l"/>
            <a:endParaRPr lang="en-GB" sz="8000" b="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8000" b="0" dirty="0"/>
              <a:t>PaCO</a:t>
            </a:r>
            <a:r>
              <a:rPr lang="en-GB" sz="8000" b="0" baseline="-25000" dirty="0"/>
              <a:t>2</a:t>
            </a:r>
            <a:r>
              <a:rPr lang="en-GB" sz="8000" b="0" dirty="0"/>
              <a:t> &gt; 6.5 kPa </a:t>
            </a:r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343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740045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Type 1 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645390" y="23817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Decreased pO</a:t>
            </a:r>
            <a:r>
              <a:rPr lang="en-GB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Normal or low pCO</a:t>
            </a:r>
            <a:r>
              <a:rPr lang="en-GB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Treated with supplementary oxygen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Oxygen Tank Stickers - Find &amp; Share on GIPHY">
            <a:extLst>
              <a:ext uri="{FF2B5EF4-FFF2-40B4-BE49-F238E27FC236}">
                <a16:creationId xmlns:a16="http://schemas.microsoft.com/office/drawing/2014/main" id="{5C5BACDA-BC48-0923-5E34-E39613E1F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400445"/>
            <a:ext cx="3429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049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740045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Type 2 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645390" y="23817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Decreased pO</a:t>
            </a:r>
            <a:r>
              <a:rPr lang="en-GB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Increased pCO</a:t>
            </a:r>
            <a:r>
              <a:rPr lang="en-GB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Alveolar hypoventilation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b="0" dirty="0"/>
              <a:t>Can be acute or chronic 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hilips Respironics Recalls CPAP Machines - Next Steps to Take">
            <a:extLst>
              <a:ext uri="{FF2B5EF4-FFF2-40B4-BE49-F238E27FC236}">
                <a16:creationId xmlns:a16="http://schemas.microsoft.com/office/drawing/2014/main" id="{EDDA8D8C-DFF3-C719-633F-D77B87219E9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89" y="2650622"/>
            <a:ext cx="3235914" cy="181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846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820835" y="1329822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Acute Type 2 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645390" y="23817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Decreased pO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Increased pCO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Normal HCO</a:t>
            </a:r>
            <a:r>
              <a:rPr lang="en-GB" sz="6400" b="0" baseline="-25000" dirty="0"/>
              <a:t>3</a:t>
            </a:r>
            <a:r>
              <a:rPr lang="en-GB" sz="6400" b="0" baseline="30000" dirty="0"/>
              <a:t>-</a:t>
            </a:r>
          </a:p>
          <a:p>
            <a:pPr marL="857250" indent="-857250" algn="l">
              <a:buFontTx/>
              <a:buChar char="-"/>
            </a:pPr>
            <a:r>
              <a:rPr lang="en-GB" sz="6400" b="0" dirty="0"/>
              <a:t>Kidneys take 2-3 days to compensate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Decreased pH –  uncompensated respiratory acidosis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Philips Respironics Recalls CPAP Machines - Next Steps to Take">
            <a:extLst>
              <a:ext uri="{FF2B5EF4-FFF2-40B4-BE49-F238E27FC236}">
                <a16:creationId xmlns:a16="http://schemas.microsoft.com/office/drawing/2014/main" id="{CAD66BE2-AC48-3ED5-C03E-9192BCCAD88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89" y="2650622"/>
            <a:ext cx="3235914" cy="181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22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820835" y="1329822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Chronic Type 2 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645390" y="23817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Decreased pO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Increased pCO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Increased HCO</a:t>
            </a:r>
            <a:r>
              <a:rPr lang="en-GB" sz="6400" b="0" baseline="-25000" dirty="0"/>
              <a:t>3</a:t>
            </a:r>
            <a:r>
              <a:rPr lang="en-GB" sz="6400" b="0" baseline="30000" dirty="0"/>
              <a:t>-</a:t>
            </a:r>
          </a:p>
          <a:p>
            <a:pPr marL="857250" indent="-857250" algn="l">
              <a:buFontTx/>
              <a:buChar char="-"/>
            </a:pPr>
            <a:r>
              <a:rPr lang="en-GB" sz="6400" b="0" dirty="0"/>
              <a:t>Kidneys have had time to compensate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Normal pH –  fully compensated respiratory acidosis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hilips Respironics Recalls CPAP Machines - Next Steps to Take">
            <a:extLst>
              <a:ext uri="{FF2B5EF4-FFF2-40B4-BE49-F238E27FC236}">
                <a16:creationId xmlns:a16="http://schemas.microsoft.com/office/drawing/2014/main" id="{C3F1BAAD-3C97-F4D1-80F5-0BA077576E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89" y="2650622"/>
            <a:ext cx="3235914" cy="181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449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820835" y="1329822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Acute on Chronic Type 2 Respiratory Failure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748B1A-124F-0E5E-2D95-219E150D2522}"/>
              </a:ext>
            </a:extLst>
          </p:cNvPr>
          <p:cNvSpPr txBox="1">
            <a:spLocks/>
          </p:cNvSpPr>
          <p:nvPr/>
        </p:nvSpPr>
        <p:spPr>
          <a:xfrm>
            <a:off x="645390" y="2381790"/>
            <a:ext cx="8416123" cy="2787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ts val="3400"/>
              </a:lnSpc>
              <a:spcBef>
                <a:spcPts val="1000"/>
              </a:spcBef>
              <a:buClr>
                <a:schemeClr val="tx2"/>
              </a:buClr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ts val="3400"/>
              </a:lnSpc>
              <a:spcBef>
                <a:spcPts val="5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20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Decreased pO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Increased pCO</a:t>
            </a:r>
            <a:r>
              <a:rPr lang="en-GB" sz="6400" b="0" baseline="-25000" dirty="0"/>
              <a:t>2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Increased HCO</a:t>
            </a:r>
            <a:r>
              <a:rPr lang="en-GB" sz="6400" b="0" baseline="-25000" dirty="0"/>
              <a:t>3</a:t>
            </a:r>
            <a:r>
              <a:rPr lang="en-GB" sz="6400" b="0" baseline="30000" dirty="0"/>
              <a:t>-</a:t>
            </a:r>
            <a:endParaRPr lang="en-GB" sz="6400" b="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400" b="0" dirty="0"/>
              <a:t>pH high 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6600" b="0" dirty="0"/>
              <a:t>pCO</a:t>
            </a:r>
            <a:r>
              <a:rPr lang="en-GB" sz="6600" b="0" baseline="-25000" dirty="0"/>
              <a:t>2</a:t>
            </a:r>
            <a:r>
              <a:rPr lang="en-GB" sz="6600" b="0" dirty="0"/>
              <a:t> normally high but due to sudden deterioration has risen further so kidneys no longer able to compensate</a:t>
            </a:r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6400" b="0" dirty="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GB" sz="1200" dirty="0"/>
          </a:p>
          <a:p>
            <a:pPr marL="685800" indent="-685800" algn="l">
              <a:buFontTx/>
              <a:buChar char="-"/>
            </a:pPr>
            <a:endParaRPr lang="en-GB" sz="1200" b="0" dirty="0"/>
          </a:p>
          <a:p>
            <a:pPr marL="685800" indent="-685800" algn="l">
              <a:buFontTx/>
              <a:buChar char="-"/>
            </a:pPr>
            <a:endParaRPr lang="en-GB" sz="4800" b="0" dirty="0"/>
          </a:p>
          <a:p>
            <a:pPr algn="l"/>
            <a:endParaRPr lang="en-GB" sz="4800" b="0" baseline="30000" dirty="0"/>
          </a:p>
          <a:p>
            <a:pPr marL="1143000" indent="-1143000" algn="l">
              <a:buFontTx/>
              <a:buChar char="-"/>
            </a:pPr>
            <a:endParaRPr lang="en-GB" sz="4800" dirty="0"/>
          </a:p>
          <a:p>
            <a:pPr marL="342900" indent="-342900" algn="l">
              <a:buFontTx/>
              <a:buChar char="-"/>
            </a:pPr>
            <a:endParaRPr lang="en-GB" sz="9600" b="0" dirty="0"/>
          </a:p>
          <a:p>
            <a:pPr algn="l"/>
            <a:endParaRPr lang="en-GB" sz="1400" b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hilips Respironics Recalls CPAP Machines - Next Steps to Take">
            <a:extLst>
              <a:ext uri="{FF2B5EF4-FFF2-40B4-BE49-F238E27FC236}">
                <a16:creationId xmlns:a16="http://schemas.microsoft.com/office/drawing/2014/main" id="{C3F1BAAD-3C97-F4D1-80F5-0BA077576E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289" y="2650622"/>
            <a:ext cx="3235914" cy="181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934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615F47-6809-189A-6BC9-3662852F8D52}"/>
              </a:ext>
            </a:extLst>
          </p:cNvPr>
          <p:cNvSpPr txBox="1">
            <a:spLocks/>
          </p:cNvSpPr>
          <p:nvPr/>
        </p:nvSpPr>
        <p:spPr>
          <a:xfrm>
            <a:off x="-716060" y="559070"/>
            <a:ext cx="8596668" cy="13208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	Examples </a:t>
            </a:r>
          </a:p>
        </p:txBody>
      </p:sp>
      <p:pic>
        <p:nvPicPr>
          <p:cNvPr id="2" name="Picture 6" descr="London Metropolitan University - London ...">
            <a:extLst>
              <a:ext uri="{FF2B5EF4-FFF2-40B4-BE49-F238E27FC236}">
                <a16:creationId xmlns:a16="http://schemas.microsoft.com/office/drawing/2014/main" id="{ABB09A3C-6649-1DEA-39D6-81B2B81D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533" y="6328394"/>
            <a:ext cx="1525215" cy="3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" descr="Arrow PNG Images - CleanPNG / KissPNG">
            <a:extLst>
              <a:ext uri="{FF2B5EF4-FFF2-40B4-BE49-F238E27FC236}">
                <a16:creationId xmlns:a16="http://schemas.microsoft.com/office/drawing/2014/main" id="{1072B2EF-70EB-6D75-1BB5-53A251DA02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C21B8EE-9A4D-FA5D-8046-1035D1162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059752"/>
              </p:ext>
            </p:extLst>
          </p:nvPr>
        </p:nvGraphicFramePr>
        <p:xfrm>
          <a:off x="315197" y="1909572"/>
          <a:ext cx="36099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990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1804990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275296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35468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7.4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8176DC-E978-AB97-BFDB-F2C952886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25617"/>
              </p:ext>
            </p:extLst>
          </p:nvPr>
        </p:nvGraphicFramePr>
        <p:xfrm>
          <a:off x="4724400" y="1919213"/>
          <a:ext cx="36099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990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1804990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275296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35468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7.9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B8E0D3-6AD8-DE59-DD6F-E00BE1D2E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385913"/>
              </p:ext>
            </p:extLst>
          </p:nvPr>
        </p:nvGraphicFramePr>
        <p:xfrm>
          <a:off x="2767010" y="4424195"/>
          <a:ext cx="36099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990">
                  <a:extLst>
                    <a:ext uri="{9D8B030D-6E8A-4147-A177-3AD203B41FA5}">
                      <a16:colId xmlns:a16="http://schemas.microsoft.com/office/drawing/2014/main" val="2070815485"/>
                    </a:ext>
                  </a:extLst>
                </a:gridCol>
                <a:gridCol w="1804990">
                  <a:extLst>
                    <a:ext uri="{9D8B030D-6E8A-4147-A177-3AD203B41FA5}">
                      <a16:colId xmlns:a16="http://schemas.microsoft.com/office/drawing/2014/main" val="1960945761"/>
                    </a:ext>
                  </a:extLst>
                </a:gridCol>
              </a:tblGrid>
              <a:tr h="275296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42631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7.32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399741"/>
                  </a:ext>
                </a:extLst>
              </a:tr>
              <a:tr h="354684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7.8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3916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pO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b="0" dirty="0">
                          <a:solidFill>
                            <a:schemeClr val="tx1"/>
                          </a:solidFill>
                        </a:rPr>
                        <a:t>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599737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HCO</a:t>
                      </a:r>
                      <a:r>
                        <a:rPr lang="en-GB" b="0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b="0" baseline="30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125401"/>
                  </a:ext>
                </a:extLst>
              </a:tr>
              <a:tr h="318402"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>
                          <a:solidFill>
                            <a:schemeClr val="tx1"/>
                          </a:solidFill>
                        </a:rPr>
                        <a:t>+7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1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611175"/>
      </p:ext>
    </p:extLst>
  </p:cSld>
  <p:clrMapOvr>
    <a:masterClrMapping/>
  </p:clrMapOvr>
</p:sld>
</file>

<file path=ppt/theme/theme1.xml><?xml version="1.0" encoding="utf-8"?>
<a:theme xmlns:a="http://schemas.openxmlformats.org/drawingml/2006/main" name="Guy's and St Thomas' NHS Foundation Trust">
  <a:themeElements>
    <a:clrScheme name="NHS Blue">
      <a:dk1>
        <a:sysClr val="windowText" lastClr="000000"/>
      </a:dk1>
      <a:lt1>
        <a:sysClr val="window" lastClr="FFFFFF"/>
      </a:lt1>
      <a:dk2>
        <a:srgbClr val="005EB8"/>
      </a:dk2>
      <a:lt2>
        <a:srgbClr val="EEECE1"/>
      </a:lt2>
      <a:accent1>
        <a:srgbClr val="005EB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 Powerpoint standard - HL&amp;CC.potx" id="{8D2ADE58-0BC9-49A0-8885-10F14AABE666}" vid="{F1CC4FA5-7DB5-4150-8F1D-3BB6EF03C0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1. Powerpoint standard - HL&amp;CC</Template>
  <TotalTime>406</TotalTime>
  <Words>820</Words>
  <Application>Microsoft Office PowerPoint</Application>
  <PresentationFormat>On-screen Show (4:3)</PresentationFormat>
  <Paragraphs>291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Guy's and St Thomas' NHS Foundation Trust</vt:lpstr>
      <vt:lpstr>Arterial Blood Gases (ABGs)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Rippingham Kayo</dc:creator>
  <cp:lastModifiedBy>Stuart Clarke</cp:lastModifiedBy>
  <cp:revision>13</cp:revision>
  <dcterms:created xsi:type="dcterms:W3CDTF">2022-06-20T07:19:31Z</dcterms:created>
  <dcterms:modified xsi:type="dcterms:W3CDTF">2025-02-06T18:59:08Z</dcterms:modified>
</cp:coreProperties>
</file>