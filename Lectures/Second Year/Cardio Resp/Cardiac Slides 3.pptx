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484"/>
    <p:restoredTop sz="95638"/>
  </p:normalViewPr>
  <p:slideViewPr>
    <p:cSldViewPr snapToGrid="0">
      <p:cViewPr varScale="1">
        <p:scale>
          <a:sx n="125" d="100"/>
          <a:sy n="125" d="100"/>
        </p:scale>
        <p:origin x="160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6DB1B2-EF5B-2664-F7DF-3106DEACDD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B8F8D51-7764-78F2-D960-F873798EB6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86B70C-1D43-BF5A-C82A-15FE0511FF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0A349-8579-A147-8F7D-ECE6376CF206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DA763C-C38F-BCA2-BD17-E8B7A3FF3E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785761-2610-37E7-69F6-A97713ADC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C4E37D-017D-F44E-9B7B-BDA75668AC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2022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7069A0-3D58-908D-2BF0-EA9AFCEEA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50E25F-7B9E-75F3-89F9-3D5F850F30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DA400A-9CA1-16FA-EA0C-5BACB2E316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0A349-8579-A147-8F7D-ECE6376CF206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3DE743-D3FB-26AA-9EBB-7FFE11DAB5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110483-DF84-0127-52D1-0CB98AA26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C4E37D-017D-F44E-9B7B-BDA75668AC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25790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4AEF63-3718-7803-A24D-3783CA3709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6B73EA-84EC-7C9E-25BC-5F6D09DDA5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C397D9-13F1-0711-CCED-B812BA6724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0A349-8579-A147-8F7D-ECE6376CF206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C9D64C-3469-BD43-ECA6-0C6124EB3E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5A1D77-BB1E-9A08-B864-66E927FE75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C4E37D-017D-F44E-9B7B-BDA75668AC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5975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2DEC12-5D29-F4AB-C839-0D8B55DC37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154FFC-1AB1-4266-19DB-A1623E1BA0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944E36-2214-D1A6-6B2A-46C38E35CE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E9046C-437D-6AD6-91DC-FA80B49952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0A349-8579-A147-8F7D-ECE6376CF206}" type="datetimeFigureOut">
              <a:rPr lang="en-US" smtClean="0"/>
              <a:t>4/21/26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84C6A8-942E-D5F7-217F-E8B50DF82B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FC0FEF-4E18-9952-5A08-E84EAAFE21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C4E37D-017D-F44E-9B7B-BDA75668AC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13584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C32FDD-206E-7903-95BF-6DAD846DE1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5AF64A-BFE4-6C49-53F2-0D0D482AE2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6E9545-403C-9A91-1AD0-799B638849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07C510D-9539-FC88-B231-C88D959F2E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9763107-C65E-4112-24A8-208F266F23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1672867-B62D-8978-9A52-8F9C712B19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0A349-8579-A147-8F7D-ECE6376CF206}" type="datetimeFigureOut">
              <a:rPr lang="en-US" smtClean="0"/>
              <a:t>4/21/26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D464821-BF12-0584-3D11-C3963F3F09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8E77DF-A620-094B-F43B-534BC86E05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C4E37D-017D-F44E-9B7B-BDA75668AC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18200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BC495-CD15-896F-7F2D-15C0DCD10E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AD50D41-54C1-56B1-CE9A-0EF2340A26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0A349-8579-A147-8F7D-ECE6376CF206}" type="datetimeFigureOut">
              <a:rPr lang="en-US" smtClean="0"/>
              <a:t>4/21/26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5B8A50-0436-ADC2-2999-391C3A82AB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56B1A4-72CF-5C30-2ADE-8C323B24A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C4E37D-017D-F44E-9B7B-BDA75668AC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9969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B38DDA2-7F03-CB69-BEA3-4EACFF1D2D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0A349-8579-A147-8F7D-ECE6376CF206}" type="datetimeFigureOut">
              <a:rPr lang="en-US" smtClean="0"/>
              <a:t>4/21/26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35ED0AB-081B-34CB-396D-415148CC9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FDE6F1-13D7-29CF-05E1-7C1D071FD4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C4E37D-017D-F44E-9B7B-BDA75668AC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0900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206B8-7C7B-62F7-48A7-907055EF0E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404BAF-6C72-4CCA-DBB6-552A7F3759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EDA252-5563-D7CD-14C7-0F9F6474D5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561248-BF0C-A98D-8E71-D3B54FC53B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0A349-8579-A147-8F7D-ECE6376CF206}" type="datetimeFigureOut">
              <a:rPr lang="en-US" smtClean="0"/>
              <a:t>4/21/26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7FBA0C-E33A-4216-7274-A318C0AE7D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873C24-8FAD-A8DE-BC41-A75938CCA8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C4E37D-017D-F44E-9B7B-BDA75668AC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02952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3B7412-1905-A865-6E70-E4887BB8F7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8BB2BD7-F1AF-0F17-A248-5DA7C43A32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4C1952-A5B6-C0B6-ABDC-A3DA551B22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836FB2-140F-3C6E-2E69-C8798B0F01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0A349-8579-A147-8F7D-ECE6376CF206}" type="datetimeFigureOut">
              <a:rPr lang="en-US" smtClean="0"/>
              <a:t>4/21/26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2F428C-B24E-AF6E-2224-4CD7F906E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A59C1F-7397-D798-113F-133528C45B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C4E37D-017D-F44E-9B7B-BDA75668AC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89384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4B0135-5402-597D-EE00-C24F8F9A0C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B318E6-9B37-4FAF-2563-169629BB17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B71AC6-6A02-6A8D-DBFB-BDC52C15B0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0A349-8579-A147-8F7D-ECE6376CF206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13D389-24E0-A8B6-26A3-9C8C711F9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9F959F-972C-EA0B-D129-71325DCC1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C4E37D-017D-F44E-9B7B-BDA75668AC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11023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D4C0E6-4D59-EAD1-947C-DFD0585A8F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C8CFD9-FABC-1B6A-B04D-3DDFA0A3F8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7E550F-1CAB-B086-9030-4068671CE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0A349-8579-A147-8F7D-ECE6376CF206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1F794D-BF1C-11A0-20A3-7AD7DC9E9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B25385-2CFF-EDD2-D6E2-BCA76AC6A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C4E37D-017D-F44E-9B7B-BDA75668AC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98157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5080596-D7FB-9D3E-79CE-31B8EAA69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5C080B-1BCC-0237-8F41-788B78C9F9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5D39EC-874A-563E-1C20-7A33A91812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00A349-8579-A147-8F7D-ECE6376CF206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758C55-B49A-C3F7-7C74-CEA1279D4B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6F5AE6-744A-93FD-C353-1DB1DF0622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6C4E37D-017D-F44E-9B7B-BDA75668AC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4420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5D9DC9-6835-BFD3-5429-398A8E0F04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74587" y="1820432"/>
            <a:ext cx="4805996" cy="1297115"/>
          </a:xfrm>
        </p:spPr>
        <p:txBody>
          <a:bodyPr anchor="t">
            <a:normAutofit/>
          </a:bodyPr>
          <a:lstStyle/>
          <a:p>
            <a:pPr algn="l"/>
            <a:r>
              <a:rPr lang="en-AU" sz="2200" b="1" dirty="0">
                <a:solidFill>
                  <a:schemeClr val="tx2"/>
                </a:solidFill>
                <a:effectLst/>
                <a:latin typeface="Arial" panose="020B0604020202020204" pitchFamily="34" charset="0"/>
              </a:rPr>
              <a:t> Systematic Approach to Post-Operative Bedside Assessment</a:t>
            </a:r>
            <a:br>
              <a:rPr lang="en-AU" sz="2200" b="1" dirty="0">
                <a:solidFill>
                  <a:schemeClr val="tx2"/>
                </a:solidFill>
                <a:effectLst/>
                <a:latin typeface="Arial" panose="020B0604020202020204" pitchFamily="34" charset="0"/>
              </a:rPr>
            </a:br>
            <a:endParaRPr lang="en-US" sz="2200" dirty="0">
              <a:solidFill>
                <a:schemeClr val="tx2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FC49E0-310C-0B7B-1E46-F0D73A8BD4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10213" y="5217159"/>
            <a:ext cx="4805691" cy="838831"/>
          </a:xfrm>
        </p:spPr>
        <p:txBody>
          <a:bodyPr anchor="b">
            <a:normAutofit/>
          </a:bodyPr>
          <a:lstStyle/>
          <a:p>
            <a:pPr algn="l"/>
            <a:r>
              <a:rPr lang="en-US" sz="2000" dirty="0">
                <a:solidFill>
                  <a:schemeClr val="tx2"/>
                </a:solidFill>
              </a:rPr>
              <a:t>Advanced Physiotherapist</a:t>
            </a:r>
          </a:p>
          <a:p>
            <a:pPr algn="l"/>
            <a:r>
              <a:rPr lang="en-US" sz="2000" dirty="0">
                <a:solidFill>
                  <a:schemeClr val="tx2"/>
                </a:solidFill>
              </a:rPr>
              <a:t>Peter Chong</a:t>
            </a:r>
          </a:p>
        </p:txBody>
      </p:sp>
      <p:pic>
        <p:nvPicPr>
          <p:cNvPr id="7" name="Graphic 6" descr="Stethoscope">
            <a:extLst>
              <a:ext uri="{FF2B5EF4-FFF2-40B4-BE49-F238E27FC236}">
                <a16:creationId xmlns:a16="http://schemas.microsoft.com/office/drawing/2014/main" id="{24654BC4-E644-E0B7-6099-B2F42F72E4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0470" y="1815320"/>
            <a:ext cx="4141760" cy="414176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88647869-FB2C-EDE5-733D-AA540503E7EF}"/>
              </a:ext>
            </a:extLst>
          </p:cNvPr>
          <p:cNvSpPr txBox="1"/>
          <p:nvPr/>
        </p:nvSpPr>
        <p:spPr>
          <a:xfrm>
            <a:off x="6470048" y="3117547"/>
            <a:ext cx="5381482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AU" sz="12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Demonstrate</a:t>
            </a:r>
            <a:r>
              <a:rPr lang="en-AU" sz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a systematic approach to the post-operative bedside assessment (including attachments, drains, and monitoring) using the case study framework provided</a:t>
            </a:r>
            <a:endParaRPr lang="en-AU" sz="12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AU" sz="12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Justify</a:t>
            </a:r>
            <a:r>
              <a:rPr lang="en-AU" sz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the clinical reasoning behind "early mobilization" and its role in preventing Post-Operative Pulmonary Complications (PPCs).</a:t>
            </a:r>
            <a:endParaRPr lang="en-AU" sz="12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AU" sz="1200" b="1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Apply</a:t>
            </a:r>
            <a:r>
              <a:rPr lang="en-AU" sz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 safety criteria for progressing a patient from sitting-on-edge-of-bed to independent ambulation.</a:t>
            </a:r>
            <a:endParaRPr lang="en-AU" sz="1200" dirty="0">
              <a:effectLst/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893660-225B-6D8B-936B-37804B6CC9A5}"/>
              </a:ext>
            </a:extLst>
          </p:cNvPr>
          <p:cNvSpPr txBox="1"/>
          <p:nvPr/>
        </p:nvSpPr>
        <p:spPr>
          <a:xfrm>
            <a:off x="7294880" y="560832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14411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F0DF34C-881F-A55C-1DAD-A855BDD2AB21}"/>
              </a:ext>
            </a:extLst>
          </p:cNvPr>
          <p:cNvSpPr txBox="1"/>
          <p:nvPr/>
        </p:nvSpPr>
        <p:spPr>
          <a:xfrm>
            <a:off x="415636" y="554182"/>
            <a:ext cx="10751128" cy="40548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spcAft>
                <a:spcPts val="400"/>
              </a:spcAft>
            </a:pPr>
            <a:r>
              <a:rPr lang="en-AU" sz="2400" b="1" dirty="0">
                <a:solidFill>
                  <a:srgbClr val="1A5276"/>
                </a:solidFill>
                <a:effectLst/>
                <a:latin typeface="Arial" panose="020B0604020202020204" pitchFamily="34" charset="0"/>
              </a:rPr>
              <a:t>Step 1: Pre-Assessment Review (Chart and Handover)</a:t>
            </a:r>
            <a:endParaRPr lang="en-AU" sz="2000" b="1" dirty="0">
              <a:solidFill>
                <a:srgbClr val="1A5276"/>
              </a:solidFill>
              <a:effectLst/>
              <a:latin typeface="Arial" panose="020B0604020202020204" pitchFamily="34" charset="0"/>
            </a:endParaRPr>
          </a:p>
          <a:p>
            <a:pPr marL="342900" lvl="0" indent="-3429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AU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Confirm: surgical procedure, date and time, CONFIRM POST OP PROTOCOLCS, any intra-operative complications (prolonged bypass time, transfusion requirement, unexpected findings).</a:t>
            </a:r>
          </a:p>
          <a:p>
            <a:pPr marL="342900" lvl="0" indent="-3429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AU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Review: current vital signs trend, fluid balance, drain output over last 4- 8 hours, relevant blood results (Hb, K+, CRP, WCC, coagulation), CXR (most recent), and medications (anticoagulants, vasopressors, sedation, analgesia).</a:t>
            </a:r>
          </a:p>
          <a:p>
            <a:pPr marL="342900" lvl="0" indent="-3429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AU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Note: consultant physiotherapy guidelines for this patient, any specific precautions (e.g., sternal precautions, weight-bearing restrictions, anastomotic precautions in lung transplant).</a:t>
            </a:r>
          </a:p>
          <a:p>
            <a:pPr marL="342900" lvl="0" indent="-3429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AU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Things to look out for: Where this information can be found? </a:t>
            </a:r>
          </a:p>
        </p:txBody>
      </p:sp>
    </p:spTree>
    <p:extLst>
      <p:ext uri="{BB962C8B-B14F-4D97-AF65-F5344CB8AC3E}">
        <p14:creationId xmlns:p14="http://schemas.microsoft.com/office/powerpoint/2010/main" val="15966584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B485C28-5EEC-DFBE-19C0-2BD1F5B8E341}"/>
              </a:ext>
            </a:extLst>
          </p:cNvPr>
          <p:cNvSpPr txBox="1"/>
          <p:nvPr/>
        </p:nvSpPr>
        <p:spPr>
          <a:xfrm>
            <a:off x="334357" y="341982"/>
            <a:ext cx="6787804" cy="59842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spcAft>
                <a:spcPts val="400"/>
              </a:spcAft>
            </a:pPr>
            <a:r>
              <a:rPr lang="en-AU" sz="2400" b="1">
                <a:solidFill>
                  <a:srgbClr val="1A5276"/>
                </a:solidFill>
                <a:effectLst/>
                <a:latin typeface="Arial" panose="020B0604020202020204" pitchFamily="34" charset="0"/>
              </a:rPr>
              <a:t>Step 2: Environment and Safety Scan</a:t>
            </a:r>
            <a:endParaRPr lang="en-AU" sz="2000" b="1">
              <a:solidFill>
                <a:srgbClr val="1A5276"/>
              </a:solidFill>
              <a:effectLst/>
              <a:latin typeface="Arial" panose="020B0604020202020204" pitchFamily="34" charset="0"/>
            </a:endParaRPr>
          </a:p>
          <a:p>
            <a:pPr marL="342900" lvl="0" indent="-3429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AU" sz="160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Identify and document all attachments before approaching the patient: IV lines (peripheral and central), arterial lines, pulmonary artery catheter, urinary catheter, nasogastric tube, chest drains (and their drainage systems </a:t>
            </a:r>
            <a:r>
              <a:rPr lang="en-AU" sz="1600">
                <a:latin typeface="Arial" panose="020B0604020202020204" pitchFamily="34" charset="0"/>
                <a:ea typeface="Arial" panose="020B0604020202020204" pitchFamily="34" charset="0"/>
              </a:rPr>
              <a:t>- </a:t>
            </a:r>
            <a:r>
              <a:rPr lang="en-AU" sz="160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e.g., underwater seal vs. digital drainage), pacing wires (temporary epicardial pacing </a:t>
            </a:r>
            <a:r>
              <a:rPr lang="en-AU" sz="1600">
                <a:latin typeface="Arial" panose="020B0604020202020204" pitchFamily="34" charset="0"/>
                <a:ea typeface="Arial" panose="020B0604020202020204" pitchFamily="34" charset="0"/>
              </a:rPr>
              <a:t>- </a:t>
            </a:r>
            <a:r>
              <a:rPr lang="en-AU" sz="160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critical to be aware of), and any wound drains.</a:t>
            </a:r>
          </a:p>
          <a:p>
            <a:pPr marL="342900" lvl="0" indent="-3429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AU" sz="160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Confirm drain patency and that chest drain tubing is not kinked or clamped during assessment.</a:t>
            </a:r>
          </a:p>
          <a:p>
            <a:pPr marL="342900" lvl="0" indent="-3429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AU" sz="160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Ensure monitoring (continuous cardiac monitoring, SpO2, NIBP) is active and alarmed appropriately.</a:t>
            </a:r>
          </a:p>
          <a:p>
            <a:pPr marL="342900" lvl="0" indent="-3429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AU" sz="160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Have suction available at the bedside, particularly if planning any airway clearance techniques.</a:t>
            </a:r>
          </a:p>
          <a:p>
            <a:pPr marL="342900" lvl="0" indent="-342900">
              <a:lnSpc>
                <a:spcPct val="15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AU" sz="1600">
                <a:latin typeface="Arial" panose="020B0604020202020204" pitchFamily="34" charset="0"/>
                <a:ea typeface="Arial" panose="020B0604020202020204" pitchFamily="34" charset="0"/>
              </a:rPr>
              <a:t>Have I liaised with the appropriate staff members? PT, OT, NS, Doctors </a:t>
            </a:r>
            <a:endParaRPr lang="en-AU" sz="16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pic>
        <p:nvPicPr>
          <p:cNvPr id="1026" name="Picture 2" descr="Implantable Defibrillators ...">
            <a:extLst>
              <a:ext uri="{FF2B5EF4-FFF2-40B4-BE49-F238E27FC236}">
                <a16:creationId xmlns:a16="http://schemas.microsoft.com/office/drawing/2014/main" id="{2150CA3E-722D-8720-B3D5-61FAC0FDD1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5443" y="531816"/>
            <a:ext cx="1927861" cy="22834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In the hospital: IV pole, infusion and ...">
            <a:extLst>
              <a:ext uri="{FF2B5EF4-FFF2-40B4-BE49-F238E27FC236}">
                <a16:creationId xmlns:a16="http://schemas.microsoft.com/office/drawing/2014/main" id="{7D975177-E050-25BC-22F6-B7185E3E722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519"/>
          <a:stretch/>
        </p:blipFill>
        <p:spPr bwMode="auto">
          <a:xfrm>
            <a:off x="9571643" y="341982"/>
            <a:ext cx="2286000" cy="32886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Wound Drainage - GBUK">
            <a:extLst>
              <a:ext uri="{FF2B5EF4-FFF2-40B4-BE49-F238E27FC236}">
                <a16:creationId xmlns:a16="http://schemas.microsoft.com/office/drawing/2014/main" id="{3A3E4BFE-9877-A10C-35C4-1378F035D4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39467" y="3965117"/>
            <a:ext cx="2017107" cy="15108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indwelling urinary catheter">
            <a:extLst>
              <a:ext uri="{FF2B5EF4-FFF2-40B4-BE49-F238E27FC236}">
                <a16:creationId xmlns:a16="http://schemas.microsoft.com/office/drawing/2014/main" id="{2EEE088F-7876-CFCF-BC9D-66B4086296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4665" y="4765634"/>
            <a:ext cx="2917306" cy="17503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Patient controlled analgesia (PCA)">
            <a:extLst>
              <a:ext uri="{FF2B5EF4-FFF2-40B4-BE49-F238E27FC236}">
                <a16:creationId xmlns:a16="http://schemas.microsoft.com/office/drawing/2014/main" id="{CAF38E82-B470-4869-F875-86523F3489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6019" y="2793400"/>
            <a:ext cx="2573943" cy="17826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674002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2558FCD-1EF2-3CF6-0DB3-8E86EDED1F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0572551"/>
              </p:ext>
            </p:extLst>
          </p:nvPr>
        </p:nvGraphicFramePr>
        <p:xfrm>
          <a:off x="642257" y="1004835"/>
          <a:ext cx="10922214" cy="5167364"/>
        </p:xfrm>
        <a:graphic>
          <a:graphicData uri="http://schemas.openxmlformats.org/drawingml/2006/table">
            <a:tbl>
              <a:tblPr/>
              <a:tblGrid>
                <a:gridCol w="5461107">
                  <a:extLst>
                    <a:ext uri="{9D8B030D-6E8A-4147-A177-3AD203B41FA5}">
                      <a16:colId xmlns:a16="http://schemas.microsoft.com/office/drawing/2014/main" val="3953877131"/>
                    </a:ext>
                  </a:extLst>
                </a:gridCol>
                <a:gridCol w="5461107">
                  <a:extLst>
                    <a:ext uri="{9D8B030D-6E8A-4147-A177-3AD203B41FA5}">
                      <a16:colId xmlns:a16="http://schemas.microsoft.com/office/drawing/2014/main" val="3745369427"/>
                    </a:ext>
                  </a:extLst>
                </a:gridCol>
              </a:tblGrid>
              <a:tr h="219380">
                <a:tc>
                  <a:txBody>
                    <a:bodyPr/>
                    <a:lstStyle/>
                    <a:p>
                      <a:r>
                        <a:rPr lang="en-AU" sz="700" b="1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System</a:t>
                      </a:r>
                      <a:endParaRPr lang="en-AU" sz="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4392" marR="54392" marT="36261" marB="36261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7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Assessment Content</a:t>
                      </a:r>
                      <a:endParaRPr lang="en-AU" sz="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4392" marR="54392" marT="36261" marB="36261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4325295"/>
                  </a:ext>
                </a:extLst>
              </a:tr>
              <a:tr h="860519">
                <a:tc>
                  <a:txBody>
                    <a:bodyPr/>
                    <a:lstStyle/>
                    <a:p>
                      <a:r>
                        <a:rPr lang="en-AU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A - Airway</a:t>
                      </a:r>
                      <a:endParaRPr lang="en-AU" sz="8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4392" marR="54392" marT="36261" marB="36261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Is the patient self-ventilating or on mechanical ventilation? If extubated: assess voice quality (hoarse = possible vocal cord injury / RLN palsy), cough effectiveness, and presence of secretions. If intubated: confirm ventilator settings (mode, PEEP, FiO2, tidal volumes).</a:t>
                      </a:r>
                      <a:endParaRPr lang="en-AU" sz="8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4392" marR="54392" marT="36261" marB="36261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036225"/>
                  </a:ext>
                </a:extLst>
              </a:tr>
              <a:tr h="1118675">
                <a:tc>
                  <a:txBody>
                    <a:bodyPr/>
                    <a:lstStyle/>
                    <a:p>
                      <a:r>
                        <a:rPr lang="en-AU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B - Breathing</a:t>
                      </a:r>
                      <a:endParaRPr lang="en-AU" sz="8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4392" marR="54392" marT="36261" marB="36261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Respiratory rate (normal 12 - 20 rpm), rhythm, depth. SpO2 (target ≥95% unless documented otherwise). Work of breathing: accessory muscle use, tracheal tug, recession, paradoxical movement. Auscultation: air entry bilaterally, added sounds (crackles - secretions; wheeze - bronchospasm; reduced - collapse/effusion). Inspection: chest symmetry, drain sites.</a:t>
                      </a:r>
                      <a:endParaRPr lang="en-AU" sz="8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4392" marR="54392" marT="36261" marB="36261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1323834"/>
                  </a:ext>
                </a:extLst>
              </a:tr>
              <a:tr h="1118675">
                <a:tc>
                  <a:txBody>
                    <a:bodyPr/>
                    <a:lstStyle/>
                    <a:p>
                      <a:r>
                        <a:rPr lang="en-AU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C - Circulation</a:t>
                      </a:r>
                      <a:endParaRPr lang="en-AU" sz="8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4392" marR="54392" marT="36261" marB="36261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HR (rate and rhythm - palpate and confirm on monitor), BP (target typically MAP &gt;65 mmHg; confirm patient-specific target with medical team). Assess for arrhythmia. Peripheral perfusion: skin colour, warmth, capillary refill. Vasopressor infusions - note type and rate (noradrenaline, vasopressin, dopamine). Note drain output since last review.</a:t>
                      </a:r>
                      <a:endParaRPr lang="en-AU" sz="8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4392" marR="54392" marT="36261" marB="36261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6935463"/>
                  </a:ext>
                </a:extLst>
              </a:tr>
              <a:tr h="860519">
                <a:tc>
                  <a:txBody>
                    <a:bodyPr/>
                    <a:lstStyle/>
                    <a:p>
                      <a:r>
                        <a:rPr lang="en-AU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D - Disability (Neurological)</a:t>
                      </a:r>
                      <a:endParaRPr lang="en-AU" sz="8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4392" marR="54392" marT="36261" marB="36261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Level of consciousness (AVPU or GCS). Orientation: person, place, time. Presence of ICU delirium (CAM-ICU score). Pain score (NRS 0–10 or CPOT for non-verbal patients) - document location, character, and impact on movement. Current analgesia and effectiveness.</a:t>
                      </a:r>
                      <a:endParaRPr lang="en-AU" sz="8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4392" marR="54392" marT="36261" marB="36261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4297500"/>
                  </a:ext>
                </a:extLst>
              </a:tr>
              <a:tr h="989596">
                <a:tc>
                  <a:txBody>
                    <a:bodyPr/>
                    <a:lstStyle/>
                    <a:p>
                      <a:r>
                        <a:rPr lang="en-AU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E - Exposure / Everything Else</a:t>
                      </a:r>
                      <a:endParaRPr lang="en-AU" sz="8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4392" marR="54392" marT="36261" marB="36261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7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Wound inspection (if appropriate): sternal incision, drain sites, leg wound (saphenous vein harvest site). Oedema (peripheral and facial). Temperature. Abdominal distension (relevant for diaphragm function). Lines: are they secure, non-kinked, and at appropriate length for planned mobilisation?</a:t>
                      </a:r>
                      <a:endParaRPr lang="en-AU" sz="8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54392" marR="54392" marT="36261" marB="36261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007130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A0F73B69-C8BD-E766-DA5B-5B882AC2A560}"/>
              </a:ext>
            </a:extLst>
          </p:cNvPr>
          <p:cNvSpPr txBox="1"/>
          <p:nvPr/>
        </p:nvSpPr>
        <p:spPr>
          <a:xfrm>
            <a:off x="642257" y="501134"/>
            <a:ext cx="60982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spcAft>
                <a:spcPts val="400"/>
              </a:spcAft>
            </a:pPr>
            <a:r>
              <a:rPr lang="en-AU" sz="1800" b="1" dirty="0">
                <a:solidFill>
                  <a:srgbClr val="1A5276"/>
                </a:solidFill>
                <a:effectLst/>
                <a:latin typeface="Arial" panose="020B0604020202020204" pitchFamily="34" charset="0"/>
              </a:rPr>
              <a:t>Step 3: Patient Assessment - ABCDE</a:t>
            </a:r>
            <a:endParaRPr lang="en-AU" sz="1600" b="1" dirty="0">
              <a:solidFill>
                <a:srgbClr val="1A5276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393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8" name="Picture 6" descr="Physio Assessment - Nat Broad Physiotherapy">
            <a:extLst>
              <a:ext uri="{FF2B5EF4-FFF2-40B4-BE49-F238E27FC236}">
                <a16:creationId xmlns:a16="http://schemas.microsoft.com/office/drawing/2014/main" id="{6147E914-2A03-E3FE-218C-AE056F1EA9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2109" y="4254619"/>
            <a:ext cx="4051300" cy="2006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D8F719A-8F3E-04C3-0CE2-583782A2F75C}"/>
              </a:ext>
            </a:extLst>
          </p:cNvPr>
          <p:cNvSpPr txBox="1"/>
          <p:nvPr/>
        </p:nvSpPr>
        <p:spPr>
          <a:xfrm>
            <a:off x="778474" y="387816"/>
            <a:ext cx="9181071" cy="58734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</a:pPr>
            <a:r>
              <a:rPr lang="en-AU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 </a:t>
            </a:r>
          </a:p>
          <a:p>
            <a:pPr>
              <a:spcBef>
                <a:spcPts val="900"/>
              </a:spcBef>
              <a:spcAft>
                <a:spcPts val="400"/>
              </a:spcAft>
            </a:pPr>
            <a:r>
              <a:rPr lang="en-AU" sz="2400" b="1" dirty="0">
                <a:solidFill>
                  <a:srgbClr val="1A5276"/>
                </a:solidFill>
                <a:effectLst/>
                <a:latin typeface="Arial" panose="020B0604020202020204" pitchFamily="34" charset="0"/>
              </a:rPr>
              <a:t>Step 4: Objective Measures</a:t>
            </a:r>
            <a:endParaRPr lang="en-AU" sz="2000" b="1" dirty="0">
              <a:solidFill>
                <a:srgbClr val="1A5276"/>
              </a:solidFill>
              <a:effectLst/>
              <a:latin typeface="Arial" panose="020B0604020202020204" pitchFamily="34" charset="0"/>
            </a:endParaRPr>
          </a:p>
          <a:p>
            <a:pPr marL="342900" lvl="0" indent="-3429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AU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Note of attachments </a:t>
            </a:r>
          </a:p>
          <a:p>
            <a:pPr marL="342900" lvl="0" indent="-3429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AU" dirty="0">
                <a:latin typeface="Arial" panose="020B0604020202020204" pitchFamily="34" charset="0"/>
                <a:ea typeface="Arial" panose="020B0604020202020204" pitchFamily="34" charset="0"/>
              </a:rPr>
              <a:t>Subjective </a:t>
            </a:r>
            <a:r>
              <a:rPr lang="en-AU" dirty="0" err="1">
                <a:latin typeface="Arial" panose="020B0604020202020204" pitchFamily="34" charset="0"/>
                <a:ea typeface="Arial" panose="020B0604020202020204" pitchFamily="34" charset="0"/>
              </a:rPr>
              <a:t>Hx</a:t>
            </a:r>
            <a:endParaRPr lang="en-AU" sz="1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342900" lvl="0" indent="-3429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AU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Pain: VAS scale </a:t>
            </a:r>
          </a:p>
          <a:p>
            <a:pPr marL="342900" lvl="0" indent="-3429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AU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Auscultation</a:t>
            </a:r>
          </a:p>
          <a:p>
            <a:pPr marL="342900" lvl="0" indent="-3429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AU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Secretions </a:t>
            </a:r>
          </a:p>
          <a:p>
            <a:pPr marL="342900" lvl="0" indent="-3429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AU" dirty="0">
                <a:latin typeface="Arial" panose="020B0604020202020204" pitchFamily="34" charset="0"/>
                <a:ea typeface="Arial" panose="020B0604020202020204" pitchFamily="34" charset="0"/>
              </a:rPr>
              <a:t>Relevant scans: E.g. CXR </a:t>
            </a:r>
            <a:endParaRPr lang="en-AU" sz="1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342900" lvl="0" indent="-3429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AU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Assess cough strength </a:t>
            </a:r>
          </a:p>
          <a:p>
            <a:pPr marL="342900" lvl="0" indent="-3429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AU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Measure </a:t>
            </a:r>
            <a:r>
              <a:rPr lang="en-AU" sz="1800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Obs</a:t>
            </a:r>
            <a:r>
              <a:rPr lang="en-AU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: SPO2, HR, RR and BP before any intervention </a:t>
            </a:r>
          </a:p>
          <a:p>
            <a:pPr marL="342900" lvl="0" indent="-3429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AU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Functional screen </a:t>
            </a:r>
          </a:p>
          <a:p>
            <a:pPr marL="342900" lvl="0" indent="-3429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AU" dirty="0">
                <a:latin typeface="Arial" panose="020B0604020202020204" pitchFamily="34" charset="0"/>
                <a:ea typeface="Arial" panose="020B0604020202020204" pitchFamily="34" charset="0"/>
              </a:rPr>
              <a:t>Range of movement </a:t>
            </a:r>
          </a:p>
          <a:p>
            <a:pPr marL="342900" lvl="0" indent="-3429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AU" dirty="0">
                <a:latin typeface="Arial" panose="020B0604020202020204" pitchFamily="34" charset="0"/>
                <a:ea typeface="Arial" panose="020B0604020202020204" pitchFamily="34" charset="0"/>
              </a:rPr>
              <a:t>GCS</a:t>
            </a:r>
          </a:p>
          <a:p>
            <a:pPr marL="342900" lvl="0" indent="-3429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AU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Neuro screen (if necessary) </a:t>
            </a:r>
          </a:p>
          <a:p>
            <a:pPr marL="342900" lvl="0" indent="-3429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lang="en-AU" sz="1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342900" lvl="0" indent="-34290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lang="en-AU" sz="1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pic>
        <p:nvPicPr>
          <p:cNvPr id="3074" name="Picture 2" descr="Normal chest x-ray: Anatomy tutorial ...">
            <a:extLst>
              <a:ext uri="{FF2B5EF4-FFF2-40B4-BE49-F238E27FC236}">
                <a16:creationId xmlns:a16="http://schemas.microsoft.com/office/drawing/2014/main" id="{3CE27DC5-F858-7925-3775-6EF014D79D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5909" y="651877"/>
            <a:ext cx="28575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222852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0DDAD6-40DE-A7D6-6FF3-2D2BE1262E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62965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AU" sz="1800" b="1" dirty="0">
                <a:solidFill>
                  <a:srgbClr val="2E75B6"/>
                </a:solidFill>
                <a:effectLst/>
                <a:latin typeface="Arial" panose="020B0604020202020204" pitchFamily="34" charset="0"/>
              </a:rPr>
              <a:t>3.2  Clinical Reasoning for Early Mobilisation - Preventing Post-Operative Pulmonary Complications (PPCs)</a:t>
            </a:r>
            <a:br>
              <a:rPr lang="en-AU" sz="1800" b="1" dirty="0">
                <a:solidFill>
                  <a:srgbClr val="2E75B6"/>
                </a:solidFill>
                <a:effectLst/>
                <a:latin typeface="Arial" panose="020B0604020202020204" pitchFamily="34" charset="0"/>
              </a:rPr>
            </a:br>
            <a:br>
              <a:rPr lang="en-AU" sz="1800" b="1" dirty="0">
                <a:solidFill>
                  <a:srgbClr val="2E75B6"/>
                </a:solidFill>
                <a:effectLst/>
                <a:latin typeface="Arial" panose="020B0604020202020204" pitchFamily="34" charset="0"/>
              </a:rPr>
            </a:br>
            <a:r>
              <a:rPr lang="en-AU" sz="20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Post-Operative Pulmonary Complications (PPCs) represent one of the most significant causes of post-surgical morbidity, ICU readmission, and mortality. They include atelectasis, pneumonia, acute respiratory failure, bronchospasm, prolonged mechanical ventilation, and pulmonary embolism.</a:t>
            </a:r>
            <a:br>
              <a:rPr lang="en-AU" sz="20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</a:br>
            <a:endParaRPr lang="en-US" sz="2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D967C9-E66C-3041-72AD-2C7FFE9F64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80119"/>
            <a:ext cx="10515600" cy="4905235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rPr lang="en-AU" sz="1800" b="1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Evidence Base for Early Mobilisation</a:t>
            </a:r>
            <a:endParaRPr lang="en-AU" sz="1800" dirty="0"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342900" lvl="0" indent="-342900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AU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Evidence base </a:t>
            </a:r>
            <a:r>
              <a:rPr lang="en-AU" sz="1800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consisitently</a:t>
            </a:r>
            <a:r>
              <a:rPr lang="en-AU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demonstrate that early mobilisation (commencing within 24–48 hours post-operatively) reduces rates of PPCs compared to delayed mobilisation.</a:t>
            </a:r>
          </a:p>
          <a:p>
            <a:pPr marL="342900" lvl="0" indent="-342900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AU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Upright positioning alone significantly increases FRC (by re-expanding basal lung zones), reduces V/Q mismatch, and improves </a:t>
            </a:r>
            <a:r>
              <a:rPr lang="en-AU" sz="1800" dirty="0" err="1">
                <a:effectLst/>
                <a:latin typeface="Arial" panose="020B0604020202020204" pitchFamily="34" charset="0"/>
                <a:ea typeface="Arial" panose="020B0604020202020204" pitchFamily="34" charset="0"/>
              </a:rPr>
              <a:t>mucociliary</a:t>
            </a:r>
            <a:r>
              <a:rPr lang="en-AU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 clearance through gravitational assistance.</a:t>
            </a:r>
          </a:p>
          <a:p>
            <a:pPr marL="342900" lvl="0" indent="-342900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AU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Active exercise increases tidal volume, promotes deep breathing, enhances lymphatic drainage, reduces venous stasis (DVT/PE prevention), and counteracts the deconditioning that begins within 24 hours of bed rest.</a:t>
            </a:r>
          </a:p>
          <a:p>
            <a:pPr marL="342900" lvl="0" indent="-342900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AU" sz="1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For cardiac surgical patients specifically, early mobilisation has been shown to reduce ICU length of stay, reduce AF incidence, and improve patient-reported recovery quality at 6 weeks.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48057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39734-0344-10D7-F449-D43D704FA0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3365"/>
            <a:ext cx="10515600" cy="1325563"/>
          </a:xfrm>
        </p:spPr>
        <p:txBody>
          <a:bodyPr>
            <a:normAutofit fontScale="90000"/>
          </a:bodyPr>
          <a:lstStyle/>
          <a:p>
            <a:pPr marL="0" indent="0">
              <a:lnSpc>
                <a:spcPct val="120000"/>
              </a:lnSpc>
              <a:spcBef>
                <a:spcPts val="400"/>
              </a:spcBef>
              <a:spcAft>
                <a:spcPts val="400"/>
              </a:spcAft>
            </a:pPr>
            <a:br>
              <a:rPr lang="en-AU" sz="4400" dirty="0">
                <a:solidFill>
                  <a:schemeClr val="accent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</a:br>
            <a:r>
              <a:rPr lang="en-AU" sz="2200" b="1" dirty="0">
                <a:solidFill>
                  <a:schemeClr val="accent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Physiological Rationale by System</a:t>
            </a:r>
            <a:br>
              <a:rPr lang="en-AU" sz="4400" dirty="0">
                <a:solidFill>
                  <a:schemeClr val="accent1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</a:b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64FB59-2C4F-90A2-2127-166F25ECC4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>
            <a:normAutofit fontScale="62500" lnSpcReduction="20000"/>
          </a:bodyPr>
          <a:lstStyle/>
          <a:p>
            <a:pPr marL="342900" lvl="0" indent="-342900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AU" sz="2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Respiratory: Upright posture shifts the diaphragm downward, increases thoracic volume, reopens collapsed lung units, and improves cough mechanics. Active breathing during exercise increases minute ventilation and promotes collateral ventilation.</a:t>
            </a:r>
          </a:p>
          <a:p>
            <a:pPr marL="342900" lvl="0" indent="-342900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AU" sz="2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Cardiovascular: Orthostatic stress during sit-to-stand activates baroreceptor reflexes, promotes venous return training, and reduces resting heart rate over time. Reduces risk of venous thromboembolism.</a:t>
            </a:r>
          </a:p>
          <a:p>
            <a:pPr marL="342900" lvl="0" indent="-342900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AU" sz="2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Musculoskeletal: Prevents critical illness myopathy (CIM) - a devastating complication of prolonged ICU immobility. ICU-acquired weakness begins within 24 - 48 hours of immobility.</a:t>
            </a:r>
          </a:p>
          <a:p>
            <a:pPr marL="342900" lvl="0" indent="-342900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AU" sz="2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Neurocognitive: Physical activity reduces delirium duration and severity. Providing proprioceptive and vestibular stimulation through upright positioning and movement supports cognitive reorientation.</a:t>
            </a:r>
          </a:p>
          <a:p>
            <a:pPr marL="342900" lvl="0" indent="-342900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AU" sz="2800" dirty="0">
                <a:effectLst/>
                <a:latin typeface="Arial" panose="020B0604020202020204" pitchFamily="34" charset="0"/>
                <a:ea typeface="Arial" panose="020B0604020202020204" pitchFamily="34" charset="0"/>
              </a:rPr>
              <a:t>Digestion: Facilitates bowel movement and constipation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35746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C0ADF6-2DBB-0011-6DDB-E2F2BBCFE5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z="1800" b="1" dirty="0">
                <a:solidFill>
                  <a:srgbClr val="2E75B6"/>
                </a:solidFill>
                <a:effectLst/>
                <a:latin typeface="Arial" panose="020B0604020202020204" pitchFamily="34" charset="0"/>
              </a:rPr>
              <a:t>3.3  Safety Criteria for Progressing from Sitting-on-Edge-of-Bed (SOEOB) to Independent Ambulation</a:t>
            </a:r>
            <a:br>
              <a:rPr lang="en-AU" sz="1800" b="1" dirty="0">
                <a:solidFill>
                  <a:srgbClr val="2E75B6"/>
                </a:solidFill>
                <a:effectLst/>
                <a:latin typeface="Arial" panose="020B0604020202020204" pitchFamily="34" charset="0"/>
              </a:rPr>
            </a:b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8E1336F-2073-C450-87C5-D5B73F6D55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262816"/>
              </p:ext>
            </p:extLst>
          </p:nvPr>
        </p:nvGraphicFramePr>
        <p:xfrm>
          <a:off x="838200" y="1192849"/>
          <a:ext cx="10515600" cy="4802186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926294343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932449383"/>
                    </a:ext>
                  </a:extLst>
                </a:gridCol>
              </a:tblGrid>
              <a:tr h="258182">
                <a:tc>
                  <a:txBody>
                    <a:bodyPr/>
                    <a:lstStyle/>
                    <a:p>
                      <a:r>
                        <a:rPr lang="en-AU" sz="900" b="1"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Stage</a:t>
                      </a:r>
                      <a:endParaRPr lang="en-AU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0183" marR="70183" marT="46789" marB="46789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900" b="1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Safety Criteria and Clinical Reasoning</a:t>
                      </a:r>
                      <a:endParaRPr lang="en-AU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0183" marR="70183" marT="46789" marB="46789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4846492"/>
                  </a:ext>
                </a:extLst>
              </a:tr>
              <a:tr h="1032728">
                <a:tc>
                  <a:txBody>
                    <a:bodyPr/>
                    <a:lstStyle/>
                    <a:p>
                      <a:r>
                        <a:rPr lang="en-AU" sz="9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SOEOB (Sitting on Edge of Bed)</a:t>
                      </a:r>
                      <a:endParaRPr lang="en-AU" sz="10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0183" marR="70183" marT="46789" marB="46789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9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HR: Resting &lt;100 bpm; SpO2: ≥94% on current O2 therapy; BP: Systolic 90–180 mmHg; Patient: Alert and able to follow commands; No new arrhythmia; No drain changes indicating haemorrhage; Adequate analgesia in place; Nurse available to assist and monitor</a:t>
                      </a:r>
                      <a:endParaRPr lang="en-AU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0183" marR="70183" marT="46789" marB="46789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0985485"/>
                  </a:ext>
                </a:extLst>
              </a:tr>
              <a:tr h="877819">
                <a:tc>
                  <a:txBody>
                    <a:bodyPr/>
                    <a:lstStyle/>
                    <a:p>
                      <a:r>
                        <a:rPr lang="en-AU" sz="9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Static Stand (at bedside, supported)</a:t>
                      </a:r>
                      <a:endParaRPr lang="en-AU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0183" marR="70183" marT="46789" marB="46789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9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All SOEOB criteria PLUS: No significant postural hypotension (SBP drop &gt;20 mmHg) on sitting; No dizziness or pre-syncope; Adequate lower limb strength to weight-bear; Lines and drains managed safely (not taut, not kinked)</a:t>
                      </a:r>
                      <a:endParaRPr lang="en-AU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0183" marR="70183" marT="46789" marB="46789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0906913"/>
                  </a:ext>
                </a:extLst>
              </a:tr>
              <a:tr h="877819">
                <a:tc>
                  <a:txBody>
                    <a:bodyPr/>
                    <a:lstStyle/>
                    <a:p>
                      <a:r>
                        <a:rPr lang="en-AU" sz="9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Assisted Ambulation (2–3 metres, with 2 staff)</a:t>
                      </a:r>
                      <a:endParaRPr lang="en-AU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0183" marR="70183" marT="46789" marB="46789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9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All standing criteria PLUS: HR increase &lt;30 bpm above resting with standing; SpO2 maintained ≥94%; Patient motivated and able to cooperate; Walking aid selected appropriately for patient's needs and line management</a:t>
                      </a:r>
                      <a:endParaRPr lang="en-AU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0183" marR="70183" marT="46789" marB="46789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3998328"/>
                  </a:ext>
                </a:extLst>
              </a:tr>
              <a:tr h="877819">
                <a:tc>
                  <a:txBody>
                    <a:bodyPr/>
                    <a:lstStyle/>
                    <a:p>
                      <a:r>
                        <a:rPr lang="en-AU" sz="9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Progressive Ambulation (increasing distances)</a:t>
                      </a:r>
                      <a:endParaRPr lang="en-AU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0183" marR="70183" marT="46789" marB="46789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9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Tolerance of short ambulation without: (1) SpO2 drop &gt;4% below resting; (2) HR &gt;120 bpm; (3) Systolic BP drop &gt;20 mmHg or rise &gt;40 mmHg; (4) Borg RPE &gt;14; (5) New chest pain, diaphoresis, palpitations, or pallor</a:t>
                      </a:r>
                      <a:endParaRPr lang="en-AU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0183" marR="70183" marT="46789" marB="46789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B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9035833"/>
                  </a:ext>
                </a:extLst>
              </a:tr>
              <a:tr h="877819">
                <a:tc>
                  <a:txBody>
                    <a:bodyPr/>
                    <a:lstStyle/>
                    <a:p>
                      <a:r>
                        <a:rPr lang="en-AU" sz="9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Independent Ambulation (supervised at distance)</a:t>
                      </a:r>
                      <a:endParaRPr lang="en-AU" sz="10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0183" marR="70183" marT="46789" marB="46789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AU" sz="9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Arial" panose="020B0604020202020204" pitchFamily="34" charset="0"/>
                        </a:rPr>
                        <a:t>Consistent haemodynamic stability across multiple ambulation sessions; Ability to self-monitor symptoms; Adequate drain and line management taught to patient; Physiotherapist or nursing staff within visual range</a:t>
                      </a:r>
                      <a:endParaRPr lang="en-AU" sz="10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70183" marR="70183" marT="46789" marB="46789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39418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786554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3340</TotalTime>
  <Words>1300</Words>
  <Application>Microsoft Macintosh PowerPoint</Application>
  <PresentationFormat>Widescreen</PresentationFormat>
  <Paragraphs>69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Symbol</vt:lpstr>
      <vt:lpstr>Office Theme</vt:lpstr>
      <vt:lpstr> Systematic Approach to Post-Operative Bedside Assessment </vt:lpstr>
      <vt:lpstr>PowerPoint Presentation</vt:lpstr>
      <vt:lpstr>PowerPoint Presentation</vt:lpstr>
      <vt:lpstr>PowerPoint Presentation</vt:lpstr>
      <vt:lpstr>PowerPoint Presentation</vt:lpstr>
      <vt:lpstr>3.2  Clinical Reasoning for Early Mobilisation - Preventing Post-Operative Pulmonary Complications (PPCs)  Post-Operative Pulmonary Complications (PPCs) represent one of the most significant causes of post-surgical morbidity, ICU readmission, and mortality. They include atelectasis, pneumonia, acute respiratory failure, bronchospasm, prolonged mechanical ventilation, and pulmonary embolism. </vt:lpstr>
      <vt:lpstr> Physiological Rationale by System </vt:lpstr>
      <vt:lpstr>3.3  Safety Criteria for Progressing from Sitting-on-Edge-of-Bed (SOEOB) to Independent Ambulation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Systematic Approach to Post-Operative Bedside Assessment </dc:title>
  <dc:creator>Peter Chong</dc:creator>
  <cp:lastModifiedBy>Peter Chong</cp:lastModifiedBy>
  <cp:revision>4</cp:revision>
  <dcterms:created xsi:type="dcterms:W3CDTF">2026-04-18T16:11:05Z</dcterms:created>
  <dcterms:modified xsi:type="dcterms:W3CDTF">2026-04-21T07:45:19Z</dcterms:modified>
</cp:coreProperties>
</file>