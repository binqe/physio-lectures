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4"/>
  </p:sldMasterIdLst>
  <p:notesMasterIdLst>
    <p:notesMasterId r:id="rId45"/>
  </p:notesMasterIdLst>
  <p:sldIdLst>
    <p:sldId id="268" r:id="rId5"/>
    <p:sldId id="257" r:id="rId6"/>
    <p:sldId id="258" r:id="rId7"/>
    <p:sldId id="265" r:id="rId8"/>
    <p:sldId id="260" r:id="rId9"/>
    <p:sldId id="273" r:id="rId10"/>
    <p:sldId id="274" r:id="rId11"/>
    <p:sldId id="269" r:id="rId12"/>
    <p:sldId id="275" r:id="rId13"/>
    <p:sldId id="277" r:id="rId14"/>
    <p:sldId id="278" r:id="rId15"/>
    <p:sldId id="267" r:id="rId16"/>
    <p:sldId id="279" r:id="rId17"/>
    <p:sldId id="280" r:id="rId18"/>
    <p:sldId id="281" r:id="rId19"/>
    <p:sldId id="282" r:id="rId20"/>
    <p:sldId id="313" r:id="rId21"/>
    <p:sldId id="283" r:id="rId22"/>
    <p:sldId id="284" r:id="rId23"/>
    <p:sldId id="286" r:id="rId24"/>
    <p:sldId id="288" r:id="rId25"/>
    <p:sldId id="291" r:id="rId26"/>
    <p:sldId id="292" r:id="rId27"/>
    <p:sldId id="293" r:id="rId28"/>
    <p:sldId id="295" r:id="rId29"/>
    <p:sldId id="307" r:id="rId30"/>
    <p:sldId id="289" r:id="rId31"/>
    <p:sldId id="296" r:id="rId32"/>
    <p:sldId id="297" r:id="rId33"/>
    <p:sldId id="300" r:id="rId34"/>
    <p:sldId id="301" r:id="rId35"/>
    <p:sldId id="304" r:id="rId36"/>
    <p:sldId id="302" r:id="rId37"/>
    <p:sldId id="308" r:id="rId38"/>
    <p:sldId id="312" r:id="rId39"/>
    <p:sldId id="310" r:id="rId40"/>
    <p:sldId id="314" r:id="rId41"/>
    <p:sldId id="316" r:id="rId42"/>
    <p:sldId id="315" r:id="rId43"/>
    <p:sldId id="261"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drea" initials="A" lastIdx="0" clrIdx="0">
    <p:extLst>
      <p:ext uri="{19B8F6BF-5375-455C-9EA6-DF929625EA0E}">
        <p15:presenceInfo xmlns:p15="http://schemas.microsoft.com/office/powerpoint/2012/main" userId="Andre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40" autoAdjust="0"/>
    <p:restoredTop sz="74727" autoAdjust="0"/>
  </p:normalViewPr>
  <p:slideViewPr>
    <p:cSldViewPr snapToGrid="0">
      <p:cViewPr varScale="1">
        <p:scale>
          <a:sx n="59" d="100"/>
          <a:sy n="59" d="100"/>
        </p:scale>
        <p:origin x="884"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DB73BE-EA4E-431A-B149-0ACB6FAD1E04}"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FE275773-A975-4998-91EF-DE2FCB17DD61}">
      <dgm:prSet phldrT="[Text]"/>
      <dgm:spPr/>
      <dgm:t>
        <a:bodyPr/>
        <a:lstStyle/>
        <a:p>
          <a:r>
            <a:rPr lang="en-US" dirty="0"/>
            <a:t>Observation</a:t>
          </a:r>
        </a:p>
      </dgm:t>
    </dgm:pt>
    <dgm:pt modelId="{537C0DF6-20F0-48B0-861C-A1AECA4E5F22}" type="parTrans" cxnId="{AAEF46A3-8DEF-45EC-8D65-9DC2DC31B2B3}">
      <dgm:prSet/>
      <dgm:spPr/>
      <dgm:t>
        <a:bodyPr/>
        <a:lstStyle/>
        <a:p>
          <a:endParaRPr lang="en-US"/>
        </a:p>
      </dgm:t>
    </dgm:pt>
    <dgm:pt modelId="{F9EADF52-ED7B-4152-9EDA-F0729695F6BF}" type="sibTrans" cxnId="{AAEF46A3-8DEF-45EC-8D65-9DC2DC31B2B3}">
      <dgm:prSet/>
      <dgm:spPr/>
      <dgm:t>
        <a:bodyPr/>
        <a:lstStyle/>
        <a:p>
          <a:endParaRPr lang="en-US"/>
        </a:p>
      </dgm:t>
    </dgm:pt>
    <dgm:pt modelId="{D45FE86D-F6F4-4E16-BF7F-28F5DA49B0D4}">
      <dgm:prSet phldrT="[Text]"/>
      <dgm:spPr/>
      <dgm:t>
        <a:bodyPr/>
        <a:lstStyle/>
        <a:p>
          <a:r>
            <a:rPr lang="en-US" dirty="0"/>
            <a:t>Measure</a:t>
          </a:r>
        </a:p>
      </dgm:t>
    </dgm:pt>
    <dgm:pt modelId="{85B2021F-811A-4221-8174-7AC2950BF6D7}" type="parTrans" cxnId="{38D3A0CC-0EF8-46A1-8C1F-C09644A3A176}">
      <dgm:prSet/>
      <dgm:spPr/>
      <dgm:t>
        <a:bodyPr/>
        <a:lstStyle/>
        <a:p>
          <a:endParaRPr lang="en-US"/>
        </a:p>
      </dgm:t>
    </dgm:pt>
    <dgm:pt modelId="{67ED1A82-55EC-451A-928D-A11602883C96}" type="sibTrans" cxnId="{38D3A0CC-0EF8-46A1-8C1F-C09644A3A176}">
      <dgm:prSet/>
      <dgm:spPr/>
      <dgm:t>
        <a:bodyPr/>
        <a:lstStyle/>
        <a:p>
          <a:endParaRPr lang="en-US"/>
        </a:p>
      </dgm:t>
    </dgm:pt>
    <dgm:pt modelId="{7C537DDB-5B74-471A-AFC9-0A48A2A6A9A8}">
      <dgm:prSet phldrT="[Text]"/>
      <dgm:spPr/>
      <dgm:t>
        <a:bodyPr/>
        <a:lstStyle/>
        <a:p>
          <a:r>
            <a:rPr lang="en-US" dirty="0"/>
            <a:t>Palpate</a:t>
          </a:r>
        </a:p>
      </dgm:t>
    </dgm:pt>
    <dgm:pt modelId="{33AA1366-C84F-4648-9F04-800C99D84B52}" type="parTrans" cxnId="{BCCA6A7B-5DFA-43D7-AEB4-6C9DB761B677}">
      <dgm:prSet/>
      <dgm:spPr/>
      <dgm:t>
        <a:bodyPr/>
        <a:lstStyle/>
        <a:p>
          <a:endParaRPr lang="en-US"/>
        </a:p>
      </dgm:t>
    </dgm:pt>
    <dgm:pt modelId="{6051BC4F-66E1-44AA-8804-3244B1938456}" type="sibTrans" cxnId="{BCCA6A7B-5DFA-43D7-AEB4-6C9DB761B677}">
      <dgm:prSet/>
      <dgm:spPr/>
      <dgm:t>
        <a:bodyPr/>
        <a:lstStyle/>
        <a:p>
          <a:endParaRPr lang="en-US"/>
        </a:p>
      </dgm:t>
    </dgm:pt>
    <dgm:pt modelId="{F6BB650D-1529-4270-AAE7-FC856BBCE783}">
      <dgm:prSet phldrT="[Text]"/>
      <dgm:spPr/>
      <dgm:t>
        <a:bodyPr/>
        <a:lstStyle/>
        <a:p>
          <a:r>
            <a:rPr lang="en-US" dirty="0"/>
            <a:t>Listen</a:t>
          </a:r>
        </a:p>
      </dgm:t>
    </dgm:pt>
    <dgm:pt modelId="{1625678E-9671-4A7A-81C6-CD4203A09912}" type="parTrans" cxnId="{631A71AA-678D-427F-8531-AF4BA774C3BE}">
      <dgm:prSet/>
      <dgm:spPr/>
      <dgm:t>
        <a:bodyPr/>
        <a:lstStyle/>
        <a:p>
          <a:endParaRPr lang="en-US"/>
        </a:p>
      </dgm:t>
    </dgm:pt>
    <dgm:pt modelId="{B109BD88-2408-4C14-898A-ECCACDDC202C}" type="sibTrans" cxnId="{631A71AA-678D-427F-8531-AF4BA774C3BE}">
      <dgm:prSet/>
      <dgm:spPr/>
      <dgm:t>
        <a:bodyPr/>
        <a:lstStyle/>
        <a:p>
          <a:endParaRPr lang="en-US"/>
        </a:p>
      </dgm:t>
    </dgm:pt>
    <dgm:pt modelId="{C56AC2AB-EC57-4062-8C4D-CB1FF36E46E1}" type="pres">
      <dgm:prSet presAssocID="{DBDB73BE-EA4E-431A-B149-0ACB6FAD1E04}" presName="diagram" presStyleCnt="0">
        <dgm:presLayoutVars>
          <dgm:dir/>
          <dgm:resizeHandles val="exact"/>
        </dgm:presLayoutVars>
      </dgm:prSet>
      <dgm:spPr/>
    </dgm:pt>
    <dgm:pt modelId="{B62BDBCF-539E-44EF-92A3-5E455B7FEBA0}" type="pres">
      <dgm:prSet presAssocID="{FE275773-A975-4998-91EF-DE2FCB17DD61}" presName="node" presStyleLbl="node1" presStyleIdx="0" presStyleCnt="4" custLinFactNeighborX="1631" custLinFactNeighborY="906">
        <dgm:presLayoutVars>
          <dgm:bulletEnabled val="1"/>
        </dgm:presLayoutVars>
      </dgm:prSet>
      <dgm:spPr/>
    </dgm:pt>
    <dgm:pt modelId="{9A8AF3C7-A3D9-4BFC-B838-9CBC42AC0875}" type="pres">
      <dgm:prSet presAssocID="{F9EADF52-ED7B-4152-9EDA-F0729695F6BF}" presName="sibTrans" presStyleCnt="0"/>
      <dgm:spPr/>
    </dgm:pt>
    <dgm:pt modelId="{DA971739-8316-49DB-B10B-8F89367DEBF2}" type="pres">
      <dgm:prSet presAssocID="{D45FE86D-F6F4-4E16-BF7F-28F5DA49B0D4}" presName="node" presStyleLbl="node1" presStyleIdx="1" presStyleCnt="4">
        <dgm:presLayoutVars>
          <dgm:bulletEnabled val="1"/>
        </dgm:presLayoutVars>
      </dgm:prSet>
      <dgm:spPr/>
    </dgm:pt>
    <dgm:pt modelId="{2010797B-5EAC-4740-BA7C-3525F90254F1}" type="pres">
      <dgm:prSet presAssocID="{67ED1A82-55EC-451A-928D-A11602883C96}" presName="sibTrans" presStyleCnt="0"/>
      <dgm:spPr/>
    </dgm:pt>
    <dgm:pt modelId="{58F85431-4AAF-4A36-8598-0185C2C387FE}" type="pres">
      <dgm:prSet presAssocID="{7C537DDB-5B74-471A-AFC9-0A48A2A6A9A8}" presName="node" presStyleLbl="node1" presStyleIdx="2" presStyleCnt="4">
        <dgm:presLayoutVars>
          <dgm:bulletEnabled val="1"/>
        </dgm:presLayoutVars>
      </dgm:prSet>
      <dgm:spPr/>
    </dgm:pt>
    <dgm:pt modelId="{02A8FE4D-2C54-4138-82D9-97B8F8EE8E6A}" type="pres">
      <dgm:prSet presAssocID="{6051BC4F-66E1-44AA-8804-3244B1938456}" presName="sibTrans" presStyleCnt="0"/>
      <dgm:spPr/>
    </dgm:pt>
    <dgm:pt modelId="{3A1C491D-B299-446F-A45D-1C7C0E3DF164}" type="pres">
      <dgm:prSet presAssocID="{F6BB650D-1529-4270-AAE7-FC856BBCE783}" presName="node" presStyleLbl="node1" presStyleIdx="3" presStyleCnt="4">
        <dgm:presLayoutVars>
          <dgm:bulletEnabled val="1"/>
        </dgm:presLayoutVars>
      </dgm:prSet>
      <dgm:spPr/>
    </dgm:pt>
  </dgm:ptLst>
  <dgm:cxnLst>
    <dgm:cxn modelId="{5080280D-42DA-4CDA-A69A-59D827C9237B}" type="presOf" srcId="{FE275773-A975-4998-91EF-DE2FCB17DD61}" destId="{B62BDBCF-539E-44EF-92A3-5E455B7FEBA0}" srcOrd="0" destOrd="0" presId="urn:microsoft.com/office/officeart/2005/8/layout/default"/>
    <dgm:cxn modelId="{711D1D5F-DDAA-4169-8F8C-E1993D177FA7}" type="presOf" srcId="{DBDB73BE-EA4E-431A-B149-0ACB6FAD1E04}" destId="{C56AC2AB-EC57-4062-8C4D-CB1FF36E46E1}" srcOrd="0" destOrd="0" presId="urn:microsoft.com/office/officeart/2005/8/layout/default"/>
    <dgm:cxn modelId="{BCCA6A7B-5DFA-43D7-AEB4-6C9DB761B677}" srcId="{DBDB73BE-EA4E-431A-B149-0ACB6FAD1E04}" destId="{7C537DDB-5B74-471A-AFC9-0A48A2A6A9A8}" srcOrd="2" destOrd="0" parTransId="{33AA1366-C84F-4648-9F04-800C99D84B52}" sibTransId="{6051BC4F-66E1-44AA-8804-3244B1938456}"/>
    <dgm:cxn modelId="{3D748788-7A0B-42A7-A719-3B5799A3FAEE}" type="presOf" srcId="{D45FE86D-F6F4-4E16-BF7F-28F5DA49B0D4}" destId="{DA971739-8316-49DB-B10B-8F89367DEBF2}" srcOrd="0" destOrd="0" presId="urn:microsoft.com/office/officeart/2005/8/layout/default"/>
    <dgm:cxn modelId="{9E262F8D-2130-49F2-BB70-42792F9381E1}" type="presOf" srcId="{F6BB650D-1529-4270-AAE7-FC856BBCE783}" destId="{3A1C491D-B299-446F-A45D-1C7C0E3DF164}" srcOrd="0" destOrd="0" presId="urn:microsoft.com/office/officeart/2005/8/layout/default"/>
    <dgm:cxn modelId="{AAEF46A3-8DEF-45EC-8D65-9DC2DC31B2B3}" srcId="{DBDB73BE-EA4E-431A-B149-0ACB6FAD1E04}" destId="{FE275773-A975-4998-91EF-DE2FCB17DD61}" srcOrd="0" destOrd="0" parTransId="{537C0DF6-20F0-48B0-861C-A1AECA4E5F22}" sibTransId="{F9EADF52-ED7B-4152-9EDA-F0729695F6BF}"/>
    <dgm:cxn modelId="{631A71AA-678D-427F-8531-AF4BA774C3BE}" srcId="{DBDB73BE-EA4E-431A-B149-0ACB6FAD1E04}" destId="{F6BB650D-1529-4270-AAE7-FC856BBCE783}" srcOrd="3" destOrd="0" parTransId="{1625678E-9671-4A7A-81C6-CD4203A09912}" sibTransId="{B109BD88-2408-4C14-898A-ECCACDDC202C}"/>
    <dgm:cxn modelId="{38D3A0CC-0EF8-46A1-8C1F-C09644A3A176}" srcId="{DBDB73BE-EA4E-431A-B149-0ACB6FAD1E04}" destId="{D45FE86D-F6F4-4E16-BF7F-28F5DA49B0D4}" srcOrd="1" destOrd="0" parTransId="{85B2021F-811A-4221-8174-7AC2950BF6D7}" sibTransId="{67ED1A82-55EC-451A-928D-A11602883C96}"/>
    <dgm:cxn modelId="{423212D6-0F17-4637-ACDA-0560A4E68DF3}" type="presOf" srcId="{7C537DDB-5B74-471A-AFC9-0A48A2A6A9A8}" destId="{58F85431-4AAF-4A36-8598-0185C2C387FE}" srcOrd="0" destOrd="0" presId="urn:microsoft.com/office/officeart/2005/8/layout/default"/>
    <dgm:cxn modelId="{5B684988-6560-48E6-A3C7-B3A1D2BDE0B2}" type="presParOf" srcId="{C56AC2AB-EC57-4062-8C4D-CB1FF36E46E1}" destId="{B62BDBCF-539E-44EF-92A3-5E455B7FEBA0}" srcOrd="0" destOrd="0" presId="urn:microsoft.com/office/officeart/2005/8/layout/default"/>
    <dgm:cxn modelId="{38D6B3D6-68B9-4C65-81F2-F5DC30C9D778}" type="presParOf" srcId="{C56AC2AB-EC57-4062-8C4D-CB1FF36E46E1}" destId="{9A8AF3C7-A3D9-4BFC-B838-9CBC42AC0875}" srcOrd="1" destOrd="0" presId="urn:microsoft.com/office/officeart/2005/8/layout/default"/>
    <dgm:cxn modelId="{BC8B477E-4D81-4524-BE5D-48566EB05BFA}" type="presParOf" srcId="{C56AC2AB-EC57-4062-8C4D-CB1FF36E46E1}" destId="{DA971739-8316-49DB-B10B-8F89367DEBF2}" srcOrd="2" destOrd="0" presId="urn:microsoft.com/office/officeart/2005/8/layout/default"/>
    <dgm:cxn modelId="{D6C550E3-EC5B-4A21-9432-B80F070E66BE}" type="presParOf" srcId="{C56AC2AB-EC57-4062-8C4D-CB1FF36E46E1}" destId="{2010797B-5EAC-4740-BA7C-3525F90254F1}" srcOrd="3" destOrd="0" presId="urn:microsoft.com/office/officeart/2005/8/layout/default"/>
    <dgm:cxn modelId="{C77F4DE0-B385-437A-A516-23CC818D2A14}" type="presParOf" srcId="{C56AC2AB-EC57-4062-8C4D-CB1FF36E46E1}" destId="{58F85431-4AAF-4A36-8598-0185C2C387FE}" srcOrd="4" destOrd="0" presId="urn:microsoft.com/office/officeart/2005/8/layout/default"/>
    <dgm:cxn modelId="{5888AC90-BD25-4853-8FA4-C7DC04A230E7}" type="presParOf" srcId="{C56AC2AB-EC57-4062-8C4D-CB1FF36E46E1}" destId="{02A8FE4D-2C54-4138-82D9-97B8F8EE8E6A}" srcOrd="5" destOrd="0" presId="urn:microsoft.com/office/officeart/2005/8/layout/default"/>
    <dgm:cxn modelId="{A431C6E1-CF3F-40F8-8F10-6E02550CE9AB}" type="presParOf" srcId="{C56AC2AB-EC57-4062-8C4D-CB1FF36E46E1}" destId="{3A1C491D-B299-446F-A45D-1C7C0E3DF164}"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373B73-0654-4F64-B701-EEBD306A3ACE}" type="doc">
      <dgm:prSet loTypeId="urn:microsoft.com/office/officeart/2011/layout/TabList" loCatId="list" qsTypeId="urn:microsoft.com/office/officeart/2005/8/quickstyle/3d4" qsCatId="3D" csTypeId="urn:microsoft.com/office/officeart/2005/8/colors/accent1_2" csCatId="accent1" phldr="1"/>
      <dgm:spPr/>
      <dgm:t>
        <a:bodyPr/>
        <a:lstStyle/>
        <a:p>
          <a:endParaRPr lang="en-US"/>
        </a:p>
      </dgm:t>
    </dgm:pt>
    <dgm:pt modelId="{1BB68BE6-654F-47D5-B46E-0F97C260E218}">
      <dgm:prSet phldrT="[Text]"/>
      <dgm:spPr/>
      <dgm:t>
        <a:bodyPr/>
        <a:lstStyle/>
        <a:p>
          <a:r>
            <a:rPr lang="en-US" dirty="0"/>
            <a:t>Positioning and handling  </a:t>
          </a:r>
        </a:p>
      </dgm:t>
    </dgm:pt>
    <dgm:pt modelId="{AB52E005-572F-48C2-BC83-868E901E8FEF}" type="parTrans" cxnId="{31F72484-7A67-4201-9DA1-B98655FEF79E}">
      <dgm:prSet/>
      <dgm:spPr/>
      <dgm:t>
        <a:bodyPr/>
        <a:lstStyle/>
        <a:p>
          <a:endParaRPr lang="en-US"/>
        </a:p>
      </dgm:t>
    </dgm:pt>
    <dgm:pt modelId="{ABA84DB6-8707-4536-A587-6C20C4EEA08C}" type="sibTrans" cxnId="{31F72484-7A67-4201-9DA1-B98655FEF79E}">
      <dgm:prSet/>
      <dgm:spPr/>
      <dgm:t>
        <a:bodyPr/>
        <a:lstStyle/>
        <a:p>
          <a:endParaRPr lang="en-US"/>
        </a:p>
      </dgm:t>
    </dgm:pt>
    <dgm:pt modelId="{DCBE4AC4-6F16-441D-B804-D1FB53159818}">
      <dgm:prSet phldrT="[Text]" custT="1"/>
      <dgm:spPr/>
      <dgm:t>
        <a:bodyPr/>
        <a:lstStyle/>
        <a:p>
          <a:r>
            <a:rPr lang="en-US" sz="2000" dirty="0">
              <a:solidFill>
                <a:schemeClr val="tx1">
                  <a:lumMod val="65000"/>
                  <a:lumOff val="35000"/>
                </a:schemeClr>
              </a:solidFill>
            </a:rPr>
            <a:t>* Optimum position: sat in chair / edge of bed</a:t>
          </a:r>
        </a:p>
      </dgm:t>
    </dgm:pt>
    <dgm:pt modelId="{11B3C3EE-F5DD-4944-9F3F-9C924BDBBB58}" type="parTrans" cxnId="{17278517-95A4-453F-8F62-E22D90E2CC2D}">
      <dgm:prSet/>
      <dgm:spPr/>
      <dgm:t>
        <a:bodyPr/>
        <a:lstStyle/>
        <a:p>
          <a:endParaRPr lang="en-US"/>
        </a:p>
      </dgm:t>
    </dgm:pt>
    <dgm:pt modelId="{9768D533-85BA-422A-AD21-268F78E86A64}" type="sibTrans" cxnId="{17278517-95A4-453F-8F62-E22D90E2CC2D}">
      <dgm:prSet/>
      <dgm:spPr/>
      <dgm:t>
        <a:bodyPr/>
        <a:lstStyle/>
        <a:p>
          <a:endParaRPr lang="en-US"/>
        </a:p>
      </dgm:t>
    </dgm:pt>
    <dgm:pt modelId="{9A496C1C-0618-436E-90AF-DF18ECE79F9D}">
      <dgm:prSet phldrT="[Text]" custT="1"/>
      <dgm:spPr/>
      <dgm:t>
        <a:bodyPr/>
        <a:lstStyle/>
        <a:p>
          <a:pPr algn="l"/>
          <a:endParaRPr lang="en-US" sz="1800" dirty="0"/>
        </a:p>
      </dgm:t>
    </dgm:pt>
    <dgm:pt modelId="{DD4EAA0C-2267-472C-BF60-28EA6EE14C5B}" type="parTrans" cxnId="{E9BB90D6-A2D4-4BF2-92E3-B881EF98E670}">
      <dgm:prSet/>
      <dgm:spPr/>
      <dgm:t>
        <a:bodyPr/>
        <a:lstStyle/>
        <a:p>
          <a:endParaRPr lang="en-US"/>
        </a:p>
      </dgm:t>
    </dgm:pt>
    <dgm:pt modelId="{E5395F22-ECA6-4DE2-8CF7-D136DFB034F7}" type="sibTrans" cxnId="{E9BB90D6-A2D4-4BF2-92E3-B881EF98E670}">
      <dgm:prSet/>
      <dgm:spPr/>
      <dgm:t>
        <a:bodyPr/>
        <a:lstStyle/>
        <a:p>
          <a:endParaRPr lang="en-US"/>
        </a:p>
      </dgm:t>
    </dgm:pt>
    <dgm:pt modelId="{6A701A0B-11E6-4FF8-AB85-C0BC83BC9A30}">
      <dgm:prSet phldrT="[Text]"/>
      <dgm:spPr/>
      <dgm:t>
        <a:bodyPr/>
        <a:lstStyle/>
        <a:p>
          <a:r>
            <a:rPr lang="en-US" dirty="0"/>
            <a:t>Breathing </a:t>
          </a:r>
        </a:p>
      </dgm:t>
    </dgm:pt>
    <dgm:pt modelId="{58421486-F090-4298-A851-2753211E2EAE}" type="parTrans" cxnId="{92D2D99A-2210-4223-AB9E-37F4244D7071}">
      <dgm:prSet/>
      <dgm:spPr/>
      <dgm:t>
        <a:bodyPr/>
        <a:lstStyle/>
        <a:p>
          <a:endParaRPr lang="en-US"/>
        </a:p>
      </dgm:t>
    </dgm:pt>
    <dgm:pt modelId="{E22EEE75-8590-42F1-8487-CF00BE85B117}" type="sibTrans" cxnId="{92D2D99A-2210-4223-AB9E-37F4244D7071}">
      <dgm:prSet/>
      <dgm:spPr/>
      <dgm:t>
        <a:bodyPr/>
        <a:lstStyle/>
        <a:p>
          <a:endParaRPr lang="en-US"/>
        </a:p>
      </dgm:t>
    </dgm:pt>
    <dgm:pt modelId="{5F7CB702-CADE-42CE-8849-5A296543B542}">
      <dgm:prSet phldrT="[Text]" phldr="1"/>
      <dgm:spPr/>
      <dgm:t>
        <a:bodyPr/>
        <a:lstStyle/>
        <a:p>
          <a:endParaRPr lang="en-US"/>
        </a:p>
      </dgm:t>
    </dgm:pt>
    <dgm:pt modelId="{1C6E8B36-4611-4714-A141-C6B974B2957D}" type="parTrans" cxnId="{85264AA9-298D-436F-BA02-AC99D23DD286}">
      <dgm:prSet/>
      <dgm:spPr/>
      <dgm:t>
        <a:bodyPr/>
        <a:lstStyle/>
        <a:p>
          <a:endParaRPr lang="en-US"/>
        </a:p>
      </dgm:t>
    </dgm:pt>
    <dgm:pt modelId="{F941E588-3EFE-426B-9C83-D887E19390AF}" type="sibTrans" cxnId="{85264AA9-298D-436F-BA02-AC99D23DD286}">
      <dgm:prSet/>
      <dgm:spPr/>
      <dgm:t>
        <a:bodyPr/>
        <a:lstStyle/>
        <a:p>
          <a:endParaRPr lang="en-US"/>
        </a:p>
      </dgm:t>
    </dgm:pt>
    <dgm:pt modelId="{610CDB86-8085-4A7C-85F0-52768CD0CD43}">
      <dgm:prSet phldrT="[Text]" custT="1"/>
      <dgm:spPr/>
      <dgm:t>
        <a:bodyPr/>
        <a:lstStyle/>
        <a:p>
          <a:endParaRPr lang="en-US" sz="1800" dirty="0"/>
        </a:p>
      </dgm:t>
    </dgm:pt>
    <dgm:pt modelId="{3A5B00CA-CBE9-41D9-B0F6-5796FEB4A5C7}" type="parTrans" cxnId="{DFD12CE3-07C4-4F9B-B876-0E27ACFFF576}">
      <dgm:prSet/>
      <dgm:spPr/>
      <dgm:t>
        <a:bodyPr/>
        <a:lstStyle/>
        <a:p>
          <a:endParaRPr lang="en-US"/>
        </a:p>
      </dgm:t>
    </dgm:pt>
    <dgm:pt modelId="{3F8A5009-B866-404C-8D6B-5D3246980B32}" type="sibTrans" cxnId="{DFD12CE3-07C4-4F9B-B876-0E27ACFFF576}">
      <dgm:prSet/>
      <dgm:spPr/>
      <dgm:t>
        <a:bodyPr/>
        <a:lstStyle/>
        <a:p>
          <a:endParaRPr lang="en-US"/>
        </a:p>
      </dgm:t>
    </dgm:pt>
    <dgm:pt modelId="{9F8A8941-77FF-413A-B512-FB69B3FF54E4}">
      <dgm:prSet phldrT="[Text]"/>
      <dgm:spPr/>
      <dgm:t>
        <a:bodyPr/>
        <a:lstStyle/>
        <a:p>
          <a:r>
            <a:rPr lang="en-US" dirty="0"/>
            <a:t>Listen</a:t>
          </a:r>
        </a:p>
      </dgm:t>
    </dgm:pt>
    <dgm:pt modelId="{7961E747-2DA2-44FE-A9C8-06483E0B42DE}" type="parTrans" cxnId="{14638A42-5EAF-4AB2-B133-AFC05FEB30B3}">
      <dgm:prSet/>
      <dgm:spPr/>
      <dgm:t>
        <a:bodyPr/>
        <a:lstStyle/>
        <a:p>
          <a:endParaRPr lang="en-US"/>
        </a:p>
      </dgm:t>
    </dgm:pt>
    <dgm:pt modelId="{19DEE8AA-0C86-4D75-BCAA-FF1715DA004F}" type="sibTrans" cxnId="{14638A42-5EAF-4AB2-B133-AFC05FEB30B3}">
      <dgm:prSet/>
      <dgm:spPr/>
      <dgm:t>
        <a:bodyPr/>
        <a:lstStyle/>
        <a:p>
          <a:endParaRPr lang="en-US"/>
        </a:p>
      </dgm:t>
    </dgm:pt>
    <dgm:pt modelId="{F3C07FB9-0353-4FBF-9172-DD8D7593061B}">
      <dgm:prSet phldrT="[Text]" phldr="1"/>
      <dgm:spPr/>
      <dgm:t>
        <a:bodyPr/>
        <a:lstStyle/>
        <a:p>
          <a:endParaRPr lang="en-US"/>
        </a:p>
      </dgm:t>
    </dgm:pt>
    <dgm:pt modelId="{FDCA0050-3DAF-43A7-A26F-AB6B1F05940A}" type="parTrans" cxnId="{4CDAA48B-C0D7-4643-95C4-BF6EA2A27141}">
      <dgm:prSet/>
      <dgm:spPr/>
      <dgm:t>
        <a:bodyPr/>
        <a:lstStyle/>
        <a:p>
          <a:endParaRPr lang="en-US"/>
        </a:p>
      </dgm:t>
    </dgm:pt>
    <dgm:pt modelId="{AB08EDE5-52B2-4645-A714-73764110EED8}" type="sibTrans" cxnId="{4CDAA48B-C0D7-4643-95C4-BF6EA2A27141}">
      <dgm:prSet/>
      <dgm:spPr/>
      <dgm:t>
        <a:bodyPr/>
        <a:lstStyle/>
        <a:p>
          <a:endParaRPr lang="en-US"/>
        </a:p>
      </dgm:t>
    </dgm:pt>
    <dgm:pt modelId="{6CA74EB2-09A5-45DB-ADB6-1866277A6FF2}">
      <dgm:prSet phldrT="[Text]"/>
      <dgm:spPr/>
      <dgm:t>
        <a:bodyPr/>
        <a:lstStyle/>
        <a:p>
          <a:endParaRPr lang="en-US" dirty="0"/>
        </a:p>
      </dgm:t>
    </dgm:pt>
    <dgm:pt modelId="{F30E2F65-1AC0-4A10-AFDF-2B7A607BD478}" type="parTrans" cxnId="{E4D8A071-1AF7-4005-9AB0-B6083018EBEB}">
      <dgm:prSet/>
      <dgm:spPr/>
      <dgm:t>
        <a:bodyPr/>
        <a:lstStyle/>
        <a:p>
          <a:endParaRPr lang="en-US"/>
        </a:p>
      </dgm:t>
    </dgm:pt>
    <dgm:pt modelId="{2F27D247-8A9B-4C09-93F3-C88F2FCED92D}" type="sibTrans" cxnId="{E4D8A071-1AF7-4005-9AB0-B6083018EBEB}">
      <dgm:prSet/>
      <dgm:spPr/>
      <dgm:t>
        <a:bodyPr/>
        <a:lstStyle/>
        <a:p>
          <a:endParaRPr lang="en-US"/>
        </a:p>
      </dgm:t>
    </dgm:pt>
    <dgm:pt modelId="{FB8C662F-8F2C-4F54-861B-508FD1A43BFF}" type="pres">
      <dgm:prSet presAssocID="{21373B73-0654-4F64-B701-EEBD306A3ACE}" presName="Name0" presStyleCnt="0">
        <dgm:presLayoutVars>
          <dgm:chMax/>
          <dgm:chPref val="3"/>
          <dgm:dir/>
          <dgm:animOne val="branch"/>
          <dgm:animLvl val="lvl"/>
        </dgm:presLayoutVars>
      </dgm:prSet>
      <dgm:spPr/>
    </dgm:pt>
    <dgm:pt modelId="{7535DB8B-BC84-4E60-88F4-6238BBFA9EBF}" type="pres">
      <dgm:prSet presAssocID="{1BB68BE6-654F-47D5-B46E-0F97C260E218}" presName="composite" presStyleCnt="0"/>
      <dgm:spPr/>
    </dgm:pt>
    <dgm:pt modelId="{B0E1EDF8-25C9-486A-8F4C-B3DCA695EAE6}" type="pres">
      <dgm:prSet presAssocID="{1BB68BE6-654F-47D5-B46E-0F97C260E218}" presName="FirstChild" presStyleLbl="revTx" presStyleIdx="0" presStyleCnt="6">
        <dgm:presLayoutVars>
          <dgm:chMax val="0"/>
          <dgm:chPref val="0"/>
          <dgm:bulletEnabled val="1"/>
        </dgm:presLayoutVars>
      </dgm:prSet>
      <dgm:spPr/>
    </dgm:pt>
    <dgm:pt modelId="{E2935BA8-AC33-4A16-94D8-72CB1D7360D2}" type="pres">
      <dgm:prSet presAssocID="{1BB68BE6-654F-47D5-B46E-0F97C260E218}" presName="Parent" presStyleLbl="alignNode1" presStyleIdx="0" presStyleCnt="3" custLinFactNeighborX="-6748" custLinFactNeighborY="-26183">
        <dgm:presLayoutVars>
          <dgm:chMax val="3"/>
          <dgm:chPref val="3"/>
          <dgm:bulletEnabled val="1"/>
        </dgm:presLayoutVars>
      </dgm:prSet>
      <dgm:spPr/>
    </dgm:pt>
    <dgm:pt modelId="{4531ECB5-542C-45E1-852B-9403A62CED87}" type="pres">
      <dgm:prSet presAssocID="{1BB68BE6-654F-47D5-B46E-0F97C260E218}" presName="Accent" presStyleLbl="parChTrans1D1" presStyleIdx="0" presStyleCnt="3"/>
      <dgm:spPr/>
    </dgm:pt>
    <dgm:pt modelId="{FD8E6536-FA55-403E-B900-C08CE47F97F8}" type="pres">
      <dgm:prSet presAssocID="{1BB68BE6-654F-47D5-B46E-0F97C260E218}" presName="Child" presStyleLbl="revTx" presStyleIdx="1" presStyleCnt="6" custScaleY="69104">
        <dgm:presLayoutVars>
          <dgm:chMax val="0"/>
          <dgm:chPref val="0"/>
          <dgm:bulletEnabled val="1"/>
        </dgm:presLayoutVars>
      </dgm:prSet>
      <dgm:spPr/>
    </dgm:pt>
    <dgm:pt modelId="{57E3AF82-779B-4ACA-B3B4-4D72765B7B91}" type="pres">
      <dgm:prSet presAssocID="{ABA84DB6-8707-4536-A587-6C20C4EEA08C}" presName="sibTrans" presStyleCnt="0"/>
      <dgm:spPr/>
    </dgm:pt>
    <dgm:pt modelId="{09EBB1CA-6EBD-453F-A496-229B88B88D55}" type="pres">
      <dgm:prSet presAssocID="{6A701A0B-11E6-4FF8-AB85-C0BC83BC9A30}" presName="composite" presStyleCnt="0"/>
      <dgm:spPr/>
    </dgm:pt>
    <dgm:pt modelId="{2B42F9E6-1000-4F3B-8F44-8A81BF752E72}" type="pres">
      <dgm:prSet presAssocID="{6A701A0B-11E6-4FF8-AB85-C0BC83BC9A30}" presName="FirstChild" presStyleLbl="revTx" presStyleIdx="2" presStyleCnt="6">
        <dgm:presLayoutVars>
          <dgm:chMax val="0"/>
          <dgm:chPref val="0"/>
          <dgm:bulletEnabled val="1"/>
        </dgm:presLayoutVars>
      </dgm:prSet>
      <dgm:spPr/>
    </dgm:pt>
    <dgm:pt modelId="{0A8B156D-4397-462E-81A4-7F293BAF11E9}" type="pres">
      <dgm:prSet presAssocID="{6A701A0B-11E6-4FF8-AB85-C0BC83BC9A30}" presName="Parent" presStyleLbl="alignNode1" presStyleIdx="1" presStyleCnt="3" custLinFactNeighborX="-375" custLinFactNeighborY="-9360">
        <dgm:presLayoutVars>
          <dgm:chMax val="3"/>
          <dgm:chPref val="3"/>
          <dgm:bulletEnabled val="1"/>
        </dgm:presLayoutVars>
      </dgm:prSet>
      <dgm:spPr/>
    </dgm:pt>
    <dgm:pt modelId="{6356CFF1-A797-451C-848B-693E394C44B3}" type="pres">
      <dgm:prSet presAssocID="{6A701A0B-11E6-4FF8-AB85-C0BC83BC9A30}" presName="Accent" presStyleLbl="parChTrans1D1" presStyleIdx="1" presStyleCnt="3"/>
      <dgm:spPr/>
    </dgm:pt>
    <dgm:pt modelId="{004EA7C5-7CD2-40A3-8822-9BCCD11E639C}" type="pres">
      <dgm:prSet presAssocID="{6A701A0B-11E6-4FF8-AB85-C0BC83BC9A30}" presName="Child" presStyleLbl="revTx" presStyleIdx="3" presStyleCnt="6" custScaleY="45929">
        <dgm:presLayoutVars>
          <dgm:chMax val="0"/>
          <dgm:chPref val="0"/>
          <dgm:bulletEnabled val="1"/>
        </dgm:presLayoutVars>
      </dgm:prSet>
      <dgm:spPr/>
    </dgm:pt>
    <dgm:pt modelId="{80262A36-CF79-4170-BE49-446C550D8FEA}" type="pres">
      <dgm:prSet presAssocID="{E22EEE75-8590-42F1-8487-CF00BE85B117}" presName="sibTrans" presStyleCnt="0"/>
      <dgm:spPr/>
    </dgm:pt>
    <dgm:pt modelId="{1761EBF1-8E81-4837-B1C0-012C54C44801}" type="pres">
      <dgm:prSet presAssocID="{9F8A8941-77FF-413A-B512-FB69B3FF54E4}" presName="composite" presStyleCnt="0"/>
      <dgm:spPr/>
    </dgm:pt>
    <dgm:pt modelId="{DBD69F89-C205-4010-9E34-05E1CDC83392}" type="pres">
      <dgm:prSet presAssocID="{9F8A8941-77FF-413A-B512-FB69B3FF54E4}" presName="FirstChild" presStyleLbl="revTx" presStyleIdx="4" presStyleCnt="6">
        <dgm:presLayoutVars>
          <dgm:chMax val="0"/>
          <dgm:chPref val="0"/>
          <dgm:bulletEnabled val="1"/>
        </dgm:presLayoutVars>
      </dgm:prSet>
      <dgm:spPr/>
    </dgm:pt>
    <dgm:pt modelId="{E52A3711-E9D1-44DB-8540-3F4CE342BAEE}" type="pres">
      <dgm:prSet presAssocID="{9F8A8941-77FF-413A-B512-FB69B3FF54E4}" presName="Parent" presStyleLbl="alignNode1" presStyleIdx="2" presStyleCnt="3" custLinFactNeighborY="45823">
        <dgm:presLayoutVars>
          <dgm:chMax val="3"/>
          <dgm:chPref val="3"/>
          <dgm:bulletEnabled val="1"/>
        </dgm:presLayoutVars>
      </dgm:prSet>
      <dgm:spPr/>
    </dgm:pt>
    <dgm:pt modelId="{973A0D96-7B03-46F1-9FE4-EF77CC6EE960}" type="pres">
      <dgm:prSet presAssocID="{9F8A8941-77FF-413A-B512-FB69B3FF54E4}" presName="Accent" presStyleLbl="parChTrans1D1" presStyleIdx="2" presStyleCnt="3" custLinFactY="541367" custLinFactNeighborY="600000"/>
      <dgm:spPr/>
    </dgm:pt>
    <dgm:pt modelId="{D068EB2F-AEE1-46D0-B335-904CF1BAEE1D}" type="pres">
      <dgm:prSet presAssocID="{9F8A8941-77FF-413A-B512-FB69B3FF54E4}" presName="Child" presStyleLbl="revTx" presStyleIdx="5" presStyleCnt="6" custScaleY="101889">
        <dgm:presLayoutVars>
          <dgm:chMax val="0"/>
          <dgm:chPref val="0"/>
          <dgm:bulletEnabled val="1"/>
        </dgm:presLayoutVars>
      </dgm:prSet>
      <dgm:spPr/>
    </dgm:pt>
  </dgm:ptLst>
  <dgm:cxnLst>
    <dgm:cxn modelId="{2A1BA303-78C9-438F-9FD8-D805BCE67C5D}" type="presOf" srcId="{F3C07FB9-0353-4FBF-9172-DD8D7593061B}" destId="{DBD69F89-C205-4010-9E34-05E1CDC83392}" srcOrd="0" destOrd="0" presId="urn:microsoft.com/office/officeart/2011/layout/TabList"/>
    <dgm:cxn modelId="{5E22A608-A884-447B-8613-FB80AF4F9012}" type="presOf" srcId="{1BB68BE6-654F-47D5-B46E-0F97C260E218}" destId="{E2935BA8-AC33-4A16-94D8-72CB1D7360D2}" srcOrd="0" destOrd="0" presId="urn:microsoft.com/office/officeart/2011/layout/TabList"/>
    <dgm:cxn modelId="{17278517-95A4-453F-8F62-E22D90E2CC2D}" srcId="{1BB68BE6-654F-47D5-B46E-0F97C260E218}" destId="{DCBE4AC4-6F16-441D-B804-D1FB53159818}" srcOrd="0" destOrd="0" parTransId="{11B3C3EE-F5DD-4944-9F3F-9C924BDBBB58}" sibTransId="{9768D533-85BA-422A-AD21-268F78E86A64}"/>
    <dgm:cxn modelId="{826C8919-6D60-4EA1-8430-0BD9EB6E9785}" type="presOf" srcId="{21373B73-0654-4F64-B701-EEBD306A3ACE}" destId="{FB8C662F-8F2C-4F54-861B-508FD1A43BFF}" srcOrd="0" destOrd="0" presId="urn:microsoft.com/office/officeart/2011/layout/TabList"/>
    <dgm:cxn modelId="{20683420-2A92-4F4D-ADF5-1FF7C3078369}" type="presOf" srcId="{6CA74EB2-09A5-45DB-ADB6-1866277A6FF2}" destId="{D068EB2F-AEE1-46D0-B335-904CF1BAEE1D}" srcOrd="0" destOrd="0" presId="urn:microsoft.com/office/officeart/2011/layout/TabList"/>
    <dgm:cxn modelId="{0849202A-6229-433C-9B68-0535546B69C4}" type="presOf" srcId="{DCBE4AC4-6F16-441D-B804-D1FB53159818}" destId="{B0E1EDF8-25C9-486A-8F4C-B3DCA695EAE6}" srcOrd="0" destOrd="0" presId="urn:microsoft.com/office/officeart/2011/layout/TabList"/>
    <dgm:cxn modelId="{53489C3C-B44B-4B62-9D1B-BFB098C99660}" type="presOf" srcId="{5F7CB702-CADE-42CE-8849-5A296543B542}" destId="{2B42F9E6-1000-4F3B-8F44-8A81BF752E72}" srcOrd="0" destOrd="0" presId="urn:microsoft.com/office/officeart/2011/layout/TabList"/>
    <dgm:cxn modelId="{56435241-0B83-4DA3-A3AB-961F04F2D781}" type="presOf" srcId="{610CDB86-8085-4A7C-85F0-52768CD0CD43}" destId="{004EA7C5-7CD2-40A3-8822-9BCCD11E639C}" srcOrd="0" destOrd="0" presId="urn:microsoft.com/office/officeart/2011/layout/TabList"/>
    <dgm:cxn modelId="{14638A42-5EAF-4AB2-B133-AFC05FEB30B3}" srcId="{21373B73-0654-4F64-B701-EEBD306A3ACE}" destId="{9F8A8941-77FF-413A-B512-FB69B3FF54E4}" srcOrd="2" destOrd="0" parTransId="{7961E747-2DA2-44FE-A9C8-06483E0B42DE}" sibTransId="{19DEE8AA-0C86-4D75-BCAA-FF1715DA004F}"/>
    <dgm:cxn modelId="{E4D8A071-1AF7-4005-9AB0-B6083018EBEB}" srcId="{9F8A8941-77FF-413A-B512-FB69B3FF54E4}" destId="{6CA74EB2-09A5-45DB-ADB6-1866277A6FF2}" srcOrd="1" destOrd="0" parTransId="{F30E2F65-1AC0-4A10-AFDF-2B7A607BD478}" sibTransId="{2F27D247-8A9B-4C09-93F3-C88F2FCED92D}"/>
    <dgm:cxn modelId="{14F8285A-2175-4B0A-9200-C8E3DC03BC21}" type="presOf" srcId="{6A701A0B-11E6-4FF8-AB85-C0BC83BC9A30}" destId="{0A8B156D-4397-462E-81A4-7F293BAF11E9}" srcOrd="0" destOrd="0" presId="urn:microsoft.com/office/officeart/2011/layout/TabList"/>
    <dgm:cxn modelId="{31F72484-7A67-4201-9DA1-B98655FEF79E}" srcId="{21373B73-0654-4F64-B701-EEBD306A3ACE}" destId="{1BB68BE6-654F-47D5-B46E-0F97C260E218}" srcOrd="0" destOrd="0" parTransId="{AB52E005-572F-48C2-BC83-868E901E8FEF}" sibTransId="{ABA84DB6-8707-4536-A587-6C20C4EEA08C}"/>
    <dgm:cxn modelId="{4CDAA48B-C0D7-4643-95C4-BF6EA2A27141}" srcId="{9F8A8941-77FF-413A-B512-FB69B3FF54E4}" destId="{F3C07FB9-0353-4FBF-9172-DD8D7593061B}" srcOrd="0" destOrd="0" parTransId="{FDCA0050-3DAF-43A7-A26F-AB6B1F05940A}" sibTransId="{AB08EDE5-52B2-4645-A714-73764110EED8}"/>
    <dgm:cxn modelId="{92D2D99A-2210-4223-AB9E-37F4244D7071}" srcId="{21373B73-0654-4F64-B701-EEBD306A3ACE}" destId="{6A701A0B-11E6-4FF8-AB85-C0BC83BC9A30}" srcOrd="1" destOrd="0" parTransId="{58421486-F090-4298-A851-2753211E2EAE}" sibTransId="{E22EEE75-8590-42F1-8487-CF00BE85B117}"/>
    <dgm:cxn modelId="{85264AA9-298D-436F-BA02-AC99D23DD286}" srcId="{6A701A0B-11E6-4FF8-AB85-C0BC83BC9A30}" destId="{5F7CB702-CADE-42CE-8849-5A296543B542}" srcOrd="0" destOrd="0" parTransId="{1C6E8B36-4611-4714-A141-C6B974B2957D}" sibTransId="{F941E588-3EFE-426B-9C83-D887E19390AF}"/>
    <dgm:cxn modelId="{C8EF3FB0-BAEE-4A22-979F-59CE193E98D0}" type="presOf" srcId="{9F8A8941-77FF-413A-B512-FB69B3FF54E4}" destId="{E52A3711-E9D1-44DB-8540-3F4CE342BAEE}" srcOrd="0" destOrd="0" presId="urn:microsoft.com/office/officeart/2011/layout/TabList"/>
    <dgm:cxn modelId="{E9BB90D6-A2D4-4BF2-92E3-B881EF98E670}" srcId="{1BB68BE6-654F-47D5-B46E-0F97C260E218}" destId="{9A496C1C-0618-436E-90AF-DF18ECE79F9D}" srcOrd="1" destOrd="0" parTransId="{DD4EAA0C-2267-472C-BF60-28EA6EE14C5B}" sibTransId="{E5395F22-ECA6-4DE2-8CF7-D136DFB034F7}"/>
    <dgm:cxn modelId="{DFD12CE3-07C4-4F9B-B876-0E27ACFFF576}" srcId="{6A701A0B-11E6-4FF8-AB85-C0BC83BC9A30}" destId="{610CDB86-8085-4A7C-85F0-52768CD0CD43}" srcOrd="1" destOrd="0" parTransId="{3A5B00CA-CBE9-41D9-B0F6-5796FEB4A5C7}" sibTransId="{3F8A5009-B866-404C-8D6B-5D3246980B32}"/>
    <dgm:cxn modelId="{78AA17EA-A61F-499F-91D6-30C72E9530A2}" type="presOf" srcId="{9A496C1C-0618-436E-90AF-DF18ECE79F9D}" destId="{FD8E6536-FA55-403E-B900-C08CE47F97F8}" srcOrd="0" destOrd="0" presId="urn:microsoft.com/office/officeart/2011/layout/TabList"/>
    <dgm:cxn modelId="{1061BDD0-9E25-444A-B585-3BCE197C9623}" type="presParOf" srcId="{FB8C662F-8F2C-4F54-861B-508FD1A43BFF}" destId="{7535DB8B-BC84-4E60-88F4-6238BBFA9EBF}" srcOrd="0" destOrd="0" presId="urn:microsoft.com/office/officeart/2011/layout/TabList"/>
    <dgm:cxn modelId="{223432CA-2CDF-4D9C-9022-4FBE88975AE2}" type="presParOf" srcId="{7535DB8B-BC84-4E60-88F4-6238BBFA9EBF}" destId="{B0E1EDF8-25C9-486A-8F4C-B3DCA695EAE6}" srcOrd="0" destOrd="0" presId="urn:microsoft.com/office/officeart/2011/layout/TabList"/>
    <dgm:cxn modelId="{029E22E2-AFF6-4ABE-A4E9-8DDC63D40B2D}" type="presParOf" srcId="{7535DB8B-BC84-4E60-88F4-6238BBFA9EBF}" destId="{E2935BA8-AC33-4A16-94D8-72CB1D7360D2}" srcOrd="1" destOrd="0" presId="urn:microsoft.com/office/officeart/2011/layout/TabList"/>
    <dgm:cxn modelId="{078F3B6D-14B3-4F52-A55B-60C66133C1CE}" type="presParOf" srcId="{7535DB8B-BC84-4E60-88F4-6238BBFA9EBF}" destId="{4531ECB5-542C-45E1-852B-9403A62CED87}" srcOrd="2" destOrd="0" presId="urn:microsoft.com/office/officeart/2011/layout/TabList"/>
    <dgm:cxn modelId="{5C0E8798-0764-4D8D-A0F6-53B948DF870A}" type="presParOf" srcId="{FB8C662F-8F2C-4F54-861B-508FD1A43BFF}" destId="{FD8E6536-FA55-403E-B900-C08CE47F97F8}" srcOrd="1" destOrd="0" presId="urn:microsoft.com/office/officeart/2011/layout/TabList"/>
    <dgm:cxn modelId="{D3334E60-69CC-4820-9109-77AFB58916D4}" type="presParOf" srcId="{FB8C662F-8F2C-4F54-861B-508FD1A43BFF}" destId="{57E3AF82-779B-4ACA-B3B4-4D72765B7B91}" srcOrd="2" destOrd="0" presId="urn:microsoft.com/office/officeart/2011/layout/TabList"/>
    <dgm:cxn modelId="{27F3E79D-3578-415E-B86E-871F1E0405F2}" type="presParOf" srcId="{FB8C662F-8F2C-4F54-861B-508FD1A43BFF}" destId="{09EBB1CA-6EBD-453F-A496-229B88B88D55}" srcOrd="3" destOrd="0" presId="urn:microsoft.com/office/officeart/2011/layout/TabList"/>
    <dgm:cxn modelId="{3DF3A085-87C2-4B2F-ACB6-DDFE5D7AFD0F}" type="presParOf" srcId="{09EBB1CA-6EBD-453F-A496-229B88B88D55}" destId="{2B42F9E6-1000-4F3B-8F44-8A81BF752E72}" srcOrd="0" destOrd="0" presId="urn:microsoft.com/office/officeart/2011/layout/TabList"/>
    <dgm:cxn modelId="{D5CB2D80-607A-45DA-BD2F-3F59D68267D2}" type="presParOf" srcId="{09EBB1CA-6EBD-453F-A496-229B88B88D55}" destId="{0A8B156D-4397-462E-81A4-7F293BAF11E9}" srcOrd="1" destOrd="0" presId="urn:microsoft.com/office/officeart/2011/layout/TabList"/>
    <dgm:cxn modelId="{C2DAABBE-6699-4998-AD72-D025C614CAE1}" type="presParOf" srcId="{09EBB1CA-6EBD-453F-A496-229B88B88D55}" destId="{6356CFF1-A797-451C-848B-693E394C44B3}" srcOrd="2" destOrd="0" presId="urn:microsoft.com/office/officeart/2011/layout/TabList"/>
    <dgm:cxn modelId="{43D7FF18-0DB0-4100-92FA-CF8ADADA1CF4}" type="presParOf" srcId="{FB8C662F-8F2C-4F54-861B-508FD1A43BFF}" destId="{004EA7C5-7CD2-40A3-8822-9BCCD11E639C}" srcOrd="4" destOrd="0" presId="urn:microsoft.com/office/officeart/2011/layout/TabList"/>
    <dgm:cxn modelId="{A0CDE602-DA9C-466C-8BB2-4DDCAFC96A4D}" type="presParOf" srcId="{FB8C662F-8F2C-4F54-861B-508FD1A43BFF}" destId="{80262A36-CF79-4170-BE49-446C550D8FEA}" srcOrd="5" destOrd="0" presId="urn:microsoft.com/office/officeart/2011/layout/TabList"/>
    <dgm:cxn modelId="{AD7C42E4-FCA6-46EC-9793-FD5F9ECE0BFB}" type="presParOf" srcId="{FB8C662F-8F2C-4F54-861B-508FD1A43BFF}" destId="{1761EBF1-8E81-4837-B1C0-012C54C44801}" srcOrd="6" destOrd="0" presId="urn:microsoft.com/office/officeart/2011/layout/TabList"/>
    <dgm:cxn modelId="{13D9CFC5-0FC0-4B16-B41E-8C7FBD6D0896}" type="presParOf" srcId="{1761EBF1-8E81-4837-B1C0-012C54C44801}" destId="{DBD69F89-C205-4010-9E34-05E1CDC83392}" srcOrd="0" destOrd="0" presId="urn:microsoft.com/office/officeart/2011/layout/TabList"/>
    <dgm:cxn modelId="{67FD8012-CA79-4EA3-B9CC-8728998DBC9D}" type="presParOf" srcId="{1761EBF1-8E81-4837-B1C0-012C54C44801}" destId="{E52A3711-E9D1-44DB-8540-3F4CE342BAEE}" srcOrd="1" destOrd="0" presId="urn:microsoft.com/office/officeart/2011/layout/TabList"/>
    <dgm:cxn modelId="{A38C6664-F72B-48D2-ACAF-CA89754795DC}" type="presParOf" srcId="{1761EBF1-8E81-4837-B1C0-012C54C44801}" destId="{973A0D96-7B03-46F1-9FE4-EF77CC6EE960}" srcOrd="2" destOrd="0" presId="urn:microsoft.com/office/officeart/2011/layout/TabList"/>
    <dgm:cxn modelId="{D7E2A8F7-DD5F-4080-89F6-ECC3A0996F4B}" type="presParOf" srcId="{FB8C662F-8F2C-4F54-861B-508FD1A43BFF}" destId="{D068EB2F-AEE1-46D0-B335-904CF1BAEE1D}" srcOrd="7"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2BDBCF-539E-44EF-92A3-5E455B7FEBA0}">
      <dsp:nvSpPr>
        <dsp:cNvPr id="0" name=""/>
        <dsp:cNvSpPr/>
      </dsp:nvSpPr>
      <dsp:spPr>
        <a:xfrm>
          <a:off x="48879" y="124632"/>
          <a:ext cx="2950517" cy="177031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Observation</a:t>
          </a:r>
        </a:p>
      </dsp:txBody>
      <dsp:txXfrm>
        <a:off x="48879" y="124632"/>
        <a:ext cx="2950517" cy="1770310"/>
      </dsp:txXfrm>
    </dsp:sp>
    <dsp:sp modelId="{DA971739-8316-49DB-B10B-8F89367DEBF2}">
      <dsp:nvSpPr>
        <dsp:cNvPr id="0" name=""/>
        <dsp:cNvSpPr/>
      </dsp:nvSpPr>
      <dsp:spPr>
        <a:xfrm>
          <a:off x="3246325" y="108593"/>
          <a:ext cx="2950517" cy="177031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Measure</a:t>
          </a:r>
        </a:p>
      </dsp:txBody>
      <dsp:txXfrm>
        <a:off x="3246325" y="108593"/>
        <a:ext cx="2950517" cy="1770310"/>
      </dsp:txXfrm>
    </dsp:sp>
    <dsp:sp modelId="{58F85431-4AAF-4A36-8598-0185C2C387FE}">
      <dsp:nvSpPr>
        <dsp:cNvPr id="0" name=""/>
        <dsp:cNvSpPr/>
      </dsp:nvSpPr>
      <dsp:spPr>
        <a:xfrm>
          <a:off x="756" y="2173955"/>
          <a:ext cx="2950517" cy="177031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Palpate</a:t>
          </a:r>
        </a:p>
      </dsp:txBody>
      <dsp:txXfrm>
        <a:off x="756" y="2173955"/>
        <a:ext cx="2950517" cy="1770310"/>
      </dsp:txXfrm>
    </dsp:sp>
    <dsp:sp modelId="{3A1C491D-B299-446F-A45D-1C7C0E3DF164}">
      <dsp:nvSpPr>
        <dsp:cNvPr id="0" name=""/>
        <dsp:cNvSpPr/>
      </dsp:nvSpPr>
      <dsp:spPr>
        <a:xfrm>
          <a:off x="3246325" y="2173955"/>
          <a:ext cx="2950517" cy="177031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Listen</a:t>
          </a:r>
        </a:p>
      </dsp:txBody>
      <dsp:txXfrm>
        <a:off x="3246325" y="2173955"/>
        <a:ext cx="2950517" cy="17703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3A0D96-7B03-46F1-9FE4-EF77CC6EE960}">
      <dsp:nvSpPr>
        <dsp:cNvPr id="0" name=""/>
        <dsp:cNvSpPr/>
      </dsp:nvSpPr>
      <dsp:spPr>
        <a:xfrm>
          <a:off x="0" y="5070158"/>
          <a:ext cx="6638925" cy="0"/>
        </a:xfrm>
        <a:prstGeom prst="line">
          <a:avLst/>
        </a:prstGeom>
        <a:noFill/>
        <a:ln w="19050" cap="rnd" cmpd="sng" algn="ctr">
          <a:solidFill>
            <a:schemeClr val="accent1">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6356CFF1-A797-451C-848B-693E394C44B3}">
      <dsp:nvSpPr>
        <dsp:cNvPr id="0" name=""/>
        <dsp:cNvSpPr/>
      </dsp:nvSpPr>
      <dsp:spPr>
        <a:xfrm>
          <a:off x="0" y="2962321"/>
          <a:ext cx="6638925" cy="0"/>
        </a:xfrm>
        <a:prstGeom prst="line">
          <a:avLst/>
        </a:prstGeom>
        <a:noFill/>
        <a:ln w="19050" cap="rnd" cmpd="sng" algn="ctr">
          <a:solidFill>
            <a:schemeClr val="accent1">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4531ECB5-542C-45E1-852B-9403A62CED87}">
      <dsp:nvSpPr>
        <dsp:cNvPr id="0" name=""/>
        <dsp:cNvSpPr/>
      </dsp:nvSpPr>
      <dsp:spPr>
        <a:xfrm>
          <a:off x="0" y="865801"/>
          <a:ext cx="6638925" cy="0"/>
        </a:xfrm>
        <a:prstGeom prst="line">
          <a:avLst/>
        </a:prstGeom>
        <a:noFill/>
        <a:ln w="19050" cap="rnd" cmpd="sng" algn="ctr">
          <a:solidFill>
            <a:schemeClr val="accent1">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B0E1EDF8-25C9-486A-8F4C-B3DCA695EAE6}">
      <dsp:nvSpPr>
        <dsp:cNvPr id="0" name=""/>
        <dsp:cNvSpPr/>
      </dsp:nvSpPr>
      <dsp:spPr>
        <a:xfrm>
          <a:off x="1726120" y="3847"/>
          <a:ext cx="4912804" cy="861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marL="0" lvl="0" indent="0" algn="l" defTabSz="889000">
            <a:lnSpc>
              <a:spcPct val="90000"/>
            </a:lnSpc>
            <a:spcBef>
              <a:spcPct val="0"/>
            </a:spcBef>
            <a:spcAft>
              <a:spcPct val="35000"/>
            </a:spcAft>
            <a:buNone/>
          </a:pPr>
          <a:r>
            <a:rPr lang="en-US" sz="2000" kern="1200" dirty="0">
              <a:solidFill>
                <a:schemeClr val="tx1">
                  <a:lumMod val="65000"/>
                  <a:lumOff val="35000"/>
                </a:schemeClr>
              </a:solidFill>
            </a:rPr>
            <a:t>* Optimum position: sat in chair / edge of bed</a:t>
          </a:r>
        </a:p>
      </dsp:txBody>
      <dsp:txXfrm>
        <a:off x="1726120" y="3847"/>
        <a:ext cx="4912804" cy="861954"/>
      </dsp:txXfrm>
    </dsp:sp>
    <dsp:sp modelId="{E2935BA8-AC33-4A16-94D8-72CB1D7360D2}">
      <dsp:nvSpPr>
        <dsp:cNvPr id="0" name=""/>
        <dsp:cNvSpPr/>
      </dsp:nvSpPr>
      <dsp:spPr>
        <a:xfrm>
          <a:off x="0" y="0"/>
          <a:ext cx="1726120" cy="861954"/>
        </a:xfrm>
        <a:prstGeom prst="round2SameRect">
          <a:avLst>
            <a:gd name="adj1" fmla="val 16670"/>
            <a:gd name="adj2" fmla="val 0"/>
          </a:avLst>
        </a:prstGeom>
        <a:solidFill>
          <a:schemeClr val="accent1">
            <a:hueOff val="0"/>
            <a:satOff val="0"/>
            <a:lumOff val="0"/>
            <a:alphaOff val="0"/>
          </a:schemeClr>
        </a:solidFill>
        <a:ln w="9525" cap="rnd" cmpd="sng" algn="ctr">
          <a:solidFill>
            <a:schemeClr val="accent1">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kern="1200" dirty="0"/>
            <a:t>Positioning and handling  </a:t>
          </a:r>
        </a:p>
      </dsp:txBody>
      <dsp:txXfrm>
        <a:off x="42085" y="42085"/>
        <a:ext cx="1641950" cy="819869"/>
      </dsp:txXfrm>
    </dsp:sp>
    <dsp:sp modelId="{FD8E6536-FA55-403E-B900-C08CE47F97F8}">
      <dsp:nvSpPr>
        <dsp:cNvPr id="0" name=""/>
        <dsp:cNvSpPr/>
      </dsp:nvSpPr>
      <dsp:spPr>
        <a:xfrm>
          <a:off x="0" y="865801"/>
          <a:ext cx="6638925" cy="1191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l" defTabSz="800100">
            <a:lnSpc>
              <a:spcPct val="90000"/>
            </a:lnSpc>
            <a:spcBef>
              <a:spcPct val="0"/>
            </a:spcBef>
            <a:spcAft>
              <a:spcPct val="15000"/>
            </a:spcAft>
            <a:buChar char="•"/>
          </a:pPr>
          <a:endParaRPr lang="en-US" sz="1800" kern="1200" dirty="0"/>
        </a:p>
      </dsp:txBody>
      <dsp:txXfrm>
        <a:off x="0" y="865801"/>
        <a:ext cx="6638925" cy="1191468"/>
      </dsp:txXfrm>
    </dsp:sp>
    <dsp:sp modelId="{2B42F9E6-1000-4F3B-8F44-8A81BF752E72}">
      <dsp:nvSpPr>
        <dsp:cNvPr id="0" name=""/>
        <dsp:cNvSpPr/>
      </dsp:nvSpPr>
      <dsp:spPr>
        <a:xfrm>
          <a:off x="1726120" y="2100367"/>
          <a:ext cx="4912804" cy="861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endParaRPr lang="en-US" sz="1800" kern="1200"/>
        </a:p>
      </dsp:txBody>
      <dsp:txXfrm>
        <a:off x="1726120" y="2100367"/>
        <a:ext cx="4912804" cy="861954"/>
      </dsp:txXfrm>
    </dsp:sp>
    <dsp:sp modelId="{0A8B156D-4397-462E-81A4-7F293BAF11E9}">
      <dsp:nvSpPr>
        <dsp:cNvPr id="0" name=""/>
        <dsp:cNvSpPr/>
      </dsp:nvSpPr>
      <dsp:spPr>
        <a:xfrm>
          <a:off x="0" y="2019688"/>
          <a:ext cx="1726120" cy="861954"/>
        </a:xfrm>
        <a:prstGeom prst="round2SameRect">
          <a:avLst>
            <a:gd name="adj1" fmla="val 16670"/>
            <a:gd name="adj2" fmla="val 0"/>
          </a:avLst>
        </a:prstGeom>
        <a:solidFill>
          <a:schemeClr val="accent1">
            <a:hueOff val="0"/>
            <a:satOff val="0"/>
            <a:lumOff val="0"/>
            <a:alphaOff val="0"/>
          </a:schemeClr>
        </a:solidFill>
        <a:ln w="9525" cap="rnd" cmpd="sng" algn="ctr">
          <a:solidFill>
            <a:schemeClr val="accent1">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kern="1200" dirty="0"/>
            <a:t>Breathing </a:t>
          </a:r>
        </a:p>
      </dsp:txBody>
      <dsp:txXfrm>
        <a:off x="42085" y="2061773"/>
        <a:ext cx="1641950" cy="819869"/>
      </dsp:txXfrm>
    </dsp:sp>
    <dsp:sp modelId="{004EA7C5-7CD2-40A3-8822-9BCCD11E639C}">
      <dsp:nvSpPr>
        <dsp:cNvPr id="0" name=""/>
        <dsp:cNvSpPr/>
      </dsp:nvSpPr>
      <dsp:spPr>
        <a:xfrm>
          <a:off x="0" y="2962321"/>
          <a:ext cx="6638925" cy="791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l" defTabSz="800100">
            <a:lnSpc>
              <a:spcPct val="90000"/>
            </a:lnSpc>
            <a:spcBef>
              <a:spcPct val="0"/>
            </a:spcBef>
            <a:spcAft>
              <a:spcPct val="15000"/>
            </a:spcAft>
            <a:buChar char="•"/>
          </a:pPr>
          <a:endParaRPr lang="en-US" sz="1800" kern="1200" dirty="0"/>
        </a:p>
      </dsp:txBody>
      <dsp:txXfrm>
        <a:off x="0" y="2962321"/>
        <a:ext cx="6638925" cy="791892"/>
      </dsp:txXfrm>
    </dsp:sp>
    <dsp:sp modelId="{DBD69F89-C205-4010-9E34-05E1CDC83392}">
      <dsp:nvSpPr>
        <dsp:cNvPr id="0" name=""/>
        <dsp:cNvSpPr/>
      </dsp:nvSpPr>
      <dsp:spPr>
        <a:xfrm>
          <a:off x="1726120" y="3797312"/>
          <a:ext cx="4912804" cy="861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endParaRPr lang="en-US" sz="1800" kern="1200"/>
        </a:p>
      </dsp:txBody>
      <dsp:txXfrm>
        <a:off x="1726120" y="3797312"/>
        <a:ext cx="4912804" cy="861954"/>
      </dsp:txXfrm>
    </dsp:sp>
    <dsp:sp modelId="{E52A3711-E9D1-44DB-8540-3F4CE342BAEE}">
      <dsp:nvSpPr>
        <dsp:cNvPr id="0" name=""/>
        <dsp:cNvSpPr/>
      </dsp:nvSpPr>
      <dsp:spPr>
        <a:xfrm>
          <a:off x="0" y="4192285"/>
          <a:ext cx="1726120" cy="861954"/>
        </a:xfrm>
        <a:prstGeom prst="round2SameRect">
          <a:avLst>
            <a:gd name="adj1" fmla="val 16670"/>
            <a:gd name="adj2" fmla="val 0"/>
          </a:avLst>
        </a:prstGeom>
        <a:solidFill>
          <a:schemeClr val="accent1">
            <a:hueOff val="0"/>
            <a:satOff val="0"/>
            <a:lumOff val="0"/>
            <a:alphaOff val="0"/>
          </a:schemeClr>
        </a:solidFill>
        <a:ln w="9525" cap="rnd" cmpd="sng" algn="ctr">
          <a:solidFill>
            <a:schemeClr val="accent1">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kern="1200" dirty="0"/>
            <a:t>Listen</a:t>
          </a:r>
        </a:p>
      </dsp:txBody>
      <dsp:txXfrm>
        <a:off x="42085" y="4234370"/>
        <a:ext cx="1641950" cy="819869"/>
      </dsp:txXfrm>
    </dsp:sp>
    <dsp:sp modelId="{D068EB2F-AEE1-46D0-B335-904CF1BAEE1D}">
      <dsp:nvSpPr>
        <dsp:cNvPr id="0" name=""/>
        <dsp:cNvSpPr/>
      </dsp:nvSpPr>
      <dsp:spPr>
        <a:xfrm>
          <a:off x="0" y="4659266"/>
          <a:ext cx="6638925" cy="1756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171450" lvl="1" indent="-171450" algn="l" defTabSz="755650">
            <a:lnSpc>
              <a:spcPct val="90000"/>
            </a:lnSpc>
            <a:spcBef>
              <a:spcPct val="0"/>
            </a:spcBef>
            <a:spcAft>
              <a:spcPct val="15000"/>
            </a:spcAft>
            <a:buChar char="•"/>
          </a:pPr>
          <a:endParaRPr lang="en-US" sz="1700" kern="1200" dirty="0"/>
        </a:p>
      </dsp:txBody>
      <dsp:txXfrm>
        <a:off x="0" y="4659266"/>
        <a:ext cx="6638925" cy="175673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51C136-8108-42F4-8711-151C79D1B46F}" type="datetimeFigureOut">
              <a:rPr lang="en-GB" smtClean="0"/>
              <a:t>04/11/2024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F329A8-1635-4A17-B8B5-B29E51044FA6}" type="slidenum">
              <a:rPr lang="en-GB" smtClean="0"/>
              <a:t>‹#›</a:t>
            </a:fld>
            <a:endParaRPr lang="en-GB"/>
          </a:p>
        </p:txBody>
      </p:sp>
    </p:spTree>
    <p:extLst>
      <p:ext uri="{BB962C8B-B14F-4D97-AF65-F5344CB8AC3E}">
        <p14:creationId xmlns:p14="http://schemas.microsoft.com/office/powerpoint/2010/main" val="3041319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1</a:t>
            </a:fld>
            <a:endParaRPr lang="en-GB"/>
          </a:p>
        </p:txBody>
      </p:sp>
    </p:spTree>
    <p:extLst>
      <p:ext uri="{BB962C8B-B14F-4D97-AF65-F5344CB8AC3E}">
        <p14:creationId xmlns:p14="http://schemas.microsoft.com/office/powerpoint/2010/main" val="645118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4</a:t>
            </a:fld>
            <a:endParaRPr lang="en-GB"/>
          </a:p>
        </p:txBody>
      </p:sp>
    </p:spTree>
    <p:extLst>
      <p:ext uri="{BB962C8B-B14F-4D97-AF65-F5344CB8AC3E}">
        <p14:creationId xmlns:p14="http://schemas.microsoft.com/office/powerpoint/2010/main" val="396443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A </a:t>
            </a:r>
            <a:r>
              <a:rPr lang="en-GB" sz="1200" b="0" i="1" kern="1200" dirty="0">
                <a:solidFill>
                  <a:schemeClr val="tx1"/>
                </a:solidFill>
                <a:effectLst/>
                <a:latin typeface="+mn-lt"/>
                <a:ea typeface="+mn-ea"/>
                <a:cs typeface="+mn-cs"/>
              </a:rPr>
              <a:t>symptom</a:t>
            </a:r>
            <a:r>
              <a:rPr lang="en-GB" sz="1200" b="0" i="0" kern="1200" dirty="0">
                <a:solidFill>
                  <a:schemeClr val="tx1"/>
                </a:solidFill>
                <a:effectLst/>
                <a:latin typeface="+mn-lt"/>
                <a:ea typeface="+mn-ea"/>
                <a:cs typeface="+mn-cs"/>
              </a:rPr>
              <a:t> is a manifestation of disease apparent to the patient himself, while a </a:t>
            </a:r>
            <a:r>
              <a:rPr lang="en-GB" sz="1200" b="0" i="1" kern="1200" dirty="0">
                <a:solidFill>
                  <a:schemeClr val="tx1"/>
                </a:solidFill>
                <a:effectLst/>
                <a:latin typeface="+mn-lt"/>
                <a:ea typeface="+mn-ea"/>
                <a:cs typeface="+mn-cs"/>
              </a:rPr>
              <a:t>sign</a:t>
            </a:r>
            <a:r>
              <a:rPr lang="en-GB" sz="1200" b="0" i="0" kern="1200" dirty="0">
                <a:solidFill>
                  <a:schemeClr val="tx1"/>
                </a:solidFill>
                <a:effectLst/>
                <a:latin typeface="+mn-lt"/>
                <a:ea typeface="+mn-ea"/>
                <a:cs typeface="+mn-cs"/>
              </a:rPr>
              <a:t> is a manifestation of disease that the physician perceives. The sign is objective evidence of disease; a symptom, subjective. Symptoms represent the complaints of the patient, and if severe, they drive him to the doctor's office. If not severe, they may come to light only after suitable questions. The patient perceives, for example, subjective pains and discomforts [Doctor, I have a bad headache], or disturbances of function [Doctor, I can't move my arm the way I used to], or some simple appearance [Doctor, I have had this rash for the past ten days and I'm worried about it].</a:t>
            </a:r>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5</a:t>
            </a:fld>
            <a:endParaRPr lang="en-GB"/>
          </a:p>
        </p:txBody>
      </p:sp>
    </p:spTree>
    <p:extLst>
      <p:ext uri="{BB962C8B-B14F-4D97-AF65-F5344CB8AC3E}">
        <p14:creationId xmlns:p14="http://schemas.microsoft.com/office/powerpoint/2010/main" val="37413161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6</a:t>
            </a:fld>
            <a:endParaRPr lang="en-GB"/>
          </a:p>
        </p:txBody>
      </p:sp>
    </p:spTree>
    <p:extLst>
      <p:ext uri="{BB962C8B-B14F-4D97-AF65-F5344CB8AC3E}">
        <p14:creationId xmlns:p14="http://schemas.microsoft.com/office/powerpoint/2010/main" val="2201706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7</a:t>
            </a:fld>
            <a:endParaRPr lang="en-GB"/>
          </a:p>
        </p:txBody>
      </p:sp>
    </p:spTree>
    <p:extLst>
      <p:ext uri="{BB962C8B-B14F-4D97-AF65-F5344CB8AC3E}">
        <p14:creationId xmlns:p14="http://schemas.microsoft.com/office/powerpoint/2010/main" val="834709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Social </a:t>
            </a:r>
            <a:r>
              <a:rPr lang="en-GB" dirty="0" err="1"/>
              <a:t>hx</a:t>
            </a:r>
            <a:r>
              <a:rPr lang="en-GB" baseline="0" dirty="0"/>
              <a:t> – provides picture of patient social situation</a:t>
            </a:r>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8</a:t>
            </a:fld>
            <a:endParaRPr lang="en-GB"/>
          </a:p>
        </p:txBody>
      </p:sp>
    </p:spTree>
    <p:extLst>
      <p:ext uri="{BB962C8B-B14F-4D97-AF65-F5344CB8AC3E}">
        <p14:creationId xmlns:p14="http://schemas.microsoft.com/office/powerpoint/2010/main" val="1839294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Breathness</a:t>
            </a:r>
            <a:r>
              <a:rPr lang="en-GB" baseline="0" dirty="0"/>
              <a:t> </a:t>
            </a:r>
          </a:p>
          <a:p>
            <a:r>
              <a:rPr lang="en-GB" baseline="0" dirty="0"/>
              <a:t>– Subjective awareness of an increased work of breathing </a:t>
            </a:r>
          </a:p>
          <a:p>
            <a:pPr marL="171450" indent="-171450">
              <a:buFontTx/>
              <a:buChar char="-"/>
            </a:pPr>
            <a:r>
              <a:rPr lang="en-GB" baseline="0" dirty="0"/>
              <a:t>Dominant symptom of </a:t>
            </a:r>
            <a:r>
              <a:rPr lang="en-GB" baseline="0" dirty="0" err="1"/>
              <a:t>cardioresp</a:t>
            </a:r>
            <a:r>
              <a:rPr lang="en-GB" baseline="0" dirty="0"/>
              <a:t> disease including: COPD, Asthma, Bronchiectasis, chest infection, Pneumonia, heart failure</a:t>
            </a:r>
          </a:p>
          <a:p>
            <a:pPr marL="171450" indent="-171450">
              <a:buFontTx/>
              <a:buChar char="-"/>
            </a:pPr>
            <a:r>
              <a:rPr lang="en-GB" baseline="0" dirty="0"/>
              <a:t>Most easily </a:t>
            </a:r>
            <a:r>
              <a:rPr lang="en-GB" baseline="0" dirty="0" err="1"/>
              <a:t>ax</a:t>
            </a:r>
            <a:r>
              <a:rPr lang="en-GB" baseline="0" dirty="0"/>
              <a:t> through enquire re level of function or objective </a:t>
            </a:r>
            <a:r>
              <a:rPr lang="en-GB" baseline="0" dirty="0" err="1"/>
              <a:t>mesasuremenrts</a:t>
            </a:r>
            <a:r>
              <a:rPr lang="en-GB" baseline="0" dirty="0"/>
              <a:t> </a:t>
            </a:r>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9</a:t>
            </a:fld>
            <a:endParaRPr lang="en-GB"/>
          </a:p>
        </p:txBody>
      </p:sp>
    </p:spTree>
    <p:extLst>
      <p:ext uri="{BB962C8B-B14F-4D97-AF65-F5344CB8AC3E}">
        <p14:creationId xmlns:p14="http://schemas.microsoft.com/office/powerpoint/2010/main" val="828456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lumMod val="65000"/>
                    <a:lumOff val="35000"/>
                  </a:schemeClr>
                </a:solidFill>
              </a:rPr>
              <a:t>including: COPD, Asthma, Bronchiectasis, chest infection, Pneumonia, heart failure</a:t>
            </a:r>
          </a:p>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10</a:t>
            </a:fld>
            <a:endParaRPr lang="en-GB"/>
          </a:p>
        </p:txBody>
      </p:sp>
    </p:spTree>
    <p:extLst>
      <p:ext uri="{BB962C8B-B14F-4D97-AF65-F5344CB8AC3E}">
        <p14:creationId xmlns:p14="http://schemas.microsoft.com/office/powerpoint/2010/main" val="1265852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11</a:t>
            </a:fld>
            <a:endParaRPr lang="en-GB"/>
          </a:p>
        </p:txBody>
      </p:sp>
    </p:spTree>
    <p:extLst>
      <p:ext uri="{BB962C8B-B14F-4D97-AF65-F5344CB8AC3E}">
        <p14:creationId xmlns:p14="http://schemas.microsoft.com/office/powerpoint/2010/main" val="4083080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If possible, several sputum samples should be collected at baseline followed by 3 to 6 monthly samples.</a:t>
            </a:r>
          </a:p>
          <a:p>
            <a:r>
              <a:rPr lang="en-GB" sz="1200" b="0" i="0" kern="1200" dirty="0">
                <a:solidFill>
                  <a:schemeClr val="tx1"/>
                </a:solidFill>
                <a:effectLst/>
                <a:latin typeface="+mn-lt"/>
                <a:ea typeface="+mn-ea"/>
                <a:cs typeface="+mn-cs"/>
              </a:rPr>
              <a:t>It is desirable for children and adults to learn how to expectorate sputum from their lungs to:</a:t>
            </a:r>
          </a:p>
          <a:p>
            <a:r>
              <a:rPr lang="en-GB" dirty="0">
                <a:effectLst/>
              </a:rPr>
              <a:t>document microbiology</a:t>
            </a:r>
          </a:p>
          <a:p>
            <a:r>
              <a:rPr lang="en-GB" dirty="0">
                <a:effectLst/>
              </a:rPr>
              <a:t>direct antibiotic treatment</a:t>
            </a:r>
          </a:p>
          <a:p>
            <a:r>
              <a:rPr lang="en-GB" dirty="0">
                <a:effectLst/>
              </a:rPr>
              <a:t>assist with the monitoring of the condition</a:t>
            </a:r>
          </a:p>
          <a:p>
            <a:endParaRPr lang="en-GB" dirty="0">
              <a:effectLst/>
            </a:endParaRPr>
          </a:p>
          <a:p>
            <a:r>
              <a:rPr lang="en-GB" dirty="0">
                <a:effectLst/>
              </a:rPr>
              <a:t>Patients</a:t>
            </a:r>
            <a:r>
              <a:rPr lang="en-GB" baseline="0" dirty="0">
                <a:effectLst/>
              </a:rPr>
              <a:t> with chronic </a:t>
            </a:r>
            <a:r>
              <a:rPr lang="en-GB" baseline="0" dirty="0" err="1">
                <a:effectLst/>
              </a:rPr>
              <a:t>infectiove</a:t>
            </a:r>
            <a:r>
              <a:rPr lang="en-GB" baseline="0" dirty="0">
                <a:effectLst/>
              </a:rPr>
              <a:t> lung disease often recurrent </a:t>
            </a:r>
            <a:r>
              <a:rPr lang="en-GB" baseline="0" dirty="0" err="1">
                <a:effectLst/>
              </a:rPr>
              <a:t>haemoptyses</a:t>
            </a:r>
            <a:endParaRPr lang="en-GB" dirty="0">
              <a:effectLst/>
            </a:endParaRPr>
          </a:p>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13</a:t>
            </a:fld>
            <a:endParaRPr lang="en-GB"/>
          </a:p>
        </p:txBody>
      </p:sp>
    </p:spTree>
    <p:extLst>
      <p:ext uri="{BB962C8B-B14F-4D97-AF65-F5344CB8AC3E}">
        <p14:creationId xmlns:p14="http://schemas.microsoft.com/office/powerpoint/2010/main" val="129242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14</a:t>
            </a:fld>
            <a:endParaRPr lang="en-GB"/>
          </a:p>
        </p:txBody>
      </p:sp>
    </p:spTree>
    <p:extLst>
      <p:ext uri="{BB962C8B-B14F-4D97-AF65-F5344CB8AC3E}">
        <p14:creationId xmlns:p14="http://schemas.microsoft.com/office/powerpoint/2010/main" val="10601847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lang="en-US" dirty="0"/>
              <a:t>MSK – Chest wall pain</a:t>
            </a:r>
          </a:p>
          <a:p>
            <a:pPr lvl="0">
              <a:buFontTx/>
              <a:buChar char="-"/>
            </a:pPr>
            <a:r>
              <a:rPr lang="en-US" dirty="0"/>
              <a:t>Well localized, exacerbated by  chest or arm movement </a:t>
            </a:r>
          </a:p>
          <a:p>
            <a:pPr marL="0" lvl="0" indent="0">
              <a:buNone/>
            </a:pPr>
            <a:r>
              <a:rPr lang="en-US" dirty="0"/>
              <a:t>Pleuritic</a:t>
            </a:r>
          </a:p>
          <a:p>
            <a:pPr lvl="0">
              <a:buFontTx/>
              <a:buChar char="-"/>
            </a:pPr>
            <a:r>
              <a:rPr lang="en-US" dirty="0" err="1"/>
              <a:t>Inflamattion</a:t>
            </a:r>
            <a:r>
              <a:rPr lang="en-US" dirty="0"/>
              <a:t> of </a:t>
            </a:r>
            <a:r>
              <a:rPr lang="en-US" dirty="0" err="1"/>
              <a:t>parital</a:t>
            </a:r>
            <a:r>
              <a:rPr lang="en-US" dirty="0"/>
              <a:t> pleura </a:t>
            </a:r>
          </a:p>
          <a:p>
            <a:pPr lvl="0">
              <a:buFontTx/>
              <a:buChar char="-"/>
            </a:pPr>
            <a:r>
              <a:rPr lang="en-US" dirty="0"/>
              <a:t>Severe, sharp stabbing pain </a:t>
            </a:r>
          </a:p>
          <a:p>
            <a:pPr lvl="0">
              <a:buFontTx/>
              <a:buChar char="-"/>
            </a:pPr>
            <a:r>
              <a:rPr lang="en-US" dirty="0" err="1"/>
              <a:t>Tracheititis</a:t>
            </a:r>
            <a:r>
              <a:rPr lang="en-US" dirty="0"/>
              <a:t>:</a:t>
            </a:r>
          </a:p>
          <a:p>
            <a:pPr lvl="1">
              <a:buFontTx/>
              <a:buChar char="-"/>
            </a:pPr>
            <a:r>
              <a:rPr lang="en-US" dirty="0"/>
              <a:t> </a:t>
            </a:r>
            <a:r>
              <a:rPr lang="en-US" dirty="0" err="1"/>
              <a:t>Buring</a:t>
            </a:r>
            <a:r>
              <a:rPr lang="en-US" dirty="0"/>
              <a:t> </a:t>
            </a:r>
            <a:r>
              <a:rPr lang="en-US" dirty="0" err="1"/>
              <a:t>cental</a:t>
            </a:r>
            <a:r>
              <a:rPr lang="en-US" dirty="0"/>
              <a:t> chest pain</a:t>
            </a:r>
          </a:p>
          <a:p>
            <a:pPr lvl="1">
              <a:buFontTx/>
              <a:buChar char="-"/>
            </a:pPr>
            <a:r>
              <a:rPr lang="en-US" dirty="0" err="1"/>
              <a:t>Agged</a:t>
            </a:r>
            <a:r>
              <a:rPr lang="en-US" dirty="0"/>
              <a:t> by breathing </a:t>
            </a:r>
          </a:p>
          <a:p>
            <a:pPr lvl="1">
              <a:buFontTx/>
              <a:buChar char="-"/>
            </a:pPr>
            <a:endParaRPr lang="en-US" dirty="0"/>
          </a:p>
          <a:p>
            <a:pPr lvl="1">
              <a:buFontTx/>
              <a:buChar char="-"/>
            </a:pPr>
            <a:r>
              <a:rPr lang="en-US" dirty="0" err="1"/>
              <a:t>Pneuomthorax</a:t>
            </a:r>
            <a:endParaRPr lang="en-US" dirty="0"/>
          </a:p>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15</a:t>
            </a:fld>
            <a:endParaRPr lang="en-GB"/>
          </a:p>
        </p:txBody>
      </p:sp>
    </p:spTree>
    <p:extLst>
      <p:ext uri="{BB962C8B-B14F-4D97-AF65-F5344CB8AC3E}">
        <p14:creationId xmlns:p14="http://schemas.microsoft.com/office/powerpoint/2010/main" val="2037294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16</a:t>
            </a:fld>
            <a:endParaRPr lang="en-GB"/>
          </a:p>
        </p:txBody>
      </p:sp>
    </p:spTree>
    <p:extLst>
      <p:ext uri="{BB962C8B-B14F-4D97-AF65-F5344CB8AC3E}">
        <p14:creationId xmlns:p14="http://schemas.microsoft.com/office/powerpoint/2010/main" val="1775515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18</a:t>
            </a:fld>
            <a:endParaRPr lang="en-GB"/>
          </a:p>
        </p:txBody>
      </p:sp>
    </p:spTree>
    <p:extLst>
      <p:ext uri="{BB962C8B-B14F-4D97-AF65-F5344CB8AC3E}">
        <p14:creationId xmlns:p14="http://schemas.microsoft.com/office/powerpoint/2010/main" val="3968595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some</a:t>
            </a:r>
            <a:r>
              <a:rPr lang="en-GB" baseline="0" dirty="0"/>
              <a:t> cardiac medication can alter heart rate: </a:t>
            </a:r>
            <a:r>
              <a:rPr lang="en-GB" baseline="0" dirty="0" err="1"/>
              <a:t>bronchdialors</a:t>
            </a:r>
            <a:r>
              <a:rPr lang="en-GB" baseline="0" dirty="0"/>
              <a:t>: increase. Beta blockers: decrease</a:t>
            </a:r>
          </a:p>
          <a:p>
            <a:r>
              <a:rPr lang="en-GB" baseline="0" dirty="0"/>
              <a:t>Athletes more likely to have lower resting heart rates</a:t>
            </a:r>
          </a:p>
          <a:p>
            <a:r>
              <a:rPr lang="en-GB" baseline="0" dirty="0"/>
              <a:t>Fever, </a:t>
            </a:r>
            <a:r>
              <a:rPr lang="en-GB" baseline="0" dirty="0" err="1"/>
              <a:t>anziety</a:t>
            </a:r>
            <a:r>
              <a:rPr lang="en-GB" baseline="0" dirty="0"/>
              <a:t>, </a:t>
            </a:r>
            <a:r>
              <a:rPr lang="en-GB" baseline="0" dirty="0" err="1"/>
              <a:t>hypozia</a:t>
            </a:r>
            <a:r>
              <a:rPr lang="en-GB" baseline="0" dirty="0"/>
              <a:t> can drive higher heart rates </a:t>
            </a:r>
          </a:p>
          <a:p>
            <a:endParaRPr lang="en-GB" baseline="0" dirty="0"/>
          </a:p>
          <a:p>
            <a:r>
              <a:rPr lang="en-GB" baseline="0" dirty="0"/>
              <a:t>Note medication – are you taking / had on time</a:t>
            </a:r>
          </a:p>
          <a:p>
            <a:r>
              <a:rPr lang="en-GB" baseline="0" dirty="0" err="1"/>
              <a:t>Posturatal</a:t>
            </a:r>
            <a:r>
              <a:rPr lang="en-GB" baseline="0" dirty="0"/>
              <a:t> </a:t>
            </a:r>
            <a:r>
              <a:rPr lang="en-GB" baseline="0" dirty="0" err="1"/>
              <a:t>hypotensiob</a:t>
            </a:r>
            <a:r>
              <a:rPr lang="en-GB" baseline="0" dirty="0"/>
              <a:t> </a:t>
            </a:r>
          </a:p>
          <a:p>
            <a:endParaRPr lang="en-GB" baseline="0" dirty="0"/>
          </a:p>
        </p:txBody>
      </p:sp>
      <p:sp>
        <p:nvSpPr>
          <p:cNvPr id="4" name="Slide Number Placeholder 3"/>
          <p:cNvSpPr>
            <a:spLocks noGrp="1"/>
          </p:cNvSpPr>
          <p:nvPr>
            <p:ph type="sldNum" sz="quarter" idx="10"/>
          </p:nvPr>
        </p:nvSpPr>
        <p:spPr/>
        <p:txBody>
          <a:bodyPr/>
          <a:lstStyle/>
          <a:p>
            <a:fld id="{12F329A8-1635-4A17-B8B5-B29E51044FA6}" type="slidenum">
              <a:rPr lang="en-GB" smtClean="0"/>
              <a:t>19</a:t>
            </a:fld>
            <a:endParaRPr lang="en-GB"/>
          </a:p>
        </p:txBody>
      </p:sp>
    </p:spTree>
    <p:extLst>
      <p:ext uri="{BB962C8B-B14F-4D97-AF65-F5344CB8AC3E}">
        <p14:creationId xmlns:p14="http://schemas.microsoft.com/office/powerpoint/2010/main" val="41707095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Respiratory rate – average adult RR is 12 breaths per minute, this can either be counted by you or will be on the </a:t>
            </a:r>
            <a:r>
              <a:rPr lang="en-GB" dirty="0" err="1"/>
              <a:t>obs</a:t>
            </a:r>
            <a:r>
              <a:rPr lang="en-GB" dirty="0"/>
              <a:t> machine</a:t>
            </a:r>
          </a:p>
          <a:p>
            <a:r>
              <a:rPr lang="en-GB" dirty="0"/>
              <a:t>SpO2 – also known as oxygen saturation, will be found on the </a:t>
            </a:r>
            <a:r>
              <a:rPr lang="en-GB" dirty="0" err="1"/>
              <a:t>obs</a:t>
            </a:r>
            <a:r>
              <a:rPr lang="en-GB" dirty="0"/>
              <a:t> machine. Normal values: 95-98% (For healthy individuals)</a:t>
            </a:r>
          </a:p>
          <a:p>
            <a:r>
              <a:rPr lang="en-GB" dirty="0"/>
              <a:t>FIO2 – defined as the concentration of oxygen that a person inhales. The air that we inhale on a day to day basis is made up of 21% of oxygen, this will change if the patient is placed on oxygen</a:t>
            </a:r>
          </a:p>
          <a:p>
            <a:r>
              <a:rPr lang="en-GB" dirty="0"/>
              <a:t>ABGs (please refer to previous blog about ABGs)</a:t>
            </a:r>
          </a:p>
          <a:p>
            <a:r>
              <a:rPr lang="en-GB" dirty="0"/>
              <a:t>Chest x-rays – look at these to determine any abnormalities within the lungs</a:t>
            </a:r>
          </a:p>
          <a:p>
            <a:r>
              <a:rPr lang="en-GB" dirty="0" err="1"/>
              <a:t>Ascultation</a:t>
            </a:r>
            <a:r>
              <a:rPr lang="en-GB" dirty="0"/>
              <a:t> – use a stethoscope to listen to breath sounds throughout lungs (blog soon to be released about this)</a:t>
            </a:r>
          </a:p>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21</a:t>
            </a:fld>
            <a:endParaRPr lang="en-GB"/>
          </a:p>
        </p:txBody>
      </p:sp>
    </p:spTree>
    <p:extLst>
      <p:ext uri="{BB962C8B-B14F-4D97-AF65-F5344CB8AC3E}">
        <p14:creationId xmlns:p14="http://schemas.microsoft.com/office/powerpoint/2010/main" val="284545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22</a:t>
            </a:fld>
            <a:endParaRPr lang="en-GB"/>
          </a:p>
        </p:txBody>
      </p:sp>
    </p:spTree>
    <p:extLst>
      <p:ext uri="{BB962C8B-B14F-4D97-AF65-F5344CB8AC3E}">
        <p14:creationId xmlns:p14="http://schemas.microsoft.com/office/powerpoint/2010/main" val="26809485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24</a:t>
            </a:fld>
            <a:endParaRPr lang="en-GB"/>
          </a:p>
        </p:txBody>
      </p:sp>
    </p:spTree>
    <p:extLst>
      <p:ext uri="{BB962C8B-B14F-4D97-AF65-F5344CB8AC3E}">
        <p14:creationId xmlns:p14="http://schemas.microsoft.com/office/powerpoint/2010/main" val="16653483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Following a thorough inspection, palpate the thorax to assess for chest wall tenderness or masses, pleural friction or rubs, bronchial and tactile fremitus.17 Tactile fremitus is the vibration felt by resting the palmar surface of each hand on the chest simultaneously and symmetrically and asking the patient to repeat the words ‘ninety-nine’.</a:t>
            </a:r>
            <a:r>
              <a:rPr lang="en-GB" sz="1200" b="0" i="0" kern="1200" baseline="30000" dirty="0">
                <a:solidFill>
                  <a:schemeClr val="tx1"/>
                </a:solidFill>
                <a:effectLst/>
                <a:latin typeface="+mn-lt"/>
                <a:ea typeface="+mn-ea"/>
                <a:cs typeface="+mn-cs"/>
              </a:rPr>
              <a:t>8, 17, 19</a:t>
            </a: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Decreased or absent vibration over an area suggests the presence of fluid or air outside the lung, for example a pneumothorax or a pleural effusion. Increased vibration, however, indicates increased tissue density due to consolidation, lobar collapse, or a tumour.19 Finally, check for chest expansion by bringing thumbs together at the patient’s midline and asking the patient to breathe in</a:t>
            </a:r>
          </a:p>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25</a:t>
            </a:fld>
            <a:endParaRPr lang="en-GB"/>
          </a:p>
        </p:txBody>
      </p:sp>
    </p:spTree>
    <p:extLst>
      <p:ext uri="{BB962C8B-B14F-4D97-AF65-F5344CB8AC3E}">
        <p14:creationId xmlns:p14="http://schemas.microsoft.com/office/powerpoint/2010/main" val="41745075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26</a:t>
            </a:fld>
            <a:endParaRPr lang="en-GB"/>
          </a:p>
        </p:txBody>
      </p:sp>
    </p:spTree>
    <p:extLst>
      <p:ext uri="{BB962C8B-B14F-4D97-AF65-F5344CB8AC3E}">
        <p14:creationId xmlns:p14="http://schemas.microsoft.com/office/powerpoint/2010/main" val="39292078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27</a:t>
            </a:fld>
            <a:endParaRPr lang="en-GB"/>
          </a:p>
        </p:txBody>
      </p:sp>
    </p:spTree>
    <p:extLst>
      <p:ext uri="{BB962C8B-B14F-4D97-AF65-F5344CB8AC3E}">
        <p14:creationId xmlns:p14="http://schemas.microsoft.com/office/powerpoint/2010/main" val="42897383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28</a:t>
            </a:fld>
            <a:endParaRPr lang="en-GB"/>
          </a:p>
        </p:txBody>
      </p:sp>
    </p:spTree>
    <p:extLst>
      <p:ext uri="{BB962C8B-B14F-4D97-AF65-F5344CB8AC3E}">
        <p14:creationId xmlns:p14="http://schemas.microsoft.com/office/powerpoint/2010/main" val="34859513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29</a:t>
            </a:fld>
            <a:endParaRPr lang="en-GB"/>
          </a:p>
        </p:txBody>
      </p:sp>
    </p:spTree>
    <p:extLst>
      <p:ext uri="{BB962C8B-B14F-4D97-AF65-F5344CB8AC3E}">
        <p14:creationId xmlns:p14="http://schemas.microsoft.com/office/powerpoint/2010/main" val="11715505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30</a:t>
            </a:fld>
            <a:endParaRPr lang="en-GB"/>
          </a:p>
        </p:txBody>
      </p:sp>
    </p:spTree>
    <p:extLst>
      <p:ext uri="{BB962C8B-B14F-4D97-AF65-F5344CB8AC3E}">
        <p14:creationId xmlns:p14="http://schemas.microsoft.com/office/powerpoint/2010/main" val="26193988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Localisation of l</a:t>
            </a:r>
          </a:p>
          <a:p>
            <a:endParaRPr lang="en-GB" dirty="0"/>
          </a:p>
          <a:p>
            <a:pPr marL="0" indent="0">
              <a:buNone/>
            </a:pPr>
            <a:r>
              <a:rPr lang="en-GB" dirty="0"/>
              <a:t>Healthy Lung: Normal Resonance</a:t>
            </a:r>
          </a:p>
          <a:p>
            <a:pPr marL="0" indent="0">
              <a:buNone/>
            </a:pPr>
            <a:r>
              <a:rPr lang="en-GB" dirty="0"/>
              <a:t>Consolidated Lung: Dull</a:t>
            </a:r>
          </a:p>
          <a:p>
            <a:pPr marL="0" indent="0">
              <a:buNone/>
            </a:pPr>
            <a:r>
              <a:rPr lang="en-GB" dirty="0"/>
              <a:t>Pleural Effusion: Stony Dull </a:t>
            </a:r>
          </a:p>
          <a:p>
            <a:pPr marL="0" indent="0">
              <a:buNone/>
            </a:pPr>
            <a:r>
              <a:rPr lang="en-GB" dirty="0" err="1"/>
              <a:t>Pneumothrox</a:t>
            </a:r>
            <a:r>
              <a:rPr lang="en-GB" dirty="0"/>
              <a:t> / Bullae: Hyper resonance</a:t>
            </a:r>
          </a:p>
          <a:p>
            <a:r>
              <a:rPr lang="en-GB" dirty="0" err="1"/>
              <a:t>ung</a:t>
            </a:r>
            <a:r>
              <a:rPr lang="en-GB" dirty="0"/>
              <a:t> disease </a:t>
            </a:r>
          </a:p>
          <a:p>
            <a:endParaRPr lang="en-GB" dirty="0"/>
          </a:p>
          <a:p>
            <a:endParaRPr lang="en-GB" dirty="0"/>
          </a:p>
          <a:p>
            <a:pPr marL="0" indent="0">
              <a:buNone/>
            </a:pPr>
            <a:r>
              <a:rPr lang="en-GB" dirty="0"/>
              <a:t>Percussion</a:t>
            </a:r>
          </a:p>
          <a:p>
            <a:pPr marL="0" indent="0">
              <a:buNone/>
            </a:pPr>
            <a:r>
              <a:rPr lang="en-GB" dirty="0" err="1"/>
              <a:t>Purpsose</a:t>
            </a:r>
            <a:r>
              <a:rPr lang="en-GB" dirty="0"/>
              <a:t>: To localise lung </a:t>
            </a:r>
            <a:r>
              <a:rPr lang="en-GB" dirty="0" err="1"/>
              <a:t>diease</a:t>
            </a:r>
            <a:endParaRPr lang="en-GB" dirty="0"/>
          </a:p>
          <a:p>
            <a:pPr marL="0" indent="0">
              <a:buNone/>
            </a:pPr>
            <a:r>
              <a:rPr lang="en-GB" dirty="0"/>
              <a:t>to discern fluid, air or solid material within the chest cavity </a:t>
            </a:r>
          </a:p>
          <a:p>
            <a:pPr marL="0" indent="0">
              <a:buNone/>
            </a:pPr>
            <a:r>
              <a:rPr lang="en-GB" dirty="0"/>
              <a:t>Sound generated chest wall vibrating over underlying tissues </a:t>
            </a:r>
          </a:p>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31</a:t>
            </a:fld>
            <a:endParaRPr lang="en-GB"/>
          </a:p>
        </p:txBody>
      </p:sp>
    </p:spTree>
    <p:extLst>
      <p:ext uri="{BB962C8B-B14F-4D97-AF65-F5344CB8AC3E}">
        <p14:creationId xmlns:p14="http://schemas.microsoft.com/office/powerpoint/2010/main" val="4343038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32</a:t>
            </a:fld>
            <a:endParaRPr lang="en-GB"/>
          </a:p>
        </p:txBody>
      </p:sp>
    </p:spTree>
    <p:extLst>
      <p:ext uri="{BB962C8B-B14F-4D97-AF65-F5344CB8AC3E}">
        <p14:creationId xmlns:p14="http://schemas.microsoft.com/office/powerpoint/2010/main" val="10707507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National Early Warning Sign (NEWS)</a:t>
            </a:r>
          </a:p>
          <a:p>
            <a:r>
              <a:rPr lang="en-GB" dirty="0"/>
              <a:t>Glasgow Coma Scale (GCS) </a:t>
            </a:r>
          </a:p>
          <a:p>
            <a:r>
              <a:rPr lang="en-GB" dirty="0"/>
              <a:t>Sedation Score ( within ICU )</a:t>
            </a:r>
          </a:p>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34</a:t>
            </a:fld>
            <a:endParaRPr lang="en-GB"/>
          </a:p>
        </p:txBody>
      </p:sp>
    </p:spTree>
    <p:extLst>
      <p:ext uri="{BB962C8B-B14F-4D97-AF65-F5344CB8AC3E}">
        <p14:creationId xmlns:p14="http://schemas.microsoft.com/office/powerpoint/2010/main" val="40688733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36</a:t>
            </a:fld>
            <a:endParaRPr lang="en-GB"/>
          </a:p>
        </p:txBody>
      </p:sp>
    </p:spTree>
    <p:extLst>
      <p:ext uri="{BB962C8B-B14F-4D97-AF65-F5344CB8AC3E}">
        <p14:creationId xmlns:p14="http://schemas.microsoft.com/office/powerpoint/2010/main" val="8317430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verbal</a:t>
            </a:r>
            <a:r>
              <a:rPr lang="en-GB" baseline="0" dirty="0"/>
              <a:t> consent </a:t>
            </a:r>
          </a:p>
          <a:p>
            <a:r>
              <a:rPr lang="en-GB" baseline="0" dirty="0"/>
              <a:t>Treated in best interest </a:t>
            </a:r>
          </a:p>
          <a:p>
            <a:r>
              <a:rPr lang="en-GB" baseline="0" dirty="0"/>
              <a:t>Parental consent in </a:t>
            </a:r>
            <a:r>
              <a:rPr lang="en-GB" baseline="0" dirty="0" err="1"/>
              <a:t>paeds</a:t>
            </a:r>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37</a:t>
            </a:fld>
            <a:endParaRPr lang="en-GB"/>
          </a:p>
        </p:txBody>
      </p:sp>
    </p:spTree>
    <p:extLst>
      <p:ext uri="{BB962C8B-B14F-4D97-AF65-F5344CB8AC3E}">
        <p14:creationId xmlns:p14="http://schemas.microsoft.com/office/powerpoint/2010/main" val="42013072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38</a:t>
            </a:fld>
            <a:endParaRPr lang="en-GB"/>
          </a:p>
        </p:txBody>
      </p:sp>
    </p:spTree>
    <p:extLst>
      <p:ext uri="{BB962C8B-B14F-4D97-AF65-F5344CB8AC3E}">
        <p14:creationId xmlns:p14="http://schemas.microsoft.com/office/powerpoint/2010/main" val="37324823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2F329A8-1635-4A17-B8B5-B29E51044FA6}" type="slidenum">
              <a:rPr lang="en-GB" smtClean="0"/>
              <a:t>39</a:t>
            </a:fld>
            <a:endParaRPr lang="en-GB"/>
          </a:p>
        </p:txBody>
      </p:sp>
    </p:spTree>
    <p:extLst>
      <p:ext uri="{BB962C8B-B14F-4D97-AF65-F5344CB8AC3E}">
        <p14:creationId xmlns:p14="http://schemas.microsoft.com/office/powerpoint/2010/main" val="3087438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29688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586B75A-687E-405C-8A0B-8D00578BA2C3}" type="datetimeFigureOut">
              <a:rPr lang="en-US" smtClean="0"/>
              <a:pPr/>
              <a:t>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13808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64295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86B75A-687E-405C-8A0B-8D00578BA2C3}" type="datetimeFigureOut">
              <a:rPr lang="en-US" smtClean="0"/>
              <a:pPr/>
              <a:t>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78193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11/4/2024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20659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586B75A-687E-405C-8A0B-8D00578BA2C3}" type="datetimeFigureOut">
              <a:rPr lang="en-US" smtClean="0"/>
              <a:pPr/>
              <a:t>11/4/2024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18806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586B75A-687E-405C-8A0B-8D00578BA2C3}" type="datetimeFigureOut">
              <a:rPr lang="en-US" smtClean="0"/>
              <a:pPr/>
              <a:t>11/4/2024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91424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586B75A-687E-405C-8A0B-8D00578BA2C3}" type="datetimeFigureOut">
              <a:rPr lang="en-US" smtClean="0"/>
              <a:pPr/>
              <a:t>11/4/2024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10656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86B75A-687E-405C-8A0B-8D00578BA2C3}" type="datetimeFigureOut">
              <a:rPr lang="en-US" smtClean="0"/>
              <a:pPr/>
              <a:t>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09034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86B75A-687E-405C-8A0B-8D00578BA2C3}" type="datetimeFigureOut">
              <a:rPr lang="en-US" smtClean="0"/>
              <a:pPr/>
              <a:t>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3768896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9527523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26661500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31896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586B75A-687E-405C-8A0B-8D00578BA2C3}" type="datetimeFigureOut">
              <a:rPr lang="en-US" smtClean="0"/>
              <a:pPr/>
              <a:t>11/4/2024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1367441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586B75A-687E-405C-8A0B-8D00578BA2C3}" type="datetimeFigureOut">
              <a:rPr lang="en-US" smtClean="0"/>
              <a:pPr/>
              <a:t>11/4/2024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4915809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773198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86748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586B75A-687E-405C-8A0B-8D00578BA2C3}" type="datetimeFigureOut">
              <a:rPr lang="en-US" smtClean="0"/>
              <a:pPr/>
              <a:t>11/4/2024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91388353"/>
      </p:ext>
    </p:extLst>
  </p:cSld>
  <p:clrMap bg1="dk1" tx1="lt1" bg2="dk2" tx2="lt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 id="2147483864" r:id="rId12"/>
    <p:sldLayoutId id="2147483865" r:id="rId13"/>
    <p:sldLayoutId id="2147483866" r:id="rId14"/>
    <p:sldLayoutId id="2147483867" r:id="rId15"/>
    <p:sldLayoutId id="2147483868" r:id="rId16"/>
    <p:sldLayoutId id="214748386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4">
            <a:duotone>
              <a:prstClr val="black"/>
              <a:schemeClr val="accent5">
                <a:tint val="45000"/>
                <a:satMod val="400000"/>
              </a:schemeClr>
            </a:duotone>
            <a:alphaModFix amt="25000"/>
          </a:blip>
          <a:srcRect l="4954" t="9091" r="4137"/>
          <a:stretch/>
        </p:blipFill>
        <p:spPr>
          <a:xfrm>
            <a:off x="20" y="10"/>
            <a:ext cx="12191980" cy="6857990"/>
          </a:xfrm>
          <a:prstGeom prst="rect">
            <a:avLst/>
          </a:prstGeom>
        </p:spPr>
      </p:pic>
      <p:sp>
        <p:nvSpPr>
          <p:cNvPr id="2" name="Title 1"/>
          <p:cNvSpPr>
            <a:spLocks noGrp="1"/>
          </p:cNvSpPr>
          <p:nvPr>
            <p:ph type="ctrTitle"/>
          </p:nvPr>
        </p:nvSpPr>
        <p:spPr>
          <a:xfrm>
            <a:off x="1154955" y="1447800"/>
            <a:ext cx="8825658" cy="3329581"/>
          </a:xfrm>
        </p:spPr>
        <p:txBody>
          <a:bodyPr>
            <a:normAutofit/>
          </a:bodyPr>
          <a:lstStyle/>
          <a:p>
            <a:pPr>
              <a:lnSpc>
                <a:spcPct val="90000"/>
              </a:lnSpc>
            </a:pPr>
            <a:r>
              <a:rPr lang="en-GB"/>
              <a:t>Introduction to Cardiorespiratory Assessment</a:t>
            </a:r>
          </a:p>
        </p:txBody>
      </p:sp>
      <p:sp>
        <p:nvSpPr>
          <p:cNvPr id="3" name="Subtitle 2"/>
          <p:cNvSpPr>
            <a:spLocks noGrp="1"/>
          </p:cNvSpPr>
          <p:nvPr>
            <p:ph type="subTitle" idx="1"/>
          </p:nvPr>
        </p:nvSpPr>
        <p:spPr>
          <a:xfrm>
            <a:off x="1154955" y="4777380"/>
            <a:ext cx="8825658" cy="861420"/>
          </a:xfrm>
        </p:spPr>
        <p:txBody>
          <a:bodyPr>
            <a:normAutofit/>
          </a:bodyPr>
          <a:lstStyle/>
          <a:p>
            <a:pPr>
              <a:lnSpc>
                <a:spcPct val="90000"/>
              </a:lnSpc>
            </a:pPr>
            <a:r>
              <a:rPr lang="en-GB" sz="1100" b="1" dirty="0">
                <a:solidFill>
                  <a:schemeClr val="tx1"/>
                </a:solidFill>
              </a:rPr>
              <a:t>Puja Trivedi</a:t>
            </a:r>
          </a:p>
          <a:p>
            <a:pPr>
              <a:lnSpc>
                <a:spcPct val="90000"/>
              </a:lnSpc>
            </a:pPr>
            <a:r>
              <a:rPr lang="en-GB" sz="1100" b="1" dirty="0">
                <a:solidFill>
                  <a:schemeClr val="tx1"/>
                </a:solidFill>
              </a:rPr>
              <a:t>Highly Specialist Respiratory Physiotherapist</a:t>
            </a:r>
          </a:p>
          <a:p>
            <a:pPr>
              <a:lnSpc>
                <a:spcPct val="90000"/>
              </a:lnSpc>
            </a:pPr>
            <a:r>
              <a:rPr lang="en-GB" sz="1100" b="1" dirty="0">
                <a:solidFill>
                  <a:schemeClr val="tx1"/>
                </a:solidFill>
              </a:rPr>
              <a:t>Harefield Pulmonary Rehabilitation Department</a:t>
            </a:r>
          </a:p>
        </p:txBody>
      </p:sp>
      <p:sp>
        <p:nvSpPr>
          <p:cNvPr id="10" name="Rectangle 9">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58762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Learning Outcomes</a:t>
            </a:r>
          </a:p>
        </p:txBody>
      </p:sp>
      <p:sp>
        <p:nvSpPr>
          <p:cNvPr id="3" name="Content Placeholder 2"/>
          <p:cNvSpPr>
            <a:spLocks noGrp="1"/>
          </p:cNvSpPr>
          <p:nvPr>
            <p:ph idx="1"/>
          </p:nvPr>
        </p:nvSpPr>
        <p:spPr/>
        <p:txBody>
          <a:bodyPr/>
          <a:lstStyle/>
          <a:p>
            <a:pPr marL="0" indent="0">
              <a:buNone/>
            </a:pPr>
            <a:r>
              <a:rPr lang="en-GB" dirty="0"/>
              <a:t>By the end of the session, students should be able to:</a:t>
            </a:r>
          </a:p>
          <a:p>
            <a:endParaRPr lang="en-GB" dirty="0"/>
          </a:p>
          <a:p>
            <a:r>
              <a:rPr lang="en-GB" dirty="0"/>
              <a:t>Describe and justify a subjective assessment of a cardiorespiratory patient</a:t>
            </a:r>
          </a:p>
          <a:p>
            <a:r>
              <a:rPr lang="en-GB" dirty="0"/>
              <a:t>Describe and justify an objective assessment of a cardiorespiratory patient</a:t>
            </a:r>
          </a:p>
          <a:p>
            <a:endParaRPr lang="en-GB" dirty="0"/>
          </a:p>
        </p:txBody>
      </p:sp>
    </p:spTree>
    <p:extLst>
      <p:ext uri="{BB962C8B-B14F-4D97-AF65-F5344CB8AC3E}">
        <p14:creationId xmlns:p14="http://schemas.microsoft.com/office/powerpoint/2010/main" val="3590226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Assessment Aims</a:t>
            </a:r>
          </a:p>
        </p:txBody>
      </p:sp>
      <p:sp>
        <p:nvSpPr>
          <p:cNvPr id="3" name="Content Placeholder 2"/>
          <p:cNvSpPr>
            <a:spLocks noGrp="1"/>
          </p:cNvSpPr>
          <p:nvPr>
            <p:ph idx="1"/>
          </p:nvPr>
        </p:nvSpPr>
        <p:spPr/>
        <p:txBody>
          <a:bodyPr/>
          <a:lstStyle/>
          <a:p>
            <a:r>
              <a:rPr lang="en-GB" dirty="0"/>
              <a:t>To define the patient’s problems accurately, by subjective and objective assessments</a:t>
            </a:r>
          </a:p>
          <a:p>
            <a:r>
              <a:rPr lang="en-GB" dirty="0"/>
              <a:t>Accurate assessments required to develop effective treatment plans </a:t>
            </a:r>
          </a:p>
          <a:p>
            <a:r>
              <a:rPr lang="en-GB" sz="2200" dirty="0"/>
              <a:t>Theoretical knowledge</a:t>
            </a:r>
          </a:p>
          <a:p>
            <a:pPr marL="182880" lvl="1">
              <a:spcBef>
                <a:spcPts val="1200"/>
              </a:spcBef>
              <a:spcAft>
                <a:spcPts val="0"/>
              </a:spcAft>
            </a:pPr>
            <a:r>
              <a:rPr lang="en-GB" sz="2000" dirty="0"/>
              <a:t>Assess effectiveness in relation to problem and goals regularly</a:t>
            </a:r>
          </a:p>
          <a:p>
            <a:pPr marL="0" lvl="1" indent="0">
              <a:spcBef>
                <a:spcPts val="1200"/>
              </a:spcBef>
              <a:spcAft>
                <a:spcPts val="0"/>
              </a:spcAft>
              <a:buNone/>
            </a:pPr>
            <a:endParaRPr lang="en-GB" dirty="0"/>
          </a:p>
        </p:txBody>
      </p:sp>
    </p:spTree>
    <p:extLst>
      <p:ext uri="{BB962C8B-B14F-4D97-AF65-F5344CB8AC3E}">
        <p14:creationId xmlns:p14="http://schemas.microsoft.com/office/powerpoint/2010/main" val="6716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5733" y="1209962"/>
            <a:ext cx="6222774" cy="1367644"/>
          </a:xfrm>
        </p:spPr>
        <p:txBody>
          <a:bodyPr/>
          <a:lstStyle/>
          <a:p>
            <a:pPr algn="ctr"/>
            <a:r>
              <a:rPr lang="en-GB" dirty="0"/>
              <a:t>Problem Orientated Medical Records</a:t>
            </a:r>
          </a:p>
        </p:txBody>
      </p:sp>
      <p:pic>
        <p:nvPicPr>
          <p:cNvPr id="4" name="Content Placeholder 3"/>
          <p:cNvPicPr>
            <a:picLocks noGrp="1" noChangeAspect="1"/>
          </p:cNvPicPr>
          <p:nvPr>
            <p:ph idx="1"/>
          </p:nvPr>
        </p:nvPicPr>
        <p:blipFill rotWithShape="1">
          <a:blip r:embed="rId3"/>
          <a:srcRect l="39128" t="14670" r="40287" b="6433"/>
          <a:stretch/>
        </p:blipFill>
        <p:spPr>
          <a:xfrm>
            <a:off x="146124" y="879446"/>
            <a:ext cx="5011528" cy="5601277"/>
          </a:xfrm>
          <a:prstGeom prst="rect">
            <a:avLst/>
          </a:prstGeom>
        </p:spPr>
      </p:pic>
      <p:sp>
        <p:nvSpPr>
          <p:cNvPr id="5" name="TextBox 4"/>
          <p:cNvSpPr txBox="1"/>
          <p:nvPr/>
        </p:nvSpPr>
        <p:spPr>
          <a:xfrm>
            <a:off x="5338354" y="6077086"/>
            <a:ext cx="1515291" cy="369332"/>
          </a:xfrm>
          <a:prstGeom prst="rect">
            <a:avLst/>
          </a:prstGeom>
          <a:noFill/>
        </p:spPr>
        <p:txBody>
          <a:bodyPr wrap="square" rtlCol="0">
            <a:spAutoFit/>
          </a:bodyPr>
          <a:lstStyle/>
          <a:p>
            <a:r>
              <a:rPr lang="en-GB" dirty="0"/>
              <a:t>Pryor (2011)</a:t>
            </a:r>
          </a:p>
        </p:txBody>
      </p:sp>
      <p:sp>
        <p:nvSpPr>
          <p:cNvPr id="3" name="Rectangle 2"/>
          <p:cNvSpPr/>
          <p:nvPr/>
        </p:nvSpPr>
        <p:spPr>
          <a:xfrm>
            <a:off x="5572253" y="1026606"/>
            <a:ext cx="5899475" cy="1793631"/>
          </a:xfrm>
          <a:prstGeom prst="rect">
            <a:avLst/>
          </a:prstGeom>
          <a:no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p:cNvSpPr txBox="1"/>
          <p:nvPr/>
        </p:nvSpPr>
        <p:spPr>
          <a:xfrm>
            <a:off x="7431342" y="3316829"/>
            <a:ext cx="1931422" cy="1754326"/>
          </a:xfrm>
          <a:prstGeom prst="rect">
            <a:avLst/>
          </a:prstGeom>
          <a:noFill/>
        </p:spPr>
        <p:txBody>
          <a:bodyPr wrap="square" rtlCol="0">
            <a:spAutoFit/>
          </a:bodyPr>
          <a:lstStyle/>
          <a:p>
            <a:pPr algn="ctr"/>
            <a:r>
              <a:rPr lang="en-GB" dirty="0"/>
              <a:t>Difficult to develop appropriate plan without accurate assessment</a:t>
            </a:r>
          </a:p>
        </p:txBody>
      </p:sp>
      <p:sp>
        <p:nvSpPr>
          <p:cNvPr id="7" name="Rectangle 6"/>
          <p:cNvSpPr/>
          <p:nvPr/>
        </p:nvSpPr>
        <p:spPr>
          <a:xfrm>
            <a:off x="7349241" y="3115592"/>
            <a:ext cx="2013523" cy="20115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40191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3000" dirty="0"/>
              <a:t>Assessment Components</a:t>
            </a:r>
          </a:p>
        </p:txBody>
      </p:sp>
      <p:sp>
        <p:nvSpPr>
          <p:cNvPr id="3" name="Content Placeholder 2"/>
          <p:cNvSpPr>
            <a:spLocks noGrp="1"/>
          </p:cNvSpPr>
          <p:nvPr>
            <p:ph idx="1"/>
          </p:nvPr>
        </p:nvSpPr>
        <p:spPr/>
        <p:txBody>
          <a:bodyPr>
            <a:normAutofit fontScale="70000" lnSpcReduction="20000"/>
          </a:bodyPr>
          <a:lstStyle/>
          <a:p>
            <a:pPr marL="0" indent="0">
              <a:buNone/>
            </a:pPr>
            <a:r>
              <a:rPr lang="en-GB" dirty="0"/>
              <a:t>Data from alterative sources:: Medical notes, handovers, </a:t>
            </a:r>
          </a:p>
          <a:p>
            <a:pPr marL="0" indent="0">
              <a:buNone/>
            </a:pPr>
            <a:endParaRPr lang="en-GB" dirty="0"/>
          </a:p>
          <a:p>
            <a:pPr marL="0" indent="0">
              <a:buNone/>
            </a:pPr>
            <a:r>
              <a:rPr lang="en-GB" dirty="0"/>
              <a:t>Subjective Assessment</a:t>
            </a:r>
          </a:p>
          <a:p>
            <a:r>
              <a:rPr lang="en-GB" dirty="0"/>
              <a:t>Interview style assessment </a:t>
            </a:r>
          </a:p>
          <a:p>
            <a:r>
              <a:rPr lang="en-GB" dirty="0"/>
              <a:t>Information re symptoms, feeling, perceptions and concerns</a:t>
            </a:r>
          </a:p>
          <a:p>
            <a:pPr marL="0" indent="0">
              <a:buNone/>
            </a:pPr>
            <a:endParaRPr lang="en-GB" dirty="0"/>
          </a:p>
          <a:p>
            <a:pPr marL="0" indent="0">
              <a:buNone/>
            </a:pPr>
            <a:r>
              <a:rPr lang="en-GB" dirty="0"/>
              <a:t>Objective Assessment</a:t>
            </a:r>
          </a:p>
          <a:p>
            <a:r>
              <a:rPr lang="en-GB" dirty="0"/>
              <a:t>Observable and measurable data and signs.</a:t>
            </a:r>
          </a:p>
          <a:p>
            <a:r>
              <a:rPr lang="en-GB" dirty="0"/>
              <a:t>obtained through observation, physical examination and diagnostic testing </a:t>
            </a:r>
          </a:p>
          <a:p>
            <a:pPr marL="0" indent="0" algn="ctr">
              <a:buNone/>
            </a:pPr>
            <a:r>
              <a:rPr lang="en-GB" dirty="0"/>
              <a:t>Auscultation</a:t>
            </a:r>
          </a:p>
          <a:p>
            <a:pPr marL="0" indent="0" algn="ctr">
              <a:buNone/>
            </a:pPr>
            <a:r>
              <a:rPr lang="en-GB" dirty="0"/>
              <a:t>Palpation</a:t>
            </a:r>
          </a:p>
          <a:p>
            <a:pPr marL="0" indent="0" algn="ctr">
              <a:buNone/>
            </a:pPr>
            <a:r>
              <a:rPr lang="en-GB" dirty="0"/>
              <a:t>Imaging </a:t>
            </a:r>
          </a:p>
          <a:p>
            <a:pPr marL="0" indent="0" algn="ctr">
              <a:buNone/>
            </a:pPr>
            <a:r>
              <a:rPr lang="en-GB" dirty="0"/>
              <a:t>Lung function testing </a:t>
            </a:r>
          </a:p>
          <a:p>
            <a:pPr marL="0" indent="0" algn="ctr">
              <a:buNone/>
            </a:pPr>
            <a:r>
              <a:rPr lang="en-GB" dirty="0"/>
              <a:t>Exercise assessments</a:t>
            </a:r>
          </a:p>
        </p:txBody>
      </p:sp>
    </p:spTree>
    <p:extLst>
      <p:ext uri="{BB962C8B-B14F-4D97-AF65-F5344CB8AC3E}">
        <p14:creationId xmlns:p14="http://schemas.microsoft.com/office/powerpoint/2010/main" val="183769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246630944"/>
              </p:ext>
            </p:extLst>
          </p:nvPr>
        </p:nvGraphicFramePr>
        <p:xfrm>
          <a:off x="1985105" y="68667"/>
          <a:ext cx="8811848" cy="6261801"/>
        </p:xfrm>
        <a:graphic>
          <a:graphicData uri="http://schemas.openxmlformats.org/drawingml/2006/table">
            <a:tbl>
              <a:tblPr firstRow="1" bandRow="1">
                <a:tableStyleId>{5C22544A-7EE6-4342-B048-85BDC9FD1C3A}</a:tableStyleId>
              </a:tblPr>
              <a:tblGrid>
                <a:gridCol w="4405924">
                  <a:extLst>
                    <a:ext uri="{9D8B030D-6E8A-4147-A177-3AD203B41FA5}">
                      <a16:colId xmlns:a16="http://schemas.microsoft.com/office/drawing/2014/main" val="3808175709"/>
                    </a:ext>
                  </a:extLst>
                </a:gridCol>
                <a:gridCol w="4405924">
                  <a:extLst>
                    <a:ext uri="{9D8B030D-6E8A-4147-A177-3AD203B41FA5}">
                      <a16:colId xmlns:a16="http://schemas.microsoft.com/office/drawing/2014/main" val="1413275739"/>
                    </a:ext>
                  </a:extLst>
                </a:gridCol>
              </a:tblGrid>
              <a:tr h="481677">
                <a:tc>
                  <a:txBody>
                    <a:bodyPr/>
                    <a:lstStyle/>
                    <a:p>
                      <a:pPr algn="ctr"/>
                      <a:r>
                        <a:rPr lang="en-GB" dirty="0"/>
                        <a:t>Symptoms</a:t>
                      </a:r>
                      <a:r>
                        <a:rPr lang="en-GB" baseline="0" dirty="0"/>
                        <a:t> </a:t>
                      </a:r>
                      <a:endParaRPr lang="en-GB" dirty="0"/>
                    </a:p>
                  </a:txBody>
                  <a:tcPr/>
                </a:tc>
                <a:tc>
                  <a:txBody>
                    <a:bodyPr/>
                    <a:lstStyle/>
                    <a:p>
                      <a:pPr algn="ctr"/>
                      <a:r>
                        <a:rPr lang="en-GB" dirty="0"/>
                        <a:t>Signs</a:t>
                      </a:r>
                    </a:p>
                  </a:txBody>
                  <a:tcPr/>
                </a:tc>
                <a:extLst>
                  <a:ext uri="{0D108BD9-81ED-4DB2-BD59-A6C34878D82A}">
                    <a16:rowId xmlns:a16="http://schemas.microsoft.com/office/drawing/2014/main" val="1270020396"/>
                  </a:ext>
                </a:extLst>
              </a:tr>
              <a:tr h="481677">
                <a:tc>
                  <a:txBody>
                    <a:bodyPr/>
                    <a:lstStyle/>
                    <a:p>
                      <a:pPr algn="ctr"/>
                      <a:r>
                        <a:rPr lang="en-GB" sz="1800" b="0" i="0" kern="1200" dirty="0">
                          <a:solidFill>
                            <a:schemeClr val="tx1">
                              <a:lumMod val="65000"/>
                              <a:lumOff val="35000"/>
                            </a:schemeClr>
                          </a:solidFill>
                          <a:effectLst/>
                          <a:latin typeface="+mn-lt"/>
                          <a:ea typeface="+mn-ea"/>
                          <a:cs typeface="+mn-cs"/>
                        </a:rPr>
                        <a:t>Breathlessness (dyspnoea)</a:t>
                      </a:r>
                      <a:endParaRPr lang="en-GB" dirty="0">
                        <a:solidFill>
                          <a:schemeClr val="tx1">
                            <a:lumMod val="65000"/>
                            <a:lumOff val="35000"/>
                          </a:schemeClr>
                        </a:solidFill>
                      </a:endParaRPr>
                    </a:p>
                  </a:txBody>
                  <a:tcPr/>
                </a:tc>
                <a:tc>
                  <a:txBody>
                    <a:bodyPr/>
                    <a:lstStyle/>
                    <a:p>
                      <a:pPr algn="ctr"/>
                      <a:r>
                        <a:rPr lang="en-GB" dirty="0">
                          <a:solidFill>
                            <a:schemeClr val="tx1">
                              <a:lumMod val="65000"/>
                              <a:lumOff val="35000"/>
                            </a:schemeClr>
                          </a:solidFill>
                        </a:rPr>
                        <a:t>Sounds on</a:t>
                      </a:r>
                      <a:r>
                        <a:rPr lang="en-GB" baseline="0" dirty="0">
                          <a:solidFill>
                            <a:schemeClr val="tx1">
                              <a:lumMod val="65000"/>
                              <a:lumOff val="35000"/>
                            </a:schemeClr>
                          </a:solidFill>
                        </a:rPr>
                        <a:t> auscultation</a:t>
                      </a:r>
                      <a:endParaRPr lang="en-GB" dirty="0">
                        <a:solidFill>
                          <a:schemeClr val="tx1">
                            <a:lumMod val="65000"/>
                            <a:lumOff val="35000"/>
                          </a:schemeClr>
                        </a:solidFill>
                      </a:endParaRPr>
                    </a:p>
                  </a:txBody>
                  <a:tcPr/>
                </a:tc>
                <a:extLst>
                  <a:ext uri="{0D108BD9-81ED-4DB2-BD59-A6C34878D82A}">
                    <a16:rowId xmlns:a16="http://schemas.microsoft.com/office/drawing/2014/main" val="4088235896"/>
                  </a:ext>
                </a:extLst>
              </a:tr>
              <a:tr h="481677">
                <a:tc>
                  <a:txBody>
                    <a:bodyPr/>
                    <a:lstStyle/>
                    <a:p>
                      <a:pPr algn="ctr"/>
                      <a:r>
                        <a:rPr lang="en-GB" dirty="0">
                          <a:solidFill>
                            <a:schemeClr val="tx1">
                              <a:lumMod val="65000"/>
                              <a:lumOff val="35000"/>
                            </a:schemeClr>
                          </a:solidFill>
                        </a:rPr>
                        <a:t>Cough </a:t>
                      </a:r>
                    </a:p>
                  </a:txBody>
                  <a:tcPr/>
                </a:tc>
                <a:tc>
                  <a:txBody>
                    <a:bodyPr/>
                    <a:lstStyle/>
                    <a:p>
                      <a:pPr algn="ctr"/>
                      <a:r>
                        <a:rPr lang="en-GB" dirty="0">
                          <a:solidFill>
                            <a:schemeClr val="tx1">
                              <a:lumMod val="65000"/>
                              <a:lumOff val="35000"/>
                            </a:schemeClr>
                          </a:solidFill>
                        </a:rPr>
                        <a:t>Palpation</a:t>
                      </a:r>
                    </a:p>
                  </a:txBody>
                  <a:tcPr/>
                </a:tc>
                <a:extLst>
                  <a:ext uri="{0D108BD9-81ED-4DB2-BD59-A6C34878D82A}">
                    <a16:rowId xmlns:a16="http://schemas.microsoft.com/office/drawing/2014/main" val="1622799442"/>
                  </a:ext>
                </a:extLst>
              </a:tr>
              <a:tr h="481677">
                <a:tc>
                  <a:txBody>
                    <a:bodyPr/>
                    <a:lstStyle/>
                    <a:p>
                      <a:pPr algn="ctr"/>
                      <a:r>
                        <a:rPr lang="en-GB" dirty="0">
                          <a:solidFill>
                            <a:schemeClr val="tx1">
                              <a:lumMod val="65000"/>
                              <a:lumOff val="35000"/>
                            </a:schemeClr>
                          </a:solidFill>
                        </a:rPr>
                        <a:t>Sputum </a:t>
                      </a:r>
                    </a:p>
                  </a:txBody>
                  <a:tcPr/>
                </a:tc>
                <a:tc>
                  <a:txBody>
                    <a:bodyPr/>
                    <a:lstStyle/>
                    <a:p>
                      <a:pPr algn="ctr"/>
                      <a:r>
                        <a:rPr lang="en-GB" dirty="0">
                          <a:solidFill>
                            <a:schemeClr val="tx1">
                              <a:lumMod val="65000"/>
                              <a:lumOff val="35000"/>
                            </a:schemeClr>
                          </a:solidFill>
                        </a:rPr>
                        <a:t>Cough</a:t>
                      </a:r>
                      <a:r>
                        <a:rPr lang="en-GB" baseline="0" dirty="0">
                          <a:solidFill>
                            <a:schemeClr val="tx1">
                              <a:lumMod val="65000"/>
                              <a:lumOff val="35000"/>
                            </a:schemeClr>
                          </a:solidFill>
                        </a:rPr>
                        <a:t> quality / productivity </a:t>
                      </a:r>
                      <a:endParaRPr lang="en-GB" dirty="0">
                        <a:solidFill>
                          <a:schemeClr val="tx1">
                            <a:lumMod val="65000"/>
                            <a:lumOff val="35000"/>
                          </a:schemeClr>
                        </a:solidFill>
                      </a:endParaRPr>
                    </a:p>
                  </a:txBody>
                  <a:tcPr/>
                </a:tc>
                <a:extLst>
                  <a:ext uri="{0D108BD9-81ED-4DB2-BD59-A6C34878D82A}">
                    <a16:rowId xmlns:a16="http://schemas.microsoft.com/office/drawing/2014/main" val="340849051"/>
                  </a:ext>
                </a:extLst>
              </a:tr>
              <a:tr h="481677">
                <a:tc>
                  <a:txBody>
                    <a:bodyPr/>
                    <a:lstStyle/>
                    <a:p>
                      <a:pPr algn="ctr"/>
                      <a:r>
                        <a:rPr lang="en-GB" dirty="0">
                          <a:solidFill>
                            <a:schemeClr val="tx1">
                              <a:lumMod val="65000"/>
                              <a:lumOff val="35000"/>
                            </a:schemeClr>
                          </a:solidFill>
                        </a:rPr>
                        <a:t>Chest tightness</a:t>
                      </a:r>
                    </a:p>
                  </a:txBody>
                  <a:tcPr/>
                </a:tc>
                <a:tc>
                  <a:txBody>
                    <a:bodyPr/>
                    <a:lstStyle/>
                    <a:p>
                      <a:pPr algn="ctr"/>
                      <a:r>
                        <a:rPr lang="en-GB" b="1" dirty="0">
                          <a:solidFill>
                            <a:schemeClr val="tx1">
                              <a:lumMod val="65000"/>
                              <a:lumOff val="35000"/>
                            </a:schemeClr>
                          </a:solidFill>
                        </a:rPr>
                        <a:t>O2 saturations </a:t>
                      </a:r>
                    </a:p>
                  </a:txBody>
                  <a:tcPr/>
                </a:tc>
                <a:extLst>
                  <a:ext uri="{0D108BD9-81ED-4DB2-BD59-A6C34878D82A}">
                    <a16:rowId xmlns:a16="http://schemas.microsoft.com/office/drawing/2014/main" val="2874737605"/>
                  </a:ext>
                </a:extLst>
              </a:tr>
              <a:tr h="481677">
                <a:tc>
                  <a:txBody>
                    <a:bodyPr/>
                    <a:lstStyle/>
                    <a:p>
                      <a:pPr algn="ctr"/>
                      <a:r>
                        <a:rPr lang="en-GB" u="sng" dirty="0">
                          <a:solidFill>
                            <a:schemeClr val="tx1">
                              <a:lumMod val="65000"/>
                              <a:lumOff val="35000"/>
                            </a:schemeClr>
                          </a:solidFill>
                        </a:rPr>
                        <a:t>Wheeze</a:t>
                      </a:r>
                    </a:p>
                  </a:txBody>
                  <a:tcPr/>
                </a:tc>
                <a:tc>
                  <a:txBody>
                    <a:bodyPr/>
                    <a:lstStyle/>
                    <a:p>
                      <a:pPr algn="ctr"/>
                      <a:r>
                        <a:rPr lang="en-GB" dirty="0">
                          <a:solidFill>
                            <a:schemeClr val="tx1">
                              <a:lumMod val="65000"/>
                              <a:lumOff val="35000"/>
                            </a:schemeClr>
                          </a:solidFill>
                        </a:rPr>
                        <a:t>Blood Pressure</a:t>
                      </a:r>
                    </a:p>
                  </a:txBody>
                  <a:tcPr/>
                </a:tc>
                <a:extLst>
                  <a:ext uri="{0D108BD9-81ED-4DB2-BD59-A6C34878D82A}">
                    <a16:rowId xmlns:a16="http://schemas.microsoft.com/office/drawing/2014/main" val="2336999634"/>
                  </a:ext>
                </a:extLst>
              </a:tr>
              <a:tr h="481677">
                <a:tc>
                  <a:txBody>
                    <a:bodyPr/>
                    <a:lstStyle/>
                    <a:p>
                      <a:pPr algn="ctr"/>
                      <a:r>
                        <a:rPr lang="en-GB" dirty="0">
                          <a:solidFill>
                            <a:schemeClr val="tx1">
                              <a:lumMod val="65000"/>
                              <a:lumOff val="35000"/>
                            </a:schemeClr>
                          </a:solidFill>
                        </a:rPr>
                        <a:t>Pain</a:t>
                      </a:r>
                    </a:p>
                  </a:txBody>
                  <a:tcPr/>
                </a:tc>
                <a:tc>
                  <a:txBody>
                    <a:bodyPr/>
                    <a:lstStyle/>
                    <a:p>
                      <a:pPr algn="ctr"/>
                      <a:r>
                        <a:rPr lang="en-GB" dirty="0">
                          <a:solidFill>
                            <a:schemeClr val="tx1">
                              <a:lumMod val="65000"/>
                              <a:lumOff val="35000"/>
                            </a:schemeClr>
                          </a:solidFill>
                        </a:rPr>
                        <a:t>Heart</a:t>
                      </a:r>
                      <a:r>
                        <a:rPr lang="en-GB" baseline="0" dirty="0">
                          <a:solidFill>
                            <a:schemeClr val="tx1">
                              <a:lumMod val="65000"/>
                              <a:lumOff val="35000"/>
                            </a:schemeClr>
                          </a:solidFill>
                        </a:rPr>
                        <a:t> Rate</a:t>
                      </a:r>
                      <a:endParaRPr lang="en-GB" dirty="0">
                        <a:solidFill>
                          <a:schemeClr val="tx1">
                            <a:lumMod val="65000"/>
                            <a:lumOff val="35000"/>
                          </a:schemeClr>
                        </a:solidFill>
                      </a:endParaRPr>
                    </a:p>
                  </a:txBody>
                  <a:tcPr/>
                </a:tc>
                <a:extLst>
                  <a:ext uri="{0D108BD9-81ED-4DB2-BD59-A6C34878D82A}">
                    <a16:rowId xmlns:a16="http://schemas.microsoft.com/office/drawing/2014/main" val="3371408204"/>
                  </a:ext>
                </a:extLst>
              </a:tr>
              <a:tr h="481677">
                <a:tc>
                  <a:txBody>
                    <a:bodyPr/>
                    <a:lstStyle/>
                    <a:p>
                      <a:pPr algn="ctr"/>
                      <a:r>
                        <a:rPr lang="en-GB" dirty="0">
                          <a:solidFill>
                            <a:schemeClr val="tx1">
                              <a:lumMod val="65000"/>
                              <a:lumOff val="35000"/>
                            </a:schemeClr>
                          </a:solidFill>
                        </a:rPr>
                        <a:t>Reduced exercise capacity</a:t>
                      </a:r>
                    </a:p>
                  </a:txBody>
                  <a:tcPr/>
                </a:tc>
                <a:tc>
                  <a:txBody>
                    <a:bodyPr/>
                    <a:lstStyle/>
                    <a:p>
                      <a:pPr algn="ctr"/>
                      <a:r>
                        <a:rPr lang="en-GB" dirty="0">
                          <a:solidFill>
                            <a:schemeClr val="tx1">
                              <a:lumMod val="65000"/>
                              <a:lumOff val="35000"/>
                            </a:schemeClr>
                          </a:solidFill>
                        </a:rPr>
                        <a:t>Imaging</a:t>
                      </a:r>
                      <a:r>
                        <a:rPr lang="en-GB" baseline="0" dirty="0">
                          <a:solidFill>
                            <a:schemeClr val="tx1">
                              <a:lumMod val="65000"/>
                              <a:lumOff val="35000"/>
                            </a:schemeClr>
                          </a:solidFill>
                        </a:rPr>
                        <a:t> ( </a:t>
                      </a:r>
                      <a:r>
                        <a:rPr lang="en-GB" baseline="0" dirty="0" err="1">
                          <a:solidFill>
                            <a:schemeClr val="tx1">
                              <a:lumMod val="65000"/>
                              <a:lumOff val="35000"/>
                            </a:schemeClr>
                          </a:solidFill>
                        </a:rPr>
                        <a:t>Xrays</a:t>
                      </a:r>
                      <a:r>
                        <a:rPr lang="en-GB" baseline="0" dirty="0">
                          <a:solidFill>
                            <a:schemeClr val="tx1">
                              <a:lumMod val="65000"/>
                              <a:lumOff val="35000"/>
                            </a:schemeClr>
                          </a:solidFill>
                        </a:rPr>
                        <a:t>, CT’s)</a:t>
                      </a:r>
                      <a:endParaRPr lang="en-GB" dirty="0">
                        <a:solidFill>
                          <a:schemeClr val="tx1">
                            <a:lumMod val="65000"/>
                            <a:lumOff val="35000"/>
                          </a:schemeClr>
                        </a:solidFill>
                      </a:endParaRPr>
                    </a:p>
                  </a:txBody>
                  <a:tcPr/>
                </a:tc>
                <a:extLst>
                  <a:ext uri="{0D108BD9-81ED-4DB2-BD59-A6C34878D82A}">
                    <a16:rowId xmlns:a16="http://schemas.microsoft.com/office/drawing/2014/main" val="3391493629"/>
                  </a:ext>
                </a:extLst>
              </a:tr>
              <a:tr h="481677">
                <a:tc>
                  <a:txBody>
                    <a:bodyPr/>
                    <a:lstStyle/>
                    <a:p>
                      <a:pPr algn="ctr"/>
                      <a:r>
                        <a:rPr lang="en-GB" dirty="0">
                          <a:solidFill>
                            <a:schemeClr val="tx1">
                              <a:lumMod val="65000"/>
                              <a:lumOff val="35000"/>
                            </a:schemeClr>
                          </a:solidFill>
                        </a:rPr>
                        <a:t>Change in weight</a:t>
                      </a:r>
                    </a:p>
                  </a:txBody>
                  <a:tcPr/>
                </a:tc>
                <a:tc>
                  <a:txBody>
                    <a:bodyPr/>
                    <a:lstStyle/>
                    <a:p>
                      <a:pPr algn="ctr"/>
                      <a:r>
                        <a:rPr lang="en-GB" dirty="0">
                          <a:solidFill>
                            <a:schemeClr val="tx1">
                              <a:lumMod val="65000"/>
                              <a:lumOff val="35000"/>
                            </a:schemeClr>
                          </a:solidFill>
                        </a:rPr>
                        <a:t>Spirometry / Peak flow</a:t>
                      </a:r>
                    </a:p>
                  </a:txBody>
                  <a:tcPr/>
                </a:tc>
                <a:extLst>
                  <a:ext uri="{0D108BD9-81ED-4DB2-BD59-A6C34878D82A}">
                    <a16:rowId xmlns:a16="http://schemas.microsoft.com/office/drawing/2014/main" val="4285439396"/>
                  </a:ext>
                </a:extLst>
              </a:tr>
              <a:tr h="481677">
                <a:tc>
                  <a:txBody>
                    <a:bodyPr/>
                    <a:lstStyle/>
                    <a:p>
                      <a:pPr algn="ctr"/>
                      <a:endParaRPr lang="en-GB" dirty="0">
                        <a:solidFill>
                          <a:schemeClr val="tx1">
                            <a:lumMod val="65000"/>
                            <a:lumOff val="35000"/>
                          </a:schemeClr>
                        </a:solidFill>
                      </a:endParaRPr>
                    </a:p>
                  </a:txBody>
                  <a:tcPr/>
                </a:tc>
                <a:tc>
                  <a:txBody>
                    <a:bodyPr/>
                    <a:lstStyle/>
                    <a:p>
                      <a:pPr algn="ctr"/>
                      <a:r>
                        <a:rPr lang="en-GB" dirty="0">
                          <a:solidFill>
                            <a:schemeClr val="tx1">
                              <a:lumMod val="65000"/>
                              <a:lumOff val="35000"/>
                            </a:schemeClr>
                          </a:solidFill>
                        </a:rPr>
                        <a:t>Blood gases </a:t>
                      </a:r>
                    </a:p>
                  </a:txBody>
                  <a:tcPr/>
                </a:tc>
                <a:extLst>
                  <a:ext uri="{0D108BD9-81ED-4DB2-BD59-A6C34878D82A}">
                    <a16:rowId xmlns:a16="http://schemas.microsoft.com/office/drawing/2014/main" val="1865620832"/>
                  </a:ext>
                </a:extLst>
              </a:tr>
              <a:tr h="481677">
                <a:tc>
                  <a:txBody>
                    <a:bodyPr/>
                    <a:lstStyle/>
                    <a:p>
                      <a:pPr algn="ctr"/>
                      <a:endParaRPr lang="en-GB" dirty="0">
                        <a:solidFill>
                          <a:schemeClr val="tx1">
                            <a:lumMod val="65000"/>
                            <a:lumOff val="35000"/>
                          </a:schemeClr>
                        </a:solidFill>
                      </a:endParaRPr>
                    </a:p>
                  </a:txBody>
                  <a:tcPr/>
                </a:tc>
                <a:tc>
                  <a:txBody>
                    <a:bodyPr/>
                    <a:lstStyle/>
                    <a:p>
                      <a:pPr algn="ctr"/>
                      <a:r>
                        <a:rPr lang="en-GB" dirty="0">
                          <a:solidFill>
                            <a:schemeClr val="tx1">
                              <a:lumMod val="65000"/>
                              <a:lumOff val="35000"/>
                            </a:schemeClr>
                          </a:solidFill>
                        </a:rPr>
                        <a:t>Level</a:t>
                      </a:r>
                      <a:r>
                        <a:rPr lang="en-GB" baseline="0" dirty="0">
                          <a:solidFill>
                            <a:schemeClr val="tx1">
                              <a:lumMod val="65000"/>
                              <a:lumOff val="35000"/>
                            </a:schemeClr>
                          </a:solidFill>
                        </a:rPr>
                        <a:t> of consciousness</a:t>
                      </a:r>
                      <a:endParaRPr lang="en-GB" dirty="0">
                        <a:solidFill>
                          <a:schemeClr val="tx1">
                            <a:lumMod val="65000"/>
                            <a:lumOff val="35000"/>
                          </a:schemeClr>
                        </a:solidFill>
                      </a:endParaRPr>
                    </a:p>
                  </a:txBody>
                  <a:tcPr/>
                </a:tc>
                <a:extLst>
                  <a:ext uri="{0D108BD9-81ED-4DB2-BD59-A6C34878D82A}">
                    <a16:rowId xmlns:a16="http://schemas.microsoft.com/office/drawing/2014/main" val="2948452248"/>
                  </a:ext>
                </a:extLst>
              </a:tr>
              <a:tr h="481677">
                <a:tc>
                  <a:txBody>
                    <a:bodyPr/>
                    <a:lstStyle/>
                    <a:p>
                      <a:pPr algn="ctr"/>
                      <a:endParaRPr lang="en-GB" dirty="0">
                        <a:solidFill>
                          <a:schemeClr val="tx1">
                            <a:lumMod val="65000"/>
                            <a:lumOff val="35000"/>
                          </a:schemeClr>
                        </a:solidFill>
                      </a:endParaRPr>
                    </a:p>
                  </a:txBody>
                  <a:tcPr/>
                </a:tc>
                <a:tc>
                  <a:txBody>
                    <a:bodyPr/>
                    <a:lstStyle/>
                    <a:p>
                      <a:pPr algn="ctr"/>
                      <a:r>
                        <a:rPr lang="en-GB" dirty="0">
                          <a:solidFill>
                            <a:schemeClr val="tx1">
                              <a:lumMod val="65000"/>
                              <a:lumOff val="35000"/>
                            </a:schemeClr>
                          </a:solidFill>
                        </a:rPr>
                        <a:t>Work</a:t>
                      </a:r>
                      <a:r>
                        <a:rPr lang="en-GB" baseline="0" dirty="0">
                          <a:solidFill>
                            <a:schemeClr val="tx1">
                              <a:lumMod val="65000"/>
                              <a:lumOff val="35000"/>
                            </a:schemeClr>
                          </a:solidFill>
                        </a:rPr>
                        <a:t> of breathing </a:t>
                      </a:r>
                      <a:endParaRPr lang="en-GB" dirty="0">
                        <a:solidFill>
                          <a:schemeClr val="tx1">
                            <a:lumMod val="65000"/>
                            <a:lumOff val="35000"/>
                          </a:schemeClr>
                        </a:solidFill>
                      </a:endParaRPr>
                    </a:p>
                  </a:txBody>
                  <a:tcPr/>
                </a:tc>
                <a:extLst>
                  <a:ext uri="{0D108BD9-81ED-4DB2-BD59-A6C34878D82A}">
                    <a16:rowId xmlns:a16="http://schemas.microsoft.com/office/drawing/2014/main" val="2635935079"/>
                  </a:ext>
                </a:extLst>
              </a:tr>
              <a:tr h="481677">
                <a:tc>
                  <a:txBody>
                    <a:bodyPr/>
                    <a:lstStyle/>
                    <a:p>
                      <a:pPr algn="ctr"/>
                      <a:endParaRPr lang="en-GB" dirty="0">
                        <a:solidFill>
                          <a:schemeClr val="tx1">
                            <a:lumMod val="65000"/>
                            <a:lumOff val="35000"/>
                          </a:schemeClr>
                        </a:solidFill>
                      </a:endParaRPr>
                    </a:p>
                  </a:txBody>
                  <a:tcPr/>
                </a:tc>
                <a:tc>
                  <a:txBody>
                    <a:bodyPr/>
                    <a:lstStyle/>
                    <a:p>
                      <a:pPr algn="ctr"/>
                      <a:r>
                        <a:rPr lang="en-GB" dirty="0">
                          <a:solidFill>
                            <a:schemeClr val="tx1">
                              <a:lumMod val="65000"/>
                              <a:lumOff val="35000"/>
                            </a:schemeClr>
                          </a:solidFill>
                        </a:rPr>
                        <a:t>Use of supplementary</a:t>
                      </a:r>
                      <a:r>
                        <a:rPr lang="en-GB" baseline="0" dirty="0">
                          <a:solidFill>
                            <a:schemeClr val="tx1">
                              <a:lumMod val="65000"/>
                              <a:lumOff val="35000"/>
                            </a:schemeClr>
                          </a:solidFill>
                        </a:rPr>
                        <a:t> O2</a:t>
                      </a:r>
                      <a:endParaRPr lang="en-GB" dirty="0">
                        <a:solidFill>
                          <a:schemeClr val="tx1">
                            <a:lumMod val="65000"/>
                            <a:lumOff val="35000"/>
                          </a:schemeClr>
                        </a:solidFill>
                      </a:endParaRPr>
                    </a:p>
                  </a:txBody>
                  <a:tcPr/>
                </a:tc>
                <a:extLst>
                  <a:ext uri="{0D108BD9-81ED-4DB2-BD59-A6C34878D82A}">
                    <a16:rowId xmlns:a16="http://schemas.microsoft.com/office/drawing/2014/main" val="4200610394"/>
                  </a:ext>
                </a:extLst>
              </a:tr>
            </a:tbl>
          </a:graphicData>
        </a:graphic>
      </p:graphicFrame>
      <p:sp>
        <p:nvSpPr>
          <p:cNvPr id="4" name="TextBox 3"/>
          <p:cNvSpPr txBox="1"/>
          <p:nvPr/>
        </p:nvSpPr>
        <p:spPr>
          <a:xfrm>
            <a:off x="8868508" y="6330468"/>
            <a:ext cx="3323492" cy="369332"/>
          </a:xfrm>
          <a:prstGeom prst="rect">
            <a:avLst/>
          </a:prstGeom>
          <a:noFill/>
        </p:spPr>
        <p:txBody>
          <a:bodyPr wrap="square" rtlCol="0">
            <a:spAutoFit/>
          </a:bodyPr>
          <a:lstStyle/>
          <a:p>
            <a:r>
              <a:rPr lang="en-GB" dirty="0"/>
              <a:t>* Some cross over can occur</a:t>
            </a:r>
          </a:p>
        </p:txBody>
      </p:sp>
    </p:spTree>
    <p:extLst>
      <p:ext uri="{BB962C8B-B14F-4D97-AF65-F5344CB8AC3E}">
        <p14:creationId xmlns:p14="http://schemas.microsoft.com/office/powerpoint/2010/main" val="1871996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Information Gathered from Other Sources</a:t>
            </a:r>
          </a:p>
        </p:txBody>
      </p:sp>
      <p:sp>
        <p:nvSpPr>
          <p:cNvPr id="3" name="Content Placeholder 2"/>
          <p:cNvSpPr>
            <a:spLocks noGrp="1"/>
          </p:cNvSpPr>
          <p:nvPr>
            <p:ph idx="1"/>
          </p:nvPr>
        </p:nvSpPr>
        <p:spPr/>
        <p:txBody>
          <a:bodyPr>
            <a:normAutofit fontScale="92500"/>
          </a:bodyPr>
          <a:lstStyle/>
          <a:p>
            <a:pPr marL="0" indent="0">
              <a:buNone/>
            </a:pPr>
            <a:r>
              <a:rPr lang="en-GB" dirty="0"/>
              <a:t>Details gathered before reviewing the patient should include:</a:t>
            </a:r>
          </a:p>
          <a:p>
            <a:r>
              <a:rPr lang="en-GB" dirty="0"/>
              <a:t>Reasons for admission / presentation</a:t>
            </a:r>
          </a:p>
          <a:p>
            <a:r>
              <a:rPr lang="en-GB" dirty="0"/>
              <a:t>Understanding of medical history</a:t>
            </a:r>
          </a:p>
          <a:p>
            <a:r>
              <a:rPr lang="en-GB" dirty="0"/>
              <a:t>Social History</a:t>
            </a:r>
          </a:p>
          <a:p>
            <a:r>
              <a:rPr lang="en-GB" dirty="0"/>
              <a:t>Drug history</a:t>
            </a:r>
          </a:p>
          <a:p>
            <a:r>
              <a:rPr lang="en-GB" dirty="0"/>
              <a:t>Reviewing relevant investigation: Chest x-rays, CTs,  bloods results, ABG</a:t>
            </a:r>
          </a:p>
          <a:p>
            <a:r>
              <a:rPr lang="en-GB" dirty="0"/>
              <a:t>Observation charts </a:t>
            </a:r>
          </a:p>
          <a:p>
            <a:pPr marL="0" indent="0" algn="ctr">
              <a:buNone/>
            </a:pPr>
            <a:r>
              <a:rPr lang="en-GB" dirty="0"/>
              <a:t>The above can be achieved by:</a:t>
            </a:r>
          </a:p>
          <a:p>
            <a:r>
              <a:rPr lang="en-GB" dirty="0"/>
              <a:t> Reading notes ( recent / previous documentations / referral letters</a:t>
            </a:r>
          </a:p>
          <a:p>
            <a:r>
              <a:rPr lang="en-GB" dirty="0" err="1"/>
              <a:t>Liase</a:t>
            </a:r>
            <a:r>
              <a:rPr lang="en-GB" dirty="0"/>
              <a:t> with MDT</a:t>
            </a:r>
          </a:p>
        </p:txBody>
      </p:sp>
    </p:spTree>
    <p:extLst>
      <p:ext uri="{BB962C8B-B14F-4D97-AF65-F5344CB8AC3E}">
        <p14:creationId xmlns:p14="http://schemas.microsoft.com/office/powerpoint/2010/main" val="1613101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Subjective Assessment</a:t>
            </a:r>
          </a:p>
        </p:txBody>
      </p:sp>
      <p:sp>
        <p:nvSpPr>
          <p:cNvPr id="3" name="Content Placeholder 2"/>
          <p:cNvSpPr>
            <a:spLocks noGrp="1"/>
          </p:cNvSpPr>
          <p:nvPr>
            <p:ph idx="1"/>
          </p:nvPr>
        </p:nvSpPr>
        <p:spPr/>
        <p:txBody>
          <a:bodyPr>
            <a:normAutofit fontScale="62500" lnSpcReduction="20000"/>
          </a:bodyPr>
          <a:lstStyle/>
          <a:p>
            <a:pPr marL="0" indent="0">
              <a:buNone/>
            </a:pPr>
            <a:r>
              <a:rPr lang="en-GB" dirty="0"/>
              <a:t>Information gathering / interview with the following aims:</a:t>
            </a:r>
          </a:p>
          <a:p>
            <a:r>
              <a:rPr lang="en-GB" dirty="0"/>
              <a:t>Confirm information previously  gained </a:t>
            </a:r>
          </a:p>
          <a:p>
            <a:r>
              <a:rPr lang="en-GB" dirty="0"/>
              <a:t>Fill gaps of information </a:t>
            </a:r>
          </a:p>
          <a:p>
            <a:endParaRPr lang="en-GB" dirty="0"/>
          </a:p>
          <a:p>
            <a:r>
              <a:rPr lang="en-GB" dirty="0"/>
              <a:t>History of Presenting Complaint (HPC) </a:t>
            </a:r>
          </a:p>
          <a:p>
            <a:pPr lvl="1"/>
            <a:r>
              <a:rPr lang="en-GB" dirty="0"/>
              <a:t>Summary of current problems, history of onset </a:t>
            </a:r>
          </a:p>
          <a:p>
            <a:r>
              <a:rPr lang="en-GB" dirty="0"/>
              <a:t>Past Medical History (PMH)</a:t>
            </a:r>
          </a:p>
          <a:p>
            <a:r>
              <a:rPr lang="en-GB" dirty="0"/>
              <a:t>Drug History </a:t>
            </a:r>
          </a:p>
          <a:p>
            <a:pPr lvl="1"/>
            <a:r>
              <a:rPr lang="en-GB" dirty="0"/>
              <a:t>Current medication (including dosage). Allergies to be noted </a:t>
            </a:r>
          </a:p>
          <a:p>
            <a:r>
              <a:rPr lang="en-GB" dirty="0"/>
              <a:t>Social History </a:t>
            </a:r>
          </a:p>
          <a:p>
            <a:pPr lvl="1"/>
            <a:r>
              <a:rPr lang="en-GB" dirty="0"/>
              <a:t>Level of function / support, home layout, occupation, hobbies, Smoking history</a:t>
            </a:r>
          </a:p>
          <a:p>
            <a:r>
              <a:rPr lang="en-GB" dirty="0"/>
              <a:t>Exercise Tolerance</a:t>
            </a:r>
          </a:p>
          <a:p>
            <a:r>
              <a:rPr lang="en-GB" dirty="0"/>
              <a:t>Previous physiotherapy intervention </a:t>
            </a:r>
          </a:p>
          <a:p>
            <a:r>
              <a:rPr lang="en-GB" dirty="0"/>
              <a:t>Test Results </a:t>
            </a:r>
          </a:p>
          <a:p>
            <a:pPr lvl="1"/>
            <a:r>
              <a:rPr lang="en-GB" dirty="0"/>
              <a:t> what significant findings re available: sputum, blood tests, spirometry </a:t>
            </a:r>
          </a:p>
        </p:txBody>
      </p:sp>
    </p:spTree>
    <p:extLst>
      <p:ext uri="{BB962C8B-B14F-4D97-AF65-F5344CB8AC3E}">
        <p14:creationId xmlns:p14="http://schemas.microsoft.com/office/powerpoint/2010/main" val="1817861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Subjective Assessment </a:t>
            </a:r>
          </a:p>
        </p:txBody>
      </p:sp>
      <p:sp>
        <p:nvSpPr>
          <p:cNvPr id="3" name="Content Placeholder 2"/>
          <p:cNvSpPr>
            <a:spLocks noGrp="1"/>
          </p:cNvSpPr>
          <p:nvPr>
            <p:ph idx="1"/>
          </p:nvPr>
        </p:nvSpPr>
        <p:spPr>
          <a:xfrm>
            <a:off x="3851683" y="604379"/>
            <a:ext cx="7315200" cy="5120640"/>
          </a:xfrm>
        </p:spPr>
        <p:txBody>
          <a:bodyPr/>
          <a:lstStyle/>
          <a:p>
            <a:r>
              <a:rPr lang="en-GB" dirty="0"/>
              <a:t>Breathlessness ( Dyspnoea)</a:t>
            </a:r>
          </a:p>
          <a:p>
            <a:r>
              <a:rPr lang="en-GB" dirty="0"/>
              <a:t>Cough</a:t>
            </a:r>
          </a:p>
          <a:p>
            <a:r>
              <a:rPr lang="en-GB" dirty="0"/>
              <a:t>Sputum </a:t>
            </a:r>
          </a:p>
          <a:p>
            <a:r>
              <a:rPr lang="en-GB" dirty="0"/>
              <a:t>Haemoptysis </a:t>
            </a:r>
          </a:p>
          <a:p>
            <a:r>
              <a:rPr lang="en-GB" dirty="0"/>
              <a:t>Wheeze</a:t>
            </a:r>
          </a:p>
          <a:p>
            <a:r>
              <a:rPr lang="en-GB" dirty="0"/>
              <a:t>Chest pain </a:t>
            </a:r>
          </a:p>
        </p:txBody>
      </p:sp>
      <p:sp>
        <p:nvSpPr>
          <p:cNvPr id="4" name="TextBox 3"/>
          <p:cNvSpPr txBox="1"/>
          <p:nvPr/>
        </p:nvSpPr>
        <p:spPr>
          <a:xfrm>
            <a:off x="7808222" y="1762433"/>
            <a:ext cx="3059723" cy="1200329"/>
          </a:xfrm>
          <a:prstGeom prst="rect">
            <a:avLst/>
          </a:prstGeom>
          <a:noFill/>
          <a:ln w="12700">
            <a:solidFill>
              <a:schemeClr val="tx1"/>
            </a:solidFill>
          </a:ln>
        </p:spPr>
        <p:txBody>
          <a:bodyPr wrap="square" rtlCol="0">
            <a:spAutoFit/>
          </a:bodyPr>
          <a:lstStyle/>
          <a:p>
            <a:pPr algn="ctr"/>
            <a:r>
              <a:rPr lang="en-GB" dirty="0">
                <a:solidFill>
                  <a:schemeClr val="tx1">
                    <a:lumMod val="65000"/>
                    <a:lumOff val="35000"/>
                  </a:schemeClr>
                </a:solidFill>
              </a:rPr>
              <a:t>Duration</a:t>
            </a:r>
          </a:p>
          <a:p>
            <a:pPr algn="ctr"/>
            <a:r>
              <a:rPr lang="en-GB" dirty="0">
                <a:solidFill>
                  <a:schemeClr val="tx1">
                    <a:lumMod val="65000"/>
                    <a:lumOff val="35000"/>
                  </a:schemeClr>
                </a:solidFill>
              </a:rPr>
              <a:t>Severity</a:t>
            </a:r>
          </a:p>
          <a:p>
            <a:pPr algn="ctr"/>
            <a:r>
              <a:rPr lang="en-GB" dirty="0">
                <a:solidFill>
                  <a:schemeClr val="tx1">
                    <a:lumMod val="65000"/>
                    <a:lumOff val="35000"/>
                  </a:schemeClr>
                </a:solidFill>
              </a:rPr>
              <a:t>Pattern</a:t>
            </a:r>
          </a:p>
          <a:p>
            <a:pPr algn="ctr"/>
            <a:r>
              <a:rPr lang="en-GB" dirty="0">
                <a:solidFill>
                  <a:schemeClr val="tx1">
                    <a:lumMod val="65000"/>
                    <a:lumOff val="35000"/>
                  </a:schemeClr>
                </a:solidFill>
              </a:rPr>
              <a:t>Associated Factors </a:t>
            </a:r>
          </a:p>
        </p:txBody>
      </p:sp>
      <p:sp>
        <p:nvSpPr>
          <p:cNvPr id="5" name="Rectangle 4"/>
          <p:cNvSpPr/>
          <p:nvPr/>
        </p:nvSpPr>
        <p:spPr>
          <a:xfrm>
            <a:off x="4461283" y="4808332"/>
            <a:ext cx="6096000" cy="1200329"/>
          </a:xfrm>
          <a:prstGeom prst="rect">
            <a:avLst/>
          </a:prstGeom>
        </p:spPr>
        <p:txBody>
          <a:bodyPr>
            <a:spAutoFit/>
          </a:bodyPr>
          <a:lstStyle/>
          <a:p>
            <a:pPr algn="ctr"/>
            <a:r>
              <a:rPr lang="en-GB" u="sng" dirty="0">
                <a:solidFill>
                  <a:schemeClr val="tx1">
                    <a:lumMod val="65000"/>
                    <a:lumOff val="35000"/>
                  </a:schemeClr>
                </a:solidFill>
              </a:rPr>
              <a:t>Considerations: </a:t>
            </a:r>
          </a:p>
          <a:p>
            <a:endParaRPr lang="en-GB" dirty="0">
              <a:solidFill>
                <a:schemeClr val="tx1">
                  <a:lumMod val="65000"/>
                  <a:lumOff val="35000"/>
                </a:schemeClr>
              </a:solidFill>
            </a:endParaRPr>
          </a:p>
          <a:p>
            <a:r>
              <a:rPr lang="en-GB" dirty="0">
                <a:solidFill>
                  <a:schemeClr val="tx1">
                    <a:lumMod val="65000"/>
                    <a:lumOff val="35000"/>
                  </a:schemeClr>
                </a:solidFill>
              </a:rPr>
              <a:t>Can the patient provide this information directly?</a:t>
            </a:r>
          </a:p>
          <a:p>
            <a:r>
              <a:rPr lang="en-GB" dirty="0">
                <a:solidFill>
                  <a:schemeClr val="tx1">
                    <a:lumMod val="65000"/>
                    <a:lumOff val="35000"/>
                  </a:schemeClr>
                </a:solidFill>
              </a:rPr>
              <a:t>Ascertain baseline information vs Current status </a:t>
            </a:r>
          </a:p>
        </p:txBody>
      </p:sp>
    </p:spTree>
    <p:extLst>
      <p:ext uri="{BB962C8B-B14F-4D97-AF65-F5344CB8AC3E}">
        <p14:creationId xmlns:p14="http://schemas.microsoft.com/office/powerpoint/2010/main" val="1312155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Breathlessness </a:t>
            </a:r>
          </a:p>
        </p:txBody>
      </p:sp>
      <p:pic>
        <p:nvPicPr>
          <p:cNvPr id="6" name="Content Placeholder 5"/>
          <p:cNvPicPr>
            <a:picLocks noGrp="1" noChangeAspect="1"/>
          </p:cNvPicPr>
          <p:nvPr>
            <p:ph idx="1"/>
          </p:nvPr>
        </p:nvPicPr>
        <p:blipFill rotWithShape="1">
          <a:blip r:embed="rId3"/>
          <a:stretch/>
        </p:blipFill>
        <p:spPr>
          <a:xfrm>
            <a:off x="1845501" y="2052638"/>
            <a:ext cx="7462774" cy="4195762"/>
          </a:xfrm>
          <a:prstGeom prst="rect">
            <a:avLst/>
          </a:prstGeom>
        </p:spPr>
      </p:pic>
      <p:sp>
        <p:nvSpPr>
          <p:cNvPr id="9" name="TextBox 8"/>
          <p:cNvSpPr txBox="1"/>
          <p:nvPr/>
        </p:nvSpPr>
        <p:spPr>
          <a:xfrm>
            <a:off x="3657601" y="1247164"/>
            <a:ext cx="7619999" cy="707886"/>
          </a:xfrm>
          <a:prstGeom prst="rect">
            <a:avLst/>
          </a:prstGeom>
          <a:noFill/>
        </p:spPr>
        <p:txBody>
          <a:bodyPr wrap="square" rtlCol="0">
            <a:spAutoFit/>
          </a:bodyPr>
          <a:lstStyle/>
          <a:p>
            <a:r>
              <a:rPr lang="en-GB" sz="2000" dirty="0">
                <a:solidFill>
                  <a:schemeClr val="tx1">
                    <a:lumMod val="65000"/>
                    <a:lumOff val="35000"/>
                  </a:schemeClr>
                </a:solidFill>
              </a:rPr>
              <a:t>Subjective awareness of an increased work of breathing</a:t>
            </a:r>
          </a:p>
          <a:p>
            <a:r>
              <a:rPr lang="en-GB" sz="2000" dirty="0">
                <a:solidFill>
                  <a:schemeClr val="tx1">
                    <a:lumMod val="65000"/>
                    <a:lumOff val="35000"/>
                  </a:schemeClr>
                </a:solidFill>
              </a:rPr>
              <a:t>Dominant symptom of cardiorespiratory disease </a:t>
            </a:r>
          </a:p>
        </p:txBody>
      </p:sp>
      <p:sp>
        <p:nvSpPr>
          <p:cNvPr id="10" name="TextBox 9"/>
          <p:cNvSpPr txBox="1"/>
          <p:nvPr/>
        </p:nvSpPr>
        <p:spPr>
          <a:xfrm>
            <a:off x="3657601" y="3416696"/>
            <a:ext cx="4716378" cy="2862322"/>
          </a:xfrm>
          <a:prstGeom prst="rect">
            <a:avLst/>
          </a:prstGeom>
          <a:noFill/>
        </p:spPr>
        <p:txBody>
          <a:bodyPr wrap="square" rtlCol="0">
            <a:spAutoFit/>
          </a:bodyPr>
          <a:lstStyle/>
          <a:p>
            <a:pPr lvl="0"/>
            <a:r>
              <a:rPr lang="en-US" dirty="0">
                <a:solidFill>
                  <a:schemeClr val="tx1">
                    <a:lumMod val="65000"/>
                    <a:lumOff val="35000"/>
                  </a:schemeClr>
                </a:solidFill>
              </a:rPr>
              <a:t>Do you experience shortness of breath (SOB)?</a:t>
            </a:r>
          </a:p>
          <a:p>
            <a:pPr lvl="0"/>
            <a:r>
              <a:rPr lang="en-US" dirty="0">
                <a:solidFill>
                  <a:schemeClr val="tx1">
                    <a:lumMod val="65000"/>
                    <a:lumOff val="35000"/>
                  </a:schemeClr>
                </a:solidFill>
              </a:rPr>
              <a:t>When do you experience SOB?</a:t>
            </a:r>
          </a:p>
          <a:p>
            <a:pPr lvl="0"/>
            <a:r>
              <a:rPr lang="en-US" dirty="0">
                <a:solidFill>
                  <a:schemeClr val="tx1">
                    <a:lumMod val="65000"/>
                    <a:lumOff val="35000"/>
                  </a:schemeClr>
                </a:solidFill>
              </a:rPr>
              <a:t>- Breathlessness when lying flat –</a:t>
            </a:r>
            <a:r>
              <a:rPr lang="en-US" i="1" dirty="0">
                <a:solidFill>
                  <a:schemeClr val="tx1">
                    <a:lumMod val="65000"/>
                    <a:lumOff val="35000"/>
                  </a:schemeClr>
                </a:solidFill>
              </a:rPr>
              <a:t>Orthopnea</a:t>
            </a:r>
          </a:p>
          <a:p>
            <a:pPr lvl="0"/>
            <a:r>
              <a:rPr lang="en-US" dirty="0">
                <a:solidFill>
                  <a:schemeClr val="tx1">
                    <a:lumMod val="65000"/>
                    <a:lumOff val="35000"/>
                  </a:schemeClr>
                </a:solidFill>
              </a:rPr>
              <a:t>- Do you feel breathless at night?- </a:t>
            </a:r>
            <a:r>
              <a:rPr lang="en-US" i="1" dirty="0">
                <a:solidFill>
                  <a:schemeClr val="tx1">
                    <a:lumMod val="65000"/>
                    <a:lumOff val="35000"/>
                  </a:schemeClr>
                </a:solidFill>
              </a:rPr>
              <a:t>Paroxysmal Nocturnal Dyspnea</a:t>
            </a:r>
            <a:r>
              <a:rPr lang="en-US" dirty="0">
                <a:solidFill>
                  <a:schemeClr val="tx1">
                    <a:lumMod val="65000"/>
                    <a:lumOff val="35000"/>
                  </a:schemeClr>
                </a:solidFill>
              </a:rPr>
              <a:t>?</a:t>
            </a:r>
          </a:p>
          <a:p>
            <a:pPr lvl="0"/>
            <a:r>
              <a:rPr lang="en-US" dirty="0">
                <a:solidFill>
                  <a:schemeClr val="tx1">
                    <a:lumMod val="65000"/>
                    <a:lumOff val="35000"/>
                  </a:schemeClr>
                </a:solidFill>
              </a:rPr>
              <a:t>Which  activities cause SOB?</a:t>
            </a:r>
          </a:p>
          <a:p>
            <a:pPr lvl="0"/>
            <a:r>
              <a:rPr lang="en-US" dirty="0">
                <a:solidFill>
                  <a:schemeClr val="tx1">
                    <a:lumMod val="65000"/>
                    <a:lumOff val="35000"/>
                  </a:schemeClr>
                </a:solidFill>
              </a:rPr>
              <a:t>Have there been a recent changes to your SOB?</a:t>
            </a:r>
          </a:p>
          <a:p>
            <a:pPr lvl="0"/>
            <a:r>
              <a:rPr lang="en-US" dirty="0">
                <a:solidFill>
                  <a:schemeClr val="tx1">
                    <a:lumMod val="65000"/>
                    <a:lumOff val="35000"/>
                  </a:schemeClr>
                </a:solidFill>
              </a:rPr>
              <a:t>What eases your SOB? </a:t>
            </a:r>
          </a:p>
          <a:p>
            <a:pPr lvl="0"/>
            <a:r>
              <a:rPr lang="en-US" dirty="0">
                <a:solidFill>
                  <a:schemeClr val="tx1">
                    <a:lumMod val="65000"/>
                    <a:lumOff val="35000"/>
                  </a:schemeClr>
                </a:solidFill>
              </a:rPr>
              <a:t>How does SOB impact day to day living </a:t>
            </a:r>
          </a:p>
          <a:p>
            <a:endParaRPr lang="en-GB" dirty="0"/>
          </a:p>
        </p:txBody>
      </p:sp>
      <p:sp>
        <p:nvSpPr>
          <p:cNvPr id="11" name="TextBox 10"/>
          <p:cNvSpPr txBox="1"/>
          <p:nvPr/>
        </p:nvSpPr>
        <p:spPr>
          <a:xfrm>
            <a:off x="4764505" y="2919663"/>
            <a:ext cx="3280611" cy="369332"/>
          </a:xfrm>
          <a:prstGeom prst="rect">
            <a:avLst/>
          </a:prstGeom>
          <a:noFill/>
        </p:spPr>
        <p:txBody>
          <a:bodyPr wrap="square" rtlCol="0">
            <a:spAutoFit/>
          </a:bodyPr>
          <a:lstStyle/>
          <a:p>
            <a:r>
              <a:rPr lang="en-GB" dirty="0"/>
              <a:t>Example Assessment Questions </a:t>
            </a:r>
          </a:p>
        </p:txBody>
      </p:sp>
    </p:spTree>
    <p:extLst>
      <p:ext uri="{BB962C8B-B14F-4D97-AF65-F5344CB8AC3E}">
        <p14:creationId xmlns:p14="http://schemas.microsoft.com/office/powerpoint/2010/main" val="2448578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923514" y="304800"/>
            <a:ext cx="5044149" cy="5518483"/>
          </a:xfrm>
          <a:prstGeom prst="rect">
            <a:avLst/>
          </a:prstGeom>
        </p:spPr>
      </p:pic>
      <p:pic>
        <p:nvPicPr>
          <p:cNvPr id="3" name="Content Placeholder 3"/>
          <p:cNvPicPr>
            <a:picLocks noChangeAspect="1"/>
          </p:cNvPicPr>
          <p:nvPr/>
        </p:nvPicPr>
        <p:blipFill rotWithShape="1">
          <a:blip r:embed="rId4"/>
          <a:srcRect l="49979" t="29761" r="22702" b="10219"/>
          <a:stretch/>
        </p:blipFill>
        <p:spPr>
          <a:xfrm>
            <a:off x="6529138" y="304799"/>
            <a:ext cx="4597380" cy="5518484"/>
          </a:xfrm>
          <a:prstGeom prst="rect">
            <a:avLst/>
          </a:prstGeom>
        </p:spPr>
      </p:pic>
      <p:sp>
        <p:nvSpPr>
          <p:cNvPr id="4" name="TextBox 3"/>
          <p:cNvSpPr txBox="1"/>
          <p:nvPr/>
        </p:nvSpPr>
        <p:spPr>
          <a:xfrm>
            <a:off x="1869998" y="5967663"/>
            <a:ext cx="4097665" cy="369332"/>
          </a:xfrm>
          <a:prstGeom prst="rect">
            <a:avLst/>
          </a:prstGeom>
          <a:noFill/>
        </p:spPr>
        <p:txBody>
          <a:bodyPr wrap="square" rtlCol="0">
            <a:spAutoFit/>
          </a:bodyPr>
          <a:lstStyle/>
          <a:p>
            <a:r>
              <a:rPr lang="en-GB" dirty="0"/>
              <a:t>MRC Scale of Breathlessness </a:t>
            </a:r>
          </a:p>
        </p:txBody>
      </p:sp>
      <p:sp>
        <p:nvSpPr>
          <p:cNvPr id="5" name="TextBox 4"/>
          <p:cNvSpPr txBox="1"/>
          <p:nvPr/>
        </p:nvSpPr>
        <p:spPr>
          <a:xfrm>
            <a:off x="8101263" y="5967663"/>
            <a:ext cx="3689684" cy="369332"/>
          </a:xfrm>
          <a:prstGeom prst="rect">
            <a:avLst/>
          </a:prstGeom>
          <a:noFill/>
        </p:spPr>
        <p:txBody>
          <a:bodyPr wrap="square" rtlCol="0">
            <a:spAutoFit/>
          </a:bodyPr>
          <a:lstStyle/>
          <a:p>
            <a:r>
              <a:rPr lang="en-GB" dirty="0"/>
              <a:t>BORG Scale</a:t>
            </a:r>
          </a:p>
        </p:txBody>
      </p:sp>
    </p:spTree>
    <p:extLst>
      <p:ext uri="{BB962C8B-B14F-4D97-AF65-F5344CB8AC3E}">
        <p14:creationId xmlns:p14="http://schemas.microsoft.com/office/powerpoint/2010/main" val="4178848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Cough</a:t>
            </a:r>
          </a:p>
        </p:txBody>
      </p:sp>
      <p:sp>
        <p:nvSpPr>
          <p:cNvPr id="3" name="Content Placeholder 2"/>
          <p:cNvSpPr>
            <a:spLocks noGrp="1"/>
          </p:cNvSpPr>
          <p:nvPr>
            <p:ph idx="1"/>
          </p:nvPr>
        </p:nvSpPr>
        <p:spPr/>
        <p:txBody>
          <a:bodyPr>
            <a:normAutofit fontScale="92500" lnSpcReduction="20000"/>
          </a:bodyPr>
          <a:lstStyle/>
          <a:p>
            <a:pPr marL="0" lvl="0" indent="0">
              <a:buNone/>
            </a:pPr>
            <a:r>
              <a:rPr lang="en-US" dirty="0"/>
              <a:t>Protective reflex</a:t>
            </a:r>
          </a:p>
          <a:p>
            <a:pPr marL="0" lvl="0" indent="0">
              <a:buNone/>
            </a:pPr>
            <a:r>
              <a:rPr lang="en-US" dirty="0"/>
              <a:t>Helps remove sputum or foreign body from airway</a:t>
            </a:r>
          </a:p>
          <a:p>
            <a:pPr marL="0" lvl="0" indent="0">
              <a:buNone/>
            </a:pPr>
            <a:r>
              <a:rPr lang="en-US" dirty="0"/>
              <a:t>Can be difficult to clarify / quantify symptom</a:t>
            </a:r>
          </a:p>
          <a:p>
            <a:pPr marL="0" lvl="0" indent="0">
              <a:buNone/>
            </a:pPr>
            <a:endParaRPr lang="en-US" dirty="0"/>
          </a:p>
          <a:p>
            <a:pPr marL="0" indent="0" algn="ctr">
              <a:buNone/>
            </a:pPr>
            <a:r>
              <a:rPr lang="en-GB" dirty="0"/>
              <a:t>Example Assessment Questions </a:t>
            </a:r>
            <a:endParaRPr lang="en-US" dirty="0"/>
          </a:p>
          <a:p>
            <a:pPr lvl="0"/>
            <a:r>
              <a:rPr lang="en-US" dirty="0"/>
              <a:t>Do you cough? </a:t>
            </a:r>
          </a:p>
          <a:p>
            <a:pPr lvl="0"/>
            <a:r>
              <a:rPr lang="en-US" dirty="0"/>
              <a:t>How frequently? </a:t>
            </a:r>
          </a:p>
          <a:p>
            <a:pPr lvl="0"/>
            <a:r>
              <a:rPr lang="en-US" dirty="0"/>
              <a:t>Has their been a change to your cough?</a:t>
            </a:r>
          </a:p>
          <a:p>
            <a:pPr lvl="0"/>
            <a:r>
              <a:rPr lang="en-US" dirty="0"/>
              <a:t>What usually triggers your cough?</a:t>
            </a:r>
          </a:p>
          <a:p>
            <a:pPr lvl="0"/>
            <a:r>
              <a:rPr lang="en-US" dirty="0"/>
              <a:t>Is it dry or productive? </a:t>
            </a:r>
          </a:p>
          <a:p>
            <a:pPr lvl="0"/>
            <a:r>
              <a:rPr lang="en-US" dirty="0"/>
              <a:t>How able are you to clear effectively?</a:t>
            </a:r>
          </a:p>
          <a:p>
            <a:endParaRPr lang="en-GB" dirty="0"/>
          </a:p>
        </p:txBody>
      </p:sp>
    </p:spTree>
    <p:extLst>
      <p:ext uri="{BB962C8B-B14F-4D97-AF65-F5344CB8AC3E}">
        <p14:creationId xmlns:p14="http://schemas.microsoft.com/office/powerpoint/2010/main" val="3544341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lgn="ctr"/>
            <a:r>
              <a:rPr lang="en-US" dirty="0"/>
              <a:t>Sputum </a:t>
            </a:r>
            <a:br>
              <a:rPr lang="en-US" dirty="0"/>
            </a:br>
            <a:endParaRPr lang="en-GB" dirty="0"/>
          </a:p>
        </p:txBody>
      </p:sp>
      <p:sp>
        <p:nvSpPr>
          <p:cNvPr id="3" name="Content Placeholder 2"/>
          <p:cNvSpPr>
            <a:spLocks noGrp="1"/>
          </p:cNvSpPr>
          <p:nvPr>
            <p:ph idx="1"/>
          </p:nvPr>
        </p:nvSpPr>
        <p:spPr/>
        <p:txBody>
          <a:bodyPr>
            <a:normAutofit fontScale="92500" lnSpcReduction="20000"/>
          </a:bodyPr>
          <a:lstStyle/>
          <a:p>
            <a:pPr marL="0" lvl="0" indent="0">
              <a:buNone/>
            </a:pPr>
            <a:r>
              <a:rPr lang="en-US" dirty="0"/>
              <a:t>Changes can indicate new infection </a:t>
            </a:r>
          </a:p>
          <a:p>
            <a:pPr marL="0" lvl="0" indent="0">
              <a:buNone/>
            </a:pPr>
            <a:r>
              <a:rPr lang="en-US" dirty="0"/>
              <a:t>Hemoptysis – Presence of blood in sputum </a:t>
            </a:r>
          </a:p>
          <a:p>
            <a:pPr marL="0" lvl="0" indent="0">
              <a:buNone/>
            </a:pPr>
            <a:r>
              <a:rPr lang="en-US" dirty="0"/>
              <a:t>	- Frank blood VS Streaking </a:t>
            </a:r>
          </a:p>
          <a:p>
            <a:pPr marL="0" lvl="0" indent="0">
              <a:buNone/>
            </a:pPr>
            <a:endParaRPr lang="en-US" dirty="0"/>
          </a:p>
          <a:p>
            <a:pPr marL="0" indent="0" algn="ctr">
              <a:buNone/>
            </a:pPr>
            <a:r>
              <a:rPr lang="en-GB" dirty="0"/>
              <a:t>Example Assessment Questions </a:t>
            </a:r>
            <a:endParaRPr lang="en-US" dirty="0"/>
          </a:p>
          <a:p>
            <a:pPr lvl="0"/>
            <a:r>
              <a:rPr lang="en-US" dirty="0"/>
              <a:t>Do you bring up sputum?</a:t>
            </a:r>
          </a:p>
          <a:p>
            <a:pPr lvl="0"/>
            <a:r>
              <a:rPr lang="en-US" dirty="0"/>
              <a:t>How effective is it to clear?</a:t>
            </a:r>
          </a:p>
          <a:p>
            <a:pPr lvl="0"/>
            <a:r>
              <a:rPr lang="en-US" dirty="0"/>
              <a:t>How normal is that for you?</a:t>
            </a:r>
          </a:p>
          <a:p>
            <a:pPr lvl="0"/>
            <a:r>
              <a:rPr lang="en-US" dirty="0"/>
              <a:t>What is the </a:t>
            </a:r>
            <a:r>
              <a:rPr lang="en-US" dirty="0" err="1"/>
              <a:t>Colour</a:t>
            </a:r>
            <a:r>
              <a:rPr lang="en-US" dirty="0"/>
              <a:t>? Consistency? Quantity per day? Smell?</a:t>
            </a:r>
          </a:p>
          <a:p>
            <a:pPr lvl="0"/>
            <a:r>
              <a:rPr lang="en-US" dirty="0"/>
              <a:t>What are your usual airway clearance techniques? </a:t>
            </a:r>
          </a:p>
          <a:p>
            <a:pPr lvl="0"/>
            <a:r>
              <a:rPr lang="en-US" dirty="0"/>
              <a:t>Do you see blood in your sputum?</a:t>
            </a:r>
          </a:p>
        </p:txBody>
      </p:sp>
    </p:spTree>
    <p:extLst>
      <p:ext uri="{BB962C8B-B14F-4D97-AF65-F5344CB8AC3E}">
        <p14:creationId xmlns:p14="http://schemas.microsoft.com/office/powerpoint/2010/main" val="2839973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41913" t="24836" r="37719" b="32182"/>
          <a:stretch/>
        </p:blipFill>
        <p:spPr>
          <a:xfrm>
            <a:off x="685800" y="417094"/>
            <a:ext cx="4019550" cy="5266161"/>
          </a:xfrm>
          <a:prstGeom prst="rect">
            <a:avLst/>
          </a:prstGeom>
        </p:spPr>
      </p:pic>
      <p:sp>
        <p:nvSpPr>
          <p:cNvPr id="3" name="TextBox 2"/>
          <p:cNvSpPr txBox="1"/>
          <p:nvPr/>
        </p:nvSpPr>
        <p:spPr>
          <a:xfrm>
            <a:off x="2453941" y="5560144"/>
            <a:ext cx="2022809" cy="246221"/>
          </a:xfrm>
          <a:prstGeom prst="rect">
            <a:avLst/>
          </a:prstGeom>
          <a:noFill/>
        </p:spPr>
        <p:txBody>
          <a:bodyPr wrap="square" rtlCol="0">
            <a:spAutoFit/>
          </a:bodyPr>
          <a:lstStyle/>
          <a:p>
            <a:r>
              <a:rPr lang="en-GB" sz="1000" dirty="0"/>
              <a:t>Murray et at ( 2009)</a:t>
            </a:r>
          </a:p>
        </p:txBody>
      </p:sp>
      <p:pic>
        <p:nvPicPr>
          <p:cNvPr id="4" name="Picture 3"/>
          <p:cNvPicPr>
            <a:picLocks noChangeAspect="1"/>
          </p:cNvPicPr>
          <p:nvPr/>
        </p:nvPicPr>
        <p:blipFill rotWithShape="1">
          <a:blip r:embed="rId4"/>
          <a:srcRect l="31259" t="20669" r="32492" b="51302"/>
          <a:stretch/>
        </p:blipFill>
        <p:spPr>
          <a:xfrm>
            <a:off x="5486400" y="1417082"/>
            <a:ext cx="6400800" cy="3883744"/>
          </a:xfrm>
          <a:prstGeom prst="rect">
            <a:avLst/>
          </a:prstGeom>
        </p:spPr>
      </p:pic>
      <p:sp>
        <p:nvSpPr>
          <p:cNvPr id="5" name="TextBox 4"/>
          <p:cNvSpPr txBox="1"/>
          <p:nvPr/>
        </p:nvSpPr>
        <p:spPr>
          <a:xfrm>
            <a:off x="7981950" y="914400"/>
            <a:ext cx="3238500" cy="369332"/>
          </a:xfrm>
          <a:prstGeom prst="rect">
            <a:avLst/>
          </a:prstGeom>
          <a:noFill/>
        </p:spPr>
        <p:txBody>
          <a:bodyPr wrap="square" rtlCol="0">
            <a:spAutoFit/>
          </a:bodyPr>
          <a:lstStyle/>
          <a:p>
            <a:r>
              <a:rPr lang="en-GB" dirty="0"/>
              <a:t>Sputum Analysis</a:t>
            </a:r>
          </a:p>
        </p:txBody>
      </p:sp>
      <p:sp>
        <p:nvSpPr>
          <p:cNvPr id="6" name="TextBox 5"/>
          <p:cNvSpPr txBox="1"/>
          <p:nvPr/>
        </p:nvSpPr>
        <p:spPr>
          <a:xfrm>
            <a:off x="8286750" y="5560143"/>
            <a:ext cx="1619250" cy="246221"/>
          </a:xfrm>
          <a:prstGeom prst="rect">
            <a:avLst/>
          </a:prstGeom>
          <a:noFill/>
        </p:spPr>
        <p:txBody>
          <a:bodyPr wrap="square" rtlCol="0">
            <a:spAutoFit/>
          </a:bodyPr>
          <a:lstStyle/>
          <a:p>
            <a:r>
              <a:rPr lang="en-GB" sz="1000" dirty="0"/>
              <a:t>Simpson (2013)</a:t>
            </a:r>
          </a:p>
        </p:txBody>
      </p:sp>
    </p:spTree>
    <p:extLst>
      <p:ext uri="{BB962C8B-B14F-4D97-AF65-F5344CB8AC3E}">
        <p14:creationId xmlns:p14="http://schemas.microsoft.com/office/powerpoint/2010/main" val="89360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Chest Pain</a:t>
            </a:r>
          </a:p>
        </p:txBody>
      </p:sp>
      <p:sp>
        <p:nvSpPr>
          <p:cNvPr id="3" name="Content Placeholder 2"/>
          <p:cNvSpPr>
            <a:spLocks noGrp="1"/>
          </p:cNvSpPr>
          <p:nvPr>
            <p:ph idx="1"/>
          </p:nvPr>
        </p:nvSpPr>
        <p:spPr/>
        <p:txBody>
          <a:bodyPr>
            <a:normAutofit fontScale="92500" lnSpcReduction="10000"/>
          </a:bodyPr>
          <a:lstStyle/>
          <a:p>
            <a:pPr lvl="0">
              <a:buFontTx/>
              <a:buChar char="-"/>
            </a:pPr>
            <a:r>
              <a:rPr lang="en-US" dirty="0"/>
              <a:t>Pulmonary: Pleurisy, embolism, Pneumothorax</a:t>
            </a:r>
          </a:p>
          <a:p>
            <a:pPr lvl="0">
              <a:buFontTx/>
              <a:buChar char="-"/>
            </a:pPr>
            <a:r>
              <a:rPr lang="en-US" dirty="0"/>
              <a:t>MSK: rib fracture, muscular</a:t>
            </a:r>
          </a:p>
          <a:p>
            <a:pPr lvl="0">
              <a:buFontTx/>
              <a:buChar char="-"/>
            </a:pPr>
            <a:r>
              <a:rPr lang="en-US" dirty="0"/>
              <a:t>Cardiac: Pericarditis. Ischemic heat disease</a:t>
            </a:r>
          </a:p>
          <a:p>
            <a:pPr lvl="0">
              <a:buFontTx/>
              <a:buChar char="-"/>
            </a:pPr>
            <a:r>
              <a:rPr lang="en-US" dirty="0"/>
              <a:t>Mediastinum: Aortic aneurysm, esophageal, Mediastinum shift</a:t>
            </a:r>
          </a:p>
          <a:p>
            <a:pPr marL="502920" lvl="1" indent="0">
              <a:buNone/>
            </a:pPr>
            <a:endParaRPr lang="en-US" dirty="0"/>
          </a:p>
          <a:p>
            <a:pPr marL="502920" lvl="1" indent="0" algn="ctr">
              <a:buNone/>
            </a:pPr>
            <a:r>
              <a:rPr lang="en-GB" dirty="0"/>
              <a:t>Example Assessment Questions </a:t>
            </a:r>
            <a:endParaRPr lang="en-US" dirty="0"/>
          </a:p>
          <a:p>
            <a:pPr lvl="1">
              <a:buFontTx/>
              <a:buChar char="-"/>
            </a:pPr>
            <a:endParaRPr lang="en-US" dirty="0"/>
          </a:p>
          <a:p>
            <a:r>
              <a:rPr lang="en-US" dirty="0"/>
              <a:t>Do you experience chest pain?</a:t>
            </a:r>
          </a:p>
          <a:p>
            <a:pPr lvl="0"/>
            <a:r>
              <a:rPr lang="en-US" dirty="0"/>
              <a:t>When does it occur?</a:t>
            </a:r>
          </a:p>
          <a:p>
            <a:pPr lvl="0"/>
            <a:r>
              <a:rPr lang="en-US" dirty="0"/>
              <a:t>Where is this located?</a:t>
            </a:r>
          </a:p>
          <a:p>
            <a:pPr lvl="0"/>
            <a:r>
              <a:rPr lang="en-US" dirty="0"/>
              <a:t>What are the triggers / improves pain</a:t>
            </a:r>
          </a:p>
          <a:p>
            <a:pPr marL="0" indent="0">
              <a:buNone/>
            </a:pPr>
            <a:endParaRPr lang="en-GB" dirty="0"/>
          </a:p>
        </p:txBody>
      </p:sp>
    </p:spTree>
    <p:extLst>
      <p:ext uri="{BB962C8B-B14F-4D97-AF65-F5344CB8AC3E}">
        <p14:creationId xmlns:p14="http://schemas.microsoft.com/office/powerpoint/2010/main" val="4008033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Subjective Assessment</a:t>
            </a:r>
          </a:p>
        </p:txBody>
      </p:sp>
      <p:sp>
        <p:nvSpPr>
          <p:cNvPr id="3" name="Content Placeholder 2"/>
          <p:cNvSpPr>
            <a:spLocks noGrp="1"/>
          </p:cNvSpPr>
          <p:nvPr>
            <p:ph idx="1"/>
          </p:nvPr>
        </p:nvSpPr>
        <p:spPr>
          <a:xfrm>
            <a:off x="2576319" y="1473708"/>
            <a:ext cx="3830942" cy="5120640"/>
          </a:xfrm>
        </p:spPr>
        <p:txBody>
          <a:bodyPr/>
          <a:lstStyle/>
          <a:p>
            <a:pPr marL="0" lvl="0" indent="0">
              <a:buNone/>
            </a:pPr>
            <a:r>
              <a:rPr lang="en-US" dirty="0"/>
              <a:t>Functional Ability</a:t>
            </a:r>
          </a:p>
          <a:p>
            <a:r>
              <a:rPr lang="en-US" dirty="0"/>
              <a:t>Exercise capacity</a:t>
            </a:r>
          </a:p>
          <a:p>
            <a:r>
              <a:rPr lang="en-US" dirty="0"/>
              <a:t>Ability to complete stairs </a:t>
            </a:r>
          </a:p>
          <a:p>
            <a:r>
              <a:rPr lang="en-US" dirty="0"/>
              <a:t>Home layout</a:t>
            </a:r>
          </a:p>
          <a:p>
            <a:r>
              <a:rPr lang="en-US" dirty="0"/>
              <a:t>Any </a:t>
            </a:r>
            <a:r>
              <a:rPr lang="en-US" dirty="0" err="1"/>
              <a:t>carers</a:t>
            </a:r>
            <a:r>
              <a:rPr lang="en-US" dirty="0"/>
              <a:t>?</a:t>
            </a:r>
          </a:p>
          <a:p>
            <a:endParaRPr lang="en-US" dirty="0"/>
          </a:p>
          <a:p>
            <a:pPr lvl="0"/>
            <a:r>
              <a:rPr lang="en-US" dirty="0"/>
              <a:t>Incontinence</a:t>
            </a:r>
          </a:p>
          <a:p>
            <a:pPr lvl="1"/>
            <a:r>
              <a:rPr lang="en-US" dirty="0"/>
              <a:t>Chronic cough leading to pelvic weakness</a:t>
            </a:r>
          </a:p>
          <a:p>
            <a:pPr marL="0" indent="0">
              <a:buNone/>
            </a:pPr>
            <a:endParaRPr lang="en-GB" dirty="0"/>
          </a:p>
        </p:txBody>
      </p:sp>
      <p:pic>
        <p:nvPicPr>
          <p:cNvPr id="5" name="Picture 4"/>
          <p:cNvPicPr>
            <a:picLocks noChangeAspect="1"/>
          </p:cNvPicPr>
          <p:nvPr/>
        </p:nvPicPr>
        <p:blipFill rotWithShape="1">
          <a:blip r:embed="rId3"/>
          <a:srcRect l="34958" t="17270" r="33602" b="33717"/>
          <a:stretch/>
        </p:blipFill>
        <p:spPr>
          <a:xfrm>
            <a:off x="7700211" y="1123837"/>
            <a:ext cx="4090737" cy="4410689"/>
          </a:xfrm>
          <a:prstGeom prst="rect">
            <a:avLst/>
          </a:prstGeom>
        </p:spPr>
      </p:pic>
    </p:spTree>
    <p:extLst>
      <p:ext uri="{BB962C8B-B14F-4D97-AF65-F5344CB8AC3E}">
        <p14:creationId xmlns:p14="http://schemas.microsoft.com/office/powerpoint/2010/main" val="3349730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955" y="2092569"/>
            <a:ext cx="2834640" cy="1899138"/>
          </a:xfrm>
        </p:spPr>
        <p:txBody>
          <a:bodyPr/>
          <a:lstStyle/>
          <a:p>
            <a:pPr algn="ctr"/>
            <a:r>
              <a:rPr lang="en-GB" dirty="0"/>
              <a:t>Objective Assessment</a:t>
            </a:r>
          </a:p>
        </p:txBody>
      </p:sp>
      <p:pic>
        <p:nvPicPr>
          <p:cNvPr id="5" name="Content Placeholder 4"/>
          <p:cNvPicPr>
            <a:picLocks noGrp="1" noChangeAspect="1"/>
          </p:cNvPicPr>
          <p:nvPr>
            <p:ph idx="1"/>
          </p:nvPr>
        </p:nvPicPr>
        <p:blipFill rotWithShape="1">
          <a:blip r:embed="rId2"/>
          <a:srcRect l="21199" t="21377" r="43007" b="39377"/>
          <a:stretch/>
        </p:blipFill>
        <p:spPr>
          <a:xfrm>
            <a:off x="3695453" y="745958"/>
            <a:ext cx="7726526" cy="5317958"/>
          </a:xfrm>
          <a:prstGeom prst="rect">
            <a:avLst/>
          </a:prstGeom>
        </p:spPr>
      </p:pic>
    </p:spTree>
    <p:extLst>
      <p:ext uri="{BB962C8B-B14F-4D97-AF65-F5344CB8AC3E}">
        <p14:creationId xmlns:p14="http://schemas.microsoft.com/office/powerpoint/2010/main" val="3968297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Objective Examination</a:t>
            </a:r>
          </a:p>
        </p:txBody>
      </p:sp>
      <p:sp>
        <p:nvSpPr>
          <p:cNvPr id="3" name="Content Placeholder 2"/>
          <p:cNvSpPr>
            <a:spLocks noGrp="1"/>
          </p:cNvSpPr>
          <p:nvPr>
            <p:ph idx="1"/>
          </p:nvPr>
        </p:nvSpPr>
        <p:spPr>
          <a:xfrm>
            <a:off x="3885310" y="398887"/>
            <a:ext cx="7315200" cy="5120640"/>
          </a:xfrm>
        </p:spPr>
        <p:txBody>
          <a:bodyPr/>
          <a:lstStyle/>
          <a:p>
            <a:pPr marL="0" indent="0">
              <a:buNone/>
            </a:pPr>
            <a:endParaRPr lang="en-GB" dirty="0"/>
          </a:p>
          <a:p>
            <a:pPr marL="0" indent="0">
              <a:buNone/>
            </a:pPr>
            <a:endParaRPr lang="en-GB" dirty="0"/>
          </a:p>
        </p:txBody>
      </p:sp>
      <p:graphicFrame>
        <p:nvGraphicFramePr>
          <p:cNvPr id="5" name="Diagram 4"/>
          <p:cNvGraphicFramePr/>
          <p:nvPr>
            <p:extLst>
              <p:ext uri="{D42A27DB-BD31-4B8C-83A1-F6EECF244321}">
                <p14:modId xmlns:p14="http://schemas.microsoft.com/office/powerpoint/2010/main" val="2093726335"/>
              </p:ext>
            </p:extLst>
          </p:nvPr>
        </p:nvGraphicFramePr>
        <p:xfrm>
          <a:off x="4318447" y="1258120"/>
          <a:ext cx="6197600" cy="40528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79943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Vital Observations </a:t>
            </a:r>
          </a:p>
        </p:txBody>
      </p:sp>
      <p:sp>
        <p:nvSpPr>
          <p:cNvPr id="3" name="Content Placeholder 2"/>
          <p:cNvSpPr>
            <a:spLocks noGrp="1"/>
          </p:cNvSpPr>
          <p:nvPr>
            <p:ph idx="1"/>
          </p:nvPr>
        </p:nvSpPr>
        <p:spPr>
          <a:xfrm>
            <a:off x="3869268" y="1041852"/>
            <a:ext cx="7315200" cy="5120640"/>
          </a:xfrm>
        </p:spPr>
        <p:txBody>
          <a:bodyPr/>
          <a:lstStyle/>
          <a:p>
            <a:r>
              <a:rPr lang="en-GB" dirty="0"/>
              <a:t>Level of consciousness</a:t>
            </a:r>
          </a:p>
          <a:p>
            <a:pPr lvl="1"/>
            <a:r>
              <a:rPr lang="en-GB" dirty="0"/>
              <a:t>GCS / NEWS score</a:t>
            </a:r>
          </a:p>
          <a:p>
            <a:r>
              <a:rPr lang="en-GB" dirty="0"/>
              <a:t>Heart Rate ( HR) 60-100 bpm</a:t>
            </a:r>
          </a:p>
          <a:p>
            <a:pPr marL="182880" lvl="1">
              <a:spcBef>
                <a:spcPts val="1200"/>
              </a:spcBef>
              <a:spcAft>
                <a:spcPts val="0"/>
              </a:spcAft>
            </a:pPr>
            <a:r>
              <a:rPr lang="en-GB" dirty="0"/>
              <a:t>Blood Pressure (BP)  - 120/80</a:t>
            </a:r>
          </a:p>
          <a:p>
            <a:pPr marL="182880" lvl="1">
              <a:spcBef>
                <a:spcPts val="1200"/>
              </a:spcBef>
              <a:spcAft>
                <a:spcPts val="0"/>
              </a:spcAft>
            </a:pPr>
            <a:r>
              <a:rPr lang="en-GB" dirty="0"/>
              <a:t>Respiratory Rate ( RR)-  12-16 bpm</a:t>
            </a:r>
          </a:p>
          <a:p>
            <a:pPr marL="182880" lvl="1">
              <a:spcBef>
                <a:spcPts val="1200"/>
              </a:spcBef>
              <a:spcAft>
                <a:spcPts val="0"/>
              </a:spcAft>
            </a:pPr>
            <a:r>
              <a:rPr lang="en-GB" dirty="0"/>
              <a:t>Spo2 – 98-100%</a:t>
            </a:r>
          </a:p>
          <a:p>
            <a:r>
              <a:rPr lang="en-GB" dirty="0"/>
              <a:t>Temperature</a:t>
            </a:r>
          </a:p>
          <a:p>
            <a:endParaRPr lang="en-GB" dirty="0"/>
          </a:p>
          <a:p>
            <a:endParaRPr lang="en-GB" dirty="0"/>
          </a:p>
        </p:txBody>
      </p:sp>
      <p:sp>
        <p:nvSpPr>
          <p:cNvPr id="5" name="TextBox 4"/>
          <p:cNvSpPr txBox="1"/>
          <p:nvPr/>
        </p:nvSpPr>
        <p:spPr>
          <a:xfrm>
            <a:off x="4767625" y="5516161"/>
            <a:ext cx="5518485" cy="646331"/>
          </a:xfrm>
          <a:prstGeom prst="rect">
            <a:avLst/>
          </a:prstGeom>
          <a:noFill/>
        </p:spPr>
        <p:txBody>
          <a:bodyPr wrap="square" rtlCol="0">
            <a:spAutoFit/>
          </a:bodyPr>
          <a:lstStyle/>
          <a:p>
            <a:r>
              <a:rPr lang="en-GB" dirty="0">
                <a:solidFill>
                  <a:schemeClr val="tx1">
                    <a:lumMod val="65000"/>
                    <a:lumOff val="35000"/>
                  </a:schemeClr>
                </a:solidFill>
              </a:rPr>
              <a:t>Important to check before and after any intervention</a:t>
            </a:r>
          </a:p>
          <a:p>
            <a:r>
              <a:rPr lang="en-GB" dirty="0">
                <a:solidFill>
                  <a:schemeClr val="tx1">
                    <a:lumMod val="65000"/>
                    <a:lumOff val="35000"/>
                  </a:schemeClr>
                </a:solidFill>
              </a:rPr>
              <a:t>Feedback any significant changes to nurse or Dr </a:t>
            </a:r>
          </a:p>
        </p:txBody>
      </p:sp>
      <p:pic>
        <p:nvPicPr>
          <p:cNvPr id="6" name="Picture 5"/>
          <p:cNvPicPr>
            <a:picLocks noChangeAspect="1"/>
          </p:cNvPicPr>
          <p:nvPr/>
        </p:nvPicPr>
        <p:blipFill rotWithShape="1">
          <a:blip r:embed="rId3"/>
          <a:srcRect l="4465" t="37500" r="67423" b="18490"/>
          <a:stretch/>
        </p:blipFill>
        <p:spPr>
          <a:xfrm>
            <a:off x="7848600" y="1524000"/>
            <a:ext cx="3657600" cy="3219450"/>
          </a:xfrm>
          <a:prstGeom prst="rect">
            <a:avLst/>
          </a:prstGeom>
        </p:spPr>
      </p:pic>
    </p:spTree>
    <p:extLst>
      <p:ext uri="{BB962C8B-B14F-4D97-AF65-F5344CB8AC3E}">
        <p14:creationId xmlns:p14="http://schemas.microsoft.com/office/powerpoint/2010/main" val="8474011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Airway </a:t>
            </a:r>
          </a:p>
        </p:txBody>
      </p:sp>
      <p:sp>
        <p:nvSpPr>
          <p:cNvPr id="3" name="Content Placeholder 2"/>
          <p:cNvSpPr>
            <a:spLocks noGrp="1"/>
          </p:cNvSpPr>
          <p:nvPr>
            <p:ph idx="1"/>
          </p:nvPr>
        </p:nvSpPr>
        <p:spPr/>
        <p:txBody>
          <a:bodyPr/>
          <a:lstStyle/>
          <a:p>
            <a:r>
              <a:rPr lang="en-GB" b="1" dirty="0"/>
              <a:t>Airway</a:t>
            </a:r>
            <a:r>
              <a:rPr lang="en-GB" dirty="0"/>
              <a:t> (is airway own or artificial)</a:t>
            </a:r>
          </a:p>
          <a:p>
            <a:r>
              <a:rPr lang="en-GB" dirty="0"/>
              <a:t>Main artificial airways:</a:t>
            </a:r>
          </a:p>
          <a:p>
            <a:pPr lvl="1"/>
            <a:r>
              <a:rPr lang="en-GB" dirty="0"/>
              <a:t>nasopharyngeal – tube in the nasal passage</a:t>
            </a:r>
          </a:p>
          <a:p>
            <a:pPr lvl="1"/>
            <a:r>
              <a:rPr lang="en-GB" dirty="0"/>
              <a:t>oropharyngeal – tube in the mouth</a:t>
            </a:r>
          </a:p>
          <a:p>
            <a:pPr lvl="1"/>
            <a:r>
              <a:rPr lang="en-GB" dirty="0"/>
              <a:t>tracheostomy – opening the neck and placing tube in windpipe</a:t>
            </a:r>
          </a:p>
          <a:p>
            <a:endParaRPr lang="en-GB" dirty="0"/>
          </a:p>
        </p:txBody>
      </p:sp>
    </p:spTree>
    <p:extLst>
      <p:ext uri="{BB962C8B-B14F-4D97-AF65-F5344CB8AC3E}">
        <p14:creationId xmlns:p14="http://schemas.microsoft.com/office/powerpoint/2010/main" val="827668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Breathing Assessment: Measurement</a:t>
            </a:r>
          </a:p>
        </p:txBody>
      </p:sp>
      <p:sp>
        <p:nvSpPr>
          <p:cNvPr id="3" name="Content Placeholder 2"/>
          <p:cNvSpPr>
            <a:spLocks noGrp="1"/>
          </p:cNvSpPr>
          <p:nvPr>
            <p:ph idx="1"/>
          </p:nvPr>
        </p:nvSpPr>
        <p:spPr>
          <a:xfrm>
            <a:off x="3735918" y="1123837"/>
            <a:ext cx="7315200" cy="5120640"/>
          </a:xfrm>
        </p:spPr>
        <p:txBody>
          <a:bodyPr/>
          <a:lstStyle/>
          <a:p>
            <a:pPr marL="0" indent="0">
              <a:buNone/>
            </a:pPr>
            <a:endParaRPr lang="en-GB" dirty="0"/>
          </a:p>
          <a:p>
            <a:pPr>
              <a:buFontTx/>
              <a:buChar char="-"/>
            </a:pPr>
            <a:endParaRPr lang="en-GB" dirty="0"/>
          </a:p>
          <a:p>
            <a:pPr>
              <a:buFontTx/>
              <a:buChar char="-"/>
            </a:pPr>
            <a:endParaRPr lang="en-GB" dirty="0"/>
          </a:p>
          <a:p>
            <a:pPr marL="0" indent="0">
              <a:buNone/>
            </a:pPr>
            <a:endParaRPr lang="en-GB" dirty="0"/>
          </a:p>
          <a:p>
            <a:pPr marL="0" indent="0">
              <a:buNone/>
            </a:pPr>
            <a:endParaRPr lang="en-GB" dirty="0"/>
          </a:p>
          <a:p>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1398965498"/>
              </p:ext>
            </p:extLst>
          </p:nvPr>
        </p:nvGraphicFramePr>
        <p:xfrm>
          <a:off x="2957891" y="1853248"/>
          <a:ext cx="4972050" cy="4804760"/>
        </p:xfrm>
        <a:graphic>
          <a:graphicData uri="http://schemas.openxmlformats.org/drawingml/2006/table">
            <a:tbl>
              <a:tblPr firstRow="1" bandRow="1">
                <a:tableStyleId>{5C22544A-7EE6-4342-B048-85BDC9FD1C3A}</a:tableStyleId>
              </a:tblPr>
              <a:tblGrid>
                <a:gridCol w="4972050">
                  <a:extLst>
                    <a:ext uri="{9D8B030D-6E8A-4147-A177-3AD203B41FA5}">
                      <a16:colId xmlns:a16="http://schemas.microsoft.com/office/drawing/2014/main" val="950972224"/>
                    </a:ext>
                  </a:extLst>
                </a:gridCol>
              </a:tblGrid>
              <a:tr h="581585">
                <a:tc>
                  <a:txBody>
                    <a:bodyPr/>
                    <a:lstStyle/>
                    <a:p>
                      <a:r>
                        <a:rPr lang="en-GB" dirty="0"/>
                        <a:t>Measure</a:t>
                      </a:r>
                    </a:p>
                  </a:txBody>
                  <a:tcPr/>
                </a:tc>
                <a:extLst>
                  <a:ext uri="{0D108BD9-81ED-4DB2-BD59-A6C34878D82A}">
                    <a16:rowId xmlns:a16="http://schemas.microsoft.com/office/drawing/2014/main" val="888241950"/>
                  </a:ext>
                </a:extLst>
              </a:tr>
              <a:tr h="553866">
                <a:tc>
                  <a:txBody>
                    <a:bodyPr/>
                    <a:lstStyle/>
                    <a:p>
                      <a:r>
                        <a:rPr lang="en-GB" dirty="0"/>
                        <a:t>RR </a:t>
                      </a:r>
                    </a:p>
                    <a:p>
                      <a:r>
                        <a:rPr lang="en-GB" dirty="0"/>
                        <a:t>- Normal Range: 12-16bpm</a:t>
                      </a:r>
                    </a:p>
                  </a:txBody>
                  <a:tcPr/>
                </a:tc>
                <a:extLst>
                  <a:ext uri="{0D108BD9-81ED-4DB2-BD59-A6C34878D82A}">
                    <a16:rowId xmlns:a16="http://schemas.microsoft.com/office/drawing/2014/main" val="2842121882"/>
                  </a:ext>
                </a:extLst>
              </a:tr>
              <a:tr h="462845">
                <a:tc>
                  <a:txBody>
                    <a:bodyPr/>
                    <a:lstStyle/>
                    <a:p>
                      <a:r>
                        <a:rPr lang="en-GB" dirty="0"/>
                        <a:t>Oxygen</a:t>
                      </a:r>
                      <a:r>
                        <a:rPr lang="en-GB" baseline="0" dirty="0"/>
                        <a:t> Saturations </a:t>
                      </a:r>
                    </a:p>
                    <a:p>
                      <a:pPr marL="285750" indent="-285750">
                        <a:buFontTx/>
                        <a:buChar char="-"/>
                      </a:pPr>
                      <a:r>
                        <a:rPr lang="en-GB" baseline="0" dirty="0"/>
                        <a:t>Normal:&gt;98%</a:t>
                      </a:r>
                    </a:p>
                    <a:p>
                      <a:pPr marL="285750" indent="-285750">
                        <a:buFontTx/>
                        <a:buChar char="-"/>
                      </a:pPr>
                      <a:r>
                        <a:rPr lang="en-GB" baseline="0" dirty="0"/>
                        <a:t>O2 sensitivity &lt; target range </a:t>
                      </a:r>
                      <a:r>
                        <a:rPr lang="en-GB" baseline="0" dirty="0" err="1"/>
                        <a:t>ie</a:t>
                      </a:r>
                      <a:r>
                        <a:rPr lang="en-GB" baseline="0" dirty="0"/>
                        <a:t> 88 – 92%</a:t>
                      </a:r>
                    </a:p>
                  </a:txBody>
                  <a:tcPr/>
                </a:tc>
                <a:extLst>
                  <a:ext uri="{0D108BD9-81ED-4DB2-BD59-A6C34878D82A}">
                    <a16:rowId xmlns:a16="http://schemas.microsoft.com/office/drawing/2014/main" val="565458087"/>
                  </a:ext>
                </a:extLst>
              </a:tr>
              <a:tr h="462845">
                <a:tc>
                  <a:txBody>
                    <a:bodyPr/>
                    <a:lstStyle/>
                    <a:p>
                      <a:r>
                        <a:rPr lang="en-GB" baseline="0" dirty="0"/>
                        <a:t>Lung function Testing </a:t>
                      </a:r>
                    </a:p>
                    <a:p>
                      <a:r>
                        <a:rPr lang="en-GB" baseline="0" dirty="0"/>
                        <a:t>- Spirometry vs Peak flow</a:t>
                      </a:r>
                      <a:endParaRPr lang="en-GB" dirty="0"/>
                    </a:p>
                  </a:txBody>
                  <a:tcPr/>
                </a:tc>
                <a:extLst>
                  <a:ext uri="{0D108BD9-81ED-4DB2-BD59-A6C34878D82A}">
                    <a16:rowId xmlns:a16="http://schemas.microsoft.com/office/drawing/2014/main" val="2923634791"/>
                  </a:ext>
                </a:extLst>
              </a:tr>
              <a:tr h="462845">
                <a:tc>
                  <a:txBody>
                    <a:bodyPr/>
                    <a:lstStyle/>
                    <a:p>
                      <a:r>
                        <a:rPr lang="en-GB" dirty="0"/>
                        <a:t>Breathlessness </a:t>
                      </a:r>
                    </a:p>
                    <a:p>
                      <a:r>
                        <a:rPr lang="en-GB" dirty="0"/>
                        <a:t>- Borg, MRC</a:t>
                      </a:r>
                    </a:p>
                  </a:txBody>
                  <a:tcPr/>
                </a:tc>
                <a:extLst>
                  <a:ext uri="{0D108BD9-81ED-4DB2-BD59-A6C34878D82A}">
                    <a16:rowId xmlns:a16="http://schemas.microsoft.com/office/drawing/2014/main" val="2184022605"/>
                  </a:ext>
                </a:extLst>
              </a:tr>
              <a:tr h="462845">
                <a:tc>
                  <a:txBody>
                    <a:bodyPr/>
                    <a:lstStyle/>
                    <a:p>
                      <a:r>
                        <a:rPr lang="en-GB" dirty="0"/>
                        <a:t>Arterial</a:t>
                      </a:r>
                      <a:r>
                        <a:rPr lang="en-GB" baseline="0" dirty="0"/>
                        <a:t> blood Gases ( AGB’s)</a:t>
                      </a:r>
                      <a:endParaRPr lang="en-GB" dirty="0"/>
                    </a:p>
                  </a:txBody>
                  <a:tcPr/>
                </a:tc>
                <a:extLst>
                  <a:ext uri="{0D108BD9-81ED-4DB2-BD59-A6C34878D82A}">
                    <a16:rowId xmlns:a16="http://schemas.microsoft.com/office/drawing/2014/main" val="876468347"/>
                  </a:ext>
                </a:extLst>
              </a:tr>
              <a:tr h="462845">
                <a:tc>
                  <a:txBody>
                    <a:bodyPr/>
                    <a:lstStyle/>
                    <a:p>
                      <a:r>
                        <a:rPr lang="en-GB" dirty="0"/>
                        <a:t>Fraction</a:t>
                      </a:r>
                      <a:r>
                        <a:rPr lang="en-GB" baseline="0" dirty="0"/>
                        <a:t> of Inspired O2 ( Fio2)</a:t>
                      </a:r>
                    </a:p>
                  </a:txBody>
                  <a:tcPr/>
                </a:tc>
                <a:extLst>
                  <a:ext uri="{0D108BD9-81ED-4DB2-BD59-A6C34878D82A}">
                    <a16:rowId xmlns:a16="http://schemas.microsoft.com/office/drawing/2014/main" val="3089841046"/>
                  </a:ext>
                </a:extLst>
              </a:tr>
              <a:tr h="46284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Chest Imaging ( X-rays. CT’s)</a:t>
                      </a:r>
                      <a:endParaRPr lang="en-GB" dirty="0"/>
                    </a:p>
                  </a:txBody>
                  <a:tcPr/>
                </a:tc>
                <a:extLst>
                  <a:ext uri="{0D108BD9-81ED-4DB2-BD59-A6C34878D82A}">
                    <a16:rowId xmlns:a16="http://schemas.microsoft.com/office/drawing/2014/main" val="1949757370"/>
                  </a:ext>
                </a:extLst>
              </a:tr>
            </a:tbl>
          </a:graphicData>
        </a:graphic>
      </p:graphicFrame>
    </p:spTree>
    <p:extLst>
      <p:ext uri="{BB962C8B-B14F-4D97-AF65-F5344CB8AC3E}">
        <p14:creationId xmlns:p14="http://schemas.microsoft.com/office/powerpoint/2010/main" val="5048879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Breathing </a:t>
            </a:r>
          </a:p>
        </p:txBody>
      </p:sp>
      <p:sp>
        <p:nvSpPr>
          <p:cNvPr id="3" name="Content Placeholder 2"/>
          <p:cNvSpPr>
            <a:spLocks noGrp="1"/>
          </p:cNvSpPr>
          <p:nvPr>
            <p:ph idx="1"/>
          </p:nvPr>
        </p:nvSpPr>
        <p:spPr>
          <a:xfrm>
            <a:off x="1525361" y="1676400"/>
            <a:ext cx="6969579" cy="3613100"/>
          </a:xfrm>
        </p:spPr>
        <p:txBody>
          <a:bodyPr>
            <a:normAutofit/>
          </a:bodyPr>
          <a:lstStyle/>
          <a:p>
            <a:pPr marL="0" indent="0">
              <a:buNone/>
            </a:pPr>
            <a:endParaRPr lang="en-GB" b="1" u="sng" dirty="0"/>
          </a:p>
          <a:p>
            <a:pPr marL="0" indent="0">
              <a:buNone/>
            </a:pPr>
            <a:r>
              <a:rPr lang="en-GB" b="1" u="sng" dirty="0"/>
              <a:t>Observation</a:t>
            </a:r>
            <a:r>
              <a:rPr lang="en-GB" dirty="0"/>
              <a:t>:</a:t>
            </a:r>
          </a:p>
          <a:p>
            <a:r>
              <a:rPr lang="en-GB" dirty="0"/>
              <a:t>Speech - length of sentences</a:t>
            </a:r>
          </a:p>
          <a:p>
            <a:pPr fontAlgn="t"/>
            <a:r>
              <a:rPr lang="en-GB" dirty="0" err="1"/>
              <a:t>Assessory</a:t>
            </a:r>
            <a:r>
              <a:rPr lang="en-GB" dirty="0"/>
              <a:t> muscles usage</a:t>
            </a:r>
          </a:p>
          <a:p>
            <a:pPr fontAlgn="t"/>
            <a:r>
              <a:rPr lang="en-GB" dirty="0"/>
              <a:t>Pursed lip breathing </a:t>
            </a:r>
          </a:p>
          <a:p>
            <a:pPr fontAlgn="t"/>
            <a:r>
              <a:rPr lang="en-GB" dirty="0"/>
              <a:t>Breathing Pattern</a:t>
            </a:r>
          </a:p>
          <a:p>
            <a:pPr fontAlgn="t"/>
            <a:r>
              <a:rPr lang="en-GB" dirty="0"/>
              <a:t>Chest wall shape</a:t>
            </a:r>
          </a:p>
        </p:txBody>
      </p:sp>
      <p:pic>
        <p:nvPicPr>
          <p:cNvPr id="7" name="Picture 6"/>
          <p:cNvPicPr>
            <a:picLocks noChangeAspect="1"/>
          </p:cNvPicPr>
          <p:nvPr/>
        </p:nvPicPr>
        <p:blipFill rotWithShape="1">
          <a:blip r:embed="rId3"/>
          <a:srcRect l="31552" t="32552" r="29942" b="25260"/>
          <a:stretch/>
        </p:blipFill>
        <p:spPr>
          <a:xfrm>
            <a:off x="7181850" y="1676400"/>
            <a:ext cx="5010150" cy="3443478"/>
          </a:xfrm>
          <a:prstGeom prst="rect">
            <a:avLst/>
          </a:prstGeom>
        </p:spPr>
      </p:pic>
    </p:spTree>
    <p:extLst>
      <p:ext uri="{BB962C8B-B14F-4D97-AF65-F5344CB8AC3E}">
        <p14:creationId xmlns:p14="http://schemas.microsoft.com/office/powerpoint/2010/main" val="1627833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22181" t="17188" r="23499" b="11458"/>
          <a:stretch/>
        </p:blipFill>
        <p:spPr>
          <a:xfrm>
            <a:off x="6924675" y="576944"/>
            <a:ext cx="5076826" cy="5219700"/>
          </a:xfrm>
          <a:prstGeom prst="rect">
            <a:avLst/>
          </a:prstGeom>
        </p:spPr>
      </p:pic>
      <p:pic>
        <p:nvPicPr>
          <p:cNvPr id="3" name="Content Placeholder 3"/>
          <p:cNvPicPr>
            <a:picLocks noChangeAspect="1"/>
          </p:cNvPicPr>
          <p:nvPr/>
        </p:nvPicPr>
        <p:blipFill rotWithShape="1">
          <a:blip r:embed="rId3"/>
          <a:srcRect l="35395" t="15840" r="36480" b="56832"/>
          <a:stretch/>
        </p:blipFill>
        <p:spPr>
          <a:xfrm>
            <a:off x="276225" y="576944"/>
            <a:ext cx="6648450" cy="5317672"/>
          </a:xfrm>
          <a:prstGeom prst="rect">
            <a:avLst/>
          </a:prstGeom>
        </p:spPr>
      </p:pic>
    </p:spTree>
    <p:extLst>
      <p:ext uri="{BB962C8B-B14F-4D97-AF65-F5344CB8AC3E}">
        <p14:creationId xmlns:p14="http://schemas.microsoft.com/office/powerpoint/2010/main" val="2301580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37702" t="15885" r="39165" b="33594"/>
          <a:stretch/>
        </p:blipFill>
        <p:spPr>
          <a:xfrm>
            <a:off x="0" y="576942"/>
            <a:ext cx="5237520" cy="5807591"/>
          </a:xfrm>
          <a:prstGeom prst="rect">
            <a:avLst/>
          </a:prstGeom>
        </p:spPr>
      </p:pic>
      <p:cxnSp>
        <p:nvCxnSpPr>
          <p:cNvPr id="5" name="Straight Arrow Connector 4"/>
          <p:cNvCxnSpPr>
            <a:cxnSpLocks/>
            <a:stCxn id="22" idx="1"/>
          </p:cNvCxnSpPr>
          <p:nvPr/>
        </p:nvCxnSpPr>
        <p:spPr>
          <a:xfrm flipH="1">
            <a:off x="2808514" y="2793473"/>
            <a:ext cx="2465955" cy="2521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5239770" y="1801514"/>
            <a:ext cx="3562350" cy="369332"/>
          </a:xfrm>
          <a:prstGeom prst="rect">
            <a:avLst/>
          </a:prstGeom>
          <a:noFill/>
        </p:spPr>
        <p:txBody>
          <a:bodyPr wrap="square" rtlCol="0">
            <a:spAutoFit/>
          </a:bodyPr>
          <a:lstStyle/>
          <a:p>
            <a:r>
              <a:rPr lang="en-GB" dirty="0"/>
              <a:t>Intercostal in drawing (recession) </a:t>
            </a:r>
          </a:p>
        </p:txBody>
      </p:sp>
      <p:cxnSp>
        <p:nvCxnSpPr>
          <p:cNvPr id="7" name="Straight Arrow Connector 6"/>
          <p:cNvCxnSpPr>
            <a:cxnSpLocks/>
          </p:cNvCxnSpPr>
          <p:nvPr/>
        </p:nvCxnSpPr>
        <p:spPr>
          <a:xfrm flipH="1">
            <a:off x="3052763" y="1091406"/>
            <a:ext cx="2141115" cy="7101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5230827" y="859476"/>
            <a:ext cx="3562350" cy="369332"/>
          </a:xfrm>
          <a:prstGeom prst="rect">
            <a:avLst/>
          </a:prstGeom>
          <a:noFill/>
        </p:spPr>
        <p:txBody>
          <a:bodyPr wrap="square" rtlCol="0">
            <a:spAutoFit/>
          </a:bodyPr>
          <a:lstStyle/>
          <a:p>
            <a:r>
              <a:rPr lang="en-GB" dirty="0"/>
              <a:t>Pursed Lip Breathing </a:t>
            </a:r>
          </a:p>
        </p:txBody>
      </p:sp>
      <p:cxnSp>
        <p:nvCxnSpPr>
          <p:cNvPr id="19" name="Straight Arrow Connector 18"/>
          <p:cNvCxnSpPr>
            <a:cxnSpLocks/>
          </p:cNvCxnSpPr>
          <p:nvPr/>
        </p:nvCxnSpPr>
        <p:spPr>
          <a:xfrm flipH="1">
            <a:off x="3052763" y="1507869"/>
            <a:ext cx="2178064" cy="6068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5274469" y="2470307"/>
            <a:ext cx="3562350" cy="646331"/>
          </a:xfrm>
          <a:prstGeom prst="rect">
            <a:avLst/>
          </a:prstGeom>
          <a:noFill/>
        </p:spPr>
        <p:txBody>
          <a:bodyPr wrap="square" rtlCol="0">
            <a:spAutoFit/>
          </a:bodyPr>
          <a:lstStyle/>
          <a:p>
            <a:r>
              <a:rPr lang="en-GB" dirty="0"/>
              <a:t>Barrel Shaped chest (Hyperinflation) </a:t>
            </a:r>
          </a:p>
        </p:txBody>
      </p:sp>
      <p:sp>
        <p:nvSpPr>
          <p:cNvPr id="24" name="TextBox 23"/>
          <p:cNvSpPr txBox="1"/>
          <p:nvPr/>
        </p:nvSpPr>
        <p:spPr>
          <a:xfrm>
            <a:off x="5239770" y="1296251"/>
            <a:ext cx="3562350" cy="369332"/>
          </a:xfrm>
          <a:prstGeom prst="rect">
            <a:avLst/>
          </a:prstGeom>
          <a:noFill/>
        </p:spPr>
        <p:txBody>
          <a:bodyPr wrap="square" rtlCol="0">
            <a:spAutoFit/>
          </a:bodyPr>
          <a:lstStyle/>
          <a:p>
            <a:r>
              <a:rPr lang="en-GB" dirty="0" err="1"/>
              <a:t>Assessory</a:t>
            </a:r>
            <a:r>
              <a:rPr lang="en-GB" dirty="0"/>
              <a:t> muscle use</a:t>
            </a:r>
          </a:p>
        </p:txBody>
      </p:sp>
      <p:cxnSp>
        <p:nvCxnSpPr>
          <p:cNvPr id="25" name="Straight Arrow Connector 24"/>
          <p:cNvCxnSpPr>
            <a:cxnSpLocks/>
          </p:cNvCxnSpPr>
          <p:nvPr/>
        </p:nvCxnSpPr>
        <p:spPr>
          <a:xfrm flipH="1">
            <a:off x="3052763" y="1986180"/>
            <a:ext cx="2186913" cy="6202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8" name="Picture 27"/>
          <p:cNvPicPr>
            <a:picLocks noChangeAspect="1"/>
          </p:cNvPicPr>
          <p:nvPr/>
        </p:nvPicPr>
        <p:blipFill rotWithShape="1">
          <a:blip r:embed="rId4"/>
          <a:srcRect l="45036" t="18229" r="46047" b="61458"/>
          <a:stretch/>
        </p:blipFill>
        <p:spPr>
          <a:xfrm>
            <a:off x="8353425" y="1180073"/>
            <a:ext cx="3429000" cy="4449119"/>
          </a:xfrm>
          <a:prstGeom prst="rect">
            <a:avLst/>
          </a:prstGeom>
        </p:spPr>
      </p:pic>
      <p:cxnSp>
        <p:nvCxnSpPr>
          <p:cNvPr id="29" name="Straight Arrow Connector 28"/>
          <p:cNvCxnSpPr>
            <a:cxnSpLocks/>
            <a:stCxn id="31" idx="1"/>
          </p:cNvCxnSpPr>
          <p:nvPr/>
        </p:nvCxnSpPr>
        <p:spPr>
          <a:xfrm flipH="1" flipV="1">
            <a:off x="4312445" y="3601468"/>
            <a:ext cx="1512093" cy="4572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TextBox 30"/>
          <p:cNvSpPr txBox="1"/>
          <p:nvPr/>
        </p:nvSpPr>
        <p:spPr>
          <a:xfrm>
            <a:off x="5824538" y="3735511"/>
            <a:ext cx="1638300" cy="646331"/>
          </a:xfrm>
          <a:prstGeom prst="rect">
            <a:avLst/>
          </a:prstGeom>
          <a:noFill/>
        </p:spPr>
        <p:txBody>
          <a:bodyPr wrap="square" rtlCol="0">
            <a:spAutoFit/>
          </a:bodyPr>
          <a:lstStyle/>
          <a:p>
            <a:r>
              <a:rPr lang="en-GB" dirty="0"/>
              <a:t>Forward lean position</a:t>
            </a:r>
          </a:p>
        </p:txBody>
      </p:sp>
    </p:spTree>
    <p:extLst>
      <p:ext uri="{BB962C8B-B14F-4D97-AF65-F5344CB8AC3E}">
        <p14:creationId xmlns:p14="http://schemas.microsoft.com/office/powerpoint/2010/main" val="2918277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Breathing Assessment: Palpation</a:t>
            </a:r>
          </a:p>
        </p:txBody>
      </p:sp>
      <p:sp>
        <p:nvSpPr>
          <p:cNvPr id="3" name="Content Placeholder 2"/>
          <p:cNvSpPr>
            <a:spLocks noGrp="1"/>
          </p:cNvSpPr>
          <p:nvPr>
            <p:ph idx="1"/>
          </p:nvPr>
        </p:nvSpPr>
        <p:spPr>
          <a:xfrm>
            <a:off x="1197430" y="1197428"/>
            <a:ext cx="6534384" cy="4044369"/>
          </a:xfrm>
        </p:spPr>
        <p:txBody>
          <a:bodyPr>
            <a:normAutofit/>
          </a:bodyPr>
          <a:lstStyle/>
          <a:p>
            <a:pPr marL="0" indent="0">
              <a:buNone/>
            </a:pPr>
            <a:r>
              <a:rPr lang="en-GB" dirty="0"/>
              <a:t>Trachea Position</a:t>
            </a:r>
          </a:p>
          <a:p>
            <a:pPr marL="0" indent="0">
              <a:buNone/>
            </a:pPr>
            <a:r>
              <a:rPr lang="en-GB" dirty="0"/>
              <a:t>Chest expansion</a:t>
            </a:r>
          </a:p>
          <a:p>
            <a:pPr>
              <a:buFontTx/>
              <a:buChar char="-"/>
            </a:pPr>
            <a:r>
              <a:rPr lang="en-GB" dirty="0"/>
              <a:t>Palpation &gt; Observation</a:t>
            </a:r>
          </a:p>
          <a:p>
            <a:pPr>
              <a:buFontTx/>
              <a:buChar char="-"/>
            </a:pPr>
            <a:r>
              <a:rPr lang="en-GB" dirty="0"/>
              <a:t>Reduced movement</a:t>
            </a:r>
          </a:p>
          <a:p>
            <a:pPr>
              <a:buFontTx/>
              <a:buChar char="-"/>
            </a:pPr>
            <a:r>
              <a:rPr lang="en-GB" dirty="0" err="1"/>
              <a:t>Paradoxal</a:t>
            </a:r>
            <a:r>
              <a:rPr lang="en-GB" dirty="0"/>
              <a:t> movement </a:t>
            </a:r>
          </a:p>
          <a:p>
            <a:pPr lvl="1">
              <a:buFontTx/>
              <a:buChar char="-"/>
            </a:pPr>
            <a:r>
              <a:rPr lang="en-GB" dirty="0"/>
              <a:t>Integrity of chest was is disrupted </a:t>
            </a:r>
            <a:r>
              <a:rPr lang="en-GB" dirty="0" err="1"/>
              <a:t>ie</a:t>
            </a:r>
            <a:r>
              <a:rPr lang="en-GB" dirty="0"/>
              <a:t> Rib fractures / flail </a:t>
            </a:r>
          </a:p>
          <a:p>
            <a:pPr lvl="1">
              <a:buFontTx/>
              <a:buChar char="-"/>
            </a:pPr>
            <a:r>
              <a:rPr lang="en-GB" dirty="0"/>
              <a:t>Diaphragm paralysis</a:t>
            </a:r>
          </a:p>
          <a:p>
            <a:endParaRPr lang="en-GB" dirty="0"/>
          </a:p>
        </p:txBody>
      </p:sp>
      <p:pic>
        <p:nvPicPr>
          <p:cNvPr id="8" name="Picture 7"/>
          <p:cNvPicPr>
            <a:picLocks noChangeAspect="1"/>
          </p:cNvPicPr>
          <p:nvPr/>
        </p:nvPicPr>
        <p:blipFill rotWithShape="1">
          <a:blip r:embed="rId3"/>
          <a:srcRect l="32862" t="18229" r="33356" b="32292"/>
          <a:stretch/>
        </p:blipFill>
        <p:spPr>
          <a:xfrm>
            <a:off x="1643742" y="4432822"/>
            <a:ext cx="3374571" cy="2320699"/>
          </a:xfrm>
          <a:prstGeom prst="rect">
            <a:avLst/>
          </a:prstGeom>
        </p:spPr>
      </p:pic>
      <p:pic>
        <p:nvPicPr>
          <p:cNvPr id="9" name="Picture 8"/>
          <p:cNvPicPr>
            <a:picLocks noChangeAspect="1"/>
          </p:cNvPicPr>
          <p:nvPr/>
        </p:nvPicPr>
        <p:blipFill rotWithShape="1">
          <a:blip r:embed="rId4"/>
          <a:srcRect l="29063" t="14322" r="28916" b="14584"/>
          <a:stretch/>
        </p:blipFill>
        <p:spPr>
          <a:xfrm>
            <a:off x="8032761" y="1197428"/>
            <a:ext cx="3298783" cy="2876550"/>
          </a:xfrm>
          <a:prstGeom prst="rect">
            <a:avLst/>
          </a:prstGeom>
        </p:spPr>
      </p:pic>
      <p:sp>
        <p:nvSpPr>
          <p:cNvPr id="10" name="Rectangle 9"/>
          <p:cNvSpPr/>
          <p:nvPr/>
        </p:nvSpPr>
        <p:spPr>
          <a:xfrm>
            <a:off x="7865219" y="4166839"/>
            <a:ext cx="6096000" cy="2308324"/>
          </a:xfrm>
          <a:prstGeom prst="rect">
            <a:avLst/>
          </a:prstGeom>
        </p:spPr>
        <p:txBody>
          <a:bodyPr>
            <a:spAutoFit/>
          </a:bodyPr>
          <a:lstStyle/>
          <a:p>
            <a:r>
              <a:rPr lang="en-GB" u="sng" dirty="0">
                <a:solidFill>
                  <a:schemeClr val="tx1">
                    <a:lumMod val="65000"/>
                    <a:lumOff val="35000"/>
                  </a:schemeClr>
                </a:solidFill>
                <a:latin typeface="+mj-lt"/>
              </a:rPr>
              <a:t>Feeling for expansion</a:t>
            </a:r>
          </a:p>
          <a:p>
            <a:endParaRPr lang="en-GB" b="1" u="sng" dirty="0">
              <a:solidFill>
                <a:schemeClr val="tx1">
                  <a:lumMod val="65000"/>
                  <a:lumOff val="35000"/>
                </a:schemeClr>
              </a:solidFill>
              <a:latin typeface="+mj-lt"/>
            </a:endParaRPr>
          </a:p>
          <a:p>
            <a:r>
              <a:rPr lang="en-GB" dirty="0">
                <a:solidFill>
                  <a:schemeClr val="tx1">
                    <a:lumMod val="65000"/>
                    <a:lumOff val="35000"/>
                  </a:schemeClr>
                </a:solidFill>
                <a:latin typeface="+mj-lt"/>
              </a:rPr>
              <a:t>Hands placed on either side of chest</a:t>
            </a:r>
          </a:p>
          <a:p>
            <a:r>
              <a:rPr lang="en-GB" dirty="0">
                <a:solidFill>
                  <a:schemeClr val="tx1">
                    <a:lumMod val="65000"/>
                    <a:lumOff val="35000"/>
                  </a:schemeClr>
                </a:solidFill>
                <a:latin typeface="+mj-lt"/>
              </a:rPr>
              <a:t>Feel through normal and deep breath</a:t>
            </a:r>
          </a:p>
          <a:p>
            <a:endParaRPr lang="en-GB" u="sng" dirty="0">
              <a:solidFill>
                <a:schemeClr val="tx1">
                  <a:lumMod val="65000"/>
                  <a:lumOff val="35000"/>
                </a:schemeClr>
              </a:solidFill>
              <a:latin typeface="+mj-lt"/>
            </a:endParaRPr>
          </a:p>
          <a:p>
            <a:r>
              <a:rPr lang="en-GB" u="sng" dirty="0">
                <a:solidFill>
                  <a:schemeClr val="tx1">
                    <a:lumMod val="65000"/>
                    <a:lumOff val="35000"/>
                  </a:schemeClr>
                </a:solidFill>
                <a:latin typeface="+mj-lt"/>
              </a:rPr>
              <a:t>Consider</a:t>
            </a:r>
          </a:p>
          <a:p>
            <a:pPr marL="285750" indent="-285750">
              <a:buFont typeface="Arial" panose="020B0604020202020204" pitchFamily="34" charset="0"/>
              <a:buChar char="•"/>
            </a:pPr>
            <a:r>
              <a:rPr lang="en-GB" dirty="0">
                <a:solidFill>
                  <a:schemeClr val="tx1">
                    <a:lumMod val="65000"/>
                    <a:lumOff val="35000"/>
                  </a:schemeClr>
                </a:solidFill>
                <a:latin typeface="+mj-lt"/>
              </a:rPr>
              <a:t>How much expansion</a:t>
            </a:r>
          </a:p>
          <a:p>
            <a:pPr marL="285750" indent="-285750">
              <a:buFont typeface="Arial" panose="020B0604020202020204" pitchFamily="34" charset="0"/>
              <a:buChar char="•"/>
            </a:pPr>
            <a:r>
              <a:rPr lang="en-GB" dirty="0">
                <a:solidFill>
                  <a:schemeClr val="tx1">
                    <a:lumMod val="65000"/>
                    <a:lumOff val="35000"/>
                  </a:schemeClr>
                </a:solidFill>
                <a:latin typeface="+mj-lt"/>
              </a:rPr>
              <a:t>Do both sides feel similar? </a:t>
            </a:r>
          </a:p>
        </p:txBody>
      </p:sp>
    </p:spTree>
    <p:extLst>
      <p:ext uri="{BB962C8B-B14F-4D97-AF65-F5344CB8AC3E}">
        <p14:creationId xmlns:p14="http://schemas.microsoft.com/office/powerpoint/2010/main" val="4244413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Breathing Assessment: Palpation</a:t>
            </a:r>
          </a:p>
        </p:txBody>
      </p:sp>
      <p:sp>
        <p:nvSpPr>
          <p:cNvPr id="3" name="Content Placeholder 2"/>
          <p:cNvSpPr>
            <a:spLocks noGrp="1"/>
          </p:cNvSpPr>
          <p:nvPr>
            <p:ph idx="1"/>
          </p:nvPr>
        </p:nvSpPr>
        <p:spPr/>
        <p:txBody>
          <a:bodyPr>
            <a:normAutofit/>
          </a:bodyPr>
          <a:lstStyle/>
          <a:p>
            <a:pPr marL="0" indent="0">
              <a:buNone/>
            </a:pPr>
            <a:r>
              <a:rPr lang="en-GB" dirty="0"/>
              <a:t>Surgical Emphysema</a:t>
            </a:r>
          </a:p>
          <a:p>
            <a:r>
              <a:rPr lang="en-GB" dirty="0"/>
              <a:t>Air within subcutaneous tissues</a:t>
            </a:r>
          </a:p>
          <a:p>
            <a:r>
              <a:rPr lang="en-GB" dirty="0"/>
              <a:t>Chest, neck or face</a:t>
            </a:r>
          </a:p>
          <a:p>
            <a:r>
              <a:rPr lang="en-GB" dirty="0"/>
              <a:t>Characteristic ‘bubble wrap’ feeling under skin </a:t>
            </a:r>
          </a:p>
          <a:p>
            <a:r>
              <a:rPr lang="en-GB" dirty="0"/>
              <a:t>Occurs though surgery, drain insertion or pneumothorax</a:t>
            </a:r>
          </a:p>
          <a:p>
            <a:pPr marL="0" indent="0">
              <a:buNone/>
            </a:pPr>
            <a:endParaRPr lang="en-GB" dirty="0"/>
          </a:p>
          <a:p>
            <a:pPr marL="0" indent="0">
              <a:buNone/>
            </a:pPr>
            <a:r>
              <a:rPr lang="en-GB" dirty="0"/>
              <a:t>Tactile Fremitus </a:t>
            </a:r>
          </a:p>
          <a:p>
            <a:r>
              <a:rPr lang="en-GB" dirty="0"/>
              <a:t>Vibrations felt though chest wall</a:t>
            </a:r>
          </a:p>
          <a:p>
            <a:r>
              <a:rPr lang="en-GB" dirty="0"/>
              <a:t>Caused by movement of air around secretions </a:t>
            </a:r>
          </a:p>
          <a:p>
            <a:pPr marL="0" indent="0">
              <a:buNone/>
            </a:pPr>
            <a:endParaRPr lang="en-GB" dirty="0"/>
          </a:p>
        </p:txBody>
      </p:sp>
    </p:spTree>
    <p:extLst>
      <p:ext uri="{BB962C8B-B14F-4D97-AF65-F5344CB8AC3E}">
        <p14:creationId xmlns:p14="http://schemas.microsoft.com/office/powerpoint/2010/main" val="41294392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Breathing</a:t>
            </a:r>
            <a:br>
              <a:rPr lang="en-GB" dirty="0"/>
            </a:br>
            <a:r>
              <a:rPr lang="en-GB" dirty="0"/>
              <a:t>Assessment: Listen</a:t>
            </a:r>
            <a:br>
              <a:rPr lang="en-GB" dirty="0"/>
            </a:br>
            <a:endParaRPr lang="en-GB" dirty="0"/>
          </a:p>
        </p:txBody>
      </p:sp>
      <p:sp>
        <p:nvSpPr>
          <p:cNvPr id="3" name="Content Placeholder 2"/>
          <p:cNvSpPr>
            <a:spLocks noGrp="1"/>
          </p:cNvSpPr>
          <p:nvPr>
            <p:ph idx="1"/>
          </p:nvPr>
        </p:nvSpPr>
        <p:spPr>
          <a:xfrm>
            <a:off x="2217808" y="1853248"/>
            <a:ext cx="3878191" cy="3491638"/>
          </a:xfrm>
        </p:spPr>
        <p:txBody>
          <a:bodyPr/>
          <a:lstStyle/>
          <a:p>
            <a:pPr marL="0" indent="0" algn="ctr">
              <a:buNone/>
            </a:pPr>
            <a:r>
              <a:rPr lang="en-GB" b="1" u="sng" dirty="0"/>
              <a:t>Listen</a:t>
            </a:r>
          </a:p>
          <a:p>
            <a:pPr marL="0" indent="0" algn="ctr">
              <a:buNone/>
            </a:pPr>
            <a:endParaRPr lang="en-GB" sz="3200" b="1" u="sng" dirty="0"/>
          </a:p>
          <a:p>
            <a:pPr>
              <a:buFontTx/>
              <a:buChar char="-"/>
            </a:pPr>
            <a:r>
              <a:rPr lang="en-GB" dirty="0"/>
              <a:t>Auscultation</a:t>
            </a:r>
          </a:p>
          <a:p>
            <a:pPr>
              <a:buFontTx/>
              <a:buChar char="-"/>
            </a:pPr>
            <a:r>
              <a:rPr lang="en-GB" dirty="0"/>
              <a:t>Cough quality</a:t>
            </a:r>
          </a:p>
          <a:p>
            <a:pPr>
              <a:buFontTx/>
              <a:buChar char="-"/>
            </a:pPr>
            <a:r>
              <a:rPr lang="en-GB" dirty="0"/>
              <a:t>Percussion</a:t>
            </a:r>
          </a:p>
          <a:p>
            <a:pPr>
              <a:buFontTx/>
              <a:buChar char="-"/>
            </a:pPr>
            <a:r>
              <a:rPr lang="en-GB" dirty="0"/>
              <a:t>Speech</a:t>
            </a:r>
          </a:p>
        </p:txBody>
      </p:sp>
      <p:pic>
        <p:nvPicPr>
          <p:cNvPr id="8" name="Picture 7"/>
          <p:cNvPicPr>
            <a:picLocks noChangeAspect="1"/>
          </p:cNvPicPr>
          <p:nvPr/>
        </p:nvPicPr>
        <p:blipFill rotWithShape="1">
          <a:blip r:embed="rId3"/>
          <a:srcRect l="69326" t="38541" r="15008" b="27604"/>
          <a:stretch/>
        </p:blipFill>
        <p:spPr>
          <a:xfrm>
            <a:off x="7415893" y="1853248"/>
            <a:ext cx="4343401" cy="4758253"/>
          </a:xfrm>
          <a:prstGeom prst="rect">
            <a:avLst/>
          </a:prstGeom>
        </p:spPr>
      </p:pic>
    </p:spTree>
    <p:extLst>
      <p:ext uri="{BB962C8B-B14F-4D97-AF65-F5344CB8AC3E}">
        <p14:creationId xmlns:p14="http://schemas.microsoft.com/office/powerpoint/2010/main" val="2472697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694724789"/>
              </p:ext>
            </p:extLst>
          </p:nvPr>
        </p:nvGraphicFramePr>
        <p:xfrm>
          <a:off x="485775" y="221835"/>
          <a:ext cx="6638925" cy="6419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p:cNvSpPr txBox="1"/>
          <p:nvPr/>
        </p:nvSpPr>
        <p:spPr>
          <a:xfrm>
            <a:off x="476250" y="5409418"/>
            <a:ext cx="6648450" cy="1754326"/>
          </a:xfrm>
          <a:prstGeom prst="rect">
            <a:avLst/>
          </a:prstGeom>
          <a:noFill/>
        </p:spPr>
        <p:txBody>
          <a:bodyPr wrap="square" rtlCol="0">
            <a:spAutoFit/>
          </a:bodyPr>
          <a:lstStyle/>
          <a:p>
            <a:pPr lvl="0"/>
            <a:r>
              <a:rPr lang="en-US" dirty="0">
                <a:solidFill>
                  <a:schemeClr val="tx1">
                    <a:lumMod val="65000"/>
                    <a:lumOff val="35000"/>
                  </a:schemeClr>
                </a:solidFill>
              </a:rPr>
              <a:t>Listen to each lobe with a systematically</a:t>
            </a:r>
          </a:p>
          <a:p>
            <a:pPr lvl="0"/>
            <a:r>
              <a:rPr lang="en-US" dirty="0">
                <a:solidFill>
                  <a:schemeClr val="tx1">
                    <a:lumMod val="65000"/>
                    <a:lumOff val="35000"/>
                  </a:schemeClr>
                </a:solidFill>
              </a:rPr>
              <a:t>Stepwise approach</a:t>
            </a:r>
          </a:p>
          <a:p>
            <a:pPr lvl="0"/>
            <a:r>
              <a:rPr lang="en-US" dirty="0">
                <a:solidFill>
                  <a:schemeClr val="tx1">
                    <a:lumMod val="65000"/>
                    <a:lumOff val="35000"/>
                  </a:schemeClr>
                </a:solidFill>
              </a:rPr>
              <a:t>Start from top to bottom - Compare right and left side</a:t>
            </a:r>
          </a:p>
          <a:p>
            <a:pPr lvl="0"/>
            <a:r>
              <a:rPr lang="en-US" dirty="0">
                <a:solidFill>
                  <a:schemeClr val="tx1">
                    <a:lumMod val="65000"/>
                    <a:lumOff val="35000"/>
                  </a:schemeClr>
                </a:solidFill>
              </a:rPr>
              <a:t>Repeat posteriorly</a:t>
            </a:r>
          </a:p>
          <a:p>
            <a:pPr lvl="0"/>
            <a:r>
              <a:rPr lang="en-US" dirty="0">
                <a:solidFill>
                  <a:schemeClr val="tx1">
                    <a:lumMod val="65000"/>
                    <a:lumOff val="35000"/>
                  </a:schemeClr>
                </a:solidFill>
              </a:rPr>
              <a:t>Listen throughout inspiration and expiration </a:t>
            </a:r>
          </a:p>
          <a:p>
            <a:endParaRPr lang="en-GB" dirty="0"/>
          </a:p>
        </p:txBody>
      </p:sp>
      <p:sp>
        <p:nvSpPr>
          <p:cNvPr id="5" name="TextBox 4"/>
          <p:cNvSpPr txBox="1"/>
          <p:nvPr/>
        </p:nvSpPr>
        <p:spPr>
          <a:xfrm>
            <a:off x="476250" y="3431760"/>
            <a:ext cx="8134350" cy="646331"/>
          </a:xfrm>
          <a:prstGeom prst="rect">
            <a:avLst/>
          </a:prstGeom>
          <a:noFill/>
        </p:spPr>
        <p:txBody>
          <a:bodyPr wrap="square" rtlCol="0">
            <a:spAutoFit/>
          </a:bodyPr>
          <a:lstStyle/>
          <a:p>
            <a:pPr lvl="0"/>
            <a:r>
              <a:rPr lang="en-US" dirty="0">
                <a:solidFill>
                  <a:schemeClr val="tx1">
                    <a:lumMod val="65000"/>
                    <a:lumOff val="35000"/>
                  </a:schemeClr>
                </a:solidFill>
              </a:rPr>
              <a:t>Instruct patient to take deep breaths through mouth</a:t>
            </a:r>
          </a:p>
          <a:p>
            <a:pPr lvl="0"/>
            <a:r>
              <a:rPr lang="en-US" dirty="0">
                <a:solidFill>
                  <a:schemeClr val="tx1">
                    <a:lumMod val="65000"/>
                    <a:lumOff val="35000"/>
                  </a:schemeClr>
                </a:solidFill>
              </a:rPr>
              <a:t>(Nasal turbulence interferes with breath sounds) </a:t>
            </a:r>
          </a:p>
        </p:txBody>
      </p:sp>
      <p:sp>
        <p:nvSpPr>
          <p:cNvPr id="6" name="TextBox 5"/>
          <p:cNvSpPr txBox="1"/>
          <p:nvPr/>
        </p:nvSpPr>
        <p:spPr>
          <a:xfrm>
            <a:off x="485774" y="1282875"/>
            <a:ext cx="8743950" cy="1200329"/>
          </a:xfrm>
          <a:prstGeom prst="rect">
            <a:avLst/>
          </a:prstGeom>
          <a:noFill/>
        </p:spPr>
        <p:txBody>
          <a:bodyPr wrap="square" rtlCol="0">
            <a:spAutoFit/>
          </a:bodyPr>
          <a:lstStyle/>
          <a:p>
            <a:pPr lvl="0"/>
            <a:r>
              <a:rPr lang="en-US" dirty="0">
                <a:solidFill>
                  <a:schemeClr val="tx1">
                    <a:lumMod val="65000"/>
                    <a:lumOff val="35000"/>
                  </a:schemeClr>
                </a:solidFill>
              </a:rPr>
              <a:t>Position patient for comfort and access to anterior and posterior chest</a:t>
            </a:r>
          </a:p>
          <a:p>
            <a:pPr lvl="0"/>
            <a:r>
              <a:rPr lang="en-US" dirty="0">
                <a:solidFill>
                  <a:schemeClr val="tx1">
                    <a:lumMod val="65000"/>
                    <a:lumOff val="35000"/>
                  </a:schemeClr>
                </a:solidFill>
              </a:rPr>
              <a:t>Re-arrange patient clothing to allow access </a:t>
            </a:r>
            <a:r>
              <a:rPr lang="en-US" b="1" dirty="0">
                <a:solidFill>
                  <a:schemeClr val="tx1">
                    <a:lumMod val="65000"/>
                    <a:lumOff val="35000"/>
                  </a:schemeClr>
                </a:solidFill>
              </a:rPr>
              <a:t>** with consent </a:t>
            </a:r>
          </a:p>
          <a:p>
            <a:pPr lvl="0"/>
            <a:r>
              <a:rPr lang="en-US" dirty="0">
                <a:solidFill>
                  <a:schemeClr val="tx1">
                    <a:lumMod val="65000"/>
                    <a:lumOff val="35000"/>
                  </a:schemeClr>
                </a:solidFill>
              </a:rPr>
              <a:t>Place against chest using gentle pressure</a:t>
            </a:r>
          </a:p>
          <a:p>
            <a:endParaRPr lang="en-GB" dirty="0"/>
          </a:p>
        </p:txBody>
      </p:sp>
      <p:sp>
        <p:nvSpPr>
          <p:cNvPr id="9" name="TextBox 8"/>
          <p:cNvSpPr txBox="1"/>
          <p:nvPr/>
        </p:nvSpPr>
        <p:spPr>
          <a:xfrm>
            <a:off x="7872408" y="4078091"/>
            <a:ext cx="4057650" cy="2431435"/>
          </a:xfrm>
          <a:prstGeom prst="rect">
            <a:avLst/>
          </a:prstGeom>
          <a:noFill/>
        </p:spPr>
        <p:txBody>
          <a:bodyPr wrap="square" rtlCol="0">
            <a:spAutoFit/>
          </a:bodyPr>
          <a:lstStyle/>
          <a:p>
            <a:pPr algn="ctr"/>
            <a:r>
              <a:rPr lang="en-GB" sz="2800" u="sng" dirty="0"/>
              <a:t>Considerations</a:t>
            </a:r>
          </a:p>
          <a:p>
            <a:pPr algn="ctr"/>
            <a:endParaRPr lang="en-GB" sz="2800" u="sng" dirty="0"/>
          </a:p>
          <a:p>
            <a:pPr marL="342900" indent="-342900">
              <a:buFont typeface="+mj-lt"/>
              <a:buAutoNum type="arabicPeriod"/>
            </a:pPr>
            <a:r>
              <a:rPr lang="en-GB" sz="2400" dirty="0">
                <a:solidFill>
                  <a:schemeClr val="tx1">
                    <a:lumMod val="65000"/>
                    <a:lumOff val="35000"/>
                  </a:schemeClr>
                </a:solidFill>
              </a:rPr>
              <a:t>Are there any additional sounds?</a:t>
            </a:r>
          </a:p>
          <a:p>
            <a:pPr marL="342900" indent="-342900">
              <a:buFont typeface="+mj-lt"/>
              <a:buAutoNum type="arabicPeriod"/>
            </a:pPr>
            <a:r>
              <a:rPr lang="en-GB" sz="2400" dirty="0">
                <a:solidFill>
                  <a:schemeClr val="tx1">
                    <a:lumMod val="65000"/>
                    <a:lumOff val="35000"/>
                  </a:schemeClr>
                </a:solidFill>
              </a:rPr>
              <a:t>Are the sounds normal, increased? Or diminished</a:t>
            </a:r>
          </a:p>
        </p:txBody>
      </p:sp>
      <p:pic>
        <p:nvPicPr>
          <p:cNvPr id="10" name="Picture 9"/>
          <p:cNvPicPr>
            <a:picLocks noChangeAspect="1"/>
          </p:cNvPicPr>
          <p:nvPr/>
        </p:nvPicPr>
        <p:blipFill rotWithShape="1">
          <a:blip r:embed="rId8"/>
          <a:srcRect l="25988" t="15625" r="34333" b="34375"/>
          <a:stretch/>
        </p:blipFill>
        <p:spPr>
          <a:xfrm>
            <a:off x="7467601" y="221836"/>
            <a:ext cx="4636042" cy="3533090"/>
          </a:xfrm>
          <a:prstGeom prst="rect">
            <a:avLst/>
          </a:prstGeom>
        </p:spPr>
      </p:pic>
    </p:spTree>
    <p:extLst>
      <p:ext uri="{BB962C8B-B14F-4D97-AF65-F5344CB8AC3E}">
        <p14:creationId xmlns:p14="http://schemas.microsoft.com/office/powerpoint/2010/main" val="3885504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a:srcRect l="36091" t="26110" r="40815" b="15365"/>
          <a:stretch/>
        </p:blipFill>
        <p:spPr>
          <a:xfrm>
            <a:off x="3964009" y="628650"/>
            <a:ext cx="3979841" cy="5400675"/>
          </a:xfrm>
          <a:prstGeom prst="rect">
            <a:avLst/>
          </a:prstGeom>
        </p:spPr>
      </p:pic>
      <p:sp>
        <p:nvSpPr>
          <p:cNvPr id="5" name="Rectangle 4"/>
          <p:cNvSpPr/>
          <p:nvPr/>
        </p:nvSpPr>
        <p:spPr>
          <a:xfrm>
            <a:off x="9039362" y="6305550"/>
            <a:ext cx="2822889" cy="369332"/>
          </a:xfrm>
          <a:prstGeom prst="rect">
            <a:avLst/>
          </a:prstGeom>
        </p:spPr>
        <p:txBody>
          <a:bodyPr wrap="none">
            <a:spAutoFit/>
          </a:bodyPr>
          <a:lstStyle/>
          <a:p>
            <a:r>
              <a:rPr lang="en-GB" dirty="0"/>
              <a:t>(Proctor J, Rickards E. 2020)</a:t>
            </a:r>
          </a:p>
        </p:txBody>
      </p:sp>
      <p:pic>
        <p:nvPicPr>
          <p:cNvPr id="7" name="Picture 6"/>
          <p:cNvPicPr>
            <a:picLocks noChangeAspect="1"/>
          </p:cNvPicPr>
          <p:nvPr/>
        </p:nvPicPr>
        <p:blipFill rotWithShape="1">
          <a:blip r:embed="rId4"/>
          <a:srcRect l="61567" t="23177" r="15153" b="17448"/>
          <a:stretch/>
        </p:blipFill>
        <p:spPr>
          <a:xfrm>
            <a:off x="0" y="628650"/>
            <a:ext cx="3964009" cy="5524500"/>
          </a:xfrm>
          <a:prstGeom prst="rect">
            <a:avLst/>
          </a:prstGeom>
        </p:spPr>
      </p:pic>
      <p:pic>
        <p:nvPicPr>
          <p:cNvPr id="8" name="Picture 7"/>
          <p:cNvPicPr>
            <a:picLocks noChangeAspect="1"/>
          </p:cNvPicPr>
          <p:nvPr/>
        </p:nvPicPr>
        <p:blipFill rotWithShape="1">
          <a:blip r:embed="rId3"/>
          <a:srcRect l="61408" t="26110" r="15378" b="15365"/>
          <a:stretch/>
        </p:blipFill>
        <p:spPr>
          <a:xfrm>
            <a:off x="7943850" y="628650"/>
            <a:ext cx="4248150" cy="5338762"/>
          </a:xfrm>
          <a:prstGeom prst="rect">
            <a:avLst/>
          </a:prstGeom>
        </p:spPr>
      </p:pic>
    </p:spTree>
    <p:extLst>
      <p:ext uri="{BB962C8B-B14F-4D97-AF65-F5344CB8AC3E}">
        <p14:creationId xmlns:p14="http://schemas.microsoft.com/office/powerpoint/2010/main" val="23137384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3"/>
          <a:srcRect l="64528" t="24013" r="4363" b="34211"/>
          <a:stretch/>
        </p:blipFill>
        <p:spPr>
          <a:xfrm>
            <a:off x="1500307" y="979714"/>
            <a:ext cx="8894819" cy="5139775"/>
          </a:xfrm>
          <a:prstGeom prst="rect">
            <a:avLst/>
          </a:prstGeom>
        </p:spPr>
      </p:pic>
    </p:spTree>
    <p:extLst>
      <p:ext uri="{BB962C8B-B14F-4D97-AF65-F5344CB8AC3E}">
        <p14:creationId xmlns:p14="http://schemas.microsoft.com/office/powerpoint/2010/main" val="34251034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Breathing  Assessment: Percussion</a:t>
            </a:r>
          </a:p>
        </p:txBody>
      </p:sp>
      <p:sp>
        <p:nvSpPr>
          <p:cNvPr id="3" name="Content Placeholder 2"/>
          <p:cNvSpPr>
            <a:spLocks noGrp="1"/>
          </p:cNvSpPr>
          <p:nvPr>
            <p:ph idx="1"/>
          </p:nvPr>
        </p:nvSpPr>
        <p:spPr>
          <a:xfrm>
            <a:off x="1011767" y="1284642"/>
            <a:ext cx="7021890" cy="5120640"/>
          </a:xfrm>
        </p:spPr>
        <p:txBody>
          <a:bodyPr>
            <a:normAutofit/>
          </a:bodyPr>
          <a:lstStyle/>
          <a:p>
            <a:pPr marL="0" indent="0">
              <a:buNone/>
            </a:pPr>
            <a:r>
              <a:rPr lang="en-GB" dirty="0"/>
              <a:t>Sound generated through chest wall vibration over underlying tissues </a:t>
            </a:r>
          </a:p>
          <a:p>
            <a:pPr marL="0" indent="0">
              <a:buNone/>
            </a:pPr>
            <a:r>
              <a:rPr lang="en-GB" dirty="0"/>
              <a:t>Localises disease</a:t>
            </a:r>
          </a:p>
          <a:p>
            <a:pPr marL="0" indent="0">
              <a:buNone/>
            </a:pPr>
            <a:r>
              <a:rPr lang="en-GB" dirty="0"/>
              <a:t>Differentiate between lung pathology</a:t>
            </a:r>
          </a:p>
          <a:p>
            <a:pPr marL="0" indent="0">
              <a:buNone/>
            </a:pPr>
            <a:endParaRPr lang="en-GB" dirty="0"/>
          </a:p>
          <a:p>
            <a:pPr marL="0" indent="0" algn="ctr">
              <a:buNone/>
            </a:pPr>
            <a:r>
              <a:rPr lang="en-GB" b="1" u="sng" dirty="0"/>
              <a:t>How its done:</a:t>
            </a:r>
          </a:p>
          <a:p>
            <a:r>
              <a:rPr lang="en-GB" dirty="0"/>
              <a:t>Hand over area of assessment</a:t>
            </a:r>
          </a:p>
          <a:p>
            <a:r>
              <a:rPr lang="en-GB" dirty="0"/>
              <a:t>Strike distal IP joint of middle finger over intercostal space</a:t>
            </a:r>
          </a:p>
          <a:p>
            <a:r>
              <a:rPr lang="en-GB" dirty="0"/>
              <a:t>Both sides of chest </a:t>
            </a:r>
          </a:p>
          <a:p>
            <a:r>
              <a:rPr lang="en-GB" dirty="0"/>
              <a:t>Compare each side</a:t>
            </a:r>
          </a:p>
          <a:p>
            <a:pPr marL="0" indent="0">
              <a:buNone/>
            </a:pPr>
            <a:endParaRPr lang="en-GB" dirty="0"/>
          </a:p>
        </p:txBody>
      </p:sp>
      <p:pic>
        <p:nvPicPr>
          <p:cNvPr id="8" name="Picture 7"/>
          <p:cNvPicPr>
            <a:picLocks noChangeAspect="1"/>
          </p:cNvPicPr>
          <p:nvPr/>
        </p:nvPicPr>
        <p:blipFill rotWithShape="1">
          <a:blip r:embed="rId3"/>
          <a:srcRect l="39390" t="15625" r="37702" b="41613"/>
          <a:stretch/>
        </p:blipFill>
        <p:spPr>
          <a:xfrm>
            <a:off x="8305799" y="1123837"/>
            <a:ext cx="3771900" cy="4153013"/>
          </a:xfrm>
          <a:prstGeom prst="rect">
            <a:avLst/>
          </a:prstGeom>
        </p:spPr>
      </p:pic>
    </p:spTree>
    <p:extLst>
      <p:ext uri="{BB962C8B-B14F-4D97-AF65-F5344CB8AC3E}">
        <p14:creationId xmlns:p14="http://schemas.microsoft.com/office/powerpoint/2010/main" val="30982540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930907" y="5912596"/>
            <a:ext cx="8689075" cy="369332"/>
          </a:xfrm>
          <a:prstGeom prst="rect">
            <a:avLst/>
          </a:prstGeom>
        </p:spPr>
        <p:txBody>
          <a:bodyPr wrap="square">
            <a:spAutoFit/>
          </a:bodyPr>
          <a:lstStyle/>
          <a:p>
            <a:r>
              <a:rPr lang="en-GB" dirty="0">
                <a:solidFill>
                  <a:schemeClr val="tx1">
                    <a:lumMod val="65000"/>
                    <a:lumOff val="35000"/>
                  </a:schemeClr>
                </a:solidFill>
              </a:rPr>
              <a:t>Note: in obesity: healthy lung to sound dull * chest wall unable to move as freely </a:t>
            </a:r>
          </a:p>
        </p:txBody>
      </p:sp>
      <p:pic>
        <p:nvPicPr>
          <p:cNvPr id="5" name="Picture 4"/>
          <p:cNvPicPr>
            <a:picLocks noChangeAspect="1"/>
          </p:cNvPicPr>
          <p:nvPr/>
        </p:nvPicPr>
        <p:blipFill rotWithShape="1">
          <a:blip r:embed="rId3"/>
          <a:srcRect l="9883" t="25000" r="43558" b="35416"/>
          <a:stretch/>
        </p:blipFill>
        <p:spPr>
          <a:xfrm>
            <a:off x="933451" y="490442"/>
            <a:ext cx="10001250" cy="4919758"/>
          </a:xfrm>
          <a:prstGeom prst="rect">
            <a:avLst/>
          </a:prstGeom>
        </p:spPr>
      </p:pic>
    </p:spTree>
    <p:extLst>
      <p:ext uri="{BB962C8B-B14F-4D97-AF65-F5344CB8AC3E}">
        <p14:creationId xmlns:p14="http://schemas.microsoft.com/office/powerpoint/2010/main" val="21276909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4837" y="354746"/>
            <a:ext cx="7500259" cy="1408739"/>
          </a:xfrm>
        </p:spPr>
        <p:txBody>
          <a:bodyPr/>
          <a:lstStyle/>
          <a:p>
            <a:pPr algn="ctr"/>
            <a:r>
              <a:rPr lang="en-GB" dirty="0"/>
              <a:t>Objective Assessment: Cardiac</a:t>
            </a:r>
          </a:p>
        </p:txBody>
      </p:sp>
      <p:graphicFrame>
        <p:nvGraphicFramePr>
          <p:cNvPr id="4" name="Table 3"/>
          <p:cNvGraphicFramePr>
            <a:graphicFrameLocks noGrp="1"/>
          </p:cNvGraphicFramePr>
          <p:nvPr>
            <p:extLst>
              <p:ext uri="{D42A27DB-BD31-4B8C-83A1-F6EECF244321}">
                <p14:modId xmlns:p14="http://schemas.microsoft.com/office/powerpoint/2010/main" val="4030815342"/>
              </p:ext>
            </p:extLst>
          </p:nvPr>
        </p:nvGraphicFramePr>
        <p:xfrm>
          <a:off x="8926285" y="110246"/>
          <a:ext cx="3088821" cy="6637508"/>
        </p:xfrm>
        <a:graphic>
          <a:graphicData uri="http://schemas.openxmlformats.org/drawingml/2006/table">
            <a:tbl>
              <a:tblPr firstRow="1" bandRow="1">
                <a:tableStyleId>{5C22544A-7EE6-4342-B048-85BDC9FD1C3A}</a:tableStyleId>
              </a:tblPr>
              <a:tblGrid>
                <a:gridCol w="3088821">
                  <a:extLst>
                    <a:ext uri="{9D8B030D-6E8A-4147-A177-3AD203B41FA5}">
                      <a16:colId xmlns:a16="http://schemas.microsoft.com/office/drawing/2014/main" val="1950774006"/>
                    </a:ext>
                  </a:extLst>
                </a:gridCol>
              </a:tblGrid>
              <a:tr h="335168">
                <a:tc>
                  <a:txBody>
                    <a:bodyPr/>
                    <a:lstStyle/>
                    <a:p>
                      <a:pPr algn="ctr"/>
                      <a:r>
                        <a:rPr lang="en-GB" dirty="0"/>
                        <a:t>Measure</a:t>
                      </a:r>
                    </a:p>
                  </a:txBody>
                  <a:tcPr/>
                </a:tc>
                <a:extLst>
                  <a:ext uri="{0D108BD9-81ED-4DB2-BD59-A6C34878D82A}">
                    <a16:rowId xmlns:a16="http://schemas.microsoft.com/office/drawing/2014/main" val="1962135843"/>
                  </a:ext>
                </a:extLst>
              </a:tr>
              <a:tr h="1592049">
                <a:tc>
                  <a:txBody>
                    <a:bodyPr/>
                    <a:lstStyle/>
                    <a:p>
                      <a:pPr algn="l"/>
                      <a:r>
                        <a:rPr lang="en-GB" dirty="0"/>
                        <a:t>Heart Rate ( HR) </a:t>
                      </a:r>
                    </a:p>
                    <a:p>
                      <a:pPr algn="l"/>
                      <a:endParaRPr lang="en-GB" dirty="0"/>
                    </a:p>
                    <a:p>
                      <a:pPr algn="l"/>
                      <a:r>
                        <a:rPr lang="en-GB" dirty="0"/>
                        <a:t>Normal Range:60-100 bpm</a:t>
                      </a:r>
                    </a:p>
                    <a:p>
                      <a:pPr lvl="1" algn="l"/>
                      <a:r>
                        <a:rPr lang="en-GB" dirty="0"/>
                        <a:t>Tachycardia: &gt;100 bpm</a:t>
                      </a:r>
                    </a:p>
                    <a:p>
                      <a:pPr lvl="1" algn="l"/>
                      <a:r>
                        <a:rPr lang="en-GB" dirty="0"/>
                        <a:t>Bradycardia: &lt;60 bpm</a:t>
                      </a:r>
                    </a:p>
                    <a:p>
                      <a:pPr algn="l"/>
                      <a:endParaRPr lang="en-GB" dirty="0"/>
                    </a:p>
                  </a:txBody>
                  <a:tcPr/>
                </a:tc>
                <a:extLst>
                  <a:ext uri="{0D108BD9-81ED-4DB2-BD59-A6C34878D82A}">
                    <a16:rowId xmlns:a16="http://schemas.microsoft.com/office/drawing/2014/main" val="3524943733"/>
                  </a:ext>
                </a:extLst>
              </a:tr>
              <a:tr h="1983079">
                <a:tc>
                  <a:txBody>
                    <a:bodyPr/>
                    <a:lstStyle/>
                    <a:p>
                      <a:pPr marL="182880" lvl="1" algn="l">
                        <a:spcBef>
                          <a:spcPts val="1200"/>
                        </a:spcBef>
                        <a:spcAft>
                          <a:spcPts val="0"/>
                        </a:spcAft>
                      </a:pPr>
                      <a:r>
                        <a:rPr lang="en-GB" dirty="0"/>
                        <a:t>Blood Pressure (BP)  </a:t>
                      </a:r>
                    </a:p>
                    <a:p>
                      <a:pPr marL="182880" lvl="1" algn="l">
                        <a:spcBef>
                          <a:spcPts val="1200"/>
                        </a:spcBef>
                        <a:spcAft>
                          <a:spcPts val="0"/>
                        </a:spcAft>
                      </a:pPr>
                      <a:r>
                        <a:rPr lang="en-GB" dirty="0"/>
                        <a:t>Normal Range 120/80</a:t>
                      </a:r>
                    </a:p>
                    <a:p>
                      <a:pPr lvl="1" algn="l"/>
                      <a:r>
                        <a:rPr lang="en-GB" dirty="0"/>
                        <a:t>Hypertension: &gt; 145/95 mmHg</a:t>
                      </a:r>
                    </a:p>
                    <a:p>
                      <a:pPr lvl="1" algn="l"/>
                      <a:r>
                        <a:rPr lang="en-GB" dirty="0"/>
                        <a:t>Hypotension: &lt; 90/60 mmHg</a:t>
                      </a:r>
                    </a:p>
                    <a:p>
                      <a:pPr lvl="1" algn="l"/>
                      <a:r>
                        <a:rPr lang="en-GB" dirty="0"/>
                        <a:t>Postural hypotension</a:t>
                      </a:r>
                    </a:p>
                  </a:txBody>
                  <a:tcPr/>
                </a:tc>
                <a:extLst>
                  <a:ext uri="{0D108BD9-81ED-4DB2-BD59-A6C34878D82A}">
                    <a16:rowId xmlns:a16="http://schemas.microsoft.com/office/drawing/2014/main" val="597447287"/>
                  </a:ext>
                </a:extLst>
              </a:tr>
              <a:tr h="773674">
                <a:tc>
                  <a:txBody>
                    <a:bodyPr/>
                    <a:lstStyle/>
                    <a:p>
                      <a:pPr algn="l"/>
                      <a:r>
                        <a:rPr lang="en-GB" dirty="0"/>
                        <a:t> </a:t>
                      </a:r>
                    </a:p>
                    <a:p>
                      <a:pPr algn="l"/>
                      <a:r>
                        <a:rPr lang="en-GB" dirty="0"/>
                        <a:t>ECHO</a:t>
                      </a:r>
                      <a:r>
                        <a:rPr lang="en-GB" baseline="0" dirty="0"/>
                        <a:t>. ECG </a:t>
                      </a:r>
                      <a:endParaRPr lang="en-GB" dirty="0"/>
                    </a:p>
                  </a:txBody>
                  <a:tcPr/>
                </a:tc>
                <a:extLst>
                  <a:ext uri="{0D108BD9-81ED-4DB2-BD59-A6C34878D82A}">
                    <a16:rowId xmlns:a16="http://schemas.microsoft.com/office/drawing/2014/main" val="2987141019"/>
                  </a:ext>
                </a:extLst>
              </a:tr>
              <a:tr h="773674">
                <a:tc>
                  <a:txBody>
                    <a:bodyPr/>
                    <a:lstStyle/>
                    <a:p>
                      <a:pPr algn="l"/>
                      <a:r>
                        <a:rPr lang="en-GB" dirty="0"/>
                        <a:t>Fluid balance</a:t>
                      </a:r>
                    </a:p>
                  </a:txBody>
                  <a:tcPr/>
                </a:tc>
                <a:extLst>
                  <a:ext uri="{0D108BD9-81ED-4DB2-BD59-A6C34878D82A}">
                    <a16:rowId xmlns:a16="http://schemas.microsoft.com/office/drawing/2014/main" val="84968337"/>
                  </a:ext>
                </a:extLst>
              </a:tr>
            </a:tbl>
          </a:graphicData>
        </a:graphic>
      </p:graphicFrame>
      <p:sp>
        <p:nvSpPr>
          <p:cNvPr id="5" name="TextBox 4"/>
          <p:cNvSpPr txBox="1"/>
          <p:nvPr/>
        </p:nvSpPr>
        <p:spPr>
          <a:xfrm>
            <a:off x="1370241" y="1866900"/>
            <a:ext cx="6293302" cy="2677656"/>
          </a:xfrm>
          <a:prstGeom prst="rect">
            <a:avLst/>
          </a:prstGeom>
          <a:noFill/>
        </p:spPr>
        <p:txBody>
          <a:bodyPr wrap="square" rtlCol="0">
            <a:spAutoFit/>
          </a:bodyPr>
          <a:lstStyle/>
          <a:p>
            <a:r>
              <a:rPr lang="en-GB" sz="2800" b="1" u="sng" dirty="0"/>
              <a:t>Listen:</a:t>
            </a:r>
          </a:p>
          <a:p>
            <a:pPr marL="285750" indent="-285750">
              <a:buFont typeface="Arial" panose="020B0604020202020204" pitchFamily="34" charset="0"/>
              <a:buChar char="•"/>
            </a:pPr>
            <a:r>
              <a:rPr lang="en-GB" sz="2800" dirty="0"/>
              <a:t>Heart sounds can be auscultated – Drs assessment </a:t>
            </a:r>
          </a:p>
          <a:p>
            <a:endParaRPr lang="en-GB" sz="2800" dirty="0"/>
          </a:p>
          <a:p>
            <a:r>
              <a:rPr lang="en-GB" sz="2800" b="1" u="sng" dirty="0"/>
              <a:t>Palpation</a:t>
            </a:r>
          </a:p>
          <a:p>
            <a:pPr marL="285750" indent="-285750">
              <a:buFont typeface="Arial" panose="020B0604020202020204" pitchFamily="34" charset="0"/>
              <a:buChar char="•"/>
            </a:pPr>
            <a:r>
              <a:rPr lang="en-GB" sz="2800" dirty="0"/>
              <a:t> Pulse rate</a:t>
            </a:r>
          </a:p>
        </p:txBody>
      </p:sp>
    </p:spTree>
    <p:extLst>
      <p:ext uri="{BB962C8B-B14F-4D97-AF65-F5344CB8AC3E}">
        <p14:creationId xmlns:p14="http://schemas.microsoft.com/office/powerpoint/2010/main" val="18881799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Objective Assessment:</a:t>
            </a:r>
            <a:br>
              <a:rPr lang="en-GB" dirty="0"/>
            </a:br>
            <a:r>
              <a:rPr lang="en-GB" dirty="0"/>
              <a:t>Disability</a:t>
            </a:r>
          </a:p>
        </p:txBody>
      </p:sp>
      <p:sp>
        <p:nvSpPr>
          <p:cNvPr id="9" name="Content Placeholder 8"/>
          <p:cNvSpPr>
            <a:spLocks noGrp="1"/>
          </p:cNvSpPr>
          <p:nvPr>
            <p:ph idx="1"/>
          </p:nvPr>
        </p:nvSpPr>
        <p:spPr>
          <a:xfrm>
            <a:off x="996043" y="2698978"/>
            <a:ext cx="4030621" cy="3351803"/>
          </a:xfrm>
        </p:spPr>
        <p:txBody>
          <a:bodyPr>
            <a:normAutofit fontScale="92500" lnSpcReduction="20000"/>
          </a:bodyPr>
          <a:lstStyle/>
          <a:p>
            <a:r>
              <a:rPr lang="en-GB" b="1" dirty="0"/>
              <a:t>Causes of altered consciousness</a:t>
            </a:r>
          </a:p>
          <a:p>
            <a:r>
              <a:rPr lang="en-GB" dirty="0"/>
              <a:t>Hypovolaemia</a:t>
            </a:r>
          </a:p>
          <a:p>
            <a:r>
              <a:rPr lang="en-GB" dirty="0"/>
              <a:t>Hypoxia</a:t>
            </a:r>
          </a:p>
          <a:p>
            <a:r>
              <a:rPr lang="en-GB" dirty="0"/>
              <a:t>Hypercapnia</a:t>
            </a:r>
          </a:p>
          <a:p>
            <a:r>
              <a:rPr lang="en-GB" dirty="0"/>
              <a:t>Metabolic disturbance (e.g. hypoglycaemia)</a:t>
            </a:r>
          </a:p>
          <a:p>
            <a:r>
              <a:rPr lang="en-GB" dirty="0"/>
              <a:t>Seizure</a:t>
            </a:r>
          </a:p>
          <a:p>
            <a:r>
              <a:rPr lang="en-GB" dirty="0"/>
              <a:t>Drug overdose</a:t>
            </a:r>
          </a:p>
          <a:p>
            <a:r>
              <a:rPr lang="en-GB" dirty="0"/>
              <a:t>Opiate usage</a:t>
            </a:r>
          </a:p>
        </p:txBody>
      </p:sp>
      <p:sp>
        <p:nvSpPr>
          <p:cNvPr id="10" name="TextBox 9"/>
          <p:cNvSpPr txBox="1"/>
          <p:nvPr/>
        </p:nvSpPr>
        <p:spPr>
          <a:xfrm>
            <a:off x="996043" y="2091448"/>
            <a:ext cx="5981700" cy="466696"/>
          </a:xfrm>
          <a:prstGeom prst="rect">
            <a:avLst/>
          </a:prstGeom>
          <a:noFill/>
        </p:spPr>
        <p:txBody>
          <a:bodyPr wrap="square" rtlCol="0">
            <a:spAutoFit/>
          </a:bodyPr>
          <a:lstStyle/>
          <a:p>
            <a:r>
              <a:rPr lang="en-GB" sz="2400" b="1" dirty="0">
                <a:solidFill>
                  <a:schemeClr val="tx1">
                    <a:lumMod val="65000"/>
                    <a:lumOff val="35000"/>
                  </a:schemeClr>
                </a:solidFill>
              </a:rPr>
              <a:t>Measurement of level of consciousness</a:t>
            </a:r>
          </a:p>
        </p:txBody>
      </p:sp>
      <p:sp>
        <p:nvSpPr>
          <p:cNvPr id="3" name="TextBox 2"/>
          <p:cNvSpPr txBox="1"/>
          <p:nvPr/>
        </p:nvSpPr>
        <p:spPr>
          <a:xfrm>
            <a:off x="6520543" y="3428999"/>
            <a:ext cx="4920343" cy="1631216"/>
          </a:xfrm>
          <a:prstGeom prst="rect">
            <a:avLst/>
          </a:prstGeom>
          <a:noFill/>
        </p:spPr>
        <p:txBody>
          <a:bodyPr wrap="square" rtlCol="0">
            <a:spAutoFit/>
          </a:bodyPr>
          <a:lstStyle/>
          <a:p>
            <a:pPr algn="ctr"/>
            <a:r>
              <a:rPr lang="en-GB" sz="2000" dirty="0">
                <a:solidFill>
                  <a:schemeClr val="tx1">
                    <a:lumMod val="65000"/>
                    <a:lumOff val="35000"/>
                  </a:schemeClr>
                </a:solidFill>
              </a:rPr>
              <a:t>National Early Warning Sign (NEWS)</a:t>
            </a:r>
          </a:p>
          <a:p>
            <a:pPr algn="ctr"/>
            <a:endParaRPr lang="en-GB" sz="2000" dirty="0">
              <a:solidFill>
                <a:schemeClr val="tx1">
                  <a:lumMod val="65000"/>
                  <a:lumOff val="35000"/>
                </a:schemeClr>
              </a:solidFill>
            </a:endParaRPr>
          </a:p>
          <a:p>
            <a:pPr algn="ctr"/>
            <a:r>
              <a:rPr lang="en-GB" sz="2000" dirty="0">
                <a:solidFill>
                  <a:schemeClr val="tx1">
                    <a:lumMod val="65000"/>
                    <a:lumOff val="35000"/>
                  </a:schemeClr>
                </a:solidFill>
              </a:rPr>
              <a:t>Glasgow Coma Scale (GCS) </a:t>
            </a:r>
          </a:p>
          <a:p>
            <a:pPr algn="ctr"/>
            <a:endParaRPr lang="en-GB" sz="2000" dirty="0">
              <a:solidFill>
                <a:schemeClr val="tx1">
                  <a:lumMod val="65000"/>
                  <a:lumOff val="35000"/>
                </a:schemeClr>
              </a:solidFill>
            </a:endParaRPr>
          </a:p>
          <a:p>
            <a:pPr algn="ctr"/>
            <a:r>
              <a:rPr lang="en-GB" sz="2000" dirty="0">
                <a:solidFill>
                  <a:schemeClr val="tx1">
                    <a:lumMod val="65000"/>
                    <a:lumOff val="35000"/>
                  </a:schemeClr>
                </a:solidFill>
              </a:rPr>
              <a:t>Sedation Score ( within ICU </a:t>
            </a:r>
            <a:r>
              <a:rPr lang="en-GB" sz="2000" dirty="0"/>
              <a:t>)</a:t>
            </a:r>
          </a:p>
        </p:txBody>
      </p:sp>
    </p:spTree>
    <p:extLst>
      <p:ext uri="{BB962C8B-B14F-4D97-AF65-F5344CB8AC3E}">
        <p14:creationId xmlns:p14="http://schemas.microsoft.com/office/powerpoint/2010/main" val="15382150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5491" t="35937" r="71815" b="41927"/>
          <a:stretch/>
        </p:blipFill>
        <p:spPr>
          <a:xfrm>
            <a:off x="3551237" y="4815078"/>
            <a:ext cx="4781551" cy="2042922"/>
          </a:xfrm>
          <a:prstGeom prst="rect">
            <a:avLst/>
          </a:prstGeom>
        </p:spPr>
      </p:pic>
      <p:pic>
        <p:nvPicPr>
          <p:cNvPr id="4" name="Picture 3"/>
          <p:cNvPicPr>
            <a:picLocks noChangeAspect="1"/>
          </p:cNvPicPr>
          <p:nvPr/>
        </p:nvPicPr>
        <p:blipFill rotWithShape="1">
          <a:blip r:embed="rId3"/>
          <a:srcRect l="34098" t="15427" r="35009" b="31187"/>
          <a:stretch/>
        </p:blipFill>
        <p:spPr>
          <a:xfrm>
            <a:off x="7155394" y="667714"/>
            <a:ext cx="4503206" cy="3905250"/>
          </a:xfrm>
          <a:prstGeom prst="rect">
            <a:avLst/>
          </a:prstGeom>
        </p:spPr>
      </p:pic>
      <p:pic>
        <p:nvPicPr>
          <p:cNvPr id="5" name="Content Placeholder 7"/>
          <p:cNvPicPr>
            <a:picLocks noChangeAspect="1"/>
          </p:cNvPicPr>
          <p:nvPr/>
        </p:nvPicPr>
        <p:blipFill rotWithShape="1">
          <a:blip r:embed="rId4"/>
          <a:srcRect l="20278" t="20833" r="34334" b="20312"/>
          <a:stretch/>
        </p:blipFill>
        <p:spPr>
          <a:xfrm>
            <a:off x="598487" y="267603"/>
            <a:ext cx="5905501" cy="4305361"/>
          </a:xfrm>
          <a:prstGeom prst="rect">
            <a:avLst/>
          </a:prstGeom>
        </p:spPr>
      </p:pic>
    </p:spTree>
    <p:extLst>
      <p:ext uri="{BB962C8B-B14F-4D97-AF65-F5344CB8AC3E}">
        <p14:creationId xmlns:p14="http://schemas.microsoft.com/office/powerpoint/2010/main" val="6424624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Objective Assessment:</a:t>
            </a:r>
            <a:br>
              <a:rPr lang="en-GB" dirty="0"/>
            </a:br>
            <a:r>
              <a:rPr lang="en-GB" dirty="0"/>
              <a:t>Exposure</a:t>
            </a:r>
          </a:p>
        </p:txBody>
      </p:sp>
      <p:sp>
        <p:nvSpPr>
          <p:cNvPr id="3" name="Content Placeholder 2"/>
          <p:cNvSpPr>
            <a:spLocks noGrp="1"/>
          </p:cNvSpPr>
          <p:nvPr>
            <p:ph idx="1"/>
          </p:nvPr>
        </p:nvSpPr>
        <p:spPr/>
        <p:txBody>
          <a:bodyPr/>
          <a:lstStyle/>
          <a:p>
            <a:pPr marL="0" indent="0">
              <a:buNone/>
            </a:pPr>
            <a:r>
              <a:rPr lang="en-GB" dirty="0"/>
              <a:t>Expose skin </a:t>
            </a:r>
          </a:p>
          <a:p>
            <a:pPr marL="0" indent="0">
              <a:buNone/>
            </a:pPr>
            <a:r>
              <a:rPr lang="en-GB" dirty="0"/>
              <a:t>Assess for cue to determine extent of illness</a:t>
            </a:r>
          </a:p>
          <a:p>
            <a:r>
              <a:rPr lang="en-GB" dirty="0"/>
              <a:t>Clubbing</a:t>
            </a:r>
          </a:p>
          <a:p>
            <a:r>
              <a:rPr lang="en-GB" dirty="0"/>
              <a:t> Cyanosis</a:t>
            </a:r>
          </a:p>
          <a:p>
            <a:r>
              <a:rPr lang="en-GB" dirty="0"/>
              <a:t>Chest drains </a:t>
            </a:r>
          </a:p>
          <a:p>
            <a:r>
              <a:rPr lang="en-GB" dirty="0"/>
              <a:t>Peripheral oedema</a:t>
            </a:r>
          </a:p>
        </p:txBody>
      </p:sp>
      <p:pic>
        <p:nvPicPr>
          <p:cNvPr id="4" name="Picture 3"/>
          <p:cNvPicPr>
            <a:picLocks noChangeAspect="1"/>
          </p:cNvPicPr>
          <p:nvPr/>
        </p:nvPicPr>
        <p:blipFill rotWithShape="1">
          <a:blip r:embed="rId3"/>
          <a:srcRect l="38693" t="15385" r="40629" b="36538"/>
          <a:stretch/>
        </p:blipFill>
        <p:spPr>
          <a:xfrm>
            <a:off x="8806637" y="175846"/>
            <a:ext cx="2690447" cy="3516924"/>
          </a:xfrm>
          <a:prstGeom prst="rect">
            <a:avLst/>
          </a:prstGeom>
        </p:spPr>
      </p:pic>
      <p:pic>
        <p:nvPicPr>
          <p:cNvPr id="5" name="Picture 4"/>
          <p:cNvPicPr>
            <a:picLocks noChangeAspect="1"/>
          </p:cNvPicPr>
          <p:nvPr/>
        </p:nvPicPr>
        <p:blipFill rotWithShape="1">
          <a:blip r:embed="rId4"/>
          <a:srcRect l="34908" t="15385" r="36575" b="43510"/>
          <a:stretch/>
        </p:blipFill>
        <p:spPr>
          <a:xfrm>
            <a:off x="7786731" y="3692770"/>
            <a:ext cx="3710353" cy="3006970"/>
          </a:xfrm>
          <a:prstGeom prst="rect">
            <a:avLst/>
          </a:prstGeom>
        </p:spPr>
      </p:pic>
    </p:spTree>
    <p:extLst>
      <p:ext uri="{BB962C8B-B14F-4D97-AF65-F5344CB8AC3E}">
        <p14:creationId xmlns:p14="http://schemas.microsoft.com/office/powerpoint/2010/main" val="28491792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26259" t="17788" r="33196" b="31971"/>
          <a:stretch/>
        </p:blipFill>
        <p:spPr>
          <a:xfrm>
            <a:off x="2444262" y="650631"/>
            <a:ext cx="6805246" cy="4740987"/>
          </a:xfrm>
          <a:prstGeom prst="rect">
            <a:avLst/>
          </a:prstGeom>
        </p:spPr>
      </p:pic>
      <p:sp>
        <p:nvSpPr>
          <p:cNvPr id="3" name="TextBox 2"/>
          <p:cNvSpPr txBox="1"/>
          <p:nvPr/>
        </p:nvSpPr>
        <p:spPr>
          <a:xfrm>
            <a:off x="2444263" y="5732586"/>
            <a:ext cx="6805246" cy="95410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GB" sz="2800" dirty="0"/>
              <a:t>Ensure consent gained before starting assessment</a:t>
            </a:r>
          </a:p>
        </p:txBody>
      </p:sp>
    </p:spTree>
    <p:extLst>
      <p:ext uri="{BB962C8B-B14F-4D97-AF65-F5344CB8AC3E}">
        <p14:creationId xmlns:p14="http://schemas.microsoft.com/office/powerpoint/2010/main" val="32742903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Other Components</a:t>
            </a:r>
          </a:p>
        </p:txBody>
      </p:sp>
      <p:sp>
        <p:nvSpPr>
          <p:cNvPr id="3" name="Content Placeholder 2"/>
          <p:cNvSpPr>
            <a:spLocks noGrp="1"/>
          </p:cNvSpPr>
          <p:nvPr>
            <p:ph idx="1"/>
          </p:nvPr>
        </p:nvSpPr>
        <p:spPr>
          <a:xfrm>
            <a:off x="961798" y="1326687"/>
            <a:ext cx="9793288" cy="5182970"/>
          </a:xfrm>
        </p:spPr>
        <p:txBody>
          <a:bodyPr>
            <a:normAutofit fontScale="85000" lnSpcReduction="20000"/>
          </a:bodyPr>
          <a:lstStyle/>
          <a:p>
            <a:pPr marL="0" indent="0">
              <a:buNone/>
            </a:pPr>
            <a:r>
              <a:rPr lang="en-GB" u="sng" dirty="0">
                <a:latin typeface="+mn-lt"/>
              </a:rPr>
              <a:t>Exercise Capacity</a:t>
            </a:r>
          </a:p>
          <a:p>
            <a:pPr>
              <a:buFont typeface="Wingdings" panose="05000000000000000000" pitchFamily="2" charset="2"/>
              <a:buChar char="Ø"/>
            </a:pPr>
            <a:r>
              <a:rPr lang="en-GB" dirty="0">
                <a:latin typeface="+mn-lt"/>
              </a:rPr>
              <a:t>Shuttle Walk Test </a:t>
            </a:r>
            <a:r>
              <a:rPr lang="en-GB" dirty="0" err="1">
                <a:latin typeface="+mn-lt"/>
              </a:rPr>
              <a:t>ie</a:t>
            </a:r>
            <a:r>
              <a:rPr lang="en-GB" dirty="0">
                <a:latin typeface="+mn-lt"/>
              </a:rPr>
              <a:t> 6MWT</a:t>
            </a:r>
          </a:p>
          <a:p>
            <a:pPr>
              <a:buFont typeface="Wingdings" panose="05000000000000000000" pitchFamily="2" charset="2"/>
              <a:buChar char="Ø"/>
            </a:pPr>
            <a:r>
              <a:rPr lang="en-GB" dirty="0">
                <a:latin typeface="+mn-lt"/>
              </a:rPr>
              <a:t>Oxygen saturations during exercise</a:t>
            </a:r>
          </a:p>
          <a:p>
            <a:pPr>
              <a:buFontTx/>
              <a:buChar char="-"/>
            </a:pPr>
            <a:endParaRPr lang="en-GB" sz="1200" dirty="0">
              <a:latin typeface="+mn-lt"/>
            </a:endParaRPr>
          </a:p>
          <a:p>
            <a:pPr marL="0" indent="0">
              <a:buNone/>
            </a:pPr>
            <a:r>
              <a:rPr lang="en-GB" u="sng" dirty="0">
                <a:latin typeface="+mn-lt"/>
              </a:rPr>
              <a:t>Function</a:t>
            </a:r>
            <a:endParaRPr lang="en-GB" dirty="0">
              <a:latin typeface="+mn-lt"/>
            </a:endParaRPr>
          </a:p>
          <a:p>
            <a:pPr marL="0" indent="0">
              <a:buNone/>
            </a:pPr>
            <a:r>
              <a:rPr lang="en-GB" dirty="0">
                <a:latin typeface="+mn-lt"/>
              </a:rPr>
              <a:t>How well do they:</a:t>
            </a:r>
          </a:p>
          <a:p>
            <a:r>
              <a:rPr lang="en-GB" dirty="0">
                <a:latin typeface="+mn-lt"/>
              </a:rPr>
              <a:t>Walk</a:t>
            </a:r>
          </a:p>
          <a:p>
            <a:r>
              <a:rPr lang="en-GB" dirty="0">
                <a:latin typeface="+mn-lt"/>
              </a:rPr>
              <a:t>Complete transfers </a:t>
            </a:r>
          </a:p>
          <a:p>
            <a:r>
              <a:rPr lang="en-GB" dirty="0">
                <a:latin typeface="+mn-lt"/>
              </a:rPr>
              <a:t>Get out of bed</a:t>
            </a:r>
          </a:p>
          <a:p>
            <a:r>
              <a:rPr lang="en-GB" dirty="0">
                <a:latin typeface="+mn-lt"/>
              </a:rPr>
              <a:t>Management of ADLS </a:t>
            </a:r>
          </a:p>
          <a:p>
            <a:pPr>
              <a:buFontTx/>
              <a:buChar char="-"/>
            </a:pPr>
            <a:endParaRPr lang="en-GB" sz="1200" dirty="0">
              <a:latin typeface="+mn-lt"/>
            </a:endParaRPr>
          </a:p>
          <a:p>
            <a:pPr marL="0" indent="0">
              <a:buNone/>
            </a:pPr>
            <a:r>
              <a:rPr lang="en-GB" sz="2200" u="sng" dirty="0">
                <a:latin typeface="+mn-lt"/>
              </a:rPr>
              <a:t>MSK/ Neurological </a:t>
            </a:r>
          </a:p>
          <a:p>
            <a:r>
              <a:rPr lang="en-GB" sz="2200" dirty="0">
                <a:latin typeface="+mn-lt"/>
              </a:rPr>
              <a:t>Muscle strength </a:t>
            </a:r>
          </a:p>
          <a:p>
            <a:r>
              <a:rPr lang="en-GB" sz="2200" dirty="0">
                <a:latin typeface="+mn-lt"/>
              </a:rPr>
              <a:t>Sensation / proprioception</a:t>
            </a:r>
          </a:p>
          <a:p>
            <a:r>
              <a:rPr lang="en-GB" sz="2200" dirty="0">
                <a:latin typeface="+mn-lt"/>
              </a:rPr>
              <a:t>Balance</a:t>
            </a:r>
          </a:p>
        </p:txBody>
      </p:sp>
      <p:pic>
        <p:nvPicPr>
          <p:cNvPr id="4" name="Picture 3"/>
          <p:cNvPicPr>
            <a:picLocks noChangeAspect="1"/>
          </p:cNvPicPr>
          <p:nvPr/>
        </p:nvPicPr>
        <p:blipFill rotWithShape="1">
          <a:blip r:embed="rId3"/>
          <a:srcRect l="41800" t="16612" r="41739" b="43585"/>
          <a:stretch/>
        </p:blipFill>
        <p:spPr>
          <a:xfrm>
            <a:off x="7067001" y="1440351"/>
            <a:ext cx="4163201" cy="4364646"/>
          </a:xfrm>
          <a:prstGeom prst="rect">
            <a:avLst/>
          </a:prstGeom>
        </p:spPr>
      </p:pic>
    </p:spTree>
    <p:extLst>
      <p:ext uri="{BB962C8B-B14F-4D97-AF65-F5344CB8AC3E}">
        <p14:creationId xmlns:p14="http://schemas.microsoft.com/office/powerpoint/2010/main" val="30209018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srcRect l="41531" t="17270" r="42522" b="56010"/>
          <a:stretch/>
        </p:blipFill>
        <p:spPr>
          <a:xfrm>
            <a:off x="3550240" y="914400"/>
            <a:ext cx="5112497" cy="4816056"/>
          </a:xfrm>
          <a:prstGeom prst="rect">
            <a:avLst/>
          </a:prstGeom>
        </p:spPr>
      </p:pic>
    </p:spTree>
    <p:extLst>
      <p:ext uri="{BB962C8B-B14F-4D97-AF65-F5344CB8AC3E}">
        <p14:creationId xmlns:p14="http://schemas.microsoft.com/office/powerpoint/2010/main" val="26494422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References</a:t>
            </a:r>
          </a:p>
        </p:txBody>
      </p:sp>
      <p:sp>
        <p:nvSpPr>
          <p:cNvPr id="3" name="Content Placeholder 2"/>
          <p:cNvSpPr>
            <a:spLocks noGrp="1"/>
          </p:cNvSpPr>
          <p:nvPr>
            <p:ph idx="1"/>
          </p:nvPr>
        </p:nvSpPr>
        <p:spPr/>
        <p:txBody>
          <a:bodyPr>
            <a:normAutofit/>
          </a:bodyPr>
          <a:lstStyle/>
          <a:p>
            <a:r>
              <a:rPr lang="en-GB" dirty="0">
                <a:solidFill>
                  <a:schemeClr val="tx1">
                    <a:lumMod val="50000"/>
                    <a:lumOff val="50000"/>
                  </a:schemeClr>
                </a:solidFill>
              </a:rPr>
              <a:t>Physiotherapy for Respiratory and Cardiac Problems – Pryor &amp; Prasad</a:t>
            </a:r>
          </a:p>
          <a:p>
            <a:pPr fontAlgn="base"/>
            <a:r>
              <a:rPr lang="en-GB" dirty="0">
                <a:solidFill>
                  <a:schemeClr val="tx1">
                    <a:lumMod val="50000"/>
                    <a:lumOff val="50000"/>
                  </a:schemeClr>
                </a:solidFill>
              </a:rPr>
              <a:t>Sputum colour: a useful clinical tool in non-cystic fibrosis bronchiectasis ( Murray et al 2019)</a:t>
            </a:r>
          </a:p>
          <a:p>
            <a:pPr fontAlgn="base"/>
            <a:r>
              <a:rPr lang="en-GB" dirty="0">
                <a:solidFill>
                  <a:schemeClr val="tx1">
                    <a:lumMod val="50000"/>
                    <a:lumOff val="50000"/>
                  </a:schemeClr>
                </a:solidFill>
              </a:rPr>
              <a:t>Proctor J, Rickards E (2020) How to perform chest auscultation and interpret the findings. Nursing Times [online]; 116: 1, 23-26.</a:t>
            </a:r>
          </a:p>
          <a:p>
            <a:r>
              <a:rPr lang="en-GB" dirty="0">
                <a:solidFill>
                  <a:schemeClr val="tx1">
                    <a:lumMod val="50000"/>
                    <a:lumOff val="50000"/>
                  </a:schemeClr>
                </a:solidFill>
              </a:rPr>
              <a:t>Respiratory Assessment British Journal of Nursing. 15, No. Simpson, H (2016)</a:t>
            </a:r>
          </a:p>
          <a:p>
            <a:pPr fontAlgn="base"/>
            <a:endParaRPr lang="en-GB" dirty="0"/>
          </a:p>
          <a:p>
            <a:endParaRPr lang="en-GB" dirty="0"/>
          </a:p>
        </p:txBody>
      </p:sp>
    </p:spTree>
    <p:extLst>
      <p:ext uri="{BB962C8B-B14F-4D97-AF65-F5344CB8AC3E}">
        <p14:creationId xmlns:p14="http://schemas.microsoft.com/office/powerpoint/2010/main" val="2920925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F21D789720E794DA1BE5D40FDC66DBB" ma:contentTypeVersion="15" ma:contentTypeDescription="Create a new document." ma:contentTypeScope="" ma:versionID="3db46f6d4de4e7f009bbe78178fe7d95">
  <xsd:schema xmlns:xsd="http://www.w3.org/2001/XMLSchema" xmlns:xs="http://www.w3.org/2001/XMLSchema" xmlns:p="http://schemas.microsoft.com/office/2006/metadata/properties" xmlns:ns2="fccb76ef-862e-406c-a80f-46ccc769a6a2" xmlns:ns3="7dbc431e-fabf-44b4-8dc6-c66825775825" targetNamespace="http://schemas.microsoft.com/office/2006/metadata/properties" ma:root="true" ma:fieldsID="be8f92dcc0d157f2a7ee7c953042f025" ns2:_="" ns3:_="">
    <xsd:import namespace="fccb76ef-862e-406c-a80f-46ccc769a6a2"/>
    <xsd:import namespace="7dbc431e-fabf-44b4-8dc6-c668257758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cb76ef-862e-406c-a80f-46ccc769a6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228021f-28e8-4e43-93b9-326afd39d50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dbc431e-fabf-44b4-8dc6-c6682577582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6a4bf86-4ef3-452c-957e-e8399855a21c}" ma:internalName="TaxCatchAll" ma:showField="CatchAllData" ma:web="7dbc431e-fabf-44b4-8dc6-c66825775825">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dbc431e-fabf-44b4-8dc6-c66825775825" xsi:nil="true"/>
    <lcf76f155ced4ddcb4097134ff3c332f xmlns="fccb76ef-862e-406c-a80f-46ccc769a6a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6B97835-3216-4DAB-99C0-F96A610D7106}">
  <ds:schemaRefs>
    <ds:schemaRef ds:uri="http://schemas.microsoft.com/sharepoint/v3/contenttype/forms"/>
  </ds:schemaRefs>
</ds:datastoreItem>
</file>

<file path=customXml/itemProps2.xml><?xml version="1.0" encoding="utf-8"?>
<ds:datastoreItem xmlns:ds="http://schemas.openxmlformats.org/officeDocument/2006/customXml" ds:itemID="{6446313A-9D17-4297-82A5-1463A344F9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cb76ef-862e-406c-a80f-46ccc769a6a2"/>
    <ds:schemaRef ds:uri="7dbc431e-fabf-44b4-8dc6-c668257758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AE840D-92DB-41F7-8AFB-4E0B6A550A5C}">
  <ds:schemaRefs>
    <ds:schemaRef ds:uri="http://schemas.microsoft.com/office/2006/metadata/properties"/>
    <ds:schemaRef ds:uri="http://schemas.microsoft.com/office/infopath/2007/PartnerControls"/>
    <ds:schemaRef ds:uri="7dbc431e-fabf-44b4-8dc6-c66825775825"/>
    <ds:schemaRef ds:uri="fccb76ef-862e-406c-a80f-46ccc769a6a2"/>
  </ds:schemaRefs>
</ds:datastoreItem>
</file>

<file path=docProps/app.xml><?xml version="1.0" encoding="utf-8"?>
<Properties xmlns="http://schemas.openxmlformats.org/officeDocument/2006/extended-properties" xmlns:vt="http://schemas.openxmlformats.org/officeDocument/2006/docPropsVTypes">
  <Template>Ion</Template>
  <TotalTime>2955</TotalTime>
  <Words>2160</Words>
  <Application>Microsoft Office PowerPoint</Application>
  <PresentationFormat>Widescreen</PresentationFormat>
  <Paragraphs>427</Paragraphs>
  <Slides>40</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Century Gothic</vt:lpstr>
      <vt:lpstr>Wingdings</vt:lpstr>
      <vt:lpstr>Wingdings 3</vt:lpstr>
      <vt:lpstr>Ion</vt:lpstr>
      <vt:lpstr>Introduction to Cardiorespiratory Assessment</vt:lpstr>
      <vt:lpstr>Learning Outcomes</vt:lpstr>
      <vt:lpstr>Assessment Aims</vt:lpstr>
      <vt:lpstr>Problem Orientated Medical Records</vt:lpstr>
      <vt:lpstr>Assessment Components</vt:lpstr>
      <vt:lpstr>PowerPoint Presentation</vt:lpstr>
      <vt:lpstr>Information Gathered from Other Sources</vt:lpstr>
      <vt:lpstr>Subjective Assessment</vt:lpstr>
      <vt:lpstr>Subjective Assessment </vt:lpstr>
      <vt:lpstr>Breathlessness </vt:lpstr>
      <vt:lpstr>PowerPoint Presentation</vt:lpstr>
      <vt:lpstr>Cough</vt:lpstr>
      <vt:lpstr>Sputum  </vt:lpstr>
      <vt:lpstr>PowerPoint Presentation</vt:lpstr>
      <vt:lpstr>Chest Pain</vt:lpstr>
      <vt:lpstr>Subjective Assessment</vt:lpstr>
      <vt:lpstr>Objective Assessment</vt:lpstr>
      <vt:lpstr>Objective Examination</vt:lpstr>
      <vt:lpstr>Vital Observations </vt:lpstr>
      <vt:lpstr>Airway </vt:lpstr>
      <vt:lpstr>Breathing Assessment: Measurement</vt:lpstr>
      <vt:lpstr>Breathing </vt:lpstr>
      <vt:lpstr>PowerPoint Presentation</vt:lpstr>
      <vt:lpstr>PowerPoint Presentation</vt:lpstr>
      <vt:lpstr>Breathing Assessment: Palpation</vt:lpstr>
      <vt:lpstr>Breathing Assessment: Palpation</vt:lpstr>
      <vt:lpstr>Breathing Assessment: Listen </vt:lpstr>
      <vt:lpstr>PowerPoint Presentation</vt:lpstr>
      <vt:lpstr>PowerPoint Presentation</vt:lpstr>
      <vt:lpstr>PowerPoint Presentation</vt:lpstr>
      <vt:lpstr>Breathing  Assessment: Percussion</vt:lpstr>
      <vt:lpstr>PowerPoint Presentation</vt:lpstr>
      <vt:lpstr>Objective Assessment: Cardiac</vt:lpstr>
      <vt:lpstr>Objective Assessment: Disability</vt:lpstr>
      <vt:lpstr>PowerPoint Presentation</vt:lpstr>
      <vt:lpstr>Objective Assessment: Exposure</vt:lpstr>
      <vt:lpstr>PowerPoint Presentation</vt:lpstr>
      <vt:lpstr>Other Components</vt:lpstr>
      <vt:lpstr>PowerPoint Presentation</vt:lpstr>
      <vt:lpstr>References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Cardiorespiratory Assessment</dc:title>
  <dc:creator>Andrea</dc:creator>
  <cp:lastModifiedBy>Trivedi Puja</cp:lastModifiedBy>
  <cp:revision>179</cp:revision>
  <dcterms:created xsi:type="dcterms:W3CDTF">2022-10-29T15:33:40Z</dcterms:created>
  <dcterms:modified xsi:type="dcterms:W3CDTF">2024-11-05T00:28:09Z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0x0101001F21D789720E794DA1BE5D40FDC66DBB</vt:lpwstr>
  </property>
</Properties>
</file>