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0"/>
  </p:notesMasterIdLst>
  <p:sldIdLst>
    <p:sldId id="256" r:id="rId2"/>
    <p:sldId id="257" r:id="rId3"/>
    <p:sldId id="277" r:id="rId4"/>
    <p:sldId id="266" r:id="rId5"/>
    <p:sldId id="260" r:id="rId6"/>
    <p:sldId id="276" r:id="rId7"/>
    <p:sldId id="289" r:id="rId8"/>
    <p:sldId id="290" r:id="rId9"/>
    <p:sldId id="261" r:id="rId10"/>
    <p:sldId id="287" r:id="rId11"/>
    <p:sldId id="288" r:id="rId12"/>
    <p:sldId id="271" r:id="rId13"/>
    <p:sldId id="272" r:id="rId14"/>
    <p:sldId id="269" r:id="rId15"/>
    <p:sldId id="264" r:id="rId16"/>
    <p:sldId id="263" r:id="rId17"/>
    <p:sldId id="268" r:id="rId18"/>
    <p:sldId id="262" r:id="rId19"/>
    <p:sldId id="275" r:id="rId20"/>
    <p:sldId id="274" r:id="rId21"/>
    <p:sldId id="278" r:id="rId22"/>
    <p:sldId id="259" r:id="rId23"/>
    <p:sldId id="279" r:id="rId24"/>
    <p:sldId id="273" r:id="rId25"/>
    <p:sldId id="283" r:id="rId26"/>
    <p:sldId id="280" r:id="rId27"/>
    <p:sldId id="285" r:id="rId28"/>
    <p:sldId id="282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5714" autoAdjust="0"/>
  </p:normalViewPr>
  <p:slideViewPr>
    <p:cSldViewPr snapToGrid="0">
      <p:cViewPr varScale="1">
        <p:scale>
          <a:sx n="61" d="100"/>
          <a:sy n="61" d="100"/>
        </p:scale>
        <p:origin x="109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C5B1F1-3B0E-40CC-B7F5-AD48282B578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2A96675-A355-463C-B769-E34B4739065D}">
      <dgm:prSet/>
      <dgm:spPr/>
      <dgm:t>
        <a:bodyPr/>
        <a:lstStyle/>
        <a:p>
          <a:r>
            <a:rPr lang="en-GB"/>
            <a:t>Coronary Heart Disease, particularly ST-elevation Myocardial Infarction (STEMI)</a:t>
          </a:r>
          <a:endParaRPr lang="en-US"/>
        </a:p>
      </dgm:t>
    </dgm:pt>
    <dgm:pt modelId="{6D98B55E-E341-4451-B84F-0B13F8D2130E}" type="parTrans" cxnId="{8105E94D-BC7D-4C2C-ADBE-867B6EE47C8B}">
      <dgm:prSet/>
      <dgm:spPr/>
      <dgm:t>
        <a:bodyPr/>
        <a:lstStyle/>
        <a:p>
          <a:endParaRPr lang="en-US"/>
        </a:p>
      </dgm:t>
    </dgm:pt>
    <dgm:pt modelId="{3E76C9DE-98E9-495E-9482-C6F1098AC8A9}" type="sibTrans" cxnId="{8105E94D-BC7D-4C2C-ADBE-867B6EE47C8B}">
      <dgm:prSet/>
      <dgm:spPr/>
      <dgm:t>
        <a:bodyPr/>
        <a:lstStyle/>
        <a:p>
          <a:endParaRPr lang="en-US"/>
        </a:p>
      </dgm:t>
    </dgm:pt>
    <dgm:pt modelId="{E609FF66-E9D4-4438-968B-7AEB889EC4C1}">
      <dgm:prSet/>
      <dgm:spPr/>
      <dgm:t>
        <a:bodyPr/>
        <a:lstStyle/>
        <a:p>
          <a:r>
            <a:rPr lang="en-GB"/>
            <a:t>High blood pressure and pulmonary hypertension</a:t>
          </a:r>
          <a:endParaRPr lang="en-US"/>
        </a:p>
      </dgm:t>
    </dgm:pt>
    <dgm:pt modelId="{EA7C1E61-4968-476C-8726-1D3863F94E7A}" type="parTrans" cxnId="{60BABABF-5A82-44BB-A879-2D151CAC8DA6}">
      <dgm:prSet/>
      <dgm:spPr/>
      <dgm:t>
        <a:bodyPr/>
        <a:lstStyle/>
        <a:p>
          <a:endParaRPr lang="en-US"/>
        </a:p>
      </dgm:t>
    </dgm:pt>
    <dgm:pt modelId="{766D8D55-7B71-48F6-9BE3-5268CFBFD8BA}" type="sibTrans" cxnId="{60BABABF-5A82-44BB-A879-2D151CAC8DA6}">
      <dgm:prSet/>
      <dgm:spPr/>
      <dgm:t>
        <a:bodyPr/>
        <a:lstStyle/>
        <a:p>
          <a:endParaRPr lang="en-US"/>
        </a:p>
      </dgm:t>
    </dgm:pt>
    <dgm:pt modelId="{1C445A49-22E8-446F-88AB-4B03B720B66C}">
      <dgm:prSet/>
      <dgm:spPr/>
      <dgm:t>
        <a:bodyPr/>
        <a:lstStyle/>
        <a:p>
          <a:r>
            <a:rPr lang="en-GB" dirty="0"/>
            <a:t>Structural deformities of the heart </a:t>
          </a:r>
          <a:r>
            <a:rPr lang="en-GB" dirty="0" err="1"/>
            <a:t>e.g</a:t>
          </a:r>
          <a:r>
            <a:rPr lang="en-GB" dirty="0"/>
            <a:t> cardiomyopathies </a:t>
          </a:r>
          <a:endParaRPr lang="en-US" dirty="0"/>
        </a:p>
      </dgm:t>
    </dgm:pt>
    <dgm:pt modelId="{9F271265-2685-4092-82B9-6AF04D0E9343}" type="parTrans" cxnId="{16C3966F-A61E-4012-BEA1-542358BD6D65}">
      <dgm:prSet/>
      <dgm:spPr/>
      <dgm:t>
        <a:bodyPr/>
        <a:lstStyle/>
        <a:p>
          <a:endParaRPr lang="en-US"/>
        </a:p>
      </dgm:t>
    </dgm:pt>
    <dgm:pt modelId="{5F3AB208-3498-46CB-BB00-0C488AAC9E8B}" type="sibTrans" cxnId="{16C3966F-A61E-4012-BEA1-542358BD6D65}">
      <dgm:prSet/>
      <dgm:spPr/>
      <dgm:t>
        <a:bodyPr/>
        <a:lstStyle/>
        <a:p>
          <a:endParaRPr lang="en-US"/>
        </a:p>
      </dgm:t>
    </dgm:pt>
    <dgm:pt modelId="{A1C194EB-C1BC-40CE-AD49-2E885235CF78}">
      <dgm:prSet/>
      <dgm:spPr/>
      <dgm:t>
        <a:bodyPr/>
        <a:lstStyle/>
        <a:p>
          <a:r>
            <a:rPr lang="en-GB"/>
            <a:t>Arrhythmias e.g Ventricular Fibrillation</a:t>
          </a:r>
          <a:endParaRPr lang="en-US"/>
        </a:p>
      </dgm:t>
    </dgm:pt>
    <dgm:pt modelId="{EF96CCC7-54D4-44D1-8202-CC5198CE352A}" type="parTrans" cxnId="{E6DEB6C3-BBCC-4E9A-95C7-521A06DA3B69}">
      <dgm:prSet/>
      <dgm:spPr/>
      <dgm:t>
        <a:bodyPr/>
        <a:lstStyle/>
        <a:p>
          <a:endParaRPr lang="en-US"/>
        </a:p>
      </dgm:t>
    </dgm:pt>
    <dgm:pt modelId="{5DEB8559-9D25-45A6-A3D2-9988D1CEA5DE}" type="sibTrans" cxnId="{E6DEB6C3-BBCC-4E9A-95C7-521A06DA3B69}">
      <dgm:prSet/>
      <dgm:spPr/>
      <dgm:t>
        <a:bodyPr/>
        <a:lstStyle/>
        <a:p>
          <a:endParaRPr lang="en-US"/>
        </a:p>
      </dgm:t>
    </dgm:pt>
    <dgm:pt modelId="{241210A9-CF58-4952-8A74-E82E7B16D369}">
      <dgm:prSet/>
      <dgm:spPr/>
      <dgm:t>
        <a:bodyPr/>
        <a:lstStyle/>
        <a:p>
          <a:r>
            <a:rPr lang="en-GB"/>
            <a:t>Amyloidosis </a:t>
          </a:r>
          <a:endParaRPr lang="en-US"/>
        </a:p>
      </dgm:t>
    </dgm:pt>
    <dgm:pt modelId="{3DCE0867-D40F-4539-A46A-7EF47825F75A}" type="parTrans" cxnId="{9F84F9F2-2D76-4481-9AD5-7C575A53764D}">
      <dgm:prSet/>
      <dgm:spPr/>
      <dgm:t>
        <a:bodyPr/>
        <a:lstStyle/>
        <a:p>
          <a:endParaRPr lang="en-US"/>
        </a:p>
      </dgm:t>
    </dgm:pt>
    <dgm:pt modelId="{88282342-63AE-4231-AA1D-B18C61A8D656}" type="sibTrans" cxnId="{9F84F9F2-2D76-4481-9AD5-7C575A53764D}">
      <dgm:prSet/>
      <dgm:spPr/>
      <dgm:t>
        <a:bodyPr/>
        <a:lstStyle/>
        <a:p>
          <a:endParaRPr lang="en-US"/>
        </a:p>
      </dgm:t>
    </dgm:pt>
    <dgm:pt modelId="{0EFD8867-3CA0-4A1C-B0F0-15BEADD6FE2B}">
      <dgm:prSet/>
      <dgm:spPr/>
      <dgm:t>
        <a:bodyPr/>
        <a:lstStyle/>
        <a:p>
          <a:r>
            <a:rPr lang="en-GB"/>
            <a:t>Anaemia</a:t>
          </a:r>
          <a:endParaRPr lang="en-US"/>
        </a:p>
      </dgm:t>
    </dgm:pt>
    <dgm:pt modelId="{76FBB643-EDBE-4106-898B-AB4EE935EFC7}" type="parTrans" cxnId="{5D944F4A-B898-45C7-9780-818970C3D521}">
      <dgm:prSet/>
      <dgm:spPr/>
      <dgm:t>
        <a:bodyPr/>
        <a:lstStyle/>
        <a:p>
          <a:endParaRPr lang="en-US"/>
        </a:p>
      </dgm:t>
    </dgm:pt>
    <dgm:pt modelId="{EA67970B-6AA2-4C32-9614-90310F983420}" type="sibTrans" cxnId="{5D944F4A-B898-45C7-9780-818970C3D521}">
      <dgm:prSet/>
      <dgm:spPr/>
      <dgm:t>
        <a:bodyPr/>
        <a:lstStyle/>
        <a:p>
          <a:endParaRPr lang="en-US"/>
        </a:p>
      </dgm:t>
    </dgm:pt>
    <dgm:pt modelId="{FC4B6ECE-E63C-46CD-BCD3-A0B3BD6B3E5B}">
      <dgm:prSet/>
      <dgm:spPr/>
      <dgm:t>
        <a:bodyPr/>
        <a:lstStyle/>
        <a:p>
          <a:r>
            <a:rPr lang="en-GB"/>
            <a:t>Endocarditis</a:t>
          </a:r>
          <a:endParaRPr lang="en-US"/>
        </a:p>
      </dgm:t>
    </dgm:pt>
    <dgm:pt modelId="{F3F40E49-AE72-4C19-B45D-B2A5633977E4}" type="parTrans" cxnId="{A8A3AA57-7AF9-4EF8-9D72-B25E7BBC8A95}">
      <dgm:prSet/>
      <dgm:spPr/>
      <dgm:t>
        <a:bodyPr/>
        <a:lstStyle/>
        <a:p>
          <a:endParaRPr lang="en-US"/>
        </a:p>
      </dgm:t>
    </dgm:pt>
    <dgm:pt modelId="{67058888-45DB-4906-A915-E11F1B0BEEBB}" type="sibTrans" cxnId="{A8A3AA57-7AF9-4EF8-9D72-B25E7BBC8A95}">
      <dgm:prSet/>
      <dgm:spPr/>
      <dgm:t>
        <a:bodyPr/>
        <a:lstStyle/>
        <a:p>
          <a:endParaRPr lang="en-US"/>
        </a:p>
      </dgm:t>
    </dgm:pt>
    <dgm:pt modelId="{105E8607-4FFB-44DD-9584-F21479AED92F}">
      <dgm:prSet/>
      <dgm:spPr/>
      <dgm:t>
        <a:bodyPr/>
        <a:lstStyle/>
        <a:p>
          <a:r>
            <a:rPr lang="en-GB"/>
            <a:t>Heart valve disease e.g stenosis/regurgitation </a:t>
          </a:r>
          <a:endParaRPr lang="en-US"/>
        </a:p>
      </dgm:t>
    </dgm:pt>
    <dgm:pt modelId="{42C9A08D-29D0-4B95-847C-B6410698A8E1}" type="parTrans" cxnId="{2591EE34-3122-41C3-B5EF-C6A4FB69D068}">
      <dgm:prSet/>
      <dgm:spPr/>
      <dgm:t>
        <a:bodyPr/>
        <a:lstStyle/>
        <a:p>
          <a:endParaRPr lang="en-US"/>
        </a:p>
      </dgm:t>
    </dgm:pt>
    <dgm:pt modelId="{551E1883-734E-4D4E-9834-D0A696DCCE91}" type="sibTrans" cxnId="{2591EE34-3122-41C3-B5EF-C6A4FB69D068}">
      <dgm:prSet/>
      <dgm:spPr/>
      <dgm:t>
        <a:bodyPr/>
        <a:lstStyle/>
        <a:p>
          <a:endParaRPr lang="en-US"/>
        </a:p>
      </dgm:t>
    </dgm:pt>
    <dgm:pt modelId="{A30D920A-F4AE-4135-A8EC-72EF2090BB8D}">
      <dgm:prSet/>
      <dgm:spPr/>
      <dgm:t>
        <a:bodyPr/>
        <a:lstStyle/>
        <a:p>
          <a:r>
            <a:rPr lang="en-GB"/>
            <a:t>Some forms of chemotherapy</a:t>
          </a:r>
          <a:endParaRPr lang="en-US"/>
        </a:p>
      </dgm:t>
    </dgm:pt>
    <dgm:pt modelId="{93D19BAD-F939-408A-8660-CB25BFE3E582}" type="parTrans" cxnId="{1E6B4F64-F306-4D25-9175-E49DA2EC8AB4}">
      <dgm:prSet/>
      <dgm:spPr/>
      <dgm:t>
        <a:bodyPr/>
        <a:lstStyle/>
        <a:p>
          <a:endParaRPr lang="en-US"/>
        </a:p>
      </dgm:t>
    </dgm:pt>
    <dgm:pt modelId="{AB5FC674-9B01-4451-9E24-A189E6D1AF69}" type="sibTrans" cxnId="{1E6B4F64-F306-4D25-9175-E49DA2EC8AB4}">
      <dgm:prSet/>
      <dgm:spPr/>
      <dgm:t>
        <a:bodyPr/>
        <a:lstStyle/>
        <a:p>
          <a:endParaRPr lang="en-US"/>
        </a:p>
      </dgm:t>
    </dgm:pt>
    <dgm:pt modelId="{6EAAE632-983B-4403-8D2B-4ED39CDAE91E}">
      <dgm:prSet/>
      <dgm:spPr/>
      <dgm:t>
        <a:bodyPr/>
        <a:lstStyle/>
        <a:p>
          <a:r>
            <a:rPr lang="en-GB"/>
            <a:t>Thyroid disorders</a:t>
          </a:r>
          <a:endParaRPr lang="en-US"/>
        </a:p>
      </dgm:t>
    </dgm:pt>
    <dgm:pt modelId="{074AEA3D-53D0-4CEC-8993-598912DA59C4}" type="parTrans" cxnId="{72335AE1-51EA-45AD-92ED-B9F1FE6933E2}">
      <dgm:prSet/>
      <dgm:spPr/>
      <dgm:t>
        <a:bodyPr/>
        <a:lstStyle/>
        <a:p>
          <a:endParaRPr lang="en-US"/>
        </a:p>
      </dgm:t>
    </dgm:pt>
    <dgm:pt modelId="{70A35A7C-E863-4F3D-90E2-8AAABB7B86A7}" type="sibTrans" cxnId="{72335AE1-51EA-45AD-92ED-B9F1FE6933E2}">
      <dgm:prSet/>
      <dgm:spPr/>
      <dgm:t>
        <a:bodyPr/>
        <a:lstStyle/>
        <a:p>
          <a:endParaRPr lang="en-US"/>
        </a:p>
      </dgm:t>
    </dgm:pt>
    <dgm:pt modelId="{E2944BD4-4EC7-4051-BFF6-8E87B827E82F}">
      <dgm:prSet/>
      <dgm:spPr/>
      <dgm:t>
        <a:bodyPr/>
        <a:lstStyle/>
        <a:p>
          <a:r>
            <a:rPr lang="en-GB"/>
            <a:t>Excessive alcohol intake</a:t>
          </a:r>
          <a:endParaRPr lang="en-US"/>
        </a:p>
      </dgm:t>
    </dgm:pt>
    <dgm:pt modelId="{3C586E43-6BA5-4701-9848-AAC8C56BA0F6}" type="parTrans" cxnId="{AF1FC0FF-3510-4A47-8BE9-2F01592348F4}">
      <dgm:prSet/>
      <dgm:spPr/>
      <dgm:t>
        <a:bodyPr/>
        <a:lstStyle/>
        <a:p>
          <a:endParaRPr lang="en-US"/>
        </a:p>
      </dgm:t>
    </dgm:pt>
    <dgm:pt modelId="{62B6624E-0DE6-45C3-BA90-AD8DAC22F473}" type="sibTrans" cxnId="{AF1FC0FF-3510-4A47-8BE9-2F01592348F4}">
      <dgm:prSet/>
      <dgm:spPr/>
      <dgm:t>
        <a:bodyPr/>
        <a:lstStyle/>
        <a:p>
          <a:endParaRPr lang="en-US"/>
        </a:p>
      </dgm:t>
    </dgm:pt>
    <dgm:pt modelId="{8796047E-B0D2-4C61-8442-9D4CE18F4B7C}" type="pres">
      <dgm:prSet presAssocID="{91C5B1F1-3B0E-40CC-B7F5-AD48282B578D}" presName="diagram" presStyleCnt="0">
        <dgm:presLayoutVars>
          <dgm:dir/>
          <dgm:resizeHandles val="exact"/>
        </dgm:presLayoutVars>
      </dgm:prSet>
      <dgm:spPr/>
    </dgm:pt>
    <dgm:pt modelId="{B0DB3F24-681C-497A-A19F-AB037E507A0A}" type="pres">
      <dgm:prSet presAssocID="{42A96675-A355-463C-B769-E34B4739065D}" presName="node" presStyleLbl="node1" presStyleIdx="0" presStyleCnt="11">
        <dgm:presLayoutVars>
          <dgm:bulletEnabled val="1"/>
        </dgm:presLayoutVars>
      </dgm:prSet>
      <dgm:spPr/>
    </dgm:pt>
    <dgm:pt modelId="{711F1986-06FA-421C-A397-CF25B13BBC20}" type="pres">
      <dgm:prSet presAssocID="{3E76C9DE-98E9-495E-9482-C6F1098AC8A9}" presName="sibTrans" presStyleCnt="0"/>
      <dgm:spPr/>
    </dgm:pt>
    <dgm:pt modelId="{218E1200-B290-4FA1-AFEA-A228090AF046}" type="pres">
      <dgm:prSet presAssocID="{E609FF66-E9D4-4438-968B-7AEB889EC4C1}" presName="node" presStyleLbl="node1" presStyleIdx="1" presStyleCnt="11">
        <dgm:presLayoutVars>
          <dgm:bulletEnabled val="1"/>
        </dgm:presLayoutVars>
      </dgm:prSet>
      <dgm:spPr/>
    </dgm:pt>
    <dgm:pt modelId="{5A970257-CFFE-4F7B-A0E6-E0C01977ECA2}" type="pres">
      <dgm:prSet presAssocID="{766D8D55-7B71-48F6-9BE3-5268CFBFD8BA}" presName="sibTrans" presStyleCnt="0"/>
      <dgm:spPr/>
    </dgm:pt>
    <dgm:pt modelId="{AF0DD45A-122A-4626-AC38-AB41B3B24A22}" type="pres">
      <dgm:prSet presAssocID="{1C445A49-22E8-446F-88AB-4B03B720B66C}" presName="node" presStyleLbl="node1" presStyleIdx="2" presStyleCnt="11">
        <dgm:presLayoutVars>
          <dgm:bulletEnabled val="1"/>
        </dgm:presLayoutVars>
      </dgm:prSet>
      <dgm:spPr/>
    </dgm:pt>
    <dgm:pt modelId="{53C1AB6F-738E-4BB1-BCA1-D79E345258CA}" type="pres">
      <dgm:prSet presAssocID="{5F3AB208-3498-46CB-BB00-0C488AAC9E8B}" presName="sibTrans" presStyleCnt="0"/>
      <dgm:spPr/>
    </dgm:pt>
    <dgm:pt modelId="{6C0A397C-9EEA-499C-8FF4-91FED3EA6A2E}" type="pres">
      <dgm:prSet presAssocID="{A1C194EB-C1BC-40CE-AD49-2E885235CF78}" presName="node" presStyleLbl="node1" presStyleIdx="3" presStyleCnt="11">
        <dgm:presLayoutVars>
          <dgm:bulletEnabled val="1"/>
        </dgm:presLayoutVars>
      </dgm:prSet>
      <dgm:spPr/>
    </dgm:pt>
    <dgm:pt modelId="{E5214CB6-6E3C-42B0-BADA-96B3865BB6C1}" type="pres">
      <dgm:prSet presAssocID="{5DEB8559-9D25-45A6-A3D2-9988D1CEA5DE}" presName="sibTrans" presStyleCnt="0"/>
      <dgm:spPr/>
    </dgm:pt>
    <dgm:pt modelId="{11A869D8-9ABF-43B7-8438-C06D32464DC1}" type="pres">
      <dgm:prSet presAssocID="{241210A9-CF58-4952-8A74-E82E7B16D369}" presName="node" presStyleLbl="node1" presStyleIdx="4" presStyleCnt="11">
        <dgm:presLayoutVars>
          <dgm:bulletEnabled val="1"/>
        </dgm:presLayoutVars>
      </dgm:prSet>
      <dgm:spPr/>
    </dgm:pt>
    <dgm:pt modelId="{793517AE-6979-4DFE-A4EA-CC6378A5A69E}" type="pres">
      <dgm:prSet presAssocID="{88282342-63AE-4231-AA1D-B18C61A8D656}" presName="sibTrans" presStyleCnt="0"/>
      <dgm:spPr/>
    </dgm:pt>
    <dgm:pt modelId="{E5F88A29-D7C4-4B11-BE97-BF7B103043DE}" type="pres">
      <dgm:prSet presAssocID="{0EFD8867-3CA0-4A1C-B0F0-15BEADD6FE2B}" presName="node" presStyleLbl="node1" presStyleIdx="5" presStyleCnt="11">
        <dgm:presLayoutVars>
          <dgm:bulletEnabled val="1"/>
        </dgm:presLayoutVars>
      </dgm:prSet>
      <dgm:spPr/>
    </dgm:pt>
    <dgm:pt modelId="{B66772CC-0AEA-45AE-B2DD-7D23A72E5D9E}" type="pres">
      <dgm:prSet presAssocID="{EA67970B-6AA2-4C32-9614-90310F983420}" presName="sibTrans" presStyleCnt="0"/>
      <dgm:spPr/>
    </dgm:pt>
    <dgm:pt modelId="{911DC2E5-0F97-4BF9-977C-97CC28F6EE8E}" type="pres">
      <dgm:prSet presAssocID="{FC4B6ECE-E63C-46CD-BCD3-A0B3BD6B3E5B}" presName="node" presStyleLbl="node1" presStyleIdx="6" presStyleCnt="11">
        <dgm:presLayoutVars>
          <dgm:bulletEnabled val="1"/>
        </dgm:presLayoutVars>
      </dgm:prSet>
      <dgm:spPr/>
    </dgm:pt>
    <dgm:pt modelId="{F1FE10B1-2104-4446-BC4F-2EFF276E7710}" type="pres">
      <dgm:prSet presAssocID="{67058888-45DB-4906-A915-E11F1B0BEEBB}" presName="sibTrans" presStyleCnt="0"/>
      <dgm:spPr/>
    </dgm:pt>
    <dgm:pt modelId="{F929E487-2639-46D9-90CB-495698085DD0}" type="pres">
      <dgm:prSet presAssocID="{105E8607-4FFB-44DD-9584-F21479AED92F}" presName="node" presStyleLbl="node1" presStyleIdx="7" presStyleCnt="11">
        <dgm:presLayoutVars>
          <dgm:bulletEnabled val="1"/>
        </dgm:presLayoutVars>
      </dgm:prSet>
      <dgm:spPr/>
    </dgm:pt>
    <dgm:pt modelId="{383847F3-50AB-419E-814C-8E3752A0D842}" type="pres">
      <dgm:prSet presAssocID="{551E1883-734E-4D4E-9834-D0A696DCCE91}" presName="sibTrans" presStyleCnt="0"/>
      <dgm:spPr/>
    </dgm:pt>
    <dgm:pt modelId="{C2DEF905-46B5-468A-BE46-8C243F002A0C}" type="pres">
      <dgm:prSet presAssocID="{A30D920A-F4AE-4135-A8EC-72EF2090BB8D}" presName="node" presStyleLbl="node1" presStyleIdx="8" presStyleCnt="11">
        <dgm:presLayoutVars>
          <dgm:bulletEnabled val="1"/>
        </dgm:presLayoutVars>
      </dgm:prSet>
      <dgm:spPr/>
    </dgm:pt>
    <dgm:pt modelId="{AB486ADB-0E06-4947-9D04-B5873C316ED7}" type="pres">
      <dgm:prSet presAssocID="{AB5FC674-9B01-4451-9E24-A189E6D1AF69}" presName="sibTrans" presStyleCnt="0"/>
      <dgm:spPr/>
    </dgm:pt>
    <dgm:pt modelId="{BEE55441-529A-44CC-A117-10377968E841}" type="pres">
      <dgm:prSet presAssocID="{6EAAE632-983B-4403-8D2B-4ED39CDAE91E}" presName="node" presStyleLbl="node1" presStyleIdx="9" presStyleCnt="11">
        <dgm:presLayoutVars>
          <dgm:bulletEnabled val="1"/>
        </dgm:presLayoutVars>
      </dgm:prSet>
      <dgm:spPr/>
    </dgm:pt>
    <dgm:pt modelId="{932F6173-8C80-4844-8009-26F2A712FB88}" type="pres">
      <dgm:prSet presAssocID="{70A35A7C-E863-4F3D-90E2-8AAABB7B86A7}" presName="sibTrans" presStyleCnt="0"/>
      <dgm:spPr/>
    </dgm:pt>
    <dgm:pt modelId="{925B8FB7-61A4-4999-ABA1-CED55D8B3841}" type="pres">
      <dgm:prSet presAssocID="{E2944BD4-4EC7-4051-BFF6-8E87B827E82F}" presName="node" presStyleLbl="node1" presStyleIdx="10" presStyleCnt="11">
        <dgm:presLayoutVars>
          <dgm:bulletEnabled val="1"/>
        </dgm:presLayoutVars>
      </dgm:prSet>
      <dgm:spPr/>
    </dgm:pt>
  </dgm:ptLst>
  <dgm:cxnLst>
    <dgm:cxn modelId="{F785490E-11AF-45AE-92E5-C77DE660A700}" type="presOf" srcId="{241210A9-CF58-4952-8A74-E82E7B16D369}" destId="{11A869D8-9ABF-43B7-8438-C06D32464DC1}" srcOrd="0" destOrd="0" presId="urn:microsoft.com/office/officeart/2005/8/layout/default"/>
    <dgm:cxn modelId="{D73CF310-D70F-466D-B01E-43BB42A0D550}" type="presOf" srcId="{A30D920A-F4AE-4135-A8EC-72EF2090BB8D}" destId="{C2DEF905-46B5-468A-BE46-8C243F002A0C}" srcOrd="0" destOrd="0" presId="urn:microsoft.com/office/officeart/2005/8/layout/default"/>
    <dgm:cxn modelId="{4E740E14-5DF0-4816-B540-4AD0D13DB2EA}" type="presOf" srcId="{1C445A49-22E8-446F-88AB-4B03B720B66C}" destId="{AF0DD45A-122A-4626-AC38-AB41B3B24A22}" srcOrd="0" destOrd="0" presId="urn:microsoft.com/office/officeart/2005/8/layout/default"/>
    <dgm:cxn modelId="{2591EE34-3122-41C3-B5EF-C6A4FB69D068}" srcId="{91C5B1F1-3B0E-40CC-B7F5-AD48282B578D}" destId="{105E8607-4FFB-44DD-9584-F21479AED92F}" srcOrd="7" destOrd="0" parTransId="{42C9A08D-29D0-4B95-847C-B6410698A8E1}" sibTransId="{551E1883-734E-4D4E-9834-D0A696DCCE91}"/>
    <dgm:cxn modelId="{1E6B4F64-F306-4D25-9175-E49DA2EC8AB4}" srcId="{91C5B1F1-3B0E-40CC-B7F5-AD48282B578D}" destId="{A30D920A-F4AE-4135-A8EC-72EF2090BB8D}" srcOrd="8" destOrd="0" parTransId="{93D19BAD-F939-408A-8660-CB25BFE3E582}" sibTransId="{AB5FC674-9B01-4451-9E24-A189E6D1AF69}"/>
    <dgm:cxn modelId="{5D944F4A-B898-45C7-9780-818970C3D521}" srcId="{91C5B1F1-3B0E-40CC-B7F5-AD48282B578D}" destId="{0EFD8867-3CA0-4A1C-B0F0-15BEADD6FE2B}" srcOrd="5" destOrd="0" parTransId="{76FBB643-EDBE-4106-898B-AB4EE935EFC7}" sibTransId="{EA67970B-6AA2-4C32-9614-90310F983420}"/>
    <dgm:cxn modelId="{8105E94D-BC7D-4C2C-ADBE-867B6EE47C8B}" srcId="{91C5B1F1-3B0E-40CC-B7F5-AD48282B578D}" destId="{42A96675-A355-463C-B769-E34B4739065D}" srcOrd="0" destOrd="0" parTransId="{6D98B55E-E341-4451-B84F-0B13F8D2130E}" sibTransId="{3E76C9DE-98E9-495E-9482-C6F1098AC8A9}"/>
    <dgm:cxn modelId="{16C3966F-A61E-4012-BEA1-542358BD6D65}" srcId="{91C5B1F1-3B0E-40CC-B7F5-AD48282B578D}" destId="{1C445A49-22E8-446F-88AB-4B03B720B66C}" srcOrd="2" destOrd="0" parTransId="{9F271265-2685-4092-82B9-6AF04D0E9343}" sibTransId="{5F3AB208-3498-46CB-BB00-0C488AAC9E8B}"/>
    <dgm:cxn modelId="{60E81675-5B91-442F-A7D3-06E5E164C34C}" type="presOf" srcId="{FC4B6ECE-E63C-46CD-BCD3-A0B3BD6B3E5B}" destId="{911DC2E5-0F97-4BF9-977C-97CC28F6EE8E}" srcOrd="0" destOrd="0" presId="urn:microsoft.com/office/officeart/2005/8/layout/default"/>
    <dgm:cxn modelId="{A8A3AA57-7AF9-4EF8-9D72-B25E7BBC8A95}" srcId="{91C5B1F1-3B0E-40CC-B7F5-AD48282B578D}" destId="{FC4B6ECE-E63C-46CD-BCD3-A0B3BD6B3E5B}" srcOrd="6" destOrd="0" parTransId="{F3F40E49-AE72-4C19-B45D-B2A5633977E4}" sibTransId="{67058888-45DB-4906-A915-E11F1B0BEEBB}"/>
    <dgm:cxn modelId="{B1BFF07A-4811-421A-9173-1ACA40F99AA2}" type="presOf" srcId="{6EAAE632-983B-4403-8D2B-4ED39CDAE91E}" destId="{BEE55441-529A-44CC-A117-10377968E841}" srcOrd="0" destOrd="0" presId="urn:microsoft.com/office/officeart/2005/8/layout/default"/>
    <dgm:cxn modelId="{0F21468F-5343-4E0A-9143-C8BCD9AD15CD}" type="presOf" srcId="{E2944BD4-4EC7-4051-BFF6-8E87B827E82F}" destId="{925B8FB7-61A4-4999-ABA1-CED55D8B3841}" srcOrd="0" destOrd="0" presId="urn:microsoft.com/office/officeart/2005/8/layout/default"/>
    <dgm:cxn modelId="{A207F491-8A03-4041-A2EB-320A050F37C6}" type="presOf" srcId="{A1C194EB-C1BC-40CE-AD49-2E885235CF78}" destId="{6C0A397C-9EEA-499C-8FF4-91FED3EA6A2E}" srcOrd="0" destOrd="0" presId="urn:microsoft.com/office/officeart/2005/8/layout/default"/>
    <dgm:cxn modelId="{77F0E897-6239-43BB-8297-8311290AD59B}" type="presOf" srcId="{E609FF66-E9D4-4438-968B-7AEB889EC4C1}" destId="{218E1200-B290-4FA1-AFEA-A228090AF046}" srcOrd="0" destOrd="0" presId="urn:microsoft.com/office/officeart/2005/8/layout/default"/>
    <dgm:cxn modelId="{B6C71AA8-E152-43DE-94DE-ED2DC88D1A0B}" type="presOf" srcId="{0EFD8867-3CA0-4A1C-B0F0-15BEADD6FE2B}" destId="{E5F88A29-D7C4-4B11-BE97-BF7B103043DE}" srcOrd="0" destOrd="0" presId="urn:microsoft.com/office/officeart/2005/8/layout/default"/>
    <dgm:cxn modelId="{46BB26B0-1732-4D9A-B5A3-879EE738ED4E}" type="presOf" srcId="{91C5B1F1-3B0E-40CC-B7F5-AD48282B578D}" destId="{8796047E-B0D2-4C61-8442-9D4CE18F4B7C}" srcOrd="0" destOrd="0" presId="urn:microsoft.com/office/officeart/2005/8/layout/default"/>
    <dgm:cxn modelId="{D40176BF-7DDA-4873-BD2F-05ACE6AE121D}" type="presOf" srcId="{105E8607-4FFB-44DD-9584-F21479AED92F}" destId="{F929E487-2639-46D9-90CB-495698085DD0}" srcOrd="0" destOrd="0" presId="urn:microsoft.com/office/officeart/2005/8/layout/default"/>
    <dgm:cxn modelId="{60BABABF-5A82-44BB-A879-2D151CAC8DA6}" srcId="{91C5B1F1-3B0E-40CC-B7F5-AD48282B578D}" destId="{E609FF66-E9D4-4438-968B-7AEB889EC4C1}" srcOrd="1" destOrd="0" parTransId="{EA7C1E61-4968-476C-8726-1D3863F94E7A}" sibTransId="{766D8D55-7B71-48F6-9BE3-5268CFBFD8BA}"/>
    <dgm:cxn modelId="{B32514C0-F366-4631-8A68-C36CC29CC15E}" type="presOf" srcId="{42A96675-A355-463C-B769-E34B4739065D}" destId="{B0DB3F24-681C-497A-A19F-AB037E507A0A}" srcOrd="0" destOrd="0" presId="urn:microsoft.com/office/officeart/2005/8/layout/default"/>
    <dgm:cxn modelId="{E6DEB6C3-BBCC-4E9A-95C7-521A06DA3B69}" srcId="{91C5B1F1-3B0E-40CC-B7F5-AD48282B578D}" destId="{A1C194EB-C1BC-40CE-AD49-2E885235CF78}" srcOrd="3" destOrd="0" parTransId="{EF96CCC7-54D4-44D1-8202-CC5198CE352A}" sibTransId="{5DEB8559-9D25-45A6-A3D2-9988D1CEA5DE}"/>
    <dgm:cxn modelId="{72335AE1-51EA-45AD-92ED-B9F1FE6933E2}" srcId="{91C5B1F1-3B0E-40CC-B7F5-AD48282B578D}" destId="{6EAAE632-983B-4403-8D2B-4ED39CDAE91E}" srcOrd="9" destOrd="0" parTransId="{074AEA3D-53D0-4CEC-8993-598912DA59C4}" sibTransId="{70A35A7C-E863-4F3D-90E2-8AAABB7B86A7}"/>
    <dgm:cxn modelId="{9F84F9F2-2D76-4481-9AD5-7C575A53764D}" srcId="{91C5B1F1-3B0E-40CC-B7F5-AD48282B578D}" destId="{241210A9-CF58-4952-8A74-E82E7B16D369}" srcOrd="4" destOrd="0" parTransId="{3DCE0867-D40F-4539-A46A-7EF47825F75A}" sibTransId="{88282342-63AE-4231-AA1D-B18C61A8D656}"/>
    <dgm:cxn modelId="{AF1FC0FF-3510-4A47-8BE9-2F01592348F4}" srcId="{91C5B1F1-3B0E-40CC-B7F5-AD48282B578D}" destId="{E2944BD4-4EC7-4051-BFF6-8E87B827E82F}" srcOrd="10" destOrd="0" parTransId="{3C586E43-6BA5-4701-9848-AAC8C56BA0F6}" sibTransId="{62B6624E-0DE6-45C3-BA90-AD8DAC22F473}"/>
    <dgm:cxn modelId="{A435F5C5-22E3-4DFA-9D9B-B16E8376024F}" type="presParOf" srcId="{8796047E-B0D2-4C61-8442-9D4CE18F4B7C}" destId="{B0DB3F24-681C-497A-A19F-AB037E507A0A}" srcOrd="0" destOrd="0" presId="urn:microsoft.com/office/officeart/2005/8/layout/default"/>
    <dgm:cxn modelId="{DBA6581F-C49A-49CA-B309-54232290A276}" type="presParOf" srcId="{8796047E-B0D2-4C61-8442-9D4CE18F4B7C}" destId="{711F1986-06FA-421C-A397-CF25B13BBC20}" srcOrd="1" destOrd="0" presId="urn:microsoft.com/office/officeart/2005/8/layout/default"/>
    <dgm:cxn modelId="{91772CA0-DEDB-4EB3-83CE-05342A4ED714}" type="presParOf" srcId="{8796047E-B0D2-4C61-8442-9D4CE18F4B7C}" destId="{218E1200-B290-4FA1-AFEA-A228090AF046}" srcOrd="2" destOrd="0" presId="urn:microsoft.com/office/officeart/2005/8/layout/default"/>
    <dgm:cxn modelId="{FC05F9DC-5733-4A85-B51B-81D79DB13441}" type="presParOf" srcId="{8796047E-B0D2-4C61-8442-9D4CE18F4B7C}" destId="{5A970257-CFFE-4F7B-A0E6-E0C01977ECA2}" srcOrd="3" destOrd="0" presId="urn:microsoft.com/office/officeart/2005/8/layout/default"/>
    <dgm:cxn modelId="{1DA64276-2448-485D-9FC9-4EC5BF3EAB8F}" type="presParOf" srcId="{8796047E-B0D2-4C61-8442-9D4CE18F4B7C}" destId="{AF0DD45A-122A-4626-AC38-AB41B3B24A22}" srcOrd="4" destOrd="0" presId="urn:microsoft.com/office/officeart/2005/8/layout/default"/>
    <dgm:cxn modelId="{159A5DF0-0EA6-49D7-941F-DB593C354A6E}" type="presParOf" srcId="{8796047E-B0D2-4C61-8442-9D4CE18F4B7C}" destId="{53C1AB6F-738E-4BB1-BCA1-D79E345258CA}" srcOrd="5" destOrd="0" presId="urn:microsoft.com/office/officeart/2005/8/layout/default"/>
    <dgm:cxn modelId="{E7078584-6F77-4A03-A2AF-6EB8DB660F8D}" type="presParOf" srcId="{8796047E-B0D2-4C61-8442-9D4CE18F4B7C}" destId="{6C0A397C-9EEA-499C-8FF4-91FED3EA6A2E}" srcOrd="6" destOrd="0" presId="urn:microsoft.com/office/officeart/2005/8/layout/default"/>
    <dgm:cxn modelId="{B18EED06-5470-400B-9238-55A596783886}" type="presParOf" srcId="{8796047E-B0D2-4C61-8442-9D4CE18F4B7C}" destId="{E5214CB6-6E3C-42B0-BADA-96B3865BB6C1}" srcOrd="7" destOrd="0" presId="urn:microsoft.com/office/officeart/2005/8/layout/default"/>
    <dgm:cxn modelId="{6417C1A4-ABC9-413B-B77B-683CFB764FC6}" type="presParOf" srcId="{8796047E-B0D2-4C61-8442-9D4CE18F4B7C}" destId="{11A869D8-9ABF-43B7-8438-C06D32464DC1}" srcOrd="8" destOrd="0" presId="urn:microsoft.com/office/officeart/2005/8/layout/default"/>
    <dgm:cxn modelId="{717CA989-1903-469A-9C81-94D5A165588B}" type="presParOf" srcId="{8796047E-B0D2-4C61-8442-9D4CE18F4B7C}" destId="{793517AE-6979-4DFE-A4EA-CC6378A5A69E}" srcOrd="9" destOrd="0" presId="urn:microsoft.com/office/officeart/2005/8/layout/default"/>
    <dgm:cxn modelId="{D7A920BF-4374-47FE-B433-D12CF9A09026}" type="presParOf" srcId="{8796047E-B0D2-4C61-8442-9D4CE18F4B7C}" destId="{E5F88A29-D7C4-4B11-BE97-BF7B103043DE}" srcOrd="10" destOrd="0" presId="urn:microsoft.com/office/officeart/2005/8/layout/default"/>
    <dgm:cxn modelId="{19C8615D-2AD3-4495-9D12-70E8DD7FBDAC}" type="presParOf" srcId="{8796047E-B0D2-4C61-8442-9D4CE18F4B7C}" destId="{B66772CC-0AEA-45AE-B2DD-7D23A72E5D9E}" srcOrd="11" destOrd="0" presId="urn:microsoft.com/office/officeart/2005/8/layout/default"/>
    <dgm:cxn modelId="{60CC8E54-EA0D-40BB-9065-F1C2D013C739}" type="presParOf" srcId="{8796047E-B0D2-4C61-8442-9D4CE18F4B7C}" destId="{911DC2E5-0F97-4BF9-977C-97CC28F6EE8E}" srcOrd="12" destOrd="0" presId="urn:microsoft.com/office/officeart/2005/8/layout/default"/>
    <dgm:cxn modelId="{5460F456-3788-4ABE-AFA4-3347B56D50A7}" type="presParOf" srcId="{8796047E-B0D2-4C61-8442-9D4CE18F4B7C}" destId="{F1FE10B1-2104-4446-BC4F-2EFF276E7710}" srcOrd="13" destOrd="0" presId="urn:microsoft.com/office/officeart/2005/8/layout/default"/>
    <dgm:cxn modelId="{7303FA3D-6237-455A-8FA6-859AA6672195}" type="presParOf" srcId="{8796047E-B0D2-4C61-8442-9D4CE18F4B7C}" destId="{F929E487-2639-46D9-90CB-495698085DD0}" srcOrd="14" destOrd="0" presId="urn:microsoft.com/office/officeart/2005/8/layout/default"/>
    <dgm:cxn modelId="{09832DB1-FBCA-4A4E-90AC-D0C22E7E1564}" type="presParOf" srcId="{8796047E-B0D2-4C61-8442-9D4CE18F4B7C}" destId="{383847F3-50AB-419E-814C-8E3752A0D842}" srcOrd="15" destOrd="0" presId="urn:microsoft.com/office/officeart/2005/8/layout/default"/>
    <dgm:cxn modelId="{4E13B275-5DF7-45A6-9BCE-3F5047732091}" type="presParOf" srcId="{8796047E-B0D2-4C61-8442-9D4CE18F4B7C}" destId="{C2DEF905-46B5-468A-BE46-8C243F002A0C}" srcOrd="16" destOrd="0" presId="urn:microsoft.com/office/officeart/2005/8/layout/default"/>
    <dgm:cxn modelId="{608C2BEC-84CF-4B5E-BB5F-C8ACF91586DE}" type="presParOf" srcId="{8796047E-B0D2-4C61-8442-9D4CE18F4B7C}" destId="{AB486ADB-0E06-4947-9D04-B5873C316ED7}" srcOrd="17" destOrd="0" presId="urn:microsoft.com/office/officeart/2005/8/layout/default"/>
    <dgm:cxn modelId="{E4CED623-7F92-4B15-B40D-F27087BDAF25}" type="presParOf" srcId="{8796047E-B0D2-4C61-8442-9D4CE18F4B7C}" destId="{BEE55441-529A-44CC-A117-10377968E841}" srcOrd="18" destOrd="0" presId="urn:microsoft.com/office/officeart/2005/8/layout/default"/>
    <dgm:cxn modelId="{B7CA608D-15F2-4979-A918-C72B16978DD7}" type="presParOf" srcId="{8796047E-B0D2-4C61-8442-9D4CE18F4B7C}" destId="{932F6173-8C80-4844-8009-26F2A712FB88}" srcOrd="19" destOrd="0" presId="urn:microsoft.com/office/officeart/2005/8/layout/default"/>
    <dgm:cxn modelId="{F00AEC16-9E32-48C1-9239-69447D53C958}" type="presParOf" srcId="{8796047E-B0D2-4C61-8442-9D4CE18F4B7C}" destId="{925B8FB7-61A4-4999-ABA1-CED55D8B3841}" srcOrd="2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B5DA8F4-E541-4C8D-866F-F6559832557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F1A4154-B262-474D-A513-1D7CC54C5D6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Classified according to: </a:t>
          </a:r>
          <a:endParaRPr lang="en-US" dirty="0"/>
        </a:p>
      </dgm:t>
    </dgm:pt>
    <dgm:pt modelId="{EC150384-2BA8-4F41-BFF1-89B2C679E3D9}" type="parTrans" cxnId="{D58C1644-4E6A-4194-A568-F10813B5D0E1}">
      <dgm:prSet/>
      <dgm:spPr/>
      <dgm:t>
        <a:bodyPr/>
        <a:lstStyle/>
        <a:p>
          <a:endParaRPr lang="en-US"/>
        </a:p>
      </dgm:t>
    </dgm:pt>
    <dgm:pt modelId="{0FDC24E4-9B78-4B43-82EB-77A38CEE4C7E}" type="sibTrans" cxnId="{D58C1644-4E6A-4194-A568-F10813B5D0E1}">
      <dgm:prSet/>
      <dgm:spPr/>
      <dgm:t>
        <a:bodyPr/>
        <a:lstStyle/>
        <a:p>
          <a:endParaRPr lang="en-US"/>
        </a:p>
      </dgm:t>
    </dgm:pt>
    <dgm:pt modelId="{61BA3E37-4381-4B5F-93DF-2EAC0327FCE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1) Left Ventricular Ejection Fraction (LVEF)</a:t>
          </a:r>
          <a:endParaRPr lang="en-US" dirty="0"/>
        </a:p>
      </dgm:t>
    </dgm:pt>
    <dgm:pt modelId="{FF58A04E-F7C6-4E80-9416-DEEAC1A30231}" type="parTrans" cxnId="{74CC6638-3757-44D0-8CE0-8950D68E4115}">
      <dgm:prSet/>
      <dgm:spPr/>
      <dgm:t>
        <a:bodyPr/>
        <a:lstStyle/>
        <a:p>
          <a:endParaRPr lang="en-US"/>
        </a:p>
      </dgm:t>
    </dgm:pt>
    <dgm:pt modelId="{29BD1FDD-F4DD-4720-B9CF-78A1AE1050EF}" type="sibTrans" cxnId="{74CC6638-3757-44D0-8CE0-8950D68E4115}">
      <dgm:prSet/>
      <dgm:spPr/>
      <dgm:t>
        <a:bodyPr/>
        <a:lstStyle/>
        <a:p>
          <a:endParaRPr lang="en-US"/>
        </a:p>
      </dgm:t>
    </dgm:pt>
    <dgm:pt modelId="{2B14731D-7BDB-402B-9615-453E5B7FB16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2) The time-course of heart failure</a:t>
          </a:r>
          <a:endParaRPr lang="en-US"/>
        </a:p>
      </dgm:t>
    </dgm:pt>
    <dgm:pt modelId="{81329B74-1475-4F02-8EDD-C5BED9D16EBD}" type="parTrans" cxnId="{C7838539-6743-48B3-B29F-F9DC9B963B13}">
      <dgm:prSet/>
      <dgm:spPr/>
      <dgm:t>
        <a:bodyPr/>
        <a:lstStyle/>
        <a:p>
          <a:endParaRPr lang="en-US"/>
        </a:p>
      </dgm:t>
    </dgm:pt>
    <dgm:pt modelId="{E8A33D21-42A7-4C83-AC6E-D14C69684EB7}" type="sibTrans" cxnId="{C7838539-6743-48B3-B29F-F9DC9B963B13}">
      <dgm:prSet/>
      <dgm:spPr/>
      <dgm:t>
        <a:bodyPr/>
        <a:lstStyle/>
        <a:p>
          <a:endParaRPr lang="en-US"/>
        </a:p>
      </dgm:t>
    </dgm:pt>
    <dgm:pt modelId="{99D84AA7-13E0-4189-AF5B-F21F50D5FF4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3) Symptomatic severity – using the New York Heart Association (NYHA) Functional Classification</a:t>
          </a:r>
          <a:endParaRPr lang="en-US"/>
        </a:p>
      </dgm:t>
    </dgm:pt>
    <dgm:pt modelId="{85843FAB-FD86-4806-B08D-D9BC4A639220}" type="parTrans" cxnId="{C797218F-DCEF-4291-B153-45F42DAB405A}">
      <dgm:prSet/>
      <dgm:spPr/>
      <dgm:t>
        <a:bodyPr/>
        <a:lstStyle/>
        <a:p>
          <a:endParaRPr lang="en-US"/>
        </a:p>
      </dgm:t>
    </dgm:pt>
    <dgm:pt modelId="{BE5DC218-91BD-4729-9607-F8DDC3416CA0}" type="sibTrans" cxnId="{C797218F-DCEF-4291-B153-45F42DAB405A}">
      <dgm:prSet/>
      <dgm:spPr/>
      <dgm:t>
        <a:bodyPr/>
        <a:lstStyle/>
        <a:p>
          <a:endParaRPr lang="en-US"/>
        </a:p>
      </dgm:t>
    </dgm:pt>
    <dgm:pt modelId="{3D73F4EA-8B89-4598-B031-8851947C584A}" type="pres">
      <dgm:prSet presAssocID="{7B5DA8F4-E541-4C8D-866F-F6559832557C}" presName="linear" presStyleCnt="0">
        <dgm:presLayoutVars>
          <dgm:animLvl val="lvl"/>
          <dgm:resizeHandles val="exact"/>
        </dgm:presLayoutVars>
      </dgm:prSet>
      <dgm:spPr/>
    </dgm:pt>
    <dgm:pt modelId="{9D01F61C-FFEB-44E3-9FDD-2E1E43C4272C}" type="pres">
      <dgm:prSet presAssocID="{AF1A4154-B262-474D-A513-1D7CC54C5D6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EE97EFF-AD9C-429F-B0B7-836917F98762}" type="pres">
      <dgm:prSet presAssocID="{0FDC24E4-9B78-4B43-82EB-77A38CEE4C7E}" presName="spacer" presStyleCnt="0"/>
      <dgm:spPr/>
    </dgm:pt>
    <dgm:pt modelId="{0D388E24-3AD1-4381-AF73-1762A3C176A0}" type="pres">
      <dgm:prSet presAssocID="{61BA3E37-4381-4B5F-93DF-2EAC0327FCE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0A0ACFA-DFE6-4B6A-8519-04064E82DB08}" type="pres">
      <dgm:prSet presAssocID="{29BD1FDD-F4DD-4720-B9CF-78A1AE1050EF}" presName="spacer" presStyleCnt="0"/>
      <dgm:spPr/>
    </dgm:pt>
    <dgm:pt modelId="{6A24CF10-8405-42F9-BF32-5F79694627FB}" type="pres">
      <dgm:prSet presAssocID="{2B14731D-7BDB-402B-9615-453E5B7FB16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9BE76DB-720A-400D-9A83-E37BC996510C}" type="pres">
      <dgm:prSet presAssocID="{E8A33D21-42A7-4C83-AC6E-D14C69684EB7}" presName="spacer" presStyleCnt="0"/>
      <dgm:spPr/>
    </dgm:pt>
    <dgm:pt modelId="{8496C939-4EFC-4D26-949E-12D4FE97A0EE}" type="pres">
      <dgm:prSet presAssocID="{99D84AA7-13E0-4189-AF5B-F21F50D5FF4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4CC6638-3757-44D0-8CE0-8950D68E4115}" srcId="{7B5DA8F4-E541-4C8D-866F-F6559832557C}" destId="{61BA3E37-4381-4B5F-93DF-2EAC0327FCEA}" srcOrd="1" destOrd="0" parTransId="{FF58A04E-F7C6-4E80-9416-DEEAC1A30231}" sibTransId="{29BD1FDD-F4DD-4720-B9CF-78A1AE1050EF}"/>
    <dgm:cxn modelId="{C7838539-6743-48B3-B29F-F9DC9B963B13}" srcId="{7B5DA8F4-E541-4C8D-866F-F6559832557C}" destId="{2B14731D-7BDB-402B-9615-453E5B7FB169}" srcOrd="2" destOrd="0" parTransId="{81329B74-1475-4F02-8EDD-C5BED9D16EBD}" sibTransId="{E8A33D21-42A7-4C83-AC6E-D14C69684EB7}"/>
    <dgm:cxn modelId="{D58C1644-4E6A-4194-A568-F10813B5D0E1}" srcId="{7B5DA8F4-E541-4C8D-866F-F6559832557C}" destId="{AF1A4154-B262-474D-A513-1D7CC54C5D67}" srcOrd="0" destOrd="0" parTransId="{EC150384-2BA8-4F41-BFF1-89B2C679E3D9}" sibTransId="{0FDC24E4-9B78-4B43-82EB-77A38CEE4C7E}"/>
    <dgm:cxn modelId="{EDF9A888-9542-4992-924C-213A64368CB8}" type="presOf" srcId="{7B5DA8F4-E541-4C8D-866F-F6559832557C}" destId="{3D73F4EA-8B89-4598-B031-8851947C584A}" srcOrd="0" destOrd="0" presId="urn:microsoft.com/office/officeart/2005/8/layout/vList2"/>
    <dgm:cxn modelId="{C797218F-DCEF-4291-B153-45F42DAB405A}" srcId="{7B5DA8F4-E541-4C8D-866F-F6559832557C}" destId="{99D84AA7-13E0-4189-AF5B-F21F50D5FF41}" srcOrd="3" destOrd="0" parTransId="{85843FAB-FD86-4806-B08D-D9BC4A639220}" sibTransId="{BE5DC218-91BD-4729-9607-F8DDC3416CA0}"/>
    <dgm:cxn modelId="{AA78DDCA-E11E-49FA-B9AD-0E51E910FC11}" type="presOf" srcId="{99D84AA7-13E0-4189-AF5B-F21F50D5FF41}" destId="{8496C939-4EFC-4D26-949E-12D4FE97A0EE}" srcOrd="0" destOrd="0" presId="urn:microsoft.com/office/officeart/2005/8/layout/vList2"/>
    <dgm:cxn modelId="{77D040E9-FD80-4EF9-B6D4-1FABF78B12D5}" type="presOf" srcId="{AF1A4154-B262-474D-A513-1D7CC54C5D67}" destId="{9D01F61C-FFEB-44E3-9FDD-2E1E43C4272C}" srcOrd="0" destOrd="0" presId="urn:microsoft.com/office/officeart/2005/8/layout/vList2"/>
    <dgm:cxn modelId="{DE7ECFF4-8F45-46EC-8FE1-6AE7F68A348C}" type="presOf" srcId="{2B14731D-7BDB-402B-9615-453E5B7FB169}" destId="{6A24CF10-8405-42F9-BF32-5F79694627FB}" srcOrd="0" destOrd="0" presId="urn:microsoft.com/office/officeart/2005/8/layout/vList2"/>
    <dgm:cxn modelId="{001E93F6-EE4A-4FEB-823A-00E92A89BCE8}" type="presOf" srcId="{61BA3E37-4381-4B5F-93DF-2EAC0327FCEA}" destId="{0D388E24-3AD1-4381-AF73-1762A3C176A0}" srcOrd="0" destOrd="0" presId="urn:microsoft.com/office/officeart/2005/8/layout/vList2"/>
    <dgm:cxn modelId="{A3E73EEB-D06B-46B8-B901-C9318508B3DB}" type="presParOf" srcId="{3D73F4EA-8B89-4598-B031-8851947C584A}" destId="{9D01F61C-FFEB-44E3-9FDD-2E1E43C4272C}" srcOrd="0" destOrd="0" presId="urn:microsoft.com/office/officeart/2005/8/layout/vList2"/>
    <dgm:cxn modelId="{4E321320-3848-4D5D-AF9C-DBF0D9CBAA79}" type="presParOf" srcId="{3D73F4EA-8B89-4598-B031-8851947C584A}" destId="{7EE97EFF-AD9C-429F-B0B7-836917F98762}" srcOrd="1" destOrd="0" presId="urn:microsoft.com/office/officeart/2005/8/layout/vList2"/>
    <dgm:cxn modelId="{D4755BDF-E274-4068-84AE-1F51A0D89D5E}" type="presParOf" srcId="{3D73F4EA-8B89-4598-B031-8851947C584A}" destId="{0D388E24-3AD1-4381-AF73-1762A3C176A0}" srcOrd="2" destOrd="0" presId="urn:microsoft.com/office/officeart/2005/8/layout/vList2"/>
    <dgm:cxn modelId="{0793FE87-84A6-49A5-B864-6D73A37EDD11}" type="presParOf" srcId="{3D73F4EA-8B89-4598-B031-8851947C584A}" destId="{60A0ACFA-DFE6-4B6A-8519-04064E82DB08}" srcOrd="3" destOrd="0" presId="urn:microsoft.com/office/officeart/2005/8/layout/vList2"/>
    <dgm:cxn modelId="{9BA29C61-715A-4573-BC90-94D727C3B43E}" type="presParOf" srcId="{3D73F4EA-8B89-4598-B031-8851947C584A}" destId="{6A24CF10-8405-42F9-BF32-5F79694627FB}" srcOrd="4" destOrd="0" presId="urn:microsoft.com/office/officeart/2005/8/layout/vList2"/>
    <dgm:cxn modelId="{5989DB98-D928-4789-9840-625F8640F8E9}" type="presParOf" srcId="{3D73F4EA-8B89-4598-B031-8851947C584A}" destId="{79BE76DB-720A-400D-9A83-E37BC996510C}" srcOrd="5" destOrd="0" presId="urn:microsoft.com/office/officeart/2005/8/layout/vList2"/>
    <dgm:cxn modelId="{34CB597E-BAB5-416F-9D08-1B212959773C}" type="presParOf" srcId="{3D73F4EA-8B89-4598-B031-8851947C584A}" destId="{8496C939-4EFC-4D26-949E-12D4FE97A0E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DB3F24-681C-497A-A19F-AB037E507A0A}">
      <dsp:nvSpPr>
        <dsp:cNvPr id="0" name=""/>
        <dsp:cNvSpPr/>
      </dsp:nvSpPr>
      <dsp:spPr>
        <a:xfrm>
          <a:off x="2880" y="227886"/>
          <a:ext cx="2285531" cy="13713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Coronary Heart Disease, particularly ST-elevation Myocardial Infarction (STEMI)</a:t>
          </a:r>
          <a:endParaRPr lang="en-US" sz="1700" kern="1200"/>
        </a:p>
      </dsp:txBody>
      <dsp:txXfrm>
        <a:off x="2880" y="227886"/>
        <a:ext cx="2285531" cy="1371318"/>
      </dsp:txXfrm>
    </dsp:sp>
    <dsp:sp modelId="{218E1200-B290-4FA1-AFEA-A228090AF046}">
      <dsp:nvSpPr>
        <dsp:cNvPr id="0" name=""/>
        <dsp:cNvSpPr/>
      </dsp:nvSpPr>
      <dsp:spPr>
        <a:xfrm>
          <a:off x="2516965" y="227886"/>
          <a:ext cx="2285531" cy="13713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High blood pressure and pulmonary hypertension</a:t>
          </a:r>
          <a:endParaRPr lang="en-US" sz="1700" kern="1200"/>
        </a:p>
      </dsp:txBody>
      <dsp:txXfrm>
        <a:off x="2516965" y="227886"/>
        <a:ext cx="2285531" cy="1371318"/>
      </dsp:txXfrm>
    </dsp:sp>
    <dsp:sp modelId="{AF0DD45A-122A-4626-AC38-AB41B3B24A22}">
      <dsp:nvSpPr>
        <dsp:cNvPr id="0" name=""/>
        <dsp:cNvSpPr/>
      </dsp:nvSpPr>
      <dsp:spPr>
        <a:xfrm>
          <a:off x="5031050" y="227886"/>
          <a:ext cx="2285531" cy="13713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Structural deformities of the heart </a:t>
          </a:r>
          <a:r>
            <a:rPr lang="en-GB" sz="1700" kern="1200" dirty="0" err="1"/>
            <a:t>e.g</a:t>
          </a:r>
          <a:r>
            <a:rPr lang="en-GB" sz="1700" kern="1200" dirty="0"/>
            <a:t> cardiomyopathies </a:t>
          </a:r>
          <a:endParaRPr lang="en-US" sz="1700" kern="1200" dirty="0"/>
        </a:p>
      </dsp:txBody>
      <dsp:txXfrm>
        <a:off x="5031050" y="227886"/>
        <a:ext cx="2285531" cy="1371318"/>
      </dsp:txXfrm>
    </dsp:sp>
    <dsp:sp modelId="{6C0A397C-9EEA-499C-8FF4-91FED3EA6A2E}">
      <dsp:nvSpPr>
        <dsp:cNvPr id="0" name=""/>
        <dsp:cNvSpPr/>
      </dsp:nvSpPr>
      <dsp:spPr>
        <a:xfrm>
          <a:off x="7545135" y="227886"/>
          <a:ext cx="2285531" cy="13713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Arrhythmias e.g Ventricular Fibrillation</a:t>
          </a:r>
          <a:endParaRPr lang="en-US" sz="1700" kern="1200"/>
        </a:p>
      </dsp:txBody>
      <dsp:txXfrm>
        <a:off x="7545135" y="227886"/>
        <a:ext cx="2285531" cy="1371318"/>
      </dsp:txXfrm>
    </dsp:sp>
    <dsp:sp modelId="{11A869D8-9ABF-43B7-8438-C06D32464DC1}">
      <dsp:nvSpPr>
        <dsp:cNvPr id="0" name=""/>
        <dsp:cNvSpPr/>
      </dsp:nvSpPr>
      <dsp:spPr>
        <a:xfrm>
          <a:off x="2880" y="1827759"/>
          <a:ext cx="2285531" cy="13713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Amyloidosis </a:t>
          </a:r>
          <a:endParaRPr lang="en-US" sz="1700" kern="1200"/>
        </a:p>
      </dsp:txBody>
      <dsp:txXfrm>
        <a:off x="2880" y="1827759"/>
        <a:ext cx="2285531" cy="1371318"/>
      </dsp:txXfrm>
    </dsp:sp>
    <dsp:sp modelId="{E5F88A29-D7C4-4B11-BE97-BF7B103043DE}">
      <dsp:nvSpPr>
        <dsp:cNvPr id="0" name=""/>
        <dsp:cNvSpPr/>
      </dsp:nvSpPr>
      <dsp:spPr>
        <a:xfrm>
          <a:off x="2516965" y="1827759"/>
          <a:ext cx="2285531" cy="13713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Anaemia</a:t>
          </a:r>
          <a:endParaRPr lang="en-US" sz="1700" kern="1200"/>
        </a:p>
      </dsp:txBody>
      <dsp:txXfrm>
        <a:off x="2516965" y="1827759"/>
        <a:ext cx="2285531" cy="1371318"/>
      </dsp:txXfrm>
    </dsp:sp>
    <dsp:sp modelId="{911DC2E5-0F97-4BF9-977C-97CC28F6EE8E}">
      <dsp:nvSpPr>
        <dsp:cNvPr id="0" name=""/>
        <dsp:cNvSpPr/>
      </dsp:nvSpPr>
      <dsp:spPr>
        <a:xfrm>
          <a:off x="5031050" y="1827759"/>
          <a:ext cx="2285531" cy="13713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Endocarditis</a:t>
          </a:r>
          <a:endParaRPr lang="en-US" sz="1700" kern="1200"/>
        </a:p>
      </dsp:txBody>
      <dsp:txXfrm>
        <a:off x="5031050" y="1827759"/>
        <a:ext cx="2285531" cy="1371318"/>
      </dsp:txXfrm>
    </dsp:sp>
    <dsp:sp modelId="{F929E487-2639-46D9-90CB-495698085DD0}">
      <dsp:nvSpPr>
        <dsp:cNvPr id="0" name=""/>
        <dsp:cNvSpPr/>
      </dsp:nvSpPr>
      <dsp:spPr>
        <a:xfrm>
          <a:off x="7545135" y="1827759"/>
          <a:ext cx="2285531" cy="13713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Heart valve disease e.g stenosis/regurgitation </a:t>
          </a:r>
          <a:endParaRPr lang="en-US" sz="1700" kern="1200"/>
        </a:p>
      </dsp:txBody>
      <dsp:txXfrm>
        <a:off x="7545135" y="1827759"/>
        <a:ext cx="2285531" cy="1371318"/>
      </dsp:txXfrm>
    </dsp:sp>
    <dsp:sp modelId="{C2DEF905-46B5-468A-BE46-8C243F002A0C}">
      <dsp:nvSpPr>
        <dsp:cNvPr id="0" name=""/>
        <dsp:cNvSpPr/>
      </dsp:nvSpPr>
      <dsp:spPr>
        <a:xfrm>
          <a:off x="1259923" y="3427631"/>
          <a:ext cx="2285531" cy="13713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Some forms of chemotherapy</a:t>
          </a:r>
          <a:endParaRPr lang="en-US" sz="1700" kern="1200"/>
        </a:p>
      </dsp:txBody>
      <dsp:txXfrm>
        <a:off x="1259923" y="3427631"/>
        <a:ext cx="2285531" cy="1371318"/>
      </dsp:txXfrm>
    </dsp:sp>
    <dsp:sp modelId="{BEE55441-529A-44CC-A117-10377968E841}">
      <dsp:nvSpPr>
        <dsp:cNvPr id="0" name=""/>
        <dsp:cNvSpPr/>
      </dsp:nvSpPr>
      <dsp:spPr>
        <a:xfrm>
          <a:off x="3774008" y="3427631"/>
          <a:ext cx="2285531" cy="13713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Thyroid disorders</a:t>
          </a:r>
          <a:endParaRPr lang="en-US" sz="1700" kern="1200"/>
        </a:p>
      </dsp:txBody>
      <dsp:txXfrm>
        <a:off x="3774008" y="3427631"/>
        <a:ext cx="2285531" cy="1371318"/>
      </dsp:txXfrm>
    </dsp:sp>
    <dsp:sp modelId="{925B8FB7-61A4-4999-ABA1-CED55D8B3841}">
      <dsp:nvSpPr>
        <dsp:cNvPr id="0" name=""/>
        <dsp:cNvSpPr/>
      </dsp:nvSpPr>
      <dsp:spPr>
        <a:xfrm>
          <a:off x="6288092" y="3427631"/>
          <a:ext cx="2285531" cy="13713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Excessive alcohol intake</a:t>
          </a:r>
          <a:endParaRPr lang="en-US" sz="1700" kern="1200"/>
        </a:p>
      </dsp:txBody>
      <dsp:txXfrm>
        <a:off x="6288092" y="3427631"/>
        <a:ext cx="2285531" cy="13713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01F61C-FFEB-44E3-9FDD-2E1E43C4272C}">
      <dsp:nvSpPr>
        <dsp:cNvPr id="0" name=""/>
        <dsp:cNvSpPr/>
      </dsp:nvSpPr>
      <dsp:spPr>
        <a:xfrm>
          <a:off x="0" y="71217"/>
          <a:ext cx="10387132" cy="95559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Classified according to: </a:t>
          </a:r>
          <a:endParaRPr lang="en-US" sz="2200" kern="1200" dirty="0"/>
        </a:p>
      </dsp:txBody>
      <dsp:txXfrm>
        <a:off x="46648" y="117865"/>
        <a:ext cx="10293836" cy="862301"/>
      </dsp:txXfrm>
    </dsp:sp>
    <dsp:sp modelId="{0D388E24-3AD1-4381-AF73-1762A3C176A0}">
      <dsp:nvSpPr>
        <dsp:cNvPr id="0" name=""/>
        <dsp:cNvSpPr/>
      </dsp:nvSpPr>
      <dsp:spPr>
        <a:xfrm>
          <a:off x="0" y="1090174"/>
          <a:ext cx="10387132" cy="95559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1) Left Ventricular Ejection Fraction (LVEF)</a:t>
          </a:r>
          <a:endParaRPr lang="en-US" sz="2200" kern="1200" dirty="0"/>
        </a:p>
      </dsp:txBody>
      <dsp:txXfrm>
        <a:off x="46648" y="1136822"/>
        <a:ext cx="10293836" cy="862301"/>
      </dsp:txXfrm>
    </dsp:sp>
    <dsp:sp modelId="{6A24CF10-8405-42F9-BF32-5F79694627FB}">
      <dsp:nvSpPr>
        <dsp:cNvPr id="0" name=""/>
        <dsp:cNvSpPr/>
      </dsp:nvSpPr>
      <dsp:spPr>
        <a:xfrm>
          <a:off x="0" y="2109132"/>
          <a:ext cx="10387132" cy="95559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2) The time-course of heart failure</a:t>
          </a:r>
          <a:endParaRPr lang="en-US" sz="2200" kern="1200"/>
        </a:p>
      </dsp:txBody>
      <dsp:txXfrm>
        <a:off x="46648" y="2155780"/>
        <a:ext cx="10293836" cy="862301"/>
      </dsp:txXfrm>
    </dsp:sp>
    <dsp:sp modelId="{8496C939-4EFC-4D26-949E-12D4FE97A0EE}">
      <dsp:nvSpPr>
        <dsp:cNvPr id="0" name=""/>
        <dsp:cNvSpPr/>
      </dsp:nvSpPr>
      <dsp:spPr>
        <a:xfrm>
          <a:off x="0" y="3128090"/>
          <a:ext cx="10387132" cy="95559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3) Symptomatic severity – using the New York Heart Association (NYHA) Functional Classification</a:t>
          </a:r>
          <a:endParaRPr lang="en-US" sz="2200" kern="1200"/>
        </a:p>
      </dsp:txBody>
      <dsp:txXfrm>
        <a:off x="46648" y="3174738"/>
        <a:ext cx="10293836" cy="8623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602CFB-51EE-476A-BF70-287FFBA00F63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2CDCA3-C0F9-4337-8941-D8DCECA84E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1352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Overstretched – SV and CO reduce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CDCA3-C0F9-4337-8941-D8DCECA84EB8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719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CDCA3-C0F9-4337-8941-D8DCECA84EB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6389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Left HF = insufficient blood delivery to vital organs, back up of blood in pulmonary vein, heart works harder = thickening of L ventricle = impaired filling and relaxation = decreased SV, EF and CO. </a:t>
            </a:r>
          </a:p>
          <a:p>
            <a:r>
              <a:rPr lang="en-GB" dirty="0"/>
              <a:t>Hypertrophy = increase chance of arrythmia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CDCA3-C0F9-4337-8941-D8DCECA84EB8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41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 heart failure</a:t>
            </a:r>
          </a:p>
          <a:p>
            <a:r>
              <a:rPr lang="en-GB" dirty="0"/>
              <a:t>Inability to pump blood out of pulmonary artery to lungs for oxygenation. </a:t>
            </a:r>
          </a:p>
          <a:p>
            <a:r>
              <a:rPr lang="en-GB" dirty="0"/>
              <a:t>Build up of blood in veins = fluid moving into tissues = peripheral oedema and increased afterload.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CDCA3-C0F9-4337-8941-D8DCECA84EB8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72568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dirty="0">
                <a:solidFill>
                  <a:schemeClr val="tx2"/>
                </a:solidFill>
              </a:rPr>
              <a:t>NT-</a:t>
            </a:r>
            <a:r>
              <a:rPr lang="en-GB" sz="1200" dirty="0" err="1">
                <a:solidFill>
                  <a:schemeClr val="tx2"/>
                </a:solidFill>
              </a:rPr>
              <a:t>proBNP</a:t>
            </a:r>
            <a:r>
              <a:rPr lang="en-GB" sz="1200" dirty="0">
                <a:solidFill>
                  <a:schemeClr val="tx2"/>
                </a:solidFill>
              </a:rPr>
              <a:t> – high levels = poor outcomes – specialist assessment and TTE within 2/52, moderate levels = 6/52</a:t>
            </a:r>
          </a:p>
          <a:p>
            <a:r>
              <a:rPr lang="en-GB" sz="1200" dirty="0">
                <a:solidFill>
                  <a:schemeClr val="tx2"/>
                </a:solidFill>
              </a:rPr>
              <a:t>Intracardiac shunts – abnormal pathways of blood flow, common in congenital heart disease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CDCA3-C0F9-4337-8941-D8DCECA84EB8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3724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Important to note that normal is NOT 100%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CDCA3-C0F9-4337-8941-D8DCECA84EB8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44545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Systolic dysfunction – </a:t>
            </a:r>
            <a:r>
              <a:rPr lang="en-GB" dirty="0" err="1"/>
              <a:t>HFrEF</a:t>
            </a:r>
            <a:endParaRPr lang="en-GB" dirty="0"/>
          </a:p>
          <a:p>
            <a:endParaRPr lang="en-GB" dirty="0"/>
          </a:p>
          <a:p>
            <a:r>
              <a:rPr lang="en-GB" dirty="0"/>
              <a:t>NOTE – Poor EF does not always mean poor fitness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CDCA3-C0F9-4337-8941-D8DCECA84EB8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4135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overall prognosis has improved over recent decades but remains poor — often with a poor quality of life.</a:t>
            </a:r>
          </a:p>
          <a:p>
            <a:r>
              <a:rPr lang="en-GB" dirty="0"/>
              <a:t>Acute – low cardiac output state – CI less than 2l/min and hypotension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CDCA3-C0F9-4337-8941-D8DCECA84EB8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06355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CDCA3-C0F9-4337-8941-D8DCECA84EB8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17148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 patients with </a:t>
            </a:r>
            <a:r>
              <a:rPr lang="en-GB" dirty="0" err="1"/>
              <a:t>HFrEF</a:t>
            </a:r>
            <a:r>
              <a:rPr lang="en-GB" dirty="0"/>
              <a:t>:</a:t>
            </a:r>
          </a:p>
          <a:p>
            <a:r>
              <a:rPr lang="en-GB" dirty="0"/>
              <a:t>ACE –   , side effects = </a:t>
            </a:r>
          </a:p>
          <a:p>
            <a:r>
              <a:rPr lang="en-GB" dirty="0"/>
              <a:t>If ACE not tolerated, Angiotensin Receptor Blockers (ARBs) –</a:t>
            </a:r>
          </a:p>
          <a:p>
            <a:r>
              <a:rPr lang="en-GB" dirty="0"/>
              <a:t>MRA or aldosterone antagonists – Eplerenone, Spironolactone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CDCA3-C0F9-4337-8941-D8DCECA84EB8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4117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Ivabridine</a:t>
            </a:r>
            <a:r>
              <a:rPr lang="en-GB" dirty="0"/>
              <a:t> – NYHA II or above – slows HR</a:t>
            </a:r>
          </a:p>
          <a:p>
            <a:r>
              <a:rPr lang="en-GB" dirty="0"/>
              <a:t>Sacubitril Valsartan – Entresto </a:t>
            </a:r>
          </a:p>
          <a:p>
            <a:r>
              <a:rPr lang="en-GB" dirty="0" err="1"/>
              <a:t>Dapa</a:t>
            </a:r>
            <a:r>
              <a:rPr lang="en-GB" dirty="0"/>
              <a:t> – usually used for diabetes, but has been shown to improved LV contractility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CDCA3-C0F9-4337-8941-D8DCECA84EB8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96747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Decreased cardiac output </a:t>
            </a:r>
          </a:p>
          <a:p>
            <a:r>
              <a:rPr lang="en-GB" dirty="0"/>
              <a:t>Decreased Stroke volume </a:t>
            </a:r>
          </a:p>
          <a:p>
            <a:r>
              <a:rPr lang="en-GB" dirty="0"/>
              <a:t>Poor systolic and diastolic function </a:t>
            </a:r>
          </a:p>
          <a:p>
            <a:r>
              <a:rPr lang="en-GB" dirty="0"/>
              <a:t>Loss of internal contractility </a:t>
            </a:r>
          </a:p>
          <a:p>
            <a:r>
              <a:rPr lang="en-GB" dirty="0"/>
              <a:t>Alterations in signal transduction </a:t>
            </a:r>
          </a:p>
          <a:p>
            <a:r>
              <a:rPr lang="en-GB" dirty="0"/>
              <a:t>Alterations to the proteins or signal receptors in the heart 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CDCA3-C0F9-4337-8941-D8DCECA84EB8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58052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CDCA3-C0F9-4337-8941-D8DCECA84EB8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418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CDCA3-C0F9-4337-8941-D8DCECA84EB8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62022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CDCA3-C0F9-4337-8941-D8DCECA84EB8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75362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Warm up and cool down – reducing risk of ischaemia, arrythmias, post-exercise hypotension</a:t>
            </a:r>
          </a:p>
          <a:p>
            <a:r>
              <a:rPr lang="en-GB" dirty="0"/>
              <a:t>Adapting periods of CV depending on physical fitness – deconditioned = short periods of CV then active recovery, resistance training or seated programme</a:t>
            </a:r>
          </a:p>
          <a:p>
            <a:r>
              <a:rPr lang="en-GB" dirty="0"/>
              <a:t>RT – if very deconditioned, consider RT only programme</a:t>
            </a:r>
          </a:p>
          <a:p>
            <a:endParaRPr lang="en-GB" dirty="0"/>
          </a:p>
          <a:p>
            <a:r>
              <a:rPr lang="en-GB" dirty="0"/>
              <a:t>HRR – Max HR-Rest HR – use Keteyian regression equation in HF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CDCA3-C0F9-4337-8941-D8DCECA84EB8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02954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CDCA3-C0F9-4337-8941-D8DCECA84EB8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99406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CDCA3-C0F9-4337-8941-D8DCECA84EB8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4919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F61C-3698-4B5E-B73B-A237CC0B6F5B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F38CA-3933-4E9F-86A6-D062EFEBF5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3980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F61C-3698-4B5E-B73B-A237CC0B6F5B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F38CA-3933-4E9F-86A6-D062EFEBF5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0040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F61C-3698-4B5E-B73B-A237CC0B6F5B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F38CA-3933-4E9F-86A6-D062EFEBF5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7717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F61C-3698-4B5E-B73B-A237CC0B6F5B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F38CA-3933-4E9F-86A6-D062EFEBF5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566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F61C-3698-4B5E-B73B-A237CC0B6F5B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F38CA-3933-4E9F-86A6-D062EFEBF5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227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F61C-3698-4B5E-B73B-A237CC0B6F5B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F38CA-3933-4E9F-86A6-D062EFEBF5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0600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F61C-3698-4B5E-B73B-A237CC0B6F5B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F38CA-3933-4E9F-86A6-D062EFEBF5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8125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F61C-3698-4B5E-B73B-A237CC0B6F5B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F38CA-3933-4E9F-86A6-D062EFEBF5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6339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F61C-3698-4B5E-B73B-A237CC0B6F5B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F38CA-3933-4E9F-86A6-D062EFEBF5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6160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F61C-3698-4B5E-B73B-A237CC0B6F5B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F38CA-3933-4E9F-86A6-D062EFEBF5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006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F61C-3698-4B5E-B73B-A237CC0B6F5B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F38CA-3933-4E9F-86A6-D062EFEBF5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9972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BF61C-3698-4B5E-B73B-A237CC0B6F5B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F38CA-3933-4E9F-86A6-D062EFEBF5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7689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4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04695F26-39DB-450E-B464-9C76CD233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F42E55F-A297-474F-AF2D-6D3A15822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611" y="-1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344742-EA51-9073-3AF4-986F52422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12647" y="1556397"/>
            <a:ext cx="5011473" cy="17739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 dirty="0">
                <a:solidFill>
                  <a:schemeClr val="tx2"/>
                </a:solidFill>
              </a:rPr>
              <a:t>Heart Failure: Physiology and Management 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72070F7-E065-4D60-8938-9FB8CDB8A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9919" y="170310"/>
            <a:ext cx="2514948" cy="2174333"/>
            <a:chOff x="-305" y="-4155"/>
            <a:chExt cx="2514948" cy="2174333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F672C03-E63A-4F6B-96BD-0C4E3F1B8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BB94CDF-5C33-4B0A-B53F-50762639C1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3C92F9D-544D-4691-94A7-B937CF4BE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CA4DEE4-B7B4-47F4-A9C5-31AED8369A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6B365E03-DD68-063D-E8ED-6BBE270B40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2646" y="3320229"/>
            <a:ext cx="5444559" cy="21239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Katy Bonner</a:t>
            </a:r>
          </a:p>
          <a:p>
            <a:pPr algn="l"/>
            <a:r>
              <a:rPr lang="en-US" sz="2000" dirty="0">
                <a:solidFill>
                  <a:schemeClr val="tx2"/>
                </a:solidFill>
              </a:rPr>
              <a:t>Senior Physiotherapist in Cardiac Rehabilitation</a:t>
            </a:r>
          </a:p>
          <a:p>
            <a:pPr algn="l"/>
            <a:r>
              <a:rPr lang="en-US" sz="2000" dirty="0">
                <a:solidFill>
                  <a:schemeClr val="tx2"/>
                </a:solidFill>
              </a:rPr>
              <a:t>Harefield Hospital </a:t>
            </a:r>
          </a:p>
          <a:p>
            <a:pPr algn="l"/>
            <a:r>
              <a:rPr lang="en-US" sz="2000" dirty="0">
                <a:solidFill>
                  <a:schemeClr val="tx2"/>
                </a:solidFill>
              </a:rPr>
              <a:t>Guy’s and St Thomas’ NHS Foundation Trust</a:t>
            </a:r>
          </a:p>
        </p:txBody>
      </p:sp>
      <p:pic>
        <p:nvPicPr>
          <p:cNvPr id="21" name="Graphic 20" descr="Heart Organ">
            <a:extLst>
              <a:ext uri="{FF2B5EF4-FFF2-40B4-BE49-F238E27FC236}">
                <a16:creationId xmlns:a16="http://schemas.microsoft.com/office/drawing/2014/main" id="{0AAF2B3B-6DD9-1D6D-20D2-627AE07D55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226" y="2112264"/>
            <a:ext cx="4407408" cy="44074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213F60D-7690-93BA-805C-D6FBA1FBB9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6077" y="181127"/>
            <a:ext cx="3557141" cy="1165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824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6C91F-162C-B136-F5A6-19ACFE7FB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31591" y="0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GB" sz="3600" b="1" dirty="0">
                <a:solidFill>
                  <a:schemeClr val="tx2"/>
                </a:solidFill>
              </a:rPr>
              <a:t>Aims of the session: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E43C8-76FC-CCE8-EB9A-1F9E351E9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825" y="1727628"/>
            <a:ext cx="9833548" cy="4304204"/>
          </a:xfrm>
        </p:spPr>
        <p:txBody>
          <a:bodyPr>
            <a:normAutofit/>
          </a:bodyPr>
          <a:lstStyle/>
          <a:p>
            <a:r>
              <a:rPr lang="en-GB" sz="2000" dirty="0">
                <a:solidFill>
                  <a:schemeClr val="tx2"/>
                </a:solidFill>
              </a:rPr>
              <a:t>Speaker introduction</a:t>
            </a:r>
          </a:p>
          <a:p>
            <a:r>
              <a:rPr lang="en-GB" sz="2000" dirty="0">
                <a:solidFill>
                  <a:schemeClr val="tx2"/>
                </a:solidFill>
              </a:rPr>
              <a:t>To recap on the structure and function of the healthy heart. </a:t>
            </a:r>
          </a:p>
          <a:p>
            <a:r>
              <a:rPr lang="en-GB" sz="2000" dirty="0">
                <a:solidFill>
                  <a:schemeClr val="tx2"/>
                </a:solidFill>
              </a:rPr>
              <a:t>To be able to define the term ‘Heart Failure’ and review the causes of Heart Failure</a:t>
            </a:r>
            <a:r>
              <a:rPr lang="en-GB" sz="2000">
                <a:solidFill>
                  <a:schemeClr val="tx2"/>
                </a:solidFill>
              </a:rPr>
              <a:t>. </a:t>
            </a:r>
            <a:endParaRPr lang="en-GB" sz="2000" dirty="0">
              <a:solidFill>
                <a:schemeClr val="tx2"/>
              </a:solidFill>
            </a:endParaRPr>
          </a:p>
          <a:p>
            <a:r>
              <a:rPr lang="en-GB" sz="2000" dirty="0">
                <a:solidFill>
                  <a:schemeClr val="tx2"/>
                </a:solidFill>
              </a:rPr>
              <a:t>To understand how Heart Failure is classified</a:t>
            </a:r>
          </a:p>
          <a:p>
            <a:r>
              <a:rPr lang="en-GB" sz="2000" dirty="0">
                <a:solidFill>
                  <a:schemeClr val="tx2"/>
                </a:solidFill>
              </a:rPr>
              <a:t>To understand the pathophysiology in </a:t>
            </a:r>
            <a:r>
              <a:rPr lang="en-GB" sz="2000" dirty="0" err="1">
                <a:solidFill>
                  <a:schemeClr val="tx2"/>
                </a:solidFill>
              </a:rPr>
              <a:t>HFrEF</a:t>
            </a:r>
            <a:r>
              <a:rPr lang="en-GB" sz="2000" dirty="0">
                <a:solidFill>
                  <a:schemeClr val="tx2"/>
                </a:solidFill>
              </a:rPr>
              <a:t>, </a:t>
            </a:r>
            <a:r>
              <a:rPr lang="en-GB" sz="2000" dirty="0" err="1">
                <a:solidFill>
                  <a:schemeClr val="tx2"/>
                </a:solidFill>
              </a:rPr>
              <a:t>HFmrEF</a:t>
            </a:r>
            <a:r>
              <a:rPr lang="en-GB" sz="2000" dirty="0">
                <a:solidFill>
                  <a:schemeClr val="tx2"/>
                </a:solidFill>
              </a:rPr>
              <a:t> and </a:t>
            </a:r>
            <a:r>
              <a:rPr lang="en-GB" sz="2000" dirty="0" err="1">
                <a:solidFill>
                  <a:schemeClr val="tx2"/>
                </a:solidFill>
              </a:rPr>
              <a:t>HFpEF</a:t>
            </a:r>
            <a:endParaRPr lang="en-GB" sz="2000" dirty="0">
              <a:solidFill>
                <a:schemeClr val="tx2"/>
              </a:solidFill>
            </a:endParaRPr>
          </a:p>
          <a:p>
            <a:r>
              <a:rPr lang="en-GB" sz="2000" dirty="0">
                <a:solidFill>
                  <a:schemeClr val="tx2"/>
                </a:solidFill>
              </a:rPr>
              <a:t>To be aware of the management of patients with heart failure, both pharmacological and non-pharmacological. </a:t>
            </a:r>
          </a:p>
          <a:p>
            <a:endParaRPr lang="en-GB" sz="2000" dirty="0">
              <a:solidFill>
                <a:schemeClr val="tx2"/>
              </a:solidFill>
            </a:endParaRPr>
          </a:p>
          <a:p>
            <a:endParaRPr lang="en-GB" sz="2000" dirty="0">
              <a:solidFill>
                <a:schemeClr val="tx2"/>
              </a:solidFill>
            </a:endParaRPr>
          </a:p>
          <a:p>
            <a:endParaRPr lang="en-GB" sz="2000" dirty="0">
              <a:solidFill>
                <a:schemeClr val="tx2"/>
              </a:solidFill>
            </a:endParaRPr>
          </a:p>
          <a:p>
            <a:endParaRPr lang="en-GB" sz="1800" dirty="0">
              <a:solidFill>
                <a:schemeClr val="tx2"/>
              </a:solidFill>
            </a:endParaRPr>
          </a:p>
          <a:p>
            <a:endParaRPr lang="en-GB" sz="1800" dirty="0">
              <a:solidFill>
                <a:schemeClr val="tx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D91402-D657-5076-D546-3452A683D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4425" y="310918"/>
            <a:ext cx="3298222" cy="107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111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6C91F-162C-B136-F5A6-19ACFE7FB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31591" y="0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GB" sz="3600" b="1" dirty="0">
                <a:solidFill>
                  <a:schemeClr val="tx2"/>
                </a:solidFill>
              </a:rPr>
              <a:t>Speaker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E43C8-76FC-CCE8-EB9A-1F9E351E9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825" y="1727628"/>
            <a:ext cx="9833548" cy="4304204"/>
          </a:xfrm>
        </p:spPr>
        <p:txBody>
          <a:bodyPr>
            <a:normAutofit/>
          </a:bodyPr>
          <a:lstStyle/>
          <a:p>
            <a:endParaRPr lang="en-GB" sz="2000" dirty="0">
              <a:solidFill>
                <a:schemeClr val="tx2"/>
              </a:solidFill>
            </a:endParaRPr>
          </a:p>
          <a:p>
            <a:r>
              <a:rPr lang="en-GB" sz="2000" dirty="0">
                <a:solidFill>
                  <a:schemeClr val="tx2"/>
                </a:solidFill>
              </a:rPr>
              <a:t>Senior Physiotherapist specialising in Cardiac Rehabilitation </a:t>
            </a:r>
          </a:p>
          <a:p>
            <a:r>
              <a:rPr lang="en-GB" sz="2000" dirty="0">
                <a:solidFill>
                  <a:schemeClr val="tx2"/>
                </a:solidFill>
              </a:rPr>
              <a:t>Part of a multi-disciplinary team – led by a consultant physiotherapist, including physiotherapists, exercise instructors, cardiac exercise physiologists, assistant practitioners, cardiac specialist nurses and smoking cessation clinicians </a:t>
            </a:r>
          </a:p>
          <a:p>
            <a:r>
              <a:rPr lang="en-GB" sz="2000" dirty="0">
                <a:solidFill>
                  <a:schemeClr val="tx2"/>
                </a:solidFill>
              </a:rPr>
              <a:t>Based at Harefield Hospital, with a private service running at the Royal Brompton Hospital </a:t>
            </a:r>
          </a:p>
          <a:p>
            <a:endParaRPr lang="en-GB" sz="20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GB" sz="2000" dirty="0">
                <a:solidFill>
                  <a:schemeClr val="tx2"/>
                </a:solidFill>
              </a:rPr>
              <a:t>Harefield Hospital is one of the largest and most experienced centres in the world for heart and lung transplantation. 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2"/>
                </a:solidFill>
              </a:rPr>
              <a:t>One of seven heart transplant centres in the UK. </a:t>
            </a:r>
          </a:p>
          <a:p>
            <a:endParaRPr lang="en-GB" sz="1800" dirty="0">
              <a:solidFill>
                <a:schemeClr val="tx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D91402-D657-5076-D546-3452A683D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4425" y="310918"/>
            <a:ext cx="3298222" cy="107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313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6C91F-162C-B136-F5A6-19ACFE7FB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31591" y="0"/>
            <a:ext cx="10311834" cy="1390004"/>
          </a:xfrm>
        </p:spPr>
        <p:txBody>
          <a:bodyPr anchor="b">
            <a:normAutofit/>
          </a:bodyPr>
          <a:lstStyle/>
          <a:p>
            <a:pPr algn="ctr"/>
            <a:r>
              <a:rPr lang="en-GB" sz="3600" b="1" dirty="0">
                <a:solidFill>
                  <a:schemeClr val="tx2"/>
                </a:solidFill>
              </a:rPr>
              <a:t>The healthy heart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E43C8-76FC-CCE8-EB9A-1F9E351E9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825" y="1727628"/>
            <a:ext cx="9833548" cy="245726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2000" dirty="0">
              <a:solidFill>
                <a:schemeClr val="tx2"/>
              </a:solidFill>
            </a:endParaRPr>
          </a:p>
          <a:p>
            <a:endParaRPr lang="en-GB" sz="1800" dirty="0">
              <a:solidFill>
                <a:schemeClr val="tx2"/>
              </a:solidFill>
            </a:endParaRPr>
          </a:p>
          <a:p>
            <a:endParaRPr lang="en-GB" sz="1800" dirty="0">
              <a:solidFill>
                <a:schemeClr val="tx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D91402-D657-5076-D546-3452A683D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4425" y="310918"/>
            <a:ext cx="3298222" cy="10790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002978-BDC2-C265-CDE9-418959110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121" y="1876926"/>
            <a:ext cx="4675004" cy="40950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F444D7-03FC-9558-0976-806C901CA9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76926"/>
            <a:ext cx="6365296" cy="4095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891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6C91F-162C-B136-F5A6-19ACFE7FB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309562" y="-254509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GB" sz="3600" b="1" dirty="0">
                <a:solidFill>
                  <a:schemeClr val="tx2"/>
                </a:solidFill>
              </a:rPr>
              <a:t>What is Heart Failure (HF)?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E43C8-76FC-CCE8-EB9A-1F9E351E9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1831163"/>
            <a:ext cx="9833548" cy="50268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dirty="0">
                <a:solidFill>
                  <a:schemeClr val="tx2"/>
                </a:solidFill>
              </a:rPr>
              <a:t>NICE, 2018:</a:t>
            </a:r>
          </a:p>
          <a:p>
            <a:pPr marL="0" indent="0">
              <a:buNone/>
            </a:pPr>
            <a:endParaRPr lang="en-GB" sz="22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GB" sz="2200" dirty="0">
                <a:solidFill>
                  <a:schemeClr val="tx2"/>
                </a:solidFill>
              </a:rPr>
              <a:t>‘A clinical syndrome with typical symptoms (breathlessness, ankle swelling, and fatigue) and signs (elevated jugular venous pressure, basal crepitations, and peripheral oedema). </a:t>
            </a:r>
          </a:p>
          <a:p>
            <a:pPr marL="0" indent="0">
              <a:buNone/>
            </a:pPr>
            <a:r>
              <a:rPr lang="en-GB" sz="2200" dirty="0">
                <a:solidFill>
                  <a:schemeClr val="tx2"/>
                </a:solidFill>
              </a:rPr>
              <a:t>Caused by a structural and/or functional abnormality that produces raised intracardiac pressures and/or inadequate cardiac output at rest and/or at exercise.’</a:t>
            </a:r>
          </a:p>
          <a:p>
            <a:pPr marL="0" indent="0">
              <a:buNone/>
            </a:pPr>
            <a:endParaRPr lang="en-GB" sz="2200" dirty="0">
              <a:solidFill>
                <a:schemeClr val="tx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D91402-D657-5076-D546-3452A683D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4425" y="310918"/>
            <a:ext cx="3298222" cy="107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59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6C91F-162C-B136-F5A6-19ACFE7FB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39541" y="-174298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GB" sz="3600" b="1" dirty="0">
                <a:solidFill>
                  <a:schemeClr val="tx2"/>
                </a:solidFill>
              </a:rPr>
              <a:t>What causes HF? - BHF, 2022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7AC34C77-8CEA-5BF2-1DAC-8591168FD21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6661" y="1520245"/>
          <a:ext cx="9833548" cy="5026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black and blue logo&#10;&#10;Description automatically generated">
            <a:extLst>
              <a:ext uri="{FF2B5EF4-FFF2-40B4-BE49-F238E27FC236}">
                <a16:creationId xmlns:a16="http://schemas.microsoft.com/office/drawing/2014/main" id="{F4D91402-D657-5076-D546-3452A683D6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4425" y="310918"/>
            <a:ext cx="3298222" cy="107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754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6C91F-162C-B136-F5A6-19ACFE7FB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39541" y="-174298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GB" sz="3600" b="1" dirty="0">
                <a:solidFill>
                  <a:schemeClr val="tx2"/>
                </a:solidFill>
              </a:rPr>
              <a:t>Important terminology</a:t>
            </a:r>
          </a:p>
        </p:txBody>
      </p:sp>
      <p:pic>
        <p:nvPicPr>
          <p:cNvPr id="4" name="Picture 3" descr="A black and blue logo&#10;&#10;Description automatically generated">
            <a:extLst>
              <a:ext uri="{FF2B5EF4-FFF2-40B4-BE49-F238E27FC236}">
                <a16:creationId xmlns:a16="http://schemas.microsoft.com/office/drawing/2014/main" id="{F4D91402-D657-5076-D546-3452A683D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4425" y="310918"/>
            <a:ext cx="3298222" cy="1079086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386720-BD27-AD6B-D6D6-50101CBCB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>
                <a:solidFill>
                  <a:schemeClr val="tx2"/>
                </a:solidFill>
              </a:rPr>
              <a:t>End systolic volume (ESV) – the amount of blood in ventricles at the end of systole </a:t>
            </a:r>
          </a:p>
          <a:p>
            <a:r>
              <a:rPr lang="en-GB" dirty="0">
                <a:solidFill>
                  <a:schemeClr val="tx2"/>
                </a:solidFill>
              </a:rPr>
              <a:t>End diastolic volume (EDV) – the amount of blood in the ventricles at the end of diastole</a:t>
            </a:r>
          </a:p>
          <a:p>
            <a:r>
              <a:rPr lang="en-GB" dirty="0">
                <a:solidFill>
                  <a:schemeClr val="tx2"/>
                </a:solidFill>
              </a:rPr>
              <a:t>Pre-load – the degree of ventricular stretch during diastole</a:t>
            </a:r>
          </a:p>
          <a:p>
            <a:r>
              <a:rPr lang="en-GB" dirty="0">
                <a:solidFill>
                  <a:schemeClr val="tx2"/>
                </a:solidFill>
              </a:rPr>
              <a:t>Afterload – the force the heart needs to overcome to pump blood into the aorta</a:t>
            </a:r>
          </a:p>
          <a:p>
            <a:endParaRPr lang="en-GB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GB" b="1" dirty="0">
                <a:solidFill>
                  <a:schemeClr val="tx2"/>
                </a:solidFill>
              </a:rPr>
              <a:t>Cardiac output = Stroke volume x Heart Rate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tx2"/>
                </a:solidFill>
              </a:rPr>
              <a:t>Stroke volume = EDV – ESV </a:t>
            </a:r>
          </a:p>
        </p:txBody>
      </p:sp>
    </p:spTree>
    <p:extLst>
      <p:ext uri="{BB962C8B-B14F-4D97-AF65-F5344CB8AC3E}">
        <p14:creationId xmlns:p14="http://schemas.microsoft.com/office/powerpoint/2010/main" val="160992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6C91F-162C-B136-F5A6-19ACFE7FB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39541" y="-174298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GB" sz="3600" b="1" dirty="0">
                <a:solidFill>
                  <a:schemeClr val="tx2"/>
                </a:solidFill>
              </a:rPr>
              <a:t>Frank-Starling Law </a:t>
            </a:r>
          </a:p>
        </p:txBody>
      </p:sp>
      <p:pic>
        <p:nvPicPr>
          <p:cNvPr id="4" name="Picture 3" descr="A black and blue logo&#10;&#10;Description automatically generated">
            <a:extLst>
              <a:ext uri="{FF2B5EF4-FFF2-40B4-BE49-F238E27FC236}">
                <a16:creationId xmlns:a16="http://schemas.microsoft.com/office/drawing/2014/main" id="{F4D91402-D657-5076-D546-3452A683D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425" y="310918"/>
            <a:ext cx="3298222" cy="1079086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386720-BD27-AD6B-D6D6-50101CBCB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10726" cy="4351338"/>
          </a:xfrm>
        </p:spPr>
        <p:txBody>
          <a:bodyPr>
            <a:normAutofit lnSpcReduction="10000"/>
          </a:bodyPr>
          <a:lstStyle/>
          <a:p>
            <a:r>
              <a:rPr lang="en-GB" dirty="0">
                <a:solidFill>
                  <a:schemeClr val="tx2"/>
                </a:solidFill>
              </a:rPr>
              <a:t>Explains the relationship between stroke volume and end diastolic volume</a:t>
            </a:r>
          </a:p>
          <a:p>
            <a:r>
              <a:rPr lang="en-GB" dirty="0">
                <a:solidFill>
                  <a:schemeClr val="tx2"/>
                </a:solidFill>
              </a:rPr>
              <a:t>Increase in EDV = Increase in SV </a:t>
            </a:r>
          </a:p>
          <a:p>
            <a:r>
              <a:rPr lang="en-GB" dirty="0">
                <a:solidFill>
                  <a:schemeClr val="tx2"/>
                </a:solidFill>
              </a:rPr>
              <a:t>The greater the stretch of the myocardium, the greater the contraction that occurs</a:t>
            </a:r>
          </a:p>
          <a:p>
            <a:endParaRPr lang="en-GB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2"/>
                </a:solidFill>
              </a:rPr>
              <a:t>What about an overstretched myocardium??? </a:t>
            </a:r>
          </a:p>
          <a:p>
            <a:endParaRPr lang="en-GB" dirty="0">
              <a:solidFill>
                <a:schemeClr val="tx2"/>
              </a:solidFill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D87507F5-54B7-5B69-A1A9-A82E2C23CE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1134" y="1825625"/>
            <a:ext cx="494989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391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6C91F-162C-B136-F5A6-19ACFE7FB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anchor="b">
            <a:normAutofit/>
          </a:bodyPr>
          <a:lstStyle/>
          <a:p>
            <a:pPr algn="ctr"/>
            <a:endParaRPr lang="en-GB" sz="3600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E43C8-76FC-CCE8-EB9A-1F9E351E9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10013"/>
            <a:ext cx="9833548" cy="2457269"/>
          </a:xfrm>
        </p:spPr>
        <p:txBody>
          <a:bodyPr>
            <a:normAutofit/>
          </a:bodyPr>
          <a:lstStyle/>
          <a:p>
            <a:endParaRPr lang="en-GB" sz="1800" dirty="0">
              <a:solidFill>
                <a:schemeClr val="tx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D91402-D657-5076-D546-3452A683D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425" y="310918"/>
            <a:ext cx="3298222" cy="10790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224686-2911-B369-5E93-756D3948A4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3118" y="430250"/>
            <a:ext cx="6066714" cy="620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828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6C91F-162C-B136-F5A6-19ACFE7FB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482303" y="-234689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GB" sz="3600" dirty="0">
                <a:solidFill>
                  <a:schemeClr val="tx2"/>
                </a:solidFill>
              </a:rPr>
              <a:t>L sided HF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215C41-C5A2-F12F-F062-224E7AFAFC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41228" y="1747108"/>
            <a:ext cx="4762268" cy="41724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4D91402-D657-5076-D546-3452A683D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4425" y="310918"/>
            <a:ext cx="3298222" cy="10790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46E22C-2CA3-0303-E0E8-B4B1D26D754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0841" b="6059"/>
          <a:stretch/>
        </p:blipFill>
        <p:spPr>
          <a:xfrm>
            <a:off x="7603959" y="1686950"/>
            <a:ext cx="3280882" cy="486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923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6C91F-162C-B136-F5A6-19ACFE7FB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482303" y="-234689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GB" sz="3600">
                <a:solidFill>
                  <a:schemeClr val="tx2"/>
                </a:solidFill>
              </a:rPr>
              <a:t>R sided HF</a:t>
            </a:r>
            <a:endParaRPr lang="en-GB" sz="3600" dirty="0">
              <a:solidFill>
                <a:schemeClr val="tx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D91402-D657-5076-D546-3452A683D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425" y="310918"/>
            <a:ext cx="3298222" cy="1079086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CE1A05F-DBD3-DE2E-A4EC-D1BAF0CA76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855448" y="2089798"/>
            <a:ext cx="5677954" cy="35408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682035-CF1D-C481-403F-ED04CC17E1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598" y="1775202"/>
            <a:ext cx="4761389" cy="417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384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6C91F-162C-B136-F5A6-19ACFE7FB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39123" y="-175851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GB" sz="3600" b="1" dirty="0">
                <a:solidFill>
                  <a:schemeClr val="tx2"/>
                </a:solidFill>
              </a:rPr>
              <a:t>Diagnosing Heart Failure – NICE, 2018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E43C8-76FC-CCE8-EB9A-1F9E351E9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299" y="1520245"/>
            <a:ext cx="9833548" cy="5026837"/>
          </a:xfrm>
        </p:spPr>
        <p:txBody>
          <a:bodyPr>
            <a:normAutofit fontScale="92500" lnSpcReduction="20000"/>
          </a:bodyPr>
          <a:lstStyle/>
          <a:p>
            <a:r>
              <a:rPr lang="en-GB" sz="2200" dirty="0">
                <a:solidFill>
                  <a:schemeClr val="tx2"/>
                </a:solidFill>
              </a:rPr>
              <a:t>Detailed subjective history – signs and symptoms</a:t>
            </a:r>
          </a:p>
          <a:p>
            <a:endParaRPr lang="en-GB" sz="2200" dirty="0">
              <a:solidFill>
                <a:schemeClr val="tx2"/>
              </a:solidFill>
            </a:endParaRPr>
          </a:p>
          <a:p>
            <a:r>
              <a:rPr lang="en-GB" sz="2200" dirty="0">
                <a:solidFill>
                  <a:schemeClr val="tx2"/>
                </a:solidFill>
              </a:rPr>
              <a:t>Objective tests:</a:t>
            </a:r>
          </a:p>
          <a:p>
            <a:pPr>
              <a:buFontTx/>
              <a:buChar char="-"/>
            </a:pPr>
            <a:r>
              <a:rPr lang="en-GB" sz="2200" dirty="0">
                <a:solidFill>
                  <a:schemeClr val="tx2"/>
                </a:solidFill>
              </a:rPr>
              <a:t>Blood tests – N-terminal pro-B-type natriuretic peptide (NT-</a:t>
            </a:r>
            <a:r>
              <a:rPr lang="en-GB" sz="2200" dirty="0" err="1">
                <a:solidFill>
                  <a:schemeClr val="tx2"/>
                </a:solidFill>
              </a:rPr>
              <a:t>proBNP</a:t>
            </a:r>
            <a:r>
              <a:rPr lang="en-GB" sz="2200" dirty="0">
                <a:solidFill>
                  <a:schemeClr val="tx2"/>
                </a:solidFill>
              </a:rPr>
              <a:t>)</a:t>
            </a:r>
          </a:p>
          <a:p>
            <a:pPr>
              <a:buFontTx/>
              <a:buChar char="-"/>
            </a:pPr>
            <a:r>
              <a:rPr lang="en-GB" sz="2200" dirty="0">
                <a:solidFill>
                  <a:schemeClr val="tx2"/>
                </a:solidFill>
              </a:rPr>
              <a:t>Transthoracic Echocardiogram (TTE) – assess valve function, systolic and diastolic function, detect intracardiac shunts</a:t>
            </a:r>
          </a:p>
          <a:p>
            <a:pPr>
              <a:buFontTx/>
              <a:buChar char="-"/>
            </a:pPr>
            <a:r>
              <a:rPr lang="en-GB" sz="2200" dirty="0">
                <a:solidFill>
                  <a:schemeClr val="tx2"/>
                </a:solidFill>
              </a:rPr>
              <a:t>Cardiac Magnetic Resonance Imaging (MRI) – if poor quality image on TTE</a:t>
            </a:r>
          </a:p>
          <a:p>
            <a:pPr>
              <a:buFontTx/>
              <a:buChar char="-"/>
            </a:pPr>
            <a:r>
              <a:rPr lang="en-GB" sz="2200" dirty="0">
                <a:solidFill>
                  <a:schemeClr val="tx2"/>
                </a:solidFill>
              </a:rPr>
              <a:t>Right Heart Catheter </a:t>
            </a:r>
          </a:p>
          <a:p>
            <a:pPr marL="0" indent="0">
              <a:buNone/>
            </a:pPr>
            <a:r>
              <a:rPr lang="en-GB" sz="2200" dirty="0">
                <a:solidFill>
                  <a:schemeClr val="tx2"/>
                </a:solidFill>
              </a:rPr>
              <a:t>Assess potential for differential diagnoses: </a:t>
            </a:r>
          </a:p>
          <a:p>
            <a:pPr>
              <a:buFontTx/>
              <a:buChar char="-"/>
            </a:pPr>
            <a:r>
              <a:rPr lang="en-GB" sz="2200" dirty="0">
                <a:solidFill>
                  <a:schemeClr val="tx2"/>
                </a:solidFill>
              </a:rPr>
              <a:t>Chest X-ray </a:t>
            </a:r>
          </a:p>
          <a:p>
            <a:pPr>
              <a:buFontTx/>
              <a:buChar char="-"/>
            </a:pPr>
            <a:r>
              <a:rPr lang="en-GB" sz="2200" dirty="0">
                <a:solidFill>
                  <a:schemeClr val="tx2"/>
                </a:solidFill>
              </a:rPr>
              <a:t>Electrocardiogram (ECG)</a:t>
            </a:r>
          </a:p>
          <a:p>
            <a:pPr>
              <a:buFontTx/>
              <a:buChar char="-"/>
            </a:pPr>
            <a:r>
              <a:rPr lang="en-GB" sz="2200" dirty="0">
                <a:solidFill>
                  <a:schemeClr val="tx2"/>
                </a:solidFill>
              </a:rPr>
              <a:t>Blood tests – renal, thyroid, liver, lipids, blood glucose (HbA1C), full blood count</a:t>
            </a:r>
          </a:p>
          <a:p>
            <a:pPr>
              <a:buFontTx/>
              <a:buChar char="-"/>
            </a:pPr>
            <a:r>
              <a:rPr lang="en-GB" sz="2200" dirty="0" err="1">
                <a:solidFill>
                  <a:schemeClr val="tx2"/>
                </a:solidFill>
              </a:rPr>
              <a:t>Urinanalysis</a:t>
            </a:r>
            <a:endParaRPr lang="en-GB" sz="2200" dirty="0">
              <a:solidFill>
                <a:schemeClr val="tx2"/>
              </a:solidFill>
            </a:endParaRPr>
          </a:p>
          <a:p>
            <a:pPr>
              <a:buFontTx/>
              <a:buChar char="-"/>
            </a:pPr>
            <a:r>
              <a:rPr lang="en-GB" sz="2200" dirty="0">
                <a:solidFill>
                  <a:schemeClr val="tx2"/>
                </a:solidFill>
              </a:rPr>
              <a:t>Spirometry or Peak Flow </a:t>
            </a:r>
          </a:p>
          <a:p>
            <a:pPr>
              <a:buFontTx/>
              <a:buChar char="-"/>
            </a:pPr>
            <a:endParaRPr lang="en-GB" sz="2200" dirty="0">
              <a:solidFill>
                <a:srgbClr val="0E0E0E"/>
              </a:solidFill>
            </a:endParaRPr>
          </a:p>
          <a:p>
            <a:pPr marL="0" indent="0">
              <a:buNone/>
            </a:pPr>
            <a:endParaRPr lang="en-GB" sz="2200" dirty="0">
              <a:solidFill>
                <a:srgbClr val="0E0E0E"/>
              </a:solidFill>
            </a:endParaRPr>
          </a:p>
          <a:p>
            <a:pPr marL="0" indent="0">
              <a:buNone/>
            </a:pPr>
            <a:endParaRPr lang="en-GB" sz="2200" dirty="0">
              <a:solidFill>
                <a:schemeClr val="tx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D91402-D657-5076-D546-3452A683D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425" y="310918"/>
            <a:ext cx="3298222" cy="107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56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6C91F-162C-B136-F5A6-19ACFE7FB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39123" y="-258725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GB" sz="3600" b="1" dirty="0">
                <a:solidFill>
                  <a:schemeClr val="tx2"/>
                </a:solidFill>
              </a:rPr>
              <a:t>Heart Failure Classification – NICE, 2024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BA5A59A3-3045-2943-8534-AE80B4F555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3069946"/>
              </p:ext>
            </p:extLst>
          </p:nvPr>
        </p:nvGraphicFramePr>
        <p:xfrm>
          <a:off x="625642" y="1876926"/>
          <a:ext cx="10387132" cy="41549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4D91402-D657-5076-D546-3452A683D6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4425" y="310918"/>
            <a:ext cx="3298222" cy="107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595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6C91F-162C-B136-F5A6-19ACFE7FB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74164" y="408272"/>
            <a:ext cx="9833548" cy="1325563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GB" sz="3600" b="1" dirty="0">
                <a:solidFill>
                  <a:schemeClr val="tx2"/>
                </a:solidFill>
              </a:rPr>
              <a:t>Heart Failure Classification</a:t>
            </a:r>
            <a:br>
              <a:rPr lang="en-GB" sz="3600" b="1" dirty="0">
                <a:solidFill>
                  <a:schemeClr val="tx2"/>
                </a:solidFill>
              </a:rPr>
            </a:br>
            <a:r>
              <a:rPr lang="en-GB" sz="3600" b="1" dirty="0">
                <a:solidFill>
                  <a:schemeClr val="tx2"/>
                </a:solidFill>
              </a:rPr>
              <a:t>1 ) Left Ventricular Ejection Fraction  </a:t>
            </a:r>
            <a:br>
              <a:rPr lang="en-GB" sz="3600" b="1" dirty="0">
                <a:solidFill>
                  <a:schemeClr val="tx2"/>
                </a:solidFill>
              </a:rPr>
            </a:br>
            <a:endParaRPr lang="en-GB" sz="3600" b="1" dirty="0">
              <a:solidFill>
                <a:schemeClr val="tx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D91402-D657-5076-D546-3452A683D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425" y="310918"/>
            <a:ext cx="3298222" cy="107908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CB42993-2F09-C928-9822-C80CD7A56296}"/>
              </a:ext>
            </a:extLst>
          </p:cNvPr>
          <p:cNvSpPr txBox="1"/>
          <p:nvPr/>
        </p:nvSpPr>
        <p:spPr>
          <a:xfrm>
            <a:off x="408678" y="2135246"/>
            <a:ext cx="8285747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tx2"/>
                </a:solidFill>
              </a:rPr>
              <a:t>Left Ventricular Ejection Fraction </a:t>
            </a:r>
          </a:p>
          <a:p>
            <a:endParaRPr lang="en-GB" sz="2400" dirty="0">
              <a:solidFill>
                <a:schemeClr val="tx2"/>
              </a:solidFill>
            </a:endParaRPr>
          </a:p>
          <a:p>
            <a:r>
              <a:rPr lang="en-GB" sz="2400" dirty="0">
                <a:solidFill>
                  <a:schemeClr val="tx2"/>
                </a:solidFill>
              </a:rPr>
              <a:t>‘The amount of blood your heart pumps (or ejects) with each heartbeat and is a useful way of measuring Left Ventricular Systolic Dysfunction’. (British Heart Foundation, 2021)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</a:rPr>
              <a:t> Given as a percentage of total left ventricular output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</a:rPr>
              <a:t> Normal EF = 55-65%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</a:rPr>
              <a:t>Used to classify HF with reduced, mildly reduced or preserved EF</a:t>
            </a:r>
          </a:p>
          <a:p>
            <a:endParaRPr lang="en-GB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4337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6C91F-162C-B136-F5A6-19ACFE7FB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30249" y="467416"/>
            <a:ext cx="9833548" cy="1325563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GB" sz="3600" dirty="0">
                <a:solidFill>
                  <a:schemeClr val="tx2"/>
                </a:solidFill>
              </a:rPr>
              <a:t>Heart Failure Classification</a:t>
            </a:r>
            <a:br>
              <a:rPr lang="en-GB" sz="3600" dirty="0">
                <a:solidFill>
                  <a:schemeClr val="tx2"/>
                </a:solidFill>
              </a:rPr>
            </a:br>
            <a:br>
              <a:rPr lang="en-GB" sz="3600" dirty="0">
                <a:solidFill>
                  <a:schemeClr val="tx2"/>
                </a:solidFill>
              </a:rPr>
            </a:br>
            <a:r>
              <a:rPr lang="en-GB" sz="3600" dirty="0">
                <a:solidFill>
                  <a:schemeClr val="tx2"/>
                </a:solidFill>
              </a:rPr>
              <a:t>ESC 2001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E43C8-76FC-CCE8-EB9A-1F9E351E9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29677"/>
            <a:ext cx="9833548" cy="2457269"/>
          </a:xfrm>
        </p:spPr>
        <p:txBody>
          <a:bodyPr>
            <a:normAutofit/>
          </a:bodyPr>
          <a:lstStyle/>
          <a:p>
            <a:endParaRPr lang="en-GB" sz="1800">
              <a:solidFill>
                <a:schemeClr val="tx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D91402-D657-5076-D546-3452A683D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4425" y="310918"/>
            <a:ext cx="3298222" cy="10790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BC2643-5A84-E068-371D-737F18CCC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034" y="1830541"/>
            <a:ext cx="11790613" cy="3956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076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6C91F-162C-B136-F5A6-19ACFE7FB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anchor="b">
            <a:normAutofit/>
          </a:bodyPr>
          <a:lstStyle/>
          <a:p>
            <a:pPr algn="ctr"/>
            <a:endParaRPr lang="en-GB" sz="3600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E43C8-76FC-CCE8-EB9A-1F9E351E9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29677"/>
            <a:ext cx="9833548" cy="2457269"/>
          </a:xfrm>
        </p:spPr>
        <p:txBody>
          <a:bodyPr>
            <a:normAutofit/>
          </a:bodyPr>
          <a:lstStyle/>
          <a:p>
            <a:endParaRPr lang="en-GB" sz="1800">
              <a:solidFill>
                <a:schemeClr val="tx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D91402-D657-5076-D546-3452A683D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4425" y="310918"/>
            <a:ext cx="3298222" cy="10790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09D63E-BD55-2BC7-3F40-E738078D4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290" y="1594707"/>
            <a:ext cx="8020128" cy="47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011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6C91F-162C-B136-F5A6-19ACFE7FB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8452" y="4940070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GB" sz="3600" dirty="0">
                <a:solidFill>
                  <a:schemeClr val="tx2"/>
                </a:solidFill>
              </a:rPr>
              <a:t>EF 20-25%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D91402-D657-5076-D546-3452A683D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425" y="310918"/>
            <a:ext cx="3298222" cy="1079086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AE3CDDE1-63FD-96B2-A9C0-0DD900D7C3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266876" y="1668389"/>
            <a:ext cx="5656096" cy="377405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4B533C5-3DC8-49F6-480A-1F7E11EC5E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3" y="1668389"/>
            <a:ext cx="5664096" cy="37740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A1E8A33-0833-6559-F54B-9236508ED59A}"/>
              </a:ext>
            </a:extLst>
          </p:cNvPr>
          <p:cNvSpPr txBox="1"/>
          <p:nvPr/>
        </p:nvSpPr>
        <p:spPr>
          <a:xfrm>
            <a:off x="333753" y="561930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>
                <a:solidFill>
                  <a:schemeClr val="tx2"/>
                </a:solidFill>
                <a:latin typeface="+mj-lt"/>
              </a:rPr>
              <a:t>Normal</a:t>
            </a:r>
            <a:r>
              <a:rPr lang="en-GB" sz="3200" dirty="0">
                <a:solidFill>
                  <a:schemeClr val="tx2"/>
                </a:solidFill>
                <a:latin typeface="+mj-lt"/>
              </a:rPr>
              <a:t> EF &gt;55%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013FD5-1873-C1E7-4A78-627041444E74}"/>
              </a:ext>
            </a:extLst>
          </p:cNvPr>
          <p:cNvSpPr txBox="1"/>
          <p:nvPr/>
        </p:nvSpPr>
        <p:spPr>
          <a:xfrm>
            <a:off x="10176387" y="6164826"/>
            <a:ext cx="1366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2"/>
                </a:solidFill>
              </a:rPr>
              <a:t>BHF, 2021</a:t>
            </a:r>
          </a:p>
        </p:txBody>
      </p:sp>
    </p:spTree>
    <p:extLst>
      <p:ext uri="{BB962C8B-B14F-4D97-AF65-F5344CB8AC3E}">
        <p14:creationId xmlns:p14="http://schemas.microsoft.com/office/powerpoint/2010/main" val="30577325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6C91F-162C-B136-F5A6-19ACFE7FB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67459" y="0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GB" sz="3600" dirty="0">
                <a:solidFill>
                  <a:schemeClr val="tx2"/>
                </a:solidFill>
              </a:rPr>
              <a:t>Heart Failure Classification</a:t>
            </a:r>
            <a:br>
              <a:rPr lang="en-GB" sz="3600" dirty="0">
                <a:solidFill>
                  <a:schemeClr val="tx2"/>
                </a:solidFill>
              </a:rPr>
            </a:br>
            <a:r>
              <a:rPr lang="en-GB" sz="3600" dirty="0">
                <a:solidFill>
                  <a:schemeClr val="tx2"/>
                </a:solidFill>
              </a:rPr>
              <a:t>2) The time-course of Heart Failure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E43C8-76FC-CCE8-EB9A-1F9E351E9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1820297"/>
            <a:ext cx="9833548" cy="321740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400" dirty="0">
                <a:solidFill>
                  <a:schemeClr val="tx2"/>
                </a:solidFill>
              </a:rPr>
              <a:t>Terms used to define the rate of onset and duration of symptoms:</a:t>
            </a:r>
          </a:p>
          <a:p>
            <a:pPr marL="0" indent="0">
              <a:buNone/>
            </a:pPr>
            <a:endParaRPr lang="en-GB" sz="2400" dirty="0">
              <a:solidFill>
                <a:schemeClr val="tx2"/>
              </a:solidFill>
            </a:endParaRPr>
          </a:p>
          <a:p>
            <a:r>
              <a:rPr lang="en-GB" sz="2400" dirty="0">
                <a:solidFill>
                  <a:schemeClr val="tx2"/>
                </a:solidFill>
              </a:rPr>
              <a:t>Acute </a:t>
            </a:r>
            <a:r>
              <a:rPr lang="en-GB" sz="2400" dirty="0" err="1">
                <a:solidFill>
                  <a:schemeClr val="tx2"/>
                </a:solidFill>
              </a:rPr>
              <a:t>e.g</a:t>
            </a:r>
            <a:r>
              <a:rPr lang="en-GB" sz="2400" dirty="0">
                <a:solidFill>
                  <a:schemeClr val="tx2"/>
                </a:solidFill>
              </a:rPr>
              <a:t> cardiogenic shock – likely to require inotropes +/- vasopressors</a:t>
            </a:r>
          </a:p>
          <a:p>
            <a:endParaRPr lang="en-GB" sz="2400" dirty="0">
              <a:solidFill>
                <a:schemeClr val="tx2"/>
              </a:solidFill>
            </a:endParaRPr>
          </a:p>
          <a:p>
            <a:r>
              <a:rPr lang="en-GB" sz="2400" dirty="0">
                <a:solidFill>
                  <a:schemeClr val="tx2"/>
                </a:solidFill>
              </a:rPr>
              <a:t>Chronic</a:t>
            </a:r>
          </a:p>
          <a:p>
            <a:endParaRPr lang="en-GB" sz="2400" dirty="0">
              <a:solidFill>
                <a:schemeClr val="tx2"/>
              </a:solidFill>
            </a:endParaRPr>
          </a:p>
          <a:p>
            <a:r>
              <a:rPr lang="en-GB" sz="2400" dirty="0">
                <a:solidFill>
                  <a:schemeClr val="tx2"/>
                </a:solidFill>
              </a:rPr>
              <a:t>‘Acute on chronic’ or ‘decompensated’ – a period of deterioration of known chronic HF </a:t>
            </a:r>
          </a:p>
          <a:p>
            <a:endParaRPr lang="en-GB" sz="1800" dirty="0">
              <a:solidFill>
                <a:schemeClr val="tx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D91402-D657-5076-D546-3452A683D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425" y="310918"/>
            <a:ext cx="3298222" cy="107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8319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6C91F-162C-B136-F5A6-19ACFE7FB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67459" y="0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GB" sz="3600" dirty="0">
                <a:solidFill>
                  <a:schemeClr val="tx2"/>
                </a:solidFill>
              </a:rPr>
              <a:t>Heart Failure Classification</a:t>
            </a:r>
            <a:br>
              <a:rPr lang="en-GB" sz="3600" dirty="0">
                <a:solidFill>
                  <a:schemeClr val="tx2"/>
                </a:solidFill>
              </a:rPr>
            </a:br>
            <a:r>
              <a:rPr lang="en-GB" sz="3600" dirty="0">
                <a:solidFill>
                  <a:schemeClr val="tx2"/>
                </a:solidFill>
              </a:rPr>
              <a:t>3) Symptom Severity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E43C8-76FC-CCE8-EB9A-1F9E351E9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1820297"/>
            <a:ext cx="9833548" cy="32174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The New York Heart Association Classification (American Heart Association, 2023)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D91402-D657-5076-D546-3452A683D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425" y="310918"/>
            <a:ext cx="3298222" cy="10790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DDF6E6-A250-5A38-1FF3-2B0F4E03A86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526" t="25953" r="34605" b="28878"/>
          <a:stretch/>
        </p:blipFill>
        <p:spPr>
          <a:xfrm>
            <a:off x="1692442" y="2342146"/>
            <a:ext cx="8807116" cy="373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0124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6C91F-162C-B136-F5A6-19ACFE7FB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829709"/>
            <a:ext cx="6288638" cy="2229853"/>
          </a:xfrm>
        </p:spPr>
        <p:txBody>
          <a:bodyPr anchor="b">
            <a:normAutofit/>
          </a:bodyPr>
          <a:lstStyle/>
          <a:p>
            <a:pPr algn="ctr"/>
            <a:r>
              <a:rPr lang="en-GB" sz="3600" dirty="0">
                <a:solidFill>
                  <a:schemeClr val="tx2"/>
                </a:solidFill>
              </a:rPr>
              <a:t>Medical management of Heart Failure – NICE, 2018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E43C8-76FC-CCE8-EB9A-1F9E351E9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426" y="1535137"/>
            <a:ext cx="8093111" cy="3359881"/>
          </a:xfrm>
        </p:spPr>
        <p:txBody>
          <a:bodyPr>
            <a:normAutofit/>
          </a:bodyPr>
          <a:lstStyle/>
          <a:p>
            <a:r>
              <a:rPr lang="en-GB" sz="1800" dirty="0">
                <a:solidFill>
                  <a:schemeClr val="tx2"/>
                </a:solidFill>
              </a:rPr>
              <a:t>Optimisation of medical therapy:</a:t>
            </a:r>
          </a:p>
          <a:p>
            <a:pPr marL="0" indent="0">
              <a:buNone/>
            </a:pPr>
            <a:endParaRPr lang="en-GB" sz="1800" dirty="0">
              <a:solidFill>
                <a:schemeClr val="tx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D91402-D657-5076-D546-3452A683D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425" y="310918"/>
            <a:ext cx="3298222" cy="10790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A00D75-96FE-1F48-8040-07C0C3B5DCA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043" t="41352" r="23093" b="36264"/>
          <a:stretch/>
        </p:blipFill>
        <p:spPr>
          <a:xfrm>
            <a:off x="306426" y="2140625"/>
            <a:ext cx="6323309" cy="15343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C90D36-7B12-EE13-B6DA-82C1411EA0D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4788" t="41352" r="23347" b="37847"/>
          <a:stretch/>
        </p:blipFill>
        <p:spPr>
          <a:xfrm>
            <a:off x="5532770" y="4435294"/>
            <a:ext cx="6323309" cy="1425844"/>
          </a:xfrm>
          <a:prstGeom prst="rect">
            <a:avLst/>
          </a:prstGeom>
        </p:spPr>
      </p:pic>
      <p:sp>
        <p:nvSpPr>
          <p:cNvPr id="9" name="Arrow: Bent-Up 8">
            <a:extLst>
              <a:ext uri="{FF2B5EF4-FFF2-40B4-BE49-F238E27FC236}">
                <a16:creationId xmlns:a16="http://schemas.microsoft.com/office/drawing/2014/main" id="{EAF14F47-C11F-B5B6-402D-BF67ED066F01}"/>
              </a:ext>
            </a:extLst>
          </p:cNvPr>
          <p:cNvSpPr/>
          <p:nvPr/>
        </p:nvSpPr>
        <p:spPr>
          <a:xfrm rot="5400000">
            <a:off x="3526354" y="3484102"/>
            <a:ext cx="1520671" cy="1902384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21E5BC-02F4-5B9E-9406-1E1F41141508}"/>
              </a:ext>
            </a:extLst>
          </p:cNvPr>
          <p:cNvSpPr txBox="1"/>
          <p:nvPr/>
        </p:nvSpPr>
        <p:spPr>
          <a:xfrm>
            <a:off x="6682272" y="2470560"/>
            <a:ext cx="3996094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2"/>
                </a:solidFill>
              </a:rPr>
              <a:t>ACE Inhibitors - Ramipril, Perindopril etc.</a:t>
            </a:r>
          </a:p>
          <a:p>
            <a:r>
              <a:rPr lang="en-GB" dirty="0">
                <a:solidFill>
                  <a:schemeClr val="tx2"/>
                </a:solidFill>
              </a:rPr>
              <a:t>Betablockers – Bisoprolol, Atenolol etc.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>
                <a:solidFill>
                  <a:schemeClr val="tx2"/>
                </a:solidFill>
              </a:rPr>
              <a:t>MRAs – Eplerenone, Spironolactone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45833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6C91F-162C-B136-F5A6-19ACFE7FB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829709"/>
            <a:ext cx="6288638" cy="2229853"/>
          </a:xfrm>
        </p:spPr>
        <p:txBody>
          <a:bodyPr anchor="b">
            <a:normAutofit/>
          </a:bodyPr>
          <a:lstStyle/>
          <a:p>
            <a:pPr algn="ctr"/>
            <a:r>
              <a:rPr lang="en-GB" sz="3600" dirty="0">
                <a:solidFill>
                  <a:schemeClr val="tx2"/>
                </a:solidFill>
              </a:rPr>
              <a:t>Medical management of Heart Failure – NICE, 2018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E43C8-76FC-CCE8-EB9A-1F9E351E9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594" y="1749059"/>
            <a:ext cx="8093111" cy="335988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Optimisation of medical therapy – Specialist Treatment: </a:t>
            </a:r>
          </a:p>
          <a:p>
            <a:pPr marL="0" indent="0">
              <a:buNone/>
            </a:pPr>
            <a:endParaRPr lang="en-GB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Medication:</a:t>
            </a:r>
          </a:p>
          <a:p>
            <a:r>
              <a:rPr lang="en-GB" sz="1800" dirty="0" err="1">
                <a:solidFill>
                  <a:schemeClr val="tx2"/>
                </a:solidFill>
              </a:rPr>
              <a:t>Ivabridine</a:t>
            </a:r>
            <a:r>
              <a:rPr lang="en-GB" sz="1800" dirty="0">
                <a:solidFill>
                  <a:schemeClr val="tx2"/>
                </a:solidFill>
              </a:rPr>
              <a:t> – Reduces workload of heart by reducing HR</a:t>
            </a:r>
          </a:p>
          <a:p>
            <a:pPr algn="l" fontAlgn="base"/>
            <a:r>
              <a:rPr lang="en-GB" sz="1800" dirty="0">
                <a:solidFill>
                  <a:schemeClr val="tx2"/>
                </a:solidFill>
              </a:rPr>
              <a:t>Sacubitril-Valsartan (Entresto) – Vasodilator and decreases sodium and fluid build up</a:t>
            </a:r>
          </a:p>
          <a:p>
            <a:r>
              <a:rPr lang="en-GB" sz="1800" dirty="0">
                <a:solidFill>
                  <a:schemeClr val="tx2"/>
                </a:solidFill>
              </a:rPr>
              <a:t>Hydralazine - Vasodilator</a:t>
            </a:r>
          </a:p>
          <a:p>
            <a:r>
              <a:rPr lang="en-GB" sz="1800" dirty="0">
                <a:solidFill>
                  <a:schemeClr val="tx2"/>
                </a:solidFill>
              </a:rPr>
              <a:t>Digoxin – anti-</a:t>
            </a:r>
            <a:r>
              <a:rPr lang="en-GB" sz="1800" dirty="0" err="1">
                <a:solidFill>
                  <a:schemeClr val="tx2"/>
                </a:solidFill>
              </a:rPr>
              <a:t>arrythmic</a:t>
            </a:r>
            <a:endParaRPr lang="en-GB" sz="1800" dirty="0">
              <a:solidFill>
                <a:schemeClr val="tx2"/>
              </a:solidFill>
            </a:endParaRPr>
          </a:p>
          <a:p>
            <a:r>
              <a:rPr lang="en-GB" sz="1800" dirty="0">
                <a:solidFill>
                  <a:schemeClr val="tx2"/>
                </a:solidFill>
              </a:rPr>
              <a:t>Dapagliflozin </a:t>
            </a:r>
          </a:p>
          <a:p>
            <a:endParaRPr lang="en-GB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Implantable Cardioverter Defibrillator (ICD)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Cardiac Resynchronisation Therapy Device (CRTD)</a:t>
            </a:r>
          </a:p>
          <a:p>
            <a:endParaRPr lang="en-GB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GB" sz="1800" dirty="0">
              <a:solidFill>
                <a:schemeClr val="tx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D91402-D657-5076-D546-3452A683D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425" y="310918"/>
            <a:ext cx="3298222" cy="10790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66D5FE-74F4-1F1B-D70F-3030532915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4425" y="1749059"/>
            <a:ext cx="2641498" cy="26414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175C3B-570A-ABA0-566A-A428D6106D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4122" y="4099305"/>
            <a:ext cx="2394154" cy="23941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06B6A7-C4A4-D1AF-32A6-FBB757E265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5820" y="4160065"/>
            <a:ext cx="3378707" cy="227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4263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6C91F-162C-B136-F5A6-19ACFE7FB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anchor="b">
            <a:normAutofit/>
          </a:bodyPr>
          <a:lstStyle/>
          <a:p>
            <a:pPr algn="ctr"/>
            <a:endParaRPr lang="en-GB" sz="3600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E43C8-76FC-CCE8-EB9A-1F9E351E9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29677"/>
            <a:ext cx="9833548" cy="2457269"/>
          </a:xfrm>
        </p:spPr>
        <p:txBody>
          <a:bodyPr>
            <a:normAutofit/>
          </a:bodyPr>
          <a:lstStyle/>
          <a:p>
            <a:endParaRPr lang="en-GB" sz="1800">
              <a:solidFill>
                <a:schemeClr val="tx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D91402-D657-5076-D546-3452A683D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425" y="310918"/>
            <a:ext cx="3298222" cy="10790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46741A-8BA0-4CB7-DBCC-1B779CA3F6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436" y="1487726"/>
            <a:ext cx="8711127" cy="4900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6456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6C91F-162C-B136-F5A6-19ACFE7FB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829709"/>
            <a:ext cx="6288638" cy="2229853"/>
          </a:xfrm>
        </p:spPr>
        <p:txBody>
          <a:bodyPr anchor="b">
            <a:normAutofit/>
          </a:bodyPr>
          <a:lstStyle/>
          <a:p>
            <a:pPr algn="ctr"/>
            <a:r>
              <a:rPr lang="en-GB" sz="3600" dirty="0">
                <a:solidFill>
                  <a:schemeClr val="tx2"/>
                </a:solidFill>
              </a:rPr>
              <a:t>Medical management of Heart Failure – NICE, 2018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E43C8-76FC-CCE8-EB9A-1F9E351E9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767" y="1739373"/>
            <a:ext cx="3783793" cy="37791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End-stage HF </a:t>
            </a:r>
          </a:p>
          <a:p>
            <a:r>
              <a:rPr lang="en-GB" sz="1800" dirty="0">
                <a:solidFill>
                  <a:schemeClr val="tx2"/>
                </a:solidFill>
              </a:rPr>
              <a:t>Deterioration despite optimal medical therapy</a:t>
            </a:r>
          </a:p>
          <a:p>
            <a:endParaRPr lang="en-GB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Referral to specialist centre: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MDT decision-making – Transplant listing, Mechanical Circulatory Support </a:t>
            </a:r>
            <a:r>
              <a:rPr lang="en-GB" sz="1800" dirty="0" err="1">
                <a:solidFill>
                  <a:schemeClr val="tx2"/>
                </a:solidFill>
              </a:rPr>
              <a:t>E.g</a:t>
            </a:r>
            <a:r>
              <a:rPr lang="en-GB" sz="1800" dirty="0">
                <a:solidFill>
                  <a:schemeClr val="tx2"/>
                </a:solidFill>
              </a:rPr>
              <a:t> Left Ventricular Assist Devices.</a:t>
            </a:r>
          </a:p>
          <a:p>
            <a:pPr marL="0" indent="0">
              <a:buNone/>
            </a:pPr>
            <a:endParaRPr lang="en-GB" sz="1800" dirty="0">
              <a:solidFill>
                <a:schemeClr val="tx2"/>
              </a:solidFill>
            </a:endParaRPr>
          </a:p>
          <a:p>
            <a:endParaRPr lang="en-GB" sz="1800" dirty="0">
              <a:solidFill>
                <a:schemeClr val="tx2"/>
              </a:solidFill>
            </a:endParaRPr>
          </a:p>
          <a:p>
            <a:endParaRPr lang="en-GB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GB" sz="1800" dirty="0">
              <a:solidFill>
                <a:schemeClr val="tx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D91402-D657-5076-D546-3452A683D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425" y="310918"/>
            <a:ext cx="3298222" cy="10790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949493-316D-624B-2FDA-42E505EA84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9189" y="2271252"/>
            <a:ext cx="3467065" cy="34670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72296E-0213-D9B4-C934-B6AD79EF3311}"/>
              </a:ext>
            </a:extLst>
          </p:cNvPr>
          <p:cNvSpPr txBox="1"/>
          <p:nvPr/>
        </p:nvSpPr>
        <p:spPr>
          <a:xfrm>
            <a:off x="4689987" y="5889523"/>
            <a:ext cx="2349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2"/>
                </a:solidFill>
              </a:rPr>
              <a:t>NHS Blood and Transplant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1FF400-7041-32DF-9C89-60C6E4802F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5639" y="1895416"/>
            <a:ext cx="4117008" cy="41170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008C03-431A-BF40-1932-3F09EF2FC8B9}"/>
              </a:ext>
            </a:extLst>
          </p:cNvPr>
          <p:cNvSpPr txBox="1"/>
          <p:nvPr/>
        </p:nvSpPr>
        <p:spPr>
          <a:xfrm>
            <a:off x="8868696" y="6058817"/>
            <a:ext cx="1966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2"/>
                </a:solidFill>
              </a:rPr>
              <a:t>BHF, 2014 </a:t>
            </a:r>
          </a:p>
        </p:txBody>
      </p:sp>
    </p:spTree>
    <p:extLst>
      <p:ext uri="{BB962C8B-B14F-4D97-AF65-F5344CB8AC3E}">
        <p14:creationId xmlns:p14="http://schemas.microsoft.com/office/powerpoint/2010/main" val="21533469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6C91F-162C-B136-F5A6-19ACFE7FB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829709"/>
            <a:ext cx="6288638" cy="2229853"/>
          </a:xfrm>
        </p:spPr>
        <p:txBody>
          <a:bodyPr anchor="b">
            <a:normAutofit/>
          </a:bodyPr>
          <a:lstStyle/>
          <a:p>
            <a:pPr algn="ctr"/>
            <a:r>
              <a:rPr lang="en-GB" sz="3600" dirty="0">
                <a:solidFill>
                  <a:schemeClr val="tx2"/>
                </a:solidFill>
              </a:rPr>
              <a:t>Non-medical management of Heart Failure – NICE 2018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E43C8-76FC-CCE8-EB9A-1F9E351E9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769" y="2511530"/>
            <a:ext cx="4854548" cy="3359881"/>
          </a:xfrm>
        </p:spPr>
        <p:txBody>
          <a:bodyPr>
            <a:normAutofit/>
          </a:bodyPr>
          <a:lstStyle/>
          <a:p>
            <a:r>
              <a:rPr lang="en-GB" sz="1800" dirty="0">
                <a:solidFill>
                  <a:schemeClr val="tx2"/>
                </a:solidFill>
              </a:rPr>
              <a:t>Cardiac Rehabilitation </a:t>
            </a:r>
          </a:p>
          <a:p>
            <a:r>
              <a:rPr lang="en-GB" sz="1800" dirty="0">
                <a:solidFill>
                  <a:schemeClr val="tx2"/>
                </a:solidFill>
              </a:rPr>
              <a:t>Lifestyle advice – diet, smoking cessation,  limiting alcohol intake</a:t>
            </a:r>
          </a:p>
          <a:p>
            <a:r>
              <a:rPr lang="en-GB" sz="1800" dirty="0">
                <a:solidFill>
                  <a:schemeClr val="tx2"/>
                </a:solidFill>
              </a:rPr>
              <a:t>Palliative care in patients whose symptoms are worsening despite optimal specialist treatment – symptom management, advanced care planning as appropriate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D91402-D657-5076-D546-3452A683D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425" y="310918"/>
            <a:ext cx="3298222" cy="10790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624C60-4D21-E47B-BC82-FE7EADF86E8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395" t="22209" r="26711" b="8049"/>
          <a:stretch/>
        </p:blipFill>
        <p:spPr>
          <a:xfrm>
            <a:off x="6096000" y="1732547"/>
            <a:ext cx="5314176" cy="4350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2163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6C91F-162C-B136-F5A6-19ACFE7FB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829709"/>
            <a:ext cx="7561006" cy="2229853"/>
          </a:xfrm>
        </p:spPr>
        <p:txBody>
          <a:bodyPr anchor="b">
            <a:normAutofit/>
          </a:bodyPr>
          <a:lstStyle/>
          <a:p>
            <a:pPr algn="ctr"/>
            <a:r>
              <a:rPr lang="en-GB" sz="3600" dirty="0">
                <a:solidFill>
                  <a:schemeClr val="tx2"/>
                </a:solidFill>
              </a:rPr>
              <a:t>Non-medical management of Heart Failure – Cardiac Rehabilitation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D91402-D657-5076-D546-3452A683D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425" y="310918"/>
            <a:ext cx="3298222" cy="10790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E60275-FBA6-CAD5-6469-83F5C58F4F3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403" t="12222" r="66048" b="4624"/>
          <a:stretch/>
        </p:blipFill>
        <p:spPr>
          <a:xfrm>
            <a:off x="614177" y="1769806"/>
            <a:ext cx="3719652" cy="46899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1BF9037-1CEB-0E6E-695F-6C18B01B224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226" t="22544" r="70009" b="18961"/>
          <a:stretch/>
        </p:blipFill>
        <p:spPr>
          <a:xfrm>
            <a:off x="5466735" y="1769806"/>
            <a:ext cx="6010210" cy="454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504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6C91F-162C-B136-F5A6-19ACFE7FB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829709"/>
            <a:ext cx="7049730" cy="2638049"/>
          </a:xfrm>
        </p:spPr>
        <p:txBody>
          <a:bodyPr anchor="b">
            <a:normAutofit/>
          </a:bodyPr>
          <a:lstStyle/>
          <a:p>
            <a:pPr algn="ctr"/>
            <a:r>
              <a:rPr lang="en-GB" sz="3600" dirty="0">
                <a:solidFill>
                  <a:schemeClr val="tx2"/>
                </a:solidFill>
              </a:rPr>
              <a:t>Non-medical management of Heart Failure – Cardiac Rehabilitation</a:t>
            </a:r>
            <a:br>
              <a:rPr lang="en-GB" sz="3600" dirty="0">
                <a:solidFill>
                  <a:schemeClr val="tx2"/>
                </a:solidFill>
              </a:rPr>
            </a:br>
            <a:r>
              <a:rPr lang="en-GB" sz="3600" dirty="0">
                <a:solidFill>
                  <a:schemeClr val="tx2"/>
                </a:solidFill>
              </a:rPr>
              <a:t>ACPICR, 2023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E43C8-76FC-CCE8-EB9A-1F9E351E9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426" y="1535137"/>
            <a:ext cx="8093111" cy="335988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1800" dirty="0">
              <a:solidFill>
                <a:schemeClr val="tx2"/>
              </a:solidFill>
            </a:endParaRPr>
          </a:p>
          <a:p>
            <a:endParaRPr lang="en-GB" sz="1800" dirty="0">
              <a:solidFill>
                <a:schemeClr val="tx2"/>
              </a:solidFill>
            </a:endParaRPr>
          </a:p>
          <a:p>
            <a:endParaRPr lang="en-GB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GB" sz="1800" dirty="0">
              <a:solidFill>
                <a:schemeClr val="tx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D91402-D657-5076-D546-3452A683D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425" y="310918"/>
            <a:ext cx="3298222" cy="10790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702A56-635D-C7D9-4690-55964B4D08B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613" t="18244" r="65081" b="76309"/>
          <a:stretch/>
        </p:blipFill>
        <p:spPr>
          <a:xfrm>
            <a:off x="692439" y="1700981"/>
            <a:ext cx="5403561" cy="4522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F655E8-5DC1-75F9-CA28-16A519687063}"/>
              </a:ext>
            </a:extLst>
          </p:cNvPr>
          <p:cNvSpPr txBox="1"/>
          <p:nvPr/>
        </p:nvSpPr>
        <p:spPr>
          <a:xfrm>
            <a:off x="692439" y="2288257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chemeClr val="tx2"/>
                </a:solidFill>
              </a:rPr>
              <a:t>Cardiac Rehabilitation – Exercise-specific: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</a:rPr>
              <a:t>Risk stratification – High risk if EF &lt;35%, Moderate if 35-49%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</a:rPr>
              <a:t>Sufficient warm up and cool down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</a:rPr>
              <a:t>Aerobic training – ‘start low and go slow’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</a:rPr>
              <a:t>Aerobic exercise i</a:t>
            </a:r>
            <a:r>
              <a:rPr lang="en-GB" sz="1800" dirty="0">
                <a:solidFill>
                  <a:schemeClr val="tx2"/>
                </a:solidFill>
              </a:rPr>
              <a:t>ntensity – low to moderate (40-70% Heart Rate Reserve (HRR) or Borg RPE 10-14)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</a:rPr>
              <a:t>Resistance training!!!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dirty="0">
              <a:solidFill>
                <a:schemeClr val="tx2"/>
              </a:solidFill>
            </a:endParaRPr>
          </a:p>
          <a:p>
            <a:r>
              <a:rPr lang="en-GB" dirty="0">
                <a:solidFill>
                  <a:schemeClr val="tx2"/>
                </a:solidFill>
              </a:rPr>
              <a:t>Other considerations: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2"/>
                </a:solidFill>
              </a:rPr>
              <a:t>Energy </a:t>
            </a:r>
            <a:r>
              <a:rPr lang="en-GB" dirty="0">
                <a:solidFill>
                  <a:schemeClr val="tx2"/>
                </a:solidFill>
              </a:rPr>
              <a:t>conservation – aids/equipment, start 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2"/>
                </a:solidFill>
              </a:rPr>
              <a:t>Flexible programme – accounts for ‘good’ and ‘bad’ 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</a:rPr>
              <a:t>Postural training and core strength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2"/>
                </a:solidFill>
              </a:rPr>
              <a:t>Avoid abrupt postural changes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</a:rPr>
              <a:t>Maintain venous return – keep the feet moving!</a:t>
            </a:r>
            <a:br>
              <a:rPr lang="en-GB" sz="1800" dirty="0">
                <a:solidFill>
                  <a:schemeClr val="tx2"/>
                </a:solidFill>
              </a:rPr>
            </a:br>
            <a:endParaRPr lang="en-GB" sz="1800" dirty="0">
              <a:solidFill>
                <a:schemeClr val="tx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07642E1-AEB3-4B00-8A69-860C5BA47E3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5565" t="16732" r="66613" b="4036"/>
          <a:stretch/>
        </p:blipFill>
        <p:spPr>
          <a:xfrm>
            <a:off x="7297363" y="1461329"/>
            <a:ext cx="4202198" cy="5254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2965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6C91F-162C-B136-F5A6-19ACFE7FB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829709"/>
            <a:ext cx="7049730" cy="2638049"/>
          </a:xfrm>
        </p:spPr>
        <p:txBody>
          <a:bodyPr anchor="b">
            <a:normAutofit/>
          </a:bodyPr>
          <a:lstStyle/>
          <a:p>
            <a:pPr algn="ctr"/>
            <a:r>
              <a:rPr lang="en-GB" sz="3600" dirty="0">
                <a:solidFill>
                  <a:schemeClr val="tx2"/>
                </a:solidFill>
              </a:rPr>
              <a:t>Non-medical management of Heart Failure – Cardiac Rehabilitation</a:t>
            </a:r>
            <a:br>
              <a:rPr lang="en-GB" sz="3600" dirty="0">
                <a:solidFill>
                  <a:schemeClr val="tx2"/>
                </a:solidFill>
              </a:rPr>
            </a:br>
            <a:r>
              <a:rPr lang="en-GB" sz="3600" dirty="0">
                <a:solidFill>
                  <a:schemeClr val="tx2"/>
                </a:solidFill>
              </a:rPr>
              <a:t>BACPR, 2023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E43C8-76FC-CCE8-EB9A-1F9E351E9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426" y="1535137"/>
            <a:ext cx="8093111" cy="335988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1800" dirty="0">
              <a:solidFill>
                <a:schemeClr val="tx2"/>
              </a:solidFill>
            </a:endParaRPr>
          </a:p>
          <a:p>
            <a:endParaRPr lang="en-GB" sz="1800" dirty="0">
              <a:solidFill>
                <a:schemeClr val="tx2"/>
              </a:solidFill>
            </a:endParaRPr>
          </a:p>
          <a:p>
            <a:endParaRPr lang="en-GB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GB" sz="1800" dirty="0">
              <a:solidFill>
                <a:schemeClr val="tx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D91402-D657-5076-D546-3452A683D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425" y="310918"/>
            <a:ext cx="3298222" cy="10790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F655E8-5DC1-75F9-CA28-16A519687063}"/>
              </a:ext>
            </a:extLst>
          </p:cNvPr>
          <p:cNvSpPr txBox="1"/>
          <p:nvPr/>
        </p:nvSpPr>
        <p:spPr>
          <a:xfrm>
            <a:off x="412955" y="191229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chemeClr val="tx2"/>
                </a:solidFill>
              </a:rPr>
              <a:t>Cardiac Rehabilitation - </a:t>
            </a:r>
            <a:r>
              <a:rPr lang="en-GB" dirty="0">
                <a:solidFill>
                  <a:schemeClr val="tx2"/>
                </a:solidFill>
              </a:rPr>
              <a:t>Education</a:t>
            </a:r>
            <a:br>
              <a:rPr lang="en-GB" sz="1800" dirty="0">
                <a:solidFill>
                  <a:schemeClr val="tx2"/>
                </a:solidFill>
              </a:rPr>
            </a:br>
            <a:endParaRPr lang="en-GB" sz="1800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844AEB-DBB0-2E36-CA4B-58F6801C86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604" y="1691436"/>
            <a:ext cx="3718882" cy="46943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3688E3-4411-E2CC-210B-D4764D6C9D1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5081" t="34014" r="8871" b="13799"/>
          <a:stretch/>
        </p:blipFill>
        <p:spPr>
          <a:xfrm>
            <a:off x="412955" y="2310581"/>
            <a:ext cx="7428730" cy="418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2917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E43C8-76FC-CCE8-EB9A-1F9E351E9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1281" y="2213054"/>
            <a:ext cx="9625850" cy="387243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sz="3200" dirty="0">
                <a:solidFill>
                  <a:schemeClr val="tx2"/>
                </a:solidFill>
              </a:rPr>
              <a:t>Summary points: </a:t>
            </a:r>
          </a:p>
          <a:p>
            <a:r>
              <a:rPr lang="en-GB" sz="3200" dirty="0">
                <a:solidFill>
                  <a:schemeClr val="tx2"/>
                </a:solidFill>
              </a:rPr>
              <a:t>Heart Failure is a multi-organ condition that can cause a variety of symptoms </a:t>
            </a:r>
          </a:p>
          <a:p>
            <a:r>
              <a:rPr lang="en-GB" sz="3200" dirty="0">
                <a:solidFill>
                  <a:schemeClr val="tx2"/>
                </a:solidFill>
              </a:rPr>
              <a:t> There are a vast number of causes of Heart Failure</a:t>
            </a:r>
          </a:p>
          <a:p>
            <a:r>
              <a:rPr lang="en-GB" sz="3200" dirty="0">
                <a:solidFill>
                  <a:schemeClr val="tx2"/>
                </a:solidFill>
              </a:rPr>
              <a:t>Heart Failure diagnosis requires extensive assessment – both subjectively and objectively </a:t>
            </a:r>
          </a:p>
          <a:p>
            <a:r>
              <a:rPr lang="en-GB" sz="3200" dirty="0">
                <a:solidFill>
                  <a:schemeClr val="tx2"/>
                </a:solidFill>
              </a:rPr>
              <a:t>Heart Failure is classified in three ways – LVEF, disease time-course and symptomatic severity</a:t>
            </a:r>
          </a:p>
          <a:p>
            <a:r>
              <a:rPr lang="en-GB" sz="3200" dirty="0">
                <a:solidFill>
                  <a:schemeClr val="tx2"/>
                </a:solidFill>
              </a:rPr>
              <a:t>Management of Heart Failure requires a combination of medical and non-medical management strategies, and involves a wide range of MDT members</a:t>
            </a:r>
          </a:p>
          <a:p>
            <a:endParaRPr lang="en-GB" sz="3200" dirty="0">
              <a:solidFill>
                <a:schemeClr val="tx2"/>
              </a:solidFill>
            </a:endParaRPr>
          </a:p>
          <a:p>
            <a:endParaRPr lang="en-GB" sz="32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GB" sz="3200" dirty="0">
                <a:solidFill>
                  <a:schemeClr val="tx2"/>
                </a:solidFill>
              </a:rPr>
              <a:t>Any questions?</a:t>
            </a:r>
          </a:p>
          <a:p>
            <a:pPr marL="0" indent="0">
              <a:buNone/>
            </a:pPr>
            <a:endParaRPr lang="en-GB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GB" sz="1800" dirty="0">
              <a:solidFill>
                <a:schemeClr val="tx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D91402-D657-5076-D546-3452A683D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425" y="310918"/>
            <a:ext cx="3298222" cy="107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42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825</TotalTime>
  <Words>1492</Words>
  <Application>Microsoft Office PowerPoint</Application>
  <PresentationFormat>Widescreen</PresentationFormat>
  <Paragraphs>227</Paragraphs>
  <Slides>28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Office Theme</vt:lpstr>
      <vt:lpstr>Heart Failure: Physiology and Management </vt:lpstr>
      <vt:lpstr>Aims of the session:</vt:lpstr>
      <vt:lpstr>Speaker Introduction</vt:lpstr>
      <vt:lpstr>The healthy heart</vt:lpstr>
      <vt:lpstr>What is Heart Failure (HF)? </vt:lpstr>
      <vt:lpstr>What causes HF? - BHF, 2022</vt:lpstr>
      <vt:lpstr>Important terminology</vt:lpstr>
      <vt:lpstr>Frank-Starling Law </vt:lpstr>
      <vt:lpstr>PowerPoint Presentation</vt:lpstr>
      <vt:lpstr>L sided HF</vt:lpstr>
      <vt:lpstr>R sided HF</vt:lpstr>
      <vt:lpstr>Diagnosing Heart Failure – NICE, 2018</vt:lpstr>
      <vt:lpstr>Heart Failure Classification – NICE, 2024</vt:lpstr>
      <vt:lpstr>Heart Failure Classification 1 ) Left Ventricular Ejection Fraction   </vt:lpstr>
      <vt:lpstr>Heart Failure Classification  ESC 2001</vt:lpstr>
      <vt:lpstr>PowerPoint Presentation</vt:lpstr>
      <vt:lpstr>EF 20-25%</vt:lpstr>
      <vt:lpstr>Heart Failure Classification 2) The time-course of Heart Failure </vt:lpstr>
      <vt:lpstr>Heart Failure Classification 3) Symptom Severity</vt:lpstr>
      <vt:lpstr>Medical management of Heart Failure – NICE, 2018</vt:lpstr>
      <vt:lpstr>Medical management of Heart Failure – NICE, 2018</vt:lpstr>
      <vt:lpstr>PowerPoint Presentation</vt:lpstr>
      <vt:lpstr>Medical management of Heart Failure – NICE, 2018</vt:lpstr>
      <vt:lpstr>Non-medical management of Heart Failure – NICE 2018</vt:lpstr>
      <vt:lpstr>Non-medical management of Heart Failure – Cardiac Rehabilitation</vt:lpstr>
      <vt:lpstr>Non-medical management of Heart Failure – Cardiac Rehabilitation ACPICR, 2023</vt:lpstr>
      <vt:lpstr>Non-medical management of Heart Failure – Cardiac Rehabilitation BACPR, 2023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Failure: Physiology and Management </dc:title>
  <dc:creator>Bonner Katy</dc:creator>
  <cp:lastModifiedBy>Bonner Katy</cp:lastModifiedBy>
  <cp:revision>9</cp:revision>
  <dcterms:created xsi:type="dcterms:W3CDTF">2025-01-07T11:52:14Z</dcterms:created>
  <dcterms:modified xsi:type="dcterms:W3CDTF">2025-02-12T16:19:24Z</dcterms:modified>
</cp:coreProperties>
</file>