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62" r:id="rId3"/>
    <p:sldId id="264" r:id="rId4"/>
    <p:sldId id="265" r:id="rId5"/>
    <p:sldId id="263" r:id="rId6"/>
    <p:sldId id="258" r:id="rId7"/>
    <p:sldId id="259" r:id="rId8"/>
    <p:sldId id="266" r:id="rId9"/>
    <p:sldId id="260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8C133-704A-4941-813F-C940A3B471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B3155-5729-4FBD-AC63-88EE2A654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98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B3155-5729-4FBD-AC63-88EE2A65478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78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A5BE-47F1-37CB-E497-A8F3EFF48B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Heart Failure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4E588-25F2-28A5-3520-2C9A92C5C2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Kola Akinlabi</a:t>
            </a:r>
          </a:p>
        </p:txBody>
      </p:sp>
    </p:spTree>
    <p:extLst>
      <p:ext uri="{BB962C8B-B14F-4D97-AF65-F5344CB8AC3E}">
        <p14:creationId xmlns:p14="http://schemas.microsoft.com/office/powerpoint/2010/main" val="395354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Heart Failure – Definition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sz="2800" dirty="0"/>
              <a:t>Inability of the heart to pump sufficient blood to meet metabolic demands</a:t>
            </a:r>
          </a:p>
          <a:p>
            <a:r>
              <a:rPr sz="2800" dirty="0"/>
              <a:t>Reduced cardiac output and/or increased filling pressures</a:t>
            </a:r>
          </a:p>
          <a:p>
            <a:r>
              <a:rPr sz="2800" dirty="0"/>
              <a:t>Leads to pulmonary and/or systemic congestion</a:t>
            </a:r>
          </a:p>
          <a:p>
            <a:r>
              <a:rPr sz="2800" dirty="0"/>
              <a:t>Acute (sudden onset) or chronic (progressive condition)</a:t>
            </a:r>
          </a:p>
          <a:p>
            <a:r>
              <a:rPr sz="2800" dirty="0"/>
              <a:t>Common causes: IHD, hypertension, valvular disease, cardiomyopathy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13FE-394E-9E86-5A9D-ACAE3FE73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992" y="-291972"/>
            <a:ext cx="8229600" cy="1143000"/>
          </a:xfrm>
        </p:spPr>
        <p:txBody>
          <a:bodyPr/>
          <a:lstStyle/>
          <a:p>
            <a:r>
              <a:rPr lang="en-GB" dirty="0"/>
              <a:t>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1D462-5A64-61ED-3D4E-824E1D542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" y="804990"/>
            <a:ext cx="4431792" cy="587044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dirty="0"/>
              <a:t>↓ Cardiac Output → SNS + RAAS Activation</a:t>
            </a:r>
          </a:p>
          <a:p>
            <a:r>
              <a:rPr lang="en-GB" dirty="0"/>
              <a:t>👉 When the heart cannot pump effectively:</a:t>
            </a:r>
          </a:p>
          <a:p>
            <a:r>
              <a:rPr lang="en-GB" dirty="0"/>
              <a:t>↓ Blood flow to vital organs (brain, kidneys)</a:t>
            </a:r>
          </a:p>
          <a:p>
            <a:pPr marL="0" indent="0">
              <a:buNone/>
            </a:pPr>
            <a:r>
              <a:rPr lang="en-GB" b="1" dirty="0"/>
              <a:t>The body compensates:</a:t>
            </a:r>
          </a:p>
          <a:p>
            <a:r>
              <a:rPr lang="en-GB" b="1" dirty="0"/>
              <a:t>🔸 Sympathetic Nervous System (SNS)</a:t>
            </a:r>
          </a:p>
          <a:p>
            <a:r>
              <a:rPr lang="en-GB" dirty="0"/>
              <a:t>↑ Heart rate (tachycardia)</a:t>
            </a:r>
          </a:p>
          <a:p>
            <a:r>
              <a:rPr lang="en-GB" dirty="0"/>
              <a:t>↑ Contractility</a:t>
            </a:r>
          </a:p>
          <a:p>
            <a:r>
              <a:rPr lang="en-GB" dirty="0"/>
              <a:t>Vasoconstriction</a:t>
            </a:r>
          </a:p>
          <a:p>
            <a:pPr marL="0" indent="0">
              <a:buNone/>
            </a:pPr>
            <a:r>
              <a:rPr lang="en-GB" dirty="0"/>
              <a:t>👉 Short term: helps maintain BP</a:t>
            </a:r>
            <a:br>
              <a:rPr lang="en-GB" dirty="0"/>
            </a:br>
            <a:r>
              <a:rPr lang="en-GB" dirty="0"/>
              <a:t>👉 Long term: </a:t>
            </a:r>
            <a:r>
              <a:rPr lang="en-GB" b="1" dirty="0"/>
              <a:t>increases cardiac workload → worsens HF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45788-7CB8-F765-522C-09342490F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4504" y="813816"/>
            <a:ext cx="4038600" cy="587044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dirty="0"/>
              <a:t>RAAS (Renin-Angiotensin-Aldosterone System)</a:t>
            </a:r>
          </a:p>
          <a:p>
            <a:r>
              <a:rPr lang="en-GB" dirty="0"/>
              <a:t>Triggered by ↓ renal perfusion:</a:t>
            </a:r>
          </a:p>
          <a:p>
            <a:r>
              <a:rPr lang="en-GB" dirty="0"/>
              <a:t>Renin → Angiotensin II → Aldosterone</a:t>
            </a:r>
          </a:p>
          <a:p>
            <a:pPr marL="0" indent="0">
              <a:buNone/>
            </a:pPr>
            <a:r>
              <a:rPr lang="en-GB" dirty="0"/>
              <a:t>👉 Effects:</a:t>
            </a:r>
          </a:p>
          <a:p>
            <a:r>
              <a:rPr lang="en-GB" b="1" dirty="0"/>
              <a:t>Vasoconstriction</a:t>
            </a:r>
            <a:r>
              <a:rPr lang="en-GB" dirty="0"/>
              <a:t> → ↑ afterload</a:t>
            </a:r>
          </a:p>
          <a:p>
            <a:r>
              <a:rPr lang="en-GB" b="1" dirty="0"/>
              <a:t>Sodium + water retention</a:t>
            </a:r>
            <a:r>
              <a:rPr lang="en-GB" dirty="0"/>
              <a:t> → ↑ blood volume</a:t>
            </a:r>
          </a:p>
          <a:p>
            <a:pPr marL="0" indent="0">
              <a:buNone/>
            </a:pPr>
            <a:r>
              <a:rPr lang="en-GB" dirty="0"/>
              <a:t>👉 Result:</a:t>
            </a:r>
          </a:p>
          <a:p>
            <a:r>
              <a:rPr lang="en-GB" dirty="0"/>
              <a:t>More strain on already failing heart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45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5E53-C52F-4C40-B70D-274DB3D0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9138"/>
            <a:ext cx="8229600" cy="1143000"/>
          </a:xfrm>
        </p:spPr>
        <p:txBody>
          <a:bodyPr/>
          <a:lstStyle/>
          <a:p>
            <a:r>
              <a:rPr lang="en-GB" dirty="0"/>
              <a:t>Pathophysiology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02B00-1763-7632-084A-EE7928621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788" y="1536192"/>
            <a:ext cx="4230624" cy="54406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2. Fluid Retention → Pulmonary Oedema</a:t>
            </a:r>
          </a:p>
          <a:p>
            <a:r>
              <a:rPr lang="en-GB" dirty="0"/>
              <a:t>👉 Because of RAAS activation:</a:t>
            </a:r>
          </a:p>
          <a:p>
            <a:r>
              <a:rPr lang="en-GB" dirty="0"/>
              <a:t>↑ circulating volume</a:t>
            </a:r>
          </a:p>
          <a:p>
            <a:r>
              <a:rPr lang="en-GB" dirty="0"/>
              <a:t>↑ pressure in pulmonary circulation</a:t>
            </a:r>
          </a:p>
          <a:p>
            <a:pPr marL="0" indent="0">
              <a:buNone/>
            </a:pPr>
            <a:r>
              <a:rPr lang="en-GB" b="1" dirty="0"/>
              <a:t>Leads to:</a:t>
            </a:r>
          </a:p>
          <a:p>
            <a:r>
              <a:rPr lang="en-GB" dirty="0"/>
              <a:t>Fluid leaking into alveoli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🔬 What happens in lungs:</a:t>
            </a:r>
          </a:p>
          <a:p>
            <a:r>
              <a:rPr lang="en-GB" dirty="0"/>
              <a:t>Alveoli fill with fluid instead of air</a:t>
            </a:r>
          </a:p>
          <a:p>
            <a:r>
              <a:rPr lang="en-GB" dirty="0"/>
              <a:t>Gas exchange becomes impaired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E22A9-9435-549C-0D09-952DFDFCE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58468"/>
            <a:ext cx="4230624" cy="55961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🫁 Clinical signs:</a:t>
            </a:r>
          </a:p>
          <a:p>
            <a:r>
              <a:rPr lang="en-GB" dirty="0"/>
              <a:t>Crackles</a:t>
            </a:r>
          </a:p>
          <a:p>
            <a:r>
              <a:rPr lang="en-GB" dirty="0"/>
              <a:t>Dyspnoea</a:t>
            </a:r>
          </a:p>
          <a:p>
            <a:r>
              <a:rPr lang="en-GB" dirty="0"/>
              <a:t>Orthopnoea</a:t>
            </a:r>
          </a:p>
          <a:p>
            <a:r>
              <a:rPr lang="en-GB" dirty="0"/>
              <a:t>Pink frothy sputum (severe)</a:t>
            </a:r>
          </a:p>
          <a:p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🔹 3. V/Q Mismatch → Dyspnoea</a:t>
            </a:r>
          </a:p>
          <a:p>
            <a:r>
              <a:rPr lang="en-GB" dirty="0"/>
              <a:t>👉 Normal:</a:t>
            </a:r>
          </a:p>
          <a:p>
            <a:r>
              <a:rPr lang="en-GB" dirty="0"/>
              <a:t>Ventilation (V) matches Perfusion (Q)</a:t>
            </a:r>
          </a:p>
          <a:p>
            <a:r>
              <a:rPr lang="en-GB" dirty="0"/>
              <a:t>👉 In HF:</a:t>
            </a:r>
          </a:p>
          <a:p>
            <a:r>
              <a:rPr lang="en-GB" dirty="0"/>
              <a:t>Alveoli filled with fluid → </a:t>
            </a:r>
            <a:r>
              <a:rPr lang="en-GB" b="1" dirty="0"/>
              <a:t>poor ventilation</a:t>
            </a:r>
            <a:endParaRPr lang="en-GB" dirty="0"/>
          </a:p>
          <a:p>
            <a:r>
              <a:rPr lang="en-GB" dirty="0"/>
              <a:t>Blood still flowing → </a:t>
            </a:r>
            <a:r>
              <a:rPr lang="en-GB" b="1" dirty="0"/>
              <a:t>good perfusion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623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Significance &amp;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HFrEF vs HFpEF</a:t>
            </a:r>
          </a:p>
          <a:p>
            <a:r>
              <a:t>Left HF: pulmonary oedema, dyspnoea</a:t>
            </a:r>
          </a:p>
          <a:p>
            <a:r>
              <a:t>Right HF: peripheral oedema, ascites</a:t>
            </a:r>
          </a:p>
          <a:p>
            <a:r>
              <a:t>Symptoms: fatigue, exercise intolerance</a:t>
            </a:r>
          </a:p>
          <a:p>
            <a:r>
              <a:t>High morbidity and hospital admission 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Dyspnoea, orthopnoea, PND</a:t>
            </a:r>
          </a:p>
          <a:p>
            <a:r>
              <a:t>Peripheral oedema</a:t>
            </a:r>
          </a:p>
          <a:p>
            <a:r>
              <a:t>Crackles, fatigue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880" y="-274002"/>
            <a:ext cx="8229600" cy="1143000"/>
          </a:xfrm>
        </p:spPr>
        <p:txBody>
          <a:bodyPr>
            <a:normAutofit/>
          </a:bodyPr>
          <a:lstStyle/>
          <a:p>
            <a:r>
              <a:rPr sz="3200" dirty="0"/>
              <a:t>Investigations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021" y="484806"/>
            <a:ext cx="8686800" cy="637319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sz="8000" dirty="0"/>
              <a:t>CXR: pulmonary oedema</a:t>
            </a:r>
            <a:endParaRPr lang="en-GB" sz="8000" dirty="0"/>
          </a:p>
          <a:p>
            <a:pPr marL="0" indent="0">
              <a:buNone/>
            </a:pPr>
            <a:endParaRPr lang="en-GB" sz="4500" dirty="0"/>
          </a:p>
          <a:p>
            <a:pPr marL="0" indent="0">
              <a:buNone/>
            </a:pPr>
            <a:r>
              <a:rPr lang="en-GB" sz="4800" b="1" dirty="0"/>
              <a:t>“Bat-wing” / Perihilar shadowing</a:t>
            </a:r>
          </a:p>
          <a:p>
            <a:r>
              <a:rPr lang="en-GB" sz="4800" dirty="0"/>
              <a:t>Bilateral central opacities radiating from the hilum</a:t>
            </a:r>
          </a:p>
          <a:p>
            <a:r>
              <a:rPr lang="en-GB" sz="4800" dirty="0"/>
              <a:t>Classic for </a:t>
            </a:r>
            <a:r>
              <a:rPr lang="en-GB" sz="4800" b="1" dirty="0"/>
              <a:t>alveolar pulmonary oedema</a:t>
            </a:r>
            <a:br>
              <a:rPr lang="en-GB" sz="4800" dirty="0"/>
            </a:br>
            <a:endParaRPr lang="en-GB" sz="4800" dirty="0"/>
          </a:p>
          <a:p>
            <a:pPr marL="0" indent="0">
              <a:buNone/>
            </a:pPr>
            <a:r>
              <a:rPr lang="en-GB" sz="4800" b="1" dirty="0"/>
              <a:t>2. Cardiomegaly</a:t>
            </a:r>
          </a:p>
          <a:p>
            <a:r>
              <a:rPr lang="en-GB" sz="4800" dirty="0"/>
              <a:t>Enlarged cardiac silhouette (CTR &gt; 50%)</a:t>
            </a:r>
          </a:p>
          <a:p>
            <a:r>
              <a:rPr lang="en-GB" sz="4800" dirty="0"/>
              <a:t>Suggests </a:t>
            </a:r>
            <a:r>
              <a:rPr lang="en-GB" sz="4800" b="1" dirty="0"/>
              <a:t>cardiogenic cause (heart failure)</a:t>
            </a:r>
            <a:endParaRPr lang="en-GB" sz="4800" dirty="0"/>
          </a:p>
          <a:p>
            <a:pPr marL="0" indent="0">
              <a:buNone/>
            </a:pPr>
            <a:endParaRPr lang="en-GB" sz="5600" dirty="0"/>
          </a:p>
          <a:p>
            <a:endParaRPr lang="en-GB" sz="5600" dirty="0"/>
          </a:p>
          <a:p>
            <a:pPr marL="0" indent="0">
              <a:buNone/>
            </a:pPr>
            <a:r>
              <a:rPr lang="en-GB" sz="5600" b="1" dirty="0"/>
              <a:t>Kerley B lines</a:t>
            </a:r>
          </a:p>
          <a:p>
            <a:r>
              <a:rPr lang="en-GB" sz="5600" dirty="0"/>
              <a:t>Short horizontal lines at lung bases</a:t>
            </a:r>
          </a:p>
          <a:p>
            <a:r>
              <a:rPr lang="en-GB" sz="5600" dirty="0"/>
              <a:t>Indicate </a:t>
            </a:r>
            <a:r>
              <a:rPr lang="en-GB" sz="5600" b="1" dirty="0"/>
              <a:t>interstitial oedema</a:t>
            </a:r>
            <a:br>
              <a:rPr lang="en-GB" sz="5600" dirty="0"/>
            </a:br>
            <a:endParaRPr lang="en-GB" sz="5600" dirty="0"/>
          </a:p>
          <a:p>
            <a:pPr marL="0" indent="0">
              <a:buNone/>
            </a:pPr>
            <a:r>
              <a:rPr lang="en-GB" sz="5600" b="1" dirty="0"/>
              <a:t>Alveolar shadowing</a:t>
            </a:r>
          </a:p>
          <a:p>
            <a:r>
              <a:rPr lang="en-GB" sz="5600" dirty="0"/>
              <a:t>Patchy or diffuse white opacities</a:t>
            </a:r>
          </a:p>
          <a:p>
            <a:r>
              <a:rPr lang="en-GB" sz="5600" dirty="0"/>
              <a:t>Represents </a:t>
            </a:r>
            <a:r>
              <a:rPr lang="en-GB" sz="5600" b="1" dirty="0"/>
              <a:t>fluid-filled alveoli</a:t>
            </a:r>
            <a:endParaRPr lang="en-GB" sz="5600" dirty="0"/>
          </a:p>
          <a:p>
            <a:endParaRPr lang="en-GB" sz="6400" dirty="0"/>
          </a:p>
          <a:p>
            <a:pPr marL="0" indent="0">
              <a:buNone/>
            </a:pPr>
            <a:r>
              <a:rPr lang="en-GB" sz="6400" b="1" dirty="0"/>
              <a:t> Pleural effusions</a:t>
            </a:r>
          </a:p>
          <a:p>
            <a:r>
              <a:rPr lang="en-GB" sz="6400" dirty="0"/>
              <a:t>Blunting of costophrenic angles</a:t>
            </a:r>
          </a:p>
          <a:p>
            <a:r>
              <a:rPr lang="en-GB" sz="6400" dirty="0"/>
              <a:t>Often </a:t>
            </a:r>
            <a:r>
              <a:rPr lang="en-GB" sz="6400" b="1" dirty="0"/>
              <a:t>bilateral</a:t>
            </a:r>
            <a:endParaRPr lang="en-GB" sz="6400" dirty="0"/>
          </a:p>
          <a:p>
            <a:br>
              <a:rPr lang="en-GB" sz="6400" dirty="0"/>
            </a:br>
            <a:endParaRPr lang="en-GB" sz="6400" dirty="0"/>
          </a:p>
          <a:p>
            <a:pPr marL="0" indent="0">
              <a:buNone/>
            </a:pPr>
            <a:r>
              <a:rPr lang="en-GB" sz="6400" b="1" dirty="0"/>
              <a:t>Pathophysiology Link (teach this clearly)</a:t>
            </a:r>
          </a:p>
          <a:p>
            <a:r>
              <a:rPr lang="en-GB" sz="6400" dirty="0"/>
              <a:t>↑ Left ventricular pressure</a:t>
            </a:r>
            <a:br>
              <a:rPr lang="en-GB" sz="6400" dirty="0"/>
            </a:br>
            <a:r>
              <a:rPr lang="en-GB" sz="6400" dirty="0"/>
              <a:t>→ ↑ pulmonary venous pressure</a:t>
            </a:r>
            <a:br>
              <a:rPr lang="en-GB" sz="6400" dirty="0"/>
            </a:br>
            <a:r>
              <a:rPr lang="en-GB" sz="6400" dirty="0"/>
              <a:t>→ Fluid leaks into:</a:t>
            </a:r>
          </a:p>
          <a:p>
            <a:pPr lvl="1"/>
            <a:r>
              <a:rPr lang="en-GB" sz="5600" dirty="0" err="1"/>
              <a:t>Interstitium</a:t>
            </a:r>
            <a:r>
              <a:rPr lang="en-GB" sz="5600" dirty="0"/>
              <a:t> (early → Kerley B lines)</a:t>
            </a:r>
          </a:p>
          <a:p>
            <a:pPr lvl="1"/>
            <a:r>
              <a:rPr lang="en-GB" sz="5600" dirty="0"/>
              <a:t>Alveoli (late → consolidation)</a:t>
            </a:r>
          </a:p>
          <a:p>
            <a:pPr marL="0" indent="0">
              <a:buNone/>
            </a:pPr>
            <a:endParaRPr lang="en-GB" sz="56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sz="1900" dirty="0"/>
              <a:t>BNP elevated</a:t>
            </a:r>
          </a:p>
          <a:p>
            <a:r>
              <a:rPr sz="1900" dirty="0"/>
              <a:t>Echo: EF assessment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14908-8462-A50B-09B1-810CE815C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070" y="731273"/>
            <a:ext cx="2964752" cy="3127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1518D-673E-86A8-CE2B-E86B941AD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745" y="3987031"/>
            <a:ext cx="2659571" cy="2651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8241E4-F88F-129E-E7EF-83FFE6767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708" y="4187283"/>
            <a:ext cx="2047113" cy="22688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303AB8-A9F2-FCB5-9CEB-84EDEECAF313}"/>
              </a:ext>
            </a:extLst>
          </p:cNvPr>
          <p:cNvSpPr txBox="1"/>
          <p:nvPr/>
        </p:nvSpPr>
        <p:spPr>
          <a:xfrm>
            <a:off x="1025235" y="188754"/>
            <a:ext cx="6419273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dirty="0"/>
              <a:t>↓ Cardiac Output (Heart Failure)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↓ Perfusion to organs (Brain, Kidneys)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-----------------------------------------</a:t>
            </a:r>
          </a:p>
          <a:p>
            <a:r>
              <a:rPr lang="en-GB" sz="1100" b="1" dirty="0"/>
              <a:t>|                                       |</a:t>
            </a:r>
          </a:p>
          <a:p>
            <a:r>
              <a:rPr lang="en-GB" sz="1100" b="1" dirty="0"/>
              <a:t>▼                                       ▼</a:t>
            </a:r>
          </a:p>
          <a:p>
            <a:r>
              <a:rPr lang="en-GB" sz="1100" b="1" dirty="0"/>
              <a:t>SNS Activation                      RAAS Activation</a:t>
            </a:r>
          </a:p>
          <a:p>
            <a:r>
              <a:rPr lang="en-GB" sz="1100" b="1" dirty="0"/>
              <a:t>(Sympathetic Nervous System)        (Kidneys)</a:t>
            </a:r>
          </a:p>
          <a:p>
            <a:endParaRPr lang="en-GB" sz="1100" b="1" dirty="0"/>
          </a:p>
          <a:p>
            <a:r>
              <a:rPr lang="en-GB" sz="1100" b="1" dirty="0"/>
              <a:t>↑ Heart Rate                        Renin release</a:t>
            </a:r>
          </a:p>
          <a:p>
            <a:r>
              <a:rPr lang="en-GB" sz="1100" b="1" dirty="0"/>
              <a:t>↑ Contractility                     ↓</a:t>
            </a:r>
          </a:p>
          <a:p>
            <a:r>
              <a:rPr lang="en-GB" sz="1100" b="1" dirty="0"/>
              <a:t>Vasoconstriction                    Angiotensin II</a:t>
            </a:r>
          </a:p>
          <a:p>
            <a:r>
              <a:rPr lang="en-GB" sz="1100" b="1" dirty="0"/>
              <a:t>                                    ↓</a:t>
            </a:r>
          </a:p>
          <a:p>
            <a:r>
              <a:rPr lang="en-GB" sz="1100" b="1" dirty="0"/>
              <a:t>                              Vasoconstriction</a:t>
            </a:r>
          </a:p>
          <a:p>
            <a:r>
              <a:rPr lang="en-GB" sz="1100" b="1" dirty="0"/>
              <a:t>                              ↑ Afterload</a:t>
            </a:r>
          </a:p>
          <a:p>
            <a:r>
              <a:rPr lang="en-GB" sz="1100" b="1" dirty="0"/>
              <a:t>                                    ↓</a:t>
            </a:r>
          </a:p>
          <a:p>
            <a:r>
              <a:rPr lang="en-GB" sz="1100" b="1" dirty="0"/>
              <a:t>                              Aldosterone</a:t>
            </a:r>
          </a:p>
          <a:p>
            <a:r>
              <a:rPr lang="en-GB" sz="1100" b="1" dirty="0"/>
              <a:t>                                    ↓</a:t>
            </a:r>
          </a:p>
          <a:p>
            <a:r>
              <a:rPr lang="en-GB" sz="1100" b="1" dirty="0"/>
              <a:t>                        Na⁺ + Water Retention</a:t>
            </a:r>
          </a:p>
          <a:p>
            <a:r>
              <a:rPr lang="en-GB" sz="1100" b="1" dirty="0"/>
              <a:t>-----------------------------------------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↑ Blood Volume + Vasoconstriction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↑ Cardiac Workload (Strain on Heart)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↑ Pulmonary Circulatory Pressure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Fluid shifts into lung </a:t>
            </a:r>
            <a:r>
              <a:rPr lang="en-GB" sz="1100" b="1" dirty="0" err="1"/>
              <a:t>interstitium</a:t>
            </a:r>
            <a:endParaRPr lang="en-GB" sz="1100" b="1" dirty="0"/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Alveolar fluid accumulation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🫁 Pulmonary Oedema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❌ Impaired Gas Exchange (V/Q mismatch)</a:t>
            </a:r>
          </a:p>
          <a:p>
            <a:r>
              <a:rPr lang="en-GB" sz="1100" b="1" dirty="0"/>
              <a:t>            ↓</a:t>
            </a:r>
          </a:p>
          <a:p>
            <a:r>
              <a:rPr lang="en-GB" sz="1100" b="1" dirty="0"/>
              <a:t>👉 Dyspnoea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24833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Diuretics</a:t>
            </a:r>
          </a:p>
          <a:p>
            <a:r>
              <a:t>ACEi/ARB, Beta-blockers</a:t>
            </a:r>
          </a:p>
          <a:p>
            <a:r>
              <a:t>SGLT2 inhibitors</a:t>
            </a:r>
          </a:p>
          <a:p>
            <a:r>
              <a:t>Oxygen if hypoxic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Physiotherapy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Positioning (upright)</a:t>
            </a:r>
          </a:p>
          <a:p>
            <a:r>
              <a:rPr dirty="0"/>
              <a:t>Breathing control</a:t>
            </a:r>
          </a:p>
          <a:p>
            <a:r>
              <a:rPr dirty="0"/>
              <a:t>Exercise training</a:t>
            </a:r>
          </a:p>
          <a:p>
            <a:r>
              <a:rPr dirty="0"/>
              <a:t>Education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B0ED8-8F76-EFA6-67B9-0BD821095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15" y="4041055"/>
            <a:ext cx="5474682" cy="21215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580</Words>
  <Application>Microsoft Office PowerPoint</Application>
  <PresentationFormat>On-screen Show (4:3)</PresentationFormat>
  <Paragraphs>146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Heart Failure </vt:lpstr>
      <vt:lpstr>Heart Failure – Definition &amp; Overview</vt:lpstr>
      <vt:lpstr>Pathophysiology</vt:lpstr>
      <vt:lpstr>Pathophysiology cont’d</vt:lpstr>
      <vt:lpstr>Clinical Significance &amp; Types</vt:lpstr>
      <vt:lpstr>Clinical Features</vt:lpstr>
      <vt:lpstr>Investigations</vt:lpstr>
      <vt:lpstr>PowerPoint Presentation</vt:lpstr>
      <vt:lpstr>Medical Management</vt:lpstr>
      <vt:lpstr>Physiotherapy Role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Kola Akinlabi</dc:creator>
  <cp:keywords/>
  <dc:description>generated using python-pptx</dc:description>
  <cp:lastModifiedBy>AKINLABI, Kola (CENTRAL LONDON COMMUNITY HEALTHCARE NHS TRUST)</cp:lastModifiedBy>
  <cp:revision>2</cp:revision>
  <dcterms:created xsi:type="dcterms:W3CDTF">2013-01-27T09:14:16Z</dcterms:created>
  <dcterms:modified xsi:type="dcterms:W3CDTF">2026-03-20T13:32:10Z</dcterms:modified>
  <cp:category/>
</cp:coreProperties>
</file>