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15"/>
  </p:notesMasterIdLst>
  <p:sldIdLst>
    <p:sldId id="256" r:id="rId2"/>
    <p:sldId id="257" r:id="rId3"/>
    <p:sldId id="269" r:id="rId4"/>
    <p:sldId id="272" r:id="rId5"/>
    <p:sldId id="271" r:id="rId6"/>
    <p:sldId id="273" r:id="rId7"/>
    <p:sldId id="258" r:id="rId8"/>
    <p:sldId id="274" r:id="rId9"/>
    <p:sldId id="277" r:id="rId10"/>
    <p:sldId id="259" r:id="rId11"/>
    <p:sldId id="276" r:id="rId12"/>
    <p:sldId id="278" r:id="rId13"/>
    <p:sldId id="260" r:id="rId14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59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25"/>
    <p:restoredTop sz="94610"/>
  </p:normalViewPr>
  <p:slideViewPr>
    <p:cSldViewPr snapToGrid="0" snapToObjects="1">
      <p:cViewPr>
        <p:scale>
          <a:sx n="165" d="100"/>
          <a:sy n="165" d="100"/>
        </p:scale>
        <p:origin x="320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8221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2333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275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9A6B-46E7-3C41-A1A1-D6D31DCED64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8295D-6E8F-3D4D-9C22-D12AB0735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38135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9A6B-46E7-3C41-A1A1-D6D31DCED64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8295D-6E8F-3D4D-9C22-D12AB0735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30935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9A6B-46E7-3C41-A1A1-D6D31DCED64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8295D-6E8F-3D4D-9C22-D12AB0735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11654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9A6B-46E7-3C41-A1A1-D6D31DCED64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8295D-6E8F-3D4D-9C22-D12AB0735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0534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9A6B-46E7-3C41-A1A1-D6D31DCED64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8295D-6E8F-3D4D-9C22-D12AB0735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2239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9A6B-46E7-3C41-A1A1-D6D31DCED64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8295D-6E8F-3D4D-9C22-D12AB0735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68589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9A6B-46E7-3C41-A1A1-D6D31DCED64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8295D-6E8F-3D4D-9C22-D12AB0735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53141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9A6B-46E7-3C41-A1A1-D6D31DCED64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8295D-6E8F-3D4D-9C22-D12AB0735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98324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9A6B-46E7-3C41-A1A1-D6D31DCED64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8295D-6E8F-3D4D-9C22-D12AB0735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6989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9A6B-46E7-3C41-A1A1-D6D31DCED64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8295D-6E8F-3D4D-9C22-D12AB0735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044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DF9A6B-46E7-3C41-A1A1-D6D31DCED64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58295D-6E8F-3D4D-9C22-D12AB0735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5736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8842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DF9A6B-46E7-3C41-A1A1-D6D31DCED643}" type="datetimeFigureOut">
              <a:rPr lang="en-US" smtClean="0"/>
              <a:t>4/18/26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58295D-6E8F-3D4D-9C22-D12AB07350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136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file:////Users/peterchong/Library/Containers/com.microsoft.Word/Data/tmp/WebArchiveCopyPasteTempFiles/aortic-valve-stenosis.jp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D59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731520" y="9144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FFFFFF"/>
                </a:solidFill>
              </a:rPr>
              <a:t>CLINICAL EDUCATION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6858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Post-Surgical &amp;</a:t>
            </a:r>
            <a:endParaRPr lang="en-US" sz="4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Cardiothoracic</a:t>
            </a:r>
            <a:endParaRPr lang="en-US" sz="4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Physiotherapy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42519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Physiotherapist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8B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Chong 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371600"/>
            <a:ext cx="914400" cy="914400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25603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Day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76072" y="10515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10:00–11:00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" y="13075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Post-Surgical Rehabilitation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36592" y="10515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11:00–12:00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36592" y="13075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 Consequences of Surgery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" y="19659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12:00–13:00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6072" y="22219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Post-Op Assessment &amp; Early Mobilisation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36592" y="19659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14:00–16:00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36592" y="22219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Practical: Post-Surgical Rehab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6072" y="28803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16:00–17:00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6072" y="31363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Suite: Applied Bedside Skills</a:t>
            </a:r>
            <a:endParaRPr lang="en-US" sz="13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E288D0-5FA6-67E3-D34C-89FDE09D6D27}"/>
              </a:ext>
            </a:extLst>
          </p:cNvPr>
          <p:cNvSpPr txBox="1"/>
          <p:nvPr/>
        </p:nvSpPr>
        <p:spPr>
          <a:xfrm>
            <a:off x="946484" y="17405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heart&#10;&#10;Description automatically generated">
            <a:extLst>
              <a:ext uri="{FF2B5EF4-FFF2-40B4-BE49-F238E27FC236}">
                <a16:creationId xmlns:a16="http://schemas.microsoft.com/office/drawing/2014/main" id="{A589F42A-2C58-87B0-65C0-9B97957C1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775" y="482600"/>
            <a:ext cx="3196398" cy="41782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BBC29CF-633A-682B-DFD2-E1D7EDEC3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7325" y="482600"/>
            <a:ext cx="3543099" cy="39587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A53FCDA-3D0B-22D5-E9B3-6FBFC039C54B}"/>
              </a:ext>
            </a:extLst>
          </p:cNvPr>
          <p:cNvSpPr txBox="1"/>
          <p:nvPr/>
        </p:nvSpPr>
        <p:spPr>
          <a:xfrm>
            <a:off x="2366211" y="14518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98EE23-5357-4659-5B0F-3BEB421E6996}"/>
              </a:ext>
            </a:extLst>
          </p:cNvPr>
          <p:cNvSpPr txBox="1"/>
          <p:nvPr/>
        </p:nvSpPr>
        <p:spPr>
          <a:xfrm>
            <a:off x="1291389" y="12913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BC1855-1890-034D-9AE5-5DC830964FCC}"/>
              </a:ext>
            </a:extLst>
          </p:cNvPr>
          <p:cNvSpPr txBox="1"/>
          <p:nvPr/>
        </p:nvSpPr>
        <p:spPr>
          <a:xfrm>
            <a:off x="264907" y="113268"/>
            <a:ext cx="2496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Knowing it off by heart: </a:t>
            </a:r>
          </a:p>
        </p:txBody>
      </p:sp>
    </p:spTree>
    <p:extLst>
      <p:ext uri="{BB962C8B-B14F-4D97-AF65-F5344CB8AC3E}">
        <p14:creationId xmlns:p14="http://schemas.microsoft.com/office/powerpoint/2010/main" val="3178072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1BBC29CF-633A-682B-DFD2-E1D7EDEC3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4794" y="337690"/>
            <a:ext cx="2037673" cy="22767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A53FCDA-3D0B-22D5-E9B3-6FBFC039C54B}"/>
              </a:ext>
            </a:extLst>
          </p:cNvPr>
          <p:cNvSpPr txBox="1"/>
          <p:nvPr/>
        </p:nvSpPr>
        <p:spPr>
          <a:xfrm>
            <a:off x="2366211" y="145181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98EE23-5357-4659-5B0F-3BEB421E6996}"/>
              </a:ext>
            </a:extLst>
          </p:cNvPr>
          <p:cNvSpPr txBox="1"/>
          <p:nvPr/>
        </p:nvSpPr>
        <p:spPr>
          <a:xfrm>
            <a:off x="1291389" y="12913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BC1855-1890-034D-9AE5-5DC830964FCC}"/>
              </a:ext>
            </a:extLst>
          </p:cNvPr>
          <p:cNvSpPr txBox="1"/>
          <p:nvPr/>
        </p:nvSpPr>
        <p:spPr>
          <a:xfrm>
            <a:off x="264907" y="113268"/>
            <a:ext cx="2625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Common Heart Surgeries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D9A357-DAE3-7D72-5483-5BC8D7C17320}"/>
              </a:ext>
            </a:extLst>
          </p:cNvPr>
          <p:cNvSpPr txBox="1"/>
          <p:nvPr/>
        </p:nvSpPr>
        <p:spPr>
          <a:xfrm>
            <a:off x="195225" y="518623"/>
            <a:ext cx="371470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b="1" dirty="0"/>
              <a:t>Coronary artery Bypass Grafting (CABG): </a:t>
            </a:r>
          </a:p>
          <a:p>
            <a:r>
              <a:rPr lang="en-US" sz="1600" dirty="0"/>
              <a:t>Diverts blood around blocked arteries. </a:t>
            </a:r>
          </a:p>
          <a:p>
            <a:endParaRPr lang="en-US" sz="1600" dirty="0"/>
          </a:p>
          <a:p>
            <a:r>
              <a:rPr lang="en-US" sz="1600" b="1" dirty="0"/>
              <a:t>2. Heart Valve Repair or replacement: E.g. (TAVI) Aortic/ mitral valve replacement </a:t>
            </a:r>
          </a:p>
          <a:p>
            <a:r>
              <a:rPr lang="en-US" sz="1600" dirty="0"/>
              <a:t>Treats valve stenosis and regurgitation</a:t>
            </a:r>
          </a:p>
          <a:p>
            <a:endParaRPr lang="en-US" sz="1600" dirty="0"/>
          </a:p>
          <a:p>
            <a:r>
              <a:rPr lang="en-US" sz="1600" b="1" dirty="0"/>
              <a:t>3. Aneurysm repair: E.g. (PEARS) Open Aortic aneurism repair or Keyhole surgeries EVAR/ TEVAR </a:t>
            </a:r>
          </a:p>
          <a:p>
            <a:r>
              <a:rPr lang="en-US" sz="1600" dirty="0"/>
              <a:t>Replacing a damaged section with a synthetic graft. </a:t>
            </a:r>
          </a:p>
          <a:p>
            <a:endParaRPr lang="en-US" sz="1600" dirty="0"/>
          </a:p>
          <a:p>
            <a:r>
              <a:rPr lang="en-US" sz="1600" b="1" dirty="0"/>
              <a:t>4. Heart transplant: </a:t>
            </a:r>
          </a:p>
          <a:p>
            <a:r>
              <a:rPr lang="en-US" sz="1600" dirty="0"/>
              <a:t>Replacing your own heart with a doner heart</a:t>
            </a:r>
          </a:p>
          <a:p>
            <a:endParaRPr lang="en-US" sz="1600" dirty="0"/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pic>
        <p:nvPicPr>
          <p:cNvPr id="3074" name="Picture 2" descr="Transcatheter Aortic Valve Replacement (TAVR)">
            <a:extLst>
              <a:ext uri="{FF2B5EF4-FFF2-40B4-BE49-F238E27FC236}">
                <a16:creationId xmlns:a16="http://schemas.microsoft.com/office/drawing/2014/main" id="{132BD7F1-5495-6BC2-D64D-43353F316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915" y="146149"/>
            <a:ext cx="2522516" cy="2528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he Heart - CVSKL">
            <a:extLst>
              <a:ext uri="{FF2B5EF4-FFF2-40B4-BE49-F238E27FC236}">
                <a16:creationId xmlns:a16="http://schemas.microsoft.com/office/drawing/2014/main" id="{65E5B874-4732-A04B-A1C5-855C6F2A9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1589" y="2710931"/>
            <a:ext cx="2435290" cy="2130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F7E95D4B-F094-6FBD-F80C-9C00E9FB3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9929" y="2710931"/>
            <a:ext cx="824226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077" name="Picture 3" descr="What is Aortic Stenosis - The Heart &amp; Vascular Centre">
            <a:extLst>
              <a:ext uri="{FF2B5EF4-FFF2-40B4-BE49-F238E27FC236}">
                <a16:creationId xmlns:a16="http://schemas.microsoft.com/office/drawing/2014/main" id="{517C1382-8571-81C1-B903-072376D72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r:link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015" y="2804065"/>
            <a:ext cx="2509230" cy="2001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4378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7B471F-184F-0DA5-3D3D-397354032E43}"/>
              </a:ext>
            </a:extLst>
          </p:cNvPr>
          <p:cNvSpPr txBox="1"/>
          <p:nvPr/>
        </p:nvSpPr>
        <p:spPr>
          <a:xfrm>
            <a:off x="221063" y="422031"/>
            <a:ext cx="8561195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Other common heart surgeries: (not routinely seen by Physiotherapy unless requested </a:t>
            </a:r>
            <a:endParaRPr lang="en-US" sz="1800" b="1" dirty="0"/>
          </a:p>
          <a:p>
            <a:pPr marL="342900" indent="-342900">
              <a:buAutoNum type="arabicPeriod"/>
            </a:pPr>
            <a:r>
              <a:rPr lang="en-US" sz="1800" b="1" dirty="0"/>
              <a:t>Arrhythmia Surgery: E.g. (Cardiac ablation): </a:t>
            </a:r>
          </a:p>
          <a:p>
            <a:r>
              <a:rPr lang="en-US" sz="1800" dirty="0"/>
              <a:t>Using ablation (hot or cold) to create small scars in the heart muscle blocking abnormal signals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AU" sz="1800" b="1" dirty="0">
                <a:effectLst/>
                <a:ea typeface="Arial" panose="020B0604020202020204" pitchFamily="34" charset="0"/>
              </a:rPr>
              <a:t>2. Angioplasty/ stenting: E.g. Percutaneous coronary intervention (PCI):</a:t>
            </a:r>
            <a:r>
              <a:rPr lang="en-AU" sz="1800" dirty="0">
                <a:effectLst/>
                <a:ea typeface="Arial" panose="020B0604020202020204" pitchFamily="34" charset="0"/>
              </a:rPr>
              <a:t> </a:t>
            </a:r>
            <a:endParaRPr lang="en-AU" dirty="0">
              <a:ea typeface="Arial" panose="020B0604020202020204" pitchFamily="34" charset="0"/>
            </a:endParaRP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AU" sz="1800" dirty="0">
                <a:effectLst/>
                <a:ea typeface="Arial" panose="020B0604020202020204" pitchFamily="34" charset="0"/>
              </a:rPr>
              <a:t>open blocked or narrowed heart surgeries (Coronary artery disease) to improve blood flow </a:t>
            </a:r>
          </a:p>
        </p:txBody>
      </p:sp>
      <p:pic>
        <p:nvPicPr>
          <p:cNvPr id="4098" name="Picture 2" descr="Percutaneous Coronary Intervention (PCI ...">
            <a:extLst>
              <a:ext uri="{FF2B5EF4-FFF2-40B4-BE49-F238E27FC236}">
                <a16:creationId xmlns:a16="http://schemas.microsoft.com/office/drawing/2014/main" id="{FDEFA329-F9B4-B431-26CF-4A5C80BA4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573" y="2607245"/>
            <a:ext cx="2265927" cy="2036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8358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8" name="Picture 8" descr="Open Heart Surgery: Procedure Details ...">
            <a:extLst>
              <a:ext uri="{FF2B5EF4-FFF2-40B4-BE49-F238E27FC236}">
                <a16:creationId xmlns:a16="http://schemas.microsoft.com/office/drawing/2014/main" id="{EF5104D1-35F4-DEE9-BD3D-A0644642A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6625" y="89807"/>
            <a:ext cx="2470912" cy="2481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Robotic-Assisted Cardiac Surgery ...">
            <a:extLst>
              <a:ext uri="{FF2B5EF4-FFF2-40B4-BE49-F238E27FC236}">
                <a16:creationId xmlns:a16="http://schemas.microsoft.com/office/drawing/2014/main" id="{D876476B-70C4-8080-9825-BDC2FB786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2840" y="2970885"/>
            <a:ext cx="2693757" cy="1931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6DC7D67-EA97-B049-ADA3-0A5AC1B2E2EF}"/>
              </a:ext>
            </a:extLst>
          </p:cNvPr>
          <p:cNvSpPr txBox="1"/>
          <p:nvPr/>
        </p:nvSpPr>
        <p:spPr>
          <a:xfrm>
            <a:off x="373225" y="261257"/>
            <a:ext cx="1928670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Procedure Types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58ACAC-0B5E-4016-2840-2EB25C17E4B9}"/>
              </a:ext>
            </a:extLst>
          </p:cNvPr>
          <p:cNvSpPr txBox="1"/>
          <p:nvPr/>
        </p:nvSpPr>
        <p:spPr>
          <a:xfrm>
            <a:off x="373225" y="813020"/>
            <a:ext cx="39418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Open Heart Surgery</a:t>
            </a:r>
          </a:p>
          <a:p>
            <a:r>
              <a:rPr lang="en-US" sz="1400" dirty="0"/>
              <a:t>Traditional Method. Involves sternotomy/ mini- sternotomy and incision is made through your sternum </a:t>
            </a:r>
          </a:p>
          <a:p>
            <a:endParaRPr lang="en-US" sz="1400" dirty="0"/>
          </a:p>
          <a:p>
            <a:r>
              <a:rPr lang="en-US" dirty="0"/>
              <a:t>2. Minimally invasive Heart Surgery/ Robotic Surgery: </a:t>
            </a:r>
          </a:p>
          <a:p>
            <a:r>
              <a:rPr lang="en-US" sz="1400" dirty="0"/>
              <a:t>Small incisions between the ribs of the side of the chest </a:t>
            </a:r>
          </a:p>
          <a:p>
            <a:endParaRPr lang="en-US" dirty="0"/>
          </a:p>
          <a:p>
            <a:r>
              <a:rPr lang="en-US" dirty="0"/>
              <a:t>3. Transcatheter Heart Surgery</a:t>
            </a:r>
          </a:p>
          <a:p>
            <a:r>
              <a:rPr lang="en-AU" sz="1400" b="0" i="0" u="none" strike="noStrike" dirty="0">
                <a:solidFill>
                  <a:srgbClr val="0A0A0A"/>
                </a:solidFill>
                <a:effectLst/>
              </a:rPr>
              <a:t>A catheter is inserted through a small incision, usually in the groin (femoral artery), and guided to the heart.</a:t>
            </a:r>
            <a:r>
              <a:rPr lang="en-US" sz="1400" dirty="0"/>
              <a:t> </a:t>
            </a:r>
          </a:p>
        </p:txBody>
      </p:sp>
      <p:pic>
        <p:nvPicPr>
          <p:cNvPr id="5122" name="Picture 2" descr="Transcatheter Aortic Valve Replacement ...">
            <a:extLst>
              <a:ext uri="{FF2B5EF4-FFF2-40B4-BE49-F238E27FC236}">
                <a16:creationId xmlns:a16="http://schemas.microsoft.com/office/drawing/2014/main" id="{A4A2C7D6-118C-2968-673D-29CB0DA740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6597" y="2699901"/>
            <a:ext cx="2041880" cy="1529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4738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583680" y="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220561" y="1737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Post-Surgical Rehabilitation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B7A7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Cardiac Surgery Rehabilitation Pathways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0698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30759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Inpatient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67335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ECB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Days 1–7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2423160" cy="18288"/>
          </a:xfrm>
          <a:prstGeom prst="lin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075688"/>
            <a:ext cx="24688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pre-op prior to surgery to prepare. Confirming HPC, PMHx,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Shx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Mobility etc. 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ICU: Initial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Hx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Respiratory Ax, Bloods, Chest PT, ACBT, SOEOB / SOOBIC, passive AROM pain management </a:t>
            </a:r>
          </a:p>
          <a:p>
            <a:pPr>
              <a:spcAft>
                <a:spcPts val="600"/>
              </a:spcAft>
              <a:buSzPct val="100000"/>
            </a:pPr>
            <a:r>
              <a:rPr lang="en-US" sz="1100" dirty="0">
                <a:latin typeface="Calibri" pitchFamily="34" charset="0"/>
                <a:cs typeface="Calibri" pitchFamily="34" charset="-120"/>
              </a:rPr>
              <a:t>Cardiac Ward: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Day 1–2: Neck, shoulder and trunk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exs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SOOBIC, ACBT, sternal precautions, </a:t>
            </a:r>
            <a:r>
              <a:rPr lang="en-US" sz="11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mobilise</a:t>
            </a: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Day 3–5: Ongoing chest PT, progress mobility 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Day 5–7: Stairs assessment &amp; discharge education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0698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130759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Outpatient 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83280" y="167335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ECB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Weeks 6-8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1965960"/>
            <a:ext cx="2423160" cy="18288"/>
          </a:xfrm>
          <a:prstGeom prst="lin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83280" y="2075688"/>
            <a:ext cx="24688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Commences 6-8 weeks post-discharge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exercise program: Aerobic ex: 50–85% HRmax or Borg 11–14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UL exercise program from weeks 6–8 (sternal healing)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 modification + psychosocial support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10698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130759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17920" y="167335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ECBD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Months 3–12+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1965960"/>
            <a:ext cx="2423160" cy="18288"/>
          </a:xfrm>
          <a:prstGeom prst="lin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17920" y="2075688"/>
            <a:ext cx="24688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Community or home exercise programme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Sustained participation ↓ re-hospitalisation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Annual cardiology review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Ongoing PT for deconditioning or complications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8CA0B1-F40B-BC0E-992C-2FEA7FCA2F53}"/>
              </a:ext>
            </a:extLst>
          </p:cNvPr>
          <p:cNvSpPr txBox="1"/>
          <p:nvPr/>
        </p:nvSpPr>
        <p:spPr>
          <a:xfrm>
            <a:off x="325464" y="578897"/>
            <a:ext cx="7997125" cy="1992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en-GB" sz="1200" dirty="0">
                <a:solidFill>
                  <a:srgbClr val="000000"/>
                </a:solidFill>
                <a:effectLst/>
                <a:ea typeface="SimSun" panose="02010600030101010101" pitchFamily="2" charset="-122"/>
                <a:cs typeface="System"/>
              </a:rPr>
              <a:t>The precautions apply for:</a:t>
            </a:r>
            <a:endParaRPr lang="en-AU" sz="1200" dirty="0">
              <a:solidFill>
                <a:srgbClr val="000000"/>
              </a:solidFill>
              <a:effectLst/>
              <a:ea typeface="SimSun" panose="02010600030101010101" pitchFamily="2" charset="-122"/>
              <a:cs typeface="System"/>
            </a:endParaRPr>
          </a:p>
          <a:p>
            <a:pPr marL="342900" lvl="0" indent="-342900" algn="just">
              <a:spcBef>
                <a:spcPts val="300"/>
              </a:spcBef>
              <a:spcAft>
                <a:spcPts val="300"/>
              </a:spcAft>
              <a:buClr>
                <a:srgbClr val="00B0AD"/>
              </a:buClr>
              <a:buFont typeface="Wingdings" pitchFamily="2" charset="2"/>
              <a:buChar char=""/>
              <a:tabLst>
                <a:tab pos="90170" algn="l"/>
              </a:tabLst>
            </a:pPr>
            <a:r>
              <a:rPr lang="en-GB" sz="1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8 weeks for a full sternotomy.</a:t>
            </a:r>
            <a:endParaRPr lang="en-AU" sz="1200" dirty="0"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ts val="300"/>
              </a:spcBef>
              <a:spcAft>
                <a:spcPts val="300"/>
              </a:spcAft>
              <a:buClr>
                <a:srgbClr val="00B0AD"/>
              </a:buClr>
              <a:buFont typeface="Wingdings" pitchFamily="2" charset="2"/>
              <a:buChar char=""/>
              <a:tabLst>
                <a:tab pos="90170" algn="l"/>
              </a:tabLst>
            </a:pPr>
            <a:r>
              <a:rPr lang="en-GB" sz="1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4-6 weeks for a mini-sternotomy. </a:t>
            </a:r>
            <a:endParaRPr lang="en-AU" sz="1200" dirty="0"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0170" indent="-90170" algn="just">
              <a:spcBef>
                <a:spcPts val="300"/>
              </a:spcBef>
              <a:spcAft>
                <a:spcPts val="300"/>
              </a:spcAft>
              <a:tabLst>
                <a:tab pos="90170" algn="l"/>
                <a:tab pos="457200" algn="l"/>
              </a:tabLst>
            </a:pPr>
            <a:r>
              <a:rPr lang="en-GB" sz="1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System"/>
              </a:rPr>
              <a:t>You may push or pull yourself up using both hands together, putting equal weight and stress through each arm. </a:t>
            </a:r>
            <a:endParaRPr lang="en-AU" sz="1200" dirty="0">
              <a:solidFill>
                <a:srgbClr val="000000"/>
              </a:solidFill>
              <a:effectLst/>
              <a:ea typeface="Calibri" panose="020F0502020204030204" pitchFamily="34" charset="0"/>
              <a:cs typeface="System"/>
            </a:endParaRPr>
          </a:p>
          <a:p>
            <a:pPr marL="90170" indent="-90170" algn="just">
              <a:spcBef>
                <a:spcPts val="300"/>
              </a:spcBef>
              <a:spcAft>
                <a:spcPts val="300"/>
              </a:spcAft>
              <a:tabLst>
                <a:tab pos="90170" algn="l"/>
                <a:tab pos="457200" algn="l"/>
              </a:tabLst>
            </a:pPr>
            <a:r>
              <a:rPr lang="en-GB" sz="12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System"/>
              </a:rPr>
              <a:t>No lifting anything heavier than approximately 5kg for the first 4-6 weeks after surgery (all heart surgeries).</a:t>
            </a:r>
            <a:r>
              <a:rPr lang="en-GB" sz="1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System"/>
              </a:rPr>
              <a:t> </a:t>
            </a:r>
          </a:p>
          <a:p>
            <a:pPr marL="90170" indent="-90170" algn="just">
              <a:spcBef>
                <a:spcPts val="300"/>
              </a:spcBef>
              <a:spcAft>
                <a:spcPts val="300"/>
              </a:spcAft>
              <a:tabLst>
                <a:tab pos="90170" algn="l"/>
                <a:tab pos="457200" algn="l"/>
              </a:tabLst>
            </a:pPr>
            <a:r>
              <a:rPr lang="en-GB" sz="12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System"/>
              </a:rPr>
              <a:t>Light housework and light gardening only from 6 weeks. Mowing the lawn, digging or hoovering can be resumed 12 weeks post-surgery.</a:t>
            </a:r>
            <a:endParaRPr lang="en-AU" sz="1200" dirty="0">
              <a:solidFill>
                <a:srgbClr val="000000"/>
              </a:solidFill>
              <a:effectLst/>
              <a:ea typeface="Calibri" panose="020F0502020204030204" pitchFamily="34" charset="0"/>
              <a:cs typeface="System"/>
            </a:endParaRPr>
          </a:p>
          <a:p>
            <a:pPr marL="90170" indent="-90170" algn="just">
              <a:spcBef>
                <a:spcPts val="300"/>
              </a:spcBef>
              <a:spcAft>
                <a:spcPts val="300"/>
              </a:spcAft>
              <a:tabLst>
                <a:tab pos="90170" algn="l"/>
                <a:tab pos="457200" algn="l"/>
              </a:tabLst>
            </a:pPr>
            <a:r>
              <a:rPr lang="en-AU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System"/>
              </a:rPr>
              <a:t>No smoking: impedes healing and increases risk of infection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A77CA0-48F0-72C2-7E0C-DD8BA1339C40}"/>
              </a:ext>
            </a:extLst>
          </p:cNvPr>
          <p:cNvSpPr txBox="1"/>
          <p:nvPr/>
        </p:nvSpPr>
        <p:spPr>
          <a:xfrm>
            <a:off x="209227" y="185980"/>
            <a:ext cx="2156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Sternal Precautions: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0457B7-92F3-1E50-DCA3-5580AB955CAD}"/>
              </a:ext>
            </a:extLst>
          </p:cNvPr>
          <p:cNvSpPr txBox="1"/>
          <p:nvPr/>
        </p:nvSpPr>
        <p:spPr>
          <a:xfrm>
            <a:off x="154983" y="2749223"/>
            <a:ext cx="8338088" cy="1377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Bef>
                <a:spcPts val="300"/>
              </a:spcBef>
              <a:spcAft>
                <a:spcPts val="300"/>
              </a:spcAft>
              <a:buClr>
                <a:srgbClr val="00B0AD"/>
              </a:buClr>
              <a:tabLst>
                <a:tab pos="90170" algn="l"/>
              </a:tabLst>
            </a:pPr>
            <a:r>
              <a:rPr lang="en-GB" sz="16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Walking Advice:</a:t>
            </a:r>
          </a:p>
          <a:p>
            <a:pPr marL="342900" lvl="0" indent="-342900" algn="just">
              <a:spcBef>
                <a:spcPts val="300"/>
              </a:spcBef>
              <a:spcAft>
                <a:spcPts val="300"/>
              </a:spcAft>
              <a:buClr>
                <a:srgbClr val="00B0AD"/>
              </a:buClr>
              <a:buFont typeface="Wingdings" pitchFamily="2" charset="2"/>
              <a:buChar char=""/>
              <a:tabLst>
                <a:tab pos="90170" algn="l"/>
              </a:tabLst>
            </a:pPr>
            <a:r>
              <a:rPr lang="en-GB" sz="10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Aim to build up to longer walks of 30-45 minutes, 5 days a week within 4-6 weeks. Remember to always incorporate a warm up and cool down</a:t>
            </a:r>
          </a:p>
          <a:p>
            <a:pPr marL="342900" lvl="0" indent="-342900" algn="just">
              <a:spcBef>
                <a:spcPts val="300"/>
              </a:spcBef>
              <a:spcAft>
                <a:spcPts val="300"/>
              </a:spcAft>
              <a:buClr>
                <a:srgbClr val="00B0AD"/>
              </a:buClr>
              <a:buFont typeface="Wingdings" pitchFamily="2" charset="2"/>
              <a:buChar char=""/>
              <a:tabLst>
                <a:tab pos="90170" algn="l"/>
              </a:tabLst>
            </a:pPr>
            <a:r>
              <a:rPr lang="en-GB" sz="1000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Start with walking on level ground, building up to walks on inclines after a few weeks.</a:t>
            </a:r>
          </a:p>
          <a:p>
            <a:pPr marL="342900" lvl="0" indent="-342900" algn="just">
              <a:spcBef>
                <a:spcPts val="300"/>
              </a:spcBef>
              <a:spcAft>
                <a:spcPts val="300"/>
              </a:spcAft>
              <a:buClr>
                <a:srgbClr val="00B0AD"/>
              </a:buClr>
              <a:buFont typeface="Wingdings" pitchFamily="2" charset="2"/>
              <a:buChar char=""/>
              <a:tabLst>
                <a:tab pos="90170" algn="l"/>
              </a:tabLst>
            </a:pPr>
            <a:r>
              <a:rPr lang="en-GB" sz="1000" dirty="0">
                <a:solidFill>
                  <a:srgbClr val="000000"/>
                </a:solidFill>
                <a:highlight>
                  <a:srgbClr val="FFFF00"/>
                </a:highlight>
                <a:ea typeface="Calibri" panose="020F0502020204030204" pitchFamily="34" charset="0"/>
                <a:cs typeface="Times New Roman" panose="02020603050405020304" pitchFamily="18" charset="0"/>
              </a:rPr>
              <a:t>Walking and talking pace is the goal </a:t>
            </a:r>
            <a:endParaRPr lang="en-AU" sz="1000" dirty="0">
              <a:solidFill>
                <a:srgbClr val="000000"/>
              </a:solidFill>
              <a:effectLst/>
              <a:highlight>
                <a:srgbClr val="FFFF00"/>
              </a:highlight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spcBef>
                <a:spcPts val="1200"/>
              </a:spcBef>
              <a:buFont typeface="Arial" panose="020B0604020202020204" pitchFamily="34" charset="0"/>
              <a:buChar char=""/>
            </a:pPr>
            <a:r>
              <a:rPr lang="en-GB" sz="1000" b="1" u="sng" dirty="0">
                <a:solidFill>
                  <a:srgbClr val="00B0AD"/>
                </a:solidFill>
                <a:effectLst/>
                <a:ea typeface="Arial" panose="020B0604020202020204" pitchFamily="34" charset="0"/>
              </a:rPr>
              <a:t>GOAL: 30 minute walks, 5 times a week, within 1 month after  surgery.</a:t>
            </a:r>
            <a:endParaRPr lang="en-AU" sz="1000" b="1" dirty="0">
              <a:solidFill>
                <a:srgbClr val="00B0AD"/>
              </a:solidFill>
              <a:effectLst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8803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15476C-CDF8-FFB4-B6CD-F0111925191D}"/>
              </a:ext>
            </a:extLst>
          </p:cNvPr>
          <p:cNvSpPr txBox="1"/>
          <p:nvPr/>
        </p:nvSpPr>
        <p:spPr>
          <a:xfrm>
            <a:off x="233982" y="325841"/>
            <a:ext cx="1724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Lung transplant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1C1EC1-E6EB-6ABB-FCE4-696749A41F3B}"/>
              </a:ext>
            </a:extLst>
          </p:cNvPr>
          <p:cNvSpPr txBox="1"/>
          <p:nvPr/>
        </p:nvSpPr>
        <p:spPr>
          <a:xfrm>
            <a:off x="233982" y="695173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600" b="0" i="0" dirty="0">
                <a:solidFill>
                  <a:srgbClr val="0A0A0A"/>
                </a:solidFill>
                <a:effectLst/>
                <a:latin typeface="Google Sans"/>
              </a:rPr>
              <a:t>A lung transplant is </a:t>
            </a:r>
            <a:r>
              <a:rPr lang="en-AU" sz="1600" dirty="0"/>
              <a:t>a surgical procedure for end-stage respiratory failure, replacing damaged lungs with healthy donor lungs</a:t>
            </a:r>
            <a:endParaRPr lang="en-US" sz="1600" dirty="0"/>
          </a:p>
        </p:txBody>
      </p:sp>
      <p:pic>
        <p:nvPicPr>
          <p:cNvPr id="6148" name="Picture 4" descr="Lung Transplant Surgery: What to Expect ...">
            <a:extLst>
              <a:ext uri="{FF2B5EF4-FFF2-40B4-BE49-F238E27FC236}">
                <a16:creationId xmlns:a16="http://schemas.microsoft.com/office/drawing/2014/main" id="{6D2053A4-5EFE-2CA8-C07D-3A7ECCAA2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6721" y="273050"/>
            <a:ext cx="3530600" cy="229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FDD97D-C9BF-DE2B-CEB1-116D9DD56F10}"/>
              </a:ext>
            </a:extLst>
          </p:cNvPr>
          <p:cNvSpPr txBox="1"/>
          <p:nvPr/>
        </p:nvSpPr>
        <p:spPr>
          <a:xfrm>
            <a:off x="233982" y="1688622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AU" sz="1600" b="1" dirty="0">
                <a:solidFill>
                  <a:srgbClr val="0A0A0A"/>
                </a:solidFill>
              </a:rPr>
              <a:t>Procedure: </a:t>
            </a:r>
            <a:r>
              <a:rPr lang="en-AU" sz="1600" b="0" i="0" dirty="0">
                <a:solidFill>
                  <a:srgbClr val="0A0A0A"/>
                </a:solidFill>
                <a:effectLst/>
              </a:rPr>
              <a:t>A surgeon makes a large incision—either a "clamshell" incision (across the chest) or on the side (thoracotomy)—to access the lungs.</a:t>
            </a:r>
          </a:p>
        </p:txBody>
      </p:sp>
      <p:pic>
        <p:nvPicPr>
          <p:cNvPr id="6150" name="Picture 6" descr="Lung Transplant Surgery | Baylor Medicine">
            <a:extLst>
              <a:ext uri="{FF2B5EF4-FFF2-40B4-BE49-F238E27FC236}">
                <a16:creationId xmlns:a16="http://schemas.microsoft.com/office/drawing/2014/main" id="{E5851524-E0E1-9875-AD86-139EEAA33B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9581" y="2825965"/>
            <a:ext cx="4140200" cy="195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847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94504" y="10201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Transplantation Rehabilitation Pathway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94504" y="1690919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Rehabilitation Pathway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4650" y="2091690"/>
            <a:ext cx="1234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Inpatient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ICU (1-7 days)→Ward</a:t>
            </a:r>
          </a:p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(2-3 weeks)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84285" y="2039112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cs typeface="Calibri" pitchFamily="34" charset="-120"/>
              </a:rPr>
              <a:t>More consistent and intensive PT respiratory management and assessment </a:t>
            </a:r>
          </a:p>
          <a:p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PT, SOEOB, mobility (avoid excessive forced exhalation)</a:t>
            </a:r>
            <a:endParaRPr lang="en-US" sz="1100" b="1" dirty="0"/>
          </a:p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Denervated lung = no distal cough reflex (ACBT important)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→ active limb exercises within 24–48h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31470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Early Outpatient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(1–6 months)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63245" y="349603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Pulmonary rehab from 4–8 weeks post-transplant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6MWT as key outcome measure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Aerobic: start at Borg 10–12, progress incrementally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018788"/>
            <a:ext cx="1234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Long-term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(6 months+)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63245" y="4242661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or home exercise maintenance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Osteoporosis prevention (steroids → bone loss)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for </a:t>
            </a:r>
            <a:r>
              <a:rPr lang="en-US" sz="1100" b="1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</a:t>
            </a:r>
            <a:r>
              <a:rPr lang="en-AU" sz="1100" b="1" dirty="0" err="1">
                <a:effectLst/>
              </a:rPr>
              <a:t>ronic</a:t>
            </a:r>
            <a:r>
              <a:rPr lang="en-AU" sz="1100" b="1" dirty="0">
                <a:effectLst/>
              </a:rPr>
              <a:t> Lung Allograft Dysfunction (CLAD)</a:t>
            </a:r>
            <a:r>
              <a:rPr lang="en-AU" sz="1100" b="0" i="0" u="none" strike="noStrike" dirty="0">
                <a:solidFill>
                  <a:srgbClr val="0A0A0A"/>
                </a:solidFill>
                <a:effectLst/>
                <a:latin typeface="Google Sans"/>
              </a:rPr>
              <a:t> </a:t>
            </a:r>
            <a:r>
              <a:rPr lang="en-US" sz="11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declining FEV1 = urgent review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40680" y="777240"/>
            <a:ext cx="64008" cy="4069080"/>
          </a:xfrm>
          <a:prstGeom prst="line">
            <a:avLst/>
          </a:prstGeom>
          <a:solidFill>
            <a:srgbClr val="E67E2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23560" y="8686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Transplant Precautions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23560" y="1298448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Infection prevention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92240" y="134416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hand hygiene, PPE for all chest physio, avoid shared gym spaces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23560" y="1993392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92240" y="203911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FEV1 &gt;10%, fever, malaise → suspend exercise, urgent review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23560" y="2688336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Osteoporosis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92240" y="2734056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high-impact loading; weight-bearing exercise + DEXA surveillance caused by immunosuppressants </a:t>
            </a:r>
            <a:endParaRPr 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31114D-09AA-074D-994D-FB2978D0FF6A}"/>
              </a:ext>
            </a:extLst>
          </p:cNvPr>
          <p:cNvSpPr txBox="1"/>
          <p:nvPr/>
        </p:nvSpPr>
        <p:spPr>
          <a:xfrm>
            <a:off x="194504" y="474225"/>
            <a:ext cx="451775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i="0" u="none" strike="noStrike" dirty="0">
                <a:solidFill>
                  <a:srgbClr val="0A0A0A"/>
                </a:solidFill>
                <a:effectLst/>
              </a:rPr>
              <a:t>- </a:t>
            </a:r>
            <a:r>
              <a:rPr lang="en-AU" sz="1000" b="1" i="0" u="none" strike="noStrike" dirty="0">
                <a:solidFill>
                  <a:srgbClr val="0A0A0A"/>
                </a:solidFill>
                <a:effectLst/>
              </a:rPr>
              <a:t>Similar to cardiac.</a:t>
            </a:r>
          </a:p>
          <a:p>
            <a:r>
              <a:rPr lang="en-AU" sz="1000" dirty="0">
                <a:solidFill>
                  <a:srgbClr val="0A0A0A"/>
                </a:solidFill>
              </a:rPr>
              <a:t>- However, u</a:t>
            </a:r>
            <a:r>
              <a:rPr lang="en-AU" sz="1000" b="0" i="0" u="none" strike="noStrike" dirty="0">
                <a:solidFill>
                  <a:srgbClr val="0A0A0A"/>
                </a:solidFill>
                <a:effectLst/>
              </a:rPr>
              <a:t>nlike heart transplants, which monitor for coronary vasculopathy, lung care prioritizes airway health and rejection.</a:t>
            </a:r>
          </a:p>
          <a:p>
            <a:r>
              <a:rPr lang="en-AU" sz="1000" dirty="0">
                <a:solidFill>
                  <a:srgbClr val="0A0A0A"/>
                </a:solidFill>
              </a:rPr>
              <a:t>- Focus is on pulmonary management.</a:t>
            </a:r>
          </a:p>
          <a:p>
            <a:r>
              <a:rPr lang="en-AU" sz="1000" dirty="0">
                <a:solidFill>
                  <a:srgbClr val="0A0A0A"/>
                </a:solidFill>
              </a:rPr>
              <a:t>- Immunosuppressants for the remainder of their life .</a:t>
            </a:r>
            <a:endParaRPr lang="en-US" sz="1000" dirty="0">
              <a:solidFill>
                <a:srgbClr val="0A0A0A"/>
              </a:solidFill>
            </a:endParaRPr>
          </a:p>
          <a:p>
            <a:pPr algn="l"/>
            <a:r>
              <a:rPr lang="en-AU" sz="1000" b="1" dirty="0">
                <a:solidFill>
                  <a:srgbClr val="0A0A0A"/>
                </a:solidFill>
              </a:rPr>
              <a:t>- </a:t>
            </a:r>
            <a:r>
              <a:rPr lang="en-AU" sz="1000" b="1" i="0" dirty="0">
                <a:solidFill>
                  <a:srgbClr val="0A0A0A"/>
                </a:solidFill>
                <a:effectLst/>
              </a:rPr>
              <a:t>Activity Restrictions:</a:t>
            </a:r>
            <a:r>
              <a:rPr lang="en-AU" sz="1000" b="0" i="0" dirty="0">
                <a:solidFill>
                  <a:srgbClr val="0A0A0A"/>
                </a:solidFill>
                <a:effectLst/>
              </a:rPr>
              <a:t> For the first 6–8 weeks, patients must avoid pushing, pulling, or lifting more than </a:t>
            </a:r>
            <a:r>
              <a:rPr lang="en-AU" sz="1000" dirty="0">
                <a:solidFill>
                  <a:srgbClr val="0A0A0A"/>
                </a:solidFill>
              </a:rPr>
              <a:t>5kg</a:t>
            </a:r>
            <a:endParaRPr lang="en-AU" sz="1000" b="0" i="0" dirty="0">
              <a:solidFill>
                <a:srgbClr val="0A0A0A"/>
              </a:solidFill>
              <a:effectLst/>
            </a:endParaRPr>
          </a:p>
          <a:p>
            <a:endParaRPr lang="en-AU" sz="800" dirty="0">
              <a:solidFill>
                <a:srgbClr val="0A0A0A"/>
              </a:solidFill>
              <a:latin typeface="Google Sans"/>
            </a:endParaRPr>
          </a:p>
        </p:txBody>
      </p:sp>
      <p:sp>
        <p:nvSpPr>
          <p:cNvPr id="38" name="Text 25">
            <a:extLst>
              <a:ext uri="{FF2B5EF4-FFF2-40B4-BE49-F238E27FC236}">
                <a16:creationId xmlns:a16="http://schemas.microsoft.com/office/drawing/2014/main" id="{BDCB894D-7EA1-2DBE-E934-74BEA3236F96}"/>
              </a:ext>
            </a:extLst>
          </p:cNvPr>
          <p:cNvSpPr/>
          <p:nvPr/>
        </p:nvSpPr>
        <p:spPr>
          <a:xfrm>
            <a:off x="5623560" y="3404590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</a:t>
            </a:r>
            <a:endParaRPr lang="en-US" sz="9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9B683F7-EA86-39C5-B5D7-BB22FA15E680}"/>
              </a:ext>
            </a:extLst>
          </p:cNvPr>
          <p:cNvSpPr txBox="1"/>
          <p:nvPr/>
        </p:nvSpPr>
        <p:spPr>
          <a:xfrm>
            <a:off x="6492240" y="3525361"/>
            <a:ext cx="228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sz="1000" b="0" i="0" dirty="0">
                <a:solidFill>
                  <a:srgbClr val="0A0A0A"/>
                </a:solidFill>
                <a:effectLst/>
                <a:latin typeface="Google Sans"/>
              </a:rPr>
              <a:t>Frequent follow-ups include blood tests, chest X-rays, and pulmonary function tests to monitor for signs of acute or chronic rejection.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62746E-920A-4FBA-FA09-54B546828735}"/>
              </a:ext>
            </a:extLst>
          </p:cNvPr>
          <p:cNvSpPr txBox="1"/>
          <p:nvPr/>
        </p:nvSpPr>
        <p:spPr>
          <a:xfrm>
            <a:off x="209227" y="507503"/>
            <a:ext cx="436277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AU" sz="1000" b="1" i="0" dirty="0">
                <a:solidFill>
                  <a:srgbClr val="000000"/>
                </a:solidFill>
                <a:effectLst/>
              </a:rPr>
              <a:t>Cardiovascular instability</a:t>
            </a:r>
            <a:endParaRPr lang="en-AU" sz="1000" b="0" i="0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AU" sz="1000" b="0" i="0" dirty="0">
                <a:solidFill>
                  <a:srgbClr val="000000"/>
                </a:solidFill>
                <a:effectLst/>
              </a:rPr>
              <a:t>Resting HR &gt;100 bpm with haemodynamic compromise, or new/uncontrolled arrhythmia (e.g. rapid AF, sustained VT, new heart block)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sz="1000" b="0" i="0" dirty="0">
                <a:solidFill>
                  <a:srgbClr val="000000"/>
                </a:solidFill>
                <a:effectLst/>
              </a:rPr>
              <a:t>Systolic BP &lt;90 mmHg or MAP &lt;65 mmHg not responsive to fluid or vasopressor titration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sz="1000" b="0" i="0" dirty="0">
                <a:solidFill>
                  <a:srgbClr val="000000"/>
                </a:solidFill>
                <a:effectLst/>
              </a:rPr>
              <a:t>New or evolving myocardial </a:t>
            </a:r>
            <a:r>
              <a:rPr lang="en-AU" sz="1000" b="0" i="0" dirty="0" err="1">
                <a:solidFill>
                  <a:srgbClr val="000000"/>
                </a:solidFill>
                <a:effectLst/>
              </a:rPr>
              <a:t>ischaemia</a:t>
            </a:r>
            <a:r>
              <a:rPr lang="en-AU" sz="1000" b="0" i="0" dirty="0">
                <a:solidFill>
                  <a:srgbClr val="000000"/>
                </a:solidFill>
                <a:effectLst/>
              </a:rPr>
              <a:t> (ECG changes, rising troponin, chest pain)</a:t>
            </a:r>
          </a:p>
          <a:p>
            <a:pPr algn="l"/>
            <a:r>
              <a:rPr lang="en-AU" sz="1000" b="1" i="0" dirty="0">
                <a:solidFill>
                  <a:srgbClr val="000000"/>
                </a:solidFill>
                <a:effectLst/>
              </a:rPr>
              <a:t>Active haemorrhage or coagulopathy</a:t>
            </a:r>
            <a:endParaRPr lang="en-AU" sz="1000" b="0" i="0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AU" sz="1000" b="0" i="0" dirty="0">
                <a:solidFill>
                  <a:srgbClr val="000000"/>
                </a:solidFill>
                <a:effectLst/>
              </a:rPr>
              <a:t>Chest drain output &gt;200 mL/hour (active surgical bleeding)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sz="1000" b="0" i="0" dirty="0">
                <a:solidFill>
                  <a:srgbClr val="000000"/>
                </a:solidFill>
                <a:effectLst/>
              </a:rPr>
              <a:t>INR or coagulation profile indicating uncontrolled coagulopathy - particularly relevant in the early post-CPB period</a:t>
            </a:r>
          </a:p>
          <a:p>
            <a:pPr algn="l"/>
            <a:r>
              <a:rPr lang="en-AU" sz="1000" b="1" i="0" dirty="0">
                <a:solidFill>
                  <a:srgbClr val="000000"/>
                </a:solidFill>
                <a:effectLst/>
              </a:rPr>
              <a:t>Respiratory failure</a:t>
            </a:r>
            <a:endParaRPr lang="en-AU" sz="1000" b="0" i="0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AU" sz="1000" b="0" i="0" dirty="0">
                <a:solidFill>
                  <a:srgbClr val="000000"/>
                </a:solidFill>
                <a:effectLst/>
              </a:rPr>
              <a:t>SpO2 &lt;88% on current oxygen therapy despite optimisation, or FiO2 requirement &gt;0.6 at rest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sz="1000" b="0" i="0" dirty="0">
                <a:solidFill>
                  <a:srgbClr val="000000"/>
                </a:solidFill>
                <a:effectLst/>
              </a:rPr>
              <a:t>Acute tension pneumothorax or large untreated pneumothorax</a:t>
            </a:r>
          </a:p>
          <a:p>
            <a:pPr algn="l"/>
            <a:r>
              <a:rPr lang="en-AU" sz="1000" b="1" i="0" dirty="0">
                <a:solidFill>
                  <a:srgbClr val="000000"/>
                </a:solidFill>
                <a:effectLst/>
              </a:rPr>
              <a:t>Cardiac surgical specifics</a:t>
            </a:r>
            <a:endParaRPr lang="en-AU" sz="1000" b="0" i="0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AU" sz="1000" b="0" i="0" dirty="0">
                <a:solidFill>
                  <a:srgbClr val="000000"/>
                </a:solidFill>
                <a:effectLst/>
              </a:rPr>
              <a:t>Sternal instability  confirmed or strongly suspected (palpable click, paradoxical movement): all active physiotherapy halted until surgical review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sz="1000" b="0" i="0" dirty="0">
                <a:solidFill>
                  <a:srgbClr val="000000"/>
                </a:solidFill>
                <a:effectLst/>
              </a:rPr>
              <a:t>Tamponade - rising drain output followed by sudden cessation, hypotension, raised JVP, muffled heart sounds (Beck's triad): immediate surgical emergency</a:t>
            </a:r>
          </a:p>
          <a:p>
            <a:pPr algn="l"/>
            <a:r>
              <a:rPr lang="en-AU" sz="1000" b="1" i="0" dirty="0">
                <a:solidFill>
                  <a:srgbClr val="000000"/>
                </a:solidFill>
                <a:effectLst/>
              </a:rPr>
              <a:t>Systemic</a:t>
            </a:r>
            <a:endParaRPr lang="en-AU" sz="1000" b="0" i="0" dirty="0">
              <a:solidFill>
                <a:srgbClr val="000000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AU" sz="1000" b="0" i="0" dirty="0">
                <a:solidFill>
                  <a:srgbClr val="000000"/>
                </a:solidFill>
                <a:effectLst/>
              </a:rPr>
              <a:t>Uncontrolled pyrexia &gt;38.5°C with haemodynamic compromise (simple post-operative fever without instability is a relative precaution, not absolute)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sz="1000" b="0" i="0" dirty="0">
                <a:solidFill>
                  <a:srgbClr val="000000"/>
                </a:solidFill>
                <a:effectLst/>
              </a:rPr>
              <a:t>Severe uncorrected electrolyte disturbance </a:t>
            </a:r>
            <a:r>
              <a:rPr lang="en-AU" sz="1000" dirty="0">
                <a:solidFill>
                  <a:srgbClr val="000000"/>
                </a:solidFill>
              </a:rPr>
              <a:t>- </a:t>
            </a:r>
            <a:r>
              <a:rPr lang="en-AU" sz="1000" b="0" i="0" dirty="0">
                <a:solidFill>
                  <a:srgbClr val="000000"/>
                </a:solidFill>
                <a:effectLst/>
              </a:rPr>
              <a:t>particularly hypokalaemia &lt;3.0 mmol/L or hypomagnesaemia (arrhythmia risk with exertion)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AU" sz="1000" b="0" i="0" dirty="0">
                <a:solidFill>
                  <a:srgbClr val="000000"/>
                </a:solidFill>
                <a:effectLst/>
              </a:rPr>
              <a:t>Altered consciousness or acute agitation precluding safe participation and command-following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C41293-3EAE-F3F4-6D2D-D599D3AF3845}"/>
              </a:ext>
            </a:extLst>
          </p:cNvPr>
          <p:cNvSpPr txBox="1"/>
          <p:nvPr/>
        </p:nvSpPr>
        <p:spPr>
          <a:xfrm>
            <a:off x="4246535" y="152356"/>
            <a:ext cx="4473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Vs                 Lung Transplant Contraindications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73CD44-883F-7D3D-2E43-5504C1876E34}"/>
              </a:ext>
            </a:extLst>
          </p:cNvPr>
          <p:cNvSpPr txBox="1"/>
          <p:nvPr/>
        </p:nvSpPr>
        <p:spPr>
          <a:xfrm>
            <a:off x="4967207" y="521688"/>
            <a:ext cx="4176793" cy="2916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AU" sz="1200" b="1" dirty="0">
                <a:effectLst/>
                <a:ea typeface="Arial" panose="020B0604020202020204" pitchFamily="34" charset="0"/>
              </a:rPr>
              <a:t>Lung specific Contraindications 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AU" sz="1200" dirty="0">
                <a:effectLst/>
                <a:ea typeface="Arial" panose="020B0604020202020204" pitchFamily="34" charset="0"/>
              </a:rPr>
              <a:t>- Active, uncontrolled infection (bacterial, viral - particularly CMV, fungal - Aspergillus) </a:t>
            </a:r>
            <a:r>
              <a:rPr lang="en-AU" sz="1200" dirty="0">
                <a:ea typeface="Arial" panose="020B0604020202020204" pitchFamily="34" charset="0"/>
              </a:rPr>
              <a:t>- </a:t>
            </a:r>
            <a:r>
              <a:rPr lang="en-AU" sz="1200" dirty="0">
                <a:effectLst/>
                <a:ea typeface="Arial" panose="020B0604020202020204" pitchFamily="34" charset="0"/>
              </a:rPr>
              <a:t>exercise during acute infection significantly increases rejection risk and systemic compromise.</a:t>
            </a:r>
          </a:p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en-AU" sz="1200" dirty="0">
                <a:effectLst/>
                <a:ea typeface="Arial" panose="020B0604020202020204" pitchFamily="34" charset="0"/>
              </a:rPr>
              <a:t>- Acute rejection episode (confirmed or suspected) -  evidenced by declining FEV1 (&gt;10% from personal best), fever, malaise, radiographic infiltrates.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AU" sz="1200" dirty="0">
                <a:effectLst/>
                <a:ea typeface="Arial" panose="020B0604020202020204" pitchFamily="34" charset="0"/>
              </a:rPr>
              <a:t>- Haemodynamic instability: resting HR &gt;120 bpm, systolic BP &lt;90 or &gt;180 mmHg, new or worsening arrhythmia.</a:t>
            </a:r>
          </a:p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en-AU" sz="1200" dirty="0">
                <a:effectLst/>
                <a:ea typeface="Arial" panose="020B0604020202020204" pitchFamily="34" charset="0"/>
              </a:rPr>
              <a:t>- Active haemorrhage, significant anaemia (Hb &lt;70 g/L), or uncontrolled coagulopathy.</a:t>
            </a:r>
          </a:p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en-AU" sz="1200" dirty="0">
                <a:effectLst/>
                <a:ea typeface="Arial" panose="020B0604020202020204" pitchFamily="34" charset="0"/>
              </a:rPr>
              <a:t>- Severe electrolyte disturbance (especially hypokalaemia, hypomagnesaemia)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9AE61C-901E-02F9-F079-AE107C648BEA}"/>
              </a:ext>
            </a:extLst>
          </p:cNvPr>
          <p:cNvSpPr txBox="1"/>
          <p:nvPr/>
        </p:nvSpPr>
        <p:spPr>
          <a:xfrm>
            <a:off x="309966" y="138171"/>
            <a:ext cx="2576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Cardiac Contraindications</a:t>
            </a:r>
          </a:p>
        </p:txBody>
      </p:sp>
    </p:spTree>
    <p:extLst>
      <p:ext uri="{BB962C8B-B14F-4D97-AF65-F5344CB8AC3E}">
        <p14:creationId xmlns:p14="http://schemas.microsoft.com/office/powerpoint/2010/main" val="3320354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D75AFC-F78E-8C68-E88B-4416E38AF07F}"/>
              </a:ext>
            </a:extLst>
          </p:cNvPr>
          <p:cNvSpPr txBox="1"/>
          <p:nvPr/>
        </p:nvSpPr>
        <p:spPr>
          <a:xfrm>
            <a:off x="278969" y="195458"/>
            <a:ext cx="8431078" cy="4477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AU" sz="1600" b="1" dirty="0">
                <a:effectLst/>
                <a:ea typeface="Arial" panose="020B0604020202020204" pitchFamily="34" charset="0"/>
              </a:rPr>
              <a:t>Relative Precautions for transplants: </a:t>
            </a:r>
            <a:endParaRPr lang="en-AU" sz="1600" dirty="0">
              <a:effectLst/>
              <a:ea typeface="Arial" panose="020B0604020202020204" pitchFamily="34" charset="0"/>
            </a:endParaRPr>
          </a:p>
          <a:p>
            <a:pPr marL="34290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600" dirty="0">
                <a:effectLst/>
                <a:ea typeface="Arial" panose="020B0604020202020204" pitchFamily="34" charset="0"/>
              </a:rPr>
              <a:t>Osteopenia/Osteoporosis (universal in long-term steroid/</a:t>
            </a:r>
            <a:r>
              <a:rPr lang="en-AU" sz="1600" dirty="0" err="1">
                <a:effectLst/>
                <a:ea typeface="Arial" panose="020B0604020202020204" pitchFamily="34" charset="0"/>
              </a:rPr>
              <a:t>immunosuppressents</a:t>
            </a:r>
            <a:r>
              <a:rPr lang="en-AU" sz="1600" dirty="0">
                <a:effectLst/>
                <a:ea typeface="Arial" panose="020B0604020202020204" pitchFamily="34" charset="0"/>
              </a:rPr>
              <a:t> users): avoid high-impact loading, contact activities, or exercises with significant fall risk. Tailor resistance training to bone health.</a:t>
            </a:r>
          </a:p>
          <a:p>
            <a:pPr marL="34290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600" dirty="0">
                <a:effectLst/>
                <a:ea typeface="Arial" panose="020B0604020202020204" pitchFamily="34" charset="0"/>
              </a:rPr>
              <a:t>Skin fragility and wound healing impairment: monitor incision sites carefully; avoid prolonged pressure or friction.</a:t>
            </a:r>
          </a:p>
          <a:p>
            <a:pPr marL="34290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600" dirty="0">
                <a:effectLst/>
                <a:ea typeface="Arial" panose="020B0604020202020204" pitchFamily="34" charset="0"/>
              </a:rPr>
              <a:t>Denervated heart (cardiac transplant): heart rate response to exercise is blunted and delayed — do not use HR alone for exercise intensity guidance. Use Borg RPE scale (12–14 target) or power output/speed as primary guides.</a:t>
            </a:r>
          </a:p>
          <a:p>
            <a:pPr marL="34290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600" dirty="0">
                <a:effectLst/>
                <a:ea typeface="Arial" panose="020B0604020202020204" pitchFamily="34" charset="0"/>
              </a:rPr>
              <a:t>Absent cough reflex distal to bronchial anastomosis (lung transplant): patients cannot sense or clear secretions in transplanted segments normally — proactive secretion management protocols are essential.</a:t>
            </a:r>
          </a:p>
          <a:p>
            <a:pPr marL="34290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600" dirty="0">
                <a:effectLst/>
                <a:ea typeface="Arial" panose="020B0604020202020204" pitchFamily="34" charset="0"/>
              </a:rPr>
              <a:t>Calcineurin inhibitor neurotoxicity: tremor, peripheral neuropathy, and rarely encephalopathy can affect exercise performance and safety.</a:t>
            </a:r>
          </a:p>
          <a:p>
            <a:pPr marL="34290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600" dirty="0">
                <a:effectLst/>
                <a:ea typeface="Arial" panose="020B0604020202020204" pitchFamily="34" charset="0"/>
              </a:rPr>
              <a:t>Immunosuppression-induced diabetes (NODAT — New Onset Diabetes After Transplant): monitor blood glucose around exercise; hypoglycaemia risk with </a:t>
            </a:r>
            <a:r>
              <a:rPr lang="en-AU" sz="1600" dirty="0" err="1">
                <a:effectLst/>
                <a:ea typeface="Arial" panose="020B0604020202020204" pitchFamily="34" charset="0"/>
              </a:rPr>
              <a:t>sulphonylureas</a:t>
            </a:r>
            <a:r>
              <a:rPr lang="en-AU" sz="1600" dirty="0">
                <a:effectLst/>
                <a:ea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5530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1148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B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Multidisciplinary Team &amp; Transition to Outpatient Rehab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804672"/>
            <a:ext cx="54864" cy="804672"/>
          </a:xfrm>
          <a:prstGeom prst="line">
            <a:avLst/>
          </a:prstGeom>
          <a:solidFill>
            <a:srgbClr val="0B7A7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76072" y="87782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Physiotherapy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6072" y="1133856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Rx, chest physio, mobility, education, discharge planning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64408" y="804672"/>
            <a:ext cx="54864" cy="804672"/>
          </a:xfrm>
          <a:prstGeom prst="line">
            <a:avLst/>
          </a:prstGeom>
          <a:solidFill>
            <a:srgbClr val="0B7A7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29000" y="87782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Doctor/ RMO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1133856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optimisation, arrhythmia, medication titration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7336" y="804672"/>
            <a:ext cx="54864" cy="804672"/>
          </a:xfrm>
          <a:prstGeom prst="line">
            <a:avLst/>
          </a:prstGeom>
          <a:solidFill>
            <a:srgbClr val="0B7A7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81928" y="87782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81928" y="1133856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Wound care, drain management, vitals monitoring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1737360"/>
            <a:ext cx="54864" cy="804672"/>
          </a:xfrm>
          <a:prstGeom prst="line">
            <a:avLst/>
          </a:prstGeom>
          <a:solidFill>
            <a:srgbClr val="0B7A7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6072" y="18105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Occupational Therapy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" y="2066544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 assessment, fatigue management, sternal precautions in daily tasks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64408" y="1737360"/>
            <a:ext cx="54864" cy="804672"/>
          </a:xfrm>
          <a:prstGeom prst="line">
            <a:avLst/>
          </a:prstGeom>
          <a:solidFill>
            <a:srgbClr val="0B7A7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429000" y="18105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Dietitian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29000" y="2066544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Nutritional optimisation, cardiac diet, fluid balance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17336" y="1737360"/>
            <a:ext cx="54864" cy="804672"/>
          </a:xfrm>
          <a:prstGeom prst="line">
            <a:avLst/>
          </a:prstGeom>
          <a:solidFill>
            <a:srgbClr val="0B7A7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281928" y="18105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81928" y="2066544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Anticoagulation monitoring, medication reconciliation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2670048"/>
            <a:ext cx="54864" cy="804672"/>
          </a:xfrm>
          <a:prstGeom prst="line">
            <a:avLst/>
          </a:prstGeom>
          <a:solidFill>
            <a:srgbClr val="0B7A7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76072" y="27432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Work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6072" y="2999232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support packages, community rehab referrals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64408" y="2670048"/>
            <a:ext cx="54864" cy="804672"/>
          </a:xfrm>
          <a:prstGeom prst="line">
            <a:avLst/>
          </a:prstGeom>
          <a:solidFill>
            <a:srgbClr val="0B7A7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429000" y="27432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Psychology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429000" y="2999232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Anxiety/depression screening, ICU-acquired PTSD, adjustment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17336" y="2670048"/>
            <a:ext cx="54864" cy="804672"/>
          </a:xfrm>
          <a:prstGeom prst="line">
            <a:avLst/>
          </a:prstGeom>
          <a:solidFill>
            <a:srgbClr val="0B7A7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81928" y="27432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7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Cardiac/Pulmonary Rehab Coordinator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81928" y="2999232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3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Outpatient enrolment, scheduling, progress monitoring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4070</TotalTime>
  <Words>1516</Words>
  <Application>Microsoft Macintosh PowerPoint</Application>
  <PresentationFormat>On-screen Show (16:9)</PresentationFormat>
  <Paragraphs>178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Google Sans</vt:lpstr>
      <vt:lpstr>Wingdings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Post-Surgical Cardiothoracic Physiotherapy — Study Day</dc:title>
  <dc:subject>PptxGenJS Presentation</dc:subject>
  <dc:creator>Clinical Education</dc:creator>
  <cp:lastModifiedBy>Peter Chong</cp:lastModifiedBy>
  <cp:revision>7</cp:revision>
  <dcterms:created xsi:type="dcterms:W3CDTF">2026-04-18T10:15:10Z</dcterms:created>
  <dcterms:modified xsi:type="dcterms:W3CDTF">2026-04-21T07:14:46Z</dcterms:modified>
</cp:coreProperties>
</file>