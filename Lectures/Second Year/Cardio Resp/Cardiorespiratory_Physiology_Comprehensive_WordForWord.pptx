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4" r:id="rId11"/>
    <p:sldId id="28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>
        <p:scale>
          <a:sx n="74" d="100"/>
          <a:sy n="74" d="100"/>
        </p:scale>
        <p:origin x="108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BF757A-8A25-480F-88C4-E4FBF150D492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D066E8-62C5-4845-9ABF-99BA621954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Molecular: Hypoxia-inducible factors (HIFs), endothelial mechanotransduction</a:t>
          </a:r>
        </a:p>
      </dgm:t>
    </dgm:pt>
    <dgm:pt modelId="{61AB6B4E-83FD-4142-BA4D-76C2D4A15392}" type="parTrans" cxnId="{52A7F62C-61A0-4A50-9F7B-6EA33AEC0021}">
      <dgm:prSet/>
      <dgm:spPr/>
      <dgm:t>
        <a:bodyPr/>
        <a:lstStyle/>
        <a:p>
          <a:endParaRPr lang="en-US"/>
        </a:p>
      </dgm:t>
    </dgm:pt>
    <dgm:pt modelId="{5198A97B-2C5D-43AD-93BB-32E9B6506CA0}" type="sibTrans" cxnId="{52A7F62C-61A0-4A50-9F7B-6EA33AEC002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111C990-2566-4079-8C76-B27BEAB485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Biomechanical: Tissue engineering of heart valves, vascular grafts</a:t>
          </a:r>
        </a:p>
      </dgm:t>
    </dgm:pt>
    <dgm:pt modelId="{52B7A966-EE20-4ECA-86E1-ACDF25F07F03}" type="parTrans" cxnId="{9AE488DD-2529-4ED6-95F7-C0C9774B8BE9}">
      <dgm:prSet/>
      <dgm:spPr/>
      <dgm:t>
        <a:bodyPr/>
        <a:lstStyle/>
        <a:p>
          <a:endParaRPr lang="en-US"/>
        </a:p>
      </dgm:t>
    </dgm:pt>
    <dgm:pt modelId="{D230E6E4-E02B-4763-A828-F8F8A31338D9}" type="sibTrans" cxnId="{9AE488DD-2529-4ED6-95F7-C0C9774B8BE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EF47657-BC46-4F0D-BB8A-DC4E989EF7D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Digital: Wearable monitoring, AI for ECG interpretation</a:t>
          </a:r>
        </a:p>
      </dgm:t>
    </dgm:pt>
    <dgm:pt modelId="{70C54B0B-0462-4AE6-A793-24A11F5DFEDA}" type="parTrans" cxnId="{9C002F33-4B45-4335-B971-4E52080B9FF8}">
      <dgm:prSet/>
      <dgm:spPr/>
      <dgm:t>
        <a:bodyPr/>
        <a:lstStyle/>
        <a:p>
          <a:endParaRPr lang="en-US"/>
        </a:p>
      </dgm:t>
    </dgm:pt>
    <dgm:pt modelId="{F94F8C1F-D757-4C36-92B9-54F1BFFAFA37}" type="sibTrans" cxnId="{9C002F33-4B45-4335-B971-4E52080B9FF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8A1BD8A-BFBA-49EB-AF62-310F9A9792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Therapeutic: Gene therapy for pulmonary hypertension, stem cells for myocardial repair</a:t>
          </a:r>
        </a:p>
      </dgm:t>
    </dgm:pt>
    <dgm:pt modelId="{DC722E63-643F-4D7B-AD42-C2F6625F97F2}" type="parTrans" cxnId="{69557C3D-5A08-4183-9115-EAD1A4B9896F}">
      <dgm:prSet/>
      <dgm:spPr/>
      <dgm:t>
        <a:bodyPr/>
        <a:lstStyle/>
        <a:p>
          <a:endParaRPr lang="en-US"/>
        </a:p>
      </dgm:t>
    </dgm:pt>
    <dgm:pt modelId="{01DF8FFD-3EE8-438A-BEF4-C6A15AEE6BDF}" type="sibTrans" cxnId="{69557C3D-5A08-4183-9115-EAD1A4B9896F}">
      <dgm:prSet/>
      <dgm:spPr/>
      <dgm:t>
        <a:bodyPr/>
        <a:lstStyle/>
        <a:p>
          <a:endParaRPr lang="en-US"/>
        </a:p>
      </dgm:t>
    </dgm:pt>
    <dgm:pt modelId="{91FAF639-B5E4-43F2-8775-D784FFC0C679}" type="pres">
      <dgm:prSet presAssocID="{73BF757A-8A25-480F-88C4-E4FBF150D492}" presName="root" presStyleCnt="0">
        <dgm:presLayoutVars>
          <dgm:dir/>
          <dgm:resizeHandles val="exact"/>
        </dgm:presLayoutVars>
      </dgm:prSet>
      <dgm:spPr/>
    </dgm:pt>
    <dgm:pt modelId="{3DCCC328-360D-4F84-ACEF-732AF4D71FB3}" type="pres">
      <dgm:prSet presAssocID="{73BF757A-8A25-480F-88C4-E4FBF150D492}" presName="container" presStyleCnt="0">
        <dgm:presLayoutVars>
          <dgm:dir/>
          <dgm:resizeHandles val="exact"/>
        </dgm:presLayoutVars>
      </dgm:prSet>
      <dgm:spPr/>
    </dgm:pt>
    <dgm:pt modelId="{660844B6-9C16-44D8-8247-C070830FAC5A}" type="pres">
      <dgm:prSet presAssocID="{2DD066E8-62C5-4845-9ABF-99BA62195477}" presName="compNode" presStyleCnt="0"/>
      <dgm:spPr/>
    </dgm:pt>
    <dgm:pt modelId="{6F78B8EF-51E6-4013-9E30-B5639170B87B}" type="pres">
      <dgm:prSet presAssocID="{2DD066E8-62C5-4845-9ABF-99BA62195477}" presName="iconBgRect" presStyleLbl="bgShp" presStyleIdx="0" presStyleCnt="4"/>
      <dgm:spPr/>
    </dgm:pt>
    <dgm:pt modelId="{9EB51243-A778-4D35-B1F5-8F7F802AB78B}" type="pres">
      <dgm:prSet presAssocID="{2DD066E8-62C5-4845-9ABF-99BA6219547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9F5B68FC-2549-4F3A-B5CC-DAAF3EC03BDF}" type="pres">
      <dgm:prSet presAssocID="{2DD066E8-62C5-4845-9ABF-99BA62195477}" presName="spaceRect" presStyleCnt="0"/>
      <dgm:spPr/>
    </dgm:pt>
    <dgm:pt modelId="{B1BFA095-76A7-4E2C-A94E-205836BE66A6}" type="pres">
      <dgm:prSet presAssocID="{2DD066E8-62C5-4845-9ABF-99BA62195477}" presName="textRect" presStyleLbl="revTx" presStyleIdx="0" presStyleCnt="4">
        <dgm:presLayoutVars>
          <dgm:chMax val="1"/>
          <dgm:chPref val="1"/>
        </dgm:presLayoutVars>
      </dgm:prSet>
      <dgm:spPr/>
    </dgm:pt>
    <dgm:pt modelId="{D20FF254-2053-41E0-8FE1-14BA91C8252A}" type="pres">
      <dgm:prSet presAssocID="{5198A97B-2C5D-43AD-93BB-32E9B6506CA0}" presName="sibTrans" presStyleLbl="sibTrans2D1" presStyleIdx="0" presStyleCnt="0"/>
      <dgm:spPr/>
    </dgm:pt>
    <dgm:pt modelId="{2DBAF644-8F0E-4935-9ACE-626ED9E483D7}" type="pres">
      <dgm:prSet presAssocID="{9111C990-2566-4079-8C76-B27BEAB48543}" presName="compNode" presStyleCnt="0"/>
      <dgm:spPr/>
    </dgm:pt>
    <dgm:pt modelId="{016F4394-F299-49BE-A50D-FD80C5CF4D3B}" type="pres">
      <dgm:prSet presAssocID="{9111C990-2566-4079-8C76-B27BEAB48543}" presName="iconBgRect" presStyleLbl="bgShp" presStyleIdx="1" presStyleCnt="4"/>
      <dgm:spPr/>
    </dgm:pt>
    <dgm:pt modelId="{F2F4FBC8-991D-4E55-BD85-05658148D192}" type="pres">
      <dgm:prSet presAssocID="{9111C990-2566-4079-8C76-B27BEAB4854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C64BF0D4-53BA-4155-BD06-8E0E974D16BF}" type="pres">
      <dgm:prSet presAssocID="{9111C990-2566-4079-8C76-B27BEAB48543}" presName="spaceRect" presStyleCnt="0"/>
      <dgm:spPr/>
    </dgm:pt>
    <dgm:pt modelId="{BF3CEAC5-769B-4964-AF9B-30641728D0FF}" type="pres">
      <dgm:prSet presAssocID="{9111C990-2566-4079-8C76-B27BEAB48543}" presName="textRect" presStyleLbl="revTx" presStyleIdx="1" presStyleCnt="4">
        <dgm:presLayoutVars>
          <dgm:chMax val="1"/>
          <dgm:chPref val="1"/>
        </dgm:presLayoutVars>
      </dgm:prSet>
      <dgm:spPr/>
    </dgm:pt>
    <dgm:pt modelId="{2610109A-0DB8-4172-966D-BF8925BBCAF4}" type="pres">
      <dgm:prSet presAssocID="{D230E6E4-E02B-4763-A828-F8F8A31338D9}" presName="sibTrans" presStyleLbl="sibTrans2D1" presStyleIdx="0" presStyleCnt="0"/>
      <dgm:spPr/>
    </dgm:pt>
    <dgm:pt modelId="{6BDAA493-E2A1-43C8-80B2-EC3653090A67}" type="pres">
      <dgm:prSet presAssocID="{4EF47657-BC46-4F0D-BB8A-DC4E989EF7D1}" presName="compNode" presStyleCnt="0"/>
      <dgm:spPr/>
    </dgm:pt>
    <dgm:pt modelId="{C2968D64-3910-4188-8959-835860BBB48B}" type="pres">
      <dgm:prSet presAssocID="{4EF47657-BC46-4F0D-BB8A-DC4E989EF7D1}" presName="iconBgRect" presStyleLbl="bgShp" presStyleIdx="2" presStyleCnt="4"/>
      <dgm:spPr/>
    </dgm:pt>
    <dgm:pt modelId="{AB254F40-F077-4BB2-BF8D-37260213CC3B}" type="pres">
      <dgm:prSet presAssocID="{4EF47657-BC46-4F0D-BB8A-DC4E989EF7D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33E20F57-866F-468A-90D9-F80C07AB9DD3}" type="pres">
      <dgm:prSet presAssocID="{4EF47657-BC46-4F0D-BB8A-DC4E989EF7D1}" presName="spaceRect" presStyleCnt="0"/>
      <dgm:spPr/>
    </dgm:pt>
    <dgm:pt modelId="{E5152A08-ACE7-472A-9259-94899F872F12}" type="pres">
      <dgm:prSet presAssocID="{4EF47657-BC46-4F0D-BB8A-DC4E989EF7D1}" presName="textRect" presStyleLbl="revTx" presStyleIdx="2" presStyleCnt="4">
        <dgm:presLayoutVars>
          <dgm:chMax val="1"/>
          <dgm:chPref val="1"/>
        </dgm:presLayoutVars>
      </dgm:prSet>
      <dgm:spPr/>
    </dgm:pt>
    <dgm:pt modelId="{4F4B76D7-CCD6-463B-9625-C5C2F544B411}" type="pres">
      <dgm:prSet presAssocID="{F94F8C1F-D757-4C36-92B9-54F1BFFAFA37}" presName="sibTrans" presStyleLbl="sibTrans2D1" presStyleIdx="0" presStyleCnt="0"/>
      <dgm:spPr/>
    </dgm:pt>
    <dgm:pt modelId="{35B6DA31-E151-48EC-8116-3AEFB9A8BF60}" type="pres">
      <dgm:prSet presAssocID="{78A1BD8A-BFBA-49EB-AF62-310F9A979279}" presName="compNode" presStyleCnt="0"/>
      <dgm:spPr/>
    </dgm:pt>
    <dgm:pt modelId="{26563BE7-867E-40EF-B6EB-5F8821C859FD}" type="pres">
      <dgm:prSet presAssocID="{78A1BD8A-BFBA-49EB-AF62-310F9A979279}" presName="iconBgRect" presStyleLbl="bgShp" presStyleIdx="3" presStyleCnt="4"/>
      <dgm:spPr/>
    </dgm:pt>
    <dgm:pt modelId="{502CE292-E589-4060-8EAE-A53B44CDC3C5}" type="pres">
      <dgm:prSet presAssocID="{78A1BD8A-BFBA-49EB-AF62-310F9A9792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dneys"/>
        </a:ext>
      </dgm:extLst>
    </dgm:pt>
    <dgm:pt modelId="{52DDC5D4-947A-4E81-B043-3875CF69153A}" type="pres">
      <dgm:prSet presAssocID="{78A1BD8A-BFBA-49EB-AF62-310F9A979279}" presName="spaceRect" presStyleCnt="0"/>
      <dgm:spPr/>
    </dgm:pt>
    <dgm:pt modelId="{02035830-BB34-4509-8576-00537BAE7DFE}" type="pres">
      <dgm:prSet presAssocID="{78A1BD8A-BFBA-49EB-AF62-310F9A97927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5E4F323-3AD5-4F54-81E8-DDA659866F0D}" type="presOf" srcId="{4EF47657-BC46-4F0D-BB8A-DC4E989EF7D1}" destId="{E5152A08-ACE7-472A-9259-94899F872F12}" srcOrd="0" destOrd="0" presId="urn:microsoft.com/office/officeart/2018/2/layout/IconCircleList"/>
    <dgm:cxn modelId="{52A7F62C-61A0-4A50-9F7B-6EA33AEC0021}" srcId="{73BF757A-8A25-480F-88C4-E4FBF150D492}" destId="{2DD066E8-62C5-4845-9ABF-99BA62195477}" srcOrd="0" destOrd="0" parTransId="{61AB6B4E-83FD-4142-BA4D-76C2D4A15392}" sibTransId="{5198A97B-2C5D-43AD-93BB-32E9B6506CA0}"/>
    <dgm:cxn modelId="{9C002F33-4B45-4335-B971-4E52080B9FF8}" srcId="{73BF757A-8A25-480F-88C4-E4FBF150D492}" destId="{4EF47657-BC46-4F0D-BB8A-DC4E989EF7D1}" srcOrd="2" destOrd="0" parTransId="{70C54B0B-0462-4AE6-A793-24A11F5DFEDA}" sibTransId="{F94F8C1F-D757-4C36-92B9-54F1BFFAFA37}"/>
    <dgm:cxn modelId="{0879153B-9E62-4C9A-B19F-84E3B6B0A289}" type="presOf" srcId="{2DD066E8-62C5-4845-9ABF-99BA62195477}" destId="{B1BFA095-76A7-4E2C-A94E-205836BE66A6}" srcOrd="0" destOrd="0" presId="urn:microsoft.com/office/officeart/2018/2/layout/IconCircleList"/>
    <dgm:cxn modelId="{69557C3D-5A08-4183-9115-EAD1A4B9896F}" srcId="{73BF757A-8A25-480F-88C4-E4FBF150D492}" destId="{78A1BD8A-BFBA-49EB-AF62-310F9A979279}" srcOrd="3" destOrd="0" parTransId="{DC722E63-643F-4D7B-AD42-C2F6625F97F2}" sibTransId="{01DF8FFD-3EE8-438A-BEF4-C6A15AEE6BDF}"/>
    <dgm:cxn modelId="{7A52CF9C-3BB6-478C-A57F-D8E54DB5CB7B}" type="presOf" srcId="{73BF757A-8A25-480F-88C4-E4FBF150D492}" destId="{91FAF639-B5E4-43F2-8775-D784FFC0C679}" srcOrd="0" destOrd="0" presId="urn:microsoft.com/office/officeart/2018/2/layout/IconCircleList"/>
    <dgm:cxn modelId="{3AB718A5-48A7-4CD9-9620-ADAEE68135AF}" type="presOf" srcId="{78A1BD8A-BFBA-49EB-AF62-310F9A979279}" destId="{02035830-BB34-4509-8576-00537BAE7DFE}" srcOrd="0" destOrd="0" presId="urn:microsoft.com/office/officeart/2018/2/layout/IconCircleList"/>
    <dgm:cxn modelId="{B68CF1A5-4419-4EA7-BD73-E3616BB279D6}" type="presOf" srcId="{5198A97B-2C5D-43AD-93BB-32E9B6506CA0}" destId="{D20FF254-2053-41E0-8FE1-14BA91C8252A}" srcOrd="0" destOrd="0" presId="urn:microsoft.com/office/officeart/2018/2/layout/IconCircleList"/>
    <dgm:cxn modelId="{780BB1BB-62A3-45EA-B6FF-3A78CA9CE7CB}" type="presOf" srcId="{D230E6E4-E02B-4763-A828-F8F8A31338D9}" destId="{2610109A-0DB8-4172-966D-BF8925BBCAF4}" srcOrd="0" destOrd="0" presId="urn:microsoft.com/office/officeart/2018/2/layout/IconCircleList"/>
    <dgm:cxn modelId="{F23A24CF-223E-416A-968B-84BC92024D1F}" type="presOf" srcId="{9111C990-2566-4079-8C76-B27BEAB48543}" destId="{BF3CEAC5-769B-4964-AF9B-30641728D0FF}" srcOrd="0" destOrd="0" presId="urn:microsoft.com/office/officeart/2018/2/layout/IconCircleList"/>
    <dgm:cxn modelId="{9AE488DD-2529-4ED6-95F7-C0C9774B8BE9}" srcId="{73BF757A-8A25-480F-88C4-E4FBF150D492}" destId="{9111C990-2566-4079-8C76-B27BEAB48543}" srcOrd="1" destOrd="0" parTransId="{52B7A966-EE20-4ECA-86E1-ACDF25F07F03}" sibTransId="{D230E6E4-E02B-4763-A828-F8F8A31338D9}"/>
    <dgm:cxn modelId="{599EEEDD-5BDB-429D-82F0-F233FB6A0CD9}" type="presOf" srcId="{F94F8C1F-D757-4C36-92B9-54F1BFFAFA37}" destId="{4F4B76D7-CCD6-463B-9625-C5C2F544B411}" srcOrd="0" destOrd="0" presId="urn:microsoft.com/office/officeart/2018/2/layout/IconCircleList"/>
    <dgm:cxn modelId="{46CD0D2A-0FC4-4999-8C06-99C23F45B649}" type="presParOf" srcId="{91FAF639-B5E4-43F2-8775-D784FFC0C679}" destId="{3DCCC328-360D-4F84-ACEF-732AF4D71FB3}" srcOrd="0" destOrd="0" presId="urn:microsoft.com/office/officeart/2018/2/layout/IconCircleList"/>
    <dgm:cxn modelId="{DB4D5CB1-545F-45E8-82DF-AC7C786DB77F}" type="presParOf" srcId="{3DCCC328-360D-4F84-ACEF-732AF4D71FB3}" destId="{660844B6-9C16-44D8-8247-C070830FAC5A}" srcOrd="0" destOrd="0" presId="urn:microsoft.com/office/officeart/2018/2/layout/IconCircleList"/>
    <dgm:cxn modelId="{5FF94F8A-508F-4CC3-9968-262A6A3B650B}" type="presParOf" srcId="{660844B6-9C16-44D8-8247-C070830FAC5A}" destId="{6F78B8EF-51E6-4013-9E30-B5639170B87B}" srcOrd="0" destOrd="0" presId="urn:microsoft.com/office/officeart/2018/2/layout/IconCircleList"/>
    <dgm:cxn modelId="{A18F226D-398A-4AB7-854A-BFF801F6A101}" type="presParOf" srcId="{660844B6-9C16-44D8-8247-C070830FAC5A}" destId="{9EB51243-A778-4D35-B1F5-8F7F802AB78B}" srcOrd="1" destOrd="0" presId="urn:microsoft.com/office/officeart/2018/2/layout/IconCircleList"/>
    <dgm:cxn modelId="{A0E5B735-242A-4BC1-A350-AC86EACE65AA}" type="presParOf" srcId="{660844B6-9C16-44D8-8247-C070830FAC5A}" destId="{9F5B68FC-2549-4F3A-B5CC-DAAF3EC03BDF}" srcOrd="2" destOrd="0" presId="urn:microsoft.com/office/officeart/2018/2/layout/IconCircleList"/>
    <dgm:cxn modelId="{A2E2D33D-35CF-4363-BEDB-25D8558C24AD}" type="presParOf" srcId="{660844B6-9C16-44D8-8247-C070830FAC5A}" destId="{B1BFA095-76A7-4E2C-A94E-205836BE66A6}" srcOrd="3" destOrd="0" presId="urn:microsoft.com/office/officeart/2018/2/layout/IconCircleList"/>
    <dgm:cxn modelId="{5E0F93DC-39AA-4041-8B34-AAD28C521203}" type="presParOf" srcId="{3DCCC328-360D-4F84-ACEF-732AF4D71FB3}" destId="{D20FF254-2053-41E0-8FE1-14BA91C8252A}" srcOrd="1" destOrd="0" presId="urn:microsoft.com/office/officeart/2018/2/layout/IconCircleList"/>
    <dgm:cxn modelId="{885ED380-A680-4975-89EA-DA1C09EB8EAB}" type="presParOf" srcId="{3DCCC328-360D-4F84-ACEF-732AF4D71FB3}" destId="{2DBAF644-8F0E-4935-9ACE-626ED9E483D7}" srcOrd="2" destOrd="0" presId="urn:microsoft.com/office/officeart/2018/2/layout/IconCircleList"/>
    <dgm:cxn modelId="{8EFF69A5-C5AD-4A54-A66B-949C2DAC9D5A}" type="presParOf" srcId="{2DBAF644-8F0E-4935-9ACE-626ED9E483D7}" destId="{016F4394-F299-49BE-A50D-FD80C5CF4D3B}" srcOrd="0" destOrd="0" presId="urn:microsoft.com/office/officeart/2018/2/layout/IconCircleList"/>
    <dgm:cxn modelId="{D9B68189-9CA7-4120-96EC-0BA4DB5399EA}" type="presParOf" srcId="{2DBAF644-8F0E-4935-9ACE-626ED9E483D7}" destId="{F2F4FBC8-991D-4E55-BD85-05658148D192}" srcOrd="1" destOrd="0" presId="urn:microsoft.com/office/officeart/2018/2/layout/IconCircleList"/>
    <dgm:cxn modelId="{4E267715-F851-4FEE-93DB-C496611E6E7F}" type="presParOf" srcId="{2DBAF644-8F0E-4935-9ACE-626ED9E483D7}" destId="{C64BF0D4-53BA-4155-BD06-8E0E974D16BF}" srcOrd="2" destOrd="0" presId="urn:microsoft.com/office/officeart/2018/2/layout/IconCircleList"/>
    <dgm:cxn modelId="{9BADBFA3-9E4C-4E3A-B8D4-0D9385874984}" type="presParOf" srcId="{2DBAF644-8F0E-4935-9ACE-626ED9E483D7}" destId="{BF3CEAC5-769B-4964-AF9B-30641728D0FF}" srcOrd="3" destOrd="0" presId="urn:microsoft.com/office/officeart/2018/2/layout/IconCircleList"/>
    <dgm:cxn modelId="{BD9EEE2F-B65B-42C3-A257-D15F13A61AED}" type="presParOf" srcId="{3DCCC328-360D-4F84-ACEF-732AF4D71FB3}" destId="{2610109A-0DB8-4172-966D-BF8925BBCAF4}" srcOrd="3" destOrd="0" presId="urn:microsoft.com/office/officeart/2018/2/layout/IconCircleList"/>
    <dgm:cxn modelId="{F8AE4DD9-34CC-47D9-ABCD-B33B06863BDE}" type="presParOf" srcId="{3DCCC328-360D-4F84-ACEF-732AF4D71FB3}" destId="{6BDAA493-E2A1-43C8-80B2-EC3653090A67}" srcOrd="4" destOrd="0" presId="urn:microsoft.com/office/officeart/2018/2/layout/IconCircleList"/>
    <dgm:cxn modelId="{1F076A36-C570-4484-A533-4F4B7BE96126}" type="presParOf" srcId="{6BDAA493-E2A1-43C8-80B2-EC3653090A67}" destId="{C2968D64-3910-4188-8959-835860BBB48B}" srcOrd="0" destOrd="0" presId="urn:microsoft.com/office/officeart/2018/2/layout/IconCircleList"/>
    <dgm:cxn modelId="{8BE8D37E-1AA0-4CAA-972C-3BB0DE65596B}" type="presParOf" srcId="{6BDAA493-E2A1-43C8-80B2-EC3653090A67}" destId="{AB254F40-F077-4BB2-BF8D-37260213CC3B}" srcOrd="1" destOrd="0" presId="urn:microsoft.com/office/officeart/2018/2/layout/IconCircleList"/>
    <dgm:cxn modelId="{8D4A74E2-9B30-45D6-83AF-8F1C9C7D64DE}" type="presParOf" srcId="{6BDAA493-E2A1-43C8-80B2-EC3653090A67}" destId="{33E20F57-866F-468A-90D9-F80C07AB9DD3}" srcOrd="2" destOrd="0" presId="urn:microsoft.com/office/officeart/2018/2/layout/IconCircleList"/>
    <dgm:cxn modelId="{676F7473-EDC5-4E2F-8BCB-4F6622D19921}" type="presParOf" srcId="{6BDAA493-E2A1-43C8-80B2-EC3653090A67}" destId="{E5152A08-ACE7-472A-9259-94899F872F12}" srcOrd="3" destOrd="0" presId="urn:microsoft.com/office/officeart/2018/2/layout/IconCircleList"/>
    <dgm:cxn modelId="{A53A0D0B-5943-4E52-A8A0-C40F5826E993}" type="presParOf" srcId="{3DCCC328-360D-4F84-ACEF-732AF4D71FB3}" destId="{4F4B76D7-CCD6-463B-9625-C5C2F544B411}" srcOrd="5" destOrd="0" presId="urn:microsoft.com/office/officeart/2018/2/layout/IconCircleList"/>
    <dgm:cxn modelId="{18347BA4-634A-4D91-816B-0563F5D84E0A}" type="presParOf" srcId="{3DCCC328-360D-4F84-ACEF-732AF4D71FB3}" destId="{35B6DA31-E151-48EC-8116-3AEFB9A8BF60}" srcOrd="6" destOrd="0" presId="urn:microsoft.com/office/officeart/2018/2/layout/IconCircleList"/>
    <dgm:cxn modelId="{36A1EF0D-482A-4607-B9B6-FBCCE1AFD41E}" type="presParOf" srcId="{35B6DA31-E151-48EC-8116-3AEFB9A8BF60}" destId="{26563BE7-867E-40EF-B6EB-5F8821C859FD}" srcOrd="0" destOrd="0" presId="urn:microsoft.com/office/officeart/2018/2/layout/IconCircleList"/>
    <dgm:cxn modelId="{F84668B0-64B6-48CB-AED9-D5E070985053}" type="presParOf" srcId="{35B6DA31-E151-48EC-8116-3AEFB9A8BF60}" destId="{502CE292-E589-4060-8EAE-A53B44CDC3C5}" srcOrd="1" destOrd="0" presId="urn:microsoft.com/office/officeart/2018/2/layout/IconCircleList"/>
    <dgm:cxn modelId="{79240843-D9C9-45D8-AF51-6321E463ED86}" type="presParOf" srcId="{35B6DA31-E151-48EC-8116-3AEFB9A8BF60}" destId="{52DDC5D4-947A-4E81-B043-3875CF69153A}" srcOrd="2" destOrd="0" presId="urn:microsoft.com/office/officeart/2018/2/layout/IconCircleList"/>
    <dgm:cxn modelId="{CECA90DC-197B-4E8A-A49F-379381A0DBBA}" type="presParOf" srcId="{35B6DA31-E151-48EC-8116-3AEFB9A8BF60}" destId="{02035830-BB34-4509-8576-00537BAE7DF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78B8EF-51E6-4013-9E30-B5639170B87B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B51243-A778-4D35-B1F5-8F7F802AB78B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FA095-76A7-4E2C-A94E-205836BE66A6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Molecular: Hypoxia-inducible factors (HIFs), endothelial mechanotransduction</a:t>
          </a:r>
        </a:p>
      </dsp:txBody>
      <dsp:txXfrm>
        <a:off x="1340173" y="795493"/>
        <a:ext cx="2552269" cy="1082781"/>
      </dsp:txXfrm>
    </dsp:sp>
    <dsp:sp modelId="{016F4394-F299-49BE-A50D-FD80C5CF4D3B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F4FBC8-991D-4E55-BD85-05658148D192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CEAC5-769B-4964-AF9B-30641728D0FF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Biomechanical: Tissue engineering of heart valves, vascular grafts</a:t>
          </a:r>
        </a:p>
      </dsp:txBody>
      <dsp:txXfrm>
        <a:off x="5651962" y="795493"/>
        <a:ext cx="2552269" cy="1082781"/>
      </dsp:txXfrm>
    </dsp:sp>
    <dsp:sp modelId="{C2968D64-3910-4188-8959-835860BBB48B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254F40-F077-4BB2-BF8D-37260213CC3B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152A08-ACE7-472A-9259-94899F872F12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Digital: Wearable monitoring, AI for ECG interpretation</a:t>
          </a:r>
        </a:p>
      </dsp:txBody>
      <dsp:txXfrm>
        <a:off x="1340173" y="2647688"/>
        <a:ext cx="2552269" cy="1082781"/>
      </dsp:txXfrm>
    </dsp:sp>
    <dsp:sp modelId="{26563BE7-867E-40EF-B6EB-5F8821C859FD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2CE292-E589-4060-8EAE-A53B44CDC3C5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35830-BB34-4509-8576-00537BAE7DFE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Therapeutic: Gene therapy for pulmonary hypertension, stem cells for myocardial repair</a:t>
          </a:r>
        </a:p>
      </dsp:txBody>
      <dsp:txXfrm>
        <a:off x="5651962" y="2647688"/>
        <a:ext cx="2552269" cy="1082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INTEGRATED PHYSIOLOGY OF THE CARDIORESPIRATORY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From Cellular Respiration to Systemic Integration</a:t>
            </a:r>
          </a:p>
          <a:p>
            <a:r>
              <a:rPr lang="en-GB" dirty="0"/>
              <a:t>Kola Akinlabi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582" y="-224126"/>
            <a:ext cx="8229600" cy="1143000"/>
          </a:xfrm>
        </p:spPr>
        <p:txBody>
          <a:bodyPr/>
          <a:lstStyle/>
          <a:p>
            <a:r>
              <a:rPr lang="en-GB" dirty="0"/>
              <a:t>Learning 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545" y="967365"/>
            <a:ext cx="8229600" cy="5516562"/>
          </a:xfrm>
        </p:spPr>
        <p:txBody>
          <a:bodyPr>
            <a:noAutofit/>
          </a:bodyPr>
          <a:lstStyle/>
          <a:p>
            <a:r>
              <a:rPr sz="2400" dirty="0"/>
              <a:t>Explain the mechanics of pulmonary ventilation and gas exchange</a:t>
            </a:r>
            <a:endParaRPr lang="en-GB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Describe cardiac electrophysiology and the cardiac cycle</a:t>
            </a:r>
            <a:endParaRPr lang="en-GB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Analyze cardiovascular hemodynamics and blood pressure regulation</a:t>
            </a:r>
            <a:endParaRPr lang="en-GB" sz="2400" dirty="0"/>
          </a:p>
          <a:p>
            <a:endParaRPr sz="2400" dirty="0"/>
          </a:p>
          <a:p>
            <a:r>
              <a:rPr sz="2400" dirty="0"/>
              <a:t>Integrate respiratory and cardiovascular control mechanisms</a:t>
            </a:r>
            <a:endParaRPr lang="en-GB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Apply physiological principles to clinical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0736"/>
            <a:ext cx="7228936" cy="457199"/>
          </a:xfrm>
        </p:spPr>
        <p:txBody>
          <a:bodyPr>
            <a:normAutofit fontScale="90000"/>
          </a:bodyPr>
          <a:lstStyle/>
          <a:p>
            <a:r>
              <a:rPr sz="3200" b="1" dirty="0"/>
              <a:t>The Oxygen Delivery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0498"/>
            <a:ext cx="8229600" cy="59967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400" b="1" dirty="0"/>
              <a:t>Primary Function</a:t>
            </a:r>
            <a:endParaRPr lang="en-GB" sz="2400" b="1" dirty="0"/>
          </a:p>
          <a:p>
            <a:pPr marL="0" indent="0">
              <a:buNone/>
            </a:pPr>
            <a:r>
              <a:rPr sz="2400" dirty="0"/>
              <a:t>Deliver O₂ to tissues, remove CO₂ from body</a:t>
            </a:r>
            <a:endParaRPr lang="en-GB" sz="2400" dirty="0"/>
          </a:p>
          <a:p>
            <a:pPr marL="0" indent="0">
              <a:buNone/>
            </a:pPr>
            <a:endParaRPr sz="2400" dirty="0"/>
          </a:p>
          <a:p>
            <a:pPr marL="0" indent="0">
              <a:buNone/>
            </a:pPr>
            <a:r>
              <a:rPr sz="2400" b="1" dirty="0"/>
              <a:t>Three Integrated Components:</a:t>
            </a:r>
          </a:p>
          <a:p>
            <a:r>
              <a:rPr sz="2400" dirty="0"/>
              <a:t>Respiratory System: Gas exchange interface</a:t>
            </a:r>
          </a:p>
          <a:p>
            <a:r>
              <a:rPr sz="2400" dirty="0"/>
              <a:t>Cardiovascular System: Transport system</a:t>
            </a:r>
          </a:p>
          <a:p>
            <a:r>
              <a:rPr sz="2400" dirty="0"/>
              <a:t>Blood: Carrier medium</a:t>
            </a:r>
            <a:endParaRPr lang="en-GB" sz="2400" dirty="0"/>
          </a:p>
          <a:p>
            <a:pPr marL="0" indent="0">
              <a:buNone/>
            </a:pPr>
            <a:endParaRPr sz="2400" b="1" dirty="0"/>
          </a:p>
          <a:p>
            <a:pPr marL="0" indent="0">
              <a:buNone/>
            </a:pPr>
            <a:r>
              <a:rPr sz="2400" b="1" dirty="0"/>
              <a:t>Key Performance Metrics:</a:t>
            </a:r>
          </a:p>
          <a:p>
            <a:r>
              <a:rPr sz="2400" dirty="0"/>
              <a:t>Cardiac Output (CO): 5-6 L/min</a:t>
            </a:r>
          </a:p>
          <a:p>
            <a:r>
              <a:rPr sz="2400" dirty="0"/>
              <a:t>Oxygen Consumption (VO₂): 250 mL/min (rest)</a:t>
            </a:r>
          </a:p>
          <a:p>
            <a:r>
              <a:rPr sz="2400" dirty="0"/>
              <a:t>Ventilation (V̇E): 6-8 L/min (rest)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599" y="2286000"/>
            <a:ext cx="6754483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/>
            </a:pPr>
            <a:r>
              <a:rPr lang="en-GB" dirty="0"/>
              <a:t>                     </a:t>
            </a:r>
            <a:r>
              <a:rPr dirty="0"/>
              <a:t>SECTION 1 </a:t>
            </a:r>
            <a:endParaRPr lang="en-GB" dirty="0"/>
          </a:p>
          <a:p>
            <a:pPr>
              <a:defRPr sz="3200"/>
            </a:pPr>
            <a:r>
              <a:rPr sz="3600" b="1" dirty="0"/>
              <a:t>RESPIRATORY PHYSIOLOGY</a:t>
            </a:r>
            <a:r>
              <a:rPr lang="en-GB" sz="3600" b="1" dirty="0"/>
              <a:t> </a:t>
            </a:r>
            <a:endParaRPr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2" name="Rectangle 1051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8" name="Rectangle 1047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94" y="6783"/>
            <a:ext cx="7269129" cy="101120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200" dirty="0"/>
              <a:t>Pulmonary Ventilation: </a:t>
            </a:r>
            <a:br>
              <a:rPr lang="en-GB" sz="3200" dirty="0"/>
            </a:br>
            <a:r>
              <a:rPr lang="en-GB" sz="3200" dirty="0"/>
              <a:t>The Physics of Breathing</a:t>
            </a: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4" name="Rectangle 105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026" name="Picture 2" descr="Ch 22-2, slide/book Flashcards | Quizlet">
            <a:extLst>
              <a:ext uri="{FF2B5EF4-FFF2-40B4-BE49-F238E27FC236}">
                <a16:creationId xmlns:a16="http://schemas.microsoft.com/office/drawing/2014/main" id="{2D5BB09B-1E57-FA15-48E0-3B132E379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517" y="1222225"/>
            <a:ext cx="4686956" cy="479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4571" y="-1705969"/>
            <a:ext cx="4339179" cy="795183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GB" sz="1400" b="1" dirty="0"/>
          </a:p>
          <a:p>
            <a:pPr marL="0" indent="0">
              <a:lnSpc>
                <a:spcPct val="90000"/>
              </a:lnSpc>
              <a:buNone/>
            </a:pPr>
            <a:endParaRPr lang="en-GB" sz="1400" b="1" dirty="0"/>
          </a:p>
          <a:p>
            <a:pPr marL="0" indent="0">
              <a:lnSpc>
                <a:spcPct val="90000"/>
              </a:lnSpc>
              <a:buNone/>
            </a:pPr>
            <a:endParaRPr lang="en-GB" sz="1400" b="1" dirty="0"/>
          </a:p>
          <a:p>
            <a:pPr marL="0" indent="0">
              <a:lnSpc>
                <a:spcPct val="90000"/>
              </a:lnSpc>
              <a:buNone/>
            </a:pPr>
            <a:endParaRPr lang="en-GB" sz="1400" b="1" dirty="0"/>
          </a:p>
          <a:p>
            <a:pPr marL="0" indent="0">
              <a:lnSpc>
                <a:spcPct val="90000"/>
              </a:lnSpc>
              <a:buNone/>
            </a:pPr>
            <a:endParaRPr lang="en-GB" sz="1400" b="1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Pressure Gradients Drive Air Flow: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dirty="0"/>
              <a:t>Pₐₗᵥ &lt; Pₐₜₘ → Inspiration (air in)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dirty="0"/>
              <a:t>Pₐₗᵥ &gt; Pₐₜₘ → Expiration (air out)</a:t>
            </a:r>
          </a:p>
          <a:p>
            <a:pPr marL="0" indent="0">
              <a:lnSpc>
                <a:spcPct val="90000"/>
              </a:lnSpc>
              <a:buNone/>
            </a:pPr>
            <a:endParaRPr lang="en-GB" sz="1400" dirty="0"/>
          </a:p>
          <a:p>
            <a:pPr marL="0" indent="0">
              <a:lnSpc>
                <a:spcPct val="90000"/>
              </a:lnSpc>
              <a:buNone/>
            </a:pPr>
            <a:endParaRPr lang="en-GB" sz="1400" dirty="0"/>
          </a:p>
          <a:p>
            <a:pPr>
              <a:lnSpc>
                <a:spcPct val="90000"/>
              </a:lnSpc>
            </a:pPr>
            <a:r>
              <a:rPr lang="en-GB" sz="1400" b="1" dirty="0"/>
              <a:t>Muscle Actions: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dirty="0"/>
              <a:t>Inspiration: Diaphragm contracts (75%), external intercostals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400" dirty="0"/>
              <a:t>Expiration: Passive (quiet breathing), Active (exercise) - internal intercostals, abdominals</a:t>
            </a:r>
          </a:p>
          <a:p>
            <a:pPr marL="0" indent="0">
              <a:lnSpc>
                <a:spcPct val="90000"/>
              </a:lnSpc>
              <a:buNone/>
            </a:pPr>
            <a:endParaRPr lang="en-GB" sz="1400" b="1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Key Pressures: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Atmospheric: 760 mmHg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Intrapleural: 756 mmHg (negative pressure)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Alveolar: Varies with breathing cycle 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005" y="16807"/>
            <a:ext cx="3332365" cy="1087819"/>
          </a:xfrm>
        </p:spPr>
        <p:txBody>
          <a:bodyPr anchor="b">
            <a:normAutofit/>
          </a:bodyPr>
          <a:lstStyle/>
          <a:p>
            <a:r>
              <a:rPr lang="en-GB" sz="3000" dirty="0"/>
              <a:t>Quantifying Ventilation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556" y="1181820"/>
            <a:ext cx="3512420" cy="565937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600" b="1" dirty="0"/>
              <a:t>Volumes (Non-overlapping):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Tidal Volume (TV): 500 mL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Inspiratory Reserve Volume (IRV): 3000 mL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Expiratory Reserve Volume (ERV): 1100 mL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Residual Volume (RV): 1200 mL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endParaRPr lang="en-GB" sz="1600" dirty="0"/>
          </a:p>
          <a:p>
            <a:pPr>
              <a:lnSpc>
                <a:spcPct val="90000"/>
              </a:lnSpc>
            </a:pPr>
            <a:r>
              <a:rPr lang="en-GB" sz="1600" dirty="0"/>
              <a:t>Capacities (Combinations):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Total Lung Capacity (TLC): 6.0 L = RV+ERV+TV+IRV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Vital Capacity (VC): 4.6 L = ERV+TV+IRV</a:t>
            </a:r>
          </a:p>
          <a:p>
            <a:pPr>
              <a:lnSpc>
                <a:spcPct val="90000"/>
              </a:lnSpc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Functional Residual Capacity (FRC):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2.3 L = RV+ERV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Inspiratory Capacity (IC):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 dirty="0"/>
              <a:t>3.5 L = TV+IRV</a:t>
            </a:r>
          </a:p>
        </p:txBody>
      </p:sp>
      <p:pic>
        <p:nvPicPr>
          <p:cNvPr id="2050" name="Picture 2" descr="Lung Volumes and Capacities - Owlcation">
            <a:extLst>
              <a:ext uri="{FF2B5EF4-FFF2-40B4-BE49-F238E27FC236}">
                <a16:creationId xmlns:a16="http://schemas.microsoft.com/office/drawing/2014/main" id="{FC6D4288-323A-4E69-0D2E-1C03E6265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78370" y="560717"/>
            <a:ext cx="5091310" cy="496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7375" y="489508"/>
            <a:ext cx="4316172" cy="1667569"/>
          </a:xfrm>
        </p:spPr>
        <p:txBody>
          <a:bodyPr anchor="b">
            <a:normAutofit/>
          </a:bodyPr>
          <a:lstStyle/>
          <a:p>
            <a:r>
              <a:rPr lang="en-GB" sz="3500"/>
              <a:t>Effective vs. Wasted Breathing</a:t>
            </a:r>
          </a:p>
        </p:txBody>
      </p:sp>
      <p:pic>
        <p:nvPicPr>
          <p:cNvPr id="3074" name="Picture 2" descr="The Dead Space Gets Filled Up Before ...">
            <a:extLst>
              <a:ext uri="{FF2B5EF4-FFF2-40B4-BE49-F238E27FC236}">
                <a16:creationId xmlns:a16="http://schemas.microsoft.com/office/drawing/2014/main" id="{DD854F25-3306-63D3-95E6-88C35563A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1097" y="1759590"/>
            <a:ext cx="2907124" cy="2907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7376" y="2405894"/>
            <a:ext cx="4316172" cy="31974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700"/>
              <a:t>Alveolar Ventilation (Vₐ): Air reaching gas exchange areas</a:t>
            </a:r>
          </a:p>
          <a:p>
            <a:pPr>
              <a:lnSpc>
                <a:spcPct val="90000"/>
              </a:lnSpc>
            </a:pPr>
            <a:r>
              <a:rPr lang="en-GB" sz="1700"/>
              <a:t>Vₐ = (TV - Dead Space) × Respiratory Rate</a:t>
            </a:r>
          </a:p>
          <a:p>
            <a:pPr>
              <a:lnSpc>
                <a:spcPct val="90000"/>
              </a:lnSpc>
            </a:pPr>
            <a:r>
              <a:rPr lang="en-GB" sz="1700"/>
              <a:t>Normal: ~4.2 L/min (at rest)</a:t>
            </a:r>
          </a:p>
          <a:p>
            <a:pPr>
              <a:lnSpc>
                <a:spcPct val="90000"/>
              </a:lnSpc>
            </a:pPr>
            <a:r>
              <a:rPr lang="en-GB" sz="1700"/>
              <a:t>Dead Space:</a:t>
            </a:r>
          </a:p>
          <a:p>
            <a:pPr>
              <a:lnSpc>
                <a:spcPct val="90000"/>
              </a:lnSpc>
            </a:pPr>
            <a:r>
              <a:rPr lang="en-GB" sz="1700"/>
              <a:t>Anatomical: Conducting airways (~150 mL)</a:t>
            </a:r>
          </a:p>
          <a:p>
            <a:pPr>
              <a:lnSpc>
                <a:spcPct val="90000"/>
              </a:lnSpc>
            </a:pPr>
            <a:r>
              <a:rPr lang="en-GB" sz="1700"/>
              <a:t>Alveolar: Ventilated but non-perfused alveoli</a:t>
            </a:r>
          </a:p>
          <a:p>
            <a:pPr>
              <a:lnSpc>
                <a:spcPct val="90000"/>
              </a:lnSpc>
            </a:pPr>
            <a:r>
              <a:rPr lang="en-GB" sz="1700"/>
              <a:t>Physiological: Anatomical + Alveolar</a:t>
            </a:r>
          </a:p>
          <a:p>
            <a:pPr>
              <a:lnSpc>
                <a:spcPct val="90000"/>
              </a:lnSpc>
            </a:pPr>
            <a:r>
              <a:rPr lang="en-GB" sz="1700"/>
              <a:t>Clinical Correlation: Increased dead space in pulmonary embolism, COPD,</a:t>
            </a:r>
          </a:p>
          <a:p>
            <a:pPr>
              <a:lnSpc>
                <a:spcPct val="90000"/>
              </a:lnSpc>
            </a:pPr>
            <a:endParaRPr lang="en-GB" sz="1700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12" name="Group 4111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487837" y="2732147"/>
            <a:ext cx="5860051" cy="395784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4113" name="Rectangle 411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4" name="Rectangle 411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768" y="922644"/>
            <a:ext cx="3780214" cy="1169585"/>
          </a:xfrm>
        </p:spPr>
        <p:txBody>
          <a:bodyPr anchor="b">
            <a:normAutofit/>
          </a:bodyPr>
          <a:lstStyle/>
          <a:p>
            <a:r>
              <a:rPr lang="en-GB" sz="3200"/>
              <a:t>The Alveolar-Capillary Membrane</a:t>
            </a:r>
          </a:p>
        </p:txBody>
      </p:sp>
      <p:sp>
        <p:nvSpPr>
          <p:cNvPr id="4118" name="Rectangle 4117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1785" y="2263365"/>
            <a:ext cx="37033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1786" y="2508105"/>
            <a:ext cx="3780214" cy="363249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Fick's Law of Diffusion: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Rate ∝ (Surface Area × </a:t>
            </a:r>
            <a:r>
              <a:rPr lang="el-GR" sz="1400" dirty="0"/>
              <a:t>Δ</a:t>
            </a:r>
            <a:r>
              <a:rPr lang="en-GB" sz="1400" dirty="0"/>
              <a:t>Pressure × Solubility) / (Thickness × √MW)</a:t>
            </a:r>
          </a:p>
          <a:p>
            <a:pPr marL="0" indent="0">
              <a:lnSpc>
                <a:spcPct val="90000"/>
              </a:lnSpc>
              <a:buNone/>
            </a:pPr>
            <a:endParaRPr lang="en-GB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Partial Pressures (Resting):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Alveolar: PₐO₂ = 100 mmHg, PₐCO₂ = 40 mmHg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Arterial: </a:t>
            </a:r>
            <a:r>
              <a:rPr lang="en-GB" sz="1400"/>
              <a:t>PaO</a:t>
            </a:r>
            <a:r>
              <a:rPr lang="en-GB" sz="1400" dirty="0"/>
              <a:t>₂ = 95 mmHg, </a:t>
            </a:r>
            <a:r>
              <a:rPr lang="en-GB" sz="1400"/>
              <a:t>PaCO</a:t>
            </a:r>
            <a:r>
              <a:rPr lang="en-GB" sz="1400" dirty="0"/>
              <a:t>₂ = 40 mmHg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Mixed Venous: </a:t>
            </a:r>
            <a:r>
              <a:rPr lang="en-GB" sz="1400"/>
              <a:t>Pv̄O</a:t>
            </a:r>
            <a:r>
              <a:rPr lang="en-GB" sz="1400" dirty="0"/>
              <a:t>₂ = 40 mmHg, </a:t>
            </a:r>
            <a:r>
              <a:rPr lang="en-GB" sz="1400"/>
              <a:t>Pv̄CO</a:t>
            </a:r>
            <a:r>
              <a:rPr lang="en-GB" sz="1400" dirty="0"/>
              <a:t>₂ = 46 mmHg</a:t>
            </a:r>
          </a:p>
          <a:p>
            <a:pPr marL="0" indent="0">
              <a:lnSpc>
                <a:spcPct val="90000"/>
              </a:lnSpc>
              <a:buNone/>
            </a:pPr>
            <a:endParaRPr lang="en-GB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400" b="1" dirty="0"/>
              <a:t>Diffusion Capacity: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O₂: ~21 mL/min/mmHg</a:t>
            </a:r>
          </a:p>
          <a:p>
            <a:pPr>
              <a:lnSpc>
                <a:spcPct val="90000"/>
              </a:lnSpc>
            </a:pPr>
            <a:r>
              <a:rPr lang="en-GB" sz="1400" dirty="0"/>
              <a:t>CO₂: 20× faster than O₂ (high solubility)</a:t>
            </a:r>
          </a:p>
        </p:txBody>
      </p:sp>
      <p:pic>
        <p:nvPicPr>
          <p:cNvPr id="4098" name="Picture 2" descr="Printed from STUDENT CONSULT: Berne and Levy Physiology 6E - The Online  Medical Library for Students plus USMLE Steps 123 (ver. 2.9)">
            <a:extLst>
              <a:ext uri="{FF2B5EF4-FFF2-40B4-BE49-F238E27FC236}">
                <a16:creationId xmlns:a16="http://schemas.microsoft.com/office/drawing/2014/main" id="{437F9EE3-4621-F110-0E27-9C5340272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10000" y="789283"/>
            <a:ext cx="3291840" cy="255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Gas Diffusion | Clinical Gate">
            <a:extLst>
              <a:ext uri="{FF2B5EF4-FFF2-40B4-BE49-F238E27FC236}">
                <a16:creationId xmlns:a16="http://schemas.microsoft.com/office/drawing/2014/main" id="{27E60D7D-4E7E-95E1-CBA5-DFFEC7A06A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000" y="3522835"/>
            <a:ext cx="3040958" cy="268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9" name="Rectangle 5138">
            <a:extLst>
              <a:ext uri="{FF2B5EF4-FFF2-40B4-BE49-F238E27FC236}">
                <a16:creationId xmlns:a16="http://schemas.microsoft.com/office/drawing/2014/main" id="{17891482-C38A-4F0C-8183-0121632F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4468" y="242620"/>
            <a:ext cx="3544529" cy="781141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dirty="0"/>
              <a:t>How Oxygen Travels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6754B-56B3-327D-3DCB-83762D2BB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99" y="633191"/>
            <a:ext cx="3075691" cy="2441024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pic>
        <p:nvPicPr>
          <p:cNvPr id="5122" name="Picture 2" descr="Mechanisms of O2 and CO2 Transport by Erythrocytes | Thoracic Key">
            <a:extLst>
              <a:ext uri="{FF2B5EF4-FFF2-40B4-BE49-F238E27FC236}">
                <a16:creationId xmlns:a16="http://schemas.microsoft.com/office/drawing/2014/main" id="{43D2753E-3AF3-7F8A-11E9-6F2943F068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182" y="3518026"/>
            <a:ext cx="3568622" cy="2896162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2596" y="1552755"/>
            <a:ext cx="4588803" cy="47452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800" b="1" dirty="0"/>
              <a:t>Dissolved O₂</a:t>
            </a:r>
            <a:r>
              <a:rPr lang="en-GB" sz="1800" dirty="0"/>
              <a:t>: Minimal (0.3 mL/dL at </a:t>
            </a:r>
            <a:r>
              <a:rPr lang="en-GB" sz="1800" dirty="0" err="1"/>
              <a:t>PaO</a:t>
            </a:r>
            <a:r>
              <a:rPr lang="en-GB" sz="1800" dirty="0"/>
              <a:t>₂ 100 mmHg)</a:t>
            </a:r>
          </a:p>
          <a:p>
            <a:pPr>
              <a:lnSpc>
                <a:spcPct val="90000"/>
              </a:lnSpc>
            </a:pPr>
            <a:r>
              <a:rPr lang="en-GB" sz="1800" b="1" dirty="0" err="1"/>
              <a:t>Hemoglobin</a:t>
            </a:r>
            <a:r>
              <a:rPr lang="en-GB" sz="1800" b="1" dirty="0"/>
              <a:t>-bound O</a:t>
            </a:r>
            <a:r>
              <a:rPr lang="en-GB" sz="1800" dirty="0"/>
              <a:t>₂: Primary transport (20.1 mL/dL)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1 g Hb binds 1.34 mL O₂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Normal Hb: 15 g/dL × 1.34 = 20.1 mL O₂/dL</a:t>
            </a:r>
          </a:p>
          <a:p>
            <a:pPr marL="0" indent="0">
              <a:lnSpc>
                <a:spcPct val="90000"/>
              </a:lnSpc>
              <a:buNone/>
            </a:pPr>
            <a:endParaRPr lang="en-GB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/>
              <a:t>Oxygen Content Equation: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CaO₂ = (1.34 × Hb × </a:t>
            </a:r>
            <a:r>
              <a:rPr lang="en-GB" sz="1800" dirty="0" err="1"/>
              <a:t>SaO</a:t>
            </a:r>
            <a:r>
              <a:rPr lang="en-GB" sz="1800" dirty="0"/>
              <a:t>₂) + (0.003 × </a:t>
            </a:r>
            <a:r>
              <a:rPr lang="en-GB" sz="1800" dirty="0" err="1"/>
              <a:t>PaO</a:t>
            </a:r>
            <a:r>
              <a:rPr lang="en-GB" sz="1800" dirty="0"/>
              <a:t>₂)</a:t>
            </a:r>
          </a:p>
          <a:p>
            <a:pPr marL="0" indent="0">
              <a:lnSpc>
                <a:spcPct val="90000"/>
              </a:lnSpc>
              <a:buNone/>
            </a:pPr>
            <a:endParaRPr lang="en-GB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GB" sz="1800" b="1" dirty="0" err="1"/>
              <a:t>Oxyhemoglobin</a:t>
            </a:r>
            <a:r>
              <a:rPr lang="en-GB" sz="1800" b="1" dirty="0"/>
              <a:t> Dissociation Curve: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Sigmoidal shape (cooperative binding)</a:t>
            </a:r>
          </a:p>
          <a:p>
            <a:pPr>
              <a:lnSpc>
                <a:spcPct val="90000"/>
              </a:lnSpc>
            </a:pPr>
            <a:r>
              <a:rPr lang="en-GB" sz="1800" dirty="0"/>
              <a:t>P₅₀: 26.7 mmHg (normal)</a:t>
            </a:r>
          </a:p>
        </p:txBody>
      </p:sp>
      <p:sp>
        <p:nvSpPr>
          <p:cNvPr id="5140" name="Arc 5139">
            <a:extLst>
              <a:ext uri="{FF2B5EF4-FFF2-40B4-BE49-F238E27FC236}">
                <a16:creationId xmlns:a16="http://schemas.microsoft.com/office/drawing/2014/main" id="{DA4B6E73-2318-4814-8EB1-306D53723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64111">
            <a:off x="-743943" y="5644752"/>
            <a:ext cx="2240923" cy="2987899"/>
          </a:xfrm>
          <a:prstGeom prst="arc">
            <a:avLst>
              <a:gd name="adj1" fmla="val 16200000"/>
              <a:gd name="adj2" fmla="val 21581479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-228282"/>
            <a:ext cx="8229600" cy="1143000"/>
          </a:xfrm>
        </p:spPr>
        <p:txBody>
          <a:bodyPr>
            <a:noAutofit/>
          </a:bodyPr>
          <a:lstStyle/>
          <a:p>
            <a:br>
              <a:rPr lang="en-GB" sz="3200" dirty="0"/>
            </a:br>
            <a:r>
              <a:rPr sz="3200" dirty="0"/>
              <a:t>CO₂ Transport in Blood –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3816"/>
            <a:ext cx="8229600" cy="56144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800" b="1" dirty="0"/>
              <a:t>Three Forms of CO₂ Transport:</a:t>
            </a:r>
          </a:p>
          <a:p>
            <a:endParaRPr sz="1800" dirty="0"/>
          </a:p>
          <a:p>
            <a:pPr marL="0" indent="0">
              <a:buNone/>
            </a:pPr>
            <a:r>
              <a:rPr sz="1800" dirty="0"/>
              <a:t>1. </a:t>
            </a:r>
            <a:r>
              <a:rPr sz="1800" b="1" dirty="0"/>
              <a:t>Bicarbonate (70%)</a:t>
            </a:r>
          </a:p>
          <a:p>
            <a:r>
              <a:rPr sz="1800" dirty="0"/>
              <a:t>- CO₂ enters RBCs and is converted by carbonic anhydrase</a:t>
            </a:r>
          </a:p>
          <a:p>
            <a:r>
              <a:rPr sz="1800" dirty="0"/>
              <a:t>- CO₂ + H₂O ⇌ H₂CO₃ ⇌ H⁺ + HCO₃⁻</a:t>
            </a:r>
          </a:p>
          <a:p>
            <a:r>
              <a:rPr sz="1800" dirty="0"/>
              <a:t>- HCO₃⁻ enters plasma, H⁺ is buffered by Hb</a:t>
            </a:r>
          </a:p>
          <a:p>
            <a:endParaRPr sz="1800" b="1" dirty="0"/>
          </a:p>
          <a:p>
            <a:pPr marL="0" indent="0">
              <a:buNone/>
            </a:pPr>
            <a:r>
              <a:rPr sz="1800" b="1" dirty="0"/>
              <a:t>2. Carbamino Compounds (23%)</a:t>
            </a:r>
          </a:p>
          <a:p>
            <a:r>
              <a:rPr sz="1800" dirty="0"/>
              <a:t>- CO₂ binds directly to </a:t>
            </a:r>
            <a:r>
              <a:rPr sz="1800" dirty="0" err="1"/>
              <a:t>haemoglobin</a:t>
            </a:r>
            <a:endParaRPr sz="1800" dirty="0"/>
          </a:p>
          <a:p>
            <a:r>
              <a:rPr sz="1800" dirty="0"/>
              <a:t>- Binding strongest when Hb is deoxygenated</a:t>
            </a:r>
          </a:p>
          <a:p>
            <a:endParaRPr sz="1800" dirty="0"/>
          </a:p>
          <a:p>
            <a:pPr marL="0" indent="0">
              <a:buNone/>
            </a:pPr>
            <a:r>
              <a:rPr sz="1800" dirty="0"/>
              <a:t>3. </a:t>
            </a:r>
            <a:r>
              <a:rPr sz="1800" b="1" dirty="0"/>
              <a:t>Dissolved CO₂ (7%)</a:t>
            </a:r>
          </a:p>
          <a:p>
            <a:r>
              <a:rPr sz="1800" dirty="0"/>
              <a:t>- Transported in plasma</a:t>
            </a:r>
          </a:p>
          <a:p>
            <a:r>
              <a:rPr sz="1800" dirty="0"/>
              <a:t>- Measured as </a:t>
            </a:r>
            <a:r>
              <a:rPr sz="1800" dirty="0" err="1"/>
              <a:t>PaCO</a:t>
            </a:r>
            <a:r>
              <a:rPr sz="1800" dirty="0"/>
              <a:t>₂ on blood gas (4.7–6.0 kPa)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797"/>
            <a:ext cx="4658264" cy="997423"/>
          </a:xfrm>
        </p:spPr>
        <p:txBody>
          <a:bodyPr>
            <a:noAutofit/>
          </a:bodyPr>
          <a:lstStyle/>
          <a:p>
            <a:r>
              <a:rPr sz="3200" dirty="0"/>
              <a:t>Key Concepts – Chloride Shift, Haldane Effect, CO₂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89253" cy="503214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sz="3400" b="1" dirty="0"/>
              <a:t>Chloride Shift (Hamburger Phenomenon):</a:t>
            </a:r>
          </a:p>
          <a:p>
            <a:r>
              <a:rPr dirty="0"/>
              <a:t>- HCO₃⁻ leaves RBC</a:t>
            </a:r>
          </a:p>
          <a:p>
            <a:r>
              <a:rPr dirty="0"/>
              <a:t>- Cl⁻ enters to maintain electroneutrality</a:t>
            </a:r>
          </a:p>
          <a:p>
            <a:r>
              <a:rPr dirty="0"/>
              <a:t>- Reverses in lungs</a:t>
            </a:r>
          </a:p>
          <a:p>
            <a:endParaRPr dirty="0"/>
          </a:p>
          <a:p>
            <a:pPr marL="0" indent="0">
              <a:buNone/>
            </a:pPr>
            <a:r>
              <a:rPr sz="4000" b="1" dirty="0"/>
              <a:t>Haldane Effect:</a:t>
            </a:r>
          </a:p>
          <a:p>
            <a:r>
              <a:rPr dirty="0"/>
              <a:t>- Deoxygenated Hb carries more CO₂</a:t>
            </a:r>
          </a:p>
          <a:p>
            <a:r>
              <a:rPr dirty="0"/>
              <a:t>- Oxygenation in lungs releases CO₂</a:t>
            </a:r>
          </a:p>
          <a:p>
            <a:endParaRPr dirty="0"/>
          </a:p>
          <a:p>
            <a:r>
              <a:rPr dirty="0"/>
              <a:t>CO₂ Dissociation Curve:</a:t>
            </a:r>
          </a:p>
          <a:p>
            <a:r>
              <a:rPr dirty="0"/>
              <a:t>- Linear relationship</a:t>
            </a:r>
          </a:p>
          <a:p>
            <a:r>
              <a:rPr dirty="0"/>
              <a:t>- No saturation</a:t>
            </a:r>
          </a:p>
          <a:p>
            <a:r>
              <a:rPr dirty="0"/>
              <a:t>- Reflects dissolved + bicarbonate transport</a:t>
            </a:r>
            <a:endParaRPr lang="en-GB" dirty="0"/>
          </a:p>
          <a:p>
            <a:endParaRPr lang="en-GB" dirty="0"/>
          </a:p>
          <a:p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917ECDC-4256-B516-7807-102ADB8A6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851" y="267764"/>
            <a:ext cx="3968149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Haldane Effect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Deoxygenated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haemoglobin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carries more CO₂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Hb releases oxygen in the tissues: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becomes a better buffer for H⁺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binds CO₂ more readily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Promotes formation of bicarbonate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lungs: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Oxygen binds Hb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Hb releases CO₂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CO₂ is exhaled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The Haldane effect makes CO₂ unloading in the lungs more efficient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It complements the Bohr effect (which works in reverse for O₂)</a:t>
            </a:r>
          </a:p>
        </p:txBody>
      </p:sp>
      <p:sp>
        <p:nvSpPr>
          <p:cNvPr id="5" name="AutoShape 3" descr="Image result for haldane effect vs bohr effect">
            <a:extLst>
              <a:ext uri="{FF2B5EF4-FFF2-40B4-BE49-F238E27FC236}">
                <a16:creationId xmlns:a16="http://schemas.microsoft.com/office/drawing/2014/main" id="{A52FAEAE-8096-1424-D42E-875B249CAF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7DF7D4-315B-0DB1-D8F2-882E39851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443" y="4699747"/>
            <a:ext cx="3968149" cy="1949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en-GB" sz="4200"/>
              <a:t>The Perfect Balance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85" y="2517348"/>
            <a:ext cx="3855396" cy="380581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700" b="1" dirty="0"/>
              <a:t>Ideal Ratio: V̇/Q̇ = 0.8 (Alveolar ventilation 4.2 L/min, perfusion 5 L/min)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700" b="1" dirty="0"/>
              <a:t>Regional Variations: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Apex: V̇/Q̇ &gt; 1 (High ventilation, lower perfusion)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Base: V̇/Q̇ &lt; 1 (High perfusion, moderate ventilation)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Pathophysiology: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Shunt (V̇/Q̇ = 0): Perfused but not ventilated (pneumonia)</a:t>
            </a:r>
          </a:p>
          <a:p>
            <a:pPr>
              <a:lnSpc>
                <a:spcPct val="90000"/>
              </a:lnSpc>
            </a:pPr>
            <a:r>
              <a:rPr lang="en-GB" sz="1700" dirty="0"/>
              <a:t>Dead Space (V̇/Q̇ = ∞): Ventilated but not perfused (PE)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C87E21-D8F1-714A-D0F3-ED14300EB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289782"/>
            <a:ext cx="4184001" cy="40333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2" descr="Image result for Ideal Ratio: V̇/Q̇ = 0.8 (Alveolar ventilation 4.2 L/min, perfusion 5 L/min) Regional Variations: Apex: V̇/Q̇ &gt; 1 (High ventilation, lower perfusion) Base: V̇/Q̇ &lt; 1 (High perfusion, moderate ventilation) Pathophysiology: Shunt (V̇/Q̇ = 0): Perfused but not ventilated (pneumonia) Dead Space (V̇/Q̇ = ∞): Ventilated but not perfused (PE) ">
            <a:extLst>
              <a:ext uri="{FF2B5EF4-FFF2-40B4-BE49-F238E27FC236}">
                <a16:creationId xmlns:a16="http://schemas.microsoft.com/office/drawing/2014/main" id="{BEC55D40-3508-5F55-621E-09CF53F733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SECTION 2: CARDIOVASCULAR PHYSIOLOGY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GB" sz="3500">
                <a:solidFill>
                  <a:schemeClr val="bg1"/>
                </a:solidFill>
              </a:rPr>
              <a:t>The Heart's Electrical Symphony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100"/>
              <a:t>Action Potential Phases:</a:t>
            </a:r>
          </a:p>
          <a:p>
            <a:pPr>
              <a:lnSpc>
                <a:spcPct val="90000"/>
              </a:lnSpc>
            </a:pPr>
            <a:r>
              <a:rPr lang="en-GB" sz="2100"/>
              <a:t>Fast Response (Ventricular):</a:t>
            </a:r>
          </a:p>
          <a:p>
            <a:pPr>
              <a:lnSpc>
                <a:spcPct val="90000"/>
              </a:lnSpc>
            </a:pPr>
            <a:r>
              <a:rPr lang="en-GB" sz="2100"/>
              <a:t>0: Rapid depolarization (Na⁺ in)</a:t>
            </a:r>
          </a:p>
          <a:p>
            <a:pPr>
              <a:lnSpc>
                <a:spcPct val="90000"/>
              </a:lnSpc>
            </a:pPr>
            <a:r>
              <a:rPr lang="en-GB" sz="2100"/>
              <a:t>1: Early repolarization (K⁺ out)</a:t>
            </a:r>
          </a:p>
          <a:p>
            <a:pPr>
              <a:lnSpc>
                <a:spcPct val="90000"/>
              </a:lnSpc>
            </a:pPr>
            <a:r>
              <a:rPr lang="en-GB" sz="2100"/>
              <a:t>2: Plateau (Ca²⁺ in, K⁺ out)</a:t>
            </a:r>
          </a:p>
          <a:p>
            <a:pPr>
              <a:lnSpc>
                <a:spcPct val="90000"/>
              </a:lnSpc>
            </a:pPr>
            <a:r>
              <a:rPr lang="en-GB" sz="2100"/>
              <a:t>3: Repolarization (K⁺ out)</a:t>
            </a:r>
          </a:p>
          <a:p>
            <a:pPr>
              <a:lnSpc>
                <a:spcPct val="90000"/>
              </a:lnSpc>
            </a:pPr>
            <a:r>
              <a:rPr lang="en-GB" sz="2100"/>
              <a:t>4: Resting (-90 mV)</a:t>
            </a:r>
          </a:p>
          <a:p>
            <a:pPr>
              <a:lnSpc>
                <a:spcPct val="90000"/>
              </a:lnSpc>
            </a:pPr>
            <a:r>
              <a:rPr lang="en-GB" sz="2100"/>
              <a:t>Pacemaker Cells (SA/AV): Slow depolarization (Phase 4)</a:t>
            </a:r>
          </a:p>
          <a:p>
            <a:pPr>
              <a:lnSpc>
                <a:spcPct val="90000"/>
              </a:lnSpc>
            </a:pPr>
            <a:r>
              <a:rPr lang="en-GB" sz="2100"/>
              <a:t>Conduction Pathway:</a:t>
            </a:r>
          </a:p>
          <a:p>
            <a:pPr>
              <a:lnSpc>
                <a:spcPct val="90000"/>
              </a:lnSpc>
            </a:pPr>
            <a:r>
              <a:rPr lang="en-GB" sz="2100"/>
              <a:t>SA node → Atria → AV node → Bundle of His → Bundle branches → Purkinje fibers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200"/>
              <a:t>Reading the Heart's Electrical Language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700" b="1"/>
              <a:t>Waves and Intervals:</a:t>
            </a:r>
          </a:p>
          <a:p>
            <a:pPr>
              <a:lnSpc>
                <a:spcPct val="90000"/>
              </a:lnSpc>
            </a:pPr>
            <a:r>
              <a:rPr lang="en-GB" sz="1700"/>
              <a:t>P wave: Atrial depolarization</a:t>
            </a:r>
          </a:p>
          <a:p>
            <a:pPr>
              <a:lnSpc>
                <a:spcPct val="90000"/>
              </a:lnSpc>
            </a:pPr>
            <a:r>
              <a:rPr lang="en-GB" sz="1700"/>
              <a:t>PR interval: AV conduction delay (0.12-0.20 s)</a:t>
            </a:r>
          </a:p>
          <a:p>
            <a:pPr>
              <a:lnSpc>
                <a:spcPct val="90000"/>
              </a:lnSpc>
            </a:pPr>
            <a:r>
              <a:rPr lang="en-GB" sz="1700"/>
              <a:t>QRS complex: Ventricular depolarization (&lt;0.12 s)</a:t>
            </a:r>
          </a:p>
          <a:p>
            <a:pPr>
              <a:lnSpc>
                <a:spcPct val="90000"/>
              </a:lnSpc>
            </a:pPr>
            <a:r>
              <a:rPr lang="en-GB" sz="1700"/>
              <a:t>ST segment: Ventricular plateau</a:t>
            </a:r>
          </a:p>
          <a:p>
            <a:pPr>
              <a:lnSpc>
                <a:spcPct val="90000"/>
              </a:lnSpc>
            </a:pPr>
            <a:r>
              <a:rPr lang="en-GB" sz="1700"/>
              <a:t>T wave: Ventricular repolarization</a:t>
            </a:r>
          </a:p>
          <a:p>
            <a:pPr>
              <a:lnSpc>
                <a:spcPct val="90000"/>
              </a:lnSpc>
            </a:pPr>
            <a:r>
              <a:rPr lang="en-GB" sz="1700"/>
              <a:t>QT interval: Total ventricular activity (HR-corrected)</a:t>
            </a:r>
          </a:p>
          <a:p>
            <a:pPr>
              <a:lnSpc>
                <a:spcPct val="90000"/>
              </a:lnSpc>
            </a:pPr>
            <a:r>
              <a:rPr lang="en-GB" sz="1700"/>
              <a:t>Mean Electrical Axis: Normal = -30° to +90°</a:t>
            </a:r>
          </a:p>
          <a:p>
            <a:pPr>
              <a:lnSpc>
                <a:spcPct val="90000"/>
              </a:lnSpc>
            </a:pPr>
            <a:endParaRPr lang="en-GB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DFEF7-8E2B-674F-DEF0-CDC09D5C7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49" y="2680413"/>
            <a:ext cx="3862707" cy="332192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One Heartbeat: From Diastole to Systole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Systole (0.27 s):</a:t>
            </a:r>
          </a:p>
          <a:p>
            <a:r>
              <a:t>Isovolumetric Contraction: Valves closed, pressure rises</a:t>
            </a:r>
          </a:p>
          <a:p>
            <a:r>
              <a:t>Rapid Ejection: Aortic valve opens, blood ejected</a:t>
            </a:r>
          </a:p>
          <a:p>
            <a:r>
              <a:t>Reduced Ejection: Slowing outflow</a:t>
            </a:r>
          </a:p>
          <a:p>
            <a:r>
              <a:t>Diastole (0.53 s):</a:t>
            </a:r>
          </a:p>
          <a:p>
            <a:r>
              <a:t>Isovolumetric Relaxation: Valves closed, pressure falls</a:t>
            </a:r>
          </a:p>
          <a:p>
            <a:r>
              <a:t>Rapid Filling: AV valves open, passive filling</a:t>
            </a:r>
          </a:p>
          <a:p>
            <a:r>
              <a:t>Diastasis: Slow filling</a:t>
            </a:r>
          </a:p>
          <a:p>
            <a:r>
              <a:t>Atrial Systole: "Atrial kick" (25% of filling)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Heart as a 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Cardiac Output (CO) = HR × SV</a:t>
            </a:r>
          </a:p>
          <a:p>
            <a:r>
              <a:t>Normal: 5-6 L/min</a:t>
            </a:r>
          </a:p>
          <a:p>
            <a:r>
              <a:t>Maximum: 20-25 L/min (athletes)</a:t>
            </a:r>
          </a:p>
          <a:p>
            <a:r>
              <a:t>Stroke Volume (SV) Determinants:</a:t>
            </a:r>
          </a:p>
          <a:p>
            <a:r>
              <a:t>Preload: End-diastolic volume (Frank-Starling Law)</a:t>
            </a:r>
          </a:p>
          <a:p>
            <a:r>
              <a:t>Afterload: Aortic pressure (inversely related to SV)</a:t>
            </a:r>
          </a:p>
          <a:p>
            <a:r>
              <a:t>Contractility: Inotropy (Ca²⁺ availability)</a:t>
            </a:r>
          </a:p>
          <a:p>
            <a:r>
              <a:t>Regulation:</a:t>
            </a:r>
          </a:p>
          <a:p>
            <a:r>
              <a:t>Intrinsic: Frank-Starling mechanism</a:t>
            </a:r>
          </a:p>
          <a:p>
            <a:r>
              <a:t>Extrinsic: Autonomic nervous system, hormones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Physics of Circulation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Ohm's Law for Circulation:</a:t>
            </a:r>
          </a:p>
          <a:p>
            <a:r>
              <a:t>ΔP = Q × R (Pressure = Flow × Resistance)</a:t>
            </a:r>
          </a:p>
          <a:p>
            <a:r>
              <a:t>MAP = CO × TPR</a:t>
            </a:r>
          </a:p>
          <a:p>
            <a:r>
              <a:t>Resistance Determinants (Poiseuille's Law):</a:t>
            </a:r>
          </a:p>
          <a:p>
            <a:r>
              <a:t>R = (8ηL)/(πr⁴) - Radius is dominant factor!</a:t>
            </a:r>
          </a:p>
          <a:p>
            <a:r>
              <a:t>Pressure Distribution:</a:t>
            </a:r>
          </a:p>
          <a:p>
            <a:r>
              <a:t>Arteries: High pressure (100 mmHg)</a:t>
            </a:r>
          </a:p>
          <a:p>
            <a:r>
              <a:t>Capillaries: Exchange pressure (25 mmHg)</a:t>
            </a:r>
          </a:p>
          <a:p>
            <a:r>
              <a:t>Veins: Low pressure reservoir (10 mmHg)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Maintaining the Vital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Short-term Regulation (Seconds to Minutes):</a:t>
            </a:r>
          </a:p>
          <a:p>
            <a:r>
              <a:t>Baroreceptor Reflex: Carotid sinus/aortic arch</a:t>
            </a:r>
          </a:p>
          <a:p>
            <a:r>
              <a:t>Chemoreceptors: Hypoxia/hypercapnia</a:t>
            </a:r>
          </a:p>
          <a:p>
            <a:r>
              <a:t>CNS Ischemic Response: Last resort</a:t>
            </a:r>
          </a:p>
          <a:p>
            <a:r>
              <a:t>Intermediate Regulation (Minutes to Hours):</a:t>
            </a:r>
          </a:p>
          <a:p>
            <a:r>
              <a:t>Renin-Angiotensin-Aldosterone System (RAAS)</a:t>
            </a:r>
          </a:p>
          <a:p>
            <a:r>
              <a:t>Capillary Fluid Shift</a:t>
            </a:r>
          </a:p>
          <a:p>
            <a:r>
              <a:t>Long-term Regulation (Days):</a:t>
            </a:r>
          </a:p>
          <a:p>
            <a:r>
              <a:t>Renal-body Fluid System: Pressure diuresis/natriuresis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GB" sz="4700"/>
              <a:t>Where the Action Happens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800" b="1" dirty="0"/>
              <a:t>Starling's Forces:</a:t>
            </a:r>
          </a:p>
          <a:p>
            <a:r>
              <a:rPr lang="en-GB" sz="2100" dirty="0"/>
              <a:t>Net Filtration = (Pc + </a:t>
            </a:r>
            <a:r>
              <a:rPr lang="el-GR" sz="2100" dirty="0"/>
              <a:t>π</a:t>
            </a:r>
            <a:r>
              <a:rPr lang="en-GB" sz="2100" dirty="0" err="1"/>
              <a:t>i</a:t>
            </a:r>
            <a:r>
              <a:rPr lang="en-GB" sz="2100" dirty="0"/>
              <a:t>) - (Pi + </a:t>
            </a:r>
            <a:r>
              <a:rPr lang="el-GR" sz="2100" dirty="0"/>
              <a:t>π</a:t>
            </a:r>
            <a:r>
              <a:rPr lang="en-GB" sz="2100" dirty="0"/>
              <a:t>c)</a:t>
            </a:r>
          </a:p>
          <a:p>
            <a:r>
              <a:rPr lang="en-GB" sz="2100" dirty="0"/>
              <a:t>Pc: Capillary hydrostatic pressure (32 mmHg arterial end)</a:t>
            </a:r>
          </a:p>
          <a:p>
            <a:r>
              <a:rPr lang="el-GR" sz="2100" dirty="0"/>
              <a:t>π</a:t>
            </a:r>
            <a:r>
              <a:rPr lang="en-GB" sz="2100" dirty="0"/>
              <a:t>c: Plasma colloid osmotic pressure (25 mmHg)</a:t>
            </a:r>
          </a:p>
          <a:p>
            <a:r>
              <a:rPr lang="en-GB" sz="2100" dirty="0"/>
              <a:t>Pi: Interstitial hydrostatic pressure (-3 mmHg)</a:t>
            </a:r>
          </a:p>
          <a:p>
            <a:r>
              <a:rPr lang="el-GR" sz="2100" dirty="0"/>
              <a:t>π</a:t>
            </a:r>
            <a:r>
              <a:rPr lang="en-GB" sz="2100" dirty="0"/>
              <a:t>i: Interstitial colloid osmotic pressure (8 mmHg)</a:t>
            </a:r>
          </a:p>
          <a:p>
            <a:r>
              <a:rPr lang="en-GB" sz="2100" dirty="0"/>
              <a:t>Net: +10 mmHg (arterial end, filtration), -8 mmHg (venous end, absorption)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SECTION 3: INTEGRATED CONTROL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1"/>
            <a:ext cx="851299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Who's Driving Your Breathing?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-93647" y="2693652"/>
            <a:ext cx="4083433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200"/>
              <a:t>Medullary Centers:</a:t>
            </a:r>
          </a:p>
          <a:p>
            <a:pPr>
              <a:lnSpc>
                <a:spcPct val="90000"/>
              </a:lnSpc>
            </a:pPr>
            <a:r>
              <a:rPr lang="en-GB" sz="2200"/>
              <a:t>Dorsal Respiratory Group (DRG): Basic rhythm, inspiration</a:t>
            </a:r>
          </a:p>
          <a:p>
            <a:pPr>
              <a:lnSpc>
                <a:spcPct val="90000"/>
              </a:lnSpc>
            </a:pPr>
            <a:r>
              <a:rPr lang="en-GB" sz="2200"/>
              <a:t>Ventral Respiratory Group (VRG): Active expiration, forced breathing</a:t>
            </a:r>
          </a:p>
          <a:p>
            <a:pPr>
              <a:lnSpc>
                <a:spcPct val="90000"/>
              </a:lnSpc>
            </a:pPr>
            <a:r>
              <a:rPr lang="en-GB" sz="2200"/>
              <a:t>Pontine Centers:</a:t>
            </a:r>
          </a:p>
          <a:p>
            <a:pPr>
              <a:lnSpc>
                <a:spcPct val="90000"/>
              </a:lnSpc>
            </a:pPr>
            <a:r>
              <a:rPr lang="en-GB" sz="2200"/>
              <a:t>Pneumotaxic Center: Limits inspiration, regulates rate</a:t>
            </a:r>
          </a:p>
          <a:p>
            <a:pPr>
              <a:lnSpc>
                <a:spcPct val="90000"/>
              </a:lnSpc>
            </a:pPr>
            <a:r>
              <a:rPr lang="en-GB" sz="2200"/>
              <a:t>Apneustic Center: Prolongs inspiration (inhibited by pneumotaxic)</a:t>
            </a:r>
          </a:p>
          <a:p>
            <a:pPr>
              <a:lnSpc>
                <a:spcPct val="90000"/>
              </a:lnSpc>
            </a:pPr>
            <a:r>
              <a:rPr lang="en-GB" sz="2200"/>
              <a:t>Central Chemoreceptors: Ventral medulla, sensitive to [H⁺] (CO₂)</a:t>
            </a:r>
          </a:p>
          <a:p>
            <a:pPr>
              <a:lnSpc>
                <a:spcPct val="90000"/>
              </a:lnSpc>
            </a:pPr>
            <a:r>
              <a:rPr lang="en-GB" sz="2200"/>
              <a:t>Peripheral Chemoreceptors: Carotid/aortic bodies, sensitive to PaO₂ (&lt;60 mmHg), PaCO₂, [H⁺]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GB" sz="4700"/>
              <a:t>The Perfect Partnership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100"/>
              <a:t>During Exercise:</a:t>
            </a:r>
          </a:p>
          <a:p>
            <a:pPr>
              <a:lnSpc>
                <a:spcPct val="90000"/>
              </a:lnSpc>
            </a:pPr>
            <a:r>
              <a:rPr lang="en-GB" sz="2100"/>
              <a:t>Cardiac: ↑HR, ↑SV, ↑CO (up to 5×), redistribution of flow (muscles ↑, splanchnic ↓)</a:t>
            </a:r>
          </a:p>
          <a:p>
            <a:pPr>
              <a:lnSpc>
                <a:spcPct val="90000"/>
              </a:lnSpc>
            </a:pPr>
            <a:r>
              <a:rPr lang="en-GB" sz="2100"/>
              <a:t>Respiratory: ↑Ventilation, ↑V̇/Q̇ matching, ↑O₂ extraction</a:t>
            </a:r>
          </a:p>
          <a:p>
            <a:pPr>
              <a:lnSpc>
                <a:spcPct val="90000"/>
              </a:lnSpc>
            </a:pPr>
            <a:r>
              <a:rPr lang="en-GB" sz="2100"/>
              <a:t>Coupled Responses:</a:t>
            </a:r>
          </a:p>
          <a:p>
            <a:pPr>
              <a:lnSpc>
                <a:spcPct val="90000"/>
              </a:lnSpc>
            </a:pPr>
            <a:r>
              <a:rPr lang="en-GB" sz="2100"/>
              <a:t>Chemoreflex: ↑CO₂ → ↑Ventilation + ↑Sympathetic tone → ↑BP</a:t>
            </a:r>
          </a:p>
          <a:p>
            <a:pPr>
              <a:lnSpc>
                <a:spcPct val="90000"/>
              </a:lnSpc>
            </a:pPr>
            <a:r>
              <a:rPr lang="en-GB" sz="2100"/>
              <a:t>Baroreflex: ↓BP → ↑Sympathetic → ↑HR + Vasoconstriction</a:t>
            </a:r>
          </a:p>
          <a:p>
            <a:pPr>
              <a:lnSpc>
                <a:spcPct val="90000"/>
              </a:lnSpc>
            </a:pPr>
            <a:r>
              <a:rPr lang="en-GB" sz="2100"/>
              <a:t>O₂ Delivery Optimization:</a:t>
            </a:r>
          </a:p>
          <a:p>
            <a:pPr>
              <a:lnSpc>
                <a:spcPct val="90000"/>
              </a:lnSpc>
            </a:pPr>
            <a:r>
              <a:rPr lang="en-GB" sz="2100"/>
              <a:t>Fick Principle: VO₂ = CO × (CaO₂ - CvO₂)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Stress Response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t>Hypoxia:</a:t>
            </a:r>
          </a:p>
          <a:p>
            <a:r>
              <a:t>Acute: Hyperventilation, tachycardia, peripheral vasoconstriction</a:t>
            </a:r>
          </a:p>
          <a:p>
            <a:r>
              <a:t>Chronic: ↑Hb, ↑2,3-DPG, angiogenesis</a:t>
            </a:r>
          </a:p>
          <a:p>
            <a:r>
              <a:t>Hemorrhage:</a:t>
            </a:r>
          </a:p>
          <a:p>
            <a:r>
              <a:t>Stage 1: ↑Sympathetic, vasoconstriction, ↑HR</a:t>
            </a:r>
          </a:p>
          <a:p>
            <a:r>
              <a:t>Stage 2: RAAS activation, thirst</a:t>
            </a:r>
          </a:p>
          <a:p>
            <a:r>
              <a:t>Stage 3: Shock, organ failure</a:t>
            </a:r>
          </a:p>
          <a:p>
            <a:r>
              <a:t>Heart Failure:</a:t>
            </a:r>
          </a:p>
          <a:p>
            <a:r>
              <a:t>Compensatory: ↑Sympathetic, ↑RAAS, myocardial hypertrophy</a:t>
            </a:r>
          </a:p>
          <a:p>
            <a:r>
              <a:t>Decompensated: ↓CO, pulmonary edema, organ hypoperfusion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78" y="386930"/>
            <a:ext cx="6927525" cy="1188950"/>
          </a:xfrm>
        </p:spPr>
        <p:txBody>
          <a:bodyPr anchor="b">
            <a:normAutofit/>
          </a:bodyPr>
          <a:lstStyle/>
          <a:p>
            <a:r>
              <a:rPr lang="en-GB" sz="4700"/>
              <a:t>Physiology in Practice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1998368"/>
            <a:ext cx="8771274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5245" y="2599509"/>
            <a:ext cx="7607751" cy="3435531"/>
          </a:xfrm>
        </p:spPr>
        <p:txBody>
          <a:bodyPr anchor="ctr">
            <a:normAutofit/>
          </a:bodyPr>
          <a:lstStyle/>
          <a:p>
            <a:r>
              <a:rPr lang="en-GB" sz="2100"/>
              <a:t>COPD Patient: ↑Airway resistance, ↓Elastic recoil, V̇/Q̇ mismatch, Pulmonary hypertension, Cor pulmonale</a:t>
            </a:r>
          </a:p>
          <a:p>
            <a:r>
              <a:rPr lang="en-GB" sz="2100"/>
              <a:t>Myocardial Infarction: ↓Contractility, ↓CO, Compensatory mechanisms, Potential cardiogenic shock</a:t>
            </a:r>
          </a:p>
          <a:p>
            <a:r>
              <a:rPr lang="en-GB" sz="2100"/>
              <a:t>Pulmonary Embolism: ↑Dead space, ↑Pulmonary resistance, ↓CO, Hypoxemia</a:t>
            </a:r>
          </a:p>
          <a:p>
            <a:r>
              <a:rPr lang="en-GB" sz="2100"/>
              <a:t>Heart Failure: ↓Ejection fraction, ↑Filling pressures, Pulmonary edema, Exercise intolerance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Frontiers in Cardiorespiratory Physiology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77A274-427D-8507-9EB7-B17C1B0D28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Essential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Ventilation-perfusion matching is critical for efficient gas exchange</a:t>
            </a:r>
          </a:p>
          <a:p>
            <a:r>
              <a:t>Cardiac output is determined by heart rate, preload, afterload, and contractility</a:t>
            </a:r>
          </a:p>
          <a:p>
            <a:r>
              <a:t>Blood pressure is maintained by integrated neural, hormonal, and renal mechanisms</a:t>
            </a:r>
          </a:p>
          <a:p>
            <a:r>
              <a:t>O₂ delivery depends on cardiac, respiratory, and hematological function</a:t>
            </a:r>
          </a:p>
          <a:p>
            <a:r>
              <a:t>Control systems operate on multiple time scales for precise regulation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Further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Textbooks:</a:t>
            </a:r>
          </a:p>
          <a:p>
            <a:r>
              <a:t>Guyton and Hall Textbook of Medical Physiology</a:t>
            </a:r>
          </a:p>
          <a:p>
            <a:r>
              <a:t>Berne &amp; Levy Physiology</a:t>
            </a:r>
          </a:p>
          <a:p>
            <a:r>
              <a:t>West's Respiratory Physiology</a:t>
            </a:r>
          </a:p>
          <a:p>
            <a:r>
              <a:t>Journals: Journal of Applied Physiology, Circulation, American Journal of Respiratory and Critical Care Medicine</a:t>
            </a:r>
          </a:p>
          <a:p>
            <a:r>
              <a:t>Online: Physiology.org, Khan Academy Medicine, Osmosis</a:t>
            </a:r>
          </a:p>
          <a:p>
            <a:r>
              <a:t>Simulations: Physiome Project, HHMI BioInteractive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1948</Words>
  <Application>Microsoft Office PowerPoint</Application>
  <PresentationFormat>On-screen Show (4:3)</PresentationFormat>
  <Paragraphs>273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INTEGRATED PHYSIOLOGY OF THE CARDIORESPIRATORY SYSTEM</vt:lpstr>
      <vt:lpstr>Learning Objectives</vt:lpstr>
      <vt:lpstr>The Oxygen Delivery System</vt:lpstr>
      <vt:lpstr>PowerPoint Presentation</vt:lpstr>
      <vt:lpstr>Pulmonary Ventilation:  The Physics of Breathing</vt:lpstr>
      <vt:lpstr>Quantifying Ventilation</vt:lpstr>
      <vt:lpstr>Effective vs. Wasted Breathing</vt:lpstr>
      <vt:lpstr>The Alveolar-Capillary Membrane</vt:lpstr>
      <vt:lpstr>How Oxygen Travels</vt:lpstr>
      <vt:lpstr> CO₂ Transport in Blood – Mechanisms</vt:lpstr>
      <vt:lpstr>Key Concepts – Chloride Shift, Haldane Effect, CO₂ Curve</vt:lpstr>
      <vt:lpstr>The Perfect Balance</vt:lpstr>
      <vt:lpstr>PowerPoint Presentation</vt:lpstr>
      <vt:lpstr>The Heart's Electrical Symphony</vt:lpstr>
      <vt:lpstr>Reading the Heart's Electrical Language</vt:lpstr>
      <vt:lpstr>One Heartbeat: From Diastole to Systole</vt:lpstr>
      <vt:lpstr>The Heart as a Pump</vt:lpstr>
      <vt:lpstr>The Physics of Circulation</vt:lpstr>
      <vt:lpstr>Maintaining the Vital Force</vt:lpstr>
      <vt:lpstr>Where the Action Happens</vt:lpstr>
      <vt:lpstr>PowerPoint Presentation</vt:lpstr>
      <vt:lpstr>Who's Driving Your Breathing?</vt:lpstr>
      <vt:lpstr>The Perfect Partnership</vt:lpstr>
      <vt:lpstr>Stress Response Systems</vt:lpstr>
      <vt:lpstr>Physiology in Practice</vt:lpstr>
      <vt:lpstr>Frontiers in Cardiorespiratory Physiology</vt:lpstr>
      <vt:lpstr>Essential Takeaways</vt:lpstr>
      <vt:lpstr>For Further Study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Kola Akinlabi</dc:creator>
  <cp:keywords/>
  <dc:description>generated using python-pptx</dc:description>
  <cp:lastModifiedBy>AKINLABI, Kola (CENTRAL LONDON COMMUNITY HEALTHCARE NHS TRUST)</cp:lastModifiedBy>
  <cp:revision>4</cp:revision>
  <dcterms:created xsi:type="dcterms:W3CDTF">2013-01-27T09:14:16Z</dcterms:created>
  <dcterms:modified xsi:type="dcterms:W3CDTF">2025-12-02T08:49:19Z</dcterms:modified>
  <cp:category/>
</cp:coreProperties>
</file>