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7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3" r:id="rId23"/>
    <p:sldId id="278" r:id="rId24"/>
    <p:sldId id="279" r:id="rId25"/>
    <p:sldId id="280" r:id="rId26"/>
    <p:sldId id="281" r:id="rId27"/>
    <p:sldId id="282" r:id="rId28"/>
    <p:sldId id="291" r:id="rId29"/>
    <p:sldId id="292" r:id="rId30"/>
    <p:sldId id="293" r:id="rId31"/>
    <p:sldId id="294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5" r:id="rId41"/>
    <p:sldId id="296" r:id="rId42"/>
    <p:sldId id="299" r:id="rId43"/>
    <p:sldId id="298" r:id="rId44"/>
  </p:sldIdLst>
  <p:sldSz cx="12192000" cy="6858000"/>
  <p:notesSz cx="6858000" cy="9144000"/>
  <p:embeddedFontLst>
    <p:embeddedFont>
      <p:font typeface="Cambria" panose="02040503050406030204" pitchFamily="18" charset="0"/>
      <p:regular r:id="rId46"/>
      <p:bold r:id="rId47"/>
      <p:italic r:id="rId48"/>
      <p:boldItalic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 autoAdjust="0"/>
    <p:restoredTop sz="73838" autoAdjust="0"/>
  </p:normalViewPr>
  <p:slideViewPr>
    <p:cSldViewPr snapToGrid="0">
      <p:cViewPr varScale="1">
        <p:scale>
          <a:sx n="84" d="100"/>
          <a:sy n="84" d="100"/>
        </p:scale>
        <p:origin x="15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1T22:20:16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7176 12862 16383 0 0,'6'-6'0'0'0,"8"-2"0"0"0,13 13 0 0 0,8 16 0 0 0,-2 17 0 0 0,-6 8 0 0 0,-9 2 0 0 0,0 5 0 0 0,-4-2 0 0 0,-4-2 0 0 0,-4-4 0 0 0,3 1 0 0 0,6 0 0 0 0,0 4 0 0 0,-2-2 0 0 0,-4 4 0 0 0,3-1 0 0 0,0-4 0 0 0,-3-4 0 0 0,-3 3 0 0 0,-2 5 0 0 0,4 0 0 0 0,0 3 0 0 0,0-2 0 0 0,-2-3 0 0 0,3-5 0 0 0,13 2 0 0 0,2 0 0 0 0,-2-3 0 0 0,-6-3 0 0 0,1-1 0 0 0,-3-3 0 0 0,-4 0 0 0 0,-3-2 0 0 0,-3 1 0 0 0,4-1 0 0 0,6 0 0 0 0,7 0 0 0 0,5 1 0 0 0,-7-7 0 0 0,-13-7 0 0 0,-19-7 0 0 0,-13-7 0 0 0,-9-4 0 0 0,-3-8 0 0 0,-8-4 0 0 0,-2 0 0 0 0,2 2 0 0 0,2 1 0 0 0,-2 2 0 0 0,-1 2 0 0 0,3 2 0 0 0,3-1 0 0 0,-4 2 0 0 0,-11-1 0 0 0,-9 0 0 0 0,-4 1 0 0 0,3-1 0 0 0,1 0 0 0 0,6 0 0 0 0,7 0 0 0 0,6 0 0 0 0,0 0 0 0 0,1 0 0 0 0,2 0 0 0 0,4 0 0 0 0,1 6 0 0 0,2 2 0 0 0,1-1 0 0 0,0-1 0 0 0,-5 5 0 0 0,-2-1 0 0 0,0-1 0 0 0,-4 4 0 0 0,-6-1 0 0 0,-1-2 0 0 0,3-3 0 0 0,5 3 0 0 0,9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1T22:20:16.8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10285 13282 16383 0 0,'0'6'0'0'0,"0"8"0"0"0,0 13 0 0 0,0 8 0 0 0,0 10 0 0 0,0 9 0 0 0,0 1 0 0 0,0-2 0 0 0,-6 0 0 0 0,-2-1 0 0 0,0-5 0 0 0,2-4 0 0 0,-4-3 0 0 0,0 2 0 0 0,1 2 0 0 0,2-3 0 0 0,-3-1 0 0 0,-6-2 0 0 0,-1-1 0 0 0,-2-1 0 0 0,-5 4 0 0 0,2 9 0 0 0,5 0 0 0 0,5-1 0 0 0,5-3 0 0 0,3 2 0 0 0,-3 0 0 0 0,-1-3 0 0 0,1-3 0 0 0,-9 10 0 0 0,-3 1 0 0 0,2-1 0 0 0,4 1 0 0 0,10-1 0 0 0,11-4 0 0 0,17-10 0 0 0,9-11 0 0 0,6-10 0 0 0,1-8 0 0 0,5-5 0 0 0,2-3 0 0 0,-3-2 0 0 0,-2 0 0 0 0,3 0 0 0 0,0 0 0 0 0,-2 1 0 0 0,-3 0 0 0 0,3 1 0 0 0,1 0 0 0 0,-2 0 0 0 0,-2 0 0 0 0,4 0 0 0 0,-1 0 0 0 0,-1 0 0 0 0,-2 0 0 0 0,-2 6 0 0 0,-2 2 0 0 0,-1 0 0 0 0,-1-2 0 0 0,-1-2 0 0 0,6-2 0 0 0,2 0 0 0 0,0 4 0 0 0,-1 2 0 0 0,9 5 0 0 0,3 7 0 0 0,-2-1 0 0 0,2-3 0 0 0,-1 1 0 0 0,-5-1 0 0 0,-4-5 0 0 0,-3 3 0 0 0,-3-2 0 0 0,-7-2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1T22:20:16.8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4895 4551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1T22:20:16.8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3122 4339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1T22:20:16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11165 4710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1T22:20:17.7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3281 9037 16383 0 0,'6'-6'0'0'0,"7"-8"0"0"0,9-1 0 0 0,5 1 0 0 0,5 4 0 0 0,2 9 0 0 0,1 4 0 0 0,7 3 0 0 0,8-1 0 0 0,14 0 0 0 0,12-2 0 0 0,0 5 0 0 0,-1 1 0 0 0,5-1 0 0 0,-1 4 0 0 0,-1 0 0 0 0,-8-2 0 0 0,-4-3 0 0 0,-7-2 0 0 0,3 3 0 0 0,-2 1 0 0 0,6-1 0 0 0,-2-2 0 0 0,-6-3 0 0 0,-2-1 0 0 0,-3-1 0 0 0,0 0 0 0 0,3-2 0 0 0,10 1 0 0 0,11 6 0 0 0,-1 7 0 0 0,4 2 0 0 0,-6-2 0 0 0,-9-2 0 0 0,-11-4 0 0 0,-1-3 0 0 0,-5-2 0 0 0,-4-2 0 0 0,-4 0 0 0 0,3-1 0 0 0,0 1 0 0 0,-1-1 0 0 0,10 1 0 0 0,1-1 0 0 0,-1 1 0 0 0,-4 0 0 0 0,7-6 0 0 0,0-2 0 0 0,-2 1 0 0 0,0 1 0 0 0,-2 2 0 0 0,-4 1 0 0 0,-5 2 0 0 0,4 0 0 0 0,-2 1 0 0 0,-1 0 0 0 0,-3 1 0 0 0,-7-1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1T22:20:17.7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15535 15999 16383 0 0,'-6'-11'0'0'0,"-2"-11"0"0"0,6-13 0 0 0,4-6 0 0 0,7-2 0 0 0,2 0 0 0 0,0 2 0 0 0,3 1 0 0 0,-1-3 0 0 0,4-1 0 0 0,5 1 0 0 0,4 2 0 0 0,10-4 0 0 0,4 1 0 0 0,20-17 0 0 0,10-10 0 0 0,0 2 0 0 0,0 1 0 0 0,-6 5 0 0 0,-3 3 0 0 0,-5 4 0 0 0,-6 7 0 0 0,0 0 0 0 0,-3 2 0 0 0,8-3 0 0 0,2 1 0 0 0,2 4 0 0 0,-3 3 0 0 0,1-4 0 0 0,2 2 0 0 0,-3 6 0 0 0,-4 12 0 0 0,0 2 0 0 0,3 7 0 0 0,16 0 0 0 0,1 2 0 0 0,1-7 0 0 0,-6 0 0 0 0,-9-3 0 0 0,-2-2 0 0 0,-5 2 0 0 0,-6 7 0 0 0,-3 0 0 0 0,-4-3 0 0 0,-3-4 0 0 0,6-3 0 0 0,0 2 0 0 0,7 1 0 0 0,-1 4 0 0 0,-1 6 0 0 0,-3 5 0 0 0,9-2 0 0 0,19-10 0 0 0,9-1 0 0 0,16-3 0 0 0,-4 3 0 0 0,-6 5 0 0 0,-10 0 0 0 0,-14 3 0 0 0,-10 4 0 0 0,-9 4 0 0 0,-6 4 0 0 0,3 1 0 0 0,1 2 0 0 0,-1 0 0 0 0,-2 1 0 0 0,11 0 0 0 0,3-1 0 0 0,10 1 0 0 0,1-1 0 0 0,1-6 0 0 0,1-1 0 0 0,-4-1 0 0 0,-6 2 0 0 0,-7 2 0 0 0,0 1 0 0 0,-2 2 0 0 0,3 0 0 0 0,4 1 0 0 0,0 0 0 0 0,-3 1 0 0 0,-5-1 0 0 0,2 0 0 0 0,-6 0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1T22:20:17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20108 14155 16383 0 0,'12'0'0'0'0,"16"0"0"0"0,26 0 0 0 0,16 12 0 0 0,8 4 0 0 0,-3-1 0 0 0,3-3 0 0 0,-6-4 0 0 0,-9-2 0 0 0,-10 2 0 0 0,-1 1 0 0 0,-4-1 0 0 0,1-3 0 0 0,5-1 0 0 0,4-2 0 0 0,11-1 0 0 0,5-1 0 0 0,1 0 0 0 0,1-1 0 0 0,10 1 0 0 0,-3 0 0 0 0,-10 0 0 0 0,-12 5 0 0 0,-3 3 0 0 0,-1-1 0 0 0,-4-1 0 0 0,7-1 0 0 0,4 3 0 0 0,5 2 0 0 0,1-2 0 0 0,-5-2 0 0 0,4 4 0 0 0,-4 6 0 0 0,5 0 0 0 0,-4-2 0 0 0,-7-4 0 0 0,-7 3 0 0 0,-2-2 0 0 0,-2 4 0 0 0,-5-1 0 0 0,-2-2 0 0 0,2-4 0 0 0,1-3 0 0 0,-2-3 0 0 0,-2-1 0 0 0,5-1 0 0 0,-1 6 0 0 0,-1 1 0 0 0,4 6 0 0 0,0 6 0 0 0,-3 6 0 0 0,-2-1 0 0 0,-3 1 0 0 0,-2 2 0 0 0,5 3 0 0 0,0 2 0 0 0,0 1 0 0 0,-1 1 0 0 0,-3-5 0 0 0,-1-2 0 0 0,-1-5 0 0 0,-1-1 0 0 0,-1 3 0 0 0,1 2 0 0 0,-1 3 0 0 0,1 2 0 0 0,-7 3 0 0 0,-1 12 0 0 0,-6 10 0 0 0,0 3 0 0 0,-4-5 0 0 0,-5-4 0 0 0,-4 1 0 0 0,-4-3 0 0 0,-2-3 0 0 0,4-4 0 0 0,7-2 0 0 0,1-3 0 0 0,-1-1 0 0 0,-3 0 0 0 0,-4-7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1T22:20:17.7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3334 11189 16383 0 0,'6'0'0'0'0,"7"0"0"0"0,9-6 0 0 0,5-2 0 0 0,16-6 0 0 0,7 1 0 0 0,1 1 0 0 0,3 3 0 0 0,10-3 0 0 0,7 1 0 0 0,-4 2 0 0 0,-7 3 0 0 0,-7 2 0 0 0,-8-4 0 0 0,-5-1 0 0 0,-3 2 0 0 0,-3 1 0 0 0,0 3 0 0 0,5 0 0 0 0,8 2 0 0 0,13 1 0 0 0,3 0 0 0 0,-3 1 0 0 0,17-1 0 0 0,13 0 0 0 0,10 0 0 0 0,5 1 0 0 0,-10-1 0 0 0,-14 0 0 0 0,-10 0 0 0 0,-11 0 0 0 0,-9 0 0 0 0,3 0 0 0 0,0 0 0 0 0,1 0 0 0 0,4 0 0 0 0,9 0 0 0 0,6 0 0 0 0,-5 0 0 0 0,-8 0 0 0 0,3 0 0 0 0,-3 0 0 0 0,12 0 0 0 0,-1 0 0 0 0,-7 0 0 0 0,-8 0 0 0 0,-8 0 0 0 0,-7 0 0 0 0,-4 0 0 0 0,-3 0 0 0 0,-1 0 0 0 0,4 0 0 0 0,3 0 0 0 0,0 0 0 0 0,-1 0 0 0 0,16-6 0 0 0,5-8 0 0 0,3-1 0 0 0,-3 1 0 0 0,-6 4 0 0 0,-6 3 0 0 0,-12 3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1T22:20:17.8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15215 13917 16383 0 0,'-5'6'0'0'0,"3"8"0"0"0,2 7 0 0 0,1 12 0 0 0,1 7 0 0 0,6 1 0 0 0,1 1 0 0 0,5 10 0 0 0,0 3 0 0 0,-2-3 0 0 0,-3 2 0 0 0,9 4 0 0 0,6 3 0 0 0,1-2 0 0 0,-6-6 0 0 0,2-5 0 0 0,-5-6 0 0 0,-3 2 0 0 0,-5 0 0 0 0,-4-2 0 0 0,4 10 0 0 0,0 1 0 0 0,-1-2 0 0 0,-1-3 0 0 0,9 1 0 0 0,2-1 0 0 0,5-4 0 0 0,-2 9 0 0 0,-4 2 0 0 0,-5-4 0 0 0,2 14 0 0 0,-2 2 0 0 0,-2-5 0 0 0,-3-1 0 0 0,-3-5 0 0 0,-1-6 0 0 0,-1-6 0 0 0,4 7 0 0 0,3 2 0 0 0,5-3 0 0 0,12-16 0 0 0,2-20 0 0 0,-4-17 0 0 0,1-15 0 0 0,-5-16 0 0 0,-4-8 0 0 0,-6-3 0 0 0,2-5 0 0 0,-1-1 0 0 0,9-8 0 0 0,8-1 0 0 0,-1 4 0 0 0,-4 6 0 0 0,-1 5 0 0 0,2 5 0 0 0,-3 2 0 0 0,-4 3 0 0 0,0 1 0 0 0,4 1 0 0 0,10-19 0 0 0,6-5 0 0 0,3 1 0 0 0,0 3 0 0 0,0 6 0 0 0,-1 4 0 0 0,-1 4 0 0 0,-1 9 0 0 0,0 9 0 0 0,-2 2 0 0 0,1 5 0 0 0,11-2 0 0 0,-1 3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1T22:20:17.8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23408 13732 16383 0 0,'6'6'0'0'0,"7"8"0"0"0,3 13 0 0 0,-3 8 0 0 0,-3 4 0 0 0,-3 1 0 0 0,-2 6 0 0 0,-3 1 0 0 0,-2-2 0 0 0,0-3 0 0 0,-1 4 0 0 0,1 0 0 0 0,-1-3 0 0 0,1-2 0 0 0,-1 10 0 0 0,1 1 0 0 0,0-1 0 0 0,0 2 0 0 0,0-2 0 0 0,0-4 0 0 0,0-4 0 0 0,0 2 0 0 0,0 0 0 0 0,0 16 0 0 0,-6 9 0 0 0,-2-2 0 0 0,-5 1 0 0 0,-1-1 0 0 0,2-6 0 0 0,-2-7 0 0 0,0-8 0 0 0,3-5 0 0 0,4 2 0 0 0,2 5 0 0 0,3 0 0 0 0,-5-2 0 0 0,-1-4 0 0 0,2 4 0 0 0,0-2 0 0 0,-3-1 0 0 0,-13 3 0 0 0,-3 5 0 0 0,4 0 0 0 0,-1-3 0 0 0,3 2 0 0 0,-1-2 0 0 0,3-15 0 0 0,5-19 0 0 0,-3-36 0 0 0,-3-20 0 0 0,0-15 0 0 0,-2-10 0 0 0,3 1 0 0 0,-3-7 0 0 0,3 3 0 0 0,4 8 0 0 0,4 2 0 0 0,-2 5 0 0 0,1 6 0 0 0,2 6 0 0 0,2-3 0 0 0,-9-5 0 0 0,-9 0 0 0 0,-5 3 0 0 0,2 3 0 0 0,-1 4 0 0 0,-1 2 0 0 0,-1 7 0 0 0,-3 4 0 0 0,0 6 0 0 0,-13 1 0 0 0,-4-2 0 0 0,6-3 0 0 0,5-4 0 0 0,3-2 0 0 0,1 4 0 0 0,-4 0 0 0 0,-2 5 0 0 0,-6 7 0 0 0,0 5 0 0 0,1 5 0 0 0,3 3 0 0 0,-3 1 0 0 0,0-4 0 0 0,8-1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01AD5-F3B8-402A-9FDD-BF4440650B14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071369-3657-4B08-9CAB-C399570DD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898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As radiation passes through the body the energy from the x-rays is absorbed at different rates by different parts of the body giving them a different appearance: </a:t>
            </a:r>
          </a:p>
          <a:p>
            <a:pPr lvl="1"/>
            <a:r>
              <a:rPr lang="en-GB" dirty="0">
                <a:ea typeface="Cambria"/>
              </a:rPr>
              <a:t>Bone: white ( high </a:t>
            </a:r>
            <a:r>
              <a:rPr lang="en-GB" dirty="0" err="1">
                <a:ea typeface="Cambria"/>
              </a:rPr>
              <a:t>absoption</a:t>
            </a:r>
            <a:r>
              <a:rPr lang="en-GB" dirty="0">
                <a:ea typeface="Cambria"/>
              </a:rPr>
              <a:t> )</a:t>
            </a:r>
          </a:p>
          <a:p>
            <a:pPr lvl="1"/>
            <a:r>
              <a:rPr lang="en-GB" dirty="0">
                <a:ea typeface="Cambria"/>
              </a:rPr>
              <a:t>Tissue Grey ( medium </a:t>
            </a:r>
            <a:r>
              <a:rPr lang="en-GB" dirty="0" err="1">
                <a:ea typeface="Cambria"/>
              </a:rPr>
              <a:t>absorbtion</a:t>
            </a:r>
            <a:r>
              <a:rPr lang="en-GB" dirty="0">
                <a:ea typeface="Cambria"/>
              </a:rPr>
              <a:t> )</a:t>
            </a:r>
          </a:p>
          <a:p>
            <a:pPr lvl="1"/>
            <a:r>
              <a:rPr lang="en-GB" dirty="0">
                <a:ea typeface="Cambria"/>
              </a:rPr>
              <a:t>Air : Black ( low </a:t>
            </a:r>
            <a:r>
              <a:rPr lang="en-GB" dirty="0" err="1">
                <a:ea typeface="Cambria"/>
              </a:rPr>
              <a:t>absoption</a:t>
            </a:r>
            <a:r>
              <a:rPr lang="en-GB" dirty="0">
                <a:ea typeface="Cambria"/>
              </a:rPr>
              <a:t>) </a:t>
            </a:r>
          </a:p>
          <a:p>
            <a:pPr lvl="1"/>
            <a:endParaRPr lang="en-GB" dirty="0">
              <a:ea typeface="Cambria"/>
              <a:cs typeface="+mn-lt"/>
            </a:endParaRPr>
          </a:p>
          <a:p>
            <a:pPr lvl="1"/>
            <a:r>
              <a:rPr lang="en-GB" dirty="0">
                <a:ea typeface="+mn-lt"/>
                <a:cs typeface="+mn-lt"/>
              </a:rPr>
              <a:t>"A single chest x-ray exposes the patient to about </a:t>
            </a:r>
            <a:r>
              <a:rPr lang="en-GB" b="1" dirty="0">
                <a:ea typeface="+mn-lt"/>
                <a:cs typeface="+mn-lt"/>
              </a:rPr>
              <a:t>0.1 mSv</a:t>
            </a:r>
            <a:r>
              <a:rPr lang="en-GB" dirty="0">
                <a:ea typeface="+mn-lt"/>
                <a:cs typeface="+mn-lt"/>
              </a:rPr>
              <a:t>. This is about the same amount of radiation people are exposed to naturally over the course of about 10 days."</a:t>
            </a:r>
            <a:endParaRPr lang="en-GB" dirty="0">
              <a:ea typeface="Cambria"/>
            </a:endParaRPr>
          </a:p>
          <a:p>
            <a:endParaRPr lang="en-GB" dirty="0">
              <a:ea typeface="Cambria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71369-3657-4B08-9CAB-C399570DD8B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621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71369-3657-4B08-9CAB-C399570DD8B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067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>
                <a:ea typeface="Cambria"/>
              </a:rPr>
              <a:t>Thoracic cage </a:t>
            </a:r>
          </a:p>
          <a:p>
            <a:r>
              <a:rPr lang="en-GB" sz="1200" dirty="0">
                <a:ea typeface="Cambria"/>
              </a:rPr>
              <a:t>Diaphragm </a:t>
            </a:r>
          </a:p>
          <a:p>
            <a:r>
              <a:rPr lang="en-GB" sz="1200" dirty="0">
                <a:ea typeface="Cambria"/>
              </a:rPr>
              <a:t>Heart shadow </a:t>
            </a:r>
          </a:p>
          <a:p>
            <a:r>
              <a:rPr lang="en-GB" sz="1200" dirty="0">
                <a:ea typeface="Cambria"/>
              </a:rPr>
              <a:t>Trachea and main bronchi </a:t>
            </a:r>
          </a:p>
          <a:p>
            <a:r>
              <a:rPr lang="en-GB" sz="1200" dirty="0">
                <a:ea typeface="Cambria"/>
              </a:rPr>
              <a:t>Hilar shadows </a:t>
            </a:r>
          </a:p>
          <a:p>
            <a:r>
              <a:rPr lang="en-GB" sz="1200" dirty="0">
                <a:ea typeface="Cambria"/>
              </a:rPr>
              <a:t>Lobes and fissures </a:t>
            </a:r>
          </a:p>
          <a:p>
            <a:r>
              <a:rPr lang="en-GB" sz="1200" dirty="0">
                <a:ea typeface="Cambria"/>
              </a:rPr>
              <a:t>Lung vessels </a:t>
            </a:r>
          </a:p>
          <a:p>
            <a:r>
              <a:rPr lang="en-GB" sz="1200" dirty="0">
                <a:ea typeface="Cambria"/>
              </a:rPr>
              <a:t>Soft tissue </a:t>
            </a:r>
          </a:p>
          <a:p>
            <a:r>
              <a:rPr lang="en-GB" sz="1200" dirty="0">
                <a:ea typeface="Cambria"/>
              </a:rPr>
              <a:t>Artefacts 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71369-3657-4B08-9CAB-C399570DD8B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383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BB6982B-DF9A-1FF1-93ED-B4CFDC1849A9}"/>
              </a:ext>
            </a:extLst>
          </p:cNvPr>
          <p:cNvSpPr/>
          <p:nvPr/>
        </p:nvSpPr>
        <p:spPr>
          <a:xfrm>
            <a:off x="1" y="2887133"/>
            <a:ext cx="12192000" cy="3970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E2602-3CA0-38E5-41B0-B384623CA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65185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3682A-A1AB-B6CB-9103-BCB53ED40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267" y="6163734"/>
            <a:ext cx="4411134" cy="62653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Isobel Davies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3AD7B5-196D-B7AE-8987-C9434319E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1" y="0"/>
            <a:ext cx="1777999" cy="100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157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AE6E5A8-1C06-D60B-70CA-D309FCB28D08}"/>
              </a:ext>
            </a:extLst>
          </p:cNvPr>
          <p:cNvSpPr/>
          <p:nvPr/>
        </p:nvSpPr>
        <p:spPr>
          <a:xfrm>
            <a:off x="0" y="14490"/>
            <a:ext cx="12192000" cy="16906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D9620-0840-C4B1-AF6F-DD56DF7A7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961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74E31-07C2-31AD-FA63-685EA15A5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3764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1026" name="Picture 2" descr="London Metropolitan University | Diversity Abroad">
            <a:extLst>
              <a:ext uri="{FF2B5EF4-FFF2-40B4-BE49-F238E27FC236}">
                <a16:creationId xmlns:a16="http://schemas.microsoft.com/office/drawing/2014/main" id="{2C8BDD7A-1330-487C-FF88-28ED18CDB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4521" y="6113896"/>
            <a:ext cx="1347479" cy="75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6697B3-46FF-F729-55F0-8D65553CC0B9}"/>
              </a:ext>
            </a:extLst>
          </p:cNvPr>
          <p:cNvCxnSpPr>
            <a:cxnSpLocks/>
          </p:cNvCxnSpPr>
          <p:nvPr/>
        </p:nvCxnSpPr>
        <p:spPr>
          <a:xfrm>
            <a:off x="302508" y="1993805"/>
            <a:ext cx="258507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769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34280-D226-DC14-4714-F32FED72B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65485-9EF5-9139-DB1C-DD992D31B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B4C0F-1E63-482B-0959-FF548E26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331C-9C15-4EBF-B28C-C496046A8A37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E5A6F-8CAA-D3A4-98AC-C0525D70C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D0565-40DA-A613-6B6A-772805D9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190A-0A17-4259-A608-575D6F13E8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070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73134-B677-1832-5CBC-48A6F612F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06954F-E310-3BC8-BD78-8AC1FE4A1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992008-0414-B2B9-91BD-C32B64F1CA41}"/>
              </a:ext>
            </a:extLst>
          </p:cNvPr>
          <p:cNvSpPr/>
          <p:nvPr/>
        </p:nvSpPr>
        <p:spPr>
          <a:xfrm>
            <a:off x="0" y="1"/>
            <a:ext cx="12192000" cy="13200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3F11F-9927-39C5-32EA-4B9CAF425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0368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8D5258-C137-A48A-E8C4-B4C890119E4A}"/>
              </a:ext>
            </a:extLst>
          </p:cNvPr>
          <p:cNvCxnSpPr/>
          <p:nvPr/>
        </p:nvCxnSpPr>
        <p:spPr>
          <a:xfrm>
            <a:off x="653143" y="1629420"/>
            <a:ext cx="1395663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1EF0F5-898D-DE87-A9FE-E07843E5C128}"/>
              </a:ext>
            </a:extLst>
          </p:cNvPr>
          <p:cNvCxnSpPr/>
          <p:nvPr/>
        </p:nvCxnSpPr>
        <p:spPr>
          <a:xfrm>
            <a:off x="6172200" y="1603066"/>
            <a:ext cx="1395663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2" descr="London Metropolitan University | Diversity Abroad">
            <a:extLst>
              <a:ext uri="{FF2B5EF4-FFF2-40B4-BE49-F238E27FC236}">
                <a16:creationId xmlns:a16="http://schemas.microsoft.com/office/drawing/2014/main" id="{37D134CB-DDD9-BACD-8572-3E0007B75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4521" y="6113896"/>
            <a:ext cx="1347479" cy="75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486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4F21A-5FDC-A103-4607-2D5A34AC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65B5A-D728-06EB-16D4-57D999823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7B7AE-6006-3B3E-25AA-4EF865844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94F1D8-68A0-62B8-7F86-D9A6250930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7A5C16-D31D-9CDA-C7F5-7CF3E0A193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F18558-0A34-C95F-8B9B-72CEBB9F5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331C-9C15-4EBF-B28C-C496046A8A37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BF9368-A6AB-50C4-0A99-421BA7B0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7968D-184F-DAF1-8D7A-9C6838525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190A-0A17-4259-A608-575D6F13E8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719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9D2CD5-6D70-A517-2C17-0AB3588F5104}"/>
              </a:ext>
            </a:extLst>
          </p:cNvPr>
          <p:cNvSpPr/>
          <p:nvPr/>
        </p:nvSpPr>
        <p:spPr>
          <a:xfrm>
            <a:off x="0" y="0"/>
            <a:ext cx="12192000" cy="15950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D7A53-80CA-4981-C062-1683F791B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0250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2" descr="London Metropolitan University | Diversity Abroad">
            <a:extLst>
              <a:ext uri="{FF2B5EF4-FFF2-40B4-BE49-F238E27FC236}">
                <a16:creationId xmlns:a16="http://schemas.microsoft.com/office/drawing/2014/main" id="{D362AA3E-CCC7-1269-E609-D4BAA7FF2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4521" y="6113896"/>
            <a:ext cx="1347479" cy="75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3687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ndon Metropolitan University | Diversity Abroad">
            <a:extLst>
              <a:ext uri="{FF2B5EF4-FFF2-40B4-BE49-F238E27FC236}">
                <a16:creationId xmlns:a16="http://schemas.microsoft.com/office/drawing/2014/main" id="{01FF39F5-58B2-9749-4490-A944E6D48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4521" y="6113896"/>
            <a:ext cx="1347479" cy="75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818584-7CFB-C480-C31B-A997AF1B97F2}"/>
              </a:ext>
            </a:extLst>
          </p:cNvPr>
          <p:cNvSpPr/>
          <p:nvPr/>
        </p:nvSpPr>
        <p:spPr>
          <a:xfrm>
            <a:off x="0" y="0"/>
            <a:ext cx="4152614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100234-438F-D4E5-C40F-5899A1940824}"/>
              </a:ext>
            </a:extLst>
          </p:cNvPr>
          <p:cNvSpPr txBox="1"/>
          <p:nvPr/>
        </p:nvSpPr>
        <p:spPr>
          <a:xfrm>
            <a:off x="4723254" y="2509444"/>
            <a:ext cx="65039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dirty="0"/>
              <a:t>Questions? </a:t>
            </a:r>
          </a:p>
        </p:txBody>
      </p:sp>
    </p:spTree>
    <p:extLst>
      <p:ext uri="{BB962C8B-B14F-4D97-AF65-F5344CB8AC3E}">
        <p14:creationId xmlns:p14="http://schemas.microsoft.com/office/powerpoint/2010/main" val="416136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07680-D097-392A-2C80-CB6D5449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FABCE-ABAD-26CC-5ED5-2D9978684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02B6B-51B6-1C72-C0D4-85BABB30C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83551-AC8F-6E57-E9CC-AD59DF8ED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331C-9C15-4EBF-B28C-C496046A8A37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80383-36AF-82AF-C0B8-FC513D97B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E62E8-8F67-EF7C-4078-772AF2D1C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190A-0A17-4259-A608-575D6F13E8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44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8E418-5AAC-8B12-F86C-7D5F30574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BA5F73-AEF3-A735-ACB1-EC4144C2BC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163162-E54B-A41F-A890-02A4CF7F8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81969-C652-2C8B-1456-69E9EC1C9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331C-9C15-4EBF-B28C-C496046A8A37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BAFAC-19E4-4E36-4352-2E9C3AE14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31C92-A389-0F28-8809-DFCF12D1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190A-0A17-4259-A608-575D6F13E8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651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6CB88-E83B-A9CB-3079-C114F778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B31A0-599C-9799-B87D-A10764F5A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66BC0-DED9-C335-1EA1-AEC7F61A0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331C-9C15-4EBF-B28C-C496046A8A37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31ED-485B-570A-B6A9-92FEC6185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9BAED-3218-E2B1-01AC-872EAED60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190A-0A17-4259-A608-575D6F13E8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876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7EC147-AD87-B353-76C2-F84F682DA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1A306-2430-2820-252B-D79CB21BD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111F2-2B28-E798-75C6-48F675F9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331C-9C15-4EBF-B28C-C496046A8A37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AF426-7023-1B3C-7641-AC3F4D683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CD85F-20D6-CCBD-D242-A391ECEE5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190A-0A17-4259-A608-575D6F13E8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897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F20895-026B-8CFB-F502-E4F0A7B9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23036-5526-D04B-964D-AC3050C51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59C67-F8A2-CF36-A74C-69D3F89131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C331C-9C15-4EBF-B28C-C496046A8A37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CB9F4-1217-A26D-853E-627FC71A0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3EC2E-6A5D-DEA6-DCCC-4CFDC2F30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190A-0A17-4259-A608-575D6F13E8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717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0.png"/><Relationship Id="rId5" Type="http://schemas.openxmlformats.org/officeDocument/2006/relationships/customXml" Target="../ink/ink2.xml"/><Relationship Id="rId10" Type="http://schemas.openxmlformats.org/officeDocument/2006/relationships/customXml" Target="../ink/ink5.xml"/><Relationship Id="rId4" Type="http://schemas.openxmlformats.org/officeDocument/2006/relationships/image" Target="../media/image150.png"/><Relationship Id="rId9" Type="http://schemas.openxmlformats.org/officeDocument/2006/relationships/customXml" Target="../ink/ink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customXml" Target="../ink/ink11.xml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12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0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customXml" Target="../ink/ink9.xml"/><Relationship Id="rId1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adiologymasterclass.co.uk/quizzes/test-yourself-chest-x-ray-quiz-1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181E-BC6A-5196-13C9-ED10B101C6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Interpreting Chest X-rays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5DAABD-B36A-B2FE-BBDF-4A682F2FB3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802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26D9D-C5EB-904C-4965-8BD15BCA6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759ED-FBBA-8EF6-0A8A-DA075403B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241" y="3129690"/>
            <a:ext cx="9909517" cy="2581793"/>
          </a:xfrm>
        </p:spPr>
        <p:txBody>
          <a:bodyPr/>
          <a:lstStyle/>
          <a:p>
            <a:r>
              <a:rPr lang="en-GB" dirty="0"/>
              <a:t>At the end of this session you will be able to : </a:t>
            </a:r>
          </a:p>
          <a:p>
            <a:pPr lvl="1"/>
            <a:r>
              <a:rPr lang="en-GB" dirty="0"/>
              <a:t>Interpret and systematically analyse a Chest x-ray </a:t>
            </a:r>
          </a:p>
          <a:p>
            <a:pPr lvl="1"/>
            <a:r>
              <a:rPr lang="en-GB" dirty="0"/>
              <a:t>Describe the bony and soft tissue landmarks visible on Chest X-ray </a:t>
            </a:r>
          </a:p>
          <a:p>
            <a:pPr lvl="1"/>
            <a:r>
              <a:rPr lang="en-GB" dirty="0"/>
              <a:t>Explain your clinical reasoning for treatment using Chest x-rays </a:t>
            </a:r>
          </a:p>
          <a:p>
            <a:pPr lvl="1"/>
            <a:r>
              <a:rPr lang="en-GB" dirty="0" err="1"/>
              <a:t>Idenitfy</a:t>
            </a:r>
            <a:r>
              <a:rPr lang="en-GB" dirty="0"/>
              <a:t> some common pathologies from chest x-ray 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606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ECE55-10E5-F3B5-669B-A231B59C3F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2D image of the lungs, heart, bones and vasculature of the thorax </a:t>
            </a:r>
          </a:p>
          <a:p>
            <a:endParaRPr lang="en-GB" dirty="0"/>
          </a:p>
          <a:p>
            <a:r>
              <a:rPr lang="en-GB" dirty="0"/>
              <a:t>Bone= white </a:t>
            </a:r>
          </a:p>
          <a:p>
            <a:r>
              <a:rPr lang="en-GB" dirty="0"/>
              <a:t>Tissue = Grey</a:t>
            </a:r>
          </a:p>
          <a:p>
            <a:r>
              <a:rPr lang="en-GB" dirty="0"/>
              <a:t>Air = black </a:t>
            </a:r>
          </a:p>
          <a:p>
            <a:pPr lvl="1"/>
            <a:r>
              <a:rPr lang="en-GB" dirty="0"/>
              <a:t>99% of the lung is air </a:t>
            </a:r>
          </a:p>
          <a:p>
            <a:r>
              <a:rPr lang="en-GB" dirty="0"/>
              <a:t>1 CXR = 0.1mSv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1DF29E-1788-30B2-A6FE-49F3F255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Chest X-ray (CXR) </a:t>
            </a:r>
          </a:p>
        </p:txBody>
      </p:sp>
      <p:pic>
        <p:nvPicPr>
          <p:cNvPr id="1026" name="Picture 2" descr="Cartoon boy patient xray Royalty Free Vector Image">
            <a:extLst>
              <a:ext uri="{FF2B5EF4-FFF2-40B4-BE49-F238E27FC236}">
                <a16:creationId xmlns:a16="http://schemas.microsoft.com/office/drawing/2014/main" id="{2719687B-1138-4C94-FE28-8F7167DADD6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88"/>
          <a:stretch/>
        </p:blipFill>
        <p:spPr bwMode="auto">
          <a:xfrm>
            <a:off x="7551230" y="1995060"/>
            <a:ext cx="3295735" cy="4012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5644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A5459E-BED6-B64B-6DA0-D4D96E427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lvl="1"/>
            <a:r>
              <a:rPr lang="en-GB" sz="2800"/>
              <a:t>Done in standing </a:t>
            </a:r>
          </a:p>
          <a:p>
            <a:pPr lvl="1"/>
            <a:r>
              <a:rPr lang="en-GB" sz="2800"/>
              <a:t>X-ray plate in front of patient’s chest </a:t>
            </a:r>
          </a:p>
          <a:p>
            <a:pPr lvl="1"/>
            <a:r>
              <a:rPr lang="en-GB" sz="2800"/>
              <a:t>Hands on hips </a:t>
            </a:r>
          </a:p>
          <a:p>
            <a:pPr lvl="1"/>
            <a:r>
              <a:rPr lang="en-GB" sz="2800"/>
              <a:t>Full inspiration </a:t>
            </a:r>
          </a:p>
          <a:p>
            <a:pPr lvl="1"/>
            <a:r>
              <a:rPr lang="en-GB" sz="2800"/>
              <a:t>Gold standard of CXR </a:t>
            </a:r>
          </a:p>
          <a:p>
            <a:pPr lvl="1"/>
            <a:r>
              <a:rPr lang="en-GB" sz="2800"/>
              <a:t>Heart appears stretched and longer 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2050" name="Picture 2" descr="Chest radiograph - Wikipedia">
            <a:extLst>
              <a:ext uri="{FF2B5EF4-FFF2-40B4-BE49-F238E27FC236}">
                <a16:creationId xmlns:a16="http://schemas.microsoft.com/office/drawing/2014/main" id="{24C05A77-5947-4A01-912D-CA7ACC975A5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20" r="3" b="17302"/>
          <a:stretch/>
        </p:blipFill>
        <p:spPr bwMode="auto">
          <a:xfrm>
            <a:off x="6172200" y="1825625"/>
            <a:ext cx="5181600" cy="43513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6A753EF-4D44-3257-C33B-CAD9E785A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0368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Types of CXR : Posterior –Anterior (PA)</a:t>
            </a:r>
          </a:p>
        </p:txBody>
      </p:sp>
    </p:spTree>
    <p:extLst>
      <p:ext uri="{BB962C8B-B14F-4D97-AF65-F5344CB8AC3E}">
        <p14:creationId xmlns:p14="http://schemas.microsoft.com/office/powerpoint/2010/main" val="456345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hest (AP erect view) | Radiology ...">
            <a:extLst>
              <a:ext uri="{FF2B5EF4-FFF2-40B4-BE49-F238E27FC236}">
                <a16:creationId xmlns:a16="http://schemas.microsoft.com/office/drawing/2014/main" id="{1A24C23B-C91A-2595-3E3C-73DABF760E8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" r="1032"/>
          <a:stretch/>
        </p:blipFill>
        <p:spPr bwMode="auto">
          <a:xfrm>
            <a:off x="838200" y="1825625"/>
            <a:ext cx="5181600" cy="43513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079" name="Content Placeholder 2">
            <a:extLst>
              <a:ext uri="{FF2B5EF4-FFF2-40B4-BE49-F238E27FC236}">
                <a16:creationId xmlns:a16="http://schemas.microsoft.com/office/drawing/2014/main" id="{CEEE238E-15F9-BE9B-65B2-7B0E7563B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1"/>
            <a:r>
              <a:rPr lang="en-GB" dirty="0">
                <a:ea typeface="Cambria"/>
              </a:rPr>
              <a:t>Usually done at bedside </a:t>
            </a:r>
          </a:p>
          <a:p>
            <a:pPr lvl="1"/>
            <a:r>
              <a:rPr lang="en-GB" dirty="0">
                <a:ea typeface="Cambria"/>
              </a:rPr>
              <a:t>Plate is behind the patients chest </a:t>
            </a:r>
          </a:p>
          <a:p>
            <a:pPr lvl="1"/>
            <a:r>
              <a:rPr lang="en-GB" dirty="0">
                <a:ea typeface="Cambria"/>
              </a:rPr>
              <a:t>Patients can be lying down </a:t>
            </a:r>
          </a:p>
          <a:p>
            <a:pPr lvl="1"/>
            <a:r>
              <a:rPr lang="en-GB" dirty="0">
                <a:ea typeface="Cambria"/>
              </a:rPr>
              <a:t>Magnification of anterior structures ( </a:t>
            </a:r>
            <a:r>
              <a:rPr lang="en-GB" dirty="0" err="1">
                <a:ea typeface="Cambria"/>
              </a:rPr>
              <a:t>mediatinum</a:t>
            </a:r>
            <a:r>
              <a:rPr lang="en-GB" dirty="0">
                <a:ea typeface="Cambria"/>
              </a:rPr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B2165E-BEEC-82B7-C84C-7E27FC9F5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0368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Types of CXR- Anterior –Posterior (AP) </a:t>
            </a:r>
          </a:p>
        </p:txBody>
      </p:sp>
    </p:spTree>
    <p:extLst>
      <p:ext uri="{BB962C8B-B14F-4D97-AF65-F5344CB8AC3E}">
        <p14:creationId xmlns:p14="http://schemas.microsoft.com/office/powerpoint/2010/main" val="1023301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527C63-5492-5DB1-7955-6CA120DC4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961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Normal structures </a:t>
            </a:r>
          </a:p>
        </p:txBody>
      </p:sp>
      <p:pic>
        <p:nvPicPr>
          <p:cNvPr id="4098" name="Picture 2" descr="Chest XRay Anatomy Labeled #Clinical #Radiology #Anatomy ... | GrepMed">
            <a:extLst>
              <a:ext uri="{FF2B5EF4-FFF2-40B4-BE49-F238E27FC236}">
                <a16:creationId xmlns:a16="http://schemas.microsoft.com/office/drawing/2014/main" id="{CC092A5A-747D-075A-3EC4-CC8C1425E1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7" r="2" b="2"/>
          <a:stretch/>
        </p:blipFill>
        <p:spPr bwMode="auto">
          <a:xfrm>
            <a:off x="838200" y="2313764"/>
            <a:ext cx="10515600" cy="43513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1A28FC-68CB-1F84-5163-3C3899085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283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5D092-6102-494F-2CD9-330FF6152B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Aids respiratory assessment </a:t>
            </a:r>
          </a:p>
          <a:p>
            <a:r>
              <a:rPr lang="en-GB" dirty="0"/>
              <a:t>Part of the physiotherapy toolkit </a:t>
            </a:r>
          </a:p>
          <a:p>
            <a:r>
              <a:rPr lang="en-GB" dirty="0"/>
              <a:t>NEVER used in isolation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Done in a systematic approach A-I …….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D1DF77-7BBF-F601-3FD8-53E4BF4D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Interpretation </a:t>
            </a:r>
          </a:p>
        </p:txBody>
      </p:sp>
      <p:pic>
        <p:nvPicPr>
          <p:cNvPr id="6" name="Picture 4" descr="A picture containing grass, mountain, person, outdoor&#10;&#10;Description automatically generated">
            <a:extLst>
              <a:ext uri="{FF2B5EF4-FFF2-40B4-BE49-F238E27FC236}">
                <a16:creationId xmlns:a16="http://schemas.microsoft.com/office/drawing/2014/main" id="{26E78612-6673-0F49-A45D-20CAE93054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16047" r="16970" b="-1"/>
          <a:stretch/>
        </p:blipFill>
        <p:spPr>
          <a:xfrm>
            <a:off x="6466153" y="2072462"/>
            <a:ext cx="4593694" cy="38576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83110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C695D1-DE36-638C-3F85-2153C163A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Interpretation </a:t>
            </a:r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B53779-A3A1-8E1F-8BA9-8CAC58E9F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GB" dirty="0">
                <a:ea typeface="Cambria"/>
              </a:rPr>
              <a:t>Check the details : Name, DOB, date of </a:t>
            </a:r>
            <a:r>
              <a:rPr lang="en-GB" dirty="0" err="1">
                <a:ea typeface="Cambria"/>
              </a:rPr>
              <a:t>xray</a:t>
            </a:r>
            <a:r>
              <a:rPr lang="en-GB" dirty="0">
                <a:ea typeface="Cambria"/>
              </a:rPr>
              <a:t> , L and R </a:t>
            </a:r>
          </a:p>
          <a:p>
            <a:endParaRPr lang="en-GB" dirty="0">
              <a:ea typeface="Cambria"/>
            </a:endParaRPr>
          </a:p>
          <a:p>
            <a:r>
              <a:rPr lang="en-GB" dirty="0">
                <a:ea typeface="Cambria"/>
              </a:rPr>
              <a:t>A: Airway </a:t>
            </a:r>
            <a:endParaRPr lang="en-GB" dirty="0"/>
          </a:p>
          <a:p>
            <a:r>
              <a:rPr lang="en-GB" dirty="0">
                <a:ea typeface="Cambria"/>
              </a:rPr>
              <a:t>B: Bones / Soft tissues </a:t>
            </a:r>
          </a:p>
          <a:p>
            <a:r>
              <a:rPr lang="en-GB" dirty="0">
                <a:ea typeface="Cambria"/>
              </a:rPr>
              <a:t>C: Cardiac </a:t>
            </a:r>
          </a:p>
          <a:p>
            <a:r>
              <a:rPr lang="en-GB" dirty="0">
                <a:ea typeface="Cambria"/>
              </a:rPr>
              <a:t>D: Diaphragms </a:t>
            </a:r>
            <a:endParaRPr lang="en-GB" dirty="0"/>
          </a:p>
          <a:p>
            <a:r>
              <a:rPr lang="en-GB" dirty="0">
                <a:ea typeface="Cambria"/>
              </a:rPr>
              <a:t>E: Exposure </a:t>
            </a:r>
          </a:p>
          <a:p>
            <a:r>
              <a:rPr lang="en-GB" dirty="0">
                <a:ea typeface="Cambria"/>
              </a:rPr>
              <a:t>F: Fields </a:t>
            </a:r>
          </a:p>
          <a:p>
            <a:r>
              <a:rPr lang="en-GB" dirty="0">
                <a:ea typeface="Cambria"/>
              </a:rPr>
              <a:t>G: gadgets </a:t>
            </a:r>
          </a:p>
          <a:p>
            <a:r>
              <a:rPr lang="en-GB" dirty="0">
                <a:ea typeface="Cambria"/>
              </a:rPr>
              <a:t>H: Hila </a:t>
            </a:r>
          </a:p>
          <a:p>
            <a:r>
              <a:rPr lang="en-GB" dirty="0">
                <a:ea typeface="Cambria"/>
              </a:rPr>
              <a:t>I : impression </a:t>
            </a:r>
            <a:endParaRPr lang="en-GB" dirty="0"/>
          </a:p>
        </p:txBody>
      </p:sp>
      <p:pic>
        <p:nvPicPr>
          <p:cNvPr id="5" name="Picture 5" descr="Icon&#10;&#10;Description automatically generated">
            <a:extLst>
              <a:ext uri="{FF2B5EF4-FFF2-40B4-BE49-F238E27FC236}">
                <a16:creationId xmlns:a16="http://schemas.microsoft.com/office/drawing/2014/main" id="{D7AC0495-B330-FBB8-70CC-3B96FC4CA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740" y="3424633"/>
            <a:ext cx="2743200" cy="288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54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94F8B-AC28-4333-3C5E-863CDADD6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961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/>
              <a:t>Normal CXR</a:t>
            </a:r>
            <a:endParaRPr lang="en-GB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1421F5E-78E0-C1A0-B395-E3D40AA6C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979" y="2256255"/>
            <a:ext cx="4038041" cy="4351338"/>
          </a:xfrm>
          <a:prstGeom prst="rect">
            <a:avLst/>
          </a:prstGeom>
          <a:noFill/>
        </p:spPr>
      </p:pic>
      <p:pic>
        <p:nvPicPr>
          <p:cNvPr id="5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18479645-FBD6-7149-CAA9-3C03B4938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739" y="2260748"/>
            <a:ext cx="3720860" cy="436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962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CC58-6E7D-0651-EEE5-274A8EE09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Normal Chest x-ray  ( lobes) </a:t>
            </a:r>
            <a:endParaRPr lang="en-GB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678751E-FF7A-1C9F-90BE-BFB5A54CC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985" y="2453381"/>
            <a:ext cx="3749615" cy="4035953"/>
          </a:xfrm>
          <a:prstGeom prst="rect">
            <a:avLst/>
          </a:prstGeom>
        </p:spPr>
      </p:pic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FAD94F04-BE2A-2EFC-3F62-48ED8CBCB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249" y="2240628"/>
            <a:ext cx="2225616" cy="2376743"/>
          </a:xfrm>
          <a:prstGeom prst="rect">
            <a:avLst/>
          </a:prstGeom>
        </p:spPr>
      </p:pic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FE8353D8-230B-07D8-51E7-902A88CDD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9532" y="3433671"/>
            <a:ext cx="2355012" cy="2779867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1F2DC282-C8EF-D957-8AB1-B704756B3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970" y="1720521"/>
            <a:ext cx="1676400" cy="771525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2C6378C9-6FEE-7C70-3DE3-673FCDC7CD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1638" y="2928219"/>
            <a:ext cx="182880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511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1EBDAAB7-877F-9D94-51BE-17A137C0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79" y="1825625"/>
            <a:ext cx="4488946" cy="4838518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814D5-E3AA-F2A7-C43A-AA411098F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000" dirty="0"/>
              <a:t>What are we looking for ? </a:t>
            </a:r>
          </a:p>
          <a:p>
            <a:pPr lvl="1"/>
            <a:r>
              <a:rPr lang="en-GB" sz="2000" dirty="0"/>
              <a:t>Trachea should be central and air filled </a:t>
            </a:r>
          </a:p>
          <a:p>
            <a:pPr lvl="1"/>
            <a:r>
              <a:rPr lang="en-GB" sz="2000" dirty="0"/>
              <a:t>To </a:t>
            </a:r>
            <a:r>
              <a:rPr lang="en-GB" sz="2000" dirty="0" err="1"/>
              <a:t>ax</a:t>
            </a:r>
            <a:r>
              <a:rPr lang="en-GB" sz="2000" dirty="0"/>
              <a:t> rotation:</a:t>
            </a:r>
          </a:p>
          <a:p>
            <a:r>
              <a:rPr lang="en-GB" sz="2000" dirty="0"/>
              <a:t>–medial ends of clavicles should be equidistant from spinous process</a:t>
            </a:r>
          </a:p>
          <a:p>
            <a:pPr lvl="2"/>
            <a:r>
              <a:rPr lang="en-GB" dirty="0"/>
              <a:t>–rotated to left – left clavicle further from sp. process</a:t>
            </a:r>
          </a:p>
          <a:p>
            <a:pPr lvl="2"/>
            <a:r>
              <a:rPr lang="en-GB" dirty="0"/>
              <a:t>–rotated to right – right clavicle further from sp. process</a:t>
            </a:r>
          </a:p>
          <a:p>
            <a:pPr lvl="1"/>
            <a:r>
              <a:rPr lang="en-GB" sz="2000" dirty="0"/>
              <a:t>Position of carina </a:t>
            </a:r>
          </a:p>
          <a:p>
            <a:pPr lvl="1"/>
            <a:r>
              <a:rPr lang="en-GB" sz="2000" dirty="0"/>
              <a:t>Position of Endo Tracheal tube ( 25cms above carina) 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75FC64-8272-9C1D-1D31-23DACDD54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0368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/>
              <a:t>Airway </a:t>
            </a:r>
            <a:endParaRPr lang="en-GB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41BA9296-0F91-267E-C0D2-32CCBAFFE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240" y="2904966"/>
            <a:ext cx="724057" cy="19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676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5092A9-7C4C-02F0-5BB7-F61641FFB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 airways</a:t>
            </a:r>
          </a:p>
        </p:txBody>
      </p:sp>
      <p:pic>
        <p:nvPicPr>
          <p:cNvPr id="6146" name="Picture 2" descr="Pictorial essay: endotracheal tube and nasogastric tube on chest  radiographs | BJMP.org">
            <a:extLst>
              <a:ext uri="{FF2B5EF4-FFF2-40B4-BE49-F238E27FC236}">
                <a16:creationId xmlns:a16="http://schemas.microsoft.com/office/drawing/2014/main" id="{ED96608D-E298-2446-20BD-4A5F3BCC34D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80955"/>
            <a:ext cx="5181600" cy="4240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hest radiograph showing an accurately positioned tracheostomy tube... |  Download Scientific Diagram">
            <a:extLst>
              <a:ext uri="{FF2B5EF4-FFF2-40B4-BE49-F238E27FC236}">
                <a16:creationId xmlns:a16="http://schemas.microsoft.com/office/drawing/2014/main" id="{EEA357D8-BC29-E74A-53DF-2309AB6D32E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183" y="1825625"/>
            <a:ext cx="494563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9844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DB478D-E0E2-AB79-E8F7-7406E2550F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Check for fractures, osteoporosis or malignant secondaries</a:t>
            </a:r>
            <a:endParaRPr lang="en-GB" dirty="0">
              <a:ea typeface="Cambria" panose="02040503050406030204"/>
            </a:endParaRPr>
          </a:p>
          <a:p>
            <a:r>
              <a:rPr lang="en-GB" dirty="0">
                <a:ea typeface="+mn-lt"/>
                <a:cs typeface="+mn-lt"/>
              </a:rPr>
              <a:t>higher risk of pneumothorax with fractures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Check for oedema, foreign bodies, surgical emphysema</a:t>
            </a:r>
            <a:endParaRPr lang="en-GB" dirty="0"/>
          </a:p>
          <a:p>
            <a:endParaRPr lang="en-GB" dirty="0">
              <a:ea typeface="Cambria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4492163-F913-6F4C-43B9-7A9C0BF44C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43979" y="1825625"/>
            <a:ext cx="4038042" cy="4351338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B30E991-F750-05CC-DEB1-653FBAA7D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Bones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520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06E70BD-9D39-F417-0E93-B951FC7EBD7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13460" y="1825625"/>
            <a:ext cx="4031080" cy="4351338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A0DC3-ADAE-119D-FF3B-D57E2955B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618813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GB" dirty="0">
                <a:ea typeface="+mn-lt"/>
                <a:cs typeface="+mn-lt"/>
              </a:rPr>
              <a:t>Mediastinum comprises the  heart, left and right main bronchi, major blood vessels, and trachea </a:t>
            </a:r>
            <a:endParaRPr lang="en-GB">
              <a:ea typeface="Cambria" panose="02040503050406030204"/>
            </a:endParaRPr>
          </a:p>
          <a:p>
            <a:r>
              <a:rPr lang="en-GB" dirty="0">
                <a:ea typeface="+mn-lt"/>
                <a:cs typeface="+mn-lt"/>
              </a:rPr>
              <a:t>Look for</a:t>
            </a:r>
            <a:endParaRPr lang="en-GB" dirty="0"/>
          </a:p>
          <a:p>
            <a:pPr lvl="1"/>
            <a:r>
              <a:rPr lang="en-GB" dirty="0">
                <a:ea typeface="+mn-lt"/>
                <a:cs typeface="+mn-lt"/>
              </a:rPr>
              <a:t>Size : should fit in one side of chest</a:t>
            </a:r>
            <a:endParaRPr lang="en-GB" dirty="0">
              <a:ea typeface="Cambria"/>
            </a:endParaRPr>
          </a:p>
          <a:p>
            <a:pPr lvl="1"/>
            <a:r>
              <a:rPr lang="en-GB" dirty="0">
                <a:ea typeface="+mn-lt"/>
                <a:cs typeface="+mn-lt"/>
              </a:rPr>
              <a:t>Shape</a:t>
            </a:r>
            <a:endParaRPr lang="en-GB">
              <a:ea typeface="Cambria"/>
            </a:endParaRPr>
          </a:p>
          <a:p>
            <a:pPr lvl="1"/>
            <a:r>
              <a:rPr lang="en-GB" dirty="0">
                <a:ea typeface="+mn-lt"/>
                <a:cs typeface="+mn-lt"/>
              </a:rPr>
              <a:t>Position: 1/3 R , 2/3 L </a:t>
            </a:r>
            <a:endParaRPr lang="en-GB" dirty="0">
              <a:ea typeface="Cambria"/>
            </a:endParaRPr>
          </a:p>
          <a:p>
            <a:r>
              <a:rPr lang="en-GB" dirty="0">
                <a:ea typeface="+mn-lt"/>
                <a:cs typeface="+mn-lt"/>
              </a:rPr>
              <a:t>Borders and angles: Cardio-phrenic</a:t>
            </a:r>
            <a:endParaRPr lang="en-GB" dirty="0" err="1">
              <a:ea typeface="Cambria"/>
            </a:endParaRPr>
          </a:p>
          <a:p>
            <a:r>
              <a:rPr lang="en-GB" dirty="0">
                <a:ea typeface="+mn-lt"/>
                <a:cs typeface="+mn-lt"/>
              </a:rPr>
              <a:t>Not fixed therefore can be pushed or pulled</a:t>
            </a:r>
            <a:endParaRPr lang="en-GB" dirty="0"/>
          </a:p>
          <a:p>
            <a:endParaRPr lang="en-GB" dirty="0">
              <a:ea typeface="Cambria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1BEF7C-C424-1410-08CC-6ABE6E33D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Cardiac 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DCBD01A-DD4C-A7DC-6A44-94F6C5E5C3FE}"/>
                  </a:ext>
                </a:extLst>
              </p14:cNvPr>
              <p14:cNvContentPartPr/>
              <p14:nvPr/>
            </p14:nvContentPartPr>
            <p14:xfrm>
              <a:off x="2438088" y="4954298"/>
              <a:ext cx="619313" cy="622486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DCBD01A-DD4C-A7DC-6A44-94F6C5E5C3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20095" y="4936307"/>
                <a:ext cx="654939" cy="6581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2AC4A8D-FDEB-6865-1293-64F6752D2C84}"/>
                  </a:ext>
                </a:extLst>
              </p14:cNvPr>
              <p14:cNvContentPartPr/>
              <p14:nvPr/>
            </p14:nvContentPartPr>
            <p14:xfrm>
              <a:off x="4301029" y="5159114"/>
              <a:ext cx="595669" cy="645748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2AC4A8D-FDEB-6865-1293-64F6752D2C8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83404" y="5141127"/>
                <a:ext cx="631280" cy="6813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D121138-F7CB-EB29-B63E-A0611717B06C}"/>
                  </a:ext>
                </a:extLst>
              </p14:cNvPr>
              <p14:cNvContentPartPr/>
              <p14:nvPr/>
            </p14:nvContentPartPr>
            <p14:xfrm>
              <a:off x="1898754" y="1036819"/>
              <a:ext cx="12491" cy="12491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D121138-F7CB-EB29-B63E-A0611717B06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6695" y="424760"/>
                <a:ext cx="1249100" cy="1249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678BE3B-B990-E435-B7F6-4AB0761929EA}"/>
                  </a:ext>
                </a:extLst>
              </p14:cNvPr>
              <p14:cNvContentPartPr/>
              <p14:nvPr/>
            </p14:nvContentPartPr>
            <p14:xfrm>
              <a:off x="1061803" y="936885"/>
              <a:ext cx="12491" cy="12491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678BE3B-B990-E435-B7F6-4AB0761929E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7253" y="312335"/>
                <a:ext cx="1249100" cy="1249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E4FCDF0-E1C9-D374-1611-55E1A5E1A9BA}"/>
                  </a:ext>
                </a:extLst>
              </p14:cNvPr>
              <p14:cNvContentPartPr/>
              <p14:nvPr/>
            </p14:nvContentPartPr>
            <p14:xfrm>
              <a:off x="4859311" y="1111770"/>
              <a:ext cx="12491" cy="12491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E4FCDF0-E1C9-D374-1611-55E1A5E1A9B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34761" y="499711"/>
                <a:ext cx="1249100" cy="12491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1408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40B413-D7D1-8EE8-F01A-C96BB6E2D0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Cambria"/>
              </a:rPr>
              <a:t>Height: </a:t>
            </a:r>
          </a:p>
          <a:p>
            <a:pPr lvl="1"/>
            <a:r>
              <a:rPr lang="en-GB" dirty="0">
                <a:ea typeface="Cambria"/>
              </a:rPr>
              <a:t>R higher than the left </a:t>
            </a:r>
          </a:p>
          <a:p>
            <a:r>
              <a:rPr lang="en-GB" dirty="0">
                <a:ea typeface="Cambria"/>
              </a:rPr>
              <a:t>Shape : </a:t>
            </a:r>
          </a:p>
          <a:p>
            <a:pPr lvl="1"/>
            <a:r>
              <a:rPr lang="en-GB" dirty="0">
                <a:ea typeface="Cambria"/>
              </a:rPr>
              <a:t>Domed </a:t>
            </a:r>
          </a:p>
          <a:p>
            <a:r>
              <a:rPr lang="en-GB" dirty="0">
                <a:ea typeface="Cambria"/>
              </a:rPr>
              <a:t>Angles :</a:t>
            </a:r>
          </a:p>
          <a:p>
            <a:pPr lvl="1"/>
            <a:r>
              <a:rPr lang="en-GB" dirty="0">
                <a:ea typeface="Cambria"/>
              </a:rPr>
              <a:t>Costophrenic angles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F268C0F6-326B-9934-1758-550B78627E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47460" y="1825625"/>
            <a:ext cx="4031080" cy="4351338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97FF309-2228-2E5B-921E-6584BD9D8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Diaphragms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A112164-D1BC-E4B7-3FCC-83CFC51C13F0}"/>
                  </a:ext>
                </a:extLst>
              </p14:cNvPr>
              <p14:cNvContentPartPr/>
              <p14:nvPr/>
            </p14:nvContentPartPr>
            <p14:xfrm>
              <a:off x="1136754" y="3126383"/>
              <a:ext cx="1110176" cy="72579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A112164-D1BC-E4B7-3FCC-83CFC51C13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9121" y="3108864"/>
                <a:ext cx="1145802" cy="1079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FF2A96C-C4E9-CEB2-1315-620F18271FC8}"/>
                  </a:ext>
                </a:extLst>
              </p14:cNvPr>
              <p14:cNvContentPartPr/>
              <p14:nvPr/>
            </p14:nvContentPartPr>
            <p14:xfrm>
              <a:off x="6914940" y="5458375"/>
              <a:ext cx="1471424" cy="75005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FF2A96C-C4E9-CEB2-1315-620F18271FC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96943" y="5440739"/>
                <a:ext cx="1507058" cy="7856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4A2E593-F66E-5171-EB41-EAD6BAD2B55F}"/>
                  </a:ext>
                </a:extLst>
              </p14:cNvPr>
              <p14:cNvContentPartPr/>
              <p14:nvPr/>
            </p14:nvContentPartPr>
            <p14:xfrm>
              <a:off x="9081541" y="5571344"/>
              <a:ext cx="1335474" cy="524048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4A2E593-F66E-5171-EB41-EAD6BAD2B55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63548" y="5553360"/>
                <a:ext cx="1371101" cy="5596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61986E1-D5D8-4175-0096-70FC83EBD89B}"/>
                  </a:ext>
                </a:extLst>
              </p14:cNvPr>
              <p14:cNvContentPartPr/>
              <p14:nvPr/>
            </p14:nvContentPartPr>
            <p14:xfrm>
              <a:off x="1161738" y="4072162"/>
              <a:ext cx="1222970" cy="75116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61986E1-D5D8-4175-0096-70FC83EBD89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44102" y="4054635"/>
                <a:ext cx="1258601" cy="1105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9C5ABDF-EFD4-0E1A-D1B9-E98F30CBBF2F}"/>
                  </a:ext>
                </a:extLst>
              </p14:cNvPr>
              <p14:cNvContentPartPr/>
              <p14:nvPr/>
            </p14:nvContentPartPr>
            <p14:xfrm>
              <a:off x="6767732" y="5458917"/>
              <a:ext cx="461213" cy="710021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9C5ABDF-EFD4-0E1A-D1B9-E98F30CBBF2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50104" y="5440924"/>
                <a:ext cx="496829" cy="7456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EAEC76C-B6C5-DDFD-C3E1-D48360A56676}"/>
                  </a:ext>
                </a:extLst>
              </p14:cNvPr>
              <p14:cNvContentPartPr/>
              <p14:nvPr/>
            </p14:nvContentPartPr>
            <p14:xfrm>
              <a:off x="10023877" y="5371474"/>
              <a:ext cx="495301" cy="797073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EAEC76C-B6C5-DDFD-C3E1-D48360A5667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005892" y="5353841"/>
                <a:ext cx="530911" cy="83269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8544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0489B-C292-CE37-A845-01413E2F94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Cambria"/>
              </a:rPr>
              <a:t>Expansion : </a:t>
            </a:r>
          </a:p>
          <a:p>
            <a:pPr lvl="1"/>
            <a:r>
              <a:rPr lang="en-GB" dirty="0">
                <a:ea typeface="Cambria"/>
              </a:rPr>
              <a:t>Count the posterior ribs</a:t>
            </a:r>
          </a:p>
          <a:p>
            <a:pPr lvl="1"/>
            <a:r>
              <a:rPr lang="en-GB" dirty="0">
                <a:ea typeface="+mn-lt"/>
                <a:cs typeface="+mn-lt"/>
              </a:rPr>
              <a:t>6</a:t>
            </a:r>
            <a:r>
              <a:rPr lang="en-GB" sz="2000" baseline="30000" dirty="0">
                <a:ea typeface="+mn-lt"/>
                <a:cs typeface="+mn-lt"/>
              </a:rPr>
              <a:t>th</a:t>
            </a:r>
            <a:r>
              <a:rPr lang="en-GB" dirty="0">
                <a:ea typeface="+mn-lt"/>
                <a:cs typeface="+mn-lt"/>
              </a:rPr>
              <a:t> rib should be level with the diaphragm at the mid clavicular line</a:t>
            </a:r>
            <a:endParaRPr lang="en-GB" dirty="0">
              <a:ea typeface="Cambria"/>
            </a:endParaRPr>
          </a:p>
          <a:p>
            <a:pPr lvl="1"/>
            <a:r>
              <a:rPr lang="en-GB" dirty="0">
                <a:ea typeface="+mn-lt"/>
                <a:cs typeface="+mn-lt"/>
              </a:rPr>
              <a:t>over expansion could indicate emphysematous COPD</a:t>
            </a:r>
            <a:endParaRPr lang="en-GB" dirty="0"/>
          </a:p>
          <a:p>
            <a:pPr lvl="1"/>
            <a:endParaRPr lang="en-GB" dirty="0">
              <a:ea typeface="Cambria"/>
            </a:endParaRPr>
          </a:p>
          <a:p>
            <a:r>
              <a:rPr lang="en-GB" dirty="0">
                <a:ea typeface="Cambria"/>
              </a:rPr>
              <a:t>Exposure : think toast …..</a:t>
            </a:r>
            <a:endParaRPr lang="en-GB" dirty="0"/>
          </a:p>
          <a:p>
            <a:endParaRPr lang="en-GB" dirty="0">
              <a:ea typeface="Cambri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68BB27-5884-C1BA-199A-D653FA0A0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 Expansion and Exposure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270847-2C5D-4819-7DA5-8E1BDAE91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210" y="1825625"/>
            <a:ext cx="403804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973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A picture containing x-ray film, blur&#10;&#10;Description automatically generated">
            <a:extLst>
              <a:ext uri="{FF2B5EF4-FFF2-40B4-BE49-F238E27FC236}">
                <a16:creationId xmlns:a16="http://schemas.microsoft.com/office/drawing/2014/main" id="{6B406688-B215-A588-1EB7-A2DC0D39B4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21099" y="1825625"/>
            <a:ext cx="4415802" cy="4351338"/>
          </a:xfrm>
        </p:spPr>
      </p:pic>
      <p:pic>
        <p:nvPicPr>
          <p:cNvPr id="6" name="Picture 6" descr="A picture containing x-ray film&#10;&#10;Description automatically generated">
            <a:extLst>
              <a:ext uri="{FF2B5EF4-FFF2-40B4-BE49-F238E27FC236}">
                <a16:creationId xmlns:a16="http://schemas.microsoft.com/office/drawing/2014/main" id="{5625533D-1E85-4045-D333-4FF1C9A7F8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80253" y="1825625"/>
            <a:ext cx="4165493" cy="4351338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192292-2F3B-4D9A-BA41-29F1E979D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Exposure </a:t>
            </a:r>
            <a:endParaRPr lang="en-GB" dirty="0"/>
          </a:p>
        </p:txBody>
      </p:sp>
      <p:pic>
        <p:nvPicPr>
          <p:cNvPr id="7" name="Picture 7" descr="Logo&#10;&#10;Description automatically generated">
            <a:extLst>
              <a:ext uri="{FF2B5EF4-FFF2-40B4-BE49-F238E27FC236}">
                <a16:creationId xmlns:a16="http://schemas.microsoft.com/office/drawing/2014/main" id="{89ACFCBD-96FA-F09E-2C52-0FB5AA1F1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246" y="5590298"/>
            <a:ext cx="2743200" cy="58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625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FAE7D3-8A25-6ED9-01F6-8203F82E23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Cambria"/>
              </a:rPr>
              <a:t>Work through each section systematically : upper , mid and lower </a:t>
            </a:r>
          </a:p>
          <a:p>
            <a:r>
              <a:rPr lang="en-GB" dirty="0">
                <a:ea typeface="Cambria"/>
              </a:rPr>
              <a:t>Looking for : </a:t>
            </a:r>
          </a:p>
          <a:p>
            <a:pPr lvl="1"/>
            <a:r>
              <a:rPr lang="en-GB" dirty="0">
                <a:ea typeface="Cambria"/>
              </a:rPr>
              <a:t>Lung markings to the edge </a:t>
            </a:r>
          </a:p>
          <a:p>
            <a:pPr lvl="1"/>
            <a:r>
              <a:rPr lang="en-GB" dirty="0">
                <a:ea typeface="Cambria"/>
              </a:rPr>
              <a:t>Any decreased lung markings </a:t>
            </a:r>
          </a:p>
          <a:p>
            <a:pPr lvl="1"/>
            <a:r>
              <a:rPr lang="en-GB" dirty="0">
                <a:ea typeface="Cambria"/>
              </a:rPr>
              <a:t>Lung fissures </a:t>
            </a:r>
          </a:p>
          <a:p>
            <a:pPr lvl="1"/>
            <a:r>
              <a:rPr lang="en-GB" dirty="0">
                <a:ea typeface="Cambria"/>
              </a:rPr>
              <a:t>Consolidation: dense or patchy </a:t>
            </a:r>
          </a:p>
        </p:txBody>
      </p:sp>
      <p:pic>
        <p:nvPicPr>
          <p:cNvPr id="5" name="Picture 5" descr="A picture containing x-ray film&#10;&#10;Description automatically generated">
            <a:extLst>
              <a:ext uri="{FF2B5EF4-FFF2-40B4-BE49-F238E27FC236}">
                <a16:creationId xmlns:a16="http://schemas.microsoft.com/office/drawing/2014/main" id="{983E7079-966D-DFD3-8730-D20621AF49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47460" y="1825625"/>
            <a:ext cx="4031080" cy="4351338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81E1891-B771-D179-55FA-32E1E60B0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Fields </a:t>
            </a:r>
          </a:p>
        </p:txBody>
      </p:sp>
    </p:spTree>
    <p:extLst>
      <p:ext uri="{BB962C8B-B14F-4D97-AF65-F5344CB8AC3E}">
        <p14:creationId xmlns:p14="http://schemas.microsoft.com/office/powerpoint/2010/main" val="1119307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110D5-DABE-7AD2-9E05-958E20CD3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Gadgets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2C325-280E-BA1F-A27C-EB81FEF56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 dirty="0" err="1">
                <a:ea typeface="+mn-lt"/>
                <a:cs typeface="+mn-lt"/>
              </a:rPr>
              <a:t>Naso</a:t>
            </a:r>
            <a:r>
              <a:rPr lang="en-GB" dirty="0">
                <a:ea typeface="+mn-lt"/>
                <a:cs typeface="+mn-lt"/>
              </a:rPr>
              <a:t> Gastric tube</a:t>
            </a:r>
            <a:endParaRPr lang="en-GB" dirty="0">
              <a:ea typeface="Cambria" panose="02040503050406030204"/>
            </a:endParaRPr>
          </a:p>
          <a:p>
            <a:r>
              <a:rPr lang="en-GB" dirty="0">
                <a:ea typeface="+mn-lt"/>
                <a:cs typeface="+mn-lt"/>
              </a:rPr>
              <a:t>ECG leads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Chest drains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Bra straps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Defib pads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Central line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Pacemaker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Heart Valves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Foreign bodies</a:t>
            </a:r>
            <a:endParaRPr lang="en-GB" dirty="0"/>
          </a:p>
          <a:p>
            <a:r>
              <a:rPr lang="en-GB" dirty="0">
                <a:ea typeface="Cambria"/>
              </a:rPr>
              <a:t>And many more....</a:t>
            </a:r>
          </a:p>
          <a:p>
            <a:pPr marL="0" indent="0">
              <a:buNone/>
            </a:pPr>
            <a:endParaRPr lang="en-GB" dirty="0">
              <a:ea typeface="Cambria"/>
            </a:endParaRPr>
          </a:p>
          <a:p>
            <a:endParaRPr lang="en-GB" dirty="0">
              <a:ea typeface="Cambria"/>
            </a:endParaRPr>
          </a:p>
        </p:txBody>
      </p:sp>
      <p:pic>
        <p:nvPicPr>
          <p:cNvPr id="4" name="Picture 4" descr="A picture containing x-ray film, waterfall&#10;&#10;Description automatically generated">
            <a:extLst>
              <a:ext uri="{FF2B5EF4-FFF2-40B4-BE49-F238E27FC236}">
                <a16:creationId xmlns:a16="http://schemas.microsoft.com/office/drawing/2014/main" id="{3D094029-D722-EDAB-1794-90DD11E46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373" y="2538216"/>
            <a:ext cx="3359770" cy="304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336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5CA9E-7FD8-FD6C-4BEB-2A575EA1D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Short note on the </a:t>
            </a:r>
            <a:r>
              <a:rPr lang="en-GB" dirty="0" err="1"/>
              <a:t>Naso</a:t>
            </a:r>
            <a:r>
              <a:rPr lang="en-GB" dirty="0"/>
              <a:t>-gastric tube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6CFF6-83A8-46B1-EB41-DC5B71AC4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Used to aid nutrition </a:t>
            </a:r>
          </a:p>
          <a:p>
            <a:r>
              <a:rPr lang="en-GB" dirty="0"/>
              <a:t>Can move during movement, treatment or if pt pulls it </a:t>
            </a:r>
          </a:p>
          <a:p>
            <a:r>
              <a:rPr lang="en-GB" dirty="0"/>
              <a:t>Can visualise its position on CXR: </a:t>
            </a:r>
          </a:p>
          <a:p>
            <a:pPr lvl="1"/>
            <a:r>
              <a:rPr lang="en-GB" dirty="0"/>
              <a:t>Running past the level of the diaphragm = sitting in stomach </a:t>
            </a:r>
          </a:p>
          <a:p>
            <a:pPr lvl="1"/>
            <a:r>
              <a:rPr lang="en-GB" dirty="0"/>
              <a:t>Above the diaphragm = in the lung </a:t>
            </a:r>
          </a:p>
        </p:txBody>
      </p:sp>
    </p:spTree>
    <p:extLst>
      <p:ext uri="{BB962C8B-B14F-4D97-AF65-F5344CB8AC3E}">
        <p14:creationId xmlns:p14="http://schemas.microsoft.com/office/powerpoint/2010/main" val="1451519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afe Placement of Nasogastric Feeding Tubes">
            <a:extLst>
              <a:ext uri="{FF2B5EF4-FFF2-40B4-BE49-F238E27FC236}">
                <a16:creationId xmlns:a16="http://schemas.microsoft.com/office/drawing/2014/main" id="{4B28F77A-335B-4F2A-725C-B6C4F4854E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6396"/>
          <a:stretch/>
        </p:blipFill>
        <p:spPr bwMode="auto">
          <a:xfrm>
            <a:off x="838200" y="1825625"/>
            <a:ext cx="5181600" cy="43513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57C6F0-0748-9827-ABCF-72D50E945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0368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NG tube </a:t>
            </a:r>
          </a:p>
        </p:txBody>
      </p:sp>
      <p:pic>
        <p:nvPicPr>
          <p:cNvPr id="5124" name="Picture 4" descr="Chest x-ray showing a nasogastric tube folded into both main bronchi of...  | Download Scientific Diagram">
            <a:extLst>
              <a:ext uri="{FF2B5EF4-FFF2-40B4-BE49-F238E27FC236}">
                <a16:creationId xmlns:a16="http://schemas.microsoft.com/office/drawing/2014/main" id="{01300F66-6BA4-EBF3-187F-7258DB3E63E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106" y="1556403"/>
            <a:ext cx="3574845" cy="4891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5557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AA7F2-1815-B770-3805-BEEA63E226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Blood and lymph vessels</a:t>
            </a:r>
            <a:endParaRPr lang="en-GB" dirty="0">
              <a:ea typeface="Cambria" panose="02040503050406030204"/>
            </a:endParaRPr>
          </a:p>
          <a:p>
            <a:r>
              <a:rPr lang="en-GB" dirty="0">
                <a:ea typeface="+mn-lt"/>
                <a:cs typeface="+mn-lt"/>
              </a:rPr>
              <a:t>Left appears higher than right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Look for size and position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if increased hilar ‘flare’ could indicate fluid overload or cardiac failure</a:t>
            </a:r>
            <a:endParaRPr lang="en-GB" dirty="0"/>
          </a:p>
          <a:p>
            <a:endParaRPr lang="en-GB" dirty="0">
              <a:ea typeface="Cambria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2CD753-8CE8-70C3-0CD6-DB962DB8F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Hilar </a:t>
            </a:r>
            <a:endParaRPr lang="en-GB" dirty="0"/>
          </a:p>
        </p:txBody>
      </p:sp>
      <p:pic>
        <p:nvPicPr>
          <p:cNvPr id="6" name="Picture 5" descr="A picture containing x-ray film&#10;&#10;Description automatically generated">
            <a:extLst>
              <a:ext uri="{FF2B5EF4-FFF2-40B4-BE49-F238E27FC236}">
                <a16:creationId xmlns:a16="http://schemas.microsoft.com/office/drawing/2014/main" id="{A86AB587-4DE6-913D-7FF8-9B26EC4C7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790" y="1825625"/>
            <a:ext cx="40310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643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48DED5-4B82-BB14-9B2C-32602C8F9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Impression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31DF6C-93B8-F911-D5FD-7232F654F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dirty="0">
                <a:ea typeface="Cambria"/>
              </a:rPr>
              <a:t>Based on what you've seen you state your impression</a:t>
            </a:r>
          </a:p>
          <a:p>
            <a:pPr marL="0" indent="0">
              <a:buNone/>
            </a:pPr>
            <a:endParaRPr lang="en-GB" dirty="0">
              <a:ea typeface="Cambria"/>
            </a:endParaRPr>
          </a:p>
          <a:p>
            <a:pPr marL="0" indent="0">
              <a:buNone/>
            </a:pPr>
            <a:endParaRPr lang="en-GB" dirty="0">
              <a:ea typeface="Cambria"/>
            </a:endParaRPr>
          </a:p>
          <a:p>
            <a:pPr marL="0" indent="0">
              <a:buNone/>
            </a:pPr>
            <a:endParaRPr lang="en-GB" dirty="0">
              <a:ea typeface="Cambria"/>
            </a:endParaRPr>
          </a:p>
          <a:p>
            <a:pPr marL="0" indent="0">
              <a:buNone/>
            </a:pPr>
            <a:endParaRPr lang="en-GB" dirty="0">
              <a:ea typeface="Cambria"/>
            </a:endParaRPr>
          </a:p>
          <a:p>
            <a:pPr marL="0" indent="0">
              <a:buNone/>
            </a:pPr>
            <a:endParaRPr lang="en-GB" dirty="0">
              <a:ea typeface="Cambria"/>
            </a:endParaRPr>
          </a:p>
          <a:p>
            <a:pPr marL="0" indent="0">
              <a:buNone/>
            </a:pPr>
            <a:endParaRPr lang="en-GB" dirty="0">
              <a:ea typeface="Cambria"/>
            </a:endParaRPr>
          </a:p>
          <a:p>
            <a:pPr marL="0" indent="0">
              <a:buNone/>
            </a:pPr>
            <a:r>
              <a:rPr lang="en-GB" dirty="0">
                <a:ea typeface="Cambria"/>
              </a:rPr>
              <a:t>Let's look at some examples of abnormalities and what they look like....</a:t>
            </a:r>
          </a:p>
        </p:txBody>
      </p:sp>
      <p:pic>
        <p:nvPicPr>
          <p:cNvPr id="6" name="Graphic 6" descr="Puzzle pieces outline">
            <a:extLst>
              <a:ext uri="{FF2B5EF4-FFF2-40B4-BE49-F238E27FC236}">
                <a16:creationId xmlns:a16="http://schemas.microsoft.com/office/drawing/2014/main" id="{D3F63354-757A-088E-40B1-CB8E39D1E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2818" y="3027727"/>
            <a:ext cx="2354510" cy="236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885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A7BBA1-7C65-AA7B-A6F2-F52F674027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ea typeface="+mn-lt"/>
                <a:cs typeface="+mn-lt"/>
              </a:rPr>
              <a:t>Too white</a:t>
            </a:r>
            <a:endParaRPr lang="en-GB" dirty="0">
              <a:ea typeface="Cambria" panose="02040503050406030204"/>
            </a:endParaRPr>
          </a:p>
          <a:p>
            <a:pPr lvl="1"/>
            <a:r>
              <a:rPr lang="en-GB" dirty="0">
                <a:ea typeface="+mn-lt"/>
                <a:cs typeface="+mn-lt"/>
              </a:rPr>
              <a:t>Consolidation</a:t>
            </a:r>
            <a:endParaRPr lang="en-GB">
              <a:ea typeface="Cambria"/>
            </a:endParaRPr>
          </a:p>
          <a:p>
            <a:pPr lvl="1"/>
            <a:r>
              <a:rPr lang="en-GB" dirty="0">
                <a:ea typeface="+mn-lt"/>
                <a:cs typeface="+mn-lt"/>
              </a:rPr>
              <a:t>Collapse/Atelectasis</a:t>
            </a:r>
            <a:endParaRPr lang="en-GB">
              <a:ea typeface="Cambria"/>
            </a:endParaRPr>
          </a:p>
          <a:p>
            <a:pPr lvl="1"/>
            <a:r>
              <a:rPr lang="en-GB" dirty="0">
                <a:ea typeface="+mn-lt"/>
                <a:cs typeface="+mn-lt"/>
              </a:rPr>
              <a:t>Pleural effusion</a:t>
            </a:r>
            <a:endParaRPr lang="en-GB">
              <a:ea typeface="Cambria"/>
            </a:endParaRPr>
          </a:p>
          <a:p>
            <a:pPr lvl="1"/>
            <a:r>
              <a:rPr lang="en-GB" dirty="0">
                <a:ea typeface="+mn-lt"/>
                <a:cs typeface="+mn-lt"/>
              </a:rPr>
              <a:t>Pulmonary Oedema</a:t>
            </a:r>
            <a:endParaRPr lang="en-GB">
              <a:ea typeface="Cambria"/>
            </a:endParaRPr>
          </a:p>
          <a:p>
            <a:endParaRPr lang="en-GB" dirty="0"/>
          </a:p>
          <a:p>
            <a:endParaRPr lang="en-GB" dirty="0">
              <a:ea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CF4ED-70CD-024B-7517-B7462BFE11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GB" b="1" dirty="0">
                <a:ea typeface="Cambria"/>
              </a:rPr>
              <a:t>Too Black</a:t>
            </a:r>
            <a:endParaRPr lang="en-GB" dirty="0">
              <a:ea typeface="Cambria"/>
            </a:endParaRPr>
          </a:p>
          <a:p>
            <a:pPr lvl="1"/>
            <a:r>
              <a:rPr lang="en-GB" dirty="0">
                <a:ea typeface="Cambria"/>
              </a:rPr>
              <a:t>Pneumothorax</a:t>
            </a:r>
            <a:endParaRPr lang="en-GB" dirty="0">
              <a:ea typeface="+mn-lt"/>
              <a:cs typeface="+mn-lt"/>
            </a:endParaRPr>
          </a:p>
          <a:p>
            <a:pPr lvl="1"/>
            <a:r>
              <a:rPr lang="en-GB" dirty="0">
                <a:ea typeface="Cambria"/>
              </a:rPr>
              <a:t>COPD</a:t>
            </a:r>
            <a:endParaRPr lang="en-GB" dirty="0">
              <a:ea typeface="+mn-lt"/>
              <a:cs typeface="+mn-lt"/>
            </a:endParaRPr>
          </a:p>
          <a:p>
            <a:endParaRPr lang="en-GB" dirty="0">
              <a:ea typeface="Cambria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3423DC-4D70-E68F-4B5A-59FBDDBBD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a typeface="Cambria"/>
              </a:rPr>
              <a:t>Abnomalities</a:t>
            </a:r>
            <a:r>
              <a:rPr lang="en-GB" dirty="0">
                <a:ea typeface="Cambria"/>
              </a:rPr>
              <a:t> : too white vs too black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6558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04AE8451-58F8-72D0-6096-D86B6135E98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75431"/>
            <a:ext cx="5181600" cy="4251726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5C195-A281-FD27-1444-A62A5EAEED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Filling of alveoli with fluid, blood pus or cells.  </a:t>
            </a:r>
            <a:r>
              <a:rPr lang="en-GB" dirty="0" err="1">
                <a:ea typeface="+mn-lt"/>
                <a:cs typeface="+mn-lt"/>
              </a:rPr>
              <a:t>e.g</a:t>
            </a:r>
            <a:r>
              <a:rPr lang="en-GB" dirty="0">
                <a:ea typeface="+mn-lt"/>
                <a:cs typeface="+mn-lt"/>
              </a:rPr>
              <a:t> pneumonia</a:t>
            </a:r>
            <a:endParaRPr lang="en-GB" dirty="0">
              <a:ea typeface="Cambria" panose="02040503050406030204"/>
            </a:endParaRPr>
          </a:p>
          <a:p>
            <a:pPr lvl="1"/>
            <a:r>
              <a:rPr lang="en-GB" dirty="0">
                <a:ea typeface="+mn-lt"/>
                <a:cs typeface="+mn-lt"/>
              </a:rPr>
              <a:t>Patchy white shadowing</a:t>
            </a:r>
            <a:endParaRPr lang="en-GB" dirty="0">
              <a:ea typeface="Cambria"/>
            </a:endParaRPr>
          </a:p>
          <a:p>
            <a:pPr lvl="1"/>
            <a:r>
              <a:rPr lang="en-GB" dirty="0">
                <a:ea typeface="+mn-lt"/>
                <a:cs typeface="+mn-lt"/>
              </a:rPr>
              <a:t>Air bronchograms</a:t>
            </a:r>
            <a:endParaRPr lang="en-GB" dirty="0">
              <a:ea typeface="Cambria"/>
            </a:endParaRPr>
          </a:p>
          <a:p>
            <a:pPr lvl="1"/>
            <a:r>
              <a:rPr lang="en-GB" dirty="0">
                <a:ea typeface="+mn-lt"/>
                <a:cs typeface="+mn-lt"/>
              </a:rPr>
              <a:t>Loss of hemi diaphragm</a:t>
            </a:r>
            <a:endParaRPr lang="en-GB" dirty="0">
              <a:ea typeface="Cambria"/>
            </a:endParaRPr>
          </a:p>
          <a:p>
            <a:pPr lvl="1"/>
            <a:r>
              <a:rPr lang="en-GB" dirty="0">
                <a:ea typeface="+mn-lt"/>
                <a:cs typeface="+mn-lt"/>
              </a:rPr>
              <a:t>Little shift in mediastinum</a:t>
            </a:r>
            <a:endParaRPr lang="en-GB" dirty="0">
              <a:ea typeface="Cambria"/>
            </a:endParaRPr>
          </a:p>
          <a:p>
            <a:pPr lvl="1"/>
            <a:r>
              <a:rPr lang="en-GB" dirty="0">
                <a:ea typeface="Cambria"/>
              </a:rPr>
              <a:t>Normally unilateral </a:t>
            </a:r>
          </a:p>
          <a:p>
            <a:endParaRPr lang="en-GB" dirty="0">
              <a:ea typeface="Cambria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D620CD-A82A-F2B9-D312-BC945C1F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Consolidation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3190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F790DC-090D-D18D-DBC4-F58503B386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ea typeface="+mn-lt"/>
                <a:cs typeface="+mn-lt"/>
              </a:rPr>
              <a:t>Where fluid builds up between the </a:t>
            </a:r>
            <a:r>
              <a:rPr lang="en-GB" dirty="0" err="1">
                <a:ea typeface="+mn-lt"/>
                <a:cs typeface="+mn-lt"/>
              </a:rPr>
              <a:t>plurea</a:t>
            </a:r>
            <a:endParaRPr lang="en-GB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dirty="0">
                <a:ea typeface="+mn-lt"/>
                <a:cs typeface="+mn-lt"/>
              </a:rPr>
              <a:t>•Loss of costophrenic angle meniscus</a:t>
            </a:r>
            <a:endParaRPr lang="en-GB" dirty="0">
              <a:ea typeface="Cambria" panose="02040503050406030204"/>
            </a:endParaRPr>
          </a:p>
          <a:p>
            <a:pPr marL="0" indent="0">
              <a:buNone/>
            </a:pPr>
            <a:r>
              <a:rPr lang="en-GB" dirty="0">
                <a:ea typeface="+mn-lt"/>
                <a:cs typeface="+mn-lt"/>
              </a:rPr>
              <a:t>•General opacity</a:t>
            </a:r>
            <a:endParaRPr lang="en-GB" dirty="0">
              <a:ea typeface="Cambria" panose="02040503050406030204"/>
            </a:endParaRPr>
          </a:p>
          <a:p>
            <a:r>
              <a:rPr lang="en-GB" dirty="0">
                <a:ea typeface="+mn-lt"/>
                <a:cs typeface="+mn-lt"/>
              </a:rPr>
              <a:t>Meniscal line </a:t>
            </a:r>
          </a:p>
          <a:p>
            <a:pPr marL="0" indent="0">
              <a:buNone/>
            </a:pPr>
            <a:r>
              <a:rPr lang="en-GB" dirty="0">
                <a:ea typeface="+mn-lt"/>
                <a:cs typeface="+mn-lt"/>
              </a:rPr>
              <a:t>•Often associated with highly visible horizontal fissure</a:t>
            </a:r>
            <a:endParaRPr lang="en-GB" dirty="0">
              <a:ea typeface="Cambria" panose="02040503050406030204"/>
            </a:endParaRPr>
          </a:p>
          <a:p>
            <a:pPr marL="0" indent="0">
              <a:buNone/>
            </a:pPr>
            <a:r>
              <a:rPr lang="en-GB" dirty="0">
                <a:ea typeface="+mn-lt"/>
                <a:cs typeface="+mn-lt"/>
              </a:rPr>
              <a:t>•If large – mediastinal shift AWAY </a:t>
            </a:r>
            <a:endParaRPr lang="en-GB" dirty="0">
              <a:ea typeface="Cambria"/>
            </a:endParaRPr>
          </a:p>
          <a:p>
            <a:endParaRPr lang="en-GB" dirty="0">
              <a:ea typeface="Cambria"/>
            </a:endParaRP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98B5BE8F-D391-9BD1-EB95-8DC28D4B57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25431" y="1825625"/>
            <a:ext cx="3275138" cy="4351338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501F7E8-6311-BB16-8620-E9281E564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Pleural effusion </a:t>
            </a:r>
          </a:p>
        </p:txBody>
      </p:sp>
    </p:spTree>
    <p:extLst>
      <p:ext uri="{BB962C8B-B14F-4D97-AF65-F5344CB8AC3E}">
        <p14:creationId xmlns:p14="http://schemas.microsoft.com/office/powerpoint/2010/main" val="710339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E2EB510C-CA03-22D1-E0C0-08F55BC293E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39290" y="1825625"/>
            <a:ext cx="3579419" cy="4351338"/>
          </a:xfrm>
        </p:spPr>
      </p:pic>
      <p:pic>
        <p:nvPicPr>
          <p:cNvPr id="6" name="Picture 6" descr="A picture containing text, x-ray film, blur&#10;&#10;Description automatically generated">
            <a:extLst>
              <a:ext uri="{FF2B5EF4-FFF2-40B4-BE49-F238E27FC236}">
                <a16:creationId xmlns:a16="http://schemas.microsoft.com/office/drawing/2014/main" id="{0EDA4E64-08FC-65EE-2599-9F4B84B0C49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28904" y="1825625"/>
            <a:ext cx="4268191" cy="4351338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06EC375-4C98-3836-C011-A8D60074D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Pleural effusion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44623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BE83F94E-4A0A-5510-3DAF-13BFBD54A47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23975" y="1896269"/>
            <a:ext cx="4210050" cy="421005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1E4D0-8079-AA4B-3671-28BC8D7839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Cambria"/>
              </a:rPr>
              <a:t>Dense white </a:t>
            </a:r>
          </a:p>
          <a:p>
            <a:r>
              <a:rPr lang="en-GB" dirty="0">
                <a:ea typeface="Cambria"/>
              </a:rPr>
              <a:t>More irregular in shape </a:t>
            </a:r>
          </a:p>
          <a:p>
            <a:r>
              <a:rPr lang="en-GB" dirty="0">
                <a:ea typeface="Cambria"/>
              </a:rPr>
              <a:t>Infection and pus collection between the </a:t>
            </a:r>
            <a:r>
              <a:rPr lang="en-GB" dirty="0" err="1">
                <a:ea typeface="Cambria"/>
              </a:rPr>
              <a:t>plueral</a:t>
            </a:r>
            <a:r>
              <a:rPr lang="en-GB" dirty="0">
                <a:ea typeface="Cambria"/>
              </a:rPr>
              <a:t> layers 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628517-7F8B-A1B6-C227-47254E43D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mbria"/>
              </a:rPr>
              <a:t>Empyema 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273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6200374E-9077-4EA6-6E97-BD9F15D138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67504"/>
            <a:ext cx="5181600" cy="4267579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2C953-2CF1-7127-7F74-6ECACF58FD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dirty="0">
                <a:ea typeface="+mn-lt"/>
                <a:cs typeface="+mn-lt"/>
              </a:rPr>
              <a:t>Increased interstitial fluid</a:t>
            </a:r>
            <a:endParaRPr lang="en-GB" dirty="0">
              <a:ea typeface="Cambria" panose="02040503050406030204"/>
            </a:endParaRPr>
          </a:p>
          <a:p>
            <a:r>
              <a:rPr lang="en-GB" dirty="0">
                <a:ea typeface="+mn-lt"/>
                <a:cs typeface="+mn-lt"/>
              </a:rPr>
              <a:t>Bilateral increased lung markings </a:t>
            </a:r>
          </a:p>
          <a:p>
            <a:r>
              <a:rPr lang="en-GB" dirty="0">
                <a:ea typeface="+mn-lt"/>
                <a:cs typeface="+mn-lt"/>
              </a:rPr>
              <a:t>Perihilar pattern (bat wing effect)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Marked in hila regions</a:t>
            </a:r>
            <a:endParaRPr lang="en-GB" dirty="0"/>
          </a:p>
          <a:p>
            <a:pPr lvl="1"/>
            <a:r>
              <a:rPr lang="en-GB" dirty="0">
                <a:ea typeface="+mn-lt"/>
                <a:cs typeface="+mn-lt"/>
              </a:rPr>
              <a:t>Often confused with:</a:t>
            </a:r>
          </a:p>
          <a:p>
            <a:pPr lvl="2"/>
            <a:r>
              <a:rPr lang="en-GB" dirty="0">
                <a:ea typeface="+mn-lt"/>
                <a:cs typeface="+mn-lt"/>
              </a:rPr>
              <a:t>ARDS (ground glass)</a:t>
            </a:r>
          </a:p>
          <a:p>
            <a:pPr lvl="2"/>
            <a:r>
              <a:rPr lang="en-GB" dirty="0">
                <a:ea typeface="+mn-lt"/>
                <a:cs typeface="+mn-lt"/>
              </a:rPr>
              <a:t>Interstitial damage (coarser)</a:t>
            </a:r>
            <a:endParaRPr lang="en-GB" dirty="0">
              <a:ea typeface="Cambria"/>
            </a:endParaRPr>
          </a:p>
          <a:p>
            <a:r>
              <a:rPr lang="en-GB" dirty="0">
                <a:ea typeface="Cambria"/>
              </a:rPr>
              <a:t>Often seen with visible lung fissures </a:t>
            </a:r>
          </a:p>
          <a:p>
            <a:endParaRPr lang="en-GB" dirty="0">
              <a:ea typeface="Cambria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30AF20-A491-00DF-1553-BE1824245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Pulmonary </a:t>
            </a:r>
            <a:r>
              <a:rPr lang="en-GB" dirty="0" err="1">
                <a:ea typeface="Cambria"/>
              </a:rPr>
              <a:t>odeama</a:t>
            </a:r>
            <a:endParaRPr lang="en-GB" dirty="0" err="1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ECCD660-3A29-937C-FCBB-CDCFC854DB82}"/>
              </a:ext>
            </a:extLst>
          </p:cNvPr>
          <p:cNvCxnSpPr/>
          <p:nvPr/>
        </p:nvCxnSpPr>
        <p:spPr>
          <a:xfrm flipH="1" flipV="1">
            <a:off x="2065089" y="3914163"/>
            <a:ext cx="4132976" cy="181202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1818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46EF8E-761A-E0DE-4BEB-972F96F323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Cambria"/>
              </a:rPr>
              <a:t>Dense white </a:t>
            </a:r>
            <a:endParaRPr lang="en-US" dirty="0"/>
          </a:p>
          <a:p>
            <a:r>
              <a:rPr lang="en-GB" dirty="0">
                <a:ea typeface="+mn-lt"/>
                <a:cs typeface="+mn-lt"/>
              </a:rPr>
              <a:t>Deviation of fissures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Mediastinum movement </a:t>
            </a:r>
            <a:r>
              <a:rPr lang="en-GB" u="sng" dirty="0">
                <a:ea typeface="+mn-lt"/>
                <a:cs typeface="+mn-lt"/>
              </a:rPr>
              <a:t>TOWARDS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Diaphragm movement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Rib crowding</a:t>
            </a:r>
            <a:endParaRPr lang="en-GB" dirty="0"/>
          </a:p>
          <a:p>
            <a:endParaRPr lang="en-GB" dirty="0">
              <a:ea typeface="Cambria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76217E-2F16-402A-5572-7F6C9DB17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Collapse or atelectasis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26304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A9577EB4-0C3D-53FF-FCB9-970AC07B3F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06283" y="1825625"/>
            <a:ext cx="4045433" cy="4351338"/>
          </a:xfr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30823937-0DC9-8FFA-AE9E-089C3B1A4A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740283" y="1825625"/>
            <a:ext cx="4045433" cy="4351338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524D0C7-2ECD-FA42-715D-33AA2BE47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Right upper lobe collapse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4607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507A22B6-5ABF-E565-959F-BB9BB1058E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78354" y="1637828"/>
            <a:ext cx="7985369" cy="5117701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4835B7A-728F-7088-6C86-09285F60F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Right middle zone collapse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32624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E55AFD-11BF-0586-E928-63974998F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Right lower lobe collapse </a:t>
            </a:r>
            <a:endParaRPr lang="en-GB" dirty="0"/>
          </a:p>
        </p:txBody>
      </p:sp>
      <p:pic>
        <p:nvPicPr>
          <p:cNvPr id="5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71CE2B45-CB71-2094-3A54-0DB1DC34C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555" y="1778976"/>
            <a:ext cx="8839199" cy="466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9486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037CCA-B264-487E-94E2-C6AF1966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Left upper lobe collapse </a:t>
            </a:r>
            <a:endParaRPr lang="en-GB" dirty="0"/>
          </a:p>
        </p:txBody>
      </p:sp>
      <p:pic>
        <p:nvPicPr>
          <p:cNvPr id="5" name="Picture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2DFEC15F-C156-6AC8-B39F-D4B09825F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630" y="1951876"/>
            <a:ext cx="8049236" cy="449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556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4072E5-90F1-AE3D-4477-CF3BF21B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0368"/>
            <a:ext cx="11570676" cy="1061794"/>
          </a:xfrm>
        </p:spPr>
        <p:txBody>
          <a:bodyPr/>
          <a:lstStyle/>
          <a:p>
            <a:r>
              <a:rPr lang="en-GB" dirty="0">
                <a:ea typeface="Cambria"/>
              </a:rPr>
              <a:t>Left lower lobe collapse also known as sail sign</a:t>
            </a:r>
            <a:endParaRPr lang="en-GB" dirty="0"/>
          </a:p>
        </p:txBody>
      </p:sp>
      <p:pic>
        <p:nvPicPr>
          <p:cNvPr id="5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5D0A2E24-2647-025D-538F-E97B8B091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767" y="1800295"/>
            <a:ext cx="8360507" cy="486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4125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EB6435-E606-8B7C-0182-BA8A5D030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Total lung collapse </a:t>
            </a:r>
            <a:endParaRPr lang="en-GB" dirty="0"/>
          </a:p>
        </p:txBody>
      </p:sp>
      <p:pic>
        <p:nvPicPr>
          <p:cNvPr id="5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4A221A2E-695C-7039-9537-BD457DEB6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015" y="1874450"/>
            <a:ext cx="8839200" cy="473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5443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475866C2-8CA6-A1B8-E0DB-2C2197D92E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40297" y="1825625"/>
            <a:ext cx="3777406" cy="4351338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6BF5F-C60F-5F7F-C8DE-D0B2F4DCC1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No lung markings</a:t>
            </a:r>
            <a:endParaRPr lang="en-GB" dirty="0">
              <a:ea typeface="Cambria" panose="02040503050406030204"/>
            </a:endParaRPr>
          </a:p>
          <a:p>
            <a:r>
              <a:rPr lang="en-GB" dirty="0">
                <a:ea typeface="+mn-lt"/>
                <a:cs typeface="+mn-lt"/>
              </a:rPr>
              <a:t>Visible edge of lung </a:t>
            </a:r>
            <a:endParaRPr lang="en-GB"/>
          </a:p>
          <a:p>
            <a:r>
              <a:rPr lang="en-GB" dirty="0">
                <a:ea typeface="+mn-lt"/>
                <a:cs typeface="+mn-lt"/>
              </a:rPr>
              <a:t>HPC of penetrating injury? Bulla? or Spontaneous </a:t>
            </a:r>
          </a:p>
          <a:p>
            <a:endParaRPr lang="en-GB" dirty="0">
              <a:ea typeface="Cambria"/>
            </a:endParaRPr>
          </a:p>
          <a:p>
            <a:r>
              <a:rPr lang="en-GB" dirty="0">
                <a:ea typeface="Cambria"/>
              </a:rPr>
              <a:t>Tension : shift away </a:t>
            </a:r>
          </a:p>
          <a:p>
            <a:r>
              <a:rPr lang="en-GB" dirty="0">
                <a:ea typeface="Cambria"/>
              </a:rPr>
              <a:t>Spontaneous : shift towards 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6B317A-C34A-F111-6C2B-D1C50BC15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j-lt"/>
                <a:cs typeface="+mj-lt"/>
              </a:rPr>
              <a:t>Pneumothorax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3409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03FEC1F5-3DFF-F105-534D-668F0E7A4FB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59556" y="1825625"/>
            <a:ext cx="4338888" cy="4351338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1D051-C4E0-FFD3-517C-869393413E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Removal of whole lung</a:t>
            </a:r>
            <a:endParaRPr lang="en-GB" dirty="0">
              <a:ea typeface="Cambria" panose="02040503050406030204"/>
            </a:endParaRPr>
          </a:p>
          <a:p>
            <a:r>
              <a:rPr lang="en-GB" dirty="0">
                <a:ea typeface="+mn-lt"/>
                <a:cs typeface="+mn-lt"/>
              </a:rPr>
              <a:t>Shift of mediastinum to empty hemithorax</a:t>
            </a:r>
            <a:endParaRPr lang="en-GB" dirty="0"/>
          </a:p>
          <a:p>
            <a:endParaRPr lang="en-GB" dirty="0">
              <a:ea typeface="Cambria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102C7C-1171-9931-9491-17435106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a typeface="+mj-lt"/>
                <a:cs typeface="+mj-lt"/>
              </a:rPr>
              <a:t>Pnemonectomy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6075019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7B8A29-CE3A-18DE-1235-3303A6D531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Cambria" panose="02040503050406030204"/>
              </a:rPr>
              <a:t>Over-inflated </a:t>
            </a:r>
          </a:p>
          <a:p>
            <a:r>
              <a:rPr lang="en-GB" dirty="0">
                <a:ea typeface="Cambria" panose="02040503050406030204"/>
              </a:rPr>
              <a:t>Horizontal ribs </a:t>
            </a:r>
          </a:p>
          <a:p>
            <a:r>
              <a:rPr lang="en-GB" dirty="0">
                <a:ea typeface="Cambria" panose="02040503050406030204"/>
              </a:rPr>
              <a:t>Darker 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8DA71834-EF51-C1E9-81E1-2A7C9A72EF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56133" y="1825625"/>
            <a:ext cx="3613733" cy="4351338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5114BA4-A24D-1440-DDED-E22EA2AED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COPD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7223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A picture containing text, x-ray film, blur&#10;&#10;Description automatically generated">
            <a:extLst>
              <a:ext uri="{FF2B5EF4-FFF2-40B4-BE49-F238E27FC236}">
                <a16:creationId xmlns:a16="http://schemas.microsoft.com/office/drawing/2014/main" id="{D1B9D0BA-1D4D-11C9-D599-87DB4B8C95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519428" y="1888542"/>
            <a:ext cx="4628832" cy="4351338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586ED50-E8B7-E282-C236-3E62CD543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Rib fractures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78094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9EFBF5-F56F-7FF1-B89A-0E0EBFA0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Points to remember </a:t>
            </a:r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0E72C4-42DC-0CF7-C129-546C17106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Cambria"/>
              </a:rPr>
              <a:t>Treat the patient not the chest x-ray </a:t>
            </a:r>
          </a:p>
          <a:p>
            <a:r>
              <a:rPr lang="en-GB" dirty="0">
                <a:ea typeface="Cambria"/>
              </a:rPr>
              <a:t>Xray findings might lag behind other findings </a:t>
            </a:r>
          </a:p>
          <a:p>
            <a:r>
              <a:rPr lang="en-GB" dirty="0">
                <a:ea typeface="Cambria"/>
              </a:rPr>
              <a:t>Look at the series of x-rays </a:t>
            </a:r>
          </a:p>
          <a:p>
            <a:r>
              <a:rPr lang="en-GB" dirty="0">
                <a:ea typeface="Cambria"/>
              </a:rPr>
              <a:t>2 dimensional view of 3D objects </a:t>
            </a:r>
          </a:p>
          <a:p>
            <a:r>
              <a:rPr lang="en-GB" dirty="0">
                <a:ea typeface="Cambria"/>
              </a:rPr>
              <a:t>Normal x-ray does not rule out disease or sputum </a:t>
            </a:r>
          </a:p>
        </p:txBody>
      </p:sp>
    </p:spTree>
    <p:extLst>
      <p:ext uri="{BB962C8B-B14F-4D97-AF65-F5344CB8AC3E}">
        <p14:creationId xmlns:p14="http://schemas.microsoft.com/office/powerpoint/2010/main" val="33141211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E478D-A953-B236-D796-1F299D5C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Tips for revising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41BD5-CDA9-F38D-8CC3-005DF59DF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Cambria"/>
              </a:rPr>
              <a:t>When you learn about a lung pathology look up how it appears on CXR </a:t>
            </a:r>
          </a:p>
          <a:p>
            <a:r>
              <a:rPr lang="en-GB" dirty="0">
                <a:ea typeface="Cambria"/>
              </a:rPr>
              <a:t>PRACTICE : </a:t>
            </a:r>
          </a:p>
          <a:p>
            <a:pPr lvl="1"/>
            <a:r>
              <a:rPr lang="en-GB">
                <a:hlinkClick r:id="rId2"/>
              </a:rPr>
              <a:t>Test yourself - Chest X-ray - Quiz 1 - (radiologymasterclass.co.uk)</a:t>
            </a:r>
            <a:endParaRPr lang="en-GB" dirty="0">
              <a:ea typeface="Cambria"/>
            </a:endParaRPr>
          </a:p>
          <a:p>
            <a:pPr marL="0" indent="0">
              <a:buNone/>
            </a:pPr>
            <a:endParaRPr lang="en-GB" dirty="0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556768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64694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for Uni slides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for Uni slides" id="{3BAF991C-92CF-4FF6-B660-4D76B81CF402}" vid="{D4EDB978-12AA-4E92-8633-D41A8F5BC3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for Uni slides</Template>
  <TotalTime>4</TotalTime>
  <Words>986</Words>
  <Application>Microsoft Office PowerPoint</Application>
  <PresentationFormat>Widescreen</PresentationFormat>
  <Paragraphs>217</Paragraphs>
  <Slides>43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Cambria</vt:lpstr>
      <vt:lpstr>Calibri</vt:lpstr>
      <vt:lpstr>Theme for Uni slides</vt:lpstr>
      <vt:lpstr>Interpreting Chest X-rays</vt:lpstr>
      <vt:lpstr>Learning outcomes </vt:lpstr>
      <vt:lpstr>What is a Chest X-ray (CXR) </vt:lpstr>
      <vt:lpstr>Types of CXR : Posterior –Anterior (PA)</vt:lpstr>
      <vt:lpstr>Types of CXR- Anterior –Posterior (AP) </vt:lpstr>
      <vt:lpstr>Normal structures </vt:lpstr>
      <vt:lpstr>Interpretation </vt:lpstr>
      <vt:lpstr>Interpretation </vt:lpstr>
      <vt:lpstr>Normal CXR</vt:lpstr>
      <vt:lpstr>Normal Chest x-ray  ( lobes) </vt:lpstr>
      <vt:lpstr>Airway </vt:lpstr>
      <vt:lpstr>Different airways</vt:lpstr>
      <vt:lpstr>Bones </vt:lpstr>
      <vt:lpstr>Cardiac </vt:lpstr>
      <vt:lpstr>Diaphragms</vt:lpstr>
      <vt:lpstr> Expansion and Exposure </vt:lpstr>
      <vt:lpstr>Exposure </vt:lpstr>
      <vt:lpstr>Fields </vt:lpstr>
      <vt:lpstr>Gadgets </vt:lpstr>
      <vt:lpstr>Short note on the Naso-gastric tube </vt:lpstr>
      <vt:lpstr>NG tube </vt:lpstr>
      <vt:lpstr>Hilar </vt:lpstr>
      <vt:lpstr>Impression</vt:lpstr>
      <vt:lpstr>Abnomalities : too white vs too black </vt:lpstr>
      <vt:lpstr>Consolidation </vt:lpstr>
      <vt:lpstr>Pleural effusion </vt:lpstr>
      <vt:lpstr>Pleural effusion </vt:lpstr>
      <vt:lpstr>Empyema </vt:lpstr>
      <vt:lpstr>Pulmonary odeama</vt:lpstr>
      <vt:lpstr>Collapse or atelectasis </vt:lpstr>
      <vt:lpstr>Right upper lobe collapse </vt:lpstr>
      <vt:lpstr>Right middle zone collapse </vt:lpstr>
      <vt:lpstr>Right lower lobe collapse </vt:lpstr>
      <vt:lpstr>Left upper lobe collapse </vt:lpstr>
      <vt:lpstr>Left lower lobe collapse also known as sail sign</vt:lpstr>
      <vt:lpstr>Total lung collapse </vt:lpstr>
      <vt:lpstr>Pneumothorax</vt:lpstr>
      <vt:lpstr>Pnemonectomy</vt:lpstr>
      <vt:lpstr>COPD</vt:lpstr>
      <vt:lpstr>Rib fractures </vt:lpstr>
      <vt:lpstr>Points to remember </vt:lpstr>
      <vt:lpstr>Tips for revising</vt:lpstr>
      <vt:lpstr>PowerPoint Presentation</vt:lpstr>
    </vt:vector>
  </TitlesOfParts>
  <Company>London Metropolitan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Interpreting Chest X-rays</dc:title>
  <dc:creator>Isobel Davies</dc:creator>
  <cp:lastModifiedBy>Sheridan Shauna</cp:lastModifiedBy>
  <cp:revision>3</cp:revision>
  <dcterms:created xsi:type="dcterms:W3CDTF">2023-12-07T09:12:24Z</dcterms:created>
  <dcterms:modified xsi:type="dcterms:W3CDTF">2025-02-03T15:11:08Z</dcterms:modified>
</cp:coreProperties>
</file>