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4" r:id="rId18"/>
    <p:sldId id="270" r:id="rId19"/>
    <p:sldId id="271" r:id="rId20"/>
    <p:sldId id="272" r:id="rId21"/>
    <p:sldId id="273" r:id="rId22"/>
    <p:sldId id="281" r:id="rId23"/>
    <p:sldId id="283" r:id="rId24"/>
    <p:sldId id="284" r:id="rId25"/>
    <p:sldId id="285" r:id="rId26"/>
    <p:sldId id="286" r:id="rId27"/>
    <p:sldId id="287" r:id="rId28"/>
    <p:sldId id="275" r:id="rId29"/>
    <p:sldId id="276" r:id="rId30"/>
    <p:sldId id="277" r:id="rId31"/>
    <p:sldId id="282" r:id="rId32"/>
    <p:sldId id="278" r:id="rId33"/>
    <p:sldId id="280" r:id="rId34"/>
    <p:sldId id="28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BDBF16-A47B-45E1-858C-46A6CC92332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2C01857-1116-4745-93A0-A742E6D3B41E}">
      <dgm:prSet/>
      <dgm:spPr/>
      <dgm:t>
        <a:bodyPr/>
        <a:lstStyle/>
        <a:p>
          <a:r>
            <a:rPr lang="en-GB"/>
            <a:t>A disease state characterised by airflow obstruction resulting from chronic bronchitis or emphysema </a:t>
          </a:r>
          <a:endParaRPr lang="en-US"/>
        </a:p>
      </dgm:t>
    </dgm:pt>
    <dgm:pt modelId="{697A9FB0-6518-4915-A3A3-2EAAB56F979C}" type="parTrans" cxnId="{671ED781-4C80-46B1-BE4A-E753808B31D2}">
      <dgm:prSet/>
      <dgm:spPr/>
      <dgm:t>
        <a:bodyPr/>
        <a:lstStyle/>
        <a:p>
          <a:endParaRPr lang="en-US"/>
        </a:p>
      </dgm:t>
    </dgm:pt>
    <dgm:pt modelId="{4CE551FC-0B3A-4DED-98EA-EE75E229B386}" type="sibTrans" cxnId="{671ED781-4C80-46B1-BE4A-E753808B31D2}">
      <dgm:prSet/>
      <dgm:spPr/>
      <dgm:t>
        <a:bodyPr/>
        <a:lstStyle/>
        <a:p>
          <a:endParaRPr lang="en-US"/>
        </a:p>
      </dgm:t>
    </dgm:pt>
    <dgm:pt modelId="{61A2ED4A-2D78-4F48-BD89-EA13AFAD9C0C}">
      <dgm:prSet/>
      <dgm:spPr/>
      <dgm:t>
        <a:bodyPr/>
        <a:lstStyle/>
        <a:p>
          <a:r>
            <a:rPr lang="en-GB"/>
            <a:t>Airway obstruction is progressive </a:t>
          </a:r>
          <a:endParaRPr lang="en-US"/>
        </a:p>
      </dgm:t>
    </dgm:pt>
    <dgm:pt modelId="{871C2C98-FEBE-4E42-AD53-F9B335AB7465}" type="parTrans" cxnId="{411A03B7-C296-4C5F-892A-6EE0F2F5F2F2}">
      <dgm:prSet/>
      <dgm:spPr/>
      <dgm:t>
        <a:bodyPr/>
        <a:lstStyle/>
        <a:p>
          <a:endParaRPr lang="en-US"/>
        </a:p>
      </dgm:t>
    </dgm:pt>
    <dgm:pt modelId="{00F9AADB-7962-41BB-BF15-D83FC380FE24}" type="sibTrans" cxnId="{411A03B7-C296-4C5F-892A-6EE0F2F5F2F2}">
      <dgm:prSet/>
      <dgm:spPr/>
      <dgm:t>
        <a:bodyPr/>
        <a:lstStyle/>
        <a:p>
          <a:endParaRPr lang="en-US"/>
        </a:p>
      </dgm:t>
    </dgm:pt>
    <dgm:pt modelId="{AB8745EA-B297-4746-A357-1577D83FB553}">
      <dgm:prSet/>
      <dgm:spPr/>
      <dgm:t>
        <a:bodyPr/>
        <a:lstStyle/>
        <a:p>
          <a:r>
            <a:rPr lang="en-GB"/>
            <a:t>Airway obstruction is only partially reversible and does not change markedly over several months </a:t>
          </a:r>
          <a:endParaRPr lang="en-US"/>
        </a:p>
      </dgm:t>
    </dgm:pt>
    <dgm:pt modelId="{EE8CEA91-E53F-4C22-890F-4D0F356F7C02}" type="parTrans" cxnId="{9CA216BA-FA2C-4AEF-A46D-DA15B3F2FB82}">
      <dgm:prSet/>
      <dgm:spPr/>
      <dgm:t>
        <a:bodyPr/>
        <a:lstStyle/>
        <a:p>
          <a:endParaRPr lang="en-US"/>
        </a:p>
      </dgm:t>
    </dgm:pt>
    <dgm:pt modelId="{64AE16B9-B1D1-4BFC-BC62-62D0C1B665CD}" type="sibTrans" cxnId="{9CA216BA-FA2C-4AEF-A46D-DA15B3F2FB82}">
      <dgm:prSet/>
      <dgm:spPr/>
      <dgm:t>
        <a:bodyPr/>
        <a:lstStyle/>
        <a:p>
          <a:endParaRPr lang="en-US"/>
        </a:p>
      </dgm:t>
    </dgm:pt>
    <dgm:pt modelId="{4709068B-D8FF-4E83-B9B7-530D274258AA}" type="pres">
      <dgm:prSet presAssocID="{8BBDBF16-A47B-45E1-858C-46A6CC923325}" presName="linear" presStyleCnt="0">
        <dgm:presLayoutVars>
          <dgm:animLvl val="lvl"/>
          <dgm:resizeHandles val="exact"/>
        </dgm:presLayoutVars>
      </dgm:prSet>
      <dgm:spPr/>
    </dgm:pt>
    <dgm:pt modelId="{0B66DAEE-7869-47D1-A231-F96DF0A9C2CD}" type="pres">
      <dgm:prSet presAssocID="{82C01857-1116-4745-93A0-A742E6D3B41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5BF37BE-833F-4172-B729-0F8EA7AF0EF4}" type="pres">
      <dgm:prSet presAssocID="{4CE551FC-0B3A-4DED-98EA-EE75E229B386}" presName="spacer" presStyleCnt="0"/>
      <dgm:spPr/>
    </dgm:pt>
    <dgm:pt modelId="{FC484D73-1E6F-48AE-98B4-E14E1CC33CB1}" type="pres">
      <dgm:prSet presAssocID="{61A2ED4A-2D78-4F48-BD89-EA13AFAD9C0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49876C6-612C-4A40-9EE3-AAFA126EA4DB}" type="pres">
      <dgm:prSet presAssocID="{00F9AADB-7962-41BB-BF15-D83FC380FE24}" presName="spacer" presStyleCnt="0"/>
      <dgm:spPr/>
    </dgm:pt>
    <dgm:pt modelId="{4D9D5ADA-498E-4C33-8761-A19FF9706BC3}" type="pres">
      <dgm:prSet presAssocID="{AB8745EA-B297-4746-A357-1577D83FB55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35B3B1B-4D29-429E-8673-F31B92F1E329}" type="presOf" srcId="{8BBDBF16-A47B-45E1-858C-46A6CC923325}" destId="{4709068B-D8FF-4E83-B9B7-530D274258AA}" srcOrd="0" destOrd="0" presId="urn:microsoft.com/office/officeart/2005/8/layout/vList2"/>
    <dgm:cxn modelId="{B498FB47-DD78-4D0E-9BC2-CEF34D088132}" type="presOf" srcId="{AB8745EA-B297-4746-A357-1577D83FB553}" destId="{4D9D5ADA-498E-4C33-8761-A19FF9706BC3}" srcOrd="0" destOrd="0" presId="urn:microsoft.com/office/officeart/2005/8/layout/vList2"/>
    <dgm:cxn modelId="{671ED781-4C80-46B1-BE4A-E753808B31D2}" srcId="{8BBDBF16-A47B-45E1-858C-46A6CC923325}" destId="{82C01857-1116-4745-93A0-A742E6D3B41E}" srcOrd="0" destOrd="0" parTransId="{697A9FB0-6518-4915-A3A3-2EAAB56F979C}" sibTransId="{4CE551FC-0B3A-4DED-98EA-EE75E229B386}"/>
    <dgm:cxn modelId="{09618E85-B4D6-48F1-8A9F-67B0EDEEEA18}" type="presOf" srcId="{82C01857-1116-4745-93A0-A742E6D3B41E}" destId="{0B66DAEE-7869-47D1-A231-F96DF0A9C2CD}" srcOrd="0" destOrd="0" presId="urn:microsoft.com/office/officeart/2005/8/layout/vList2"/>
    <dgm:cxn modelId="{411A03B7-C296-4C5F-892A-6EE0F2F5F2F2}" srcId="{8BBDBF16-A47B-45E1-858C-46A6CC923325}" destId="{61A2ED4A-2D78-4F48-BD89-EA13AFAD9C0C}" srcOrd="1" destOrd="0" parTransId="{871C2C98-FEBE-4E42-AD53-F9B335AB7465}" sibTransId="{00F9AADB-7962-41BB-BF15-D83FC380FE24}"/>
    <dgm:cxn modelId="{9CA216BA-FA2C-4AEF-A46D-DA15B3F2FB82}" srcId="{8BBDBF16-A47B-45E1-858C-46A6CC923325}" destId="{AB8745EA-B297-4746-A357-1577D83FB553}" srcOrd="2" destOrd="0" parTransId="{EE8CEA91-E53F-4C22-890F-4D0F356F7C02}" sibTransId="{64AE16B9-B1D1-4BFC-BC62-62D0C1B665CD}"/>
    <dgm:cxn modelId="{218B03F5-43F1-4102-B204-5E8E6F22622E}" type="presOf" srcId="{61A2ED4A-2D78-4F48-BD89-EA13AFAD9C0C}" destId="{FC484D73-1E6F-48AE-98B4-E14E1CC33CB1}" srcOrd="0" destOrd="0" presId="urn:microsoft.com/office/officeart/2005/8/layout/vList2"/>
    <dgm:cxn modelId="{191FB1A7-1F6C-47D9-92D7-2ABE9250228C}" type="presParOf" srcId="{4709068B-D8FF-4E83-B9B7-530D274258AA}" destId="{0B66DAEE-7869-47D1-A231-F96DF0A9C2CD}" srcOrd="0" destOrd="0" presId="urn:microsoft.com/office/officeart/2005/8/layout/vList2"/>
    <dgm:cxn modelId="{CFACC941-8437-4DED-82AA-6D26B457B5D6}" type="presParOf" srcId="{4709068B-D8FF-4E83-B9B7-530D274258AA}" destId="{E5BF37BE-833F-4172-B729-0F8EA7AF0EF4}" srcOrd="1" destOrd="0" presId="urn:microsoft.com/office/officeart/2005/8/layout/vList2"/>
    <dgm:cxn modelId="{81C3F56D-B60D-4EDE-B71F-4D71899D9CCC}" type="presParOf" srcId="{4709068B-D8FF-4E83-B9B7-530D274258AA}" destId="{FC484D73-1E6F-48AE-98B4-E14E1CC33CB1}" srcOrd="2" destOrd="0" presId="urn:microsoft.com/office/officeart/2005/8/layout/vList2"/>
    <dgm:cxn modelId="{8320D935-73A4-404A-A94A-711D29F10CF8}" type="presParOf" srcId="{4709068B-D8FF-4E83-B9B7-530D274258AA}" destId="{E49876C6-612C-4A40-9EE3-AAFA126EA4DB}" srcOrd="3" destOrd="0" presId="urn:microsoft.com/office/officeart/2005/8/layout/vList2"/>
    <dgm:cxn modelId="{B98B55EF-3DEE-4B66-A837-1BD89B6F68E8}" type="presParOf" srcId="{4709068B-D8FF-4E83-B9B7-530D274258AA}" destId="{4D9D5ADA-498E-4C33-8761-A19FF9706BC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66DAEE-7869-47D1-A231-F96DF0A9C2CD}">
      <dsp:nvSpPr>
        <dsp:cNvPr id="0" name=""/>
        <dsp:cNvSpPr/>
      </dsp:nvSpPr>
      <dsp:spPr>
        <a:xfrm>
          <a:off x="0" y="21868"/>
          <a:ext cx="4512988" cy="10530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 disease state characterised by airflow obstruction resulting from chronic bronchitis or emphysema </a:t>
          </a:r>
          <a:endParaRPr lang="en-US" sz="2000" kern="1200"/>
        </a:p>
      </dsp:txBody>
      <dsp:txXfrm>
        <a:off x="51403" y="73271"/>
        <a:ext cx="4410182" cy="950194"/>
      </dsp:txXfrm>
    </dsp:sp>
    <dsp:sp modelId="{FC484D73-1E6F-48AE-98B4-E14E1CC33CB1}">
      <dsp:nvSpPr>
        <dsp:cNvPr id="0" name=""/>
        <dsp:cNvSpPr/>
      </dsp:nvSpPr>
      <dsp:spPr>
        <a:xfrm>
          <a:off x="0" y="1132469"/>
          <a:ext cx="4512988" cy="1053000"/>
        </a:xfrm>
        <a:prstGeom prst="roundRect">
          <a:avLst/>
        </a:prstGeom>
        <a:solidFill>
          <a:schemeClr val="accent5">
            <a:hueOff val="3005351"/>
            <a:satOff val="-13190"/>
            <a:lumOff val="392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Airway obstruction is progressive </a:t>
          </a:r>
          <a:endParaRPr lang="en-US" sz="2000" kern="1200"/>
        </a:p>
      </dsp:txBody>
      <dsp:txXfrm>
        <a:off x="51403" y="1183872"/>
        <a:ext cx="4410182" cy="950194"/>
      </dsp:txXfrm>
    </dsp:sp>
    <dsp:sp modelId="{4D9D5ADA-498E-4C33-8761-A19FF9706BC3}">
      <dsp:nvSpPr>
        <dsp:cNvPr id="0" name=""/>
        <dsp:cNvSpPr/>
      </dsp:nvSpPr>
      <dsp:spPr>
        <a:xfrm>
          <a:off x="0" y="2243069"/>
          <a:ext cx="4512988" cy="1053000"/>
        </a:xfrm>
        <a:prstGeom prst="roundRect">
          <a:avLst/>
        </a:prstGeom>
        <a:solidFill>
          <a:schemeClr val="accent5">
            <a:hueOff val="6010703"/>
            <a:satOff val="-26380"/>
            <a:lumOff val="784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Airway obstruction is only partially reversible and does not change markedly over several months </a:t>
          </a:r>
          <a:endParaRPr lang="en-US" sz="2000" kern="1200"/>
        </a:p>
      </dsp:txBody>
      <dsp:txXfrm>
        <a:off x="51403" y="2294472"/>
        <a:ext cx="4410182" cy="9501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DF7D4-52BC-4AC3-B013-30F1D5F6A509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3A84C9-C451-4117-9F1C-A1BCACAC7B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30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Relationship between severity of COPD and cost – cost mainly due to exacerbations, hospitalisations and oxygen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84C9-C451-4117-9F1C-A1BCACAC7B7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687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many alveoli are there in the lungs? Tennis court surface area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84C9-C451-4117-9F1C-A1BCACAC7B7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550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964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776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79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7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0229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344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372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59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090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12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2165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34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791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6362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355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661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114F0-B57C-4EEF-B0F9-05D35DC80E73}" type="datetimeFigureOut">
              <a:rPr lang="en-GB" smtClean="0"/>
              <a:t>04/11/2024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7AF2660-0C0A-4FE2-A3C2-353936B45A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145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hyperlink" Target="https://www.google.co.uk/url?sa=i&amp;rct=j&amp;q=&amp;esrc=s&amp;frm=1&amp;source=images&amp;cd=&amp;cad=rja&amp;uact=8&amp;docid=wFFU9m5L1I8vYM&amp;tbnid=QAg5sMyMpxkTLM:&amp;ved=0CAUQjRw&amp;url=https://johntmcgowan.wordpress.com/category/animation/&amp;ei=46-xU-X2AsTZOaaMgOAK&amp;bvm=bv.69837884,d.ZWU&amp;psig=AFQjCNE9LzFLdnagHjDli4cE04xoP_RIdw&amp;ust=1404240082742654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gi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hyperlink" Target="http://www.google.co.uk/url?sa=i&amp;rct=j&amp;q=&amp;esrc=s&amp;source=images&amp;cd=&amp;cad=rja&amp;uact=8&amp;ved=0ahUKEwj2nKvjztfOAhWB7hoKHQkZB_EQjRwIBw&amp;url=http%3A%2F%2Fwww.keyword-suggestions.com%2FY291Z2hpbmcgIGFuaW1hdGlvbg%2F&amp;bvm=bv.129759880,d.ZGg&amp;psig=AFQjCNHK7qFFOgvtICLMqE5clkGF-5JPoA&amp;ust=1472044377351627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hyperlink" Target="http://www.robdedel.nl/baseball-5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hyperlink" Target="https://www.google.co.uk/url?sa=i&amp;rct=j&amp;q=&amp;esrc=s&amp;frm=1&amp;source=images&amp;cd=&amp;cad=rja&amp;uact=8&amp;docid=wFFU9m5L1I8vYM&amp;tbnid=QAg5sMyMpxkTLM:&amp;ved=0CAUQjRw&amp;url=https://johntmcgowan.wordpress.com/category/animation/&amp;ei=46-xU-X2AsTZOaaMgOAK&amp;bvm=bv.69837884,d.ZWU&amp;psig=AFQjCNE9LzFLdnagHjDli4cE04xoP_RIdw&amp;ust=1404240082742654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.uk/url?sa=i&amp;rct=j&amp;q=&amp;esrc=s&amp;frm=1&amp;source=images&amp;cd=&amp;cad=rja&amp;uact=8&amp;docid=9vl9Alk3AkrRhM&amp;tbnid=e0gw4DdUh7_6QM:&amp;ved=0CAUQjRw&amp;url=http://www.mattcandraw.com/work/asthma.html&amp;ei=M0G0U_OPB-7Q7AawoYH4CQ&amp;bvm=bv.70138588,d.ZWU&amp;psig=AFQjCNG2jWhWwOZ8LndBM7UuV0MJtfjIQg&amp;ust=1404408400957004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ce.org.uk/guidance/ng115/chapter/recommendations#managing-exacerbations-of-copd" TargetMode="External"/><Relationship Id="rId2" Type="http://schemas.openxmlformats.org/officeDocument/2006/relationships/hyperlink" Target="https://goldcopd.org/2023-gold-report-2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DF53-0DE9-48E1-99C1-ABF628B15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5900" y="2594008"/>
            <a:ext cx="3497565" cy="834993"/>
          </a:xfrm>
        </p:spPr>
        <p:txBody>
          <a:bodyPr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GB" sz="4100" dirty="0"/>
              <a:t> </a:t>
            </a:r>
            <a:r>
              <a:rPr lang="en-GB" sz="8800" dirty="0"/>
              <a:t>COPD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8614D-A6B0-4073-9531-B1E1337E7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4374" y="4263992"/>
            <a:ext cx="3498045" cy="1325857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Puja Trivedi</a:t>
            </a:r>
          </a:p>
          <a:p>
            <a:pPr algn="l"/>
            <a:r>
              <a:rPr lang="en-GB" dirty="0"/>
              <a:t>Highly Specialist Physiotherapist</a:t>
            </a:r>
          </a:p>
          <a:p>
            <a:pPr algn="l"/>
            <a:r>
              <a:rPr lang="en-GB" dirty="0"/>
              <a:t>Harefield Hospital </a:t>
            </a:r>
          </a:p>
        </p:txBody>
      </p:sp>
      <p:sp>
        <p:nvSpPr>
          <p:cNvPr id="1038" name="Isosceles Triangle 1035">
            <a:extLst>
              <a:ext uri="{FF2B5EF4-FFF2-40B4-BE49-F238E27FC236}">
                <a16:creationId xmlns:a16="http://schemas.microsoft.com/office/drawing/2014/main" id="{AA330523-F25B-4007-B3E5-ABB5637D1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2" descr="https://johntmcgowan.files.wordpress.com/2011/08/breathing50.gif?w=460">
            <a:hlinkClick r:id="rId2"/>
            <a:extLst>
              <a:ext uri="{FF2B5EF4-FFF2-40B4-BE49-F238E27FC236}">
                <a16:creationId xmlns:a16="http://schemas.microsoft.com/office/drawing/2014/main" id="{DF518B46-2624-4F37-8D00-CBAE28062E5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8603" y="1596242"/>
            <a:ext cx="4887354" cy="366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3915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E08A5-B6B5-480E-B304-AFDC6A2B5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63C62-BE5E-4C6A-B1A5-0056F2B7A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Understand the pathophysiology of COPD</a:t>
            </a:r>
          </a:p>
          <a:p>
            <a:r>
              <a:rPr lang="en-GB" sz="2800" dirty="0"/>
              <a:t>Recognise common signs and symptoms of COPD</a:t>
            </a:r>
          </a:p>
          <a:p>
            <a:r>
              <a:rPr lang="en-GB" sz="2800" dirty="0"/>
              <a:t>Be able to classify severity of COPD </a:t>
            </a:r>
          </a:p>
          <a:p>
            <a:r>
              <a:rPr lang="en-GB" sz="2800" dirty="0"/>
              <a:t>Understand the different types of respiratory failure </a:t>
            </a:r>
          </a:p>
          <a:p>
            <a:r>
              <a:rPr lang="en-GB" sz="2800" dirty="0"/>
              <a:t> Select appropriate treatment strategies for stable COPD </a:t>
            </a:r>
          </a:p>
        </p:txBody>
      </p:sp>
      <p:pic>
        <p:nvPicPr>
          <p:cNvPr id="24578" name="Picture 2" descr="Objective GIFs - Get the best gif on GIFER">
            <a:extLst>
              <a:ext uri="{FF2B5EF4-FFF2-40B4-BE49-F238E27FC236}">
                <a16:creationId xmlns:a16="http://schemas.microsoft.com/office/drawing/2014/main" id="{E049EC67-B7FB-47BF-BE1E-AA61521A340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668" y="139530"/>
            <a:ext cx="2021059" cy="2021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1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1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3" name="Isosceles Triangle 52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5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7" name="Isosceles Triangle 56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81966-C14A-4B1D-80C7-1C20E3957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Definition of COPD</a:t>
            </a:r>
          </a:p>
        </p:txBody>
      </p:sp>
      <p:pic>
        <p:nvPicPr>
          <p:cNvPr id="35" name="Picture 2" descr="Chronic obstructive pulmonary disease - COPD">
            <a:extLst>
              <a:ext uri="{FF2B5EF4-FFF2-40B4-BE49-F238E27FC236}">
                <a16:creationId xmlns:a16="http://schemas.microsoft.com/office/drawing/2014/main" id="{97856752-C891-4E6E-A43A-85A961709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6900" y="1559441"/>
            <a:ext cx="4180054" cy="3610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DCF0C9C-C682-95B3-929B-A1AE32070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8774820"/>
              </p:ext>
            </p:extLst>
          </p:nvPr>
        </p:nvGraphicFramePr>
        <p:xfrm>
          <a:off x="7181725" y="2837329"/>
          <a:ext cx="4512988" cy="3317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052" name="Picture 4" descr="Umbrella GIFs | Tenor">
            <a:extLst>
              <a:ext uri="{FF2B5EF4-FFF2-40B4-BE49-F238E27FC236}">
                <a16:creationId xmlns:a16="http://schemas.microsoft.com/office/drawing/2014/main" id="{337CE317-842D-4F88-A7BE-13ABFA78C6F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2315" y="-324971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485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83" name="Straight Connector 3082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5" name="Straight Connector 3084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7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89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91" name="Isosceles Triangle 3090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93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95" name="Isosceles Triangle 3094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97" name="Freeform: Shape 3096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BE25E-1707-4EFF-B637-BB7425A1D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Epidemiology of COPD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68BFD-7100-484D-949C-83F688B33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2944493"/>
          </a:xfrm>
        </p:spPr>
        <p:txBody>
          <a:bodyPr anchor="t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Globally around 3 million deaths annually due to COPD </a:t>
            </a:r>
          </a:p>
          <a:p>
            <a:pPr>
              <a:buFontTx/>
              <a:buChar char="-"/>
            </a:pPr>
            <a:r>
              <a:rPr lang="en-GB" dirty="0">
                <a:solidFill>
                  <a:srgbClr val="FFFFFF"/>
                </a:solidFill>
              </a:rPr>
              <a:t>Expected increase to 5.4 million by 2060</a:t>
            </a:r>
          </a:p>
          <a:p>
            <a:r>
              <a:rPr lang="en-GB" dirty="0">
                <a:solidFill>
                  <a:srgbClr val="FFFFFF"/>
                </a:solidFill>
              </a:rPr>
              <a:t>Huge financial burden on the NHS</a:t>
            </a:r>
          </a:p>
          <a:p>
            <a:r>
              <a:rPr lang="en-GB" dirty="0">
                <a:solidFill>
                  <a:srgbClr val="FFFFFF"/>
                </a:solidFill>
              </a:rPr>
              <a:t>Respiratory disease accounts for approximately 6% of the total healthcare budget</a:t>
            </a:r>
          </a:p>
          <a:p>
            <a:pPr>
              <a:buFontTx/>
              <a:buChar char="-"/>
            </a:pPr>
            <a:endParaRPr lang="en-GB" dirty="0">
              <a:solidFill>
                <a:srgbClr val="FFFFFF"/>
              </a:solidFill>
            </a:endParaRPr>
          </a:p>
        </p:txBody>
      </p:sp>
      <p:pic>
        <p:nvPicPr>
          <p:cNvPr id="3076" name="Picture 4" descr="Top 30 Burning Money GIFs | Find the best GIF on Gfycat">
            <a:extLst>
              <a:ext uri="{FF2B5EF4-FFF2-40B4-BE49-F238E27FC236}">
                <a16:creationId xmlns:a16="http://schemas.microsoft.com/office/drawing/2014/main" id="{BC7D21F5-9901-4BD1-8AFA-89B2FA55DE2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49" y="1984937"/>
            <a:ext cx="4231777" cy="2433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3543F5-8FC1-40C1-B016-F823708BC8D6}"/>
              </a:ext>
            </a:extLst>
          </p:cNvPr>
          <p:cNvSpPr txBox="1"/>
          <p:nvPr/>
        </p:nvSpPr>
        <p:spPr>
          <a:xfrm>
            <a:off x="7351302" y="5478959"/>
            <a:ext cx="610537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en-GB" dirty="0">
                <a:solidFill>
                  <a:srgbClr val="FFFFFF"/>
                </a:solidFill>
              </a:rPr>
              <a:t>COPD accounts for </a:t>
            </a:r>
            <a:r>
              <a:rPr lang="en-GB" sz="4400" dirty="0">
                <a:solidFill>
                  <a:srgbClr val="FFFFFF"/>
                </a:solidFill>
              </a:rPr>
              <a:t>56% </a:t>
            </a:r>
            <a:r>
              <a:rPr lang="en-GB" dirty="0">
                <a:solidFill>
                  <a:srgbClr val="FFFFFF"/>
                </a:solidFill>
              </a:rPr>
              <a:t>of this!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A26D72-342F-4C35-9B7D-DA964B4E0EC6}"/>
              </a:ext>
            </a:extLst>
          </p:cNvPr>
          <p:cNvSpPr txBox="1"/>
          <p:nvPr/>
        </p:nvSpPr>
        <p:spPr>
          <a:xfrm>
            <a:off x="10460647" y="6426905"/>
            <a:ext cx="6725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(Gold, 2023)</a:t>
            </a:r>
          </a:p>
        </p:txBody>
      </p:sp>
    </p:spTree>
    <p:extLst>
      <p:ext uri="{BB962C8B-B14F-4D97-AF65-F5344CB8AC3E}">
        <p14:creationId xmlns:p14="http://schemas.microsoft.com/office/powerpoint/2010/main" val="207690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E3A2-A213-4A96-BE2E-AF49146F1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GB" dirty="0"/>
              <a:t>Chronic Bronchitis </a:t>
            </a:r>
          </a:p>
        </p:txBody>
      </p:sp>
      <p:pic>
        <p:nvPicPr>
          <p:cNvPr id="4" name="Picture 2" descr="http://www.eflworksheets.com/onlineexercises/animatedonline/coughing.gif">
            <a:hlinkClick r:id="rId2"/>
            <a:extLst>
              <a:ext uri="{FF2B5EF4-FFF2-40B4-BE49-F238E27FC236}">
                <a16:creationId xmlns:a16="http://schemas.microsoft.com/office/drawing/2014/main" id="{3714CB98-E41B-4EB2-83E6-711B0B5857F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2139" y="2159331"/>
            <a:ext cx="3769831" cy="3769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59D13-71E3-4CCB-810C-5DEDECDEB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0323" y="2160589"/>
            <a:ext cx="4410676" cy="3768573"/>
          </a:xfrm>
        </p:spPr>
        <p:txBody>
          <a:bodyPr>
            <a:normAutofit/>
          </a:bodyPr>
          <a:lstStyle/>
          <a:p>
            <a:r>
              <a:rPr lang="en-GB" dirty="0"/>
              <a:t>Defined as a persistent cough with sputum production for at least 3 months of the year for 2 consecutive years</a:t>
            </a:r>
          </a:p>
          <a:p>
            <a:r>
              <a:rPr lang="en-GB" dirty="0"/>
              <a:t>Disease of the medium and large sized airways – the bronchioles </a:t>
            </a:r>
          </a:p>
          <a:p>
            <a:r>
              <a:rPr lang="en-GB" dirty="0"/>
              <a:t>Insidious onset with a morning cough – smoker’s cough </a:t>
            </a:r>
          </a:p>
        </p:txBody>
      </p:sp>
    </p:spTree>
    <p:extLst>
      <p:ext uri="{BB962C8B-B14F-4D97-AF65-F5344CB8AC3E}">
        <p14:creationId xmlns:p14="http://schemas.microsoft.com/office/powerpoint/2010/main" val="4099106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07" name="Straight Connector 4106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9" name="Straight Connector 4108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11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13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15" name="Isosceles Triangle 4114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17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19" name="Isosceles Triangle 4118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121" name="Freeform: Shape 4120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78440-D2B3-426E-A068-0B59FA81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Chronic Bronchitis </a:t>
            </a:r>
          </a:p>
        </p:txBody>
      </p:sp>
      <p:pic>
        <p:nvPicPr>
          <p:cNvPr id="4098" name="Picture 2" descr="Best Flagellae GIFs | Gfycat">
            <a:extLst>
              <a:ext uri="{FF2B5EF4-FFF2-40B4-BE49-F238E27FC236}">
                <a16:creationId xmlns:a16="http://schemas.microsoft.com/office/drawing/2014/main" id="{811AED47-DABB-4333-83F7-423D80604F5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386" y="2167740"/>
            <a:ext cx="4247301" cy="239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F4519-8FFA-496B-B071-0D17CCA7D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1626" y="2257362"/>
            <a:ext cx="4512988" cy="3317938"/>
          </a:xfrm>
        </p:spPr>
        <p:txBody>
          <a:bodyPr anchor="t">
            <a:normAutofit fontScale="85000" lnSpcReduction="10000"/>
          </a:bodyPr>
          <a:lstStyle/>
          <a:p>
            <a:r>
              <a:rPr lang="en-GB" dirty="0">
                <a:solidFill>
                  <a:srgbClr val="FFFFFF"/>
                </a:solidFill>
              </a:rPr>
              <a:t>Repeated inhalation of pollutants leads to irritation of the airway mucosa </a:t>
            </a:r>
          </a:p>
          <a:p>
            <a:r>
              <a:rPr lang="en-GB" dirty="0">
                <a:solidFill>
                  <a:srgbClr val="FFFFFF"/>
                </a:solidFill>
              </a:rPr>
              <a:t>Hyperplasia and hypertrophy of mucus glands in the large airways </a:t>
            </a:r>
          </a:p>
          <a:p>
            <a:r>
              <a:rPr lang="en-GB" dirty="0">
                <a:solidFill>
                  <a:srgbClr val="FFFFFF"/>
                </a:solidFill>
              </a:rPr>
              <a:t>Excessive amounts of mucus in the airways</a:t>
            </a:r>
          </a:p>
          <a:p>
            <a:r>
              <a:rPr lang="en-GB" dirty="0">
                <a:solidFill>
                  <a:srgbClr val="FFFFFF"/>
                </a:solidFill>
              </a:rPr>
              <a:t>Hyperplasia of goblet cells occurs at the expense epithelial cells </a:t>
            </a:r>
          </a:p>
          <a:p>
            <a:r>
              <a:rPr lang="en-GB" dirty="0">
                <a:solidFill>
                  <a:srgbClr val="FFFFFF"/>
                </a:solidFill>
              </a:rPr>
              <a:t>Reduced ciliary function</a:t>
            </a:r>
          </a:p>
          <a:p>
            <a:r>
              <a:rPr lang="en-GB" dirty="0">
                <a:solidFill>
                  <a:srgbClr val="FFFFFF"/>
                </a:solidFill>
              </a:rPr>
              <a:t>Small airways become obstructed by mucus </a:t>
            </a:r>
          </a:p>
          <a:p>
            <a:r>
              <a:rPr lang="en-GB" dirty="0">
                <a:solidFill>
                  <a:srgbClr val="FFFFFF"/>
                </a:solidFill>
              </a:rPr>
              <a:t>Bacterial colonisation and repeated infection </a:t>
            </a:r>
          </a:p>
        </p:txBody>
      </p:sp>
    </p:spTree>
    <p:extLst>
      <p:ext uri="{BB962C8B-B14F-4D97-AF65-F5344CB8AC3E}">
        <p14:creationId xmlns:p14="http://schemas.microsoft.com/office/powerpoint/2010/main" val="3399840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177" name="Rectangle 7176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79" name="Straight Connector 7178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81" name="Straight Connector 7180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3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185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187" name="Isosceles Triangle 7186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189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191" name="Isosceles Triangle 7190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193" name="Freeform: Shape 7192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6631BF-5976-47AD-9707-0B4BFB824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Chronic Bronchitis </a:t>
            </a:r>
          </a:p>
        </p:txBody>
      </p:sp>
      <p:pic>
        <p:nvPicPr>
          <p:cNvPr id="7170" name="Picture 2" descr="Mucus-Secretion Drugs for COPD: Do They Really Work?">
            <a:extLst>
              <a:ext uri="{FF2B5EF4-FFF2-40B4-BE49-F238E27FC236}">
                <a16:creationId xmlns:a16="http://schemas.microsoft.com/office/drawing/2014/main" id="{30B95953-4894-4083-8AA1-897C570611F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5123" y="2319714"/>
            <a:ext cx="5241296" cy="199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858C3-F939-4AF9-93FE-8DC55490C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Small airways become narrowed due to inflammatory changes – airway remodelling </a:t>
            </a:r>
          </a:p>
          <a:p>
            <a:pPr>
              <a:buFontTx/>
              <a:buChar char="-"/>
            </a:pPr>
            <a:r>
              <a:rPr lang="en-GB">
                <a:solidFill>
                  <a:srgbClr val="FFFFFF"/>
                </a:solidFill>
              </a:rPr>
              <a:t>Mucosal oedema</a:t>
            </a:r>
          </a:p>
          <a:p>
            <a:pPr>
              <a:buFontTx/>
              <a:buChar char="-"/>
            </a:pPr>
            <a:r>
              <a:rPr lang="en-GB">
                <a:solidFill>
                  <a:srgbClr val="FFFFFF"/>
                </a:solidFill>
              </a:rPr>
              <a:t>Smooth muscle hypertrophy </a:t>
            </a:r>
          </a:p>
          <a:p>
            <a:pPr>
              <a:buFontTx/>
              <a:buChar char="-"/>
            </a:pPr>
            <a:r>
              <a:rPr lang="en-GB">
                <a:solidFill>
                  <a:srgbClr val="FFFFFF"/>
                </a:solidFill>
              </a:rPr>
              <a:t>Peribronchial fibrosis </a:t>
            </a:r>
          </a:p>
        </p:txBody>
      </p:sp>
    </p:spTree>
    <p:extLst>
      <p:ext uri="{BB962C8B-B14F-4D97-AF65-F5344CB8AC3E}">
        <p14:creationId xmlns:p14="http://schemas.microsoft.com/office/powerpoint/2010/main" val="2460673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6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8" name="Isosceles Triangle 47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7ECF1-FE6F-4257-AED3-72392095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Chronic Bronchitis</a:t>
            </a:r>
          </a:p>
        </p:txBody>
      </p:sp>
      <p:pic>
        <p:nvPicPr>
          <p:cNvPr id="16" name="Picture 10" descr="Image result for spit animation">
            <a:hlinkClick r:id="rId2"/>
            <a:extLst>
              <a:ext uri="{FF2B5EF4-FFF2-40B4-BE49-F238E27FC236}">
                <a16:creationId xmlns:a16="http://schemas.microsoft.com/office/drawing/2014/main" id="{035FEAD3-076F-4A32-93E5-922F0DBA8C9A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51" y="1545062"/>
            <a:ext cx="3856774" cy="385677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885DE-5F0A-46BE-91BD-574AE99A4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Secondary effects of chronic bronchitis </a:t>
            </a:r>
          </a:p>
          <a:p>
            <a:pPr>
              <a:buFontTx/>
              <a:buChar char="-"/>
            </a:pPr>
            <a:r>
              <a:rPr lang="en-GB">
                <a:solidFill>
                  <a:srgbClr val="FFFFFF"/>
                </a:solidFill>
              </a:rPr>
              <a:t>Airway obstruction </a:t>
            </a:r>
          </a:p>
          <a:p>
            <a:pPr>
              <a:buFontTx/>
              <a:buChar char="-"/>
            </a:pPr>
            <a:r>
              <a:rPr lang="en-GB">
                <a:solidFill>
                  <a:srgbClr val="FFFFFF"/>
                </a:solidFill>
              </a:rPr>
              <a:t>Increased resistance to airflow</a:t>
            </a:r>
          </a:p>
          <a:p>
            <a:pPr>
              <a:buFontTx/>
              <a:buChar char="-"/>
            </a:pPr>
            <a:r>
              <a:rPr lang="en-GB">
                <a:solidFill>
                  <a:srgbClr val="FFFFFF"/>
                </a:solidFill>
              </a:rPr>
              <a:t>V/Q mismatch – to be discussed in more detail in next session!</a:t>
            </a:r>
          </a:p>
          <a:p>
            <a:pPr>
              <a:buFontTx/>
              <a:buChar char="-"/>
            </a:pPr>
            <a:r>
              <a:rPr lang="en-GB">
                <a:solidFill>
                  <a:srgbClr val="FFFFFF"/>
                </a:solidFill>
              </a:rPr>
              <a:t>Impaired gas exchange </a:t>
            </a:r>
          </a:p>
          <a:p>
            <a:pPr>
              <a:buFontTx/>
              <a:buChar char="-"/>
            </a:pPr>
            <a:r>
              <a:rPr lang="en-GB">
                <a:solidFill>
                  <a:srgbClr val="FFFFFF"/>
                </a:solidFill>
              </a:rPr>
              <a:t>Increased work of breathing </a:t>
            </a:r>
          </a:p>
        </p:txBody>
      </p:sp>
    </p:spTree>
    <p:extLst>
      <p:ext uri="{BB962C8B-B14F-4D97-AF65-F5344CB8AC3E}">
        <p14:creationId xmlns:p14="http://schemas.microsoft.com/office/powerpoint/2010/main" val="2395418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05" name="Group 8204">
            <a:extLst>
              <a:ext uri="{FF2B5EF4-FFF2-40B4-BE49-F238E27FC236}">
                <a16:creationId xmlns:a16="http://schemas.microsoft.com/office/drawing/2014/main" id="{EBE86EA4-C4F1-4465-B306-7A2BC2285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8206" name="Straight Connector 8205">
              <a:extLst>
                <a:ext uri="{FF2B5EF4-FFF2-40B4-BE49-F238E27FC236}">
                  <a16:creationId xmlns:a16="http://schemas.microsoft.com/office/drawing/2014/main" id="{A8279268-DB29-43BE-B57C-14977EACFD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7" name="Straight Connector 8206">
              <a:extLst>
                <a:ext uri="{FF2B5EF4-FFF2-40B4-BE49-F238E27FC236}">
                  <a16:creationId xmlns:a16="http://schemas.microsoft.com/office/drawing/2014/main" id="{C8FA53C0-C1EF-4611-BAB3-65EEB16AA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08" name="Rectangle 23">
              <a:extLst>
                <a:ext uri="{FF2B5EF4-FFF2-40B4-BE49-F238E27FC236}">
                  <a16:creationId xmlns:a16="http://schemas.microsoft.com/office/drawing/2014/main" id="{81CDACFC-DD8A-4CC0-B7FC-6030FC353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09" name="Rectangle 25">
              <a:extLst>
                <a:ext uri="{FF2B5EF4-FFF2-40B4-BE49-F238E27FC236}">
                  <a16:creationId xmlns:a16="http://schemas.microsoft.com/office/drawing/2014/main" id="{0269F267-73D4-4CC3-BEC7-73335654D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10" name="Isosceles Triangle 8209">
              <a:extLst>
                <a:ext uri="{FF2B5EF4-FFF2-40B4-BE49-F238E27FC236}">
                  <a16:creationId xmlns:a16="http://schemas.microsoft.com/office/drawing/2014/main" id="{DC48F13D-B2D7-4EB8-9CA7-59243637C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11" name="Rectangle 27">
              <a:extLst>
                <a:ext uri="{FF2B5EF4-FFF2-40B4-BE49-F238E27FC236}">
                  <a16:creationId xmlns:a16="http://schemas.microsoft.com/office/drawing/2014/main" id="{A82405B3-5A67-4DA2-8EDA-7AB65A8B4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12" name="Rectangle 28">
              <a:extLst>
                <a:ext uri="{FF2B5EF4-FFF2-40B4-BE49-F238E27FC236}">
                  <a16:creationId xmlns:a16="http://schemas.microsoft.com/office/drawing/2014/main" id="{7508BC7B-3BD2-4D96-A46E-82988222A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13" name="Rectangle 29">
              <a:extLst>
                <a:ext uri="{FF2B5EF4-FFF2-40B4-BE49-F238E27FC236}">
                  <a16:creationId xmlns:a16="http://schemas.microsoft.com/office/drawing/2014/main" id="{4298D07C-2287-4B93-9041-935144DE1B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14" name="Isosceles Triangle 8213">
              <a:extLst>
                <a:ext uri="{FF2B5EF4-FFF2-40B4-BE49-F238E27FC236}">
                  <a16:creationId xmlns:a16="http://schemas.microsoft.com/office/drawing/2014/main" id="{0F6BC886-C125-4903-8C2A-6FB687400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15" name="Isosceles Triangle 8214">
              <a:extLst>
                <a:ext uri="{FF2B5EF4-FFF2-40B4-BE49-F238E27FC236}">
                  <a16:creationId xmlns:a16="http://schemas.microsoft.com/office/drawing/2014/main" id="{C9D0B38F-2E02-4E85-99EE-73595E7C89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8229" name="Rectangle 8216">
            <a:extLst>
              <a:ext uri="{FF2B5EF4-FFF2-40B4-BE49-F238E27FC236}">
                <a16:creationId xmlns:a16="http://schemas.microsoft.com/office/drawing/2014/main" id="{BD11ECC6-8551-4768-8DFD-CD41AF420A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1"/>
            <a:ext cx="12192000" cy="2285999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231" name="Group 8218">
            <a:extLst>
              <a:ext uri="{FF2B5EF4-FFF2-40B4-BE49-F238E27FC236}">
                <a16:creationId xmlns:a16="http://schemas.microsoft.com/office/drawing/2014/main" id="{93657592-CA60-4F45-B1A0-88AA7724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25267" y="-8467"/>
            <a:ext cx="4766733" cy="6866467"/>
            <a:chOff x="7425267" y="-8467"/>
            <a:chExt cx="4766733" cy="6866467"/>
          </a:xfrm>
        </p:grpSpPr>
        <p:cxnSp>
          <p:nvCxnSpPr>
            <p:cNvPr id="8220" name="Straight Connector 8219">
              <a:extLst>
                <a:ext uri="{FF2B5EF4-FFF2-40B4-BE49-F238E27FC236}">
                  <a16:creationId xmlns:a16="http://schemas.microsoft.com/office/drawing/2014/main" id="{6F47E2B4-7DA9-4312-A1F0-C48388B23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96547" y="4572001"/>
              <a:ext cx="393665" cy="2285999"/>
            </a:xfrm>
            <a:prstGeom prst="line">
              <a:avLst/>
            </a:prstGeom>
            <a:ln w="9525">
              <a:solidFill>
                <a:srgbClr val="BFBFBF">
                  <a:alpha val="7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1" name="Straight Connector 8220">
              <a:extLst>
                <a:ext uri="{FF2B5EF4-FFF2-40B4-BE49-F238E27FC236}">
                  <a16:creationId xmlns:a16="http://schemas.microsoft.com/office/drawing/2014/main" id="{35B274F7-039F-4BFC-AA98-B51B1D6C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4572001"/>
              <a:ext cx="3383073" cy="2285999"/>
            </a:xfrm>
            <a:prstGeom prst="line">
              <a:avLst/>
            </a:prstGeom>
            <a:ln w="9525">
              <a:solidFill>
                <a:srgbClr val="BFBFBF">
                  <a:alpha val="69804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222" name="Rectangle 23">
              <a:extLst>
                <a:ext uri="{FF2B5EF4-FFF2-40B4-BE49-F238E27FC236}">
                  <a16:creationId xmlns:a16="http://schemas.microsoft.com/office/drawing/2014/main" id="{11A31103-C703-46C9-9D26-497A1ACD5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23" name="Rectangle 25">
              <a:extLst>
                <a:ext uri="{FF2B5EF4-FFF2-40B4-BE49-F238E27FC236}">
                  <a16:creationId xmlns:a16="http://schemas.microsoft.com/office/drawing/2014/main" id="{382F955F-FC22-44B8-BDCF-B77580323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24" name="Isosceles Triangle 8223">
              <a:extLst>
                <a:ext uri="{FF2B5EF4-FFF2-40B4-BE49-F238E27FC236}">
                  <a16:creationId xmlns:a16="http://schemas.microsoft.com/office/drawing/2014/main" id="{1F567692-F087-479A-8931-BD2869C3E4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25" name="Rectangle 27">
              <a:extLst>
                <a:ext uri="{FF2B5EF4-FFF2-40B4-BE49-F238E27FC236}">
                  <a16:creationId xmlns:a16="http://schemas.microsoft.com/office/drawing/2014/main" id="{49B3E4CD-0738-4B9D-A14F-1E8694DDF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26" name="Rectangle 28">
              <a:extLst>
                <a:ext uri="{FF2B5EF4-FFF2-40B4-BE49-F238E27FC236}">
                  <a16:creationId xmlns:a16="http://schemas.microsoft.com/office/drawing/2014/main" id="{4753B851-AD90-4CCD-85D0-65AA6567D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27" name="Rectangle 29">
              <a:extLst>
                <a:ext uri="{FF2B5EF4-FFF2-40B4-BE49-F238E27FC236}">
                  <a16:creationId xmlns:a16="http://schemas.microsoft.com/office/drawing/2014/main" id="{EBF14868-A190-4E21-9522-8977C474C9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228" name="Isosceles Triangle 8227">
              <a:extLst>
                <a:ext uri="{FF2B5EF4-FFF2-40B4-BE49-F238E27FC236}">
                  <a16:creationId xmlns:a16="http://schemas.microsoft.com/office/drawing/2014/main" id="{BCBB4922-76EE-442B-A649-09873DCE79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7A98347-7FCB-4132-A932-0FC148B31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110" y="4758611"/>
            <a:ext cx="8508893" cy="1024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600"/>
              <a:t>Aetiology of Chronic Bronchitis </a:t>
            </a:r>
          </a:p>
        </p:txBody>
      </p:sp>
      <p:sp>
        <p:nvSpPr>
          <p:cNvPr id="8230" name="Rectangle 8229">
            <a:extLst>
              <a:ext uri="{FF2B5EF4-FFF2-40B4-BE49-F238E27FC236}">
                <a16:creationId xmlns:a16="http://schemas.microsoft.com/office/drawing/2014/main" id="{8E2EB503-A017-4457-A105-53638C97D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Transparent cigarette GIF - Find on GIFER">
            <a:extLst>
              <a:ext uri="{FF2B5EF4-FFF2-40B4-BE49-F238E27FC236}">
                <a16:creationId xmlns:a16="http://schemas.microsoft.com/office/drawing/2014/main" id="{12059675-0AA5-45DC-BDB8-581F6FDF49B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4991" y="761905"/>
            <a:ext cx="3143653" cy="321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Exhaust GIFs | Tenor">
            <a:extLst>
              <a:ext uri="{FF2B5EF4-FFF2-40B4-BE49-F238E27FC236}">
                <a16:creationId xmlns:a16="http://schemas.microsoft.com/office/drawing/2014/main" id="{C4A6365C-69D8-43F3-B410-EBF2864DFDE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81165" y="761905"/>
            <a:ext cx="3217333" cy="321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Coal Miner GIFs | Tenor">
            <a:extLst>
              <a:ext uri="{FF2B5EF4-FFF2-40B4-BE49-F238E27FC236}">
                <a16:creationId xmlns:a16="http://schemas.microsoft.com/office/drawing/2014/main" id="{88A745AB-166C-4A13-AFB6-FCC970FF4B0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17073" y="1233529"/>
            <a:ext cx="3426704" cy="2274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3901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ED82-9814-420B-8F80-C95C9DF8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Emphysema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A5C7D-243F-4378-8E01-CECBC543A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3185134"/>
          </a:xfrm>
        </p:spPr>
        <p:txBody>
          <a:bodyPr/>
          <a:lstStyle/>
          <a:p>
            <a:r>
              <a:rPr lang="en-GB" dirty="0"/>
              <a:t>Primarily a disease of the alveoli </a:t>
            </a:r>
          </a:p>
          <a:p>
            <a:pPr>
              <a:buFontTx/>
              <a:buChar char="-"/>
            </a:pPr>
            <a:r>
              <a:rPr lang="en-GB" dirty="0"/>
              <a:t>Protein breakdown</a:t>
            </a:r>
          </a:p>
          <a:p>
            <a:pPr>
              <a:buFontTx/>
              <a:buChar char="-"/>
            </a:pPr>
            <a:r>
              <a:rPr lang="en-GB" dirty="0"/>
              <a:t>Erosion of alveola septa </a:t>
            </a:r>
          </a:p>
          <a:p>
            <a:pPr>
              <a:buFontTx/>
              <a:buChar char="-"/>
            </a:pPr>
            <a:r>
              <a:rPr lang="en-GB" dirty="0"/>
              <a:t>Destruction of elastic fibres </a:t>
            </a:r>
          </a:p>
          <a:p>
            <a:pPr>
              <a:buFontTx/>
              <a:buChar char="-"/>
            </a:pPr>
            <a:r>
              <a:rPr lang="en-GB" dirty="0"/>
              <a:t>Destruction of capillary bed</a:t>
            </a:r>
          </a:p>
          <a:p>
            <a:pPr>
              <a:buFontTx/>
              <a:buChar char="-"/>
            </a:pPr>
            <a:r>
              <a:rPr lang="en-GB" dirty="0"/>
              <a:t>Airways become floppy </a:t>
            </a:r>
          </a:p>
          <a:p>
            <a:pPr>
              <a:buFontTx/>
              <a:buChar char="-"/>
            </a:pPr>
            <a:r>
              <a:rPr lang="en-GB" dirty="0"/>
              <a:t>Formation of bullae </a:t>
            </a:r>
          </a:p>
          <a:p>
            <a:pPr>
              <a:buFontTx/>
              <a:buChar char="-"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0242" name="Picture 2" descr="COPD alveoli on Make a GIF">
            <a:extLst>
              <a:ext uri="{FF2B5EF4-FFF2-40B4-BE49-F238E27FC236}">
                <a16:creationId xmlns:a16="http://schemas.microsoft.com/office/drawing/2014/main" id="{A436E830-74CD-47D8-9773-3CD62144527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668" y="2085488"/>
            <a:ext cx="4798258" cy="2687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5A1006-76E7-4073-8B77-F34F6B78C529}"/>
              </a:ext>
            </a:extLst>
          </p:cNvPr>
          <p:cNvSpPr txBox="1"/>
          <p:nvPr/>
        </p:nvSpPr>
        <p:spPr>
          <a:xfrm>
            <a:off x="677334" y="5420826"/>
            <a:ext cx="87761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/>
              <a:t>Permanent enlargement of the airspaces distal to the terminal bronchioles </a:t>
            </a:r>
          </a:p>
        </p:txBody>
      </p:sp>
    </p:spTree>
    <p:extLst>
      <p:ext uri="{BB962C8B-B14F-4D97-AF65-F5344CB8AC3E}">
        <p14:creationId xmlns:p14="http://schemas.microsoft.com/office/powerpoint/2010/main" val="269700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C284E3-CA30-45BE-BE0A-59B1D048F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Secondary effects of emphysematous changes </a:t>
            </a:r>
          </a:p>
        </p:txBody>
      </p:sp>
      <p:pic>
        <p:nvPicPr>
          <p:cNvPr id="4" name="Picture 2" descr="https://johntmcgowan.files.wordpress.com/2011/08/breathing50.gif?w=460">
            <a:hlinkClick r:id="rId2"/>
            <a:extLst>
              <a:ext uri="{FF2B5EF4-FFF2-40B4-BE49-F238E27FC236}">
                <a16:creationId xmlns:a16="http://schemas.microsoft.com/office/drawing/2014/main" id="{4745DD3E-3B72-42F3-BAB8-3D181017A7E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7251" y="2027159"/>
            <a:ext cx="3856774" cy="2892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B6319-2EC8-4000-AB66-4A6DC0284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Airflow obstruction</a:t>
            </a:r>
          </a:p>
          <a:p>
            <a:r>
              <a:rPr lang="en-GB" dirty="0">
                <a:solidFill>
                  <a:srgbClr val="FFFFFF"/>
                </a:solidFill>
              </a:rPr>
              <a:t>Increased resistance to airflow</a:t>
            </a:r>
          </a:p>
          <a:p>
            <a:r>
              <a:rPr lang="en-GB" dirty="0">
                <a:solidFill>
                  <a:srgbClr val="FFFFFF"/>
                </a:solidFill>
              </a:rPr>
              <a:t>Reduced surface area for gas exchange </a:t>
            </a:r>
          </a:p>
          <a:p>
            <a:r>
              <a:rPr lang="en-GB" dirty="0">
                <a:solidFill>
                  <a:srgbClr val="FFFFFF"/>
                </a:solidFill>
              </a:rPr>
              <a:t>V/Q mismatch</a:t>
            </a:r>
          </a:p>
          <a:p>
            <a:r>
              <a:rPr lang="en-GB" dirty="0">
                <a:solidFill>
                  <a:srgbClr val="FFFFFF"/>
                </a:solidFill>
              </a:rPr>
              <a:t>Increased work of breathing </a:t>
            </a:r>
          </a:p>
        </p:txBody>
      </p:sp>
    </p:spTree>
    <p:extLst>
      <p:ext uri="{BB962C8B-B14F-4D97-AF65-F5344CB8AC3E}">
        <p14:creationId xmlns:p14="http://schemas.microsoft.com/office/powerpoint/2010/main" val="2884158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75EB2-C85D-41D9-9E08-18345755D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3729076" cy="1320800"/>
          </a:xfrm>
        </p:spPr>
        <p:txBody>
          <a:bodyPr anchor="ctr">
            <a:normAutofit/>
          </a:bodyPr>
          <a:lstStyle/>
          <a:p>
            <a:r>
              <a:rPr lang="en-GB" dirty="0"/>
              <a:t>Aetiology of Emphysema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8ED1D-3656-4128-8D38-4F43EE635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90"/>
            <a:ext cx="3720916" cy="27670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Alpha 1 antitrypsin deficiency 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dirty="0"/>
              <a:t>Genetic cause 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dirty="0"/>
              <a:t>Alpha 1 anti-trypsin inhibits the action of neutrophil elastase which destroys elastin 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dirty="0"/>
              <a:t>Develops before the age of 40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dirty="0"/>
              <a:t>Equal distribution between sexes </a:t>
            </a:r>
          </a:p>
        </p:txBody>
      </p:sp>
      <p:pic>
        <p:nvPicPr>
          <p:cNvPr id="11266" name="Picture 2" descr="Smoking Cigarette GIF | Gfycat">
            <a:extLst>
              <a:ext uri="{FF2B5EF4-FFF2-40B4-BE49-F238E27FC236}">
                <a16:creationId xmlns:a16="http://schemas.microsoft.com/office/drawing/2014/main" id="{A7E7B75B-DC49-47D1-9F22-A53BD9FEE4D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035" y="929089"/>
            <a:ext cx="4602747" cy="4495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A4A19B-AAF4-4ABD-9076-128D8FE4FE24}"/>
              </a:ext>
            </a:extLst>
          </p:cNvPr>
          <p:cNvSpPr txBox="1"/>
          <p:nvPr/>
        </p:nvSpPr>
        <p:spPr>
          <a:xfrm>
            <a:off x="1786837" y="5418627"/>
            <a:ext cx="61053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GB" sz="4000" b="1" dirty="0"/>
              <a:t>SMOKING is the major cause </a:t>
            </a:r>
          </a:p>
        </p:txBody>
      </p:sp>
    </p:spTree>
    <p:extLst>
      <p:ext uri="{BB962C8B-B14F-4D97-AF65-F5344CB8AC3E}">
        <p14:creationId xmlns:p14="http://schemas.microsoft.com/office/powerpoint/2010/main" val="190564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3CA28-C21F-444B-AC30-AE8BB6962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GB" sz="5400" dirty="0"/>
              <a:t>IMPORTANT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sz="2800" dirty="0"/>
              <a:t>Chronic Bronchitis and Emphysema may well co-exist </a:t>
            </a:r>
          </a:p>
        </p:txBody>
      </p:sp>
      <p:pic>
        <p:nvPicPr>
          <p:cNvPr id="13314" name="Picture 2" descr="Exclamation-point-sticker GIFs - Get the best GIF on GIPHY">
            <a:extLst>
              <a:ext uri="{FF2B5EF4-FFF2-40B4-BE49-F238E27FC236}">
                <a16:creationId xmlns:a16="http://schemas.microsoft.com/office/drawing/2014/main" id="{949B690C-7C2E-4BFD-957B-D0DDCD650AA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08089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835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33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15" name="Rectangle 17414">
            <a:extLst>
              <a:ext uri="{FF2B5EF4-FFF2-40B4-BE49-F238E27FC236}">
                <a16:creationId xmlns:a16="http://schemas.microsoft.com/office/drawing/2014/main" id="{A65AC7D1-EAA9-48F5-B509-60A7F50BF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7417" name="Rectangle 17416">
            <a:extLst>
              <a:ext uri="{FF2B5EF4-FFF2-40B4-BE49-F238E27FC236}">
                <a16:creationId xmlns:a16="http://schemas.microsoft.com/office/drawing/2014/main" id="{D6320AF9-619A-4175-865B-5663E1AEF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419" name="Straight Connector 17418">
            <a:extLst>
              <a:ext uri="{FF2B5EF4-FFF2-40B4-BE49-F238E27FC236}">
                <a16:creationId xmlns:a16="http://schemas.microsoft.com/office/drawing/2014/main" id="{063B6EC6-D752-4EE7-908B-F8F19E8C7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1313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Straight Connector 17420">
            <a:extLst>
              <a:ext uri="{FF2B5EF4-FFF2-40B4-BE49-F238E27FC236}">
                <a16:creationId xmlns:a16="http://schemas.microsoft.com/office/drawing/2014/main" id="{EFECD4E8-AD3E-4228-82A2-9461958EA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290979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ectangle 23">
            <a:extLst>
              <a:ext uri="{FF2B5EF4-FFF2-40B4-BE49-F238E27FC236}">
                <a16:creationId xmlns:a16="http://schemas.microsoft.com/office/drawing/2014/main" id="{7E018740-5C2B-4A41-AC1A-7E68D1EC1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2568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425" name="Rectangle 25">
            <a:extLst>
              <a:ext uri="{FF2B5EF4-FFF2-40B4-BE49-F238E27FC236}">
                <a16:creationId xmlns:a16="http://schemas.microsoft.com/office/drawing/2014/main" id="{166F75A4-C475-4941-8EE2-B80A06A2C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534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427" name="Isosceles Triangle 17426">
            <a:extLst>
              <a:ext uri="{FF2B5EF4-FFF2-40B4-BE49-F238E27FC236}">
                <a16:creationId xmlns:a16="http://schemas.microsoft.com/office/drawing/2014/main" id="{A032553A-72E8-4B0D-8405-FF9771C9A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3425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429" name="Rectangle 27">
            <a:extLst>
              <a:ext uri="{FF2B5EF4-FFF2-40B4-BE49-F238E27FC236}">
                <a16:creationId xmlns:a16="http://schemas.microsoft.com/office/drawing/2014/main" id="{765800AC-C3B9-498E-87BC-29FAE4C7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5592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431" name="Isosceles Triangle 17430">
            <a:extLst>
              <a:ext uri="{FF2B5EF4-FFF2-40B4-BE49-F238E27FC236}">
                <a16:creationId xmlns:a16="http://schemas.microsoft.com/office/drawing/2014/main" id="{1F9D6ACB-2FF4-49F9-978A-E0D5327FC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72758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433" name="Freeform: Shape 17432">
            <a:extLst>
              <a:ext uri="{FF2B5EF4-FFF2-40B4-BE49-F238E27FC236}">
                <a16:creationId xmlns:a16="http://schemas.microsoft.com/office/drawing/2014/main" id="{A5EC319D-0FEA-4B95-A3EA-01E35672C9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97631" y="-8467"/>
            <a:ext cx="5994369" cy="6866467"/>
          </a:xfrm>
          <a:custGeom>
            <a:avLst/>
            <a:gdLst>
              <a:gd name="connsiteX0" fmla="*/ 0 w 5994369"/>
              <a:gd name="connsiteY0" fmla="*/ 0 h 6866467"/>
              <a:gd name="connsiteX1" fmla="*/ 1249825 w 5994369"/>
              <a:gd name="connsiteY1" fmla="*/ 0 h 6866467"/>
              <a:gd name="connsiteX2" fmla="*/ 1249825 w 5994369"/>
              <a:gd name="connsiteY2" fmla="*/ 8467 h 6866467"/>
              <a:gd name="connsiteX3" fmla="*/ 5994369 w 5994369"/>
              <a:gd name="connsiteY3" fmla="*/ 8467 h 6866467"/>
              <a:gd name="connsiteX4" fmla="*/ 5994369 w 5994369"/>
              <a:gd name="connsiteY4" fmla="*/ 6866467 h 6866467"/>
              <a:gd name="connsiteX5" fmla="*/ 1249825 w 5994369"/>
              <a:gd name="connsiteY5" fmla="*/ 6866467 h 6866467"/>
              <a:gd name="connsiteX6" fmla="*/ 1109382 w 5994369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94369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5994369" y="8467"/>
                </a:lnTo>
                <a:lnTo>
                  <a:pt x="5994369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A2C736-350F-4966-B0B8-A32173E1D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Further secondary effects of COPD </a:t>
            </a:r>
          </a:p>
        </p:txBody>
      </p:sp>
      <p:pic>
        <p:nvPicPr>
          <p:cNvPr id="17410" name="Picture 2" descr="Red Blood Cells National Geographic GIF - Red Blood Cells National  Geographic Arteries - Discover &amp; Share GIFs">
            <a:extLst>
              <a:ext uri="{FF2B5EF4-FFF2-40B4-BE49-F238E27FC236}">
                <a16:creationId xmlns:a16="http://schemas.microsoft.com/office/drawing/2014/main" id="{086AFB87-339D-4A5B-93C4-AB60802F91D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45105" y="2157488"/>
            <a:ext cx="4268920" cy="2400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C6AE7-667F-47AE-B2CD-A99D675B4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1725" y="2837329"/>
            <a:ext cx="4512988" cy="3317938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1500" dirty="0">
                <a:solidFill>
                  <a:srgbClr val="FFFFFF"/>
                </a:solidFill>
              </a:rPr>
              <a:t>Cor Pulmonale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sz="1500" dirty="0">
                <a:solidFill>
                  <a:srgbClr val="FFFFFF"/>
                </a:solidFill>
              </a:rPr>
              <a:t>Right ventricular failure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sz="1500" dirty="0">
                <a:solidFill>
                  <a:srgbClr val="FFFFFF"/>
                </a:solidFill>
              </a:rPr>
              <a:t>To discuss further later!</a:t>
            </a:r>
          </a:p>
          <a:p>
            <a:pPr>
              <a:lnSpc>
                <a:spcPct val="90000"/>
              </a:lnSpc>
              <a:buFontTx/>
              <a:buChar char="-"/>
            </a:pPr>
            <a:endParaRPr lang="en-GB" sz="15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500" dirty="0">
                <a:solidFill>
                  <a:srgbClr val="FFFFFF"/>
                </a:solidFill>
              </a:rPr>
              <a:t>Polycythaemia 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sz="1500" dirty="0">
                <a:solidFill>
                  <a:srgbClr val="FFFFFF"/>
                </a:solidFill>
              </a:rPr>
              <a:t>Bodies response to chronic hypoxia 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sz="1500" dirty="0">
                <a:solidFill>
                  <a:srgbClr val="FFFFFF"/>
                </a:solidFill>
              </a:rPr>
              <a:t>Increase in total volume of red blood cells 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GB" sz="1500" dirty="0">
                <a:solidFill>
                  <a:srgbClr val="FFFFFF"/>
                </a:solidFill>
              </a:rPr>
              <a:t>Increased blood viscosity </a:t>
            </a:r>
          </a:p>
          <a:p>
            <a:pPr marL="0" indent="0">
              <a:lnSpc>
                <a:spcPct val="90000"/>
              </a:lnSpc>
              <a:buNone/>
            </a:pPr>
            <a:endParaRPr lang="en-GB" sz="1500" dirty="0">
              <a:solidFill>
                <a:srgbClr val="FFFFFF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GB" sz="15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838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BA6B8-2C7E-4739-A677-5F7E7DC83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Clinical features of COPD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84675-DE98-4C60-BE88-2906CC3E7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Subjective examination</a:t>
            </a:r>
          </a:p>
          <a:p>
            <a:pPr>
              <a:buFontTx/>
              <a:buChar char="-"/>
            </a:pPr>
            <a:r>
              <a:rPr lang="en-GB" sz="3200" dirty="0"/>
              <a:t>Productive cough</a:t>
            </a:r>
          </a:p>
          <a:p>
            <a:pPr>
              <a:buFontTx/>
              <a:buChar char="-"/>
            </a:pPr>
            <a:r>
              <a:rPr lang="en-GB" sz="3200" dirty="0"/>
              <a:t>Wheeze</a:t>
            </a:r>
          </a:p>
          <a:p>
            <a:pPr>
              <a:buFontTx/>
              <a:buChar char="-"/>
            </a:pPr>
            <a:r>
              <a:rPr lang="en-GB" sz="3200" dirty="0"/>
              <a:t>Shortness of breath</a:t>
            </a:r>
          </a:p>
          <a:p>
            <a:pPr>
              <a:buFontTx/>
              <a:buChar char="-"/>
            </a:pPr>
            <a:r>
              <a:rPr lang="en-GB" sz="3200" dirty="0"/>
              <a:t>Decreased exercise tolerance/functional ability </a:t>
            </a:r>
          </a:p>
          <a:p>
            <a:pPr>
              <a:buFontTx/>
              <a:buChar char="-"/>
            </a:pPr>
            <a:r>
              <a:rPr lang="en-GB" sz="3200" dirty="0"/>
              <a:t>Recurrent chest infections </a:t>
            </a:r>
          </a:p>
        </p:txBody>
      </p:sp>
      <p:pic>
        <p:nvPicPr>
          <p:cNvPr id="14338" name="Picture 2" descr="Writing-in-notebook GIFs - Get the best GIF on GIPHY">
            <a:extLst>
              <a:ext uri="{FF2B5EF4-FFF2-40B4-BE49-F238E27FC236}">
                <a16:creationId xmlns:a16="http://schemas.microsoft.com/office/drawing/2014/main" id="{6B871ACA-AF0D-4206-9944-BDA91FD7203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7748" y="237944"/>
            <a:ext cx="2408966" cy="2408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64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369" name="Rectangle 15368">
            <a:extLst>
              <a:ext uri="{FF2B5EF4-FFF2-40B4-BE49-F238E27FC236}">
                <a16:creationId xmlns:a16="http://schemas.microsoft.com/office/drawing/2014/main" id="{4BE9D4C4-9FA3-4885-A769-301639CC7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5371" name="Freeform: Shape 15370">
            <a:extLst>
              <a:ext uri="{FF2B5EF4-FFF2-40B4-BE49-F238E27FC236}">
                <a16:creationId xmlns:a16="http://schemas.microsoft.com/office/drawing/2014/main" id="{4524F065-9F7C-400C-9A20-B343BFAA6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2627" y="-4"/>
            <a:ext cx="8139373" cy="6858000"/>
          </a:xfrm>
          <a:custGeom>
            <a:avLst/>
            <a:gdLst>
              <a:gd name="connsiteX0" fmla="*/ 5181344 w 8139373"/>
              <a:gd name="connsiteY0" fmla="*/ 0 h 6858000"/>
              <a:gd name="connsiteX1" fmla="*/ 8139373 w 8139373"/>
              <a:gd name="connsiteY1" fmla="*/ 0 h 6858000"/>
              <a:gd name="connsiteX2" fmla="*/ 8139373 w 8139373"/>
              <a:gd name="connsiteY2" fmla="*/ 6858000 h 6858000"/>
              <a:gd name="connsiteX3" fmla="*/ 0 w 813937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39373" h="6858000">
                <a:moveTo>
                  <a:pt x="5181344" y="0"/>
                </a:moveTo>
                <a:lnTo>
                  <a:pt x="8139373" y="0"/>
                </a:lnTo>
                <a:lnTo>
                  <a:pt x="8139373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BEB0F-C970-41F9-A7CD-54B7F54CC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76489"/>
            <a:ext cx="3749061" cy="1508469"/>
          </a:xfrm>
        </p:spPr>
        <p:txBody>
          <a:bodyPr anchor="ctr">
            <a:normAutofit/>
          </a:bodyPr>
          <a:lstStyle/>
          <a:p>
            <a:r>
              <a:rPr lang="en-GB" sz="3200"/>
              <a:t>Clinical features of COPD</a:t>
            </a:r>
          </a:p>
        </p:txBody>
      </p:sp>
      <p:sp>
        <p:nvSpPr>
          <p:cNvPr id="15373" name="Isosceles Triangle 15372">
            <a:extLst>
              <a:ext uri="{FF2B5EF4-FFF2-40B4-BE49-F238E27FC236}">
                <a16:creationId xmlns:a16="http://schemas.microsoft.com/office/drawing/2014/main" id="{7EB6695E-BED5-4DA3-8C9B-AD301AEF4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435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D635C-9CA0-4954-A464-999A77005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795618"/>
            <a:ext cx="3749061" cy="3005289"/>
          </a:xfrm>
        </p:spPr>
        <p:txBody>
          <a:bodyPr>
            <a:noAutofit/>
          </a:bodyPr>
          <a:lstStyle/>
          <a:p>
            <a:r>
              <a:rPr lang="en-GB" sz="2400" dirty="0"/>
              <a:t>Objective examination</a:t>
            </a:r>
          </a:p>
          <a:p>
            <a:pPr>
              <a:buFontTx/>
              <a:buChar char="-"/>
            </a:pPr>
            <a:r>
              <a:rPr lang="en-GB" sz="2400" dirty="0"/>
              <a:t>Auscultation: wheeze, decreased breath sounds, crackles</a:t>
            </a:r>
          </a:p>
          <a:p>
            <a:pPr>
              <a:buFontTx/>
              <a:buChar char="-"/>
            </a:pPr>
            <a:r>
              <a:rPr lang="en-GB" sz="2400" dirty="0"/>
              <a:t>Hyperinflated chest: Increased AP diameter - barrel chest</a:t>
            </a:r>
          </a:p>
          <a:p>
            <a:pPr>
              <a:buFontTx/>
              <a:buChar char="-"/>
            </a:pPr>
            <a:r>
              <a:rPr lang="en-GB" sz="2400" dirty="0"/>
              <a:t>Productive cough – purulent sputum </a:t>
            </a:r>
          </a:p>
        </p:txBody>
      </p:sp>
      <p:sp>
        <p:nvSpPr>
          <p:cNvPr id="15375" name="Freeform: Shape 15374">
            <a:extLst>
              <a:ext uri="{FF2B5EF4-FFF2-40B4-BE49-F238E27FC236}">
                <a16:creationId xmlns:a16="http://schemas.microsoft.com/office/drawing/2014/main" id="{46DB9E65-E072-43AF-A8C9-9744BA0CC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6867" y="6"/>
            <a:ext cx="4831627" cy="4520011"/>
          </a:xfrm>
          <a:custGeom>
            <a:avLst/>
            <a:gdLst>
              <a:gd name="connsiteX0" fmla="*/ 0 w 4831627"/>
              <a:gd name="connsiteY0" fmla="*/ 0 h 4520011"/>
              <a:gd name="connsiteX1" fmla="*/ 4831627 w 4831627"/>
              <a:gd name="connsiteY1" fmla="*/ 0 h 4520011"/>
              <a:gd name="connsiteX2" fmla="*/ 1416677 w 4831627"/>
              <a:gd name="connsiteY2" fmla="*/ 4520011 h 4520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1627" h="4520011">
                <a:moveTo>
                  <a:pt x="0" y="0"/>
                </a:moveTo>
                <a:lnTo>
                  <a:pt x="4831627" y="0"/>
                </a:lnTo>
                <a:lnTo>
                  <a:pt x="1416677" y="452001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5362" name="Picture 2" descr="A Look at COPD: Barrel Chest, Blue Lips &amp; Other Signs">
            <a:extLst>
              <a:ext uri="{FF2B5EF4-FFF2-40B4-BE49-F238E27FC236}">
                <a16:creationId xmlns:a16="http://schemas.microsoft.com/office/drawing/2014/main" id="{0BA1C227-15BD-4475-9E4A-87113CFE2C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29" r="30062" b="36806"/>
          <a:stretch/>
        </p:blipFill>
        <p:spPr bwMode="auto">
          <a:xfrm>
            <a:off x="7838952" y="2260011"/>
            <a:ext cx="3675714" cy="3340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BC 0824 | Baamboozle - Baamboozle | The Most Fun Classroom Games!">
            <a:extLst>
              <a:ext uri="{FF2B5EF4-FFF2-40B4-BE49-F238E27FC236}">
                <a16:creationId xmlns:a16="http://schemas.microsoft.com/office/drawing/2014/main" id="{DBF52822-082F-4338-BA95-82E71775877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62577" y="-209397"/>
            <a:ext cx="3579906" cy="3579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700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398" name="Rectangle 16392">
            <a:extLst>
              <a:ext uri="{FF2B5EF4-FFF2-40B4-BE49-F238E27FC236}">
                <a16:creationId xmlns:a16="http://schemas.microsoft.com/office/drawing/2014/main" id="{4BE9D4C4-9FA3-4885-A769-301639CC7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6400" name="Freeform: Shape 16394">
            <a:extLst>
              <a:ext uri="{FF2B5EF4-FFF2-40B4-BE49-F238E27FC236}">
                <a16:creationId xmlns:a16="http://schemas.microsoft.com/office/drawing/2014/main" id="{4524F065-9F7C-400C-9A20-B343BFAA6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2627" y="-4"/>
            <a:ext cx="8139373" cy="6858000"/>
          </a:xfrm>
          <a:custGeom>
            <a:avLst/>
            <a:gdLst>
              <a:gd name="connsiteX0" fmla="*/ 5181344 w 8139373"/>
              <a:gd name="connsiteY0" fmla="*/ 0 h 6858000"/>
              <a:gd name="connsiteX1" fmla="*/ 8139373 w 8139373"/>
              <a:gd name="connsiteY1" fmla="*/ 0 h 6858000"/>
              <a:gd name="connsiteX2" fmla="*/ 8139373 w 8139373"/>
              <a:gd name="connsiteY2" fmla="*/ 6858000 h 6858000"/>
              <a:gd name="connsiteX3" fmla="*/ 0 w 813937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39373" h="6858000">
                <a:moveTo>
                  <a:pt x="5181344" y="0"/>
                </a:moveTo>
                <a:lnTo>
                  <a:pt x="8139373" y="0"/>
                </a:lnTo>
                <a:lnTo>
                  <a:pt x="8139373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ABEA0-1EF7-4176-A2F7-F39F3F6F4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76489"/>
            <a:ext cx="3749061" cy="1508469"/>
          </a:xfrm>
        </p:spPr>
        <p:txBody>
          <a:bodyPr anchor="ctr">
            <a:normAutofit/>
          </a:bodyPr>
          <a:lstStyle/>
          <a:p>
            <a:r>
              <a:rPr lang="en-GB" sz="3200"/>
              <a:t>Chest X-ray </a:t>
            </a:r>
          </a:p>
        </p:txBody>
      </p:sp>
      <p:sp>
        <p:nvSpPr>
          <p:cNvPr id="16397" name="Isosceles Triangle 16396">
            <a:extLst>
              <a:ext uri="{FF2B5EF4-FFF2-40B4-BE49-F238E27FC236}">
                <a16:creationId xmlns:a16="http://schemas.microsoft.com/office/drawing/2014/main" id="{7EB6695E-BED5-4DA3-8C9B-AD301AEF47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435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A9EF6-333D-4D2C-BDDD-4C798834B6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795618"/>
            <a:ext cx="3749061" cy="3005289"/>
          </a:xfrm>
        </p:spPr>
        <p:txBody>
          <a:bodyPr>
            <a:normAutofit/>
          </a:bodyPr>
          <a:lstStyle/>
          <a:p>
            <a:r>
              <a:rPr lang="en-GB" sz="1600" dirty="0"/>
              <a:t>Emphysema</a:t>
            </a:r>
          </a:p>
          <a:p>
            <a:pPr>
              <a:buFontTx/>
              <a:buChar char="-"/>
            </a:pPr>
            <a:r>
              <a:rPr lang="en-GB" sz="1600" dirty="0"/>
              <a:t>Hyperinflated </a:t>
            </a:r>
          </a:p>
          <a:p>
            <a:pPr>
              <a:buFontTx/>
              <a:buChar char="-"/>
            </a:pPr>
            <a:r>
              <a:rPr lang="en-GB" sz="1600" dirty="0"/>
              <a:t>Long thin heart </a:t>
            </a:r>
          </a:p>
          <a:p>
            <a:pPr>
              <a:buFontTx/>
              <a:buChar char="-"/>
            </a:pPr>
            <a:r>
              <a:rPr lang="en-GB" sz="1600" dirty="0"/>
              <a:t>Black lung fields </a:t>
            </a:r>
          </a:p>
        </p:txBody>
      </p:sp>
      <p:sp>
        <p:nvSpPr>
          <p:cNvPr id="16399" name="Freeform: Shape 16398">
            <a:extLst>
              <a:ext uri="{FF2B5EF4-FFF2-40B4-BE49-F238E27FC236}">
                <a16:creationId xmlns:a16="http://schemas.microsoft.com/office/drawing/2014/main" id="{46DB9E65-E072-43AF-A8C9-9744BA0CC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6867" y="6"/>
            <a:ext cx="4831627" cy="4520011"/>
          </a:xfrm>
          <a:custGeom>
            <a:avLst/>
            <a:gdLst>
              <a:gd name="connsiteX0" fmla="*/ 0 w 4831627"/>
              <a:gd name="connsiteY0" fmla="*/ 0 h 4520011"/>
              <a:gd name="connsiteX1" fmla="*/ 4831627 w 4831627"/>
              <a:gd name="connsiteY1" fmla="*/ 0 h 4520011"/>
              <a:gd name="connsiteX2" fmla="*/ 1416677 w 4831627"/>
              <a:gd name="connsiteY2" fmla="*/ 4520011 h 4520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31627" h="4520011">
                <a:moveTo>
                  <a:pt x="0" y="0"/>
                </a:moveTo>
                <a:lnTo>
                  <a:pt x="4831627" y="0"/>
                </a:lnTo>
                <a:lnTo>
                  <a:pt x="1416677" y="452001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6388" name="Picture 4" descr="Figure">
            <a:extLst>
              <a:ext uri="{FF2B5EF4-FFF2-40B4-BE49-F238E27FC236}">
                <a16:creationId xmlns:a16="http://schemas.microsoft.com/office/drawing/2014/main" id="{27D57129-5FC8-4F15-82BE-28CB60D92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28494" y="466220"/>
            <a:ext cx="2975502" cy="260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6" name="Picture 2">
            <a:extLst>
              <a:ext uri="{FF2B5EF4-FFF2-40B4-BE49-F238E27FC236}">
                <a16:creationId xmlns:a16="http://schemas.microsoft.com/office/drawing/2014/main" id="{F05EEA26-269C-4C08-B462-81FE9A316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91271" y="3476139"/>
            <a:ext cx="2975501" cy="297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>
            <a:extLst>
              <a:ext uri="{FF2B5EF4-FFF2-40B4-BE49-F238E27FC236}">
                <a16:creationId xmlns:a16="http://schemas.microsoft.com/office/drawing/2014/main" id="{4342CDC5-CB5B-400F-A137-32FCC767B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99010" y="1270997"/>
            <a:ext cx="1571625" cy="1600200"/>
          </a:xfrm>
          <a:prstGeom prst="rect">
            <a:avLst/>
          </a:prstGeom>
          <a:noFill/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E47C62C-7DD4-4DB0-B209-29F8610FBAC6}"/>
              </a:ext>
            </a:extLst>
          </p:cNvPr>
          <p:cNvSpPr txBox="1">
            <a:spLocks/>
          </p:cNvSpPr>
          <p:nvPr/>
        </p:nvSpPr>
        <p:spPr>
          <a:xfrm>
            <a:off x="620390" y="4493718"/>
            <a:ext cx="3749061" cy="30052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Chronic Bronchitis</a:t>
            </a:r>
          </a:p>
          <a:p>
            <a:pPr>
              <a:buFontTx/>
              <a:buChar char="-"/>
            </a:pPr>
            <a:r>
              <a:rPr lang="en-GB" sz="1600" dirty="0"/>
              <a:t>Patchy shadowing</a:t>
            </a:r>
          </a:p>
          <a:p>
            <a:pPr>
              <a:buFontTx/>
              <a:buChar char="-"/>
            </a:pPr>
            <a:r>
              <a:rPr lang="en-GB" sz="1600" dirty="0"/>
              <a:t>Increased cardiac shadow</a:t>
            </a:r>
          </a:p>
          <a:p>
            <a:pPr marL="0" indent="0">
              <a:buNone/>
            </a:pPr>
            <a:endParaRPr lang="en-GB" sz="1600" dirty="0"/>
          </a:p>
        </p:txBody>
      </p:sp>
      <p:pic>
        <p:nvPicPr>
          <p:cNvPr id="16390" name="Picture 6" descr="Chronic Bronchitis - Respiratory - Medbullets Step 1">
            <a:extLst>
              <a:ext uri="{FF2B5EF4-FFF2-40B4-BE49-F238E27FC236}">
                <a16:creationId xmlns:a16="http://schemas.microsoft.com/office/drawing/2014/main" id="{CA8DFEB3-0966-41A1-98FD-0B32CA08D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0105" y="326859"/>
            <a:ext cx="2160807" cy="191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B54BFB13-E0A7-41FD-A83F-2E7D2F7294A6}"/>
              </a:ext>
            </a:extLst>
          </p:cNvPr>
          <p:cNvSpPr/>
          <p:nvPr/>
        </p:nvSpPr>
        <p:spPr>
          <a:xfrm>
            <a:off x="9083749" y="1117578"/>
            <a:ext cx="1571625" cy="191787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769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2C736-350F-4966-B0B8-A32173E1D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6734" y="609600"/>
            <a:ext cx="3737268" cy="1320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100"/>
              <a:t>Signs of Respiratory Distress in COPD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C6AE7-667F-47AE-B2CD-A99D675B4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9563" y="2160589"/>
            <a:ext cx="4064439" cy="3880773"/>
          </a:xfrm>
        </p:spPr>
        <p:txBody>
          <a:bodyPr>
            <a:normAutofit/>
          </a:bodyPr>
          <a:lstStyle/>
          <a:p>
            <a:r>
              <a:rPr lang="en-GB" dirty="0"/>
              <a:t>Pursed lip breathing</a:t>
            </a:r>
          </a:p>
          <a:p>
            <a:r>
              <a:rPr lang="en-GB" dirty="0"/>
              <a:t>Prolonged expiration</a:t>
            </a:r>
          </a:p>
          <a:p>
            <a:r>
              <a:rPr lang="en-GB" dirty="0"/>
              <a:t>Increased RR</a:t>
            </a:r>
          </a:p>
          <a:p>
            <a:r>
              <a:rPr lang="en-GB" dirty="0"/>
              <a:t>Cyanosis </a:t>
            </a:r>
          </a:p>
          <a:p>
            <a:r>
              <a:rPr lang="en-GB" dirty="0"/>
              <a:t>Active expiration</a:t>
            </a:r>
          </a:p>
          <a:p>
            <a:r>
              <a:rPr lang="en-GB" dirty="0"/>
              <a:t>Fixing of upper limbs</a:t>
            </a:r>
          </a:p>
          <a:p>
            <a:r>
              <a:rPr lang="en-GB" dirty="0"/>
              <a:t>Use and hypertrophy of accessory muscles </a:t>
            </a:r>
          </a:p>
          <a:p>
            <a:r>
              <a:rPr lang="en-GB" dirty="0"/>
              <a:t>Soft tissue recession </a:t>
            </a:r>
          </a:p>
          <a:p>
            <a:r>
              <a:rPr lang="en-GB" dirty="0"/>
              <a:t>Hoover’s sign</a:t>
            </a:r>
          </a:p>
        </p:txBody>
      </p:sp>
      <p:pic>
        <p:nvPicPr>
          <p:cNvPr id="18434" name="Picture 2" descr="You can observe a lot by watching | Cleveland Clinic Journal of Medicine">
            <a:extLst>
              <a:ext uri="{FF2B5EF4-FFF2-40B4-BE49-F238E27FC236}">
                <a16:creationId xmlns:a16="http://schemas.microsoft.com/office/drawing/2014/main" id="{AA9C7817-5EC3-4FC5-8B5E-35D31265D0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"/>
          <a:stretch/>
        </p:blipFill>
        <p:spPr bwMode="auto">
          <a:xfrm>
            <a:off x="20" y="-1"/>
            <a:ext cx="5394940" cy="6858001"/>
          </a:xfrm>
          <a:custGeom>
            <a:avLst/>
            <a:gdLst/>
            <a:ahLst/>
            <a:cxnLst/>
            <a:rect l="l" t="t" r="r" b="b"/>
            <a:pathLst>
              <a:path w="5394960" h="6858000">
                <a:moveTo>
                  <a:pt x="842596" y="0"/>
                </a:moveTo>
                <a:lnTo>
                  <a:pt x="5394960" y="0"/>
                </a:lnTo>
                <a:lnTo>
                  <a:pt x="5394960" y="21851"/>
                </a:lnTo>
                <a:lnTo>
                  <a:pt x="4365943" y="6858000"/>
                </a:lnTo>
                <a:lnTo>
                  <a:pt x="0" y="6858000"/>
                </a:lnTo>
                <a:lnTo>
                  <a:pt x="0" y="566615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9" name="Isosceles Triangle 18438">
            <a:extLst>
              <a:ext uri="{FF2B5EF4-FFF2-40B4-BE49-F238E27FC236}">
                <a16:creationId xmlns:a16="http://schemas.microsoft.com/office/drawing/2014/main" id="{3BCB5F6A-9EB0-40B0-9D13-3023E9A20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81636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D73A2-8DDB-4F5F-875E-108F8A0BD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Respiratory Failure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74810-F5BA-4704-AD90-B5E33921C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The inability to maintain partial pressures in arterial blood of carbon dioxide (PaCO</a:t>
            </a:r>
            <a:r>
              <a:rPr lang="en-GB" sz="3200" baseline="-25000" dirty="0"/>
              <a:t>2</a:t>
            </a:r>
            <a:r>
              <a:rPr lang="en-GB" sz="3200" dirty="0"/>
              <a:t>) and oxygen (PaO</a:t>
            </a:r>
            <a:r>
              <a:rPr lang="en-GB" sz="3200" baseline="-25000" dirty="0"/>
              <a:t>2</a:t>
            </a:r>
            <a:r>
              <a:rPr lang="en-GB" sz="3200" dirty="0"/>
              <a:t>) within normal physiological limits</a:t>
            </a:r>
          </a:p>
          <a:p>
            <a:pPr>
              <a:buFontTx/>
              <a:buChar char="-"/>
            </a:pPr>
            <a:r>
              <a:rPr lang="en-GB" sz="3200" dirty="0"/>
              <a:t>PaO</a:t>
            </a:r>
            <a:r>
              <a:rPr lang="en-GB" sz="3200" baseline="-25000" dirty="0"/>
              <a:t>2</a:t>
            </a:r>
            <a:r>
              <a:rPr lang="en-GB" sz="3200" dirty="0"/>
              <a:t> &lt; 8kPa</a:t>
            </a:r>
          </a:p>
          <a:p>
            <a:pPr>
              <a:buFontTx/>
              <a:buChar char="-"/>
            </a:pPr>
            <a:r>
              <a:rPr lang="en-GB" sz="3200" dirty="0"/>
              <a:t>PaCO</a:t>
            </a:r>
            <a:r>
              <a:rPr lang="en-GB" sz="3200" baseline="-25000" dirty="0"/>
              <a:t>2</a:t>
            </a:r>
            <a:r>
              <a:rPr lang="en-GB" sz="3200" dirty="0"/>
              <a:t> &gt; 6.5 kPa </a:t>
            </a:r>
          </a:p>
          <a:p>
            <a:pPr>
              <a:buFontTx/>
              <a:buChar char="-"/>
            </a:pPr>
            <a:endParaRPr lang="en-GB" dirty="0"/>
          </a:p>
          <a:p>
            <a:pPr>
              <a:buFontTx/>
              <a:buChar char="-"/>
            </a:pPr>
            <a:endParaRPr lang="en-GB" baseline="-25000" dirty="0"/>
          </a:p>
          <a:p>
            <a:pPr>
              <a:buFontTx/>
              <a:buChar char="-"/>
            </a:pPr>
            <a:endParaRPr lang="en-GB" baseline="-25000" dirty="0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7CA3CAEF-2B47-44EE-9A56-94FA61E72E1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790" y="220566"/>
            <a:ext cx="3448929" cy="194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394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27958-35A1-4079-A760-459B2EAC6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1 Respiratory Failure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ABC59-7378-467E-A186-E16343580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600" dirty="0"/>
              <a:t> Decreased PaO</a:t>
            </a:r>
            <a:r>
              <a:rPr lang="en-GB" sz="3600" baseline="-25000" dirty="0"/>
              <a:t>2</a:t>
            </a:r>
          </a:p>
          <a:p>
            <a:r>
              <a:rPr lang="en-GB" sz="3600" dirty="0"/>
              <a:t> Normal or low PaCO</a:t>
            </a:r>
            <a:r>
              <a:rPr lang="en-GB" sz="3600" baseline="-25000" dirty="0"/>
              <a:t>2</a:t>
            </a:r>
          </a:p>
          <a:p>
            <a:r>
              <a:rPr lang="en-GB" sz="3600" dirty="0"/>
              <a:t> Treated with supplementary oxygen</a:t>
            </a:r>
          </a:p>
          <a:p>
            <a:pPr marL="0" indent="0">
              <a:buNone/>
            </a:pPr>
            <a:endParaRPr lang="en-GB" dirty="0"/>
          </a:p>
          <a:p>
            <a:endParaRPr lang="en-GB" sz="44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7BE8964-FB66-4B8C-8A9B-7402ADB4494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258" y="25330"/>
            <a:ext cx="2813539" cy="1582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742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42F3-D93D-4E56-A9F2-1EAFD18C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2 Respiratory Failure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B4EAC9-0A7B-43B0-887E-1F522DB2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/>
          <a:lstStyle/>
          <a:p>
            <a:r>
              <a:rPr lang="en-GB" sz="3600" dirty="0"/>
              <a:t> Decreased PaO</a:t>
            </a:r>
            <a:r>
              <a:rPr lang="en-GB" sz="3600" baseline="-25000" dirty="0"/>
              <a:t>2</a:t>
            </a:r>
          </a:p>
          <a:p>
            <a:r>
              <a:rPr lang="en-GB" sz="3600" dirty="0"/>
              <a:t> Increased PaCO</a:t>
            </a:r>
            <a:r>
              <a:rPr lang="en-GB" sz="3600" baseline="-25000" dirty="0"/>
              <a:t>2</a:t>
            </a:r>
          </a:p>
          <a:p>
            <a:r>
              <a:rPr lang="en-GB" sz="3600" dirty="0"/>
              <a:t> Alveola hypoventilation</a:t>
            </a:r>
          </a:p>
          <a:p>
            <a:r>
              <a:rPr lang="en-GB" sz="3600" dirty="0"/>
              <a:t> Can be acute or chronic  </a:t>
            </a:r>
          </a:p>
          <a:p>
            <a:pPr marL="0" indent="0">
              <a:buNone/>
            </a:pPr>
            <a:endParaRPr lang="en-GB" dirty="0"/>
          </a:p>
          <a:p>
            <a:endParaRPr lang="en-GB" sz="4400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5087087-B8D4-412E-8FFF-47E8409AC1E9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245" y="177925"/>
            <a:ext cx="3066757" cy="1725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8451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42F3-D93D-4E56-A9F2-1EAFD18C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Acute Type 2 Respiratory Failure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B4EAC9-0A7B-43B0-887E-1F522DB2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GB" sz="3600" dirty="0"/>
              <a:t> Decreased PaO</a:t>
            </a:r>
            <a:r>
              <a:rPr lang="en-GB" sz="3600" baseline="-25000" dirty="0"/>
              <a:t>2</a:t>
            </a:r>
          </a:p>
          <a:p>
            <a:r>
              <a:rPr lang="en-GB" sz="3600" dirty="0"/>
              <a:t> Increased PaCO</a:t>
            </a:r>
            <a:r>
              <a:rPr lang="en-GB" sz="3600" baseline="-25000" dirty="0"/>
              <a:t>2</a:t>
            </a:r>
          </a:p>
          <a:p>
            <a:r>
              <a:rPr lang="en-GB" sz="3600" dirty="0"/>
              <a:t> Normal HCO</a:t>
            </a:r>
            <a:r>
              <a:rPr lang="en-GB" sz="3600" baseline="-25000" dirty="0"/>
              <a:t>3</a:t>
            </a:r>
            <a:r>
              <a:rPr lang="en-GB" sz="3600" baseline="30000" dirty="0"/>
              <a:t>-</a:t>
            </a:r>
          </a:p>
          <a:p>
            <a:pPr>
              <a:buFontTx/>
              <a:buChar char="-"/>
            </a:pPr>
            <a:r>
              <a:rPr lang="en-GB" sz="3600" dirty="0"/>
              <a:t>Kidneys take 2-3 days to compensate for raised PaCO</a:t>
            </a:r>
            <a:r>
              <a:rPr lang="en-GB" sz="3600" baseline="-25000" dirty="0"/>
              <a:t>2</a:t>
            </a:r>
          </a:p>
          <a:p>
            <a:r>
              <a:rPr lang="en-GB" sz="3600" dirty="0"/>
              <a:t>Decreased pH – respiratory acidosis</a:t>
            </a:r>
          </a:p>
          <a:p>
            <a:pPr>
              <a:buFontTx/>
              <a:buChar char="-"/>
            </a:pPr>
            <a:endParaRPr lang="en-GB" sz="3600" baseline="30000" dirty="0"/>
          </a:p>
          <a:p>
            <a:pPr>
              <a:buFontTx/>
              <a:buChar char="-"/>
            </a:pPr>
            <a:endParaRPr lang="en-GB" sz="3600" baseline="30000" dirty="0"/>
          </a:p>
          <a:p>
            <a:pPr marL="0" indent="0">
              <a:buNone/>
            </a:pPr>
            <a:endParaRPr lang="en-GB" dirty="0"/>
          </a:p>
          <a:p>
            <a:endParaRPr lang="en-GB" sz="44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3DAEAC7-3808-48DD-B054-A5FEB55501A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486" y="379411"/>
            <a:ext cx="1902531" cy="1070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4002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42F3-D93D-4E56-A9F2-1EAFD18C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Chronic Type 2 Respiratory Failure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B4EAC9-0A7B-43B0-887E-1F522DB2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en-GB" sz="3600" dirty="0"/>
              <a:t> Decreased PaO</a:t>
            </a:r>
            <a:r>
              <a:rPr lang="en-GB" sz="3600" baseline="-25000" dirty="0"/>
              <a:t>2</a:t>
            </a:r>
          </a:p>
          <a:p>
            <a:r>
              <a:rPr lang="en-GB" sz="3600" dirty="0"/>
              <a:t> Increased PaCO</a:t>
            </a:r>
            <a:r>
              <a:rPr lang="en-GB" sz="3600" baseline="-25000" dirty="0"/>
              <a:t>2</a:t>
            </a:r>
          </a:p>
          <a:p>
            <a:r>
              <a:rPr lang="en-GB" sz="3600" dirty="0"/>
              <a:t> Raised HCO</a:t>
            </a:r>
            <a:r>
              <a:rPr lang="en-GB" sz="3600" baseline="-25000" dirty="0"/>
              <a:t>3</a:t>
            </a:r>
            <a:r>
              <a:rPr lang="en-GB" sz="3600" baseline="30000" dirty="0"/>
              <a:t>-</a:t>
            </a:r>
          </a:p>
          <a:p>
            <a:pPr>
              <a:buFontTx/>
              <a:buChar char="-"/>
            </a:pPr>
            <a:r>
              <a:rPr lang="en-GB" sz="3600" dirty="0"/>
              <a:t>Kidneys have now compensated</a:t>
            </a:r>
            <a:endParaRPr lang="en-GB" sz="3600" baseline="-25000" dirty="0"/>
          </a:p>
          <a:p>
            <a:r>
              <a:rPr lang="en-GB" sz="3600" dirty="0"/>
              <a:t> Normal pH</a:t>
            </a:r>
          </a:p>
          <a:p>
            <a:r>
              <a:rPr lang="en-GB" sz="3600" dirty="0"/>
              <a:t> Example - COPD</a:t>
            </a:r>
          </a:p>
          <a:p>
            <a:pPr>
              <a:buFontTx/>
              <a:buChar char="-"/>
            </a:pPr>
            <a:endParaRPr lang="en-GB" sz="3600" baseline="30000" dirty="0"/>
          </a:p>
          <a:p>
            <a:pPr>
              <a:buFontTx/>
              <a:buChar char="-"/>
            </a:pPr>
            <a:endParaRPr lang="en-GB" sz="3600" baseline="30000" dirty="0"/>
          </a:p>
          <a:p>
            <a:pPr marL="0" indent="0">
              <a:buNone/>
            </a:pPr>
            <a:endParaRPr lang="en-GB" dirty="0"/>
          </a:p>
          <a:p>
            <a:endParaRPr lang="en-GB" sz="44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3DAEAC7-3808-48DD-B054-A5FEB55501A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1975" y="574335"/>
            <a:ext cx="1382027" cy="77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1685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42F3-D93D-4E56-A9F2-1EAFD18C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Acute on Chronic Type 2 Respiratory Failure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3B4EAC9-0A7B-43B0-887E-1F522DB2B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3880773"/>
          </a:xfrm>
        </p:spPr>
        <p:txBody>
          <a:bodyPr>
            <a:normAutofit fontScale="85000" lnSpcReduction="20000"/>
          </a:bodyPr>
          <a:lstStyle/>
          <a:p>
            <a:r>
              <a:rPr lang="en-GB" sz="3600" dirty="0"/>
              <a:t> Decreased PaO</a:t>
            </a:r>
            <a:r>
              <a:rPr lang="en-GB" sz="3600" baseline="-25000" dirty="0"/>
              <a:t>2</a:t>
            </a:r>
          </a:p>
          <a:p>
            <a:r>
              <a:rPr lang="en-GB" sz="3600" dirty="0"/>
              <a:t> Increased PaCO</a:t>
            </a:r>
            <a:r>
              <a:rPr lang="en-GB" sz="3600" baseline="-25000" dirty="0"/>
              <a:t>2</a:t>
            </a:r>
          </a:p>
          <a:p>
            <a:r>
              <a:rPr lang="en-GB" sz="3600" dirty="0"/>
              <a:t> Raised HCO</a:t>
            </a:r>
            <a:r>
              <a:rPr lang="en-GB" sz="3600" baseline="-25000" dirty="0"/>
              <a:t>3</a:t>
            </a:r>
            <a:r>
              <a:rPr lang="en-GB" sz="3600" baseline="30000" dirty="0"/>
              <a:t>-</a:t>
            </a:r>
          </a:p>
          <a:p>
            <a:r>
              <a:rPr lang="en-GB" sz="3600" dirty="0"/>
              <a:t> Decreased pH – acidotic </a:t>
            </a:r>
          </a:p>
          <a:p>
            <a:r>
              <a:rPr lang="en-GB" sz="3600" dirty="0"/>
              <a:t>PaCO</a:t>
            </a:r>
            <a:r>
              <a:rPr lang="en-GB" sz="3600" baseline="-25000" dirty="0"/>
              <a:t>2</a:t>
            </a:r>
            <a:r>
              <a:rPr lang="en-GB" sz="3600" dirty="0"/>
              <a:t> normally high but due to sudden deterioration has risen further so kidneys no longer able to compensate</a:t>
            </a:r>
          </a:p>
          <a:p>
            <a:r>
              <a:rPr lang="en-GB" sz="3600" dirty="0"/>
              <a:t>E.g. acute exacerbation of COPD</a:t>
            </a:r>
          </a:p>
          <a:p>
            <a:pPr>
              <a:buFontTx/>
              <a:buChar char="-"/>
            </a:pPr>
            <a:endParaRPr lang="en-GB" sz="3600" baseline="30000" dirty="0"/>
          </a:p>
          <a:p>
            <a:pPr>
              <a:buFontTx/>
              <a:buChar char="-"/>
            </a:pPr>
            <a:endParaRPr lang="en-GB" sz="3600" baseline="30000" dirty="0"/>
          </a:p>
          <a:p>
            <a:pPr marL="0" indent="0">
              <a:buNone/>
            </a:pPr>
            <a:endParaRPr lang="en-GB" dirty="0"/>
          </a:p>
          <a:p>
            <a:endParaRPr lang="en-GB" sz="4400" dirty="0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3DAEAC7-3808-48DD-B054-A5FEB55501A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0882" y="591625"/>
            <a:ext cx="1206000" cy="67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5514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35F6-1BFB-48E4-BC09-704CF77C4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 of COPD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BA1234C1-82AC-41A8-8BE2-ED4D2919EF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755879"/>
              </p:ext>
            </p:extLst>
          </p:nvPr>
        </p:nvGraphicFramePr>
        <p:xfrm>
          <a:off x="691402" y="2574552"/>
          <a:ext cx="3388230" cy="2336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4115">
                  <a:extLst>
                    <a:ext uri="{9D8B030D-6E8A-4147-A177-3AD203B41FA5}">
                      <a16:colId xmlns:a16="http://schemas.microsoft.com/office/drawing/2014/main" val="882544019"/>
                    </a:ext>
                  </a:extLst>
                </a:gridCol>
                <a:gridCol w="1694115">
                  <a:extLst>
                    <a:ext uri="{9D8B030D-6E8A-4147-A177-3AD203B41FA5}">
                      <a16:colId xmlns:a16="http://schemas.microsoft.com/office/drawing/2014/main" val="4190860802"/>
                    </a:ext>
                  </a:extLst>
                </a:gridCol>
              </a:tblGrid>
              <a:tr h="424219">
                <a:tc>
                  <a:txBody>
                    <a:bodyPr/>
                    <a:lstStyle/>
                    <a:p>
                      <a:r>
                        <a:rPr lang="en-GB" dirty="0"/>
                        <a:t>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FEV</a:t>
                      </a:r>
                      <a:r>
                        <a:rPr lang="en-GB" baseline="-25000" dirty="0"/>
                        <a:t>1 </a:t>
                      </a:r>
                      <a:r>
                        <a:rPr lang="en-GB" dirty="0"/>
                        <a:t>(% predicted)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7110310"/>
                  </a:ext>
                </a:extLst>
              </a:tr>
              <a:tr h="424219">
                <a:tc>
                  <a:txBody>
                    <a:bodyPr/>
                    <a:lstStyle/>
                    <a:p>
                      <a:r>
                        <a:rPr lang="en-GB" dirty="0"/>
                        <a:t>GOLD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≥ 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4771223"/>
                  </a:ext>
                </a:extLst>
              </a:tr>
              <a:tr h="424219">
                <a:tc>
                  <a:txBody>
                    <a:bodyPr/>
                    <a:lstStyle/>
                    <a:p>
                      <a:r>
                        <a:rPr lang="en-GB" dirty="0"/>
                        <a:t>GOLD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50-79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233576"/>
                  </a:ext>
                </a:extLst>
              </a:tr>
              <a:tr h="424219">
                <a:tc>
                  <a:txBody>
                    <a:bodyPr/>
                    <a:lstStyle/>
                    <a:p>
                      <a:r>
                        <a:rPr lang="en-GB" dirty="0"/>
                        <a:t>GOLD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30-49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028547"/>
                  </a:ext>
                </a:extLst>
              </a:tr>
              <a:tr h="424219">
                <a:tc>
                  <a:txBody>
                    <a:bodyPr/>
                    <a:lstStyle/>
                    <a:p>
                      <a:r>
                        <a:rPr lang="en-GB" dirty="0"/>
                        <a:t>GOLD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 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7280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EC5EF8D-A0FD-4866-B5BE-58D109CD5C38}"/>
              </a:ext>
            </a:extLst>
          </p:cNvPr>
          <p:cNvSpPr txBox="1"/>
          <p:nvPr/>
        </p:nvSpPr>
        <p:spPr>
          <a:xfrm>
            <a:off x="4388670" y="1950236"/>
            <a:ext cx="2546253" cy="15696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≥ 2 moderate exacerbations or ≥1 leading to hospitalisation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AA6BD9-141E-4C4C-A839-1EB1A8282CDF}"/>
              </a:ext>
            </a:extLst>
          </p:cNvPr>
          <p:cNvSpPr txBox="1"/>
          <p:nvPr/>
        </p:nvSpPr>
        <p:spPr>
          <a:xfrm>
            <a:off x="4370561" y="3653099"/>
            <a:ext cx="2546253" cy="15696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 or 1 moderate exacerbations (not leading to hospitalisation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9E9533-13CC-4275-BFE8-784CE0FB759C}"/>
              </a:ext>
            </a:extLst>
          </p:cNvPr>
          <p:cNvSpPr txBox="1"/>
          <p:nvPr/>
        </p:nvSpPr>
        <p:spPr>
          <a:xfrm>
            <a:off x="7010562" y="2011791"/>
            <a:ext cx="2546253" cy="14465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8800" dirty="0"/>
              <a:t>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2CEB07-E200-42E3-B1C5-93456715297C}"/>
              </a:ext>
            </a:extLst>
          </p:cNvPr>
          <p:cNvSpPr txBox="1"/>
          <p:nvPr/>
        </p:nvSpPr>
        <p:spPr>
          <a:xfrm>
            <a:off x="7010562" y="3653099"/>
            <a:ext cx="1290837" cy="1569660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9600" dirty="0"/>
              <a:t>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7BB379-C25D-42C2-AD00-08CE56CFBFFB}"/>
              </a:ext>
            </a:extLst>
          </p:cNvPr>
          <p:cNvSpPr txBox="1"/>
          <p:nvPr/>
        </p:nvSpPr>
        <p:spPr>
          <a:xfrm>
            <a:off x="8382279" y="3653099"/>
            <a:ext cx="1290837" cy="1569660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tx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tx2">
                  <a:lumMod val="40000"/>
                  <a:lumOff val="6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9600" dirty="0"/>
              <a:t>B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38D1EF1-7459-41E6-B852-B95CF9F86D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105" t="62231" r="27308" b="30041"/>
          <a:stretch/>
        </p:blipFill>
        <p:spPr>
          <a:xfrm>
            <a:off x="7010562" y="5343836"/>
            <a:ext cx="2349072" cy="75116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9A7F172-661E-4F09-B38A-977DB92AB9C2}"/>
              </a:ext>
            </a:extLst>
          </p:cNvPr>
          <p:cNvSpPr txBox="1"/>
          <p:nvPr/>
        </p:nvSpPr>
        <p:spPr>
          <a:xfrm>
            <a:off x="4543863" y="1270000"/>
            <a:ext cx="268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EXACERBATION </a:t>
            </a:r>
          </a:p>
          <a:p>
            <a:pPr algn="ctr"/>
            <a:r>
              <a:rPr lang="en-GB" dirty="0"/>
              <a:t>HISTORY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7E813B-CC49-489B-83AE-C60E9013540C}"/>
              </a:ext>
            </a:extLst>
          </p:cNvPr>
          <p:cNvSpPr txBox="1"/>
          <p:nvPr/>
        </p:nvSpPr>
        <p:spPr>
          <a:xfrm>
            <a:off x="6960604" y="6063734"/>
            <a:ext cx="268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SYMPTOMS  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6658B48-5836-42C4-A483-829EC9CD0B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934" t="41637" r="63841" b="46558"/>
          <a:stretch/>
        </p:blipFill>
        <p:spPr>
          <a:xfrm>
            <a:off x="1419462" y="5084463"/>
            <a:ext cx="2143956" cy="116393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6A830A55-0E0A-45D5-A328-E4A4C16E48E2}"/>
              </a:ext>
            </a:extLst>
          </p:cNvPr>
          <p:cNvSpPr txBox="1"/>
          <p:nvPr/>
        </p:nvSpPr>
        <p:spPr>
          <a:xfrm>
            <a:off x="881828" y="1765570"/>
            <a:ext cx="268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/>
              <a:t>Spirometric</a:t>
            </a:r>
            <a:r>
              <a:rPr lang="en-GB" dirty="0"/>
              <a:t> Stage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93F3197-6AD7-4567-AEA3-FCD5FD3E30C5}"/>
              </a:ext>
            </a:extLst>
          </p:cNvPr>
          <p:cNvSpPr txBox="1"/>
          <p:nvPr/>
        </p:nvSpPr>
        <p:spPr>
          <a:xfrm>
            <a:off x="10460647" y="6426905"/>
            <a:ext cx="6725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(Gold, 2022)</a:t>
            </a:r>
          </a:p>
        </p:txBody>
      </p:sp>
    </p:spTree>
    <p:extLst>
      <p:ext uri="{BB962C8B-B14F-4D97-AF65-F5344CB8AC3E}">
        <p14:creationId xmlns:p14="http://schemas.microsoft.com/office/powerpoint/2010/main" val="120536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1" grpId="0" animBg="1"/>
      <p:bldP spid="33" grpId="0" animBg="1"/>
      <p:bldP spid="35" grpId="0" animBg="1"/>
      <p:bldP spid="37" grpId="0" animBg="1"/>
      <p:bldP spid="25" grpId="0"/>
      <p:bldP spid="39" grpId="0"/>
      <p:bldP spid="4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5C5C8-71F0-4E5D-ADBB-820BADA8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Management of stable COPD</a:t>
            </a:r>
          </a:p>
        </p:txBody>
      </p:sp>
      <p:pic>
        <p:nvPicPr>
          <p:cNvPr id="19458" name="Picture 2" descr="LRN's COPD Value Pyramid — NHS Networks">
            <a:extLst>
              <a:ext uri="{FF2B5EF4-FFF2-40B4-BE49-F238E27FC236}">
                <a16:creationId xmlns:a16="http://schemas.microsoft.com/office/drawing/2014/main" id="{BC7857AA-D739-4266-86C5-F5E860173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0376" y="1455063"/>
            <a:ext cx="7630584" cy="494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4926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51277-554D-4E94-AEBF-2E5B9EC5B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Inhaled Therapy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1C7E1D-19EB-45FF-81C2-6E854074A566}"/>
              </a:ext>
            </a:extLst>
          </p:cNvPr>
          <p:cNvSpPr txBox="1"/>
          <p:nvPr/>
        </p:nvSpPr>
        <p:spPr>
          <a:xfrm>
            <a:off x="2141283" y="2148703"/>
            <a:ext cx="2546253" cy="156966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≥ 2 moderate exacerbations or ≥1 leading to hospitalisation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47DB79-D5AD-45EB-9ED6-796E6C382F76}"/>
              </a:ext>
            </a:extLst>
          </p:cNvPr>
          <p:cNvSpPr txBox="1"/>
          <p:nvPr/>
        </p:nvSpPr>
        <p:spPr>
          <a:xfrm>
            <a:off x="2141284" y="3878182"/>
            <a:ext cx="2546253" cy="15696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0 or 1 moderate exacerbations (not leading to hospitalisation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7684AF-2E80-4F50-A1FE-C12484BDE774}"/>
              </a:ext>
            </a:extLst>
          </p:cNvPr>
          <p:cNvSpPr txBox="1"/>
          <p:nvPr/>
        </p:nvSpPr>
        <p:spPr>
          <a:xfrm>
            <a:off x="5103028" y="2317926"/>
            <a:ext cx="4170974" cy="163121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Group E</a:t>
            </a:r>
          </a:p>
          <a:p>
            <a:pPr algn="ctr"/>
            <a:endParaRPr lang="en-GB" sz="2000" dirty="0"/>
          </a:p>
          <a:p>
            <a:pPr algn="ctr"/>
            <a:r>
              <a:rPr lang="en-GB" sz="2000" dirty="0"/>
              <a:t>LABA + LAMA</a:t>
            </a:r>
          </a:p>
          <a:p>
            <a:pPr algn="ctr"/>
            <a:r>
              <a:rPr lang="en-GB" sz="2000" dirty="0"/>
              <a:t>Consider LABA + LAMA + ICS if blood </a:t>
            </a:r>
            <a:r>
              <a:rPr lang="en-GB" sz="2000" dirty="0" err="1"/>
              <a:t>eos</a:t>
            </a:r>
            <a:r>
              <a:rPr lang="en-GB" sz="2000" dirty="0"/>
              <a:t> ≥ 300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EE2AF4-ABE0-4AB2-862F-B97F9FED0F55}"/>
              </a:ext>
            </a:extLst>
          </p:cNvPr>
          <p:cNvSpPr txBox="1"/>
          <p:nvPr/>
        </p:nvSpPr>
        <p:spPr>
          <a:xfrm>
            <a:off x="4805163" y="4439532"/>
            <a:ext cx="2338825" cy="830997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Group A</a:t>
            </a:r>
          </a:p>
          <a:p>
            <a:pPr algn="ctr"/>
            <a:endParaRPr lang="en-GB" sz="1600" dirty="0"/>
          </a:p>
          <a:p>
            <a:pPr algn="ctr"/>
            <a:r>
              <a:rPr lang="en-GB" sz="1600" dirty="0"/>
              <a:t>Bronchodilator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6CED6-3B90-4B18-8993-1085125F9D49}"/>
              </a:ext>
            </a:extLst>
          </p:cNvPr>
          <p:cNvSpPr txBox="1"/>
          <p:nvPr/>
        </p:nvSpPr>
        <p:spPr>
          <a:xfrm>
            <a:off x="7143988" y="4439532"/>
            <a:ext cx="2318502" cy="830997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tx2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tx2">
                  <a:lumMod val="40000"/>
                  <a:lumOff val="6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600" dirty="0"/>
              <a:t>Group B</a:t>
            </a:r>
          </a:p>
          <a:p>
            <a:pPr algn="ctr"/>
            <a:endParaRPr lang="en-GB" sz="1600" dirty="0"/>
          </a:p>
          <a:p>
            <a:pPr algn="ctr"/>
            <a:r>
              <a:rPr lang="en-GB" sz="1600" dirty="0"/>
              <a:t>LABA + LAMA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88F0C3-3BF1-4DE0-A5B3-7E77879E94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9105" t="62231" r="33429" b="30706"/>
          <a:stretch/>
        </p:blipFill>
        <p:spPr>
          <a:xfrm>
            <a:off x="5152859" y="5437744"/>
            <a:ext cx="1290837" cy="6865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3A34345-58E2-4B6B-8172-7928602D9526}"/>
              </a:ext>
            </a:extLst>
          </p:cNvPr>
          <p:cNvSpPr txBox="1"/>
          <p:nvPr/>
        </p:nvSpPr>
        <p:spPr>
          <a:xfrm>
            <a:off x="2141283" y="1495083"/>
            <a:ext cx="26815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EXACERBATION </a:t>
            </a:r>
          </a:p>
          <a:p>
            <a:pPr algn="ctr"/>
            <a:r>
              <a:rPr lang="en-GB" dirty="0"/>
              <a:t>HISTORY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7BDB38-FCF0-46DC-B5AC-BDC6C7FBF4D3}"/>
              </a:ext>
            </a:extLst>
          </p:cNvPr>
          <p:cNvSpPr txBox="1"/>
          <p:nvPr/>
        </p:nvSpPr>
        <p:spPr>
          <a:xfrm>
            <a:off x="5685567" y="6288817"/>
            <a:ext cx="2681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SYMPTOMS   </a:t>
            </a:r>
          </a:p>
        </p:txBody>
      </p:sp>
      <p:pic>
        <p:nvPicPr>
          <p:cNvPr id="13" name="Picture 4" descr="http://www.mattcandraw.com/images/asthma_inhaler_inhale_ani.gif">
            <a:hlinkClick r:id="rId3"/>
            <a:extLst>
              <a:ext uri="{FF2B5EF4-FFF2-40B4-BE49-F238E27FC236}">
                <a16:creationId xmlns:a16="http://schemas.microsoft.com/office/drawing/2014/main" id="{D77B36A9-3A74-4AD3-8E1B-69A9B3CD88B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21736" y="199851"/>
            <a:ext cx="1847968" cy="18421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CF3FAD-D23E-41C0-BE30-4F6F3CE9C4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6258" t="62231" r="27308" b="30041"/>
          <a:stretch/>
        </p:blipFill>
        <p:spPr>
          <a:xfrm>
            <a:off x="7747100" y="5447842"/>
            <a:ext cx="1112278" cy="7511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3D3BAC-ABBC-4587-9A05-50DCF883BC1C}"/>
              </a:ext>
            </a:extLst>
          </p:cNvPr>
          <p:cNvSpPr txBox="1"/>
          <p:nvPr/>
        </p:nvSpPr>
        <p:spPr>
          <a:xfrm>
            <a:off x="10460647" y="6426905"/>
            <a:ext cx="6725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(Gold, 2022)</a:t>
            </a:r>
          </a:p>
        </p:txBody>
      </p:sp>
    </p:spTree>
    <p:extLst>
      <p:ext uri="{BB962C8B-B14F-4D97-AF65-F5344CB8AC3E}">
        <p14:creationId xmlns:p14="http://schemas.microsoft.com/office/powerpoint/2010/main" val="2997775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B9B51-E9CC-4881-A9E6-73F6A640A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management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08673D-2646-45B8-AA17-1AB48B21B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4490"/>
            <a:ext cx="8596668" cy="3880773"/>
          </a:xfrm>
        </p:spPr>
        <p:txBody>
          <a:bodyPr>
            <a:normAutofit fontScale="25000" lnSpcReduction="20000"/>
          </a:bodyPr>
          <a:lstStyle/>
          <a:p>
            <a:r>
              <a:rPr lang="en-GB" sz="6400" b="1" dirty="0"/>
              <a:t>Long term oxygen therapy</a:t>
            </a:r>
          </a:p>
          <a:p>
            <a:pPr>
              <a:buFontTx/>
              <a:buChar char="-"/>
            </a:pPr>
            <a:r>
              <a:rPr lang="en-GB" sz="6400" dirty="0"/>
              <a:t>Assessment ideally carried out in a stable state</a:t>
            </a:r>
          </a:p>
          <a:p>
            <a:pPr>
              <a:buFontTx/>
              <a:buChar char="-"/>
            </a:pPr>
            <a:r>
              <a:rPr lang="en-GB" sz="6400" dirty="0"/>
              <a:t>2 assessments required minimum of 3 weeks apart (if hypoxic during first appointment)</a:t>
            </a:r>
          </a:p>
          <a:p>
            <a:pPr>
              <a:buFontTx/>
              <a:buChar char="-"/>
            </a:pPr>
            <a:r>
              <a:rPr lang="en-GB" sz="6400" dirty="0"/>
              <a:t>To use for a minimum of 15HPD</a:t>
            </a:r>
          </a:p>
          <a:p>
            <a:pPr>
              <a:buFontTx/>
              <a:buChar char="-"/>
            </a:pPr>
            <a:endParaRPr lang="en-GB" sz="6400" dirty="0"/>
          </a:p>
          <a:p>
            <a:r>
              <a:rPr lang="en-GB" sz="6400" b="1" dirty="0"/>
              <a:t>Non invasive ventilation</a:t>
            </a:r>
          </a:p>
          <a:p>
            <a:pPr>
              <a:buFontTx/>
              <a:buChar char="-"/>
            </a:pPr>
            <a:r>
              <a:rPr lang="en-GB" sz="6400" dirty="0"/>
              <a:t>T2RF</a:t>
            </a:r>
          </a:p>
          <a:p>
            <a:pPr>
              <a:buFontTx/>
              <a:buChar char="-"/>
            </a:pPr>
            <a:endParaRPr lang="en-GB" sz="6400" dirty="0"/>
          </a:p>
          <a:p>
            <a:r>
              <a:rPr lang="en-GB" sz="6400" b="1" dirty="0"/>
              <a:t>Surgery</a:t>
            </a:r>
          </a:p>
          <a:p>
            <a:pPr>
              <a:buFontTx/>
              <a:buChar char="-"/>
            </a:pPr>
            <a:r>
              <a:rPr lang="en-GB" sz="6400" dirty="0"/>
              <a:t>Endobronchial valves</a:t>
            </a:r>
          </a:p>
          <a:p>
            <a:pPr>
              <a:buFontTx/>
              <a:buChar char="-"/>
            </a:pPr>
            <a:r>
              <a:rPr lang="en-GB" sz="6400" dirty="0"/>
              <a:t>Coils</a:t>
            </a:r>
          </a:p>
          <a:p>
            <a:pPr>
              <a:buFontTx/>
              <a:buChar char="-"/>
            </a:pPr>
            <a:r>
              <a:rPr lang="en-GB" sz="6400" dirty="0"/>
              <a:t>Thermal ablation</a:t>
            </a:r>
          </a:p>
          <a:p>
            <a:pPr>
              <a:buFontTx/>
              <a:buChar char="-"/>
            </a:pPr>
            <a:r>
              <a:rPr lang="en-GB" sz="6400" dirty="0"/>
              <a:t>Lung volume reduction surgery</a:t>
            </a:r>
          </a:p>
          <a:p>
            <a:pPr>
              <a:buFontTx/>
              <a:buChar char="-"/>
            </a:pPr>
            <a:r>
              <a:rPr lang="en-GB" sz="6400" dirty="0"/>
              <a:t>Lung transplant </a:t>
            </a:r>
          </a:p>
          <a:p>
            <a:endParaRPr lang="en-GB" dirty="0"/>
          </a:p>
          <a:p>
            <a:pPr>
              <a:buFontTx/>
              <a:buChar char="-"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21506" name="Picture 2" descr="Chirurgie GIFs - Get the best GIF on GIPHY">
            <a:extLst>
              <a:ext uri="{FF2B5EF4-FFF2-40B4-BE49-F238E27FC236}">
                <a16:creationId xmlns:a16="http://schemas.microsoft.com/office/drawing/2014/main" id="{991411C1-D64D-4A07-8593-246883685EE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168" y="4649518"/>
            <a:ext cx="2842457" cy="1598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Oxygen GIFs - Get the best gif on GIFER">
            <a:extLst>
              <a:ext uri="{FF2B5EF4-FFF2-40B4-BE49-F238E27FC236}">
                <a16:creationId xmlns:a16="http://schemas.microsoft.com/office/drawing/2014/main" id="{479D94C6-C406-45CC-A9F5-4B39AB310E6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658" y="2194560"/>
            <a:ext cx="567490" cy="756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 descr="VariFit™ NIV non vented mask">
            <a:extLst>
              <a:ext uri="{FF2B5EF4-FFF2-40B4-BE49-F238E27FC236}">
                <a16:creationId xmlns:a16="http://schemas.microsoft.com/office/drawing/2014/main" id="{CCCDCBCB-FB65-4EC8-8BFC-AD29764DD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365" y="2951213"/>
            <a:ext cx="1043384" cy="1386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6344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1FCF0-8A61-4D87-B5AD-BCA538574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GB" dirty="0"/>
              <a:t>Physiotherapy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D2FE8-0B83-4743-95F7-67691E03F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5220430" cy="3701270"/>
          </a:xfrm>
        </p:spPr>
        <p:txBody>
          <a:bodyPr>
            <a:normAutofit/>
          </a:bodyPr>
          <a:lstStyle/>
          <a:p>
            <a:r>
              <a:rPr lang="en-GB" dirty="0"/>
              <a:t>Education</a:t>
            </a:r>
          </a:p>
          <a:p>
            <a:r>
              <a:rPr lang="en-GB" dirty="0"/>
              <a:t>Breathlessness management – practical next week!</a:t>
            </a:r>
          </a:p>
          <a:p>
            <a:r>
              <a:rPr lang="en-GB" dirty="0"/>
              <a:t>Airway clearance techniques </a:t>
            </a:r>
          </a:p>
          <a:p>
            <a:r>
              <a:rPr lang="en-GB" dirty="0"/>
              <a:t>Pulmonary Rehabilitation </a:t>
            </a:r>
          </a:p>
        </p:txBody>
      </p:sp>
      <p:pic>
        <p:nvPicPr>
          <p:cNvPr id="4" name="Picture 2" descr="http://www.ricwoodanimations.info/wp-content/uploads/2010/06/mas.gif">
            <a:extLst>
              <a:ext uri="{FF2B5EF4-FFF2-40B4-BE49-F238E27FC236}">
                <a16:creationId xmlns:a16="http://schemas.microsoft.com/office/drawing/2014/main" id="{D3D5C091-F5ED-440B-B859-FCB93D0F3A3F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588" y="2159000"/>
            <a:ext cx="3019193" cy="370278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06302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03BE0-32BE-4E17-AF71-6E491D1C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Management of acute exacerbations of COPD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91604-09E7-451C-8C75-B049497EE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400" dirty="0"/>
              <a:t>Practical on the 13/12/2022</a:t>
            </a:r>
          </a:p>
          <a:p>
            <a:r>
              <a:rPr lang="en-GB" sz="2400" b="1" dirty="0"/>
              <a:t>ESSENTIAL</a:t>
            </a:r>
            <a:r>
              <a:rPr lang="en-GB" sz="2400" dirty="0"/>
              <a:t> pre-reading:</a:t>
            </a:r>
          </a:p>
          <a:p>
            <a:endParaRPr lang="en-GB" sz="2400" dirty="0">
              <a:hlinkClick r:id="rId2"/>
            </a:endParaRPr>
          </a:p>
          <a:p>
            <a:pPr>
              <a:buFontTx/>
              <a:buChar char="-"/>
            </a:pPr>
            <a:r>
              <a:rPr lang="en-GB" sz="2400" dirty="0">
                <a:hlinkClick r:id="rId2"/>
              </a:rPr>
              <a:t>2023 GOLD Report - Global Initiative for Chronic Obstructive Lung Disease - GOLD (goldcopd.org)</a:t>
            </a:r>
            <a:r>
              <a:rPr lang="en-GB" sz="2400" dirty="0"/>
              <a:t> Chapter 5 pp.134-153</a:t>
            </a:r>
          </a:p>
          <a:p>
            <a:pPr>
              <a:buFontTx/>
              <a:buChar char="-"/>
            </a:pPr>
            <a:r>
              <a:rPr lang="en-GB" sz="2400" dirty="0">
                <a:hlinkClick r:id="rId3"/>
              </a:rPr>
              <a:t>Recommendations | Chronic obstructive pulmonary disease in over 16s: diagnosis and management | Guidance | NICE</a:t>
            </a:r>
            <a:r>
              <a:rPr lang="en-GB" sz="2400" dirty="0"/>
              <a:t> – Section 1.3</a:t>
            </a:r>
          </a:p>
        </p:txBody>
      </p:sp>
    </p:spTree>
    <p:extLst>
      <p:ext uri="{BB962C8B-B14F-4D97-AF65-F5344CB8AC3E}">
        <p14:creationId xmlns:p14="http://schemas.microsoft.com/office/powerpoint/2010/main" val="31675546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F67AA-FBE4-4032-BC91-2486E71F5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 and further reading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EBC7C-530C-4072-8BA9-83BCAB3B412B}"/>
              </a:ext>
            </a:extLst>
          </p:cNvPr>
          <p:cNvSpPr txBox="1"/>
          <p:nvPr/>
        </p:nvSpPr>
        <p:spPr>
          <a:xfrm>
            <a:off x="677334" y="1645646"/>
            <a:ext cx="89590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effectLst/>
              </a:rPr>
              <a:t>2023 Gold Report - Global Initiative for Chronic Obstructive Lung Disease</a:t>
            </a:r>
            <a:r>
              <a:rPr lang="en-GB" dirty="0">
                <a:effectLst/>
              </a:rPr>
              <a:t> (2022) </a:t>
            </a:r>
            <a:r>
              <a:rPr lang="en-GB" i="1" dirty="0">
                <a:effectLst/>
              </a:rPr>
              <a:t>GOLD</a:t>
            </a:r>
            <a:r>
              <a:rPr lang="en-GB" dirty="0">
                <a:effectLst/>
              </a:rPr>
              <a:t>. Available at: https://goldcopd.org/2023-gold-report-2/# (Accessed: November 29, 2022).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C9A192-C5E8-4914-88FA-F3CC71DE9CBF}"/>
              </a:ext>
            </a:extLst>
          </p:cNvPr>
          <p:cNvSpPr txBox="1"/>
          <p:nvPr/>
        </p:nvSpPr>
        <p:spPr>
          <a:xfrm>
            <a:off x="677334" y="2681692"/>
            <a:ext cx="83259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effectLst/>
              </a:rPr>
              <a:t>Overview: Chronic obstructive pulmonary disease in over 16s: Diagnosis and management: Guidance</a:t>
            </a:r>
            <a:r>
              <a:rPr lang="en-GB" dirty="0">
                <a:effectLst/>
              </a:rPr>
              <a:t> (2018) </a:t>
            </a:r>
            <a:r>
              <a:rPr lang="en-GB" i="1" dirty="0">
                <a:effectLst/>
              </a:rPr>
              <a:t>NICE</a:t>
            </a:r>
            <a:r>
              <a:rPr lang="en-GB" dirty="0">
                <a:effectLst/>
              </a:rPr>
              <a:t>. Available at: https://www.nice.org.uk/guidance/ng115 (Accessed: November 29, 2022). </a:t>
            </a:r>
          </a:p>
        </p:txBody>
      </p:sp>
    </p:spTree>
    <p:extLst>
      <p:ext uri="{BB962C8B-B14F-4D97-AF65-F5344CB8AC3E}">
        <p14:creationId xmlns:p14="http://schemas.microsoft.com/office/powerpoint/2010/main" val="214424919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21D789720E794DA1BE5D40FDC66DBB" ma:contentTypeVersion="15" ma:contentTypeDescription="Create a new document." ma:contentTypeScope="" ma:versionID="3db46f6d4de4e7f009bbe78178fe7d95">
  <xsd:schema xmlns:xsd="http://www.w3.org/2001/XMLSchema" xmlns:xs="http://www.w3.org/2001/XMLSchema" xmlns:p="http://schemas.microsoft.com/office/2006/metadata/properties" xmlns:ns2="fccb76ef-862e-406c-a80f-46ccc769a6a2" xmlns:ns3="7dbc431e-fabf-44b4-8dc6-c66825775825" targetNamespace="http://schemas.microsoft.com/office/2006/metadata/properties" ma:root="true" ma:fieldsID="be8f92dcc0d157f2a7ee7c953042f025" ns2:_="" ns3:_="">
    <xsd:import namespace="fccb76ef-862e-406c-a80f-46ccc769a6a2"/>
    <xsd:import namespace="7dbc431e-fabf-44b4-8dc6-c668257758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b76ef-862e-406c-a80f-46ccc769a6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228021f-28e8-4e43-93b9-326afd39d5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bc431e-fabf-44b4-8dc6-c6682577582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6a4bf86-4ef3-452c-957e-e8399855a21c}" ma:internalName="TaxCatchAll" ma:showField="CatchAllData" ma:web="7dbc431e-fabf-44b4-8dc6-c668257758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dbc431e-fabf-44b4-8dc6-c66825775825" xsi:nil="true"/>
    <lcf76f155ced4ddcb4097134ff3c332f xmlns="fccb76ef-862e-406c-a80f-46ccc769a6a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868A753-F7D0-49A9-B276-CDD932996E0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2A3AF0-3B10-4387-8CC2-FFA71352A7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b76ef-862e-406c-a80f-46ccc769a6a2"/>
    <ds:schemaRef ds:uri="7dbc431e-fabf-44b4-8dc6-c668257758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36ADB44-D961-458B-BBB9-FFAAF2FCF906}">
  <ds:schemaRefs>
    <ds:schemaRef ds:uri="http://schemas.microsoft.com/office/2006/metadata/properties"/>
    <ds:schemaRef ds:uri="http://schemas.microsoft.com/office/infopath/2007/PartnerControls"/>
    <ds:schemaRef ds:uri="7dbc431e-fabf-44b4-8dc6-c66825775825"/>
    <ds:schemaRef ds:uri="fccb76ef-862e-406c-a80f-46ccc769a6a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804</TotalTime>
  <Words>1040</Words>
  <Application>Microsoft Office PowerPoint</Application>
  <PresentationFormat>Widescreen</PresentationFormat>
  <Paragraphs>223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Trebuchet MS</vt:lpstr>
      <vt:lpstr>Wingdings 3</vt:lpstr>
      <vt:lpstr>Facet</vt:lpstr>
      <vt:lpstr> COPD</vt:lpstr>
      <vt:lpstr>Learning Outcomes</vt:lpstr>
      <vt:lpstr>Definition of COPD</vt:lpstr>
      <vt:lpstr>Epidemiology of COPD</vt:lpstr>
      <vt:lpstr>Chronic Bronchitis </vt:lpstr>
      <vt:lpstr>Chronic Bronchitis </vt:lpstr>
      <vt:lpstr>Chronic Bronchitis </vt:lpstr>
      <vt:lpstr>Chronic Bronchitis</vt:lpstr>
      <vt:lpstr>Aetiology of Chronic Bronchitis </vt:lpstr>
      <vt:lpstr>Emphysema </vt:lpstr>
      <vt:lpstr>Secondary effects of emphysematous changes </vt:lpstr>
      <vt:lpstr>Aetiology of Emphysema </vt:lpstr>
      <vt:lpstr>PowerPoint Presentation</vt:lpstr>
      <vt:lpstr>Further secondary effects of COPD </vt:lpstr>
      <vt:lpstr>Clinical features of COPD</vt:lpstr>
      <vt:lpstr>Clinical features of COPD</vt:lpstr>
      <vt:lpstr>Chest X-ray </vt:lpstr>
      <vt:lpstr>Signs of Respiratory Distress in COPD </vt:lpstr>
      <vt:lpstr>Respiratory Failure</vt:lpstr>
      <vt:lpstr>Type 1 Respiratory Failure</vt:lpstr>
      <vt:lpstr>Type 2 Respiratory Failure</vt:lpstr>
      <vt:lpstr>Acute Type 2 Respiratory Failure</vt:lpstr>
      <vt:lpstr>Chronic Type 2 Respiratory Failure</vt:lpstr>
      <vt:lpstr>Acute on Chronic Type 2 Respiratory Failure</vt:lpstr>
      <vt:lpstr>Classification of COPD</vt:lpstr>
      <vt:lpstr>Management of stable COPD</vt:lpstr>
      <vt:lpstr>Inhaled Therapy</vt:lpstr>
      <vt:lpstr>Further management </vt:lpstr>
      <vt:lpstr>Physiotherapy Management</vt:lpstr>
      <vt:lpstr>Management of acute exacerbations of COPD </vt:lpstr>
      <vt:lpstr>References and further reading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Chronic Obstructive Pulmonary Disease (COPD)</dc:title>
  <dc:creator>Clarke Stuart</dc:creator>
  <cp:lastModifiedBy>Trivedi Puja</cp:lastModifiedBy>
  <cp:revision>59</cp:revision>
  <dcterms:created xsi:type="dcterms:W3CDTF">2022-11-29T08:18:20Z</dcterms:created>
  <dcterms:modified xsi:type="dcterms:W3CDTF">2024-11-04T16:02:51Z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0x0101001F21D789720E794DA1BE5D40FDC66DBB</vt:lpwstr>
  </property>
</Properties>
</file>