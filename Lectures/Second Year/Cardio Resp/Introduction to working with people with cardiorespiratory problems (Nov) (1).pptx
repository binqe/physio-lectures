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2" r:id="rId6"/>
    <p:sldId id="257" r:id="rId7"/>
    <p:sldId id="261" r:id="rId8"/>
    <p:sldId id="277" r:id="rId9"/>
    <p:sldId id="258" r:id="rId10"/>
    <p:sldId id="287" r:id="rId11"/>
    <p:sldId id="259" r:id="rId12"/>
    <p:sldId id="260" r:id="rId13"/>
    <p:sldId id="262" r:id="rId14"/>
    <p:sldId id="271" r:id="rId15"/>
    <p:sldId id="270" r:id="rId16"/>
    <p:sldId id="263" r:id="rId17"/>
    <p:sldId id="264" r:id="rId18"/>
    <p:sldId id="266" r:id="rId19"/>
    <p:sldId id="268" r:id="rId20"/>
    <p:sldId id="269" r:id="rId21"/>
    <p:sldId id="288" r:id="rId22"/>
    <p:sldId id="267" r:id="rId23"/>
    <p:sldId id="265" r:id="rId24"/>
    <p:sldId id="282" r:id="rId25"/>
    <p:sldId id="289" r:id="rId26"/>
    <p:sldId id="273" r:id="rId27"/>
    <p:sldId id="274" r:id="rId28"/>
    <p:sldId id="275" r:id="rId29"/>
    <p:sldId id="276" r:id="rId30"/>
    <p:sldId id="278" r:id="rId31"/>
    <p:sldId id="279" r:id="rId32"/>
    <p:sldId id="280" r:id="rId33"/>
    <p:sldId id="281" r:id="rId34"/>
    <p:sldId id="286" r:id="rId35"/>
    <p:sldId id="283" r:id="rId36"/>
    <p:sldId id="284" r:id="rId37"/>
    <p:sldId id="285" r:id="rId38"/>
    <p:sldId id="29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1D054B-C513-400B-9793-05A805142E1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4FFD520-C99D-4368-BB28-83D2E35E317F}">
      <dgm:prSet/>
      <dgm:spPr/>
      <dgm:t>
        <a:bodyPr/>
        <a:lstStyle/>
        <a:p>
          <a:r>
            <a:rPr lang="en-GB" dirty="0"/>
            <a:t>Pulmonary rehabilitation </a:t>
          </a:r>
          <a:endParaRPr lang="en-US" dirty="0"/>
        </a:p>
      </dgm:t>
    </dgm:pt>
    <dgm:pt modelId="{3573A161-7930-4115-AE58-DF62B2F5A548}" type="parTrans" cxnId="{391CD2ED-E01C-4B69-B024-BAA88E89B502}">
      <dgm:prSet/>
      <dgm:spPr/>
      <dgm:t>
        <a:bodyPr/>
        <a:lstStyle/>
        <a:p>
          <a:endParaRPr lang="en-US"/>
        </a:p>
      </dgm:t>
    </dgm:pt>
    <dgm:pt modelId="{276E2C84-85E1-4826-8BC0-17A256542316}" type="sibTrans" cxnId="{391CD2ED-E01C-4B69-B024-BAA88E89B502}">
      <dgm:prSet/>
      <dgm:spPr/>
      <dgm:t>
        <a:bodyPr/>
        <a:lstStyle/>
        <a:p>
          <a:endParaRPr lang="en-US"/>
        </a:p>
      </dgm:t>
    </dgm:pt>
    <dgm:pt modelId="{EBF5F7A4-BA29-49F3-94EB-9D9227E3273C}">
      <dgm:prSet/>
      <dgm:spPr/>
      <dgm:t>
        <a:bodyPr/>
        <a:lstStyle/>
        <a:p>
          <a:r>
            <a:rPr lang="en-GB" dirty="0"/>
            <a:t>Prescribing exercise</a:t>
          </a:r>
          <a:endParaRPr lang="en-US" dirty="0"/>
        </a:p>
      </dgm:t>
    </dgm:pt>
    <dgm:pt modelId="{6BBD4633-A7C3-4C27-8544-7851B22024BC}" type="parTrans" cxnId="{40F1EF0E-27E8-4065-9560-10FCD5CE3E79}">
      <dgm:prSet/>
      <dgm:spPr/>
      <dgm:t>
        <a:bodyPr/>
        <a:lstStyle/>
        <a:p>
          <a:endParaRPr lang="en-US"/>
        </a:p>
      </dgm:t>
    </dgm:pt>
    <dgm:pt modelId="{778AE80F-8F50-40EA-A57A-E54253138F9F}" type="sibTrans" cxnId="{40F1EF0E-27E8-4065-9560-10FCD5CE3E79}">
      <dgm:prSet/>
      <dgm:spPr/>
      <dgm:t>
        <a:bodyPr/>
        <a:lstStyle/>
        <a:p>
          <a:endParaRPr lang="en-US"/>
        </a:p>
      </dgm:t>
    </dgm:pt>
    <dgm:pt modelId="{FD29C798-FC7B-4904-866F-E431E9DA84EC}">
      <dgm:prSet/>
      <dgm:spPr/>
      <dgm:t>
        <a:bodyPr/>
        <a:lstStyle/>
        <a:p>
          <a:r>
            <a:rPr lang="en-GB"/>
            <a:t>Providing with exercise programmes</a:t>
          </a:r>
          <a:endParaRPr lang="en-US"/>
        </a:p>
      </dgm:t>
    </dgm:pt>
    <dgm:pt modelId="{3F4BF58F-612E-44EE-B8BF-750A4DB3E04A}" type="parTrans" cxnId="{45BDD68C-38DF-4F0A-BD56-BC25C2300C7B}">
      <dgm:prSet/>
      <dgm:spPr/>
      <dgm:t>
        <a:bodyPr/>
        <a:lstStyle/>
        <a:p>
          <a:endParaRPr lang="en-US"/>
        </a:p>
      </dgm:t>
    </dgm:pt>
    <dgm:pt modelId="{E8670D62-6D4E-4750-9412-3BFAC115A18E}" type="sibTrans" cxnId="{45BDD68C-38DF-4F0A-BD56-BC25C2300C7B}">
      <dgm:prSet/>
      <dgm:spPr/>
      <dgm:t>
        <a:bodyPr/>
        <a:lstStyle/>
        <a:p>
          <a:endParaRPr lang="en-US"/>
        </a:p>
      </dgm:t>
    </dgm:pt>
    <dgm:pt modelId="{3FC953FA-F6EC-4FD4-9A38-A7195DE8B2A6}">
      <dgm:prSet/>
      <dgm:spPr/>
      <dgm:t>
        <a:bodyPr/>
        <a:lstStyle/>
        <a:p>
          <a:r>
            <a:rPr lang="en-GB" dirty="0"/>
            <a:t>Providing AMBOT</a:t>
          </a:r>
          <a:endParaRPr lang="en-US" dirty="0"/>
        </a:p>
      </dgm:t>
    </dgm:pt>
    <dgm:pt modelId="{7D924727-AEB4-4DD3-865E-62CD09CB6858}" type="parTrans" cxnId="{6C0191F0-16E0-4F39-B832-EA1C4D8D4C7B}">
      <dgm:prSet/>
      <dgm:spPr/>
      <dgm:t>
        <a:bodyPr/>
        <a:lstStyle/>
        <a:p>
          <a:endParaRPr lang="en-US"/>
        </a:p>
      </dgm:t>
    </dgm:pt>
    <dgm:pt modelId="{62318A82-BF9F-4F7F-9559-F36156BD4C60}" type="sibTrans" cxnId="{6C0191F0-16E0-4F39-B832-EA1C4D8D4C7B}">
      <dgm:prSet/>
      <dgm:spPr/>
      <dgm:t>
        <a:bodyPr/>
        <a:lstStyle/>
        <a:p>
          <a:endParaRPr lang="en-US"/>
        </a:p>
      </dgm:t>
    </dgm:pt>
    <dgm:pt modelId="{CAB9F7E5-9F3E-46FD-AE33-8548E9F17D56}">
      <dgm:prSet/>
      <dgm:spPr/>
      <dgm:t>
        <a:bodyPr/>
        <a:lstStyle/>
        <a:p>
          <a:r>
            <a:rPr lang="en-GB" dirty="0"/>
            <a:t>Referral to local services to help with activity</a:t>
          </a:r>
          <a:endParaRPr lang="en-US" dirty="0"/>
        </a:p>
      </dgm:t>
    </dgm:pt>
    <dgm:pt modelId="{F57646D6-6BA6-44E2-9C42-9770A58BF4D3}" type="parTrans" cxnId="{E646C07A-2620-4EFD-AE1C-7F686161FCD4}">
      <dgm:prSet/>
      <dgm:spPr/>
      <dgm:t>
        <a:bodyPr/>
        <a:lstStyle/>
        <a:p>
          <a:endParaRPr lang="en-US"/>
        </a:p>
      </dgm:t>
    </dgm:pt>
    <dgm:pt modelId="{404E7A7C-B4C0-4779-BE01-4E4EE5D5AD08}" type="sibTrans" cxnId="{E646C07A-2620-4EFD-AE1C-7F686161FCD4}">
      <dgm:prSet/>
      <dgm:spPr/>
      <dgm:t>
        <a:bodyPr/>
        <a:lstStyle/>
        <a:p>
          <a:endParaRPr lang="en-US"/>
        </a:p>
      </dgm:t>
    </dgm:pt>
    <dgm:pt modelId="{7B03C0EC-F5BA-47EE-9A6A-FB98F0BDBA6A}">
      <dgm:prSet/>
      <dgm:spPr/>
      <dgm:t>
        <a:bodyPr/>
        <a:lstStyle/>
        <a:p>
          <a:r>
            <a:rPr lang="en-US" dirty="0"/>
            <a:t>Encouraging movement and championing activity</a:t>
          </a:r>
        </a:p>
      </dgm:t>
    </dgm:pt>
    <dgm:pt modelId="{DA235E2B-927C-4365-9BC1-69C2055536EE}" type="parTrans" cxnId="{DBBB29C8-FC26-4474-BDE4-3FC5C748FF9B}">
      <dgm:prSet/>
      <dgm:spPr/>
      <dgm:t>
        <a:bodyPr/>
        <a:lstStyle/>
        <a:p>
          <a:endParaRPr lang="en-GB"/>
        </a:p>
      </dgm:t>
    </dgm:pt>
    <dgm:pt modelId="{D0CCBA18-BB5B-4105-AF18-BE2DF3085776}" type="sibTrans" cxnId="{DBBB29C8-FC26-4474-BDE4-3FC5C748FF9B}">
      <dgm:prSet/>
      <dgm:spPr/>
      <dgm:t>
        <a:bodyPr/>
        <a:lstStyle/>
        <a:p>
          <a:endParaRPr lang="en-GB"/>
        </a:p>
      </dgm:t>
    </dgm:pt>
    <dgm:pt modelId="{A7AE410B-EBAE-465E-96F0-B464F70E0BE7}">
      <dgm:prSet/>
      <dgm:spPr/>
      <dgm:t>
        <a:bodyPr/>
        <a:lstStyle/>
        <a:p>
          <a:r>
            <a:rPr lang="en-US" dirty="0"/>
            <a:t>Education</a:t>
          </a:r>
        </a:p>
      </dgm:t>
    </dgm:pt>
    <dgm:pt modelId="{9CADAEF8-7320-4ACF-8B50-062A38843721}" type="parTrans" cxnId="{7A3301F7-279F-408C-9693-EE9838B6D4DA}">
      <dgm:prSet/>
      <dgm:spPr/>
      <dgm:t>
        <a:bodyPr/>
        <a:lstStyle/>
        <a:p>
          <a:endParaRPr lang="en-GB"/>
        </a:p>
      </dgm:t>
    </dgm:pt>
    <dgm:pt modelId="{A9828215-5D51-4586-9972-C68EC8A7BBAB}" type="sibTrans" cxnId="{7A3301F7-279F-408C-9693-EE9838B6D4DA}">
      <dgm:prSet/>
      <dgm:spPr/>
      <dgm:t>
        <a:bodyPr/>
        <a:lstStyle/>
        <a:p>
          <a:endParaRPr lang="en-GB"/>
        </a:p>
      </dgm:t>
    </dgm:pt>
    <dgm:pt modelId="{F110297C-FF11-46B4-9B04-20CE719EE08A}" type="pres">
      <dgm:prSet presAssocID="{8C1D054B-C513-400B-9793-05A805142E19}" presName="linear" presStyleCnt="0">
        <dgm:presLayoutVars>
          <dgm:animLvl val="lvl"/>
          <dgm:resizeHandles val="exact"/>
        </dgm:presLayoutVars>
      </dgm:prSet>
      <dgm:spPr/>
    </dgm:pt>
    <dgm:pt modelId="{4F655D37-BCD5-482D-A719-DB412F3CE75C}" type="pres">
      <dgm:prSet presAssocID="{94FFD520-C99D-4368-BB28-83D2E35E317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2DC98CF-1B16-4D48-B9E3-4F646C0459CA}" type="pres">
      <dgm:prSet presAssocID="{276E2C84-85E1-4826-8BC0-17A256542316}" presName="spacer" presStyleCnt="0"/>
      <dgm:spPr/>
    </dgm:pt>
    <dgm:pt modelId="{B8A05060-FDBF-4A84-B7ED-180B71DC973B}" type="pres">
      <dgm:prSet presAssocID="{EBF5F7A4-BA29-49F3-94EB-9D9227E3273C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F91703D-3351-485F-87F3-C740ED150075}" type="pres">
      <dgm:prSet presAssocID="{778AE80F-8F50-40EA-A57A-E54253138F9F}" presName="spacer" presStyleCnt="0"/>
      <dgm:spPr/>
    </dgm:pt>
    <dgm:pt modelId="{38373255-5674-455F-9ACC-B68A62EDA694}" type="pres">
      <dgm:prSet presAssocID="{FD29C798-FC7B-4904-866F-E431E9DA84E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DE3C2B8-ED2B-4381-BE19-7EF28DC8C1C6}" type="pres">
      <dgm:prSet presAssocID="{E8670D62-6D4E-4750-9412-3BFAC115A18E}" presName="spacer" presStyleCnt="0"/>
      <dgm:spPr/>
    </dgm:pt>
    <dgm:pt modelId="{37788E02-F0DB-4C19-A3A7-7235D892BC3B}" type="pres">
      <dgm:prSet presAssocID="{3FC953FA-F6EC-4FD4-9A38-A7195DE8B2A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81DEF3F-9F23-42AB-BC21-7969D1F45ABC}" type="pres">
      <dgm:prSet presAssocID="{62318A82-BF9F-4F7F-9559-F36156BD4C60}" presName="spacer" presStyleCnt="0"/>
      <dgm:spPr/>
    </dgm:pt>
    <dgm:pt modelId="{5BC8EFFD-3FE1-4630-A820-4A5EF4AA9C31}" type="pres">
      <dgm:prSet presAssocID="{CAB9F7E5-9F3E-46FD-AE33-8548E9F17D5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19AAC2C-E375-4A3A-990F-3461F03BE023}" type="pres">
      <dgm:prSet presAssocID="{404E7A7C-B4C0-4779-BE01-4E4EE5D5AD08}" presName="spacer" presStyleCnt="0"/>
      <dgm:spPr/>
    </dgm:pt>
    <dgm:pt modelId="{2957D513-0660-43B4-8870-03FCB9B90F5D}" type="pres">
      <dgm:prSet presAssocID="{7B03C0EC-F5BA-47EE-9A6A-FB98F0BDBA6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A0AEB29-65DF-4355-9360-A87FCBBDACC2}" type="pres">
      <dgm:prSet presAssocID="{D0CCBA18-BB5B-4105-AF18-BE2DF3085776}" presName="spacer" presStyleCnt="0"/>
      <dgm:spPr/>
    </dgm:pt>
    <dgm:pt modelId="{9D0A513B-D267-4FE7-80CC-988B318E31E3}" type="pres">
      <dgm:prSet presAssocID="{A7AE410B-EBAE-465E-96F0-B464F70E0BE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0F1EF0E-27E8-4065-9560-10FCD5CE3E79}" srcId="{8C1D054B-C513-400B-9793-05A805142E19}" destId="{EBF5F7A4-BA29-49F3-94EB-9D9227E3273C}" srcOrd="1" destOrd="0" parTransId="{6BBD4633-A7C3-4C27-8544-7851B22024BC}" sibTransId="{778AE80F-8F50-40EA-A57A-E54253138F9F}"/>
    <dgm:cxn modelId="{2E21DD26-F20F-4F52-A404-9DBF9A63B4A7}" type="presOf" srcId="{8C1D054B-C513-400B-9793-05A805142E19}" destId="{F110297C-FF11-46B4-9B04-20CE719EE08A}" srcOrd="0" destOrd="0" presId="urn:microsoft.com/office/officeart/2005/8/layout/vList2"/>
    <dgm:cxn modelId="{806D5F3E-80D6-4394-9AC1-C9961602DCD0}" type="presOf" srcId="{3FC953FA-F6EC-4FD4-9A38-A7195DE8B2A6}" destId="{37788E02-F0DB-4C19-A3A7-7235D892BC3B}" srcOrd="0" destOrd="0" presId="urn:microsoft.com/office/officeart/2005/8/layout/vList2"/>
    <dgm:cxn modelId="{FA83C145-87D3-41BA-9A89-049B3E1F6208}" type="presOf" srcId="{EBF5F7A4-BA29-49F3-94EB-9D9227E3273C}" destId="{B8A05060-FDBF-4A84-B7ED-180B71DC973B}" srcOrd="0" destOrd="0" presId="urn:microsoft.com/office/officeart/2005/8/layout/vList2"/>
    <dgm:cxn modelId="{07D8D646-132E-460E-A1AB-AE487A2B7C94}" type="presOf" srcId="{A7AE410B-EBAE-465E-96F0-B464F70E0BE7}" destId="{9D0A513B-D267-4FE7-80CC-988B318E31E3}" srcOrd="0" destOrd="0" presId="urn:microsoft.com/office/officeart/2005/8/layout/vList2"/>
    <dgm:cxn modelId="{49F9FF77-8640-4572-9CB2-BC31C17D3F3C}" type="presOf" srcId="{94FFD520-C99D-4368-BB28-83D2E35E317F}" destId="{4F655D37-BCD5-482D-A719-DB412F3CE75C}" srcOrd="0" destOrd="0" presId="urn:microsoft.com/office/officeart/2005/8/layout/vList2"/>
    <dgm:cxn modelId="{E646C07A-2620-4EFD-AE1C-7F686161FCD4}" srcId="{8C1D054B-C513-400B-9793-05A805142E19}" destId="{CAB9F7E5-9F3E-46FD-AE33-8548E9F17D56}" srcOrd="4" destOrd="0" parTransId="{F57646D6-6BA6-44E2-9C42-9770A58BF4D3}" sibTransId="{404E7A7C-B4C0-4779-BE01-4E4EE5D5AD08}"/>
    <dgm:cxn modelId="{45BDD68C-38DF-4F0A-BD56-BC25C2300C7B}" srcId="{8C1D054B-C513-400B-9793-05A805142E19}" destId="{FD29C798-FC7B-4904-866F-E431E9DA84EC}" srcOrd="2" destOrd="0" parTransId="{3F4BF58F-612E-44EE-B8BF-750A4DB3E04A}" sibTransId="{E8670D62-6D4E-4750-9412-3BFAC115A18E}"/>
    <dgm:cxn modelId="{32FDA19C-5B8C-47F3-820F-CEE0A356B55D}" type="presOf" srcId="{FD29C798-FC7B-4904-866F-E431E9DA84EC}" destId="{38373255-5674-455F-9ACC-B68A62EDA694}" srcOrd="0" destOrd="0" presId="urn:microsoft.com/office/officeart/2005/8/layout/vList2"/>
    <dgm:cxn modelId="{4783C6B2-9F8F-4DC1-8C14-4E2DA92B0A64}" type="presOf" srcId="{7B03C0EC-F5BA-47EE-9A6A-FB98F0BDBA6A}" destId="{2957D513-0660-43B4-8870-03FCB9B90F5D}" srcOrd="0" destOrd="0" presId="urn:microsoft.com/office/officeart/2005/8/layout/vList2"/>
    <dgm:cxn modelId="{DBBB29C8-FC26-4474-BDE4-3FC5C748FF9B}" srcId="{8C1D054B-C513-400B-9793-05A805142E19}" destId="{7B03C0EC-F5BA-47EE-9A6A-FB98F0BDBA6A}" srcOrd="5" destOrd="0" parTransId="{DA235E2B-927C-4365-9BC1-69C2055536EE}" sibTransId="{D0CCBA18-BB5B-4105-AF18-BE2DF3085776}"/>
    <dgm:cxn modelId="{391CD2ED-E01C-4B69-B024-BAA88E89B502}" srcId="{8C1D054B-C513-400B-9793-05A805142E19}" destId="{94FFD520-C99D-4368-BB28-83D2E35E317F}" srcOrd="0" destOrd="0" parTransId="{3573A161-7930-4115-AE58-DF62B2F5A548}" sibTransId="{276E2C84-85E1-4826-8BC0-17A256542316}"/>
    <dgm:cxn modelId="{6C0191F0-16E0-4F39-B832-EA1C4D8D4C7B}" srcId="{8C1D054B-C513-400B-9793-05A805142E19}" destId="{3FC953FA-F6EC-4FD4-9A38-A7195DE8B2A6}" srcOrd="3" destOrd="0" parTransId="{7D924727-AEB4-4DD3-865E-62CD09CB6858}" sibTransId="{62318A82-BF9F-4F7F-9559-F36156BD4C60}"/>
    <dgm:cxn modelId="{1ED56CF6-EE7F-4207-B40F-721F8B6966D7}" type="presOf" srcId="{CAB9F7E5-9F3E-46FD-AE33-8548E9F17D56}" destId="{5BC8EFFD-3FE1-4630-A820-4A5EF4AA9C31}" srcOrd="0" destOrd="0" presId="urn:microsoft.com/office/officeart/2005/8/layout/vList2"/>
    <dgm:cxn modelId="{7A3301F7-279F-408C-9693-EE9838B6D4DA}" srcId="{8C1D054B-C513-400B-9793-05A805142E19}" destId="{A7AE410B-EBAE-465E-96F0-B464F70E0BE7}" srcOrd="6" destOrd="0" parTransId="{9CADAEF8-7320-4ACF-8B50-062A38843721}" sibTransId="{A9828215-5D51-4586-9972-C68EC8A7BBAB}"/>
    <dgm:cxn modelId="{1F414C27-CA1C-4CA3-8E30-E78E079FA74E}" type="presParOf" srcId="{F110297C-FF11-46B4-9B04-20CE719EE08A}" destId="{4F655D37-BCD5-482D-A719-DB412F3CE75C}" srcOrd="0" destOrd="0" presId="urn:microsoft.com/office/officeart/2005/8/layout/vList2"/>
    <dgm:cxn modelId="{B9B1869B-5FB8-452A-A281-2ED5365351E7}" type="presParOf" srcId="{F110297C-FF11-46B4-9B04-20CE719EE08A}" destId="{C2DC98CF-1B16-4D48-B9E3-4F646C0459CA}" srcOrd="1" destOrd="0" presId="urn:microsoft.com/office/officeart/2005/8/layout/vList2"/>
    <dgm:cxn modelId="{4FD2BA6C-D62E-479A-8736-AA72F9A22589}" type="presParOf" srcId="{F110297C-FF11-46B4-9B04-20CE719EE08A}" destId="{B8A05060-FDBF-4A84-B7ED-180B71DC973B}" srcOrd="2" destOrd="0" presId="urn:microsoft.com/office/officeart/2005/8/layout/vList2"/>
    <dgm:cxn modelId="{89075EB2-E401-476D-AEE0-94DA6209D3DE}" type="presParOf" srcId="{F110297C-FF11-46B4-9B04-20CE719EE08A}" destId="{CF91703D-3351-485F-87F3-C740ED150075}" srcOrd="3" destOrd="0" presId="urn:microsoft.com/office/officeart/2005/8/layout/vList2"/>
    <dgm:cxn modelId="{F5DEB1C0-BBF8-4143-96F7-30698D48CD92}" type="presParOf" srcId="{F110297C-FF11-46B4-9B04-20CE719EE08A}" destId="{38373255-5674-455F-9ACC-B68A62EDA694}" srcOrd="4" destOrd="0" presId="urn:microsoft.com/office/officeart/2005/8/layout/vList2"/>
    <dgm:cxn modelId="{7B7D3753-83F0-40A6-BB75-2FCDFF435034}" type="presParOf" srcId="{F110297C-FF11-46B4-9B04-20CE719EE08A}" destId="{3DE3C2B8-ED2B-4381-BE19-7EF28DC8C1C6}" srcOrd="5" destOrd="0" presId="urn:microsoft.com/office/officeart/2005/8/layout/vList2"/>
    <dgm:cxn modelId="{93356EF7-B21D-467F-9BFF-C2682F3BBC18}" type="presParOf" srcId="{F110297C-FF11-46B4-9B04-20CE719EE08A}" destId="{37788E02-F0DB-4C19-A3A7-7235D892BC3B}" srcOrd="6" destOrd="0" presId="urn:microsoft.com/office/officeart/2005/8/layout/vList2"/>
    <dgm:cxn modelId="{C207D587-BA28-476E-8495-A5F54EA124BD}" type="presParOf" srcId="{F110297C-FF11-46B4-9B04-20CE719EE08A}" destId="{481DEF3F-9F23-42AB-BC21-7969D1F45ABC}" srcOrd="7" destOrd="0" presId="urn:microsoft.com/office/officeart/2005/8/layout/vList2"/>
    <dgm:cxn modelId="{CF589218-F97E-465B-88AC-879BF5C0CEE6}" type="presParOf" srcId="{F110297C-FF11-46B4-9B04-20CE719EE08A}" destId="{5BC8EFFD-3FE1-4630-A820-4A5EF4AA9C31}" srcOrd="8" destOrd="0" presId="urn:microsoft.com/office/officeart/2005/8/layout/vList2"/>
    <dgm:cxn modelId="{1903049B-1263-4757-BD8C-ACA060F868EA}" type="presParOf" srcId="{F110297C-FF11-46B4-9B04-20CE719EE08A}" destId="{F19AAC2C-E375-4A3A-990F-3461F03BE023}" srcOrd="9" destOrd="0" presId="urn:microsoft.com/office/officeart/2005/8/layout/vList2"/>
    <dgm:cxn modelId="{56766CBC-8A7C-4306-A40B-1F3CE8BD6E70}" type="presParOf" srcId="{F110297C-FF11-46B4-9B04-20CE719EE08A}" destId="{2957D513-0660-43B4-8870-03FCB9B90F5D}" srcOrd="10" destOrd="0" presId="urn:microsoft.com/office/officeart/2005/8/layout/vList2"/>
    <dgm:cxn modelId="{8927C5DB-DD66-44FA-B054-DA451A3390C8}" type="presParOf" srcId="{F110297C-FF11-46B4-9B04-20CE719EE08A}" destId="{EA0AEB29-65DF-4355-9360-A87FCBBDACC2}" srcOrd="11" destOrd="0" presId="urn:microsoft.com/office/officeart/2005/8/layout/vList2"/>
    <dgm:cxn modelId="{1373F935-F050-47F8-804E-A5D47FCB5EF6}" type="presParOf" srcId="{F110297C-FF11-46B4-9B04-20CE719EE08A}" destId="{9D0A513B-D267-4FE7-80CC-988B318E31E3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655D37-BCD5-482D-A719-DB412F3CE75C}">
      <dsp:nvSpPr>
        <dsp:cNvPr id="0" name=""/>
        <dsp:cNvSpPr/>
      </dsp:nvSpPr>
      <dsp:spPr>
        <a:xfrm>
          <a:off x="0" y="412272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Pulmonary rehabilitation </a:t>
          </a:r>
          <a:endParaRPr lang="en-US" sz="2500" kern="1200" dirty="0"/>
        </a:p>
      </dsp:txBody>
      <dsp:txXfrm>
        <a:off x="29271" y="441543"/>
        <a:ext cx="6608291" cy="541083"/>
      </dsp:txXfrm>
    </dsp:sp>
    <dsp:sp modelId="{B8A05060-FDBF-4A84-B7ED-180B71DC973B}">
      <dsp:nvSpPr>
        <dsp:cNvPr id="0" name=""/>
        <dsp:cNvSpPr/>
      </dsp:nvSpPr>
      <dsp:spPr>
        <a:xfrm>
          <a:off x="0" y="1083897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1126424"/>
                <a:satOff val="-2903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26424"/>
                <a:satOff val="-2903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26424"/>
                <a:satOff val="-2903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Prescribing exercise</a:t>
          </a:r>
          <a:endParaRPr lang="en-US" sz="2500" kern="1200" dirty="0"/>
        </a:p>
      </dsp:txBody>
      <dsp:txXfrm>
        <a:off x="29271" y="1113168"/>
        <a:ext cx="6608291" cy="541083"/>
      </dsp:txXfrm>
    </dsp:sp>
    <dsp:sp modelId="{38373255-5674-455F-9ACC-B68A62EDA694}">
      <dsp:nvSpPr>
        <dsp:cNvPr id="0" name=""/>
        <dsp:cNvSpPr/>
      </dsp:nvSpPr>
      <dsp:spPr>
        <a:xfrm>
          <a:off x="0" y="1755522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Providing with exercise programmes</a:t>
          </a:r>
          <a:endParaRPr lang="en-US" sz="2500" kern="1200"/>
        </a:p>
      </dsp:txBody>
      <dsp:txXfrm>
        <a:off x="29271" y="1784793"/>
        <a:ext cx="6608291" cy="541083"/>
      </dsp:txXfrm>
    </dsp:sp>
    <dsp:sp modelId="{37788E02-F0DB-4C19-A3A7-7235D892BC3B}">
      <dsp:nvSpPr>
        <dsp:cNvPr id="0" name=""/>
        <dsp:cNvSpPr/>
      </dsp:nvSpPr>
      <dsp:spPr>
        <a:xfrm>
          <a:off x="0" y="2427147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Providing AMBOT</a:t>
          </a:r>
          <a:endParaRPr lang="en-US" sz="2500" kern="1200" dirty="0"/>
        </a:p>
      </dsp:txBody>
      <dsp:txXfrm>
        <a:off x="29271" y="2456418"/>
        <a:ext cx="6608291" cy="541083"/>
      </dsp:txXfrm>
    </dsp:sp>
    <dsp:sp modelId="{5BC8EFFD-3FE1-4630-A820-4A5EF4AA9C31}">
      <dsp:nvSpPr>
        <dsp:cNvPr id="0" name=""/>
        <dsp:cNvSpPr/>
      </dsp:nvSpPr>
      <dsp:spPr>
        <a:xfrm>
          <a:off x="0" y="3098772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Referral to local services to help with activity</a:t>
          </a:r>
          <a:endParaRPr lang="en-US" sz="2500" kern="1200" dirty="0"/>
        </a:p>
      </dsp:txBody>
      <dsp:txXfrm>
        <a:off x="29271" y="3128043"/>
        <a:ext cx="6608291" cy="541083"/>
      </dsp:txXfrm>
    </dsp:sp>
    <dsp:sp modelId="{2957D513-0660-43B4-8870-03FCB9B90F5D}">
      <dsp:nvSpPr>
        <dsp:cNvPr id="0" name=""/>
        <dsp:cNvSpPr/>
      </dsp:nvSpPr>
      <dsp:spPr>
        <a:xfrm>
          <a:off x="0" y="3770397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5632119"/>
                <a:satOff val="-14516"/>
                <a:lumOff val="-9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632119"/>
                <a:satOff val="-14516"/>
                <a:lumOff val="-9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632119"/>
                <a:satOff val="-14516"/>
                <a:lumOff val="-9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Encouraging movement and championing activity</a:t>
          </a:r>
        </a:p>
      </dsp:txBody>
      <dsp:txXfrm>
        <a:off x="29271" y="3799668"/>
        <a:ext cx="6608291" cy="541083"/>
      </dsp:txXfrm>
    </dsp:sp>
    <dsp:sp modelId="{9D0A513B-D267-4FE7-80CC-988B318E31E3}">
      <dsp:nvSpPr>
        <dsp:cNvPr id="0" name=""/>
        <dsp:cNvSpPr/>
      </dsp:nvSpPr>
      <dsp:spPr>
        <a:xfrm>
          <a:off x="0" y="4442022"/>
          <a:ext cx="6666833" cy="599625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Education</a:t>
          </a:r>
        </a:p>
      </dsp:txBody>
      <dsp:txXfrm>
        <a:off x="29271" y="4471293"/>
        <a:ext cx="6608291" cy="541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ADED-5024-4485-83FB-469B977E4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39D91-479A-4D0A-9377-AED04EFCD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148B0-3750-463C-9646-6022252D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3A132-06FA-406F-915C-81644B66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671C5-7E04-49A6-B844-8D8DA44D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346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A0C8-4F3F-478F-A1F7-58E7A468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8EC55-F6E2-4887-8F1D-029DF9A44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727C3-7586-4F82-86EE-1F9D99853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CC640-9606-4CBE-B8FC-DC52D8C4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79F9F-6400-4FC9-A62B-B1D30489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071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7D953-14ED-4150-980A-00279FFB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8BF3C-DFD6-4D7E-AE3D-1E10D96D3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73D6E-1626-42C1-B7A6-D41B14B2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AE633-BFE6-4149-A03C-3E43C58E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74644-A6C0-4A75-AA02-D48A1E33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9435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C29E-67C6-4F53-844D-51187713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98A05-2BB0-4BB5-B6BE-4372B09B4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1DD5E-BA3B-43FE-8117-FE6BA0367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7EA3E-FCCC-415A-9619-07DF057F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11D40-8509-448C-8B1C-3033A2698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1E3DC-C7AE-4861-8C20-1679EB68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20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25B3-9439-4668-8B7F-7A631B47B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68B27-A1D9-4FAE-A134-19119E99D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AD4A9-2967-4472-B8B5-77D1405EC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120CF-542D-4FF3-9653-C8556C097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571F17-5EAA-4BFA-9427-1F0E4FE9E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0498C7-FF9A-47EF-99C1-AA3C2D4B1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CCF84B-8837-464E-B20F-3483351B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E8593F-7560-45DC-8663-1DBA28542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547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28E0A-D38C-4B1D-BB2C-F68E2CA2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F5433-E6B0-4197-BDDB-21274F8F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EA2CF-C825-4A06-AEC4-6C0E0A404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EFBC1-647E-4C94-BC7F-434F25A5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7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961AB-85EA-4B97-A348-9C787FD8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70628-F324-473A-8BA8-281224ED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1C65C-C828-40F2-9C39-5CBB5797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77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9FB1F-DFF6-4F63-B325-5CB191C65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2403B-C119-42DC-A7AB-48A99D5D6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07AA3-8BEE-4F9D-8FC1-A980DB938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7FFF1-D052-422A-B2B5-1B7E238F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F5951-F523-4FEB-95DA-B25ED93CC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363B9-2260-48AC-977F-BA9822B0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80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BF83-9709-4C87-9862-39D34660E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A84C46-CE43-4F86-B5D8-4F5DF768D7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3FC6D-CDB8-43AE-A9B6-53AF13CAA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3FCBA-AFB9-4614-AB6A-A00DDC34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4827C-1540-42EF-AB65-186A738D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2305D-B1A6-4C3F-8030-761B2A5F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10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A252-A914-471D-8C43-9D786DEC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B445E-AB5A-4CF2-99FB-7E44F401C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06DE7-DAF1-46E3-A11A-D4D31BEA2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60B3C-C454-469A-854D-B0940396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F4B6D-9A44-4CC7-8408-78BE17A7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91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484CFB-16B6-44C1-BD0E-8108954C2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B0795-AB1A-4B55-8699-BCF9FEB3C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F5725-A117-4A30-9151-3BC17E38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DA637-8CB4-4517-92FF-BEF6EBFD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70D-87C0-4C47-BEAB-FDA97E12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720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EBC3F-1F37-47B6-B54A-DA38E3DC8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F743F-B377-4463-BDC1-A2CA10C07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8E280-B29C-4259-B8DA-4BFBCF044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C25AE-DB78-4D26-9567-0B1876A5A1B6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21DE1-23D1-4980-8FB4-B93282017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AD8E2-0A8C-4A29-9E47-4DD861CB7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98163-E4D4-42C8-B705-196371E8E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91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7oTfvJff7go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B3208-F136-4836-A0C5-C2463A2C3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Introduction to working with people with cardiorespiratory problems</a:t>
            </a:r>
            <a:endParaRPr lang="en-GB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F1A0F-D6A8-477D-A297-A4E18DE3D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dirty="0"/>
              <a:t>Puja Trivedi</a:t>
            </a:r>
          </a:p>
          <a:p>
            <a:pPr algn="l"/>
            <a:r>
              <a:rPr lang="en-GB" dirty="0"/>
              <a:t>Highly specialist Physiotherapist </a:t>
            </a:r>
          </a:p>
          <a:p>
            <a:pPr algn="l"/>
            <a:r>
              <a:rPr lang="en-GB" dirty="0"/>
              <a:t>Harefield Pulmonary Rehabilitation Unit</a:t>
            </a:r>
          </a:p>
        </p:txBody>
      </p:sp>
    </p:spTree>
    <p:extLst>
      <p:ext uri="{BB962C8B-B14F-4D97-AF65-F5344CB8AC3E}">
        <p14:creationId xmlns:p14="http://schemas.microsoft.com/office/powerpoint/2010/main" val="230199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FF67B4-74AC-4A55-9BAC-E0FC87F4C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C862C-BF3E-4A35-A1A1-6487CEB79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Describe and explain the following problems commonly encountered in a cardiorespiratory patient: </a:t>
            </a:r>
          </a:p>
          <a:p>
            <a:pPr lvl="1"/>
            <a:r>
              <a:rPr lang="en-GB" sz="2000" dirty="0"/>
              <a:t>Breathlessness </a:t>
            </a:r>
          </a:p>
          <a:p>
            <a:pPr lvl="1"/>
            <a:r>
              <a:rPr lang="en-GB" sz="2000" dirty="0"/>
              <a:t>Increased sputum </a:t>
            </a:r>
          </a:p>
          <a:p>
            <a:pPr lvl="1"/>
            <a:r>
              <a:rPr lang="en-GB" sz="2000" dirty="0"/>
              <a:t>Cough </a:t>
            </a:r>
          </a:p>
          <a:p>
            <a:pPr lvl="1"/>
            <a:r>
              <a:rPr lang="en-GB" sz="2000" dirty="0"/>
              <a:t>Wheeze </a:t>
            </a:r>
          </a:p>
          <a:p>
            <a:pPr lvl="1"/>
            <a:r>
              <a:rPr lang="en-GB" sz="2000" dirty="0"/>
              <a:t>Expiratory flow limitation </a:t>
            </a:r>
          </a:p>
          <a:p>
            <a:pPr lvl="1"/>
            <a:r>
              <a:rPr lang="en-GB" sz="2000" dirty="0"/>
              <a:t>Reduced lung volumes </a:t>
            </a:r>
          </a:p>
          <a:p>
            <a:pPr lvl="1"/>
            <a:r>
              <a:rPr lang="en-GB" sz="2000" dirty="0"/>
              <a:t>Reduced exercise capacity</a:t>
            </a:r>
          </a:p>
          <a:p>
            <a:pPr marL="0" indent="0">
              <a:buNone/>
            </a:pPr>
            <a:r>
              <a:rPr lang="en-GB" sz="2000" dirty="0"/>
              <a:t>• Explain some subjective experience of patients living with cardiorespiratory conditions.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5686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4" name="Freeform: Shape 105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34637-3BDA-49F3-A8D2-563132C0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can you see that is wrong or a problem with this patient?</a:t>
            </a:r>
          </a:p>
        </p:txBody>
      </p:sp>
      <p:pic>
        <p:nvPicPr>
          <p:cNvPr id="1026" name="Picture 2" descr="Acute Respiratory Distress Syndrome Nursing Management and Interventions -  Nurseslabs">
            <a:extLst>
              <a:ext uri="{FF2B5EF4-FFF2-40B4-BE49-F238E27FC236}">
                <a16:creationId xmlns:a16="http://schemas.microsoft.com/office/drawing/2014/main" id="{39527035-CBFF-49C2-AEFC-4D13441F9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1505145"/>
            <a:ext cx="7225748" cy="384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531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56B82-FDAA-47DE-8C50-70737D8E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respiratory conditions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34BB-5E0B-47E6-96A3-432F4ABA4F1B}"/>
              </a:ext>
            </a:extLst>
          </p:cNvPr>
          <p:cNvSpPr txBox="1"/>
          <p:nvPr/>
        </p:nvSpPr>
        <p:spPr>
          <a:xfrm>
            <a:off x="4211273" y="2139193"/>
            <a:ext cx="256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COPD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16CB0-7A7B-469F-8191-A9627C8EDBAE}"/>
              </a:ext>
            </a:extLst>
          </p:cNvPr>
          <p:cNvSpPr txBox="1"/>
          <p:nvPr/>
        </p:nvSpPr>
        <p:spPr>
          <a:xfrm>
            <a:off x="1553362" y="2413933"/>
            <a:ext cx="197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Interstitial lung disease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CD7091-111E-47FF-AEEE-AFC4E9D2D85A}"/>
              </a:ext>
            </a:extLst>
          </p:cNvPr>
          <p:cNvSpPr txBox="1"/>
          <p:nvPr/>
        </p:nvSpPr>
        <p:spPr>
          <a:xfrm>
            <a:off x="2694264" y="3783509"/>
            <a:ext cx="197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Cystic Fibrosis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A5DBB-4A99-466A-84A6-C43FDCB2A60D}"/>
              </a:ext>
            </a:extLst>
          </p:cNvPr>
          <p:cNvSpPr txBox="1"/>
          <p:nvPr/>
        </p:nvSpPr>
        <p:spPr>
          <a:xfrm>
            <a:off x="6460921" y="3460343"/>
            <a:ext cx="197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Asthma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0A854-4554-4920-8CAE-1FF09D73C926}"/>
              </a:ext>
            </a:extLst>
          </p:cNvPr>
          <p:cNvSpPr txBox="1"/>
          <p:nvPr/>
        </p:nvSpPr>
        <p:spPr>
          <a:xfrm>
            <a:off x="4806892" y="5195931"/>
            <a:ext cx="197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Bronchiectasis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56436-D2D3-41F1-9681-8CAEC7FB6F28}"/>
              </a:ext>
            </a:extLst>
          </p:cNvPr>
          <p:cNvSpPr txBox="1"/>
          <p:nvPr/>
        </p:nvSpPr>
        <p:spPr>
          <a:xfrm>
            <a:off x="7446627" y="2139193"/>
            <a:ext cx="197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Sleep disordered breathing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2710DC-D29C-4329-BDBF-252F0BA34800}"/>
              </a:ext>
            </a:extLst>
          </p:cNvPr>
          <p:cNvSpPr txBox="1"/>
          <p:nvPr/>
        </p:nvSpPr>
        <p:spPr>
          <a:xfrm>
            <a:off x="7635380" y="4555179"/>
            <a:ext cx="197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OHS/OSA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788594-C304-473C-96E8-6180BCC54D3C}"/>
              </a:ext>
            </a:extLst>
          </p:cNvPr>
          <p:cNvSpPr txBox="1"/>
          <p:nvPr/>
        </p:nvSpPr>
        <p:spPr>
          <a:xfrm>
            <a:off x="1303090" y="5195931"/>
            <a:ext cx="197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Neuromuscular disease</a:t>
            </a:r>
          </a:p>
        </p:txBody>
      </p:sp>
    </p:spTree>
    <p:extLst>
      <p:ext uri="{BB962C8B-B14F-4D97-AF65-F5344CB8AC3E}">
        <p14:creationId xmlns:p14="http://schemas.microsoft.com/office/powerpoint/2010/main" val="13279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0B2DB-DD1F-4409-AD94-8EDDD9825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Restrictive of obstructive? </a:t>
            </a:r>
          </a:p>
        </p:txBody>
      </p:sp>
      <p:pic>
        <p:nvPicPr>
          <p:cNvPr id="2052" name="Picture 4" descr="A Stepwise Approach to the Interpretation of Pulmonary Function Tests | AAFP">
            <a:extLst>
              <a:ext uri="{FF2B5EF4-FFF2-40B4-BE49-F238E27FC236}">
                <a16:creationId xmlns:a16="http://schemas.microsoft.com/office/drawing/2014/main" id="{502357F2-9752-4A65-84B4-33AF4F88C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0903" y="467208"/>
            <a:ext cx="4568798" cy="592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2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B61712-7731-4CF5-BD7E-7E8CEEA84651}"/>
              </a:ext>
            </a:extLst>
          </p:cNvPr>
          <p:cNvSpPr txBox="1"/>
          <p:nvPr/>
        </p:nvSpPr>
        <p:spPr>
          <a:xfrm>
            <a:off x="771788" y="1595207"/>
            <a:ext cx="197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Breathlessness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0F0DA-7126-4B86-AF8F-8849B81F408F}"/>
              </a:ext>
            </a:extLst>
          </p:cNvPr>
          <p:cNvSpPr txBox="1"/>
          <p:nvPr/>
        </p:nvSpPr>
        <p:spPr>
          <a:xfrm>
            <a:off x="4814025" y="3768349"/>
            <a:ext cx="197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Impaired airway clearance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38614-A056-4FD7-A6AA-082F6E62ED41}"/>
              </a:ext>
            </a:extLst>
          </p:cNvPr>
          <p:cNvSpPr txBox="1"/>
          <p:nvPr/>
        </p:nvSpPr>
        <p:spPr>
          <a:xfrm>
            <a:off x="1385211" y="4369487"/>
            <a:ext cx="197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Reduced lung volumes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9C855-DB8F-45AD-BF74-77D252E587F3}"/>
              </a:ext>
            </a:extLst>
          </p:cNvPr>
          <p:cNvSpPr txBox="1"/>
          <p:nvPr/>
        </p:nvSpPr>
        <p:spPr>
          <a:xfrm>
            <a:off x="4061285" y="5474412"/>
            <a:ext cx="197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06251-72F8-4E39-B2B8-FC9C1AEFD0B2}"/>
              </a:ext>
            </a:extLst>
          </p:cNvPr>
          <p:cNvSpPr txBox="1"/>
          <p:nvPr/>
        </p:nvSpPr>
        <p:spPr>
          <a:xfrm>
            <a:off x="9015369" y="3671878"/>
            <a:ext cx="197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Impaired gas exchange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F6BFD-6D1B-46B0-BBEA-B75EDB475E8E}"/>
              </a:ext>
            </a:extLst>
          </p:cNvPr>
          <p:cNvSpPr txBox="1"/>
          <p:nvPr/>
        </p:nvSpPr>
        <p:spPr>
          <a:xfrm>
            <a:off x="2283204" y="2276563"/>
            <a:ext cx="197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Reduced exercise capacity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CD108-955E-4900-93CB-68D1969459B9}"/>
              </a:ext>
            </a:extLst>
          </p:cNvPr>
          <p:cNvSpPr txBox="1"/>
          <p:nvPr/>
        </p:nvSpPr>
        <p:spPr>
          <a:xfrm>
            <a:off x="7871671" y="2353084"/>
            <a:ext cx="197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Respiratory muscle dysfunction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0643A0-6B6E-4BA1-8C13-9B39F3709799}"/>
              </a:ext>
            </a:extLst>
          </p:cNvPr>
          <p:cNvSpPr txBox="1"/>
          <p:nvPr/>
        </p:nvSpPr>
        <p:spPr>
          <a:xfrm>
            <a:off x="7241524" y="4828081"/>
            <a:ext cx="197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Breathing pattern dysfunction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A1593-DF8A-4F43-9BEF-1A5312CD022E}"/>
              </a:ext>
            </a:extLst>
          </p:cNvPr>
          <p:cNvSpPr txBox="1"/>
          <p:nvPr/>
        </p:nvSpPr>
        <p:spPr>
          <a:xfrm>
            <a:off x="5043882" y="2397154"/>
            <a:ext cx="197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Impaired cough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15A2D05-BE1C-4BB5-8C18-E6A739EE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912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Common respiratory problems </a:t>
            </a:r>
          </a:p>
        </p:txBody>
      </p:sp>
    </p:spTree>
    <p:extLst>
      <p:ext uri="{BB962C8B-B14F-4D97-AF65-F5344CB8AC3E}">
        <p14:creationId xmlns:p14="http://schemas.microsoft.com/office/powerpoint/2010/main" val="145381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1D44C-7871-4644-B694-E29B201BA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700" dirty="0">
                <a:solidFill>
                  <a:srgbClr val="FFFFFF"/>
                </a:solidFill>
              </a:rPr>
              <a:t>Breathlessness </a:t>
            </a:r>
          </a:p>
        </p:txBody>
      </p:sp>
      <p:pic>
        <p:nvPicPr>
          <p:cNvPr id="4098" name="Picture 2" descr="Shortness Of Breath GIFs - Get the best GIF on GIPHY">
            <a:extLst>
              <a:ext uri="{FF2B5EF4-FFF2-40B4-BE49-F238E27FC236}">
                <a16:creationId xmlns:a16="http://schemas.microsoft.com/office/drawing/2014/main" id="{D0637143-4D8D-421A-B3AA-D11430E3E9C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079" y="1244858"/>
            <a:ext cx="2639105" cy="327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5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6E45CD-05B0-4930-BF92-16C0F81DC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700">
                <a:solidFill>
                  <a:srgbClr val="FFFFFF"/>
                </a:solidFill>
              </a:rPr>
              <a:t>What is breathlessness?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3603-887E-4C3A-A889-AC54987DC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2000" dirty="0"/>
              <a:t>“Term used to characterize a subjective experience of breathing discomfort that consists of qualitatively distinct sensations that vary in intensity” ATS 2017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7" name="Graphic 6" descr="Brain in head">
            <a:extLst>
              <a:ext uri="{FF2B5EF4-FFF2-40B4-BE49-F238E27FC236}">
                <a16:creationId xmlns:a16="http://schemas.microsoft.com/office/drawing/2014/main" id="{72AAF587-6085-F4FB-7FF3-058F10FB9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5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4" name="Rectangle 207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5" name="Rectangle 207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6" name="Rectangle 207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7" name="Rectangle 207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8" name="Freeform: Shape 207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FF14C-1811-43CC-8093-2A8BD5F9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Causes of breathlessness	</a:t>
            </a:r>
          </a:p>
        </p:txBody>
      </p:sp>
      <p:pic>
        <p:nvPicPr>
          <p:cNvPr id="2054" name="Picture 6" descr="Unexplained Dyspnea - Mayo Clinic Proceedings">
            <a:extLst>
              <a:ext uri="{FF2B5EF4-FFF2-40B4-BE49-F238E27FC236}">
                <a16:creationId xmlns:a16="http://schemas.microsoft.com/office/drawing/2014/main" id="{7D4FFD09-19C3-4342-95CD-E7935E86D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20617" y="467208"/>
            <a:ext cx="6389370" cy="592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50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0" name="Rectangle 308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4" name="Rectangle 309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6" name="Rectangle 309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Breathing, Thinking, Functioning clinical model: a proposal to  facilitate evidence-based breathlessness management in chronic respiratory  disease | npj Primary Care Respiratory Medicine">
            <a:extLst>
              <a:ext uri="{FF2B5EF4-FFF2-40B4-BE49-F238E27FC236}">
                <a16:creationId xmlns:a16="http://schemas.microsoft.com/office/drawing/2014/main" id="{C8ADBF16-5F8B-4ED7-908C-83C478345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5737" y="457200"/>
            <a:ext cx="7820526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030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7" name="Rectangle 92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3" name="Rectangle 923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35" name="Freeform: Shape 923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D79C15-2CD8-478A-863A-2BA261FD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Sputum</a:t>
            </a:r>
          </a:p>
        </p:txBody>
      </p:sp>
      <p:pic>
        <p:nvPicPr>
          <p:cNvPr id="9222" name="Picture 6" descr="PDF] Reproducibility of the Sputum Color Evaluation Depends on the Category  of Caregivers | Semantic Scholar">
            <a:extLst>
              <a:ext uri="{FF2B5EF4-FFF2-40B4-BE49-F238E27FC236}">
                <a16:creationId xmlns:a16="http://schemas.microsoft.com/office/drawing/2014/main" id="{B8FD8408-BF89-435A-97F6-38F197353A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94"/>
          <a:stretch/>
        </p:blipFill>
        <p:spPr bwMode="auto">
          <a:xfrm>
            <a:off x="4555046" y="1937353"/>
            <a:ext cx="7225748" cy="274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74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7" name="Freeform: Shape 820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7B9585-A004-47CD-A322-DBB932A6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CF lung 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85A3892-3C98-45C6-9D86-6A34247B4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34880" y="467208"/>
            <a:ext cx="5360843" cy="592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123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5" name="Rectangle 41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7" name="Rectangle 41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9" name="Rectangle 41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7" name="Rectangle 41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28" name="Freeform: Shape 41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29" name="Rectangle 41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1C7E3-B348-4C25-AA73-94FB5CAD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Normal management of  sputum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46AB-33D5-4662-A1B5-C09764BD0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~100ml mucus produced every day</a:t>
            </a:r>
          </a:p>
          <a:p>
            <a:r>
              <a:rPr lang="en-GB" sz="2000" dirty="0" err="1"/>
              <a:t>Mucocilliary</a:t>
            </a:r>
            <a:r>
              <a:rPr lang="en-GB" sz="2000" dirty="0"/>
              <a:t> escalator transports mucus proximally where it is swallowed or coughed.</a:t>
            </a:r>
          </a:p>
          <a:p>
            <a:r>
              <a:rPr lang="en-GB" sz="2000" dirty="0"/>
              <a:t>Relies upon:</a:t>
            </a:r>
          </a:p>
          <a:p>
            <a:pPr lvl="1"/>
            <a:r>
              <a:rPr lang="en-GB" sz="2000" dirty="0"/>
              <a:t>Normal </a:t>
            </a:r>
            <a:r>
              <a:rPr lang="en-GB" sz="2000" dirty="0" err="1"/>
              <a:t>mucocilliary</a:t>
            </a:r>
            <a:r>
              <a:rPr lang="en-GB" sz="2000" dirty="0"/>
              <a:t> escalator </a:t>
            </a:r>
          </a:p>
          <a:p>
            <a:pPr lvl="1"/>
            <a:r>
              <a:rPr lang="en-GB" sz="2000" dirty="0"/>
              <a:t>Effective cough</a:t>
            </a:r>
          </a:p>
          <a:p>
            <a:pPr marL="457200" lvl="1" indent="0">
              <a:buNone/>
            </a:pPr>
            <a:endParaRPr lang="en-GB" sz="2000" dirty="0"/>
          </a:p>
        </p:txBody>
      </p:sp>
      <p:pic>
        <p:nvPicPr>
          <p:cNvPr id="4098" name="Picture 2" descr="Coughing Phoebe GIFs | Tenor">
            <a:extLst>
              <a:ext uri="{FF2B5EF4-FFF2-40B4-BE49-F238E27FC236}">
                <a16:creationId xmlns:a16="http://schemas.microsoft.com/office/drawing/2014/main" id="{438BC018-BC48-43EC-B50C-ADDED171A13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9502" y="1610616"/>
            <a:ext cx="3615776" cy="364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13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0" name="Rectangle 513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2" name="Rectangle 514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4" name="Rectangle 514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6" name="Rectangle 514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1F576-9E53-4E1F-9E75-8E7A8D98A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Mucocilliary escalator</a:t>
            </a:r>
          </a:p>
        </p:txBody>
      </p:sp>
      <p:pic>
        <p:nvPicPr>
          <p:cNvPr id="5122" name="Picture 2" descr="Smoke Doesn't Cause Asthma Attacks, It Causes Respiratory Attacks">
            <a:extLst>
              <a:ext uri="{FF2B5EF4-FFF2-40B4-BE49-F238E27FC236}">
                <a16:creationId xmlns:a16="http://schemas.microsoft.com/office/drawing/2014/main" id="{06ED10A5-CEA1-406D-AF69-7165ACFFD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39640" y="390832"/>
            <a:ext cx="7605338" cy="451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67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4716D-0C88-46EE-BF3D-2C272A2A3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Factors effecting rate of clearance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0A1F028-054A-4E2F-A94F-ECDAAF6D3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r>
              <a:rPr lang="en-GB" sz="2000" dirty="0"/>
              <a:t>Exercise</a:t>
            </a:r>
          </a:p>
          <a:p>
            <a:r>
              <a:rPr lang="en-GB" sz="2000" dirty="0"/>
              <a:t>Age- Reduces as we get older</a:t>
            </a:r>
          </a:p>
          <a:p>
            <a:r>
              <a:rPr lang="en-GB" sz="2000" dirty="0"/>
              <a:t>Impaired with pollutants or smoke- Don’t live in London…….</a:t>
            </a:r>
          </a:p>
          <a:p>
            <a:r>
              <a:rPr lang="en-GB" sz="2000" dirty="0"/>
              <a:t>Reduced during sleep</a:t>
            </a:r>
          </a:p>
          <a:p>
            <a:r>
              <a:rPr lang="en-GB" sz="2000" dirty="0"/>
              <a:t>Drugs</a:t>
            </a:r>
          </a:p>
          <a:p>
            <a:r>
              <a:rPr lang="en-GB" sz="2000" dirty="0"/>
              <a:t>Hypoxia and hypercapnia</a:t>
            </a:r>
          </a:p>
          <a:p>
            <a:r>
              <a:rPr lang="en-GB" sz="2000" dirty="0"/>
              <a:t>Social embarrassment- Suppressing cough</a:t>
            </a:r>
          </a:p>
          <a:p>
            <a:r>
              <a:rPr lang="en-GB" sz="2000" dirty="0"/>
              <a:t>Increased viscosity of sputum</a:t>
            </a:r>
          </a:p>
          <a:p>
            <a:r>
              <a:rPr lang="en-GB" sz="2000" dirty="0"/>
              <a:t>Impaired cough </a:t>
            </a:r>
          </a:p>
          <a:p>
            <a:r>
              <a:rPr lang="en-GB" sz="2000" dirty="0"/>
              <a:t>Dysfunctional </a:t>
            </a:r>
            <a:r>
              <a:rPr lang="en-GB" sz="2000" dirty="0" err="1"/>
              <a:t>mucociliary</a:t>
            </a:r>
            <a:r>
              <a:rPr lang="en-GB" sz="2000" dirty="0"/>
              <a:t> escalator 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2168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20732-D869-4D5A-8C39-2D4749AA8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Increased sputum retention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25E371E-10EF-4412-B308-8A66DAFD6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Predisposes to infection</a:t>
            </a:r>
          </a:p>
          <a:p>
            <a:r>
              <a:rPr lang="en-GB" sz="2000" dirty="0"/>
              <a:t>Increases airway resistance and increases WOB</a:t>
            </a:r>
          </a:p>
          <a:p>
            <a:r>
              <a:rPr lang="en-GB" sz="2000" dirty="0"/>
              <a:t>Can lead to small airway collapse</a:t>
            </a:r>
          </a:p>
          <a:p>
            <a:r>
              <a:rPr lang="en-GB" sz="2000" dirty="0"/>
              <a:t>Can lead to hypoxia (What is hypoxia????)</a:t>
            </a:r>
          </a:p>
          <a:p>
            <a:r>
              <a:rPr lang="en-GB" sz="2000" dirty="0"/>
              <a:t>Can lead to hypercapnia (What is hypercapnia???)</a:t>
            </a:r>
          </a:p>
        </p:txBody>
      </p:sp>
    </p:spTree>
    <p:extLst>
      <p:ext uri="{BB962C8B-B14F-4D97-AF65-F5344CB8AC3E}">
        <p14:creationId xmlns:p14="http://schemas.microsoft.com/office/powerpoint/2010/main" val="184483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E2748-B67D-4CB9-8F5D-B3948B4CC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Definitions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E466ED-CA52-4C12-8E86-9E1F0B939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Hypoxia- Low levels of oxygen in the tissues (SpO2&lt; 94%)</a:t>
            </a:r>
          </a:p>
          <a:p>
            <a:pPr marL="0" indent="0">
              <a:buNone/>
            </a:pPr>
            <a:r>
              <a:rPr lang="en-GB" sz="2000"/>
              <a:t>Hypoxemia- Low levels of oxygen in the blood (PaO2&lt;10.6mmolHg)</a:t>
            </a:r>
          </a:p>
          <a:p>
            <a:pPr marL="0" indent="0">
              <a:buNone/>
            </a:pPr>
            <a:r>
              <a:rPr lang="en-GB" sz="2000"/>
              <a:t>Hypercapnia- Raised levels of carbon dioxide (PCO2 &gt;6mmolHg)</a:t>
            </a:r>
          </a:p>
        </p:txBody>
      </p:sp>
      <p:pic>
        <p:nvPicPr>
          <p:cNvPr id="7" name="Graphic 6" descr="Lungs">
            <a:extLst>
              <a:ext uri="{FF2B5EF4-FFF2-40B4-BE49-F238E27FC236}">
                <a16:creationId xmlns:a16="http://schemas.microsoft.com/office/drawing/2014/main" id="{32082443-A621-F016-2403-881B710F5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6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425C3-C608-4EC9-9755-F6E48EDA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Cough</a:t>
            </a:r>
          </a:p>
        </p:txBody>
      </p:sp>
      <p:pic>
        <p:nvPicPr>
          <p:cNvPr id="5122" name="Picture 2" descr="Cough GIFs | Tenor">
            <a:extLst>
              <a:ext uri="{FF2B5EF4-FFF2-40B4-BE49-F238E27FC236}">
                <a16:creationId xmlns:a16="http://schemas.microsoft.com/office/drawing/2014/main" id="{9193EBCD-2BB4-4C99-A725-6692348A8D7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27936"/>
            <a:ext cx="4515628" cy="416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45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02" name="Rectangle 720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1ABFF-25C4-44B8-B200-66D6B0CFC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5982" y="409994"/>
            <a:ext cx="5315189" cy="3535083"/>
          </a:xfrm>
        </p:spPr>
        <p:txBody>
          <a:bodyPr anchor="t">
            <a:normAutofit/>
          </a:bodyPr>
          <a:lstStyle/>
          <a:p>
            <a:pPr algn="ctr"/>
            <a:r>
              <a:rPr lang="en-GB" sz="2000" dirty="0"/>
              <a:t>Inhalation</a:t>
            </a:r>
          </a:p>
          <a:p>
            <a:pPr algn="ctr"/>
            <a:r>
              <a:rPr lang="en-GB" sz="2000" dirty="0"/>
              <a:t>Glottic closure</a:t>
            </a:r>
          </a:p>
          <a:p>
            <a:pPr algn="ctr"/>
            <a:r>
              <a:rPr lang="en-GB" sz="2000" dirty="0"/>
              <a:t>Forced exhalation</a:t>
            </a:r>
          </a:p>
        </p:txBody>
      </p:sp>
      <p:sp>
        <p:nvSpPr>
          <p:cNvPr id="7204" name="Rectangle 720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06" name="Rectangle 720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08" name="Rectangle 720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10" name="Rectangle 720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2" name="Picture 4" descr="Center For Cough Reflex Arc">
            <a:extLst>
              <a:ext uri="{FF2B5EF4-FFF2-40B4-BE49-F238E27FC236}">
                <a16:creationId xmlns:a16="http://schemas.microsoft.com/office/drawing/2014/main" id="{815C42CC-CB6F-4C06-A623-CB4DA5DD5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85" r="9794" b="1"/>
          <a:stretch/>
        </p:blipFill>
        <p:spPr bwMode="auto">
          <a:xfrm>
            <a:off x="1315064" y="2739625"/>
            <a:ext cx="5315189" cy="3072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D5C1A7-81FA-4BD9-9E7D-A88A5075D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219" y="2302107"/>
            <a:ext cx="5323715" cy="1642970"/>
          </a:xfrm>
        </p:spPr>
        <p:txBody>
          <a:bodyPr anchor="b"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Cough </a:t>
            </a:r>
          </a:p>
        </p:txBody>
      </p:sp>
    </p:spTree>
    <p:extLst>
      <p:ext uri="{BB962C8B-B14F-4D97-AF65-F5344CB8AC3E}">
        <p14:creationId xmlns:p14="http://schemas.microsoft.com/office/powerpoint/2010/main" val="155715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E90C2-4438-4907-8C4F-BFA52C79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Weak cough- Causes?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2BAFB-A499-40DE-A363-423F1E23B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/>
              <a:t>Insp/Exp muscle weakness</a:t>
            </a:r>
          </a:p>
          <a:p>
            <a:r>
              <a:rPr lang="en-GB" sz="2000"/>
              <a:t>Depression of CNS</a:t>
            </a:r>
          </a:p>
          <a:p>
            <a:r>
              <a:rPr lang="en-GB" sz="2000"/>
              <a:t>Poor glottic control</a:t>
            </a:r>
          </a:p>
          <a:p>
            <a:r>
              <a:rPr lang="en-GB" sz="2000"/>
              <a:t>Neuromuscular disease e.g. MND, DMD</a:t>
            </a:r>
          </a:p>
          <a:p>
            <a:r>
              <a:rPr lang="en-GB" sz="2000"/>
              <a:t>Fatigue</a:t>
            </a:r>
          </a:p>
          <a:p>
            <a:r>
              <a:rPr lang="en-GB" sz="2000"/>
              <a:t>Pain</a:t>
            </a:r>
          </a:p>
          <a:p>
            <a:endParaRPr lang="en-GB" sz="2000"/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16636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C5239-2607-4D40-9E46-AB135E33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Measuring cough strength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B8B5F-DB56-424C-BB3E-A4394E125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Normal PCF 360-800ml</a:t>
            </a:r>
          </a:p>
          <a:p>
            <a:r>
              <a:rPr lang="en-GB" sz="2000" dirty="0"/>
              <a:t>&lt;160 insufficient to clear secretions </a:t>
            </a:r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08B88-A969-4A5A-89E9-D4B96C25B5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276" t="14694" r="13444" b="4219"/>
          <a:stretch/>
        </p:blipFill>
        <p:spPr>
          <a:xfrm>
            <a:off x="7888895" y="478590"/>
            <a:ext cx="4018192" cy="516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7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D59E8-C790-41CE-AD79-64F66AFC4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Wheeze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59D17-3231-456D-8CB7-CE7F54482D77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hlinkClick r:id="rId2"/>
              </a:rPr>
              <a:t>Sounds of Asthma - Wheezing Lung Sounds - YouTube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3306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8" name="Rectangle 1025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0" name="Rectangle 1025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2" name="Rectangle 1026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4" name="Rectangle 1026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6" name="Freeform: Shape 1026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68" name="Rectangle 1026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12ADC-3C80-4854-926D-2698395D1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Wheeze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92FE4-169A-4C73-9043-DA185E021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6" y="649480"/>
            <a:ext cx="3615775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A wheeze is a continuous, coarse, whistling sound produced in the respiratory airways during breathing.</a:t>
            </a:r>
          </a:p>
          <a:p>
            <a:r>
              <a:rPr lang="en-GB" sz="2000" dirty="0"/>
              <a:t>Heard on expiration.</a:t>
            </a:r>
          </a:p>
          <a:p>
            <a:r>
              <a:rPr lang="en-GB" sz="2000" dirty="0"/>
              <a:t>If same sound on inspiration then it is called “stridor”</a:t>
            </a:r>
          </a:p>
          <a:p>
            <a:r>
              <a:rPr lang="en-GB" sz="2000" dirty="0"/>
              <a:t>Present in may different diseases for different reasons </a:t>
            </a:r>
          </a:p>
        </p:txBody>
      </p:sp>
      <p:pic>
        <p:nvPicPr>
          <p:cNvPr id="10244" name="Picture 4" descr="It ain't easy bein' wheezy&quot; Sticker for Sale by BaconPancakes21 | Redbubble">
            <a:extLst>
              <a:ext uri="{FF2B5EF4-FFF2-40B4-BE49-F238E27FC236}">
                <a16:creationId xmlns:a16="http://schemas.microsoft.com/office/drawing/2014/main" id="{38905DB4-308B-4EA1-BA3B-FED1D9DB1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/>
        </p:blipFill>
        <p:spPr bwMode="auto">
          <a:xfrm>
            <a:off x="8197501" y="1439405"/>
            <a:ext cx="3615776" cy="361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83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89" name="Rectangle 1128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1" name="Rectangle 1128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88" name="Rectangle 1128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0" name="Rectangle 1128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92" name="Freeform: Shape 1129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30564-818F-4B0D-A5E8-AC520CED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Causes of wheeze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268" name="Picture 4" descr="Wheeze | British Journal of Hospital Medicine">
            <a:extLst>
              <a:ext uri="{FF2B5EF4-FFF2-40B4-BE49-F238E27FC236}">
                <a16:creationId xmlns:a16="http://schemas.microsoft.com/office/drawing/2014/main" id="{E436EB33-0C75-4957-B281-A63439189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1225146"/>
            <a:ext cx="7232369" cy="4411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684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BDB89-50E4-46FF-9F7C-38E23CBBCB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70" t="21212" r="23466" b="4242"/>
          <a:stretch/>
        </p:blipFill>
        <p:spPr>
          <a:xfrm>
            <a:off x="2278565" y="457200"/>
            <a:ext cx="763486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69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26882-5329-4609-B28A-D5BF14F4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Expiratory flow limitation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893D0-FFC1-425B-96CD-FE1EE859D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GB" sz="2000"/>
              <a:t>Feature of many respiratory diseases but often in COPD.</a:t>
            </a:r>
          </a:p>
          <a:p>
            <a:r>
              <a:rPr lang="en-GB" sz="2000"/>
              <a:t>Reduced calibre of airway.</a:t>
            </a:r>
          </a:p>
          <a:p>
            <a:r>
              <a:rPr lang="en-GB" sz="2000"/>
              <a:t>Associated with hyperinflation  </a:t>
            </a:r>
          </a:p>
        </p:txBody>
      </p:sp>
      <p:pic>
        <p:nvPicPr>
          <p:cNvPr id="5" name="Picture 4" descr="Graphical user interface, text, application, Word&#10;&#10;Description automatically generated">
            <a:extLst>
              <a:ext uri="{FF2B5EF4-FFF2-40B4-BE49-F238E27FC236}">
                <a16:creationId xmlns:a16="http://schemas.microsoft.com/office/drawing/2014/main" id="{4B94AFC8-A044-4590-BE73-131FA0F078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507" r="35008"/>
          <a:stretch/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9" name="Freeform: Shape 3088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8616E-187E-4921-A935-B673AA73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Clinical features of airflow obstruction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EBD6F-2256-4411-9D0A-4A22E4633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245" y="669363"/>
            <a:ext cx="3290579" cy="5534211"/>
          </a:xfrm>
        </p:spPr>
        <p:txBody>
          <a:bodyPr anchor="ctr">
            <a:normAutofit/>
          </a:bodyPr>
          <a:lstStyle/>
          <a:p>
            <a:r>
              <a:rPr lang="en-GB" sz="2000" dirty="0"/>
              <a:t>Breathlessness</a:t>
            </a:r>
          </a:p>
          <a:p>
            <a:r>
              <a:rPr lang="en-GB" sz="2000" dirty="0"/>
              <a:t>Reduced FEV1 on spirometry</a:t>
            </a:r>
          </a:p>
          <a:p>
            <a:r>
              <a:rPr lang="en-GB" sz="2000" dirty="0"/>
              <a:t>Hyperinflation on CXR</a:t>
            </a:r>
          </a:p>
        </p:txBody>
      </p:sp>
      <p:pic>
        <p:nvPicPr>
          <p:cNvPr id="3076" name="Picture 4" descr="Normal CXR | Radiology Case | Radiopaedia.org">
            <a:extLst>
              <a:ext uri="{FF2B5EF4-FFF2-40B4-BE49-F238E27FC236}">
                <a16:creationId xmlns:a16="http://schemas.microsoft.com/office/drawing/2014/main" id="{2F47F3CF-6B86-4096-BECC-924BADBB6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9024" y="900555"/>
            <a:ext cx="2381255" cy="238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hronic obstructive pulmonary disease - marked hyperinflation | Radiology  Case | Radiopaedia.org">
            <a:extLst>
              <a:ext uri="{FF2B5EF4-FFF2-40B4-BE49-F238E27FC236}">
                <a16:creationId xmlns:a16="http://schemas.microsoft.com/office/drawing/2014/main" id="{397CE96D-DB6A-444C-ADA9-1EE1F4078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2034" y="3589863"/>
            <a:ext cx="2395235" cy="239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79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C74A1-3B78-4CDB-9A8B-8456CD99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Lung volumes</a:t>
            </a:r>
          </a:p>
        </p:txBody>
      </p:sp>
      <p:pic>
        <p:nvPicPr>
          <p:cNvPr id="1026" name="Picture 2" descr="Breathing Capacity | Biology for Majors II">
            <a:extLst>
              <a:ext uri="{FF2B5EF4-FFF2-40B4-BE49-F238E27FC236}">
                <a16:creationId xmlns:a16="http://schemas.microsoft.com/office/drawing/2014/main" id="{0E959176-B9DD-48FA-9830-C4A1E8EFC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1694820"/>
            <a:ext cx="7225748" cy="346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14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2DC50-4A47-42B6-8549-75C60E3A5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Lung volumes ctd.</a:t>
            </a:r>
          </a:p>
        </p:txBody>
      </p:sp>
      <p:pic>
        <p:nvPicPr>
          <p:cNvPr id="2050" name="Picture 2" descr="Lung Volumes and Capacities | Medcomic">
            <a:extLst>
              <a:ext uri="{FF2B5EF4-FFF2-40B4-BE49-F238E27FC236}">
                <a16:creationId xmlns:a16="http://schemas.microsoft.com/office/drawing/2014/main" id="{071054DC-7210-4E3C-B710-936B06DB0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95807" y="339047"/>
            <a:ext cx="7225748" cy="361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D75C0D-7159-41CD-81B7-76292771C42E}"/>
              </a:ext>
            </a:extLst>
          </p:cNvPr>
          <p:cNvSpPr txBox="1"/>
          <p:nvPr/>
        </p:nvSpPr>
        <p:spPr>
          <a:xfrm>
            <a:off x="5318035" y="4679774"/>
            <a:ext cx="541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How do we test for lung volumes?</a:t>
            </a:r>
          </a:p>
        </p:txBody>
      </p:sp>
    </p:spTree>
    <p:extLst>
      <p:ext uri="{BB962C8B-B14F-4D97-AF65-F5344CB8AC3E}">
        <p14:creationId xmlns:p14="http://schemas.microsoft.com/office/powerpoint/2010/main" val="383327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B8AF5A-AE8E-4E9A-BC09-4374AB23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648" y="1709692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Lung function reporting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484CC-76B1-4187-9CEA-22A05CFEE5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674" t="22312" r="18801" b="5324"/>
          <a:stretch/>
        </p:blipFill>
        <p:spPr>
          <a:xfrm>
            <a:off x="4657251" y="467208"/>
            <a:ext cx="691610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32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3D07C-E0E8-4D89-8438-24F7CC4D3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What factors would prevent you from exercising?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27543-D9FB-4C0F-B546-61D02E1F9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/>
              <a:t>Fatigue</a:t>
            </a:r>
          </a:p>
          <a:p>
            <a:r>
              <a:rPr lang="en-GB" sz="2000"/>
              <a:t>Pain</a:t>
            </a:r>
          </a:p>
          <a:p>
            <a:r>
              <a:rPr lang="en-GB" sz="2000"/>
              <a:t>Lack of sleep </a:t>
            </a:r>
          </a:p>
          <a:p>
            <a:r>
              <a:rPr lang="en-GB" sz="2000"/>
              <a:t>Feeling unwell </a:t>
            </a:r>
          </a:p>
          <a:p>
            <a:r>
              <a:rPr lang="en-GB" sz="2000"/>
              <a:t>Feeling out of your depth</a:t>
            </a:r>
          </a:p>
          <a:p>
            <a:r>
              <a:rPr lang="en-GB" sz="2000"/>
              <a:t>Lack of structure</a:t>
            </a:r>
          </a:p>
          <a:p>
            <a:r>
              <a:rPr lang="en-GB" sz="2000"/>
              <a:t>Time </a:t>
            </a:r>
          </a:p>
          <a:p>
            <a:r>
              <a:rPr lang="en-GB" sz="2000"/>
              <a:t>Motivation</a:t>
            </a:r>
          </a:p>
          <a:p>
            <a:r>
              <a:rPr lang="en-GB" sz="2000"/>
              <a:t>Self conscious</a:t>
            </a:r>
          </a:p>
          <a:p>
            <a:r>
              <a:rPr lang="en-GB" sz="2000"/>
              <a:t>Lack of access </a:t>
            </a:r>
          </a:p>
          <a:p>
            <a:r>
              <a:rPr lang="en-GB" sz="2000"/>
              <a:t>Boredom</a:t>
            </a:r>
          </a:p>
          <a:p>
            <a:r>
              <a:rPr lang="en-GB" sz="2000"/>
              <a:t>Winter</a:t>
            </a:r>
          </a:p>
        </p:txBody>
      </p:sp>
    </p:spTree>
    <p:extLst>
      <p:ext uri="{BB962C8B-B14F-4D97-AF65-F5344CB8AC3E}">
        <p14:creationId xmlns:p14="http://schemas.microsoft.com/office/powerpoint/2010/main" val="86435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Oval 308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6AE64-D505-496A-9847-DAB0084C0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412021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Reduced exercise capacity </a:t>
            </a:r>
          </a:p>
        </p:txBody>
      </p:sp>
      <p:pic>
        <p:nvPicPr>
          <p:cNvPr id="3074" name="Picture 2" descr="Living your life with Bronchiectasis | Diet, exercise and lifestyle advice">
            <a:extLst>
              <a:ext uri="{FF2B5EF4-FFF2-40B4-BE49-F238E27FC236}">
                <a16:creationId xmlns:a16="http://schemas.microsoft.com/office/drawing/2014/main" id="{E7E02C2B-3E59-41F4-8752-A1CBC1F21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177468"/>
            <a:ext cx="5608320" cy="4458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749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ADB19-EBB2-47F7-AB06-95E06A3A0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412021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Other factors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9546-9B47-4F03-AAEF-6676A8C1B2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4" t="16326" r="28367" b="3946"/>
          <a:stretch/>
        </p:blipFill>
        <p:spPr>
          <a:xfrm>
            <a:off x="6155887" y="373859"/>
            <a:ext cx="5608320" cy="598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87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D12A5-3183-4EEF-8191-43F021B9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How do we improve exercise tolerance?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39A64E-B53B-034E-6BE3-D1AFDE0730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61799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859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DAE68-039C-44C9-90E8-FBEFBCD9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862" y="2485685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C21AA1D7-0C5D-0B2F-DBA2-D08CAC818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2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20559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21D789720E794DA1BE5D40FDC66DBB" ma:contentTypeVersion="15" ma:contentTypeDescription="Create a new document." ma:contentTypeScope="" ma:versionID="3db46f6d4de4e7f009bbe78178fe7d95">
  <xsd:schema xmlns:xsd="http://www.w3.org/2001/XMLSchema" xmlns:xs="http://www.w3.org/2001/XMLSchema" xmlns:p="http://schemas.microsoft.com/office/2006/metadata/properties" xmlns:ns2="fccb76ef-862e-406c-a80f-46ccc769a6a2" xmlns:ns3="7dbc431e-fabf-44b4-8dc6-c66825775825" targetNamespace="http://schemas.microsoft.com/office/2006/metadata/properties" ma:root="true" ma:fieldsID="be8f92dcc0d157f2a7ee7c953042f025" ns2:_="" ns3:_="">
    <xsd:import namespace="fccb76ef-862e-406c-a80f-46ccc769a6a2"/>
    <xsd:import namespace="7dbc431e-fabf-44b4-8dc6-c668257758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b76ef-862e-406c-a80f-46ccc769a6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228021f-28e8-4e43-93b9-326afd39d5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bc431e-fabf-44b4-8dc6-c6682577582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6a4bf86-4ef3-452c-957e-e8399855a21c}" ma:internalName="TaxCatchAll" ma:showField="CatchAllData" ma:web="7dbc431e-fabf-44b4-8dc6-c668257758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dbc431e-fabf-44b4-8dc6-c66825775825" xsi:nil="true"/>
    <lcf76f155ced4ddcb4097134ff3c332f xmlns="fccb76ef-862e-406c-a80f-46ccc769a6a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3F43B3-BA7B-44D8-B538-83B2C15C6F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b76ef-862e-406c-a80f-46ccc769a6a2"/>
    <ds:schemaRef ds:uri="7dbc431e-fabf-44b4-8dc6-c668257758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DEE794-FB98-4CC7-A23D-1BE0D1BC55EE}">
  <ds:schemaRefs>
    <ds:schemaRef ds:uri="http://schemas.microsoft.com/office/2006/metadata/properties"/>
    <ds:schemaRef ds:uri="http://schemas.microsoft.com/office/infopath/2007/PartnerControls"/>
    <ds:schemaRef ds:uri="7dbc431e-fabf-44b4-8dc6-c66825775825"/>
    <ds:schemaRef ds:uri="fccb76ef-862e-406c-a80f-46ccc769a6a2"/>
  </ds:schemaRefs>
</ds:datastoreItem>
</file>

<file path=customXml/itemProps3.xml><?xml version="1.0" encoding="utf-8"?>
<ds:datastoreItem xmlns:ds="http://schemas.openxmlformats.org/officeDocument/2006/customXml" ds:itemID="{07BBFBB9-E4D4-4744-AE5C-09E3A4D1D5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381</TotalTime>
  <Words>526</Words>
  <Application>Microsoft Office PowerPoint</Application>
  <PresentationFormat>Widescreen</PresentationFormat>
  <Paragraphs>128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Introduction to working with people with cardiorespiratory problems</vt:lpstr>
      <vt:lpstr>Learning outcomes</vt:lpstr>
      <vt:lpstr>What can you see that is wrong or a problem with this patient?</vt:lpstr>
      <vt:lpstr>Common respiratory conditions </vt:lpstr>
      <vt:lpstr>Restrictive of obstructive? </vt:lpstr>
      <vt:lpstr>Common respiratory problems </vt:lpstr>
      <vt:lpstr>Breathlessness </vt:lpstr>
      <vt:lpstr>What is breathlessness? </vt:lpstr>
      <vt:lpstr>Causes of breathlessness </vt:lpstr>
      <vt:lpstr>PowerPoint Presentation</vt:lpstr>
      <vt:lpstr>Sputum</vt:lpstr>
      <vt:lpstr>CF lung </vt:lpstr>
      <vt:lpstr>Normal management of  sputum</vt:lpstr>
      <vt:lpstr>Mucocilliary escalator</vt:lpstr>
      <vt:lpstr>Factors effecting rate of clearance</vt:lpstr>
      <vt:lpstr>Increased sputum retention</vt:lpstr>
      <vt:lpstr>Definitions</vt:lpstr>
      <vt:lpstr>Cough</vt:lpstr>
      <vt:lpstr>Cough </vt:lpstr>
      <vt:lpstr>Weak cough- Causes?</vt:lpstr>
      <vt:lpstr>Measuring cough strength </vt:lpstr>
      <vt:lpstr>Wheeze</vt:lpstr>
      <vt:lpstr>Wheeze </vt:lpstr>
      <vt:lpstr>Causes of wheeze</vt:lpstr>
      <vt:lpstr>PowerPoint Presentation</vt:lpstr>
      <vt:lpstr>Expiratory flow limitation </vt:lpstr>
      <vt:lpstr>Clinical features of airflow obstruction</vt:lpstr>
      <vt:lpstr>Lung volumes</vt:lpstr>
      <vt:lpstr>Lung volumes ctd.</vt:lpstr>
      <vt:lpstr>Lung function reporting </vt:lpstr>
      <vt:lpstr>What factors would prevent you from exercising?</vt:lpstr>
      <vt:lpstr>Reduced exercise capacity </vt:lpstr>
      <vt:lpstr>Other factors</vt:lpstr>
      <vt:lpstr>How do we improve exercise tolerance?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working with people with cardiorespiratory problems</dc:title>
  <dc:creator>Smith Oliver</dc:creator>
  <cp:lastModifiedBy>Trivedi Puja</cp:lastModifiedBy>
  <cp:revision>29</cp:revision>
  <dcterms:created xsi:type="dcterms:W3CDTF">2022-10-27T12:35:53Z</dcterms:created>
  <dcterms:modified xsi:type="dcterms:W3CDTF">2024-11-04T16:12:06Z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0x0101001F21D789720E794DA1BE5D40FDC66DBB</vt:lpwstr>
  </property>
</Properties>
</file>