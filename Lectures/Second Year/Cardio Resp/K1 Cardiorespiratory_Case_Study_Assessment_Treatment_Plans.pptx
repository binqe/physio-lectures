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5"/>
    <p:sldId id="261" r:id="rId6"/>
    <p:sldId id="273" r:id="rId7"/>
    <p:sldId id="264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120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Cardiorespiratory Case Study – Assessment &amp; Treatment Plans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BSc Physiotherapy Year 2 Teaching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Apply cardiorespiratory assessment frameworks to clinical scenarios.</a:t>
            </a:r>
          </a:p>
          <a:p>
            <a:pPr>
              <a:defRPr sz="1800"/>
            </a:pPr>
            <a:r>
              <a:t>• Develop evidence-based treatment plans.</a:t>
            </a:r>
          </a:p>
          <a:p>
            <a:pPr>
              <a:defRPr sz="1800"/>
            </a:pPr>
            <a:r>
              <a:t>• Recognise red flags and clinical priorities.</a:t>
            </a:r>
          </a:p>
          <a:p>
            <a:pPr>
              <a:defRPr sz="1800"/>
            </a:pPr>
            <a:r>
              <a:t>• Integrate functional, respiratory, and exercise assessments into patient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Case Scenario 1 –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5776"/>
          </a:xfrm>
        </p:spPr>
        <p:txBody>
          <a:bodyPr>
            <a:normAutofit fontScale="92500" lnSpcReduction="20000"/>
          </a:bodyPr>
          <a:lstStyle/>
          <a:p>
            <a:pPr>
              <a:defRPr sz="1800"/>
            </a:pPr>
            <a:r>
              <a:rPr dirty="0"/>
              <a:t>Patient: 72-year-old male, ex-smoker, admitted with increasing </a:t>
            </a:r>
            <a:r>
              <a:rPr dirty="0" err="1"/>
              <a:t>dyspnoea</a:t>
            </a:r>
            <a:r>
              <a:rPr dirty="0"/>
              <a:t> and sputum.</a:t>
            </a:r>
            <a:r>
              <a:rPr lang="en-GB" dirty="0"/>
              <a:t> </a:t>
            </a:r>
          </a:p>
          <a:p>
            <a:pPr>
              <a:defRPr sz="1800"/>
            </a:pPr>
            <a:endParaRPr lang="en-GB" dirty="0"/>
          </a:p>
          <a:p>
            <a:pPr>
              <a:defRPr sz="1800"/>
            </a:pPr>
            <a:r>
              <a:rPr lang="en-GB" dirty="0"/>
              <a:t>Presenting complaint: Increased breathlessness and productive cough, yellow secretion, no ankle oedema, coarse crackles, no bi-basal crackles. Poor exercise tolerance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lang="en-GB" dirty="0"/>
              <a:t>PMHX</a:t>
            </a:r>
            <a:r>
              <a:rPr dirty="0"/>
              <a:t>: </a:t>
            </a:r>
            <a:r>
              <a:rPr lang="en-GB" dirty="0"/>
              <a:t>heavy smoker, worked as a builder, previous MI, pulmonary hypertension</a:t>
            </a:r>
          </a:p>
          <a:p>
            <a:pPr>
              <a:defRPr sz="1800"/>
            </a:pPr>
            <a:r>
              <a:rPr lang="en-GB" dirty="0"/>
              <a:t>FSHx: lives alone, doesn’t go out much, daughter visits once a week to help with groceries</a:t>
            </a:r>
          </a:p>
          <a:p>
            <a:pPr marL="0" indent="0">
              <a:buNone/>
              <a:defRPr sz="1800"/>
            </a:pPr>
            <a:endParaRPr dirty="0"/>
          </a:p>
          <a:p>
            <a:pPr>
              <a:defRPr sz="1800"/>
            </a:pPr>
            <a:r>
              <a:rPr dirty="0"/>
              <a:t>Observations: RR 28, SpO₂ 88% (on air), HR 98 bpm, Temp 37.8°C.</a:t>
            </a:r>
            <a:r>
              <a:rPr lang="en-GB" dirty="0"/>
              <a:t> BP 128/78</a:t>
            </a:r>
          </a:p>
          <a:p>
            <a:pPr>
              <a:defRPr sz="1800"/>
            </a:pPr>
            <a:endParaRPr lang="en-GB" dirty="0"/>
          </a:p>
          <a:p>
            <a:pPr marL="0" indent="0">
              <a:buNone/>
              <a:defRPr sz="1800"/>
            </a:pPr>
            <a:r>
              <a:rPr lang="en-GB" dirty="0"/>
              <a:t>Questions: </a:t>
            </a:r>
          </a:p>
          <a:p>
            <a:pPr>
              <a:buAutoNum type="arabicPeriod"/>
              <a:defRPr sz="1800"/>
            </a:pPr>
            <a:r>
              <a:rPr lang="en-GB" dirty="0"/>
              <a:t>Assessment</a:t>
            </a:r>
          </a:p>
          <a:p>
            <a:pPr>
              <a:buAutoNum type="arabicPeriod"/>
              <a:defRPr sz="1800"/>
            </a:pPr>
            <a:r>
              <a:rPr lang="en-GB" dirty="0"/>
              <a:t>Investigations</a:t>
            </a:r>
          </a:p>
          <a:p>
            <a:pPr>
              <a:buAutoNum type="arabicPeriod"/>
              <a:defRPr sz="1800"/>
            </a:pPr>
            <a:r>
              <a:rPr lang="en-GB" dirty="0"/>
              <a:t>Differential diagnosis</a:t>
            </a:r>
          </a:p>
          <a:p>
            <a:pPr>
              <a:buAutoNum type="arabicPeriod"/>
              <a:defRPr sz="1800"/>
            </a:pPr>
            <a:r>
              <a:rPr lang="en-GB" dirty="0"/>
              <a:t>Red flags</a:t>
            </a:r>
          </a:p>
          <a:p>
            <a:pPr>
              <a:buAutoNum type="arabicPeriod"/>
              <a:defRPr sz="1800"/>
            </a:pPr>
            <a:r>
              <a:rPr lang="en-GB" dirty="0"/>
              <a:t>Clinical Impressions</a:t>
            </a:r>
          </a:p>
          <a:p>
            <a:pPr>
              <a:buAutoNum type="arabicPeriod"/>
              <a:defRPr sz="1800"/>
            </a:pPr>
            <a:r>
              <a:rPr lang="en-GB" dirty="0"/>
              <a:t>Working diagnosis</a:t>
            </a:r>
          </a:p>
          <a:p>
            <a:pPr>
              <a:buAutoNum type="arabicPeriod"/>
              <a:defRPr sz="1800"/>
            </a:pPr>
            <a:r>
              <a:rPr lang="en-GB" dirty="0"/>
              <a:t>Physiotherapy treatment plans</a:t>
            </a:r>
          </a:p>
          <a:p>
            <a:pPr>
              <a:buAutoNum type="arabicPeriod"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4B53-2C5A-D102-5A2C-EEFC51F84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C7A26-558F-D1ED-CD02-6CFB7A0CE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Case Scenario </a:t>
            </a:r>
            <a:r>
              <a:rPr lang="en-GB" dirty="0"/>
              <a:t>2</a:t>
            </a:r>
            <a:r>
              <a:rPr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A28C5-60D0-F790-F111-70FB9333A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7545"/>
          </a:xfrm>
        </p:spPr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rPr dirty="0"/>
              <a:t>Patient: 60-year-old female, recurrent infections, copious sputum</a:t>
            </a:r>
            <a:r>
              <a:rPr lang="en-GB" dirty="0"/>
              <a:t>, sputum volume 150ml a day </a:t>
            </a:r>
            <a:endParaRPr dirty="0"/>
          </a:p>
          <a:p>
            <a:pPr>
              <a:defRPr sz="1800"/>
            </a:pPr>
            <a:r>
              <a:rPr dirty="0"/>
              <a:t>Presenting complaint: Increased sputum, </a:t>
            </a:r>
            <a:r>
              <a:rPr lang="en-GB" dirty="0"/>
              <a:t>yellow secretions, streak blood-stained secretion, </a:t>
            </a:r>
            <a:r>
              <a:rPr dirty="0"/>
              <a:t>breathlessness, fatigue.</a:t>
            </a:r>
            <a:endParaRPr lang="en-GB" dirty="0"/>
          </a:p>
          <a:p>
            <a:pPr>
              <a:defRPr sz="1800"/>
            </a:pPr>
            <a:r>
              <a:rPr lang="en-GB" dirty="0" err="1"/>
              <a:t>Pmhx</a:t>
            </a:r>
            <a:r>
              <a:rPr lang="en-GB" dirty="0"/>
              <a:t>: 2x previous pneumonia, COPD, HF, diabetes, HTN </a:t>
            </a:r>
          </a:p>
          <a:p>
            <a:pPr>
              <a:defRPr sz="1800"/>
            </a:pPr>
            <a:r>
              <a:rPr lang="en-GB" dirty="0" err="1"/>
              <a:t>SHx</a:t>
            </a:r>
            <a:r>
              <a:rPr lang="en-GB" dirty="0"/>
              <a:t>: Lives with son, like go for a walk 2 days a week, ex-smoker</a:t>
            </a:r>
          </a:p>
          <a:p>
            <a:pPr marL="0" indent="0">
              <a:buNone/>
              <a:defRPr sz="1800"/>
            </a:pPr>
            <a:endParaRPr lang="en-GB" dirty="0"/>
          </a:p>
          <a:p>
            <a:pPr>
              <a:defRPr sz="1800"/>
            </a:pPr>
            <a:r>
              <a:rPr lang="en-GB" dirty="0"/>
              <a:t>Observations: RR 28, SpO₂ 92% (on air), HR 50 bpm, Temp 36.8°C. BP 130/78.</a:t>
            </a:r>
          </a:p>
          <a:p>
            <a:pPr marL="0" indent="0">
              <a:buNone/>
              <a:defRPr sz="1800"/>
            </a:pPr>
            <a:r>
              <a:rPr lang="en-GB" dirty="0"/>
              <a:t>Questions: </a:t>
            </a:r>
          </a:p>
          <a:p>
            <a:pPr>
              <a:buAutoNum type="arabicPeriod"/>
              <a:defRPr sz="1800"/>
            </a:pPr>
            <a:r>
              <a:rPr lang="en-GB" dirty="0"/>
              <a:t>Assessment</a:t>
            </a:r>
          </a:p>
          <a:p>
            <a:pPr>
              <a:buAutoNum type="arabicPeriod"/>
              <a:defRPr sz="1800"/>
            </a:pPr>
            <a:r>
              <a:rPr lang="en-GB" dirty="0"/>
              <a:t>Investigations</a:t>
            </a:r>
          </a:p>
          <a:p>
            <a:pPr>
              <a:buAutoNum type="arabicPeriod"/>
              <a:defRPr sz="1800"/>
            </a:pPr>
            <a:r>
              <a:rPr lang="en-GB" dirty="0"/>
              <a:t>Differential diagnosis</a:t>
            </a:r>
          </a:p>
          <a:p>
            <a:pPr>
              <a:buAutoNum type="arabicPeriod"/>
              <a:defRPr sz="1800"/>
            </a:pPr>
            <a:r>
              <a:rPr lang="en-GB" dirty="0"/>
              <a:t>Red flags</a:t>
            </a:r>
          </a:p>
          <a:p>
            <a:pPr>
              <a:buAutoNum type="arabicPeriod"/>
              <a:defRPr sz="1800"/>
            </a:pPr>
            <a:r>
              <a:rPr lang="en-GB" dirty="0"/>
              <a:t>Clinical Impressions</a:t>
            </a:r>
          </a:p>
          <a:p>
            <a:pPr>
              <a:buAutoNum type="arabicPeriod"/>
              <a:defRPr sz="1800"/>
            </a:pPr>
            <a:r>
              <a:rPr lang="en-GB" dirty="0"/>
              <a:t>Working diagnosis</a:t>
            </a:r>
          </a:p>
          <a:p>
            <a:pPr>
              <a:buAutoNum type="arabicPeriod"/>
              <a:defRPr sz="1800"/>
            </a:pPr>
            <a:r>
              <a:rPr lang="en-GB" dirty="0"/>
              <a:t>Physiotherapy treatment plans</a:t>
            </a:r>
          </a:p>
          <a:p>
            <a:pPr>
              <a:defRPr sz="1800"/>
            </a:pPr>
            <a:endParaRPr lang="en-GB" dirty="0"/>
          </a:p>
          <a:p>
            <a:pPr>
              <a:defRPr sz="18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230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Case Scenario </a:t>
            </a:r>
            <a:r>
              <a:rPr lang="en-GB" dirty="0"/>
              <a:t>3</a:t>
            </a:r>
            <a:r>
              <a:rPr dirty="0"/>
              <a:t> – Postoperative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91364"/>
          </a:xfrm>
        </p:spPr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rPr dirty="0"/>
              <a:t>Patient: 56-year-old female, 2 days post-</a:t>
            </a:r>
            <a:r>
              <a:rPr lang="en-GB" dirty="0"/>
              <a:t> upper </a:t>
            </a:r>
            <a:r>
              <a:rPr dirty="0"/>
              <a:t>abdominal surgery.</a:t>
            </a:r>
          </a:p>
          <a:p>
            <a:pPr>
              <a:defRPr sz="1800"/>
            </a:pPr>
            <a:r>
              <a:rPr dirty="0"/>
              <a:t>Presenting complaint: Shallow breathing, reduced SpO₂ 90%, productive cough.</a:t>
            </a:r>
            <a:r>
              <a:rPr lang="en-GB" dirty="0"/>
              <a:t> </a:t>
            </a:r>
            <a:r>
              <a:rPr dirty="0"/>
              <a:t>Pain, reduced mobility, </a:t>
            </a:r>
            <a:r>
              <a:rPr lang="en-GB" dirty="0"/>
              <a:t>Chest X-ray not great</a:t>
            </a:r>
          </a:p>
          <a:p>
            <a:pPr>
              <a:defRPr sz="1800"/>
            </a:pPr>
            <a:r>
              <a:rPr lang="en-GB" dirty="0" err="1"/>
              <a:t>Pmhx</a:t>
            </a:r>
            <a:r>
              <a:rPr lang="en-GB" dirty="0"/>
              <a:t>: bowel cancer, AF, chronic constipation</a:t>
            </a:r>
          </a:p>
          <a:p>
            <a:pPr>
              <a:defRPr sz="1800"/>
            </a:pPr>
            <a:r>
              <a:rPr lang="en-GB" dirty="0" err="1"/>
              <a:t>Shx</a:t>
            </a:r>
            <a:r>
              <a:rPr lang="en-GB" dirty="0"/>
              <a:t>: Lives family, works as store manager, has two dogs, ex-smoker</a:t>
            </a:r>
          </a:p>
          <a:p>
            <a:pPr>
              <a:defRPr sz="1800"/>
            </a:pPr>
            <a:r>
              <a:rPr lang="en-GB" dirty="0"/>
              <a:t>Observation: Spo2 85%, HR 109, BP 99/60, poor cough flow, chest pain, poor chest expansion, chest X-ray not good, high WCC</a:t>
            </a:r>
          </a:p>
          <a:p>
            <a:pPr>
              <a:defRPr sz="1800"/>
            </a:pPr>
            <a:endParaRPr lang="en-GB" dirty="0"/>
          </a:p>
          <a:p>
            <a:pPr marL="0" indent="0">
              <a:buNone/>
              <a:defRPr sz="1800"/>
            </a:pPr>
            <a:r>
              <a:rPr lang="en-GB" dirty="0"/>
              <a:t>Questions: </a:t>
            </a:r>
          </a:p>
          <a:p>
            <a:pPr>
              <a:buAutoNum type="arabicPeriod"/>
              <a:defRPr sz="1800"/>
            </a:pPr>
            <a:r>
              <a:rPr lang="en-GB" dirty="0"/>
              <a:t>Assessment</a:t>
            </a:r>
          </a:p>
          <a:p>
            <a:pPr>
              <a:buAutoNum type="arabicPeriod"/>
              <a:defRPr sz="1800"/>
            </a:pPr>
            <a:r>
              <a:rPr lang="en-GB" dirty="0"/>
              <a:t>Investigations</a:t>
            </a:r>
          </a:p>
          <a:p>
            <a:pPr>
              <a:buAutoNum type="arabicPeriod"/>
              <a:defRPr sz="1800"/>
            </a:pPr>
            <a:r>
              <a:rPr lang="en-GB" dirty="0"/>
              <a:t>Differential diagnosis</a:t>
            </a:r>
          </a:p>
          <a:p>
            <a:pPr>
              <a:buAutoNum type="arabicPeriod"/>
              <a:defRPr sz="1800"/>
            </a:pPr>
            <a:r>
              <a:rPr lang="en-GB" dirty="0"/>
              <a:t>Red flags</a:t>
            </a:r>
          </a:p>
          <a:p>
            <a:pPr>
              <a:buAutoNum type="arabicPeriod"/>
              <a:defRPr sz="1800"/>
            </a:pPr>
            <a:r>
              <a:rPr lang="en-GB" dirty="0"/>
              <a:t>Clinical Impressions</a:t>
            </a:r>
          </a:p>
          <a:p>
            <a:pPr>
              <a:buAutoNum type="arabicPeriod"/>
              <a:defRPr sz="1800"/>
            </a:pPr>
            <a:r>
              <a:rPr lang="en-GB" dirty="0"/>
              <a:t>Working diagnosis</a:t>
            </a:r>
          </a:p>
          <a:p>
            <a:pPr>
              <a:buAutoNum type="arabicPeriod"/>
              <a:defRPr sz="1800"/>
            </a:pPr>
            <a:r>
              <a:rPr lang="en-GB" dirty="0"/>
              <a:t>Physiotherapy treatment plans</a:t>
            </a:r>
          </a:p>
          <a:p>
            <a:pPr>
              <a:defRPr sz="1800"/>
            </a:pPr>
            <a:endParaRPr lang="en-GB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09DF-59EA-55A8-23BB-0AF6518C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Scenario 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A2CA7-CB90-38E6-DA6F-91F8605A7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2000" dirty="0"/>
              <a:t>Patient: 89 year old male, severe breathlessness, productive cough, ankle swelling and tachypnoea</a:t>
            </a:r>
          </a:p>
          <a:p>
            <a:r>
              <a:rPr lang="en-GB" sz="2000" dirty="0"/>
              <a:t>Presenting complaints: orthopnoea, productive cough, fatigue, cyanosed</a:t>
            </a:r>
          </a:p>
          <a:p>
            <a:pPr marL="0" indent="0">
              <a:buNone/>
            </a:pPr>
            <a:r>
              <a:rPr lang="en-GB" sz="2000" dirty="0"/>
              <a:t>Has not been getting out of bed in the last 3 days, no chest pain </a:t>
            </a:r>
          </a:p>
          <a:p>
            <a:pPr marL="0" indent="0">
              <a:buNone/>
            </a:pPr>
            <a:r>
              <a:rPr lang="en-GB" sz="2000" dirty="0" err="1"/>
              <a:t>Pmhx</a:t>
            </a:r>
            <a:r>
              <a:rPr lang="en-GB" sz="2000" dirty="0"/>
              <a:t>; Previous MI, Asthma, never smoked </a:t>
            </a:r>
          </a:p>
          <a:p>
            <a:pPr marL="0" indent="0">
              <a:buNone/>
            </a:pPr>
            <a:r>
              <a:rPr lang="en-GB" sz="2000" dirty="0" err="1"/>
              <a:t>Shx</a:t>
            </a:r>
            <a:r>
              <a:rPr lang="en-GB" sz="2000" dirty="0"/>
              <a:t>: lives alone, goes out once a week to do own shopping </a:t>
            </a:r>
          </a:p>
          <a:p>
            <a:pPr marL="0" indent="0">
              <a:buNone/>
            </a:pPr>
            <a:r>
              <a:rPr lang="en-GB" sz="2000" dirty="0"/>
              <a:t>Observation: spo2 89, HR 105, BP 156/90, temp 37.5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  <a:defRPr sz="1800"/>
            </a:pPr>
            <a:r>
              <a:rPr lang="en-GB" sz="2000" dirty="0"/>
              <a:t>Questions: </a:t>
            </a:r>
          </a:p>
          <a:p>
            <a:pPr>
              <a:buAutoNum type="arabicPeriod"/>
              <a:defRPr sz="1800"/>
            </a:pPr>
            <a:r>
              <a:rPr lang="en-GB" sz="2000" dirty="0"/>
              <a:t>Assessment</a:t>
            </a:r>
          </a:p>
          <a:p>
            <a:pPr>
              <a:buAutoNum type="arabicPeriod"/>
              <a:defRPr sz="1800"/>
            </a:pPr>
            <a:r>
              <a:rPr lang="en-GB" sz="2000" dirty="0"/>
              <a:t>Investigations</a:t>
            </a:r>
          </a:p>
          <a:p>
            <a:pPr>
              <a:buAutoNum type="arabicPeriod"/>
              <a:defRPr sz="1800"/>
            </a:pPr>
            <a:r>
              <a:rPr lang="en-GB" sz="2000" dirty="0"/>
              <a:t>Differential diagnosis</a:t>
            </a:r>
          </a:p>
          <a:p>
            <a:pPr>
              <a:buAutoNum type="arabicPeriod"/>
              <a:defRPr sz="1800"/>
            </a:pPr>
            <a:r>
              <a:rPr lang="en-GB" sz="2000" dirty="0"/>
              <a:t>Red flags</a:t>
            </a:r>
          </a:p>
          <a:p>
            <a:pPr>
              <a:buAutoNum type="arabicPeriod"/>
              <a:defRPr sz="1800"/>
            </a:pPr>
            <a:r>
              <a:rPr lang="en-GB" sz="2000" dirty="0"/>
              <a:t>Clinical Impressions</a:t>
            </a:r>
          </a:p>
          <a:p>
            <a:pPr>
              <a:buAutoNum type="arabicPeriod"/>
              <a:defRPr sz="1800"/>
            </a:pPr>
            <a:r>
              <a:rPr lang="en-GB" sz="2000" dirty="0"/>
              <a:t>Working diagnosis</a:t>
            </a:r>
          </a:p>
          <a:p>
            <a:pPr>
              <a:buAutoNum type="arabicPeriod"/>
              <a:defRPr sz="1800"/>
            </a:pPr>
            <a:r>
              <a:rPr lang="en-GB" sz="2000" dirty="0"/>
              <a:t>Physiotherapy treatment plans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528268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Scenario 3 – Bronchiectasis Exacerbation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Patient: 60-year-old female, recurrent infections, copious sputum.</a:t>
            </a:r>
          </a:p>
          <a:p>
            <a:pPr>
              <a:defRPr sz="1800"/>
            </a:pPr>
            <a:r>
              <a:t>Presenting complaint: Increased sputum, breathlessness, fatigue.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Clinical Reasoning and Prioritisation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• Identify primary problem list</a:t>
            </a:r>
          </a:p>
          <a:p>
            <a:pPr>
              <a:defRPr sz="1800"/>
            </a:pPr>
            <a:r>
              <a:rPr dirty="0"/>
              <a:t>• </a:t>
            </a:r>
            <a:r>
              <a:rPr dirty="0" err="1"/>
              <a:t>Prioritise</a:t>
            </a:r>
            <a:r>
              <a:rPr dirty="0"/>
              <a:t> immediate vs. long-term goals.</a:t>
            </a:r>
          </a:p>
          <a:p>
            <a:pPr>
              <a:defRPr sz="1800"/>
            </a:pPr>
            <a:r>
              <a:rPr dirty="0"/>
              <a:t>• Apply SMART goal setting.</a:t>
            </a:r>
          </a:p>
          <a:p>
            <a:pPr>
              <a:defRPr sz="1800"/>
            </a:pPr>
            <a:r>
              <a:rPr dirty="0"/>
              <a:t>• Modify plans according to response and comorbidities.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6MWT distance and recovery.</a:t>
            </a:r>
          </a:p>
          <a:p>
            <a:pPr>
              <a:defRPr sz="1800"/>
            </a:pPr>
            <a:r>
              <a:t>• MRC Dyspnoea scale.</a:t>
            </a:r>
          </a:p>
          <a:p>
            <a:pPr>
              <a:defRPr sz="1800"/>
            </a:pPr>
            <a:r>
              <a:t>• Sputum volume and colour.</a:t>
            </a:r>
          </a:p>
          <a:p>
            <a:pPr>
              <a:defRPr sz="1800"/>
            </a:pPr>
            <a:r>
              <a:t>• Quality of Life (SGRQ, CAT score).</a:t>
            </a:r>
          </a:p>
          <a:p>
            <a:pPr>
              <a:defRPr sz="1800"/>
            </a:pPr>
            <a:r>
              <a:t>• Patient satisfaction and adherence.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Integrate comprehensive assessment into decision-making.</a:t>
            </a:r>
          </a:p>
          <a:p>
            <a:pPr>
              <a:defRPr sz="1800"/>
            </a:pPr>
            <a:r>
              <a:t>• Tailor interventions to individual pathophysiology.</a:t>
            </a:r>
          </a:p>
          <a:p>
            <a:pPr>
              <a:defRPr sz="1800"/>
            </a:pPr>
            <a:r>
              <a:t>• Monitor progress with measurable outcomes.</a:t>
            </a:r>
          </a:p>
          <a:p>
            <a:pPr>
              <a:defRPr sz="1800"/>
            </a:pPr>
            <a:r>
              <a:t>• Reinforce education and self-management.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BTS Guidelines on Pulmonary Rehabilitation (2019).</a:t>
            </a:r>
          </a:p>
          <a:p>
            <a:pPr>
              <a:defRPr sz="1800"/>
            </a:pPr>
            <a:r>
              <a:t>• NICE COPD Guideline NG115.</a:t>
            </a:r>
          </a:p>
          <a:p>
            <a:pPr>
              <a:defRPr sz="1800"/>
            </a:pPr>
            <a:r>
              <a:t>• APTA Clinical Practice Guidelines for Cardiorespiratory Physiotherapy.</a:t>
            </a:r>
          </a:p>
          <a:p>
            <a:pPr>
              <a:defRPr sz="1800"/>
            </a:pPr>
            <a:r>
              <a:t>• Pryor &amp; Prasad, Physiotherapy for Respiratory and Cardiac Problems (2023).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641</Words>
  <Application>Microsoft Office PowerPoint</Application>
  <PresentationFormat>On-screen Show (4:3)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Cardiorespiratory Case Study – Assessment &amp; Treatment Plans</vt:lpstr>
      <vt:lpstr>Learning Objectives</vt:lpstr>
      <vt:lpstr>Case Scenario 1 –  </vt:lpstr>
      <vt:lpstr>Case Scenario 2 </vt:lpstr>
      <vt:lpstr>Case Scenario 3 – Postoperative </vt:lpstr>
      <vt:lpstr>Scenario 4 </vt:lpstr>
      <vt:lpstr>Case Scenario 3 – Bronchiectasis Exacerbation</vt:lpstr>
      <vt:lpstr>Clinical Reasoning and Prioritisation</vt:lpstr>
      <vt:lpstr>Outcome Measures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Kola Akinlabi</dc:creator>
  <cp:keywords/>
  <dc:description>generated using python-pptx</dc:description>
  <cp:lastModifiedBy>AKINLABI, Kola (CENTRAL LONDON COMMUNITY HEALTHCARE NHS TRUST)</cp:lastModifiedBy>
  <cp:revision>2</cp:revision>
  <dcterms:created xsi:type="dcterms:W3CDTF">2013-01-27T09:14:16Z</dcterms:created>
  <dcterms:modified xsi:type="dcterms:W3CDTF">2025-10-20T12:54:34Z</dcterms:modified>
  <cp:category/>
</cp:coreProperties>
</file>