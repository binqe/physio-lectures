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24" r:id="rId2"/>
    <p:sldId id="353" r:id="rId3"/>
    <p:sldId id="354" r:id="rId4"/>
    <p:sldId id="355" r:id="rId5"/>
    <p:sldId id="356" r:id="rId6"/>
    <p:sldId id="357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65" r:id="rId15"/>
    <p:sldId id="366" r:id="rId16"/>
    <p:sldId id="367" r:id="rId17"/>
    <p:sldId id="380" r:id="rId18"/>
    <p:sldId id="368" r:id="rId19"/>
    <p:sldId id="381" r:id="rId20"/>
    <p:sldId id="382" r:id="rId21"/>
    <p:sldId id="370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6">
          <p15:clr>
            <a:srgbClr val="A4A3A4"/>
          </p15:clr>
        </p15:guide>
        <p15:guide id="2" pos="22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oshiba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63" autoAdjust="0"/>
    <p:restoredTop sz="88070" autoAdjust="0"/>
  </p:normalViewPr>
  <p:slideViewPr>
    <p:cSldViewPr showGuides="1">
      <p:cViewPr varScale="1">
        <p:scale>
          <a:sx n="74" d="100"/>
          <a:sy n="74" d="100"/>
        </p:scale>
        <p:origin x="1582" y="29"/>
      </p:cViewPr>
      <p:guideLst>
        <p:guide orient="horz" pos="1706"/>
        <p:guide pos="22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CF724-34DE-4F51-B46E-F737E5DE3EF8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F9ABC-FE10-4868-83B5-9BD42E15B8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970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260901af2ba57c8c&amp;cs=0&amp;q=gate+control+theory&amp;sa=X&amp;ved=2ahUKEwibycPKm5KQAxVfWEEAHaC2FzQQxccNegQIBhAB&amp;mstk=AUtExfAav9mhtVlOIaM8gFCpnOnVamyDkHTyceELcrD8YxFJYMHdbpHycrKZuGSO-jNES3bK3zgWSMOsmPsDXLLUgKw-kQCTpaIkiBtZWKGC7bvErJlOPK9b6HwpKG265XfQs7k&amp;csui=3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Aδ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(A-delta)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fibers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C-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fibers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 </a:t>
            </a:r>
            <a:r>
              <a:rPr lang="en-GB" dirty="0"/>
              <a:t>types of nerve </a:t>
            </a:r>
            <a:r>
              <a:rPr lang="en-GB" dirty="0" err="1"/>
              <a:t>fibers</a:t>
            </a:r>
            <a:r>
              <a:rPr lang="en-GB" dirty="0"/>
              <a:t> responsible for transmitting sensory information, particularly pain, temperature, and itch, to the brain and spinal cord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F9ABC-FE10-4868-83B5-9BD42E15B89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270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F9ABC-FE10-4868-83B5-9BD42E15B89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260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diagram of the spinal cord's pain-gating mechanism shows large-diameter A-beta (Aβ)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fibers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(carrying touch/pressure) activating inhibitory interneurons, which then block pain signals from small-diameter A-delta 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Aδ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and C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fibers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reaching the brain's transmission neurons. Conversely, strong pain signals from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Aδ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fibers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inhibit these interneurons, allowing more pain signals to pass through the gate. This process, known as 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gate control theory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is why rubbing a painful spot can provide relief by activating Aβ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fibers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"close the gate" to pain. 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F9ABC-FE10-4868-83B5-9BD42E15B89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685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Fibromyalgia is a chronic condition causing widespread, long-term pain throughout the body, accompanied by fatigue, non-refreshing sleep, and problems with memory and concentration. While there's no known cure, treatments focus on managing symptoms through medication, exercise, stress reduction, and self-care strategies to improve the quality of life. 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Tender points are specific, small areas of the body that are highly sensitive to pressure, causing pain when a doctor presses on them during a physical exam. These points, located on both sides of the body in predictable patterns, are more common with conditions like fibromyalgia and can be a symptom of the widespread muscle pain associated with it. While previously used to diagnose fibromyalgia, other criteria are now preferred, though tender points remain a recognizable symptom.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F9ABC-FE10-4868-83B5-9BD42E15B89E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104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27E85-41BA-1C8A-B24B-F21067038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318F1-939C-8F95-E93E-531527606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A45C34-83E5-EA71-ABF9-D2DFD3F35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DC5EA-C07D-E3BE-163D-1B5D93C1D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F9ABC-FE10-4868-83B5-9BD42E15B89E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0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MidBlue102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3074" name="Picture 2" descr="Image result for london metropolitan university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84" b="14859"/>
          <a:stretch/>
        </p:blipFill>
        <p:spPr bwMode="auto">
          <a:xfrm>
            <a:off x="6606480" y="413668"/>
            <a:ext cx="2286000" cy="92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17" descr="MidBlue9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E95F-E2C0-46FB-B566-B3CA2283A4B2}" type="datetimeFigureOut">
              <a:rPr lang="en-GB" smtClean="0"/>
              <a:pPr/>
              <a:t>08/10/2025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4DEC-9EC3-44D8-8D98-6F74100BD9B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Picture 2" descr="Image result for london metropolitan university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84" b="14859"/>
          <a:stretch/>
        </p:blipFill>
        <p:spPr bwMode="auto">
          <a:xfrm>
            <a:off x="7520880" y="44624"/>
            <a:ext cx="1371600" cy="55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E95F-E2C0-46FB-B566-B3CA2283A4B2}" type="datetimeFigureOut">
              <a:rPr lang="en-GB" smtClean="0"/>
              <a:pPr/>
              <a:t>08/10/2025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4DEC-9EC3-44D8-8D98-6F74100BD9B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E95F-E2C0-46FB-B566-B3CA2283A4B2}" type="datetimeFigureOut">
              <a:rPr lang="en-GB" smtClean="0"/>
              <a:pPr/>
              <a:t>08/10/2025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4DEC-9EC3-44D8-8D98-6F74100BD9B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E95F-E2C0-46FB-B566-B3CA2283A4B2}" type="datetimeFigureOut">
              <a:rPr lang="en-GB" smtClean="0"/>
              <a:pPr/>
              <a:t>08/10/2025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4DEC-9EC3-44D8-8D98-6F74100BD9B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E95F-E2C0-46FB-B566-B3CA2283A4B2}" type="datetimeFigureOut">
              <a:rPr lang="en-GB" smtClean="0"/>
              <a:pPr/>
              <a:t>08/10/2025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4DEC-9EC3-44D8-8D98-6F74100BD9B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E95F-E2C0-46FB-B566-B3CA2283A4B2}" type="datetimeFigureOut">
              <a:rPr lang="en-GB" smtClean="0"/>
              <a:pPr/>
              <a:t>08/10/2025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4DEC-9EC3-44D8-8D98-6F74100BD9B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E95F-E2C0-46FB-B566-B3CA2283A4B2}" type="datetimeFigureOut">
              <a:rPr lang="en-GB" smtClean="0"/>
              <a:pPr/>
              <a:t>08/10/2025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4DEC-9EC3-44D8-8D98-6F74100BD9B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E95F-E2C0-46FB-B566-B3CA2283A4B2}" type="datetimeFigureOut">
              <a:rPr lang="en-GB" smtClean="0"/>
              <a:pPr/>
              <a:t>08/10/2025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4DEC-9EC3-44D8-8D98-6F74100BD9B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E95F-E2C0-46FB-B566-B3CA2283A4B2}" type="datetimeFigureOut">
              <a:rPr lang="en-GB" smtClean="0"/>
              <a:pPr/>
              <a:t>08/10/2025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4DEC-9EC3-44D8-8D98-6F74100BD9B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BE95F-E2C0-46FB-B566-B3CA2283A4B2}" type="datetimeFigureOut">
              <a:rPr lang="en-GB" smtClean="0"/>
              <a:pPr/>
              <a:t>08/10/2025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4DEC-9EC3-44D8-8D98-6F74100BD9B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BE95F-E2C0-46FB-B566-B3CA2283A4B2}" type="datetimeFigureOut">
              <a:rPr lang="en-GB" smtClean="0"/>
              <a:pPr/>
              <a:t>08/10/2025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74DEC-9EC3-44D8-8D98-6F74100BD9B2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323850" y="1484313"/>
            <a:ext cx="8496300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386681" y="1484313"/>
            <a:ext cx="8397626" cy="2016695"/>
          </a:xfrm>
        </p:spPr>
        <p:txBody>
          <a:bodyPr anchor="t" anchorCtr="0">
            <a:normAutofit/>
          </a:bodyPr>
          <a:lstStyle/>
          <a:p>
            <a:pPr algn="l"/>
            <a:r>
              <a:rPr lang="en-GB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Understanding Acute and Chronic Pain in Physiotherapy</a:t>
            </a:r>
            <a:r>
              <a:rPr lang="en-GB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						</a:t>
            </a:r>
            <a:r>
              <a:rPr lang="en-GB" sz="28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21.10.2025</a:t>
            </a:r>
          </a:p>
        </p:txBody>
      </p:sp>
      <p:sp>
        <p:nvSpPr>
          <p:cNvPr id="2052" name="Rectangle 2"/>
          <p:cNvSpPr>
            <a:spLocks noChangeArrowheads="1"/>
          </p:cNvSpPr>
          <p:nvPr/>
        </p:nvSpPr>
        <p:spPr bwMode="auto">
          <a:xfrm>
            <a:off x="350838" y="1484784"/>
            <a:ext cx="8496300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2054" name="Rectangle 3"/>
          <p:cNvSpPr>
            <a:spLocks noChangeArrowheads="1"/>
          </p:cNvSpPr>
          <p:nvPr/>
        </p:nvSpPr>
        <p:spPr bwMode="auto">
          <a:xfrm>
            <a:off x="323850" y="3068638"/>
            <a:ext cx="8496300" cy="309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55" name="Rectangle 3"/>
          <p:cNvSpPr>
            <a:spLocks noChangeArrowheads="1"/>
          </p:cNvSpPr>
          <p:nvPr/>
        </p:nvSpPr>
        <p:spPr bwMode="auto">
          <a:xfrm>
            <a:off x="323850" y="3068638"/>
            <a:ext cx="8496300" cy="309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56" name="Rectangle 3"/>
          <p:cNvSpPr>
            <a:spLocks noChangeArrowheads="1"/>
          </p:cNvSpPr>
          <p:nvPr/>
        </p:nvSpPr>
        <p:spPr bwMode="auto">
          <a:xfrm>
            <a:off x="323850" y="3068638"/>
            <a:ext cx="8424614" cy="309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8CDA3AB-0D8D-33A8-1EAB-46B715695173}"/>
              </a:ext>
            </a:extLst>
          </p:cNvPr>
          <p:cNvSpPr txBox="1">
            <a:spLocks/>
          </p:cNvSpPr>
          <p:nvPr/>
        </p:nvSpPr>
        <p:spPr>
          <a:xfrm>
            <a:off x="386681" y="6021288"/>
            <a:ext cx="6408712" cy="7667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Dr. Bruno Sil dos Santos</a:t>
            </a:r>
          </a:p>
          <a:p>
            <a:pPr algn="just"/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Reader in Pharmaceutics | School of Human Sciences</a:t>
            </a:r>
          </a:p>
        </p:txBody>
      </p:sp>
      <p:pic>
        <p:nvPicPr>
          <p:cNvPr id="1027" name="Picture 3" descr="Children's pain: we can make it better | The Chartered Society of  Physiotherapy">
            <a:extLst>
              <a:ext uri="{FF2B5EF4-FFF2-40B4-BE49-F238E27FC236}">
                <a16:creationId xmlns:a16="http://schemas.microsoft.com/office/drawing/2014/main" id="{073065DD-4C18-6A4A-A5BE-047DF8DAA2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3" t="29000" b="19201"/>
          <a:stretch>
            <a:fillRect/>
          </a:stretch>
        </p:blipFill>
        <p:spPr bwMode="auto">
          <a:xfrm>
            <a:off x="776046" y="3494003"/>
            <a:ext cx="7591909" cy="233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5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377BB-7818-2A02-4DC2-DCCF09BF3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83671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Understanding Acute and Chronic Pain</a:t>
            </a:r>
            <a:b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for Physiotherapy Practice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56CD9B-8976-A33F-3676-31C6E02D3BB7}"/>
              </a:ext>
            </a:extLst>
          </p:cNvPr>
          <p:cNvSpPr txBox="1">
            <a:spLocks/>
          </p:cNvSpPr>
          <p:nvPr/>
        </p:nvSpPr>
        <p:spPr>
          <a:xfrm>
            <a:off x="230832" y="1988840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Differentiate acute vs chronic pain.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Describe key neurophysiological pathways.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Apply pain scales in clinical settings.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Understand pharmacological and multidisciplinary approaches.</a:t>
            </a:r>
          </a:p>
          <a:p>
            <a:pPr algn="just"/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266" name="Picture 2" descr="The Healing Power of Professional Physiotherapy | Activ Therapy">
            <a:extLst>
              <a:ext uri="{FF2B5EF4-FFF2-40B4-BE49-F238E27FC236}">
                <a16:creationId xmlns:a16="http://schemas.microsoft.com/office/drawing/2014/main" id="{83202AE2-BE36-2E2A-D235-39E2493DBE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" t="11020" r="4326" b="2750"/>
          <a:stretch>
            <a:fillRect/>
          </a:stretch>
        </p:blipFill>
        <p:spPr bwMode="auto">
          <a:xfrm>
            <a:off x="2095016" y="3538040"/>
            <a:ext cx="4953968" cy="303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B71FDA2-9EAE-EB04-0ABB-818ADE007118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02060"/>
                </a:solidFill>
              </a:rPr>
              <a:t>ACP</a:t>
            </a:r>
            <a:r>
              <a:rPr lang="en-GB" dirty="0">
                <a:solidFill>
                  <a:schemeClr val="bg1"/>
                </a:solidFill>
              </a:rPr>
              <a:t> – PP – PA – CE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679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61E5C-536E-DD72-4E87-F1104D84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59F56-079F-04CE-A90F-E26A27D61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62068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Pain Physiology (What Is Pain?)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A05A91-9AA8-D682-6BB3-C7206772D8BF}"/>
              </a:ext>
            </a:extLst>
          </p:cNvPr>
          <p:cNvSpPr txBox="1">
            <a:spLocks/>
          </p:cNvSpPr>
          <p:nvPr/>
        </p:nvSpPr>
        <p:spPr>
          <a:xfrm>
            <a:off x="230832" y="1556792"/>
            <a:ext cx="8229600" cy="14401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Pain is “an unpleasant sensory and emotional experience associated with actual or potential tissue damage.” IASP (International Association for the Study of Pain).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It’s not just about tissue damage: biopsychosocial nature of pain.</a:t>
            </a:r>
          </a:p>
        </p:txBody>
      </p:sp>
      <p:pic>
        <p:nvPicPr>
          <p:cNvPr id="12290" name="Picture 2" descr="Understanding pain - Live Well with Pain">
            <a:extLst>
              <a:ext uri="{FF2B5EF4-FFF2-40B4-BE49-F238E27FC236}">
                <a16:creationId xmlns:a16="http://schemas.microsoft.com/office/drawing/2014/main" id="{752D7CAF-9C72-AA5A-9A05-BAA4E527F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115" y="3068960"/>
            <a:ext cx="4937770" cy="3706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772D91-67C3-ACDE-2BD1-4A1196F69599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</a:t>
            </a:r>
            <a:r>
              <a:rPr lang="en-GB" dirty="0">
                <a:solidFill>
                  <a:srgbClr val="002060"/>
                </a:solidFill>
              </a:rPr>
              <a:t>PP</a:t>
            </a:r>
            <a:r>
              <a:rPr lang="en-GB" dirty="0">
                <a:solidFill>
                  <a:schemeClr val="bg1"/>
                </a:solidFill>
              </a:rPr>
              <a:t> – PA – CE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713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FB0B2-F84E-C07C-38FF-E1F08FEDD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9612205-C0DA-0ABE-7D83-70F55BBB16DE}"/>
              </a:ext>
            </a:extLst>
          </p:cNvPr>
          <p:cNvSpPr txBox="1">
            <a:spLocks/>
          </p:cNvSpPr>
          <p:nvPr/>
        </p:nvSpPr>
        <p:spPr>
          <a:xfrm>
            <a:off x="350838" y="6206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Pain Physiology (Acute vs Chronic Pain)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24D3EBB-AE37-21EF-4E9C-CF1652A57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512932"/>
              </p:ext>
            </p:extLst>
          </p:nvPr>
        </p:nvGraphicFramePr>
        <p:xfrm>
          <a:off x="431540" y="1775913"/>
          <a:ext cx="8280920" cy="2517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123">
                  <a:extLst>
                    <a:ext uri="{9D8B030D-6E8A-4147-A177-3AD203B41FA5}">
                      <a16:colId xmlns:a16="http://schemas.microsoft.com/office/drawing/2014/main" val="2645345431"/>
                    </a:ext>
                  </a:extLst>
                </a:gridCol>
                <a:gridCol w="1419586">
                  <a:extLst>
                    <a:ext uri="{9D8B030D-6E8A-4147-A177-3AD203B41FA5}">
                      <a16:colId xmlns:a16="http://schemas.microsoft.com/office/drawing/2014/main" val="2801688635"/>
                    </a:ext>
                  </a:extLst>
                </a:gridCol>
                <a:gridCol w="1892782">
                  <a:extLst>
                    <a:ext uri="{9D8B030D-6E8A-4147-A177-3AD203B41FA5}">
                      <a16:colId xmlns:a16="http://schemas.microsoft.com/office/drawing/2014/main" val="1425040629"/>
                    </a:ext>
                  </a:extLst>
                </a:gridCol>
                <a:gridCol w="1577318">
                  <a:extLst>
                    <a:ext uri="{9D8B030D-6E8A-4147-A177-3AD203B41FA5}">
                      <a16:colId xmlns:a16="http://schemas.microsoft.com/office/drawing/2014/main" val="1268299452"/>
                    </a:ext>
                  </a:extLst>
                </a:gridCol>
                <a:gridCol w="2287111">
                  <a:extLst>
                    <a:ext uri="{9D8B030D-6E8A-4147-A177-3AD203B41FA5}">
                      <a16:colId xmlns:a16="http://schemas.microsoft.com/office/drawing/2014/main" val="386833125"/>
                    </a:ext>
                  </a:extLst>
                </a:gridCol>
              </a:tblGrid>
              <a:tr h="760746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GB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Duration</a:t>
                      </a:r>
                      <a:endParaRPr lang="en-GB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Cause</a:t>
                      </a:r>
                      <a:endParaRPr lang="en-GB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GB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Goal of Treatment </a:t>
                      </a:r>
                      <a:endParaRPr lang="en-GB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320873"/>
                  </a:ext>
                </a:extLst>
              </a:tr>
              <a:tr h="878218">
                <a:tc>
                  <a:txBody>
                    <a:bodyPr/>
                    <a:lstStyle/>
                    <a:p>
                      <a:pPr algn="ctr"/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Acute</a:t>
                      </a:r>
                      <a:endParaRPr lang="en-GB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&lt;3 months </a:t>
                      </a:r>
                      <a:endParaRPr lang="en-GB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Injury/surgery</a:t>
                      </a:r>
                      <a:endParaRPr lang="en-GB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Sharp, protective</a:t>
                      </a:r>
                      <a:endParaRPr lang="en-GB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Resolution/healing</a:t>
                      </a:r>
                      <a:endParaRPr lang="en-GB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9407129"/>
                  </a:ext>
                </a:extLst>
              </a:tr>
              <a:tr h="878218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Chronic</a:t>
                      </a:r>
                      <a:endParaRPr lang="en-GB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&gt;3 months</a:t>
                      </a:r>
                      <a:endParaRPr lang="en-GB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Often multifactorial</a:t>
                      </a:r>
                      <a:endParaRPr lang="en-GB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Persistent, maladaptive</a:t>
                      </a:r>
                      <a:endParaRPr lang="en-GB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&amp; quality of life</a:t>
                      </a:r>
                      <a:endParaRPr lang="en-GB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8056398"/>
                  </a:ext>
                </a:extLst>
              </a:tr>
            </a:tbl>
          </a:graphicData>
        </a:graphic>
      </p:graphicFrame>
      <p:pic>
        <p:nvPicPr>
          <p:cNvPr id="13314" name="Picture 2" descr="Acute vs Chronic pain">
            <a:extLst>
              <a:ext uri="{FF2B5EF4-FFF2-40B4-BE49-F238E27FC236}">
                <a16:creationId xmlns:a16="http://schemas.microsoft.com/office/drawing/2014/main" id="{E41B9A1F-38BC-D608-2B17-44B4223C26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06" b="19699"/>
          <a:stretch>
            <a:fillRect/>
          </a:stretch>
        </p:blipFill>
        <p:spPr bwMode="auto">
          <a:xfrm>
            <a:off x="1503680" y="4509120"/>
            <a:ext cx="6136640" cy="2077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785ABA5-360B-706C-5332-274F3621C020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</a:t>
            </a:r>
            <a:r>
              <a:rPr lang="en-GB" dirty="0">
                <a:solidFill>
                  <a:srgbClr val="002060"/>
                </a:solidFill>
              </a:rPr>
              <a:t>PP</a:t>
            </a:r>
            <a:r>
              <a:rPr lang="en-GB" dirty="0">
                <a:solidFill>
                  <a:schemeClr val="bg1"/>
                </a:solidFill>
              </a:rPr>
              <a:t> – PA – CE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237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14B6E-8C4B-8445-6B09-6B7BF013B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F77F9E-75BC-684C-3F52-85D1F727BD3C}"/>
              </a:ext>
            </a:extLst>
          </p:cNvPr>
          <p:cNvSpPr txBox="1">
            <a:spLocks/>
          </p:cNvSpPr>
          <p:nvPr/>
        </p:nvSpPr>
        <p:spPr>
          <a:xfrm>
            <a:off x="446856" y="1556792"/>
            <a:ext cx="8229600" cy="10801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Stimulus → Nociceptor → A</a:t>
            </a:r>
            <a:r>
              <a:rPr lang="el-GR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δ/</a:t>
            </a: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 fibres → Dorsal horn → Spinothalamic tract → Brain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Key regions: Thalamus, Somatosensory cortex, Limbic system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71D921-E9D6-95DA-3ECC-8AF40EE0BBF9}"/>
              </a:ext>
            </a:extLst>
          </p:cNvPr>
          <p:cNvSpPr txBox="1">
            <a:spLocks/>
          </p:cNvSpPr>
          <p:nvPr/>
        </p:nvSpPr>
        <p:spPr>
          <a:xfrm>
            <a:off x="350838" y="6206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Pain Physiology (Nociceptive Pathway)</a:t>
            </a:r>
          </a:p>
        </p:txBody>
      </p:sp>
      <p:pic>
        <p:nvPicPr>
          <p:cNvPr id="25603" name="Picture 3" descr="Pain pathway: interactive diagram | GetBodySmart">
            <a:extLst>
              <a:ext uri="{FF2B5EF4-FFF2-40B4-BE49-F238E27FC236}">
                <a16:creationId xmlns:a16="http://schemas.microsoft.com/office/drawing/2014/main" id="{1146FD3A-923C-BC3D-CF74-3F3D59106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733817"/>
            <a:ext cx="487680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459111C-D164-75A6-1BEE-3FC10F498299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</a:t>
            </a:r>
            <a:r>
              <a:rPr lang="en-GB" dirty="0">
                <a:solidFill>
                  <a:srgbClr val="002060"/>
                </a:solidFill>
              </a:rPr>
              <a:t>PP</a:t>
            </a:r>
            <a:r>
              <a:rPr lang="en-GB" dirty="0">
                <a:solidFill>
                  <a:schemeClr val="bg1"/>
                </a:solidFill>
              </a:rPr>
              <a:t> – PA – CE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754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0324F-067E-0AFD-2A58-6462E77F4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AAA50A-476B-0579-B117-33B73EB31F8E}"/>
              </a:ext>
            </a:extLst>
          </p:cNvPr>
          <p:cNvSpPr txBox="1">
            <a:spLocks/>
          </p:cNvSpPr>
          <p:nvPr/>
        </p:nvSpPr>
        <p:spPr>
          <a:xfrm>
            <a:off x="230832" y="1628800"/>
            <a:ext cx="8229600" cy="50405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Mechanical</a:t>
            </a:r>
          </a:p>
          <a:p>
            <a:pPr algn="just"/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Stimulus: Respond to intense mechanical stimuli, such as 	pinching, cutting, or stretching.</a:t>
            </a:r>
          </a:p>
          <a:p>
            <a:pPr algn="just"/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GB" sz="2000" i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Examples:</a:t>
            </a: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Respond to pressure or incisions that break the 	skin.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Thermal</a:t>
            </a:r>
          </a:p>
          <a:p>
            <a:pPr algn="just"/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Stimulus: Respond to extreme temperatures, either very hot or 	very cold.</a:t>
            </a:r>
          </a:p>
          <a:p>
            <a:pPr algn="just"/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GB" sz="2000" i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Examples:</a:t>
            </a: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Detect harmful heat or cold.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Chemical</a:t>
            </a:r>
          </a:p>
          <a:p>
            <a:pPr algn="just"/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Stimulus: Respond to chemical substances.</a:t>
            </a:r>
          </a:p>
          <a:p>
            <a:pPr algn="just"/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GB" sz="2000" i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Examples:</a:t>
            </a: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Substances that can act on body tissues, such as 	inflammatory mediators.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Polymodal</a:t>
            </a:r>
          </a:p>
          <a:p>
            <a:pPr algn="just"/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Stimulus: Respond to high-intensity mechanical, thermal, 	and/or chemical stimuli.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F408BE-FE99-554B-ABD1-8FCBE804BDCE}"/>
              </a:ext>
            </a:extLst>
          </p:cNvPr>
          <p:cNvSpPr txBox="1">
            <a:spLocks/>
          </p:cNvSpPr>
          <p:nvPr/>
        </p:nvSpPr>
        <p:spPr>
          <a:xfrm>
            <a:off x="350838" y="6206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Pain Physiology (Types of Nociceptors)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27F0C1-1D2B-8476-BEB7-F525C1EFB9BB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</a:t>
            </a:r>
            <a:r>
              <a:rPr lang="en-GB" dirty="0">
                <a:solidFill>
                  <a:srgbClr val="002060"/>
                </a:solidFill>
              </a:rPr>
              <a:t>PP</a:t>
            </a:r>
            <a:r>
              <a:rPr lang="en-GB" dirty="0">
                <a:solidFill>
                  <a:schemeClr val="bg1"/>
                </a:solidFill>
              </a:rPr>
              <a:t> – PA – CE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367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276E-D209-FA82-2D09-30AC0434F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8051-5DDF-E1C0-DA46-996C92371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692696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Autonomic Nervous System (ANS) in Pain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B34CB07-F8CB-7AA9-D039-86A1289CEAF4}"/>
              </a:ext>
            </a:extLst>
          </p:cNvPr>
          <p:cNvSpPr txBox="1">
            <a:spLocks/>
          </p:cNvSpPr>
          <p:nvPr/>
        </p:nvSpPr>
        <p:spPr>
          <a:xfrm>
            <a:off x="230832" y="1628800"/>
            <a:ext cx="8229600" cy="7920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Sympathetic activation: ↑ HR, BP, sweating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Chronic pain: ANS dysregulation (e.g., fibromyalgia)</a:t>
            </a:r>
          </a:p>
          <a:p>
            <a:pPr algn="just"/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3556" name="Picture 4" descr="3+ Thousand Autonomic Nervous System Royalty-Free Images, Stock Photos &amp;  Pictures | Shutterstock">
            <a:extLst>
              <a:ext uri="{FF2B5EF4-FFF2-40B4-BE49-F238E27FC236}">
                <a16:creationId xmlns:a16="http://schemas.microsoft.com/office/drawing/2014/main" id="{48A76590-47A9-7D10-B870-8CA220A48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527855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53A473-1C98-1416-6707-320AC9C206DA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</a:t>
            </a:r>
            <a:r>
              <a:rPr lang="en-GB" dirty="0">
                <a:solidFill>
                  <a:srgbClr val="002060"/>
                </a:solidFill>
              </a:rPr>
              <a:t>PP</a:t>
            </a:r>
            <a:r>
              <a:rPr lang="en-GB" dirty="0">
                <a:solidFill>
                  <a:schemeClr val="bg1"/>
                </a:solidFill>
              </a:rPr>
              <a:t> – PA – CE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66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8C927-8431-B97B-C5E7-672635DEF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28ABA-3D9F-0152-F9D2-9471FC16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692696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Gate Control Theory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FA4BC6-ABA8-1BBE-40EF-2F39754D595F}"/>
              </a:ext>
            </a:extLst>
          </p:cNvPr>
          <p:cNvSpPr txBox="1">
            <a:spLocks/>
          </p:cNvSpPr>
          <p:nvPr/>
        </p:nvSpPr>
        <p:spPr>
          <a:xfrm>
            <a:off x="230832" y="1556792"/>
            <a:ext cx="8229600" cy="52565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Pain signals modulated at spinal cord “gate”.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Non-painful input can inhibit pain.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Basis for TENS (Transcutaneous Electrical Nerve Stimulation) and manual therapy.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just"/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just"/>
            <a:endParaRPr lang="en-GB" sz="2000" b="1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GB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Gate Closing:</a:t>
            </a: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This activation of the inhibitory interneurons by Aβ </a:t>
            </a:r>
            <a:r>
              <a:rPr lang="en-GB" sz="2000" dirty="0" err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fibers</a:t>
            </a: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effectively "closes the gate," reducing the perception of pain.</a:t>
            </a:r>
          </a:p>
          <a:p>
            <a:pPr algn="just"/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2531" name="Picture 3" descr="Fig. 1">
            <a:extLst>
              <a:ext uri="{FF2B5EF4-FFF2-40B4-BE49-F238E27FC236}">
                <a16:creationId xmlns:a16="http://schemas.microsoft.com/office/drawing/2014/main" id="{05107BE4-3B89-C38E-9FB2-7EF44D950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26" y="2996952"/>
            <a:ext cx="6735349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4CDB03-8207-9CF7-51AB-56C0FC6CD37F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</a:t>
            </a:r>
            <a:r>
              <a:rPr lang="en-GB" dirty="0">
                <a:solidFill>
                  <a:srgbClr val="002060"/>
                </a:solidFill>
              </a:rPr>
              <a:t>PP</a:t>
            </a:r>
            <a:r>
              <a:rPr lang="en-GB" dirty="0">
                <a:solidFill>
                  <a:schemeClr val="bg1"/>
                </a:solidFill>
              </a:rPr>
              <a:t> – PA – CE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307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2C0F0-C8D0-F40D-B9EC-6176C1022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FA86-71D3-06EE-6A55-4DB3AAEE1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836712"/>
            <a:ext cx="8229600" cy="792088"/>
          </a:xfrm>
        </p:spPr>
        <p:txBody>
          <a:bodyPr>
            <a:normAutofit/>
          </a:bodyPr>
          <a:lstStyle/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Pain Assessment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3F57CA-5DFF-048E-45AF-00E2C0193A89}"/>
              </a:ext>
            </a:extLst>
          </p:cNvPr>
          <p:cNvSpPr txBox="1">
            <a:spLocks/>
          </p:cNvSpPr>
          <p:nvPr/>
        </p:nvSpPr>
        <p:spPr>
          <a:xfrm>
            <a:off x="259345" y="1628800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Guides treatment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Tracks progress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Enhances communication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Validates patient experience</a:t>
            </a:r>
          </a:p>
          <a:p>
            <a:pPr algn="just"/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4338" name="Picture 2" descr="Nurse Triage and Pain Assessment - CarivaCare's™ 24/7 Nurse Triage">
            <a:extLst>
              <a:ext uri="{FF2B5EF4-FFF2-40B4-BE49-F238E27FC236}">
                <a16:creationId xmlns:a16="http://schemas.microsoft.com/office/drawing/2014/main" id="{82372B88-B496-A076-11A7-E940F95E9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" t="25850" r="2667" b="2751"/>
          <a:stretch>
            <a:fillRect/>
          </a:stretch>
        </p:blipFill>
        <p:spPr bwMode="auto">
          <a:xfrm>
            <a:off x="1664787" y="3140968"/>
            <a:ext cx="5814426" cy="3325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CE412A-C386-8E31-0B09-14F0157E9D83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PP – </a:t>
            </a:r>
            <a:r>
              <a:rPr lang="en-GB" dirty="0">
                <a:solidFill>
                  <a:srgbClr val="002060"/>
                </a:solidFill>
              </a:rPr>
              <a:t>PA</a:t>
            </a:r>
            <a:r>
              <a:rPr lang="en-GB" dirty="0">
                <a:solidFill>
                  <a:schemeClr val="bg1"/>
                </a:solidFill>
              </a:rPr>
              <a:t> – CE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086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52D8-B909-D594-B2C1-9D9BD5C04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8AC4E-D181-541E-E13C-B7CF4B62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836712"/>
            <a:ext cx="8229600" cy="864096"/>
          </a:xfrm>
        </p:spPr>
        <p:txBody>
          <a:bodyPr>
            <a:normAutofit/>
          </a:bodyPr>
          <a:lstStyle/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Visual Analogue Scale (VAS)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118BD19-653E-AA11-7AC2-F0D21D5D8E72}"/>
              </a:ext>
            </a:extLst>
          </p:cNvPr>
          <p:cNvSpPr txBox="1">
            <a:spLocks/>
          </p:cNvSpPr>
          <p:nvPr/>
        </p:nvSpPr>
        <p:spPr>
          <a:xfrm>
            <a:off x="230832" y="1628800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Content: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0–10 cm line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Patient marks pain intensity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Simple, quick, subjective</a:t>
            </a:r>
          </a:p>
          <a:p>
            <a:pPr algn="just"/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0486" name="Picture 6" descr="Universal Visual Analogue Scale (VAS ...">
            <a:extLst>
              <a:ext uri="{FF2B5EF4-FFF2-40B4-BE49-F238E27FC236}">
                <a16:creationId xmlns:a16="http://schemas.microsoft.com/office/drawing/2014/main" id="{81317DFC-BE43-B873-1C5F-1D2D811F7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725" y="3140968"/>
            <a:ext cx="516255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A9E530-EB1F-64AE-BD65-930C3F64B2C7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PP – </a:t>
            </a:r>
            <a:r>
              <a:rPr lang="en-GB" dirty="0">
                <a:solidFill>
                  <a:srgbClr val="002060"/>
                </a:solidFill>
              </a:rPr>
              <a:t>PA</a:t>
            </a:r>
            <a:r>
              <a:rPr lang="en-GB" dirty="0">
                <a:solidFill>
                  <a:schemeClr val="bg1"/>
                </a:solidFill>
              </a:rPr>
              <a:t> – CE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189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02B36-7618-2B84-B880-224175A46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0508F-312B-5FA1-9A65-8ED177E74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836712"/>
            <a:ext cx="8229600" cy="864096"/>
          </a:xfrm>
        </p:spPr>
        <p:txBody>
          <a:bodyPr>
            <a:normAutofit/>
          </a:bodyPr>
          <a:lstStyle/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Numeric Rating Scale (NRS)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03429FB-564A-AE06-6363-A53D545DF0A4}"/>
              </a:ext>
            </a:extLst>
          </p:cNvPr>
          <p:cNvSpPr txBox="1">
            <a:spLocks/>
          </p:cNvSpPr>
          <p:nvPr/>
        </p:nvSpPr>
        <p:spPr>
          <a:xfrm>
            <a:off x="230832" y="1628800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Content: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Verbal 0–10 scale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Easy to administer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Common in acute settings</a:t>
            </a:r>
          </a:p>
        </p:txBody>
      </p:sp>
      <p:pic>
        <p:nvPicPr>
          <p:cNvPr id="19459" name="Picture 3" descr="Verbal Numerical Rating Scale: A ...">
            <a:extLst>
              <a:ext uri="{FF2B5EF4-FFF2-40B4-BE49-F238E27FC236}">
                <a16:creationId xmlns:a16="http://schemas.microsoft.com/office/drawing/2014/main" id="{3EC48C85-930F-80A4-A746-70FD2E96A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3212976"/>
            <a:ext cx="55245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E9A8B2-6850-04F4-0287-1FD1BB26BF1C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PP – </a:t>
            </a:r>
            <a:r>
              <a:rPr lang="en-GB" dirty="0">
                <a:solidFill>
                  <a:srgbClr val="002060"/>
                </a:solidFill>
              </a:rPr>
              <a:t>PA</a:t>
            </a:r>
            <a:r>
              <a:rPr lang="en-GB" dirty="0">
                <a:solidFill>
                  <a:schemeClr val="bg1"/>
                </a:solidFill>
              </a:rPr>
              <a:t> – CE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658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30478-D466-EC8A-58B6-274F6281F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8561E-F010-E925-522C-FF35A6E47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836712"/>
            <a:ext cx="8229600" cy="936104"/>
          </a:xfrm>
        </p:spPr>
        <p:txBody>
          <a:bodyPr>
            <a:normAutofit/>
          </a:bodyPr>
          <a:lstStyle/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McGill Pain Questionnaire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5FF428-A546-DC9F-7A7D-EA38111FBE49}"/>
              </a:ext>
            </a:extLst>
          </p:cNvPr>
          <p:cNvSpPr txBox="1">
            <a:spLocks/>
          </p:cNvSpPr>
          <p:nvPr/>
        </p:nvSpPr>
        <p:spPr>
          <a:xfrm>
            <a:off x="230832" y="1628800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Content: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Descriptive words: sensory, affective, evaluative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Captures pain quality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Useful in chronic pain</a:t>
            </a:r>
          </a:p>
        </p:txBody>
      </p:sp>
      <p:pic>
        <p:nvPicPr>
          <p:cNvPr id="18436" name="Picture 4" descr="McGill Pain Scale">
            <a:extLst>
              <a:ext uri="{FF2B5EF4-FFF2-40B4-BE49-F238E27FC236}">
                <a16:creationId xmlns:a16="http://schemas.microsoft.com/office/drawing/2014/main" id="{6F327D7E-07CD-5418-9CE7-B07FFE094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860" y="2996952"/>
            <a:ext cx="2520280" cy="3483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5E545A-73D0-B9C5-3498-5AD92BD20E00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PP – </a:t>
            </a:r>
            <a:r>
              <a:rPr lang="en-GB" dirty="0">
                <a:solidFill>
                  <a:srgbClr val="002060"/>
                </a:solidFill>
              </a:rPr>
              <a:t>PA</a:t>
            </a:r>
            <a:r>
              <a:rPr lang="en-GB" dirty="0">
                <a:solidFill>
                  <a:schemeClr val="bg1"/>
                </a:solidFill>
              </a:rPr>
              <a:t> – CE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85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D103A-2E93-42EC-4F64-CFA7F2D8A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ECF3E-65F8-FF88-DC87-30E03C7B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836712"/>
            <a:ext cx="8229600" cy="792088"/>
          </a:xfrm>
        </p:spPr>
        <p:txBody>
          <a:bodyPr>
            <a:normAutofit/>
          </a:bodyPr>
          <a:lstStyle/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Brief Pain Inventory (BPI)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E6B0F-22DB-1770-4132-6768FE1A66D3}"/>
              </a:ext>
            </a:extLst>
          </p:cNvPr>
          <p:cNvSpPr txBox="1">
            <a:spLocks/>
          </p:cNvSpPr>
          <p:nvPr/>
        </p:nvSpPr>
        <p:spPr>
          <a:xfrm>
            <a:off x="230832" y="1628800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Content: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Assesses pain severity and interference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Domains: mood, sleep, activity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Used in oncology and chronic pain</a:t>
            </a:r>
          </a:p>
        </p:txBody>
      </p:sp>
      <p:pic>
        <p:nvPicPr>
          <p:cNvPr id="2051" name="Picture 3" descr="Brief Pain Inventory (Short Form) | PDF | Pain Management | Pain">
            <a:extLst>
              <a:ext uri="{FF2B5EF4-FFF2-40B4-BE49-F238E27FC236}">
                <a16:creationId xmlns:a16="http://schemas.microsoft.com/office/drawing/2014/main" id="{050580ED-A04E-B872-A3F1-85EDDD1C9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264" y="3068960"/>
            <a:ext cx="2633472" cy="351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07919B-BB54-713E-03F4-F254DA7F787C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PP – </a:t>
            </a:r>
            <a:r>
              <a:rPr lang="en-GB" dirty="0">
                <a:solidFill>
                  <a:srgbClr val="002060"/>
                </a:solidFill>
              </a:rPr>
              <a:t>PA</a:t>
            </a:r>
            <a:r>
              <a:rPr lang="en-GB" dirty="0">
                <a:solidFill>
                  <a:schemeClr val="bg1"/>
                </a:solidFill>
              </a:rPr>
              <a:t> – CE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561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E6277-A1A6-C75F-9518-634FF640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82A9-4FB5-445D-9B65-61C732B20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836712"/>
            <a:ext cx="8229600" cy="864096"/>
          </a:xfrm>
        </p:spPr>
        <p:txBody>
          <a:bodyPr>
            <a:normAutofit/>
          </a:bodyPr>
          <a:lstStyle/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Clinical Examples (Fracture)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18F9ECE-7032-5A3A-669F-1C7DA2427598}"/>
              </a:ext>
            </a:extLst>
          </p:cNvPr>
          <p:cNvSpPr txBox="1">
            <a:spLocks/>
          </p:cNvSpPr>
          <p:nvPr/>
        </p:nvSpPr>
        <p:spPr>
          <a:xfrm>
            <a:off x="230832" y="1772816"/>
            <a:ext cx="8229600" cy="12241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Acute nociceptive pain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Sharp, localised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Responds to immobilisation and analgesia</a:t>
            </a:r>
          </a:p>
        </p:txBody>
      </p:sp>
      <p:pic>
        <p:nvPicPr>
          <p:cNvPr id="3074" name="Picture 2" descr="17,940 Fracture Bone Stock Vectors and Vector Art | Shutterstock">
            <a:extLst>
              <a:ext uri="{FF2B5EF4-FFF2-40B4-BE49-F238E27FC236}">
                <a16:creationId xmlns:a16="http://schemas.microsoft.com/office/drawing/2014/main" id="{E878814F-A7A7-A042-C7D7-0C74394BD8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01"/>
          <a:stretch>
            <a:fillRect/>
          </a:stretch>
        </p:blipFill>
        <p:spPr bwMode="auto">
          <a:xfrm>
            <a:off x="2047875" y="3429000"/>
            <a:ext cx="5048250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441B69-BB12-08F3-54D4-03171AF654DA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PP – PA – </a:t>
            </a:r>
            <a:r>
              <a:rPr lang="en-GB" dirty="0">
                <a:solidFill>
                  <a:srgbClr val="002060"/>
                </a:solidFill>
              </a:rPr>
              <a:t>CE</a:t>
            </a:r>
            <a:r>
              <a:rPr lang="en-GB" dirty="0">
                <a:solidFill>
                  <a:schemeClr val="bg1"/>
                </a:solidFill>
              </a:rPr>
              <a:t>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944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72269-5726-4CAC-8BD5-BED497347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AC75319-8442-6ECA-DCB8-F1817D755FCA}"/>
              </a:ext>
            </a:extLst>
          </p:cNvPr>
          <p:cNvSpPr txBox="1">
            <a:spLocks/>
          </p:cNvSpPr>
          <p:nvPr/>
        </p:nvSpPr>
        <p:spPr>
          <a:xfrm>
            <a:off x="350838" y="836712"/>
            <a:ext cx="8229600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Clinical Examples (Back Pain)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B7E3F8-D5A8-34B9-AB40-C610AF348AE6}"/>
              </a:ext>
            </a:extLst>
          </p:cNvPr>
          <p:cNvSpPr txBox="1">
            <a:spLocks/>
          </p:cNvSpPr>
          <p:nvPr/>
        </p:nvSpPr>
        <p:spPr>
          <a:xfrm>
            <a:off x="230832" y="1772816"/>
            <a:ext cx="8229600" cy="12241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Can be acute or chronic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Mechanical, neuropathic, or sensitised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Requires thorough assessment</a:t>
            </a:r>
          </a:p>
        </p:txBody>
      </p:sp>
      <p:pic>
        <p:nvPicPr>
          <p:cNvPr id="5122" name="Picture 2" descr="What Is Referred Pain? - Oviedo Chiropractic">
            <a:extLst>
              <a:ext uri="{FF2B5EF4-FFF2-40B4-BE49-F238E27FC236}">
                <a16:creationId xmlns:a16="http://schemas.microsoft.com/office/drawing/2014/main" id="{28C00461-9D6E-4A25-E425-3120FACE5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430" y="2996952"/>
            <a:ext cx="4549140" cy="357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76CE5C9-D5DE-FB01-84F8-EB66033A4BDC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PP – PA – </a:t>
            </a:r>
            <a:r>
              <a:rPr lang="en-GB" dirty="0">
                <a:solidFill>
                  <a:srgbClr val="002060"/>
                </a:solidFill>
              </a:rPr>
              <a:t>CE</a:t>
            </a:r>
            <a:r>
              <a:rPr lang="en-GB" dirty="0">
                <a:solidFill>
                  <a:schemeClr val="bg1"/>
                </a:solidFill>
              </a:rPr>
              <a:t>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732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3530C-7E9C-BDE3-0CE1-5D97BE616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739AA4C-4548-B5CE-0D32-BB8A6F52F056}"/>
              </a:ext>
            </a:extLst>
          </p:cNvPr>
          <p:cNvSpPr txBox="1">
            <a:spLocks/>
          </p:cNvSpPr>
          <p:nvPr/>
        </p:nvSpPr>
        <p:spPr>
          <a:xfrm>
            <a:off x="350838" y="836712"/>
            <a:ext cx="8229600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Clinical Examples (Fibromyalgia)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5755987-5A81-2180-C75F-F5DD62BC3024}"/>
              </a:ext>
            </a:extLst>
          </p:cNvPr>
          <p:cNvSpPr txBox="1">
            <a:spLocks/>
          </p:cNvSpPr>
          <p:nvPr/>
        </p:nvSpPr>
        <p:spPr>
          <a:xfrm>
            <a:off x="230832" y="1772816"/>
            <a:ext cx="8229600" cy="12241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Chronic widespread pain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Central sensitisation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Fatigue, sleep disturbance, cognitive symptoms</a:t>
            </a:r>
          </a:p>
        </p:txBody>
      </p:sp>
      <p:pic>
        <p:nvPicPr>
          <p:cNvPr id="4098" name="Picture 2" descr="Fibromyalgia Musculoskeletal Pain Disorder Tender Points Outline Diagram  Labeled Educational Stock Vector by ©VectorMine 574502418">
            <a:extLst>
              <a:ext uri="{FF2B5EF4-FFF2-40B4-BE49-F238E27FC236}">
                <a16:creationId xmlns:a16="http://schemas.microsoft.com/office/drawing/2014/main" id="{77BF8C7E-C4F6-3035-5946-579DC80045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51" b="8000"/>
          <a:stretch>
            <a:fillRect/>
          </a:stretch>
        </p:blipFill>
        <p:spPr bwMode="auto">
          <a:xfrm>
            <a:off x="2394585" y="2852936"/>
            <a:ext cx="4354830" cy="3825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418D25E-9A49-FE9F-9FB8-4259E1FF07DD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PP – PA – </a:t>
            </a:r>
            <a:r>
              <a:rPr lang="en-GB" dirty="0">
                <a:solidFill>
                  <a:srgbClr val="002060"/>
                </a:solidFill>
              </a:rPr>
              <a:t>CE</a:t>
            </a:r>
            <a:r>
              <a:rPr lang="en-GB" dirty="0">
                <a:solidFill>
                  <a:schemeClr val="bg1"/>
                </a:solidFill>
              </a:rPr>
              <a:t>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998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EE52A-949F-3EB7-4E7B-924F2F6C0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10FBAE8-8098-D609-59A0-712CF4B3B61E}"/>
              </a:ext>
            </a:extLst>
          </p:cNvPr>
          <p:cNvSpPr txBox="1">
            <a:spLocks/>
          </p:cNvSpPr>
          <p:nvPr/>
        </p:nvSpPr>
        <p:spPr>
          <a:xfrm>
            <a:off x="350838" y="836712"/>
            <a:ext cx="8229600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Clinical Examples (Post-Surgical Pain)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AFB5786-2385-43E8-0CCB-D2429D45AB2C}"/>
              </a:ext>
            </a:extLst>
          </p:cNvPr>
          <p:cNvSpPr txBox="1">
            <a:spLocks/>
          </p:cNvSpPr>
          <p:nvPr/>
        </p:nvSpPr>
        <p:spPr>
          <a:xfrm>
            <a:off x="230832" y="1772816"/>
            <a:ext cx="8229600" cy="12241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Acute pain expected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Risk of chronic pain if poorly managed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Multimodal analgesia essential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E8C68F-4C13-633F-F48E-34BEC6BFC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531" y="2924944"/>
            <a:ext cx="4452938" cy="36042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1BF4C85-1305-9814-5F50-A6BF4C7A9EC8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PP – PA – </a:t>
            </a:r>
            <a:r>
              <a:rPr lang="en-GB" dirty="0">
                <a:solidFill>
                  <a:srgbClr val="002060"/>
                </a:solidFill>
              </a:rPr>
              <a:t>CE</a:t>
            </a:r>
            <a:r>
              <a:rPr lang="en-GB" dirty="0">
                <a:solidFill>
                  <a:schemeClr val="bg1"/>
                </a:solidFill>
              </a:rPr>
              <a:t> – MS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798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634EA-C1C5-1687-D9A6-F741DF172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3BE37-1A81-EF03-0FA0-7998F15A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83671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Management Strategies (Pharmacological Management)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7B7F90-7DE5-05C7-8753-A5B766155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14375"/>
              </p:ext>
            </p:extLst>
          </p:nvPr>
        </p:nvGraphicFramePr>
        <p:xfrm>
          <a:off x="971600" y="2204864"/>
          <a:ext cx="7200801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267">
                  <a:extLst>
                    <a:ext uri="{9D8B030D-6E8A-4147-A177-3AD203B41FA5}">
                      <a16:colId xmlns:a16="http://schemas.microsoft.com/office/drawing/2014/main" val="1476085931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3632190976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2804094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Medication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1988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Non-opioid analgesics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Paracetamol, NSAIDs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94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Adjuvants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Antidepressants, anticonvulsants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469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Opioids (short-term)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Morphine, tramadol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45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Topicals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Capsaicin, lidocaine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921741"/>
                  </a:ext>
                </a:extLst>
              </a:tr>
            </a:tbl>
          </a:graphicData>
        </a:graphic>
      </p:graphicFrame>
      <p:pic>
        <p:nvPicPr>
          <p:cNvPr id="7170" name="Picture 2" descr="Flow Chart of a Medication Therapy Management Service Model Source:... |  Download Scientific Diagram">
            <a:extLst>
              <a:ext uri="{FF2B5EF4-FFF2-40B4-BE49-F238E27FC236}">
                <a16:creationId xmlns:a16="http://schemas.microsoft.com/office/drawing/2014/main" id="{0B15346B-9A44-80E7-3859-D94BA771C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531" y="4797152"/>
            <a:ext cx="4452938" cy="192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7C7DE5-AFF5-3962-0792-4EA5AB2CED48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PP – PA – CE – </a:t>
            </a:r>
            <a:r>
              <a:rPr lang="en-GB" dirty="0">
                <a:solidFill>
                  <a:srgbClr val="002060"/>
                </a:solidFill>
              </a:rPr>
              <a:t>MS</a:t>
            </a:r>
          </a:p>
        </p:txBody>
      </p:sp>
    </p:spTree>
    <p:extLst>
      <p:ext uri="{BB962C8B-B14F-4D97-AF65-F5344CB8AC3E}">
        <p14:creationId xmlns:p14="http://schemas.microsoft.com/office/powerpoint/2010/main" val="2366742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64929-90D1-23CB-E5ED-BDFBE6644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94FB-5074-528C-3D8C-24136AAB6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836712"/>
            <a:ext cx="8613650" cy="1143000"/>
          </a:xfrm>
        </p:spPr>
        <p:txBody>
          <a:bodyPr>
            <a:normAutofit/>
          </a:bodyPr>
          <a:lstStyle/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Management Strategies (Non-Pharmacological Approaches)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4CE1FF3-615B-C8A7-DD3A-1994073EEFE5}"/>
              </a:ext>
            </a:extLst>
          </p:cNvPr>
          <p:cNvSpPr txBox="1">
            <a:spLocks/>
          </p:cNvSpPr>
          <p:nvPr/>
        </p:nvSpPr>
        <p:spPr>
          <a:xfrm>
            <a:off x="230832" y="2060848"/>
            <a:ext cx="4341168" cy="42484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Manual therapy (no machine usage)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Exercise therapy (massage, hydrotherapy)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TENS (Transcutaneous electrical nerve stimulation)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Education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CBT (Cognitive Behavioural Therapy)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 algn="just"/>
            <a:endParaRPr lang="en-GB" sz="20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 algn="just"/>
            <a:r>
              <a:rPr lang="en-GB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(Physiotherapy’s central role in pain modulation)</a:t>
            </a:r>
          </a:p>
        </p:txBody>
      </p:sp>
      <p:pic>
        <p:nvPicPr>
          <p:cNvPr id="8194" name="Picture 2" descr="Cognitive Behavioral Therapy for Addiction: Techniques">
            <a:extLst>
              <a:ext uri="{FF2B5EF4-FFF2-40B4-BE49-F238E27FC236}">
                <a16:creationId xmlns:a16="http://schemas.microsoft.com/office/drawing/2014/main" id="{025D9A75-E535-3572-AC2C-75E808909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89" b="9931"/>
          <a:stretch>
            <a:fillRect/>
          </a:stretch>
        </p:blipFill>
        <p:spPr bwMode="auto">
          <a:xfrm>
            <a:off x="5004048" y="2312876"/>
            <a:ext cx="3714750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ABD8D2-A02F-AC08-C4BF-30F0F65F1823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PP – PA – CE – </a:t>
            </a:r>
            <a:r>
              <a:rPr lang="en-GB" dirty="0">
                <a:solidFill>
                  <a:srgbClr val="002060"/>
                </a:solidFill>
              </a:rPr>
              <a:t>MS</a:t>
            </a:r>
          </a:p>
        </p:txBody>
      </p:sp>
    </p:spTree>
    <p:extLst>
      <p:ext uri="{BB962C8B-B14F-4D97-AF65-F5344CB8AC3E}">
        <p14:creationId xmlns:p14="http://schemas.microsoft.com/office/powerpoint/2010/main" val="323681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65C32-11B3-4487-F84E-DEA5D7904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E376-DDDA-B0AC-59A3-5952DB5E5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836712"/>
            <a:ext cx="8613650" cy="1143000"/>
          </a:xfrm>
        </p:spPr>
        <p:txBody>
          <a:bodyPr>
            <a:normAutofit/>
          </a:bodyPr>
          <a:lstStyle/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Management Strategies (Multidisciplinary Pain Management)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559DA72-AC1B-9F05-4656-62432D5440D6}"/>
              </a:ext>
            </a:extLst>
          </p:cNvPr>
          <p:cNvSpPr txBox="1">
            <a:spLocks/>
          </p:cNvSpPr>
          <p:nvPr/>
        </p:nvSpPr>
        <p:spPr>
          <a:xfrm>
            <a:off x="230832" y="2060848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Physiotherapy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Psychology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Medicine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Occupational therapy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Social support</a:t>
            </a:r>
          </a:p>
        </p:txBody>
      </p:sp>
      <p:pic>
        <p:nvPicPr>
          <p:cNvPr id="9218" name="Picture 2" descr="Circle of care modeling: improving continuity of care for end of life  patients. | Semantic Scholar">
            <a:extLst>
              <a:ext uri="{FF2B5EF4-FFF2-40B4-BE49-F238E27FC236}">
                <a16:creationId xmlns:a16="http://schemas.microsoft.com/office/drawing/2014/main" id="{E654F2B5-F456-AD39-2AD3-EC45A30A1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292" y="1916832"/>
            <a:ext cx="4549140" cy="466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EACEF8D-B15C-879C-CF24-0DAD66888C28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PP – PA – CE – </a:t>
            </a:r>
            <a:r>
              <a:rPr lang="en-GB" dirty="0">
                <a:solidFill>
                  <a:srgbClr val="002060"/>
                </a:solidFill>
              </a:rPr>
              <a:t>MS</a:t>
            </a:r>
          </a:p>
        </p:txBody>
      </p:sp>
    </p:spTree>
    <p:extLst>
      <p:ext uri="{BB962C8B-B14F-4D97-AF65-F5344CB8AC3E}">
        <p14:creationId xmlns:p14="http://schemas.microsoft.com/office/powerpoint/2010/main" val="3236901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06E5E-5E49-1FDF-9634-801A2D2A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4ECAF-F826-ECBC-A299-F50F50424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8" y="692696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Summary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29125E-595A-9195-54A9-B2C28E775108}"/>
              </a:ext>
            </a:extLst>
          </p:cNvPr>
          <p:cNvSpPr txBox="1">
            <a:spLocks/>
          </p:cNvSpPr>
          <p:nvPr/>
        </p:nvSpPr>
        <p:spPr>
          <a:xfrm>
            <a:off x="230832" y="1700808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Pain is complex and multifactorial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Assessment tools guide care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Management must be individualised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Physiotherapists</a:t>
            </a: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play a key role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13AA7F-2299-0DA9-579A-CED828B7007A}"/>
              </a:ext>
            </a:extLst>
          </p:cNvPr>
          <p:cNvSpPr txBox="1">
            <a:spLocks/>
          </p:cNvSpPr>
          <p:nvPr/>
        </p:nvSpPr>
        <p:spPr>
          <a:xfrm>
            <a:off x="4695328" y="5013176"/>
            <a:ext cx="4341168" cy="15121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Acute ≠ Chronic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Use validated pain scales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Understand neurophysiology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Collaborate across disciplines</a:t>
            </a:r>
          </a:p>
        </p:txBody>
      </p:sp>
      <p:pic>
        <p:nvPicPr>
          <p:cNvPr id="10242" name="Picture 2" descr="4 Types of Physiotherapy you should be aware of">
            <a:extLst>
              <a:ext uri="{FF2B5EF4-FFF2-40B4-BE49-F238E27FC236}">
                <a16:creationId xmlns:a16="http://schemas.microsoft.com/office/drawing/2014/main" id="{A1311F61-4A9D-01DC-DBF2-AE79A5858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704" y="3356992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Physiotherapy Images - Free Download on Freepik">
            <a:extLst>
              <a:ext uri="{FF2B5EF4-FFF2-40B4-BE49-F238E27FC236}">
                <a16:creationId xmlns:a16="http://schemas.microsoft.com/office/drawing/2014/main" id="{AF297FF1-A427-3397-5CC0-4521E1BDE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438" y="1296923"/>
            <a:ext cx="3600000" cy="3609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2FFA90-C4D3-E582-D4A9-94688A1C5A03}"/>
              </a:ext>
            </a:extLst>
          </p:cNvPr>
          <p:cNvSpPr/>
          <p:nvPr/>
        </p:nvSpPr>
        <p:spPr>
          <a:xfrm>
            <a:off x="0" y="548680"/>
            <a:ext cx="9144000" cy="36004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ACP – PP – PA – CE – </a:t>
            </a:r>
            <a:r>
              <a:rPr lang="en-GB" dirty="0">
                <a:solidFill>
                  <a:srgbClr val="002060"/>
                </a:solidFill>
              </a:rPr>
              <a:t>MS</a:t>
            </a:r>
          </a:p>
        </p:txBody>
      </p:sp>
    </p:spTree>
    <p:extLst>
      <p:ext uri="{BB962C8B-B14F-4D97-AF65-F5344CB8AC3E}">
        <p14:creationId xmlns:p14="http://schemas.microsoft.com/office/powerpoint/2010/main" val="1172507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8344</TotalTime>
  <Words>1129</Words>
  <Application>Microsoft Office PowerPoint</Application>
  <PresentationFormat>On-screen Show (4:3)</PresentationFormat>
  <Paragraphs>172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Wingdings</vt:lpstr>
      <vt:lpstr>Office Theme</vt:lpstr>
      <vt:lpstr>Understanding Acute and Chronic Pain in Physiotherapy       21.10.2025</vt:lpstr>
      <vt:lpstr>Understanding Acute and Chronic Pain for Physiotherapy Practice</vt:lpstr>
      <vt:lpstr>Pain Physiology (What Is Pain?)</vt:lpstr>
      <vt:lpstr>PowerPoint Presentation</vt:lpstr>
      <vt:lpstr>PowerPoint Presentation</vt:lpstr>
      <vt:lpstr>PowerPoint Presentation</vt:lpstr>
      <vt:lpstr>Autonomic Nervous System (ANS) in Pain</vt:lpstr>
      <vt:lpstr>Gate Control Theory</vt:lpstr>
      <vt:lpstr>Pain Assessment</vt:lpstr>
      <vt:lpstr>Visual Analogue Scale (VAS)</vt:lpstr>
      <vt:lpstr>Numeric Rating Scale (NRS)</vt:lpstr>
      <vt:lpstr>McGill Pain Questionnaire</vt:lpstr>
      <vt:lpstr>Brief Pain Inventory (BPI)</vt:lpstr>
      <vt:lpstr>Clinical Examples (Fracture)</vt:lpstr>
      <vt:lpstr>PowerPoint Presentation</vt:lpstr>
      <vt:lpstr>PowerPoint Presentation</vt:lpstr>
      <vt:lpstr>PowerPoint Presentation</vt:lpstr>
      <vt:lpstr>Management Strategies (Pharmacological Management)</vt:lpstr>
      <vt:lpstr>Management Strategies (Non-Pharmacological Approaches)</vt:lpstr>
      <vt:lpstr>Management Strategies (Multidisciplinary Pain Management)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Multi Media Unit</dc:creator>
  <cp:lastModifiedBy>Bruno Da Silva Sil Dos Santos</cp:lastModifiedBy>
  <cp:revision>427</cp:revision>
  <dcterms:created xsi:type="dcterms:W3CDTF">2013-10-18T12:37:08Z</dcterms:created>
  <dcterms:modified xsi:type="dcterms:W3CDTF">2025-10-08T13:42:59Z</dcterms:modified>
</cp:coreProperties>
</file>