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4"/>
  </p:sldMasterIdLst>
  <p:notesMasterIdLst>
    <p:notesMasterId r:id="rId29"/>
  </p:notesMasterIdLst>
  <p:sldIdLst>
    <p:sldId id="256" r:id="rId5"/>
    <p:sldId id="269" r:id="rId6"/>
    <p:sldId id="290" r:id="rId7"/>
    <p:sldId id="291" r:id="rId8"/>
    <p:sldId id="293" r:id="rId9"/>
    <p:sldId id="257" r:id="rId10"/>
    <p:sldId id="262" r:id="rId11"/>
    <p:sldId id="258" r:id="rId12"/>
    <p:sldId id="263" r:id="rId13"/>
    <p:sldId id="259" r:id="rId14"/>
    <p:sldId id="264" r:id="rId15"/>
    <p:sldId id="265" r:id="rId16"/>
    <p:sldId id="266" r:id="rId17"/>
    <p:sldId id="260" r:id="rId18"/>
    <p:sldId id="288" r:id="rId19"/>
    <p:sldId id="283" r:id="rId20"/>
    <p:sldId id="284" r:id="rId21"/>
    <p:sldId id="285" r:id="rId22"/>
    <p:sldId id="286" r:id="rId23"/>
    <p:sldId id="287" r:id="rId24"/>
    <p:sldId id="267" r:id="rId25"/>
    <p:sldId id="261" r:id="rId26"/>
    <p:sldId id="268" r:id="rId27"/>
    <p:sldId id="29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75881" autoAdjust="0"/>
  </p:normalViewPr>
  <p:slideViewPr>
    <p:cSldViewPr snapToGrid="0">
      <p:cViewPr varScale="1">
        <p:scale>
          <a:sx n="86" d="100"/>
          <a:sy n="86" d="100"/>
        </p:scale>
        <p:origin x="14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F19A1AC-F8FB-43F8-9C3C-1F07E5338573}" type="doc">
      <dgm:prSet loTypeId="urn:microsoft.com/office/officeart/2016/7/layout/LinearBlockProcessNumbered" loCatId="process" qsTypeId="urn:microsoft.com/office/officeart/2005/8/quickstyle/simple1" qsCatId="simple" csTypeId="urn:microsoft.com/office/officeart/2005/8/colors/colorful2" csCatId="colorful" phldr="1"/>
      <dgm:spPr/>
      <dgm:t>
        <a:bodyPr/>
        <a:lstStyle/>
        <a:p>
          <a:endParaRPr lang="en-US"/>
        </a:p>
      </dgm:t>
    </dgm:pt>
    <dgm:pt modelId="{8BF3689B-0EB7-4967-B2A0-3F86D902A2EA}">
      <dgm:prSet/>
      <dgm:spPr/>
      <dgm:t>
        <a:bodyPr/>
        <a:lstStyle/>
        <a:p>
          <a:r>
            <a:rPr lang="en-GB" dirty="0"/>
            <a:t>Demonstrate an understanding of a respiratory assessment</a:t>
          </a:r>
          <a:endParaRPr lang="en-US" dirty="0"/>
        </a:p>
      </dgm:t>
    </dgm:pt>
    <dgm:pt modelId="{39A98345-EA90-4603-A56B-1DE0D3F54AB8}" type="parTrans" cxnId="{380F7E5D-53C0-4384-B713-A8E4DD62DF1B}">
      <dgm:prSet/>
      <dgm:spPr/>
      <dgm:t>
        <a:bodyPr/>
        <a:lstStyle/>
        <a:p>
          <a:endParaRPr lang="en-US"/>
        </a:p>
      </dgm:t>
    </dgm:pt>
    <dgm:pt modelId="{014A4B50-DD50-41CA-806E-B755753E83C5}" type="sibTrans" cxnId="{380F7E5D-53C0-4384-B713-A8E4DD62DF1B}">
      <dgm:prSet phldrT="02" phldr="0"/>
      <dgm:spPr/>
      <dgm:t>
        <a:bodyPr/>
        <a:lstStyle/>
        <a:p>
          <a:r>
            <a:rPr lang="en-US"/>
            <a:t>02</a:t>
          </a:r>
        </a:p>
      </dgm:t>
    </dgm:pt>
    <dgm:pt modelId="{FA2024B1-365D-4263-BAEA-6885D1CCC33E}">
      <dgm:prSet/>
      <dgm:spPr/>
      <dgm:t>
        <a:bodyPr/>
        <a:lstStyle/>
        <a:p>
          <a:r>
            <a:rPr lang="en-GB"/>
            <a:t>Recognise signs of respiratory distress</a:t>
          </a:r>
          <a:endParaRPr lang="en-US"/>
        </a:p>
      </dgm:t>
    </dgm:pt>
    <dgm:pt modelId="{58837599-AC56-47A6-A072-83A5BB09FC82}" type="parTrans" cxnId="{F4C49ADF-DD7F-4937-87BA-5B3135BF5C30}">
      <dgm:prSet/>
      <dgm:spPr/>
      <dgm:t>
        <a:bodyPr/>
        <a:lstStyle/>
        <a:p>
          <a:endParaRPr lang="en-US"/>
        </a:p>
      </dgm:t>
    </dgm:pt>
    <dgm:pt modelId="{ACBD40AF-1B61-4530-B914-4A8016E79944}" type="sibTrans" cxnId="{F4C49ADF-DD7F-4937-87BA-5B3135BF5C30}">
      <dgm:prSet phldrT="03" phldr="0"/>
      <dgm:spPr/>
      <dgm:t>
        <a:bodyPr/>
        <a:lstStyle/>
        <a:p>
          <a:r>
            <a:rPr lang="en-US"/>
            <a:t>03</a:t>
          </a:r>
        </a:p>
      </dgm:t>
    </dgm:pt>
    <dgm:pt modelId="{5437A5AC-FD22-400F-A90B-364566D75CC0}">
      <dgm:prSet/>
      <dgm:spPr/>
      <dgm:t>
        <a:bodyPr/>
        <a:lstStyle/>
        <a:p>
          <a:r>
            <a:rPr lang="en-GB"/>
            <a:t>Identify the best location to treat an exacerbation </a:t>
          </a:r>
          <a:endParaRPr lang="en-US"/>
        </a:p>
      </dgm:t>
    </dgm:pt>
    <dgm:pt modelId="{AEC83DF0-9EDD-4930-A0B2-B1B971EC3835}" type="parTrans" cxnId="{2A34F2F9-E588-4661-807A-7F9BFAFA08F4}">
      <dgm:prSet/>
      <dgm:spPr/>
      <dgm:t>
        <a:bodyPr/>
        <a:lstStyle/>
        <a:p>
          <a:endParaRPr lang="en-US"/>
        </a:p>
      </dgm:t>
    </dgm:pt>
    <dgm:pt modelId="{0C132270-4334-4F4E-A476-541092963EA3}" type="sibTrans" cxnId="{2A34F2F9-E588-4661-807A-7F9BFAFA08F4}">
      <dgm:prSet phldrT="04" phldr="0"/>
      <dgm:spPr/>
      <dgm:t>
        <a:bodyPr/>
        <a:lstStyle/>
        <a:p>
          <a:r>
            <a:rPr lang="en-US"/>
            <a:t>04</a:t>
          </a:r>
        </a:p>
      </dgm:t>
    </dgm:pt>
    <dgm:pt modelId="{FBD081A1-0043-443F-8596-F1B4C56CA514}">
      <dgm:prSet/>
      <dgm:spPr/>
      <dgm:t>
        <a:bodyPr/>
        <a:lstStyle/>
        <a:p>
          <a:r>
            <a:rPr lang="en-GB"/>
            <a:t>Be aware of management strategies for acute exacerbations of COPD</a:t>
          </a:r>
          <a:endParaRPr lang="en-US"/>
        </a:p>
      </dgm:t>
    </dgm:pt>
    <dgm:pt modelId="{E76A4E2E-D414-40CB-AFEB-64F9E494BF7D}" type="parTrans" cxnId="{9BFEB1F4-E547-4782-8629-8B7D9C8661A5}">
      <dgm:prSet/>
      <dgm:spPr/>
      <dgm:t>
        <a:bodyPr/>
        <a:lstStyle/>
        <a:p>
          <a:endParaRPr lang="en-US"/>
        </a:p>
      </dgm:t>
    </dgm:pt>
    <dgm:pt modelId="{85AFAE9F-360E-480A-B87C-22E3D642834E}" type="sibTrans" cxnId="{9BFEB1F4-E547-4782-8629-8B7D9C8661A5}">
      <dgm:prSet phldrT="05" phldr="0"/>
      <dgm:spPr/>
      <dgm:t>
        <a:bodyPr/>
        <a:lstStyle/>
        <a:p>
          <a:r>
            <a:rPr lang="en-US"/>
            <a:t>05</a:t>
          </a:r>
        </a:p>
      </dgm:t>
    </dgm:pt>
    <dgm:pt modelId="{DDD5B0B4-E4DC-40C7-BC21-66E1BF6683D8}">
      <dgm:prSet/>
      <dgm:spPr/>
      <dgm:t>
        <a:bodyPr/>
        <a:lstStyle/>
        <a:p>
          <a:r>
            <a:rPr lang="en-GB" dirty="0"/>
            <a:t>Define an exacerbation</a:t>
          </a:r>
        </a:p>
      </dgm:t>
    </dgm:pt>
    <dgm:pt modelId="{3F34C8A2-CDEA-4694-B3BD-6266F429A531}" type="parTrans" cxnId="{5412320B-40E1-49C0-9E59-E037F959EA29}">
      <dgm:prSet/>
      <dgm:spPr/>
    </dgm:pt>
    <dgm:pt modelId="{795EC2B2-8C60-48D3-8740-47D881058741}" type="sibTrans" cxnId="{5412320B-40E1-49C0-9E59-E037F959EA29}">
      <dgm:prSet phldrT="01" phldr="0"/>
      <dgm:spPr/>
      <dgm:t>
        <a:bodyPr/>
        <a:lstStyle/>
        <a:p>
          <a:r>
            <a:rPr lang="en-GB"/>
            <a:t>01</a:t>
          </a:r>
        </a:p>
      </dgm:t>
    </dgm:pt>
    <dgm:pt modelId="{D07E4C08-3D68-4BD3-8720-A2F10743FE39}" type="pres">
      <dgm:prSet presAssocID="{5F19A1AC-F8FB-43F8-9C3C-1F07E5338573}" presName="Name0" presStyleCnt="0">
        <dgm:presLayoutVars>
          <dgm:animLvl val="lvl"/>
          <dgm:resizeHandles val="exact"/>
        </dgm:presLayoutVars>
      </dgm:prSet>
      <dgm:spPr/>
    </dgm:pt>
    <dgm:pt modelId="{80B92F4F-7359-46FA-9270-0F1ACC3FAB88}" type="pres">
      <dgm:prSet presAssocID="{DDD5B0B4-E4DC-40C7-BC21-66E1BF6683D8}" presName="compositeNode" presStyleCnt="0">
        <dgm:presLayoutVars>
          <dgm:bulletEnabled val="1"/>
        </dgm:presLayoutVars>
      </dgm:prSet>
      <dgm:spPr/>
    </dgm:pt>
    <dgm:pt modelId="{9DAD40CC-77E6-4CD5-B79D-FAEB20E90018}" type="pres">
      <dgm:prSet presAssocID="{DDD5B0B4-E4DC-40C7-BC21-66E1BF6683D8}" presName="bgRect" presStyleLbl="alignNode1" presStyleIdx="0" presStyleCnt="5"/>
      <dgm:spPr/>
    </dgm:pt>
    <dgm:pt modelId="{4206AF2B-D66B-410B-BFE0-217D98785C12}" type="pres">
      <dgm:prSet presAssocID="{795EC2B2-8C60-48D3-8740-47D881058741}" presName="sibTransNodeRect" presStyleLbl="alignNode1" presStyleIdx="0" presStyleCnt="5">
        <dgm:presLayoutVars>
          <dgm:chMax val="0"/>
          <dgm:bulletEnabled val="1"/>
        </dgm:presLayoutVars>
      </dgm:prSet>
      <dgm:spPr/>
    </dgm:pt>
    <dgm:pt modelId="{79485A03-AAD2-4F47-825B-12BC8DB9CEF7}" type="pres">
      <dgm:prSet presAssocID="{DDD5B0B4-E4DC-40C7-BC21-66E1BF6683D8}" presName="nodeRect" presStyleLbl="alignNode1" presStyleIdx="0" presStyleCnt="5">
        <dgm:presLayoutVars>
          <dgm:bulletEnabled val="1"/>
        </dgm:presLayoutVars>
      </dgm:prSet>
      <dgm:spPr/>
    </dgm:pt>
    <dgm:pt modelId="{9C64C654-B3A2-44F8-A2A6-A41105F9907D}" type="pres">
      <dgm:prSet presAssocID="{795EC2B2-8C60-48D3-8740-47D881058741}" presName="sibTrans" presStyleCnt="0"/>
      <dgm:spPr/>
    </dgm:pt>
    <dgm:pt modelId="{5DA19A56-C845-46EA-BF1D-71D0B0623080}" type="pres">
      <dgm:prSet presAssocID="{8BF3689B-0EB7-4967-B2A0-3F86D902A2EA}" presName="compositeNode" presStyleCnt="0">
        <dgm:presLayoutVars>
          <dgm:bulletEnabled val="1"/>
        </dgm:presLayoutVars>
      </dgm:prSet>
      <dgm:spPr/>
    </dgm:pt>
    <dgm:pt modelId="{9283918B-ADAB-4B25-8E90-CC754CDF9969}" type="pres">
      <dgm:prSet presAssocID="{8BF3689B-0EB7-4967-B2A0-3F86D902A2EA}" presName="bgRect" presStyleLbl="alignNode1" presStyleIdx="1" presStyleCnt="5"/>
      <dgm:spPr/>
    </dgm:pt>
    <dgm:pt modelId="{F9A01F8F-395B-4B5F-A71C-2D2C6DCBC8F7}" type="pres">
      <dgm:prSet presAssocID="{014A4B50-DD50-41CA-806E-B755753E83C5}" presName="sibTransNodeRect" presStyleLbl="alignNode1" presStyleIdx="1" presStyleCnt="5">
        <dgm:presLayoutVars>
          <dgm:chMax val="0"/>
          <dgm:bulletEnabled val="1"/>
        </dgm:presLayoutVars>
      </dgm:prSet>
      <dgm:spPr/>
    </dgm:pt>
    <dgm:pt modelId="{CBE81AB8-80C0-42BC-8E3B-B28AEE46FD55}" type="pres">
      <dgm:prSet presAssocID="{8BF3689B-0EB7-4967-B2A0-3F86D902A2EA}" presName="nodeRect" presStyleLbl="alignNode1" presStyleIdx="1" presStyleCnt="5">
        <dgm:presLayoutVars>
          <dgm:bulletEnabled val="1"/>
        </dgm:presLayoutVars>
      </dgm:prSet>
      <dgm:spPr/>
    </dgm:pt>
    <dgm:pt modelId="{6DECD9ED-2941-406B-9A10-169FEE51ACC3}" type="pres">
      <dgm:prSet presAssocID="{014A4B50-DD50-41CA-806E-B755753E83C5}" presName="sibTrans" presStyleCnt="0"/>
      <dgm:spPr/>
    </dgm:pt>
    <dgm:pt modelId="{12C5A185-74C6-4E39-AE44-3593EE844A61}" type="pres">
      <dgm:prSet presAssocID="{FA2024B1-365D-4263-BAEA-6885D1CCC33E}" presName="compositeNode" presStyleCnt="0">
        <dgm:presLayoutVars>
          <dgm:bulletEnabled val="1"/>
        </dgm:presLayoutVars>
      </dgm:prSet>
      <dgm:spPr/>
    </dgm:pt>
    <dgm:pt modelId="{A477C977-9CAE-4B3C-A492-6072D0DAB51E}" type="pres">
      <dgm:prSet presAssocID="{FA2024B1-365D-4263-BAEA-6885D1CCC33E}" presName="bgRect" presStyleLbl="alignNode1" presStyleIdx="2" presStyleCnt="5"/>
      <dgm:spPr/>
    </dgm:pt>
    <dgm:pt modelId="{C8F57BC1-4910-48CA-8DB4-023B265C8B63}" type="pres">
      <dgm:prSet presAssocID="{ACBD40AF-1B61-4530-B914-4A8016E79944}" presName="sibTransNodeRect" presStyleLbl="alignNode1" presStyleIdx="2" presStyleCnt="5">
        <dgm:presLayoutVars>
          <dgm:chMax val="0"/>
          <dgm:bulletEnabled val="1"/>
        </dgm:presLayoutVars>
      </dgm:prSet>
      <dgm:spPr/>
    </dgm:pt>
    <dgm:pt modelId="{8644673F-234B-45D0-9504-BDCAB98D9EBE}" type="pres">
      <dgm:prSet presAssocID="{FA2024B1-365D-4263-BAEA-6885D1CCC33E}" presName="nodeRect" presStyleLbl="alignNode1" presStyleIdx="2" presStyleCnt="5">
        <dgm:presLayoutVars>
          <dgm:bulletEnabled val="1"/>
        </dgm:presLayoutVars>
      </dgm:prSet>
      <dgm:spPr/>
    </dgm:pt>
    <dgm:pt modelId="{6B364D9E-49AC-49EF-9E70-C35253CF5C4B}" type="pres">
      <dgm:prSet presAssocID="{ACBD40AF-1B61-4530-B914-4A8016E79944}" presName="sibTrans" presStyleCnt="0"/>
      <dgm:spPr/>
    </dgm:pt>
    <dgm:pt modelId="{2860EF3F-4160-4F7B-9183-8A4B6FAB00AA}" type="pres">
      <dgm:prSet presAssocID="{5437A5AC-FD22-400F-A90B-364566D75CC0}" presName="compositeNode" presStyleCnt="0">
        <dgm:presLayoutVars>
          <dgm:bulletEnabled val="1"/>
        </dgm:presLayoutVars>
      </dgm:prSet>
      <dgm:spPr/>
    </dgm:pt>
    <dgm:pt modelId="{674CDFF9-01D8-4C4C-BF59-16B6ECF97C5C}" type="pres">
      <dgm:prSet presAssocID="{5437A5AC-FD22-400F-A90B-364566D75CC0}" presName="bgRect" presStyleLbl="alignNode1" presStyleIdx="3" presStyleCnt="5"/>
      <dgm:spPr/>
    </dgm:pt>
    <dgm:pt modelId="{B6561A87-EEC8-4660-818F-933A604CAA74}" type="pres">
      <dgm:prSet presAssocID="{0C132270-4334-4F4E-A476-541092963EA3}" presName="sibTransNodeRect" presStyleLbl="alignNode1" presStyleIdx="3" presStyleCnt="5">
        <dgm:presLayoutVars>
          <dgm:chMax val="0"/>
          <dgm:bulletEnabled val="1"/>
        </dgm:presLayoutVars>
      </dgm:prSet>
      <dgm:spPr/>
    </dgm:pt>
    <dgm:pt modelId="{13F85DA6-7733-446A-A8D7-D116F5B67595}" type="pres">
      <dgm:prSet presAssocID="{5437A5AC-FD22-400F-A90B-364566D75CC0}" presName="nodeRect" presStyleLbl="alignNode1" presStyleIdx="3" presStyleCnt="5">
        <dgm:presLayoutVars>
          <dgm:bulletEnabled val="1"/>
        </dgm:presLayoutVars>
      </dgm:prSet>
      <dgm:spPr/>
    </dgm:pt>
    <dgm:pt modelId="{2F5A2E3B-8E87-4FF9-92D2-D4D10B37D25E}" type="pres">
      <dgm:prSet presAssocID="{0C132270-4334-4F4E-A476-541092963EA3}" presName="sibTrans" presStyleCnt="0"/>
      <dgm:spPr/>
    </dgm:pt>
    <dgm:pt modelId="{74F1AE67-E909-4318-9A62-2CC5175D83A1}" type="pres">
      <dgm:prSet presAssocID="{FBD081A1-0043-443F-8596-F1B4C56CA514}" presName="compositeNode" presStyleCnt="0">
        <dgm:presLayoutVars>
          <dgm:bulletEnabled val="1"/>
        </dgm:presLayoutVars>
      </dgm:prSet>
      <dgm:spPr/>
    </dgm:pt>
    <dgm:pt modelId="{94A07528-8B40-4C17-B8E1-B7F4C8D74D0E}" type="pres">
      <dgm:prSet presAssocID="{FBD081A1-0043-443F-8596-F1B4C56CA514}" presName="bgRect" presStyleLbl="alignNode1" presStyleIdx="4" presStyleCnt="5"/>
      <dgm:spPr/>
    </dgm:pt>
    <dgm:pt modelId="{BDFFD489-E02D-4632-BFE7-F4483720246A}" type="pres">
      <dgm:prSet presAssocID="{85AFAE9F-360E-480A-B87C-22E3D642834E}" presName="sibTransNodeRect" presStyleLbl="alignNode1" presStyleIdx="4" presStyleCnt="5">
        <dgm:presLayoutVars>
          <dgm:chMax val="0"/>
          <dgm:bulletEnabled val="1"/>
        </dgm:presLayoutVars>
      </dgm:prSet>
      <dgm:spPr/>
    </dgm:pt>
    <dgm:pt modelId="{496B02CA-211B-4492-91B3-9F6E2767015A}" type="pres">
      <dgm:prSet presAssocID="{FBD081A1-0043-443F-8596-F1B4C56CA514}" presName="nodeRect" presStyleLbl="alignNode1" presStyleIdx="4" presStyleCnt="5">
        <dgm:presLayoutVars>
          <dgm:bulletEnabled val="1"/>
        </dgm:presLayoutVars>
      </dgm:prSet>
      <dgm:spPr/>
    </dgm:pt>
  </dgm:ptLst>
  <dgm:cxnLst>
    <dgm:cxn modelId="{5412320B-40E1-49C0-9E59-E037F959EA29}" srcId="{5F19A1AC-F8FB-43F8-9C3C-1F07E5338573}" destId="{DDD5B0B4-E4DC-40C7-BC21-66E1BF6683D8}" srcOrd="0" destOrd="0" parTransId="{3F34C8A2-CDEA-4694-B3BD-6266F429A531}" sibTransId="{795EC2B2-8C60-48D3-8740-47D881058741}"/>
    <dgm:cxn modelId="{54745D29-C9EF-4FBB-99AC-26F5360CB843}" type="presOf" srcId="{FA2024B1-365D-4263-BAEA-6885D1CCC33E}" destId="{8644673F-234B-45D0-9504-BDCAB98D9EBE}" srcOrd="1" destOrd="0" presId="urn:microsoft.com/office/officeart/2016/7/layout/LinearBlockProcessNumbered"/>
    <dgm:cxn modelId="{A3EE8E33-EDF5-4698-8570-E7BA952CB859}" type="presOf" srcId="{014A4B50-DD50-41CA-806E-B755753E83C5}" destId="{F9A01F8F-395B-4B5F-A71C-2D2C6DCBC8F7}" srcOrd="0" destOrd="0" presId="urn:microsoft.com/office/officeart/2016/7/layout/LinearBlockProcessNumbered"/>
    <dgm:cxn modelId="{3CB35135-BD8B-4D1C-8ED4-98DABEB40DA4}" type="presOf" srcId="{FBD081A1-0043-443F-8596-F1B4C56CA514}" destId="{496B02CA-211B-4492-91B3-9F6E2767015A}" srcOrd="1" destOrd="0" presId="urn:microsoft.com/office/officeart/2016/7/layout/LinearBlockProcessNumbered"/>
    <dgm:cxn modelId="{380F7E5D-53C0-4384-B713-A8E4DD62DF1B}" srcId="{5F19A1AC-F8FB-43F8-9C3C-1F07E5338573}" destId="{8BF3689B-0EB7-4967-B2A0-3F86D902A2EA}" srcOrd="1" destOrd="0" parTransId="{39A98345-EA90-4603-A56B-1DE0D3F54AB8}" sibTransId="{014A4B50-DD50-41CA-806E-B755753E83C5}"/>
    <dgm:cxn modelId="{F6B5764B-84CD-48CC-8C65-04C3A2B68489}" type="presOf" srcId="{5F19A1AC-F8FB-43F8-9C3C-1F07E5338573}" destId="{D07E4C08-3D68-4BD3-8720-A2F10743FE39}" srcOrd="0" destOrd="0" presId="urn:microsoft.com/office/officeart/2016/7/layout/LinearBlockProcessNumbered"/>
    <dgm:cxn modelId="{78649D53-F354-4601-9C86-AD36159AC774}" type="presOf" srcId="{FBD081A1-0043-443F-8596-F1B4C56CA514}" destId="{94A07528-8B40-4C17-B8E1-B7F4C8D74D0E}" srcOrd="0" destOrd="0" presId="urn:microsoft.com/office/officeart/2016/7/layout/LinearBlockProcessNumbered"/>
    <dgm:cxn modelId="{9D751356-B10F-4203-AC7E-7AE12CCC7045}" type="presOf" srcId="{FA2024B1-365D-4263-BAEA-6885D1CCC33E}" destId="{A477C977-9CAE-4B3C-A492-6072D0DAB51E}" srcOrd="0" destOrd="0" presId="urn:microsoft.com/office/officeart/2016/7/layout/LinearBlockProcessNumbered"/>
    <dgm:cxn modelId="{12E83177-CC43-43DF-8BE5-A6E06C20B9C1}" type="presOf" srcId="{5437A5AC-FD22-400F-A90B-364566D75CC0}" destId="{13F85DA6-7733-446A-A8D7-D116F5B67595}" srcOrd="1" destOrd="0" presId="urn:microsoft.com/office/officeart/2016/7/layout/LinearBlockProcessNumbered"/>
    <dgm:cxn modelId="{04270259-7ACB-40D8-97B4-D6220BE4E9E2}" type="presOf" srcId="{8BF3689B-0EB7-4967-B2A0-3F86D902A2EA}" destId="{CBE81AB8-80C0-42BC-8E3B-B28AEE46FD55}" srcOrd="1" destOrd="0" presId="urn:microsoft.com/office/officeart/2016/7/layout/LinearBlockProcessNumbered"/>
    <dgm:cxn modelId="{05B24995-C40A-4DD5-AE15-6414AAAC3315}" type="presOf" srcId="{DDD5B0B4-E4DC-40C7-BC21-66E1BF6683D8}" destId="{79485A03-AAD2-4F47-825B-12BC8DB9CEF7}" srcOrd="1" destOrd="0" presId="urn:microsoft.com/office/officeart/2016/7/layout/LinearBlockProcessNumbered"/>
    <dgm:cxn modelId="{945DC996-97FB-4E8D-B9CD-78882ECF786D}" type="presOf" srcId="{ACBD40AF-1B61-4530-B914-4A8016E79944}" destId="{C8F57BC1-4910-48CA-8DB4-023B265C8B63}" srcOrd="0" destOrd="0" presId="urn:microsoft.com/office/officeart/2016/7/layout/LinearBlockProcessNumbered"/>
    <dgm:cxn modelId="{63C49FB0-7825-43D3-AA80-09BCF87BED2B}" type="presOf" srcId="{0C132270-4334-4F4E-A476-541092963EA3}" destId="{B6561A87-EEC8-4660-818F-933A604CAA74}" srcOrd="0" destOrd="0" presId="urn:microsoft.com/office/officeart/2016/7/layout/LinearBlockProcessNumbered"/>
    <dgm:cxn modelId="{BF0771B5-B6AE-47E3-9206-BBFBB879B7DA}" type="presOf" srcId="{5437A5AC-FD22-400F-A90B-364566D75CC0}" destId="{674CDFF9-01D8-4C4C-BF59-16B6ECF97C5C}" srcOrd="0" destOrd="0" presId="urn:microsoft.com/office/officeart/2016/7/layout/LinearBlockProcessNumbered"/>
    <dgm:cxn modelId="{1C219ABA-8B6F-4505-AF25-E34B2313465C}" type="presOf" srcId="{8BF3689B-0EB7-4967-B2A0-3F86D902A2EA}" destId="{9283918B-ADAB-4B25-8E90-CC754CDF9969}" srcOrd="0" destOrd="0" presId="urn:microsoft.com/office/officeart/2016/7/layout/LinearBlockProcessNumbered"/>
    <dgm:cxn modelId="{528A1DC4-D60C-4240-BF14-5C15F0DD9FE8}" type="presOf" srcId="{85AFAE9F-360E-480A-B87C-22E3D642834E}" destId="{BDFFD489-E02D-4632-BFE7-F4483720246A}" srcOrd="0" destOrd="0" presId="urn:microsoft.com/office/officeart/2016/7/layout/LinearBlockProcessNumbered"/>
    <dgm:cxn modelId="{F4C49ADF-DD7F-4937-87BA-5B3135BF5C30}" srcId="{5F19A1AC-F8FB-43F8-9C3C-1F07E5338573}" destId="{FA2024B1-365D-4263-BAEA-6885D1CCC33E}" srcOrd="2" destOrd="0" parTransId="{58837599-AC56-47A6-A072-83A5BB09FC82}" sibTransId="{ACBD40AF-1B61-4530-B914-4A8016E79944}"/>
    <dgm:cxn modelId="{CB0382F3-2F13-4B43-8837-934BC576EBC9}" type="presOf" srcId="{DDD5B0B4-E4DC-40C7-BC21-66E1BF6683D8}" destId="{9DAD40CC-77E6-4CD5-B79D-FAEB20E90018}" srcOrd="0" destOrd="0" presId="urn:microsoft.com/office/officeart/2016/7/layout/LinearBlockProcessNumbered"/>
    <dgm:cxn modelId="{9BFEB1F4-E547-4782-8629-8B7D9C8661A5}" srcId="{5F19A1AC-F8FB-43F8-9C3C-1F07E5338573}" destId="{FBD081A1-0043-443F-8596-F1B4C56CA514}" srcOrd="4" destOrd="0" parTransId="{E76A4E2E-D414-40CB-AFEB-64F9E494BF7D}" sibTransId="{85AFAE9F-360E-480A-B87C-22E3D642834E}"/>
    <dgm:cxn modelId="{2A34F2F9-E588-4661-807A-7F9BFAFA08F4}" srcId="{5F19A1AC-F8FB-43F8-9C3C-1F07E5338573}" destId="{5437A5AC-FD22-400F-A90B-364566D75CC0}" srcOrd="3" destOrd="0" parTransId="{AEC83DF0-9EDD-4930-A0B2-B1B971EC3835}" sibTransId="{0C132270-4334-4F4E-A476-541092963EA3}"/>
    <dgm:cxn modelId="{16D8D6FF-BB69-4AF5-B3B7-3DDEC859228C}" type="presOf" srcId="{795EC2B2-8C60-48D3-8740-47D881058741}" destId="{4206AF2B-D66B-410B-BFE0-217D98785C12}" srcOrd="0" destOrd="0" presId="urn:microsoft.com/office/officeart/2016/7/layout/LinearBlockProcessNumbered"/>
    <dgm:cxn modelId="{EC3C623A-B530-4D5F-B6E0-8421A9E0E8CE}" type="presParOf" srcId="{D07E4C08-3D68-4BD3-8720-A2F10743FE39}" destId="{80B92F4F-7359-46FA-9270-0F1ACC3FAB88}" srcOrd="0" destOrd="0" presId="urn:microsoft.com/office/officeart/2016/7/layout/LinearBlockProcessNumbered"/>
    <dgm:cxn modelId="{D04E38F8-752A-45A0-92ED-B0B5F68923B0}" type="presParOf" srcId="{80B92F4F-7359-46FA-9270-0F1ACC3FAB88}" destId="{9DAD40CC-77E6-4CD5-B79D-FAEB20E90018}" srcOrd="0" destOrd="0" presId="urn:microsoft.com/office/officeart/2016/7/layout/LinearBlockProcessNumbered"/>
    <dgm:cxn modelId="{A2B0799E-2769-48F4-B11E-E11DB23AA417}" type="presParOf" srcId="{80B92F4F-7359-46FA-9270-0F1ACC3FAB88}" destId="{4206AF2B-D66B-410B-BFE0-217D98785C12}" srcOrd="1" destOrd="0" presId="urn:microsoft.com/office/officeart/2016/7/layout/LinearBlockProcessNumbered"/>
    <dgm:cxn modelId="{6C119EEF-4BB4-4D0E-B311-003068B14FE4}" type="presParOf" srcId="{80B92F4F-7359-46FA-9270-0F1ACC3FAB88}" destId="{79485A03-AAD2-4F47-825B-12BC8DB9CEF7}" srcOrd="2" destOrd="0" presId="urn:microsoft.com/office/officeart/2016/7/layout/LinearBlockProcessNumbered"/>
    <dgm:cxn modelId="{894B2DAA-A564-499B-A896-099B6194DCD5}" type="presParOf" srcId="{D07E4C08-3D68-4BD3-8720-A2F10743FE39}" destId="{9C64C654-B3A2-44F8-A2A6-A41105F9907D}" srcOrd="1" destOrd="0" presId="urn:microsoft.com/office/officeart/2016/7/layout/LinearBlockProcessNumbered"/>
    <dgm:cxn modelId="{B8855A02-AE57-4BE1-87B6-094120DACC08}" type="presParOf" srcId="{D07E4C08-3D68-4BD3-8720-A2F10743FE39}" destId="{5DA19A56-C845-46EA-BF1D-71D0B0623080}" srcOrd="2" destOrd="0" presId="urn:microsoft.com/office/officeart/2016/7/layout/LinearBlockProcessNumbered"/>
    <dgm:cxn modelId="{5FAF4477-76BD-4887-8DB7-56480F00D5B8}" type="presParOf" srcId="{5DA19A56-C845-46EA-BF1D-71D0B0623080}" destId="{9283918B-ADAB-4B25-8E90-CC754CDF9969}" srcOrd="0" destOrd="0" presId="urn:microsoft.com/office/officeart/2016/7/layout/LinearBlockProcessNumbered"/>
    <dgm:cxn modelId="{F6201944-C7ED-4816-A7E0-E866C38EF256}" type="presParOf" srcId="{5DA19A56-C845-46EA-BF1D-71D0B0623080}" destId="{F9A01F8F-395B-4B5F-A71C-2D2C6DCBC8F7}" srcOrd="1" destOrd="0" presId="urn:microsoft.com/office/officeart/2016/7/layout/LinearBlockProcessNumbered"/>
    <dgm:cxn modelId="{28F295BE-2726-4010-A2AD-86ED9B58A343}" type="presParOf" srcId="{5DA19A56-C845-46EA-BF1D-71D0B0623080}" destId="{CBE81AB8-80C0-42BC-8E3B-B28AEE46FD55}" srcOrd="2" destOrd="0" presId="urn:microsoft.com/office/officeart/2016/7/layout/LinearBlockProcessNumbered"/>
    <dgm:cxn modelId="{8F565948-05A7-4E90-ABBC-D76011671BAD}" type="presParOf" srcId="{D07E4C08-3D68-4BD3-8720-A2F10743FE39}" destId="{6DECD9ED-2941-406B-9A10-169FEE51ACC3}" srcOrd="3" destOrd="0" presId="urn:microsoft.com/office/officeart/2016/7/layout/LinearBlockProcessNumbered"/>
    <dgm:cxn modelId="{1DE549D1-F132-4C1F-9F38-A40D0CD9F8C2}" type="presParOf" srcId="{D07E4C08-3D68-4BD3-8720-A2F10743FE39}" destId="{12C5A185-74C6-4E39-AE44-3593EE844A61}" srcOrd="4" destOrd="0" presId="urn:microsoft.com/office/officeart/2016/7/layout/LinearBlockProcessNumbered"/>
    <dgm:cxn modelId="{20BB9D1E-4291-4376-BCAD-F82107778832}" type="presParOf" srcId="{12C5A185-74C6-4E39-AE44-3593EE844A61}" destId="{A477C977-9CAE-4B3C-A492-6072D0DAB51E}" srcOrd="0" destOrd="0" presId="urn:microsoft.com/office/officeart/2016/7/layout/LinearBlockProcessNumbered"/>
    <dgm:cxn modelId="{784D8B25-34BC-41FB-B11D-7E6FEF03CEA5}" type="presParOf" srcId="{12C5A185-74C6-4E39-AE44-3593EE844A61}" destId="{C8F57BC1-4910-48CA-8DB4-023B265C8B63}" srcOrd="1" destOrd="0" presId="urn:microsoft.com/office/officeart/2016/7/layout/LinearBlockProcessNumbered"/>
    <dgm:cxn modelId="{944CC74D-5F85-4D37-A517-DFC5E6E3C67C}" type="presParOf" srcId="{12C5A185-74C6-4E39-AE44-3593EE844A61}" destId="{8644673F-234B-45D0-9504-BDCAB98D9EBE}" srcOrd="2" destOrd="0" presId="urn:microsoft.com/office/officeart/2016/7/layout/LinearBlockProcessNumbered"/>
    <dgm:cxn modelId="{85862DDD-3F0E-4A3D-878E-FAA5F885953A}" type="presParOf" srcId="{D07E4C08-3D68-4BD3-8720-A2F10743FE39}" destId="{6B364D9E-49AC-49EF-9E70-C35253CF5C4B}" srcOrd="5" destOrd="0" presId="urn:microsoft.com/office/officeart/2016/7/layout/LinearBlockProcessNumbered"/>
    <dgm:cxn modelId="{72BEC6F5-95F3-43F5-973F-C322F4677EC2}" type="presParOf" srcId="{D07E4C08-3D68-4BD3-8720-A2F10743FE39}" destId="{2860EF3F-4160-4F7B-9183-8A4B6FAB00AA}" srcOrd="6" destOrd="0" presId="urn:microsoft.com/office/officeart/2016/7/layout/LinearBlockProcessNumbered"/>
    <dgm:cxn modelId="{C34382D8-15C2-4A1E-8FD4-0CD926929FA5}" type="presParOf" srcId="{2860EF3F-4160-4F7B-9183-8A4B6FAB00AA}" destId="{674CDFF9-01D8-4C4C-BF59-16B6ECF97C5C}" srcOrd="0" destOrd="0" presId="urn:microsoft.com/office/officeart/2016/7/layout/LinearBlockProcessNumbered"/>
    <dgm:cxn modelId="{760D062B-059C-4939-97C7-BDFA07BF9979}" type="presParOf" srcId="{2860EF3F-4160-4F7B-9183-8A4B6FAB00AA}" destId="{B6561A87-EEC8-4660-818F-933A604CAA74}" srcOrd="1" destOrd="0" presId="urn:microsoft.com/office/officeart/2016/7/layout/LinearBlockProcessNumbered"/>
    <dgm:cxn modelId="{ED16E2CE-1586-48BD-968D-0E1A39172BEE}" type="presParOf" srcId="{2860EF3F-4160-4F7B-9183-8A4B6FAB00AA}" destId="{13F85DA6-7733-446A-A8D7-D116F5B67595}" srcOrd="2" destOrd="0" presId="urn:microsoft.com/office/officeart/2016/7/layout/LinearBlockProcessNumbered"/>
    <dgm:cxn modelId="{85F595C5-9943-40C2-8C49-DE14A2A166E1}" type="presParOf" srcId="{D07E4C08-3D68-4BD3-8720-A2F10743FE39}" destId="{2F5A2E3B-8E87-4FF9-92D2-D4D10B37D25E}" srcOrd="7" destOrd="0" presId="urn:microsoft.com/office/officeart/2016/7/layout/LinearBlockProcessNumbered"/>
    <dgm:cxn modelId="{3E0928F2-B8FC-42DD-B037-E0C52D4CB7DD}" type="presParOf" srcId="{D07E4C08-3D68-4BD3-8720-A2F10743FE39}" destId="{74F1AE67-E909-4318-9A62-2CC5175D83A1}" srcOrd="8" destOrd="0" presId="urn:microsoft.com/office/officeart/2016/7/layout/LinearBlockProcessNumbered"/>
    <dgm:cxn modelId="{306F4F15-7E9B-4BAB-917D-CD0321FB2C51}" type="presParOf" srcId="{74F1AE67-E909-4318-9A62-2CC5175D83A1}" destId="{94A07528-8B40-4C17-B8E1-B7F4C8D74D0E}" srcOrd="0" destOrd="0" presId="urn:microsoft.com/office/officeart/2016/7/layout/LinearBlockProcessNumbered"/>
    <dgm:cxn modelId="{08070936-5DC8-452D-A850-190CAC958786}" type="presParOf" srcId="{74F1AE67-E909-4318-9A62-2CC5175D83A1}" destId="{BDFFD489-E02D-4632-BFE7-F4483720246A}" srcOrd="1" destOrd="0" presId="urn:microsoft.com/office/officeart/2016/7/layout/LinearBlockProcessNumbered"/>
    <dgm:cxn modelId="{B1D161B4-7BCD-4532-91AC-8A961D163EDF}" type="presParOf" srcId="{74F1AE67-E909-4318-9A62-2CC5175D83A1}" destId="{496B02CA-211B-4492-91B3-9F6E2767015A}" srcOrd="2" destOrd="0" presId="urn:microsoft.com/office/officeart/2016/7/layout/LinearBlock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AD40CC-77E6-4CD5-B79D-FAEB20E90018}">
      <dsp:nvSpPr>
        <dsp:cNvPr id="0" name=""/>
        <dsp:cNvSpPr/>
      </dsp:nvSpPr>
      <dsp:spPr>
        <a:xfrm>
          <a:off x="5776" y="963292"/>
          <a:ext cx="1805748" cy="2166897"/>
        </a:xfrm>
        <a:prstGeom prst="rect">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8368" tIns="0" rIns="178368" bIns="330200" numCol="1" spcCol="1270" anchor="t" anchorCtr="0">
          <a:noAutofit/>
        </a:bodyPr>
        <a:lstStyle/>
        <a:p>
          <a:pPr marL="0" lvl="0" indent="0" algn="l" defTabSz="533400">
            <a:lnSpc>
              <a:spcPct val="90000"/>
            </a:lnSpc>
            <a:spcBef>
              <a:spcPct val="0"/>
            </a:spcBef>
            <a:spcAft>
              <a:spcPct val="35000"/>
            </a:spcAft>
            <a:buNone/>
          </a:pPr>
          <a:r>
            <a:rPr lang="en-GB" sz="1200" kern="1200" dirty="0"/>
            <a:t>Define an exacerbation</a:t>
          </a:r>
        </a:p>
      </dsp:txBody>
      <dsp:txXfrm>
        <a:off x="5776" y="1830051"/>
        <a:ext cx="1805748" cy="1300138"/>
      </dsp:txXfrm>
    </dsp:sp>
    <dsp:sp modelId="{4206AF2B-D66B-410B-BFE0-217D98785C12}">
      <dsp:nvSpPr>
        <dsp:cNvPr id="0" name=""/>
        <dsp:cNvSpPr/>
      </dsp:nvSpPr>
      <dsp:spPr>
        <a:xfrm>
          <a:off x="5776" y="963292"/>
          <a:ext cx="1805748" cy="866759"/>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78368" tIns="165100" rIns="178368" bIns="165100" numCol="1" spcCol="1270" anchor="ctr" anchorCtr="0">
          <a:noAutofit/>
        </a:bodyPr>
        <a:lstStyle/>
        <a:p>
          <a:pPr marL="0" lvl="0" indent="0" algn="l" defTabSz="1778000">
            <a:lnSpc>
              <a:spcPct val="90000"/>
            </a:lnSpc>
            <a:spcBef>
              <a:spcPct val="0"/>
            </a:spcBef>
            <a:spcAft>
              <a:spcPct val="35000"/>
            </a:spcAft>
            <a:buNone/>
          </a:pPr>
          <a:r>
            <a:rPr lang="en-GB" sz="4000" kern="1200"/>
            <a:t>01</a:t>
          </a:r>
        </a:p>
      </dsp:txBody>
      <dsp:txXfrm>
        <a:off x="5776" y="963292"/>
        <a:ext cx="1805748" cy="866759"/>
      </dsp:txXfrm>
    </dsp:sp>
    <dsp:sp modelId="{9283918B-ADAB-4B25-8E90-CC754CDF9969}">
      <dsp:nvSpPr>
        <dsp:cNvPr id="0" name=""/>
        <dsp:cNvSpPr/>
      </dsp:nvSpPr>
      <dsp:spPr>
        <a:xfrm>
          <a:off x="1955984" y="963292"/>
          <a:ext cx="1805748" cy="2166897"/>
        </a:xfrm>
        <a:prstGeom prst="rect">
          <a:avLst/>
        </a:prstGeom>
        <a:solidFill>
          <a:schemeClr val="accent2">
            <a:hueOff val="-741071"/>
            <a:satOff val="3550"/>
            <a:lumOff val="3284"/>
            <a:alphaOff val="0"/>
          </a:schemeClr>
        </a:solidFill>
        <a:ln w="19050" cap="rnd" cmpd="sng" algn="ctr">
          <a:solidFill>
            <a:schemeClr val="accent2">
              <a:hueOff val="-741071"/>
              <a:satOff val="3550"/>
              <a:lumOff val="328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8368" tIns="0" rIns="178368" bIns="330200" numCol="1" spcCol="1270" anchor="t" anchorCtr="0">
          <a:noAutofit/>
        </a:bodyPr>
        <a:lstStyle/>
        <a:p>
          <a:pPr marL="0" lvl="0" indent="0" algn="l" defTabSz="533400">
            <a:lnSpc>
              <a:spcPct val="90000"/>
            </a:lnSpc>
            <a:spcBef>
              <a:spcPct val="0"/>
            </a:spcBef>
            <a:spcAft>
              <a:spcPct val="35000"/>
            </a:spcAft>
            <a:buNone/>
          </a:pPr>
          <a:r>
            <a:rPr lang="en-GB" sz="1200" kern="1200" dirty="0"/>
            <a:t>Demonstrate an understanding of a respiratory assessment</a:t>
          </a:r>
          <a:endParaRPr lang="en-US" sz="1200" kern="1200" dirty="0"/>
        </a:p>
      </dsp:txBody>
      <dsp:txXfrm>
        <a:off x="1955984" y="1830051"/>
        <a:ext cx="1805748" cy="1300138"/>
      </dsp:txXfrm>
    </dsp:sp>
    <dsp:sp modelId="{F9A01F8F-395B-4B5F-A71C-2D2C6DCBC8F7}">
      <dsp:nvSpPr>
        <dsp:cNvPr id="0" name=""/>
        <dsp:cNvSpPr/>
      </dsp:nvSpPr>
      <dsp:spPr>
        <a:xfrm>
          <a:off x="1955984" y="963292"/>
          <a:ext cx="1805748" cy="866759"/>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78368" tIns="165100" rIns="178368" bIns="165100" numCol="1" spcCol="1270" anchor="ctr" anchorCtr="0">
          <a:noAutofit/>
        </a:bodyPr>
        <a:lstStyle/>
        <a:p>
          <a:pPr marL="0" lvl="0" indent="0" algn="l" defTabSz="1778000">
            <a:lnSpc>
              <a:spcPct val="90000"/>
            </a:lnSpc>
            <a:spcBef>
              <a:spcPct val="0"/>
            </a:spcBef>
            <a:spcAft>
              <a:spcPct val="35000"/>
            </a:spcAft>
            <a:buNone/>
          </a:pPr>
          <a:r>
            <a:rPr lang="en-US" sz="4000" kern="1200"/>
            <a:t>02</a:t>
          </a:r>
        </a:p>
      </dsp:txBody>
      <dsp:txXfrm>
        <a:off x="1955984" y="963292"/>
        <a:ext cx="1805748" cy="866759"/>
      </dsp:txXfrm>
    </dsp:sp>
    <dsp:sp modelId="{A477C977-9CAE-4B3C-A492-6072D0DAB51E}">
      <dsp:nvSpPr>
        <dsp:cNvPr id="0" name=""/>
        <dsp:cNvSpPr/>
      </dsp:nvSpPr>
      <dsp:spPr>
        <a:xfrm>
          <a:off x="3906192" y="963292"/>
          <a:ext cx="1805748" cy="2166897"/>
        </a:xfrm>
        <a:prstGeom prst="rect">
          <a:avLst/>
        </a:prstGeom>
        <a:solidFill>
          <a:schemeClr val="accent2">
            <a:hueOff val="-1482143"/>
            <a:satOff val="7100"/>
            <a:lumOff val="6569"/>
            <a:alphaOff val="0"/>
          </a:schemeClr>
        </a:solidFill>
        <a:ln w="19050" cap="rnd" cmpd="sng" algn="ctr">
          <a:solidFill>
            <a:schemeClr val="accent2">
              <a:hueOff val="-1482143"/>
              <a:satOff val="7100"/>
              <a:lumOff val="6569"/>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8368" tIns="0" rIns="178368" bIns="330200" numCol="1" spcCol="1270" anchor="t" anchorCtr="0">
          <a:noAutofit/>
        </a:bodyPr>
        <a:lstStyle/>
        <a:p>
          <a:pPr marL="0" lvl="0" indent="0" algn="l" defTabSz="533400">
            <a:lnSpc>
              <a:spcPct val="90000"/>
            </a:lnSpc>
            <a:spcBef>
              <a:spcPct val="0"/>
            </a:spcBef>
            <a:spcAft>
              <a:spcPct val="35000"/>
            </a:spcAft>
            <a:buNone/>
          </a:pPr>
          <a:r>
            <a:rPr lang="en-GB" sz="1200" kern="1200"/>
            <a:t>Recognise signs of respiratory distress</a:t>
          </a:r>
          <a:endParaRPr lang="en-US" sz="1200" kern="1200"/>
        </a:p>
      </dsp:txBody>
      <dsp:txXfrm>
        <a:off x="3906192" y="1830051"/>
        <a:ext cx="1805748" cy="1300138"/>
      </dsp:txXfrm>
    </dsp:sp>
    <dsp:sp modelId="{C8F57BC1-4910-48CA-8DB4-023B265C8B63}">
      <dsp:nvSpPr>
        <dsp:cNvPr id="0" name=""/>
        <dsp:cNvSpPr/>
      </dsp:nvSpPr>
      <dsp:spPr>
        <a:xfrm>
          <a:off x="3906192" y="963292"/>
          <a:ext cx="1805748" cy="866759"/>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78368" tIns="165100" rIns="178368" bIns="165100" numCol="1" spcCol="1270" anchor="ctr" anchorCtr="0">
          <a:noAutofit/>
        </a:bodyPr>
        <a:lstStyle/>
        <a:p>
          <a:pPr marL="0" lvl="0" indent="0" algn="l" defTabSz="1778000">
            <a:lnSpc>
              <a:spcPct val="90000"/>
            </a:lnSpc>
            <a:spcBef>
              <a:spcPct val="0"/>
            </a:spcBef>
            <a:spcAft>
              <a:spcPct val="35000"/>
            </a:spcAft>
            <a:buNone/>
          </a:pPr>
          <a:r>
            <a:rPr lang="en-US" sz="4000" kern="1200"/>
            <a:t>03</a:t>
          </a:r>
        </a:p>
      </dsp:txBody>
      <dsp:txXfrm>
        <a:off x="3906192" y="963292"/>
        <a:ext cx="1805748" cy="866759"/>
      </dsp:txXfrm>
    </dsp:sp>
    <dsp:sp modelId="{674CDFF9-01D8-4C4C-BF59-16B6ECF97C5C}">
      <dsp:nvSpPr>
        <dsp:cNvPr id="0" name=""/>
        <dsp:cNvSpPr/>
      </dsp:nvSpPr>
      <dsp:spPr>
        <a:xfrm>
          <a:off x="5856400" y="963292"/>
          <a:ext cx="1805748" cy="2166897"/>
        </a:xfrm>
        <a:prstGeom prst="rect">
          <a:avLst/>
        </a:prstGeom>
        <a:solidFill>
          <a:schemeClr val="accent2">
            <a:hueOff val="-2223214"/>
            <a:satOff val="10650"/>
            <a:lumOff val="9853"/>
            <a:alphaOff val="0"/>
          </a:schemeClr>
        </a:solidFill>
        <a:ln w="19050" cap="rnd" cmpd="sng" algn="ctr">
          <a:solidFill>
            <a:schemeClr val="accent2">
              <a:hueOff val="-2223214"/>
              <a:satOff val="10650"/>
              <a:lumOff val="985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8368" tIns="0" rIns="178368" bIns="330200" numCol="1" spcCol="1270" anchor="t" anchorCtr="0">
          <a:noAutofit/>
        </a:bodyPr>
        <a:lstStyle/>
        <a:p>
          <a:pPr marL="0" lvl="0" indent="0" algn="l" defTabSz="533400">
            <a:lnSpc>
              <a:spcPct val="90000"/>
            </a:lnSpc>
            <a:spcBef>
              <a:spcPct val="0"/>
            </a:spcBef>
            <a:spcAft>
              <a:spcPct val="35000"/>
            </a:spcAft>
            <a:buNone/>
          </a:pPr>
          <a:r>
            <a:rPr lang="en-GB" sz="1200" kern="1200"/>
            <a:t>Identify the best location to treat an exacerbation </a:t>
          </a:r>
          <a:endParaRPr lang="en-US" sz="1200" kern="1200"/>
        </a:p>
      </dsp:txBody>
      <dsp:txXfrm>
        <a:off x="5856400" y="1830051"/>
        <a:ext cx="1805748" cy="1300138"/>
      </dsp:txXfrm>
    </dsp:sp>
    <dsp:sp modelId="{B6561A87-EEC8-4660-818F-933A604CAA74}">
      <dsp:nvSpPr>
        <dsp:cNvPr id="0" name=""/>
        <dsp:cNvSpPr/>
      </dsp:nvSpPr>
      <dsp:spPr>
        <a:xfrm>
          <a:off x="5856400" y="963292"/>
          <a:ext cx="1805748" cy="866759"/>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78368" tIns="165100" rIns="178368" bIns="165100" numCol="1" spcCol="1270" anchor="ctr" anchorCtr="0">
          <a:noAutofit/>
        </a:bodyPr>
        <a:lstStyle/>
        <a:p>
          <a:pPr marL="0" lvl="0" indent="0" algn="l" defTabSz="1778000">
            <a:lnSpc>
              <a:spcPct val="90000"/>
            </a:lnSpc>
            <a:spcBef>
              <a:spcPct val="0"/>
            </a:spcBef>
            <a:spcAft>
              <a:spcPct val="35000"/>
            </a:spcAft>
            <a:buNone/>
          </a:pPr>
          <a:r>
            <a:rPr lang="en-US" sz="4000" kern="1200"/>
            <a:t>04</a:t>
          </a:r>
        </a:p>
      </dsp:txBody>
      <dsp:txXfrm>
        <a:off x="5856400" y="963292"/>
        <a:ext cx="1805748" cy="866759"/>
      </dsp:txXfrm>
    </dsp:sp>
    <dsp:sp modelId="{94A07528-8B40-4C17-B8E1-B7F4C8D74D0E}">
      <dsp:nvSpPr>
        <dsp:cNvPr id="0" name=""/>
        <dsp:cNvSpPr/>
      </dsp:nvSpPr>
      <dsp:spPr>
        <a:xfrm>
          <a:off x="7806608" y="963292"/>
          <a:ext cx="1805748" cy="2166897"/>
        </a:xfrm>
        <a:prstGeom prst="rect">
          <a:avLst/>
        </a:prstGeom>
        <a:solidFill>
          <a:schemeClr val="accent2">
            <a:hueOff val="-2964286"/>
            <a:satOff val="14200"/>
            <a:lumOff val="13137"/>
            <a:alphaOff val="0"/>
          </a:schemeClr>
        </a:solidFill>
        <a:ln w="19050" cap="rnd" cmpd="sng" algn="ctr">
          <a:solidFill>
            <a:schemeClr val="accent2">
              <a:hueOff val="-2964286"/>
              <a:satOff val="14200"/>
              <a:lumOff val="13137"/>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8368" tIns="0" rIns="178368" bIns="330200" numCol="1" spcCol="1270" anchor="t" anchorCtr="0">
          <a:noAutofit/>
        </a:bodyPr>
        <a:lstStyle/>
        <a:p>
          <a:pPr marL="0" lvl="0" indent="0" algn="l" defTabSz="533400">
            <a:lnSpc>
              <a:spcPct val="90000"/>
            </a:lnSpc>
            <a:spcBef>
              <a:spcPct val="0"/>
            </a:spcBef>
            <a:spcAft>
              <a:spcPct val="35000"/>
            </a:spcAft>
            <a:buNone/>
          </a:pPr>
          <a:r>
            <a:rPr lang="en-GB" sz="1200" kern="1200"/>
            <a:t>Be aware of management strategies for acute exacerbations of COPD</a:t>
          </a:r>
          <a:endParaRPr lang="en-US" sz="1200" kern="1200"/>
        </a:p>
      </dsp:txBody>
      <dsp:txXfrm>
        <a:off x="7806608" y="1830051"/>
        <a:ext cx="1805748" cy="1300138"/>
      </dsp:txXfrm>
    </dsp:sp>
    <dsp:sp modelId="{BDFFD489-E02D-4632-BFE7-F4483720246A}">
      <dsp:nvSpPr>
        <dsp:cNvPr id="0" name=""/>
        <dsp:cNvSpPr/>
      </dsp:nvSpPr>
      <dsp:spPr>
        <a:xfrm>
          <a:off x="7806608" y="963292"/>
          <a:ext cx="1805748" cy="866759"/>
        </a:xfrm>
        <a:prstGeom prst="rect">
          <a:avLst/>
        </a:prstGeom>
        <a:noFill/>
        <a:ln w="19050"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178368" tIns="165100" rIns="178368" bIns="165100" numCol="1" spcCol="1270" anchor="ctr" anchorCtr="0">
          <a:noAutofit/>
        </a:bodyPr>
        <a:lstStyle/>
        <a:p>
          <a:pPr marL="0" lvl="0" indent="0" algn="l" defTabSz="1778000">
            <a:lnSpc>
              <a:spcPct val="90000"/>
            </a:lnSpc>
            <a:spcBef>
              <a:spcPct val="0"/>
            </a:spcBef>
            <a:spcAft>
              <a:spcPct val="35000"/>
            </a:spcAft>
            <a:buNone/>
          </a:pPr>
          <a:r>
            <a:rPr lang="en-US" sz="4000" kern="1200"/>
            <a:t>05</a:t>
          </a:r>
        </a:p>
      </dsp:txBody>
      <dsp:txXfrm>
        <a:off x="7806608" y="963292"/>
        <a:ext cx="1805748" cy="866759"/>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52F89F-819A-40DC-8DA0-D1AFB4843772}" type="datetimeFigureOut">
              <a:rPr lang="en-GB" smtClean="0"/>
              <a:t>03/02/2025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37213-07D6-4341-9A3C-9A76CF189933}" type="slidenum">
              <a:rPr lang="en-GB" smtClean="0"/>
              <a:t>‹#›</a:t>
            </a:fld>
            <a:endParaRPr lang="en-GB"/>
          </a:p>
        </p:txBody>
      </p:sp>
    </p:spTree>
    <p:extLst>
      <p:ext uri="{BB962C8B-B14F-4D97-AF65-F5344CB8AC3E}">
        <p14:creationId xmlns:p14="http://schemas.microsoft.com/office/powerpoint/2010/main" val="677936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4937213-07D6-4341-9A3C-9A76CF189933}" type="slidenum">
              <a:rPr lang="en-GB" smtClean="0"/>
              <a:t>1</a:t>
            </a:fld>
            <a:endParaRPr lang="en-GB"/>
          </a:p>
        </p:txBody>
      </p:sp>
    </p:spTree>
    <p:extLst>
      <p:ext uri="{BB962C8B-B14F-4D97-AF65-F5344CB8AC3E}">
        <p14:creationId xmlns:p14="http://schemas.microsoft.com/office/powerpoint/2010/main" val="12253985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What is an exacerbation? A flare up of systems e.g. cough, increased SOB that worsens in &lt; 14 days. Can be caused by a virus, bacteria or pollution thus it can be infective or non-infective. Can be mild, moderate or severe. </a:t>
            </a:r>
          </a:p>
          <a:p>
            <a:endParaRPr lang="en-GB" dirty="0"/>
          </a:p>
        </p:txBody>
      </p:sp>
      <p:sp>
        <p:nvSpPr>
          <p:cNvPr id="4" name="Slide Number Placeholder 3"/>
          <p:cNvSpPr>
            <a:spLocks noGrp="1"/>
          </p:cNvSpPr>
          <p:nvPr>
            <p:ph type="sldNum" sz="quarter" idx="5"/>
          </p:nvPr>
        </p:nvSpPr>
        <p:spPr/>
        <p:txBody>
          <a:bodyPr/>
          <a:lstStyle/>
          <a:p>
            <a:fld id="{64937213-07D6-4341-9A3C-9A76CF189933}" type="slidenum">
              <a:rPr lang="en-GB" smtClean="0"/>
              <a:t>5</a:t>
            </a:fld>
            <a:endParaRPr lang="en-GB"/>
          </a:p>
        </p:txBody>
      </p:sp>
    </p:spTree>
    <p:extLst>
      <p:ext uri="{BB962C8B-B14F-4D97-AF65-F5344CB8AC3E}">
        <p14:creationId xmlns:p14="http://schemas.microsoft.com/office/powerpoint/2010/main" val="1579075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64937213-07D6-4341-9A3C-9A76CF189933}" type="slidenum">
              <a:rPr lang="en-GB" smtClean="0"/>
              <a:t>10</a:t>
            </a:fld>
            <a:endParaRPr lang="en-GB"/>
          </a:p>
        </p:txBody>
      </p:sp>
    </p:spTree>
    <p:extLst>
      <p:ext uri="{BB962C8B-B14F-4D97-AF65-F5344CB8AC3E}">
        <p14:creationId xmlns:p14="http://schemas.microsoft.com/office/powerpoint/2010/main" val="23462762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Exclude co-morbidities: PE, HF – may need CTPA, US, D-dimer, Echocardiogram, BNP, Troponin– 5.9% were found to have a PE. Blood cultures </a:t>
            </a:r>
          </a:p>
          <a:p>
            <a:r>
              <a:rPr lang="en-GB" dirty="0"/>
              <a:t>CRP</a:t>
            </a:r>
          </a:p>
          <a:p>
            <a:r>
              <a:rPr lang="en-GB" dirty="0"/>
              <a:t>U+E</a:t>
            </a:r>
          </a:p>
          <a:p>
            <a:endParaRPr lang="en-GB" dirty="0"/>
          </a:p>
        </p:txBody>
      </p:sp>
      <p:sp>
        <p:nvSpPr>
          <p:cNvPr id="4" name="Slide Number Placeholder 3"/>
          <p:cNvSpPr>
            <a:spLocks noGrp="1"/>
          </p:cNvSpPr>
          <p:nvPr>
            <p:ph type="sldNum" sz="quarter" idx="5"/>
          </p:nvPr>
        </p:nvSpPr>
        <p:spPr/>
        <p:txBody>
          <a:bodyPr/>
          <a:lstStyle/>
          <a:p>
            <a:fld id="{64937213-07D6-4341-9A3C-9A76CF189933}" type="slidenum">
              <a:rPr lang="en-GB" smtClean="0"/>
              <a:t>11</a:t>
            </a:fld>
            <a:endParaRPr lang="en-GB"/>
          </a:p>
        </p:txBody>
      </p:sp>
    </p:spTree>
    <p:extLst>
      <p:ext uri="{BB962C8B-B14F-4D97-AF65-F5344CB8AC3E}">
        <p14:creationId xmlns:p14="http://schemas.microsoft.com/office/powerpoint/2010/main" val="2037318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Goal of treatment: To minimise the impact of the current exacerbation and prevent the development of subsequent events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B2 agonists work directly on smooth muscle – sympathetic pathway</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Anti-</a:t>
            </a:r>
            <a:r>
              <a:rPr lang="en-GB" dirty="0" err="1"/>
              <a:t>cholinergics</a:t>
            </a:r>
            <a:r>
              <a:rPr lang="en-GB" dirty="0"/>
              <a:t> block channels and prevent acetylcholine binding – parasympathetic pathways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 evidence in favour of nebulisers over MDIs but nebulisers tend to be easier for sicker patients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0" i="0" dirty="0">
                <a:solidFill>
                  <a:srgbClr val="0E0E0E"/>
                </a:solidFill>
                <a:effectLst/>
                <a:latin typeface="Inter"/>
              </a:rPr>
              <a:t>If a person with COPD is hypercapnic or acidotic the nebuliser should be driven by compressed air rather than oxygen</a:t>
            </a: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Antibiotics: Should be considered in the presence of increased volume of sputum and </a:t>
            </a:r>
            <a:r>
              <a:rPr lang="en-GB" b="1" dirty="0"/>
              <a:t>increased purulence </a:t>
            </a:r>
            <a:r>
              <a:rPr lang="en-GB" dirty="0"/>
              <a:t>+ SOB. Shorten recovery time, reduce the risk of early relapse, treatment failure and hospitalisation duration – local bacterial resistance pattern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Steroids: Reduce inflammation, shorten recovery time,  improve lung function, oxygenation,  reduce risk of early relapse, treatment failure and the length of hospitalisation – note increased risk of pneumonia. </a:t>
            </a:r>
            <a:r>
              <a:rPr lang="en-GB" b="0" i="0" dirty="0">
                <a:solidFill>
                  <a:srgbClr val="0E0E0E"/>
                </a:solidFill>
                <a:effectLst/>
                <a:latin typeface="Inter"/>
              </a:rPr>
              <a:t>Osteoporosis prophylaxis to be considered</a:t>
            </a:r>
            <a:endParaRPr lang="en-GB" dirty="0"/>
          </a:p>
          <a:p>
            <a:endParaRPr lang="en-GB" dirty="0"/>
          </a:p>
        </p:txBody>
      </p:sp>
      <p:sp>
        <p:nvSpPr>
          <p:cNvPr id="4" name="Slide Number Placeholder 3"/>
          <p:cNvSpPr>
            <a:spLocks noGrp="1"/>
          </p:cNvSpPr>
          <p:nvPr>
            <p:ph type="sldNum" sz="quarter" idx="5"/>
          </p:nvPr>
        </p:nvSpPr>
        <p:spPr/>
        <p:txBody>
          <a:bodyPr/>
          <a:lstStyle/>
          <a:p>
            <a:fld id="{64937213-07D6-4341-9A3C-9A76CF189933}" type="slidenum">
              <a:rPr lang="en-GB" smtClean="0"/>
              <a:t>12</a:t>
            </a:fld>
            <a:endParaRPr lang="en-GB"/>
          </a:p>
        </p:txBody>
      </p:sp>
    </p:spTree>
    <p:extLst>
      <p:ext uri="{BB962C8B-B14F-4D97-AF65-F5344CB8AC3E}">
        <p14:creationId xmlns:p14="http://schemas.microsoft.com/office/powerpoint/2010/main" val="10000241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NIV contraindications: Severe facial deformity, facial burns, upper airway obstruction, confusion, agitation, cognitive impairment, vomiting (how quickly can mask be removed?), large undrained pneumothorax, ? Copious secretions </a:t>
            </a:r>
          </a:p>
        </p:txBody>
      </p:sp>
      <p:sp>
        <p:nvSpPr>
          <p:cNvPr id="4" name="Slide Number Placeholder 3"/>
          <p:cNvSpPr>
            <a:spLocks noGrp="1"/>
          </p:cNvSpPr>
          <p:nvPr>
            <p:ph type="sldNum" sz="quarter" idx="5"/>
          </p:nvPr>
        </p:nvSpPr>
        <p:spPr/>
        <p:txBody>
          <a:bodyPr/>
          <a:lstStyle/>
          <a:p>
            <a:fld id="{64937213-07D6-4341-9A3C-9A76CF189933}" type="slidenum">
              <a:rPr lang="en-GB" smtClean="0"/>
              <a:t>21</a:t>
            </a:fld>
            <a:endParaRPr lang="en-GB"/>
          </a:p>
        </p:txBody>
      </p:sp>
    </p:spTree>
    <p:extLst>
      <p:ext uri="{BB962C8B-B14F-4D97-AF65-F5344CB8AC3E}">
        <p14:creationId xmlns:p14="http://schemas.microsoft.com/office/powerpoint/2010/main" val="2401674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26377890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1253658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34130165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192462-57E9-4278-98F9-584157F97215}" type="datetimeFigureOut">
              <a:rPr lang="en-GB" smtClean="0"/>
              <a:t>03/02/2025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2574527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6192462-57E9-4278-98F9-584157F97215}" type="datetimeFigureOut">
              <a:rPr lang="en-GB" smtClean="0"/>
              <a:t>03/02/2025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122172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6192462-57E9-4278-98F9-584157F97215}" type="datetimeFigureOut">
              <a:rPr lang="en-GB" smtClean="0"/>
              <a:t>03/02/2025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40239060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192462-57E9-4278-98F9-584157F97215}" type="datetimeFigureOut">
              <a:rPr lang="en-GB" smtClean="0"/>
              <a:t>03/02/2025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404606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6192462-57E9-4278-98F9-584157F97215}" type="datetimeFigureOut">
              <a:rPr lang="en-GB" smtClean="0"/>
              <a:t>03/02/2025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4244170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6192462-57E9-4278-98F9-584157F97215}" type="datetimeFigureOut">
              <a:rPr lang="en-GB" smtClean="0"/>
              <a:t>03/02/2025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168107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3515527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281789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2879437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802270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1017581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5585995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192462-57E9-4278-98F9-584157F97215}" type="datetimeFigureOut">
              <a:rPr lang="en-GB" smtClean="0"/>
              <a:t>03/02/2025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4E89180A-4A2F-4A11-ABC3-4D468D417446}" type="slidenum">
              <a:rPr lang="en-GB" smtClean="0"/>
              <a:t>‹#›</a:t>
            </a:fld>
            <a:endParaRPr lang="en-GB"/>
          </a:p>
        </p:txBody>
      </p:sp>
    </p:spTree>
    <p:extLst>
      <p:ext uri="{BB962C8B-B14F-4D97-AF65-F5344CB8AC3E}">
        <p14:creationId xmlns:p14="http://schemas.microsoft.com/office/powerpoint/2010/main" val="29418099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6192462-57E9-4278-98F9-584157F97215}" type="datetimeFigureOut">
              <a:rPr lang="en-GB" smtClean="0"/>
              <a:t>03/02/2025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E89180A-4A2F-4A11-ABC3-4D468D417446}" type="slidenum">
              <a:rPr lang="en-GB" smtClean="0"/>
              <a:t>‹#›</a:t>
            </a:fld>
            <a:endParaRPr lang="en-GB"/>
          </a:p>
        </p:txBody>
      </p:sp>
    </p:spTree>
    <p:extLst>
      <p:ext uri="{BB962C8B-B14F-4D97-AF65-F5344CB8AC3E}">
        <p14:creationId xmlns:p14="http://schemas.microsoft.com/office/powerpoint/2010/main" val="2347277469"/>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google.co.uk/url?sa=i&amp;rct=j&amp;q=&amp;esrc=s&amp;frm=1&amp;source=images&amp;cd=&amp;cad=rja&amp;uact=8&amp;docid=wFFU9m5L1I8vYM&amp;tbnid=QAg5sMyMpxkTLM:&amp;ved=0CAUQjRw&amp;url=https://johntmcgowan.wordpress.com/category/animation/&amp;ei=46-xU-X2AsTZOaaMgOAK&amp;bvm=bv.69837884,d.ZWU&amp;psig=AFQjCNE9LzFLdnagHjDli4cE04xoP_RIdw&amp;ust=1404240082742654"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gif"/><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www.google.co.uk/url?sa=i&amp;rct=j&amp;q=&amp;esrc=s&amp;source=images&amp;cd=&amp;cad=rja&amp;uact=8&amp;ved=0ahUKEwj2nKvjztfOAhWB7hoKHQkZB_EQjRwIBw&amp;url=http%3A%2F%2Fwww.keyword-suggestions.com%2FY291Z2hpbmcgIGFuaW1hdGlvbg%2F&amp;bvm=bv.129759880,d.ZGg&amp;psig=AFQjCNHK7qFFOgvtICLMqE5clkGF-5JPoA&amp;ust=1472044377351627"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gif"/></Relationships>
</file>

<file path=ppt/slides/_rels/slide11.xml.rels><?xml version="1.0" encoding="UTF-8" standalone="yes"?>
<Relationships xmlns="http://schemas.openxmlformats.org/package/2006/relationships"><Relationship Id="rId8" Type="http://schemas.openxmlformats.org/officeDocument/2006/relationships/image" Target="../media/image15.gif"/><Relationship Id="rId3" Type="http://schemas.openxmlformats.org/officeDocument/2006/relationships/hyperlink" Target="https://www.google.co.uk/url?sa=i&amp;rct=j&amp;q=&amp;esrc=s&amp;frm=1&amp;source=images&amp;cd=&amp;cad=rja&amp;uact=8&amp;docid=wFFU9m5L1I8vYM&amp;tbnid=QAg5sMyMpxkTLM:&amp;ved=0CAUQjRw&amp;url=https://johntmcgowan.wordpress.com/category/animation/&amp;ei=46-xU-X2AsTZOaaMgOAK&amp;bvm=bv.69837884,d.ZWU&amp;psig=AFQjCNE9LzFLdnagHjDli4cE04xoP_RIdw&amp;ust=1404240082742654" TargetMode="External"/><Relationship Id="rId7" Type="http://schemas.openxmlformats.org/officeDocument/2006/relationships/image" Target="../media/image14.gi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3.gif"/><Relationship Id="rId5" Type="http://schemas.openxmlformats.org/officeDocument/2006/relationships/image" Target="../media/image12.gif"/><Relationship Id="rId4" Type="http://schemas.openxmlformats.org/officeDocument/2006/relationships/image" Target="../media/image1.gif"/><Relationship Id="rId9" Type="http://schemas.openxmlformats.org/officeDocument/2006/relationships/image" Target="../media/image16.gif"/></Relationships>
</file>

<file path=ppt/slides/_rels/slide12.xml.rels><?xml version="1.0" encoding="UTF-8" standalone="yes"?>
<Relationships xmlns="http://schemas.openxmlformats.org/package/2006/relationships"><Relationship Id="rId8" Type="http://schemas.openxmlformats.org/officeDocument/2006/relationships/hyperlink" Target="http://www.google.co.uk/url?sa=i&amp;rct=j&amp;q=&amp;esrc=s&amp;source=images&amp;cd=&amp;cad=rja&amp;uact=8&amp;ved=0ahUKEwia1PjTxafPAhWNJhoKHQq4AMwQjRwIBw&amp;url=http%3A%2F%2Fpharmlocker.com%2Fbuy-doxycycline-uk.html&amp;bvm=bv.133700528,d.d2s&amp;psig=AFQjCNF0BHbIx1LSpH4fVjtGBYyFMIhxow&amp;ust=1474790699796995" TargetMode="External"/><Relationship Id="rId3" Type="http://schemas.openxmlformats.org/officeDocument/2006/relationships/image" Target="../media/image17.gif"/><Relationship Id="rId7" Type="http://schemas.openxmlformats.org/officeDocument/2006/relationships/image" Target="../media/image20.gif"/><Relationship Id="rId12" Type="http://schemas.openxmlformats.org/officeDocument/2006/relationships/image" Target="../media/image23.gif"/><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www.google.co.uk/url?sa=i&amp;rct=j&amp;q=&amp;esrc=s&amp;frm=1&amp;source=images&amp;cd=&amp;cad=rja&amp;uact=8&amp;docid=lyTh3MVkyZ97AM&amp;tbnid=lxsUwohPVrBcJM:&amp;ved=0CAUQjRw&amp;url=http://www.network54.com/Forum/172251/message/1365266667/The+Name+Game&amp;ei=M0O0U5asOouv7Abi4IHQBQ&amp;bvm=bv.70138588,d.ZWU&amp;psig=AFQjCNHc5AzvMnRdnvO8ymu4BuTC0xSvjw&amp;ust=1404408940017908" TargetMode="External"/><Relationship Id="rId11" Type="http://schemas.openxmlformats.org/officeDocument/2006/relationships/image" Target="../media/image22.jpeg"/><Relationship Id="rId5" Type="http://schemas.openxmlformats.org/officeDocument/2006/relationships/image" Target="../media/image19.jpeg"/><Relationship Id="rId10" Type="http://schemas.openxmlformats.org/officeDocument/2006/relationships/hyperlink" Target="https://www.google.co.uk/url?sa=i&amp;rct=j&amp;q=&amp;esrc=s&amp;source=images&amp;cd=&amp;ved=0ahUKEwj9uKfkxafPAhVHOhoKHTK8AGYQjRwIBw&amp;url=https%3A%2F%2Fwww.rxstars.net%2Fprednisolone-5mg-dosing-reviews-instant-relief-for-inflammation-but-can-be-side-effects%2F&amp;bvm=bv.133700528,d.d2s&amp;psig=AFQjCNFifCPQMcdNh5-4UHQhjwta6DOXZg&amp;ust=1474790736994699" TargetMode="External"/><Relationship Id="rId4" Type="http://schemas.openxmlformats.org/officeDocument/2006/relationships/image" Target="../media/image18.jpeg"/><Relationship Id="rId9"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image" Target="../media/image24.gi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5.gi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7.gi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29.gif"/><Relationship Id="rId7" Type="http://schemas.openxmlformats.org/officeDocument/2006/relationships/hyperlink" Target="https://www.google.co.uk/url?sa=i&amp;rct=j&amp;q=&amp;esrc=s&amp;source=images&amp;cd=&amp;ved=0ahUKEwj9uKfkxafPAhVHOhoKHTK8AGYQjRwIBw&amp;url=https%3A%2F%2Fwww.rxstars.net%2Fprednisolone-5mg-dosing-reviews-instant-relief-for-inflammation-but-can-be-side-effects%2F&amp;bvm=bv.133700528,d.d2s&amp;psig=AFQjCNFifCPQMcdNh5-4UHQhjwta6DOXZg&amp;ust=1474790736994699" TargetMode="External"/><Relationship Id="rId12" Type="http://schemas.openxmlformats.org/officeDocument/2006/relationships/image" Target="../media/image33.gif"/><Relationship Id="rId2" Type="http://schemas.openxmlformats.org/officeDocument/2006/relationships/hyperlink" Target="http://www.google.co.uk/url?sa=i&amp;rct=j&amp;q=&amp;esrc=s&amp;frm=1&amp;source=images&amp;cd=&amp;cad=rja&amp;uact=8&amp;docid=9vl9Alk3AkrRhM&amp;tbnid=e0gw4DdUh7_6QM:&amp;ved=0CAUQjRw&amp;url=http://www.mattcandraw.com/work/asthma.html&amp;ei=M0G0U_OPB-7Q7AawoYH4CQ&amp;bvm=bv.70138588,d.ZWU&amp;psig=AFQjCNG2jWhWwOZ8LndBM7UuV0MJtfjIQg&amp;ust=1404408400957004" TargetMode="Externa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hyperlink" Target="http://www.google.co.uk/url?sa=i&amp;rct=j&amp;q=&amp;esrc=s&amp;frm=1&amp;source=images&amp;cd=&amp;cad=rja&amp;uact=8&amp;docid=u_ajoYAgM1GqJM&amp;tbnid=x1ZwEcC4mcrvNM:&amp;ved=0CAUQjRw&amp;url=http://www.topendsports.com/fitness/products/fitness-generator.htm&amp;ei=jUa0U6XpKtOI7Abs4IDQDw&amp;bvm=bv.70138588,d.ZWU&amp;psig=AFQjCNHi64hq6Ux6SLGdHyHKNRtdeJj5_g&amp;ust=1404409859419210" TargetMode="External"/><Relationship Id="rId5" Type="http://schemas.openxmlformats.org/officeDocument/2006/relationships/hyperlink" Target="http://www.google.co.uk/url?sa=i&amp;rct=j&amp;q=&amp;esrc=s&amp;source=images&amp;cd=&amp;cad=rja&amp;uact=8&amp;ved=0ahUKEwia1PjTxafPAhWNJhoKHQq4AMwQjRwIBw&amp;url=http%3A%2F%2Fpharmlocker.com%2Fbuy-doxycycline-uk.html&amp;bvm=bv.133700528,d.d2s&amp;psig=AFQjCNF0BHbIx1LSpH4fVjtGBYyFMIhxow&amp;ust=1474790699796995" TargetMode="External"/><Relationship Id="rId10" Type="http://schemas.openxmlformats.org/officeDocument/2006/relationships/image" Target="../media/image32.gif"/><Relationship Id="rId4" Type="http://schemas.openxmlformats.org/officeDocument/2006/relationships/image" Target="../media/image30.gif"/><Relationship Id="rId9" Type="http://schemas.openxmlformats.org/officeDocument/2006/relationships/image" Target="../media/image31.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4974337" y="1265314"/>
            <a:ext cx="4299666" cy="3249131"/>
          </a:xfrm>
        </p:spPr>
        <p:txBody>
          <a:bodyPr>
            <a:normAutofit/>
          </a:bodyPr>
          <a:lstStyle/>
          <a:p>
            <a:pPr algn="l"/>
            <a:r>
              <a:rPr lang="en-GB" sz="5000" dirty="0"/>
              <a:t>Acute Exacerbations of COPD</a:t>
            </a:r>
          </a:p>
        </p:txBody>
      </p:sp>
      <p:sp>
        <p:nvSpPr>
          <p:cNvPr id="3" name="Subtitle 2"/>
          <p:cNvSpPr>
            <a:spLocks noGrp="1"/>
          </p:cNvSpPr>
          <p:nvPr>
            <p:ph type="subTitle" idx="1"/>
          </p:nvPr>
        </p:nvSpPr>
        <p:spPr>
          <a:xfrm>
            <a:off x="4974336" y="4514445"/>
            <a:ext cx="4299666" cy="1295339"/>
          </a:xfrm>
        </p:spPr>
        <p:txBody>
          <a:bodyPr>
            <a:normAutofit fontScale="62500" lnSpcReduction="20000"/>
          </a:bodyPr>
          <a:lstStyle/>
          <a:p>
            <a:pPr algn="l"/>
            <a:endParaRPr lang="en-GB" dirty="0"/>
          </a:p>
          <a:p>
            <a:pPr algn="l"/>
            <a:r>
              <a:rPr lang="en-GB" dirty="0"/>
              <a:t>Shauna Sheridan</a:t>
            </a:r>
          </a:p>
          <a:p>
            <a:pPr algn="l"/>
            <a:r>
              <a:rPr lang="en-GB" dirty="0"/>
              <a:t>Clinical Specialist Physiotherapist</a:t>
            </a:r>
          </a:p>
          <a:p>
            <a:pPr algn="l"/>
            <a:r>
              <a:rPr lang="en-GB" dirty="0"/>
              <a:t>Royal Brompton </a:t>
            </a:r>
          </a:p>
          <a:p>
            <a:pPr algn="l"/>
            <a:r>
              <a:rPr lang="en-GB" dirty="0"/>
              <a:t>4</a:t>
            </a:r>
            <a:r>
              <a:rPr lang="en-GB" baseline="30000" dirty="0"/>
              <a:t>th</a:t>
            </a:r>
            <a:r>
              <a:rPr lang="en-GB" dirty="0"/>
              <a:t> February 2025 </a:t>
            </a:r>
          </a:p>
          <a:p>
            <a:pPr algn="l"/>
            <a:endParaRPr lang="en-GB" dirty="0"/>
          </a:p>
          <a:p>
            <a:pPr algn="l"/>
            <a:endParaRPr lang="en-GB" dirty="0"/>
          </a:p>
        </p:txBody>
      </p:sp>
      <p:sp>
        <p:nvSpPr>
          <p:cNvPr id="9" name="Isosceles Triangle 8">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pic>
        <p:nvPicPr>
          <p:cNvPr id="4" name="Picture 2" descr="https://johntmcgowan.files.wordpress.com/2011/08/breathing50.gif?w=460">
            <a:hlinkClick r:id="rId3"/>
            <a:extLst>
              <a:ext uri="{FF2B5EF4-FFF2-40B4-BE49-F238E27FC236}">
                <a16:creationId xmlns:a16="http://schemas.microsoft.com/office/drawing/2014/main" id="{25E15BEF-4407-4AA4-87A2-2B77E3320B01}"/>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tretch>
            <a:fillRect/>
          </a:stretch>
        </p:blipFill>
        <p:spPr bwMode="auto">
          <a:xfrm>
            <a:off x="888604" y="2020850"/>
            <a:ext cx="3765692" cy="2824269"/>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3483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F4444CE-BC8D-4D61-B303-4C05614E6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FEC83A-DD3D-42A0-A859-BC5E89C51C24}"/>
              </a:ext>
            </a:extLst>
          </p:cNvPr>
          <p:cNvSpPr>
            <a:spLocks noGrp="1"/>
          </p:cNvSpPr>
          <p:nvPr>
            <p:ph type="title"/>
          </p:nvPr>
        </p:nvSpPr>
        <p:spPr>
          <a:xfrm>
            <a:off x="1286933" y="609600"/>
            <a:ext cx="10197494" cy="1099457"/>
          </a:xfrm>
        </p:spPr>
        <p:txBody>
          <a:bodyPr>
            <a:normAutofit/>
          </a:bodyPr>
          <a:lstStyle/>
          <a:p>
            <a:r>
              <a:rPr lang="en-GB" dirty="0"/>
              <a:t>Learning Outcomes </a:t>
            </a:r>
          </a:p>
        </p:txBody>
      </p:sp>
      <p:sp>
        <p:nvSpPr>
          <p:cNvPr id="11" name="Isosceles Triangle 10">
            <a:extLst>
              <a:ext uri="{FF2B5EF4-FFF2-40B4-BE49-F238E27FC236}">
                <a16:creationId xmlns:a16="http://schemas.microsoft.com/office/drawing/2014/main" id="{73772B81-181F-48B7-8826-4D9686D15D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3" name="Isosceles Triangle 12">
            <a:extLst>
              <a:ext uri="{FF2B5EF4-FFF2-40B4-BE49-F238E27FC236}">
                <a16:creationId xmlns:a16="http://schemas.microsoft.com/office/drawing/2014/main" id="{B2205F6E-03C6-4E92-877C-E2482F6599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743267"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graphicFrame>
        <p:nvGraphicFramePr>
          <p:cNvPr id="5" name="Content Placeholder 2">
            <a:extLst>
              <a:ext uri="{FF2B5EF4-FFF2-40B4-BE49-F238E27FC236}">
                <a16:creationId xmlns:a16="http://schemas.microsoft.com/office/drawing/2014/main" id="{AE61C433-D430-06D9-744F-AB3340C9EEC5}"/>
              </a:ext>
            </a:extLst>
          </p:cNvPr>
          <p:cNvGraphicFramePr>
            <a:graphicFrameLocks noGrp="1"/>
          </p:cNvGraphicFramePr>
          <p:nvPr>
            <p:ph idx="1"/>
            <p:extLst>
              <p:ext uri="{D42A27DB-BD31-4B8C-83A1-F6EECF244321}">
                <p14:modId xmlns:p14="http://schemas.microsoft.com/office/powerpoint/2010/main" val="3631083516"/>
              </p:ext>
            </p:extLst>
          </p:nvPr>
        </p:nvGraphicFramePr>
        <p:xfrm>
          <a:off x="1286933" y="1948543"/>
          <a:ext cx="9618133" cy="40934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4" descr="Checklist GIF | Gfycat">
            <a:extLst>
              <a:ext uri="{FF2B5EF4-FFF2-40B4-BE49-F238E27FC236}">
                <a16:creationId xmlns:a16="http://schemas.microsoft.com/office/drawing/2014/main" id="{EE94FF6D-2902-4AB1-B137-9A1E2BE1F853}"/>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5803047" y="472140"/>
            <a:ext cx="1666875" cy="1666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696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E12BB1-0B45-4420-8553-2689973D0E04}"/>
              </a:ext>
            </a:extLst>
          </p:cNvPr>
          <p:cNvSpPr>
            <a:spLocks noGrp="1"/>
          </p:cNvSpPr>
          <p:nvPr>
            <p:ph type="title"/>
          </p:nvPr>
        </p:nvSpPr>
        <p:spPr/>
        <p:txBody>
          <a:bodyPr/>
          <a:lstStyle/>
          <a:p>
            <a:r>
              <a:rPr lang="en-GB" dirty="0"/>
              <a:t>COPD lecture knowledge check </a:t>
            </a:r>
          </a:p>
        </p:txBody>
      </p:sp>
      <p:sp>
        <p:nvSpPr>
          <p:cNvPr id="3" name="Content Placeholder 2">
            <a:extLst>
              <a:ext uri="{FF2B5EF4-FFF2-40B4-BE49-F238E27FC236}">
                <a16:creationId xmlns:a16="http://schemas.microsoft.com/office/drawing/2014/main" id="{0A7ECD7D-EB1D-4372-B530-2DF0044776D3}"/>
              </a:ext>
            </a:extLst>
          </p:cNvPr>
          <p:cNvSpPr>
            <a:spLocks noGrp="1"/>
          </p:cNvSpPr>
          <p:nvPr>
            <p:ph idx="1"/>
          </p:nvPr>
        </p:nvSpPr>
        <p:spPr>
          <a:xfrm>
            <a:off x="677334" y="1930400"/>
            <a:ext cx="8596668" cy="3880773"/>
          </a:xfrm>
        </p:spPr>
        <p:txBody>
          <a:bodyPr>
            <a:normAutofit lnSpcReduction="10000"/>
          </a:bodyPr>
          <a:lstStyle/>
          <a:p>
            <a:r>
              <a:rPr lang="en-GB" sz="2800" dirty="0"/>
              <a:t>Can you classify the following patient according to the GOLD classification of COPD?</a:t>
            </a:r>
          </a:p>
          <a:p>
            <a:pPr marL="0" indent="0">
              <a:buNone/>
            </a:pPr>
            <a:endParaRPr lang="en-GB" sz="2800" dirty="0"/>
          </a:p>
          <a:p>
            <a:pPr>
              <a:buFontTx/>
              <a:buChar char="-"/>
            </a:pPr>
            <a:r>
              <a:rPr lang="en-GB" sz="2800" dirty="0"/>
              <a:t>FEV</a:t>
            </a:r>
            <a:r>
              <a:rPr lang="en-GB" sz="2800" baseline="-25000" dirty="0"/>
              <a:t>1</a:t>
            </a:r>
            <a:r>
              <a:rPr lang="en-GB" sz="2800" dirty="0"/>
              <a:t> = 34% predicted</a:t>
            </a:r>
          </a:p>
          <a:p>
            <a:pPr>
              <a:buFontTx/>
              <a:buChar char="-"/>
            </a:pPr>
            <a:r>
              <a:rPr lang="en-GB" sz="2800" dirty="0"/>
              <a:t>1 exacerbation in the last year which did not require a hospital admission </a:t>
            </a:r>
          </a:p>
          <a:p>
            <a:pPr>
              <a:buFontTx/>
              <a:buChar char="-"/>
            </a:pPr>
            <a:r>
              <a:rPr lang="en-GB" sz="2800" dirty="0" err="1"/>
              <a:t>mMRC</a:t>
            </a:r>
            <a:r>
              <a:rPr lang="en-GB" sz="2800" dirty="0"/>
              <a:t> scored 4</a:t>
            </a:r>
          </a:p>
          <a:p>
            <a:pPr>
              <a:buFontTx/>
              <a:buChar char="-"/>
            </a:pPr>
            <a:r>
              <a:rPr lang="en-GB" sz="2800" dirty="0"/>
              <a:t>CAT score 15</a:t>
            </a:r>
          </a:p>
        </p:txBody>
      </p:sp>
      <p:pic>
        <p:nvPicPr>
          <p:cNvPr id="1026" name="Picture 2" descr="Vraagteken Gif - GIFcen">
            <a:extLst>
              <a:ext uri="{FF2B5EF4-FFF2-40B4-BE49-F238E27FC236}">
                <a16:creationId xmlns:a16="http://schemas.microsoft.com/office/drawing/2014/main" id="{4E523447-2D70-400F-9CF0-0FF1698F948C}"/>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7615382" y="183907"/>
            <a:ext cx="1412050" cy="1725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83696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29F94-2517-4A3F-9DE0-C19E8F327D12}"/>
              </a:ext>
            </a:extLst>
          </p:cNvPr>
          <p:cNvSpPr>
            <a:spLocks noGrp="1"/>
          </p:cNvSpPr>
          <p:nvPr>
            <p:ph type="title"/>
          </p:nvPr>
        </p:nvSpPr>
        <p:spPr/>
        <p:txBody>
          <a:bodyPr/>
          <a:lstStyle/>
          <a:p>
            <a:r>
              <a:rPr lang="en-GB" dirty="0"/>
              <a:t>Answer</a:t>
            </a:r>
          </a:p>
        </p:txBody>
      </p:sp>
      <p:graphicFrame>
        <p:nvGraphicFramePr>
          <p:cNvPr id="4" name="Table 6">
            <a:extLst>
              <a:ext uri="{FF2B5EF4-FFF2-40B4-BE49-F238E27FC236}">
                <a16:creationId xmlns:a16="http://schemas.microsoft.com/office/drawing/2014/main" id="{2AFCB634-1EBC-4DAC-B7E8-7282E1485CF7}"/>
              </a:ext>
            </a:extLst>
          </p:cNvPr>
          <p:cNvGraphicFramePr>
            <a:graphicFrameLocks noGrp="1"/>
          </p:cNvGraphicFramePr>
          <p:nvPr>
            <p:extLst>
              <p:ext uri="{D42A27DB-BD31-4B8C-83A1-F6EECF244321}">
                <p14:modId xmlns:p14="http://schemas.microsoft.com/office/powerpoint/2010/main" val="1652155110"/>
              </p:ext>
            </p:extLst>
          </p:nvPr>
        </p:nvGraphicFramePr>
        <p:xfrm>
          <a:off x="722371" y="2586328"/>
          <a:ext cx="3388230" cy="2336956"/>
        </p:xfrm>
        <a:graphic>
          <a:graphicData uri="http://schemas.openxmlformats.org/drawingml/2006/table">
            <a:tbl>
              <a:tblPr firstRow="1" bandRow="1">
                <a:tableStyleId>{5C22544A-7EE6-4342-B048-85BDC9FD1C3A}</a:tableStyleId>
              </a:tblPr>
              <a:tblGrid>
                <a:gridCol w="1694115">
                  <a:extLst>
                    <a:ext uri="{9D8B030D-6E8A-4147-A177-3AD203B41FA5}">
                      <a16:colId xmlns:a16="http://schemas.microsoft.com/office/drawing/2014/main" val="882544019"/>
                    </a:ext>
                  </a:extLst>
                </a:gridCol>
                <a:gridCol w="1694115">
                  <a:extLst>
                    <a:ext uri="{9D8B030D-6E8A-4147-A177-3AD203B41FA5}">
                      <a16:colId xmlns:a16="http://schemas.microsoft.com/office/drawing/2014/main" val="4190860802"/>
                    </a:ext>
                  </a:extLst>
                </a:gridCol>
              </a:tblGrid>
              <a:tr h="311421">
                <a:tc>
                  <a:txBody>
                    <a:bodyPr/>
                    <a:lstStyle/>
                    <a:p>
                      <a:r>
                        <a:rPr lang="en-GB" dirty="0"/>
                        <a:t>Grade</a:t>
                      </a:r>
                    </a:p>
                  </a:txBody>
                  <a:tcPr/>
                </a:tc>
                <a:tc>
                  <a:txBody>
                    <a:bodyPr/>
                    <a:lstStyle/>
                    <a:p>
                      <a:r>
                        <a:rPr lang="en-GB" dirty="0"/>
                        <a:t>FEV</a:t>
                      </a:r>
                      <a:r>
                        <a:rPr lang="en-GB" baseline="-25000" dirty="0"/>
                        <a:t>1 </a:t>
                      </a:r>
                      <a:r>
                        <a:rPr lang="en-GB" dirty="0"/>
                        <a:t>(% predicted)</a:t>
                      </a:r>
                    </a:p>
                  </a:txBody>
                  <a:tcPr/>
                </a:tc>
                <a:extLst>
                  <a:ext uri="{0D108BD9-81ED-4DB2-BD59-A6C34878D82A}">
                    <a16:rowId xmlns:a16="http://schemas.microsoft.com/office/drawing/2014/main" val="3087110310"/>
                  </a:ext>
                </a:extLst>
              </a:tr>
              <a:tr h="424219">
                <a:tc>
                  <a:txBody>
                    <a:bodyPr/>
                    <a:lstStyle/>
                    <a:p>
                      <a:r>
                        <a:rPr lang="en-GB" dirty="0"/>
                        <a:t>GOLD 1</a:t>
                      </a:r>
                    </a:p>
                  </a:txBody>
                  <a:tcPr/>
                </a:tc>
                <a:tc>
                  <a:txBody>
                    <a:bodyPr/>
                    <a:lstStyle/>
                    <a:p>
                      <a:r>
                        <a:rPr lang="en-GB" dirty="0"/>
                        <a:t>≥ 80</a:t>
                      </a:r>
                    </a:p>
                  </a:txBody>
                  <a:tcPr/>
                </a:tc>
                <a:extLst>
                  <a:ext uri="{0D108BD9-81ED-4DB2-BD59-A6C34878D82A}">
                    <a16:rowId xmlns:a16="http://schemas.microsoft.com/office/drawing/2014/main" val="2264771223"/>
                  </a:ext>
                </a:extLst>
              </a:tr>
              <a:tr h="424219">
                <a:tc>
                  <a:txBody>
                    <a:bodyPr/>
                    <a:lstStyle/>
                    <a:p>
                      <a:r>
                        <a:rPr lang="en-GB" dirty="0"/>
                        <a:t>GOLD 2</a:t>
                      </a:r>
                    </a:p>
                  </a:txBody>
                  <a:tcPr/>
                </a:tc>
                <a:tc>
                  <a:txBody>
                    <a:bodyPr/>
                    <a:lstStyle/>
                    <a:p>
                      <a:r>
                        <a:rPr lang="en-GB" dirty="0"/>
                        <a:t>50-79</a:t>
                      </a:r>
                    </a:p>
                  </a:txBody>
                  <a:tcPr/>
                </a:tc>
                <a:extLst>
                  <a:ext uri="{0D108BD9-81ED-4DB2-BD59-A6C34878D82A}">
                    <a16:rowId xmlns:a16="http://schemas.microsoft.com/office/drawing/2014/main" val="4117233576"/>
                  </a:ext>
                </a:extLst>
              </a:tr>
              <a:tr h="424219">
                <a:tc>
                  <a:txBody>
                    <a:bodyPr/>
                    <a:lstStyle/>
                    <a:p>
                      <a:r>
                        <a:rPr lang="en-GB" dirty="0"/>
                        <a:t>GOLD 3</a:t>
                      </a:r>
                    </a:p>
                  </a:txBody>
                  <a:tcPr/>
                </a:tc>
                <a:tc>
                  <a:txBody>
                    <a:bodyPr/>
                    <a:lstStyle/>
                    <a:p>
                      <a:r>
                        <a:rPr lang="en-GB" dirty="0"/>
                        <a:t>30-49</a:t>
                      </a:r>
                    </a:p>
                  </a:txBody>
                  <a:tcPr/>
                </a:tc>
                <a:extLst>
                  <a:ext uri="{0D108BD9-81ED-4DB2-BD59-A6C34878D82A}">
                    <a16:rowId xmlns:a16="http://schemas.microsoft.com/office/drawing/2014/main" val="2492028547"/>
                  </a:ext>
                </a:extLst>
              </a:tr>
              <a:tr h="424219">
                <a:tc>
                  <a:txBody>
                    <a:bodyPr/>
                    <a:lstStyle/>
                    <a:p>
                      <a:r>
                        <a:rPr lang="en-GB" dirty="0"/>
                        <a:t>GOLD 4</a:t>
                      </a:r>
                    </a:p>
                  </a:txBody>
                  <a:tcPr/>
                </a:tc>
                <a:tc>
                  <a:txBody>
                    <a:bodyPr/>
                    <a:lstStyle/>
                    <a:p>
                      <a:r>
                        <a:rPr lang="en-GB" dirty="0"/>
                        <a:t>&lt; 30</a:t>
                      </a:r>
                    </a:p>
                  </a:txBody>
                  <a:tcPr/>
                </a:tc>
                <a:extLst>
                  <a:ext uri="{0D108BD9-81ED-4DB2-BD59-A6C34878D82A}">
                    <a16:rowId xmlns:a16="http://schemas.microsoft.com/office/drawing/2014/main" val="24772808"/>
                  </a:ext>
                </a:extLst>
              </a:tr>
            </a:tbl>
          </a:graphicData>
        </a:graphic>
      </p:graphicFrame>
      <p:sp>
        <p:nvSpPr>
          <p:cNvPr id="5" name="TextBox 4">
            <a:extLst>
              <a:ext uri="{FF2B5EF4-FFF2-40B4-BE49-F238E27FC236}">
                <a16:creationId xmlns:a16="http://schemas.microsoft.com/office/drawing/2014/main" id="{928ECD11-CC1B-45E8-A947-C03184EBF164}"/>
              </a:ext>
            </a:extLst>
          </p:cNvPr>
          <p:cNvSpPr txBox="1"/>
          <p:nvPr/>
        </p:nvSpPr>
        <p:spPr>
          <a:xfrm>
            <a:off x="4388670" y="1950236"/>
            <a:ext cx="2546253" cy="156966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GB" sz="2400" dirty="0"/>
              <a:t>≥ 2 moderate exacerbations or ≥1 leading to hospitalisation</a:t>
            </a:r>
          </a:p>
        </p:txBody>
      </p:sp>
      <p:sp>
        <p:nvSpPr>
          <p:cNvPr id="6" name="TextBox 5">
            <a:extLst>
              <a:ext uri="{FF2B5EF4-FFF2-40B4-BE49-F238E27FC236}">
                <a16:creationId xmlns:a16="http://schemas.microsoft.com/office/drawing/2014/main" id="{46DE83E6-E1D4-40F4-8254-83BB28E38AA6}"/>
              </a:ext>
            </a:extLst>
          </p:cNvPr>
          <p:cNvSpPr txBox="1"/>
          <p:nvPr/>
        </p:nvSpPr>
        <p:spPr>
          <a:xfrm>
            <a:off x="4370561" y="3653099"/>
            <a:ext cx="2546253" cy="156966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GB" sz="2400" dirty="0"/>
              <a:t>0 or 1 moderate exacerbations (not leading to hospitalisation</a:t>
            </a:r>
          </a:p>
        </p:txBody>
      </p:sp>
      <p:sp>
        <p:nvSpPr>
          <p:cNvPr id="7" name="TextBox 6">
            <a:extLst>
              <a:ext uri="{FF2B5EF4-FFF2-40B4-BE49-F238E27FC236}">
                <a16:creationId xmlns:a16="http://schemas.microsoft.com/office/drawing/2014/main" id="{61136618-251F-4307-97BB-2633DC437130}"/>
              </a:ext>
            </a:extLst>
          </p:cNvPr>
          <p:cNvSpPr txBox="1"/>
          <p:nvPr/>
        </p:nvSpPr>
        <p:spPr>
          <a:xfrm>
            <a:off x="7010562" y="2011791"/>
            <a:ext cx="2546253" cy="1446550"/>
          </a:xfrm>
          <a:prstGeom prst="rect">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GB" sz="8800" dirty="0"/>
              <a:t>E</a:t>
            </a:r>
          </a:p>
        </p:txBody>
      </p:sp>
      <p:sp>
        <p:nvSpPr>
          <p:cNvPr id="8" name="TextBox 7">
            <a:extLst>
              <a:ext uri="{FF2B5EF4-FFF2-40B4-BE49-F238E27FC236}">
                <a16:creationId xmlns:a16="http://schemas.microsoft.com/office/drawing/2014/main" id="{9C898C11-24B2-46E1-814A-E25A1137697D}"/>
              </a:ext>
            </a:extLst>
          </p:cNvPr>
          <p:cNvSpPr txBox="1"/>
          <p:nvPr/>
        </p:nvSpPr>
        <p:spPr>
          <a:xfrm>
            <a:off x="7010562" y="3653099"/>
            <a:ext cx="1290837" cy="156966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path path="circle">
              <a:fillToRect l="100000" t="100000"/>
            </a:path>
            <a:tileRect r="-100000" b="-100000"/>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GB" sz="9600" dirty="0"/>
              <a:t>A</a:t>
            </a:r>
          </a:p>
        </p:txBody>
      </p:sp>
      <p:sp>
        <p:nvSpPr>
          <p:cNvPr id="9" name="TextBox 8">
            <a:extLst>
              <a:ext uri="{FF2B5EF4-FFF2-40B4-BE49-F238E27FC236}">
                <a16:creationId xmlns:a16="http://schemas.microsoft.com/office/drawing/2014/main" id="{116A3288-6B85-406D-9553-B0FFCCCB2A36}"/>
              </a:ext>
            </a:extLst>
          </p:cNvPr>
          <p:cNvSpPr txBox="1"/>
          <p:nvPr/>
        </p:nvSpPr>
        <p:spPr>
          <a:xfrm>
            <a:off x="8382279" y="3653099"/>
            <a:ext cx="1290837" cy="1569660"/>
          </a:xfrm>
          <a:prstGeom prst="rect">
            <a:avLst/>
          </a:prstGeom>
          <a:gradFill flip="none" rotWithShape="1">
            <a:gsLst>
              <a:gs pos="0">
                <a:schemeClr val="tx2">
                  <a:lumMod val="40000"/>
                  <a:lumOff val="60000"/>
                  <a:shade val="30000"/>
                  <a:satMod val="115000"/>
                </a:schemeClr>
              </a:gs>
              <a:gs pos="50000">
                <a:schemeClr val="tx2">
                  <a:lumMod val="40000"/>
                  <a:lumOff val="60000"/>
                  <a:shade val="67500"/>
                  <a:satMod val="115000"/>
                </a:schemeClr>
              </a:gs>
              <a:gs pos="100000">
                <a:schemeClr val="tx2">
                  <a:lumMod val="40000"/>
                  <a:lumOff val="60000"/>
                  <a:shade val="100000"/>
                  <a:satMod val="115000"/>
                </a:schemeClr>
              </a:gs>
            </a:gsLst>
            <a:path path="circle">
              <a:fillToRect l="100000" t="100000"/>
            </a:path>
            <a:tileRect r="-100000" b="-100000"/>
          </a:gradFill>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GB" sz="9600" dirty="0"/>
              <a:t>B</a:t>
            </a:r>
          </a:p>
        </p:txBody>
      </p:sp>
      <p:pic>
        <p:nvPicPr>
          <p:cNvPr id="10" name="Picture 9">
            <a:extLst>
              <a:ext uri="{FF2B5EF4-FFF2-40B4-BE49-F238E27FC236}">
                <a16:creationId xmlns:a16="http://schemas.microsoft.com/office/drawing/2014/main" id="{1509EC95-DBE7-4EE7-9732-4F2709471854}"/>
              </a:ext>
            </a:extLst>
          </p:cNvPr>
          <p:cNvPicPr>
            <a:picLocks noChangeAspect="1"/>
          </p:cNvPicPr>
          <p:nvPr/>
        </p:nvPicPr>
        <p:blipFill rotWithShape="1">
          <a:blip r:embed="rId2"/>
          <a:srcRect l="59105" t="62231" r="27308" b="30041"/>
          <a:stretch/>
        </p:blipFill>
        <p:spPr>
          <a:xfrm>
            <a:off x="7010562" y="5343836"/>
            <a:ext cx="2349072" cy="751160"/>
          </a:xfrm>
          <a:prstGeom prst="rect">
            <a:avLst/>
          </a:prstGeom>
        </p:spPr>
      </p:pic>
      <p:sp>
        <p:nvSpPr>
          <p:cNvPr id="11" name="TextBox 10">
            <a:extLst>
              <a:ext uri="{FF2B5EF4-FFF2-40B4-BE49-F238E27FC236}">
                <a16:creationId xmlns:a16="http://schemas.microsoft.com/office/drawing/2014/main" id="{C3CA460D-ABFF-4C7C-801E-E152AE843C4F}"/>
              </a:ext>
            </a:extLst>
          </p:cNvPr>
          <p:cNvSpPr txBox="1"/>
          <p:nvPr/>
        </p:nvSpPr>
        <p:spPr>
          <a:xfrm>
            <a:off x="4543863" y="1270000"/>
            <a:ext cx="2681590" cy="646331"/>
          </a:xfrm>
          <a:prstGeom prst="rect">
            <a:avLst/>
          </a:prstGeom>
          <a:noFill/>
        </p:spPr>
        <p:txBody>
          <a:bodyPr wrap="square" rtlCol="0">
            <a:spAutoFit/>
          </a:bodyPr>
          <a:lstStyle/>
          <a:p>
            <a:pPr algn="ctr"/>
            <a:r>
              <a:rPr lang="en-GB" dirty="0"/>
              <a:t>EXACERBATION </a:t>
            </a:r>
          </a:p>
          <a:p>
            <a:pPr algn="ctr"/>
            <a:r>
              <a:rPr lang="en-GB" dirty="0"/>
              <a:t>HISTORY </a:t>
            </a:r>
          </a:p>
        </p:txBody>
      </p:sp>
      <p:sp>
        <p:nvSpPr>
          <p:cNvPr id="12" name="TextBox 11">
            <a:extLst>
              <a:ext uri="{FF2B5EF4-FFF2-40B4-BE49-F238E27FC236}">
                <a16:creationId xmlns:a16="http://schemas.microsoft.com/office/drawing/2014/main" id="{2599C960-CE39-4006-8D47-87508EB00370}"/>
              </a:ext>
            </a:extLst>
          </p:cNvPr>
          <p:cNvSpPr txBox="1"/>
          <p:nvPr/>
        </p:nvSpPr>
        <p:spPr>
          <a:xfrm>
            <a:off x="6960604" y="6063734"/>
            <a:ext cx="2681590" cy="369332"/>
          </a:xfrm>
          <a:prstGeom prst="rect">
            <a:avLst/>
          </a:prstGeom>
          <a:noFill/>
        </p:spPr>
        <p:txBody>
          <a:bodyPr wrap="square" rtlCol="0">
            <a:spAutoFit/>
          </a:bodyPr>
          <a:lstStyle/>
          <a:p>
            <a:pPr algn="ctr"/>
            <a:r>
              <a:rPr lang="en-GB" dirty="0"/>
              <a:t>SYMPTOMS   </a:t>
            </a:r>
          </a:p>
        </p:txBody>
      </p:sp>
      <p:pic>
        <p:nvPicPr>
          <p:cNvPr id="13" name="Picture 12">
            <a:extLst>
              <a:ext uri="{FF2B5EF4-FFF2-40B4-BE49-F238E27FC236}">
                <a16:creationId xmlns:a16="http://schemas.microsoft.com/office/drawing/2014/main" id="{26B5C92F-489E-4CF8-B5B9-22C774DF0236}"/>
              </a:ext>
            </a:extLst>
          </p:cNvPr>
          <p:cNvPicPr>
            <a:picLocks noChangeAspect="1"/>
          </p:cNvPicPr>
          <p:nvPr/>
        </p:nvPicPr>
        <p:blipFill rotWithShape="1">
          <a:blip r:embed="rId3"/>
          <a:srcRect l="23934" t="41637" r="63841" b="46558"/>
          <a:stretch/>
        </p:blipFill>
        <p:spPr>
          <a:xfrm>
            <a:off x="1419462" y="5084463"/>
            <a:ext cx="2143956" cy="1163937"/>
          </a:xfrm>
          <a:prstGeom prst="rect">
            <a:avLst/>
          </a:prstGeom>
        </p:spPr>
      </p:pic>
      <p:sp>
        <p:nvSpPr>
          <p:cNvPr id="14" name="TextBox 13">
            <a:extLst>
              <a:ext uri="{FF2B5EF4-FFF2-40B4-BE49-F238E27FC236}">
                <a16:creationId xmlns:a16="http://schemas.microsoft.com/office/drawing/2014/main" id="{147871D8-B7CB-4E19-BD7F-8A680750D89F}"/>
              </a:ext>
            </a:extLst>
          </p:cNvPr>
          <p:cNvSpPr txBox="1"/>
          <p:nvPr/>
        </p:nvSpPr>
        <p:spPr>
          <a:xfrm>
            <a:off x="881828" y="1765570"/>
            <a:ext cx="2681590" cy="369332"/>
          </a:xfrm>
          <a:prstGeom prst="rect">
            <a:avLst/>
          </a:prstGeom>
          <a:noFill/>
        </p:spPr>
        <p:txBody>
          <a:bodyPr wrap="square" rtlCol="0">
            <a:spAutoFit/>
          </a:bodyPr>
          <a:lstStyle/>
          <a:p>
            <a:pPr algn="ctr"/>
            <a:r>
              <a:rPr lang="en-GB" dirty="0" err="1"/>
              <a:t>Spirometric</a:t>
            </a:r>
            <a:r>
              <a:rPr lang="en-GB" dirty="0"/>
              <a:t> Stage</a:t>
            </a:r>
          </a:p>
        </p:txBody>
      </p:sp>
      <p:sp>
        <p:nvSpPr>
          <p:cNvPr id="15" name="Oval 14">
            <a:extLst>
              <a:ext uri="{FF2B5EF4-FFF2-40B4-BE49-F238E27FC236}">
                <a16:creationId xmlns:a16="http://schemas.microsoft.com/office/drawing/2014/main" id="{82CC2B1A-0A6D-47B6-B6E4-0FC01CB25463}"/>
              </a:ext>
            </a:extLst>
          </p:cNvPr>
          <p:cNvSpPr/>
          <p:nvPr/>
        </p:nvSpPr>
        <p:spPr>
          <a:xfrm>
            <a:off x="8122317" y="3539732"/>
            <a:ext cx="1810759" cy="1818787"/>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a:extLst>
              <a:ext uri="{FF2B5EF4-FFF2-40B4-BE49-F238E27FC236}">
                <a16:creationId xmlns:a16="http://schemas.microsoft.com/office/drawing/2014/main" id="{17148291-6B73-4581-A6F1-787797BD86DE}"/>
              </a:ext>
            </a:extLst>
          </p:cNvPr>
          <p:cNvSpPr/>
          <p:nvPr/>
        </p:nvSpPr>
        <p:spPr>
          <a:xfrm>
            <a:off x="585497" y="4002156"/>
            <a:ext cx="3525104" cy="544742"/>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558043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repeatCount="indefinite"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par>
                                <p:cTn id="8" presetID="26" presetClass="emph" presetSubtype="0" repeatCount="indefinite" fill="hold" grpId="1" nodeType="withEffect">
                                  <p:stCondLst>
                                    <p:cond delay="0"/>
                                  </p:stCondLst>
                                  <p:childTnLst>
                                    <p:animEffect transition="out" filter="fade">
                                      <p:cBhvr>
                                        <p:cTn id="9" dur="500" tmFilter="0, 0; .2, .5; .8, .5; 1, 0"/>
                                        <p:tgtEl>
                                          <p:spTgt spid="15"/>
                                        </p:tgtEl>
                                      </p:cBhvr>
                                    </p:animEffect>
                                    <p:animScale>
                                      <p:cBhvr>
                                        <p:cTn id="10" dur="250" autoRev="1" fill="hold"/>
                                        <p:tgtEl>
                                          <p:spTgt spid="15"/>
                                        </p:tgtEl>
                                      </p:cBhvr>
                                      <p:by x="105000" y="105000"/>
                                    </p:animScale>
                                  </p:childTnLst>
                                </p:cTn>
                              </p:par>
                              <p:par>
                                <p:cTn id="11" presetID="10" presetClass="entr" presetSubtype="0" repeatCount="indefinite"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fade">
                                      <p:cBhvr>
                                        <p:cTn id="13" dur="500"/>
                                        <p:tgtEl>
                                          <p:spTgt spid="16"/>
                                        </p:tgtEl>
                                      </p:cBhvr>
                                    </p:animEffect>
                                  </p:childTnLst>
                                </p:cTn>
                              </p:par>
                            </p:childTnLst>
                          </p:cTn>
                        </p:par>
                      </p:childTnLst>
                    </p:cTn>
                  </p:par>
                  <p:par>
                    <p:cTn id="14" fill="hold">
                      <p:stCondLst>
                        <p:cond delay="indefinite"/>
                      </p:stCondLst>
                      <p:childTnLst>
                        <p:par>
                          <p:cTn id="15" fill="hold">
                            <p:stCondLst>
                              <p:cond delay="0"/>
                            </p:stCondLst>
                            <p:childTnLst>
                              <p:par>
                                <p:cTn id="16" presetID="26" presetClass="emph" presetSubtype="0" repeatCount="indefinite" fill="hold" grpId="1" nodeType="clickEffect">
                                  <p:stCondLst>
                                    <p:cond delay="0"/>
                                  </p:stCondLst>
                                  <p:childTnLst>
                                    <p:animEffect transition="out" filter="fade">
                                      <p:cBhvr>
                                        <p:cTn id="17" dur="500" tmFilter="0, 0; .2, .5; .8, .5; 1, 0"/>
                                        <p:tgtEl>
                                          <p:spTgt spid="16"/>
                                        </p:tgtEl>
                                      </p:cBhvr>
                                    </p:animEffect>
                                    <p:animScale>
                                      <p:cBhvr>
                                        <p:cTn id="18" dur="250" autoRev="1" fill="hold"/>
                                        <p:tgtEl>
                                          <p:spTgt spid="1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5" grpId="1" animBg="1"/>
      <p:bldP spid="16" grpId="0" animBg="1"/>
      <p:bldP spid="16"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35586-A11B-4638-962D-26DB1F48B589}"/>
              </a:ext>
            </a:extLst>
          </p:cNvPr>
          <p:cNvSpPr>
            <a:spLocks noGrp="1"/>
          </p:cNvSpPr>
          <p:nvPr>
            <p:ph type="title"/>
          </p:nvPr>
        </p:nvSpPr>
        <p:spPr/>
        <p:txBody>
          <a:bodyPr/>
          <a:lstStyle/>
          <a:p>
            <a:r>
              <a:rPr lang="en-GB" dirty="0"/>
              <a:t>What is an exacerbation?</a:t>
            </a:r>
          </a:p>
        </p:txBody>
      </p:sp>
      <p:sp>
        <p:nvSpPr>
          <p:cNvPr id="3" name="Content Placeholder 2">
            <a:extLst>
              <a:ext uri="{FF2B5EF4-FFF2-40B4-BE49-F238E27FC236}">
                <a16:creationId xmlns:a16="http://schemas.microsoft.com/office/drawing/2014/main" id="{8234143C-3C7F-43EB-A3BB-0BA499E0DEBA}"/>
              </a:ext>
            </a:extLst>
          </p:cNvPr>
          <p:cNvSpPr>
            <a:spLocks noGrp="1"/>
          </p:cNvSpPr>
          <p:nvPr>
            <p:ph idx="1"/>
          </p:nvPr>
        </p:nvSpPr>
        <p:spPr/>
        <p:txBody>
          <a:bodyPr>
            <a:noAutofit/>
          </a:bodyPr>
          <a:lstStyle/>
          <a:p>
            <a:r>
              <a:rPr lang="en-GB" sz="2800" dirty="0"/>
              <a:t>An exacerbation is a sustained worsening of the patient's symptoms from their usual stable state which is beyond normal day-to-day variations, and is acute in onset. Commonly reported symptoms are worsening breathlessness, cough, increased sputum production and change in sputum colour. The change in these symptoms often necessitates a change in medication. </a:t>
            </a:r>
          </a:p>
        </p:txBody>
      </p:sp>
      <p:sp>
        <p:nvSpPr>
          <p:cNvPr id="4" name="TextBox 3">
            <a:extLst>
              <a:ext uri="{FF2B5EF4-FFF2-40B4-BE49-F238E27FC236}">
                <a16:creationId xmlns:a16="http://schemas.microsoft.com/office/drawing/2014/main" id="{78063027-F762-4439-9012-A1F501F3A0EF}"/>
              </a:ext>
            </a:extLst>
          </p:cNvPr>
          <p:cNvSpPr txBox="1"/>
          <p:nvPr/>
        </p:nvSpPr>
        <p:spPr>
          <a:xfrm>
            <a:off x="9811886" y="6041362"/>
            <a:ext cx="2738704" cy="584775"/>
          </a:xfrm>
          <a:prstGeom prst="rect">
            <a:avLst/>
          </a:prstGeom>
          <a:noFill/>
        </p:spPr>
        <p:txBody>
          <a:bodyPr wrap="square" rtlCol="0">
            <a:spAutoFit/>
          </a:bodyPr>
          <a:lstStyle/>
          <a:p>
            <a:r>
              <a:rPr lang="en-GB" sz="3200" dirty="0">
                <a:solidFill>
                  <a:schemeClr val="bg1"/>
                </a:solidFill>
              </a:rPr>
              <a:t>(NICE, 2018)</a:t>
            </a:r>
          </a:p>
        </p:txBody>
      </p:sp>
      <p:pic>
        <p:nvPicPr>
          <p:cNvPr id="1026" name="Picture 2" descr="최고 Shortness Of Breath GIF들 | Gfycat">
            <a:extLst>
              <a:ext uri="{FF2B5EF4-FFF2-40B4-BE49-F238E27FC236}">
                <a16:creationId xmlns:a16="http://schemas.microsoft.com/office/drawing/2014/main" id="{04E4447F-0F34-40A2-B65B-44B0C64E5B92}"/>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6382871" y="219262"/>
            <a:ext cx="1711138" cy="17111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907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chor="t">
            <a:normAutofit/>
          </a:bodyPr>
          <a:lstStyle/>
          <a:p>
            <a:r>
              <a:rPr lang="en-GB" dirty="0"/>
              <a:t>Scenario 1</a:t>
            </a:r>
          </a:p>
        </p:txBody>
      </p:sp>
      <p:pic>
        <p:nvPicPr>
          <p:cNvPr id="1026" name="Picture 2" descr="Coughing GIFs - Get the best gif on GIFER">
            <a:extLst>
              <a:ext uri="{FF2B5EF4-FFF2-40B4-BE49-F238E27FC236}">
                <a16:creationId xmlns:a16="http://schemas.microsoft.com/office/drawing/2014/main" id="{4C7E6DF7-0679-4A12-AB57-73201768F04A}"/>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tretch>
            <a:fillRect/>
          </a:stretch>
        </p:blipFill>
        <p:spPr bwMode="auto">
          <a:xfrm>
            <a:off x="817474" y="2159331"/>
            <a:ext cx="2915973" cy="218697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4354707" y="2027824"/>
            <a:ext cx="5207839" cy="2439155"/>
          </a:xfrm>
        </p:spPr>
        <p:txBody>
          <a:bodyPr>
            <a:normAutofit fontScale="55000" lnSpcReduction="20000"/>
          </a:bodyPr>
          <a:lstStyle/>
          <a:p>
            <a:r>
              <a:rPr lang="en-GB" sz="3400" dirty="0"/>
              <a:t>You are working as part of an Admission Avoidance service and receive a call from a GP asking you to carry out a home visit to assess Mavis. Mavis is an 86 year old lady with COPD, heart failure and T1DM. She lives alone in a house with stairs. She is complaining of severe shortness of breath which has come on suddenly over the last 24 hours. </a:t>
            </a:r>
          </a:p>
          <a:p>
            <a:pPr marL="0" indent="0">
              <a:buNone/>
            </a:pPr>
            <a:endParaRPr lang="en-GB" sz="3400" dirty="0"/>
          </a:p>
          <a:p>
            <a:endParaRPr lang="en-GB" sz="3400" dirty="0"/>
          </a:p>
          <a:p>
            <a:pPr marL="0" indent="0">
              <a:buNone/>
            </a:pPr>
            <a:endParaRPr lang="en-GB" dirty="0"/>
          </a:p>
        </p:txBody>
      </p:sp>
      <p:sp>
        <p:nvSpPr>
          <p:cNvPr id="9" name="Content Placeholder 2">
            <a:extLst>
              <a:ext uri="{FF2B5EF4-FFF2-40B4-BE49-F238E27FC236}">
                <a16:creationId xmlns:a16="http://schemas.microsoft.com/office/drawing/2014/main" id="{50905D64-69CA-4336-82E0-32A4C8E78E72}"/>
              </a:ext>
            </a:extLst>
          </p:cNvPr>
          <p:cNvSpPr txBox="1">
            <a:spLocks/>
          </p:cNvSpPr>
          <p:nvPr/>
        </p:nvSpPr>
        <p:spPr>
          <a:xfrm>
            <a:off x="4063159" y="4717774"/>
            <a:ext cx="5207839" cy="255718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a:p>
            <a:pPr marL="0" indent="0">
              <a:buFont typeface="Wingdings 3" charset="2"/>
              <a:buNone/>
            </a:pPr>
            <a:endParaRPr lang="en-GB" dirty="0"/>
          </a:p>
          <a:p>
            <a:endParaRPr lang="en-GB" dirty="0"/>
          </a:p>
          <a:p>
            <a:endParaRPr lang="en-GB" dirty="0"/>
          </a:p>
        </p:txBody>
      </p:sp>
      <p:sp>
        <p:nvSpPr>
          <p:cNvPr id="10" name="Content Placeholder 2">
            <a:extLst>
              <a:ext uri="{FF2B5EF4-FFF2-40B4-BE49-F238E27FC236}">
                <a16:creationId xmlns:a16="http://schemas.microsoft.com/office/drawing/2014/main" id="{1432B124-3825-4DF3-8007-274A9E4A4F29}"/>
              </a:ext>
            </a:extLst>
          </p:cNvPr>
          <p:cNvSpPr txBox="1">
            <a:spLocks/>
          </p:cNvSpPr>
          <p:nvPr/>
        </p:nvSpPr>
        <p:spPr>
          <a:xfrm>
            <a:off x="3733447" y="3957012"/>
            <a:ext cx="5207839" cy="2039354"/>
          </a:xfrm>
          <a:prstGeom prst="rect">
            <a:avLst/>
          </a:prstGeom>
        </p:spPr>
        <p:txBody>
          <a:bodyPr vert="horz" lIns="91440" tIns="45720" rIns="91440" bIns="45720" rtlCol="0">
            <a:normAutofit fontScale="70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sz="3400" dirty="0"/>
          </a:p>
          <a:p>
            <a:endParaRPr lang="en-GB" sz="3400" dirty="0"/>
          </a:p>
          <a:p>
            <a:pPr marL="0" indent="0">
              <a:buFont typeface="Wingdings 3" charset="2"/>
              <a:buNone/>
            </a:pPr>
            <a:r>
              <a:rPr lang="en-GB" sz="3400" dirty="0"/>
              <a:t>1) What other information would be useful to help determine a diagnosis and the severity of Mavis’ condition? </a:t>
            </a:r>
          </a:p>
          <a:p>
            <a:endParaRPr lang="en-GB" dirty="0"/>
          </a:p>
        </p:txBody>
      </p:sp>
    </p:spTree>
    <p:extLst>
      <p:ext uri="{BB962C8B-B14F-4D97-AF65-F5344CB8AC3E}">
        <p14:creationId xmlns:p14="http://schemas.microsoft.com/office/powerpoint/2010/main" val="2353529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056462" y="609600"/>
            <a:ext cx="5217540" cy="1320800"/>
          </a:xfrm>
        </p:spPr>
        <p:txBody>
          <a:bodyPr>
            <a:normAutofit/>
          </a:bodyPr>
          <a:lstStyle/>
          <a:p>
            <a:r>
              <a:rPr lang="en-GB" dirty="0"/>
              <a:t>Answers </a:t>
            </a:r>
          </a:p>
        </p:txBody>
      </p:sp>
      <p:pic>
        <p:nvPicPr>
          <p:cNvPr id="5" name="Picture 4">
            <a:extLst>
              <a:ext uri="{FF2B5EF4-FFF2-40B4-BE49-F238E27FC236}">
                <a16:creationId xmlns:a16="http://schemas.microsoft.com/office/drawing/2014/main" id="{C6597511-56C5-40F5-86E5-305979591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bwMode="auto">
          <a:xfrm>
            <a:off x="951723" y="609600"/>
            <a:ext cx="2601747" cy="260174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4056462" y="1670259"/>
            <a:ext cx="5217539" cy="3880773"/>
          </a:xfrm>
        </p:spPr>
        <p:txBody>
          <a:bodyPr>
            <a:normAutofit fontScale="92500" lnSpcReduction="10000"/>
          </a:bodyPr>
          <a:lstStyle/>
          <a:p>
            <a:pPr marL="0" indent="0">
              <a:lnSpc>
                <a:spcPct val="90000"/>
              </a:lnSpc>
              <a:buNone/>
            </a:pPr>
            <a:r>
              <a:rPr lang="en-GB" sz="1700" u="sng" dirty="0"/>
              <a:t>Question 1</a:t>
            </a:r>
          </a:p>
          <a:p>
            <a:pPr marL="0" indent="0">
              <a:lnSpc>
                <a:spcPct val="90000"/>
              </a:lnSpc>
              <a:buNone/>
            </a:pPr>
            <a:r>
              <a:rPr lang="en-GB" sz="1700" u="sng" dirty="0"/>
              <a:t> </a:t>
            </a:r>
            <a:endParaRPr lang="en-GB" sz="1700" dirty="0"/>
          </a:p>
          <a:p>
            <a:pPr>
              <a:lnSpc>
                <a:spcPct val="90000"/>
              </a:lnSpc>
            </a:pPr>
            <a:r>
              <a:rPr lang="en-GB" sz="1700" dirty="0"/>
              <a:t>Respiratory rate</a:t>
            </a:r>
          </a:p>
          <a:p>
            <a:pPr>
              <a:lnSpc>
                <a:spcPct val="90000"/>
              </a:lnSpc>
            </a:pPr>
            <a:r>
              <a:rPr lang="en-GB" sz="1700" dirty="0"/>
              <a:t>Any signs of respiratory distress</a:t>
            </a:r>
          </a:p>
          <a:p>
            <a:pPr>
              <a:lnSpc>
                <a:spcPct val="90000"/>
              </a:lnSpc>
            </a:pPr>
            <a:r>
              <a:rPr lang="en-GB" sz="1700" dirty="0"/>
              <a:t>Cough/sputum</a:t>
            </a:r>
          </a:p>
          <a:p>
            <a:pPr>
              <a:lnSpc>
                <a:spcPct val="90000"/>
              </a:lnSpc>
            </a:pPr>
            <a:r>
              <a:rPr lang="en-GB" sz="1700" dirty="0"/>
              <a:t>? Swollen ankles</a:t>
            </a:r>
          </a:p>
          <a:p>
            <a:pPr>
              <a:lnSpc>
                <a:spcPct val="90000"/>
              </a:lnSpc>
            </a:pPr>
            <a:r>
              <a:rPr lang="en-GB" sz="1700" dirty="0"/>
              <a:t>Oxygen saturations</a:t>
            </a:r>
          </a:p>
          <a:p>
            <a:pPr>
              <a:lnSpc>
                <a:spcPct val="90000"/>
              </a:lnSpc>
            </a:pPr>
            <a:r>
              <a:rPr lang="en-GB" sz="1700" dirty="0"/>
              <a:t>Does Mavis have oxygen at home?</a:t>
            </a:r>
          </a:p>
          <a:p>
            <a:pPr>
              <a:lnSpc>
                <a:spcPct val="90000"/>
              </a:lnSpc>
            </a:pPr>
            <a:r>
              <a:rPr lang="en-GB" sz="1700" dirty="0"/>
              <a:t>Chest auscultation</a:t>
            </a:r>
          </a:p>
          <a:p>
            <a:pPr>
              <a:lnSpc>
                <a:spcPct val="90000"/>
              </a:lnSpc>
            </a:pPr>
            <a:r>
              <a:rPr lang="en-GB" sz="1700" dirty="0"/>
              <a:t>Is she coping at home? </a:t>
            </a:r>
          </a:p>
          <a:p>
            <a:pPr>
              <a:lnSpc>
                <a:spcPct val="90000"/>
              </a:lnSpc>
            </a:pPr>
            <a:r>
              <a:rPr lang="en-GB" sz="1700" dirty="0"/>
              <a:t>What treatment has been initiated already?</a:t>
            </a:r>
          </a:p>
          <a:p>
            <a:pPr>
              <a:lnSpc>
                <a:spcPct val="90000"/>
              </a:lnSpc>
            </a:pPr>
            <a:r>
              <a:rPr lang="en-GB" sz="1700" dirty="0"/>
              <a:t>Is she responding to treatment? </a:t>
            </a:r>
          </a:p>
          <a:p>
            <a:pPr>
              <a:lnSpc>
                <a:spcPct val="90000"/>
              </a:lnSpc>
            </a:pPr>
            <a:endParaRPr lang="en-GB" sz="1700" dirty="0"/>
          </a:p>
          <a:p>
            <a:pPr>
              <a:lnSpc>
                <a:spcPct val="90000"/>
              </a:lnSpc>
            </a:pPr>
            <a:endParaRPr lang="en-GB" sz="1700" dirty="0"/>
          </a:p>
        </p:txBody>
      </p:sp>
      <p:pic>
        <p:nvPicPr>
          <p:cNvPr id="3074" name="Picture 2" descr="Medical School Doctor Sticker by Kaiser Permanente Bernard J. Tyson School  of Medicine for iOS &amp; Android | GIPHY">
            <a:extLst>
              <a:ext uri="{FF2B5EF4-FFF2-40B4-BE49-F238E27FC236}">
                <a16:creationId xmlns:a16="http://schemas.microsoft.com/office/drawing/2014/main" id="{26757EAB-B81D-4AEC-8F54-7694A586EF99}"/>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tretch>
            <a:fillRect/>
          </a:stretch>
        </p:blipFill>
        <p:spPr bwMode="auto">
          <a:xfrm>
            <a:off x="1517473" y="3439020"/>
            <a:ext cx="1470249" cy="2602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1109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98" name="Picture 2" descr="Sleep Walk Figure | 3D Animated Clipart for PowerPoint - PresenterMedia.com">
            <a:extLst>
              <a:ext uri="{FF2B5EF4-FFF2-40B4-BE49-F238E27FC236}">
                <a16:creationId xmlns:a16="http://schemas.microsoft.com/office/drawing/2014/main" id="{48C3F27F-F6EC-4E66-973B-019F82EC3B78}"/>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tretch>
            <a:fillRect/>
          </a:stretch>
        </p:blipFill>
        <p:spPr bwMode="auto">
          <a:xfrm>
            <a:off x="2862470" y="3127502"/>
            <a:ext cx="4359965" cy="4359965"/>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742121" y="769111"/>
            <a:ext cx="8587409" cy="1692936"/>
          </a:xfrm>
        </p:spPr>
        <p:txBody>
          <a:bodyPr>
            <a:normAutofit/>
          </a:bodyPr>
          <a:lstStyle/>
          <a:p>
            <a:pPr>
              <a:lnSpc>
                <a:spcPct val="90000"/>
              </a:lnSpc>
            </a:pPr>
            <a:r>
              <a:rPr lang="en-GB" sz="2000" dirty="0"/>
              <a:t>Following further questioning, you are informed that Mavis has resting oxygen saturations of 89% on her long term oxygen therapy prescription of 1LPM. Her respiratory rate is 32 and she has scattered coarse late inspiratory crackles on chest auscultation. Mavis is sleeping on the sofa downstairs.</a:t>
            </a:r>
          </a:p>
          <a:p>
            <a:pPr marL="0" indent="0">
              <a:lnSpc>
                <a:spcPct val="90000"/>
              </a:lnSpc>
              <a:buNone/>
            </a:pPr>
            <a:endParaRPr lang="en-GB" dirty="0"/>
          </a:p>
        </p:txBody>
      </p:sp>
      <p:sp>
        <p:nvSpPr>
          <p:cNvPr id="4" name="Content Placeholder 2">
            <a:extLst>
              <a:ext uri="{FF2B5EF4-FFF2-40B4-BE49-F238E27FC236}">
                <a16:creationId xmlns:a16="http://schemas.microsoft.com/office/drawing/2014/main" id="{F921FBB5-4E43-45E4-AE7D-66B04CF75F2E}"/>
              </a:ext>
            </a:extLst>
          </p:cNvPr>
          <p:cNvSpPr txBox="1">
            <a:spLocks/>
          </p:cNvSpPr>
          <p:nvPr/>
        </p:nvSpPr>
        <p:spPr>
          <a:xfrm>
            <a:off x="1022098" y="2294197"/>
            <a:ext cx="8587409" cy="446549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90000"/>
              </a:lnSpc>
            </a:pPr>
            <a:endParaRPr lang="en-GB" sz="2000" dirty="0"/>
          </a:p>
          <a:p>
            <a:pPr marL="0" indent="0">
              <a:lnSpc>
                <a:spcPct val="90000"/>
              </a:lnSpc>
              <a:buFont typeface="Wingdings 3" charset="2"/>
              <a:buNone/>
            </a:pPr>
            <a:r>
              <a:rPr lang="en-GB" sz="2000" dirty="0"/>
              <a:t>2) What factors would you consider to determine whether it is safe to    treat Mavis at home?</a:t>
            </a:r>
          </a:p>
          <a:p>
            <a:pPr>
              <a:lnSpc>
                <a:spcPct val="90000"/>
              </a:lnSpc>
            </a:pPr>
            <a:endParaRPr lang="en-GB" sz="2000" dirty="0"/>
          </a:p>
          <a:p>
            <a:pPr marL="0" indent="0">
              <a:lnSpc>
                <a:spcPct val="90000"/>
              </a:lnSpc>
              <a:buFont typeface="Wingdings 3" charset="2"/>
              <a:buNone/>
            </a:pPr>
            <a:r>
              <a:rPr lang="en-GB" sz="2000" dirty="0"/>
              <a:t>3) Where would you want Mavis to be treated?</a:t>
            </a:r>
          </a:p>
          <a:p>
            <a:pPr>
              <a:lnSpc>
                <a:spcPct val="90000"/>
              </a:lnSpc>
            </a:pPr>
            <a:endParaRPr lang="en-GB" dirty="0"/>
          </a:p>
        </p:txBody>
      </p:sp>
    </p:spTree>
    <p:extLst>
      <p:ext uri="{BB962C8B-B14F-4D97-AF65-F5344CB8AC3E}">
        <p14:creationId xmlns:p14="http://schemas.microsoft.com/office/powerpoint/2010/main" val="1365645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19F4DCC1-0A7D-4151-8F44-20350D30BC0A}"/>
              </a:ext>
            </a:extLst>
          </p:cNvPr>
          <p:cNvSpPr>
            <a:spLocks noGrp="1"/>
          </p:cNvSpPr>
          <p:nvPr>
            <p:ph type="title"/>
          </p:nvPr>
        </p:nvSpPr>
        <p:spPr>
          <a:xfrm>
            <a:off x="650653" y="121516"/>
            <a:ext cx="5217540" cy="1320800"/>
          </a:xfrm>
        </p:spPr>
        <p:txBody>
          <a:bodyPr>
            <a:normAutofit/>
          </a:bodyPr>
          <a:lstStyle/>
          <a:p>
            <a:r>
              <a:rPr lang="en-GB" dirty="0"/>
              <a:t>Answers </a:t>
            </a:r>
          </a:p>
        </p:txBody>
      </p:sp>
      <p:graphicFrame>
        <p:nvGraphicFramePr>
          <p:cNvPr id="20" name="Table 20">
            <a:extLst>
              <a:ext uri="{FF2B5EF4-FFF2-40B4-BE49-F238E27FC236}">
                <a16:creationId xmlns:a16="http://schemas.microsoft.com/office/drawing/2014/main" id="{5FEA6ED1-8D91-4CD4-B963-E57FB34983B1}"/>
              </a:ext>
            </a:extLst>
          </p:cNvPr>
          <p:cNvGraphicFramePr>
            <a:graphicFrameLocks noGrp="1"/>
          </p:cNvGraphicFramePr>
          <p:nvPr>
            <p:extLst>
              <p:ext uri="{D42A27DB-BD31-4B8C-83A1-F6EECF244321}">
                <p14:modId xmlns:p14="http://schemas.microsoft.com/office/powerpoint/2010/main" val="2021316549"/>
              </p:ext>
            </p:extLst>
          </p:nvPr>
        </p:nvGraphicFramePr>
        <p:xfrm>
          <a:off x="650653" y="781916"/>
          <a:ext cx="8225181" cy="5490006"/>
        </p:xfrm>
        <a:graphic>
          <a:graphicData uri="http://schemas.openxmlformats.org/drawingml/2006/table">
            <a:tbl>
              <a:tblPr firstRow="1" bandRow="1">
                <a:tableStyleId>{5C22544A-7EE6-4342-B048-85BDC9FD1C3A}</a:tableStyleId>
              </a:tblPr>
              <a:tblGrid>
                <a:gridCol w="2741727">
                  <a:extLst>
                    <a:ext uri="{9D8B030D-6E8A-4147-A177-3AD203B41FA5}">
                      <a16:colId xmlns:a16="http://schemas.microsoft.com/office/drawing/2014/main" val="4249305342"/>
                    </a:ext>
                  </a:extLst>
                </a:gridCol>
                <a:gridCol w="2741727">
                  <a:extLst>
                    <a:ext uri="{9D8B030D-6E8A-4147-A177-3AD203B41FA5}">
                      <a16:colId xmlns:a16="http://schemas.microsoft.com/office/drawing/2014/main" val="1059517494"/>
                    </a:ext>
                  </a:extLst>
                </a:gridCol>
                <a:gridCol w="2741727">
                  <a:extLst>
                    <a:ext uri="{9D8B030D-6E8A-4147-A177-3AD203B41FA5}">
                      <a16:colId xmlns:a16="http://schemas.microsoft.com/office/drawing/2014/main" val="3099332010"/>
                    </a:ext>
                  </a:extLst>
                </a:gridCol>
              </a:tblGrid>
              <a:tr h="287887">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endParaRPr kumimoji="0" lang="en-GB" sz="1400" b="0" i="0" u="none" strike="noStrike" cap="none" normalizeH="0" baseline="0" dirty="0">
                        <a:ln>
                          <a:noFill/>
                        </a:ln>
                        <a:solidFill>
                          <a:srgbClr val="404040"/>
                        </a:solidFill>
                        <a:effectLst/>
                        <a:latin typeface="Tahoma" panose="020B0604030504040204" pitchFamily="34" charset="0"/>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Tahoma" panose="020B0604030504040204" pitchFamily="34" charset="0"/>
                          <a:ea typeface="Tahoma" panose="020B0604030504040204" pitchFamily="34" charset="0"/>
                          <a:cs typeface="Tahoma" panose="020B0604030504040204" pitchFamily="34" charset="0"/>
                        </a:rPr>
                        <a:t>Treat at Home</a:t>
                      </a:r>
                      <a:endParaRPr kumimoji="0" lang="en-GB" sz="1400" b="0" i="0" u="none" strike="noStrike" cap="none" normalizeH="0" baseline="0" dirty="0">
                        <a:ln>
                          <a:noFill/>
                        </a:ln>
                        <a:solidFill>
                          <a:srgbClr val="404040"/>
                        </a:solidFill>
                        <a:effectLst/>
                        <a:latin typeface="Tahoma" panose="020B0604030504040204" pitchFamily="34" charset="0"/>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Treat in Hospital</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2658953728"/>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Able to cope at home</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786162060"/>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Breathlessness</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Mild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Severe</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395327035"/>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General Condition</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Good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Poor/deteriorating</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3919143127"/>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Level of activity</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Good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Poor/confined to bed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3739397036"/>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Cyanosis</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3286945699"/>
                  </a:ext>
                </a:extLst>
              </a:tr>
              <a:tr h="432687">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Worsening peripheral oedema</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3594189577"/>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Level of consciousness</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Normal</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Impaired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1377768215"/>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Already receiving LTOT</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1151095803"/>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Social circumstances</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Good</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Living alone/not coping</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2279795782"/>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Acute confusion </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1420960210"/>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Rapid rate of onset</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2422526662"/>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Significant comorbidity</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1079415507"/>
                  </a:ext>
                </a:extLst>
              </a:tr>
              <a:tr h="309675">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SaO</a:t>
                      </a:r>
                      <a:r>
                        <a:rPr kumimoji="0" lang="en-GB" sz="1400" b="1" u="none" strike="noStrike" cap="none" normalizeH="0" baseline="-25000" dirty="0">
                          <a:ln>
                            <a:noFill/>
                          </a:ln>
                          <a:effectLst/>
                          <a:latin typeface="+mn-lt"/>
                          <a:ea typeface="Tahoma" panose="020B0604030504040204" pitchFamily="34" charset="0"/>
                          <a:cs typeface="Tahoma" panose="020B0604030504040204" pitchFamily="34" charset="0"/>
                        </a:rPr>
                        <a:t>2</a:t>
                      </a:r>
                      <a:r>
                        <a:rPr kumimoji="0" lang="en-GB" sz="1400" b="1" u="none" strike="noStrike" cap="none" normalizeH="0" baseline="0" dirty="0">
                          <a:ln>
                            <a:noFill/>
                          </a:ln>
                          <a:effectLst/>
                          <a:latin typeface="+mn-lt"/>
                          <a:ea typeface="Tahoma" panose="020B0604030504040204" pitchFamily="34" charset="0"/>
                          <a:cs typeface="Tahoma" panose="020B0604030504040204" pitchFamily="34" charset="0"/>
                        </a:rPr>
                        <a:t> &lt;90%</a:t>
                      </a:r>
                      <a:endParaRPr kumimoji="0" lang="en-GB" sz="1400" b="1"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No</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tc>
                  <a:txBody>
                    <a:bodyPr/>
                    <a:lstStyle/>
                    <a:p>
                      <a:pPr marL="46038" marR="0" lvl="0" indent="0" algn="ctr" defTabSz="914400" rtl="0" eaLnBrk="0" fontAlgn="base" latinLnBrk="0" hangingPunct="0">
                        <a:lnSpc>
                          <a:spcPct val="100000"/>
                        </a:lnSpc>
                        <a:spcBef>
                          <a:spcPct val="20000"/>
                        </a:spcBef>
                        <a:spcAft>
                          <a:spcPts val="300"/>
                        </a:spcAft>
                        <a:buClr>
                          <a:srgbClr val="C3260C"/>
                        </a:buClr>
                        <a:buSzPct val="130000"/>
                        <a:buFont typeface="Georgia" pitchFamily="18" charset="0"/>
                        <a:buNone/>
                        <a:tabLst/>
                      </a:pPr>
                      <a:r>
                        <a:rPr kumimoji="0" lang="en-GB" sz="1400" u="none" strike="noStrike" cap="none" normalizeH="0" baseline="0" dirty="0">
                          <a:ln>
                            <a:noFill/>
                          </a:ln>
                          <a:effectLst/>
                          <a:latin typeface="+mn-lt"/>
                          <a:ea typeface="Tahoma" panose="020B0604030504040204" pitchFamily="34" charset="0"/>
                          <a:cs typeface="Tahoma" panose="020B0604030504040204" pitchFamily="34" charset="0"/>
                        </a:rPr>
                        <a:t>Yes</a:t>
                      </a:r>
                      <a:endParaRPr kumimoji="0" lang="en-GB" sz="1400" b="0" i="0" u="none" strike="noStrike" cap="none" normalizeH="0" baseline="0" dirty="0">
                        <a:ln>
                          <a:noFill/>
                        </a:ln>
                        <a:solidFill>
                          <a:srgbClr val="404040"/>
                        </a:solidFill>
                        <a:effectLst/>
                        <a:latin typeface="+mn-lt"/>
                        <a:ea typeface="Tahoma" panose="020B0604030504040204" pitchFamily="34" charset="0"/>
                        <a:cs typeface="Tahoma" panose="020B0604030504040204" pitchFamily="34" charset="0"/>
                      </a:endParaRPr>
                    </a:p>
                  </a:txBody>
                  <a:tcPr marL="91428" marR="91428" marT="45714" marB="45714" horzOverflow="overflow"/>
                </a:tc>
                <a:extLst>
                  <a:ext uri="{0D108BD9-81ED-4DB2-BD59-A6C34878D82A}">
                    <a16:rowId xmlns:a16="http://schemas.microsoft.com/office/drawing/2014/main" val="2300400676"/>
                  </a:ext>
                </a:extLst>
              </a:tr>
              <a:tr h="345477">
                <a:tc>
                  <a:txBody>
                    <a:bodyPr/>
                    <a:lstStyle/>
                    <a:p>
                      <a:pPr algn="ctr"/>
                      <a:r>
                        <a:rPr lang="en-GB" sz="1400" b="1" dirty="0"/>
                        <a:t>Changes on chest radiograph</a:t>
                      </a:r>
                    </a:p>
                  </a:txBody>
                  <a:tcPr/>
                </a:tc>
                <a:tc>
                  <a:txBody>
                    <a:bodyPr/>
                    <a:lstStyle/>
                    <a:p>
                      <a:pPr algn="ctr"/>
                      <a:r>
                        <a:rPr lang="en-GB" sz="1400" dirty="0"/>
                        <a:t>No</a:t>
                      </a:r>
                    </a:p>
                  </a:txBody>
                  <a:tcPr/>
                </a:tc>
                <a:tc>
                  <a:txBody>
                    <a:bodyPr/>
                    <a:lstStyle/>
                    <a:p>
                      <a:pPr algn="ctr"/>
                      <a:r>
                        <a:rPr lang="en-GB" sz="1400" dirty="0"/>
                        <a:t>Present</a:t>
                      </a:r>
                    </a:p>
                  </a:txBody>
                  <a:tcPr/>
                </a:tc>
                <a:extLst>
                  <a:ext uri="{0D108BD9-81ED-4DB2-BD59-A6C34878D82A}">
                    <a16:rowId xmlns:a16="http://schemas.microsoft.com/office/drawing/2014/main" val="1722076266"/>
                  </a:ext>
                </a:extLst>
              </a:tr>
              <a:tr h="345477">
                <a:tc>
                  <a:txBody>
                    <a:bodyPr/>
                    <a:lstStyle/>
                    <a:p>
                      <a:pPr algn="ctr"/>
                      <a:r>
                        <a:rPr lang="en-GB" sz="1400" b="1" dirty="0"/>
                        <a:t>Arterial pH level</a:t>
                      </a:r>
                    </a:p>
                  </a:txBody>
                  <a:tcPr/>
                </a:tc>
                <a:tc>
                  <a:txBody>
                    <a:bodyPr/>
                    <a:lstStyle/>
                    <a:p>
                      <a:pPr algn="ctr"/>
                      <a:r>
                        <a:rPr lang="en-GB" sz="1400" dirty="0"/>
                        <a:t>≥ 7.35</a:t>
                      </a:r>
                    </a:p>
                  </a:txBody>
                  <a:tcPr/>
                </a:tc>
                <a:tc>
                  <a:txBody>
                    <a:bodyPr/>
                    <a:lstStyle/>
                    <a:p>
                      <a:pPr algn="ctr"/>
                      <a:r>
                        <a:rPr lang="en-GB" sz="1400" dirty="0"/>
                        <a:t>&lt; 7.35 </a:t>
                      </a:r>
                    </a:p>
                  </a:txBody>
                  <a:tcPr/>
                </a:tc>
                <a:extLst>
                  <a:ext uri="{0D108BD9-81ED-4DB2-BD59-A6C34878D82A}">
                    <a16:rowId xmlns:a16="http://schemas.microsoft.com/office/drawing/2014/main" val="3287279142"/>
                  </a:ext>
                </a:extLst>
              </a:tr>
              <a:tr h="345477">
                <a:tc>
                  <a:txBody>
                    <a:bodyPr/>
                    <a:lstStyle/>
                    <a:p>
                      <a:pPr algn="ctr"/>
                      <a:r>
                        <a:rPr lang="en-GB" sz="1400" b="1" dirty="0"/>
                        <a:t>Arterial PaO</a:t>
                      </a:r>
                      <a:r>
                        <a:rPr lang="en-GB" sz="1400" b="1" baseline="-25000" dirty="0"/>
                        <a:t>2</a:t>
                      </a:r>
                    </a:p>
                  </a:txBody>
                  <a:tcPr/>
                </a:tc>
                <a:tc>
                  <a:txBody>
                    <a:bodyPr/>
                    <a:lstStyle/>
                    <a:p>
                      <a:pPr algn="ctr"/>
                      <a:r>
                        <a:rPr lang="en-GB" sz="1400" dirty="0"/>
                        <a:t>≥  7kPa</a:t>
                      </a:r>
                    </a:p>
                  </a:txBody>
                  <a:tcPr/>
                </a:tc>
                <a:tc>
                  <a:txBody>
                    <a:bodyPr/>
                    <a:lstStyle/>
                    <a:p>
                      <a:pPr algn="ctr"/>
                      <a:r>
                        <a:rPr lang="en-GB" sz="1400" dirty="0"/>
                        <a:t>&lt; 7 kPa</a:t>
                      </a:r>
                    </a:p>
                  </a:txBody>
                  <a:tcPr/>
                </a:tc>
                <a:extLst>
                  <a:ext uri="{0D108BD9-81ED-4DB2-BD59-A6C34878D82A}">
                    <a16:rowId xmlns:a16="http://schemas.microsoft.com/office/drawing/2014/main" val="3848468415"/>
                  </a:ext>
                </a:extLst>
              </a:tr>
            </a:tbl>
          </a:graphicData>
        </a:graphic>
      </p:graphicFrame>
      <p:sp>
        <p:nvSpPr>
          <p:cNvPr id="21" name="Oval 20">
            <a:extLst>
              <a:ext uri="{FF2B5EF4-FFF2-40B4-BE49-F238E27FC236}">
                <a16:creationId xmlns:a16="http://schemas.microsoft.com/office/drawing/2014/main" id="{1D92338D-E270-44E9-B1C7-C08C74BFEFC0}"/>
              </a:ext>
            </a:extLst>
          </p:cNvPr>
          <p:cNvSpPr/>
          <p:nvPr/>
        </p:nvSpPr>
        <p:spPr>
          <a:xfrm>
            <a:off x="650653" y="1046922"/>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a:extLst>
              <a:ext uri="{FF2B5EF4-FFF2-40B4-BE49-F238E27FC236}">
                <a16:creationId xmlns:a16="http://schemas.microsoft.com/office/drawing/2014/main" id="{A57CB531-4E64-49AC-8E53-A77991B6ECA1}"/>
              </a:ext>
            </a:extLst>
          </p:cNvPr>
          <p:cNvSpPr/>
          <p:nvPr/>
        </p:nvSpPr>
        <p:spPr>
          <a:xfrm>
            <a:off x="846313" y="2022972"/>
            <a:ext cx="8347573" cy="30282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a:extLst>
              <a:ext uri="{FF2B5EF4-FFF2-40B4-BE49-F238E27FC236}">
                <a16:creationId xmlns:a16="http://schemas.microsoft.com/office/drawing/2014/main" id="{EFD40B1D-E114-4D57-9822-9F1703F0CB01}"/>
              </a:ext>
            </a:extLst>
          </p:cNvPr>
          <p:cNvSpPr/>
          <p:nvPr/>
        </p:nvSpPr>
        <p:spPr>
          <a:xfrm>
            <a:off x="846313" y="3329222"/>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a:extLst>
              <a:ext uri="{FF2B5EF4-FFF2-40B4-BE49-F238E27FC236}">
                <a16:creationId xmlns:a16="http://schemas.microsoft.com/office/drawing/2014/main" id="{18903CB8-1FB1-4075-927B-BD34DF7516F1}"/>
              </a:ext>
            </a:extLst>
          </p:cNvPr>
          <p:cNvSpPr/>
          <p:nvPr/>
        </p:nvSpPr>
        <p:spPr>
          <a:xfrm>
            <a:off x="846313" y="3659422"/>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a:extLst>
              <a:ext uri="{FF2B5EF4-FFF2-40B4-BE49-F238E27FC236}">
                <a16:creationId xmlns:a16="http://schemas.microsoft.com/office/drawing/2014/main" id="{74B0C09D-B64A-45C6-849F-0D3EC3238082}"/>
              </a:ext>
            </a:extLst>
          </p:cNvPr>
          <p:cNvSpPr/>
          <p:nvPr/>
        </p:nvSpPr>
        <p:spPr>
          <a:xfrm>
            <a:off x="972208" y="4240078"/>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a:extLst>
              <a:ext uri="{FF2B5EF4-FFF2-40B4-BE49-F238E27FC236}">
                <a16:creationId xmlns:a16="http://schemas.microsoft.com/office/drawing/2014/main" id="{6FB450CE-4330-4728-996B-0EFE4BF41685}"/>
              </a:ext>
            </a:extLst>
          </p:cNvPr>
          <p:cNvSpPr/>
          <p:nvPr/>
        </p:nvSpPr>
        <p:spPr>
          <a:xfrm>
            <a:off x="972208" y="4570278"/>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a:extLst>
              <a:ext uri="{FF2B5EF4-FFF2-40B4-BE49-F238E27FC236}">
                <a16:creationId xmlns:a16="http://schemas.microsoft.com/office/drawing/2014/main" id="{9ECC8183-9C08-4AB4-9681-CA5946DDF75B}"/>
              </a:ext>
            </a:extLst>
          </p:cNvPr>
          <p:cNvSpPr/>
          <p:nvPr/>
        </p:nvSpPr>
        <p:spPr>
          <a:xfrm>
            <a:off x="1124608" y="4893203"/>
            <a:ext cx="8347573" cy="395394"/>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a:extLst>
              <a:ext uri="{FF2B5EF4-FFF2-40B4-BE49-F238E27FC236}">
                <a16:creationId xmlns:a16="http://schemas.microsoft.com/office/drawing/2014/main" id="{899DEF70-D68E-4350-A198-2E609587096E}"/>
              </a:ext>
            </a:extLst>
          </p:cNvPr>
          <p:cNvSpPr/>
          <p:nvPr/>
        </p:nvSpPr>
        <p:spPr>
          <a:xfrm>
            <a:off x="972208" y="1419770"/>
            <a:ext cx="8347573" cy="302823"/>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45834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1"/>
                                        </p:tgtEl>
                                        <p:attrNameLst>
                                          <p:attrName>style.visibility</p:attrName>
                                        </p:attrNameLst>
                                      </p:cBhvr>
                                      <p:to>
                                        <p:strVal val="visible"/>
                                      </p:to>
                                    </p:set>
                                    <p:animEffect transition="in" filter="fade">
                                      <p:cBhvr>
                                        <p:cTn id="12" dur="500"/>
                                        <p:tgtEl>
                                          <p:spTgt spid="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fade">
                                      <p:cBhvr>
                                        <p:cTn id="22" dur="5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5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9"/>
                                        </p:tgtEl>
                                        <p:attrNameLst>
                                          <p:attrName>style.visibility</p:attrName>
                                        </p:attrNameLst>
                                      </p:cBhvr>
                                      <p:to>
                                        <p:strVal val="visible"/>
                                      </p:to>
                                    </p:set>
                                    <p:animEffect transition="in" filter="fade">
                                      <p:cBhvr>
                                        <p:cTn id="37" dur="500"/>
                                        <p:tgtEl>
                                          <p:spTgt spid="2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animEffect transition="in" filter="fade">
                                      <p:cBhvr>
                                        <p:cTn id="42"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animBg="1"/>
      <p:bldP spid="26" grpId="0" animBg="1"/>
      <p:bldP spid="27" grpId="0" animBg="1"/>
      <p:bldP spid="28" grpId="0" animBg="1"/>
      <p:bldP spid="29" grpId="0" animBg="1"/>
      <p:bldP spid="30" grpId="0" animBg="1"/>
      <p:bldP spid="3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chor="t">
            <a:normAutofit/>
          </a:bodyPr>
          <a:lstStyle/>
          <a:p>
            <a:r>
              <a:rPr lang="en-GB" dirty="0"/>
              <a:t>Scenario 2</a:t>
            </a:r>
          </a:p>
        </p:txBody>
      </p:sp>
      <p:pic>
        <p:nvPicPr>
          <p:cNvPr id="4" name="Picture 2" descr="http://www.eflworksheets.com/onlineexercises/animatedonline/coughing.gif">
            <a:hlinkClick r:id="rId3"/>
            <a:extLst>
              <a:ext uri="{FF2B5EF4-FFF2-40B4-BE49-F238E27FC236}">
                <a16:creationId xmlns:a16="http://schemas.microsoft.com/office/drawing/2014/main" id="{FB3B5289-4455-48A9-8B87-D8DC7B0B3CE6}"/>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tretch>
            <a:fillRect/>
          </a:stretch>
        </p:blipFill>
        <p:spPr bwMode="auto">
          <a:xfrm>
            <a:off x="817474" y="2159331"/>
            <a:ext cx="2915973" cy="291597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4066163" y="1676930"/>
            <a:ext cx="5207839" cy="3880773"/>
          </a:xfrm>
        </p:spPr>
        <p:txBody>
          <a:bodyPr>
            <a:normAutofit/>
          </a:bodyPr>
          <a:lstStyle/>
          <a:p>
            <a:pPr>
              <a:lnSpc>
                <a:spcPct val="90000"/>
              </a:lnSpc>
            </a:pPr>
            <a:r>
              <a:rPr lang="en-GB" sz="1500" dirty="0"/>
              <a:t>Dennis is a 74 year old gentleman who has been brought to A&amp;E by ambulance. He reported a 2 day history of progressive shortness of breath, wheeze and thick green sputum which he has been struggling to expectorate. He was found by the paramedics in respiratory distress with oxygen saturations of 82% on room air.</a:t>
            </a:r>
          </a:p>
          <a:p>
            <a:pPr marL="0" indent="0">
              <a:lnSpc>
                <a:spcPct val="90000"/>
              </a:lnSpc>
              <a:buNone/>
            </a:pPr>
            <a:endParaRPr lang="en-GB" sz="1500" dirty="0"/>
          </a:p>
          <a:p>
            <a:pPr>
              <a:lnSpc>
                <a:spcPct val="90000"/>
              </a:lnSpc>
            </a:pPr>
            <a:endParaRPr lang="en-GB" sz="1500" dirty="0"/>
          </a:p>
          <a:p>
            <a:pPr>
              <a:lnSpc>
                <a:spcPct val="90000"/>
              </a:lnSpc>
            </a:pPr>
            <a:endParaRPr lang="en-GB" sz="1500" dirty="0"/>
          </a:p>
          <a:p>
            <a:pPr>
              <a:lnSpc>
                <a:spcPct val="90000"/>
              </a:lnSpc>
            </a:pPr>
            <a:endParaRPr lang="en-GB" sz="1500" dirty="0"/>
          </a:p>
          <a:p>
            <a:pPr marL="0" indent="0">
              <a:lnSpc>
                <a:spcPct val="90000"/>
              </a:lnSpc>
              <a:buNone/>
            </a:pPr>
            <a:endParaRPr lang="en-GB" sz="1500" dirty="0"/>
          </a:p>
        </p:txBody>
      </p:sp>
      <p:sp>
        <p:nvSpPr>
          <p:cNvPr id="5" name="Content Placeholder 2">
            <a:extLst>
              <a:ext uri="{FF2B5EF4-FFF2-40B4-BE49-F238E27FC236}">
                <a16:creationId xmlns:a16="http://schemas.microsoft.com/office/drawing/2014/main" id="{649CD1D5-1D98-4B19-8A46-C7DB922D4CB6}"/>
              </a:ext>
            </a:extLst>
          </p:cNvPr>
          <p:cNvSpPr txBox="1">
            <a:spLocks/>
          </p:cNvSpPr>
          <p:nvPr/>
        </p:nvSpPr>
        <p:spPr>
          <a:xfrm>
            <a:off x="4238414" y="3134917"/>
            <a:ext cx="5207839"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lnSpc>
                <a:spcPct val="90000"/>
              </a:lnSpc>
              <a:buFont typeface="Wingdings 3" charset="2"/>
              <a:buNone/>
            </a:pPr>
            <a:endParaRPr lang="en-GB" sz="1500" dirty="0"/>
          </a:p>
          <a:p>
            <a:pPr marL="0" indent="0">
              <a:lnSpc>
                <a:spcPct val="90000"/>
              </a:lnSpc>
              <a:buFont typeface="Wingdings 3" charset="2"/>
              <a:buNone/>
            </a:pPr>
            <a:r>
              <a:rPr lang="en-GB" sz="1500" dirty="0"/>
              <a:t>1) Can you give some examples of respiratory distress?</a:t>
            </a:r>
          </a:p>
          <a:p>
            <a:pPr marL="0" indent="0">
              <a:lnSpc>
                <a:spcPct val="90000"/>
              </a:lnSpc>
              <a:buFont typeface="Wingdings 3" charset="2"/>
              <a:buNone/>
            </a:pPr>
            <a:endParaRPr lang="en-GB" sz="1500" dirty="0"/>
          </a:p>
          <a:p>
            <a:pPr marL="0" indent="0">
              <a:lnSpc>
                <a:spcPct val="90000"/>
              </a:lnSpc>
              <a:buFont typeface="Wingdings 3" charset="2"/>
              <a:buNone/>
            </a:pPr>
            <a:r>
              <a:rPr lang="en-GB" sz="1500" dirty="0"/>
              <a:t>2) What investigations do you think Dennis needs?</a:t>
            </a:r>
          </a:p>
          <a:p>
            <a:pPr marL="0" indent="0">
              <a:lnSpc>
                <a:spcPct val="90000"/>
              </a:lnSpc>
              <a:buFont typeface="Wingdings 3" charset="2"/>
              <a:buNone/>
            </a:pPr>
            <a:endParaRPr lang="en-GB" sz="1500" dirty="0"/>
          </a:p>
          <a:p>
            <a:pPr marL="0" indent="0">
              <a:lnSpc>
                <a:spcPct val="90000"/>
              </a:lnSpc>
              <a:buFont typeface="Wingdings 3" charset="2"/>
              <a:buNone/>
            </a:pPr>
            <a:r>
              <a:rPr lang="en-GB" sz="1500" dirty="0"/>
              <a:t>3) What pharmacological treatment do you think Dennis requires?</a:t>
            </a:r>
          </a:p>
          <a:p>
            <a:pPr marL="0" indent="0">
              <a:lnSpc>
                <a:spcPct val="90000"/>
              </a:lnSpc>
              <a:buFont typeface="Wingdings 3" charset="2"/>
              <a:buNone/>
            </a:pPr>
            <a:endParaRPr lang="en-GB" sz="1500" dirty="0"/>
          </a:p>
          <a:p>
            <a:pPr marL="0" indent="0">
              <a:lnSpc>
                <a:spcPct val="90000"/>
              </a:lnSpc>
              <a:buFont typeface="Wingdings 3" charset="2"/>
              <a:buNone/>
            </a:pPr>
            <a:r>
              <a:rPr lang="en-GB" sz="1500" dirty="0"/>
              <a:t>4) What other treatment do you think would be useful?</a:t>
            </a:r>
          </a:p>
          <a:p>
            <a:pPr>
              <a:lnSpc>
                <a:spcPct val="90000"/>
              </a:lnSpc>
            </a:pPr>
            <a:endParaRPr lang="en-GB" sz="1500" dirty="0"/>
          </a:p>
          <a:p>
            <a:pPr>
              <a:lnSpc>
                <a:spcPct val="90000"/>
              </a:lnSpc>
            </a:pPr>
            <a:endParaRPr lang="en-GB" sz="1500" dirty="0"/>
          </a:p>
          <a:p>
            <a:pPr>
              <a:lnSpc>
                <a:spcPct val="90000"/>
              </a:lnSpc>
            </a:pPr>
            <a:endParaRPr lang="en-GB" sz="1500" dirty="0"/>
          </a:p>
          <a:p>
            <a:pPr marL="0" indent="0">
              <a:lnSpc>
                <a:spcPct val="90000"/>
              </a:lnSpc>
              <a:buFont typeface="Wingdings 3" charset="2"/>
              <a:buNone/>
            </a:pPr>
            <a:endParaRPr lang="en-GB" sz="1500" dirty="0"/>
          </a:p>
        </p:txBody>
      </p:sp>
    </p:spTree>
    <p:extLst>
      <p:ext uri="{BB962C8B-B14F-4D97-AF65-F5344CB8AC3E}">
        <p14:creationId xmlns:p14="http://schemas.microsoft.com/office/powerpoint/2010/main" val="4121248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D6E8C8F-0028-4322-831F-ACA58EC196F3}"/>
              </a:ext>
            </a:extLst>
          </p:cNvPr>
          <p:cNvSpPr>
            <a:spLocks noGrp="1"/>
          </p:cNvSpPr>
          <p:nvPr>
            <p:ph type="title"/>
          </p:nvPr>
        </p:nvSpPr>
        <p:spPr>
          <a:xfrm>
            <a:off x="677334" y="450574"/>
            <a:ext cx="5217540" cy="861391"/>
          </a:xfrm>
        </p:spPr>
        <p:txBody>
          <a:bodyPr>
            <a:normAutofit/>
          </a:bodyPr>
          <a:lstStyle/>
          <a:p>
            <a:r>
              <a:rPr lang="en-GB" dirty="0"/>
              <a:t>Answers </a:t>
            </a:r>
          </a:p>
        </p:txBody>
      </p:sp>
      <p:pic>
        <p:nvPicPr>
          <p:cNvPr id="5" name="Picture 2" descr="https://johntmcgowan.files.wordpress.com/2011/08/breathing50.gif?w=460">
            <a:hlinkClick r:id="rId3"/>
            <a:extLst>
              <a:ext uri="{FF2B5EF4-FFF2-40B4-BE49-F238E27FC236}">
                <a16:creationId xmlns:a16="http://schemas.microsoft.com/office/drawing/2014/main" id="{678E1C34-960E-40C0-B94B-6D0A8D76885A}"/>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tretch>
            <a:fillRect/>
          </a:stretch>
        </p:blipFill>
        <p:spPr bwMode="auto">
          <a:xfrm>
            <a:off x="1579480" y="1212574"/>
            <a:ext cx="1500801" cy="11256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Content Placeholder 2">
            <a:extLst>
              <a:ext uri="{FF2B5EF4-FFF2-40B4-BE49-F238E27FC236}">
                <a16:creationId xmlns:a16="http://schemas.microsoft.com/office/drawing/2014/main" id="{5752E47D-A329-48A5-9F6B-551A11216C6D}"/>
              </a:ext>
            </a:extLst>
          </p:cNvPr>
          <p:cNvSpPr txBox="1">
            <a:spLocks/>
          </p:cNvSpPr>
          <p:nvPr/>
        </p:nvSpPr>
        <p:spPr>
          <a:xfrm>
            <a:off x="5110186" y="1212574"/>
            <a:ext cx="5100614" cy="3313044"/>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u="sng" dirty="0"/>
              <a:t>Question 2</a:t>
            </a:r>
            <a:r>
              <a:rPr lang="en-GB" dirty="0"/>
              <a:t>								</a:t>
            </a:r>
            <a:endParaRPr lang="en-GB" u="sng" dirty="0"/>
          </a:p>
          <a:p>
            <a:pPr marL="0" indent="0">
              <a:buFont typeface="Wingdings 3" charset="2"/>
              <a:buNone/>
            </a:pPr>
            <a:endParaRPr lang="en-GB" u="sng" dirty="0"/>
          </a:p>
          <a:p>
            <a:pPr marL="0" indent="0" algn="r">
              <a:buFont typeface="Wingdings 3" charset="2"/>
              <a:buNone/>
            </a:pPr>
            <a:endParaRPr lang="en-GB" u="sng" dirty="0"/>
          </a:p>
          <a:p>
            <a:pPr marL="0" indent="0">
              <a:buFont typeface="Wingdings 3" charset="2"/>
              <a:buNone/>
            </a:pPr>
            <a:endParaRPr lang="en-GB" u="sng" dirty="0"/>
          </a:p>
          <a:p>
            <a:pPr marL="0" indent="0">
              <a:buFont typeface="Wingdings 3" charset="2"/>
              <a:buNone/>
            </a:pPr>
            <a:endParaRPr lang="en-GB" u="sng" dirty="0"/>
          </a:p>
          <a:p>
            <a:pPr marL="0" indent="0">
              <a:buFont typeface="Wingdings 3" charset="2"/>
              <a:buNone/>
            </a:pPr>
            <a:endParaRPr lang="en-GB" u="sng" dirty="0"/>
          </a:p>
        </p:txBody>
      </p:sp>
      <p:pic>
        <p:nvPicPr>
          <p:cNvPr id="8" name="Picture 4">
            <a:extLst>
              <a:ext uri="{FF2B5EF4-FFF2-40B4-BE49-F238E27FC236}">
                <a16:creationId xmlns:a16="http://schemas.microsoft.com/office/drawing/2014/main" id="{010BF521-ED0A-452A-9DE1-E7DAAFF37B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a:xfrm>
            <a:off x="5269566" y="1892163"/>
            <a:ext cx="1652867" cy="1682611"/>
          </a:xfrm>
          <a:prstGeom prst="rect">
            <a:avLst/>
          </a:prstGeom>
          <a:noFill/>
        </p:spPr>
      </p:pic>
      <p:pic>
        <p:nvPicPr>
          <p:cNvPr id="9" name="Picture 8">
            <a:extLst>
              <a:ext uri="{FF2B5EF4-FFF2-40B4-BE49-F238E27FC236}">
                <a16:creationId xmlns:a16="http://schemas.microsoft.com/office/drawing/2014/main" id="{088A8826-8ADD-48FB-A8D1-A6DE8706975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71114" y="1721784"/>
            <a:ext cx="2591005" cy="1942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 name="Picture 2" descr="Ekg Heart Rate GIF - Ekg Heart Rate GIFs">
            <a:extLst>
              <a:ext uri="{FF2B5EF4-FFF2-40B4-BE49-F238E27FC236}">
                <a16:creationId xmlns:a16="http://schemas.microsoft.com/office/drawing/2014/main" id="{DE5BDA1E-162F-464D-88FA-3B8D18618688}"/>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5213564" y="3716833"/>
            <a:ext cx="2296956" cy="1284207"/>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Experience Green Liquid Sticker - Experience Green Liquid Chemistry -  Descubre &amp; Comparte GIFs">
            <a:extLst>
              <a:ext uri="{FF2B5EF4-FFF2-40B4-BE49-F238E27FC236}">
                <a16:creationId xmlns:a16="http://schemas.microsoft.com/office/drawing/2014/main" id="{78868E3E-0FD2-4EA2-AC40-18449FA3B246}"/>
              </a:ext>
            </a:extLst>
          </p:cNvPr>
          <p:cNvPicPr>
            <a:picLocks noChangeAspect="1" noChangeArrowheads="1" noCrop="1"/>
          </p:cNvPicPr>
          <p:nvPr/>
        </p:nvPicPr>
        <p:blipFill>
          <a:blip r:embed="rId8">
            <a:extLst>
              <a:ext uri="{28A0092B-C50C-407E-A947-70E740481C1C}">
                <a14:useLocalDpi xmlns:a14="http://schemas.microsoft.com/office/drawing/2010/main" val="0"/>
              </a:ext>
            </a:extLst>
          </a:blip>
          <a:srcRect/>
          <a:stretch>
            <a:fillRect/>
          </a:stretch>
        </p:blipFill>
        <p:spPr bwMode="auto">
          <a:xfrm>
            <a:off x="7891974" y="3428999"/>
            <a:ext cx="1868251" cy="2497938"/>
          </a:xfrm>
          <a:prstGeom prst="rect">
            <a:avLst/>
          </a:prstGeom>
          <a:noFill/>
          <a:extLst>
            <a:ext uri="{909E8E84-426E-40DD-AFC4-6F175D3DCCD1}">
              <a14:hiddenFill xmlns:a14="http://schemas.microsoft.com/office/drawing/2010/main">
                <a:solidFill>
                  <a:srgbClr val="FFFFFF"/>
                </a:solidFill>
              </a14:hiddenFill>
            </a:ext>
          </a:extLst>
        </p:spPr>
      </p:pic>
      <p:sp>
        <p:nvSpPr>
          <p:cNvPr id="10" name="Content Placeholder 2">
            <a:extLst>
              <a:ext uri="{FF2B5EF4-FFF2-40B4-BE49-F238E27FC236}">
                <a16:creationId xmlns:a16="http://schemas.microsoft.com/office/drawing/2014/main" id="{C873A6E5-C13A-42B5-B4BB-C8F463AEA968}"/>
              </a:ext>
            </a:extLst>
          </p:cNvPr>
          <p:cNvSpPr txBox="1">
            <a:spLocks/>
          </p:cNvSpPr>
          <p:nvPr/>
        </p:nvSpPr>
        <p:spPr>
          <a:xfrm>
            <a:off x="235588" y="1721784"/>
            <a:ext cx="4064439" cy="3880773"/>
          </a:xfrm>
          <a:prstGeom prst="rect">
            <a:avLst/>
          </a:prstGeom>
        </p:spPr>
        <p:txBody>
          <a:bodyPr vert="horz" lIns="91440" tIns="45720" rIns="91440" bIns="45720" rtlCol="0">
            <a:normAutofit fontScale="9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u="sng" dirty="0"/>
              <a:t>Question 1</a:t>
            </a:r>
          </a:p>
          <a:p>
            <a:pPr marL="0" indent="0">
              <a:buNone/>
            </a:pPr>
            <a:endParaRPr lang="en-GB" u="sng" dirty="0"/>
          </a:p>
          <a:p>
            <a:r>
              <a:rPr lang="en-GB" dirty="0"/>
              <a:t>Pursed lip breathing</a:t>
            </a:r>
          </a:p>
          <a:p>
            <a:r>
              <a:rPr lang="en-GB" dirty="0"/>
              <a:t>Prolonged expiration</a:t>
            </a:r>
          </a:p>
          <a:p>
            <a:r>
              <a:rPr lang="en-GB" dirty="0"/>
              <a:t>Increased RR</a:t>
            </a:r>
          </a:p>
          <a:p>
            <a:r>
              <a:rPr lang="en-GB" dirty="0"/>
              <a:t>Cyanosis </a:t>
            </a:r>
          </a:p>
          <a:p>
            <a:r>
              <a:rPr lang="en-GB" dirty="0"/>
              <a:t>Active expiration</a:t>
            </a:r>
          </a:p>
          <a:p>
            <a:r>
              <a:rPr lang="en-GB" dirty="0"/>
              <a:t>Fixing of upper limbs</a:t>
            </a:r>
          </a:p>
          <a:p>
            <a:r>
              <a:rPr lang="en-GB" dirty="0"/>
              <a:t>Use and hypertrophy of accessory muscles </a:t>
            </a:r>
          </a:p>
          <a:p>
            <a:r>
              <a:rPr lang="en-GB" dirty="0"/>
              <a:t>Soft tissue recession </a:t>
            </a:r>
          </a:p>
          <a:p>
            <a:r>
              <a:rPr lang="en-GB" dirty="0"/>
              <a:t>Hoover’s sign</a:t>
            </a:r>
          </a:p>
        </p:txBody>
      </p:sp>
      <p:pic>
        <p:nvPicPr>
          <p:cNvPr id="2052" name="Picture 4" descr="Pregnant Ultrasound GIF - Pregnant Ultrasound Baby GIFs">
            <a:extLst>
              <a:ext uri="{FF2B5EF4-FFF2-40B4-BE49-F238E27FC236}">
                <a16:creationId xmlns:a16="http://schemas.microsoft.com/office/drawing/2014/main" id="{3C8368F0-95CF-44CB-A167-24CB90FF404D}"/>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5427916" y="5166872"/>
            <a:ext cx="1868251" cy="1245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39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fade">
                                      <p:cBhvr>
                                        <p:cTn id="22" dur="500"/>
                                        <p:tgtEl>
                                          <p:spTgt spid="614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150"/>
                                        </p:tgtEl>
                                        <p:attrNameLst>
                                          <p:attrName>style.visibility</p:attrName>
                                        </p:attrNameLst>
                                      </p:cBhvr>
                                      <p:to>
                                        <p:strVal val="visible"/>
                                      </p:to>
                                    </p:set>
                                    <p:animEffect transition="in" filter="fade">
                                      <p:cBhvr>
                                        <p:cTn id="27" dur="500"/>
                                        <p:tgtEl>
                                          <p:spTgt spid="615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052"/>
                                        </p:tgtEl>
                                        <p:attrNameLst>
                                          <p:attrName>style.visibility</p:attrName>
                                        </p:attrNameLst>
                                      </p:cBhvr>
                                      <p:to>
                                        <p:strVal val="visible"/>
                                      </p:to>
                                    </p:set>
                                    <p:animEffect transition="in" filter="fade">
                                      <p:cBhvr>
                                        <p:cTn id="32" dur="500"/>
                                        <p:tgtEl>
                                          <p:spTgt spid="20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589712-899A-4E3D-96B5-DE49C7663BD9}"/>
              </a:ext>
            </a:extLst>
          </p:cNvPr>
          <p:cNvSpPr>
            <a:spLocks noGrp="1"/>
          </p:cNvSpPr>
          <p:nvPr>
            <p:ph idx="1"/>
          </p:nvPr>
        </p:nvSpPr>
        <p:spPr>
          <a:xfrm>
            <a:off x="677334" y="1488613"/>
            <a:ext cx="8596668" cy="4918813"/>
          </a:xfrm>
        </p:spPr>
        <p:txBody>
          <a:bodyPr>
            <a:normAutofit fontScale="25000" lnSpcReduction="20000"/>
          </a:bodyPr>
          <a:lstStyle/>
          <a:p>
            <a:pPr marL="0" indent="0">
              <a:buNone/>
            </a:pPr>
            <a:r>
              <a:rPr lang="en-GB" sz="8000" u="sng" dirty="0"/>
              <a:t>Question 3</a:t>
            </a:r>
          </a:p>
          <a:p>
            <a:pPr marL="0" indent="0">
              <a:buNone/>
            </a:pPr>
            <a:endParaRPr lang="en-GB" sz="8000" u="sng" dirty="0"/>
          </a:p>
          <a:p>
            <a:r>
              <a:rPr lang="en-GB" sz="8000" dirty="0"/>
              <a:t>Nebulisers</a:t>
            </a:r>
          </a:p>
          <a:p>
            <a:endParaRPr lang="en-GB" sz="8000" dirty="0"/>
          </a:p>
          <a:p>
            <a:endParaRPr lang="en-GB" sz="8000" dirty="0"/>
          </a:p>
          <a:p>
            <a:endParaRPr lang="en-GB" sz="8000" dirty="0"/>
          </a:p>
          <a:p>
            <a:endParaRPr lang="en-GB" sz="8000" dirty="0"/>
          </a:p>
          <a:p>
            <a:r>
              <a:rPr lang="en-GB" sz="8000" dirty="0"/>
              <a:t>Antibiotics and steroids</a:t>
            </a:r>
          </a:p>
          <a:p>
            <a:endParaRPr lang="en-GB" sz="8000" dirty="0"/>
          </a:p>
          <a:p>
            <a:endParaRPr lang="en-GB" sz="8000" dirty="0"/>
          </a:p>
          <a:p>
            <a:endParaRPr lang="en-GB" sz="8000" dirty="0"/>
          </a:p>
          <a:p>
            <a:endParaRPr lang="en-GB" sz="8000" dirty="0"/>
          </a:p>
          <a:p>
            <a:r>
              <a:rPr lang="en-GB" sz="8000" dirty="0"/>
              <a:t>Oxygen – target saturations 88-92% </a:t>
            </a:r>
          </a:p>
          <a:p>
            <a:endParaRPr lang="en-GB" sz="8000" dirty="0"/>
          </a:p>
          <a:p>
            <a:endParaRPr lang="en-GB" sz="8000" dirty="0"/>
          </a:p>
          <a:p>
            <a:r>
              <a:rPr lang="en-GB" sz="8000" dirty="0"/>
              <a:t>O </a:t>
            </a:r>
          </a:p>
          <a:p>
            <a:pPr marL="0" indent="0">
              <a:buNone/>
            </a:pPr>
            <a:endParaRPr lang="en-GB" u="sng" dirty="0"/>
          </a:p>
          <a:p>
            <a:pPr marL="0" indent="0">
              <a:buNone/>
            </a:pPr>
            <a:endParaRPr lang="en-GB" u="sng" dirty="0"/>
          </a:p>
        </p:txBody>
      </p:sp>
      <p:sp>
        <p:nvSpPr>
          <p:cNvPr id="4" name="Title 1">
            <a:extLst>
              <a:ext uri="{FF2B5EF4-FFF2-40B4-BE49-F238E27FC236}">
                <a16:creationId xmlns:a16="http://schemas.microsoft.com/office/drawing/2014/main" id="{CA88D4CD-0422-4BBE-8921-06AF45FA2E1F}"/>
              </a:ext>
            </a:extLst>
          </p:cNvPr>
          <p:cNvSpPr>
            <a:spLocks noGrp="1"/>
          </p:cNvSpPr>
          <p:nvPr>
            <p:ph type="title"/>
          </p:nvPr>
        </p:nvSpPr>
        <p:spPr>
          <a:xfrm>
            <a:off x="677334" y="450574"/>
            <a:ext cx="5217540" cy="861391"/>
          </a:xfrm>
        </p:spPr>
        <p:txBody>
          <a:bodyPr>
            <a:normAutofit/>
          </a:bodyPr>
          <a:lstStyle/>
          <a:p>
            <a:r>
              <a:rPr lang="en-GB" dirty="0"/>
              <a:t>Answers </a:t>
            </a:r>
          </a:p>
        </p:txBody>
      </p:sp>
      <p:pic>
        <p:nvPicPr>
          <p:cNvPr id="8194" name="Picture 2" descr="2D Animation Nebulizer on Make a GIF">
            <a:extLst>
              <a:ext uri="{FF2B5EF4-FFF2-40B4-BE49-F238E27FC236}">
                <a16:creationId xmlns:a16="http://schemas.microsoft.com/office/drawing/2014/main" id="{D750CD8A-C5E5-4701-B8BE-50CDA594CCC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2808460" y="1726679"/>
            <a:ext cx="3144115" cy="176856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8186702-4806-4AB9-9654-256010A0029E}"/>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570492" y="1820509"/>
            <a:ext cx="1976438" cy="1580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2AA7A120-977A-48DD-B89C-5CA460B47ED6}"/>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52575" y="1666147"/>
            <a:ext cx="1890844" cy="18896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http://www.fototime.com/328BBE18E5EA052/orig.gif">
            <a:hlinkClick r:id="rId6"/>
            <a:extLst>
              <a:ext uri="{FF2B5EF4-FFF2-40B4-BE49-F238E27FC236}">
                <a16:creationId xmlns:a16="http://schemas.microsoft.com/office/drawing/2014/main" id="{A6FF7782-7E31-4417-A4D0-983CCEFDC610}"/>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3989992" y="3710154"/>
            <a:ext cx="1390650" cy="153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3" descr="Image result for Doxycycline">
            <a:hlinkClick r:id="rId8"/>
            <a:extLst>
              <a:ext uri="{FF2B5EF4-FFF2-40B4-BE49-F238E27FC236}">
                <a16:creationId xmlns:a16="http://schemas.microsoft.com/office/drawing/2014/main" id="{CC5BACBB-5193-4A37-A8F3-E1EBC729106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a:xfrm rot="20969242">
            <a:off x="5569673" y="3773333"/>
            <a:ext cx="2178050" cy="1249363"/>
          </a:xfrm>
          <a:prstGeom prst="rect">
            <a:avLst/>
          </a:prstGeom>
        </p:spPr>
      </p:pic>
      <p:pic>
        <p:nvPicPr>
          <p:cNvPr id="10" name="Picture 21" descr="Image result for prednisolone">
            <a:hlinkClick r:id="rId10"/>
            <a:extLst>
              <a:ext uri="{FF2B5EF4-FFF2-40B4-BE49-F238E27FC236}">
                <a16:creationId xmlns:a16="http://schemas.microsoft.com/office/drawing/2014/main" id="{40614ED0-AB5B-4E7D-BF1C-608342AC673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t="25980" b="26361"/>
          <a:stretch>
            <a:fillRect/>
          </a:stretch>
        </p:blipFill>
        <p:spPr>
          <a:xfrm rot="20768249">
            <a:off x="8005181" y="3814732"/>
            <a:ext cx="1817688" cy="792163"/>
          </a:xfrm>
          <a:prstGeom prst="rect">
            <a:avLst/>
          </a:prstGeom>
        </p:spPr>
      </p:pic>
      <p:pic>
        <p:nvPicPr>
          <p:cNvPr id="12" name="Picture 6">
            <a:extLst>
              <a:ext uri="{FF2B5EF4-FFF2-40B4-BE49-F238E27FC236}">
                <a16:creationId xmlns:a16="http://schemas.microsoft.com/office/drawing/2014/main" id="{544584E8-D294-4A96-8F76-A6CCFF269D37}"/>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473978" y="5369387"/>
            <a:ext cx="1865388" cy="1398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33218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612FF80-AD12-4B17-85FF-7CB95B39E1FE}"/>
              </a:ext>
            </a:extLst>
          </p:cNvPr>
          <p:cNvSpPr>
            <a:spLocks noGrp="1"/>
          </p:cNvSpPr>
          <p:nvPr>
            <p:ph type="title"/>
          </p:nvPr>
        </p:nvSpPr>
        <p:spPr>
          <a:xfrm>
            <a:off x="677334" y="450574"/>
            <a:ext cx="5217540" cy="861391"/>
          </a:xfrm>
        </p:spPr>
        <p:txBody>
          <a:bodyPr>
            <a:normAutofit/>
          </a:bodyPr>
          <a:lstStyle/>
          <a:p>
            <a:r>
              <a:rPr lang="en-GB" dirty="0"/>
              <a:t>Answers </a:t>
            </a:r>
          </a:p>
        </p:txBody>
      </p:sp>
      <p:sp>
        <p:nvSpPr>
          <p:cNvPr id="7" name="Content Placeholder 2">
            <a:extLst>
              <a:ext uri="{FF2B5EF4-FFF2-40B4-BE49-F238E27FC236}">
                <a16:creationId xmlns:a16="http://schemas.microsoft.com/office/drawing/2014/main" id="{9E5596B9-94DB-4B49-8F89-0D9988258204}"/>
              </a:ext>
            </a:extLst>
          </p:cNvPr>
          <p:cNvSpPr txBox="1">
            <a:spLocks/>
          </p:cNvSpPr>
          <p:nvPr/>
        </p:nvSpPr>
        <p:spPr>
          <a:xfrm>
            <a:off x="5149943" y="1488613"/>
            <a:ext cx="3947675"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dirty="0"/>
          </a:p>
        </p:txBody>
      </p:sp>
      <p:sp>
        <p:nvSpPr>
          <p:cNvPr id="8" name="Content Placeholder 2">
            <a:extLst>
              <a:ext uri="{FF2B5EF4-FFF2-40B4-BE49-F238E27FC236}">
                <a16:creationId xmlns:a16="http://schemas.microsoft.com/office/drawing/2014/main" id="{34965FC2-6579-4B31-B6EF-B1AF5B29B558}"/>
              </a:ext>
            </a:extLst>
          </p:cNvPr>
          <p:cNvSpPr txBox="1">
            <a:spLocks/>
          </p:cNvSpPr>
          <p:nvPr/>
        </p:nvSpPr>
        <p:spPr>
          <a:xfrm>
            <a:off x="677333" y="1488613"/>
            <a:ext cx="9148837" cy="3880773"/>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u="sng" dirty="0"/>
              <a:t>Question 6</a:t>
            </a:r>
          </a:p>
          <a:p>
            <a:pPr marL="0" indent="0">
              <a:buFont typeface="Wingdings 3" charset="2"/>
              <a:buNone/>
            </a:pPr>
            <a:endParaRPr lang="en-GB" u="sng" dirty="0"/>
          </a:p>
          <a:p>
            <a:r>
              <a:rPr lang="en-GB" sz="4000" dirty="0"/>
              <a:t>PHYSIOTHERAPY!!!!</a:t>
            </a:r>
          </a:p>
          <a:p>
            <a:pPr>
              <a:buFontTx/>
              <a:buChar char="-"/>
            </a:pPr>
            <a:r>
              <a:rPr lang="en-GB" sz="4000" dirty="0"/>
              <a:t>Positive expiratory pressure devices </a:t>
            </a:r>
          </a:p>
          <a:p>
            <a:pPr>
              <a:buFontTx/>
              <a:buChar char="-"/>
            </a:pPr>
            <a:r>
              <a:rPr lang="en-GB" sz="4000" dirty="0"/>
              <a:t>Positions of ease</a:t>
            </a:r>
          </a:p>
          <a:p>
            <a:pPr>
              <a:buFontTx/>
              <a:buChar char="-"/>
            </a:pPr>
            <a:r>
              <a:rPr lang="en-GB" sz="4000" dirty="0"/>
              <a:t>Breathing techniques</a:t>
            </a:r>
          </a:p>
          <a:p>
            <a:pPr>
              <a:buFontTx/>
              <a:buChar char="-"/>
            </a:pPr>
            <a:r>
              <a:rPr lang="en-GB" sz="4000" dirty="0"/>
              <a:t>Inhaler technique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pic>
        <p:nvPicPr>
          <p:cNvPr id="9" name="Picture 2" descr="http://www.ricwoodanimations.info/wp-content/uploads/2010/06/mas.gif">
            <a:extLst>
              <a:ext uri="{FF2B5EF4-FFF2-40B4-BE49-F238E27FC236}">
                <a16:creationId xmlns:a16="http://schemas.microsoft.com/office/drawing/2014/main" id="{5E259399-3F55-4F42-B23C-B9549AD3E756}"/>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a:xfrm>
            <a:off x="6604624" y="3790730"/>
            <a:ext cx="2303462" cy="2663825"/>
          </a:xfrm>
          <a:prstGeom prst="rect">
            <a:avLst/>
          </a:prstGeom>
          <a:noFill/>
        </p:spPr>
      </p:pic>
    </p:spTree>
    <p:extLst>
      <p:ext uri="{BB962C8B-B14F-4D97-AF65-F5344CB8AC3E}">
        <p14:creationId xmlns:p14="http://schemas.microsoft.com/office/powerpoint/2010/main" val="1233448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1548" y="204351"/>
            <a:ext cx="10413784" cy="3880773"/>
          </a:xfrm>
        </p:spPr>
        <p:txBody>
          <a:bodyPr>
            <a:normAutofit fontScale="25000" lnSpcReduction="20000"/>
          </a:bodyPr>
          <a:lstStyle/>
          <a:p>
            <a:pPr marL="0" indent="0">
              <a:buNone/>
            </a:pPr>
            <a:r>
              <a:rPr lang="en-GB" dirty="0"/>
              <a:t> </a:t>
            </a:r>
          </a:p>
          <a:p>
            <a:endParaRPr lang="en-GB" dirty="0"/>
          </a:p>
          <a:p>
            <a:r>
              <a:rPr lang="en-GB" sz="11200" dirty="0"/>
              <a:t>Dennis’ arterial blood gases come back and his oxygen </a:t>
            </a:r>
          </a:p>
          <a:p>
            <a:pPr marL="0" indent="0">
              <a:buNone/>
            </a:pPr>
            <a:r>
              <a:rPr lang="en-GB" sz="11200" dirty="0"/>
              <a:t>levels are satisfactory on 4LPM via nasal cannula but his</a:t>
            </a:r>
          </a:p>
          <a:p>
            <a:pPr marL="0" indent="0">
              <a:buNone/>
            </a:pPr>
            <a:r>
              <a:rPr lang="en-GB" sz="11200" dirty="0"/>
              <a:t> carbon dioxide levels are very high. He is also becoming</a:t>
            </a:r>
          </a:p>
          <a:p>
            <a:pPr marL="0" indent="0">
              <a:buNone/>
            </a:pPr>
            <a:r>
              <a:rPr lang="en-GB" sz="11200" dirty="0"/>
              <a:t> increasingly confused.</a:t>
            </a:r>
          </a:p>
        </p:txBody>
      </p:sp>
      <p:pic>
        <p:nvPicPr>
          <p:cNvPr id="9218" name="Picture 2" descr="Trainers' Images. Photos, graphic art and teambuilding posters.">
            <a:extLst>
              <a:ext uri="{FF2B5EF4-FFF2-40B4-BE49-F238E27FC236}">
                <a16:creationId xmlns:a16="http://schemas.microsoft.com/office/drawing/2014/main" id="{D423AE3B-0459-40B3-829A-F108AA4F728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591341" y="4890051"/>
            <a:ext cx="3083058" cy="1920049"/>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D438DA61-A994-44DD-8510-F8F1F8564C42}"/>
              </a:ext>
            </a:extLst>
          </p:cNvPr>
          <p:cNvSpPr txBox="1">
            <a:spLocks/>
          </p:cNvSpPr>
          <p:nvPr/>
        </p:nvSpPr>
        <p:spPr>
          <a:xfrm>
            <a:off x="397565" y="2027053"/>
            <a:ext cx="10413784" cy="3095441"/>
          </a:xfrm>
          <a:prstGeom prst="rect">
            <a:avLst/>
          </a:prstGeom>
        </p:spPr>
        <p:txBody>
          <a:bodyPr vert="horz" lIns="91440" tIns="45720" rIns="91440" bIns="45720" rtlCol="0">
            <a:normAutofit fontScale="250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dirty="0"/>
              <a:t> </a:t>
            </a:r>
          </a:p>
          <a:p>
            <a:endParaRPr lang="en-GB" dirty="0"/>
          </a:p>
          <a:p>
            <a:pPr marL="0" indent="0">
              <a:buFont typeface="Wingdings 3" charset="2"/>
              <a:buNone/>
            </a:pPr>
            <a:endParaRPr lang="en-GB" sz="11200" dirty="0"/>
          </a:p>
          <a:p>
            <a:pPr marL="0" indent="0">
              <a:buFont typeface="Wingdings 3" charset="2"/>
              <a:buNone/>
            </a:pPr>
            <a:r>
              <a:rPr lang="en-GB" sz="9600" dirty="0"/>
              <a:t>5) What type of respiratory failure is Dennis in? </a:t>
            </a:r>
          </a:p>
          <a:p>
            <a:pPr marL="0" indent="0">
              <a:buFont typeface="Wingdings 3" charset="2"/>
              <a:buNone/>
            </a:pPr>
            <a:endParaRPr lang="en-GB" sz="9600" dirty="0"/>
          </a:p>
          <a:p>
            <a:pPr marL="0" indent="0">
              <a:buFont typeface="Wingdings 3" charset="2"/>
              <a:buNone/>
            </a:pPr>
            <a:r>
              <a:rPr lang="en-GB" sz="9600" dirty="0"/>
              <a:t>6) Do you think Dennis would benefit from any other treatment? </a:t>
            </a:r>
          </a:p>
          <a:p>
            <a:pPr marL="0" indent="0">
              <a:buFont typeface="Wingdings 3" charset="2"/>
              <a:buNone/>
            </a:pPr>
            <a:endParaRPr lang="en-GB" sz="9600" dirty="0"/>
          </a:p>
          <a:p>
            <a:pPr marL="0" indent="0">
              <a:buFont typeface="Wingdings 3" charset="2"/>
              <a:buNone/>
            </a:pPr>
            <a:r>
              <a:rPr lang="en-GB" sz="9600" dirty="0"/>
              <a:t>7) Which ward do you think would be most appropriate for Dennis? </a:t>
            </a:r>
          </a:p>
        </p:txBody>
      </p:sp>
    </p:spTree>
    <p:extLst>
      <p:ext uri="{BB962C8B-B14F-4D97-AF65-F5344CB8AC3E}">
        <p14:creationId xmlns:p14="http://schemas.microsoft.com/office/powerpoint/2010/main" val="1653853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85536-B3C1-42BA-966D-1AB2B326D13B}"/>
              </a:ext>
            </a:extLst>
          </p:cNvPr>
          <p:cNvSpPr>
            <a:spLocks noGrp="1"/>
          </p:cNvSpPr>
          <p:nvPr>
            <p:ph type="title"/>
          </p:nvPr>
        </p:nvSpPr>
        <p:spPr/>
        <p:txBody>
          <a:bodyPr/>
          <a:lstStyle/>
          <a:p>
            <a:r>
              <a:rPr lang="en-GB" dirty="0"/>
              <a:t>Answers</a:t>
            </a:r>
          </a:p>
        </p:txBody>
      </p:sp>
      <p:sp>
        <p:nvSpPr>
          <p:cNvPr id="3" name="Content Placeholder 2">
            <a:extLst>
              <a:ext uri="{FF2B5EF4-FFF2-40B4-BE49-F238E27FC236}">
                <a16:creationId xmlns:a16="http://schemas.microsoft.com/office/drawing/2014/main" id="{90C25CFE-0763-4AB0-BEDE-9968B9F5BF5A}"/>
              </a:ext>
            </a:extLst>
          </p:cNvPr>
          <p:cNvSpPr>
            <a:spLocks noGrp="1"/>
          </p:cNvSpPr>
          <p:nvPr>
            <p:ph idx="1"/>
          </p:nvPr>
        </p:nvSpPr>
        <p:spPr/>
        <p:txBody>
          <a:bodyPr/>
          <a:lstStyle/>
          <a:p>
            <a:pPr marL="0" indent="0">
              <a:buNone/>
            </a:pPr>
            <a:r>
              <a:rPr lang="en-GB" u="sng" dirty="0"/>
              <a:t>Question 5</a:t>
            </a:r>
          </a:p>
          <a:p>
            <a:pPr marL="0" indent="0">
              <a:buNone/>
            </a:pPr>
            <a:endParaRPr lang="en-GB" u="sng" dirty="0"/>
          </a:p>
          <a:p>
            <a:pPr marL="0" indent="0" algn="ctr">
              <a:buNone/>
            </a:pPr>
            <a:r>
              <a:rPr lang="en-GB" sz="6000" dirty="0"/>
              <a:t>Respiratory Failure Refresher </a:t>
            </a:r>
          </a:p>
        </p:txBody>
      </p:sp>
      <p:pic>
        <p:nvPicPr>
          <p:cNvPr id="4" name="Picture 2">
            <a:extLst>
              <a:ext uri="{FF2B5EF4-FFF2-40B4-BE49-F238E27FC236}">
                <a16:creationId xmlns:a16="http://schemas.microsoft.com/office/drawing/2014/main" id="{B8C8608D-141B-49AF-876C-BDEE57ADD08E}"/>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3065673" y="4862286"/>
            <a:ext cx="3819989" cy="18268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8157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27958-35A1-4079-A760-459B2EAC6D9D}"/>
              </a:ext>
            </a:extLst>
          </p:cNvPr>
          <p:cNvSpPr>
            <a:spLocks noGrp="1"/>
          </p:cNvSpPr>
          <p:nvPr>
            <p:ph type="title"/>
          </p:nvPr>
        </p:nvSpPr>
        <p:spPr/>
        <p:txBody>
          <a:bodyPr/>
          <a:lstStyle/>
          <a:p>
            <a:r>
              <a:rPr lang="en-GB" dirty="0"/>
              <a:t>Type 1 Respiratory Failure</a:t>
            </a:r>
          </a:p>
        </p:txBody>
      </p:sp>
      <p:sp>
        <p:nvSpPr>
          <p:cNvPr id="3" name="Content Placeholder 2">
            <a:extLst>
              <a:ext uri="{FF2B5EF4-FFF2-40B4-BE49-F238E27FC236}">
                <a16:creationId xmlns:a16="http://schemas.microsoft.com/office/drawing/2014/main" id="{928ABC59-7378-467E-A186-E16343580AAE}"/>
              </a:ext>
            </a:extLst>
          </p:cNvPr>
          <p:cNvSpPr>
            <a:spLocks noGrp="1"/>
          </p:cNvSpPr>
          <p:nvPr>
            <p:ph idx="1"/>
          </p:nvPr>
        </p:nvSpPr>
        <p:spPr/>
        <p:txBody>
          <a:bodyPr/>
          <a:lstStyle/>
          <a:p>
            <a:r>
              <a:rPr lang="en-GB" sz="3600" dirty="0"/>
              <a:t> Decreased PaO</a:t>
            </a:r>
            <a:r>
              <a:rPr lang="en-GB" sz="3600" baseline="-25000" dirty="0"/>
              <a:t>2</a:t>
            </a:r>
          </a:p>
          <a:p>
            <a:r>
              <a:rPr lang="en-GB" sz="3600" dirty="0"/>
              <a:t> Normal or low PaCO</a:t>
            </a:r>
            <a:r>
              <a:rPr lang="en-GB" sz="3600" baseline="-25000" dirty="0"/>
              <a:t>2</a:t>
            </a:r>
          </a:p>
          <a:p>
            <a:r>
              <a:rPr lang="en-GB" sz="3600" dirty="0"/>
              <a:t> Treated with supplementary oxygen</a:t>
            </a:r>
          </a:p>
          <a:p>
            <a:pPr marL="0" indent="0">
              <a:buNone/>
            </a:pPr>
            <a:endParaRPr lang="en-GB" dirty="0"/>
          </a:p>
          <a:p>
            <a:endParaRPr lang="en-GB" sz="4400" dirty="0"/>
          </a:p>
        </p:txBody>
      </p:sp>
      <p:pic>
        <p:nvPicPr>
          <p:cNvPr id="4" name="Picture 2">
            <a:extLst>
              <a:ext uri="{FF2B5EF4-FFF2-40B4-BE49-F238E27FC236}">
                <a16:creationId xmlns:a16="http://schemas.microsoft.com/office/drawing/2014/main" id="{47BE8964-FB66-4B8C-8A9B-7402ADB44946}"/>
              </a:ext>
            </a:extLst>
          </p:cNvPr>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88258" y="25330"/>
            <a:ext cx="2813539" cy="1582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17427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42F3-D93D-4E56-A9F2-1EAFD18CBBA3}"/>
              </a:ext>
            </a:extLst>
          </p:cNvPr>
          <p:cNvSpPr>
            <a:spLocks noGrp="1"/>
          </p:cNvSpPr>
          <p:nvPr>
            <p:ph type="title"/>
          </p:nvPr>
        </p:nvSpPr>
        <p:spPr/>
        <p:txBody>
          <a:bodyPr/>
          <a:lstStyle/>
          <a:p>
            <a:r>
              <a:rPr lang="en-GB" dirty="0"/>
              <a:t>Type 2 Respiratory Failure</a:t>
            </a:r>
          </a:p>
        </p:txBody>
      </p:sp>
      <p:sp>
        <p:nvSpPr>
          <p:cNvPr id="6" name="Content Placeholder 2">
            <a:extLst>
              <a:ext uri="{FF2B5EF4-FFF2-40B4-BE49-F238E27FC236}">
                <a16:creationId xmlns:a16="http://schemas.microsoft.com/office/drawing/2014/main" id="{23B4EAC9-0A7B-43B0-887E-1F522DB2B029}"/>
              </a:ext>
            </a:extLst>
          </p:cNvPr>
          <p:cNvSpPr>
            <a:spLocks noGrp="1"/>
          </p:cNvSpPr>
          <p:nvPr>
            <p:ph idx="1"/>
          </p:nvPr>
        </p:nvSpPr>
        <p:spPr>
          <a:xfrm>
            <a:off x="677334" y="2160589"/>
            <a:ext cx="8596668" cy="3880773"/>
          </a:xfrm>
        </p:spPr>
        <p:txBody>
          <a:bodyPr/>
          <a:lstStyle/>
          <a:p>
            <a:r>
              <a:rPr lang="en-GB" sz="3600" dirty="0"/>
              <a:t> Decreased PaO</a:t>
            </a:r>
            <a:r>
              <a:rPr lang="en-GB" sz="3600" baseline="-25000" dirty="0"/>
              <a:t>2</a:t>
            </a:r>
          </a:p>
          <a:p>
            <a:r>
              <a:rPr lang="en-GB" sz="3600" dirty="0"/>
              <a:t> Increased PaCO</a:t>
            </a:r>
            <a:r>
              <a:rPr lang="en-GB" sz="3600" baseline="-25000" dirty="0"/>
              <a:t>2</a:t>
            </a:r>
          </a:p>
          <a:p>
            <a:r>
              <a:rPr lang="en-GB" sz="3600" dirty="0"/>
              <a:t> Alveola hypoventilation</a:t>
            </a:r>
          </a:p>
          <a:p>
            <a:r>
              <a:rPr lang="en-GB" sz="3600" dirty="0"/>
              <a:t> Can be acute or chronic  </a:t>
            </a:r>
          </a:p>
          <a:p>
            <a:pPr marL="0" indent="0">
              <a:buNone/>
            </a:pPr>
            <a:endParaRPr lang="en-GB" dirty="0"/>
          </a:p>
          <a:p>
            <a:endParaRPr lang="en-GB" sz="4400" dirty="0"/>
          </a:p>
        </p:txBody>
      </p:sp>
      <p:pic>
        <p:nvPicPr>
          <p:cNvPr id="7" name="Picture 2">
            <a:extLst>
              <a:ext uri="{FF2B5EF4-FFF2-40B4-BE49-F238E27FC236}">
                <a16:creationId xmlns:a16="http://schemas.microsoft.com/office/drawing/2014/main" id="{15087087-B8D4-412E-8FFF-47E8409AC1E9}"/>
              </a:ext>
            </a:extLst>
          </p:cNvPr>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07245" y="177925"/>
            <a:ext cx="3066757" cy="1725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84512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42F3-D93D-4E56-A9F2-1EAFD18CBBA3}"/>
              </a:ext>
            </a:extLst>
          </p:cNvPr>
          <p:cNvSpPr>
            <a:spLocks noGrp="1"/>
          </p:cNvSpPr>
          <p:nvPr>
            <p:ph type="title"/>
          </p:nvPr>
        </p:nvSpPr>
        <p:spPr/>
        <p:txBody>
          <a:bodyPr/>
          <a:lstStyle/>
          <a:p>
            <a:r>
              <a:rPr lang="en-GB" dirty="0"/>
              <a:t>Acute Type 2 Respiratory Failure</a:t>
            </a:r>
          </a:p>
        </p:txBody>
      </p:sp>
      <p:sp>
        <p:nvSpPr>
          <p:cNvPr id="6" name="Content Placeholder 2">
            <a:extLst>
              <a:ext uri="{FF2B5EF4-FFF2-40B4-BE49-F238E27FC236}">
                <a16:creationId xmlns:a16="http://schemas.microsoft.com/office/drawing/2014/main" id="{23B4EAC9-0A7B-43B0-887E-1F522DB2B029}"/>
              </a:ext>
            </a:extLst>
          </p:cNvPr>
          <p:cNvSpPr>
            <a:spLocks noGrp="1"/>
          </p:cNvSpPr>
          <p:nvPr>
            <p:ph idx="1"/>
          </p:nvPr>
        </p:nvSpPr>
        <p:spPr>
          <a:xfrm>
            <a:off x="677334" y="2160589"/>
            <a:ext cx="8596668" cy="3880773"/>
          </a:xfrm>
        </p:spPr>
        <p:txBody>
          <a:bodyPr>
            <a:normAutofit lnSpcReduction="10000"/>
          </a:bodyPr>
          <a:lstStyle/>
          <a:p>
            <a:r>
              <a:rPr lang="en-GB" sz="3600" dirty="0"/>
              <a:t> Decreased PaO</a:t>
            </a:r>
            <a:r>
              <a:rPr lang="en-GB" sz="3600" baseline="-25000" dirty="0"/>
              <a:t>2</a:t>
            </a:r>
          </a:p>
          <a:p>
            <a:r>
              <a:rPr lang="en-GB" sz="3600" dirty="0"/>
              <a:t> Increased PaCO</a:t>
            </a:r>
            <a:r>
              <a:rPr lang="en-GB" sz="3600" baseline="-25000" dirty="0"/>
              <a:t>2</a:t>
            </a:r>
          </a:p>
          <a:p>
            <a:r>
              <a:rPr lang="en-GB" sz="3600" dirty="0"/>
              <a:t> Normal HCO</a:t>
            </a:r>
            <a:r>
              <a:rPr lang="en-GB" sz="3600" baseline="-25000" dirty="0"/>
              <a:t>3</a:t>
            </a:r>
            <a:r>
              <a:rPr lang="en-GB" sz="3600" baseline="30000" dirty="0"/>
              <a:t>-</a:t>
            </a:r>
          </a:p>
          <a:p>
            <a:pPr>
              <a:buFontTx/>
              <a:buChar char="-"/>
            </a:pPr>
            <a:r>
              <a:rPr lang="en-GB" sz="3600" dirty="0"/>
              <a:t>Kidneys take 2-3 days to compensate for raised PaCO</a:t>
            </a:r>
            <a:r>
              <a:rPr lang="en-GB" sz="3600" baseline="-25000" dirty="0"/>
              <a:t>2</a:t>
            </a:r>
          </a:p>
          <a:p>
            <a:r>
              <a:rPr lang="en-GB" sz="3600" dirty="0"/>
              <a:t>Decreased pH – respiratory acidosis</a:t>
            </a:r>
          </a:p>
          <a:p>
            <a:pPr>
              <a:buFontTx/>
              <a:buChar char="-"/>
            </a:pPr>
            <a:endParaRPr lang="en-GB" sz="3600" baseline="30000" dirty="0"/>
          </a:p>
          <a:p>
            <a:pPr>
              <a:buFontTx/>
              <a:buChar char="-"/>
            </a:pPr>
            <a:endParaRPr lang="en-GB" sz="3600" baseline="30000" dirty="0"/>
          </a:p>
          <a:p>
            <a:pPr marL="0" indent="0">
              <a:buNone/>
            </a:pPr>
            <a:endParaRPr lang="en-GB" dirty="0"/>
          </a:p>
          <a:p>
            <a:endParaRPr lang="en-GB" sz="4400" dirty="0"/>
          </a:p>
        </p:txBody>
      </p:sp>
      <p:pic>
        <p:nvPicPr>
          <p:cNvPr id="8" name="Picture 2">
            <a:extLst>
              <a:ext uri="{FF2B5EF4-FFF2-40B4-BE49-F238E27FC236}">
                <a16:creationId xmlns:a16="http://schemas.microsoft.com/office/drawing/2014/main" id="{33DAEAC7-3808-48DD-B054-A5FEB55501AB}"/>
              </a:ext>
            </a:extLst>
          </p:cNvPr>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82486" y="379411"/>
            <a:ext cx="1902531" cy="10701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400222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42F3-D93D-4E56-A9F2-1EAFD18CBBA3}"/>
              </a:ext>
            </a:extLst>
          </p:cNvPr>
          <p:cNvSpPr>
            <a:spLocks noGrp="1"/>
          </p:cNvSpPr>
          <p:nvPr>
            <p:ph type="title"/>
          </p:nvPr>
        </p:nvSpPr>
        <p:spPr/>
        <p:txBody>
          <a:bodyPr/>
          <a:lstStyle/>
          <a:p>
            <a:r>
              <a:rPr lang="en-GB" dirty="0"/>
              <a:t>Chronic Type 2 Respiratory Failure</a:t>
            </a:r>
          </a:p>
        </p:txBody>
      </p:sp>
      <p:sp>
        <p:nvSpPr>
          <p:cNvPr id="6" name="Content Placeholder 2">
            <a:extLst>
              <a:ext uri="{FF2B5EF4-FFF2-40B4-BE49-F238E27FC236}">
                <a16:creationId xmlns:a16="http://schemas.microsoft.com/office/drawing/2014/main" id="{23B4EAC9-0A7B-43B0-887E-1F522DB2B029}"/>
              </a:ext>
            </a:extLst>
          </p:cNvPr>
          <p:cNvSpPr>
            <a:spLocks noGrp="1"/>
          </p:cNvSpPr>
          <p:nvPr>
            <p:ph idx="1"/>
          </p:nvPr>
        </p:nvSpPr>
        <p:spPr>
          <a:xfrm>
            <a:off x="677334" y="2160589"/>
            <a:ext cx="8596668" cy="3880773"/>
          </a:xfrm>
        </p:spPr>
        <p:txBody>
          <a:bodyPr>
            <a:normAutofit lnSpcReduction="10000"/>
          </a:bodyPr>
          <a:lstStyle/>
          <a:p>
            <a:r>
              <a:rPr lang="en-GB" sz="3600" dirty="0"/>
              <a:t> Decreased PaO</a:t>
            </a:r>
            <a:r>
              <a:rPr lang="en-GB" sz="3600" baseline="-25000" dirty="0"/>
              <a:t>2</a:t>
            </a:r>
          </a:p>
          <a:p>
            <a:r>
              <a:rPr lang="en-GB" sz="3600" dirty="0"/>
              <a:t> Increased PaCO</a:t>
            </a:r>
            <a:r>
              <a:rPr lang="en-GB" sz="3600" baseline="-25000" dirty="0"/>
              <a:t>2</a:t>
            </a:r>
          </a:p>
          <a:p>
            <a:r>
              <a:rPr lang="en-GB" sz="3600" dirty="0"/>
              <a:t> Raised HCO</a:t>
            </a:r>
            <a:r>
              <a:rPr lang="en-GB" sz="3600" baseline="-25000" dirty="0"/>
              <a:t>3</a:t>
            </a:r>
            <a:r>
              <a:rPr lang="en-GB" sz="3600" baseline="30000" dirty="0"/>
              <a:t>-</a:t>
            </a:r>
          </a:p>
          <a:p>
            <a:pPr>
              <a:buFontTx/>
              <a:buChar char="-"/>
            </a:pPr>
            <a:r>
              <a:rPr lang="en-GB" sz="3600" dirty="0"/>
              <a:t>Kidneys have now compensated</a:t>
            </a:r>
            <a:endParaRPr lang="en-GB" sz="3600" baseline="-25000" dirty="0"/>
          </a:p>
          <a:p>
            <a:r>
              <a:rPr lang="en-GB" sz="3600" dirty="0"/>
              <a:t> Normal pH</a:t>
            </a:r>
          </a:p>
          <a:p>
            <a:r>
              <a:rPr lang="en-GB" sz="3600" dirty="0"/>
              <a:t> Example - COPD</a:t>
            </a:r>
          </a:p>
          <a:p>
            <a:pPr>
              <a:buFontTx/>
              <a:buChar char="-"/>
            </a:pPr>
            <a:endParaRPr lang="en-GB" sz="3600" baseline="30000" dirty="0"/>
          </a:p>
          <a:p>
            <a:pPr>
              <a:buFontTx/>
              <a:buChar char="-"/>
            </a:pPr>
            <a:endParaRPr lang="en-GB" sz="3600" baseline="30000" dirty="0"/>
          </a:p>
          <a:p>
            <a:pPr marL="0" indent="0">
              <a:buNone/>
            </a:pPr>
            <a:endParaRPr lang="en-GB" dirty="0"/>
          </a:p>
          <a:p>
            <a:endParaRPr lang="en-GB" sz="4400" dirty="0"/>
          </a:p>
        </p:txBody>
      </p:sp>
      <p:pic>
        <p:nvPicPr>
          <p:cNvPr id="8" name="Picture 2">
            <a:extLst>
              <a:ext uri="{FF2B5EF4-FFF2-40B4-BE49-F238E27FC236}">
                <a16:creationId xmlns:a16="http://schemas.microsoft.com/office/drawing/2014/main" id="{33DAEAC7-3808-48DD-B054-A5FEB55501AB}"/>
              </a:ext>
            </a:extLst>
          </p:cNvPr>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891975" y="574335"/>
            <a:ext cx="1382027" cy="777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6857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42F3-D93D-4E56-A9F2-1EAFD18CBBA3}"/>
              </a:ext>
            </a:extLst>
          </p:cNvPr>
          <p:cNvSpPr>
            <a:spLocks noGrp="1"/>
          </p:cNvSpPr>
          <p:nvPr>
            <p:ph type="title"/>
          </p:nvPr>
        </p:nvSpPr>
        <p:spPr/>
        <p:txBody>
          <a:bodyPr/>
          <a:lstStyle/>
          <a:p>
            <a:r>
              <a:rPr lang="en-GB" dirty="0"/>
              <a:t>Acute on Chronic Type 2 Respiratory Failure</a:t>
            </a:r>
          </a:p>
        </p:txBody>
      </p:sp>
      <p:sp>
        <p:nvSpPr>
          <p:cNvPr id="6" name="Content Placeholder 2">
            <a:extLst>
              <a:ext uri="{FF2B5EF4-FFF2-40B4-BE49-F238E27FC236}">
                <a16:creationId xmlns:a16="http://schemas.microsoft.com/office/drawing/2014/main" id="{23B4EAC9-0A7B-43B0-887E-1F522DB2B029}"/>
              </a:ext>
            </a:extLst>
          </p:cNvPr>
          <p:cNvSpPr>
            <a:spLocks noGrp="1"/>
          </p:cNvSpPr>
          <p:nvPr>
            <p:ph idx="1"/>
          </p:nvPr>
        </p:nvSpPr>
        <p:spPr>
          <a:xfrm>
            <a:off x="677334" y="2160589"/>
            <a:ext cx="8596668" cy="3880773"/>
          </a:xfrm>
        </p:spPr>
        <p:txBody>
          <a:bodyPr>
            <a:normAutofit fontScale="85000" lnSpcReduction="20000"/>
          </a:bodyPr>
          <a:lstStyle/>
          <a:p>
            <a:r>
              <a:rPr lang="en-GB" sz="3600" dirty="0"/>
              <a:t> Decreased PaO</a:t>
            </a:r>
            <a:r>
              <a:rPr lang="en-GB" sz="3600" baseline="-25000" dirty="0"/>
              <a:t>2</a:t>
            </a:r>
          </a:p>
          <a:p>
            <a:r>
              <a:rPr lang="en-GB" sz="3600" dirty="0"/>
              <a:t> Increased PaCO</a:t>
            </a:r>
            <a:r>
              <a:rPr lang="en-GB" sz="3600" baseline="-25000" dirty="0"/>
              <a:t>2</a:t>
            </a:r>
          </a:p>
          <a:p>
            <a:r>
              <a:rPr lang="en-GB" sz="3600" dirty="0"/>
              <a:t> Raised HCO</a:t>
            </a:r>
            <a:r>
              <a:rPr lang="en-GB" sz="3600" baseline="-25000" dirty="0"/>
              <a:t>3</a:t>
            </a:r>
            <a:r>
              <a:rPr lang="en-GB" sz="3600" baseline="30000" dirty="0"/>
              <a:t>-</a:t>
            </a:r>
          </a:p>
          <a:p>
            <a:r>
              <a:rPr lang="en-GB" sz="3600" dirty="0"/>
              <a:t> Decreased pH – acidotic </a:t>
            </a:r>
          </a:p>
          <a:p>
            <a:r>
              <a:rPr lang="en-GB" sz="3600" dirty="0"/>
              <a:t>PaCO</a:t>
            </a:r>
            <a:r>
              <a:rPr lang="en-GB" sz="3600" baseline="-25000" dirty="0"/>
              <a:t>2</a:t>
            </a:r>
            <a:r>
              <a:rPr lang="en-GB" sz="3600" dirty="0"/>
              <a:t> normally high but due to sudden deterioration has risen further so kidneys no longer able to compensate</a:t>
            </a:r>
          </a:p>
          <a:p>
            <a:r>
              <a:rPr lang="en-GB" sz="3600" dirty="0"/>
              <a:t>E.g. acute exacerbation of COPD</a:t>
            </a:r>
          </a:p>
          <a:p>
            <a:pPr>
              <a:buFontTx/>
              <a:buChar char="-"/>
            </a:pPr>
            <a:endParaRPr lang="en-GB" sz="3600" baseline="30000" dirty="0"/>
          </a:p>
          <a:p>
            <a:pPr>
              <a:buFontTx/>
              <a:buChar char="-"/>
            </a:pPr>
            <a:endParaRPr lang="en-GB" sz="3600" baseline="30000" dirty="0"/>
          </a:p>
          <a:p>
            <a:pPr marL="0" indent="0">
              <a:buNone/>
            </a:pPr>
            <a:endParaRPr lang="en-GB" dirty="0"/>
          </a:p>
          <a:p>
            <a:endParaRPr lang="en-GB" sz="4400" dirty="0"/>
          </a:p>
        </p:txBody>
      </p:sp>
      <p:pic>
        <p:nvPicPr>
          <p:cNvPr id="8" name="Picture 2">
            <a:extLst>
              <a:ext uri="{FF2B5EF4-FFF2-40B4-BE49-F238E27FC236}">
                <a16:creationId xmlns:a16="http://schemas.microsoft.com/office/drawing/2014/main" id="{33DAEAC7-3808-48DD-B054-A5FEB55501AB}"/>
              </a:ext>
            </a:extLst>
          </p:cNvPr>
          <p:cNvPicPr>
            <a:picLocks noChangeAspect="1" noChangeArrowheads="1" noCrop="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250882" y="591625"/>
            <a:ext cx="1206000" cy="678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5514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E8EA6F2-DD48-4820-99CA-325EC4C2B535}"/>
              </a:ext>
            </a:extLst>
          </p:cNvPr>
          <p:cNvSpPr txBox="1">
            <a:spLocks/>
          </p:cNvSpPr>
          <p:nvPr/>
        </p:nvSpPr>
        <p:spPr>
          <a:xfrm>
            <a:off x="677334" y="1488613"/>
            <a:ext cx="3947675"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u="sng" dirty="0"/>
              <a:t>Question 6</a:t>
            </a:r>
          </a:p>
          <a:p>
            <a:pPr marL="0" indent="0">
              <a:buFont typeface="Wingdings 3" charset="2"/>
              <a:buNone/>
            </a:pPr>
            <a:endParaRPr lang="en-GB" u="sng" dirty="0"/>
          </a:p>
          <a:p>
            <a:r>
              <a:rPr lang="en-GB" dirty="0"/>
              <a:t>Non Invasive Ventilation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5" name="Title 1">
            <a:extLst>
              <a:ext uri="{FF2B5EF4-FFF2-40B4-BE49-F238E27FC236}">
                <a16:creationId xmlns:a16="http://schemas.microsoft.com/office/drawing/2014/main" id="{6D58AD38-9752-4B68-B4EA-45FE0CCD395E}"/>
              </a:ext>
            </a:extLst>
          </p:cNvPr>
          <p:cNvSpPr>
            <a:spLocks noGrp="1"/>
          </p:cNvSpPr>
          <p:nvPr>
            <p:ph type="title"/>
          </p:nvPr>
        </p:nvSpPr>
        <p:spPr>
          <a:xfrm>
            <a:off x="677334" y="450574"/>
            <a:ext cx="5217540" cy="861391"/>
          </a:xfrm>
        </p:spPr>
        <p:txBody>
          <a:bodyPr>
            <a:normAutofit/>
          </a:bodyPr>
          <a:lstStyle/>
          <a:p>
            <a:r>
              <a:rPr lang="en-GB" dirty="0"/>
              <a:t>Answers </a:t>
            </a:r>
          </a:p>
        </p:txBody>
      </p:sp>
      <p:pic>
        <p:nvPicPr>
          <p:cNvPr id="6" name="Picture 2" descr="Philips Respironics Recalls CPAP Machines - Next Steps to Take">
            <a:extLst>
              <a:ext uri="{FF2B5EF4-FFF2-40B4-BE49-F238E27FC236}">
                <a16:creationId xmlns:a16="http://schemas.microsoft.com/office/drawing/2014/main" id="{2991C360-C9E8-4AEA-BE56-3FF28D2B96B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812364" y="2860172"/>
            <a:ext cx="3235914" cy="1810302"/>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1F0343A4-6F22-4ADD-A275-BACBFC7F3E15}"/>
              </a:ext>
            </a:extLst>
          </p:cNvPr>
          <p:cNvSpPr txBox="1">
            <a:spLocks/>
          </p:cNvSpPr>
          <p:nvPr/>
        </p:nvSpPr>
        <p:spPr>
          <a:xfrm>
            <a:off x="4441568" y="1340143"/>
            <a:ext cx="3947675"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r>
              <a:rPr lang="en-GB" u="sng" dirty="0"/>
              <a:t>Question 7</a:t>
            </a:r>
          </a:p>
          <a:p>
            <a:r>
              <a:rPr lang="en-GB" dirty="0"/>
              <a:t>Intensive Care Unit (ICU)</a:t>
            </a:r>
          </a:p>
          <a:p>
            <a:endParaRPr lang="en-GB" dirty="0"/>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graphicFrame>
        <p:nvGraphicFramePr>
          <p:cNvPr id="7" name="Table 8">
            <a:extLst>
              <a:ext uri="{FF2B5EF4-FFF2-40B4-BE49-F238E27FC236}">
                <a16:creationId xmlns:a16="http://schemas.microsoft.com/office/drawing/2014/main" id="{91197947-CAA0-4D1E-AE79-786E50C4E1D2}"/>
              </a:ext>
            </a:extLst>
          </p:cNvPr>
          <p:cNvGraphicFramePr>
            <a:graphicFrameLocks noGrp="1"/>
          </p:cNvGraphicFramePr>
          <p:nvPr>
            <p:extLst>
              <p:ext uri="{D42A27DB-BD31-4B8C-83A1-F6EECF244321}">
                <p14:modId xmlns:p14="http://schemas.microsoft.com/office/powerpoint/2010/main" val="1567523822"/>
              </p:ext>
            </p:extLst>
          </p:nvPr>
        </p:nvGraphicFramePr>
        <p:xfrm>
          <a:off x="4441568" y="2378259"/>
          <a:ext cx="5394411" cy="2494280"/>
        </p:xfrm>
        <a:graphic>
          <a:graphicData uri="http://schemas.openxmlformats.org/drawingml/2006/table">
            <a:tbl>
              <a:tblPr firstRow="1" bandRow="1">
                <a:tableStyleId>{5C22544A-7EE6-4342-B048-85BDC9FD1C3A}</a:tableStyleId>
              </a:tblPr>
              <a:tblGrid>
                <a:gridCol w="5394411">
                  <a:extLst>
                    <a:ext uri="{9D8B030D-6E8A-4147-A177-3AD203B41FA5}">
                      <a16:colId xmlns:a16="http://schemas.microsoft.com/office/drawing/2014/main" val="431822175"/>
                    </a:ext>
                  </a:extLst>
                </a:gridCol>
              </a:tblGrid>
              <a:tr h="370840">
                <a:tc>
                  <a:txBody>
                    <a:bodyPr/>
                    <a:lstStyle/>
                    <a:p>
                      <a:r>
                        <a:rPr lang="en-GB" sz="1200" dirty="0"/>
                        <a:t>Indications for Respiratory or Medical Intensive Care Unit Admission</a:t>
                      </a:r>
                    </a:p>
                  </a:txBody>
                  <a:tcPr/>
                </a:tc>
                <a:extLst>
                  <a:ext uri="{0D108BD9-81ED-4DB2-BD59-A6C34878D82A}">
                    <a16:rowId xmlns:a16="http://schemas.microsoft.com/office/drawing/2014/main" val="3228716746"/>
                  </a:ext>
                </a:extLst>
              </a:tr>
              <a:tr h="370840">
                <a:tc>
                  <a:txBody>
                    <a:bodyPr/>
                    <a:lstStyle/>
                    <a:p>
                      <a:r>
                        <a:rPr lang="en-GB" sz="1200" dirty="0"/>
                        <a:t>Severe dyspnoea that responds inadequately to initial emergency therapy</a:t>
                      </a:r>
                    </a:p>
                  </a:txBody>
                  <a:tcPr/>
                </a:tc>
                <a:extLst>
                  <a:ext uri="{0D108BD9-81ED-4DB2-BD59-A6C34878D82A}">
                    <a16:rowId xmlns:a16="http://schemas.microsoft.com/office/drawing/2014/main" val="973236341"/>
                  </a:ext>
                </a:extLst>
              </a:tr>
              <a:tr h="370840">
                <a:tc>
                  <a:txBody>
                    <a:bodyPr/>
                    <a:lstStyle/>
                    <a:p>
                      <a:r>
                        <a:rPr lang="en-GB" sz="1200" dirty="0"/>
                        <a:t>Changes in mental status (confusion, lethargy, coma)</a:t>
                      </a:r>
                    </a:p>
                  </a:txBody>
                  <a:tcPr/>
                </a:tc>
                <a:extLst>
                  <a:ext uri="{0D108BD9-81ED-4DB2-BD59-A6C34878D82A}">
                    <a16:rowId xmlns:a16="http://schemas.microsoft.com/office/drawing/2014/main" val="211428296"/>
                  </a:ext>
                </a:extLst>
              </a:tr>
              <a:tr h="370840">
                <a:tc>
                  <a:txBody>
                    <a:bodyPr/>
                    <a:lstStyle/>
                    <a:p>
                      <a:r>
                        <a:rPr lang="en-GB" sz="1200" dirty="0"/>
                        <a:t>Persistent or worsening hypoxaemia (PaO</a:t>
                      </a:r>
                      <a:r>
                        <a:rPr lang="en-GB" sz="1200" baseline="-25000" dirty="0"/>
                        <a:t>2</a:t>
                      </a:r>
                      <a:r>
                        <a:rPr lang="en-GB" sz="1200" dirty="0"/>
                        <a:t> &lt; 5.3 kPa) and/or severe/worsening respiratory acidosis (pH &lt; 7.25) despite supplemental oxygen and non invasive ventilation</a:t>
                      </a:r>
                    </a:p>
                  </a:txBody>
                  <a:tcPr/>
                </a:tc>
                <a:extLst>
                  <a:ext uri="{0D108BD9-81ED-4DB2-BD59-A6C34878D82A}">
                    <a16:rowId xmlns:a16="http://schemas.microsoft.com/office/drawing/2014/main" val="3478214457"/>
                  </a:ext>
                </a:extLst>
              </a:tr>
              <a:tr h="370840">
                <a:tc>
                  <a:txBody>
                    <a:bodyPr/>
                    <a:lstStyle/>
                    <a:p>
                      <a:r>
                        <a:rPr lang="en-GB" sz="1200" dirty="0"/>
                        <a:t>Need for invasive mechanical ventilation</a:t>
                      </a:r>
                    </a:p>
                  </a:txBody>
                  <a:tcPr/>
                </a:tc>
                <a:extLst>
                  <a:ext uri="{0D108BD9-81ED-4DB2-BD59-A6C34878D82A}">
                    <a16:rowId xmlns:a16="http://schemas.microsoft.com/office/drawing/2014/main" val="1563373482"/>
                  </a:ext>
                </a:extLst>
              </a:tr>
              <a:tr h="370840">
                <a:tc>
                  <a:txBody>
                    <a:bodyPr/>
                    <a:lstStyle/>
                    <a:p>
                      <a:r>
                        <a:rPr lang="en-GB" sz="1200" dirty="0"/>
                        <a:t>Hemodynamic instability – need for a vasopressor </a:t>
                      </a:r>
                    </a:p>
                  </a:txBody>
                  <a:tcPr/>
                </a:tc>
                <a:extLst>
                  <a:ext uri="{0D108BD9-81ED-4DB2-BD59-A6C34878D82A}">
                    <a16:rowId xmlns:a16="http://schemas.microsoft.com/office/drawing/2014/main" val="3493486779"/>
                  </a:ext>
                </a:extLst>
              </a:tr>
            </a:tbl>
          </a:graphicData>
        </a:graphic>
      </p:graphicFrame>
      <p:sp>
        <p:nvSpPr>
          <p:cNvPr id="10" name="Oval 9">
            <a:extLst>
              <a:ext uri="{FF2B5EF4-FFF2-40B4-BE49-F238E27FC236}">
                <a16:creationId xmlns:a16="http://schemas.microsoft.com/office/drawing/2014/main" id="{74BCC6D6-C77E-4A8A-AE15-D1D3C1A8AE72}"/>
              </a:ext>
            </a:extLst>
          </p:cNvPr>
          <p:cNvSpPr/>
          <p:nvPr/>
        </p:nvSpPr>
        <p:spPr>
          <a:xfrm>
            <a:off x="4183308" y="3064476"/>
            <a:ext cx="4491135" cy="432109"/>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1476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500"/>
                                        <p:tgtEl>
                                          <p:spTgt spid="10"/>
                                        </p:tgtEl>
                                      </p:cBhvr>
                                    </p:animEffect>
                                  </p:childTnLst>
                                </p:cTn>
                              </p:par>
                              <p:par>
                                <p:cTn id="16" presetID="26" presetClass="emph" presetSubtype="0" repeatCount="indefinite" fill="hold" grpId="1" nodeType="withEffect">
                                  <p:stCondLst>
                                    <p:cond delay="0"/>
                                  </p:stCondLst>
                                  <p:childTnLst>
                                    <p:animEffect transition="out" filter="fade">
                                      <p:cBhvr>
                                        <p:cTn id="17" dur="500" tmFilter="0, 0; .2, .5; .8, .5; 1, 0"/>
                                        <p:tgtEl>
                                          <p:spTgt spid="10"/>
                                        </p:tgtEl>
                                      </p:cBhvr>
                                    </p:animEffect>
                                    <p:animScale>
                                      <p:cBhvr>
                                        <p:cTn id="18" dur="250" autoRev="1" fill="hold"/>
                                        <p:tgtEl>
                                          <p:spTgt spid="1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0" grpId="1" animBg="1"/>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nchor="t">
            <a:normAutofit/>
          </a:bodyPr>
          <a:lstStyle/>
          <a:p>
            <a:r>
              <a:rPr lang="en-GB" dirty="0"/>
              <a:t>Scenario 3</a:t>
            </a:r>
          </a:p>
        </p:txBody>
      </p:sp>
      <p:pic>
        <p:nvPicPr>
          <p:cNvPr id="12290" name="Picture 2" descr="Nurs GIF | Gfycat">
            <a:extLst>
              <a:ext uri="{FF2B5EF4-FFF2-40B4-BE49-F238E27FC236}">
                <a16:creationId xmlns:a16="http://schemas.microsoft.com/office/drawing/2014/main" id="{0BC154F9-4CAF-4B5B-919F-C6542B47E4FF}"/>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tretch>
            <a:fillRect/>
          </a:stretch>
        </p:blipFill>
        <p:spPr bwMode="auto">
          <a:xfrm>
            <a:off x="817474" y="2159331"/>
            <a:ext cx="2915973" cy="3179409"/>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3491948" y="3949155"/>
            <a:ext cx="6228522" cy="2004967"/>
          </a:xfrm>
        </p:spPr>
        <p:txBody>
          <a:bodyPr>
            <a:normAutofit/>
          </a:bodyPr>
          <a:lstStyle/>
          <a:p>
            <a:pPr marL="0" indent="0">
              <a:buNone/>
            </a:pPr>
            <a:endParaRPr lang="en-GB" sz="2400" dirty="0"/>
          </a:p>
          <a:p>
            <a:pPr marL="0" indent="0">
              <a:buNone/>
            </a:pPr>
            <a:r>
              <a:rPr lang="en-GB" sz="2400" dirty="0"/>
              <a:t>1) Is there anything in particular that you would like to do with Kathleen before she is discharged? </a:t>
            </a:r>
          </a:p>
          <a:p>
            <a:endParaRPr lang="en-GB" dirty="0"/>
          </a:p>
          <a:p>
            <a:endParaRPr lang="en-GB" dirty="0"/>
          </a:p>
        </p:txBody>
      </p:sp>
      <p:sp>
        <p:nvSpPr>
          <p:cNvPr id="5" name="Content Placeholder 2">
            <a:extLst>
              <a:ext uri="{FF2B5EF4-FFF2-40B4-BE49-F238E27FC236}">
                <a16:creationId xmlns:a16="http://schemas.microsoft.com/office/drawing/2014/main" id="{322A8E33-7540-4A5D-9DF4-AB06EC4DE20B}"/>
              </a:ext>
            </a:extLst>
          </p:cNvPr>
          <p:cNvSpPr txBox="1">
            <a:spLocks/>
          </p:cNvSpPr>
          <p:nvPr/>
        </p:nvSpPr>
        <p:spPr>
          <a:xfrm>
            <a:off x="3491948" y="2156750"/>
            <a:ext cx="6228522" cy="1794987"/>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sz="2400" dirty="0"/>
              <a:t>Kathleen has been an inpatient for 3 days and has been treated for an infective exacerbation of COPD. She has now been deemed medically fit for discharge.</a:t>
            </a:r>
          </a:p>
          <a:p>
            <a:pPr marL="0" indent="0">
              <a:buFont typeface="Wingdings 3" charset="2"/>
              <a:buNone/>
            </a:pPr>
            <a:endParaRPr lang="en-GB" dirty="0"/>
          </a:p>
          <a:p>
            <a:endParaRPr lang="en-GB" dirty="0"/>
          </a:p>
        </p:txBody>
      </p:sp>
    </p:spTree>
    <p:extLst>
      <p:ext uri="{BB962C8B-B14F-4D97-AF65-F5344CB8AC3E}">
        <p14:creationId xmlns:p14="http://schemas.microsoft.com/office/powerpoint/2010/main" val="22518437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0F0D-3ABC-42B0-A054-9DE69EA0E78A}"/>
              </a:ext>
            </a:extLst>
          </p:cNvPr>
          <p:cNvSpPr>
            <a:spLocks noGrp="1"/>
          </p:cNvSpPr>
          <p:nvPr>
            <p:ph type="title"/>
          </p:nvPr>
        </p:nvSpPr>
        <p:spPr/>
        <p:txBody>
          <a:bodyPr/>
          <a:lstStyle/>
          <a:p>
            <a:r>
              <a:rPr lang="en-GB" dirty="0"/>
              <a:t>Answers</a:t>
            </a:r>
          </a:p>
        </p:txBody>
      </p:sp>
      <p:pic>
        <p:nvPicPr>
          <p:cNvPr id="4" name="Picture 4" descr="http://www.mattcandraw.com/images/asthma_inhaler_inhale_ani.gif">
            <a:hlinkClick r:id="rId2"/>
            <a:extLst>
              <a:ext uri="{FF2B5EF4-FFF2-40B4-BE49-F238E27FC236}">
                <a16:creationId xmlns:a16="http://schemas.microsoft.com/office/drawing/2014/main" id="{05D9DE51-ABA2-4A6C-B836-B8389E470C1C}"/>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a:xfrm>
            <a:off x="3967605" y="858656"/>
            <a:ext cx="2016125" cy="2009775"/>
          </a:xfrm>
          <a:prstGeom prst="rect">
            <a:avLst/>
          </a:prstGeom>
        </p:spPr>
      </p:pic>
      <p:pic>
        <p:nvPicPr>
          <p:cNvPr id="5" name="Picture 4" descr="Cigarette Animation">
            <a:extLst>
              <a:ext uri="{FF2B5EF4-FFF2-40B4-BE49-F238E27FC236}">
                <a16:creationId xmlns:a16="http://schemas.microsoft.com/office/drawing/2014/main" id="{808EBCE4-D51B-4FDF-9382-6FCAF999F00D}"/>
              </a:ext>
            </a:extLst>
          </p:cNvPr>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a:xfrm>
            <a:off x="677334" y="1384300"/>
            <a:ext cx="2160587" cy="1296987"/>
          </a:xfrm>
          <a:prstGeom prst="rect">
            <a:avLst/>
          </a:prstGeom>
          <a:noFill/>
        </p:spPr>
      </p:pic>
      <p:pic>
        <p:nvPicPr>
          <p:cNvPr id="6" name="Picture 13" descr="Image result for Doxycycline">
            <a:hlinkClick r:id="rId5"/>
            <a:extLst>
              <a:ext uri="{FF2B5EF4-FFF2-40B4-BE49-F238E27FC236}">
                <a16:creationId xmlns:a16="http://schemas.microsoft.com/office/drawing/2014/main" id="{6BB7DFCF-B1BA-454C-A8C7-862ABB023BF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a:xfrm rot="20748185">
            <a:off x="7186547" y="1518009"/>
            <a:ext cx="2178050" cy="1249363"/>
          </a:xfrm>
          <a:prstGeom prst="rect">
            <a:avLst/>
          </a:prstGeom>
        </p:spPr>
      </p:pic>
      <p:pic>
        <p:nvPicPr>
          <p:cNvPr id="7" name="Picture 21" descr="Image result for prednisolone">
            <a:hlinkClick r:id="rId7"/>
            <a:extLst>
              <a:ext uri="{FF2B5EF4-FFF2-40B4-BE49-F238E27FC236}">
                <a16:creationId xmlns:a16="http://schemas.microsoft.com/office/drawing/2014/main" id="{A9A32D4A-8A35-4AC8-A4C1-608F28C0FA4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t="25980" b="26361"/>
          <a:stretch>
            <a:fillRect/>
          </a:stretch>
        </p:blipFill>
        <p:spPr>
          <a:xfrm rot="20768249">
            <a:off x="6966805" y="677980"/>
            <a:ext cx="1817688" cy="792163"/>
          </a:xfrm>
          <a:prstGeom prst="rect">
            <a:avLst/>
          </a:prstGeom>
        </p:spPr>
      </p:pic>
      <p:pic>
        <p:nvPicPr>
          <p:cNvPr id="8" name="Picture 6" descr="http://appleanimation.com/doctor.gif">
            <a:extLst>
              <a:ext uri="{FF2B5EF4-FFF2-40B4-BE49-F238E27FC236}">
                <a16:creationId xmlns:a16="http://schemas.microsoft.com/office/drawing/2014/main" id="{C9BDE826-B5D4-40A9-B50A-6251E4CBA648}"/>
              </a:ext>
            </a:extLst>
          </p:cNvPr>
          <p:cNvPicPr>
            <a:picLocks noChangeAspect="1" noChangeArrowheads="1" noCrop="1"/>
          </p:cNvPicPr>
          <p:nvPr/>
        </p:nvPicPr>
        <p:blipFill>
          <a:blip r:embed="rId9">
            <a:extLst>
              <a:ext uri="{28A0092B-C50C-407E-A947-70E740481C1C}">
                <a14:useLocalDpi xmlns:a14="http://schemas.microsoft.com/office/drawing/2010/main" val="0"/>
              </a:ext>
            </a:extLst>
          </a:blip>
          <a:srcRect/>
          <a:stretch>
            <a:fillRect/>
          </a:stretch>
        </p:blipFill>
        <p:spPr bwMode="auto">
          <a:xfrm>
            <a:off x="7215882" y="3365484"/>
            <a:ext cx="1636713" cy="314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a:extLst>
              <a:ext uri="{FF2B5EF4-FFF2-40B4-BE49-F238E27FC236}">
                <a16:creationId xmlns:a16="http://schemas.microsoft.com/office/drawing/2014/main" id="{A26A4DB5-B737-4AFB-8FCC-CD3878BAC56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37969" y="3680535"/>
            <a:ext cx="1048578" cy="2669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Content Placeholder 2">
            <a:extLst>
              <a:ext uri="{FF2B5EF4-FFF2-40B4-BE49-F238E27FC236}">
                <a16:creationId xmlns:a16="http://schemas.microsoft.com/office/drawing/2014/main" id="{F59D6907-CD5F-426E-95B9-C0074FC967E4}"/>
              </a:ext>
            </a:extLst>
          </p:cNvPr>
          <p:cNvSpPr txBox="1">
            <a:spLocks/>
          </p:cNvSpPr>
          <p:nvPr/>
        </p:nvSpPr>
        <p:spPr>
          <a:xfrm>
            <a:off x="650347" y="2032793"/>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Smoking Cessation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14" name="Content Placeholder 2">
            <a:extLst>
              <a:ext uri="{FF2B5EF4-FFF2-40B4-BE49-F238E27FC236}">
                <a16:creationId xmlns:a16="http://schemas.microsoft.com/office/drawing/2014/main" id="{A6FE8774-F6EF-4201-850A-978863F9ACCF}"/>
              </a:ext>
            </a:extLst>
          </p:cNvPr>
          <p:cNvSpPr txBox="1">
            <a:spLocks/>
          </p:cNvSpPr>
          <p:nvPr/>
        </p:nvSpPr>
        <p:spPr>
          <a:xfrm>
            <a:off x="7510705" y="5701785"/>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Follow-up</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16" name="Content Placeholder 2">
            <a:extLst>
              <a:ext uri="{FF2B5EF4-FFF2-40B4-BE49-F238E27FC236}">
                <a16:creationId xmlns:a16="http://schemas.microsoft.com/office/drawing/2014/main" id="{571B1A22-EFFA-482C-A223-BC4BC355999E}"/>
              </a:ext>
            </a:extLst>
          </p:cNvPr>
          <p:cNvSpPr txBox="1">
            <a:spLocks/>
          </p:cNvSpPr>
          <p:nvPr/>
        </p:nvSpPr>
        <p:spPr>
          <a:xfrm>
            <a:off x="7875649" y="2071381"/>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Rescue Pack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17" name="Content Placeholder 2">
            <a:extLst>
              <a:ext uri="{FF2B5EF4-FFF2-40B4-BE49-F238E27FC236}">
                <a16:creationId xmlns:a16="http://schemas.microsoft.com/office/drawing/2014/main" id="{84186419-0648-4C65-8C25-A51C78433862}"/>
              </a:ext>
            </a:extLst>
          </p:cNvPr>
          <p:cNvSpPr txBox="1">
            <a:spLocks/>
          </p:cNvSpPr>
          <p:nvPr/>
        </p:nvSpPr>
        <p:spPr>
          <a:xfrm>
            <a:off x="424860" y="5701785"/>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Self-management Plan</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18" name="Content Placeholder 2">
            <a:extLst>
              <a:ext uri="{FF2B5EF4-FFF2-40B4-BE49-F238E27FC236}">
                <a16:creationId xmlns:a16="http://schemas.microsoft.com/office/drawing/2014/main" id="{B91907C2-D6CA-4A0D-9C15-2CA5D05F8016}"/>
              </a:ext>
            </a:extLst>
          </p:cNvPr>
          <p:cNvSpPr txBox="1">
            <a:spLocks/>
          </p:cNvSpPr>
          <p:nvPr/>
        </p:nvSpPr>
        <p:spPr>
          <a:xfrm>
            <a:off x="3811330" y="5623343"/>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Pulmonary Rehabilitation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sp>
        <p:nvSpPr>
          <p:cNvPr id="20" name="Content Placeholder 2">
            <a:extLst>
              <a:ext uri="{FF2B5EF4-FFF2-40B4-BE49-F238E27FC236}">
                <a16:creationId xmlns:a16="http://schemas.microsoft.com/office/drawing/2014/main" id="{5BD294F5-08A0-4251-8044-48E1525F6797}"/>
              </a:ext>
            </a:extLst>
          </p:cNvPr>
          <p:cNvSpPr txBox="1">
            <a:spLocks/>
          </p:cNvSpPr>
          <p:nvPr/>
        </p:nvSpPr>
        <p:spPr>
          <a:xfrm>
            <a:off x="3920792" y="1994271"/>
            <a:ext cx="3947675" cy="12969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Font typeface="Wingdings 3" charset="2"/>
              <a:buNone/>
            </a:pPr>
            <a:endParaRPr lang="en-GB" u="sng" dirty="0"/>
          </a:p>
          <a:p>
            <a:pPr marL="0" indent="0">
              <a:buFont typeface="Wingdings 3" charset="2"/>
              <a:buNone/>
            </a:pPr>
            <a:endParaRPr lang="en-GB" u="sng" dirty="0"/>
          </a:p>
          <a:p>
            <a:pPr marL="0" indent="0">
              <a:buNone/>
            </a:pPr>
            <a:r>
              <a:rPr lang="en-GB" dirty="0"/>
              <a:t>Inhaler Technique </a:t>
            </a:r>
          </a:p>
          <a:p>
            <a:endParaRPr lang="en-GB" baseline="-25000" dirty="0"/>
          </a:p>
          <a:p>
            <a:endParaRPr lang="en-GB" sz="1600" baseline="-25000" dirty="0"/>
          </a:p>
          <a:p>
            <a:endParaRPr lang="en-GB" sz="1600" baseline="-25000" dirty="0"/>
          </a:p>
          <a:p>
            <a:pPr marL="0" indent="0">
              <a:buFont typeface="Wingdings 3" charset="2"/>
              <a:buNone/>
            </a:pPr>
            <a:endParaRPr lang="en-GB" u="sng" dirty="0"/>
          </a:p>
        </p:txBody>
      </p:sp>
      <p:pic>
        <p:nvPicPr>
          <p:cNvPr id="21" name="Picture 4" descr="http://www.topendsports.com/fitness/images/animated-step-exercise.gif">
            <a:hlinkClick r:id="rId11"/>
            <a:extLst>
              <a:ext uri="{FF2B5EF4-FFF2-40B4-BE49-F238E27FC236}">
                <a16:creationId xmlns:a16="http://schemas.microsoft.com/office/drawing/2014/main" id="{CEA70C2A-DE11-4277-95AE-F2D1A4F38642}"/>
              </a:ext>
            </a:extLst>
          </p:cNvPr>
          <p:cNvPicPr>
            <a:picLocks noChangeAspect="1" noChangeArrowheads="1" noCrop="1"/>
          </p:cNvPicPr>
          <p:nvPr/>
        </p:nvPicPr>
        <p:blipFill>
          <a:blip r:embed="rId12">
            <a:extLst>
              <a:ext uri="{28A0092B-C50C-407E-A947-70E740481C1C}">
                <a14:useLocalDpi xmlns:a14="http://schemas.microsoft.com/office/drawing/2010/main" val="0"/>
              </a:ext>
            </a:extLst>
          </a:blip>
          <a:srcRect/>
          <a:stretch>
            <a:fillRect/>
          </a:stretch>
        </p:blipFill>
        <p:spPr bwMode="auto">
          <a:xfrm>
            <a:off x="3856339" y="3445431"/>
            <a:ext cx="2185988" cy="2779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880007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DF67AA-FBE4-4032-BC91-2486E71F5EA3}"/>
              </a:ext>
            </a:extLst>
          </p:cNvPr>
          <p:cNvSpPr>
            <a:spLocks noGrp="1"/>
          </p:cNvSpPr>
          <p:nvPr>
            <p:ph type="title"/>
          </p:nvPr>
        </p:nvSpPr>
        <p:spPr/>
        <p:txBody>
          <a:bodyPr/>
          <a:lstStyle/>
          <a:p>
            <a:r>
              <a:rPr lang="en-GB" dirty="0"/>
              <a:t>References and further reading  </a:t>
            </a:r>
          </a:p>
        </p:txBody>
      </p:sp>
      <p:sp>
        <p:nvSpPr>
          <p:cNvPr id="5" name="TextBox 4">
            <a:extLst>
              <a:ext uri="{FF2B5EF4-FFF2-40B4-BE49-F238E27FC236}">
                <a16:creationId xmlns:a16="http://schemas.microsoft.com/office/drawing/2014/main" id="{B1AEBC7C-530C-4072-8BA9-83BCAB3B412B}"/>
              </a:ext>
            </a:extLst>
          </p:cNvPr>
          <p:cNvSpPr txBox="1"/>
          <p:nvPr/>
        </p:nvSpPr>
        <p:spPr>
          <a:xfrm>
            <a:off x="677333" y="2686655"/>
            <a:ext cx="8959035" cy="3139321"/>
          </a:xfrm>
          <a:prstGeom prst="rect">
            <a:avLst/>
          </a:prstGeom>
          <a:noFill/>
        </p:spPr>
        <p:txBody>
          <a:bodyPr wrap="square">
            <a:spAutoFit/>
          </a:bodyPr>
          <a:lstStyle/>
          <a:p>
            <a:r>
              <a:rPr lang="en-GB" i="1" dirty="0">
                <a:effectLst/>
              </a:rPr>
              <a:t>2023 Gold Report - Global Initiative for Chronic Obstructive Lung Disease</a:t>
            </a:r>
            <a:r>
              <a:rPr lang="en-GB" dirty="0">
                <a:effectLst/>
              </a:rPr>
              <a:t> (2022) </a:t>
            </a:r>
            <a:r>
              <a:rPr lang="en-GB" i="1" dirty="0">
                <a:effectLst/>
              </a:rPr>
              <a:t>GOLD</a:t>
            </a:r>
            <a:r>
              <a:rPr lang="en-GB" dirty="0">
                <a:effectLst/>
              </a:rPr>
              <a:t>. Available at: https://goldcopd.org/2023-gold-report-2/# (Accessed: November 29, 2022)</a:t>
            </a:r>
          </a:p>
          <a:p>
            <a:endParaRPr lang="en-GB" dirty="0"/>
          </a:p>
          <a:p>
            <a:r>
              <a:rPr lang="en-GB" dirty="0">
                <a:effectLst/>
              </a:rPr>
              <a:t>Davidson A.C</a:t>
            </a:r>
            <a:r>
              <a:rPr lang="en-GB" dirty="0"/>
              <a:t>, </a:t>
            </a:r>
            <a:r>
              <a:rPr lang="en-GB" dirty="0">
                <a:effectLst/>
              </a:rPr>
              <a:t>Banham, S, Elliott, M, Kennedy, D, Gelder, C, Glossop, A</a:t>
            </a:r>
            <a:r>
              <a:rPr lang="en-GB" dirty="0"/>
              <a:t>, </a:t>
            </a:r>
            <a:r>
              <a:rPr lang="en-GB" dirty="0">
                <a:effectLst/>
              </a:rPr>
              <a:t>Church, A.C</a:t>
            </a:r>
            <a:r>
              <a:rPr lang="en-GB" dirty="0"/>
              <a:t>, </a:t>
            </a:r>
            <a:r>
              <a:rPr lang="en-GB" dirty="0">
                <a:effectLst/>
              </a:rPr>
              <a:t>Creagh-Brown, B, Dodd, J.W</a:t>
            </a:r>
            <a:r>
              <a:rPr lang="en-GB" dirty="0"/>
              <a:t>, </a:t>
            </a:r>
            <a:r>
              <a:rPr lang="en-GB" dirty="0">
                <a:effectLst/>
              </a:rPr>
              <a:t>Felton, T, </a:t>
            </a:r>
            <a:r>
              <a:rPr lang="en-GB" dirty="0" err="1">
                <a:effectLst/>
              </a:rPr>
              <a:t>Foëx</a:t>
            </a:r>
            <a:r>
              <a:rPr lang="en-GB" dirty="0">
                <a:effectLst/>
              </a:rPr>
              <a:t>, B, Mansfield, L, McDonnell, L</a:t>
            </a:r>
            <a:r>
              <a:rPr lang="en-GB" dirty="0"/>
              <a:t>, </a:t>
            </a:r>
            <a:r>
              <a:rPr lang="en-GB" dirty="0">
                <a:effectLst/>
              </a:rPr>
              <a:t>Parker, R, Patterson, C.M, </a:t>
            </a:r>
            <a:r>
              <a:rPr lang="en-GB" dirty="0" err="1">
                <a:effectLst/>
              </a:rPr>
              <a:t>Sovani</a:t>
            </a:r>
            <a:r>
              <a:rPr lang="en-GB" dirty="0">
                <a:effectLst/>
              </a:rPr>
              <a:t>, M, Thomas, (2016) </a:t>
            </a:r>
            <a:r>
              <a:rPr lang="en-GB" i="1" dirty="0">
                <a:effectLst/>
              </a:rPr>
              <a:t>BTS/ICS guideline for the ventilatory management of acute hypercapnic respiratory failure in adults</a:t>
            </a:r>
            <a:r>
              <a:rPr lang="en-GB" dirty="0">
                <a:effectLst/>
              </a:rPr>
              <a:t>, </a:t>
            </a:r>
            <a:r>
              <a:rPr lang="en-GB" i="1" dirty="0">
                <a:effectLst/>
              </a:rPr>
              <a:t>Thorax</a:t>
            </a:r>
            <a:r>
              <a:rPr lang="en-GB" dirty="0">
                <a:effectLst/>
              </a:rPr>
              <a:t>. U.S. National Library of Medicine. Available at: https://pubmed.ncbi.nlm.nih.gov/26976648/ (Accessed: December 11, 2022).</a:t>
            </a:r>
          </a:p>
          <a:p>
            <a:endParaRPr lang="en-GB" dirty="0">
              <a:effectLst/>
            </a:endParaRPr>
          </a:p>
        </p:txBody>
      </p:sp>
      <p:sp>
        <p:nvSpPr>
          <p:cNvPr id="7" name="TextBox 6">
            <a:extLst>
              <a:ext uri="{FF2B5EF4-FFF2-40B4-BE49-F238E27FC236}">
                <a16:creationId xmlns:a16="http://schemas.microsoft.com/office/drawing/2014/main" id="{ACC9A192-C5E8-4914-88FA-F3CC71DE9CBF}"/>
              </a:ext>
            </a:extLst>
          </p:cNvPr>
          <p:cNvSpPr txBox="1"/>
          <p:nvPr/>
        </p:nvSpPr>
        <p:spPr>
          <a:xfrm>
            <a:off x="677333" y="1468735"/>
            <a:ext cx="8325990" cy="923330"/>
          </a:xfrm>
          <a:prstGeom prst="rect">
            <a:avLst/>
          </a:prstGeom>
          <a:noFill/>
        </p:spPr>
        <p:txBody>
          <a:bodyPr wrap="square">
            <a:spAutoFit/>
          </a:bodyPr>
          <a:lstStyle/>
          <a:p>
            <a:r>
              <a:rPr lang="en-GB" i="1" dirty="0">
                <a:effectLst/>
              </a:rPr>
              <a:t>Overview: Chronic obstructive pulmonary disease in over 16s: Diagnosis and management: Guidance</a:t>
            </a:r>
            <a:r>
              <a:rPr lang="en-GB" dirty="0">
                <a:effectLst/>
              </a:rPr>
              <a:t> (2018) </a:t>
            </a:r>
            <a:r>
              <a:rPr lang="en-GB" i="1" dirty="0">
                <a:effectLst/>
              </a:rPr>
              <a:t>NICE</a:t>
            </a:r>
            <a:r>
              <a:rPr lang="en-GB" dirty="0">
                <a:effectLst/>
              </a:rPr>
              <a:t>. Available at: https://www.nice.org.uk/guidance/ng115 (Accessed: November 29, 2022). </a:t>
            </a:r>
          </a:p>
        </p:txBody>
      </p:sp>
    </p:spTree>
    <p:extLst>
      <p:ext uri="{BB962C8B-B14F-4D97-AF65-F5344CB8AC3E}">
        <p14:creationId xmlns:p14="http://schemas.microsoft.com/office/powerpoint/2010/main" val="2144249193"/>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7dbc431e-fabf-44b4-8dc6-c66825775825" xsi:nil="true"/>
    <lcf76f155ced4ddcb4097134ff3c332f xmlns="fccb76ef-862e-406c-a80f-46ccc769a6a2">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F21D789720E794DA1BE5D40FDC66DBB" ma:contentTypeVersion="15" ma:contentTypeDescription="Create a new document." ma:contentTypeScope="" ma:versionID="3db46f6d4de4e7f009bbe78178fe7d95">
  <xsd:schema xmlns:xsd="http://www.w3.org/2001/XMLSchema" xmlns:xs="http://www.w3.org/2001/XMLSchema" xmlns:p="http://schemas.microsoft.com/office/2006/metadata/properties" xmlns:ns2="fccb76ef-862e-406c-a80f-46ccc769a6a2" xmlns:ns3="7dbc431e-fabf-44b4-8dc6-c66825775825" targetNamespace="http://schemas.microsoft.com/office/2006/metadata/properties" ma:root="true" ma:fieldsID="be8f92dcc0d157f2a7ee7c953042f025" ns2:_="" ns3:_="">
    <xsd:import namespace="fccb76ef-862e-406c-a80f-46ccc769a6a2"/>
    <xsd:import namespace="7dbc431e-fabf-44b4-8dc6-c6682577582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cb76ef-862e-406c-a80f-46ccc769a6a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0228021f-28e8-4e43-93b9-326afd39d501"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dbc431e-fabf-44b4-8dc6-c6682577582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6a4bf86-4ef3-452c-957e-e8399855a21c}" ma:internalName="TaxCatchAll" ma:showField="CatchAllData" ma:web="7dbc431e-fabf-44b4-8dc6-c66825775825">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60F05E-D3BE-45E1-BD15-2484530F0193}">
  <ds:schemaRefs>
    <ds:schemaRef ds:uri="http://schemas.microsoft.com/office/2006/metadata/properties"/>
    <ds:schemaRef ds:uri="http://schemas.microsoft.com/office/infopath/2007/PartnerControls"/>
    <ds:schemaRef ds:uri="7dbc431e-fabf-44b4-8dc6-c66825775825"/>
    <ds:schemaRef ds:uri="fccb76ef-862e-406c-a80f-46ccc769a6a2"/>
  </ds:schemaRefs>
</ds:datastoreItem>
</file>

<file path=customXml/itemProps2.xml><?xml version="1.0" encoding="utf-8"?>
<ds:datastoreItem xmlns:ds="http://schemas.openxmlformats.org/officeDocument/2006/customXml" ds:itemID="{D1017A03-8AFE-4EEE-B89A-37443F9F36B0}">
  <ds:schemaRefs>
    <ds:schemaRef ds:uri="http://schemas.microsoft.com/sharepoint/v3/contenttype/forms"/>
  </ds:schemaRefs>
</ds:datastoreItem>
</file>

<file path=customXml/itemProps3.xml><?xml version="1.0" encoding="utf-8"?>
<ds:datastoreItem xmlns:ds="http://schemas.openxmlformats.org/officeDocument/2006/customXml" ds:itemID="{C9BE2CC5-4DAB-4FA9-A43A-2DABAAE9FA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cb76ef-862e-406c-a80f-46ccc769a6a2"/>
    <ds:schemaRef ds:uri="7dbc431e-fabf-44b4-8dc6-c668257758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6583</TotalTime>
  <Words>1572</Words>
  <Application>Microsoft Office PowerPoint</Application>
  <PresentationFormat>Widescreen</PresentationFormat>
  <Paragraphs>310</Paragraphs>
  <Slides>24</Slides>
  <Notes>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Calibri</vt:lpstr>
      <vt:lpstr>Georgia</vt:lpstr>
      <vt:lpstr>Inter</vt:lpstr>
      <vt:lpstr>Tahoma</vt:lpstr>
      <vt:lpstr>Trebuchet MS</vt:lpstr>
      <vt:lpstr>Wingdings 3</vt:lpstr>
      <vt:lpstr>Facet</vt:lpstr>
      <vt:lpstr>Acute Exacerbations of COPD</vt:lpstr>
      <vt:lpstr>Learning Outcomes </vt:lpstr>
      <vt:lpstr>COPD lecture knowledge check </vt:lpstr>
      <vt:lpstr>Answer</vt:lpstr>
      <vt:lpstr>What is an exacerbation?</vt:lpstr>
      <vt:lpstr>Scenario 1</vt:lpstr>
      <vt:lpstr>Answers </vt:lpstr>
      <vt:lpstr>PowerPoint Presentation</vt:lpstr>
      <vt:lpstr>Answers </vt:lpstr>
      <vt:lpstr>Scenario 2</vt:lpstr>
      <vt:lpstr>Answers </vt:lpstr>
      <vt:lpstr>Answers </vt:lpstr>
      <vt:lpstr>Answers </vt:lpstr>
      <vt:lpstr>PowerPoint Presentation</vt:lpstr>
      <vt:lpstr>Answers</vt:lpstr>
      <vt:lpstr>Type 1 Respiratory Failure</vt:lpstr>
      <vt:lpstr>Type 2 Respiratory Failure</vt:lpstr>
      <vt:lpstr>Acute Type 2 Respiratory Failure</vt:lpstr>
      <vt:lpstr>Chronic Type 2 Respiratory Failure</vt:lpstr>
      <vt:lpstr>Acute on Chronic Type 2 Respiratory Failure</vt:lpstr>
      <vt:lpstr>Answers </vt:lpstr>
      <vt:lpstr>Scenario 3</vt:lpstr>
      <vt:lpstr>Answers</vt:lpstr>
      <vt:lpstr>References and further reading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Acute Exacerbations of COPD</dc:title>
  <dc:creator>Alison</dc:creator>
  <cp:lastModifiedBy>Sheridan Shauna</cp:lastModifiedBy>
  <cp:revision>70</cp:revision>
  <dcterms:created xsi:type="dcterms:W3CDTF">2022-10-31T20:41:01Z</dcterms:created>
  <dcterms:modified xsi:type="dcterms:W3CDTF">2025-02-03T15:10:21Z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0x0101001F21D789720E794DA1BE5D40FDC66DBB</vt:lpwstr>
  </property>
</Properties>
</file>