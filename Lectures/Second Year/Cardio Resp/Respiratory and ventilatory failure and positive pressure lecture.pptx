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90" r:id="rId4"/>
    <p:sldId id="259" r:id="rId5"/>
    <p:sldId id="258" r:id="rId6"/>
    <p:sldId id="294" r:id="rId7"/>
    <p:sldId id="295" r:id="rId8"/>
    <p:sldId id="260" r:id="rId9"/>
    <p:sldId id="261" r:id="rId10"/>
    <p:sldId id="278" r:id="rId11"/>
    <p:sldId id="264" r:id="rId12"/>
    <p:sldId id="266" r:id="rId13"/>
    <p:sldId id="267" r:id="rId14"/>
    <p:sldId id="282" r:id="rId15"/>
    <p:sldId id="272" r:id="rId16"/>
    <p:sldId id="273" r:id="rId17"/>
    <p:sldId id="262" r:id="rId18"/>
    <p:sldId id="274" r:id="rId19"/>
    <p:sldId id="265" r:id="rId20"/>
    <p:sldId id="263" r:id="rId21"/>
    <p:sldId id="279" r:id="rId22"/>
    <p:sldId id="268" r:id="rId23"/>
    <p:sldId id="269" r:id="rId24"/>
    <p:sldId id="275" r:id="rId25"/>
    <p:sldId id="276" r:id="rId26"/>
    <p:sldId id="283" r:id="rId27"/>
    <p:sldId id="271" r:id="rId28"/>
    <p:sldId id="270" r:id="rId29"/>
    <p:sldId id="277" r:id="rId30"/>
    <p:sldId id="285" r:id="rId31"/>
    <p:sldId id="286" r:id="rId32"/>
    <p:sldId id="287" r:id="rId33"/>
    <p:sldId id="288" r:id="rId34"/>
    <p:sldId id="284" r:id="rId35"/>
    <p:sldId id="280" r:id="rId36"/>
    <p:sldId id="281" r:id="rId37"/>
    <p:sldId id="289" r:id="rId38"/>
  </p:sldIdLst>
  <p:sldSz cx="12192000" cy="6858000"/>
  <p:notesSz cx="6858000" cy="9144000"/>
  <p:embeddedFontLst>
    <p:embeddedFont>
      <p:font typeface="Cambria" panose="02040503050406030204" pitchFamily="18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7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4DEF00-1C0F-4E4A-B462-9551E3658F66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66FF1-3BE8-4B46-824B-D8B561172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131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Boyles law </a:t>
            </a:r>
            <a:r>
              <a:rPr lang="en-GB" dirty="0"/>
              <a:t>– </a:t>
            </a:r>
            <a:r>
              <a:rPr lang="en-GB" i="1" dirty="0"/>
              <a:t>as </a:t>
            </a:r>
            <a:r>
              <a:rPr lang="en-GB" i="1" u="sng" dirty="0"/>
              <a:t>volume</a:t>
            </a:r>
            <a:r>
              <a:rPr lang="en-GB" i="1" dirty="0"/>
              <a:t> INCREASES, </a:t>
            </a:r>
            <a:r>
              <a:rPr lang="en-GB" i="1" u="sng" dirty="0"/>
              <a:t>pressure</a:t>
            </a:r>
            <a:r>
              <a:rPr lang="en-GB" i="1" dirty="0"/>
              <a:t> DECREASES (inversely proportional)</a:t>
            </a:r>
          </a:p>
          <a:p>
            <a:r>
              <a:rPr lang="en-GB" dirty="0"/>
              <a:t>Inspiration -&gt; diaphragm contracts -&gt; INCREASE in lung volume</a:t>
            </a:r>
          </a:p>
          <a:p>
            <a:r>
              <a:rPr lang="en-GB" dirty="0"/>
              <a:t>Flow of air + increase in volume = REDCUED pressure</a:t>
            </a:r>
          </a:p>
          <a:p>
            <a:r>
              <a:rPr lang="en-GB" dirty="0"/>
              <a:t>REDUCED Pressure = disequilibrium between room + lung air pressure = air fills lungs to equalise that pressure = inspiration</a:t>
            </a:r>
          </a:p>
          <a:p>
            <a:r>
              <a:rPr lang="en-GB" dirty="0"/>
              <a:t>VV for expiration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66FF1-3BE8-4B46-824B-D8B561172A1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13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B6982B-DF9A-1FF1-93ED-B4CFDC1849A9}"/>
              </a:ext>
            </a:extLst>
          </p:cNvPr>
          <p:cNvSpPr/>
          <p:nvPr/>
        </p:nvSpPr>
        <p:spPr>
          <a:xfrm>
            <a:off x="1" y="2887133"/>
            <a:ext cx="12192000" cy="39708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E2602-3CA0-38E5-41B0-B384623CA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65185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3682A-A1AB-B6CB-9103-BCB53ED40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267" y="6163734"/>
            <a:ext cx="4411134" cy="62653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Isobel Davies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3AD7B5-196D-B7AE-8987-C9434319E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1" y="0"/>
            <a:ext cx="1777999" cy="100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5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E6E5A8-1C06-D60B-70CA-D309FCB28D08}"/>
              </a:ext>
            </a:extLst>
          </p:cNvPr>
          <p:cNvSpPr/>
          <p:nvPr/>
        </p:nvSpPr>
        <p:spPr>
          <a:xfrm>
            <a:off x="0" y="14490"/>
            <a:ext cx="12192000" cy="16906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D9620-0840-C4B1-AF6F-DD56DF7A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961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74E31-07C2-31AD-FA63-685EA15A5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3764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1026" name="Picture 2" descr="London Metropolitan University | Diversity Abroad">
            <a:extLst>
              <a:ext uri="{FF2B5EF4-FFF2-40B4-BE49-F238E27FC236}">
                <a16:creationId xmlns:a16="http://schemas.microsoft.com/office/drawing/2014/main" id="{2C8BDD7A-1330-487C-FF88-28ED18CDB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4521" y="6113896"/>
            <a:ext cx="1347479" cy="75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6697B3-46FF-F729-55F0-8D65553CC0B9}"/>
              </a:ext>
            </a:extLst>
          </p:cNvPr>
          <p:cNvCxnSpPr>
            <a:cxnSpLocks/>
          </p:cNvCxnSpPr>
          <p:nvPr/>
        </p:nvCxnSpPr>
        <p:spPr>
          <a:xfrm>
            <a:off x="302508" y="1993805"/>
            <a:ext cx="2585071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76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4280-D226-DC14-4714-F32FED72B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65485-9EF5-9139-DB1C-DD992D31B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B4C0F-1E63-482B-0959-FF548E26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E5A6F-8CAA-D3A4-98AC-C0525D70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D0565-40DA-A613-6B6A-772805D9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070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73134-B677-1832-5CBC-48A6F612F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6954F-E310-3BC8-BD78-8AC1FE4A1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992008-0414-B2B9-91BD-C32B64F1CA41}"/>
              </a:ext>
            </a:extLst>
          </p:cNvPr>
          <p:cNvSpPr/>
          <p:nvPr/>
        </p:nvSpPr>
        <p:spPr>
          <a:xfrm>
            <a:off x="0" y="1"/>
            <a:ext cx="12192000" cy="13200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3F11F-9927-39C5-32EA-4B9CAF425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0368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8D5258-C137-A48A-E8C4-B4C890119E4A}"/>
              </a:ext>
            </a:extLst>
          </p:cNvPr>
          <p:cNvCxnSpPr/>
          <p:nvPr/>
        </p:nvCxnSpPr>
        <p:spPr>
          <a:xfrm>
            <a:off x="653143" y="1629420"/>
            <a:ext cx="1395663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1EF0F5-898D-DE87-A9FE-E07843E5C128}"/>
              </a:ext>
            </a:extLst>
          </p:cNvPr>
          <p:cNvCxnSpPr/>
          <p:nvPr/>
        </p:nvCxnSpPr>
        <p:spPr>
          <a:xfrm>
            <a:off x="6172200" y="1603066"/>
            <a:ext cx="1395663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2" descr="London Metropolitan University | Diversity Abroad">
            <a:extLst>
              <a:ext uri="{FF2B5EF4-FFF2-40B4-BE49-F238E27FC236}">
                <a16:creationId xmlns:a16="http://schemas.microsoft.com/office/drawing/2014/main" id="{37D134CB-DDD9-BACD-8572-3E0007B75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4521" y="6113896"/>
            <a:ext cx="1347479" cy="75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48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F21A-5FDC-A103-4607-2D5A34AC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65B5A-D728-06EB-16D4-57D999823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7B7AE-6006-3B3E-25AA-4EF865844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94F1D8-68A0-62B8-7F86-D9A625093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7A5C16-D31D-9CDA-C7F5-7CF3E0A19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18558-0A34-C95F-8B9B-72CEBB9F5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BF9368-A6AB-50C4-0A99-421BA7B0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7968D-184F-DAF1-8D7A-9C683852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719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9D2CD5-6D70-A517-2C17-0AB3588F5104}"/>
              </a:ext>
            </a:extLst>
          </p:cNvPr>
          <p:cNvSpPr/>
          <p:nvPr/>
        </p:nvSpPr>
        <p:spPr>
          <a:xfrm>
            <a:off x="0" y="0"/>
            <a:ext cx="12192000" cy="15950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D7A53-80CA-4981-C062-1683F791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0250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2" descr="London Metropolitan University | Diversity Abroad">
            <a:extLst>
              <a:ext uri="{FF2B5EF4-FFF2-40B4-BE49-F238E27FC236}">
                <a16:creationId xmlns:a16="http://schemas.microsoft.com/office/drawing/2014/main" id="{D362AA3E-CCC7-1269-E609-D4BAA7FF2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4521" y="6113896"/>
            <a:ext cx="1347479" cy="75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368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ndon Metropolitan University | Diversity Abroad">
            <a:extLst>
              <a:ext uri="{FF2B5EF4-FFF2-40B4-BE49-F238E27FC236}">
                <a16:creationId xmlns:a16="http://schemas.microsoft.com/office/drawing/2014/main" id="{01FF39F5-58B2-9749-4490-A944E6D48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4521" y="6113896"/>
            <a:ext cx="1347479" cy="75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818584-7CFB-C480-C31B-A997AF1B97F2}"/>
              </a:ext>
            </a:extLst>
          </p:cNvPr>
          <p:cNvSpPr/>
          <p:nvPr/>
        </p:nvSpPr>
        <p:spPr>
          <a:xfrm>
            <a:off x="0" y="0"/>
            <a:ext cx="4152614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00234-438F-D4E5-C40F-5899A1940824}"/>
              </a:ext>
            </a:extLst>
          </p:cNvPr>
          <p:cNvSpPr txBox="1"/>
          <p:nvPr/>
        </p:nvSpPr>
        <p:spPr>
          <a:xfrm>
            <a:off x="4723254" y="2509444"/>
            <a:ext cx="65039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/>
              <a:t>Questions? </a:t>
            </a:r>
          </a:p>
        </p:txBody>
      </p:sp>
    </p:spTree>
    <p:extLst>
      <p:ext uri="{BB962C8B-B14F-4D97-AF65-F5344CB8AC3E}">
        <p14:creationId xmlns:p14="http://schemas.microsoft.com/office/powerpoint/2010/main" val="416136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7680-D097-392A-2C80-CB6D5449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ABCE-ABAD-26CC-5ED5-2D997868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02B6B-51B6-1C72-C0D4-85BABB30C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83551-AC8F-6E57-E9CC-AD59DF8ED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80383-36AF-82AF-C0B8-FC513D97B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E62E8-8F67-EF7C-4078-772AF2D1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44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E418-5AAC-8B12-F86C-7D5F3057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BA5F73-AEF3-A735-ACB1-EC4144C2B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63162-E54B-A41F-A890-02A4CF7F8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81969-C652-2C8B-1456-69E9EC1C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BAFAC-19E4-4E36-4352-2E9C3AE14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31C92-A389-0F28-8809-DFCF12D1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65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6CB88-E83B-A9CB-3079-C114F778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B31A0-599C-9799-B87D-A10764F5A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66BC0-DED9-C335-1EA1-AEC7F61A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31ED-485B-570A-B6A9-92FEC6185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9BAED-3218-E2B1-01AC-872EAED6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876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7EC147-AD87-B353-76C2-F84F682DA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1A306-2430-2820-252B-D79CB21BD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111F2-2B28-E798-75C6-48F675F9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C331C-9C15-4EBF-B28C-C496046A8A3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AF426-7023-1B3C-7641-AC3F4D68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CD85F-20D6-CCBD-D242-A391ECEE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89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20895-026B-8CFB-F502-E4F0A7B9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23036-5526-D04B-964D-AC3050C51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59C67-F8A2-CF36-A74C-69D3F8913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C331C-9C15-4EBF-B28C-C496046A8A3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CB9F4-1217-A26D-853E-627FC71A0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3EC2E-6A5D-DEA6-DCCC-4CFDC2F30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190A-0A17-4259-A608-575D6F13E8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717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rct=j&amp;q=&amp;esrc=s&amp;source=images&amp;cd=&amp;ved=2ahUKEwjHurD68r7lAhWnzIUKHTQvD-kQjRx6BAgBEAQ&amp;url=https://www.pinterest.com/pin/378935756144392062/&amp;psig=AOvVaw2ipUHkro5zyxkUpUjGsvPg&amp;ust=1572350158540934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brit-Thoracic.org.uk" TargetMode="External"/><Relationship Id="rId13" Type="http://schemas.openxmlformats.org/officeDocument/2006/relationships/hyperlink" Target="https://doi.org/10.1177/2040622315590318" TargetMode="External"/><Relationship Id="rId3" Type="http://schemas.openxmlformats.org/officeDocument/2006/relationships/hyperlink" Target="http://www.sciencedirect.com/science/article/pii/S0954611118300209" TargetMode="External"/><Relationship Id="rId7" Type="http://schemas.openxmlformats.org/officeDocument/2006/relationships/hyperlink" Target="https://doi.org/10.1002/14651858.cd013170.pub2" TargetMode="External"/><Relationship Id="rId12" Type="http://schemas.openxmlformats.org/officeDocument/2006/relationships/hyperlink" Target="http://www.ncbi.nlm.nih.gov/pmc/articles/PMC4549693/" TargetMode="External"/><Relationship Id="rId2" Type="http://schemas.openxmlformats.org/officeDocument/2006/relationships/hyperlink" Target="https://doi.org/10.1183/09031936.0018220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2147/copd.s148422" TargetMode="External"/><Relationship Id="rId11" Type="http://schemas.openxmlformats.org/officeDocument/2006/relationships/hyperlink" Target="http://www.ncbi.nlm.nih.gov/books/NBK560916/" TargetMode="External"/><Relationship Id="rId5" Type="http://schemas.openxmlformats.org/officeDocument/2006/relationships/hyperlink" Target="https://doi.org/10.1136/bmjresp-2016-000133" TargetMode="External"/><Relationship Id="rId10" Type="http://schemas.openxmlformats.org/officeDocument/2006/relationships/hyperlink" Target="http://www.ncbi.nlm.nih.gov/books/NBK482178/" TargetMode="External"/><Relationship Id="rId4" Type="http://schemas.openxmlformats.org/officeDocument/2006/relationships/hyperlink" Target="https://doi.org/10.1016/j.rmed.2018.01.012" TargetMode="External"/><Relationship Id="rId9" Type="http://schemas.openxmlformats.org/officeDocument/2006/relationships/hyperlink" Target="http://www.brit-thoracic.org.uk/quality-improvement/guidelines/ni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AA1B-E852-A9FE-6E77-CE4F104D6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Respiratory and Ventilatory failure and positive pressure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DA505-EA3D-559C-FA71-3325B1B1EC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Chris </a:t>
            </a:r>
            <a:r>
              <a:rPr lang="en-GB" dirty="0" err="1"/>
              <a:t>MacAllister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7904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2D3C-3C12-B458-D47E-2A3C0F42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1BA16-77CD-4CA8-9473-316B53225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 the concept, underlying pathophysiology, impairments and clinical presentations of type 1 and 11 respiratory failure</a:t>
            </a:r>
          </a:p>
          <a:p>
            <a:r>
              <a:rPr lang="en-GB" dirty="0"/>
              <a:t>Justify an evidence-based treatment plan for the management of a patient with type 1 and type 2 respiratory failure </a:t>
            </a:r>
          </a:p>
          <a:p>
            <a:r>
              <a:rPr lang="en-GB" dirty="0"/>
              <a:t>Describe and explain the physiology and relevant precautions and contraindications for using continuous positive airway pressure (CPAP), Non-invasive positive pressure ventilation, MI:E and intermittent positive pressure breathing ( IPPB)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482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EE2D-DE97-9109-0C11-49097D8F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Inspiration and Expiration</a:t>
            </a:r>
          </a:p>
        </p:txBody>
      </p:sp>
      <p:pic>
        <p:nvPicPr>
          <p:cNvPr id="4" name="Picture 2" descr="Anatomy of the Respiratory System | University Hospitals">
            <a:extLst>
              <a:ext uri="{FF2B5EF4-FFF2-40B4-BE49-F238E27FC236}">
                <a16:creationId xmlns:a16="http://schemas.microsoft.com/office/drawing/2014/main" id="{B85EBC82-7C87-6184-07C4-82B58CB58D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725" y="2135981"/>
            <a:ext cx="67056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bronchial tree anatomy">
            <a:hlinkClick r:id="rId3"/>
            <a:extLst>
              <a:ext uri="{FF2B5EF4-FFF2-40B4-BE49-F238E27FC236}">
                <a16:creationId xmlns:a16="http://schemas.microsoft.com/office/drawing/2014/main" id="{FFD5E949-5DCC-931E-3410-F40649A9B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9686"/>
          <a:stretch/>
        </p:blipFill>
        <p:spPr bwMode="auto">
          <a:xfrm>
            <a:off x="7540533" y="2407566"/>
            <a:ext cx="3491400" cy="372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5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8B5D-0DDB-1733-F7E0-7C8197BC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Inspiration and Expiration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9118D6-1C14-E7D4-01C7-84B7BB1BF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48734" y="2312988"/>
            <a:ext cx="6494532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2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E1A3-52D6-62F3-04E4-86F176B68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alveoli anatomy and special features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5F67AD-79B3-6F21-ACDE-A0CD42F12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315" y="2296312"/>
            <a:ext cx="4320615" cy="26354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BF22AE-026B-5990-9A8D-E78AD0679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503" y="1889507"/>
            <a:ext cx="4313035" cy="32347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6952A-F8F1-DB38-A7D1-C3902B470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387" y="4231382"/>
            <a:ext cx="3912415" cy="244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01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85F1-B27B-71E3-9F67-4591AE94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V/Q Mismatch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1F9EEF2-6D02-F667-F966-7B2F3FACEBC5}"/>
              </a:ext>
            </a:extLst>
          </p:cNvPr>
          <p:cNvSpPr txBox="1">
            <a:spLocks/>
          </p:cNvSpPr>
          <p:nvPr/>
        </p:nvSpPr>
        <p:spPr>
          <a:xfrm>
            <a:off x="836612" y="239814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Shunt (Low V/Q)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7C40E7-5EA1-6568-81AF-B65FCC0EFCF8}"/>
              </a:ext>
            </a:extLst>
          </p:cNvPr>
          <p:cNvSpPr txBox="1">
            <a:spLocks/>
          </p:cNvSpPr>
          <p:nvPr/>
        </p:nvSpPr>
        <p:spPr>
          <a:xfrm>
            <a:off x="6777062" y="1986184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Physiological Dead space (High V/Q)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7E5B08A1-3F8B-9C92-2441-6006272FDE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620" r="-1"/>
          <a:stretch/>
        </p:blipFill>
        <p:spPr>
          <a:xfrm>
            <a:off x="9044193" y="2875339"/>
            <a:ext cx="2207659" cy="3603046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AA9D72-AB2B-228F-5DFF-ED48C18931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00" r="36761"/>
          <a:stretch/>
        </p:blipFill>
        <p:spPr>
          <a:xfrm>
            <a:off x="1579421" y="3006726"/>
            <a:ext cx="1558740" cy="3487450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C23633AD-DD53-045C-9B0F-4D633E10FE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00" r="36761"/>
          <a:stretch/>
        </p:blipFill>
        <p:spPr>
          <a:xfrm>
            <a:off x="5622644" y="2875339"/>
            <a:ext cx="1665585" cy="372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08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03E4D-02DF-6271-5ED9-142328E7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V/Q Mismatch</a:t>
            </a:r>
          </a:p>
        </p:txBody>
      </p:sp>
      <p:pic>
        <p:nvPicPr>
          <p:cNvPr id="4" name="Picture 2" descr="Respiratory physiology - Knowledge @ AMBOSS">
            <a:extLst>
              <a:ext uri="{FF2B5EF4-FFF2-40B4-BE49-F238E27FC236}">
                <a16:creationId xmlns:a16="http://schemas.microsoft.com/office/drawing/2014/main" id="{0CDFB2C9-C903-076B-00F2-28F3D77DFC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682" y="2830649"/>
            <a:ext cx="48768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2EF0AA-E194-FC42-6F29-6F1FF84E1404}"/>
              </a:ext>
            </a:extLst>
          </p:cNvPr>
          <p:cNvSpPr txBox="1"/>
          <p:nvPr/>
        </p:nvSpPr>
        <p:spPr>
          <a:xfrm>
            <a:off x="724417" y="2293290"/>
            <a:ext cx="62273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Shunt </a:t>
            </a:r>
          </a:p>
          <a:p>
            <a:pPr marL="285750" indent="-285750">
              <a:buFontTx/>
              <a:buChar char="-"/>
            </a:pPr>
            <a:r>
              <a:rPr lang="en-GB" sz="2800" dirty="0"/>
              <a:t>Low V/Q</a:t>
            </a:r>
          </a:p>
          <a:p>
            <a:pPr marL="285750" indent="-285750">
              <a:buFontTx/>
              <a:buChar char="-"/>
            </a:pPr>
            <a:r>
              <a:rPr lang="en-GB" sz="2800" dirty="0"/>
              <a:t>Air not enter alveoli to allow gas exchange</a:t>
            </a:r>
          </a:p>
          <a:p>
            <a:pPr marL="285750" indent="-285750">
              <a:buFontTx/>
              <a:buChar char="-"/>
            </a:pPr>
            <a:r>
              <a:rPr lang="en-GB" sz="2800" dirty="0"/>
              <a:t>Poorly oxygenated blood</a:t>
            </a:r>
          </a:p>
          <a:p>
            <a:pPr marL="285750" indent="-285750">
              <a:buFontTx/>
              <a:buChar char="-"/>
            </a:pPr>
            <a:endParaRPr lang="en-GB" sz="2800" dirty="0"/>
          </a:p>
          <a:p>
            <a:r>
              <a:rPr lang="en-GB" sz="2800" dirty="0"/>
              <a:t>Dead space </a:t>
            </a:r>
          </a:p>
          <a:p>
            <a:pPr marL="285750" indent="-285750">
              <a:buFontTx/>
              <a:buChar char="-"/>
            </a:pPr>
            <a:r>
              <a:rPr lang="en-GB" sz="2800" dirty="0"/>
              <a:t>High V/Q</a:t>
            </a:r>
          </a:p>
          <a:p>
            <a:pPr marL="285750" indent="-285750">
              <a:buFontTx/>
              <a:buChar char="-"/>
            </a:pPr>
            <a:r>
              <a:rPr lang="en-GB" sz="2800" dirty="0"/>
              <a:t>Air getting in but poor perfusion </a:t>
            </a:r>
          </a:p>
        </p:txBody>
      </p:sp>
    </p:spTree>
    <p:extLst>
      <p:ext uri="{BB962C8B-B14F-4D97-AF65-F5344CB8AC3E}">
        <p14:creationId xmlns:p14="http://schemas.microsoft.com/office/powerpoint/2010/main" val="1157915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30DB-4590-C98E-BA10-4D389B63C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1 respiratory failure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F5D36-63C2-F739-954E-984358F09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4000" dirty="0">
                <a:solidFill>
                  <a:srgbClr val="FF0000"/>
                </a:solidFill>
              </a:rPr>
              <a:t>PaO2 &lt;8kPa with a normal or Low PaCO2 ( &lt;4 ) </a:t>
            </a:r>
          </a:p>
          <a:p>
            <a:pPr marL="0" indent="0">
              <a:buNone/>
            </a:pPr>
            <a:endParaRPr lang="en-GB" sz="4000" dirty="0">
              <a:solidFill>
                <a:srgbClr val="FF0000"/>
              </a:solidFill>
            </a:endParaRPr>
          </a:p>
          <a:p>
            <a:r>
              <a:rPr lang="en-GB" dirty="0"/>
              <a:t>Hypoxia (Low O2 in tissue)</a:t>
            </a:r>
          </a:p>
          <a:p>
            <a:r>
              <a:rPr lang="en-GB" dirty="0"/>
              <a:t>Associated with disease process that directly affects the alveoli:   </a:t>
            </a:r>
          </a:p>
          <a:p>
            <a:pPr lvl="1"/>
            <a:r>
              <a:rPr lang="en-GB" dirty="0"/>
              <a:t>Pneumonia </a:t>
            </a:r>
          </a:p>
          <a:p>
            <a:pPr lvl="1"/>
            <a:r>
              <a:rPr lang="en-GB" dirty="0"/>
              <a:t>Pulmonary Odeama </a:t>
            </a:r>
          </a:p>
          <a:p>
            <a:pPr lvl="1"/>
            <a:r>
              <a:rPr lang="en-GB" dirty="0"/>
              <a:t>Adult respiratory distress syndrome (ARDS)  etc …. </a:t>
            </a:r>
          </a:p>
        </p:txBody>
      </p:sp>
    </p:spTree>
    <p:extLst>
      <p:ext uri="{BB962C8B-B14F-4D97-AF65-F5344CB8AC3E}">
        <p14:creationId xmlns:p14="http://schemas.microsoft.com/office/powerpoint/2010/main" val="2033438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A8F5-C65F-1F4F-620E-7B0EFF4F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2 respiratory failure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3583-8AA7-5F43-EE92-71D405278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4300" dirty="0">
                <a:solidFill>
                  <a:srgbClr val="FF0000"/>
                </a:solidFill>
              </a:rPr>
              <a:t>                 PaCO2 &gt;6kPa +/- PaO2 &lt;8kpa </a:t>
            </a:r>
          </a:p>
          <a:p>
            <a:pPr marL="0" indent="0">
              <a:buNone/>
            </a:pPr>
            <a:endParaRPr lang="en-GB" sz="4000" dirty="0"/>
          </a:p>
          <a:p>
            <a:r>
              <a:rPr lang="en-GB" sz="2400" dirty="0"/>
              <a:t>Hypercapnic (</a:t>
            </a:r>
            <a:r>
              <a:rPr lang="en-GB" sz="2400"/>
              <a:t>high blood CO2)</a:t>
            </a:r>
            <a:endParaRPr lang="en-GB" sz="2400" dirty="0"/>
          </a:p>
          <a:p>
            <a:r>
              <a:rPr lang="en-GB" sz="2400" dirty="0"/>
              <a:t>Failure of alveolar ventilation </a:t>
            </a:r>
          </a:p>
          <a:p>
            <a:r>
              <a:rPr lang="en-GB" sz="2400" dirty="0"/>
              <a:t>Commonly associated with COPD </a:t>
            </a:r>
          </a:p>
          <a:p>
            <a:r>
              <a:rPr lang="en-GB" sz="2400" dirty="0"/>
              <a:t>Can also be associated with : </a:t>
            </a:r>
          </a:p>
          <a:p>
            <a:pPr lvl="1"/>
            <a:r>
              <a:rPr lang="en-GB" sz="2000" dirty="0"/>
              <a:t>Reduced respiratory drive </a:t>
            </a:r>
          </a:p>
          <a:p>
            <a:pPr lvl="1"/>
            <a:r>
              <a:rPr lang="en-GB" sz="2000" dirty="0"/>
              <a:t>Airway impairment </a:t>
            </a:r>
          </a:p>
          <a:p>
            <a:pPr lvl="1"/>
            <a:r>
              <a:rPr lang="en-GB" sz="2000" dirty="0"/>
              <a:t>Neuromuscular conditions </a:t>
            </a:r>
          </a:p>
          <a:p>
            <a:pPr lvl="1"/>
            <a:r>
              <a:rPr lang="en-GB" sz="2000" dirty="0"/>
              <a:t>Chest wall deformity </a:t>
            </a:r>
          </a:p>
          <a:p>
            <a:pPr lvl="1"/>
            <a:r>
              <a:rPr lang="en-GB" sz="2000" dirty="0"/>
              <a:t>Exhaustion associated with prolonged hypoxia </a:t>
            </a:r>
          </a:p>
        </p:txBody>
      </p:sp>
    </p:spTree>
    <p:extLst>
      <p:ext uri="{BB962C8B-B14F-4D97-AF65-F5344CB8AC3E}">
        <p14:creationId xmlns:p14="http://schemas.microsoft.com/office/powerpoint/2010/main" val="2821974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CFAC6-E114-B0C2-7EE5-798676BA23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Hypoxia:</a:t>
            </a:r>
            <a:endParaRPr lang="en-US" dirty="0"/>
          </a:p>
          <a:p>
            <a:pPr lvl="1"/>
            <a:r>
              <a:rPr lang="en-GB" dirty="0">
                <a:ea typeface="Cambria"/>
              </a:rPr>
              <a:t>Signs of respiratory distress</a:t>
            </a:r>
          </a:p>
          <a:p>
            <a:pPr lvl="1"/>
            <a:r>
              <a:rPr lang="en-GB" dirty="0">
                <a:ea typeface="Cambria"/>
              </a:rPr>
              <a:t>Altered mental status </a:t>
            </a:r>
            <a:endParaRPr lang="en-GB" dirty="0"/>
          </a:p>
          <a:p>
            <a:pPr lvl="1"/>
            <a:r>
              <a:rPr lang="en-GB" dirty="0">
                <a:ea typeface="Cambria"/>
              </a:rPr>
              <a:t>Tachypnoea (rapid breathing)</a:t>
            </a:r>
          </a:p>
          <a:p>
            <a:pPr lvl="1"/>
            <a:r>
              <a:rPr lang="en-GB" dirty="0">
                <a:ea typeface="Cambria"/>
              </a:rPr>
              <a:t>Bradycardia / Tachycardia </a:t>
            </a:r>
          </a:p>
          <a:p>
            <a:pPr lvl="1"/>
            <a:r>
              <a:rPr lang="en-GB" dirty="0">
                <a:ea typeface="Cambria"/>
              </a:rPr>
              <a:t>Restlessness </a:t>
            </a:r>
          </a:p>
          <a:p>
            <a:pPr lvl="1"/>
            <a:endParaRPr lang="en-GB" dirty="0">
              <a:ea typeface="Cambri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10DAB-E4B4-1F0A-5FBA-33F0AA286B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Hypercapnia :</a:t>
            </a:r>
          </a:p>
          <a:p>
            <a:pPr lvl="1"/>
            <a:r>
              <a:rPr lang="en-GB" dirty="0">
                <a:ea typeface="Cambria"/>
              </a:rPr>
              <a:t>Signs of respiratory distress</a:t>
            </a:r>
          </a:p>
          <a:p>
            <a:pPr lvl="1"/>
            <a:r>
              <a:rPr lang="en-GB" dirty="0">
                <a:ea typeface="Cambria"/>
              </a:rPr>
              <a:t>Confusion </a:t>
            </a:r>
          </a:p>
          <a:p>
            <a:pPr lvl="1"/>
            <a:r>
              <a:rPr lang="en-GB" dirty="0">
                <a:ea typeface="Cambria"/>
              </a:rPr>
              <a:t>Pounding headache </a:t>
            </a:r>
          </a:p>
          <a:p>
            <a:pPr lvl="1"/>
            <a:r>
              <a:rPr lang="en-GB" dirty="0">
                <a:ea typeface="Cambria"/>
              </a:rPr>
              <a:t>Tachycardia </a:t>
            </a:r>
          </a:p>
          <a:p>
            <a:pPr lvl="1"/>
            <a:r>
              <a:rPr lang="en-GB" dirty="0">
                <a:ea typeface="Cambria"/>
              </a:rPr>
              <a:t>Breathlessness and Tachypnoea </a:t>
            </a:r>
          </a:p>
          <a:p>
            <a:pPr lvl="1"/>
            <a:r>
              <a:rPr lang="en-GB" dirty="0">
                <a:ea typeface="Cambria"/>
              </a:rPr>
              <a:t>Drowsiness or reduced GCS </a:t>
            </a:r>
          </a:p>
          <a:p>
            <a:pPr lvl="1"/>
            <a:r>
              <a:rPr lang="en-GB" dirty="0">
                <a:ea typeface="Cambria"/>
              </a:rPr>
              <a:t>Flushed face and extremities </a:t>
            </a:r>
          </a:p>
          <a:p>
            <a:pPr lvl="1"/>
            <a:r>
              <a:rPr lang="en-GB" dirty="0">
                <a:ea typeface="Cambria"/>
              </a:rPr>
              <a:t>CO2 flap </a:t>
            </a:r>
          </a:p>
          <a:p>
            <a:endParaRPr lang="en-GB" dirty="0">
              <a:ea typeface="Cambr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F44BF-3FC1-BA2C-A858-D86EF945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Signs of Hypoxia and Hypercapnia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614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6B5F-CDB9-01D9-1C64-448D45B0B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causes of respiratory failure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6809C67-3CE2-574F-BDFA-37AA63ED8E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3619806"/>
              </p:ext>
            </p:extLst>
          </p:nvPr>
        </p:nvGraphicFramePr>
        <p:xfrm>
          <a:off x="111149" y="2011680"/>
          <a:ext cx="11969702" cy="484632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5984851">
                  <a:extLst>
                    <a:ext uri="{9D8B030D-6E8A-4147-A177-3AD203B41FA5}">
                      <a16:colId xmlns:a16="http://schemas.microsoft.com/office/drawing/2014/main" val="2751359628"/>
                    </a:ext>
                  </a:extLst>
                </a:gridCol>
                <a:gridCol w="5984851">
                  <a:extLst>
                    <a:ext uri="{9D8B030D-6E8A-4147-A177-3AD203B41FA5}">
                      <a16:colId xmlns:a16="http://schemas.microsoft.com/office/drawing/2014/main" val="3123405246"/>
                    </a:ext>
                  </a:extLst>
                </a:gridCol>
              </a:tblGrid>
              <a:tr h="822053">
                <a:tc>
                  <a:txBody>
                    <a:bodyPr/>
                    <a:lstStyle/>
                    <a:p>
                      <a:r>
                        <a:rPr lang="en-GB" sz="1600" dirty="0"/>
                        <a:t>Loss of respiratory drive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CVA / brain injury </a:t>
                      </a:r>
                    </a:p>
                    <a:p>
                      <a:r>
                        <a:rPr lang="en-GB" sz="1600" dirty="0"/>
                        <a:t>Metabolic encephalopathy </a:t>
                      </a:r>
                    </a:p>
                    <a:p>
                      <a:r>
                        <a:rPr lang="en-GB" sz="1600" dirty="0"/>
                        <a:t>Effects of drugs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264968"/>
                  </a:ext>
                </a:extLst>
              </a:tr>
              <a:tr h="1065624">
                <a:tc>
                  <a:txBody>
                    <a:bodyPr/>
                    <a:lstStyle/>
                    <a:p>
                      <a:r>
                        <a:rPr lang="en-GB" sz="1600" dirty="0"/>
                        <a:t>Neuropathy and neuromuscular disease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Spinal cord injury </a:t>
                      </a:r>
                    </a:p>
                    <a:p>
                      <a:r>
                        <a:rPr lang="en-GB" sz="1600" dirty="0"/>
                        <a:t>Phrenic nerve injury </a:t>
                      </a:r>
                    </a:p>
                    <a:p>
                      <a:r>
                        <a:rPr lang="en-GB" sz="1600" dirty="0" err="1"/>
                        <a:t>Guillan</a:t>
                      </a:r>
                      <a:r>
                        <a:rPr lang="en-GB" sz="1600" dirty="0"/>
                        <a:t>-barre syndrome</a:t>
                      </a:r>
                    </a:p>
                    <a:p>
                      <a:r>
                        <a:rPr lang="en-GB" sz="1600" dirty="0"/>
                        <a:t>Myasthenia gravis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520153"/>
                  </a:ext>
                </a:extLst>
              </a:tr>
              <a:tr h="578482">
                <a:tc>
                  <a:txBody>
                    <a:bodyPr/>
                    <a:lstStyle/>
                    <a:p>
                      <a:r>
                        <a:rPr lang="en-GB" sz="1600" dirty="0"/>
                        <a:t>Chest wall abnormality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Trauma </a:t>
                      </a:r>
                    </a:p>
                    <a:p>
                      <a:r>
                        <a:rPr lang="en-GB" sz="1600" dirty="0"/>
                        <a:t>Scoliosis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760526"/>
                  </a:ext>
                </a:extLst>
              </a:tr>
              <a:tr h="1065624">
                <a:tc>
                  <a:txBody>
                    <a:bodyPr/>
                    <a:lstStyle/>
                    <a:p>
                      <a:r>
                        <a:rPr lang="en-GB" sz="1600" dirty="0"/>
                        <a:t>Airway obstruction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Foreign body </a:t>
                      </a:r>
                    </a:p>
                    <a:p>
                      <a:r>
                        <a:rPr lang="en-GB" sz="1600" dirty="0"/>
                        <a:t>Tumour </a:t>
                      </a:r>
                    </a:p>
                    <a:p>
                      <a:r>
                        <a:rPr lang="en-GB" sz="1600" dirty="0"/>
                        <a:t>Infection </a:t>
                      </a:r>
                    </a:p>
                    <a:p>
                      <a:r>
                        <a:rPr lang="en-GB" sz="1600" dirty="0"/>
                        <a:t>Sleep apnoea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842110"/>
                  </a:ext>
                </a:extLst>
              </a:tr>
              <a:tr h="1309195">
                <a:tc>
                  <a:txBody>
                    <a:bodyPr/>
                    <a:lstStyle/>
                    <a:p>
                      <a:r>
                        <a:rPr lang="en-GB" sz="1600" dirty="0"/>
                        <a:t>Lung pathology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Asthma </a:t>
                      </a:r>
                    </a:p>
                    <a:p>
                      <a:r>
                        <a:rPr lang="en-GB" sz="1600" dirty="0"/>
                        <a:t>Pneumonia </a:t>
                      </a:r>
                    </a:p>
                    <a:p>
                      <a:r>
                        <a:rPr lang="en-GB" sz="1600" dirty="0"/>
                        <a:t>COPD </a:t>
                      </a:r>
                    </a:p>
                    <a:p>
                      <a:r>
                        <a:rPr lang="en-GB" sz="1600" dirty="0"/>
                        <a:t>Acute and chronic fibrosing </a:t>
                      </a:r>
                    </a:p>
                    <a:p>
                      <a:r>
                        <a:rPr lang="en-GB" sz="1600" dirty="0"/>
                        <a:t>ARDS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39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132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C094-DE38-CB66-CF1F-D7E0A82C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Management of respiratory failure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958E6-9D24-0C2D-79C6-7AF6B62E3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Try to treat the underlying condition </a:t>
            </a:r>
            <a:r>
              <a:rPr lang="en-GB" dirty="0" err="1"/>
              <a:t>eg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Wheeze : bronchodilation </a:t>
            </a:r>
          </a:p>
          <a:p>
            <a:pPr lvl="1"/>
            <a:r>
              <a:rPr lang="en-GB" dirty="0"/>
              <a:t>Retained secretions : airway clearance to clear secretions and allow re-expansion </a:t>
            </a:r>
          </a:p>
          <a:p>
            <a:pPr lvl="1"/>
            <a:r>
              <a:rPr lang="en-GB" dirty="0"/>
              <a:t>Antibiotics for pneumonia </a:t>
            </a:r>
          </a:p>
          <a:p>
            <a:pPr lvl="1"/>
            <a:r>
              <a:rPr lang="en-GB" dirty="0"/>
              <a:t>Diuretics to increase kidney function and reduce </a:t>
            </a:r>
            <a:r>
              <a:rPr lang="en-GB" dirty="0" err="1"/>
              <a:t>Odeama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Change delivery or titrate up the fio2 oxygen being delivered to resolve hypoxia 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r>
              <a:rPr lang="en-GB" dirty="0">
                <a:solidFill>
                  <a:srgbClr val="FF0000"/>
                </a:solidFill>
              </a:rPr>
              <a:t>Hypoxia should ALWAYS be a primary concern and should be corrected 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r>
              <a:rPr lang="en-GB" dirty="0"/>
              <a:t>If standard interventions do not work we need to consider using positive pressure to improve oxygenation and/ or ventilation </a:t>
            </a:r>
          </a:p>
        </p:txBody>
      </p:sp>
    </p:spTree>
    <p:extLst>
      <p:ext uri="{BB962C8B-B14F-4D97-AF65-F5344CB8AC3E}">
        <p14:creationId xmlns:p14="http://schemas.microsoft.com/office/powerpoint/2010/main" val="3455684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7B36-E04E-7B6B-15A1-2FFACE40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Positive pressure therapies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15B4-557E-E416-562B-D8CCA61A3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Oxygenation/ ventilation strategies: </a:t>
            </a:r>
          </a:p>
          <a:p>
            <a:pPr lvl="1"/>
            <a:r>
              <a:rPr lang="en-GB" dirty="0"/>
              <a:t>CPAP : continuous positive airway pressure </a:t>
            </a:r>
          </a:p>
          <a:p>
            <a:pPr lvl="1"/>
            <a:r>
              <a:rPr lang="en-GB" dirty="0"/>
              <a:t>BIPAP / NIV : Biphasic positive airway pressure / Non-invasive ventilation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Airway Clearance strategies </a:t>
            </a:r>
          </a:p>
          <a:p>
            <a:pPr lvl="1"/>
            <a:r>
              <a:rPr lang="en-GB" dirty="0"/>
              <a:t>MI:E : cough assist </a:t>
            </a:r>
          </a:p>
          <a:p>
            <a:pPr lvl="1"/>
            <a:r>
              <a:rPr lang="en-GB" dirty="0"/>
              <a:t>IPPB : ( Bird) intermittent positive pressure breathing </a:t>
            </a:r>
          </a:p>
        </p:txBody>
      </p:sp>
    </p:spTree>
    <p:extLst>
      <p:ext uri="{BB962C8B-B14F-4D97-AF65-F5344CB8AC3E}">
        <p14:creationId xmlns:p14="http://schemas.microsoft.com/office/powerpoint/2010/main" val="467235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8A828-3675-9A01-E980-1DE4DD0328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GB" b="1">
                <a:ea typeface="Cambria"/>
              </a:rPr>
              <a:t>Aids Airway Clearance by :</a:t>
            </a:r>
            <a:r>
              <a:rPr lang="en-GB">
                <a:ea typeface="Cambria"/>
              </a:rPr>
              <a:t> </a:t>
            </a:r>
            <a:endParaRPr lang="en-GB" dirty="0">
              <a:ea typeface="Cambria"/>
            </a:endParaRPr>
          </a:p>
          <a:p>
            <a:r>
              <a:rPr lang="en-GB" dirty="0">
                <a:ea typeface="Cambria"/>
              </a:rPr>
              <a:t>Improves VT </a:t>
            </a:r>
            <a:endParaRPr lang="en-GB" dirty="0"/>
          </a:p>
          <a:p>
            <a:r>
              <a:rPr lang="en-GB" dirty="0">
                <a:ea typeface="Cambria"/>
              </a:rPr>
              <a:t>Reduced WOB </a:t>
            </a:r>
          </a:p>
          <a:p>
            <a:r>
              <a:rPr lang="en-GB" dirty="0">
                <a:ea typeface="Cambria"/>
              </a:rPr>
              <a:t>Increases use of collateral channels and </a:t>
            </a:r>
            <a:r>
              <a:rPr lang="en-GB" dirty="0" err="1">
                <a:ea typeface="Cambria"/>
              </a:rPr>
              <a:t>interdepence</a:t>
            </a:r>
            <a:r>
              <a:rPr lang="en-GB" dirty="0">
                <a:ea typeface="Cambria"/>
              </a:rPr>
              <a:t> of the alveoli</a:t>
            </a:r>
          </a:p>
          <a:p>
            <a:r>
              <a:rPr lang="en-GB" dirty="0">
                <a:ea typeface="Cambria"/>
              </a:rPr>
              <a:t>Strengthens and augments the expiratory flow during a cough (cough assist) </a:t>
            </a:r>
          </a:p>
          <a:p>
            <a:pPr marL="0" indent="0">
              <a:buNone/>
            </a:pPr>
            <a:r>
              <a:rPr lang="en-GB" b="1" dirty="0">
                <a:ea typeface="Cambria"/>
              </a:rPr>
              <a:t>Great for patients who :</a:t>
            </a:r>
            <a:r>
              <a:rPr lang="en-GB" dirty="0">
                <a:ea typeface="Cambria"/>
              </a:rPr>
              <a:t> </a:t>
            </a:r>
          </a:p>
          <a:p>
            <a:r>
              <a:rPr lang="en-GB" dirty="0">
                <a:ea typeface="Cambria"/>
              </a:rPr>
              <a:t>Are in pain </a:t>
            </a:r>
          </a:p>
          <a:p>
            <a:r>
              <a:rPr lang="en-GB" dirty="0">
                <a:ea typeface="Cambria"/>
              </a:rPr>
              <a:t>Are struggling to take a deep breath </a:t>
            </a:r>
          </a:p>
          <a:p>
            <a:r>
              <a:rPr lang="en-GB">
                <a:ea typeface="Cambria"/>
              </a:rPr>
              <a:t>Have thick secretions that aren't cleared with other technqiues </a:t>
            </a:r>
          </a:p>
          <a:p>
            <a:r>
              <a:rPr lang="en-GB" dirty="0">
                <a:ea typeface="Cambria"/>
              </a:rPr>
              <a:t>Patients with a weak cough : after surgery or due to neuro complications 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2CE08-6FEE-153E-90EC-4ED166B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79" y="136640"/>
            <a:ext cx="10515600" cy="1325563"/>
          </a:xfrm>
        </p:spPr>
        <p:txBody>
          <a:bodyPr/>
          <a:lstStyle/>
          <a:p>
            <a:r>
              <a:rPr lang="en-GB" dirty="0">
                <a:ea typeface="Cambria"/>
              </a:rPr>
              <a:t>Positive pressure airway clearance : the effects </a:t>
            </a:r>
            <a:endParaRPr lang="en-GB" dirty="0"/>
          </a:p>
        </p:txBody>
      </p:sp>
      <p:pic>
        <p:nvPicPr>
          <p:cNvPr id="4" name="Picture 4" descr="A picture containing text, person&#10;&#10;Description automatically generated">
            <a:extLst>
              <a:ext uri="{FF2B5EF4-FFF2-40B4-BE49-F238E27FC236}">
                <a16:creationId xmlns:a16="http://schemas.microsoft.com/office/drawing/2014/main" id="{69827457-176D-6B71-D021-9E79214A2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638" y="1551788"/>
            <a:ext cx="1857389" cy="2478792"/>
          </a:xfrm>
          <a:prstGeom prst="rect">
            <a:avLst/>
          </a:prstGeom>
        </p:spPr>
      </p:pic>
      <p:pic>
        <p:nvPicPr>
          <p:cNvPr id="5" name="Picture 5" descr="A picture containing indoor, person, plastic&#10;&#10;Description automatically generated">
            <a:extLst>
              <a:ext uri="{FF2B5EF4-FFF2-40B4-BE49-F238E27FC236}">
                <a16:creationId xmlns:a16="http://schemas.microsoft.com/office/drawing/2014/main" id="{A1F23403-E9B3-AC34-AE2E-5D0C3928F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819" y="4120165"/>
            <a:ext cx="2743450" cy="1822015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A4DFFB4B-7613-8CD9-0A08-A3E4AFF4F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428" y="1996497"/>
            <a:ext cx="3582191" cy="247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310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994C-57A9-3FCF-7CB4-89BFFE9B3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Positive pressure ventilation : the effects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6B8CF-57B0-DFAB-C5F7-925384726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>
                <a:ea typeface="Cambria"/>
              </a:rPr>
              <a:t>Decreases work of breathing </a:t>
            </a:r>
          </a:p>
          <a:p>
            <a:pPr lvl="1"/>
            <a:r>
              <a:rPr lang="en-GB" dirty="0">
                <a:ea typeface="Cambria"/>
              </a:rPr>
              <a:t>Off loads the accessory mm </a:t>
            </a:r>
          </a:p>
          <a:p>
            <a:pPr lvl="1"/>
            <a:endParaRPr lang="en-GB" dirty="0">
              <a:ea typeface="Cambria"/>
            </a:endParaRPr>
          </a:p>
          <a:p>
            <a:r>
              <a:rPr lang="en-GB" dirty="0">
                <a:ea typeface="Cambria"/>
              </a:rPr>
              <a:t>Improves lung mechanics </a:t>
            </a:r>
          </a:p>
          <a:p>
            <a:pPr lvl="1"/>
            <a:r>
              <a:rPr lang="en-GB" dirty="0">
                <a:ea typeface="Cambria"/>
              </a:rPr>
              <a:t>Improves FRC</a:t>
            </a:r>
          </a:p>
          <a:p>
            <a:pPr lvl="1"/>
            <a:r>
              <a:rPr lang="en-GB" dirty="0">
                <a:ea typeface="Cambria"/>
              </a:rPr>
              <a:t>Recruits collapsed lung </a:t>
            </a:r>
          </a:p>
          <a:p>
            <a:pPr lvl="1"/>
            <a:r>
              <a:rPr lang="en-GB" dirty="0">
                <a:ea typeface="Cambria"/>
              </a:rPr>
              <a:t>Increases alveolar ventilation </a:t>
            </a:r>
          </a:p>
          <a:p>
            <a:pPr lvl="1"/>
            <a:r>
              <a:rPr lang="en-GB" dirty="0">
                <a:ea typeface="Cambria"/>
              </a:rPr>
              <a:t>Improves V/Q mismatching </a:t>
            </a:r>
          </a:p>
          <a:p>
            <a:pPr lvl="1"/>
            <a:r>
              <a:rPr lang="en-GB" dirty="0">
                <a:ea typeface="Cambria"/>
              </a:rPr>
              <a:t>Increases SA for gas exchange </a:t>
            </a:r>
          </a:p>
          <a:p>
            <a:pPr lvl="1"/>
            <a:r>
              <a:rPr lang="en-GB" dirty="0">
                <a:ea typeface="Cambria"/>
              </a:rPr>
              <a:t>Reduced intrapulmonary shunt </a:t>
            </a:r>
          </a:p>
          <a:p>
            <a:pPr lvl="1"/>
            <a:r>
              <a:rPr lang="en-GB" dirty="0">
                <a:ea typeface="Cambria"/>
              </a:rPr>
              <a:t>Enhances pulmonary compliance </a:t>
            </a:r>
          </a:p>
          <a:p>
            <a:pPr marL="457200" lvl="1" indent="0">
              <a:buNone/>
            </a:pPr>
            <a:endParaRPr lang="en-GB" dirty="0">
              <a:ea typeface="Cambria"/>
            </a:endParaRPr>
          </a:p>
          <a:p>
            <a:pPr lvl="1"/>
            <a:endParaRPr lang="en-GB" dirty="0">
              <a:ea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AA4BF-E0C2-AB06-9828-E4F31F018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183" y="2066925"/>
            <a:ext cx="6130463" cy="41338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22173B-B52A-8CE8-6B9E-DD2C6263B286}"/>
              </a:ext>
            </a:extLst>
          </p:cNvPr>
          <p:cNvSpPr/>
          <p:nvPr/>
        </p:nvSpPr>
        <p:spPr>
          <a:xfrm>
            <a:off x="9705143" y="4489433"/>
            <a:ext cx="1247775" cy="16097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386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DC2A9-FE4E-A242-6AFD-ADB8AB6B75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rgbClr val="FF0000"/>
                </a:solidFill>
                <a:ea typeface="Cambria"/>
              </a:rPr>
              <a:t>Absolute contraindications : </a:t>
            </a:r>
          </a:p>
          <a:p>
            <a:pPr lvl="1"/>
            <a:r>
              <a:rPr lang="en-GB" dirty="0">
                <a:ea typeface="Cambria"/>
              </a:rPr>
              <a:t>Undrained acute pneumothorax </a:t>
            </a:r>
          </a:p>
          <a:p>
            <a:pPr lvl="1"/>
            <a:r>
              <a:rPr lang="en-GB" dirty="0">
                <a:ea typeface="Cambria"/>
              </a:rPr>
              <a:t>Severe facial deformity </a:t>
            </a:r>
          </a:p>
          <a:p>
            <a:pPr lvl="1"/>
            <a:r>
              <a:rPr lang="en-GB" dirty="0">
                <a:ea typeface="Cambria"/>
              </a:rPr>
              <a:t>Facial burns / trauma </a:t>
            </a:r>
          </a:p>
          <a:p>
            <a:pPr lvl="1"/>
            <a:r>
              <a:rPr lang="en-GB" dirty="0">
                <a:ea typeface="Cambria"/>
              </a:rPr>
              <a:t>Fixed upper airway surgery /trauma</a:t>
            </a:r>
          </a:p>
          <a:p>
            <a:pPr lvl="1"/>
            <a:r>
              <a:rPr lang="en-GB" dirty="0">
                <a:ea typeface="Cambria"/>
              </a:rPr>
              <a:t>Frank haemoptysis </a:t>
            </a:r>
          </a:p>
          <a:p>
            <a:pPr lvl="1"/>
            <a:r>
              <a:rPr lang="en-GB" dirty="0">
                <a:ea typeface="Cambria"/>
              </a:rPr>
              <a:t>Ruptured Oesophagus </a:t>
            </a:r>
          </a:p>
          <a:p>
            <a:pPr lvl="1"/>
            <a:r>
              <a:rPr lang="en-GB" dirty="0">
                <a:ea typeface="Cambria"/>
              </a:rPr>
              <a:t>Frequent Vomiting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DE66C-41D7-FCDF-A6D9-1ADABD39E8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rgbClr val="FFC000"/>
                </a:solidFill>
                <a:ea typeface="Cambria"/>
              </a:rPr>
              <a:t>Relative contraindications:</a:t>
            </a:r>
            <a:r>
              <a:rPr lang="en-GB" dirty="0">
                <a:ea typeface="Cambria"/>
              </a:rPr>
              <a:t> </a:t>
            </a:r>
          </a:p>
          <a:p>
            <a:pPr lvl="1"/>
            <a:r>
              <a:rPr lang="en-GB" dirty="0">
                <a:ea typeface="Cambria"/>
              </a:rPr>
              <a:t>Bronchopleural fistula </a:t>
            </a:r>
          </a:p>
          <a:p>
            <a:pPr lvl="1"/>
            <a:r>
              <a:rPr lang="en-GB" dirty="0">
                <a:ea typeface="Cambria"/>
              </a:rPr>
              <a:t>Recent bronchial or oesophageal surgery </a:t>
            </a:r>
          </a:p>
          <a:p>
            <a:pPr lvl="1"/>
            <a:r>
              <a:rPr lang="en-GB" dirty="0">
                <a:ea typeface="Cambria"/>
              </a:rPr>
              <a:t>Patient intolerance </a:t>
            </a:r>
          </a:p>
          <a:p>
            <a:pPr lvl="1"/>
            <a:r>
              <a:rPr lang="en-GB" dirty="0">
                <a:ea typeface="Cambria"/>
              </a:rPr>
              <a:t>Raised ICP </a:t>
            </a:r>
          </a:p>
          <a:p>
            <a:pPr lvl="1"/>
            <a:r>
              <a:rPr lang="en-GB" dirty="0">
                <a:ea typeface="Cambria"/>
              </a:rPr>
              <a:t>Bullous or cystic / cavitating lung disease 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60C3B-EC97-6D04-B93C-8F3D433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Contraindications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187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8F013-1AA2-4260-7249-EC5FBD49E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CPAP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3C8A8-874B-22D6-3616-7241BED0C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What is it ? </a:t>
            </a:r>
          </a:p>
          <a:p>
            <a:pPr lvl="1"/>
            <a:r>
              <a:rPr lang="en-GB" dirty="0"/>
              <a:t>Continuous positive airway pressure </a:t>
            </a:r>
          </a:p>
          <a:p>
            <a:pPr lvl="1"/>
            <a:endParaRPr lang="en-GB" dirty="0">
              <a:ea typeface="Cambria" panose="02040503050406030204"/>
            </a:endParaRPr>
          </a:p>
          <a:p>
            <a:pPr lvl="1"/>
            <a:r>
              <a:rPr lang="en-GB" dirty="0"/>
              <a:t>CPAP delivers PEEP and maintains the set pressure throughout the respiratory cycle through both inspiration and expiration </a:t>
            </a:r>
          </a:p>
          <a:p>
            <a:pPr lvl="1"/>
            <a:r>
              <a:rPr lang="en-GB" dirty="0">
                <a:ea typeface="+mn-lt"/>
                <a:cs typeface="+mn-lt"/>
              </a:rPr>
              <a:t>Provides the patient with positive end expiratory pressure (PEEP): </a:t>
            </a:r>
            <a:endParaRPr lang="en-US" dirty="0">
              <a:ea typeface="+mn-lt"/>
              <a:cs typeface="+mn-lt"/>
            </a:endParaRPr>
          </a:p>
          <a:p>
            <a:pPr lvl="2"/>
            <a:r>
              <a:rPr lang="en-GB" dirty="0">
                <a:ea typeface="+mn-lt"/>
                <a:cs typeface="+mn-lt"/>
              </a:rPr>
              <a:t>Measured in cmH2O</a:t>
            </a:r>
            <a:endParaRPr lang="en-US" dirty="0">
              <a:ea typeface="+mn-lt"/>
              <a:cs typeface="+mn-lt"/>
            </a:endParaRPr>
          </a:p>
          <a:p>
            <a:pPr lvl="2"/>
            <a:r>
              <a:rPr lang="en-GB" dirty="0">
                <a:ea typeface="+mn-lt"/>
                <a:cs typeface="+mn-lt"/>
              </a:rPr>
              <a:t>Breathing out against resistance creates back pressure and splints open the airways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5837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670CFF-C7AE-6710-5C2C-C8CEAF93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Indications for CPAP</a:t>
            </a: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5AE367-9B54-E601-72EE-42435CCB0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Acute Type 1 respiratory failure </a:t>
            </a:r>
          </a:p>
          <a:p>
            <a:r>
              <a:rPr lang="en-GB" dirty="0">
                <a:ea typeface="Cambria"/>
              </a:rPr>
              <a:t>Left ventricular failure with pulmonary odeama </a:t>
            </a:r>
          </a:p>
          <a:p>
            <a:r>
              <a:rPr lang="en-GB" dirty="0">
                <a:ea typeface="Cambria"/>
              </a:rPr>
              <a:t>Increased work of breathing </a:t>
            </a:r>
          </a:p>
          <a:p>
            <a:r>
              <a:rPr lang="en-GB" dirty="0">
                <a:ea typeface="Cambria"/>
              </a:rPr>
              <a:t>Decreased FRC/ Atelectasis </a:t>
            </a:r>
          </a:p>
          <a:p>
            <a:r>
              <a:rPr lang="en-GB" dirty="0">
                <a:ea typeface="Cambria"/>
              </a:rPr>
              <a:t>Weaning from mechanical ventilation </a:t>
            </a:r>
          </a:p>
          <a:p>
            <a:r>
              <a:rPr lang="en-GB" dirty="0">
                <a:ea typeface="Cambria"/>
              </a:rPr>
              <a:t>Obstructive sleep apnoea ( OSA)</a:t>
            </a:r>
          </a:p>
        </p:txBody>
      </p:sp>
      <p:pic>
        <p:nvPicPr>
          <p:cNvPr id="5" name="Graphic 5" descr="Stethoscope outline">
            <a:extLst>
              <a:ext uri="{FF2B5EF4-FFF2-40B4-BE49-F238E27FC236}">
                <a16:creationId xmlns:a16="http://schemas.microsoft.com/office/drawing/2014/main" id="{9FB21F68-01D3-C7E8-A13F-B5783EE8F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6877" y="4554415"/>
            <a:ext cx="914400" cy="914400"/>
          </a:xfrm>
          <a:prstGeom prst="rect">
            <a:avLst/>
          </a:prstGeom>
        </p:spPr>
      </p:pic>
      <p:pic>
        <p:nvPicPr>
          <p:cNvPr id="6" name="Graphic 6" descr="Lungs outline">
            <a:extLst>
              <a:ext uri="{FF2B5EF4-FFF2-40B4-BE49-F238E27FC236}">
                <a16:creationId xmlns:a16="http://schemas.microsoft.com/office/drawing/2014/main" id="{DF94AFF6-DE8E-8A89-AC2C-6BA4600F14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58569" y="2688492"/>
            <a:ext cx="914400" cy="914400"/>
          </a:xfrm>
          <a:prstGeom prst="rect">
            <a:avLst/>
          </a:prstGeom>
        </p:spPr>
      </p:pic>
      <p:pic>
        <p:nvPicPr>
          <p:cNvPr id="7" name="Graphic 7" descr="Heart organ outline">
            <a:extLst>
              <a:ext uri="{FF2B5EF4-FFF2-40B4-BE49-F238E27FC236}">
                <a16:creationId xmlns:a16="http://schemas.microsoft.com/office/drawing/2014/main" id="{4FB9F5E1-5742-EA12-B71F-D54BCC0AC3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09569" y="26884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12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8B27A-BF53-260F-35A2-E3224590E7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GB" dirty="0"/>
              <a:t>Advantages to PEEP: </a:t>
            </a:r>
          </a:p>
          <a:p>
            <a:pPr lvl="1"/>
            <a:r>
              <a:rPr lang="en-GB" dirty="0"/>
              <a:t>Splints open the airways </a:t>
            </a:r>
          </a:p>
          <a:p>
            <a:pPr lvl="1"/>
            <a:r>
              <a:rPr lang="en-GB" dirty="0"/>
              <a:t>Increases FRC </a:t>
            </a:r>
          </a:p>
          <a:p>
            <a:pPr lvl="1"/>
            <a:r>
              <a:rPr lang="en-GB" dirty="0"/>
              <a:t>Recruits alveoli and prevents collapse on expiration </a:t>
            </a:r>
            <a:endParaRPr lang="en-GB" dirty="0">
              <a:ea typeface="Cambria"/>
            </a:endParaRPr>
          </a:p>
          <a:p>
            <a:pPr lvl="1"/>
            <a:r>
              <a:rPr lang="en-GB" dirty="0"/>
              <a:t>Improves V/Q mismatch </a:t>
            </a:r>
          </a:p>
          <a:p>
            <a:pPr lvl="1"/>
            <a:r>
              <a:rPr lang="en-GB" dirty="0">
                <a:ea typeface="Cambria"/>
              </a:rPr>
              <a:t>Greater surface area for gas exchange </a:t>
            </a:r>
            <a:endParaRPr lang="en-GB" dirty="0"/>
          </a:p>
          <a:p>
            <a:pPr lvl="1"/>
            <a:r>
              <a:rPr lang="en-GB" dirty="0">
                <a:ea typeface="Cambria"/>
              </a:rPr>
              <a:t>Improves collateral ventilation </a:t>
            </a:r>
            <a:endParaRPr lang="en-GB" dirty="0"/>
          </a:p>
          <a:p>
            <a:r>
              <a:rPr lang="en-GB" dirty="0"/>
              <a:t>Disadvantages to PEEP: </a:t>
            </a:r>
          </a:p>
          <a:p>
            <a:pPr lvl="1"/>
            <a:r>
              <a:rPr lang="en-GB" dirty="0"/>
              <a:t>Reduced venous return to heart </a:t>
            </a:r>
          </a:p>
          <a:p>
            <a:pPr lvl="1"/>
            <a:r>
              <a:rPr lang="en-GB" dirty="0"/>
              <a:t>Reduced Cardiac output and therefore Blood pressure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DOES NOT IMPROVE VENTILATION </a:t>
            </a:r>
          </a:p>
          <a:p>
            <a:r>
              <a:rPr lang="en-GB" dirty="0"/>
              <a:t>Can be used in T1RF to improve hypoxia associated with alveolar collapse and congestion </a:t>
            </a:r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5086E7-FC87-BF44-1C3E-E3A21721A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CPAP effects </a:t>
            </a:r>
          </a:p>
        </p:txBody>
      </p:sp>
      <p:pic>
        <p:nvPicPr>
          <p:cNvPr id="1026" name="Picture 2" descr="670 Airway Pressure Images, Stock Photos &amp; Vectors | Shutterstock">
            <a:extLst>
              <a:ext uri="{FF2B5EF4-FFF2-40B4-BE49-F238E27FC236}">
                <a16:creationId xmlns:a16="http://schemas.microsoft.com/office/drawing/2014/main" id="{1EA7947C-A8ED-C971-1887-44AA0B339CC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76"/>
          <a:stretch/>
        </p:blipFill>
        <p:spPr bwMode="auto">
          <a:xfrm>
            <a:off x="7124700" y="2667794"/>
            <a:ext cx="3276600" cy="245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716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F67D5-338D-00B2-F510-1CAB2035D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NIV or </a:t>
            </a:r>
            <a:r>
              <a:rPr lang="en-GB" dirty="0" err="1"/>
              <a:t>BIpap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72620-8D2C-284C-F445-9F4546145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/>
              <a:t>What is it ? </a:t>
            </a:r>
          </a:p>
          <a:p>
            <a:pPr lvl="1"/>
            <a:r>
              <a:rPr lang="en-GB" dirty="0"/>
              <a:t>Known as both non-invasive ventilation and biphasic positive airway pressure </a:t>
            </a:r>
          </a:p>
          <a:p>
            <a:pPr lvl="1"/>
            <a:r>
              <a:rPr lang="en-GB" dirty="0"/>
              <a:t>Has an inspiratory phase and an expiratory phase </a:t>
            </a:r>
          </a:p>
          <a:p>
            <a:pPr lvl="1"/>
            <a:r>
              <a:rPr lang="en-GB" dirty="0"/>
              <a:t>IPAP and EPAP or Pressure support and PEEP </a:t>
            </a:r>
            <a:endParaRPr lang="en-GB" dirty="0">
              <a:ea typeface="Cambria"/>
            </a:endParaRPr>
          </a:p>
          <a:p>
            <a:r>
              <a:rPr lang="en-GB" dirty="0"/>
              <a:t>How does it work ?</a:t>
            </a:r>
          </a:p>
          <a:p>
            <a:pPr lvl="1"/>
            <a:r>
              <a:rPr lang="en-GB" dirty="0"/>
              <a:t>A high flow of gas is delivered into the airway via a tight-fitting mask creating positive pressure </a:t>
            </a:r>
          </a:p>
          <a:p>
            <a:pPr lvl="1"/>
            <a:r>
              <a:rPr lang="en-GB" dirty="0"/>
              <a:t>The device alternates between high inspiratory pressure and a lower expiratory pressure </a:t>
            </a:r>
          </a:p>
          <a:p>
            <a:pPr lvl="1"/>
            <a:r>
              <a:rPr lang="en-GB" dirty="0"/>
              <a:t>The higher inspiratory pressure augments the patient’s own inspiratory effort, the lower expiratory pressure creates PEEP.  </a:t>
            </a:r>
          </a:p>
        </p:txBody>
      </p:sp>
    </p:spTree>
    <p:extLst>
      <p:ext uri="{BB962C8B-B14F-4D97-AF65-F5344CB8AC3E}">
        <p14:creationId xmlns:p14="http://schemas.microsoft.com/office/powerpoint/2010/main" val="1153798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830A-36BB-B2A4-59C4-FEBD4539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Indications for NIV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0A2EA-2A6F-F877-FFE7-732C415B5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Any patient with un-resolving respiratory acidosis pH&lt;7.35 </a:t>
            </a:r>
          </a:p>
          <a:p>
            <a:r>
              <a:rPr lang="en-GB" dirty="0">
                <a:ea typeface="Cambria"/>
              </a:rPr>
              <a:t>To prevent intubation in acute respiratory failure </a:t>
            </a:r>
          </a:p>
          <a:p>
            <a:r>
              <a:rPr lang="en-GB" dirty="0">
                <a:ea typeface="Cambria"/>
              </a:rPr>
              <a:t>Exacerbation of COPD with persistent acidosis pH &lt;7.35 </a:t>
            </a:r>
          </a:p>
        </p:txBody>
      </p:sp>
    </p:spTree>
    <p:extLst>
      <p:ext uri="{BB962C8B-B14F-4D97-AF65-F5344CB8AC3E}">
        <p14:creationId xmlns:p14="http://schemas.microsoft.com/office/powerpoint/2010/main" val="774298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E9743-449D-BA5B-92E8-0E96304B9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NIV / BIPAP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94878-06BD-0D04-A6E9-FE2D61761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Aids alveolar ventilation </a:t>
            </a:r>
          </a:p>
          <a:p>
            <a:pPr lvl="1"/>
            <a:r>
              <a:rPr lang="en-GB" dirty="0">
                <a:ea typeface="Cambria"/>
              </a:rPr>
              <a:t>Increases tidal volume </a:t>
            </a:r>
          </a:p>
          <a:p>
            <a:pPr lvl="1"/>
            <a:r>
              <a:rPr lang="en-GB" dirty="0"/>
              <a:t>Increases the clearance of CO2 </a:t>
            </a:r>
          </a:p>
          <a:p>
            <a:pPr lvl="1"/>
            <a:r>
              <a:rPr lang="en-GB" dirty="0"/>
              <a:t>Improved gas exchange </a:t>
            </a:r>
          </a:p>
          <a:p>
            <a:r>
              <a:rPr lang="en-GB" dirty="0"/>
              <a:t>Reduced work of breathing </a:t>
            </a:r>
          </a:p>
          <a:p>
            <a:pPr lvl="1"/>
            <a:r>
              <a:rPr lang="en-GB" dirty="0"/>
              <a:t>Prevents respiratory muscle fatigue </a:t>
            </a:r>
          </a:p>
          <a:p>
            <a:pPr lvl="1"/>
            <a:r>
              <a:rPr lang="en-GB" dirty="0">
                <a:ea typeface="Cambria"/>
              </a:rPr>
              <a:t>Decreases </a:t>
            </a:r>
            <a:r>
              <a:rPr lang="en-GB" dirty="0" err="1">
                <a:ea typeface="Cambria"/>
              </a:rPr>
              <a:t>Resp</a:t>
            </a:r>
            <a:r>
              <a:rPr lang="en-GB" dirty="0">
                <a:ea typeface="Cambria"/>
              </a:rPr>
              <a:t> rate </a:t>
            </a:r>
            <a:endParaRPr lang="en-GB" dirty="0"/>
          </a:p>
          <a:p>
            <a:r>
              <a:rPr lang="en-GB"/>
              <a:t>PEEP/ EPAP splints open the airways and helps to prevent collapse on </a:t>
            </a:r>
            <a:r>
              <a:rPr lang="en-GB" dirty="0"/>
              <a:t>expiration </a:t>
            </a:r>
          </a:p>
        </p:txBody>
      </p:sp>
    </p:spTree>
    <p:extLst>
      <p:ext uri="{BB962C8B-B14F-4D97-AF65-F5344CB8AC3E}">
        <p14:creationId xmlns:p14="http://schemas.microsoft.com/office/powerpoint/2010/main" val="3110113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6EFC6-45BA-8DD0-8365-DEC6C7A0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Adverse effects of positive pressure therapy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6E1E-F41C-0AC5-E95E-CC93F0B15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Pressure injuries from the mask : </a:t>
            </a:r>
          </a:p>
          <a:p>
            <a:pPr lvl="1"/>
            <a:r>
              <a:rPr lang="en-GB" dirty="0"/>
              <a:t>Prolonged use </a:t>
            </a:r>
          </a:p>
          <a:p>
            <a:pPr lvl="1"/>
            <a:r>
              <a:rPr lang="en-GB" dirty="0"/>
              <a:t>Poor fitting mask </a:t>
            </a:r>
          </a:p>
          <a:p>
            <a:r>
              <a:rPr lang="en-GB" dirty="0"/>
              <a:t>Abdominal distension :</a:t>
            </a:r>
          </a:p>
          <a:p>
            <a:pPr lvl="1"/>
            <a:r>
              <a:rPr lang="en-GB" dirty="0"/>
              <a:t>Poor synchronisation with mask </a:t>
            </a:r>
          </a:p>
          <a:p>
            <a:pPr lvl="1"/>
            <a:r>
              <a:rPr lang="en-GB" dirty="0"/>
              <a:t>Patients not tolerating settings </a:t>
            </a:r>
          </a:p>
          <a:p>
            <a:r>
              <a:rPr lang="en-GB" dirty="0"/>
              <a:t>Barotrauma </a:t>
            </a:r>
          </a:p>
          <a:p>
            <a:pPr lvl="1"/>
            <a:r>
              <a:rPr lang="en-GB" dirty="0"/>
              <a:t>Always a risk with positive pressure </a:t>
            </a:r>
          </a:p>
        </p:txBody>
      </p:sp>
    </p:spTree>
    <p:extLst>
      <p:ext uri="{BB962C8B-B14F-4D97-AF65-F5344CB8AC3E}">
        <p14:creationId xmlns:p14="http://schemas.microsoft.com/office/powerpoint/2010/main" val="1100792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2320-B1B8-C3B3-605C-F1B0EEA1E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Relative contra-indications to NIV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A8F93-BF08-9F16-2A3C-1587C8200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Ph &lt; 7.15 + additional signs of deterioration </a:t>
            </a:r>
          </a:p>
          <a:p>
            <a:r>
              <a:rPr lang="en-GB" dirty="0">
                <a:ea typeface="Cambria"/>
              </a:rPr>
              <a:t>Haemodynamic instability </a:t>
            </a:r>
          </a:p>
          <a:p>
            <a:r>
              <a:rPr lang="en-GB" dirty="0">
                <a:ea typeface="Cambria"/>
              </a:rPr>
              <a:t>GCS &lt;8 </a:t>
            </a:r>
          </a:p>
          <a:p>
            <a:r>
              <a:rPr lang="en-GB" dirty="0">
                <a:ea typeface="Cambria"/>
              </a:rPr>
              <a:t>Confusion / Agitation </a:t>
            </a:r>
          </a:p>
          <a:p>
            <a:r>
              <a:rPr lang="en-GB" dirty="0">
                <a:ea typeface="Cambria"/>
              </a:rPr>
              <a:t>Small bowel obstruction or marked abdominal distention</a:t>
            </a:r>
          </a:p>
          <a:p>
            <a:r>
              <a:rPr lang="en-GB" dirty="0" err="1">
                <a:ea typeface="Cambria"/>
              </a:rPr>
              <a:t>Copius</a:t>
            </a:r>
            <a:r>
              <a:rPr lang="en-GB" dirty="0">
                <a:ea typeface="Cambria"/>
              </a:rPr>
              <a:t> secretions </a:t>
            </a:r>
          </a:p>
          <a:p>
            <a:r>
              <a:rPr lang="en-GB" dirty="0">
                <a:ea typeface="Cambria"/>
              </a:rPr>
              <a:t>Severe co-morbidities </a:t>
            </a:r>
          </a:p>
          <a:p>
            <a:r>
              <a:rPr lang="en-GB" dirty="0">
                <a:ea typeface="Cambria"/>
              </a:rPr>
              <a:t>Need for ongoing sedation </a:t>
            </a:r>
          </a:p>
          <a:p>
            <a:pPr marL="0" indent="0">
              <a:buNone/>
            </a:pPr>
            <a:endParaRPr lang="en-GB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256003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90348-51C6-84A6-A771-5AC5E26F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Commencement of NIV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C168-DDE5-9737-B055-BDD9981F5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Each trust will have a unique set of guidelines to support safe commencement of NIV</a:t>
            </a:r>
          </a:p>
          <a:p>
            <a:r>
              <a:rPr lang="en-GB" dirty="0">
                <a:ea typeface="Cambria"/>
              </a:rPr>
              <a:t>In an acute scenario you will likely be setting patients up using a ventilator or an acute NIV machine for a longer term patient who has their own machine you will use a different </a:t>
            </a:r>
            <a:r>
              <a:rPr lang="en-GB" dirty="0" err="1">
                <a:ea typeface="Cambria"/>
              </a:rPr>
              <a:t>macchine</a:t>
            </a:r>
            <a:r>
              <a:rPr lang="en-GB" dirty="0">
                <a:ea typeface="Cambria"/>
              </a:rPr>
              <a:t>. </a:t>
            </a:r>
          </a:p>
          <a:p>
            <a:r>
              <a:rPr lang="en-GB" dirty="0">
                <a:ea typeface="Cambria"/>
              </a:rPr>
              <a:t>Essentially the main difference: </a:t>
            </a:r>
          </a:p>
          <a:p>
            <a:pPr lvl="1"/>
            <a:r>
              <a:rPr lang="en-GB" dirty="0">
                <a:ea typeface="Cambria"/>
              </a:rPr>
              <a:t>Acute machines : Pressure support and PEEP </a:t>
            </a:r>
          </a:p>
          <a:p>
            <a:pPr lvl="1"/>
            <a:r>
              <a:rPr lang="en-GB" dirty="0">
                <a:ea typeface="Cambria"/>
              </a:rPr>
              <a:t>Long term machines : IPAP and EPAP </a:t>
            </a:r>
          </a:p>
          <a:p>
            <a:pPr marL="457200" lvl="1" indent="0">
              <a:buNone/>
            </a:pPr>
            <a:endParaRPr lang="en-GB" dirty="0">
              <a:ea typeface="Cambria"/>
            </a:endParaRPr>
          </a:p>
          <a:p>
            <a:endParaRPr lang="en-GB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20250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E8BD-447E-7F63-B98D-E7CCE05A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Commencement of NIV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2E6EB-33C2-7337-4AD0-A74E0D407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Pressure Support starting around 10 or an appropriate level to achieve target VT </a:t>
            </a:r>
          </a:p>
          <a:p>
            <a:pPr lvl="1"/>
            <a:r>
              <a:rPr lang="en-GB" dirty="0">
                <a:ea typeface="Cambria"/>
              </a:rPr>
              <a:t>Wait 10/20 mins </a:t>
            </a:r>
          </a:p>
          <a:p>
            <a:pPr lvl="1"/>
            <a:r>
              <a:rPr lang="en-GB" dirty="0">
                <a:ea typeface="Cambria"/>
              </a:rPr>
              <a:t>Complete ABG </a:t>
            </a:r>
          </a:p>
          <a:p>
            <a:pPr lvl="1"/>
            <a:r>
              <a:rPr lang="en-GB" dirty="0">
                <a:ea typeface="Cambria"/>
              </a:rPr>
              <a:t>Titrate PS and PEEP appropriately </a:t>
            </a:r>
          </a:p>
          <a:p>
            <a:pPr lvl="1"/>
            <a:r>
              <a:rPr lang="en-GB" b="1" dirty="0">
                <a:ea typeface="Cambria"/>
              </a:rPr>
              <a:t>Monitor for signs of deterioration </a:t>
            </a:r>
          </a:p>
          <a:p>
            <a:pPr lvl="1"/>
            <a:endParaRPr lang="en-GB" dirty="0">
              <a:ea typeface="Cambria"/>
            </a:endParaRPr>
          </a:p>
          <a:p>
            <a:r>
              <a:rPr lang="en-GB" dirty="0">
                <a:ea typeface="Cambria"/>
              </a:rPr>
              <a:t>IPAP and EPAP starting pressures are outlined in the BTS guidelines.... </a:t>
            </a:r>
          </a:p>
        </p:txBody>
      </p:sp>
    </p:spTree>
    <p:extLst>
      <p:ext uri="{BB962C8B-B14F-4D97-AF65-F5344CB8AC3E}">
        <p14:creationId xmlns:p14="http://schemas.microsoft.com/office/powerpoint/2010/main" val="3769355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0E61-B123-084F-9824-15D01AF6B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BTS guidelines </a:t>
            </a:r>
          </a:p>
        </p:txBody>
      </p:sp>
      <p:pic>
        <p:nvPicPr>
          <p:cNvPr id="2050" name="Picture 2" descr="British Thoracic Society/Intensive Care Society Guideline ...">
            <a:extLst>
              <a:ext uri="{FF2B5EF4-FFF2-40B4-BE49-F238E27FC236}">
                <a16:creationId xmlns:a16="http://schemas.microsoft.com/office/drawing/2014/main" id="{4C270261-AB37-1619-4B07-3693FCED2A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47" y="2657280"/>
            <a:ext cx="4978985" cy="366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70BB86-050A-789A-0CA0-8E415FC21A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238" t="13333" r="14444" b="64465"/>
          <a:stretch/>
        </p:blipFill>
        <p:spPr>
          <a:xfrm>
            <a:off x="6350000" y="2057623"/>
            <a:ext cx="5604934" cy="332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20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DDB1-EB22-B876-4BBA-D36FD9DD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F2E421-5C7E-89A9-1F13-EE075CC57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32" y="3501494"/>
            <a:ext cx="2320925" cy="2320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6228F4-7FC7-6360-B0C4-359867A7A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05" y="4384677"/>
            <a:ext cx="2148353" cy="21483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62F9EC-2E8E-F78F-00A2-FB2D5DFE9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022" y="2003427"/>
            <a:ext cx="2381250" cy="2381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74CEF8-3D65-5B0C-1B02-C55AA4A81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0325" y="3229867"/>
            <a:ext cx="2864177" cy="2864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D88CF7-6C03-BAFC-2C70-940A878877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6057" y="2290009"/>
            <a:ext cx="1983448" cy="198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95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1CBC-10DB-B976-0D0D-F2C27B74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Signs of deterioration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9613A-D71B-5A50-68F6-C995362C1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Cambria"/>
              </a:rPr>
              <a:t>Worsening ABG despite CPAP or NIV </a:t>
            </a:r>
          </a:p>
          <a:p>
            <a:r>
              <a:rPr lang="en-GB" dirty="0">
                <a:ea typeface="Cambria"/>
              </a:rPr>
              <a:t>Persistent RR &gt; 30l/min </a:t>
            </a:r>
          </a:p>
          <a:p>
            <a:r>
              <a:rPr lang="en-GB" dirty="0">
                <a:ea typeface="Cambria"/>
              </a:rPr>
              <a:t>New onset confusion, agitation or restlessness </a:t>
            </a:r>
          </a:p>
          <a:p>
            <a:r>
              <a:rPr lang="en-GB" dirty="0">
                <a:ea typeface="Cambria"/>
              </a:rPr>
              <a:t>Reduced GCS </a:t>
            </a:r>
          </a:p>
          <a:p>
            <a:r>
              <a:rPr lang="en-GB" dirty="0">
                <a:ea typeface="Cambria"/>
              </a:rPr>
              <a:t>Increased respiratory effort</a:t>
            </a:r>
          </a:p>
          <a:p>
            <a:endParaRPr lang="en-GB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39115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9FD3D-8BE6-96DB-74AA-467AD599E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mbria"/>
              </a:rPr>
              <a:t>Chronic use of Positive pressure 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44663-D226-2F8F-7B84-3B89ED7A3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Cambria"/>
              </a:rPr>
              <a:t>Pathologies that affect  the respiratory mechanics or compliance of the lungs : </a:t>
            </a:r>
          </a:p>
          <a:p>
            <a:pPr lvl="1" indent="-457200"/>
            <a:r>
              <a:rPr lang="en-GB">
                <a:ea typeface="Cambria"/>
              </a:rPr>
              <a:t>Degenerative neuro-muscular disease </a:t>
            </a:r>
            <a:endParaRPr lang="en-GB" dirty="0">
              <a:ea typeface="Cambria"/>
            </a:endParaRPr>
          </a:p>
          <a:p>
            <a:pPr lvl="1" indent="-457200"/>
            <a:r>
              <a:rPr lang="en-GB">
                <a:ea typeface="Cambria"/>
              </a:rPr>
              <a:t>Obstructive sleep apneoa  </a:t>
            </a:r>
          </a:p>
          <a:p>
            <a:pPr lvl="1" indent="-457200"/>
            <a:r>
              <a:rPr lang="en-GB">
                <a:ea typeface="Cambria"/>
              </a:rPr>
              <a:t>End stage lung disease </a:t>
            </a:r>
          </a:p>
          <a:p>
            <a:pPr marL="914400" lvl="2" indent="0">
              <a:buNone/>
            </a:pPr>
            <a:endParaRPr lang="en-GB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446762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0EBC-D637-12C6-9EBC-42915BD5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mbria"/>
              </a:rPr>
              <a:t>Neuro-muscular disease 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9BF6D-5DAB-8560-CF96-87EF6D985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lvl="1"/>
            <a:r>
              <a:rPr lang="en-GB">
                <a:ea typeface="Cambria"/>
              </a:rPr>
              <a:t>Neuro-muscular disease : </a:t>
            </a:r>
          </a:p>
          <a:p>
            <a:pPr lvl="2"/>
            <a:r>
              <a:rPr lang="en-GB">
                <a:ea typeface="Cambria"/>
              </a:rPr>
              <a:t>"Progressive muscular impariment leading to loss of ambulation, being wheel-chair bound, swallowing difficulties, respiratory mm weakness "</a:t>
            </a:r>
            <a:endParaRPr lang="en-GB" dirty="0">
              <a:ea typeface="Cambria"/>
            </a:endParaRPr>
          </a:p>
          <a:p>
            <a:pPr lvl="2"/>
            <a:r>
              <a:rPr lang="en-GB">
                <a:ea typeface="Cambria"/>
              </a:rPr>
              <a:t>Eg motor neuron disease, myesthentia gravis, myotonic dystrophy etc </a:t>
            </a:r>
            <a:endParaRPr lang="en-GB" dirty="0">
              <a:ea typeface="Cambria"/>
            </a:endParaRPr>
          </a:p>
          <a:p>
            <a:pPr lvl="1"/>
            <a:endParaRPr lang="en-GB" dirty="0">
              <a:ea typeface="Cambria"/>
            </a:endParaRPr>
          </a:p>
          <a:p>
            <a:pPr lvl="1"/>
            <a:r>
              <a:rPr lang="en-GB">
                <a:ea typeface="Cambria"/>
              </a:rPr>
              <a:t>Affects the respiratory pump muscles</a:t>
            </a:r>
            <a:endParaRPr lang="en-GB">
              <a:ea typeface="+mn-lt"/>
              <a:cs typeface="+mn-lt"/>
            </a:endParaRPr>
          </a:p>
          <a:p>
            <a:pPr lvl="2"/>
            <a:r>
              <a:rPr lang="en-GB">
                <a:ea typeface="Cambria"/>
              </a:rPr>
              <a:t>Lose ability to clear Co2 due to reduced ability to generate appropriate Vt </a:t>
            </a:r>
            <a:endParaRPr lang="en-US">
              <a:ea typeface="+mn-lt"/>
              <a:cs typeface="+mn-lt"/>
            </a:endParaRPr>
          </a:p>
          <a:p>
            <a:pPr lvl="2"/>
            <a:r>
              <a:rPr lang="en-GB">
                <a:ea typeface="Cambria"/>
              </a:rPr>
              <a:t>Lose bulbar and glottal function and therefore ability to generate cough </a:t>
            </a:r>
            <a:endParaRPr lang="en-US">
              <a:ea typeface="+mn-lt"/>
              <a:cs typeface="+mn-lt"/>
            </a:endParaRPr>
          </a:p>
          <a:p>
            <a:pPr lvl="2"/>
            <a:endParaRPr lang="en-GB" dirty="0">
              <a:ea typeface="Cambria"/>
            </a:endParaRPr>
          </a:p>
          <a:p>
            <a:pPr lvl="1" indent="-457200"/>
            <a:r>
              <a:rPr lang="en-GB">
                <a:ea typeface="Cambria"/>
              </a:rPr>
              <a:t>NIV in this pateint group has been shown to increase quality of life and survival</a:t>
            </a:r>
            <a:endParaRPr lang="en-GB" dirty="0">
              <a:ea typeface="Cambria"/>
            </a:endParaRPr>
          </a:p>
          <a:p>
            <a:pPr lvl="1" indent="-457200"/>
            <a:r>
              <a:rPr lang="en-GB">
                <a:ea typeface="Cambria"/>
              </a:rPr>
              <a:t>Cough assist someevidence to support MI:E, further evidence needed to specifically guide clinical practice </a:t>
            </a:r>
            <a:endParaRPr lang="en-GB" dirty="0">
              <a:ea typeface="Cambria"/>
            </a:endParaRPr>
          </a:p>
          <a:p>
            <a:endParaRPr lang="en-GB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051401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A985-4A03-D8D7-CCAA-BD4BB09C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mbria"/>
              </a:rPr>
              <a:t>Obstructive sleep apneoa 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7FE4-7E59-312F-6D47-81A328C87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 indent="-457200"/>
            <a:r>
              <a:rPr lang="en-GB">
                <a:ea typeface="Cambria"/>
              </a:rPr>
              <a:t>Obstructive sleep apneoa : </a:t>
            </a:r>
            <a:endParaRPr lang="en-US">
              <a:ea typeface="+mn-lt"/>
              <a:cs typeface="+mn-lt"/>
            </a:endParaRPr>
          </a:p>
          <a:p>
            <a:pPr lvl="2"/>
            <a:r>
              <a:rPr lang="en-GB">
                <a:ea typeface="Cambria"/>
              </a:rPr>
              <a:t>During sleep due to neurological defect or obesity the airway becomes obstructed </a:t>
            </a:r>
            <a:endParaRPr lang="en-US">
              <a:ea typeface="+mn-lt"/>
              <a:cs typeface="+mn-lt"/>
            </a:endParaRPr>
          </a:p>
          <a:p>
            <a:pPr lvl="2"/>
            <a:r>
              <a:rPr lang="en-GB">
                <a:ea typeface="Cambria"/>
              </a:rPr>
              <a:t>Diagnosed through sleep studies conducted as an inpatient </a:t>
            </a:r>
            <a:endParaRPr lang="en-US">
              <a:ea typeface="+mn-lt"/>
              <a:cs typeface="+mn-lt"/>
            </a:endParaRPr>
          </a:p>
          <a:p>
            <a:pPr lvl="3"/>
            <a:r>
              <a:rPr lang="en-GB">
                <a:ea typeface="Cambria"/>
              </a:rPr>
              <a:t>Look at saturations, heart rate and blood pressure overnight </a:t>
            </a:r>
            <a:endParaRPr lang="en-GB" dirty="0">
              <a:ea typeface="Cambria"/>
            </a:endParaRPr>
          </a:p>
          <a:p>
            <a:pPr lvl="3"/>
            <a:r>
              <a:rPr lang="en-GB">
                <a:ea typeface="Cambria"/>
              </a:rPr>
              <a:t>Complete early morning blood gas </a:t>
            </a:r>
            <a:endParaRPr lang="en-GB" dirty="0">
              <a:ea typeface="Cambria"/>
            </a:endParaRPr>
          </a:p>
          <a:p>
            <a:pPr lvl="3"/>
            <a:endParaRPr lang="en-GB" dirty="0">
              <a:ea typeface="Cambria"/>
            </a:endParaRPr>
          </a:p>
          <a:p>
            <a:pPr lvl="1" indent="-457200"/>
            <a:r>
              <a:rPr lang="en-GB">
                <a:ea typeface="Cambria"/>
              </a:rPr>
              <a:t>CPAP and NIV has been shown to be an effective way to manage OSA, reduce the number of wakeful periods during the night and stabilisation of ABGs </a:t>
            </a:r>
            <a:endParaRPr lang="en-GB" dirty="0">
              <a:ea typeface="Cambria"/>
            </a:endParaRPr>
          </a:p>
          <a:p>
            <a:pPr lvl="2"/>
            <a:endParaRPr lang="en-GB" dirty="0">
              <a:ea typeface="Cambria"/>
            </a:endParaRPr>
          </a:p>
          <a:p>
            <a:endParaRPr lang="en-GB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75510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A1B80-19BC-1197-8EAF-C4C3B046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mbria"/>
              </a:rPr>
              <a:t>COPD end stage and acute  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89CFD-F6B1-09AC-A65A-7C79E1382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 indent="-457200"/>
            <a:r>
              <a:rPr lang="en-GB" sz="2800">
                <a:ea typeface="Cambria"/>
              </a:rPr>
              <a:t>End stage COPD  and acute exacerbations: </a:t>
            </a:r>
            <a:endParaRPr lang="en-US" sz="2800">
              <a:ea typeface="+mn-lt"/>
              <a:cs typeface="+mn-lt"/>
            </a:endParaRPr>
          </a:p>
          <a:p>
            <a:pPr lvl="2"/>
            <a:r>
              <a:rPr lang="en-GB" sz="2800">
                <a:ea typeface="Cambria"/>
              </a:rPr>
              <a:t>Emphesematous or inflammatory changes to the lungs result in reduced surface area for gas exchange</a:t>
            </a:r>
            <a:r>
              <a:rPr lang="en-GB" sz="2800" dirty="0">
                <a:ea typeface="Cambria"/>
              </a:rPr>
              <a:t> </a:t>
            </a:r>
            <a:endParaRPr lang="en-US" sz="2800" dirty="0">
              <a:ea typeface="+mn-lt"/>
              <a:cs typeface="+mn-lt"/>
            </a:endParaRPr>
          </a:p>
          <a:p>
            <a:pPr lvl="2"/>
            <a:r>
              <a:rPr lang="en-GB" sz="2800">
                <a:ea typeface="Cambria"/>
              </a:rPr>
              <a:t>Reduced elasticity of the lungs </a:t>
            </a:r>
            <a:endParaRPr lang="en-GB" sz="2800">
              <a:ea typeface="+mn-lt"/>
              <a:cs typeface="+mn-lt"/>
            </a:endParaRPr>
          </a:p>
          <a:p>
            <a:pPr lvl="2"/>
            <a:r>
              <a:rPr lang="en-GB" sz="2800">
                <a:ea typeface="Cambria"/>
              </a:rPr>
              <a:t>Reduced elasticity of airways</a:t>
            </a:r>
            <a:endParaRPr lang="en-GB" sz="2800">
              <a:ea typeface="+mn-lt"/>
              <a:cs typeface="+mn-lt"/>
            </a:endParaRPr>
          </a:p>
          <a:p>
            <a:pPr lvl="2"/>
            <a:r>
              <a:rPr lang="en-GB" sz="2800">
                <a:ea typeface="Cambria"/>
              </a:rPr>
              <a:t>NIV needed to blow off Co2 and splint open the airways</a:t>
            </a:r>
          </a:p>
          <a:p>
            <a:pPr lvl="1" indent="-457200"/>
            <a:r>
              <a:rPr lang="en-GB" sz="3200">
                <a:ea typeface="Cambria"/>
              </a:rPr>
              <a:t>Shown to improve chronic hypercapnic COPD patients' mortality  </a:t>
            </a:r>
            <a:endParaRPr lang="en-GB" sz="3200">
              <a:ea typeface="+mn-lt"/>
              <a:cs typeface="+mn-lt"/>
            </a:endParaRPr>
          </a:p>
          <a:p>
            <a:endParaRPr lang="en-GB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64114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ECCA9-9F17-8157-AD03-2FE81345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Case study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2B33-9549-1CF6-F1AD-EF976EF28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GB" dirty="0">
                <a:ea typeface="Cambria"/>
              </a:rPr>
              <a:t>70 year old day 4 post </a:t>
            </a:r>
            <a:r>
              <a:rPr lang="en-GB">
                <a:ea typeface="Cambria"/>
              </a:rPr>
              <a:t>tAVR </a:t>
            </a:r>
            <a:endParaRPr lang="en-US"/>
          </a:p>
          <a:p>
            <a:pPr marL="0" indent="0">
              <a:buNone/>
            </a:pPr>
            <a:r>
              <a:rPr lang="en-GB">
                <a:ea typeface="Cambria"/>
              </a:rPr>
              <a:t>PMH : Rheumatic disease, COPD, smoker. In +++ pain and struggling </a:t>
            </a:r>
            <a:r>
              <a:rPr lang="en-GB" dirty="0">
                <a:ea typeface="Cambria"/>
              </a:rPr>
              <a:t>to clear chest, Nurses report very thick brown secretions, but pt is not able to clear easily. </a:t>
            </a:r>
          </a:p>
          <a:p>
            <a:pPr marL="0" indent="0">
              <a:buNone/>
            </a:pPr>
            <a:r>
              <a:rPr lang="en-GB" b="1">
                <a:ea typeface="Cambria"/>
              </a:rPr>
              <a:t>A</a:t>
            </a:r>
            <a:r>
              <a:rPr lang="en-GB">
                <a:ea typeface="Cambria"/>
              </a:rPr>
              <a:t>: own, patent </a:t>
            </a:r>
          </a:p>
          <a:p>
            <a:pPr marL="0" indent="0">
              <a:buNone/>
            </a:pPr>
            <a:r>
              <a:rPr lang="en-GB" b="1">
                <a:ea typeface="Cambria"/>
              </a:rPr>
              <a:t>B:</a:t>
            </a:r>
            <a:r>
              <a:rPr lang="en-GB">
                <a:ea typeface="Cambria"/>
              </a:rPr>
              <a:t> SV cold humidified O2 35% RR 20 </a:t>
            </a:r>
          </a:p>
          <a:p>
            <a:pPr marL="0" indent="0">
              <a:buNone/>
            </a:pPr>
            <a:r>
              <a:rPr lang="en-GB" b="1">
                <a:ea typeface="Cambria"/>
              </a:rPr>
              <a:t>AUSC</a:t>
            </a:r>
            <a:r>
              <a:rPr lang="en-GB">
                <a:ea typeface="Cambria"/>
              </a:rPr>
              <a:t>: reduced ae into bases + coarse crackles in mid zones and bases </a:t>
            </a:r>
          </a:p>
          <a:p>
            <a:pPr marL="0" indent="0">
              <a:buNone/>
            </a:pPr>
            <a:r>
              <a:rPr lang="en-GB" b="1">
                <a:ea typeface="Cambria"/>
              </a:rPr>
              <a:t>ABG </a:t>
            </a:r>
            <a:r>
              <a:rPr lang="en-GB">
                <a:ea typeface="Cambria"/>
              </a:rPr>
              <a:t>: PH 7.35 PaCo2 6.00 PO2 10.00 HCo3 23.0 BE 3.0 </a:t>
            </a:r>
          </a:p>
          <a:p>
            <a:pPr marL="0" indent="0">
              <a:buNone/>
            </a:pPr>
            <a:r>
              <a:rPr lang="en-GB" b="1">
                <a:ea typeface="Cambria"/>
              </a:rPr>
              <a:t>C: </a:t>
            </a:r>
            <a:r>
              <a:rPr lang="en-GB">
                <a:ea typeface="Cambria"/>
              </a:rPr>
              <a:t>Hr 78 BP 110/89 T 37.5 </a:t>
            </a:r>
          </a:p>
          <a:p>
            <a:pPr marL="0" indent="0">
              <a:buNone/>
            </a:pPr>
            <a:r>
              <a:rPr lang="en-GB" b="1">
                <a:ea typeface="Cambria"/>
              </a:rPr>
              <a:t>D</a:t>
            </a:r>
            <a:r>
              <a:rPr lang="en-GB">
                <a:ea typeface="Cambria"/>
              </a:rPr>
              <a:t>: 15/15 </a:t>
            </a:r>
          </a:p>
          <a:p>
            <a:pPr marL="0" indent="0">
              <a:buNone/>
            </a:pPr>
            <a:r>
              <a:rPr lang="en-GB" b="1">
                <a:ea typeface="Cambria"/>
              </a:rPr>
              <a:t>E</a:t>
            </a:r>
            <a:r>
              <a:rPr lang="en-GB">
                <a:ea typeface="Cambria"/>
              </a:rPr>
              <a:t>: catheter, CVC, arterial line, monitoring </a:t>
            </a:r>
          </a:p>
          <a:p>
            <a:pPr marL="914400" lvl="1" indent="-457200"/>
            <a:r>
              <a:rPr lang="en-GB">
                <a:ea typeface="Cambria"/>
              </a:rPr>
              <a:t>Sitting upright in bed, not able to talk in full sentances, wheeze and crackle on expiration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E0A8D-93BE-D303-B674-F0460DC7E2D3}"/>
              </a:ext>
            </a:extLst>
          </p:cNvPr>
          <p:cNvSpPr txBox="1"/>
          <p:nvPr/>
        </p:nvSpPr>
        <p:spPr>
          <a:xfrm>
            <a:off x="8776099" y="4487974"/>
            <a:ext cx="355483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solidFill>
                  <a:srgbClr val="FF0000"/>
                </a:solidFill>
                <a:ea typeface="Cambria"/>
              </a:rPr>
              <a:t>What type of resp failure ? </a:t>
            </a:r>
            <a:endParaRPr lang="en-GB" b="1" dirty="0">
              <a:solidFill>
                <a:srgbClr val="FF0000"/>
              </a:solidFill>
              <a:ea typeface="Cambria"/>
            </a:endParaRPr>
          </a:p>
          <a:p>
            <a:r>
              <a:rPr lang="en-GB" b="1">
                <a:solidFill>
                  <a:srgbClr val="FF0000"/>
                </a:solidFill>
                <a:ea typeface="Cambria"/>
              </a:rPr>
              <a:t>Problem list ? </a:t>
            </a:r>
            <a:endParaRPr lang="en-GB"/>
          </a:p>
          <a:p>
            <a:r>
              <a:rPr lang="en-GB" b="1" dirty="0">
                <a:solidFill>
                  <a:srgbClr val="FF0000"/>
                </a:solidFill>
                <a:ea typeface="Cambria"/>
              </a:rPr>
              <a:t>Treatment plan ? </a:t>
            </a:r>
          </a:p>
          <a:p>
            <a:r>
              <a:rPr lang="en-GB" b="1" dirty="0">
                <a:solidFill>
                  <a:srgbClr val="FF0000"/>
                </a:solidFill>
                <a:ea typeface="Cambria"/>
              </a:rPr>
              <a:t>WHY ?</a:t>
            </a:r>
          </a:p>
        </p:txBody>
      </p:sp>
    </p:spTree>
    <p:extLst>
      <p:ext uri="{BB962C8B-B14F-4D97-AF65-F5344CB8AC3E}">
        <p14:creationId xmlns:p14="http://schemas.microsoft.com/office/powerpoint/2010/main" val="12603565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A476-EBAE-88BA-86B9-80E9920A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Let'd do some case studies..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28194-2197-F341-722F-301B218DA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endParaRPr lang="en-GB" dirty="0">
              <a:ea typeface="Cambria"/>
            </a:endParaRPr>
          </a:p>
          <a:p>
            <a:r>
              <a:rPr lang="en-GB" dirty="0">
                <a:ea typeface="Cambria"/>
              </a:rPr>
              <a:t>40 year old female. </a:t>
            </a:r>
          </a:p>
          <a:p>
            <a:r>
              <a:rPr lang="en-GB" dirty="0">
                <a:ea typeface="Cambria"/>
              </a:rPr>
              <a:t>Day 3 post CABG, slowly been deteriorating over the last 2 days </a:t>
            </a:r>
            <a:endParaRPr lang="en-GB"/>
          </a:p>
          <a:p>
            <a:r>
              <a:rPr lang="en-GB" dirty="0">
                <a:ea typeface="Cambria"/>
              </a:rPr>
              <a:t>Asked to see on the ward : </a:t>
            </a:r>
          </a:p>
          <a:p>
            <a:pPr marL="0" indent="0">
              <a:buNone/>
            </a:pPr>
            <a:endParaRPr lang="en-GB" dirty="0">
              <a:ea typeface="Cambria"/>
            </a:endParaRPr>
          </a:p>
          <a:p>
            <a:pPr marL="0" indent="0">
              <a:buNone/>
            </a:pPr>
            <a:r>
              <a:rPr lang="en-GB" b="1" dirty="0">
                <a:ea typeface="Cambria"/>
              </a:rPr>
              <a:t>A</a:t>
            </a:r>
            <a:r>
              <a:rPr lang="en-GB" dirty="0">
                <a:ea typeface="Cambria"/>
              </a:rPr>
              <a:t>: own, patent </a:t>
            </a:r>
          </a:p>
          <a:p>
            <a:pPr marL="0" indent="0">
              <a:buNone/>
            </a:pPr>
            <a:r>
              <a:rPr lang="en-GB" b="1" dirty="0">
                <a:ea typeface="Cambria"/>
              </a:rPr>
              <a:t>B</a:t>
            </a:r>
            <a:r>
              <a:rPr lang="en-GB" dirty="0">
                <a:ea typeface="Cambria"/>
              </a:rPr>
              <a:t>: SV High flow oxygen 50% 50L RR 30 </a:t>
            </a:r>
          </a:p>
          <a:p>
            <a:pPr marL="0" indent="0">
              <a:buNone/>
            </a:pPr>
            <a:r>
              <a:rPr lang="en-GB" b="1" dirty="0">
                <a:ea typeface="Cambria"/>
              </a:rPr>
              <a:t>AUSC</a:t>
            </a:r>
            <a:r>
              <a:rPr lang="en-GB" dirty="0">
                <a:ea typeface="Cambria"/>
              </a:rPr>
              <a:t>: Reduced air entry into bases </a:t>
            </a:r>
          </a:p>
          <a:p>
            <a:pPr marL="0" indent="0">
              <a:buNone/>
            </a:pPr>
            <a:r>
              <a:rPr lang="en-GB" b="1" dirty="0">
                <a:ea typeface="Cambria"/>
              </a:rPr>
              <a:t>ABG </a:t>
            </a:r>
            <a:r>
              <a:rPr lang="en-GB" dirty="0">
                <a:ea typeface="Cambria"/>
              </a:rPr>
              <a:t>: Ph 7.35 PCo2 5.00 PaO2 7.00 HCo3 23.0 BE 1.0 </a:t>
            </a:r>
          </a:p>
          <a:p>
            <a:pPr marL="0" indent="0">
              <a:buNone/>
            </a:pPr>
            <a:r>
              <a:rPr lang="en-GB" b="1" dirty="0">
                <a:ea typeface="Cambria"/>
              </a:rPr>
              <a:t>C</a:t>
            </a:r>
            <a:r>
              <a:rPr lang="en-GB" dirty="0">
                <a:ea typeface="Cambria"/>
              </a:rPr>
              <a:t>: Hr 120 BP 110/80 T 37.0 // noradrenaline 0.05 </a:t>
            </a:r>
          </a:p>
          <a:p>
            <a:pPr marL="0" indent="0">
              <a:buNone/>
            </a:pPr>
            <a:r>
              <a:rPr lang="en-GB" b="1" dirty="0">
                <a:ea typeface="Cambria"/>
              </a:rPr>
              <a:t>D</a:t>
            </a:r>
            <a:r>
              <a:rPr lang="en-GB" dirty="0">
                <a:ea typeface="Cambria"/>
              </a:rPr>
              <a:t>: 15/15 </a:t>
            </a:r>
          </a:p>
          <a:p>
            <a:pPr marL="0" indent="0">
              <a:buNone/>
            </a:pPr>
            <a:r>
              <a:rPr lang="en-GB" b="1" dirty="0">
                <a:ea typeface="Cambria"/>
              </a:rPr>
              <a:t>E</a:t>
            </a:r>
            <a:r>
              <a:rPr lang="en-GB" dirty="0">
                <a:ea typeface="Cambria"/>
              </a:rPr>
              <a:t>: Catheter, 2 x drains </a:t>
            </a:r>
            <a:r>
              <a:rPr lang="en-GB" dirty="0" err="1">
                <a:ea typeface="Cambria"/>
              </a:rPr>
              <a:t>insitu</a:t>
            </a:r>
            <a:r>
              <a:rPr lang="en-GB" dirty="0">
                <a:ea typeface="Cambria"/>
              </a:rPr>
              <a:t>, CVC, arterial line </a:t>
            </a:r>
          </a:p>
          <a:p>
            <a:pPr lvl="1"/>
            <a:r>
              <a:rPr lang="en-GB" dirty="0">
                <a:ea typeface="Cambria"/>
              </a:rPr>
              <a:t>Pt sitting in bed, pale and sweaty, use of accessory mm, pursed lip breathing, blue tinge to lips </a:t>
            </a:r>
          </a:p>
          <a:p>
            <a:endParaRPr lang="en-GB" dirty="0">
              <a:ea typeface="Cambr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A03FA-5F19-38C2-5BE2-F8C4CD986143}"/>
              </a:ext>
            </a:extLst>
          </p:cNvPr>
          <p:cNvSpPr txBox="1"/>
          <p:nvPr/>
        </p:nvSpPr>
        <p:spPr>
          <a:xfrm>
            <a:off x="8392486" y="2453779"/>
            <a:ext cx="355483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ea typeface="Cambria"/>
              </a:rPr>
              <a:t>What type of </a:t>
            </a:r>
            <a:r>
              <a:rPr lang="en-GB" b="1" dirty="0" err="1">
                <a:solidFill>
                  <a:srgbClr val="FF0000"/>
                </a:solidFill>
                <a:ea typeface="Cambria"/>
              </a:rPr>
              <a:t>resp</a:t>
            </a:r>
            <a:r>
              <a:rPr lang="en-GB" b="1" dirty="0">
                <a:solidFill>
                  <a:srgbClr val="FF0000"/>
                </a:solidFill>
                <a:ea typeface="Cambria"/>
              </a:rPr>
              <a:t> failure ? </a:t>
            </a:r>
          </a:p>
          <a:p>
            <a:r>
              <a:rPr lang="en-GB" b="1" dirty="0">
                <a:solidFill>
                  <a:srgbClr val="FF0000"/>
                </a:solidFill>
                <a:ea typeface="Cambria"/>
              </a:rPr>
              <a:t>Problem list ? </a:t>
            </a:r>
            <a:endParaRPr lang="en-GB" dirty="0"/>
          </a:p>
          <a:p>
            <a:r>
              <a:rPr lang="en-GB" b="1" dirty="0">
                <a:solidFill>
                  <a:srgbClr val="FF0000"/>
                </a:solidFill>
                <a:ea typeface="Cambria"/>
              </a:rPr>
              <a:t>Treatment plan ? </a:t>
            </a:r>
          </a:p>
          <a:p>
            <a:r>
              <a:rPr lang="en-GB" b="1" dirty="0">
                <a:solidFill>
                  <a:srgbClr val="FF0000"/>
                </a:solidFill>
                <a:ea typeface="Cambria"/>
              </a:rPr>
              <a:t>WHY ?</a:t>
            </a:r>
          </a:p>
        </p:txBody>
      </p:sp>
    </p:spTree>
    <p:extLst>
      <p:ext uri="{BB962C8B-B14F-4D97-AF65-F5344CB8AC3E}">
        <p14:creationId xmlns:p14="http://schemas.microsoft.com/office/powerpoint/2010/main" val="31297931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E41E-92DF-7575-C67E-9EC70041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mbria"/>
              </a:rPr>
              <a:t>Case study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B6A32-9414-04BC-4781-9E290BC0A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GB" dirty="0">
                <a:ea typeface="Cambria"/>
              </a:rPr>
              <a:t>80 year old new admission after a fall with community acquired pneumonia. PMH : T2DM, COPD </a:t>
            </a:r>
          </a:p>
          <a:p>
            <a:r>
              <a:rPr lang="en-GB" dirty="0">
                <a:ea typeface="Cambria"/>
              </a:rPr>
              <a:t>New confusion on the ward, earlier in the day was complaining of a crushing headache </a:t>
            </a:r>
          </a:p>
          <a:p>
            <a:pPr marL="0" indent="0">
              <a:buNone/>
            </a:pPr>
            <a:r>
              <a:rPr lang="en-GB" dirty="0">
                <a:ea typeface="Cambria"/>
              </a:rPr>
              <a:t>A: own, patent </a:t>
            </a:r>
          </a:p>
          <a:p>
            <a:pPr marL="0" indent="0">
              <a:buNone/>
            </a:pPr>
            <a:r>
              <a:rPr lang="en-GB" dirty="0">
                <a:ea typeface="Cambria"/>
              </a:rPr>
              <a:t>B: SV NC 3l Spo2 88% Rr 23 </a:t>
            </a:r>
          </a:p>
          <a:p>
            <a:pPr marL="0" indent="0">
              <a:buNone/>
            </a:pPr>
            <a:r>
              <a:rPr lang="en-GB" dirty="0">
                <a:ea typeface="Cambria"/>
              </a:rPr>
              <a:t>AUSC: coarse crackles </a:t>
            </a:r>
            <a:r>
              <a:rPr lang="en-GB" dirty="0" err="1">
                <a:ea typeface="Cambria"/>
              </a:rPr>
              <a:t>t.o</a:t>
            </a:r>
            <a:r>
              <a:rPr lang="en-GB" dirty="0">
                <a:ea typeface="Cambria"/>
              </a:rPr>
              <a:t> </a:t>
            </a:r>
          </a:p>
          <a:p>
            <a:pPr marL="0" indent="0">
              <a:buNone/>
            </a:pPr>
            <a:r>
              <a:rPr lang="en-GB" dirty="0">
                <a:ea typeface="Cambria"/>
              </a:rPr>
              <a:t>ABG : PH 7.30 PaCO2 8.00 PaO2 8.00 HCO3 27.0 BE 0.3 </a:t>
            </a:r>
          </a:p>
          <a:p>
            <a:pPr marL="0" indent="0">
              <a:buNone/>
            </a:pPr>
            <a:r>
              <a:rPr lang="en-GB" dirty="0">
                <a:ea typeface="Cambria"/>
              </a:rPr>
              <a:t>C: Hr 70 BP 120/80 T 39.0 </a:t>
            </a:r>
          </a:p>
          <a:p>
            <a:pPr marL="0" indent="0">
              <a:buNone/>
            </a:pPr>
            <a:r>
              <a:rPr lang="en-GB" dirty="0">
                <a:ea typeface="Cambria"/>
              </a:rPr>
              <a:t>D: 14/15 new onset confusion</a:t>
            </a:r>
          </a:p>
          <a:p>
            <a:pPr marL="0" indent="0">
              <a:buNone/>
            </a:pPr>
            <a:r>
              <a:rPr lang="en-GB" dirty="0">
                <a:ea typeface="Cambria"/>
              </a:rPr>
              <a:t>E: Catheter, cannula in arm, monitoring </a:t>
            </a:r>
            <a:endParaRPr lang="en-GB" dirty="0"/>
          </a:p>
          <a:p>
            <a:pPr lvl="1"/>
            <a:r>
              <a:rPr lang="en-GB" dirty="0">
                <a:ea typeface="Cambria"/>
              </a:rPr>
              <a:t>Slumped in bed, flushed, hands shaking and flapping</a:t>
            </a:r>
          </a:p>
          <a:p>
            <a:pPr marL="0" indent="0">
              <a:buNone/>
            </a:pPr>
            <a:endParaRPr lang="en-GB" dirty="0">
              <a:ea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1CC72-262F-BE7B-49EE-74F4AF92C9E5}"/>
              </a:ext>
            </a:extLst>
          </p:cNvPr>
          <p:cNvSpPr txBox="1"/>
          <p:nvPr/>
        </p:nvSpPr>
        <p:spPr>
          <a:xfrm>
            <a:off x="8665128" y="4236440"/>
            <a:ext cx="355483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solidFill>
                  <a:srgbClr val="FF0000"/>
                </a:solidFill>
                <a:ea typeface="Cambria"/>
              </a:rPr>
              <a:t>What type of resp failure ? </a:t>
            </a:r>
            <a:endParaRPr lang="en-GB" b="1" dirty="0">
              <a:solidFill>
                <a:srgbClr val="FF0000"/>
              </a:solidFill>
              <a:ea typeface="Cambria"/>
            </a:endParaRPr>
          </a:p>
          <a:p>
            <a:r>
              <a:rPr lang="en-GB" b="1">
                <a:solidFill>
                  <a:srgbClr val="FF0000"/>
                </a:solidFill>
                <a:ea typeface="Cambria"/>
              </a:rPr>
              <a:t>Problem list ? </a:t>
            </a:r>
            <a:endParaRPr lang="en-GB"/>
          </a:p>
          <a:p>
            <a:r>
              <a:rPr lang="en-GB" b="1" dirty="0">
                <a:solidFill>
                  <a:srgbClr val="FF0000"/>
                </a:solidFill>
                <a:ea typeface="Cambria"/>
              </a:rPr>
              <a:t>Treatment plan ? </a:t>
            </a:r>
          </a:p>
          <a:p>
            <a:r>
              <a:rPr lang="en-GB" b="1" dirty="0">
                <a:solidFill>
                  <a:srgbClr val="FF0000"/>
                </a:solidFill>
                <a:ea typeface="Cambria"/>
              </a:rPr>
              <a:t>WHY ?</a:t>
            </a:r>
          </a:p>
        </p:txBody>
      </p:sp>
    </p:spTree>
    <p:extLst>
      <p:ext uri="{BB962C8B-B14F-4D97-AF65-F5344CB8AC3E}">
        <p14:creationId xmlns:p14="http://schemas.microsoft.com/office/powerpoint/2010/main" val="1821795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A38F-3427-9A00-338E-5F0352769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mbria"/>
              </a:rPr>
              <a:t>References 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34B8A-3B97-6A24-2F87-40899D59D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GB">
                <a:ea typeface="+mn-lt"/>
                <a:cs typeface="+mn-lt"/>
              </a:rPr>
              <a:t>Ambrosino, N., et al. “Chronic Respiratory Care for Neuromuscular Diseases in Adults.” </a:t>
            </a:r>
            <a:r>
              <a:rPr lang="en-GB" i="1">
                <a:ea typeface="+mn-lt"/>
                <a:cs typeface="+mn-lt"/>
              </a:rPr>
              <a:t>European Respiratory Journal</a:t>
            </a:r>
            <a:r>
              <a:rPr lang="en-GB">
                <a:ea typeface="+mn-lt"/>
                <a:cs typeface="+mn-lt"/>
              </a:rPr>
              <a:t>, vol. 34, no. 2, 1 Aug. 2009, pp. 444–451, erj.ersjournals.com/content/34/2/444, </a:t>
            </a:r>
            <a:r>
              <a:rPr lang="en-GB" dirty="0">
                <a:ea typeface="+mn-lt"/>
                <a:cs typeface="+mn-lt"/>
                <a:hlinkClick r:id="rId2"/>
              </a:rPr>
              <a:t>https://doi.org/10.1183/09031936.00182208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>
              <a:ea typeface="Cambria" panose="02040503050406030204"/>
            </a:endParaRPr>
          </a:p>
          <a:p>
            <a:r>
              <a:rPr lang="en-GB">
                <a:ea typeface="+mn-lt"/>
                <a:cs typeface="+mn-lt"/>
              </a:rPr>
              <a:t>Chatwin, Michelle, et al. “Airway Clearance Techniques in Neuromuscular Disorders: A State of the Art Review.” </a:t>
            </a:r>
            <a:r>
              <a:rPr lang="en-GB" i="1">
                <a:ea typeface="+mn-lt"/>
                <a:cs typeface="+mn-lt"/>
              </a:rPr>
              <a:t>Respiratory Medicine</a:t>
            </a:r>
            <a:r>
              <a:rPr lang="en-GB">
                <a:ea typeface="+mn-lt"/>
                <a:cs typeface="+mn-lt"/>
              </a:rPr>
              <a:t>, vol. 136, Mar. 2018, pp. 98–110, </a:t>
            </a:r>
            <a:r>
              <a:rPr lang="en-GB" dirty="0">
                <a:ea typeface="+mn-lt"/>
                <a:cs typeface="+mn-lt"/>
                <a:hlinkClick r:id="rId3"/>
              </a:rPr>
              <a:t>www.sciencedirect.com/science/article/pii/S0954611118300209</a:t>
            </a:r>
            <a:r>
              <a:rPr lang="en-GB">
                <a:ea typeface="+mn-lt"/>
                <a:cs typeface="+mn-lt"/>
              </a:rPr>
              <a:t>, </a:t>
            </a:r>
            <a:r>
              <a:rPr lang="en-GB" dirty="0">
                <a:ea typeface="+mn-lt"/>
                <a:cs typeface="+mn-lt"/>
                <a:hlinkClick r:id="rId4"/>
              </a:rPr>
              <a:t>https://doi.org/10.1016/j.rmed.2018.01.012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Davidson, Craig, et al. “British Thoracic Society/Intensive Care Society Guideline for the Ventilatory Management of Acute Hypercapnic Respiratory Failure in Adults.” </a:t>
            </a:r>
            <a:r>
              <a:rPr lang="en-GB" i="1">
                <a:ea typeface="+mn-lt"/>
                <a:cs typeface="+mn-lt"/>
              </a:rPr>
              <a:t>BMJ Open Respiratory Research</a:t>
            </a:r>
            <a:r>
              <a:rPr lang="en-GB">
                <a:ea typeface="+mn-lt"/>
                <a:cs typeface="+mn-lt"/>
              </a:rPr>
              <a:t>, vol. 3, no. 1, Mar. 2016, p. e000133, </a:t>
            </a:r>
            <a:r>
              <a:rPr lang="en-GB" dirty="0">
                <a:ea typeface="+mn-lt"/>
                <a:cs typeface="+mn-lt"/>
                <a:hlinkClick r:id="rId5"/>
              </a:rPr>
              <a:t>https://doi.org/10.1136/bmjresp-2016-000133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Liao, Hao, et al. “Efficacy of Long-Term Noninvasive Positive Pressure Ventilation in Stable Hypercapnic COPD Patients with Respiratory Failure: A Meta-Analysis of Randomized Controlled Trials.” </a:t>
            </a:r>
            <a:r>
              <a:rPr lang="en-GB" i="1">
                <a:ea typeface="+mn-lt"/>
                <a:cs typeface="+mn-lt"/>
              </a:rPr>
              <a:t>International Journal of Chronic Obstructive Pulmonary Disease</a:t>
            </a:r>
            <a:r>
              <a:rPr lang="en-GB">
                <a:ea typeface="+mn-lt"/>
                <a:cs typeface="+mn-lt"/>
              </a:rPr>
              <a:t>, vol. Volume 12, Oct. 2017, pp. 2977–2985, </a:t>
            </a:r>
            <a:r>
              <a:rPr lang="en-GB" dirty="0">
                <a:ea typeface="+mn-lt"/>
                <a:cs typeface="+mn-lt"/>
                <a:hlinkClick r:id="rId6"/>
              </a:rPr>
              <a:t>https://doi.org/10.2147/copd.s148422</a:t>
            </a:r>
            <a:r>
              <a:rPr lang="en-GB">
                <a:ea typeface="+mn-lt"/>
                <a:cs typeface="+mn-lt"/>
              </a:rPr>
              <a:t>. Accessed 12 Apr. 2020.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Morrow, Brenda, et al. “Cough Augmentation Techniques for People with Chronic Neuromuscular Disorders.” </a:t>
            </a:r>
            <a:r>
              <a:rPr lang="en-GB" i="1">
                <a:ea typeface="+mn-lt"/>
                <a:cs typeface="+mn-lt"/>
              </a:rPr>
              <a:t>Cochrane Database of Systematic Reviews</a:t>
            </a:r>
            <a:r>
              <a:rPr lang="en-GB">
                <a:ea typeface="+mn-lt"/>
                <a:cs typeface="+mn-lt"/>
              </a:rPr>
              <a:t>, 22 Apr. 2021, </a:t>
            </a:r>
            <a:r>
              <a:rPr lang="en-GB" dirty="0">
                <a:ea typeface="+mn-lt"/>
                <a:cs typeface="+mn-lt"/>
                <a:hlinkClick r:id="rId7"/>
              </a:rPr>
              <a:t>https://doi.org/10.1002/14651858.cd013170.pub2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“NIV | British Thoracic Society | Better Lung Health for All.” </a:t>
            </a:r>
            <a:r>
              <a:rPr lang="en-GB" i="1" dirty="0">
                <a:ea typeface="+mn-lt"/>
                <a:cs typeface="+mn-lt"/>
                <a:hlinkClick r:id="rId8"/>
              </a:rPr>
              <a:t>Www.brit-Thoracic.org.uk</a:t>
            </a:r>
            <a:r>
              <a:rPr lang="en-GB">
                <a:ea typeface="+mn-lt"/>
                <a:cs typeface="+mn-lt"/>
              </a:rPr>
              <a:t>, </a:t>
            </a:r>
            <a:r>
              <a:rPr lang="en-GB" dirty="0">
                <a:ea typeface="+mn-lt"/>
                <a:cs typeface="+mn-lt"/>
                <a:hlinkClick r:id="rId9"/>
              </a:rPr>
              <a:t>www.brit-thoracic.org.uk/quality-improvement/guidelines/niv/</a:t>
            </a:r>
            <a:r>
              <a:rPr lang="en-GB">
                <a:ea typeface="+mn-lt"/>
                <a:cs typeface="+mn-lt"/>
              </a:rPr>
              <a:t>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Pinto, Venessa, and Sandeep Sharma. “Continuous Positive Airway Pressure (CPAP).” </a:t>
            </a:r>
            <a:r>
              <a:rPr lang="en-GB" i="1">
                <a:ea typeface="+mn-lt"/>
                <a:cs typeface="+mn-lt"/>
              </a:rPr>
              <a:t>PubMed</a:t>
            </a:r>
            <a:r>
              <a:rPr lang="en-GB">
                <a:ea typeface="+mn-lt"/>
                <a:cs typeface="+mn-lt"/>
              </a:rPr>
              <a:t>, StatPearls Publishing, 2020, </a:t>
            </a:r>
            <a:r>
              <a:rPr lang="en-GB" dirty="0">
                <a:ea typeface="+mn-lt"/>
                <a:cs typeface="+mn-lt"/>
                <a:hlinkClick r:id="rId10"/>
              </a:rPr>
              <a:t>www.ncbi.nlm.nih.gov/books/NBK482178/</a:t>
            </a:r>
            <a:r>
              <a:rPr lang="en-GB">
                <a:ea typeface="+mn-lt"/>
                <a:cs typeface="+mn-lt"/>
              </a:rPr>
              <a:t>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Potchileev, Iordan, et al. “Positive Pressure Ventilation.” </a:t>
            </a:r>
            <a:r>
              <a:rPr lang="en-GB" i="1">
                <a:ea typeface="+mn-lt"/>
                <a:cs typeface="+mn-lt"/>
              </a:rPr>
              <a:t>PubMed</a:t>
            </a:r>
            <a:r>
              <a:rPr lang="en-GB">
                <a:ea typeface="+mn-lt"/>
                <a:cs typeface="+mn-lt"/>
              </a:rPr>
              <a:t>, StatPearls Publishing, 2021, </a:t>
            </a:r>
            <a:r>
              <a:rPr lang="en-GB" dirty="0">
                <a:ea typeface="+mn-lt"/>
                <a:cs typeface="+mn-lt"/>
                <a:hlinkClick r:id="rId11"/>
              </a:rPr>
              <a:t>www.ncbi.nlm.nih.gov/books/NBK560916/</a:t>
            </a:r>
            <a:r>
              <a:rPr lang="en-GB">
                <a:ea typeface="+mn-lt"/>
                <a:cs typeface="+mn-lt"/>
              </a:rPr>
              <a:t>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Spicuzza, Lucia, et al. “Obstructive Sleep Apnoea Syndrome and Its Management.” </a:t>
            </a:r>
            <a:r>
              <a:rPr lang="en-GB" i="1">
                <a:ea typeface="+mn-lt"/>
                <a:cs typeface="+mn-lt"/>
              </a:rPr>
              <a:t>Therapeutic Advances in Chronic Disease</a:t>
            </a:r>
            <a:r>
              <a:rPr lang="en-GB">
                <a:ea typeface="+mn-lt"/>
                <a:cs typeface="+mn-lt"/>
              </a:rPr>
              <a:t>, vol. 6, no. 5, 9 July 2015, pp. 273–285, </a:t>
            </a:r>
            <a:r>
              <a:rPr lang="en-GB" dirty="0">
                <a:ea typeface="+mn-lt"/>
                <a:cs typeface="+mn-lt"/>
                <a:hlinkClick r:id="rId12"/>
              </a:rPr>
              <a:t>www.ncbi.nlm.nih.gov/pmc/articles/PMC4549693/</a:t>
            </a:r>
            <a:r>
              <a:rPr lang="en-GB">
                <a:ea typeface="+mn-lt"/>
                <a:cs typeface="+mn-lt"/>
              </a:rPr>
              <a:t>, </a:t>
            </a:r>
            <a:r>
              <a:rPr lang="en-GB" dirty="0">
                <a:ea typeface="+mn-lt"/>
                <a:cs typeface="+mn-lt"/>
                <a:hlinkClick r:id="rId13"/>
              </a:rPr>
              <a:t>https://doi.org/10.1177/2040622315590318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/>
          </a:p>
          <a:p>
            <a:endParaRPr lang="en-GB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8221443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for Uni slides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for Uni slides" id="{3BAF991C-92CF-4FF6-B660-4D76B81CF402}" vid="{D4EDB978-12AA-4E92-8633-D41A8F5BC3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1307</TotalTime>
  <Words>2301</Words>
  <Application>Microsoft Office PowerPoint</Application>
  <PresentationFormat>Widescreen</PresentationFormat>
  <Paragraphs>326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Cambria</vt:lpstr>
      <vt:lpstr>Calibri</vt:lpstr>
      <vt:lpstr>Theme for Uni slides</vt:lpstr>
      <vt:lpstr>Respiratory and Ventilatory failure and positive pressure</vt:lpstr>
      <vt:lpstr>Learning Objectives</vt:lpstr>
      <vt:lpstr>Inspiration and Expiration</vt:lpstr>
      <vt:lpstr>Inspiration and Expiration </vt:lpstr>
      <vt:lpstr>The alveoli anatomy and special features </vt:lpstr>
      <vt:lpstr>V/Q Mismatch</vt:lpstr>
      <vt:lpstr>V/Q Mismatch</vt:lpstr>
      <vt:lpstr>Type 1 respiratory failure </vt:lpstr>
      <vt:lpstr>Type 2 respiratory failure </vt:lpstr>
      <vt:lpstr>Signs of Hypoxia and Hypercapnia </vt:lpstr>
      <vt:lpstr>Common causes of respiratory failure </vt:lpstr>
      <vt:lpstr>Management of respiratory failure </vt:lpstr>
      <vt:lpstr>Positive pressure therapies </vt:lpstr>
      <vt:lpstr>Positive pressure airway clearance : the effects </vt:lpstr>
      <vt:lpstr>Positive pressure ventilation : the effects </vt:lpstr>
      <vt:lpstr>Contraindications </vt:lpstr>
      <vt:lpstr>CPAP </vt:lpstr>
      <vt:lpstr>Indications for CPAP</vt:lpstr>
      <vt:lpstr>CPAP effects </vt:lpstr>
      <vt:lpstr>NIV or BIpap</vt:lpstr>
      <vt:lpstr>Indications for NIV </vt:lpstr>
      <vt:lpstr>NIV / BIPAP</vt:lpstr>
      <vt:lpstr>Adverse effects of positive pressure therapy </vt:lpstr>
      <vt:lpstr>Relative contra-indications to NIV </vt:lpstr>
      <vt:lpstr>Commencement of NIV </vt:lpstr>
      <vt:lpstr>Commencement of NIV </vt:lpstr>
      <vt:lpstr>BTS guidelines </vt:lpstr>
      <vt:lpstr>Interfaces </vt:lpstr>
      <vt:lpstr>Signs of deterioration </vt:lpstr>
      <vt:lpstr>Chronic use of Positive pressure </vt:lpstr>
      <vt:lpstr>Neuro-muscular disease </vt:lpstr>
      <vt:lpstr>Obstructive sleep apneoa </vt:lpstr>
      <vt:lpstr>COPD end stage and acute  </vt:lpstr>
      <vt:lpstr>Case study </vt:lpstr>
      <vt:lpstr>Let'd do some case studies..</vt:lpstr>
      <vt:lpstr>Case study </vt:lpstr>
      <vt:lpstr>References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Respiratory and Ventilatory failure and positive pressure</dc:title>
  <dc:creator>Isobel Davies</dc:creator>
  <cp:lastModifiedBy>Macallister Christopher</cp:lastModifiedBy>
  <cp:revision>614</cp:revision>
  <dcterms:created xsi:type="dcterms:W3CDTF">2023-02-01T12:04:45Z</dcterms:created>
  <dcterms:modified xsi:type="dcterms:W3CDTF">2025-02-14T15:57:02Z</dcterms:modified>
</cp:coreProperties>
</file>