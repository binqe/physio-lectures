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43"/>
  </p:notesMasterIdLst>
  <p:handoutMasterIdLst>
    <p:handoutMasterId r:id="rId44"/>
  </p:handoutMasterIdLst>
  <p:sldIdLst>
    <p:sldId id="256" r:id="rId2"/>
    <p:sldId id="417" r:id="rId3"/>
    <p:sldId id="430" r:id="rId4"/>
    <p:sldId id="422" r:id="rId5"/>
    <p:sldId id="356" r:id="rId6"/>
    <p:sldId id="414" r:id="rId7"/>
    <p:sldId id="554" r:id="rId8"/>
    <p:sldId id="275" r:id="rId9"/>
    <p:sldId id="367" r:id="rId10"/>
    <p:sldId id="419" r:id="rId11"/>
    <p:sldId id="368" r:id="rId12"/>
    <p:sldId id="369" r:id="rId13"/>
    <p:sldId id="370" r:id="rId14"/>
    <p:sldId id="371" r:id="rId15"/>
    <p:sldId id="358" r:id="rId16"/>
    <p:sldId id="376" r:id="rId17"/>
    <p:sldId id="374" r:id="rId18"/>
    <p:sldId id="363" r:id="rId19"/>
    <p:sldId id="364" r:id="rId20"/>
    <p:sldId id="409" r:id="rId21"/>
    <p:sldId id="366" r:id="rId22"/>
    <p:sldId id="344" r:id="rId23"/>
    <p:sldId id="345" r:id="rId24"/>
    <p:sldId id="268" r:id="rId25"/>
    <p:sldId id="267" r:id="rId26"/>
    <p:sldId id="559" r:id="rId27"/>
    <p:sldId id="269" r:id="rId28"/>
    <p:sldId id="271" r:id="rId29"/>
    <p:sldId id="272" r:id="rId30"/>
    <p:sldId id="273" r:id="rId31"/>
    <p:sldId id="278" r:id="rId32"/>
    <p:sldId id="289" r:id="rId33"/>
    <p:sldId id="281" r:id="rId34"/>
    <p:sldId id="436" r:id="rId35"/>
    <p:sldId id="557" r:id="rId36"/>
    <p:sldId id="558" r:id="rId37"/>
    <p:sldId id="431" r:id="rId38"/>
    <p:sldId id="555" r:id="rId39"/>
    <p:sldId id="556" r:id="rId40"/>
    <p:sldId id="434" r:id="rId41"/>
    <p:sldId id="560" r:id="rId42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91" autoAdjust="0"/>
    <p:restoredTop sz="91195" autoAdjust="0"/>
  </p:normalViewPr>
  <p:slideViewPr>
    <p:cSldViewPr snapToGrid="0">
      <p:cViewPr varScale="1">
        <p:scale>
          <a:sx n="93" d="100"/>
          <a:sy n="93" d="100"/>
        </p:scale>
        <p:origin x="108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F5211-0A1E-44B5-B55C-53D9904663F7}" type="datetimeFigureOut">
              <a:rPr lang="en-GB" smtClean="0"/>
              <a:pPr/>
              <a:t>12/02/2025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509DF-7F08-474D-9D81-6C588E60A8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22441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6E472F-CC7D-497D-BF5E-FEDA11E084BB}" type="datetimeFigureOut">
              <a:rPr lang="en-GB" smtClean="0"/>
              <a:pPr/>
              <a:t>12/02/2025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D7A7A-7544-4B24-90EE-B6FC3D98CDD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8723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8D748D23-044D-2461-2F91-02374FDEAA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1FDA6D5A-8D6D-F7B8-5DDB-28F4D17BB0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804E7314-24F1-E755-09B5-9C7533A361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AC52AEC-EE06-499D-B105-E68BBCF3235D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85A1A107-B24E-7A04-AAD2-107B0BE11C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4DD5B151-7EF5-53A8-F51E-2ACDB2BAB9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en-US"/>
              <a:t>Vagus nerve interfaces with the parasympathetic control of the heart.</a:t>
            </a: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B49A3A70-7E1A-B0CF-6E1A-5744A047AE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7CAFD8C-2243-4662-B6D5-4E3C1225A19A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>
            <a:extLst>
              <a:ext uri="{FF2B5EF4-FFF2-40B4-BE49-F238E27FC236}">
                <a16:creationId xmlns:a16="http://schemas.microsoft.com/office/drawing/2014/main" id="{3FEA20CE-5F39-611A-9C53-08C896983B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>
            <a:extLst>
              <a:ext uri="{FF2B5EF4-FFF2-40B4-BE49-F238E27FC236}">
                <a16:creationId xmlns:a16="http://schemas.microsoft.com/office/drawing/2014/main" id="{3E8BB9A1-C0D1-47C2-27FA-A510D25F46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en-US"/>
              <a:t>Vena cava carries deoxygenated blood to the right side of the heart.</a:t>
            </a:r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47F5ED5B-3AF8-A556-3F05-571FC5B843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BCCF451-4684-4DD3-BACF-BAADE4EC9E62}" type="slidenum">
              <a:rPr lang="en-GB" altLang="en-US" smtClean="0"/>
              <a:pPr/>
              <a:t>9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>
            <a:extLst>
              <a:ext uri="{FF2B5EF4-FFF2-40B4-BE49-F238E27FC236}">
                <a16:creationId xmlns:a16="http://schemas.microsoft.com/office/drawing/2014/main" id="{4621ECC4-AEAE-53A2-0F7F-827CE65E45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>
            <a:extLst>
              <a:ext uri="{FF2B5EF4-FFF2-40B4-BE49-F238E27FC236}">
                <a16:creationId xmlns:a16="http://schemas.microsoft.com/office/drawing/2014/main" id="{47FD7747-B186-AC67-8297-5A5C34145B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en-US"/>
              <a:t>Vena cava carries deoxygenated blood to the right side of the heart.</a:t>
            </a:r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5CAD3680-80CC-3FED-B9B6-8CE80802A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F9ADB73-44F5-4C9C-A164-9CBA79D21902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Aortic arch + Carotid sinuses (major site of pressure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D7A7A-7544-4B24-90EE-B6FC3D98CDDD}" type="slidenum">
              <a:rPr lang="en-GB" smtClean="0"/>
              <a:pPr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239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 cstate="print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 cstate="print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 cstate="print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C71E-5F81-4E07-822B-8417DE214936}" type="datetimeFigureOut">
              <a:rPr lang="en-GB" smtClean="0"/>
              <a:pPr/>
              <a:t>12/02/2025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34BFFC3-AF7F-4CF6-A883-87E941C9770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661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C71E-5F81-4E07-822B-8417DE214936}" type="datetimeFigureOut">
              <a:rPr lang="en-GB" smtClean="0"/>
              <a:pPr/>
              <a:t>12/02/2025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BFFC3-AF7F-4CF6-A883-87E941C9770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727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 cstate="print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E485C71E-5F81-4E07-822B-8417DE214936}" type="datetimeFigureOut">
              <a:rPr lang="en-GB" smtClean="0"/>
              <a:pPr/>
              <a:t>12/02/2025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GB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34BFFC3-AF7F-4CF6-A883-87E941C9770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478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C71E-5F81-4E07-822B-8417DE214936}" type="datetimeFigureOut">
              <a:rPr lang="en-GB" smtClean="0"/>
              <a:pPr/>
              <a:t>12/02/2025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BFFC3-AF7F-4CF6-A883-87E941C9770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223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C71E-5F81-4E07-822B-8417DE214936}" type="datetimeFigureOut">
              <a:rPr lang="en-GB" smtClean="0"/>
              <a:pPr/>
              <a:t>12/02/2025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BFFC3-AF7F-4CF6-A883-87E941C9770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9062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C71E-5F81-4E07-822B-8417DE214936}" type="datetimeFigureOut">
              <a:rPr lang="en-GB" smtClean="0"/>
              <a:pPr/>
              <a:t>12/02/2025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BFFC3-AF7F-4CF6-A883-87E941C9770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8600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C71E-5F81-4E07-822B-8417DE214936}" type="datetimeFigureOut">
              <a:rPr lang="en-GB" smtClean="0"/>
              <a:pPr/>
              <a:t>12/02/2025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BFFC3-AF7F-4CF6-A883-87E941C9770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481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 cstate="print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C71E-5F81-4E07-822B-8417DE214936}" type="datetimeFigureOut">
              <a:rPr lang="en-GB" smtClean="0"/>
              <a:pPr/>
              <a:t>12/02/2025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BFFC3-AF7F-4CF6-A883-87E941C9770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047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 cstate="print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C71E-5F81-4E07-822B-8417DE214936}" type="datetimeFigureOut">
              <a:rPr lang="en-GB" smtClean="0"/>
              <a:pPr/>
              <a:t>12/02/2025</a:t>
            </a:fld>
            <a:endParaRPr lang="en-GB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BFFC3-AF7F-4CF6-A883-87E941C9770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9896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C71E-5F81-4E07-822B-8417DE214936}" type="datetimeFigureOut">
              <a:rPr lang="en-GB" smtClean="0"/>
              <a:pPr/>
              <a:t>12/02/2025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BFFC3-AF7F-4CF6-A883-87E941C9770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3589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C71E-5F81-4E07-822B-8417DE214936}" type="datetimeFigureOut">
              <a:rPr lang="en-GB" smtClean="0"/>
              <a:pPr/>
              <a:t>12/02/2025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BFFC3-AF7F-4CF6-A883-87E941C9770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603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E485C71E-5F81-4E07-822B-8417DE214936}" type="datetimeFigureOut">
              <a:rPr lang="en-GB" smtClean="0"/>
              <a:pPr/>
              <a:t>12/02/2025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34BFFC3-AF7F-4CF6-A883-87E941C9770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56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5400" dirty="0">
                <a:solidFill>
                  <a:srgbClr val="000000"/>
                </a:solidFill>
                <a:effectLst/>
                <a:latin typeface="Rockwell Condensed" panose="020606030504050201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Cardio-vascular 2: </a:t>
            </a:r>
            <a:endParaRPr lang="en-GB" sz="5400" dirty="0">
              <a:effectLst/>
              <a:latin typeface="Rockwell Condensed" panose="020606030504050201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34EAA66-EAA4-337B-5EF0-BCD51A476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/>
          <a:p>
            <a:r>
              <a:rPr lang="en-GB" sz="2800" dirty="0"/>
              <a:t>PT7001 + PT4054</a:t>
            </a:r>
          </a:p>
          <a:p>
            <a:r>
              <a:rPr lang="en-GB" sz="2800" dirty="0"/>
              <a:t>February 2025</a:t>
            </a:r>
          </a:p>
          <a:p>
            <a:endParaRPr lang="en-GB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90F244-B8F5-F42C-63B7-23FA5D70B74E}"/>
              </a:ext>
            </a:extLst>
          </p:cNvPr>
          <p:cNvSpPr txBox="1">
            <a:spLocks/>
          </p:cNvSpPr>
          <p:nvPr/>
        </p:nvSpPr>
        <p:spPr>
          <a:xfrm>
            <a:off x="1051560" y="5458968"/>
            <a:ext cx="9966960" cy="1069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800" dirty="0"/>
          </a:p>
          <a:p>
            <a:pPr algn="r"/>
            <a:r>
              <a:rPr lang="en-GB" sz="1600" dirty="0"/>
              <a:t>c.chamberlin@londonmet.ac.uk</a:t>
            </a:r>
          </a:p>
        </p:txBody>
      </p:sp>
    </p:spTree>
    <p:extLst>
      <p:ext uri="{BB962C8B-B14F-4D97-AF65-F5344CB8AC3E}">
        <p14:creationId xmlns:p14="http://schemas.microsoft.com/office/powerpoint/2010/main" val="1901428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AE090-B937-22C3-7091-8528B8B57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478C3D-1D82-F314-2F6E-CA5943BB3AF1}"/>
              </a:ext>
            </a:extLst>
          </p:cNvPr>
          <p:cNvSpPr txBox="1"/>
          <p:nvPr/>
        </p:nvSpPr>
        <p:spPr>
          <a:xfrm>
            <a:off x="803829" y="2093976"/>
            <a:ext cx="9534525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Regulation of cardiac output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859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Filling pressure and central venous pressure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859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Neural control of heart rate and contractility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859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The basic electrocardiogram</a:t>
            </a:r>
            <a:endParaRPr lang="en-GB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287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Fluid transfer across capillary walls</a:t>
            </a:r>
            <a:endParaRPr lang="en-GB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287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Control of blood pressure  </a:t>
            </a:r>
          </a:p>
          <a:p>
            <a:pPr marL="14859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Baroreceptor reflex</a:t>
            </a:r>
            <a:r>
              <a:rPr lang="en-GB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</a:p>
          <a:p>
            <a:pPr marL="14859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Blood volume</a:t>
            </a:r>
            <a:r>
              <a:rPr lang="en-GB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428149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DE73-4ACD-9679-B452-DC2D058CE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6548" y="2275332"/>
            <a:ext cx="10058400" cy="1609344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rgbClr val="222222"/>
                </a:solidFill>
                <a:ea typeface="Times New Roman" panose="02020603050405020304" pitchFamily="18" charset="0"/>
              </a:rPr>
              <a:t>1. </a:t>
            </a:r>
            <a:r>
              <a:rPr lang="en-GB" sz="3600" dirty="0">
                <a:solidFill>
                  <a:srgbClr val="222222"/>
                </a:solidFill>
                <a:effectLst/>
                <a:ea typeface="Times New Roman" panose="02020603050405020304" pitchFamily="18" charset="0"/>
              </a:rPr>
              <a:t>Regulation of cardiac output</a:t>
            </a:r>
            <a:br>
              <a:rPr lang="en-GB" sz="3600" dirty="0">
                <a:ea typeface="Times New Roman" panose="02020603050405020304" pitchFamily="18" charset="0"/>
              </a:rPr>
            </a:br>
            <a:r>
              <a:rPr lang="en-GB" sz="3600" dirty="0">
                <a:solidFill>
                  <a:srgbClr val="222222"/>
                </a:solidFill>
                <a:ea typeface="Times New Roman" panose="02020603050405020304" pitchFamily="18" charset="0"/>
              </a:rPr>
              <a:t> </a:t>
            </a:r>
            <a:br>
              <a:rPr lang="en-GB" sz="3600" dirty="0">
                <a:solidFill>
                  <a:srgbClr val="222222"/>
                </a:solidFill>
                <a:effectLst/>
                <a:ea typeface="Times New Roman" panose="02020603050405020304" pitchFamily="18" charset="0"/>
              </a:rPr>
            </a:br>
            <a:br>
              <a:rPr lang="en-GB" sz="3600" dirty="0">
                <a:effectLst/>
                <a:ea typeface="Times New Roman" panose="02020603050405020304" pitchFamily="18" charset="0"/>
              </a:rPr>
            </a:b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715213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Autonomic control of SA node">
            <a:extLst>
              <a:ext uri="{FF2B5EF4-FFF2-40B4-BE49-F238E27FC236}">
                <a16:creationId xmlns:a16="http://schemas.microsoft.com/office/drawing/2014/main" id="{B5CED3E4-E056-91FC-3364-4B5E9D7DF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350" y="1704975"/>
            <a:ext cx="7861300" cy="481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8" name="Rectangle 2">
            <a:extLst>
              <a:ext uri="{FF2B5EF4-FFF2-40B4-BE49-F238E27FC236}">
                <a16:creationId xmlns:a16="http://schemas.microsoft.com/office/drawing/2014/main" id="{234BFE88-14DC-E909-6C18-6562A29293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1100" y="173038"/>
            <a:ext cx="7289800" cy="1498600"/>
          </a:xfrm>
        </p:spPr>
        <p:txBody>
          <a:bodyPr/>
          <a:lstStyle/>
          <a:p>
            <a:pPr>
              <a:defRPr/>
            </a:pPr>
            <a: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Affects of </a:t>
            </a:r>
            <a:r>
              <a:rPr lang="en-GB" sz="36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parasympathetic</a:t>
            </a:r>
            <a: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stimulation</a:t>
            </a:r>
          </a:p>
        </p:txBody>
      </p:sp>
    </p:spTree>
  </p:cSld>
  <p:clrMapOvr>
    <a:masterClrMapping/>
  </p:clrMapOvr>
  <p:transition spd="slow">
    <p:circl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54CB046-A919-F130-C520-CD8D646514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1100" y="173038"/>
            <a:ext cx="7289800" cy="1498600"/>
          </a:xfrm>
        </p:spPr>
        <p:txBody>
          <a:bodyPr/>
          <a:lstStyle/>
          <a:p>
            <a:pPr>
              <a:defRPr/>
            </a:pPr>
            <a: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Affects of </a:t>
            </a:r>
            <a:r>
              <a:rPr lang="en-GB" sz="36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parasympathetic</a:t>
            </a:r>
            <a: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stimulation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9944C905-2D96-E2E6-70C5-9DC4985C8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16" y="1844676"/>
            <a:ext cx="9819124" cy="3844925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2400" dirty="0"/>
              <a:t>Mediated by release of acetylcholine (</a:t>
            </a:r>
            <a:r>
              <a:rPr lang="en-GB" altLang="en-US" sz="2400" dirty="0" err="1"/>
              <a:t>ACh</a:t>
            </a:r>
            <a:r>
              <a:rPr lang="en-GB" altLang="en-US" sz="2400" dirty="0"/>
              <a:t>), causing reduction in heart rate via the Sinus node</a:t>
            </a:r>
          </a:p>
          <a:p>
            <a:pPr eaLnBrk="1" hangingPunct="1"/>
            <a:endParaRPr lang="en-GB" altLang="en-US" sz="2400" dirty="0"/>
          </a:p>
          <a:p>
            <a:pPr eaLnBrk="1" hangingPunct="1"/>
            <a:r>
              <a:rPr lang="en-GB" altLang="en-US" sz="2400" dirty="0"/>
              <a:t>Cardiac muscarinic (acetylcholine) M2 receptors located in the heart reduce atrial force but little impact on the ventricular force</a:t>
            </a:r>
          </a:p>
          <a:p>
            <a:pPr marL="0" indent="0" eaLnBrk="1" hangingPunct="1">
              <a:buNone/>
            </a:pPr>
            <a:endParaRPr lang="en-GB" altLang="en-US" sz="2400" dirty="0"/>
          </a:p>
          <a:p>
            <a:pPr eaLnBrk="1" hangingPunct="1"/>
            <a:r>
              <a:rPr lang="en-GB" altLang="en-US" sz="2400" dirty="0"/>
              <a:t>The local signalling compound nitric oxide (NO), increases the amount of Ach released in response to each vagal action potential</a:t>
            </a:r>
          </a:p>
          <a:p>
            <a:pPr lvl="1" eaLnBrk="1" hangingPunct="1"/>
            <a:endParaRPr lang="en-GB" altLang="en-US" sz="2400" dirty="0"/>
          </a:p>
          <a:p>
            <a:pPr eaLnBrk="1" hangingPunct="1"/>
            <a:endParaRPr lang="en-GB" altLang="en-US" sz="2800" dirty="0"/>
          </a:p>
        </p:txBody>
      </p:sp>
    </p:spTree>
  </p:cSld>
  <p:clrMapOvr>
    <a:masterClrMapping/>
  </p:clrMapOvr>
  <p:transition spd="slow">
    <p:circl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590EE582-6CCC-2CCD-CD7B-F4FD49AF3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Affects of sympathetic stimulation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AC6A9E9-74AD-5BDD-ED38-A527AE1E1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800"/>
              <a:t>Mediated by release of noradrenaline, causing: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400"/>
              <a:t>Increased heart rate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400"/>
              <a:t>Increased AV node conduction velocity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400"/>
              <a:t>Shortening of myocyte action potential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400"/>
              <a:t>Increased contractile force</a:t>
            </a:r>
          </a:p>
          <a:p>
            <a:pPr lvl="1" eaLnBrk="1" hangingPunct="1">
              <a:lnSpc>
                <a:spcPct val="80000"/>
              </a:lnSpc>
            </a:pPr>
            <a:r>
              <a:rPr lang="en-GB" altLang="en-US" sz="2400"/>
              <a:t>Quicker relaxation</a:t>
            </a:r>
          </a:p>
          <a:p>
            <a:pPr lvl="1" eaLnBrk="1" hangingPunct="1">
              <a:lnSpc>
                <a:spcPct val="80000"/>
              </a:lnSpc>
            </a:pPr>
            <a:endParaRPr lang="en-GB" altLang="en-US" sz="2400"/>
          </a:p>
          <a:p>
            <a:pPr eaLnBrk="1" hangingPunct="1">
              <a:lnSpc>
                <a:spcPct val="80000"/>
              </a:lnSpc>
            </a:pPr>
            <a:r>
              <a:rPr lang="en-GB" altLang="en-US" sz="2800">
                <a:solidFill>
                  <a:srgbClr val="FF0000"/>
                </a:solidFill>
              </a:rPr>
              <a:t>Thus sympathetic stimulation not only increases heart rate, but also shortens components of the cardiac cycle</a:t>
            </a:r>
          </a:p>
        </p:txBody>
      </p:sp>
    </p:spTree>
  </p:cSld>
  <p:clrMapOvr>
    <a:masterClrMapping/>
  </p:clrMapOvr>
  <p:transition spd="slow">
    <p:circl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77C4D-EEF7-4071-7C36-930F9B937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 err="1"/>
              <a:t>Vagus</a:t>
            </a:r>
            <a:r>
              <a:rPr lang="en-GB" sz="3600" dirty="0"/>
              <a:t> nerve</a:t>
            </a:r>
          </a:p>
        </p:txBody>
      </p:sp>
      <p:pic>
        <p:nvPicPr>
          <p:cNvPr id="1026" name="Picture 2" descr="The Power of the Vagus Nerve: Renewal, Regeneration, and Connection —  Highpoint Mind &amp; Movement, S. Christina Boyd">
            <a:extLst>
              <a:ext uri="{FF2B5EF4-FFF2-40B4-BE49-F238E27FC236}">
                <a16:creationId xmlns:a16="http://schemas.microsoft.com/office/drawing/2014/main" id="{C26224CD-15D6-858D-63E6-0F44B85311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4" t="11324" r="2718" b="766"/>
          <a:stretch/>
        </p:blipFill>
        <p:spPr bwMode="auto">
          <a:xfrm>
            <a:off x="7139837" y="-3859"/>
            <a:ext cx="3256766" cy="6875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cupuncture and The Vagus Nerve — Morningside Acupuncture NYC">
            <a:extLst>
              <a:ext uri="{FF2B5EF4-FFF2-40B4-BE49-F238E27FC236}">
                <a16:creationId xmlns:a16="http://schemas.microsoft.com/office/drawing/2014/main" id="{8C4C0F9E-673C-276C-53E6-5ACCBCC91F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" t="37657" r="41397" b="38877"/>
          <a:stretch/>
        </p:blipFill>
        <p:spPr bwMode="auto">
          <a:xfrm>
            <a:off x="651352" y="3193108"/>
            <a:ext cx="5114407" cy="2882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353433AB-06BC-181E-939E-6FDFADB89FA1}"/>
              </a:ext>
            </a:extLst>
          </p:cNvPr>
          <p:cNvSpPr/>
          <p:nvPr/>
        </p:nvSpPr>
        <p:spPr>
          <a:xfrm>
            <a:off x="7941501" y="3041581"/>
            <a:ext cx="676406" cy="666123"/>
          </a:xfrm>
          <a:prstGeom prst="flowChartConnector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501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9192" y="116632"/>
            <a:ext cx="8229600" cy="1143000"/>
          </a:xfrm>
        </p:spPr>
        <p:txBody>
          <a:bodyPr>
            <a:normAutofit/>
          </a:bodyPr>
          <a:lstStyle/>
          <a:p>
            <a:r>
              <a:rPr lang="en-GB" sz="3600" b="1" dirty="0">
                <a:cs typeface="Arial" panose="020B0604020202020204" pitchFamily="34" charset="0"/>
              </a:rPr>
              <a:t>Cardiac </a:t>
            </a:r>
            <a:r>
              <a:rPr lang="en-GB" sz="3600" dirty="0">
                <a:cs typeface="Arial" panose="020B0604020202020204" pitchFamily="34" charset="0"/>
              </a:rPr>
              <a:t>cycle-Wiggers</a:t>
            </a:r>
            <a:r>
              <a:rPr lang="en-GB" sz="3600" b="1" dirty="0">
                <a:cs typeface="Arial" panose="020B0604020202020204" pitchFamily="34" charset="0"/>
              </a:rPr>
              <a:t>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 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1" t="23545" r="3365" b="3063"/>
          <a:stretch/>
        </p:blipFill>
        <p:spPr bwMode="auto">
          <a:xfrm>
            <a:off x="1703512" y="1340768"/>
            <a:ext cx="8784976" cy="5170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8462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657EE9A5-EB65-A182-F93E-FC327F4327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Factors influencing </a:t>
            </a:r>
            <a:b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GB" sz="3600" dirty="0">
                <a:solidFill>
                  <a:schemeClr val="tx1"/>
                </a:solidFill>
              </a:rPr>
              <a:t>Central Venous Pressure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62F1C534-DD25-4FB5-7B84-C33467CA4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012" y="2564753"/>
            <a:ext cx="10058400" cy="4050792"/>
          </a:xfrm>
        </p:spPr>
        <p:txBody>
          <a:bodyPr/>
          <a:lstStyle/>
          <a:p>
            <a:pPr eaLnBrk="1" hangingPunct="1"/>
            <a:r>
              <a:rPr lang="en-GB" altLang="en-US" sz="3600" b="1" dirty="0">
                <a:solidFill>
                  <a:srgbClr val="FF0000"/>
                </a:solidFill>
              </a:rPr>
              <a:t>CVP = blood pressure in the vena cava (the blood returning to the heart)</a:t>
            </a:r>
          </a:p>
        </p:txBody>
      </p:sp>
    </p:spTree>
  </p:cSld>
  <p:clrMapOvr>
    <a:masterClrMapping/>
  </p:clrMapOvr>
  <p:transition spd="slow">
    <p:circl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>
            <a:extLst>
              <a:ext uri="{FF2B5EF4-FFF2-40B4-BE49-F238E27FC236}">
                <a16:creationId xmlns:a16="http://schemas.microsoft.com/office/drawing/2014/main" id="{2CECE4AF-623F-44F6-E5E1-FD572B686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752" y="2389262"/>
            <a:ext cx="10058400" cy="2940120"/>
          </a:xfrm>
        </p:spPr>
        <p:txBody>
          <a:bodyPr/>
          <a:lstStyle/>
          <a:p>
            <a:pPr eaLnBrk="1" hangingPunct="1"/>
            <a:r>
              <a:rPr lang="en-GB" altLang="en-US" sz="2400" dirty="0"/>
              <a:t>Gravity/posture</a:t>
            </a:r>
          </a:p>
          <a:p>
            <a:pPr lvl="1" eaLnBrk="1" hangingPunct="1"/>
            <a:r>
              <a:rPr lang="en-GB" altLang="en-US" sz="2400" dirty="0"/>
              <a:t>Compared with lying down, standing redistributes about </a:t>
            </a:r>
            <a:r>
              <a:rPr lang="en-GB" altLang="en-US" sz="2400" dirty="0">
                <a:solidFill>
                  <a:srgbClr val="FF0000"/>
                </a:solidFill>
              </a:rPr>
              <a:t>500 ml </a:t>
            </a:r>
            <a:r>
              <a:rPr lang="en-GB" altLang="en-US" sz="2400" dirty="0"/>
              <a:t>of blood from the thorax to the lower limbs, due to the effect of gravity and the distensibility of the leg veins</a:t>
            </a:r>
          </a:p>
          <a:p>
            <a:pPr lvl="1" eaLnBrk="1" hangingPunct="1"/>
            <a:endParaRPr lang="en-GB" altLang="en-US" sz="2400" dirty="0"/>
          </a:p>
          <a:p>
            <a:pPr lvl="1" eaLnBrk="1" hangingPunct="1"/>
            <a:r>
              <a:rPr lang="en-GB" altLang="en-US" sz="2400" dirty="0"/>
              <a:t>This lowers CVP and reduces SV from about 100 to 70 ml.</a:t>
            </a:r>
          </a:p>
          <a:p>
            <a:pPr lvl="1" eaLnBrk="1" hangingPunct="1"/>
            <a:endParaRPr lang="en-GB" altLang="en-US" sz="2400" dirty="0"/>
          </a:p>
          <a:p>
            <a:pPr marL="274320" lvl="1" indent="0" eaLnBrk="1" hangingPunct="1">
              <a:buNone/>
            </a:pPr>
            <a:endParaRPr lang="en-GB" altLang="en-US" sz="3600" b="1" dirty="0">
              <a:solidFill>
                <a:srgbClr val="FF0000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92CCD3D-321C-5CDC-EFCF-7340140E3B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Factors influencing </a:t>
            </a:r>
            <a:b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GB" sz="3600" dirty="0">
                <a:solidFill>
                  <a:schemeClr val="tx1"/>
                </a:solidFill>
              </a:rPr>
              <a:t>Central Venous Pressure</a:t>
            </a:r>
          </a:p>
        </p:txBody>
      </p:sp>
    </p:spTree>
  </p:cSld>
  <p:clrMapOvr>
    <a:masterClrMapping/>
  </p:clrMapOvr>
  <p:transition spd="slow">
    <p:circl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>
            <a:extLst>
              <a:ext uri="{FF2B5EF4-FFF2-40B4-BE49-F238E27FC236}">
                <a16:creationId xmlns:a16="http://schemas.microsoft.com/office/drawing/2014/main" id="{2D957FE9-6B5F-0140-3F4F-FB461CD69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313" y="1989138"/>
            <a:ext cx="8229600" cy="143986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GB" altLang="en-US" sz="2400">
                <a:solidFill>
                  <a:srgbClr val="FF0000"/>
                </a:solidFill>
              </a:rPr>
              <a:t>Cutaneous vasodilation (for example during hot weather) reduces  CVP and Q and can lead to fainting.</a:t>
            </a:r>
          </a:p>
        </p:txBody>
      </p:sp>
      <p:pic>
        <p:nvPicPr>
          <p:cNvPr id="56324" name="Picture 5" descr="Image result for desert running">
            <a:extLst>
              <a:ext uri="{FF2B5EF4-FFF2-40B4-BE49-F238E27FC236}">
                <a16:creationId xmlns:a16="http://schemas.microsoft.com/office/drawing/2014/main" id="{2DD055DA-D834-5ACF-8F77-60AC8A390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1" y="3789364"/>
            <a:ext cx="5256213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4E08D858-3CF2-B9D1-2D9A-E2F9EE926C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Factors influencing </a:t>
            </a:r>
            <a:b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GB" sz="3600" dirty="0">
                <a:solidFill>
                  <a:schemeClr val="tx1"/>
                </a:solidFill>
              </a:rPr>
              <a:t>Central Venous Pressure</a:t>
            </a:r>
          </a:p>
        </p:txBody>
      </p:sp>
    </p:spTree>
  </p:cSld>
  <p:clrMapOvr>
    <a:masterClrMapping/>
  </p:clrMapOvr>
  <p:transition spd="slow">
    <p:circl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8" name="Picture 5" descr="veins4">
            <a:extLst>
              <a:ext uri="{FF2B5EF4-FFF2-40B4-BE49-F238E27FC236}">
                <a16:creationId xmlns:a16="http://schemas.microsoft.com/office/drawing/2014/main" id="{7E60C634-9F05-C550-3F7F-011017FFE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" t="1707" r="2838" b="4008"/>
          <a:stretch>
            <a:fillRect/>
          </a:stretch>
        </p:blipFill>
        <p:spPr bwMode="auto">
          <a:xfrm>
            <a:off x="2782888" y="1989138"/>
            <a:ext cx="6697662" cy="477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7" name="Rectangle 3">
            <a:extLst>
              <a:ext uri="{FF2B5EF4-FFF2-40B4-BE49-F238E27FC236}">
                <a16:creationId xmlns:a16="http://schemas.microsoft.com/office/drawing/2014/main" id="{2941A5BE-3EFF-AFDD-0BEF-6B3DA529E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239" y="3917910"/>
            <a:ext cx="7921625" cy="431800"/>
          </a:xfrm>
        </p:spPr>
        <p:txBody>
          <a:bodyPr/>
          <a:lstStyle/>
          <a:p>
            <a:pPr eaLnBrk="1" hangingPunct="1"/>
            <a:r>
              <a:rPr lang="en-GB" altLang="en-US" dirty="0"/>
              <a:t>Venous muscle pump</a:t>
            </a:r>
          </a:p>
        </p:txBody>
      </p:sp>
      <p:sp>
        <p:nvSpPr>
          <p:cNvPr id="57349" name="Rectangle 6">
            <a:extLst>
              <a:ext uri="{FF2B5EF4-FFF2-40B4-BE49-F238E27FC236}">
                <a16:creationId xmlns:a16="http://schemas.microsoft.com/office/drawing/2014/main" id="{969B6505-F308-4CA4-6AA6-D1ECB52B4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3" y="5445126"/>
            <a:ext cx="842486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l"/>
            </a:pPr>
            <a:r>
              <a:rPr lang="en-GB" altLang="en-US" sz="2400"/>
              <a:t>One way valves in the veins ensure that blood is squeezed back towards the heart, increasing CVP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DB99E5D-DB47-27DF-8E6A-6C49A03C83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379794"/>
            <a:ext cx="10058400" cy="160934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Factors influencing </a:t>
            </a:r>
            <a:b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GB" sz="3600" dirty="0">
                <a:solidFill>
                  <a:schemeClr val="tx1"/>
                </a:solidFill>
              </a:rPr>
              <a:t>Central Venous Pressure</a:t>
            </a:r>
          </a:p>
        </p:txBody>
      </p:sp>
    </p:spTree>
  </p:cSld>
  <p:clrMapOvr>
    <a:masterClrMapping/>
  </p:clrMapOvr>
  <p:transition spd="slow">
    <p:circl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5" name="Rectangle 5">
            <a:extLst>
              <a:ext uri="{FF2B5EF4-FFF2-40B4-BE49-F238E27FC236}">
                <a16:creationId xmlns:a16="http://schemas.microsoft.com/office/drawing/2014/main" id="{6A0EBA91-6265-28AE-0B88-C3A946F0F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3860800"/>
            <a:ext cx="8569325" cy="280828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/>
            </a:pPr>
            <a:endParaRPr lang="en-GB" altLang="en-US" sz="2400" b="1" i="1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58372" name="Picture 11" descr="BreathPumpSmall">
            <a:extLst>
              <a:ext uri="{FF2B5EF4-FFF2-40B4-BE49-F238E27FC236}">
                <a16:creationId xmlns:a16="http://schemas.microsoft.com/office/drawing/2014/main" id="{0363F63A-BC36-483F-03CB-361154E81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1109" y="2782312"/>
            <a:ext cx="3289300" cy="235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3" name="Rectangle 3">
            <a:extLst>
              <a:ext uri="{FF2B5EF4-FFF2-40B4-BE49-F238E27FC236}">
                <a16:creationId xmlns:a16="http://schemas.microsoft.com/office/drawing/2014/main" id="{E6E03B90-608F-E0CD-307A-3DC99DCF8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2314" y="2546350"/>
            <a:ext cx="5616575" cy="3259138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GB" altLang="en-US"/>
              <a:t>Respiratory pump</a:t>
            </a:r>
          </a:p>
          <a:p>
            <a:pPr lvl="1" eaLnBrk="1" hangingPunct="1"/>
            <a:endParaRPr lang="en-GB" altLang="en-US" sz="2400"/>
          </a:p>
          <a:p>
            <a:pPr lvl="1" eaLnBrk="1" hangingPunct="1">
              <a:lnSpc>
                <a:spcPct val="150000"/>
              </a:lnSpc>
            </a:pPr>
            <a:r>
              <a:rPr lang="en-GB" altLang="en-US" sz="2400">
                <a:solidFill>
                  <a:srgbClr val="FF0000"/>
                </a:solidFill>
              </a:rPr>
              <a:t>Inhalation</a:t>
            </a:r>
            <a:r>
              <a:rPr lang="en-GB" altLang="en-US" sz="2400"/>
              <a:t> increases the flow of blood into the thorax, thus </a:t>
            </a:r>
            <a:r>
              <a:rPr lang="en-GB" altLang="en-US" sz="2400">
                <a:solidFill>
                  <a:srgbClr val="FF0000"/>
                </a:solidFill>
              </a:rPr>
              <a:t>increasing CVP </a:t>
            </a:r>
            <a:r>
              <a:rPr lang="en-GB" altLang="en-US" sz="2400"/>
              <a:t>and producing an </a:t>
            </a:r>
            <a:r>
              <a:rPr lang="en-GB" altLang="en-US" sz="2400" b="1" i="1"/>
              <a:t>increase in right ventricular stroke volume</a:t>
            </a:r>
          </a:p>
          <a:p>
            <a:pPr lvl="1" eaLnBrk="1" hangingPunct="1"/>
            <a:endParaRPr lang="en-GB" altLang="en-US" sz="240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FE9F23D-319A-03F3-86ED-D6C2BE4B0D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Factors influencing </a:t>
            </a:r>
            <a:b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GB" sz="3600" dirty="0">
                <a:solidFill>
                  <a:schemeClr val="tx1"/>
                </a:solidFill>
              </a:rPr>
              <a:t>Central Venous Pressure</a:t>
            </a:r>
          </a:p>
        </p:txBody>
      </p:sp>
    </p:spTree>
  </p:cSld>
  <p:clrMapOvr>
    <a:masterClrMapping/>
  </p:clrMapOvr>
  <p:transition spd="slow">
    <p:circl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3">
            <a:extLst>
              <a:ext uri="{FF2B5EF4-FFF2-40B4-BE49-F238E27FC236}">
                <a16:creationId xmlns:a16="http://schemas.microsoft.com/office/drawing/2014/main" id="{0400E88D-BA35-3708-8588-04F1C03E2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6458" y="2277268"/>
            <a:ext cx="4608512" cy="2303463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GB" altLang="en-US" dirty="0"/>
              <a:t>Respiratory pump</a:t>
            </a:r>
          </a:p>
          <a:p>
            <a:pPr lvl="1" eaLnBrk="1" hangingPunct="1">
              <a:lnSpc>
                <a:spcPct val="150000"/>
              </a:lnSpc>
            </a:pPr>
            <a:r>
              <a:rPr lang="en-GB" altLang="en-US" sz="2400" dirty="0">
                <a:solidFill>
                  <a:srgbClr val="FF0000"/>
                </a:solidFill>
              </a:rPr>
              <a:t>Exhalation</a:t>
            </a:r>
            <a:r>
              <a:rPr lang="en-GB" altLang="en-US" sz="2400" dirty="0"/>
              <a:t> causes lower right ventricular SV and higher left ventricular SV. </a:t>
            </a:r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9031B001-06C5-0BEC-78E3-1ADF9EDD0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2300" y="4941888"/>
            <a:ext cx="8497888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2" eaLnBrk="1" hangingPunct="1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</a:pPr>
            <a:r>
              <a:rPr lang="en-GB" altLang="en-US" sz="2000" b="1" i="1"/>
              <a:t>Inspiration: increased SV from the right side</a:t>
            </a:r>
          </a:p>
          <a:p>
            <a:pPr lvl="2" eaLnBrk="1" hangingPunct="1">
              <a:spcBef>
                <a:spcPct val="2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l"/>
            </a:pPr>
            <a:r>
              <a:rPr lang="en-GB" altLang="en-US" sz="2000" b="1" i="1"/>
              <a:t>Expiration: increased SV from left side</a:t>
            </a:r>
          </a:p>
        </p:txBody>
      </p:sp>
      <p:pic>
        <p:nvPicPr>
          <p:cNvPr id="59397" name="Picture 5" descr="BreathPumpSmall">
            <a:extLst>
              <a:ext uri="{FF2B5EF4-FFF2-40B4-BE49-F238E27FC236}">
                <a16:creationId xmlns:a16="http://schemas.microsoft.com/office/drawing/2014/main" id="{DF42EECA-847F-7F06-08E2-39915B28A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5037" y="3003985"/>
            <a:ext cx="3289300" cy="235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D1BD1D68-51DE-9C8C-D755-A7689EA8CB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Factors influencing </a:t>
            </a:r>
            <a:b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GB" sz="3600" dirty="0">
                <a:solidFill>
                  <a:schemeClr val="tx1"/>
                </a:solidFill>
              </a:rPr>
              <a:t>Central Venous Pressure</a:t>
            </a:r>
          </a:p>
        </p:txBody>
      </p:sp>
    </p:spTree>
  </p:cSld>
  <p:clrMapOvr>
    <a:masterClrMapping/>
  </p:clrMapOvr>
  <p:transition spd="slow">
    <p:circl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0841C5D6-28FD-01A9-19D2-8208EE17BD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Stroke volume and its control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C4AEB1F2-5DF7-9040-4AB9-78ACC3A97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2400"/>
              <a:t>Stroke volume at rest is 70-80 ml</a:t>
            </a:r>
          </a:p>
          <a:p>
            <a:pPr eaLnBrk="1" hangingPunct="1"/>
            <a:r>
              <a:rPr lang="en-GB" altLang="en-US" sz="2400"/>
              <a:t>This will increase to about 100ml in heavy exercise, or 120 ml in trained subjects</a:t>
            </a:r>
          </a:p>
          <a:p>
            <a:pPr eaLnBrk="1" hangingPunct="1"/>
            <a:r>
              <a:rPr lang="en-GB" altLang="en-US" sz="2400"/>
              <a:t>Olympic athletes may have stroke volumes of 160 ml</a:t>
            </a:r>
          </a:p>
          <a:p>
            <a:pPr eaLnBrk="1" hangingPunct="1"/>
            <a:r>
              <a:rPr lang="en-GB" altLang="en-US" sz="2400"/>
              <a:t>Cardiac output is determined by heart rate and stroke volume, both of which contribute to increased cardiac output during exercise: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altLang="en-US" sz="2400"/>
              <a:t>				CO  = HR  x SV</a:t>
            </a:r>
          </a:p>
          <a:p>
            <a:pPr eaLnBrk="1" hangingPunct="1"/>
            <a:r>
              <a:rPr lang="en-GB" altLang="en-US" sz="2400"/>
              <a:t>Training effects are primarily confined to stroke volume</a:t>
            </a:r>
          </a:p>
        </p:txBody>
      </p:sp>
    </p:spTree>
  </p:cSld>
  <p:clrMapOvr>
    <a:masterClrMapping/>
  </p:clrMapOvr>
  <p:transition spd="slow">
    <p:circl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E030A875-F9C9-6251-21ED-3ACB36CEEC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Stroke volume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D92026FF-B54B-14D6-22B0-985CD7E810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91440" indent="-91440">
              <a:defRPr/>
            </a:pPr>
            <a:r>
              <a:rPr lang="en-GB" sz="2800" dirty="0"/>
              <a:t>Stroke volume is equal to the amount of blood pumped from the left ventricle in a single cardiac contraction</a:t>
            </a:r>
          </a:p>
          <a:p>
            <a:pPr marL="91440" indent="-91440">
              <a:defRPr/>
            </a:pPr>
            <a:r>
              <a:rPr lang="en-GB" sz="2800" dirty="0"/>
              <a:t>It is equal to the end-diastolic volume (EDV) minus the end-systolic volume (ESV)</a:t>
            </a:r>
          </a:p>
          <a:p>
            <a:pPr marL="91440" indent="-91440">
              <a:defRPr/>
            </a:pPr>
            <a:r>
              <a:rPr lang="en-GB" sz="2800" dirty="0"/>
              <a:t>Typical resting values for these two variables are 120 and 50 ml respectively</a:t>
            </a:r>
          </a:p>
          <a:p>
            <a:pPr marL="91440" indent="-91440">
              <a:defRPr/>
            </a:pPr>
            <a:r>
              <a:rPr lang="en-GB" sz="2800" i="1" dirty="0"/>
              <a:t>Note that the ESV in the heart is not zero: there is a substantial volume of blood left in the ventricle at the end of systole</a:t>
            </a:r>
          </a:p>
        </p:txBody>
      </p:sp>
    </p:spTree>
  </p:cSld>
  <p:clrMapOvr>
    <a:masterClrMapping/>
  </p:clrMapOvr>
  <p:transition spd="slow">
    <p:circl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25" name="Picture 9" descr="Hypertrophic Cardiomyopathy (HCM) &amp;amp; Hypertrophic Obstructive Cardiomyopathy  (HOCM) – ECG &amp;amp; ECHO">
            <a:extLst>
              <a:ext uri="{FF2B5EF4-FFF2-40B4-BE49-F238E27FC236}">
                <a16:creationId xmlns:a16="http://schemas.microsoft.com/office/drawing/2014/main" id="{2766E319-BB1C-0309-7CE1-537944CA9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15" b="-3571"/>
          <a:stretch>
            <a:fillRect/>
          </a:stretch>
        </p:blipFill>
        <p:spPr bwMode="auto">
          <a:xfrm>
            <a:off x="1524000" y="1628776"/>
            <a:ext cx="9144000" cy="485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C484FD5-19D7-66D0-A93D-1DDB6EA38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sz="3600" dirty="0"/>
              <a:t>Structural changes</a:t>
            </a:r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4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04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04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21F22159-1C0B-4E68-07E0-89F44703B7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Stroke volume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232CE3B3-9D1D-EA0F-01A1-D849718BF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en-GB" altLang="en-US" sz="2800"/>
              <a:t>Energy of contraction in the ventricle can be increased by two mechanisms:</a:t>
            </a:r>
          </a:p>
          <a:p>
            <a:pPr lvl="1" eaLnBrk="1" hangingPunct="1">
              <a:lnSpc>
                <a:spcPct val="200000"/>
              </a:lnSpc>
            </a:pPr>
            <a:r>
              <a:rPr lang="en-GB" altLang="en-US"/>
              <a:t> </a:t>
            </a:r>
            <a:r>
              <a:rPr lang="en-GB" altLang="en-US" sz="2400"/>
              <a:t>Raising EDV stretches the myocytes further. This has the effect of increasing energy of contraction, and is referred to as </a:t>
            </a:r>
            <a:r>
              <a:rPr lang="en-GB" altLang="en-US" sz="2400" i="1"/>
              <a:t>Starling’s law of the heart</a:t>
            </a:r>
          </a:p>
        </p:txBody>
      </p:sp>
    </p:spTree>
  </p:cSld>
  <p:clrMapOvr>
    <a:masterClrMapping/>
  </p:clrMapOvr>
  <p:transition spd="slow">
    <p:circl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79F14E14-03B7-BC1D-DD0C-87038A66FEC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7814"/>
            <a:ext cx="8229600" cy="11398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3600" dirty="0">
                <a:solidFill>
                  <a:srgbClr val="FF0000"/>
                </a:solidFill>
              </a:rPr>
              <a:t>Starling’s</a:t>
            </a:r>
            <a: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law of the heart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E7BCB17F-72B7-1DE4-AE35-DCD49ACF125C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2511426" y="4652964"/>
            <a:ext cx="8156575" cy="20161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/>
              <a:t>The graph shows how reduced EDV is associated with reduced energy of contraction, resulting in lower stroke volume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/>
              <a:t>A normal resting EDV  is about 120 ml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/>
              <a:t>The most important factor determining EDV is the central venous pressure.</a:t>
            </a:r>
          </a:p>
        </p:txBody>
      </p:sp>
      <p:pic>
        <p:nvPicPr>
          <p:cNvPr id="66564" name="Picture 5" descr="Frank-Starling%20Law%20of%20the%20Heart01">
            <a:extLst>
              <a:ext uri="{FF2B5EF4-FFF2-40B4-BE49-F238E27FC236}">
                <a16:creationId xmlns:a16="http://schemas.microsoft.com/office/drawing/2014/main" id="{8DBA3917-15F2-8C46-57C1-4CDBADD47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414" y="1700213"/>
            <a:ext cx="4752975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ircl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0DFEF55F-31B9-8D49-C8F5-922A033C34A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7814"/>
            <a:ext cx="8229600" cy="11398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Increased </a:t>
            </a:r>
            <a:r>
              <a:rPr lang="en-GB" sz="3600" dirty="0">
                <a:solidFill>
                  <a:srgbClr val="FF0000"/>
                </a:solidFill>
              </a:rPr>
              <a:t>contractility</a:t>
            </a:r>
          </a:p>
        </p:txBody>
      </p:sp>
      <p:pic>
        <p:nvPicPr>
          <p:cNvPr id="67587" name="Picture 5" descr="cf004%20fig%202%20072104">
            <a:extLst>
              <a:ext uri="{FF2B5EF4-FFF2-40B4-BE49-F238E27FC236}">
                <a16:creationId xmlns:a16="http://schemas.microsoft.com/office/drawing/2014/main" id="{FFE580DF-F445-C794-8CDE-BC83A86DA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r="9277" b="24405"/>
          <a:stretch>
            <a:fillRect/>
          </a:stretch>
        </p:blipFill>
        <p:spPr bwMode="auto">
          <a:xfrm>
            <a:off x="6743701" y="3624264"/>
            <a:ext cx="3960813" cy="326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6">
            <a:extLst>
              <a:ext uri="{FF2B5EF4-FFF2-40B4-BE49-F238E27FC236}">
                <a16:creationId xmlns:a16="http://schemas.microsoft.com/office/drawing/2014/main" id="{F089F2E5-AF85-F48B-1E15-9D2326A87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950" y="2616201"/>
            <a:ext cx="53276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</a:pPr>
            <a:r>
              <a:rPr lang="en-GB" altLang="en-US" sz="2800"/>
              <a:t>The stronger the sympathetic activity, the steeper the green line.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</a:pPr>
            <a:endParaRPr lang="en-GB" altLang="en-US" sz="2800"/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</a:pPr>
            <a:r>
              <a:rPr lang="en-GB" altLang="en-US" sz="2800"/>
              <a:t>Contractility = energy of contraction from a fixed EDV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l"/>
            </a:pPr>
            <a:endParaRPr lang="en-GB" altLang="en-US" sz="2800"/>
          </a:p>
        </p:txBody>
      </p:sp>
      <p:sp>
        <p:nvSpPr>
          <p:cNvPr id="67589" name="Text Box 6">
            <a:extLst>
              <a:ext uri="{FF2B5EF4-FFF2-40B4-BE49-F238E27FC236}">
                <a16:creationId xmlns:a16="http://schemas.microsoft.com/office/drawing/2014/main" id="{090E3195-D72B-4E61-8B02-FB1163F3A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1763" y="3062288"/>
            <a:ext cx="2628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/>
              <a:t>Cardiac function curve</a:t>
            </a:r>
          </a:p>
        </p:txBody>
      </p:sp>
      <p:sp>
        <p:nvSpPr>
          <p:cNvPr id="67590" name="Rectangle 1">
            <a:extLst>
              <a:ext uri="{FF2B5EF4-FFF2-40B4-BE49-F238E27FC236}">
                <a16:creationId xmlns:a16="http://schemas.microsoft.com/office/drawing/2014/main" id="{D4AD3EBE-6A37-EE5D-6515-A945CBEC5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775" y="1397001"/>
            <a:ext cx="8262938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GB" altLang="en-US"/>
              <a:t>Contractility influenced by extrinsic neuro-endocrine factors: sympathetic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GB" altLang="en-US"/>
              <a:t>neurotransmitter noradrenaline and the hormone adrenaline</a:t>
            </a:r>
          </a:p>
        </p:txBody>
      </p:sp>
    </p:spTree>
  </p:cSld>
  <p:clrMapOvr>
    <a:masterClrMapping/>
  </p:clrMapOvr>
  <p:transition spd="slow">
    <p:circl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9A9CAB75-8B1A-05C3-41BB-2845CBFEB9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7813"/>
            <a:ext cx="8229600" cy="703262"/>
          </a:xfrm>
        </p:spPr>
        <p:txBody>
          <a:bodyPr/>
          <a:lstStyle/>
          <a:p>
            <a:pPr>
              <a:defRPr/>
            </a:pPr>
            <a:r>
              <a:rPr lang="en-GB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What determines EDV?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0E80828F-8953-D502-024F-96A2DFCAA0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92313" y="1052513"/>
            <a:ext cx="8496300" cy="5472112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GB" altLang="en-US" sz="2200" dirty="0"/>
              <a:t>The immediate non-cardiac factor determining EDV is the “</a:t>
            </a:r>
            <a:r>
              <a:rPr lang="en-GB" altLang="en-US" sz="2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central venous pressure</a:t>
            </a:r>
            <a:r>
              <a:rPr lang="en-GB" altLang="en-US" sz="2200" dirty="0"/>
              <a:t>” (CVP). This is the blood pressure at the entrance to the right atrium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GB" altLang="en-US" sz="22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en-US" sz="2200" dirty="0"/>
              <a:t>	</a:t>
            </a:r>
            <a:r>
              <a:rPr lang="en-GB" altLang="en-US" sz="1900" dirty="0"/>
              <a:t>→ ↑right atrial filling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en-US" sz="1900" dirty="0"/>
              <a:t>		→ ↑ right ventricle filling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en-US" sz="1900" dirty="0"/>
              <a:t>			→ ↑right ventricle stroke volume*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en-US" sz="1900" dirty="0"/>
              <a:t>				→ ↑left atrial filling pressure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en-US" sz="1900" dirty="0"/>
              <a:t>					→ ↑left atrial filling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en-US" sz="1900" dirty="0"/>
              <a:t>						→ ↑ left ventricle filling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en-US" sz="1900" dirty="0"/>
              <a:t>							→ ↑ left ventricle stroke 									volume*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GB" altLang="en-US" sz="19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GB" altLang="en-US" sz="1900" dirty="0"/>
              <a:t>*Starling effect </a:t>
            </a:r>
          </a:p>
          <a:p>
            <a:pPr eaLnBrk="1" hangingPunct="1">
              <a:lnSpc>
                <a:spcPct val="80000"/>
              </a:lnSpc>
              <a:defRPr/>
            </a:pPr>
            <a:endParaRPr lang="en-GB" altLang="en-US" sz="1900" dirty="0"/>
          </a:p>
        </p:txBody>
      </p:sp>
    </p:spTree>
  </p:cSld>
  <p:clrMapOvr>
    <a:masterClrMapping/>
  </p:clrMapOvr>
  <p:transition spd="slow">
    <p:circl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62EE469-CAB6-3178-B691-08F1C58D63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4825" y="274638"/>
            <a:ext cx="8642350" cy="1143000"/>
          </a:xfrm>
        </p:spPr>
        <p:txBody>
          <a:bodyPr wrap="square" numCol="1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>
              <a:defRPr/>
            </a:pPr>
            <a:r>
              <a:rPr lang="en-GB" altLang="en-US" sz="4000" b="1" cap="none" dirty="0">
                <a:solidFill>
                  <a:schemeClr val="tx1"/>
                </a:solidFill>
              </a:rPr>
              <a:t>EFFECT OF BED-REST / TRAINING ON CARDIAC OUTPUT</a:t>
            </a:r>
            <a:endParaRPr lang="en-GB" altLang="en-US" sz="4000" b="1" cap="none" baseline="-25000" dirty="0">
              <a:solidFill>
                <a:schemeClr val="tx1"/>
              </a:solidFill>
            </a:endParaRPr>
          </a:p>
        </p:txBody>
      </p:sp>
      <p:sp>
        <p:nvSpPr>
          <p:cNvPr id="22531" name="Content Placeholder 52">
            <a:extLst>
              <a:ext uri="{FF2B5EF4-FFF2-40B4-BE49-F238E27FC236}">
                <a16:creationId xmlns:a16="http://schemas.microsoft.com/office/drawing/2014/main" id="{E5EFBB1B-A766-4B8E-4117-291A47F15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6688" y="2017714"/>
            <a:ext cx="7772400" cy="554037"/>
          </a:xfrm>
        </p:spPr>
        <p:txBody>
          <a:bodyPr/>
          <a:lstStyle/>
          <a:p>
            <a:pPr eaLnBrk="1" hangingPunct="1"/>
            <a:r>
              <a:rPr lang="en-GB" altLang="en-US" sz="2800">
                <a:solidFill>
                  <a:srgbClr val="0000CC"/>
                </a:solidFill>
              </a:rPr>
              <a:t>Changes at maximal exercise only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24FDBF55-29B2-F166-C43A-4EA387C42B6C}"/>
              </a:ext>
            </a:extLst>
          </p:cNvPr>
          <p:cNvGrpSpPr>
            <a:grpSpLocks/>
          </p:cNvGrpSpPr>
          <p:nvPr/>
        </p:nvGrpSpPr>
        <p:grpSpPr bwMode="auto">
          <a:xfrm>
            <a:off x="4899025" y="4341813"/>
            <a:ext cx="1282700" cy="1054100"/>
            <a:chOff x="896" y="2278"/>
            <a:chExt cx="808" cy="664"/>
          </a:xfrm>
        </p:grpSpPr>
        <p:sp>
          <p:nvSpPr>
            <p:cNvPr id="76850" name="Rectangle 4">
              <a:extLst>
                <a:ext uri="{FF2B5EF4-FFF2-40B4-BE49-F238E27FC236}">
                  <a16:creationId xmlns:a16="http://schemas.microsoft.com/office/drawing/2014/main" id="{3E5895E1-6CE5-AA04-6D6A-BB3BA5DD1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2894"/>
              <a:ext cx="48" cy="4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6851" name="Rectangle 5">
              <a:extLst>
                <a:ext uri="{FF2B5EF4-FFF2-40B4-BE49-F238E27FC236}">
                  <a16:creationId xmlns:a16="http://schemas.microsoft.com/office/drawing/2014/main" id="{57502E6A-D140-2FCF-5905-1CFB7EDF3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6" y="2618"/>
              <a:ext cx="48" cy="4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6852" name="Rectangle 6">
              <a:extLst>
                <a:ext uri="{FF2B5EF4-FFF2-40B4-BE49-F238E27FC236}">
                  <a16:creationId xmlns:a16="http://schemas.microsoft.com/office/drawing/2014/main" id="{E5244D83-C266-479D-F022-010F11210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4" y="2414"/>
              <a:ext cx="48" cy="4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6853" name="Rectangle 7">
              <a:extLst>
                <a:ext uri="{FF2B5EF4-FFF2-40B4-BE49-F238E27FC236}">
                  <a16:creationId xmlns:a16="http://schemas.microsoft.com/office/drawing/2014/main" id="{B5F5023A-23D9-54AF-82A3-B21F705B3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6" y="2278"/>
              <a:ext cx="48" cy="4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6854" name="Line 8">
              <a:extLst>
                <a:ext uri="{FF2B5EF4-FFF2-40B4-BE49-F238E27FC236}">
                  <a16:creationId xmlns:a16="http://schemas.microsoft.com/office/drawing/2014/main" id="{58DCF136-9D07-1D0E-7C89-91026436E3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2" y="2650"/>
              <a:ext cx="212" cy="2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6855" name="Line 9">
              <a:extLst>
                <a:ext uri="{FF2B5EF4-FFF2-40B4-BE49-F238E27FC236}">
                  <a16:creationId xmlns:a16="http://schemas.microsoft.com/office/drawing/2014/main" id="{07624A25-5368-853F-8DE1-28C6079136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6" y="2458"/>
              <a:ext cx="154" cy="1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6856" name="Line 10">
              <a:extLst>
                <a:ext uri="{FF2B5EF4-FFF2-40B4-BE49-F238E27FC236}">
                  <a16:creationId xmlns:a16="http://schemas.microsoft.com/office/drawing/2014/main" id="{4515D6EA-7BFA-B87F-7D58-A365269E14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2" y="2312"/>
              <a:ext cx="158" cy="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76805" name="Group 11">
            <a:extLst>
              <a:ext uri="{FF2B5EF4-FFF2-40B4-BE49-F238E27FC236}">
                <a16:creationId xmlns:a16="http://schemas.microsoft.com/office/drawing/2014/main" id="{0A524622-58CC-9327-1CC1-7122ADBC8470}"/>
              </a:ext>
            </a:extLst>
          </p:cNvPr>
          <p:cNvGrpSpPr>
            <a:grpSpLocks/>
          </p:cNvGrpSpPr>
          <p:nvPr/>
        </p:nvGrpSpPr>
        <p:grpSpPr bwMode="auto">
          <a:xfrm>
            <a:off x="4899025" y="3751264"/>
            <a:ext cx="1695450" cy="1552575"/>
            <a:chOff x="896" y="1906"/>
            <a:chExt cx="1068" cy="978"/>
          </a:xfrm>
        </p:grpSpPr>
        <p:sp>
          <p:nvSpPr>
            <p:cNvPr id="76841" name="Line 12">
              <a:extLst>
                <a:ext uri="{FF2B5EF4-FFF2-40B4-BE49-F238E27FC236}">
                  <a16:creationId xmlns:a16="http://schemas.microsoft.com/office/drawing/2014/main" id="{4CAA5BA6-509E-ED50-A18C-66AB06527E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74" y="1936"/>
              <a:ext cx="242" cy="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6842" name="Line 13">
              <a:extLst>
                <a:ext uri="{FF2B5EF4-FFF2-40B4-BE49-F238E27FC236}">
                  <a16:creationId xmlns:a16="http://schemas.microsoft.com/office/drawing/2014/main" id="{7266A6AA-0312-B348-C892-5A0FAB3B93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8" y="2538"/>
              <a:ext cx="234" cy="30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6843" name="Line 14">
              <a:extLst>
                <a:ext uri="{FF2B5EF4-FFF2-40B4-BE49-F238E27FC236}">
                  <a16:creationId xmlns:a16="http://schemas.microsoft.com/office/drawing/2014/main" id="{55FDFA9F-1FC3-6238-E2D6-51731E7A5F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12" y="2244"/>
              <a:ext cx="210" cy="23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6844" name="Line 15">
              <a:extLst>
                <a:ext uri="{FF2B5EF4-FFF2-40B4-BE49-F238E27FC236}">
                  <a16:creationId xmlns:a16="http://schemas.microsoft.com/office/drawing/2014/main" id="{3738CCE6-1A80-8142-AFC7-95E1CE6D0D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2022"/>
              <a:ext cx="204" cy="1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6845" name="AutoShape 16">
              <a:extLst>
                <a:ext uri="{FF2B5EF4-FFF2-40B4-BE49-F238E27FC236}">
                  <a16:creationId xmlns:a16="http://schemas.microsoft.com/office/drawing/2014/main" id="{6DE2DE49-B72A-9C21-D0BB-496FC0191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2836"/>
              <a:ext cx="48" cy="4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6846" name="AutoShape 17">
              <a:extLst>
                <a:ext uri="{FF2B5EF4-FFF2-40B4-BE49-F238E27FC236}">
                  <a16:creationId xmlns:a16="http://schemas.microsoft.com/office/drawing/2014/main" id="{FB4CA645-16F2-126E-EEA0-89CB8A1DD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4" y="2474"/>
              <a:ext cx="48" cy="4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6847" name="AutoShape 18">
              <a:extLst>
                <a:ext uri="{FF2B5EF4-FFF2-40B4-BE49-F238E27FC236}">
                  <a16:creationId xmlns:a16="http://schemas.microsoft.com/office/drawing/2014/main" id="{2FDC34FE-8FCD-B887-4977-EB7C176D9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0" y="2198"/>
              <a:ext cx="48" cy="4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6848" name="AutoShape 19">
              <a:extLst>
                <a:ext uri="{FF2B5EF4-FFF2-40B4-BE49-F238E27FC236}">
                  <a16:creationId xmlns:a16="http://schemas.microsoft.com/office/drawing/2014/main" id="{F1CCF1DF-28A4-3BA9-2DBE-BD8DD6811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8" y="1972"/>
              <a:ext cx="48" cy="4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6849" name="AutoShape 20">
              <a:extLst>
                <a:ext uri="{FF2B5EF4-FFF2-40B4-BE49-F238E27FC236}">
                  <a16:creationId xmlns:a16="http://schemas.microsoft.com/office/drawing/2014/main" id="{ED2F1DDD-F5D5-24C8-568F-A38901BB0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6" y="1906"/>
              <a:ext cx="48" cy="48"/>
            </a:xfrm>
            <a:prstGeom prst="triangle">
              <a:avLst>
                <a:gd name="adj" fmla="val 50000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4" name="Group 21">
            <a:extLst>
              <a:ext uri="{FF2B5EF4-FFF2-40B4-BE49-F238E27FC236}">
                <a16:creationId xmlns:a16="http://schemas.microsoft.com/office/drawing/2014/main" id="{4D7DA394-2AEE-E25F-1851-D5ED844D5E04}"/>
              </a:ext>
            </a:extLst>
          </p:cNvPr>
          <p:cNvGrpSpPr>
            <a:grpSpLocks/>
          </p:cNvGrpSpPr>
          <p:nvPr/>
        </p:nvGrpSpPr>
        <p:grpSpPr bwMode="auto">
          <a:xfrm>
            <a:off x="4899025" y="3297238"/>
            <a:ext cx="2006600" cy="2197100"/>
            <a:chOff x="896" y="1620"/>
            <a:chExt cx="1264" cy="1384"/>
          </a:xfrm>
        </p:grpSpPr>
        <p:sp>
          <p:nvSpPr>
            <p:cNvPr id="76832" name="Oval 22">
              <a:extLst>
                <a:ext uri="{FF2B5EF4-FFF2-40B4-BE49-F238E27FC236}">
                  <a16:creationId xmlns:a16="http://schemas.microsoft.com/office/drawing/2014/main" id="{4E75EDE2-4163-CB05-5E2B-5F9A2BE57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2956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6833" name="Oval 23">
              <a:extLst>
                <a:ext uri="{FF2B5EF4-FFF2-40B4-BE49-F238E27FC236}">
                  <a16:creationId xmlns:a16="http://schemas.microsoft.com/office/drawing/2014/main" id="{CC054BFD-DC4A-6BD6-6F49-869B4D44E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4" y="2546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6834" name="Oval 24">
              <a:extLst>
                <a:ext uri="{FF2B5EF4-FFF2-40B4-BE49-F238E27FC236}">
                  <a16:creationId xmlns:a16="http://schemas.microsoft.com/office/drawing/2014/main" id="{5BBDBF6F-F1C5-A1C8-9035-E5398C048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8" y="2036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6835" name="Oval 25">
              <a:extLst>
                <a:ext uri="{FF2B5EF4-FFF2-40B4-BE49-F238E27FC236}">
                  <a16:creationId xmlns:a16="http://schemas.microsoft.com/office/drawing/2014/main" id="{A8A4F709-A0FC-3642-D517-D4AFB8558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620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6836" name="Oval 26">
              <a:extLst>
                <a:ext uri="{FF2B5EF4-FFF2-40B4-BE49-F238E27FC236}">
                  <a16:creationId xmlns:a16="http://schemas.microsoft.com/office/drawing/2014/main" id="{894843C3-2654-3C4F-DD79-64289B17D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0" y="1840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6837" name="Line 27">
              <a:extLst>
                <a:ext uri="{FF2B5EF4-FFF2-40B4-BE49-F238E27FC236}">
                  <a16:creationId xmlns:a16="http://schemas.microsoft.com/office/drawing/2014/main" id="{49AAAEA9-C795-CE64-1C23-D7EE0B0F01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4" y="2604"/>
              <a:ext cx="222" cy="3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6838" name="Line 28">
              <a:extLst>
                <a:ext uri="{FF2B5EF4-FFF2-40B4-BE49-F238E27FC236}">
                  <a16:creationId xmlns:a16="http://schemas.microsoft.com/office/drawing/2014/main" id="{5347F46A-5F0D-88B3-2186-CA4918CB58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36" y="2094"/>
              <a:ext cx="390" cy="4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6839" name="Line 29">
              <a:extLst>
                <a:ext uri="{FF2B5EF4-FFF2-40B4-BE49-F238E27FC236}">
                  <a16:creationId xmlns:a16="http://schemas.microsoft.com/office/drawing/2014/main" id="{A97F33DA-0CF8-9C81-3E85-2093A0DC89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98" y="1902"/>
              <a:ext cx="132" cy="1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6840" name="Line 30">
              <a:extLst>
                <a:ext uri="{FF2B5EF4-FFF2-40B4-BE49-F238E27FC236}">
                  <a16:creationId xmlns:a16="http://schemas.microsoft.com/office/drawing/2014/main" id="{6CD18F30-24CA-CA9F-A1A7-BA2BA4DF4F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84" y="1674"/>
              <a:ext cx="210" cy="16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76807" name="Group 51">
            <a:extLst>
              <a:ext uri="{FF2B5EF4-FFF2-40B4-BE49-F238E27FC236}">
                <a16:creationId xmlns:a16="http://schemas.microsoft.com/office/drawing/2014/main" id="{ED0AA69A-9041-0948-0249-EA952AE60657}"/>
              </a:ext>
            </a:extLst>
          </p:cNvPr>
          <p:cNvGrpSpPr>
            <a:grpSpLocks/>
          </p:cNvGrpSpPr>
          <p:nvPr/>
        </p:nvGrpSpPr>
        <p:grpSpPr bwMode="auto">
          <a:xfrm>
            <a:off x="3859213" y="2649539"/>
            <a:ext cx="3605212" cy="4065587"/>
            <a:chOff x="241" y="1212"/>
            <a:chExt cx="2271" cy="2561"/>
          </a:xfrm>
        </p:grpSpPr>
        <p:grpSp>
          <p:nvGrpSpPr>
            <p:cNvPr id="76812" name="Group 52">
              <a:extLst>
                <a:ext uri="{FF2B5EF4-FFF2-40B4-BE49-F238E27FC236}">
                  <a16:creationId xmlns:a16="http://schemas.microsoft.com/office/drawing/2014/main" id="{92681F43-E34B-7390-2739-DE746E0DDC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" y="1212"/>
              <a:ext cx="2271" cy="2267"/>
              <a:chOff x="241" y="1212"/>
              <a:chExt cx="2271" cy="2267"/>
            </a:xfrm>
          </p:grpSpPr>
          <p:grpSp>
            <p:nvGrpSpPr>
              <p:cNvPr id="76814" name="Group 53">
                <a:extLst>
                  <a:ext uri="{FF2B5EF4-FFF2-40B4-BE49-F238E27FC236}">
                    <a16:creationId xmlns:a16="http://schemas.microsoft.com/office/drawing/2014/main" id="{ADBC8395-916C-7D02-FC25-F1DE4BEA3E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1" y="1212"/>
                <a:ext cx="1681" cy="2052"/>
                <a:chOff x="831" y="1212"/>
                <a:chExt cx="1681" cy="2052"/>
              </a:xfrm>
            </p:grpSpPr>
            <p:sp>
              <p:nvSpPr>
                <p:cNvPr id="76822" name="Rectangle 54">
                  <a:extLst>
                    <a:ext uri="{FF2B5EF4-FFF2-40B4-BE49-F238E27FC236}">
                      <a16:creationId xmlns:a16="http://schemas.microsoft.com/office/drawing/2014/main" id="{8D44D972-010D-6955-F409-B634E315EA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2" y="1212"/>
                  <a:ext cx="1680" cy="205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76823" name="Line 55">
                  <a:extLst>
                    <a:ext uri="{FF2B5EF4-FFF2-40B4-BE49-F238E27FC236}">
                      <a16:creationId xmlns:a16="http://schemas.microsoft.com/office/drawing/2014/main" id="{E9CB6EF7-3C5A-AD9D-B233-AEE085B7A8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52" y="3216"/>
                  <a:ext cx="0" cy="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6824" name="Line 56">
                  <a:extLst>
                    <a:ext uri="{FF2B5EF4-FFF2-40B4-BE49-F238E27FC236}">
                      <a16:creationId xmlns:a16="http://schemas.microsoft.com/office/drawing/2014/main" id="{C54B8670-DD37-F277-C40B-D44D8EA6A1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88" y="3216"/>
                  <a:ext cx="0" cy="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6825" name="Line 57">
                  <a:extLst>
                    <a:ext uri="{FF2B5EF4-FFF2-40B4-BE49-F238E27FC236}">
                      <a16:creationId xmlns:a16="http://schemas.microsoft.com/office/drawing/2014/main" id="{FA5080B9-4A05-0208-3150-65E6903637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24" y="3216"/>
                  <a:ext cx="0" cy="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6826" name="Line 58">
                  <a:extLst>
                    <a:ext uri="{FF2B5EF4-FFF2-40B4-BE49-F238E27FC236}">
                      <a16:creationId xmlns:a16="http://schemas.microsoft.com/office/drawing/2014/main" id="{67AD9150-7E0C-CDAC-57D1-216C6603C4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60" y="3216"/>
                  <a:ext cx="0" cy="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6827" name="Line 59">
                  <a:extLst>
                    <a:ext uri="{FF2B5EF4-FFF2-40B4-BE49-F238E27FC236}">
                      <a16:creationId xmlns:a16="http://schemas.microsoft.com/office/drawing/2014/main" id="{E31A47B3-F112-FB0A-59AE-4FFABE3A83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32" y="2928"/>
                  <a:ext cx="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6828" name="Line 60">
                  <a:extLst>
                    <a:ext uri="{FF2B5EF4-FFF2-40B4-BE49-F238E27FC236}">
                      <a16:creationId xmlns:a16="http://schemas.microsoft.com/office/drawing/2014/main" id="{27CE89A8-3559-61FC-9516-9C01B1ED4F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36" y="2588"/>
                  <a:ext cx="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6829" name="Line 61">
                  <a:extLst>
                    <a:ext uri="{FF2B5EF4-FFF2-40B4-BE49-F238E27FC236}">
                      <a16:creationId xmlns:a16="http://schemas.microsoft.com/office/drawing/2014/main" id="{4E549F9E-2C56-9887-6AB5-231D2D2FDD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32" y="2252"/>
                  <a:ext cx="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6830" name="Line 62">
                  <a:extLst>
                    <a:ext uri="{FF2B5EF4-FFF2-40B4-BE49-F238E27FC236}">
                      <a16:creationId xmlns:a16="http://schemas.microsoft.com/office/drawing/2014/main" id="{8902FD6C-1E7C-B89F-1E34-A518E1D423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32" y="1904"/>
                  <a:ext cx="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6831" name="Line 63">
                  <a:extLst>
                    <a:ext uri="{FF2B5EF4-FFF2-40B4-BE49-F238E27FC236}">
                      <a16:creationId xmlns:a16="http://schemas.microsoft.com/office/drawing/2014/main" id="{17A9FC1B-6483-ACFA-CB68-55643FB3FF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31" y="1563"/>
                  <a:ext cx="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76815" name="Text Box 64">
                <a:extLst>
                  <a:ext uri="{FF2B5EF4-FFF2-40B4-BE49-F238E27FC236}">
                    <a16:creationId xmlns:a16="http://schemas.microsoft.com/office/drawing/2014/main" id="{49A2F9DD-2651-8D4E-B1C8-F597F96D55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2" y="3306"/>
                <a:ext cx="116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GB" altLang="en-US" sz="1200"/>
                  <a:t>1          2           3          4</a:t>
                </a:r>
              </a:p>
            </p:txBody>
          </p:sp>
          <p:sp>
            <p:nvSpPr>
              <p:cNvPr id="76816" name="Text Box 65">
                <a:extLst>
                  <a:ext uri="{FF2B5EF4-FFF2-40B4-BE49-F238E27FC236}">
                    <a16:creationId xmlns:a16="http://schemas.microsoft.com/office/drawing/2014/main" id="{B6062788-B24E-FD6F-CD2C-9EC1D94C5B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5400000">
                <a:off x="-188" y="2108"/>
                <a:ext cx="1031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GB" altLang="en-US" sz="1200"/>
                  <a:t>Cardiac output (l/min)</a:t>
                </a:r>
              </a:p>
            </p:txBody>
          </p:sp>
          <p:sp>
            <p:nvSpPr>
              <p:cNvPr id="76817" name="Text Box 66">
                <a:extLst>
                  <a:ext uri="{FF2B5EF4-FFF2-40B4-BE49-F238E27FC236}">
                    <a16:creationId xmlns:a16="http://schemas.microsoft.com/office/drawing/2014/main" id="{D66FE88C-A8F0-1001-F708-C6A1FA0CB0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9" y="2853"/>
                <a:ext cx="169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GB" altLang="en-US" sz="1200"/>
                  <a:t>5</a:t>
                </a:r>
              </a:p>
            </p:txBody>
          </p:sp>
          <p:sp>
            <p:nvSpPr>
              <p:cNvPr id="76818" name="Text Box 67">
                <a:extLst>
                  <a:ext uri="{FF2B5EF4-FFF2-40B4-BE49-F238E27FC236}">
                    <a16:creationId xmlns:a16="http://schemas.microsoft.com/office/drawing/2014/main" id="{8371261A-B51A-D8DA-99F6-FCBD225FED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6" y="2517"/>
                <a:ext cx="22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GB" altLang="en-US" sz="1200"/>
                  <a:t>10</a:t>
                </a:r>
              </a:p>
            </p:txBody>
          </p:sp>
          <p:sp>
            <p:nvSpPr>
              <p:cNvPr id="76819" name="Text Box 68">
                <a:extLst>
                  <a:ext uri="{FF2B5EF4-FFF2-40B4-BE49-F238E27FC236}">
                    <a16:creationId xmlns:a16="http://schemas.microsoft.com/office/drawing/2014/main" id="{946E7630-A38F-AB96-62E8-06297555FE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6" y="2165"/>
                <a:ext cx="22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GB" altLang="en-US" sz="1200"/>
                  <a:t>15</a:t>
                </a:r>
              </a:p>
            </p:txBody>
          </p:sp>
          <p:sp>
            <p:nvSpPr>
              <p:cNvPr id="76820" name="Text Box 69">
                <a:extLst>
                  <a:ext uri="{FF2B5EF4-FFF2-40B4-BE49-F238E27FC236}">
                    <a16:creationId xmlns:a16="http://schemas.microsoft.com/office/drawing/2014/main" id="{25F8D6EF-0BCB-EF4E-5A9F-8640DFEFAD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6" y="1813"/>
                <a:ext cx="22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GB" altLang="en-US" sz="1200"/>
                  <a:t>20</a:t>
                </a:r>
              </a:p>
            </p:txBody>
          </p:sp>
          <p:sp>
            <p:nvSpPr>
              <p:cNvPr id="76821" name="Text Box 70">
                <a:extLst>
                  <a:ext uri="{FF2B5EF4-FFF2-40B4-BE49-F238E27FC236}">
                    <a16:creationId xmlns:a16="http://schemas.microsoft.com/office/drawing/2014/main" id="{071911CF-7D48-3DCC-FCF3-25A7D7C57A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6" y="1461"/>
                <a:ext cx="22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GB" altLang="en-US" sz="1200"/>
                  <a:t>25</a:t>
                </a:r>
              </a:p>
            </p:txBody>
          </p:sp>
        </p:grpSp>
        <p:sp>
          <p:nvSpPr>
            <p:cNvPr id="76813" name="Text Box 71">
              <a:extLst>
                <a:ext uri="{FF2B5EF4-FFF2-40B4-BE49-F238E27FC236}">
                  <a16:creationId xmlns:a16="http://schemas.microsoft.com/office/drawing/2014/main" id="{A006ED5A-079B-D317-0516-01EC3FBC10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600"/>
              <a:ext cx="105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 sz="1200"/>
                <a:t>Oxygen uptake (l/min)</a:t>
              </a:r>
            </a:p>
          </p:txBody>
        </p:sp>
      </p:grpSp>
      <p:sp>
        <p:nvSpPr>
          <p:cNvPr id="76808" name="Text Box 100">
            <a:extLst>
              <a:ext uri="{FF2B5EF4-FFF2-40B4-BE49-F238E27FC236}">
                <a16:creationId xmlns:a16="http://schemas.microsoft.com/office/drawing/2014/main" id="{37DAC13D-A098-B05E-46D1-38612BEFD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76" y="3286125"/>
            <a:ext cx="2214563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Symbol" panose="05050102010706020507" pitchFamily="18" charset="2"/>
              <a:buChar char="D"/>
            </a:pPr>
            <a:r>
              <a:rPr lang="en-GB" altLang="en-US">
                <a:sym typeface="Symbol" panose="05050102010706020507" pitchFamily="18" charset="2"/>
              </a:rPr>
              <a:t> Control 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>
                <a:sym typeface="Wingdings" panose="05000000000000000000" pitchFamily="2" charset="2"/>
              </a:rPr>
              <a:t> </a:t>
            </a:r>
            <a:r>
              <a:rPr lang="en-GB" altLang="en-US">
                <a:sym typeface="Symbol" panose="05050102010706020507" pitchFamily="18" charset="2"/>
              </a:rPr>
              <a:t>after 20d of bed rest </a:t>
            </a:r>
          </a:p>
          <a:p>
            <a:pPr eaLnBrk="1" hangingPunct="1">
              <a:spcBef>
                <a:spcPct val="50000"/>
              </a:spcBef>
            </a:pPr>
            <a:r>
              <a:rPr lang="en-GB" altLang="en-US">
                <a:sym typeface="Symbol" panose="05050102010706020507" pitchFamily="18" charset="2"/>
              </a:rPr>
              <a:t> after 50d of training</a:t>
            </a:r>
          </a:p>
        </p:txBody>
      </p:sp>
      <p:sp>
        <p:nvSpPr>
          <p:cNvPr id="54" name="Up Arrow 53">
            <a:extLst>
              <a:ext uri="{FF2B5EF4-FFF2-40B4-BE49-F238E27FC236}">
                <a16:creationId xmlns:a16="http://schemas.microsoft.com/office/drawing/2014/main" id="{CDDDA544-236F-4ED9-5204-C9D1CBEB295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667501" y="2857500"/>
            <a:ext cx="428625" cy="28575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55" name="Up Arrow 54">
            <a:extLst>
              <a:ext uri="{FF2B5EF4-FFF2-40B4-BE49-F238E27FC236}">
                <a16:creationId xmlns:a16="http://schemas.microsoft.com/office/drawing/2014/main" id="{1E0A4DF9-BE6D-2661-63BA-9451FA824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3126" y="4572000"/>
            <a:ext cx="428625" cy="28575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76811" name="Rectangle 55">
            <a:extLst>
              <a:ext uri="{FF2B5EF4-FFF2-40B4-BE49-F238E27FC236}">
                <a16:creationId xmlns:a16="http://schemas.microsoft.com/office/drawing/2014/main" id="{450DA745-E302-6D25-77AA-39A6C19EB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25" y="1268414"/>
            <a:ext cx="251383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400"/>
              <a:t>Saltin et al., Circulation. 1968</a:t>
            </a:r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  <p:bldP spid="54" grpId="0" animBg="1"/>
      <p:bldP spid="5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5A2A916-2F3B-B433-E8E5-8D93114148D8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3400426"/>
            <a:ext cx="1143000" cy="561975"/>
            <a:chOff x="1008" y="2046"/>
            <a:chExt cx="720" cy="354"/>
          </a:xfrm>
        </p:grpSpPr>
        <p:sp>
          <p:nvSpPr>
            <p:cNvPr id="77918" name="Rectangle 3">
              <a:extLst>
                <a:ext uri="{FF2B5EF4-FFF2-40B4-BE49-F238E27FC236}">
                  <a16:creationId xmlns:a16="http://schemas.microsoft.com/office/drawing/2014/main" id="{1AB29FF4-DBE0-426D-5F14-814249553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352"/>
              <a:ext cx="48" cy="4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919" name="Rectangle 4">
              <a:extLst>
                <a:ext uri="{FF2B5EF4-FFF2-40B4-BE49-F238E27FC236}">
                  <a16:creationId xmlns:a16="http://schemas.microsoft.com/office/drawing/2014/main" id="{EEE7F8C2-A0DF-9BFF-CAC5-3C28DAB1C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064"/>
              <a:ext cx="48" cy="4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920" name="Rectangle 5">
              <a:extLst>
                <a:ext uri="{FF2B5EF4-FFF2-40B4-BE49-F238E27FC236}">
                  <a16:creationId xmlns:a16="http://schemas.microsoft.com/office/drawing/2014/main" id="{1FFFE2FB-D203-0CAD-00C3-47A573D9A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112"/>
              <a:ext cx="48" cy="4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921" name="Rectangle 6">
              <a:extLst>
                <a:ext uri="{FF2B5EF4-FFF2-40B4-BE49-F238E27FC236}">
                  <a16:creationId xmlns:a16="http://schemas.microsoft.com/office/drawing/2014/main" id="{0CD3755D-3559-C8D4-4006-1958C6AA0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064"/>
              <a:ext cx="48" cy="4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922" name="Rectangle 7">
              <a:extLst>
                <a:ext uri="{FF2B5EF4-FFF2-40B4-BE49-F238E27FC236}">
                  <a16:creationId xmlns:a16="http://schemas.microsoft.com/office/drawing/2014/main" id="{32235AA4-5436-3C82-C6D2-817A8EE09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046"/>
              <a:ext cx="48" cy="4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923" name="Line 8">
              <a:extLst>
                <a:ext uri="{FF2B5EF4-FFF2-40B4-BE49-F238E27FC236}">
                  <a16:creationId xmlns:a16="http://schemas.microsoft.com/office/drawing/2014/main" id="{630D869A-9EB9-632F-7B68-98BA1AD01D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2112"/>
              <a:ext cx="24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7924" name="Line 9">
              <a:extLst>
                <a:ext uri="{FF2B5EF4-FFF2-40B4-BE49-F238E27FC236}">
                  <a16:creationId xmlns:a16="http://schemas.microsoft.com/office/drawing/2014/main" id="{CF7C7B97-B82B-95B5-4BD0-7E577BF9B8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1" y="2079"/>
              <a:ext cx="51" cy="3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7925" name="Line 10">
              <a:extLst>
                <a:ext uri="{FF2B5EF4-FFF2-40B4-BE49-F238E27FC236}">
                  <a16:creationId xmlns:a16="http://schemas.microsoft.com/office/drawing/2014/main" id="{145A588A-89C6-90D9-ACF5-041F2D0A0A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9" y="2082"/>
              <a:ext cx="78" cy="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7926" name="Line 11">
              <a:extLst>
                <a:ext uri="{FF2B5EF4-FFF2-40B4-BE49-F238E27FC236}">
                  <a16:creationId xmlns:a16="http://schemas.microsoft.com/office/drawing/2014/main" id="{B3856CFE-C4A2-01E1-ADA7-83215B4517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93" y="2064"/>
              <a:ext cx="93" cy="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id="{6B05FA07-B9B1-C290-20D7-2E0EB87F2C9B}"/>
              </a:ext>
            </a:extLst>
          </p:cNvPr>
          <p:cNvGrpSpPr>
            <a:grpSpLocks/>
          </p:cNvGrpSpPr>
          <p:nvPr/>
        </p:nvGrpSpPr>
        <p:grpSpPr bwMode="auto">
          <a:xfrm>
            <a:off x="3125788" y="2286000"/>
            <a:ext cx="2055812" cy="935038"/>
            <a:chOff x="1009" y="1344"/>
            <a:chExt cx="1295" cy="589"/>
          </a:xfrm>
        </p:grpSpPr>
        <p:sp>
          <p:nvSpPr>
            <p:cNvPr id="77909" name="Oval 13">
              <a:extLst>
                <a:ext uri="{FF2B5EF4-FFF2-40B4-BE49-F238E27FC236}">
                  <a16:creationId xmlns:a16="http://schemas.microsoft.com/office/drawing/2014/main" id="{2268D8AA-09F5-97D4-753B-2AA6156B8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9" y="1885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910" name="Oval 14">
              <a:extLst>
                <a:ext uri="{FF2B5EF4-FFF2-40B4-BE49-F238E27FC236}">
                  <a16:creationId xmlns:a16="http://schemas.microsoft.com/office/drawing/2014/main" id="{B1334C99-888B-8D5E-1078-E005661EB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3" y="1582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911" name="Oval 15">
              <a:extLst>
                <a:ext uri="{FF2B5EF4-FFF2-40B4-BE49-F238E27FC236}">
                  <a16:creationId xmlns:a16="http://schemas.microsoft.com/office/drawing/2014/main" id="{CB467984-0B1A-FDFC-EFF0-ACF791D23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6" y="1495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912" name="Oval 16">
              <a:extLst>
                <a:ext uri="{FF2B5EF4-FFF2-40B4-BE49-F238E27FC236}">
                  <a16:creationId xmlns:a16="http://schemas.microsoft.com/office/drawing/2014/main" id="{BDD61BFE-ABE0-3A59-C984-9EEF62EF1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7" y="1447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913" name="Oval 17">
              <a:extLst>
                <a:ext uri="{FF2B5EF4-FFF2-40B4-BE49-F238E27FC236}">
                  <a16:creationId xmlns:a16="http://schemas.microsoft.com/office/drawing/2014/main" id="{6980E5CA-AE2D-809F-4692-2C34974CE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344"/>
              <a:ext cx="48" cy="4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914" name="Line 18">
              <a:extLst>
                <a:ext uri="{FF2B5EF4-FFF2-40B4-BE49-F238E27FC236}">
                  <a16:creationId xmlns:a16="http://schemas.microsoft.com/office/drawing/2014/main" id="{5C6E0BAA-6AE7-D933-0A78-5F251A00C9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8" y="1640"/>
              <a:ext cx="244" cy="2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7915" name="Line 19">
              <a:extLst>
                <a:ext uri="{FF2B5EF4-FFF2-40B4-BE49-F238E27FC236}">
                  <a16:creationId xmlns:a16="http://schemas.microsoft.com/office/drawing/2014/main" id="{0D437CEE-2C0D-4B00-1748-9D881EC9A9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2" y="1524"/>
              <a:ext cx="24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7916" name="Line 20">
              <a:extLst>
                <a:ext uri="{FF2B5EF4-FFF2-40B4-BE49-F238E27FC236}">
                  <a16:creationId xmlns:a16="http://schemas.microsoft.com/office/drawing/2014/main" id="{9D8EAF83-D8D6-4649-0103-A9AC0C9618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16" y="1476"/>
              <a:ext cx="160" cy="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7917" name="Line 21">
              <a:extLst>
                <a:ext uri="{FF2B5EF4-FFF2-40B4-BE49-F238E27FC236}">
                  <a16:creationId xmlns:a16="http://schemas.microsoft.com/office/drawing/2014/main" id="{281BE365-C09B-D2DF-80FA-475056D7C8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0" y="1376"/>
              <a:ext cx="284" cy="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77828" name="Group 22">
            <a:extLst>
              <a:ext uri="{FF2B5EF4-FFF2-40B4-BE49-F238E27FC236}">
                <a16:creationId xmlns:a16="http://schemas.microsoft.com/office/drawing/2014/main" id="{5289FA83-D039-CFA6-A644-CE8AD5BA3F5E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2133600"/>
            <a:ext cx="3430588" cy="4008438"/>
            <a:chOff x="432" y="1248"/>
            <a:chExt cx="2161" cy="2525"/>
          </a:xfrm>
        </p:grpSpPr>
        <p:grpSp>
          <p:nvGrpSpPr>
            <p:cNvPr id="77883" name="Group 23">
              <a:extLst>
                <a:ext uri="{FF2B5EF4-FFF2-40B4-BE49-F238E27FC236}">
                  <a16:creationId xmlns:a16="http://schemas.microsoft.com/office/drawing/2014/main" id="{62BB6141-C451-5200-6393-355F747ADB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1584"/>
              <a:ext cx="1008" cy="432"/>
              <a:chOff x="1008" y="1584"/>
              <a:chExt cx="1008" cy="432"/>
            </a:xfrm>
          </p:grpSpPr>
          <p:sp>
            <p:nvSpPr>
              <p:cNvPr id="77900" name="AutoShape 24">
                <a:extLst>
                  <a:ext uri="{FF2B5EF4-FFF2-40B4-BE49-F238E27FC236}">
                    <a16:creationId xmlns:a16="http://schemas.microsoft.com/office/drawing/2014/main" id="{50977109-61F3-C87A-10E7-2E7DAE68AC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968"/>
                <a:ext cx="48" cy="48"/>
              </a:xfrm>
              <a:prstGeom prst="triangle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7901" name="AutoShape 25">
                <a:extLst>
                  <a:ext uri="{FF2B5EF4-FFF2-40B4-BE49-F238E27FC236}">
                    <a16:creationId xmlns:a16="http://schemas.microsoft.com/office/drawing/2014/main" id="{C0775A89-3CB5-9E9A-B35F-04D8A47B64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632"/>
                <a:ext cx="48" cy="48"/>
              </a:xfrm>
              <a:prstGeom prst="triangle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7902" name="AutoShape 26">
                <a:extLst>
                  <a:ext uri="{FF2B5EF4-FFF2-40B4-BE49-F238E27FC236}">
                    <a16:creationId xmlns:a16="http://schemas.microsoft.com/office/drawing/2014/main" id="{E399AE1E-2220-8CD0-F838-53B1A1633E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584"/>
                <a:ext cx="48" cy="48"/>
              </a:xfrm>
              <a:prstGeom prst="triangle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7903" name="AutoShape 27">
                <a:extLst>
                  <a:ext uri="{FF2B5EF4-FFF2-40B4-BE49-F238E27FC236}">
                    <a16:creationId xmlns:a16="http://schemas.microsoft.com/office/drawing/2014/main" id="{8A3E4A69-C911-EC8A-699B-FF6A852190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1584"/>
                <a:ext cx="48" cy="48"/>
              </a:xfrm>
              <a:prstGeom prst="triangle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7904" name="AutoShape 28">
                <a:extLst>
                  <a:ext uri="{FF2B5EF4-FFF2-40B4-BE49-F238E27FC236}">
                    <a16:creationId xmlns:a16="http://schemas.microsoft.com/office/drawing/2014/main" id="{73B50164-9DE7-3179-9814-4D5935C756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584"/>
                <a:ext cx="48" cy="48"/>
              </a:xfrm>
              <a:prstGeom prst="triangle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7905" name="Line 29">
                <a:extLst>
                  <a:ext uri="{FF2B5EF4-FFF2-40B4-BE49-F238E27FC236}">
                    <a16:creationId xmlns:a16="http://schemas.microsoft.com/office/drawing/2014/main" id="{E7455C55-0A54-0730-E643-0180363FBF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56" y="1680"/>
                <a:ext cx="288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77906" name="Line 30">
                <a:extLst>
                  <a:ext uri="{FF2B5EF4-FFF2-40B4-BE49-F238E27FC236}">
                    <a16:creationId xmlns:a16="http://schemas.microsoft.com/office/drawing/2014/main" id="{B7A0253E-6FDA-B0CD-B954-4591F06668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89" y="1606"/>
                <a:ext cx="138" cy="3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77907" name="Line 31">
                <a:extLst>
                  <a:ext uri="{FF2B5EF4-FFF2-40B4-BE49-F238E27FC236}">
                    <a16:creationId xmlns:a16="http://schemas.microsoft.com/office/drawing/2014/main" id="{61770312-673E-B1F1-D631-F41A54A7E1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82" y="1606"/>
                <a:ext cx="142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77908" name="Line 32">
                <a:extLst>
                  <a:ext uri="{FF2B5EF4-FFF2-40B4-BE49-F238E27FC236}">
                    <a16:creationId xmlns:a16="http://schemas.microsoft.com/office/drawing/2014/main" id="{4B299875-8E26-48F1-8522-D7C649EBF8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1602"/>
                <a:ext cx="190" cy="1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77884" name="Group 33">
              <a:extLst>
                <a:ext uri="{FF2B5EF4-FFF2-40B4-BE49-F238E27FC236}">
                  <a16:creationId xmlns:a16="http://schemas.microsoft.com/office/drawing/2014/main" id="{D4628059-D7F1-56C8-A54B-9A7428F8E1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248"/>
              <a:ext cx="2161" cy="2525"/>
              <a:chOff x="432" y="1248"/>
              <a:chExt cx="2161" cy="2525"/>
            </a:xfrm>
          </p:grpSpPr>
          <p:grpSp>
            <p:nvGrpSpPr>
              <p:cNvPr id="77885" name="Group 34">
                <a:extLst>
                  <a:ext uri="{FF2B5EF4-FFF2-40B4-BE49-F238E27FC236}">
                    <a16:creationId xmlns:a16="http://schemas.microsoft.com/office/drawing/2014/main" id="{893618E3-AEBE-733B-6025-B766922D6C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1248"/>
                <a:ext cx="1681" cy="2052"/>
                <a:chOff x="3312" y="1248"/>
                <a:chExt cx="1681" cy="2052"/>
              </a:xfrm>
            </p:grpSpPr>
            <p:sp>
              <p:nvSpPr>
                <p:cNvPr id="77891" name="Rectangle 35">
                  <a:extLst>
                    <a:ext uri="{FF2B5EF4-FFF2-40B4-BE49-F238E27FC236}">
                      <a16:creationId xmlns:a16="http://schemas.microsoft.com/office/drawing/2014/main" id="{E8A1CD13-38CC-A0F2-A383-ED8A41AD5C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3" y="1248"/>
                  <a:ext cx="1680" cy="205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77892" name="Line 36">
                  <a:extLst>
                    <a:ext uri="{FF2B5EF4-FFF2-40B4-BE49-F238E27FC236}">
                      <a16:creationId xmlns:a16="http://schemas.microsoft.com/office/drawing/2014/main" id="{541F3171-FBA5-FDF3-38CC-D882365DF4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33" y="3252"/>
                  <a:ext cx="0" cy="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7893" name="Line 37">
                  <a:extLst>
                    <a:ext uri="{FF2B5EF4-FFF2-40B4-BE49-F238E27FC236}">
                      <a16:creationId xmlns:a16="http://schemas.microsoft.com/office/drawing/2014/main" id="{599A595B-6CFC-C621-5BF7-4F661D5147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69" y="3252"/>
                  <a:ext cx="0" cy="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7894" name="Line 38">
                  <a:extLst>
                    <a:ext uri="{FF2B5EF4-FFF2-40B4-BE49-F238E27FC236}">
                      <a16:creationId xmlns:a16="http://schemas.microsoft.com/office/drawing/2014/main" id="{6420DECC-7401-C4FF-019C-E07F5FBD2C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05" y="3252"/>
                  <a:ext cx="0" cy="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7895" name="Line 39">
                  <a:extLst>
                    <a:ext uri="{FF2B5EF4-FFF2-40B4-BE49-F238E27FC236}">
                      <a16:creationId xmlns:a16="http://schemas.microsoft.com/office/drawing/2014/main" id="{63629A13-6B02-81FC-5E71-74A20D0FE4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41" y="3252"/>
                  <a:ext cx="0" cy="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7896" name="Line 40">
                  <a:extLst>
                    <a:ext uri="{FF2B5EF4-FFF2-40B4-BE49-F238E27FC236}">
                      <a16:creationId xmlns:a16="http://schemas.microsoft.com/office/drawing/2014/main" id="{3FC54FBA-AC63-E0DF-0F7C-DE621E64FF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2" y="2880"/>
                  <a:ext cx="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7897" name="Line 41">
                  <a:extLst>
                    <a:ext uri="{FF2B5EF4-FFF2-40B4-BE49-F238E27FC236}">
                      <a16:creationId xmlns:a16="http://schemas.microsoft.com/office/drawing/2014/main" id="{36204FE0-ED18-318B-8167-C2AABF21D9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2" y="2496"/>
                  <a:ext cx="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7898" name="Line 42">
                  <a:extLst>
                    <a:ext uri="{FF2B5EF4-FFF2-40B4-BE49-F238E27FC236}">
                      <a16:creationId xmlns:a16="http://schemas.microsoft.com/office/drawing/2014/main" id="{47BD5068-09F6-C869-34A1-44D8B2EF26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2" y="2064"/>
                  <a:ext cx="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7899" name="Line 43">
                  <a:extLst>
                    <a:ext uri="{FF2B5EF4-FFF2-40B4-BE49-F238E27FC236}">
                      <a16:creationId xmlns:a16="http://schemas.microsoft.com/office/drawing/2014/main" id="{9C53740B-D6BE-9E57-BD0A-00C3B59731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12" y="1632"/>
                  <a:ext cx="6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sp>
            <p:nvSpPr>
              <p:cNvPr id="77886" name="Text Box 44">
                <a:extLst>
                  <a:ext uri="{FF2B5EF4-FFF2-40B4-BE49-F238E27FC236}">
                    <a16:creationId xmlns:a16="http://schemas.microsoft.com/office/drawing/2014/main" id="{A7FCA1D2-AC1D-D4B0-396D-E7B7966865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4" y="3369"/>
                <a:ext cx="116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GB" altLang="en-US" sz="1200"/>
                  <a:t>1          2           3          4</a:t>
                </a:r>
              </a:p>
            </p:txBody>
          </p:sp>
          <p:sp>
            <p:nvSpPr>
              <p:cNvPr id="77887" name="Text Box 45">
                <a:extLst>
                  <a:ext uri="{FF2B5EF4-FFF2-40B4-BE49-F238E27FC236}">
                    <a16:creationId xmlns:a16="http://schemas.microsoft.com/office/drawing/2014/main" id="{9046D535-9BAF-8605-35A2-2CA6620F00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5400000">
                <a:off x="8" y="2104"/>
                <a:ext cx="1021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GB" altLang="en-US" sz="1200"/>
                  <a:t>Stroke volume (l/min)</a:t>
                </a:r>
              </a:p>
            </p:txBody>
          </p:sp>
          <p:sp>
            <p:nvSpPr>
              <p:cNvPr id="77888" name="Text Box 46">
                <a:extLst>
                  <a:ext uri="{FF2B5EF4-FFF2-40B4-BE49-F238E27FC236}">
                    <a16:creationId xmlns:a16="http://schemas.microsoft.com/office/drawing/2014/main" id="{E245FC51-F882-ED95-6334-ECFDF49B1A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2" y="2421"/>
                <a:ext cx="22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GB" altLang="en-US" sz="1200"/>
                  <a:t>50</a:t>
                </a:r>
              </a:p>
            </p:txBody>
          </p:sp>
          <p:sp>
            <p:nvSpPr>
              <p:cNvPr id="77889" name="Text Box 47">
                <a:extLst>
                  <a:ext uri="{FF2B5EF4-FFF2-40B4-BE49-F238E27FC236}">
                    <a16:creationId xmlns:a16="http://schemas.microsoft.com/office/drawing/2014/main" id="{8DD94E76-98E3-7872-F575-028ADF76CD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4" y="1557"/>
                <a:ext cx="275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GB" altLang="en-US" sz="1200"/>
                  <a:t>100</a:t>
                </a:r>
              </a:p>
            </p:txBody>
          </p:sp>
          <p:sp>
            <p:nvSpPr>
              <p:cNvPr id="77890" name="Text Box 48">
                <a:extLst>
                  <a:ext uri="{FF2B5EF4-FFF2-40B4-BE49-F238E27FC236}">
                    <a16:creationId xmlns:a16="http://schemas.microsoft.com/office/drawing/2014/main" id="{49120921-110B-72EA-43FA-D7F3B6AE9E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0" y="3600"/>
                <a:ext cx="105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GB" altLang="en-US" sz="1200"/>
                  <a:t>Oxygen uptake (l/min)</a:t>
                </a:r>
              </a:p>
            </p:txBody>
          </p:sp>
        </p:grpSp>
      </p:grpSp>
      <p:grpSp>
        <p:nvGrpSpPr>
          <p:cNvPr id="8" name="Group 49">
            <a:extLst>
              <a:ext uri="{FF2B5EF4-FFF2-40B4-BE49-F238E27FC236}">
                <a16:creationId xmlns:a16="http://schemas.microsoft.com/office/drawing/2014/main" id="{7C4B4102-B1B0-60BA-9C31-82A4C72917CF}"/>
              </a:ext>
            </a:extLst>
          </p:cNvPr>
          <p:cNvGrpSpPr>
            <a:grpSpLocks/>
          </p:cNvGrpSpPr>
          <p:nvPr/>
        </p:nvGrpSpPr>
        <p:grpSpPr bwMode="auto">
          <a:xfrm>
            <a:off x="7145339" y="2724151"/>
            <a:ext cx="1146175" cy="1592263"/>
            <a:chOff x="3400" y="1620"/>
            <a:chExt cx="722" cy="1003"/>
          </a:xfrm>
        </p:grpSpPr>
        <p:sp>
          <p:nvSpPr>
            <p:cNvPr id="77874" name="Rectangle 50">
              <a:extLst>
                <a:ext uri="{FF2B5EF4-FFF2-40B4-BE49-F238E27FC236}">
                  <a16:creationId xmlns:a16="http://schemas.microsoft.com/office/drawing/2014/main" id="{062C0640-5417-2B7C-AD05-52801F2A7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4" y="1620"/>
              <a:ext cx="48" cy="4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875" name="Rectangle 51">
              <a:extLst>
                <a:ext uri="{FF2B5EF4-FFF2-40B4-BE49-F238E27FC236}">
                  <a16:creationId xmlns:a16="http://schemas.microsoft.com/office/drawing/2014/main" id="{261036C0-A050-9CA7-7B07-99D2C0E5D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0" y="1692"/>
              <a:ext cx="48" cy="4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876" name="Rectangle 52">
              <a:extLst>
                <a:ext uri="{FF2B5EF4-FFF2-40B4-BE49-F238E27FC236}">
                  <a16:creationId xmlns:a16="http://schemas.microsoft.com/office/drawing/2014/main" id="{8C9A4C2D-E8FF-6402-EE61-3E8C21B83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1996"/>
              <a:ext cx="48" cy="4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877" name="Rectangle 53">
              <a:extLst>
                <a:ext uri="{FF2B5EF4-FFF2-40B4-BE49-F238E27FC236}">
                  <a16:creationId xmlns:a16="http://schemas.microsoft.com/office/drawing/2014/main" id="{753041A3-7F5A-06D7-E9D0-FC61A7B63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0" y="2224"/>
              <a:ext cx="48" cy="4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878" name="Rectangle 54">
              <a:extLst>
                <a:ext uri="{FF2B5EF4-FFF2-40B4-BE49-F238E27FC236}">
                  <a16:creationId xmlns:a16="http://schemas.microsoft.com/office/drawing/2014/main" id="{D0D9992A-584B-34DD-95E9-28E76979C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" y="2576"/>
              <a:ext cx="48" cy="4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879" name="Line 55">
              <a:extLst>
                <a:ext uri="{FF2B5EF4-FFF2-40B4-BE49-F238E27FC236}">
                  <a16:creationId xmlns:a16="http://schemas.microsoft.com/office/drawing/2014/main" id="{EA1150E8-DE1E-23A0-45A2-93430504C4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2304"/>
              <a:ext cx="240" cy="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7880" name="Line 56">
              <a:extLst>
                <a:ext uri="{FF2B5EF4-FFF2-40B4-BE49-F238E27FC236}">
                  <a16:creationId xmlns:a16="http://schemas.microsoft.com/office/drawing/2014/main" id="{5B5FB655-0521-F95D-DB69-47239E9F98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2064"/>
              <a:ext cx="54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7881" name="Line 57">
              <a:extLst>
                <a:ext uri="{FF2B5EF4-FFF2-40B4-BE49-F238E27FC236}">
                  <a16:creationId xmlns:a16="http://schemas.microsoft.com/office/drawing/2014/main" id="{600FDB1D-37E9-82EA-1F45-5F97BC8F13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28" y="1758"/>
              <a:ext cx="90" cy="2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7882" name="Line 58">
              <a:extLst>
                <a:ext uri="{FF2B5EF4-FFF2-40B4-BE49-F238E27FC236}">
                  <a16:creationId xmlns:a16="http://schemas.microsoft.com/office/drawing/2014/main" id="{9A2318AB-1AB0-975A-BCDE-2EAE17FF3A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0" y="1650"/>
              <a:ext cx="54" cy="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9" name="Group 59">
            <a:extLst>
              <a:ext uri="{FF2B5EF4-FFF2-40B4-BE49-F238E27FC236}">
                <a16:creationId xmlns:a16="http://schemas.microsoft.com/office/drawing/2014/main" id="{447FBB90-D072-A5F5-6781-D97B0C3D83FD}"/>
              </a:ext>
            </a:extLst>
          </p:cNvPr>
          <p:cNvGrpSpPr>
            <a:grpSpLocks/>
          </p:cNvGrpSpPr>
          <p:nvPr/>
        </p:nvGrpSpPr>
        <p:grpSpPr bwMode="auto">
          <a:xfrm>
            <a:off x="7158038" y="2905125"/>
            <a:ext cx="2055812" cy="1760538"/>
            <a:chOff x="3408" y="1734"/>
            <a:chExt cx="1295" cy="1109"/>
          </a:xfrm>
        </p:grpSpPr>
        <p:sp>
          <p:nvSpPr>
            <p:cNvPr id="77865" name="Oval 60">
              <a:extLst>
                <a:ext uri="{FF2B5EF4-FFF2-40B4-BE49-F238E27FC236}">
                  <a16:creationId xmlns:a16="http://schemas.microsoft.com/office/drawing/2014/main" id="{2ABB5DB5-EA6E-488F-D19F-3D9200344CC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656" y="1734"/>
              <a:ext cx="47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866" name="Oval 61">
              <a:extLst>
                <a:ext uri="{FF2B5EF4-FFF2-40B4-BE49-F238E27FC236}">
                  <a16:creationId xmlns:a16="http://schemas.microsoft.com/office/drawing/2014/main" id="{7B65549D-9C78-BB51-527E-FCCD2E11898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320" y="1842"/>
              <a:ext cx="47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867" name="Oval 62">
              <a:extLst>
                <a:ext uri="{FF2B5EF4-FFF2-40B4-BE49-F238E27FC236}">
                  <a16:creationId xmlns:a16="http://schemas.microsoft.com/office/drawing/2014/main" id="{011D0005-F04F-666F-F1D6-0F9BD8C7ACD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068" y="2064"/>
              <a:ext cx="47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868" name="Oval 63">
              <a:extLst>
                <a:ext uri="{FF2B5EF4-FFF2-40B4-BE49-F238E27FC236}">
                  <a16:creationId xmlns:a16="http://schemas.microsoft.com/office/drawing/2014/main" id="{D2206AA4-AB93-F0FF-9331-41193994E86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726" y="2460"/>
              <a:ext cx="47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869" name="Oval 64">
              <a:extLst>
                <a:ext uri="{FF2B5EF4-FFF2-40B4-BE49-F238E27FC236}">
                  <a16:creationId xmlns:a16="http://schemas.microsoft.com/office/drawing/2014/main" id="{7D47B151-E22B-73C6-496E-604B23BF284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408" y="2796"/>
              <a:ext cx="47" cy="4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7870" name="Line 65">
              <a:extLst>
                <a:ext uri="{FF2B5EF4-FFF2-40B4-BE49-F238E27FC236}">
                  <a16:creationId xmlns:a16="http://schemas.microsoft.com/office/drawing/2014/main" id="{FAC48823-C79B-592F-186E-2412FE34BE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2544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7871" name="Line 66">
              <a:extLst>
                <a:ext uri="{FF2B5EF4-FFF2-40B4-BE49-F238E27FC236}">
                  <a16:creationId xmlns:a16="http://schemas.microsoft.com/office/drawing/2014/main" id="{D5ED2DFA-FDB2-7147-C881-7351E7C9AB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2124"/>
              <a:ext cx="264" cy="3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7872" name="Line 67">
              <a:extLst>
                <a:ext uri="{FF2B5EF4-FFF2-40B4-BE49-F238E27FC236}">
                  <a16:creationId xmlns:a16="http://schemas.microsoft.com/office/drawing/2014/main" id="{DCDC1E53-6D29-014E-CC0B-222E8C8713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1890"/>
              <a:ext cx="174" cy="1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77873" name="Line 68">
              <a:extLst>
                <a:ext uri="{FF2B5EF4-FFF2-40B4-BE49-F238E27FC236}">
                  <a16:creationId xmlns:a16="http://schemas.microsoft.com/office/drawing/2014/main" id="{3B92CEE3-3BBC-060A-44EF-34FF91DC96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2" y="1764"/>
              <a:ext cx="246" cy="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grpSp>
        <p:nvGrpSpPr>
          <p:cNvPr id="10" name="Group 69">
            <a:extLst>
              <a:ext uri="{FF2B5EF4-FFF2-40B4-BE49-F238E27FC236}">
                <a16:creationId xmlns:a16="http://schemas.microsoft.com/office/drawing/2014/main" id="{A3FBC8EB-7AF7-E1AA-BB2D-DD1E20414A73}"/>
              </a:ext>
            </a:extLst>
          </p:cNvPr>
          <p:cNvGrpSpPr>
            <a:grpSpLocks/>
          </p:cNvGrpSpPr>
          <p:nvPr/>
        </p:nvGrpSpPr>
        <p:grpSpPr bwMode="auto">
          <a:xfrm>
            <a:off x="6248401" y="2133600"/>
            <a:ext cx="3425825" cy="4065588"/>
            <a:chOff x="2835" y="1212"/>
            <a:chExt cx="2158" cy="2561"/>
          </a:xfrm>
        </p:grpSpPr>
        <p:grpSp>
          <p:nvGrpSpPr>
            <p:cNvPr id="77838" name="Group 70">
              <a:extLst>
                <a:ext uri="{FF2B5EF4-FFF2-40B4-BE49-F238E27FC236}">
                  <a16:creationId xmlns:a16="http://schemas.microsoft.com/office/drawing/2014/main" id="{8D675E2A-9D56-134C-2F8B-5D1CB59359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5" y="1212"/>
              <a:ext cx="2158" cy="2312"/>
              <a:chOff x="2835" y="1212"/>
              <a:chExt cx="2158" cy="2312"/>
            </a:xfrm>
          </p:grpSpPr>
          <p:grpSp>
            <p:nvGrpSpPr>
              <p:cNvPr id="77840" name="Group 71">
                <a:extLst>
                  <a:ext uri="{FF2B5EF4-FFF2-40B4-BE49-F238E27FC236}">
                    <a16:creationId xmlns:a16="http://schemas.microsoft.com/office/drawing/2014/main" id="{E9212131-1A23-C7B5-CF10-5A3886E9C7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2" y="1596"/>
                <a:ext cx="1090" cy="1074"/>
                <a:chOff x="3402" y="1632"/>
                <a:chExt cx="1090" cy="1074"/>
              </a:xfrm>
            </p:grpSpPr>
            <p:sp>
              <p:nvSpPr>
                <p:cNvPr id="77856" name="AutoShape 72">
                  <a:extLst>
                    <a:ext uri="{FF2B5EF4-FFF2-40B4-BE49-F238E27FC236}">
                      <a16:creationId xmlns:a16="http://schemas.microsoft.com/office/drawing/2014/main" id="{617FBED7-F786-E5AA-AACE-286FBC2FAD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02" y="2658"/>
                  <a:ext cx="48" cy="48"/>
                </a:xfrm>
                <a:prstGeom prst="triangle">
                  <a:avLst>
                    <a:gd name="adj" fmla="val 50000"/>
                  </a:avLst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77857" name="AutoShape 73">
                  <a:extLst>
                    <a:ext uri="{FF2B5EF4-FFF2-40B4-BE49-F238E27FC236}">
                      <a16:creationId xmlns:a16="http://schemas.microsoft.com/office/drawing/2014/main" id="{063AB630-5D45-C047-D45E-6110B0C320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32" y="2388"/>
                  <a:ext cx="48" cy="48"/>
                </a:xfrm>
                <a:prstGeom prst="triangle">
                  <a:avLst>
                    <a:gd name="adj" fmla="val 50000"/>
                  </a:avLst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77858" name="AutoShape 74">
                  <a:extLst>
                    <a:ext uri="{FF2B5EF4-FFF2-40B4-BE49-F238E27FC236}">
                      <a16:creationId xmlns:a16="http://schemas.microsoft.com/office/drawing/2014/main" id="{914ADC15-4F66-69DB-C451-684E1F1E76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70" y="2082"/>
                  <a:ext cx="48" cy="48"/>
                </a:xfrm>
                <a:prstGeom prst="triangle">
                  <a:avLst>
                    <a:gd name="adj" fmla="val 50000"/>
                  </a:avLst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77859" name="AutoShape 75">
                  <a:extLst>
                    <a:ext uri="{FF2B5EF4-FFF2-40B4-BE49-F238E27FC236}">
                      <a16:creationId xmlns:a16="http://schemas.microsoft.com/office/drawing/2014/main" id="{CAD8043E-B574-38C3-503E-C61CB26503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96" y="1740"/>
                  <a:ext cx="48" cy="48"/>
                </a:xfrm>
                <a:prstGeom prst="triangle">
                  <a:avLst>
                    <a:gd name="adj" fmla="val 50000"/>
                  </a:avLst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77860" name="AutoShape 76">
                  <a:extLst>
                    <a:ext uri="{FF2B5EF4-FFF2-40B4-BE49-F238E27FC236}">
                      <a16:creationId xmlns:a16="http://schemas.microsoft.com/office/drawing/2014/main" id="{0B9ABB71-61F7-4AAD-CE2A-5F40CBBA43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44" y="1632"/>
                  <a:ext cx="48" cy="48"/>
                </a:xfrm>
                <a:prstGeom prst="triangle">
                  <a:avLst>
                    <a:gd name="adj" fmla="val 50000"/>
                  </a:avLst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 altLang="en-US"/>
                </a:p>
              </p:txBody>
            </p:sp>
            <p:sp>
              <p:nvSpPr>
                <p:cNvPr id="77861" name="Line 77">
                  <a:extLst>
                    <a:ext uri="{FF2B5EF4-FFF2-40B4-BE49-F238E27FC236}">
                      <a16:creationId xmlns:a16="http://schemas.microsoft.com/office/drawing/2014/main" id="{736F519F-E5F2-3CE2-C98E-7ABCE0F7C8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56" y="2448"/>
                  <a:ext cx="248" cy="24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7862" name="Line 78">
                  <a:extLst>
                    <a:ext uri="{FF2B5EF4-FFF2-40B4-BE49-F238E27FC236}">
                      <a16:creationId xmlns:a16="http://schemas.microsoft.com/office/drawing/2014/main" id="{32111F43-E695-E884-4AB8-8BDEDB80A4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88" y="2136"/>
                  <a:ext cx="184" cy="24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7863" name="Line 79">
                  <a:extLst>
                    <a:ext uri="{FF2B5EF4-FFF2-40B4-BE49-F238E27FC236}">
                      <a16:creationId xmlns:a16="http://schemas.microsoft.com/office/drawing/2014/main" id="{6FB3BFF3-3F9C-66FC-66D0-3217E1E67E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96" y="1768"/>
                  <a:ext cx="202" cy="32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77864" name="Line 80">
                  <a:extLst>
                    <a:ext uri="{FF2B5EF4-FFF2-40B4-BE49-F238E27FC236}">
                      <a16:creationId xmlns:a16="http://schemas.microsoft.com/office/drawing/2014/main" id="{F3D04DDB-ECCD-B826-0045-B151AD5641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52" y="1656"/>
                  <a:ext cx="180" cy="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77841" name="Group 81">
                <a:extLst>
                  <a:ext uri="{FF2B5EF4-FFF2-40B4-BE49-F238E27FC236}">
                    <a16:creationId xmlns:a16="http://schemas.microsoft.com/office/drawing/2014/main" id="{BA808B1A-5D06-96BF-3387-D8BFC9FDBC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5" y="1212"/>
                <a:ext cx="2158" cy="2312"/>
                <a:chOff x="2835" y="1248"/>
                <a:chExt cx="2158" cy="2312"/>
              </a:xfrm>
            </p:grpSpPr>
            <p:grpSp>
              <p:nvGrpSpPr>
                <p:cNvPr id="77842" name="Group 82">
                  <a:extLst>
                    <a:ext uri="{FF2B5EF4-FFF2-40B4-BE49-F238E27FC236}">
                      <a16:creationId xmlns:a16="http://schemas.microsoft.com/office/drawing/2014/main" id="{E5F4D18C-1504-DE8A-7B0A-DA22088EAF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12" y="1248"/>
                  <a:ext cx="1681" cy="2052"/>
                  <a:chOff x="3312" y="1248"/>
                  <a:chExt cx="1681" cy="2052"/>
                </a:xfrm>
              </p:grpSpPr>
              <p:sp>
                <p:nvSpPr>
                  <p:cNvPr id="77847" name="Rectangle 83">
                    <a:extLst>
                      <a:ext uri="{FF2B5EF4-FFF2-40B4-BE49-F238E27FC236}">
                        <a16:creationId xmlns:a16="http://schemas.microsoft.com/office/drawing/2014/main" id="{DDEE6C41-79F5-2E93-9D0A-F20439E119E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13" y="1248"/>
                    <a:ext cx="1680" cy="2052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sp>
                <p:nvSpPr>
                  <p:cNvPr id="77848" name="Line 84">
                    <a:extLst>
                      <a:ext uri="{FF2B5EF4-FFF2-40B4-BE49-F238E27FC236}">
                        <a16:creationId xmlns:a16="http://schemas.microsoft.com/office/drawing/2014/main" id="{808209BC-8E42-A170-855A-DEC14A77BB0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33" y="3252"/>
                    <a:ext cx="0" cy="48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77849" name="Line 85">
                    <a:extLst>
                      <a:ext uri="{FF2B5EF4-FFF2-40B4-BE49-F238E27FC236}">
                        <a16:creationId xmlns:a16="http://schemas.microsoft.com/office/drawing/2014/main" id="{7F407BED-72EF-E273-DC6C-682A95DBE6D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969" y="3252"/>
                    <a:ext cx="0" cy="48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77850" name="Line 86">
                    <a:extLst>
                      <a:ext uri="{FF2B5EF4-FFF2-40B4-BE49-F238E27FC236}">
                        <a16:creationId xmlns:a16="http://schemas.microsoft.com/office/drawing/2014/main" id="{C0175891-3067-3E75-FD3E-59A756D6304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305" y="3252"/>
                    <a:ext cx="0" cy="48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77851" name="Line 87">
                    <a:extLst>
                      <a:ext uri="{FF2B5EF4-FFF2-40B4-BE49-F238E27FC236}">
                        <a16:creationId xmlns:a16="http://schemas.microsoft.com/office/drawing/2014/main" id="{136D9B0E-1D02-B095-9D64-062C5DF3BA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641" y="3252"/>
                    <a:ext cx="0" cy="48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77852" name="Line 88">
                    <a:extLst>
                      <a:ext uri="{FF2B5EF4-FFF2-40B4-BE49-F238E27FC236}">
                        <a16:creationId xmlns:a16="http://schemas.microsoft.com/office/drawing/2014/main" id="{FF3BC57A-C6EB-7329-E58E-ACD2E002FD1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12" y="2880"/>
                    <a:ext cx="6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77853" name="Line 89">
                    <a:extLst>
                      <a:ext uri="{FF2B5EF4-FFF2-40B4-BE49-F238E27FC236}">
                        <a16:creationId xmlns:a16="http://schemas.microsoft.com/office/drawing/2014/main" id="{5C9DF5B3-F5DE-2784-BEAF-94D17FB607C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12" y="2496"/>
                    <a:ext cx="6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77854" name="Line 90">
                    <a:extLst>
                      <a:ext uri="{FF2B5EF4-FFF2-40B4-BE49-F238E27FC236}">
                        <a16:creationId xmlns:a16="http://schemas.microsoft.com/office/drawing/2014/main" id="{0B5A17B3-9ECD-DB56-A7BD-A69BC3BB69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12" y="2064"/>
                    <a:ext cx="6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77855" name="Line 91">
                    <a:extLst>
                      <a:ext uri="{FF2B5EF4-FFF2-40B4-BE49-F238E27FC236}">
                        <a16:creationId xmlns:a16="http://schemas.microsoft.com/office/drawing/2014/main" id="{C703FDA2-1311-0F13-7071-BAAC14DBEBC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12" y="1632"/>
                    <a:ext cx="6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77843" name="Text Box 92">
                  <a:extLst>
                    <a:ext uri="{FF2B5EF4-FFF2-40B4-BE49-F238E27FC236}">
                      <a16:creationId xmlns:a16="http://schemas.microsoft.com/office/drawing/2014/main" id="{F24CC639-FFA8-D3EE-4053-113F63A539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00" y="2406"/>
                  <a:ext cx="275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n-GB" altLang="en-US" sz="1200"/>
                    <a:t>100</a:t>
                  </a:r>
                </a:p>
              </p:txBody>
            </p:sp>
            <p:sp>
              <p:nvSpPr>
                <p:cNvPr id="77844" name="Text Box 93">
                  <a:extLst>
                    <a:ext uri="{FF2B5EF4-FFF2-40B4-BE49-F238E27FC236}">
                      <a16:creationId xmlns:a16="http://schemas.microsoft.com/office/drawing/2014/main" id="{0E27CFBB-462F-AC09-B460-7A4A434EBC4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88" y="1554"/>
                  <a:ext cx="275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n-GB" altLang="en-US" sz="1200"/>
                    <a:t>200</a:t>
                  </a:r>
                </a:p>
              </p:txBody>
            </p:sp>
            <p:sp>
              <p:nvSpPr>
                <p:cNvPr id="77845" name="Text Box 94">
                  <a:extLst>
                    <a:ext uri="{FF2B5EF4-FFF2-40B4-BE49-F238E27FC236}">
                      <a16:creationId xmlns:a16="http://schemas.microsoft.com/office/drawing/2014/main" id="{41790B98-C904-36BB-C2C8-340BC74245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78" y="3387"/>
                  <a:ext cx="1165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n-GB" altLang="en-US" sz="1200"/>
                    <a:t>1          2           3          4</a:t>
                  </a:r>
                </a:p>
              </p:txBody>
            </p:sp>
            <p:sp>
              <p:nvSpPr>
                <p:cNvPr id="77846" name="Text Box 95">
                  <a:extLst>
                    <a:ext uri="{FF2B5EF4-FFF2-40B4-BE49-F238E27FC236}">
                      <a16:creationId xmlns:a16="http://schemas.microsoft.com/office/drawing/2014/main" id="{C2665EC8-C2B7-5970-53D7-7863B3655AD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 rot="-5400000">
                  <a:off x="2512" y="1952"/>
                  <a:ext cx="819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r>
                    <a:rPr lang="en-GB" altLang="en-US" sz="1200"/>
                    <a:t>Heart rate (bpm)</a:t>
                  </a:r>
                </a:p>
              </p:txBody>
            </p:sp>
          </p:grpSp>
        </p:grpSp>
        <p:sp>
          <p:nvSpPr>
            <p:cNvPr id="77839" name="Text Box 96">
              <a:extLst>
                <a:ext uri="{FF2B5EF4-FFF2-40B4-BE49-F238E27FC236}">
                  <a16:creationId xmlns:a16="http://schemas.microsoft.com/office/drawing/2014/main" id="{35F47CCB-7F23-2AEB-BDA7-E603E5908E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600"/>
              <a:ext cx="105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r>
                <a:rPr lang="en-GB" altLang="en-US" sz="1200"/>
                <a:t>Oxygen uptake (l/min)</a:t>
              </a:r>
            </a:p>
          </p:txBody>
        </p:sp>
      </p:grpSp>
      <p:sp>
        <p:nvSpPr>
          <p:cNvPr id="77832" name="Rectangle 97">
            <a:extLst>
              <a:ext uri="{FF2B5EF4-FFF2-40B4-BE49-F238E27FC236}">
                <a16:creationId xmlns:a16="http://schemas.microsoft.com/office/drawing/2014/main" id="{DC877022-0D6D-BD78-5E88-53430C479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285750"/>
            <a:ext cx="86423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3600" b="1" dirty="0">
                <a:latin typeface="+mj-lt"/>
              </a:rPr>
              <a:t>Effect of bed rest / training on stroke volume &amp; heart rate</a:t>
            </a:r>
            <a:endParaRPr lang="en-GB" altLang="en-US" sz="3600" b="1" baseline="-25000" dirty="0">
              <a:latin typeface="+mj-lt"/>
            </a:endParaRPr>
          </a:p>
        </p:txBody>
      </p:sp>
      <p:sp>
        <p:nvSpPr>
          <p:cNvPr id="77833" name="Text Box 100">
            <a:extLst>
              <a:ext uri="{FF2B5EF4-FFF2-40B4-BE49-F238E27FC236}">
                <a16:creationId xmlns:a16="http://schemas.microsoft.com/office/drawing/2014/main" id="{9159845C-D798-0C3D-31EC-027A5E2ED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6248400"/>
            <a:ext cx="8077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>
                <a:sym typeface="Symbol" panose="05050102010706020507" pitchFamily="18" charset="2"/>
              </a:rPr>
              <a:t> Control; </a:t>
            </a:r>
            <a:r>
              <a:rPr lang="en-GB" altLang="en-US">
                <a:sym typeface="Wingdings" panose="05000000000000000000" pitchFamily="2" charset="2"/>
              </a:rPr>
              <a:t> </a:t>
            </a:r>
            <a:r>
              <a:rPr lang="en-GB" altLang="en-US">
                <a:sym typeface="Symbol" panose="05050102010706020507" pitchFamily="18" charset="2"/>
              </a:rPr>
              <a:t>after 20d of bed rest;  after 50d of training</a:t>
            </a:r>
          </a:p>
        </p:txBody>
      </p:sp>
      <p:sp>
        <p:nvSpPr>
          <p:cNvPr id="100" name="Up Arrow 99">
            <a:extLst>
              <a:ext uri="{FF2B5EF4-FFF2-40B4-BE49-F238E27FC236}">
                <a16:creationId xmlns:a16="http://schemas.microsoft.com/office/drawing/2014/main" id="{0C13939F-443C-E8F3-A7A7-3A2480674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2751" y="4071938"/>
            <a:ext cx="428625" cy="28575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102" name="Up Arrow 101">
            <a:extLst>
              <a:ext uri="{FF2B5EF4-FFF2-40B4-BE49-F238E27FC236}">
                <a16:creationId xmlns:a16="http://schemas.microsoft.com/office/drawing/2014/main" id="{2524D08D-186B-5430-7B17-1D148FFFBC0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953001" y="1928813"/>
            <a:ext cx="428625" cy="28575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7606B34F-5A46-D190-15E6-09C54A8A1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4813" y="2500314"/>
            <a:ext cx="1428750" cy="714375"/>
          </a:xfrm>
          <a:prstGeom prst="ellips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77837" name="Rectangle 102">
            <a:extLst>
              <a:ext uri="{FF2B5EF4-FFF2-40B4-BE49-F238E27FC236}">
                <a16:creationId xmlns:a16="http://schemas.microsoft.com/office/drawing/2014/main" id="{9FF71612-607E-E9CB-B7CB-69849D0DD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25" y="1268414"/>
            <a:ext cx="251383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400"/>
              <a:t>Saltin et al., Circulation. 1968</a:t>
            </a:r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02" grpId="0" animBg="1"/>
      <p:bldP spid="10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cs typeface="Arial" panose="020B0604020202020204" pitchFamily="34" charset="0"/>
              </a:rPr>
              <a:t>Carrying out an ECG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748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Placement of the Limb Leads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80"/>
          <a:stretch/>
        </p:blipFill>
        <p:spPr bwMode="auto">
          <a:xfrm>
            <a:off x="7536160" y="1203788"/>
            <a:ext cx="2348992" cy="5257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135560" y="2348880"/>
            <a:ext cx="475252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Only 10 leads and electrodes used in a 12 lead ECG.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R, L, F all talk to each other in order to calculate the cardiac axis.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N= neutral lead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Incorrect placement = incorrect reading </a:t>
            </a:r>
          </a:p>
        </p:txBody>
      </p:sp>
    </p:spTree>
    <p:extLst>
      <p:ext uri="{BB962C8B-B14F-4D97-AF65-F5344CB8AC3E}">
        <p14:creationId xmlns:p14="http://schemas.microsoft.com/office/powerpoint/2010/main" val="3892076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CG Lead positioning • LITFL • ECG Library Basics">
            <a:extLst>
              <a:ext uri="{FF2B5EF4-FFF2-40B4-BE49-F238E27FC236}">
                <a16:creationId xmlns:a16="http://schemas.microsoft.com/office/drawing/2014/main" id="{7C9BA756-AE1C-54BB-4D6F-32DA602E7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1805" y="1600201"/>
            <a:ext cx="4935681" cy="394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cs typeface="Arial" panose="020B0604020202020204" pitchFamily="34" charset="0"/>
              </a:rPr>
              <a:t>Carrying out an ECG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604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Placement of chest electrodes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52" y="2204865"/>
            <a:ext cx="43204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Correct placement is paramount!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GB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electrode is placed in the 4</a:t>
            </a:r>
            <a:r>
              <a:rPr lang="en-GB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intercostal space on the right of the chest.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GB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electrode is placed in the 5</a:t>
            </a:r>
            <a:r>
              <a:rPr lang="en-GB" sz="24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intercostal space under the left arm pit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Horizontal plane</a:t>
            </a:r>
          </a:p>
        </p:txBody>
      </p:sp>
    </p:spTree>
    <p:extLst>
      <p:ext uri="{BB962C8B-B14F-4D97-AF65-F5344CB8AC3E}">
        <p14:creationId xmlns:p14="http://schemas.microsoft.com/office/powerpoint/2010/main" val="12565965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cs typeface="Arial" panose="020B0604020202020204" pitchFamily="34" charset="0"/>
              </a:rPr>
              <a:t>Carrying out an ECG </a:t>
            </a:r>
          </a:p>
        </p:txBody>
      </p:sp>
      <p:pic>
        <p:nvPicPr>
          <p:cNvPr id="2050" name="Picture 2" descr="Einthoven’s triangle - Diagram showing the line of site of the bipolar leads">
            <a:extLst>
              <a:ext uri="{FF2B5EF4-FFF2-40B4-BE49-F238E27FC236}">
                <a16:creationId xmlns:a16="http://schemas.microsoft.com/office/drawing/2014/main" id="{C483F5D3-1388-CFBC-782B-D621C7F5D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7375" y="1936040"/>
            <a:ext cx="3810000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1A7FDB-6AB2-3CDB-FA5A-2B4D1BED7754}"/>
              </a:ext>
            </a:extLst>
          </p:cNvPr>
          <p:cNvSpPr txBox="1"/>
          <p:nvPr/>
        </p:nvSpPr>
        <p:spPr>
          <a:xfrm>
            <a:off x="1234625" y="320700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400" b="0" i="0" dirty="0">
                <a:solidFill>
                  <a:srgbClr val="000000"/>
                </a:solidFill>
                <a:effectLst/>
                <a:latin typeface="+mj-lt"/>
              </a:rPr>
              <a:t>I, II, III, </a:t>
            </a:r>
            <a:r>
              <a:rPr lang="sv-SE" sz="2400" b="0" i="0" dirty="0" err="1">
                <a:solidFill>
                  <a:srgbClr val="000000"/>
                </a:solidFill>
                <a:effectLst/>
                <a:latin typeface="+mj-lt"/>
              </a:rPr>
              <a:t>aVR</a:t>
            </a:r>
            <a:r>
              <a:rPr lang="sv-SE" sz="2400" b="0" i="0" dirty="0">
                <a:solidFill>
                  <a:srgbClr val="000000"/>
                </a:solidFill>
                <a:effectLst/>
                <a:latin typeface="+mj-lt"/>
              </a:rPr>
              <a:t>, </a:t>
            </a:r>
            <a:r>
              <a:rPr lang="sv-SE" sz="2400" b="0" i="0" dirty="0" err="1">
                <a:solidFill>
                  <a:srgbClr val="000000"/>
                </a:solidFill>
                <a:effectLst/>
                <a:latin typeface="+mj-lt"/>
              </a:rPr>
              <a:t>aVL</a:t>
            </a:r>
            <a:r>
              <a:rPr lang="sv-SE" sz="2400" b="0" i="0" dirty="0">
                <a:solidFill>
                  <a:srgbClr val="000000"/>
                </a:solidFill>
                <a:effectLst/>
                <a:latin typeface="+mj-lt"/>
              </a:rPr>
              <a:t>, and </a:t>
            </a:r>
            <a:r>
              <a:rPr lang="sv-SE" sz="2400" b="0" i="0" dirty="0" err="1">
                <a:solidFill>
                  <a:srgbClr val="000000"/>
                </a:solidFill>
                <a:effectLst/>
                <a:latin typeface="+mj-lt"/>
              </a:rPr>
              <a:t>aVF</a:t>
            </a:r>
            <a:endParaRPr lang="en-GB" sz="2400" dirty="0">
              <a:solidFill>
                <a:srgbClr val="FF0000"/>
              </a:solidFill>
              <a:latin typeface="+mj-lt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Vertical plane</a:t>
            </a:r>
          </a:p>
        </p:txBody>
      </p:sp>
    </p:spTree>
    <p:extLst>
      <p:ext uri="{BB962C8B-B14F-4D97-AF65-F5344CB8AC3E}">
        <p14:creationId xmlns:p14="http://schemas.microsoft.com/office/powerpoint/2010/main" val="2248497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cs typeface="Arial" panose="020B0604020202020204" pitchFamily="34" charset="0"/>
              </a:rPr>
              <a:t>What does it all mean?</a:t>
            </a:r>
          </a:p>
        </p:txBody>
      </p:sp>
      <p:pic>
        <p:nvPicPr>
          <p:cNvPr id="4" name="Picture 2" descr="Image result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2771889"/>
            <a:ext cx="4659050" cy="3644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22" b="6328"/>
          <a:stretch/>
        </p:blipFill>
        <p:spPr bwMode="auto">
          <a:xfrm>
            <a:off x="7241508" y="3002375"/>
            <a:ext cx="2736304" cy="3183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703512" y="1772819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rhythm represents the depolarisation and repolarisation stages of a heart beat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14371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cs typeface="Arial" panose="020B0604020202020204" pitchFamily="34" charset="0"/>
              </a:rPr>
              <a:t>P wave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544" y="1412776"/>
            <a:ext cx="7992888" cy="50405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 P wave represents atrial </a:t>
            </a:r>
            <a:r>
              <a:rPr lang="en-GB" sz="2800" b="1" dirty="0">
                <a:latin typeface="Arial" panose="020B0604020202020204" pitchFamily="34" charset="0"/>
                <a:cs typeface="Arial" panose="020B0604020202020204" pitchFamily="34" charset="0"/>
              </a:rPr>
              <a:t>depolarisation. 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SA node has started an action potential, causing the atriums to contract. </a:t>
            </a:r>
          </a:p>
          <a:p>
            <a:pPr marL="0" indent="0">
              <a:buNone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3" y="2064542"/>
            <a:ext cx="3062869" cy="3062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19" t="10783"/>
          <a:stretch/>
        </p:blipFill>
        <p:spPr bwMode="auto">
          <a:xfrm>
            <a:off x="6650178" y="2049946"/>
            <a:ext cx="2808312" cy="3077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96002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90668"/>
            <a:ext cx="10058400" cy="1609344"/>
          </a:xfrm>
        </p:spPr>
        <p:txBody>
          <a:bodyPr>
            <a:normAutofit/>
          </a:bodyPr>
          <a:lstStyle/>
          <a:p>
            <a:r>
              <a:rPr lang="en-GB" sz="3600" dirty="0">
                <a:cs typeface="Arial" panose="020B0604020202020204" pitchFamily="34" charset="0"/>
              </a:rPr>
              <a:t>QRS Complex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12776"/>
            <a:ext cx="8229600" cy="53285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 QRS complex phase represents ventricular depolarisation and atrial repolarisation.</a:t>
            </a:r>
          </a:p>
          <a:p>
            <a:pPr marL="0" indent="0">
              <a:buNone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Ventricular contractions supply the body with the amount of blood required to sufficiently perfuse the bodies cells.  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104" y="2564907"/>
            <a:ext cx="2160240" cy="261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3980" y="2564907"/>
            <a:ext cx="3279972" cy="261558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4529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cs typeface="Arial" panose="020B0604020202020204" pitchFamily="34" charset="0"/>
              </a:rPr>
              <a:t>T Wave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The T wave represents the repolarisation of the ventricles. 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606" t="27071" r="12727" b="16768"/>
          <a:stretch/>
        </p:blipFill>
        <p:spPr bwMode="auto">
          <a:xfrm>
            <a:off x="7032104" y="2996955"/>
            <a:ext cx="2256090" cy="300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7" y="3062667"/>
            <a:ext cx="2935213" cy="293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67744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45499"/>
            <a:ext cx="10058400" cy="1609344"/>
          </a:xfrm>
        </p:spPr>
        <p:txBody>
          <a:bodyPr>
            <a:normAutofit/>
          </a:bodyPr>
          <a:lstStyle/>
          <a:p>
            <a:r>
              <a:rPr lang="en-GB" sz="3600" dirty="0">
                <a:cs typeface="Arial" panose="020B0604020202020204" pitchFamily="34" charset="0"/>
              </a:rPr>
              <a:t>Practical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0064" y="1556792"/>
            <a:ext cx="8229600" cy="2704160"/>
          </a:xfrm>
        </p:spPr>
        <p:txBody>
          <a:bodyPr>
            <a:noAutofit/>
          </a:bodyPr>
          <a:lstStyle/>
          <a:p>
            <a:pPr>
              <a:buFontTx/>
              <a:buChar char="-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Used alongside other tests to diagnose cardiac conditions. </a:t>
            </a:r>
          </a:p>
          <a:p>
            <a:pPr>
              <a:buFontTx/>
              <a:buChar char="-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Used to monitor conditions, symptoms or medications.</a:t>
            </a:r>
          </a:p>
          <a:p>
            <a:pPr>
              <a:buFontTx/>
              <a:buChar char="-"/>
            </a:pPr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19736" y="4268160"/>
            <a:ext cx="471025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Chest pain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Palpitations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Dizziness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rial" panose="020B0604020202020204" pitchFamily="34" charset="0"/>
                <a:cs typeface="Arial" panose="020B0604020202020204" pitchFamily="34" charset="0"/>
              </a:rPr>
              <a:t>Shortness of breath </a:t>
            </a:r>
          </a:p>
        </p:txBody>
      </p:sp>
      <p:sp>
        <p:nvSpPr>
          <p:cNvPr id="7" name="Down Arrow 6"/>
          <p:cNvSpPr/>
          <p:nvPr/>
        </p:nvSpPr>
        <p:spPr>
          <a:xfrm rot="2970207">
            <a:off x="6074778" y="2917470"/>
            <a:ext cx="792088" cy="1399273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603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ECG can help detect:</a:t>
            </a: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Arrhythmias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- heart beats too slowly, quickly or irregularly 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Coronary heart disease-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Hearts blood supply is blocked or interrupted by a build-up of fatty substances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Cardiomyopathies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- Heart walls can become thickened, dilated or have genetic abnormalities </a:t>
            </a:r>
          </a:p>
          <a:p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2A3260F-A1BA-5ADF-5038-B3A13D814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45499"/>
            <a:ext cx="10058400" cy="1609344"/>
          </a:xfrm>
        </p:spPr>
        <p:txBody>
          <a:bodyPr>
            <a:normAutofit/>
          </a:bodyPr>
          <a:lstStyle/>
          <a:p>
            <a:r>
              <a:rPr lang="en-GB" sz="3600" dirty="0">
                <a:cs typeface="Arial" panose="020B0604020202020204" pitchFamily="34" charset="0"/>
              </a:rPr>
              <a:t>Practical Application</a:t>
            </a:r>
          </a:p>
        </p:txBody>
      </p:sp>
    </p:spTree>
    <p:extLst>
      <p:ext uri="{BB962C8B-B14F-4D97-AF65-F5344CB8AC3E}">
        <p14:creationId xmlns:p14="http://schemas.microsoft.com/office/powerpoint/2010/main" val="1866711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type of ECG is dependent on symptoms or suspected problem.</a:t>
            </a:r>
          </a:p>
          <a:p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Resting ECG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 – lying down 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Exercise ECG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 – on an exercise bike or treadmill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Ambulatory ECG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 – electrodes are connected to a small portable machine so the cardiac rhythm can be monitored at home for a set number of hours.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1AE6458-CADD-4BE8-CA0F-C01F0D316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45499"/>
            <a:ext cx="10058400" cy="1609344"/>
          </a:xfrm>
        </p:spPr>
        <p:txBody>
          <a:bodyPr>
            <a:normAutofit/>
          </a:bodyPr>
          <a:lstStyle/>
          <a:p>
            <a:r>
              <a:rPr lang="en-GB" sz="3600" dirty="0">
                <a:cs typeface="Arial" panose="020B0604020202020204" pitchFamily="34" charset="0"/>
              </a:rPr>
              <a:t>Practical Application</a:t>
            </a:r>
          </a:p>
        </p:txBody>
      </p:sp>
    </p:spTree>
    <p:extLst>
      <p:ext uri="{BB962C8B-B14F-4D97-AF65-F5344CB8AC3E}">
        <p14:creationId xmlns:p14="http://schemas.microsoft.com/office/powerpoint/2010/main" val="25134214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DE73-4ACD-9679-B452-DC2D058CE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998" y="1457324"/>
            <a:ext cx="10058400" cy="274701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rgbClr val="222222"/>
                </a:solidFill>
                <a:effectLst/>
                <a:ea typeface="Times New Roman" panose="02020603050405020304" pitchFamily="18" charset="0"/>
              </a:rPr>
              <a:t>2. Fluid transfer across capillary walls</a:t>
            </a:r>
            <a:br>
              <a:rPr lang="en-GB" sz="3600" dirty="0">
                <a:effectLst/>
                <a:ea typeface="Times New Roman" panose="02020603050405020304" pitchFamily="18" charset="0"/>
              </a:rPr>
            </a:br>
            <a:br>
              <a:rPr lang="en-GB" sz="3600" dirty="0">
                <a:solidFill>
                  <a:srgbClr val="222222"/>
                </a:solidFill>
                <a:effectLst/>
                <a:ea typeface="Times New Roman" panose="02020603050405020304" pitchFamily="18" charset="0"/>
              </a:rPr>
            </a:br>
            <a:br>
              <a:rPr lang="en-GB" sz="3600" dirty="0">
                <a:effectLst/>
                <a:ea typeface="Times New Roman" panose="02020603050405020304" pitchFamily="18" charset="0"/>
              </a:rPr>
            </a:br>
            <a:endParaRPr lang="en-GB"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94BF6C-32E6-B72C-C226-6BA4FE1C5C06}"/>
              </a:ext>
            </a:extLst>
          </p:cNvPr>
          <p:cNvSpPr txBox="1"/>
          <p:nvPr/>
        </p:nvSpPr>
        <p:spPr>
          <a:xfrm>
            <a:off x="1228436" y="2013527"/>
            <a:ext cx="93010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Hydrostatic pressure	= Pressure exerted by a fluid due to the force of gravity</a:t>
            </a:r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Oncotic pressure 		= osmotic pressure exerted by colloids </a:t>
            </a:r>
          </a:p>
          <a:p>
            <a:r>
              <a:rPr lang="en-GB" sz="2400" dirty="0"/>
              <a:t>				    in a solution; majority pressure 				    exerted by Albumin</a:t>
            </a:r>
          </a:p>
        </p:txBody>
      </p:sp>
    </p:spTree>
    <p:extLst>
      <p:ext uri="{BB962C8B-B14F-4D97-AF65-F5344CB8AC3E}">
        <p14:creationId xmlns:p14="http://schemas.microsoft.com/office/powerpoint/2010/main" val="42369370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DE73-4ACD-9679-B452-DC2D058CE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998" y="1457324"/>
            <a:ext cx="10058400" cy="274701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rgbClr val="222222"/>
                </a:solidFill>
                <a:effectLst/>
                <a:ea typeface="Times New Roman" panose="02020603050405020304" pitchFamily="18" charset="0"/>
              </a:rPr>
              <a:t>2. Fluid transfer across capillary walls</a:t>
            </a:r>
            <a:br>
              <a:rPr lang="en-GB" sz="3600" dirty="0">
                <a:effectLst/>
                <a:ea typeface="Times New Roman" panose="02020603050405020304" pitchFamily="18" charset="0"/>
              </a:rPr>
            </a:br>
            <a:br>
              <a:rPr lang="en-GB" sz="3600" dirty="0">
                <a:solidFill>
                  <a:srgbClr val="222222"/>
                </a:solidFill>
                <a:effectLst/>
                <a:ea typeface="Times New Roman" panose="02020603050405020304" pitchFamily="18" charset="0"/>
              </a:rPr>
            </a:br>
            <a:br>
              <a:rPr lang="en-GB" sz="3600" dirty="0">
                <a:effectLst/>
                <a:ea typeface="Times New Roman" panose="02020603050405020304" pitchFamily="18" charset="0"/>
              </a:rPr>
            </a:br>
            <a:endParaRPr lang="en-GB" sz="3600" dirty="0"/>
          </a:p>
        </p:txBody>
      </p:sp>
      <p:pic>
        <p:nvPicPr>
          <p:cNvPr id="5" name="Picture 2" descr="This diagram shows the process of fluid exchange in a capillary from the arterial end to the venous end.">
            <a:extLst>
              <a:ext uri="{FF2B5EF4-FFF2-40B4-BE49-F238E27FC236}">
                <a16:creationId xmlns:a16="http://schemas.microsoft.com/office/drawing/2014/main" id="{0B51D1A5-00C4-19BD-BCB0-0E0ED0D72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903857"/>
            <a:ext cx="9906000" cy="461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13723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52B6F26-A309-F800-BDE9-13CB1DF30134}"/>
              </a:ext>
            </a:extLst>
          </p:cNvPr>
          <p:cNvGrpSpPr/>
          <p:nvPr/>
        </p:nvGrpSpPr>
        <p:grpSpPr>
          <a:xfrm>
            <a:off x="258618" y="221677"/>
            <a:ext cx="6877231" cy="6557251"/>
            <a:chOff x="258618" y="221677"/>
            <a:chExt cx="6877231" cy="6557251"/>
          </a:xfrm>
        </p:grpSpPr>
        <p:pic>
          <p:nvPicPr>
            <p:cNvPr id="5" name="Picture 2" descr="This diagram shows the process of fluid exchange in a capillary from the arterial end to the venous end.">
              <a:extLst>
                <a:ext uri="{FF2B5EF4-FFF2-40B4-BE49-F238E27FC236}">
                  <a16:creationId xmlns:a16="http://schemas.microsoft.com/office/drawing/2014/main" id="{0B51D1A5-00C4-19BD-BCB0-0E0ED0D72A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331401" y="1974481"/>
              <a:ext cx="6557251" cy="30516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61CF49E-40E1-CECE-02C0-1BC65BB1F0E3}"/>
                </a:ext>
              </a:extLst>
            </p:cNvPr>
            <p:cNvSpPr txBox="1"/>
            <p:nvPr/>
          </p:nvSpPr>
          <p:spPr>
            <a:xfrm>
              <a:off x="258618" y="775855"/>
              <a:ext cx="27616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Force of gravity from arterial to venous </a:t>
              </a:r>
            </a:p>
          </p:txBody>
        </p:sp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5BAEB913-AC76-17B8-0301-9AE0403FB160}"/>
                </a:ext>
              </a:extLst>
            </p:cNvPr>
            <p:cNvSpPr/>
            <p:nvPr/>
          </p:nvSpPr>
          <p:spPr>
            <a:xfrm>
              <a:off x="1385455" y="2105891"/>
              <a:ext cx="369454" cy="381461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1520534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DE73-4ACD-9679-B452-DC2D058CE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dirty="0">
                <a:solidFill>
                  <a:srgbClr val="222222"/>
                </a:solidFill>
                <a:effectLst/>
                <a:ea typeface="Times New Roman" panose="02020603050405020304" pitchFamily="18" charset="0"/>
              </a:rPr>
              <a:t>3. Control of blood pressure  </a:t>
            </a:r>
            <a:br>
              <a:rPr lang="en-GB" sz="3600" dirty="0">
                <a:solidFill>
                  <a:srgbClr val="222222"/>
                </a:solidFill>
                <a:effectLst/>
                <a:ea typeface="Times New Roman" panose="02020603050405020304" pitchFamily="18" charset="0"/>
              </a:rPr>
            </a:br>
            <a:br>
              <a:rPr lang="en-GB" sz="3600" dirty="0">
                <a:effectLst/>
                <a:ea typeface="Times New Roman" panose="02020603050405020304" pitchFamily="18" charset="0"/>
              </a:rPr>
            </a:b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3938666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DE73-4ACD-9679-B452-DC2D058CE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23251"/>
            <a:ext cx="10058400" cy="1609344"/>
          </a:xfrm>
        </p:spPr>
        <p:txBody>
          <a:bodyPr>
            <a:no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rgbClr val="222222"/>
                </a:solidFill>
                <a:ea typeface="Times New Roman" panose="02020603050405020304" pitchFamily="18" charset="0"/>
              </a:rPr>
              <a:t>Baroreceptor </a:t>
            </a:r>
            <a:br>
              <a:rPr lang="en-GB" sz="3600" dirty="0">
                <a:solidFill>
                  <a:srgbClr val="222222"/>
                </a:solidFill>
                <a:ea typeface="Times New Roman" panose="02020603050405020304" pitchFamily="18" charset="0"/>
              </a:rPr>
            </a:br>
            <a:r>
              <a:rPr lang="en-GB" sz="3600" dirty="0">
                <a:solidFill>
                  <a:srgbClr val="222222"/>
                </a:solidFill>
                <a:ea typeface="Times New Roman" panose="02020603050405020304" pitchFamily="18" charset="0"/>
              </a:rPr>
              <a:t>reflex</a:t>
            </a:r>
            <a:br>
              <a:rPr lang="en-GB" sz="3600" dirty="0">
                <a:solidFill>
                  <a:srgbClr val="222222"/>
                </a:solidFill>
                <a:effectLst/>
                <a:ea typeface="Times New Roman" panose="02020603050405020304" pitchFamily="18" charset="0"/>
              </a:rPr>
            </a:br>
            <a:br>
              <a:rPr lang="en-GB" sz="3600" dirty="0">
                <a:effectLst/>
                <a:ea typeface="Times New Roman" panose="02020603050405020304" pitchFamily="18" charset="0"/>
              </a:rPr>
            </a:br>
            <a:endParaRPr lang="en-GB" sz="3600" dirty="0"/>
          </a:p>
        </p:txBody>
      </p:sp>
      <p:pic>
        <p:nvPicPr>
          <p:cNvPr id="33794" name="Picture 2" descr="Baroreceptors, Biology Lecture | Sabaq.pk | - YouTube">
            <a:extLst>
              <a:ext uri="{FF2B5EF4-FFF2-40B4-BE49-F238E27FC236}">
                <a16:creationId xmlns:a16="http://schemas.microsoft.com/office/drawing/2014/main" id="{7C9BCEB8-5521-0793-403A-AF705E0F24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37" t="1278" r="6508" b="11233"/>
          <a:stretch/>
        </p:blipFill>
        <p:spPr bwMode="auto">
          <a:xfrm>
            <a:off x="5513539" y="563671"/>
            <a:ext cx="5736921" cy="5999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79702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0DE73-4ACD-9679-B452-DC2D058CE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23251"/>
            <a:ext cx="10058400" cy="1609344"/>
          </a:xfrm>
        </p:spPr>
        <p:txBody>
          <a:bodyPr>
            <a:no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rgbClr val="222222"/>
                </a:solidFill>
                <a:ea typeface="Times New Roman" panose="02020603050405020304" pitchFamily="18" charset="0"/>
              </a:rPr>
              <a:t>Baroreceptor </a:t>
            </a:r>
            <a:br>
              <a:rPr lang="en-GB" sz="3600" dirty="0">
                <a:solidFill>
                  <a:srgbClr val="222222"/>
                </a:solidFill>
                <a:ea typeface="Times New Roman" panose="02020603050405020304" pitchFamily="18" charset="0"/>
              </a:rPr>
            </a:br>
            <a:r>
              <a:rPr lang="en-GB" sz="3600" dirty="0">
                <a:solidFill>
                  <a:srgbClr val="222222"/>
                </a:solidFill>
                <a:ea typeface="Times New Roman" panose="02020603050405020304" pitchFamily="18" charset="0"/>
              </a:rPr>
              <a:t>reflex</a:t>
            </a:r>
            <a:br>
              <a:rPr lang="en-GB" sz="3600" dirty="0">
                <a:solidFill>
                  <a:srgbClr val="222222"/>
                </a:solidFill>
                <a:effectLst/>
                <a:ea typeface="Times New Roman" panose="02020603050405020304" pitchFamily="18" charset="0"/>
              </a:rPr>
            </a:br>
            <a:br>
              <a:rPr lang="en-GB" sz="3600" dirty="0">
                <a:effectLst/>
                <a:ea typeface="Times New Roman" panose="02020603050405020304" pitchFamily="18" charset="0"/>
              </a:rPr>
            </a:br>
            <a:endParaRPr lang="en-GB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4F996A-709C-3A76-1A65-82A8A2536062}"/>
              </a:ext>
            </a:extLst>
          </p:cNvPr>
          <p:cNvSpPr txBox="1"/>
          <p:nvPr/>
        </p:nvSpPr>
        <p:spPr>
          <a:xfrm>
            <a:off x="723482" y="2170444"/>
            <a:ext cx="944545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Associated wit homeostasis of blood pressure through a negative feedback loop:</a:t>
            </a:r>
          </a:p>
          <a:p>
            <a:endParaRPr lang="en-GB" sz="2800" dirty="0"/>
          </a:p>
          <a:p>
            <a:r>
              <a:rPr lang="en-GB" sz="2800" dirty="0"/>
              <a:t>Increased blood pressure = decreased heart rate</a:t>
            </a:r>
          </a:p>
          <a:p>
            <a:endParaRPr lang="en-GB" sz="2800" dirty="0"/>
          </a:p>
          <a:p>
            <a:r>
              <a:rPr lang="en-GB" sz="2800" dirty="0"/>
              <a:t>Baroreceptors sense arterial wall tension and can promote a response within one cardiac cycle (such as in regulating postural hypotension).</a:t>
            </a:r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1596182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919DD-46E0-4DF6-2A9A-54EDC638C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68096"/>
            <a:ext cx="10058400" cy="1609344"/>
          </a:xfrm>
        </p:spPr>
        <p:txBody>
          <a:bodyPr>
            <a:no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3600" dirty="0">
                <a:latin typeface="Rockwell Condensed" panose="02060603050405020104" pitchFamily="18" charset="0"/>
              </a:rPr>
              <a:t>Blood volume</a:t>
            </a:r>
            <a:br>
              <a:rPr lang="en-GB" sz="3600" dirty="0">
                <a:effectLst/>
                <a:latin typeface="Rockwell Condensed" panose="02060603050405020104" pitchFamily="18" charset="0"/>
                <a:ea typeface="Times New Roman" panose="02020603050405020304" pitchFamily="18" charset="0"/>
              </a:rPr>
            </a:br>
            <a:endParaRPr lang="en-GB" sz="3600" dirty="0">
              <a:latin typeface="Rockwell Condensed" panose="020606030504050201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04E537-9C58-C38B-1611-4D190D773C54}"/>
              </a:ext>
            </a:extLst>
          </p:cNvPr>
          <p:cNvSpPr txBox="1"/>
          <p:nvPr/>
        </p:nvSpPr>
        <p:spPr>
          <a:xfrm>
            <a:off x="1177447" y="2091848"/>
            <a:ext cx="65636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Approximately 60% plasma therefore reduction in volume can be the result of plasma or red cell losses.</a:t>
            </a:r>
          </a:p>
          <a:p>
            <a:endParaRPr lang="en-GB" sz="2800" dirty="0"/>
          </a:p>
          <a:p>
            <a:r>
              <a:rPr lang="en-GB" sz="2800" dirty="0"/>
              <a:t>Reduce blood volume leading to </a:t>
            </a:r>
          </a:p>
          <a:p>
            <a:pPr lvl="1"/>
            <a:r>
              <a:rPr lang="en-GB" sz="2800" dirty="0"/>
              <a:t>Collapsed vessels</a:t>
            </a:r>
          </a:p>
          <a:p>
            <a:pPr lvl="1"/>
            <a:r>
              <a:rPr lang="en-GB" sz="2800" dirty="0"/>
              <a:t>Reduced blood pressure</a:t>
            </a:r>
          </a:p>
          <a:p>
            <a:pPr lvl="1"/>
            <a:r>
              <a:rPr lang="en-GB" sz="2800" dirty="0"/>
              <a:t>Reduced perfusion pressure</a:t>
            </a:r>
          </a:p>
          <a:p>
            <a:pPr lvl="1"/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054558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919DD-46E0-4DF6-2A9A-54EDC638C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68096"/>
            <a:ext cx="10058400" cy="1609344"/>
          </a:xfrm>
        </p:spPr>
        <p:txBody>
          <a:bodyPr>
            <a:no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GB" sz="3600" dirty="0">
                <a:latin typeface="Rockwell Condensed" panose="02060603050405020104" pitchFamily="18" charset="0"/>
              </a:rPr>
              <a:t>Blood volume</a:t>
            </a:r>
            <a:br>
              <a:rPr lang="en-GB" sz="3600" dirty="0">
                <a:effectLst/>
                <a:latin typeface="Rockwell Condensed" panose="02060603050405020104" pitchFamily="18" charset="0"/>
                <a:ea typeface="Times New Roman" panose="02020603050405020304" pitchFamily="18" charset="0"/>
              </a:rPr>
            </a:br>
            <a:endParaRPr lang="en-GB" sz="3600" dirty="0">
              <a:latin typeface="Rockwell Condensed" panose="020606030504050201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0D4FF9-81C2-3E06-9066-B054E616143B}"/>
              </a:ext>
            </a:extLst>
          </p:cNvPr>
          <p:cNvSpPr txBox="1"/>
          <p:nvPr/>
        </p:nvSpPr>
        <p:spPr>
          <a:xfrm>
            <a:off x="2351315" y="2623621"/>
            <a:ext cx="87738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/>
              <a:t>Vasocontriction</a:t>
            </a:r>
            <a:r>
              <a:rPr lang="en-GB" sz="2800" dirty="0"/>
              <a:t> due to low blood volume can causing ischaemia.</a:t>
            </a:r>
          </a:p>
          <a:p>
            <a:endParaRPr lang="en-GB" sz="2800" dirty="0"/>
          </a:p>
          <a:p>
            <a:r>
              <a:rPr lang="en-GB" sz="2800" dirty="0"/>
              <a:t>Sufficient volume maintains osmolality and altered Sodium or plasma content impacts cellular function.</a:t>
            </a:r>
          </a:p>
        </p:txBody>
      </p:sp>
    </p:spTree>
    <p:extLst>
      <p:ext uri="{BB962C8B-B14F-4D97-AF65-F5344CB8AC3E}">
        <p14:creationId xmlns:p14="http://schemas.microsoft.com/office/powerpoint/2010/main" val="279995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0</TotalTime>
  <Words>1469</Words>
  <Application>Microsoft Office PowerPoint</Application>
  <PresentationFormat>Widescreen</PresentationFormat>
  <Paragraphs>223</Paragraphs>
  <Slides>41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Calibri</vt:lpstr>
      <vt:lpstr>Rockwell</vt:lpstr>
      <vt:lpstr>Rockwell Condensed</vt:lpstr>
      <vt:lpstr>Symbol</vt:lpstr>
      <vt:lpstr>Times New Roman</vt:lpstr>
      <vt:lpstr>Wingdings</vt:lpstr>
      <vt:lpstr>Wood Type</vt:lpstr>
      <vt:lpstr>Cardio-vascular 2: </vt:lpstr>
      <vt:lpstr>learning outcomes:</vt:lpstr>
      <vt:lpstr>1. Regulation of cardiac output    </vt:lpstr>
      <vt:lpstr>Affects of parasympathetic stimulation</vt:lpstr>
      <vt:lpstr>Affects of parasympathetic stimulation</vt:lpstr>
      <vt:lpstr>Affects of sympathetic stimulation</vt:lpstr>
      <vt:lpstr>Vagus nerve</vt:lpstr>
      <vt:lpstr>Cardiac cycle-Wiggers diagram</vt:lpstr>
      <vt:lpstr>Factors influencing  Central Venous Pressure</vt:lpstr>
      <vt:lpstr>Factors influencing  Central Venous Pressure</vt:lpstr>
      <vt:lpstr>Factors influencing  Central Venous Pressure</vt:lpstr>
      <vt:lpstr>Factors influencing  Central Venous Pressure</vt:lpstr>
      <vt:lpstr>Factors influencing  Central Venous Pressure</vt:lpstr>
      <vt:lpstr>Factors influencing  Central Venous Pressure</vt:lpstr>
      <vt:lpstr>Stroke volume and its control</vt:lpstr>
      <vt:lpstr>Stroke volume</vt:lpstr>
      <vt:lpstr>Structural changes</vt:lpstr>
      <vt:lpstr>Stroke volume</vt:lpstr>
      <vt:lpstr>Starling’s law of the heart</vt:lpstr>
      <vt:lpstr>Increased contractility</vt:lpstr>
      <vt:lpstr>What determines EDV?</vt:lpstr>
      <vt:lpstr>EFFECT OF BED-REST / TRAINING ON CARDIAC OUTPUT</vt:lpstr>
      <vt:lpstr>PowerPoint Presentation</vt:lpstr>
      <vt:lpstr>Carrying out an ECG</vt:lpstr>
      <vt:lpstr>Carrying out an ECG </vt:lpstr>
      <vt:lpstr>Carrying out an ECG </vt:lpstr>
      <vt:lpstr>What does it all mean?</vt:lpstr>
      <vt:lpstr>P wave </vt:lpstr>
      <vt:lpstr>QRS Complex</vt:lpstr>
      <vt:lpstr>T Wave </vt:lpstr>
      <vt:lpstr>Practical Application</vt:lpstr>
      <vt:lpstr>Practical Application</vt:lpstr>
      <vt:lpstr>Practical Application</vt:lpstr>
      <vt:lpstr>2. Fluid transfer across capillary walls   </vt:lpstr>
      <vt:lpstr>2. Fluid transfer across capillary walls   </vt:lpstr>
      <vt:lpstr>PowerPoint Presentation</vt:lpstr>
      <vt:lpstr>3. Control of blood pressure    </vt:lpstr>
      <vt:lpstr>Baroreceptor  reflex  </vt:lpstr>
      <vt:lpstr>Baroreceptor  reflex  </vt:lpstr>
      <vt:lpstr>Blood volume </vt:lpstr>
      <vt:lpstr>Blood volume </vt:lpstr>
    </vt:vector>
  </TitlesOfParts>
  <Company>London Metropolitan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 Physiology</dc:title>
  <dc:creator>Georgia Whitfield</dc:creator>
  <cp:lastModifiedBy>Christopher Chamberlin</cp:lastModifiedBy>
  <cp:revision>183</cp:revision>
  <cp:lastPrinted>2015-12-09T10:33:20Z</cp:lastPrinted>
  <dcterms:created xsi:type="dcterms:W3CDTF">2015-12-09T09:06:43Z</dcterms:created>
  <dcterms:modified xsi:type="dcterms:W3CDTF">2025-02-12T12:09:11Z</dcterms:modified>
</cp:coreProperties>
</file>