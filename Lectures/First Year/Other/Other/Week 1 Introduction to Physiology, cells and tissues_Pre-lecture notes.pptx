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5" r:id="rId1"/>
  </p:sldMasterIdLst>
  <p:notesMasterIdLst>
    <p:notesMasterId r:id="rId44"/>
  </p:notesMasterIdLst>
  <p:handoutMasterIdLst>
    <p:handoutMasterId r:id="rId45"/>
  </p:handoutMasterIdLst>
  <p:sldIdLst>
    <p:sldId id="256" r:id="rId2"/>
    <p:sldId id="417" r:id="rId3"/>
    <p:sldId id="428" r:id="rId4"/>
    <p:sldId id="445" r:id="rId5"/>
    <p:sldId id="422" r:id="rId6"/>
    <p:sldId id="421" r:id="rId7"/>
    <p:sldId id="427" r:id="rId8"/>
    <p:sldId id="282" r:id="rId9"/>
    <p:sldId id="281" r:id="rId10"/>
    <p:sldId id="259" r:id="rId11"/>
    <p:sldId id="260" r:id="rId12"/>
    <p:sldId id="261" r:id="rId13"/>
    <p:sldId id="277" r:id="rId14"/>
    <p:sldId id="270" r:id="rId15"/>
    <p:sldId id="269" r:id="rId16"/>
    <p:sldId id="263" r:id="rId17"/>
    <p:sldId id="429" r:id="rId18"/>
    <p:sldId id="284" r:id="rId19"/>
    <p:sldId id="286" r:id="rId20"/>
    <p:sldId id="285" r:id="rId21"/>
    <p:sldId id="287" r:id="rId22"/>
    <p:sldId id="288" r:id="rId23"/>
    <p:sldId id="289" r:id="rId24"/>
    <p:sldId id="430" r:id="rId25"/>
    <p:sldId id="290" r:id="rId26"/>
    <p:sldId id="292" r:id="rId27"/>
    <p:sldId id="431" r:id="rId28"/>
    <p:sldId id="293" r:id="rId29"/>
    <p:sldId id="432" r:id="rId30"/>
    <p:sldId id="322" r:id="rId31"/>
    <p:sldId id="314" r:id="rId32"/>
    <p:sldId id="435" r:id="rId33"/>
    <p:sldId id="333" r:id="rId34"/>
    <p:sldId id="441" r:id="rId35"/>
    <p:sldId id="442" r:id="rId36"/>
    <p:sldId id="328" r:id="rId37"/>
    <p:sldId id="440" r:id="rId38"/>
    <p:sldId id="439" r:id="rId39"/>
    <p:sldId id="338" r:id="rId40"/>
    <p:sldId id="433" r:id="rId41"/>
    <p:sldId id="434" r:id="rId42"/>
    <p:sldId id="443" r:id="rId43"/>
  </p:sldIdLst>
  <p:sldSz cx="12192000" cy="6858000"/>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7691" autoAdjust="0"/>
    <p:restoredTop sz="90716" autoAdjust="0"/>
  </p:normalViewPr>
  <p:slideViewPr>
    <p:cSldViewPr snapToGrid="0">
      <p:cViewPr varScale="1">
        <p:scale>
          <a:sx n="92" d="100"/>
          <a:sy n="92" d="100"/>
        </p:scale>
        <p:origin x="132" y="64"/>
      </p:cViewPr>
      <p:guideLst>
        <p:guide orient="horz" pos="2160"/>
        <p:guide pos="3840"/>
      </p:guideLst>
    </p:cSldViewPr>
  </p:slideViewPr>
  <p:notesTextViewPr>
    <p:cViewPr>
      <p:scale>
        <a:sx n="1" d="1"/>
        <a:sy n="1" d="1"/>
      </p:scale>
      <p:origin x="0" y="0"/>
    </p:cViewPr>
  </p:notesTextViewPr>
  <p:sorterViewPr>
    <p:cViewPr varScale="1">
      <p:scale>
        <a:sx n="1" d="1"/>
        <a:sy n="1" d="1"/>
      </p:scale>
      <p:origin x="0" y="-182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50443" y="0"/>
            <a:ext cx="2945659" cy="498056"/>
          </a:xfrm>
          <a:prstGeom prst="rect">
            <a:avLst/>
          </a:prstGeom>
        </p:spPr>
        <p:txBody>
          <a:bodyPr vert="horz" lIns="91440" tIns="45720" rIns="91440" bIns="45720" rtlCol="0"/>
          <a:lstStyle>
            <a:lvl1pPr algn="r">
              <a:defRPr sz="1200"/>
            </a:lvl1pPr>
          </a:lstStyle>
          <a:p>
            <a:fld id="{E03F5211-0A1E-44B5-B55C-53D9904663F7}" type="datetimeFigureOut">
              <a:rPr lang="en-GB" smtClean="0"/>
              <a:pPr/>
              <a:t>27/09/2024</a:t>
            </a:fld>
            <a:endParaRPr lang="en-GB"/>
          </a:p>
        </p:txBody>
      </p:sp>
      <p:sp>
        <p:nvSpPr>
          <p:cNvPr id="4" name="Footer Placeholder 3"/>
          <p:cNvSpPr>
            <a:spLocks noGrp="1"/>
          </p:cNvSpPr>
          <p:nvPr>
            <p:ph type="ftr" sz="quarter" idx="2"/>
          </p:nvPr>
        </p:nvSpPr>
        <p:spPr>
          <a:xfrm>
            <a:off x="0" y="9428584"/>
            <a:ext cx="2945659" cy="498055"/>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50443" y="9428584"/>
            <a:ext cx="2945659" cy="498055"/>
          </a:xfrm>
          <a:prstGeom prst="rect">
            <a:avLst/>
          </a:prstGeom>
        </p:spPr>
        <p:txBody>
          <a:bodyPr vert="horz" lIns="91440" tIns="45720" rIns="91440" bIns="45720" rtlCol="0" anchor="b"/>
          <a:lstStyle>
            <a:lvl1pPr algn="r">
              <a:defRPr sz="1200"/>
            </a:lvl1pPr>
          </a:lstStyle>
          <a:p>
            <a:fld id="{688509DF-7F08-474D-9D81-6C588E60A8F4}" type="slidenum">
              <a:rPr lang="en-GB" smtClean="0"/>
              <a:pPr/>
              <a:t>‹#›</a:t>
            </a:fld>
            <a:endParaRPr lang="en-GB"/>
          </a:p>
        </p:txBody>
      </p:sp>
    </p:spTree>
    <p:extLst>
      <p:ext uri="{BB962C8B-B14F-4D97-AF65-F5344CB8AC3E}">
        <p14:creationId xmlns:p14="http://schemas.microsoft.com/office/powerpoint/2010/main" val="14322441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F56E472F-CC7D-497D-BF5E-FEDA11E084BB}" type="datetimeFigureOut">
              <a:rPr lang="en-GB" smtClean="0"/>
              <a:pPr/>
              <a:t>27/09/2024</a:t>
            </a:fld>
            <a:endParaRPr lang="en-GB"/>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A5AD7A7A-7544-4B24-90EE-B6FC3D98CDDD}" type="slidenum">
              <a:rPr lang="en-GB" smtClean="0"/>
              <a:pPr/>
              <a:t>‹#›</a:t>
            </a:fld>
            <a:endParaRPr lang="en-GB"/>
          </a:p>
        </p:txBody>
      </p:sp>
    </p:spTree>
    <p:extLst>
      <p:ext uri="{BB962C8B-B14F-4D97-AF65-F5344CB8AC3E}">
        <p14:creationId xmlns:p14="http://schemas.microsoft.com/office/powerpoint/2010/main" val="29887230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sz="1200" b="0" i="0" kern="1200" dirty="0" err="1">
                <a:solidFill>
                  <a:schemeClr val="tx1"/>
                </a:solidFill>
                <a:latin typeface="+mn-lt"/>
                <a:ea typeface="+mn-ea"/>
                <a:cs typeface="+mn-cs"/>
              </a:rPr>
              <a:t>Dalecarlian</a:t>
            </a:r>
            <a:r>
              <a:rPr lang="en-GB" sz="1200" b="0" i="0" kern="1200">
                <a:solidFill>
                  <a:schemeClr val="tx1"/>
                </a:solidFill>
                <a:latin typeface="+mn-lt"/>
                <a:ea typeface="+mn-ea"/>
                <a:cs typeface="+mn-cs"/>
              </a:rPr>
              <a:t> horse</a:t>
            </a:r>
            <a:endParaRPr lang="en-GB"/>
          </a:p>
        </p:txBody>
      </p:sp>
      <p:sp>
        <p:nvSpPr>
          <p:cNvPr id="4" name="Slide Number Placeholder 3"/>
          <p:cNvSpPr>
            <a:spLocks noGrp="1"/>
          </p:cNvSpPr>
          <p:nvPr>
            <p:ph type="sldNum" sz="quarter" idx="10"/>
          </p:nvPr>
        </p:nvSpPr>
        <p:spPr/>
        <p:txBody>
          <a:bodyPr/>
          <a:lstStyle/>
          <a:p>
            <a:fld id="{0418E0F9-D521-4D32-9CF3-BBF75881EC80}" type="slidenum">
              <a:rPr lang="en-GB" smtClean="0"/>
              <a:pPr/>
              <a:t>4</a:t>
            </a:fld>
            <a:endParaRPr lang="en-GB"/>
          </a:p>
        </p:txBody>
      </p:sp>
    </p:spTree>
    <p:extLst>
      <p:ext uri="{BB962C8B-B14F-4D97-AF65-F5344CB8AC3E}">
        <p14:creationId xmlns:p14="http://schemas.microsoft.com/office/powerpoint/2010/main" val="739179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Head:</a:t>
            </a:r>
            <a:r>
              <a:rPr lang="en-GB" baseline="0" dirty="0"/>
              <a:t> hydrophilic – electrically charged</a:t>
            </a:r>
          </a:p>
          <a:p>
            <a:r>
              <a:rPr lang="en-GB" baseline="0" dirty="0"/>
              <a:t>Tail: hydrophobic</a:t>
            </a:r>
          </a:p>
          <a:p>
            <a:r>
              <a:rPr lang="en-GB" baseline="0" dirty="0"/>
              <a:t>Several functions</a:t>
            </a:r>
            <a:endParaRPr lang="en-GB" dirty="0"/>
          </a:p>
        </p:txBody>
      </p:sp>
      <p:sp>
        <p:nvSpPr>
          <p:cNvPr id="4" name="Slide Number Placeholder 3"/>
          <p:cNvSpPr>
            <a:spLocks noGrp="1"/>
          </p:cNvSpPr>
          <p:nvPr>
            <p:ph type="sldNum" sz="quarter" idx="10"/>
          </p:nvPr>
        </p:nvSpPr>
        <p:spPr/>
        <p:txBody>
          <a:bodyPr/>
          <a:lstStyle/>
          <a:p>
            <a:fld id="{A5AD7A7A-7544-4B24-90EE-B6FC3D98CDDD}" type="slidenum">
              <a:rPr lang="en-GB" smtClean="0"/>
              <a:pPr/>
              <a:t>11</a:t>
            </a:fld>
            <a:endParaRPr lang="en-GB"/>
          </a:p>
        </p:txBody>
      </p:sp>
    </p:spTree>
    <p:extLst>
      <p:ext uri="{BB962C8B-B14F-4D97-AF65-F5344CB8AC3E}">
        <p14:creationId xmlns:p14="http://schemas.microsoft.com/office/powerpoint/2010/main" val="4406789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Every cell – apart from mature Erythrocytes (red blood cells)</a:t>
            </a:r>
          </a:p>
          <a:p>
            <a:r>
              <a:rPr lang="en-GB" dirty="0"/>
              <a:t>Skeletal muscles = several nuclei</a:t>
            </a:r>
          </a:p>
        </p:txBody>
      </p:sp>
      <p:sp>
        <p:nvSpPr>
          <p:cNvPr id="4" name="Slide Number Placeholder 3"/>
          <p:cNvSpPr>
            <a:spLocks noGrp="1"/>
          </p:cNvSpPr>
          <p:nvPr>
            <p:ph type="sldNum" sz="quarter" idx="10"/>
          </p:nvPr>
        </p:nvSpPr>
        <p:spPr/>
        <p:txBody>
          <a:bodyPr/>
          <a:lstStyle/>
          <a:p>
            <a:fld id="{A5AD7A7A-7544-4B24-90EE-B6FC3D98CDDD}" type="slidenum">
              <a:rPr lang="en-GB" smtClean="0"/>
              <a:pPr/>
              <a:t>12</a:t>
            </a:fld>
            <a:endParaRPr lang="en-GB"/>
          </a:p>
        </p:txBody>
      </p:sp>
    </p:spTree>
    <p:extLst>
      <p:ext uri="{BB962C8B-B14F-4D97-AF65-F5344CB8AC3E}">
        <p14:creationId xmlns:p14="http://schemas.microsoft.com/office/powerpoint/2010/main" val="776383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Jelly like fluid</a:t>
            </a:r>
            <a:r>
              <a:rPr lang="en-GB" baseline="0" dirty="0"/>
              <a:t> that contains mostly water and salt. Many of the cellular processes occur in the cytoplasm. </a:t>
            </a:r>
            <a:endParaRPr lang="en-GB" dirty="0"/>
          </a:p>
        </p:txBody>
      </p:sp>
      <p:sp>
        <p:nvSpPr>
          <p:cNvPr id="4" name="Slide Number Placeholder 3"/>
          <p:cNvSpPr>
            <a:spLocks noGrp="1"/>
          </p:cNvSpPr>
          <p:nvPr>
            <p:ph type="sldNum" sz="quarter" idx="10"/>
          </p:nvPr>
        </p:nvSpPr>
        <p:spPr/>
        <p:txBody>
          <a:bodyPr/>
          <a:lstStyle/>
          <a:p>
            <a:fld id="{A5AD7A7A-7544-4B24-90EE-B6FC3D98CDDD}" type="slidenum">
              <a:rPr lang="en-GB" smtClean="0"/>
              <a:pPr/>
              <a:t>13</a:t>
            </a:fld>
            <a:endParaRPr lang="en-GB"/>
          </a:p>
        </p:txBody>
      </p:sp>
    </p:spTree>
    <p:extLst>
      <p:ext uri="{BB962C8B-B14F-4D97-AF65-F5344CB8AC3E}">
        <p14:creationId xmlns:p14="http://schemas.microsoft.com/office/powerpoint/2010/main" val="34374969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5AD7A7A-7544-4B24-90EE-B6FC3D98CDDD}" type="slidenum">
              <a:rPr lang="en-GB" smtClean="0"/>
              <a:pPr/>
              <a:t>14</a:t>
            </a:fld>
            <a:endParaRPr lang="en-GB"/>
          </a:p>
        </p:txBody>
      </p:sp>
    </p:spTree>
    <p:extLst>
      <p:ext uri="{BB962C8B-B14F-4D97-AF65-F5344CB8AC3E}">
        <p14:creationId xmlns:p14="http://schemas.microsoft.com/office/powerpoint/2010/main" val="35254462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Is spherical and has a threadlike structure. Major sites of ATP synthesis when oxygen is available</a:t>
            </a:r>
          </a:p>
          <a:p>
            <a:endParaRPr lang="en-GB" dirty="0"/>
          </a:p>
        </p:txBody>
      </p:sp>
      <p:sp>
        <p:nvSpPr>
          <p:cNvPr id="4" name="Slide Number Placeholder 3"/>
          <p:cNvSpPr>
            <a:spLocks noGrp="1"/>
          </p:cNvSpPr>
          <p:nvPr>
            <p:ph type="sldNum" sz="quarter" idx="10"/>
          </p:nvPr>
        </p:nvSpPr>
        <p:spPr/>
        <p:txBody>
          <a:bodyPr/>
          <a:lstStyle/>
          <a:p>
            <a:fld id="{A5AD7A7A-7544-4B24-90EE-B6FC3D98CDDD}" type="slidenum">
              <a:rPr lang="en-GB" smtClean="0"/>
              <a:pPr/>
              <a:t>15</a:t>
            </a:fld>
            <a:endParaRPr lang="en-GB"/>
          </a:p>
        </p:txBody>
      </p:sp>
    </p:spTree>
    <p:extLst>
      <p:ext uri="{BB962C8B-B14F-4D97-AF65-F5344CB8AC3E}">
        <p14:creationId xmlns:p14="http://schemas.microsoft.com/office/powerpoint/2010/main" val="29164883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Apoptosis and Necrosis</a:t>
            </a:r>
          </a:p>
        </p:txBody>
      </p:sp>
      <p:sp>
        <p:nvSpPr>
          <p:cNvPr id="4" name="Slide Number Placeholder 3"/>
          <p:cNvSpPr>
            <a:spLocks noGrp="1"/>
          </p:cNvSpPr>
          <p:nvPr>
            <p:ph type="sldNum" sz="quarter" idx="5"/>
          </p:nvPr>
        </p:nvSpPr>
        <p:spPr/>
        <p:txBody>
          <a:bodyPr/>
          <a:lstStyle/>
          <a:p>
            <a:fld id="{A5AD7A7A-7544-4B24-90EE-B6FC3D98CDDD}" type="slidenum">
              <a:rPr lang="en-GB" smtClean="0"/>
              <a:pPr/>
              <a:t>16</a:t>
            </a:fld>
            <a:endParaRPr lang="en-GB"/>
          </a:p>
        </p:txBody>
      </p:sp>
    </p:spTree>
    <p:extLst>
      <p:ext uri="{BB962C8B-B14F-4D97-AF65-F5344CB8AC3E}">
        <p14:creationId xmlns:p14="http://schemas.microsoft.com/office/powerpoint/2010/main" val="41657826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a:extLst>
              <a:ext uri="{FF2B5EF4-FFF2-40B4-BE49-F238E27FC236}">
                <a16:creationId xmlns:a16="http://schemas.microsoft.com/office/drawing/2014/main" id="{85ED45CA-3677-A857-4D5E-62A9D7A42CD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Notes Placeholder 2">
            <a:extLst>
              <a:ext uri="{FF2B5EF4-FFF2-40B4-BE49-F238E27FC236}">
                <a16:creationId xmlns:a16="http://schemas.microsoft.com/office/drawing/2014/main" id="{CDFB57FC-C031-EF9B-9F27-460D0584729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
        <p:nvSpPr>
          <p:cNvPr id="36868" name="Slide Number Placeholder 3">
            <a:extLst>
              <a:ext uri="{FF2B5EF4-FFF2-40B4-BE49-F238E27FC236}">
                <a16:creationId xmlns:a16="http://schemas.microsoft.com/office/drawing/2014/main" id="{514CA003-3B91-54CF-C939-9B5376F2730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fld id="{9E55AD19-9A8A-4E0C-B2D5-FA4F921275F4}" type="slidenum">
              <a:rPr lang="en-GB" altLang="en-US" sz="1200"/>
              <a:pPr/>
              <a:t>36</a:t>
            </a:fld>
            <a:endParaRPr lang="en-GB" alt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a:extLst>
              <a:ext uri="{FF2B5EF4-FFF2-40B4-BE49-F238E27FC236}">
                <a16:creationId xmlns:a16="http://schemas.microsoft.com/office/drawing/2014/main" id="{85ED45CA-3677-A857-4D5E-62A9D7A42CD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Notes Placeholder 2">
            <a:extLst>
              <a:ext uri="{FF2B5EF4-FFF2-40B4-BE49-F238E27FC236}">
                <a16:creationId xmlns:a16="http://schemas.microsoft.com/office/drawing/2014/main" id="{CDFB57FC-C031-EF9B-9F27-460D0584729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
        <p:nvSpPr>
          <p:cNvPr id="36868" name="Slide Number Placeholder 3">
            <a:extLst>
              <a:ext uri="{FF2B5EF4-FFF2-40B4-BE49-F238E27FC236}">
                <a16:creationId xmlns:a16="http://schemas.microsoft.com/office/drawing/2014/main" id="{514CA003-3B91-54CF-C939-9B5376F2730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fld id="{9E55AD19-9A8A-4E0C-B2D5-FA4F921275F4}" type="slidenum">
              <a:rPr lang="en-GB" altLang="en-US" sz="1200"/>
              <a:pPr/>
              <a:t>37</a:t>
            </a:fld>
            <a:endParaRPr lang="en-GB" altLang="en-US" sz="1200"/>
          </a:p>
        </p:txBody>
      </p:sp>
    </p:spTree>
    <p:extLst>
      <p:ext uri="{BB962C8B-B14F-4D97-AF65-F5344CB8AC3E}">
        <p14:creationId xmlns:p14="http://schemas.microsoft.com/office/powerpoint/2010/main" val="33703402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ltLang="en-US" sz="1200" dirty="0">
                <a:solidFill>
                  <a:srgbClr val="3F5E9A"/>
                </a:solidFill>
                <a:latin typeface="Arial" panose="020B0604020202020204" pitchFamily="34" charset="0"/>
                <a:cs typeface="Times New Roman" panose="02020603050405020304" pitchFamily="18" charset="0"/>
              </a:rPr>
              <a:t>0.8 ml of blood/min/100 ml adequate for resting perfusion of skin</a:t>
            </a:r>
            <a:endParaRPr lang="en-GB" dirty="0"/>
          </a:p>
        </p:txBody>
      </p:sp>
      <p:sp>
        <p:nvSpPr>
          <p:cNvPr id="4" name="Slide Number Placeholder 3"/>
          <p:cNvSpPr>
            <a:spLocks noGrp="1"/>
          </p:cNvSpPr>
          <p:nvPr>
            <p:ph type="sldNum" sz="quarter" idx="5"/>
          </p:nvPr>
        </p:nvSpPr>
        <p:spPr/>
        <p:txBody>
          <a:bodyPr/>
          <a:lstStyle/>
          <a:p>
            <a:fld id="{A5AD7A7A-7544-4B24-90EE-B6FC3D98CDDD}" type="slidenum">
              <a:rPr lang="en-GB" smtClean="0"/>
              <a:pPr/>
              <a:t>39</a:t>
            </a:fld>
            <a:endParaRPr lang="en-GB"/>
          </a:p>
        </p:txBody>
      </p:sp>
    </p:spTree>
    <p:extLst>
      <p:ext uri="{BB962C8B-B14F-4D97-AF65-F5344CB8AC3E}">
        <p14:creationId xmlns:p14="http://schemas.microsoft.com/office/powerpoint/2010/main" val="34935544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a:extLst>
              <a:ext uri="{FF2B5EF4-FFF2-40B4-BE49-F238E27FC236}">
                <a16:creationId xmlns:a16="http://schemas.microsoft.com/office/drawing/2014/main" id="{32AF7E97-1421-6B51-6B0D-BA6B4240FAB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1" name="Notes Placeholder 2">
            <a:extLst>
              <a:ext uri="{FF2B5EF4-FFF2-40B4-BE49-F238E27FC236}">
                <a16:creationId xmlns:a16="http://schemas.microsoft.com/office/drawing/2014/main" id="{86B19081-6F99-6953-94E6-C6511004321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a:t>Therapy notes: What is the green system? Note that manipulation fo the venous system will influence lymphatic drainage!</a:t>
            </a:r>
          </a:p>
        </p:txBody>
      </p:sp>
      <p:sp>
        <p:nvSpPr>
          <p:cNvPr id="58372" name="Slide Number Placeholder 3">
            <a:extLst>
              <a:ext uri="{FF2B5EF4-FFF2-40B4-BE49-F238E27FC236}">
                <a16:creationId xmlns:a16="http://schemas.microsoft.com/office/drawing/2014/main" id="{81E6A041-7D72-EC50-58FD-95609B8B9E7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fld id="{8869005A-4A64-458F-A6D6-C8317F3D90F7}" type="slidenum">
              <a:rPr lang="en-GB" altLang="en-US" sz="1200"/>
              <a:pPr/>
              <a:t>41</a:t>
            </a:fld>
            <a:endParaRPr lang="en-GB" alt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Drain protein rich lymph from the extracellular space of most organs.</a:t>
            </a:r>
          </a:p>
          <a:p>
            <a:r>
              <a:rPr lang="en-GB" dirty="0"/>
              <a:t>Net outward movement of fluid from capillaries, this is requisitioned by the Lymphatic system (nutrients and hydration of tissues. But greater capillary oncotic pressure than in interstitial fluid due to protein concentration, prevents fluid movement back into the capillary. </a:t>
            </a:r>
          </a:p>
          <a:p>
            <a:endParaRPr lang="en-GB" dirty="0"/>
          </a:p>
          <a:p>
            <a:r>
              <a:rPr lang="en-GB" dirty="0"/>
              <a:t>Interstitial hydrostatic pressure = </a:t>
            </a:r>
            <a:r>
              <a:rPr lang="en-GB" b="1" i="0" dirty="0">
                <a:solidFill>
                  <a:srgbClr val="202124"/>
                </a:solidFill>
                <a:effectLst/>
                <a:latin typeface="arial" panose="020B0604020202020204" pitchFamily="34" charset="0"/>
              </a:rPr>
              <a:t>−8 to +6 mmHg but Venous entry pressures = 15mmHg</a:t>
            </a:r>
            <a:endParaRPr lang="en-GB" dirty="0"/>
          </a:p>
        </p:txBody>
      </p:sp>
      <p:sp>
        <p:nvSpPr>
          <p:cNvPr id="4" name="Slide Number Placeholder 3"/>
          <p:cNvSpPr>
            <a:spLocks noGrp="1"/>
          </p:cNvSpPr>
          <p:nvPr>
            <p:ph type="sldNum" sz="quarter" idx="5"/>
          </p:nvPr>
        </p:nvSpPr>
        <p:spPr/>
        <p:txBody>
          <a:bodyPr/>
          <a:lstStyle/>
          <a:p>
            <a:fld id="{A5AD7A7A-7544-4B24-90EE-B6FC3D98CDDD}" type="slidenum">
              <a:rPr lang="en-GB" smtClean="0"/>
              <a:pPr/>
              <a:t>42</a:t>
            </a:fld>
            <a:endParaRPr lang="en-GB"/>
          </a:p>
        </p:txBody>
      </p:sp>
    </p:spTree>
    <p:extLst>
      <p:ext uri="{BB962C8B-B14F-4D97-AF65-F5344CB8AC3E}">
        <p14:creationId xmlns:p14="http://schemas.microsoft.com/office/powerpoint/2010/main" val="3032356014"/>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cstate="print">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cstate="print">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cstate="print">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cstate="print">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485C71E-5F81-4E07-822B-8417DE214936}" type="datetimeFigureOut">
              <a:rPr lang="en-GB" smtClean="0"/>
              <a:pPr/>
              <a:t>27/09/2024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C34BFFC3-AF7F-4CF6-A883-87E941C9770B}" type="slidenum">
              <a:rPr lang="en-GB" smtClean="0"/>
              <a:pPr/>
              <a:t>‹#›</a:t>
            </a:fld>
            <a:endParaRPr lang="en-GB"/>
          </a:p>
        </p:txBody>
      </p:sp>
    </p:spTree>
    <p:extLst>
      <p:ext uri="{BB962C8B-B14F-4D97-AF65-F5344CB8AC3E}">
        <p14:creationId xmlns:p14="http://schemas.microsoft.com/office/powerpoint/2010/main" val="28156613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85C71E-5F81-4E07-822B-8417DE214936}" type="datetimeFigureOut">
              <a:rPr lang="en-GB" smtClean="0"/>
              <a:pPr/>
              <a:t>27/09/2024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34BFFC3-AF7F-4CF6-A883-87E941C9770B}" type="slidenum">
              <a:rPr lang="en-GB" smtClean="0"/>
              <a:pPr/>
              <a:t>‹#›</a:t>
            </a:fld>
            <a:endParaRPr lang="en-GB"/>
          </a:p>
        </p:txBody>
      </p:sp>
    </p:spTree>
    <p:extLst>
      <p:ext uri="{BB962C8B-B14F-4D97-AF65-F5344CB8AC3E}">
        <p14:creationId xmlns:p14="http://schemas.microsoft.com/office/powerpoint/2010/main" val="4235727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cstate="print">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E485C71E-5F81-4E07-822B-8417DE214936}" type="datetimeFigureOut">
              <a:rPr lang="en-GB" smtClean="0"/>
              <a:pPr/>
              <a:t>27/09/2024</a:t>
            </a:fld>
            <a:endParaRPr lang="en-GB"/>
          </a:p>
        </p:txBody>
      </p:sp>
      <p:sp>
        <p:nvSpPr>
          <p:cNvPr id="5" name="Footer Placeholder 4"/>
          <p:cNvSpPr>
            <a:spLocks noGrp="1"/>
          </p:cNvSpPr>
          <p:nvPr>
            <p:ph type="ftr" sz="quarter" idx="11"/>
          </p:nvPr>
        </p:nvSpPr>
        <p:spPr>
          <a:xfrm>
            <a:off x="2182708" y="6272784"/>
            <a:ext cx="6327648" cy="365125"/>
          </a:xfrm>
        </p:spPr>
        <p:txBody>
          <a:bodyPr/>
          <a:lstStyle/>
          <a:p>
            <a:endParaRPr lang="en-GB"/>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cstate="print">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C34BFFC3-AF7F-4CF6-A883-87E941C9770B}" type="slidenum">
              <a:rPr lang="en-GB" smtClean="0"/>
              <a:pPr/>
              <a:t>‹#›</a:t>
            </a:fld>
            <a:endParaRPr lang="en-GB"/>
          </a:p>
        </p:txBody>
      </p:sp>
    </p:spTree>
    <p:extLst>
      <p:ext uri="{BB962C8B-B14F-4D97-AF65-F5344CB8AC3E}">
        <p14:creationId xmlns:p14="http://schemas.microsoft.com/office/powerpoint/2010/main" val="1051478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485C71E-5F81-4E07-822B-8417DE214936}" type="datetimeFigureOut">
              <a:rPr lang="en-GB" smtClean="0"/>
              <a:pPr/>
              <a:t>27/09/2024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34BFFC3-AF7F-4CF6-A883-87E941C9770B}" type="slidenum">
              <a:rPr lang="en-GB" smtClean="0"/>
              <a:pPr/>
              <a:t>‹#›</a:t>
            </a:fld>
            <a:endParaRPr lang="en-GB"/>
          </a:p>
        </p:txBody>
      </p:sp>
    </p:spTree>
    <p:extLst>
      <p:ext uri="{BB962C8B-B14F-4D97-AF65-F5344CB8AC3E}">
        <p14:creationId xmlns:p14="http://schemas.microsoft.com/office/powerpoint/2010/main" val="26722235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485C71E-5F81-4E07-822B-8417DE214936}" type="datetimeFigureOut">
              <a:rPr lang="en-GB" smtClean="0"/>
              <a:pPr/>
              <a:t>27/09/2024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C34BFFC3-AF7F-4CF6-A883-87E941C9770B}" type="slidenum">
              <a:rPr lang="en-GB" smtClean="0"/>
              <a:pPr/>
              <a:t>‹#›</a:t>
            </a:fld>
            <a:endParaRPr lang="en-GB"/>
          </a:p>
        </p:txBody>
      </p:sp>
    </p:spTree>
    <p:extLst>
      <p:ext uri="{BB962C8B-B14F-4D97-AF65-F5344CB8AC3E}">
        <p14:creationId xmlns:p14="http://schemas.microsoft.com/office/powerpoint/2010/main" val="33490623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485C71E-5F81-4E07-822B-8417DE214936}" type="datetimeFigureOut">
              <a:rPr lang="en-GB" smtClean="0"/>
              <a:pPr/>
              <a:t>27/09/2024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C34BFFC3-AF7F-4CF6-A883-87E941C9770B}" type="slidenum">
              <a:rPr lang="en-GB" smtClean="0"/>
              <a:pPr/>
              <a:t>‹#›</a:t>
            </a:fld>
            <a:endParaRPr lang="en-GB"/>
          </a:p>
        </p:txBody>
      </p:sp>
    </p:spTree>
    <p:extLst>
      <p:ext uri="{BB962C8B-B14F-4D97-AF65-F5344CB8AC3E}">
        <p14:creationId xmlns:p14="http://schemas.microsoft.com/office/powerpoint/2010/main" val="37086002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485C71E-5F81-4E07-822B-8417DE214936}" type="datetimeFigureOut">
              <a:rPr lang="en-GB" smtClean="0"/>
              <a:pPr/>
              <a:t>27/09/2024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C34BFFC3-AF7F-4CF6-A883-87E941C9770B}" type="slidenum">
              <a:rPr lang="en-GB" smtClean="0"/>
              <a:pPr/>
              <a:t>‹#›</a:t>
            </a:fld>
            <a:endParaRPr lang="en-GB"/>
          </a:p>
        </p:txBody>
      </p:sp>
    </p:spTree>
    <p:extLst>
      <p:ext uri="{BB962C8B-B14F-4D97-AF65-F5344CB8AC3E}">
        <p14:creationId xmlns:p14="http://schemas.microsoft.com/office/powerpoint/2010/main" val="30014812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cstate="print">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485C71E-5F81-4E07-822B-8417DE214936}" type="datetimeFigureOut">
              <a:rPr lang="en-GB" smtClean="0"/>
              <a:pPr/>
              <a:t>27/09/2024</a:t>
            </a:fld>
            <a:endParaRPr lang="en-GB"/>
          </a:p>
        </p:txBody>
      </p:sp>
      <p:sp>
        <p:nvSpPr>
          <p:cNvPr id="6" name="Footer Placeholder 5"/>
          <p:cNvSpPr>
            <a:spLocks noGrp="1"/>
          </p:cNvSpPr>
          <p:nvPr>
            <p:ph type="ftr" sz="quarter" idx="11"/>
          </p:nvPr>
        </p:nvSpPr>
        <p:spPr/>
        <p:txBody>
          <a:bodyPr/>
          <a:lstStyle/>
          <a:p>
            <a:endParaRPr lang="en-GB"/>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cstate="print">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C34BFFC3-AF7F-4CF6-A883-87E941C9770B}" type="slidenum">
              <a:rPr lang="en-GB" smtClean="0"/>
              <a:pPr/>
              <a:t>‹#›</a:t>
            </a:fld>
            <a:endParaRPr lang="en-GB"/>
          </a:p>
        </p:txBody>
      </p:sp>
    </p:spTree>
    <p:extLst>
      <p:ext uri="{BB962C8B-B14F-4D97-AF65-F5344CB8AC3E}">
        <p14:creationId xmlns:p14="http://schemas.microsoft.com/office/powerpoint/2010/main" val="7470470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cstate="print">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485C71E-5F81-4E07-822B-8417DE214936}" type="datetimeFigureOut">
              <a:rPr lang="en-GB" smtClean="0"/>
              <a:pPr/>
              <a:t>27/09/2024</a:t>
            </a:fld>
            <a:endParaRPr lang="en-GB"/>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cstate="print">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C34BFFC3-AF7F-4CF6-A883-87E941C9770B}" type="slidenum">
              <a:rPr lang="en-GB" smtClean="0"/>
              <a:pPr/>
              <a:t>‹#›</a:t>
            </a:fld>
            <a:endParaRPr lang="en-GB"/>
          </a:p>
        </p:txBody>
      </p:sp>
    </p:spTree>
    <p:extLst>
      <p:ext uri="{BB962C8B-B14F-4D97-AF65-F5344CB8AC3E}">
        <p14:creationId xmlns:p14="http://schemas.microsoft.com/office/powerpoint/2010/main" val="38198969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85C71E-5F81-4E07-822B-8417DE214936}" type="datetimeFigureOut">
              <a:rPr lang="en-GB" smtClean="0"/>
              <a:pPr/>
              <a:t>27/09/2024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34BFFC3-AF7F-4CF6-A883-87E941C9770B}" type="slidenum">
              <a:rPr lang="en-GB" smtClean="0"/>
              <a:pPr/>
              <a:t>‹#›</a:t>
            </a:fld>
            <a:endParaRPr lang="en-GB"/>
          </a:p>
        </p:txBody>
      </p:sp>
    </p:spTree>
    <p:extLst>
      <p:ext uri="{BB962C8B-B14F-4D97-AF65-F5344CB8AC3E}">
        <p14:creationId xmlns:p14="http://schemas.microsoft.com/office/powerpoint/2010/main" val="18735890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85C71E-5F81-4E07-822B-8417DE214936}" type="datetimeFigureOut">
              <a:rPr lang="en-GB" smtClean="0"/>
              <a:pPr/>
              <a:t>27/09/2024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34BFFC3-AF7F-4CF6-A883-87E941C9770B}" type="slidenum">
              <a:rPr lang="en-GB" smtClean="0"/>
              <a:pPr/>
              <a:t>‹#›</a:t>
            </a:fld>
            <a:endParaRPr lang="en-GB"/>
          </a:p>
        </p:txBody>
      </p:sp>
    </p:spTree>
    <p:extLst>
      <p:ext uri="{BB962C8B-B14F-4D97-AF65-F5344CB8AC3E}">
        <p14:creationId xmlns:p14="http://schemas.microsoft.com/office/powerpoint/2010/main" val="14376032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pic>
        <p:nvPicPr>
          <p:cNvPr id="7" name="Picture 6" descr="Droplets-SD-Content-R1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3" y="2367094"/>
            <a:ext cx="10363827"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B02557A-7053-4340-A874-8AB926A8EDA1}" type="datetimeFigureOut">
              <a:rPr lang="en-US" smtClean="0"/>
              <a:pPr/>
              <a:t>9/27/2024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37029840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microsoft.com/office/2007/relationships/hdphoto" Target="../media/hdphoto1.wdp"/><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E485C71E-5F81-4E07-822B-8417DE214936}" type="datetimeFigureOut">
              <a:rPr lang="en-GB" smtClean="0"/>
              <a:pPr/>
              <a:t>27/09/2024</a:t>
            </a:fld>
            <a:endParaRPr lang="en-GB"/>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GB"/>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4" cstate="print">
                <a:duotone>
                  <a:schemeClr val="accent1">
                    <a:shade val="45000"/>
                    <a:satMod val="135000"/>
                  </a:schemeClr>
                  <a:prstClr val="white"/>
                </a:duotone>
                <a:extLst>
                  <a:ext uri="{BEBA8EAE-BF5A-486C-A8C5-ECC9F3942E4B}">
                    <a14:imgProps xmlns:a14="http://schemas.microsoft.com/office/drawing/2010/main">
                      <a14:imgLayer r:embed="rId1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C34BFFC3-AF7F-4CF6-A883-87E941C9770B}" type="slidenum">
              <a:rPr lang="en-GB" smtClean="0"/>
              <a:pPr/>
              <a:t>‹#›</a:t>
            </a:fld>
            <a:endParaRPr lang="en-GB"/>
          </a:p>
        </p:txBody>
      </p:sp>
    </p:spTree>
    <p:extLst>
      <p:ext uri="{BB962C8B-B14F-4D97-AF65-F5344CB8AC3E}">
        <p14:creationId xmlns:p14="http://schemas.microsoft.com/office/powerpoint/2010/main" val="3748561658"/>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Lst>
  <p:txStyles>
    <p:titleStyle>
      <a:lvl1pPr algn="l" defTabSz="914400" rtl="0" eaLnBrk="1" latinLnBrk="0" hangingPunct="1">
        <a:lnSpc>
          <a:spcPct val="90000"/>
        </a:lnSpc>
        <a:spcBef>
          <a:spcPct val="0"/>
        </a:spcBef>
        <a:buNone/>
        <a:defRPr sz="5400" kern="1200" cap="all" baseline="0">
          <a:blipFill>
            <a:blip r:embed="rId16">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6.xml"/><Relationship Id="rId5" Type="http://schemas.microsoft.com/office/2007/relationships/hdphoto" Target="../media/hdphoto1.wdp"/><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emf"/><Relationship Id="rId1" Type="http://schemas.openxmlformats.org/officeDocument/2006/relationships/slideLayout" Target="../slideLayouts/slideLayout7.xml"/><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6.xml"/><Relationship Id="rId5" Type="http://schemas.microsoft.com/office/2007/relationships/hdphoto" Target="../media/hdphoto1.wdp"/><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6.xml"/><Relationship Id="rId6" Type="http://schemas.openxmlformats.org/officeDocument/2006/relationships/image" Target="../media/image23.jpeg"/><Relationship Id="rId5" Type="http://schemas.microsoft.com/office/2007/relationships/hdphoto" Target="../media/hdphoto1.wdp"/><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24.png"/><Relationship Id="rId5" Type="http://schemas.microsoft.com/office/2007/relationships/hdphoto" Target="../media/hdphoto1.wdp"/><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microsoft.com/office/2007/relationships/hdphoto" Target="../media/hdphoto2.wdp"/><Relationship Id="rId7" Type="http://schemas.openxmlformats.org/officeDocument/2006/relationships/image" Target="file:///D:\Image_Library\JPEG_IL\19_IL_jpeg\19-01_artveincap_1.jpg" TargetMode="Externa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26.jpeg"/><Relationship Id="rId5" Type="http://schemas.microsoft.com/office/2007/relationships/hdphoto" Target="../media/hdphoto1.wdp"/><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30.png"/></Relationships>
</file>

<file path=ppt/slides/_rels/slide36.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2.jpe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4.png"/><Relationship Id="rId4" Type="http://schemas.microsoft.com/office/2007/relationships/hdphoto" Target="../media/hdphoto1.wdp"/></Relationships>
</file>

<file path=ppt/slides/_rels/slide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png"/><Relationship Id="rId4" Type="http://schemas.microsoft.com/office/2007/relationships/hdphoto" Target="../media/hdphoto2.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Cell Physiology</a:t>
            </a:r>
          </a:p>
        </p:txBody>
      </p:sp>
      <p:sp>
        <p:nvSpPr>
          <p:cNvPr id="3" name="Subtitle 2"/>
          <p:cNvSpPr>
            <a:spLocks noGrp="1"/>
          </p:cNvSpPr>
          <p:nvPr>
            <p:ph type="subTitle" idx="1"/>
          </p:nvPr>
        </p:nvSpPr>
        <p:spPr>
          <a:xfrm>
            <a:off x="1051560" y="4468031"/>
            <a:ext cx="7891272" cy="1069848"/>
          </a:xfrm>
        </p:spPr>
        <p:txBody>
          <a:bodyPr>
            <a:normAutofit/>
          </a:bodyPr>
          <a:lstStyle/>
          <a:p>
            <a:r>
              <a:rPr lang="en-GB" sz="2800" dirty="0"/>
              <a:t>PT4050 and PT7001</a:t>
            </a:r>
          </a:p>
          <a:p>
            <a:r>
              <a:rPr lang="en-GB" sz="2800" dirty="0"/>
              <a:t>Week 2 of 2024 / 2025 </a:t>
            </a:r>
          </a:p>
          <a:p>
            <a:endParaRPr lang="en-GB" sz="2800" dirty="0"/>
          </a:p>
        </p:txBody>
      </p:sp>
      <p:sp>
        <p:nvSpPr>
          <p:cNvPr id="4" name="Subtitle 2">
            <a:extLst>
              <a:ext uri="{FF2B5EF4-FFF2-40B4-BE49-F238E27FC236}">
                <a16:creationId xmlns:a16="http://schemas.microsoft.com/office/drawing/2014/main" id="{BFD45D3F-385B-6905-BBA0-8363BCB1865A}"/>
              </a:ext>
            </a:extLst>
          </p:cNvPr>
          <p:cNvSpPr txBox="1">
            <a:spLocks/>
          </p:cNvSpPr>
          <p:nvPr/>
        </p:nvSpPr>
        <p:spPr>
          <a:xfrm>
            <a:off x="9040645" y="6298613"/>
            <a:ext cx="2929682" cy="365423"/>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200"/>
              </a:spcBef>
              <a:buClr>
                <a:schemeClr val="accent1">
                  <a:lumMod val="75000"/>
                </a:schemeClr>
              </a:buClr>
              <a:buSzPct val="85000"/>
              <a:buFont typeface="Wingdings" pitchFamily="2" charset="2"/>
              <a:buNone/>
              <a:defRPr sz="2200" kern="1200">
                <a:solidFill>
                  <a:schemeClr val="tx1"/>
                </a:solidFill>
                <a:latin typeface="+mn-lt"/>
                <a:ea typeface="+mn-ea"/>
                <a:cs typeface="+mn-cs"/>
              </a:defRPr>
            </a:lvl1pPr>
            <a:lvl2pPr marL="4572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200" kern="1200">
                <a:solidFill>
                  <a:schemeClr val="tx1"/>
                </a:solidFill>
                <a:latin typeface="+mn-lt"/>
                <a:ea typeface="+mn-ea"/>
                <a:cs typeface="+mn-cs"/>
              </a:defRPr>
            </a:lvl2pPr>
            <a:lvl3pPr marL="9144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200" kern="1200">
                <a:solidFill>
                  <a:schemeClr val="tx1"/>
                </a:solidFill>
                <a:latin typeface="+mn-lt"/>
                <a:ea typeface="+mn-ea"/>
                <a:cs typeface="+mn-cs"/>
              </a:defRPr>
            </a:lvl3pPr>
            <a:lvl4pPr marL="13716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000" kern="1200">
                <a:solidFill>
                  <a:schemeClr val="tx1"/>
                </a:solidFill>
                <a:latin typeface="+mn-lt"/>
                <a:ea typeface="+mn-ea"/>
                <a:cs typeface="+mn-cs"/>
              </a:defRPr>
            </a:lvl4pPr>
            <a:lvl5pPr marL="18288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000" kern="1200">
                <a:solidFill>
                  <a:schemeClr val="tx1"/>
                </a:solidFill>
                <a:latin typeface="+mn-lt"/>
                <a:ea typeface="+mn-ea"/>
                <a:cs typeface="+mn-cs"/>
              </a:defRPr>
            </a:lvl5pPr>
            <a:lvl6pPr marL="22860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000" kern="1200">
                <a:solidFill>
                  <a:schemeClr val="tx1"/>
                </a:solidFill>
                <a:latin typeface="+mn-lt"/>
                <a:ea typeface="+mn-ea"/>
                <a:cs typeface="+mn-cs"/>
              </a:defRPr>
            </a:lvl6pPr>
            <a:lvl7pPr marL="27432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000" kern="1200">
                <a:solidFill>
                  <a:schemeClr val="tx1"/>
                </a:solidFill>
                <a:latin typeface="+mn-lt"/>
                <a:ea typeface="+mn-ea"/>
                <a:cs typeface="+mn-cs"/>
              </a:defRPr>
            </a:lvl7pPr>
            <a:lvl8pPr marL="32004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000" kern="1200">
                <a:solidFill>
                  <a:schemeClr val="tx1"/>
                </a:solidFill>
                <a:latin typeface="+mn-lt"/>
                <a:ea typeface="+mn-ea"/>
                <a:cs typeface="+mn-cs"/>
              </a:defRPr>
            </a:lvl8pPr>
            <a:lvl9pPr marL="36576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000" kern="1200">
                <a:solidFill>
                  <a:schemeClr val="tx1"/>
                </a:solidFill>
                <a:latin typeface="+mn-lt"/>
                <a:ea typeface="+mn-ea"/>
                <a:cs typeface="+mn-cs"/>
              </a:defRPr>
            </a:lvl9pPr>
          </a:lstStyle>
          <a:p>
            <a:r>
              <a:rPr lang="en-GB" sz="1400" dirty="0"/>
              <a:t>c.chamberlin@londonmet.ac.uk</a:t>
            </a:r>
          </a:p>
          <a:p>
            <a:endParaRPr lang="en-GB" sz="1400" dirty="0"/>
          </a:p>
        </p:txBody>
      </p:sp>
    </p:spTree>
    <p:extLst>
      <p:ext uri="{BB962C8B-B14F-4D97-AF65-F5344CB8AC3E}">
        <p14:creationId xmlns:p14="http://schemas.microsoft.com/office/powerpoint/2010/main" val="19014286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AE090-B937-22C3-7091-8528B8B57718}"/>
              </a:ext>
            </a:extLst>
          </p:cNvPr>
          <p:cNvSpPr>
            <a:spLocks noGrp="1"/>
          </p:cNvSpPr>
          <p:nvPr>
            <p:ph type="title"/>
          </p:nvPr>
        </p:nvSpPr>
        <p:spPr/>
        <p:txBody>
          <a:bodyPr/>
          <a:lstStyle/>
          <a:p>
            <a:r>
              <a:rPr lang="en-GB" dirty="0"/>
              <a:t>learning outcomes:</a:t>
            </a:r>
          </a:p>
        </p:txBody>
      </p:sp>
      <p:sp>
        <p:nvSpPr>
          <p:cNvPr id="3" name="Content Placeholder 2">
            <a:extLst>
              <a:ext uri="{FF2B5EF4-FFF2-40B4-BE49-F238E27FC236}">
                <a16:creationId xmlns:a16="http://schemas.microsoft.com/office/drawing/2014/main" id="{D00CEE09-9CC0-328E-8550-680F0F316096}"/>
              </a:ext>
            </a:extLst>
          </p:cNvPr>
          <p:cNvSpPr>
            <a:spLocks noGrp="1"/>
          </p:cNvSpPr>
          <p:nvPr>
            <p:ph idx="1"/>
          </p:nvPr>
        </p:nvSpPr>
        <p:spPr/>
        <p:txBody>
          <a:bodyPr>
            <a:noAutofit/>
          </a:bodyPr>
          <a:lstStyle/>
          <a:p>
            <a:pPr marL="457200" indent="-457200">
              <a:lnSpc>
                <a:spcPct val="150000"/>
              </a:lnSpc>
              <a:buFont typeface="+mj-lt"/>
              <a:buAutoNum type="arabicPeriod"/>
            </a:pPr>
            <a:r>
              <a:rPr lang="en-GB" sz="2400" dirty="0"/>
              <a:t>Relevance of Physiology and Cell knowledge to Physiotherapy</a:t>
            </a:r>
          </a:p>
          <a:p>
            <a:pPr marL="457200" indent="-457200">
              <a:lnSpc>
                <a:spcPct val="150000"/>
              </a:lnSpc>
              <a:buFont typeface="+mj-lt"/>
              <a:buAutoNum type="arabicPeriod"/>
            </a:pPr>
            <a:r>
              <a:rPr lang="en-GB" sz="2400" dirty="0"/>
              <a:t>Understanding 4 tissue types</a:t>
            </a:r>
          </a:p>
          <a:p>
            <a:pPr marL="457200" indent="-457200">
              <a:lnSpc>
                <a:spcPct val="150000"/>
              </a:lnSpc>
              <a:buFont typeface="+mj-lt"/>
              <a:buAutoNum type="arabicPeriod"/>
            </a:pPr>
            <a:r>
              <a:rPr lang="en-GB" sz="2400" dirty="0"/>
              <a:t>Fascia, arrangement and composition</a:t>
            </a:r>
          </a:p>
          <a:p>
            <a:pPr marL="457200" indent="-457200">
              <a:lnSpc>
                <a:spcPct val="150000"/>
              </a:lnSpc>
              <a:buFont typeface="+mj-lt"/>
              <a:buAutoNum type="arabicPeriod"/>
            </a:pPr>
            <a:r>
              <a:rPr lang="en-GB" sz="2400" dirty="0"/>
              <a:t>Serous membranes – location and function</a:t>
            </a:r>
          </a:p>
          <a:p>
            <a:pPr marL="457200" indent="-457200">
              <a:lnSpc>
                <a:spcPct val="150000"/>
              </a:lnSpc>
              <a:buFont typeface="+mj-lt"/>
              <a:buAutoNum type="arabicPeriod"/>
            </a:pPr>
            <a:r>
              <a:rPr lang="en-GB" sz="2400" dirty="0"/>
              <a:t>Vascular system – Systemic, Pulmonary and Capillary</a:t>
            </a:r>
          </a:p>
          <a:p>
            <a:pPr marL="457200" indent="-457200">
              <a:lnSpc>
                <a:spcPct val="150000"/>
              </a:lnSpc>
              <a:buFont typeface="+mj-lt"/>
              <a:buAutoNum type="arabicPeriod"/>
            </a:pPr>
            <a:r>
              <a:rPr lang="en-GB" sz="2400" dirty="0"/>
              <a:t>Lymphatic system</a:t>
            </a:r>
          </a:p>
        </p:txBody>
      </p:sp>
    </p:spTree>
    <p:extLst>
      <p:ext uri="{BB962C8B-B14F-4D97-AF65-F5344CB8AC3E}">
        <p14:creationId xmlns:p14="http://schemas.microsoft.com/office/powerpoint/2010/main" val="4977613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A3D0CE2-91FF-49B3-A5D8-181E900D75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9" name="Rectangle 8">
            <a:extLst>
              <a:ext uri="{FF2B5EF4-FFF2-40B4-BE49-F238E27FC236}">
                <a16:creationId xmlns:a16="http://schemas.microsoft.com/office/drawing/2014/main" id="{58AEBD96-C315-4F53-9D9E-0E20E993E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1" name="Rectangle 10">
            <a:extLst>
              <a:ext uri="{FF2B5EF4-FFF2-40B4-BE49-F238E27FC236}">
                <a16:creationId xmlns:a16="http://schemas.microsoft.com/office/drawing/2014/main" id="{78916AAA-66F6-4DFA-88ED-7E27CF6B8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grpSp>
        <p:nvGrpSpPr>
          <p:cNvPr id="13" name="Group 12">
            <a:extLst>
              <a:ext uri="{FF2B5EF4-FFF2-40B4-BE49-F238E27FC236}">
                <a16:creationId xmlns:a16="http://schemas.microsoft.com/office/drawing/2014/main" id="{A137D43F-BAD6-47F1-AA65-AEEA38A2FF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9215" y="4068923"/>
            <a:ext cx="1080904" cy="1080902"/>
            <a:chOff x="9685338" y="4460675"/>
            <a:chExt cx="1080904" cy="1080902"/>
          </a:xfrm>
        </p:grpSpPr>
        <p:sp>
          <p:nvSpPr>
            <p:cNvPr id="14" name="Oval 13">
              <a:extLst>
                <a:ext uri="{FF2B5EF4-FFF2-40B4-BE49-F238E27FC236}">
                  <a16:creationId xmlns:a16="http://schemas.microsoft.com/office/drawing/2014/main" id="{D512C9B2-6B22-4211-A940-FCD7C2CD0B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a:lstStyle/>
            <a:p>
              <a:endParaRPr lang="en-GB"/>
            </a:p>
          </p:txBody>
        </p:sp>
        <p:sp>
          <p:nvSpPr>
            <p:cNvPr id="15" name="Oval 14">
              <a:extLst>
                <a:ext uri="{FF2B5EF4-FFF2-40B4-BE49-F238E27FC236}">
                  <a16:creationId xmlns:a16="http://schemas.microsoft.com/office/drawing/2014/main" id="{85F7DB84-CDE7-46F8-90DD-9D048A7D52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endParaRPr lang="en-GB"/>
            </a:p>
          </p:txBody>
        </p:sp>
      </p:grpSp>
      <p:sp useBgFill="1">
        <p:nvSpPr>
          <p:cNvPr id="17" name="Rectangle 16">
            <a:extLst>
              <a:ext uri="{FF2B5EF4-FFF2-40B4-BE49-F238E27FC236}">
                <a16:creationId xmlns:a16="http://schemas.microsoft.com/office/drawing/2014/main" id="{C3D25154-9EF7-4C33-9AAC-7B3BE089FE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6456E6CD-459F-51B9-5042-6643581EDD67}"/>
              </a:ext>
            </a:extLst>
          </p:cNvPr>
          <p:cNvSpPr>
            <a:spLocks noGrp="1"/>
          </p:cNvSpPr>
          <p:nvPr>
            <p:ph type="title"/>
          </p:nvPr>
        </p:nvSpPr>
        <p:spPr>
          <a:xfrm>
            <a:off x="1051560" y="643468"/>
            <a:ext cx="9966960" cy="3592432"/>
          </a:xfrm>
        </p:spPr>
        <p:txBody>
          <a:bodyPr vert="horz" lIns="91440" tIns="45720" rIns="91440" bIns="45720" rtlCol="0" anchor="ctr">
            <a:normAutofit/>
          </a:bodyPr>
          <a:lstStyle/>
          <a:p>
            <a:pPr>
              <a:lnSpc>
                <a:spcPct val="80000"/>
              </a:lnSpc>
            </a:pPr>
            <a:r>
              <a:rPr lang="en-US" sz="9600" dirty="0">
                <a:blipFill dpi="0" rotWithShape="1">
                  <a:blip r:embed="rId4"/>
                  <a:srcRect/>
                  <a:tile tx="6350" ty="-127000" sx="65000" sy="64000" flip="none" algn="tl"/>
                </a:blipFill>
              </a:rPr>
              <a:t>1. Physiology</a:t>
            </a:r>
          </a:p>
        </p:txBody>
      </p:sp>
      <p:sp>
        <p:nvSpPr>
          <p:cNvPr id="19" name="Rectangle 18">
            <a:extLst>
              <a:ext uri="{FF2B5EF4-FFF2-40B4-BE49-F238E27FC236}">
                <a16:creationId xmlns:a16="http://schemas.microsoft.com/office/drawing/2014/main" id="{1604E8C0-C927-4C06-A96A-BF3323BA76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000"/>
            <a:ext cx="12192000" cy="2295831"/>
          </a:xfrm>
          <a:prstGeom prst="rect">
            <a:avLst/>
          </a:prstGeom>
          <a:blipFill dpi="0" rotWithShape="1">
            <a:blip r:embed="rId2">
              <a:alphaModFix amt="85000"/>
              <a:lum bright="70000" contrast="-70000"/>
              <a:extLs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0">
            <a:extLst>
              <a:ext uri="{FF2B5EF4-FFF2-40B4-BE49-F238E27FC236}">
                <a16:creationId xmlns:a16="http://schemas.microsoft.com/office/drawing/2014/main" id="{9DCECFD5-4C30-4892-9FF0-540E17955A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45590" y="5111496"/>
            <a:ext cx="1080904" cy="1080902"/>
            <a:chOff x="10245590" y="5111496"/>
            <a:chExt cx="1080904" cy="1080902"/>
          </a:xfrm>
        </p:grpSpPr>
        <p:sp>
          <p:nvSpPr>
            <p:cNvPr id="22" name="Oval 21">
              <a:extLst>
                <a:ext uri="{FF2B5EF4-FFF2-40B4-BE49-F238E27FC236}">
                  <a16:creationId xmlns:a16="http://schemas.microsoft.com/office/drawing/2014/main" id="{95C67F70-EAFE-425C-8422-591620A96D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5590" y="5111496"/>
              <a:ext cx="1080904" cy="1080902"/>
            </a:xfrm>
            <a:prstGeom prst="ellipse">
              <a:avLst/>
            </a:prstGeom>
            <a:blipFill dpi="0" rotWithShape="1">
              <a:blip r:embed="rId4">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23" name="Oval 22">
              <a:extLst>
                <a:ext uri="{FF2B5EF4-FFF2-40B4-BE49-F238E27FC236}">
                  <a16:creationId xmlns:a16="http://schemas.microsoft.com/office/drawing/2014/main" id="{D47FA16B-C217-4D91-84EA-5B0846BDDA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53681" y="5219586"/>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30372214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107BC1F-2EA8-4152-E96F-7E1F7F7E653E}"/>
              </a:ext>
            </a:extLst>
          </p:cNvPr>
          <p:cNvGrpSpPr/>
          <p:nvPr/>
        </p:nvGrpSpPr>
        <p:grpSpPr>
          <a:xfrm>
            <a:off x="1524000" y="2667000"/>
            <a:ext cx="9826168" cy="1200329"/>
            <a:chOff x="1524000" y="2667000"/>
            <a:chExt cx="9826168" cy="1200329"/>
          </a:xfrm>
        </p:grpSpPr>
        <p:sp>
          <p:nvSpPr>
            <p:cNvPr id="4" name="TextBox 3"/>
            <p:cNvSpPr txBox="1"/>
            <p:nvPr/>
          </p:nvSpPr>
          <p:spPr>
            <a:xfrm>
              <a:off x="1524000" y="3167390"/>
              <a:ext cx="838200" cy="261610"/>
            </a:xfrm>
            <a:prstGeom prst="rect">
              <a:avLst/>
            </a:prstGeom>
            <a:noFill/>
          </p:spPr>
          <p:txBody>
            <a:bodyPr wrap="square" rtlCol="0">
              <a:spAutoFit/>
            </a:bodyPr>
            <a:lstStyle/>
            <a:p>
              <a:r>
                <a:rPr lang="en-GB" sz="1100" b="1" dirty="0">
                  <a:solidFill>
                    <a:srgbClr val="FF0000"/>
                  </a:solidFill>
                </a:rPr>
                <a:t>Atoms</a:t>
              </a:r>
            </a:p>
          </p:txBody>
        </p:sp>
        <p:sp>
          <p:nvSpPr>
            <p:cNvPr id="6" name="TextBox 5"/>
            <p:cNvSpPr txBox="1"/>
            <p:nvPr/>
          </p:nvSpPr>
          <p:spPr>
            <a:xfrm>
              <a:off x="2209799" y="3121223"/>
              <a:ext cx="1121005" cy="307777"/>
            </a:xfrm>
            <a:prstGeom prst="rect">
              <a:avLst/>
            </a:prstGeom>
            <a:noFill/>
          </p:spPr>
          <p:txBody>
            <a:bodyPr wrap="square" rtlCol="0">
              <a:spAutoFit/>
            </a:bodyPr>
            <a:lstStyle/>
            <a:p>
              <a:r>
                <a:rPr lang="en-GB" sz="1400" b="1" dirty="0">
                  <a:solidFill>
                    <a:srgbClr val="FF0000"/>
                  </a:solidFill>
                </a:rPr>
                <a:t>Molecules</a:t>
              </a:r>
            </a:p>
          </p:txBody>
        </p:sp>
        <p:sp>
          <p:nvSpPr>
            <p:cNvPr id="7" name="TextBox 6"/>
            <p:cNvSpPr txBox="1"/>
            <p:nvPr/>
          </p:nvSpPr>
          <p:spPr>
            <a:xfrm>
              <a:off x="3276599" y="3059669"/>
              <a:ext cx="838199" cy="369332"/>
            </a:xfrm>
            <a:prstGeom prst="rect">
              <a:avLst/>
            </a:prstGeom>
            <a:noFill/>
          </p:spPr>
          <p:txBody>
            <a:bodyPr wrap="square" rtlCol="0">
              <a:spAutoFit/>
            </a:bodyPr>
            <a:lstStyle/>
            <a:p>
              <a:r>
                <a:rPr lang="en-GB" b="1" dirty="0">
                  <a:solidFill>
                    <a:srgbClr val="FF0000"/>
                  </a:solidFill>
                </a:rPr>
                <a:t>Cells</a:t>
              </a:r>
            </a:p>
          </p:txBody>
        </p:sp>
        <p:sp>
          <p:nvSpPr>
            <p:cNvPr id="8" name="TextBox 7"/>
            <p:cNvSpPr txBox="1"/>
            <p:nvPr/>
          </p:nvSpPr>
          <p:spPr>
            <a:xfrm>
              <a:off x="4038600" y="2998114"/>
              <a:ext cx="1371598" cy="430887"/>
            </a:xfrm>
            <a:prstGeom prst="rect">
              <a:avLst/>
            </a:prstGeom>
            <a:noFill/>
          </p:spPr>
          <p:txBody>
            <a:bodyPr wrap="square" rtlCol="0">
              <a:spAutoFit/>
            </a:bodyPr>
            <a:lstStyle/>
            <a:p>
              <a:r>
                <a:rPr lang="en-GB" sz="2200" b="1" dirty="0">
                  <a:solidFill>
                    <a:srgbClr val="FF0000"/>
                  </a:solidFill>
                </a:rPr>
                <a:t>Tissues</a:t>
              </a:r>
            </a:p>
          </p:txBody>
        </p:sp>
        <p:sp>
          <p:nvSpPr>
            <p:cNvPr id="9" name="TextBox 8"/>
            <p:cNvSpPr txBox="1"/>
            <p:nvPr/>
          </p:nvSpPr>
          <p:spPr>
            <a:xfrm>
              <a:off x="5181600" y="2905781"/>
              <a:ext cx="1600204" cy="523220"/>
            </a:xfrm>
            <a:prstGeom prst="rect">
              <a:avLst/>
            </a:prstGeom>
            <a:noFill/>
          </p:spPr>
          <p:txBody>
            <a:bodyPr wrap="square" rtlCol="0">
              <a:spAutoFit/>
            </a:bodyPr>
            <a:lstStyle/>
            <a:p>
              <a:r>
                <a:rPr lang="en-GB" sz="2800" b="1" dirty="0">
                  <a:solidFill>
                    <a:srgbClr val="FF0000"/>
                  </a:solidFill>
                </a:rPr>
                <a:t>Organs</a:t>
              </a:r>
            </a:p>
          </p:txBody>
        </p:sp>
        <p:sp>
          <p:nvSpPr>
            <p:cNvPr id="10" name="TextBox 9"/>
            <p:cNvSpPr txBox="1"/>
            <p:nvPr/>
          </p:nvSpPr>
          <p:spPr>
            <a:xfrm>
              <a:off x="6578598" y="2667000"/>
              <a:ext cx="1868714" cy="1200329"/>
            </a:xfrm>
            <a:prstGeom prst="rect">
              <a:avLst/>
            </a:prstGeom>
            <a:noFill/>
          </p:spPr>
          <p:txBody>
            <a:bodyPr wrap="square" rtlCol="0">
              <a:spAutoFit/>
            </a:bodyPr>
            <a:lstStyle/>
            <a:p>
              <a:r>
                <a:rPr lang="en-GB" sz="3600" b="1" dirty="0">
                  <a:solidFill>
                    <a:srgbClr val="FF0000"/>
                  </a:solidFill>
                </a:rPr>
                <a:t>Organ system</a:t>
              </a:r>
            </a:p>
          </p:txBody>
        </p:sp>
        <p:sp>
          <p:nvSpPr>
            <p:cNvPr id="11" name="TextBox 10"/>
            <p:cNvSpPr txBox="1"/>
            <p:nvPr/>
          </p:nvSpPr>
          <p:spPr>
            <a:xfrm>
              <a:off x="8175168" y="2819400"/>
              <a:ext cx="3175000" cy="769441"/>
            </a:xfrm>
            <a:prstGeom prst="rect">
              <a:avLst/>
            </a:prstGeom>
            <a:noFill/>
          </p:spPr>
          <p:txBody>
            <a:bodyPr wrap="square" rtlCol="0">
              <a:spAutoFit/>
            </a:bodyPr>
            <a:lstStyle/>
            <a:p>
              <a:r>
                <a:rPr lang="en-GB" sz="4400" b="1" dirty="0">
                  <a:solidFill>
                    <a:srgbClr val="FF0000"/>
                  </a:solidFill>
                </a:rPr>
                <a:t>Organism</a:t>
              </a:r>
            </a:p>
          </p:txBody>
        </p:sp>
      </p:grpSp>
    </p:spTree>
    <p:extLst>
      <p:ext uri="{BB962C8B-B14F-4D97-AF65-F5344CB8AC3E}">
        <p14:creationId xmlns:p14="http://schemas.microsoft.com/office/powerpoint/2010/main" val="3558713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4" descr="http://www.medcyclopaedia.com/upload/book%20of%20radiology/chapter14/nic_k14_650.jpg"/>
          <p:cNvPicPr>
            <a:picLocks noChangeAspect="1" noChangeArrowheads="1"/>
          </p:cNvPicPr>
          <p:nvPr/>
        </p:nvPicPr>
        <p:blipFill>
          <a:blip r:embed="rId2" cstate="print"/>
          <a:srcRect/>
          <a:stretch>
            <a:fillRect/>
          </a:stretch>
        </p:blipFill>
        <p:spPr bwMode="auto">
          <a:xfrm>
            <a:off x="1981200" y="2590801"/>
            <a:ext cx="2857500" cy="3619501"/>
          </a:xfrm>
          <a:prstGeom prst="rect">
            <a:avLst/>
          </a:prstGeom>
          <a:noFill/>
        </p:spPr>
      </p:pic>
      <p:sp>
        <p:nvSpPr>
          <p:cNvPr id="10242" name="Rectangle 2"/>
          <p:cNvSpPr>
            <a:spLocks noGrp="1" noChangeArrowheads="1"/>
          </p:cNvSpPr>
          <p:nvPr>
            <p:ph type="title"/>
          </p:nvPr>
        </p:nvSpPr>
        <p:spPr>
          <a:xfrm>
            <a:off x="3854302" y="570236"/>
            <a:ext cx="7737475" cy="474663"/>
          </a:xfrm>
        </p:spPr>
        <p:txBody>
          <a:bodyPr>
            <a:normAutofit fontScale="90000"/>
          </a:bodyPr>
          <a:lstStyle/>
          <a:p>
            <a:r>
              <a:rPr lang="en-GB" sz="3800" b="1" dirty="0">
                <a:solidFill>
                  <a:srgbClr val="FF0000"/>
                </a:solidFill>
              </a:rPr>
              <a:t>Properties of the skin</a:t>
            </a:r>
            <a:br>
              <a:rPr lang="en-GB" sz="3800" b="1" dirty="0">
                <a:solidFill>
                  <a:srgbClr val="FF0000"/>
                </a:solidFill>
              </a:rPr>
            </a:br>
            <a:endParaRPr lang="en-US" sz="3800" b="1" dirty="0">
              <a:solidFill>
                <a:srgbClr val="FF0000"/>
              </a:solidFill>
            </a:endParaRPr>
          </a:p>
        </p:txBody>
      </p:sp>
      <p:sp>
        <p:nvSpPr>
          <p:cNvPr id="10254" name="Text Box 14"/>
          <p:cNvSpPr txBox="1">
            <a:spLocks noChangeArrowheads="1"/>
          </p:cNvSpPr>
          <p:nvPr/>
        </p:nvSpPr>
        <p:spPr bwMode="auto">
          <a:xfrm>
            <a:off x="2158927" y="1268414"/>
            <a:ext cx="2365374" cy="461665"/>
          </a:xfrm>
          <a:prstGeom prst="rect">
            <a:avLst/>
          </a:prstGeom>
          <a:noFill/>
          <a:ln w="9525">
            <a:noFill/>
            <a:miter lim="800000"/>
            <a:headEnd/>
            <a:tailEnd/>
          </a:ln>
          <a:effectLst/>
        </p:spPr>
        <p:txBody>
          <a:bodyPr wrap="square">
            <a:spAutoFit/>
          </a:bodyPr>
          <a:lstStyle/>
          <a:p>
            <a:pPr>
              <a:spcBef>
                <a:spcPct val="50000"/>
              </a:spcBef>
            </a:pPr>
            <a:r>
              <a:rPr lang="en-GB" sz="2400" b="1" dirty="0">
                <a:solidFill>
                  <a:srgbClr val="FF0000"/>
                </a:solidFill>
              </a:rPr>
              <a:t>Waterproofing</a:t>
            </a:r>
            <a:endParaRPr lang="en-US" sz="2400" b="1" dirty="0">
              <a:solidFill>
                <a:srgbClr val="FF0000"/>
              </a:solidFill>
            </a:endParaRPr>
          </a:p>
        </p:txBody>
      </p:sp>
      <p:sp>
        <p:nvSpPr>
          <p:cNvPr id="10255" name="Text Box 15"/>
          <p:cNvSpPr txBox="1">
            <a:spLocks noChangeArrowheads="1"/>
          </p:cNvSpPr>
          <p:nvPr/>
        </p:nvSpPr>
        <p:spPr bwMode="auto">
          <a:xfrm>
            <a:off x="7723040" y="1268414"/>
            <a:ext cx="2182960" cy="830997"/>
          </a:xfrm>
          <a:prstGeom prst="rect">
            <a:avLst/>
          </a:prstGeom>
          <a:noFill/>
          <a:ln w="9525">
            <a:noFill/>
            <a:miter lim="800000"/>
            <a:headEnd/>
            <a:tailEnd/>
          </a:ln>
          <a:effectLst/>
        </p:spPr>
        <p:txBody>
          <a:bodyPr wrap="square">
            <a:spAutoFit/>
          </a:bodyPr>
          <a:lstStyle/>
          <a:p>
            <a:pPr>
              <a:spcBef>
                <a:spcPct val="50000"/>
              </a:spcBef>
            </a:pPr>
            <a:r>
              <a:rPr lang="en-GB" sz="2400" b="1" dirty="0">
                <a:solidFill>
                  <a:srgbClr val="FF0000"/>
                </a:solidFill>
              </a:rPr>
              <a:t>Sun protection</a:t>
            </a:r>
            <a:endParaRPr lang="en-US" sz="2400" b="1" dirty="0">
              <a:solidFill>
                <a:srgbClr val="FF0000"/>
              </a:solidFill>
            </a:endParaRPr>
          </a:p>
        </p:txBody>
      </p:sp>
      <p:sp>
        <p:nvSpPr>
          <p:cNvPr id="10256" name="Text Box 16"/>
          <p:cNvSpPr txBox="1">
            <a:spLocks noChangeArrowheads="1"/>
          </p:cNvSpPr>
          <p:nvPr/>
        </p:nvSpPr>
        <p:spPr bwMode="auto">
          <a:xfrm>
            <a:off x="6949854" y="4581526"/>
            <a:ext cx="2000546" cy="830997"/>
          </a:xfrm>
          <a:prstGeom prst="rect">
            <a:avLst/>
          </a:prstGeom>
          <a:noFill/>
          <a:ln w="9525">
            <a:noFill/>
            <a:miter lim="800000"/>
            <a:headEnd/>
            <a:tailEnd/>
          </a:ln>
          <a:effectLst/>
        </p:spPr>
        <p:txBody>
          <a:bodyPr wrap="square">
            <a:spAutoFit/>
          </a:bodyPr>
          <a:lstStyle/>
          <a:p>
            <a:pPr>
              <a:spcBef>
                <a:spcPct val="50000"/>
              </a:spcBef>
            </a:pPr>
            <a:r>
              <a:rPr lang="en-GB" sz="2400" b="1" dirty="0">
                <a:solidFill>
                  <a:srgbClr val="FF0000"/>
                </a:solidFill>
              </a:rPr>
              <a:t>Temperature control</a:t>
            </a:r>
            <a:endParaRPr lang="en-US" sz="2400" b="1" dirty="0">
              <a:solidFill>
                <a:srgbClr val="FF0000"/>
              </a:solidFill>
            </a:endParaRPr>
          </a:p>
        </p:txBody>
      </p:sp>
      <p:sp>
        <p:nvSpPr>
          <p:cNvPr id="10257" name="Text Box 17"/>
          <p:cNvSpPr txBox="1">
            <a:spLocks noChangeArrowheads="1"/>
          </p:cNvSpPr>
          <p:nvPr/>
        </p:nvSpPr>
        <p:spPr bwMode="auto">
          <a:xfrm>
            <a:off x="8686800" y="3198168"/>
            <a:ext cx="1455308" cy="461665"/>
          </a:xfrm>
          <a:prstGeom prst="rect">
            <a:avLst/>
          </a:prstGeom>
          <a:noFill/>
          <a:ln w="9525">
            <a:noFill/>
            <a:miter lim="800000"/>
            <a:headEnd/>
            <a:tailEnd/>
          </a:ln>
          <a:effectLst/>
        </p:spPr>
        <p:txBody>
          <a:bodyPr wrap="square">
            <a:spAutoFit/>
          </a:bodyPr>
          <a:lstStyle/>
          <a:p>
            <a:pPr>
              <a:spcBef>
                <a:spcPct val="50000"/>
              </a:spcBef>
            </a:pPr>
            <a:r>
              <a:rPr lang="en-GB" sz="2400" b="1" dirty="0">
                <a:solidFill>
                  <a:srgbClr val="FF0000"/>
                </a:solidFill>
              </a:rPr>
              <a:t>Repair</a:t>
            </a:r>
            <a:endParaRPr lang="en-US" sz="2400" b="1" dirty="0">
              <a:solidFill>
                <a:srgbClr val="FF0000"/>
              </a:solidFill>
            </a:endParaRPr>
          </a:p>
        </p:txBody>
      </p:sp>
      <p:sp>
        <p:nvSpPr>
          <p:cNvPr id="10260" name="Text Box 20"/>
          <p:cNvSpPr txBox="1">
            <a:spLocks noChangeArrowheads="1"/>
          </p:cNvSpPr>
          <p:nvPr/>
        </p:nvSpPr>
        <p:spPr bwMode="auto">
          <a:xfrm>
            <a:off x="5257800" y="5715001"/>
            <a:ext cx="2453574" cy="830997"/>
          </a:xfrm>
          <a:prstGeom prst="rect">
            <a:avLst/>
          </a:prstGeom>
          <a:noFill/>
          <a:ln w="9525">
            <a:noFill/>
            <a:miter lim="800000"/>
            <a:headEnd/>
            <a:tailEnd/>
          </a:ln>
          <a:effectLst/>
        </p:spPr>
        <p:txBody>
          <a:bodyPr wrap="square">
            <a:spAutoFit/>
          </a:bodyPr>
          <a:lstStyle/>
          <a:p>
            <a:pPr>
              <a:spcBef>
                <a:spcPct val="50000"/>
              </a:spcBef>
            </a:pPr>
            <a:r>
              <a:rPr lang="en-GB" sz="2400" b="1" dirty="0">
                <a:solidFill>
                  <a:srgbClr val="FF0000"/>
                </a:solidFill>
              </a:rPr>
              <a:t>Immune function</a:t>
            </a:r>
            <a:endParaRPr lang="en-US" sz="2400" b="1" dirty="0">
              <a:solidFill>
                <a:srgbClr val="FF0000"/>
              </a:solidFill>
            </a:endParaRPr>
          </a:p>
        </p:txBody>
      </p:sp>
      <p:sp>
        <p:nvSpPr>
          <p:cNvPr id="10261" name="Text Box 21"/>
          <p:cNvSpPr txBox="1">
            <a:spLocks noChangeArrowheads="1"/>
          </p:cNvSpPr>
          <p:nvPr/>
        </p:nvSpPr>
        <p:spPr bwMode="auto">
          <a:xfrm>
            <a:off x="1905000" y="3429001"/>
            <a:ext cx="3636262" cy="1015663"/>
          </a:xfrm>
          <a:prstGeom prst="rect">
            <a:avLst/>
          </a:prstGeom>
          <a:noFill/>
          <a:ln w="9525">
            <a:noFill/>
            <a:miter lim="800000"/>
            <a:headEnd/>
            <a:tailEnd/>
          </a:ln>
          <a:effectLst/>
        </p:spPr>
        <p:txBody>
          <a:bodyPr wrap="square">
            <a:spAutoFit/>
          </a:bodyPr>
          <a:lstStyle/>
          <a:p>
            <a:pPr>
              <a:spcBef>
                <a:spcPct val="50000"/>
              </a:spcBef>
            </a:pPr>
            <a:r>
              <a:rPr lang="en-GB" sz="2400" b="1" dirty="0">
                <a:solidFill>
                  <a:schemeClr val="bg1"/>
                </a:solidFill>
                <a:effectLst>
                  <a:outerShdw blurRad="38100" dist="38100" dir="2700000" algn="tl">
                    <a:srgbClr val="000000">
                      <a:alpha val="43137"/>
                    </a:srgbClr>
                  </a:outerShdw>
                </a:effectLst>
              </a:rPr>
              <a:t>Manufacture of </a:t>
            </a:r>
          </a:p>
          <a:p>
            <a:pPr>
              <a:spcBef>
                <a:spcPct val="50000"/>
              </a:spcBef>
            </a:pPr>
            <a:r>
              <a:rPr lang="en-GB" sz="2400" b="1" dirty="0">
                <a:solidFill>
                  <a:schemeClr val="bg1"/>
                </a:solidFill>
                <a:effectLst>
                  <a:outerShdw blurRad="38100" dist="38100" dir="2700000" algn="tl">
                    <a:srgbClr val="000000">
                      <a:alpha val="43137"/>
                    </a:srgbClr>
                  </a:outerShdw>
                </a:effectLst>
              </a:rPr>
              <a:t>Vitamin D</a:t>
            </a:r>
            <a:endParaRPr lang="en-US" sz="2400" b="1" dirty="0">
              <a:solidFill>
                <a:schemeClr val="bg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3799972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679" name="Rectangle 28678">
            <a:extLst>
              <a:ext uri="{FF2B5EF4-FFF2-40B4-BE49-F238E27FC236}">
                <a16:creationId xmlns:a16="http://schemas.microsoft.com/office/drawing/2014/main" id="{4196C649-2ED6-4621-B400-B6B6CB9CA4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674" name="Picture 2"/>
          <p:cNvPicPr>
            <a:picLocks noChangeAspect="1" noChangeArrowheads="1"/>
          </p:cNvPicPr>
          <p:nvPr/>
        </p:nvPicPr>
        <p:blipFill>
          <a:blip r:embed="rId2" cstate="print"/>
          <a:stretch>
            <a:fillRect/>
          </a:stretch>
        </p:blipFill>
        <p:spPr bwMode="auto">
          <a:xfrm>
            <a:off x="3530600" y="883263"/>
            <a:ext cx="5130799" cy="5091473"/>
          </a:xfrm>
          <a:prstGeom prst="rect">
            <a:avLst/>
          </a:prstGeom>
          <a:noFill/>
        </p:spPr>
      </p:pic>
      <p:grpSp>
        <p:nvGrpSpPr>
          <p:cNvPr id="28681" name="Group 28680">
            <a:extLst>
              <a:ext uri="{FF2B5EF4-FFF2-40B4-BE49-F238E27FC236}">
                <a16:creationId xmlns:a16="http://schemas.microsoft.com/office/drawing/2014/main" id="{BDBD8829-D991-463E-96C4-458023ACFB9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28682" name="Oval 28681">
              <a:extLst>
                <a:ext uri="{FF2B5EF4-FFF2-40B4-BE49-F238E27FC236}">
                  <a16:creationId xmlns:a16="http://schemas.microsoft.com/office/drawing/2014/main" id="{64A007E3-EBC1-4940-BD36-66D3F4CCA9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3">
                <a:duotone>
                  <a:schemeClr val="accent1">
                    <a:shade val="45000"/>
                    <a:satMod val="135000"/>
                  </a:schemeClr>
                  <a:prstClr val="white"/>
                </a:duotone>
                <a:extLst>
                  <a:ext uri="{BEBA8EAE-BF5A-486C-A8C5-ECC9F3942E4B}">
                    <a14:imgProps xmlns:a14="http://schemas.microsoft.com/office/drawing/2010/main">
                      <a14:imgLayer r:embed="rId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GB"/>
            </a:p>
          </p:txBody>
        </p:sp>
        <p:sp>
          <p:nvSpPr>
            <p:cNvPr id="28683" name="Oval 28682">
              <a:extLst>
                <a:ext uri="{FF2B5EF4-FFF2-40B4-BE49-F238E27FC236}">
                  <a16:creationId xmlns:a16="http://schemas.microsoft.com/office/drawing/2014/main" id="{30F8ADAE-2107-4578-9F40-E6451BE834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GB"/>
            </a:p>
          </p:txBody>
        </p:sp>
      </p:grpSp>
    </p:spTree>
    <p:extLst>
      <p:ext uri="{BB962C8B-B14F-4D97-AF65-F5344CB8AC3E}">
        <p14:creationId xmlns:p14="http://schemas.microsoft.com/office/powerpoint/2010/main" val="3244026844"/>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A3D0CE2-91FF-49B3-A5D8-181E900D75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9" name="Rectangle 8">
            <a:extLst>
              <a:ext uri="{FF2B5EF4-FFF2-40B4-BE49-F238E27FC236}">
                <a16:creationId xmlns:a16="http://schemas.microsoft.com/office/drawing/2014/main" id="{58AEBD96-C315-4F53-9D9E-0E20E993E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1" name="Rectangle 10">
            <a:extLst>
              <a:ext uri="{FF2B5EF4-FFF2-40B4-BE49-F238E27FC236}">
                <a16:creationId xmlns:a16="http://schemas.microsoft.com/office/drawing/2014/main" id="{78916AAA-66F6-4DFA-88ED-7E27CF6B8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grpSp>
        <p:nvGrpSpPr>
          <p:cNvPr id="13" name="Group 12">
            <a:extLst>
              <a:ext uri="{FF2B5EF4-FFF2-40B4-BE49-F238E27FC236}">
                <a16:creationId xmlns:a16="http://schemas.microsoft.com/office/drawing/2014/main" id="{A137D43F-BAD6-47F1-AA65-AEEA38A2FF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9215" y="4068923"/>
            <a:ext cx="1080904" cy="1080902"/>
            <a:chOff x="9685338" y="4460675"/>
            <a:chExt cx="1080904" cy="1080902"/>
          </a:xfrm>
        </p:grpSpPr>
        <p:sp>
          <p:nvSpPr>
            <p:cNvPr id="14" name="Oval 13">
              <a:extLst>
                <a:ext uri="{FF2B5EF4-FFF2-40B4-BE49-F238E27FC236}">
                  <a16:creationId xmlns:a16="http://schemas.microsoft.com/office/drawing/2014/main" id="{D512C9B2-6B22-4211-A940-FCD7C2CD0B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a:lstStyle/>
            <a:p>
              <a:endParaRPr lang="en-GB"/>
            </a:p>
          </p:txBody>
        </p:sp>
        <p:sp>
          <p:nvSpPr>
            <p:cNvPr id="15" name="Oval 14">
              <a:extLst>
                <a:ext uri="{FF2B5EF4-FFF2-40B4-BE49-F238E27FC236}">
                  <a16:creationId xmlns:a16="http://schemas.microsoft.com/office/drawing/2014/main" id="{85F7DB84-CDE7-46F8-90DD-9D048A7D52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endParaRPr lang="en-GB"/>
            </a:p>
          </p:txBody>
        </p:sp>
      </p:grpSp>
      <p:sp useBgFill="1">
        <p:nvSpPr>
          <p:cNvPr id="17" name="Rectangle 16">
            <a:extLst>
              <a:ext uri="{FF2B5EF4-FFF2-40B4-BE49-F238E27FC236}">
                <a16:creationId xmlns:a16="http://schemas.microsoft.com/office/drawing/2014/main" id="{C3D25154-9EF7-4C33-9AAC-7B3BE089FE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6456E6CD-459F-51B9-5042-6643581EDD67}"/>
              </a:ext>
            </a:extLst>
          </p:cNvPr>
          <p:cNvSpPr>
            <a:spLocks noGrp="1"/>
          </p:cNvSpPr>
          <p:nvPr>
            <p:ph type="title"/>
          </p:nvPr>
        </p:nvSpPr>
        <p:spPr>
          <a:xfrm>
            <a:off x="1051560" y="643468"/>
            <a:ext cx="9966960" cy="3592432"/>
          </a:xfrm>
        </p:spPr>
        <p:txBody>
          <a:bodyPr vert="horz" lIns="91440" tIns="45720" rIns="91440" bIns="45720" rtlCol="0" anchor="ctr">
            <a:normAutofit/>
          </a:bodyPr>
          <a:lstStyle/>
          <a:p>
            <a:pPr>
              <a:lnSpc>
                <a:spcPct val="80000"/>
              </a:lnSpc>
            </a:pPr>
            <a:r>
              <a:rPr lang="en-US" sz="9600">
                <a:blipFill dpi="0" rotWithShape="1">
                  <a:blip r:embed="rId4"/>
                  <a:srcRect/>
                  <a:tile tx="6350" ty="-127000" sx="65000" sy="64000" flip="none" algn="tl"/>
                </a:blipFill>
              </a:rPr>
              <a:t>Cells</a:t>
            </a:r>
          </a:p>
        </p:txBody>
      </p:sp>
      <p:sp>
        <p:nvSpPr>
          <p:cNvPr id="19" name="Rectangle 18">
            <a:extLst>
              <a:ext uri="{FF2B5EF4-FFF2-40B4-BE49-F238E27FC236}">
                <a16:creationId xmlns:a16="http://schemas.microsoft.com/office/drawing/2014/main" id="{1604E8C0-C927-4C06-A96A-BF3323BA76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000"/>
            <a:ext cx="12192000" cy="2295831"/>
          </a:xfrm>
          <a:prstGeom prst="rect">
            <a:avLst/>
          </a:prstGeom>
          <a:blipFill dpi="0" rotWithShape="1">
            <a:blip r:embed="rId2">
              <a:alphaModFix amt="85000"/>
              <a:lum bright="70000" contrast="-70000"/>
              <a:extLs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0">
            <a:extLst>
              <a:ext uri="{FF2B5EF4-FFF2-40B4-BE49-F238E27FC236}">
                <a16:creationId xmlns:a16="http://schemas.microsoft.com/office/drawing/2014/main" id="{9DCECFD5-4C30-4892-9FF0-540E17955A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45590" y="5111496"/>
            <a:ext cx="1080904" cy="1080902"/>
            <a:chOff x="10245590" y="5111496"/>
            <a:chExt cx="1080904" cy="1080902"/>
          </a:xfrm>
        </p:grpSpPr>
        <p:sp>
          <p:nvSpPr>
            <p:cNvPr id="22" name="Oval 21">
              <a:extLst>
                <a:ext uri="{FF2B5EF4-FFF2-40B4-BE49-F238E27FC236}">
                  <a16:creationId xmlns:a16="http://schemas.microsoft.com/office/drawing/2014/main" id="{95C67F70-EAFE-425C-8422-591620A96D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5590" y="5111496"/>
              <a:ext cx="1080904" cy="1080902"/>
            </a:xfrm>
            <a:prstGeom prst="ellipse">
              <a:avLst/>
            </a:prstGeom>
            <a:blipFill dpi="0" rotWithShape="1">
              <a:blip r:embed="rId4">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23" name="Oval 22">
              <a:extLst>
                <a:ext uri="{FF2B5EF4-FFF2-40B4-BE49-F238E27FC236}">
                  <a16:creationId xmlns:a16="http://schemas.microsoft.com/office/drawing/2014/main" id="{D47FA16B-C217-4D91-84EA-5B0846BDDA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53681" y="5219586"/>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1382115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74800" y="1143000"/>
            <a:ext cx="9042400" cy="5262979"/>
          </a:xfrm>
          <a:prstGeom prst="rect">
            <a:avLst/>
          </a:prstGeom>
        </p:spPr>
        <p:txBody>
          <a:bodyPr wrap="square">
            <a:spAutoFit/>
          </a:bodyPr>
          <a:lstStyle/>
          <a:p>
            <a:pPr>
              <a:lnSpc>
                <a:spcPct val="150000"/>
              </a:lnSpc>
            </a:pPr>
            <a:r>
              <a:rPr lang="en-GB" sz="3200" b="1" dirty="0">
                <a:solidFill>
                  <a:srgbClr val="0070C0"/>
                </a:solidFill>
              </a:rPr>
              <a:t>Essential functions</a:t>
            </a:r>
          </a:p>
          <a:p>
            <a:pPr>
              <a:lnSpc>
                <a:spcPct val="150000"/>
              </a:lnSpc>
            </a:pPr>
            <a:endParaRPr lang="en-GB" sz="3200" b="1" dirty="0">
              <a:solidFill>
                <a:srgbClr val="0070C0"/>
              </a:solidFill>
            </a:endParaRPr>
          </a:p>
          <a:p>
            <a:pPr>
              <a:lnSpc>
                <a:spcPct val="150000"/>
              </a:lnSpc>
              <a:buFont typeface="Arial" pitchFamily="34" charset="0"/>
              <a:buChar char="•"/>
            </a:pPr>
            <a:r>
              <a:rPr lang="en-GB" sz="3200" dirty="0">
                <a:solidFill>
                  <a:srgbClr val="0070C0"/>
                </a:solidFill>
              </a:rPr>
              <a:t>Provides Support and Structure</a:t>
            </a:r>
          </a:p>
          <a:p>
            <a:pPr>
              <a:lnSpc>
                <a:spcPct val="150000"/>
              </a:lnSpc>
              <a:buFont typeface="Arial" pitchFamily="34" charset="0"/>
              <a:buChar char="•"/>
            </a:pPr>
            <a:r>
              <a:rPr lang="en-GB" sz="3200" dirty="0">
                <a:solidFill>
                  <a:srgbClr val="0070C0"/>
                </a:solidFill>
              </a:rPr>
              <a:t>Facilitate Growth Mitosis</a:t>
            </a:r>
          </a:p>
          <a:p>
            <a:pPr>
              <a:lnSpc>
                <a:spcPct val="150000"/>
              </a:lnSpc>
              <a:buFont typeface="Arial" pitchFamily="34" charset="0"/>
              <a:buChar char="•"/>
            </a:pPr>
            <a:r>
              <a:rPr lang="en-GB" sz="3200" dirty="0">
                <a:solidFill>
                  <a:srgbClr val="0070C0"/>
                </a:solidFill>
              </a:rPr>
              <a:t>Allows Transport of Substances</a:t>
            </a:r>
          </a:p>
          <a:p>
            <a:pPr>
              <a:lnSpc>
                <a:spcPct val="150000"/>
              </a:lnSpc>
              <a:buFont typeface="Arial" pitchFamily="34" charset="0"/>
              <a:buChar char="•"/>
            </a:pPr>
            <a:r>
              <a:rPr lang="en-GB" sz="3200" dirty="0">
                <a:solidFill>
                  <a:srgbClr val="0070C0"/>
                </a:solidFill>
              </a:rPr>
              <a:t>Energy Production</a:t>
            </a:r>
          </a:p>
          <a:p>
            <a:pPr>
              <a:lnSpc>
                <a:spcPct val="150000"/>
              </a:lnSpc>
              <a:buFont typeface="Arial" pitchFamily="34" charset="0"/>
              <a:buChar char="•"/>
            </a:pPr>
            <a:r>
              <a:rPr lang="en-GB" sz="3200" dirty="0">
                <a:solidFill>
                  <a:srgbClr val="0070C0"/>
                </a:solidFill>
              </a:rPr>
              <a:t>Aids in Reproduction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2" name="Picture 2" descr="Cellular differentiation - Wikipedia"/>
          <p:cNvPicPr>
            <a:picLocks noChangeAspect="1" noChangeArrowheads="1"/>
          </p:cNvPicPr>
          <p:nvPr/>
        </p:nvPicPr>
        <p:blipFill>
          <a:blip r:embed="rId2" cstate="print"/>
          <a:srcRect/>
          <a:stretch>
            <a:fillRect/>
          </a:stretch>
        </p:blipFill>
        <p:spPr bwMode="auto">
          <a:xfrm>
            <a:off x="381000" y="-14954"/>
            <a:ext cx="9737361" cy="6872954"/>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stretch>
            <a:fillRect/>
          </a:stretch>
        </p:blipFill>
        <p:spPr>
          <a:xfrm>
            <a:off x="3570991" y="1848"/>
            <a:ext cx="6895555" cy="6856152"/>
          </a:xfrm>
          <a:prstGeom prst="rect">
            <a:avLst/>
          </a:prstGeom>
        </p:spPr>
      </p:pic>
      <p:sp>
        <p:nvSpPr>
          <p:cNvPr id="3" name="TextBox 2"/>
          <p:cNvSpPr txBox="1"/>
          <p:nvPr/>
        </p:nvSpPr>
        <p:spPr>
          <a:xfrm>
            <a:off x="359764" y="554636"/>
            <a:ext cx="2848131" cy="1938992"/>
          </a:xfrm>
          <a:prstGeom prst="rect">
            <a:avLst/>
          </a:prstGeom>
          <a:noFill/>
        </p:spPr>
        <p:txBody>
          <a:bodyPr wrap="square" rtlCol="0">
            <a:spAutoFit/>
          </a:bodyPr>
          <a:lstStyle/>
          <a:p>
            <a:r>
              <a:rPr lang="en-GB" sz="2400" b="1" dirty="0">
                <a:solidFill>
                  <a:srgbClr val="0070C0"/>
                </a:solidFill>
              </a:rPr>
              <a:t>Cell overview: </a:t>
            </a:r>
            <a:r>
              <a:rPr lang="en-GB" sz="2400" dirty="0">
                <a:solidFill>
                  <a:srgbClr val="0070C0"/>
                </a:solidFill>
              </a:rPr>
              <a:t>See following to view the components shown here.</a:t>
            </a:r>
          </a:p>
        </p:txBody>
      </p:sp>
    </p:spTree>
    <p:extLst>
      <p:ext uri="{BB962C8B-B14F-4D97-AF65-F5344CB8AC3E}">
        <p14:creationId xmlns:p14="http://schemas.microsoft.com/office/powerpoint/2010/main" val="2759092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dirty="0"/>
              <a:t>Plasma Membrane</a:t>
            </a:r>
          </a:p>
        </p:txBody>
      </p:sp>
      <p:pic>
        <p:nvPicPr>
          <p:cNvPr id="5" name="Picture 4"/>
          <p:cNvPicPr>
            <a:picLocks noChangeAspect="1"/>
          </p:cNvPicPr>
          <p:nvPr/>
        </p:nvPicPr>
        <p:blipFill>
          <a:blip r:embed="rId3" cstate="print"/>
          <a:stretch>
            <a:fillRect/>
          </a:stretch>
        </p:blipFill>
        <p:spPr>
          <a:xfrm>
            <a:off x="5071392" y="2093976"/>
            <a:ext cx="6423924" cy="2814365"/>
          </a:xfrm>
          <a:prstGeom prst="rect">
            <a:avLst/>
          </a:prstGeom>
        </p:spPr>
      </p:pic>
      <p:sp>
        <p:nvSpPr>
          <p:cNvPr id="2" name="TextBox 1"/>
          <p:cNvSpPr txBox="1"/>
          <p:nvPr/>
        </p:nvSpPr>
        <p:spPr>
          <a:xfrm>
            <a:off x="609600" y="2725782"/>
            <a:ext cx="3866606" cy="1200329"/>
          </a:xfrm>
          <a:prstGeom prst="rect">
            <a:avLst/>
          </a:prstGeom>
          <a:noFill/>
        </p:spPr>
        <p:txBody>
          <a:bodyPr wrap="square" rtlCol="0">
            <a:spAutoFit/>
          </a:bodyPr>
          <a:lstStyle/>
          <a:p>
            <a:pPr marL="285750" indent="-285750">
              <a:buFont typeface="Wingdings" panose="05000000000000000000" pitchFamily="2" charset="2"/>
              <a:buChar char="Ø"/>
            </a:pPr>
            <a:r>
              <a:rPr lang="en-GB" dirty="0"/>
              <a:t>The outer boundary of the cells</a:t>
            </a:r>
          </a:p>
          <a:p>
            <a:pPr marL="285750" indent="-285750">
              <a:buFont typeface="Wingdings" panose="05000000000000000000" pitchFamily="2" charset="2"/>
              <a:buChar char="Ø"/>
            </a:pPr>
            <a:endParaRPr lang="en-GB" dirty="0"/>
          </a:p>
          <a:p>
            <a:pPr marL="285750" indent="-285750">
              <a:buFont typeface="Wingdings" panose="05000000000000000000" pitchFamily="2" charset="2"/>
              <a:buChar char="Ø"/>
            </a:pPr>
            <a:r>
              <a:rPr lang="en-GB" dirty="0"/>
              <a:t>Controls the entry and exit of substances</a:t>
            </a:r>
          </a:p>
        </p:txBody>
      </p:sp>
      <p:sp>
        <p:nvSpPr>
          <p:cNvPr id="6" name="Rectangle 5"/>
          <p:cNvSpPr/>
          <p:nvPr/>
        </p:nvSpPr>
        <p:spPr>
          <a:xfrm>
            <a:off x="726831" y="5555790"/>
            <a:ext cx="6096000" cy="646331"/>
          </a:xfrm>
          <a:prstGeom prst="rect">
            <a:avLst/>
          </a:prstGeom>
        </p:spPr>
        <p:txBody>
          <a:bodyPr>
            <a:spAutoFit/>
          </a:bodyPr>
          <a:lstStyle/>
          <a:p>
            <a:r>
              <a:rPr lang="en-GB" dirty="0"/>
              <a:t>Head: hydrophilic – electrically charged</a:t>
            </a:r>
          </a:p>
          <a:p>
            <a:r>
              <a:rPr lang="en-GB" dirty="0"/>
              <a:t>Tail: hydrophobic</a:t>
            </a:r>
          </a:p>
        </p:txBody>
      </p:sp>
    </p:spTree>
    <p:extLst>
      <p:ext uri="{BB962C8B-B14F-4D97-AF65-F5344CB8AC3E}">
        <p14:creationId xmlns:p14="http://schemas.microsoft.com/office/powerpoint/2010/main" val="42106449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Nucleus</a:t>
            </a:r>
          </a:p>
        </p:txBody>
      </p:sp>
      <p:sp>
        <p:nvSpPr>
          <p:cNvPr id="3" name="TextBox 2"/>
          <p:cNvSpPr txBox="1"/>
          <p:nvPr/>
        </p:nvSpPr>
        <p:spPr>
          <a:xfrm>
            <a:off x="1069848" y="2743200"/>
            <a:ext cx="3979817" cy="1477328"/>
          </a:xfrm>
          <a:prstGeom prst="rect">
            <a:avLst/>
          </a:prstGeom>
          <a:noFill/>
        </p:spPr>
        <p:txBody>
          <a:bodyPr wrap="square" rtlCol="0">
            <a:spAutoFit/>
          </a:bodyPr>
          <a:lstStyle/>
          <a:p>
            <a:pPr marL="285750" indent="-285750">
              <a:buFont typeface="Wingdings" panose="05000000000000000000" pitchFamily="2" charset="2"/>
              <a:buChar char="Ø"/>
            </a:pPr>
            <a:r>
              <a:rPr lang="en-GB" dirty="0"/>
              <a:t>Is the control centre of the cells</a:t>
            </a:r>
          </a:p>
          <a:p>
            <a:pPr marL="285750" indent="-285750">
              <a:buFont typeface="Wingdings" panose="05000000000000000000" pitchFamily="2" charset="2"/>
              <a:buChar char="Ø"/>
            </a:pPr>
            <a:endParaRPr lang="en-GB" dirty="0"/>
          </a:p>
          <a:p>
            <a:pPr marL="285750" indent="-285750">
              <a:buFont typeface="Wingdings" panose="05000000000000000000" pitchFamily="2" charset="2"/>
              <a:buChar char="Ø"/>
            </a:pPr>
            <a:r>
              <a:rPr lang="en-GB" dirty="0"/>
              <a:t>DNA regulates the protein synthesis          chemical reactions of the cell</a:t>
            </a:r>
          </a:p>
        </p:txBody>
      </p:sp>
      <p:cxnSp>
        <p:nvCxnSpPr>
          <p:cNvPr id="6" name="Straight Arrow Connector 5"/>
          <p:cNvCxnSpPr/>
          <p:nvPr/>
        </p:nvCxnSpPr>
        <p:spPr>
          <a:xfrm>
            <a:off x="2525486" y="3753394"/>
            <a:ext cx="3744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274820" y="5650574"/>
            <a:ext cx="6096000" cy="1200329"/>
          </a:xfrm>
          <a:prstGeom prst="rect">
            <a:avLst/>
          </a:prstGeom>
        </p:spPr>
        <p:txBody>
          <a:bodyPr>
            <a:spAutoFit/>
          </a:bodyPr>
          <a:lstStyle/>
          <a:p>
            <a:r>
              <a:rPr lang="en-GB" dirty="0"/>
              <a:t>Every cell has a nucleus – apart from mature Erythrocytes (red blood cells)</a:t>
            </a:r>
          </a:p>
          <a:p>
            <a:endParaRPr lang="en-GB" dirty="0"/>
          </a:p>
          <a:p>
            <a:r>
              <a:rPr lang="en-GB" dirty="0"/>
              <a:t>Skeletal muscles = several nuclei</a:t>
            </a:r>
          </a:p>
        </p:txBody>
      </p:sp>
      <p:grpSp>
        <p:nvGrpSpPr>
          <p:cNvPr id="9" name="Group 8"/>
          <p:cNvGrpSpPr/>
          <p:nvPr/>
        </p:nvGrpSpPr>
        <p:grpSpPr>
          <a:xfrm>
            <a:off x="5036696" y="1120030"/>
            <a:ext cx="6233804" cy="4618919"/>
            <a:chOff x="5036696" y="1120030"/>
            <a:chExt cx="6233804" cy="4618919"/>
          </a:xfrm>
        </p:grpSpPr>
        <p:pic>
          <p:nvPicPr>
            <p:cNvPr id="4" name="Picture 3"/>
            <p:cNvPicPr>
              <a:picLocks noChangeAspect="1"/>
            </p:cNvPicPr>
            <p:nvPr/>
          </p:nvPicPr>
          <p:blipFill>
            <a:blip r:embed="rId3" cstate="print"/>
            <a:stretch>
              <a:fillRect/>
            </a:stretch>
          </p:blipFill>
          <p:spPr>
            <a:xfrm>
              <a:off x="5036696" y="1120030"/>
              <a:ext cx="6233804" cy="4618919"/>
            </a:xfrm>
            <a:prstGeom prst="rect">
              <a:avLst/>
            </a:prstGeom>
          </p:spPr>
        </p:pic>
        <p:sp>
          <p:nvSpPr>
            <p:cNvPr id="8" name="Rectangle 7"/>
            <p:cNvSpPr/>
            <p:nvPr/>
          </p:nvSpPr>
          <p:spPr>
            <a:xfrm>
              <a:off x="5441430" y="5066675"/>
              <a:ext cx="1184222" cy="6295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38639425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Cytoplasm </a:t>
            </a:r>
          </a:p>
        </p:txBody>
      </p:sp>
      <p:pic>
        <p:nvPicPr>
          <p:cNvPr id="3" name="Picture 2"/>
          <p:cNvPicPr>
            <a:picLocks noChangeAspect="1"/>
          </p:cNvPicPr>
          <p:nvPr/>
        </p:nvPicPr>
        <p:blipFill>
          <a:blip r:embed="rId3" cstate="print"/>
          <a:stretch>
            <a:fillRect/>
          </a:stretch>
        </p:blipFill>
        <p:spPr>
          <a:xfrm>
            <a:off x="5756304" y="1289304"/>
            <a:ext cx="5531395" cy="4850674"/>
          </a:xfrm>
          <a:prstGeom prst="rect">
            <a:avLst/>
          </a:prstGeom>
        </p:spPr>
      </p:pic>
      <p:sp>
        <p:nvSpPr>
          <p:cNvPr id="4" name="TextBox 3"/>
          <p:cNvSpPr txBox="1"/>
          <p:nvPr/>
        </p:nvSpPr>
        <p:spPr>
          <a:xfrm>
            <a:off x="1069848" y="2816787"/>
            <a:ext cx="4190129" cy="1477328"/>
          </a:xfrm>
          <a:prstGeom prst="rect">
            <a:avLst/>
          </a:prstGeom>
          <a:noFill/>
        </p:spPr>
        <p:txBody>
          <a:bodyPr wrap="square" rtlCol="0">
            <a:spAutoFit/>
          </a:bodyPr>
          <a:lstStyle/>
          <a:p>
            <a:pPr marL="285750" indent="-285750">
              <a:buFont typeface="Wingdings" panose="05000000000000000000" pitchFamily="2" charset="2"/>
              <a:buChar char="Ø"/>
            </a:pPr>
            <a:r>
              <a:rPr lang="en-GB" dirty="0"/>
              <a:t>Located between the plasma membrane and nucleus</a:t>
            </a:r>
          </a:p>
          <a:p>
            <a:pPr marL="285750" indent="-285750">
              <a:buFont typeface="Wingdings" panose="05000000000000000000" pitchFamily="2" charset="2"/>
              <a:buChar char="Ø"/>
            </a:pPr>
            <a:endParaRPr lang="en-GB" dirty="0"/>
          </a:p>
          <a:p>
            <a:pPr marL="285750" indent="-285750">
              <a:buFont typeface="Wingdings" panose="05000000000000000000" pitchFamily="2" charset="2"/>
              <a:buChar char="Ø"/>
            </a:pPr>
            <a:r>
              <a:rPr lang="en-GB" dirty="0"/>
              <a:t>Contains the specialised structures called organelles </a:t>
            </a:r>
          </a:p>
        </p:txBody>
      </p:sp>
      <p:sp>
        <p:nvSpPr>
          <p:cNvPr id="5" name="Rectangle 4"/>
          <p:cNvSpPr/>
          <p:nvPr/>
        </p:nvSpPr>
        <p:spPr>
          <a:xfrm>
            <a:off x="0" y="5953966"/>
            <a:ext cx="6096000" cy="923330"/>
          </a:xfrm>
          <a:prstGeom prst="rect">
            <a:avLst/>
          </a:prstGeom>
        </p:spPr>
        <p:txBody>
          <a:bodyPr>
            <a:spAutoFit/>
          </a:bodyPr>
          <a:lstStyle/>
          <a:p>
            <a:r>
              <a:rPr lang="en-GB" dirty="0"/>
              <a:t>Cytoplasm is a jelly like fluid that contains mostly water and salt. Many of the cellular processes occur in the cytoplasm. </a:t>
            </a:r>
          </a:p>
        </p:txBody>
      </p:sp>
    </p:spTree>
    <p:extLst>
      <p:ext uri="{BB962C8B-B14F-4D97-AF65-F5344CB8AC3E}">
        <p14:creationId xmlns:p14="http://schemas.microsoft.com/office/powerpoint/2010/main" val="3482366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Cytoplasmic</a:t>
            </a:r>
            <a:r>
              <a:rPr lang="en-GB" dirty="0"/>
              <a:t> organelles</a:t>
            </a:r>
          </a:p>
        </p:txBody>
      </p:sp>
      <p:sp>
        <p:nvSpPr>
          <p:cNvPr id="7" name="TextBox 6"/>
          <p:cNvSpPr txBox="1"/>
          <p:nvPr/>
        </p:nvSpPr>
        <p:spPr>
          <a:xfrm>
            <a:off x="269823" y="2713220"/>
            <a:ext cx="11257249" cy="523220"/>
          </a:xfrm>
          <a:prstGeom prst="rect">
            <a:avLst/>
          </a:prstGeom>
          <a:noFill/>
        </p:spPr>
        <p:txBody>
          <a:bodyPr wrap="none" rtlCol="0">
            <a:spAutoFit/>
          </a:bodyPr>
          <a:lstStyle/>
          <a:p>
            <a:r>
              <a:rPr lang="en-GB" sz="2800" dirty="0">
                <a:latin typeface="Arial" pitchFamily="34" charset="0"/>
                <a:cs typeface="Arial" pitchFamily="34" charset="0"/>
              </a:rPr>
              <a:t>All components other than the </a:t>
            </a:r>
            <a:r>
              <a:rPr lang="en-GB" sz="2800" i="1" dirty="0">
                <a:latin typeface="Arial" pitchFamily="34" charset="0"/>
                <a:cs typeface="Arial" pitchFamily="34" charset="0"/>
              </a:rPr>
              <a:t>Nucleus</a:t>
            </a:r>
            <a:r>
              <a:rPr lang="en-GB" sz="2800" dirty="0">
                <a:latin typeface="Arial" pitchFamily="34" charset="0"/>
                <a:cs typeface="Arial" pitchFamily="34" charset="0"/>
              </a:rPr>
              <a:t> are referred to as organelles</a:t>
            </a:r>
          </a:p>
        </p:txBody>
      </p:sp>
    </p:spTree>
    <p:extLst>
      <p:ext uri="{BB962C8B-B14F-4D97-AF65-F5344CB8AC3E}">
        <p14:creationId xmlns:p14="http://schemas.microsoft.com/office/powerpoint/2010/main" val="7951815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cstate="print"/>
          <a:stretch>
            <a:fillRect/>
          </a:stretch>
        </p:blipFill>
        <p:spPr>
          <a:xfrm>
            <a:off x="3451642" y="1166947"/>
            <a:ext cx="4873752" cy="5446417"/>
          </a:xfrm>
          <a:prstGeom prst="rect">
            <a:avLst/>
          </a:prstGeom>
        </p:spPr>
      </p:pic>
      <p:sp>
        <p:nvSpPr>
          <p:cNvPr id="2" name="Title 1"/>
          <p:cNvSpPr>
            <a:spLocks noGrp="1"/>
          </p:cNvSpPr>
          <p:nvPr>
            <p:ph type="title"/>
          </p:nvPr>
        </p:nvSpPr>
        <p:spPr/>
        <p:txBody>
          <a:bodyPr/>
          <a:lstStyle/>
          <a:p>
            <a:r>
              <a:rPr lang="en-GB" dirty="0"/>
              <a:t>Mitochondria</a:t>
            </a:r>
          </a:p>
        </p:txBody>
      </p:sp>
      <p:sp>
        <p:nvSpPr>
          <p:cNvPr id="4" name="Rectangle 3"/>
          <p:cNvSpPr/>
          <p:nvPr/>
        </p:nvSpPr>
        <p:spPr>
          <a:xfrm>
            <a:off x="0" y="5934670"/>
            <a:ext cx="4751882" cy="923330"/>
          </a:xfrm>
          <a:prstGeom prst="rect">
            <a:avLst/>
          </a:prstGeom>
        </p:spPr>
        <p:txBody>
          <a:bodyPr wrap="square">
            <a:spAutoFit/>
          </a:bodyPr>
          <a:lstStyle/>
          <a:p>
            <a:pPr lvl="0">
              <a:defRPr/>
            </a:pPr>
            <a:r>
              <a:rPr lang="en-GB" dirty="0"/>
              <a:t>Spherical and has a threadlike structure. Major sites of ATP synthesis involving oxygen. </a:t>
            </a:r>
          </a:p>
        </p:txBody>
      </p:sp>
    </p:spTree>
    <p:extLst>
      <p:ext uri="{BB962C8B-B14F-4D97-AF65-F5344CB8AC3E}">
        <p14:creationId xmlns:p14="http://schemas.microsoft.com/office/powerpoint/2010/main" val="3103978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Cell division</a:t>
            </a:r>
          </a:p>
        </p:txBody>
      </p:sp>
      <p:sp>
        <p:nvSpPr>
          <p:cNvPr id="4" name="Text Placeholder 3"/>
          <p:cNvSpPr>
            <a:spLocks noGrp="1"/>
          </p:cNvSpPr>
          <p:nvPr>
            <p:ph type="body" idx="1"/>
          </p:nvPr>
        </p:nvSpPr>
        <p:spPr/>
        <p:txBody>
          <a:bodyPr/>
          <a:lstStyle/>
          <a:p>
            <a:r>
              <a:rPr lang="en-GB" dirty="0"/>
              <a:t>MITOSIS</a:t>
            </a:r>
          </a:p>
        </p:txBody>
      </p:sp>
      <p:sp>
        <p:nvSpPr>
          <p:cNvPr id="3" name="Content Placeholder 2"/>
          <p:cNvSpPr>
            <a:spLocks noGrp="1"/>
          </p:cNvSpPr>
          <p:nvPr>
            <p:ph sz="half" idx="2"/>
          </p:nvPr>
        </p:nvSpPr>
        <p:spPr/>
        <p:txBody>
          <a:bodyPr/>
          <a:lstStyle/>
          <a:p>
            <a:pPr algn="ctr"/>
            <a:endParaRPr lang="en-GB" dirty="0"/>
          </a:p>
          <a:p>
            <a:pPr algn="ctr"/>
            <a:r>
              <a:rPr lang="en-GB" dirty="0"/>
              <a:t>Starts with zygote</a:t>
            </a:r>
          </a:p>
          <a:p>
            <a:pPr algn="ctr"/>
            <a:r>
              <a:rPr lang="en-GB" dirty="0"/>
              <a:t>Ongoing process</a:t>
            </a:r>
          </a:p>
          <a:p>
            <a:pPr algn="ctr"/>
            <a:endParaRPr lang="en-GB" dirty="0"/>
          </a:p>
          <a:p>
            <a:pPr algn="ctr"/>
            <a:r>
              <a:rPr lang="en-GB" dirty="0"/>
              <a:t>Replication of DNA</a:t>
            </a:r>
          </a:p>
          <a:p>
            <a:pPr algn="ctr"/>
            <a:r>
              <a:rPr lang="en-GB" dirty="0"/>
              <a:t>Division of Cytoplasm</a:t>
            </a:r>
          </a:p>
        </p:txBody>
      </p:sp>
      <p:sp>
        <p:nvSpPr>
          <p:cNvPr id="5" name="Text Placeholder 4"/>
          <p:cNvSpPr>
            <a:spLocks noGrp="1"/>
          </p:cNvSpPr>
          <p:nvPr>
            <p:ph type="body" sz="quarter" idx="3"/>
          </p:nvPr>
        </p:nvSpPr>
        <p:spPr/>
        <p:txBody>
          <a:bodyPr/>
          <a:lstStyle/>
          <a:p>
            <a:r>
              <a:rPr lang="en-GB" dirty="0"/>
              <a:t>MEIOSIS</a:t>
            </a:r>
          </a:p>
        </p:txBody>
      </p:sp>
      <p:sp>
        <p:nvSpPr>
          <p:cNvPr id="6" name="Content Placeholder 5"/>
          <p:cNvSpPr>
            <a:spLocks noGrp="1"/>
          </p:cNvSpPr>
          <p:nvPr>
            <p:ph sz="quarter" idx="4"/>
          </p:nvPr>
        </p:nvSpPr>
        <p:spPr/>
        <p:txBody>
          <a:bodyPr/>
          <a:lstStyle/>
          <a:p>
            <a:pPr algn="ctr"/>
            <a:endParaRPr lang="en-GB" dirty="0"/>
          </a:p>
          <a:p>
            <a:pPr algn="ctr"/>
            <a:r>
              <a:rPr lang="en-GB" dirty="0"/>
              <a:t>Formation of reproductive cells</a:t>
            </a:r>
          </a:p>
          <a:p>
            <a:pPr marL="0" indent="0" algn="ctr">
              <a:buNone/>
            </a:pPr>
            <a:r>
              <a:rPr lang="en-GB" dirty="0"/>
              <a:t>(Gametes)</a:t>
            </a:r>
          </a:p>
          <a:p>
            <a:pPr algn="ctr"/>
            <a:endParaRPr lang="en-GB" dirty="0"/>
          </a:p>
          <a:p>
            <a:pPr algn="ctr"/>
            <a:r>
              <a:rPr lang="en-GB" dirty="0"/>
              <a:t>4 Daughter cells – 2 Divisions</a:t>
            </a:r>
          </a:p>
          <a:p>
            <a:pPr algn="ctr"/>
            <a:endParaRPr lang="en-GB" dirty="0"/>
          </a:p>
        </p:txBody>
      </p:sp>
    </p:spTree>
    <p:extLst>
      <p:ext uri="{BB962C8B-B14F-4D97-AF65-F5344CB8AC3E}">
        <p14:creationId xmlns:p14="http://schemas.microsoft.com/office/powerpoint/2010/main" val="34467234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6E6CD-459F-51B9-5042-6643581EDD67}"/>
              </a:ext>
            </a:extLst>
          </p:cNvPr>
          <p:cNvSpPr>
            <a:spLocks noGrp="1"/>
          </p:cNvSpPr>
          <p:nvPr>
            <p:ph type="title"/>
          </p:nvPr>
        </p:nvSpPr>
        <p:spPr>
          <a:xfrm>
            <a:off x="1051560" y="643468"/>
            <a:ext cx="9966960" cy="3592432"/>
          </a:xfrm>
        </p:spPr>
        <p:txBody>
          <a:bodyPr vert="horz" lIns="91440" tIns="45720" rIns="91440" bIns="45720" rtlCol="0" anchor="ctr">
            <a:normAutofit/>
          </a:bodyPr>
          <a:lstStyle/>
          <a:p>
            <a:pPr>
              <a:lnSpc>
                <a:spcPct val="80000"/>
              </a:lnSpc>
            </a:pPr>
            <a:r>
              <a:rPr lang="en-US" sz="9600" dirty="0">
                <a:blipFill dpi="0" rotWithShape="1">
                  <a:blip r:embed="rId2"/>
                  <a:srcRect/>
                  <a:tile tx="6350" ty="-127000" sx="65000" sy="64000" flip="none" algn="tl"/>
                </a:blipFill>
              </a:rPr>
              <a:t>2. Tissue</a:t>
            </a:r>
          </a:p>
        </p:txBody>
      </p:sp>
    </p:spTree>
    <p:extLst>
      <p:ext uri="{BB962C8B-B14F-4D97-AF65-F5344CB8AC3E}">
        <p14:creationId xmlns:p14="http://schemas.microsoft.com/office/powerpoint/2010/main" val="1028778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13543-27CA-6F63-3582-698900F04399}"/>
              </a:ext>
            </a:extLst>
          </p:cNvPr>
          <p:cNvSpPr>
            <a:spLocks noGrp="1"/>
          </p:cNvSpPr>
          <p:nvPr>
            <p:ph type="title"/>
          </p:nvPr>
        </p:nvSpPr>
        <p:spPr/>
        <p:txBody>
          <a:bodyPr/>
          <a:lstStyle/>
          <a:p>
            <a:r>
              <a:rPr lang="en-GB" dirty="0"/>
              <a:t>1. Epithelia - Simple</a:t>
            </a:r>
          </a:p>
        </p:txBody>
      </p:sp>
      <p:pic>
        <p:nvPicPr>
          <p:cNvPr id="7" name="Picture 6">
            <a:extLst>
              <a:ext uri="{FF2B5EF4-FFF2-40B4-BE49-F238E27FC236}">
                <a16:creationId xmlns:a16="http://schemas.microsoft.com/office/drawing/2014/main" id="{DB2101AE-DC1F-A1E2-6600-B1E35046DEA0}"/>
              </a:ext>
            </a:extLst>
          </p:cNvPr>
          <p:cNvPicPr>
            <a:picLocks noChangeAspect="1"/>
          </p:cNvPicPr>
          <p:nvPr/>
        </p:nvPicPr>
        <p:blipFill rotWithShape="1">
          <a:blip r:embed="rId2"/>
          <a:srcRect l="8913" t="14214" r="50000" b="56880"/>
          <a:stretch/>
        </p:blipFill>
        <p:spPr>
          <a:xfrm>
            <a:off x="1671800" y="1887166"/>
            <a:ext cx="8848400" cy="4568887"/>
          </a:xfrm>
          <a:prstGeom prst="rect">
            <a:avLst/>
          </a:prstGeom>
        </p:spPr>
      </p:pic>
    </p:spTree>
    <p:extLst>
      <p:ext uri="{BB962C8B-B14F-4D97-AF65-F5344CB8AC3E}">
        <p14:creationId xmlns:p14="http://schemas.microsoft.com/office/powerpoint/2010/main" val="6497219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13543-27CA-6F63-3582-698900F04399}"/>
              </a:ext>
            </a:extLst>
          </p:cNvPr>
          <p:cNvSpPr>
            <a:spLocks noGrp="1"/>
          </p:cNvSpPr>
          <p:nvPr>
            <p:ph type="title"/>
          </p:nvPr>
        </p:nvSpPr>
        <p:spPr/>
        <p:txBody>
          <a:bodyPr/>
          <a:lstStyle/>
          <a:p>
            <a:r>
              <a:rPr lang="en-GB" dirty="0"/>
              <a:t>1. Epithelia - Stratified</a:t>
            </a:r>
          </a:p>
        </p:txBody>
      </p:sp>
      <p:pic>
        <p:nvPicPr>
          <p:cNvPr id="4" name="Picture 3">
            <a:extLst>
              <a:ext uri="{FF2B5EF4-FFF2-40B4-BE49-F238E27FC236}">
                <a16:creationId xmlns:a16="http://schemas.microsoft.com/office/drawing/2014/main" id="{73D63EE2-E77F-3CA9-8DE5-E5EB3B57336A}"/>
              </a:ext>
            </a:extLst>
          </p:cNvPr>
          <p:cNvPicPr>
            <a:picLocks noChangeAspect="1"/>
          </p:cNvPicPr>
          <p:nvPr/>
        </p:nvPicPr>
        <p:blipFill rotWithShape="1">
          <a:blip r:embed="rId2"/>
          <a:srcRect l="7361" t="18095" r="50000" b="53016"/>
          <a:stretch/>
        </p:blipFill>
        <p:spPr>
          <a:xfrm>
            <a:off x="1566304" y="1868424"/>
            <a:ext cx="9059392" cy="4504944"/>
          </a:xfrm>
          <a:prstGeom prst="rect">
            <a:avLst/>
          </a:prstGeom>
        </p:spPr>
      </p:pic>
    </p:spTree>
    <p:extLst>
      <p:ext uri="{BB962C8B-B14F-4D97-AF65-F5344CB8AC3E}">
        <p14:creationId xmlns:p14="http://schemas.microsoft.com/office/powerpoint/2010/main" val="25609739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13543-27CA-6F63-3582-698900F04399}"/>
              </a:ext>
            </a:extLst>
          </p:cNvPr>
          <p:cNvSpPr>
            <a:spLocks noGrp="1"/>
          </p:cNvSpPr>
          <p:nvPr>
            <p:ph type="title"/>
          </p:nvPr>
        </p:nvSpPr>
        <p:spPr/>
        <p:txBody>
          <a:bodyPr/>
          <a:lstStyle/>
          <a:p>
            <a:r>
              <a:rPr lang="en-GB" dirty="0"/>
              <a:t>2. Connective</a:t>
            </a:r>
          </a:p>
        </p:txBody>
      </p:sp>
      <p:pic>
        <p:nvPicPr>
          <p:cNvPr id="4" name="Picture 3">
            <a:extLst>
              <a:ext uri="{FF2B5EF4-FFF2-40B4-BE49-F238E27FC236}">
                <a16:creationId xmlns:a16="http://schemas.microsoft.com/office/drawing/2014/main" id="{436C88DB-2E21-93BE-2D65-053B5F76D4AD}"/>
              </a:ext>
            </a:extLst>
          </p:cNvPr>
          <p:cNvPicPr>
            <a:picLocks noChangeAspect="1"/>
          </p:cNvPicPr>
          <p:nvPr/>
        </p:nvPicPr>
        <p:blipFill rotWithShape="1">
          <a:blip r:embed="rId2"/>
          <a:srcRect l="7827" t="20318" r="50000" b="53651"/>
          <a:stretch/>
        </p:blipFill>
        <p:spPr>
          <a:xfrm>
            <a:off x="391885" y="1654628"/>
            <a:ext cx="10992430" cy="4979998"/>
          </a:xfrm>
          <a:prstGeom prst="rect">
            <a:avLst/>
          </a:prstGeom>
        </p:spPr>
      </p:pic>
    </p:spTree>
    <p:extLst>
      <p:ext uri="{BB962C8B-B14F-4D97-AF65-F5344CB8AC3E}">
        <p14:creationId xmlns:p14="http://schemas.microsoft.com/office/powerpoint/2010/main" val="18478322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13543-27CA-6F63-3582-698900F04399}"/>
              </a:ext>
            </a:extLst>
          </p:cNvPr>
          <p:cNvSpPr>
            <a:spLocks noGrp="1"/>
          </p:cNvSpPr>
          <p:nvPr>
            <p:ph type="title"/>
          </p:nvPr>
        </p:nvSpPr>
        <p:spPr>
          <a:xfrm>
            <a:off x="1069848" y="202474"/>
            <a:ext cx="10058400" cy="1609344"/>
          </a:xfrm>
        </p:spPr>
        <p:txBody>
          <a:bodyPr/>
          <a:lstStyle/>
          <a:p>
            <a:r>
              <a:rPr lang="en-GB" dirty="0"/>
              <a:t>3. Nerve</a:t>
            </a:r>
          </a:p>
        </p:txBody>
      </p:sp>
      <p:pic>
        <p:nvPicPr>
          <p:cNvPr id="5" name="Picture 4">
            <a:extLst>
              <a:ext uri="{FF2B5EF4-FFF2-40B4-BE49-F238E27FC236}">
                <a16:creationId xmlns:a16="http://schemas.microsoft.com/office/drawing/2014/main" id="{8C7A3C9E-65BF-CDDB-D20E-04F51EFC32FA}"/>
              </a:ext>
            </a:extLst>
          </p:cNvPr>
          <p:cNvPicPr>
            <a:picLocks noChangeAspect="1"/>
          </p:cNvPicPr>
          <p:nvPr/>
        </p:nvPicPr>
        <p:blipFill rotWithShape="1">
          <a:blip r:embed="rId2"/>
          <a:srcRect l="9924" t="13064" r="52097" b="58730"/>
          <a:stretch/>
        </p:blipFill>
        <p:spPr>
          <a:xfrm>
            <a:off x="1063752" y="1313630"/>
            <a:ext cx="9800191" cy="5341896"/>
          </a:xfrm>
          <a:prstGeom prst="rect">
            <a:avLst/>
          </a:prstGeom>
        </p:spPr>
      </p:pic>
    </p:spTree>
    <p:extLst>
      <p:ext uri="{BB962C8B-B14F-4D97-AF65-F5344CB8AC3E}">
        <p14:creationId xmlns:p14="http://schemas.microsoft.com/office/powerpoint/2010/main" val="1774711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13543-27CA-6F63-3582-698900F04399}"/>
              </a:ext>
            </a:extLst>
          </p:cNvPr>
          <p:cNvSpPr>
            <a:spLocks noGrp="1"/>
          </p:cNvSpPr>
          <p:nvPr>
            <p:ph type="title"/>
          </p:nvPr>
        </p:nvSpPr>
        <p:spPr>
          <a:xfrm>
            <a:off x="1069848" y="202474"/>
            <a:ext cx="10058400" cy="1609344"/>
          </a:xfrm>
        </p:spPr>
        <p:txBody>
          <a:bodyPr/>
          <a:lstStyle/>
          <a:p>
            <a:r>
              <a:rPr lang="en-GB" dirty="0"/>
              <a:t>4. Muscle</a:t>
            </a:r>
          </a:p>
        </p:txBody>
      </p:sp>
      <p:pic>
        <p:nvPicPr>
          <p:cNvPr id="4" name="Picture 3">
            <a:extLst>
              <a:ext uri="{FF2B5EF4-FFF2-40B4-BE49-F238E27FC236}">
                <a16:creationId xmlns:a16="http://schemas.microsoft.com/office/drawing/2014/main" id="{06E5AB88-6896-BC97-6217-254F2D38F33B}"/>
              </a:ext>
            </a:extLst>
          </p:cNvPr>
          <p:cNvPicPr>
            <a:picLocks noChangeAspect="1"/>
          </p:cNvPicPr>
          <p:nvPr/>
        </p:nvPicPr>
        <p:blipFill rotWithShape="1">
          <a:blip r:embed="rId2"/>
          <a:srcRect l="8984" t="13650" r="51156" b="57814"/>
          <a:stretch/>
        </p:blipFill>
        <p:spPr>
          <a:xfrm>
            <a:off x="725218" y="1330308"/>
            <a:ext cx="9916508" cy="5210326"/>
          </a:xfrm>
          <a:prstGeom prst="rect">
            <a:avLst/>
          </a:prstGeom>
        </p:spPr>
      </p:pic>
    </p:spTree>
    <p:extLst>
      <p:ext uri="{BB962C8B-B14F-4D97-AF65-F5344CB8AC3E}">
        <p14:creationId xmlns:p14="http://schemas.microsoft.com/office/powerpoint/2010/main" val="33841877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phic 5" descr="Question Mark with solid fill">
            <a:extLst>
              <a:ext uri="{FF2B5EF4-FFF2-40B4-BE49-F238E27FC236}">
                <a16:creationId xmlns:a16="http://schemas.microsoft.com/office/drawing/2014/main" id="{43134183-6261-579B-6809-02DA4B0EDAF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98276" y="2423549"/>
            <a:ext cx="3326523" cy="3326523"/>
          </a:xfrm>
          <a:prstGeom prst="rect">
            <a:avLst/>
          </a:prstGeom>
        </p:spPr>
      </p:pic>
      <p:sp>
        <p:nvSpPr>
          <p:cNvPr id="2" name="Title 1">
            <a:extLst>
              <a:ext uri="{FF2B5EF4-FFF2-40B4-BE49-F238E27FC236}">
                <a16:creationId xmlns:a16="http://schemas.microsoft.com/office/drawing/2014/main" id="{5B113543-27CA-6F63-3582-698900F04399}"/>
              </a:ext>
            </a:extLst>
          </p:cNvPr>
          <p:cNvSpPr>
            <a:spLocks noGrp="1"/>
          </p:cNvSpPr>
          <p:nvPr>
            <p:ph type="title"/>
          </p:nvPr>
        </p:nvSpPr>
        <p:spPr/>
        <p:txBody>
          <a:bodyPr/>
          <a:lstStyle/>
          <a:p>
            <a:r>
              <a:rPr lang="en-GB" dirty="0"/>
              <a:t>Tissues and organs</a:t>
            </a:r>
          </a:p>
        </p:txBody>
      </p:sp>
      <p:sp>
        <p:nvSpPr>
          <p:cNvPr id="3" name="Content Placeholder 2">
            <a:extLst>
              <a:ext uri="{FF2B5EF4-FFF2-40B4-BE49-F238E27FC236}">
                <a16:creationId xmlns:a16="http://schemas.microsoft.com/office/drawing/2014/main" id="{1BDF90C0-B8D4-A657-3E27-76FC82E471D2}"/>
              </a:ext>
            </a:extLst>
          </p:cNvPr>
          <p:cNvSpPr>
            <a:spLocks noGrp="1"/>
          </p:cNvSpPr>
          <p:nvPr>
            <p:ph idx="1"/>
          </p:nvPr>
        </p:nvSpPr>
        <p:spPr/>
        <p:txBody>
          <a:bodyPr>
            <a:normAutofit/>
          </a:bodyPr>
          <a:lstStyle/>
          <a:p>
            <a:r>
              <a:rPr lang="en-GB" sz="3600" dirty="0"/>
              <a:t>1. Name the 4 basic tissues</a:t>
            </a:r>
          </a:p>
          <a:p>
            <a:endParaRPr lang="en-GB" sz="3600" dirty="0"/>
          </a:p>
          <a:p>
            <a:r>
              <a:rPr lang="en-GB" sz="3600" dirty="0"/>
              <a:t>2. What is stratified epithelium?</a:t>
            </a:r>
          </a:p>
          <a:p>
            <a:endParaRPr lang="en-GB" sz="3600" dirty="0"/>
          </a:p>
          <a:p>
            <a:r>
              <a:rPr lang="en-GB" sz="3600" dirty="0"/>
              <a:t>3. Name the three types of muscle</a:t>
            </a:r>
          </a:p>
        </p:txBody>
      </p:sp>
    </p:spTree>
    <p:extLst>
      <p:ext uri="{BB962C8B-B14F-4D97-AF65-F5344CB8AC3E}">
        <p14:creationId xmlns:p14="http://schemas.microsoft.com/office/powerpoint/2010/main" val="5301350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6E6CD-459F-51B9-5042-6643581EDD67}"/>
              </a:ext>
            </a:extLst>
          </p:cNvPr>
          <p:cNvSpPr>
            <a:spLocks noGrp="1"/>
          </p:cNvSpPr>
          <p:nvPr>
            <p:ph type="title"/>
          </p:nvPr>
        </p:nvSpPr>
        <p:spPr>
          <a:xfrm>
            <a:off x="1051560" y="643468"/>
            <a:ext cx="9966960" cy="3592432"/>
          </a:xfrm>
        </p:spPr>
        <p:txBody>
          <a:bodyPr vert="horz" lIns="91440" tIns="45720" rIns="91440" bIns="45720" rtlCol="0" anchor="ctr">
            <a:normAutofit/>
          </a:bodyPr>
          <a:lstStyle/>
          <a:p>
            <a:pPr>
              <a:lnSpc>
                <a:spcPct val="80000"/>
              </a:lnSpc>
            </a:pPr>
            <a:r>
              <a:rPr lang="en-US" sz="9600" dirty="0">
                <a:blipFill dpi="0" rotWithShape="1">
                  <a:blip r:embed="rId2"/>
                  <a:srcRect/>
                  <a:tile tx="6350" ty="-127000" sx="65000" sy="64000" flip="none" algn="tl"/>
                </a:blipFill>
              </a:rPr>
              <a:t>3. Fascia</a:t>
            </a:r>
          </a:p>
        </p:txBody>
      </p:sp>
    </p:spTree>
    <p:extLst>
      <p:ext uri="{BB962C8B-B14F-4D97-AF65-F5344CB8AC3E}">
        <p14:creationId xmlns:p14="http://schemas.microsoft.com/office/powerpoint/2010/main" val="3016163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13543-27CA-6F63-3582-698900F04399}"/>
              </a:ext>
            </a:extLst>
          </p:cNvPr>
          <p:cNvSpPr>
            <a:spLocks noGrp="1"/>
          </p:cNvSpPr>
          <p:nvPr>
            <p:ph type="title"/>
          </p:nvPr>
        </p:nvSpPr>
        <p:spPr>
          <a:xfrm>
            <a:off x="1066800" y="237023"/>
            <a:ext cx="10058400" cy="1609344"/>
          </a:xfrm>
        </p:spPr>
        <p:txBody>
          <a:bodyPr/>
          <a:lstStyle/>
          <a:p>
            <a:r>
              <a:rPr lang="en-GB" dirty="0"/>
              <a:t>Superficial Fascia</a:t>
            </a:r>
          </a:p>
        </p:txBody>
      </p:sp>
      <p:pic>
        <p:nvPicPr>
          <p:cNvPr id="5" name="Picture 4">
            <a:extLst>
              <a:ext uri="{FF2B5EF4-FFF2-40B4-BE49-F238E27FC236}">
                <a16:creationId xmlns:a16="http://schemas.microsoft.com/office/drawing/2014/main" id="{FD9EC283-7E1D-1D16-101D-44E4B44880FC}"/>
              </a:ext>
            </a:extLst>
          </p:cNvPr>
          <p:cNvPicPr>
            <a:picLocks noChangeAspect="1"/>
          </p:cNvPicPr>
          <p:nvPr/>
        </p:nvPicPr>
        <p:blipFill rotWithShape="1">
          <a:blip r:embed="rId2"/>
          <a:srcRect l="9595" t="18990" r="50000" b="55942"/>
          <a:stretch/>
        </p:blipFill>
        <p:spPr>
          <a:xfrm>
            <a:off x="516834" y="1669774"/>
            <a:ext cx="10873409" cy="4951203"/>
          </a:xfrm>
          <a:prstGeom prst="rect">
            <a:avLst/>
          </a:prstGeom>
        </p:spPr>
      </p:pic>
    </p:spTree>
    <p:extLst>
      <p:ext uri="{BB962C8B-B14F-4D97-AF65-F5344CB8AC3E}">
        <p14:creationId xmlns:p14="http://schemas.microsoft.com/office/powerpoint/2010/main" val="15497466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13543-27CA-6F63-3582-698900F04399}"/>
              </a:ext>
            </a:extLst>
          </p:cNvPr>
          <p:cNvSpPr>
            <a:spLocks noGrp="1"/>
          </p:cNvSpPr>
          <p:nvPr>
            <p:ph type="title"/>
          </p:nvPr>
        </p:nvSpPr>
        <p:spPr>
          <a:xfrm>
            <a:off x="1066800" y="237023"/>
            <a:ext cx="10058400" cy="1609344"/>
          </a:xfrm>
        </p:spPr>
        <p:txBody>
          <a:bodyPr/>
          <a:lstStyle/>
          <a:p>
            <a:r>
              <a:rPr lang="en-GB" dirty="0"/>
              <a:t>Deep Fascia</a:t>
            </a:r>
          </a:p>
        </p:txBody>
      </p:sp>
      <p:pic>
        <p:nvPicPr>
          <p:cNvPr id="4" name="Picture 3">
            <a:extLst>
              <a:ext uri="{FF2B5EF4-FFF2-40B4-BE49-F238E27FC236}">
                <a16:creationId xmlns:a16="http://schemas.microsoft.com/office/drawing/2014/main" id="{329FA1BE-296E-7519-FD47-485F6BC8D391}"/>
              </a:ext>
            </a:extLst>
          </p:cNvPr>
          <p:cNvPicPr>
            <a:picLocks noChangeAspect="1"/>
          </p:cNvPicPr>
          <p:nvPr/>
        </p:nvPicPr>
        <p:blipFill rotWithShape="1">
          <a:blip r:embed="rId2"/>
          <a:srcRect l="5886" t="13122" r="51397" b="58738"/>
          <a:stretch/>
        </p:blipFill>
        <p:spPr>
          <a:xfrm>
            <a:off x="0" y="1455057"/>
            <a:ext cx="10668000" cy="5158025"/>
          </a:xfrm>
          <a:prstGeom prst="rect">
            <a:avLst/>
          </a:prstGeom>
        </p:spPr>
      </p:pic>
    </p:spTree>
    <p:extLst>
      <p:ext uri="{BB962C8B-B14F-4D97-AF65-F5344CB8AC3E}">
        <p14:creationId xmlns:p14="http://schemas.microsoft.com/office/powerpoint/2010/main" val="34360799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6E6CD-459F-51B9-5042-6643581EDD67}"/>
              </a:ext>
            </a:extLst>
          </p:cNvPr>
          <p:cNvSpPr>
            <a:spLocks noGrp="1"/>
          </p:cNvSpPr>
          <p:nvPr>
            <p:ph type="title"/>
          </p:nvPr>
        </p:nvSpPr>
        <p:spPr>
          <a:xfrm>
            <a:off x="1051560" y="643468"/>
            <a:ext cx="9966960" cy="3592432"/>
          </a:xfrm>
        </p:spPr>
        <p:txBody>
          <a:bodyPr vert="horz" lIns="91440" tIns="45720" rIns="91440" bIns="45720" rtlCol="0" anchor="ctr">
            <a:normAutofit/>
          </a:bodyPr>
          <a:lstStyle/>
          <a:p>
            <a:pPr>
              <a:lnSpc>
                <a:spcPct val="80000"/>
              </a:lnSpc>
            </a:pPr>
            <a:r>
              <a:rPr lang="en-US" sz="9600" dirty="0">
                <a:blipFill dpi="0" rotWithShape="1">
                  <a:blip r:embed="rId2"/>
                  <a:srcRect/>
                  <a:tile tx="6350" ty="-127000" sx="65000" sy="64000" flip="none" algn="tl"/>
                </a:blipFill>
              </a:rPr>
              <a:t>4. Serous membranes</a:t>
            </a:r>
          </a:p>
        </p:txBody>
      </p:sp>
    </p:spTree>
    <p:extLst>
      <p:ext uri="{BB962C8B-B14F-4D97-AF65-F5344CB8AC3E}">
        <p14:creationId xmlns:p14="http://schemas.microsoft.com/office/powerpoint/2010/main" val="1457570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13543-27CA-6F63-3582-698900F04399}"/>
              </a:ext>
            </a:extLst>
          </p:cNvPr>
          <p:cNvSpPr>
            <a:spLocks noGrp="1"/>
          </p:cNvSpPr>
          <p:nvPr>
            <p:ph type="title"/>
          </p:nvPr>
        </p:nvSpPr>
        <p:spPr>
          <a:xfrm>
            <a:off x="1066800" y="237023"/>
            <a:ext cx="10058400" cy="1609344"/>
          </a:xfrm>
        </p:spPr>
        <p:txBody>
          <a:bodyPr/>
          <a:lstStyle/>
          <a:p>
            <a:r>
              <a:rPr lang="en-GB" dirty="0"/>
              <a:t>Serous membrane</a:t>
            </a:r>
          </a:p>
        </p:txBody>
      </p:sp>
      <p:sp>
        <p:nvSpPr>
          <p:cNvPr id="3" name="TextBox 2">
            <a:extLst>
              <a:ext uri="{FF2B5EF4-FFF2-40B4-BE49-F238E27FC236}">
                <a16:creationId xmlns:a16="http://schemas.microsoft.com/office/drawing/2014/main" id="{5A107E2B-4157-F056-4680-FD5179E280C8}"/>
              </a:ext>
            </a:extLst>
          </p:cNvPr>
          <p:cNvSpPr txBox="1"/>
          <p:nvPr/>
        </p:nvSpPr>
        <p:spPr>
          <a:xfrm>
            <a:off x="1066800" y="2380343"/>
            <a:ext cx="6814457" cy="2934201"/>
          </a:xfrm>
          <a:prstGeom prst="rect">
            <a:avLst/>
          </a:prstGeom>
          <a:noFill/>
        </p:spPr>
        <p:txBody>
          <a:bodyPr wrap="square" rtlCol="0">
            <a:spAutoFit/>
          </a:bodyPr>
          <a:lstStyle/>
          <a:p>
            <a:r>
              <a:rPr lang="en-GB" sz="2400" b="1" dirty="0"/>
              <a:t>Secrete lubricating fluid</a:t>
            </a:r>
          </a:p>
          <a:p>
            <a:endParaRPr lang="en-GB" sz="2400" dirty="0"/>
          </a:p>
          <a:p>
            <a:pPr>
              <a:lnSpc>
                <a:spcPct val="200000"/>
              </a:lnSpc>
            </a:pPr>
            <a:r>
              <a:rPr lang="en-GB" sz="2400" dirty="0"/>
              <a:t>Heart 					= Pericardium</a:t>
            </a:r>
          </a:p>
          <a:p>
            <a:pPr>
              <a:lnSpc>
                <a:spcPct val="200000"/>
              </a:lnSpc>
            </a:pPr>
            <a:r>
              <a:rPr lang="en-GB" sz="2400" dirty="0"/>
              <a:t>Lungs 					= Pleura</a:t>
            </a:r>
          </a:p>
          <a:p>
            <a:pPr>
              <a:lnSpc>
                <a:spcPct val="200000"/>
              </a:lnSpc>
            </a:pPr>
            <a:r>
              <a:rPr lang="en-GB" sz="2400" dirty="0"/>
              <a:t>Abdominopelvic and </a:t>
            </a:r>
            <a:r>
              <a:rPr lang="en-GB" sz="2400" dirty="0" err="1"/>
              <a:t>Visera</a:t>
            </a:r>
            <a:r>
              <a:rPr lang="en-GB" sz="2400" dirty="0"/>
              <a:t>	= Peritoneum</a:t>
            </a:r>
          </a:p>
        </p:txBody>
      </p:sp>
    </p:spTree>
    <p:extLst>
      <p:ext uri="{BB962C8B-B14F-4D97-AF65-F5344CB8AC3E}">
        <p14:creationId xmlns:p14="http://schemas.microsoft.com/office/powerpoint/2010/main" val="13954488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49A7D3-684C-4C59-A4B6-7B308A6AD3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7B1087B-C592-40E7-B532-60B453A2FE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4AE7447-E8F8-4A0F-9E3D-94842BFF88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85981F80-69EE-4E2B-82A8-47FDFD7720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9215" y="4068923"/>
            <a:ext cx="1080904" cy="1080902"/>
            <a:chOff x="9685338" y="4460675"/>
            <a:chExt cx="1080904" cy="1080902"/>
          </a:xfrm>
        </p:grpSpPr>
        <p:sp>
          <p:nvSpPr>
            <p:cNvPr id="15" name="Oval 14">
              <a:extLst>
                <a:ext uri="{FF2B5EF4-FFF2-40B4-BE49-F238E27FC236}">
                  <a16:creationId xmlns:a16="http://schemas.microsoft.com/office/drawing/2014/main" id="{46CE0473-0B07-47EE-A016-EBD87F2C8C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6" name="Oval 15">
              <a:extLst>
                <a:ext uri="{FF2B5EF4-FFF2-40B4-BE49-F238E27FC236}">
                  <a16:creationId xmlns:a16="http://schemas.microsoft.com/office/drawing/2014/main" id="{EDD0D1E4-DFCA-4DF0-9D37-571A5F529F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useBgFill="1">
        <p:nvSpPr>
          <p:cNvPr id="18" name="Rectangle 17">
            <a:extLst>
              <a:ext uri="{FF2B5EF4-FFF2-40B4-BE49-F238E27FC236}">
                <a16:creationId xmlns:a16="http://schemas.microsoft.com/office/drawing/2014/main" id="{EDF3BDB2-0586-430E-811A-74BAFDEE66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0" name="Rectangle 19">
            <a:extLst>
              <a:ext uri="{FF2B5EF4-FFF2-40B4-BE49-F238E27FC236}">
                <a16:creationId xmlns:a16="http://schemas.microsoft.com/office/drawing/2014/main" id="{821E305B-0351-4E03-8C1B-F23D3A346E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5152" y="928117"/>
            <a:ext cx="6629400"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3C848660-F9C2-4F86-A218-6AE0FB4CCC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1336" y="1110053"/>
            <a:ext cx="6630506" cy="4580301"/>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56E6CD-459F-51B9-5042-6643581EDD67}"/>
              </a:ext>
            </a:extLst>
          </p:cNvPr>
          <p:cNvSpPr>
            <a:spLocks noGrp="1"/>
          </p:cNvSpPr>
          <p:nvPr>
            <p:ph type="title"/>
          </p:nvPr>
        </p:nvSpPr>
        <p:spPr>
          <a:xfrm>
            <a:off x="4961376" y="1432223"/>
            <a:ext cx="6057144" cy="3357976"/>
          </a:xfrm>
        </p:spPr>
        <p:txBody>
          <a:bodyPr vert="horz" lIns="91440" tIns="45720" rIns="91440" bIns="45720" rtlCol="0" anchor="ctr">
            <a:normAutofit/>
          </a:bodyPr>
          <a:lstStyle/>
          <a:p>
            <a:pPr>
              <a:lnSpc>
                <a:spcPct val="80000"/>
              </a:lnSpc>
            </a:pPr>
            <a:r>
              <a:rPr lang="en-US" sz="8000">
                <a:blipFill dpi="0" rotWithShape="1">
                  <a:blip r:embed="rId4"/>
                  <a:srcRect/>
                  <a:tile tx="6350" ty="-127000" sx="65000" sy="64000" flip="none" algn="tl"/>
                </a:blipFill>
              </a:rPr>
              <a:t>5. Vascular system</a:t>
            </a:r>
          </a:p>
        </p:txBody>
      </p:sp>
      <p:sp>
        <p:nvSpPr>
          <p:cNvPr id="24" name="Rectangle 23">
            <a:extLst>
              <a:ext uri="{FF2B5EF4-FFF2-40B4-BE49-F238E27FC236}">
                <a16:creationId xmlns:a16="http://schemas.microsoft.com/office/drawing/2014/main" id="{5CABD882-B7CE-4433-B509-99205DB70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5152" y="5780565"/>
            <a:ext cx="6629400"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 name="Group 25">
            <a:extLst>
              <a:ext uri="{FF2B5EF4-FFF2-40B4-BE49-F238E27FC236}">
                <a16:creationId xmlns:a16="http://schemas.microsoft.com/office/drawing/2014/main" id="{49F6A645-6137-4F43-8E88-D91CC337D5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6920" y="5257800"/>
            <a:ext cx="1080904" cy="1080902"/>
            <a:chOff x="9685338" y="4460675"/>
            <a:chExt cx="1080904" cy="1080902"/>
          </a:xfrm>
        </p:grpSpPr>
        <p:sp>
          <p:nvSpPr>
            <p:cNvPr id="27" name="Oval 26">
              <a:extLst>
                <a:ext uri="{FF2B5EF4-FFF2-40B4-BE49-F238E27FC236}">
                  <a16:creationId xmlns:a16="http://schemas.microsoft.com/office/drawing/2014/main" id="{3A2C783A-4EEE-481B-815A-A1BB14F44B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28" name="Oval 27">
              <a:extLst>
                <a:ext uri="{FF2B5EF4-FFF2-40B4-BE49-F238E27FC236}">
                  <a16:creationId xmlns:a16="http://schemas.microsoft.com/office/drawing/2014/main" id="{A0186437-0053-4886-B612-804E4DC903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pic>
        <p:nvPicPr>
          <p:cNvPr id="3" name="Picture 5" descr="Related image">
            <a:extLst>
              <a:ext uri="{FF2B5EF4-FFF2-40B4-BE49-F238E27FC236}">
                <a16:creationId xmlns:a16="http://schemas.microsoft.com/office/drawing/2014/main" id="{A704C343-4042-B73B-F3A6-E645E0E9186D}"/>
              </a:ext>
            </a:extLst>
          </p:cNvPr>
          <p:cNvPicPr>
            <a:picLocks noChangeAspect="1" noChangeArrowheads="1"/>
          </p:cNvPicPr>
          <p:nvPr/>
        </p:nvPicPr>
        <p:blipFill>
          <a:blip r:embed="rId6">
            <a:extLst>
              <a:ext uri="{28A0092B-C50C-407E-A947-70E740481C1C}">
                <a14:useLocalDpi xmlns:a14="http://schemas.microsoft.com/office/drawing/2010/main" val="0"/>
              </a:ext>
            </a:extLst>
          </a:blip>
          <a:stretch>
            <a:fillRect/>
          </a:stretch>
        </p:blipFill>
        <p:spPr bwMode="auto">
          <a:xfrm>
            <a:off x="1384329" y="928117"/>
            <a:ext cx="2515896" cy="493313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59599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52" name="Rectangle 6151">
            <a:extLst>
              <a:ext uri="{FF2B5EF4-FFF2-40B4-BE49-F238E27FC236}">
                <a16:creationId xmlns:a16="http://schemas.microsoft.com/office/drawing/2014/main" id="{7049A7D3-684C-4C59-A4B6-7B308A6AD3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4" name="Rectangle 6153">
            <a:extLst>
              <a:ext uri="{FF2B5EF4-FFF2-40B4-BE49-F238E27FC236}">
                <a16:creationId xmlns:a16="http://schemas.microsoft.com/office/drawing/2014/main" id="{D7B1087B-C592-40E7-B532-60B453A2FE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6" name="Rectangle 6155">
            <a:extLst>
              <a:ext uri="{FF2B5EF4-FFF2-40B4-BE49-F238E27FC236}">
                <a16:creationId xmlns:a16="http://schemas.microsoft.com/office/drawing/2014/main" id="{14AE7447-E8F8-4A0F-9E3D-94842BFF88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158" name="Group 6157">
            <a:extLst>
              <a:ext uri="{FF2B5EF4-FFF2-40B4-BE49-F238E27FC236}">
                <a16:creationId xmlns:a16="http://schemas.microsoft.com/office/drawing/2014/main" id="{85981F80-69EE-4E2B-82A8-47FDFD7720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9215" y="4068923"/>
            <a:ext cx="1080904" cy="1080902"/>
            <a:chOff x="9685338" y="4460675"/>
            <a:chExt cx="1080904" cy="1080902"/>
          </a:xfrm>
        </p:grpSpPr>
        <p:sp>
          <p:nvSpPr>
            <p:cNvPr id="6159" name="Oval 6158">
              <a:extLst>
                <a:ext uri="{FF2B5EF4-FFF2-40B4-BE49-F238E27FC236}">
                  <a16:creationId xmlns:a16="http://schemas.microsoft.com/office/drawing/2014/main" id="{46CE0473-0B07-47EE-A016-EBD87F2C8C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6160" name="Oval 6159">
              <a:extLst>
                <a:ext uri="{FF2B5EF4-FFF2-40B4-BE49-F238E27FC236}">
                  <a16:creationId xmlns:a16="http://schemas.microsoft.com/office/drawing/2014/main" id="{EDD0D1E4-DFCA-4DF0-9D37-571A5F529F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162" name="Rectangle 6161">
            <a:extLst>
              <a:ext uri="{FF2B5EF4-FFF2-40B4-BE49-F238E27FC236}">
                <a16:creationId xmlns:a16="http://schemas.microsoft.com/office/drawing/2014/main" id="{0680B5D0-24EC-465A-A0E6-C4DF951E00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164" name="Rectangle 6163">
            <a:extLst>
              <a:ext uri="{FF2B5EF4-FFF2-40B4-BE49-F238E27FC236}">
                <a16:creationId xmlns:a16="http://schemas.microsoft.com/office/drawing/2014/main" id="{30BF1B50-A83E-4ED6-A2AA-C943C1F89F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928117"/>
            <a:ext cx="10351008"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66" name="Rectangle 6165">
            <a:extLst>
              <a:ext uri="{FF2B5EF4-FFF2-40B4-BE49-F238E27FC236}">
                <a16:creationId xmlns:a16="http://schemas.microsoft.com/office/drawing/2014/main" id="{1F31E8B2-210B-4B90-83BB-3B180732EF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85470" y="1110053"/>
            <a:ext cx="3386371" cy="4580301"/>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5DA092FD-BA04-2FEA-DDF5-595ABDC20405}"/>
              </a:ext>
            </a:extLst>
          </p:cNvPr>
          <p:cNvSpPr txBox="1">
            <a:spLocks noChangeArrowheads="1"/>
          </p:cNvSpPr>
          <p:nvPr/>
        </p:nvSpPr>
        <p:spPr>
          <a:xfrm>
            <a:off x="8200102" y="1432223"/>
            <a:ext cx="2818417" cy="3357976"/>
          </a:xfrm>
          <a:prstGeom prst="rect">
            <a:avLst/>
          </a:prstGeom>
        </p:spPr>
        <p:txBody>
          <a:bodyPr vert="horz" lIns="91440" tIns="45720" rIns="91440" bIns="45720" rtlCol="0" anchor="ctr">
            <a:normAutofit/>
          </a:bodyPr>
          <a:lstStyle/>
          <a:p>
            <a:pPr>
              <a:lnSpc>
                <a:spcPct val="80000"/>
              </a:lnSpc>
              <a:spcBef>
                <a:spcPct val="0"/>
              </a:spcBef>
              <a:spcAft>
                <a:spcPts val="600"/>
              </a:spcAft>
              <a:defRPr/>
            </a:pPr>
            <a:r>
              <a:rPr lang="en-US" altLang="en-US" sz="6000" b="1" cap="all" dirty="0">
                <a:blipFill dpi="0" rotWithShape="1">
                  <a:blip r:embed="rId4"/>
                  <a:srcRect/>
                  <a:tile tx="6350" ty="-127000" sx="65000" sy="64000" flip="none" algn="tl"/>
                </a:blipFill>
                <a:latin typeface="+mj-lt"/>
                <a:ea typeface="+mj-ea"/>
                <a:cs typeface="+mj-cs"/>
              </a:rPr>
              <a:t>Blood vessel types</a:t>
            </a:r>
            <a:br>
              <a:rPr lang="en-US" altLang="en-US" sz="6000" b="1" cap="all" dirty="0">
                <a:blipFill dpi="0" rotWithShape="1">
                  <a:blip r:embed="rId4"/>
                  <a:srcRect/>
                  <a:tile tx="6350" ty="-127000" sx="65000" sy="64000" flip="none" algn="tl"/>
                </a:blipFill>
                <a:latin typeface="+mj-lt"/>
                <a:ea typeface="+mj-ea"/>
                <a:cs typeface="+mj-cs"/>
              </a:rPr>
            </a:br>
            <a:endParaRPr lang="en-US" altLang="en-US" sz="6000" b="1" cap="all" dirty="0">
              <a:blipFill dpi="0" rotWithShape="1">
                <a:blip r:embed="rId4"/>
                <a:srcRect/>
                <a:tile tx="6350" ty="-127000" sx="65000" sy="64000" flip="none" algn="tl"/>
              </a:blipFill>
              <a:latin typeface="+mj-lt"/>
              <a:ea typeface="+mj-ea"/>
              <a:cs typeface="+mj-cs"/>
            </a:endParaRPr>
          </a:p>
        </p:txBody>
      </p:sp>
      <p:sp>
        <p:nvSpPr>
          <p:cNvPr id="6168" name="Rectangle 6167">
            <a:extLst>
              <a:ext uri="{FF2B5EF4-FFF2-40B4-BE49-F238E27FC236}">
                <a16:creationId xmlns:a16="http://schemas.microsoft.com/office/drawing/2014/main" id="{6B387409-2B98-40F8-A65F-EF7CF9895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5780565"/>
            <a:ext cx="10351008"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170" name="Group 6169">
            <a:extLst>
              <a:ext uri="{FF2B5EF4-FFF2-40B4-BE49-F238E27FC236}">
                <a16:creationId xmlns:a16="http://schemas.microsoft.com/office/drawing/2014/main" id="{C9E5F284-A588-4AE7-A36D-1C93E4FD02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6920" y="5257800"/>
            <a:ext cx="1080904" cy="1080902"/>
            <a:chOff x="9685338" y="4460675"/>
            <a:chExt cx="1080904" cy="1080902"/>
          </a:xfrm>
        </p:grpSpPr>
        <p:sp>
          <p:nvSpPr>
            <p:cNvPr id="6171" name="Oval 6170">
              <a:extLst>
                <a:ext uri="{FF2B5EF4-FFF2-40B4-BE49-F238E27FC236}">
                  <a16:creationId xmlns:a16="http://schemas.microsoft.com/office/drawing/2014/main" id="{45D7D540-5CF2-4FC1-BE53-277CC22C09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6172" name="Oval 6171">
              <a:extLst>
                <a:ext uri="{FF2B5EF4-FFF2-40B4-BE49-F238E27FC236}">
                  <a16:creationId xmlns:a16="http://schemas.microsoft.com/office/drawing/2014/main" id="{916C9AA0-DC0C-49A1-ACDF-10BD6D7399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pic>
        <p:nvPicPr>
          <p:cNvPr id="6147" name="Picture 2" descr="Image result for arterial vessels">
            <a:extLst>
              <a:ext uri="{FF2B5EF4-FFF2-40B4-BE49-F238E27FC236}">
                <a16:creationId xmlns:a16="http://schemas.microsoft.com/office/drawing/2014/main" id="{C17C9B16-6BC2-1914-578B-8453FE5C88DF}"/>
              </a:ext>
            </a:extLst>
          </p:cNvPr>
          <p:cNvPicPr>
            <a:picLocks noChangeAspect="1" noChangeArrowheads="1"/>
          </p:cNvPicPr>
          <p:nvPr/>
        </p:nvPicPr>
        <p:blipFill>
          <a:blip r:embed="rId6">
            <a:extLst>
              <a:ext uri="{28A0092B-C50C-407E-A947-70E740481C1C}">
                <a14:useLocalDpi xmlns:a14="http://schemas.microsoft.com/office/drawing/2010/main" val="0"/>
              </a:ext>
            </a:extLst>
          </a:blip>
          <a:stretch>
            <a:fillRect/>
          </a:stretch>
        </p:blipFill>
        <p:spPr bwMode="auto">
          <a:xfrm>
            <a:off x="1848678" y="-80691"/>
            <a:ext cx="4890295" cy="679207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AutoShape 2" descr="Image result for skin">
            <a:extLst>
              <a:ext uri="{FF2B5EF4-FFF2-40B4-BE49-F238E27FC236}">
                <a16:creationId xmlns:a16="http://schemas.microsoft.com/office/drawing/2014/main" id="{6FEF044F-C66F-AAF3-538D-2D0619F6C2A2}"/>
              </a:ext>
            </a:extLst>
          </p:cNvPr>
          <p:cNvSpPr>
            <a:spLocks noChangeAspect="1" noChangeArrowheads="1"/>
          </p:cNvSpPr>
          <p:nvPr/>
        </p:nvSpPr>
        <p:spPr bwMode="auto">
          <a:xfrm>
            <a:off x="1692275" y="-1825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endParaRPr lang="en-US" altLang="en-US"/>
          </a:p>
        </p:txBody>
      </p:sp>
      <p:sp>
        <p:nvSpPr>
          <p:cNvPr id="7171" name="AutoShape 4" descr="Image result for skin">
            <a:extLst>
              <a:ext uri="{FF2B5EF4-FFF2-40B4-BE49-F238E27FC236}">
                <a16:creationId xmlns:a16="http://schemas.microsoft.com/office/drawing/2014/main" id="{77F241D7-AA14-DEFB-7708-C3AA7DC0F310}"/>
              </a:ext>
            </a:extLst>
          </p:cNvPr>
          <p:cNvSpPr>
            <a:spLocks noChangeAspect="1" noChangeArrowheads="1"/>
          </p:cNvSpPr>
          <p:nvPr/>
        </p:nvSpPr>
        <p:spPr bwMode="auto">
          <a:xfrm>
            <a:off x="1692275" y="-1825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endParaRPr lang="en-US" altLang="en-US"/>
          </a:p>
        </p:txBody>
      </p:sp>
      <p:pic>
        <p:nvPicPr>
          <p:cNvPr id="7172" name="Picture 6" descr="Image result for skin">
            <a:extLst>
              <a:ext uri="{FF2B5EF4-FFF2-40B4-BE49-F238E27FC236}">
                <a16:creationId xmlns:a16="http://schemas.microsoft.com/office/drawing/2014/main" id="{BF1FC61F-BEC7-FC34-D931-D51EAC409A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1" y="692150"/>
            <a:ext cx="9199563" cy="616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24" name="Rectangle 9223">
            <a:extLst>
              <a:ext uri="{FF2B5EF4-FFF2-40B4-BE49-F238E27FC236}">
                <a16:creationId xmlns:a16="http://schemas.microsoft.com/office/drawing/2014/main" id="{2550AE69-AC86-4188-83E5-A856C4F1DC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9226" name="Rectangle 9225">
            <a:extLst>
              <a:ext uri="{FF2B5EF4-FFF2-40B4-BE49-F238E27FC236}">
                <a16:creationId xmlns:a16="http://schemas.microsoft.com/office/drawing/2014/main" id="{EC4CA156-2C9D-4F0C-B229-88D8B5E17B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9228" name="Rectangle 9227">
            <a:extLst>
              <a:ext uri="{FF2B5EF4-FFF2-40B4-BE49-F238E27FC236}">
                <a16:creationId xmlns:a16="http://schemas.microsoft.com/office/drawing/2014/main" id="{D7361ED3-EBE5-4EFC-8DA3-D0CE4BF2F4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grpSp>
        <p:nvGrpSpPr>
          <p:cNvPr id="9230" name="Group 9229">
            <a:extLst>
              <a:ext uri="{FF2B5EF4-FFF2-40B4-BE49-F238E27FC236}">
                <a16:creationId xmlns:a16="http://schemas.microsoft.com/office/drawing/2014/main" id="{85105087-7F16-4C94-837C-C4544511666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9215" y="4068923"/>
            <a:ext cx="1080904" cy="1080902"/>
            <a:chOff x="9685338" y="4460675"/>
            <a:chExt cx="1080904" cy="1080902"/>
          </a:xfrm>
        </p:grpSpPr>
        <p:sp>
          <p:nvSpPr>
            <p:cNvPr id="9258" name="Oval 9230">
              <a:extLst>
                <a:ext uri="{FF2B5EF4-FFF2-40B4-BE49-F238E27FC236}">
                  <a16:creationId xmlns:a16="http://schemas.microsoft.com/office/drawing/2014/main" id="{4F2F3467-E50F-4A91-B27D-E324936A66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a:lstStyle/>
            <a:p>
              <a:endParaRPr lang="en-GB"/>
            </a:p>
          </p:txBody>
        </p:sp>
        <p:sp>
          <p:nvSpPr>
            <p:cNvPr id="9259" name="Oval 9231">
              <a:extLst>
                <a:ext uri="{FF2B5EF4-FFF2-40B4-BE49-F238E27FC236}">
                  <a16:creationId xmlns:a16="http://schemas.microsoft.com/office/drawing/2014/main" id="{D678BE03-AC84-4940-A7FD-5B143FE2D6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endParaRPr lang="en-GB"/>
            </a:p>
          </p:txBody>
        </p:sp>
      </p:grpSp>
      <p:sp>
        <p:nvSpPr>
          <p:cNvPr id="9234" name="Rectangle 9233">
            <a:extLst>
              <a:ext uri="{FF2B5EF4-FFF2-40B4-BE49-F238E27FC236}">
                <a16:creationId xmlns:a16="http://schemas.microsoft.com/office/drawing/2014/main" id="{8363C3DA-5063-4048-965B-F5FDB35CCC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236" name="Rectangle 9235">
            <a:extLst>
              <a:ext uri="{FF2B5EF4-FFF2-40B4-BE49-F238E27FC236}">
                <a16:creationId xmlns:a16="http://schemas.microsoft.com/office/drawing/2014/main" id="{4BE79ECB-20D1-486E-B39D-0F98D69BEB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928117"/>
            <a:ext cx="10351008" cy="80683"/>
          </a:xfrm>
          <a:prstGeom prst="rect">
            <a:avLst/>
          </a:prstGeom>
          <a:blipFill dpi="0" rotWithShape="1">
            <a:blip r:embed="rId2">
              <a:alphaModFix amt="85000"/>
              <a:lum bright="70000" contrast="-70000"/>
              <a:extLs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38" name="Rectangle 9237">
            <a:extLst>
              <a:ext uri="{FF2B5EF4-FFF2-40B4-BE49-F238E27FC236}">
                <a16:creationId xmlns:a16="http://schemas.microsoft.com/office/drawing/2014/main" id="{E2F1DBD8-7930-4EF6-AF8F-F6A674303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85470" y="1110053"/>
            <a:ext cx="3386371" cy="4580301"/>
          </a:xfrm>
          <a:prstGeom prst="rect">
            <a:avLst/>
          </a:prstGeom>
          <a:blipFill dpi="0" rotWithShape="1">
            <a:blip r:embed="rId2">
              <a:alphaModFix amt="85000"/>
              <a:lum bright="70000" contrast="-70000"/>
              <a:extLs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19" name="Rectangle 2">
            <a:extLst>
              <a:ext uri="{FF2B5EF4-FFF2-40B4-BE49-F238E27FC236}">
                <a16:creationId xmlns:a16="http://schemas.microsoft.com/office/drawing/2014/main" id="{D49EC02C-2EF7-ECAC-2748-DFD545B7C0FD}"/>
              </a:ext>
            </a:extLst>
          </p:cNvPr>
          <p:cNvSpPr>
            <a:spLocks noGrp="1" noChangeArrowheads="1"/>
          </p:cNvSpPr>
          <p:nvPr>
            <p:ph type="title"/>
          </p:nvPr>
        </p:nvSpPr>
        <p:spPr>
          <a:xfrm>
            <a:off x="8237711" y="1346946"/>
            <a:ext cx="2818417" cy="3357976"/>
          </a:xfrm>
        </p:spPr>
        <p:txBody>
          <a:bodyPr vert="horz" lIns="91440" tIns="45720" rIns="91440" bIns="45720" rtlCol="0" anchor="ctr">
            <a:normAutofit/>
          </a:bodyPr>
          <a:lstStyle/>
          <a:p>
            <a:pPr>
              <a:lnSpc>
                <a:spcPct val="80000"/>
              </a:lnSpc>
            </a:pPr>
            <a:r>
              <a:rPr lang="en-US" altLang="en-US" sz="3600" dirty="0">
                <a:blipFill dpi="0" rotWithShape="1">
                  <a:blip r:embed="rId4"/>
                  <a:srcRect/>
                  <a:tile tx="6350" ty="-127000" sx="65000" sy="64000" flip="none" algn="tl"/>
                </a:blipFill>
              </a:rPr>
              <a:t>The structure of arteries, veins and capillaries</a:t>
            </a:r>
          </a:p>
        </p:txBody>
      </p:sp>
      <p:sp>
        <p:nvSpPr>
          <p:cNvPr id="9240" name="Rectangle 9239">
            <a:extLst>
              <a:ext uri="{FF2B5EF4-FFF2-40B4-BE49-F238E27FC236}">
                <a16:creationId xmlns:a16="http://schemas.microsoft.com/office/drawing/2014/main" id="{F39044D3-8725-4D57-BD64-A96E7C271A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5780565"/>
            <a:ext cx="10351008" cy="80683"/>
          </a:xfrm>
          <a:prstGeom prst="rect">
            <a:avLst/>
          </a:prstGeom>
          <a:blipFill dpi="0" rotWithShape="1">
            <a:blip r:embed="rId2">
              <a:alphaModFix amt="85000"/>
              <a:lum bright="70000" contrast="-70000"/>
              <a:extLs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242" name="Group 9241">
            <a:extLst>
              <a:ext uri="{FF2B5EF4-FFF2-40B4-BE49-F238E27FC236}">
                <a16:creationId xmlns:a16="http://schemas.microsoft.com/office/drawing/2014/main" id="{8DCC089B-F750-4C12-822F-DF53F4DD36B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6920" y="5257800"/>
            <a:ext cx="1080904" cy="1080902"/>
            <a:chOff x="9685338" y="4460675"/>
            <a:chExt cx="1080904" cy="1080902"/>
          </a:xfrm>
        </p:grpSpPr>
        <p:sp>
          <p:nvSpPr>
            <p:cNvPr id="9243" name="Oval 9242">
              <a:extLst>
                <a:ext uri="{FF2B5EF4-FFF2-40B4-BE49-F238E27FC236}">
                  <a16:creationId xmlns:a16="http://schemas.microsoft.com/office/drawing/2014/main" id="{3CDC7132-9021-4F21-AE5A-9B9B90C982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9244" name="Oval 9243">
              <a:extLst>
                <a:ext uri="{FF2B5EF4-FFF2-40B4-BE49-F238E27FC236}">
                  <a16:creationId xmlns:a16="http://schemas.microsoft.com/office/drawing/2014/main" id="{00D011B8-BF69-4B6B-B3D2-F1BA771086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pic>
        <p:nvPicPr>
          <p:cNvPr id="9218" name="Picture 4" descr="D:\Image_Library\JPEG_IL\19_IL_jpeg\19-01_artveincap_1.jpg">
            <a:extLst>
              <a:ext uri="{FF2B5EF4-FFF2-40B4-BE49-F238E27FC236}">
                <a16:creationId xmlns:a16="http://schemas.microsoft.com/office/drawing/2014/main" id="{1E7C76B0-CBFD-4346-41D7-F6CD11EB9E96}"/>
              </a:ext>
            </a:extLst>
          </p:cNvPr>
          <p:cNvPicPr>
            <a:picLocks noChangeAspect="1" noChangeArrowheads="1"/>
          </p:cNvPicPr>
          <p:nvPr/>
        </p:nvPicPr>
        <p:blipFill rotWithShape="1">
          <a:blip r:embed="rId6" r:link="rId7">
            <a:extLst>
              <a:ext uri="{28A0092B-C50C-407E-A947-70E740481C1C}">
                <a14:useLocalDpi xmlns:a14="http://schemas.microsoft.com/office/drawing/2010/main" val="0"/>
              </a:ext>
            </a:extLst>
          </a:blip>
          <a:srcRect t="27311" r="2" b="18201"/>
          <a:stretch>
            <a:fillRect/>
          </a:stretch>
        </p:blipFill>
        <p:spPr bwMode="auto">
          <a:xfrm>
            <a:off x="148191" y="1346946"/>
            <a:ext cx="7856505" cy="464053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4" descr="Image result">
            <a:extLst>
              <a:ext uri="{FF2B5EF4-FFF2-40B4-BE49-F238E27FC236}">
                <a16:creationId xmlns:a16="http://schemas.microsoft.com/office/drawing/2014/main" id="{75362D44-A8C8-B2EA-098B-B387B4A2ACC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894" t="10671" r="9825"/>
          <a:stretch/>
        </p:blipFill>
        <p:spPr bwMode="auto">
          <a:xfrm>
            <a:off x="4194535" y="11623"/>
            <a:ext cx="7997466" cy="6846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7" name="Picture 2" descr="Image result">
            <a:extLst>
              <a:ext uri="{FF2B5EF4-FFF2-40B4-BE49-F238E27FC236}">
                <a16:creationId xmlns:a16="http://schemas.microsoft.com/office/drawing/2014/main" id="{4964A887-CF14-2544-3D9B-24B6DAF811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949" r="61031" b="4745"/>
          <a:stretch>
            <a:fillRect/>
          </a:stretch>
        </p:blipFill>
        <p:spPr bwMode="auto">
          <a:xfrm>
            <a:off x="139149" y="0"/>
            <a:ext cx="2087216" cy="6924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a:extLst>
              <a:ext uri="{FF2B5EF4-FFF2-40B4-BE49-F238E27FC236}">
                <a16:creationId xmlns:a16="http://schemas.microsoft.com/office/drawing/2014/main" id="{59F8C3DE-D0A8-17D6-D720-A46E7002E9A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761" t="5492" r="6098" b="6938"/>
          <a:stretch/>
        </p:blipFill>
        <p:spPr bwMode="auto">
          <a:xfrm>
            <a:off x="1727200" y="1151617"/>
            <a:ext cx="7678057" cy="5753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5" name="Rectangle 3">
            <a:extLst>
              <a:ext uri="{FF2B5EF4-FFF2-40B4-BE49-F238E27FC236}">
                <a16:creationId xmlns:a16="http://schemas.microsoft.com/office/drawing/2014/main" id="{61E9C985-03EB-9CC8-29F5-09BB23B646CE}"/>
              </a:ext>
            </a:extLst>
          </p:cNvPr>
          <p:cNvSpPr>
            <a:spLocks noGrp="1" noChangeArrowheads="1"/>
          </p:cNvSpPr>
          <p:nvPr>
            <p:ph type="title"/>
          </p:nvPr>
        </p:nvSpPr>
        <p:spPr>
          <a:xfrm>
            <a:off x="808590" y="76199"/>
            <a:ext cx="10058400" cy="1609344"/>
          </a:xfrm>
        </p:spPr>
        <p:txBody>
          <a:bodyPr/>
          <a:lstStyle/>
          <a:p>
            <a:pPr eaLnBrk="1" hangingPunct="1"/>
            <a:r>
              <a:rPr lang="en-US" altLang="en-US" dirty="0"/>
              <a:t>Systemic Blood Pressure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C7FF924-8DA0-4BE9-8C7E-095B0EC13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66502" y="0"/>
            <a:ext cx="6125497"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FB3322-08B1-9D28-48F8-ACE677E24F0B}"/>
              </a:ext>
            </a:extLst>
          </p:cNvPr>
          <p:cNvSpPr>
            <a:spLocks noGrp="1"/>
          </p:cNvSpPr>
          <p:nvPr>
            <p:ph type="title"/>
          </p:nvPr>
        </p:nvSpPr>
        <p:spPr>
          <a:xfrm>
            <a:off x="6400800" y="484632"/>
            <a:ext cx="5299586" cy="1609344"/>
          </a:xfrm>
          <a:ln>
            <a:noFill/>
          </a:ln>
        </p:spPr>
        <p:txBody>
          <a:bodyPr>
            <a:normAutofit/>
          </a:bodyPr>
          <a:lstStyle/>
          <a:p>
            <a:r>
              <a:rPr lang="en-GB" sz="4000"/>
              <a:t>Anastomose</a:t>
            </a:r>
          </a:p>
        </p:txBody>
      </p:sp>
      <p:pic>
        <p:nvPicPr>
          <p:cNvPr id="4" name="Picture 2" descr="Calendar&#10;&#10;Description automatically generated with medium confidence">
            <a:extLst>
              <a:ext uri="{FF2B5EF4-FFF2-40B4-BE49-F238E27FC236}">
                <a16:creationId xmlns:a16="http://schemas.microsoft.com/office/drawing/2014/main" id="{362A052C-B133-EF24-B8EC-7029E326297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b="32053"/>
          <a:stretch>
            <a:fillRect/>
          </a:stretch>
        </p:blipFill>
        <p:spPr bwMode="auto">
          <a:xfrm>
            <a:off x="633999" y="2021467"/>
            <a:ext cx="5112461" cy="282532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a:extLst>
              <a:ext uri="{FF2B5EF4-FFF2-40B4-BE49-F238E27FC236}">
                <a16:creationId xmlns:a16="http://schemas.microsoft.com/office/drawing/2014/main" id="{6D381161-5DF6-CCFE-10E8-23AA50E9EC01}"/>
              </a:ext>
            </a:extLst>
          </p:cNvPr>
          <p:cNvSpPr>
            <a:spLocks noGrp="1"/>
          </p:cNvSpPr>
          <p:nvPr>
            <p:ph idx="1"/>
          </p:nvPr>
        </p:nvSpPr>
        <p:spPr>
          <a:xfrm>
            <a:off x="6400799" y="2121408"/>
            <a:ext cx="5299585" cy="4050792"/>
          </a:xfrm>
        </p:spPr>
        <p:txBody>
          <a:bodyPr>
            <a:normAutofit/>
          </a:bodyPr>
          <a:lstStyle/>
          <a:p>
            <a:r>
              <a:rPr lang="en-GB" sz="1800" dirty="0"/>
              <a:t>Connection between two vessels…..such as arteriovenous allowing blood flow to bypass one area or to increase / decrease flow rates</a:t>
            </a:r>
          </a:p>
          <a:p>
            <a:endParaRPr lang="en-GB" sz="1800" dirty="0"/>
          </a:p>
          <a:p>
            <a:r>
              <a:rPr lang="en-GB" sz="1800" dirty="0"/>
              <a:t>Also surgical anastomosing </a:t>
            </a:r>
          </a:p>
          <a:p>
            <a:endParaRPr lang="en-GB" sz="1800" dirty="0"/>
          </a:p>
        </p:txBody>
      </p:sp>
      <p:grpSp>
        <p:nvGrpSpPr>
          <p:cNvPr id="11" name="Group 10">
            <a:extLst>
              <a:ext uri="{FF2B5EF4-FFF2-40B4-BE49-F238E27FC236}">
                <a16:creationId xmlns:a16="http://schemas.microsoft.com/office/drawing/2014/main" id="{5029B4A8-2CF0-48DC-B29E-F3B62EDDC44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2" name="Oval 11">
              <a:extLst>
                <a:ext uri="{FF2B5EF4-FFF2-40B4-BE49-F238E27FC236}">
                  <a16:creationId xmlns:a16="http://schemas.microsoft.com/office/drawing/2014/main" id="{F71DA811-F7AE-460D-9891-57F221994B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3" name="Oval 12">
              <a:extLst>
                <a:ext uri="{FF2B5EF4-FFF2-40B4-BE49-F238E27FC236}">
                  <a16:creationId xmlns:a16="http://schemas.microsoft.com/office/drawing/2014/main" id="{3747795E-BBFD-44B4-892D-2054745A84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13426161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57FE272-F861-909F-4CE7-0F4468B01161}"/>
              </a:ext>
            </a:extLst>
          </p:cNvPr>
          <p:cNvGrpSpPr/>
          <p:nvPr/>
        </p:nvGrpSpPr>
        <p:grpSpPr>
          <a:xfrm>
            <a:off x="5375276" y="0"/>
            <a:ext cx="4606925" cy="6858000"/>
            <a:chOff x="5375276" y="0"/>
            <a:chExt cx="4606925" cy="6858000"/>
          </a:xfrm>
        </p:grpSpPr>
        <p:pic>
          <p:nvPicPr>
            <p:cNvPr id="35842" name="Picture 9" descr="18-05_circuits_1">
              <a:extLst>
                <a:ext uri="{FF2B5EF4-FFF2-40B4-BE49-F238E27FC236}">
                  <a16:creationId xmlns:a16="http://schemas.microsoft.com/office/drawing/2014/main" id="{FF4F16DC-E045-E4B4-5AC4-63C98B6251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75276" y="0"/>
              <a:ext cx="460692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Oval 1">
              <a:extLst>
                <a:ext uri="{FF2B5EF4-FFF2-40B4-BE49-F238E27FC236}">
                  <a16:creationId xmlns:a16="http://schemas.microsoft.com/office/drawing/2014/main" id="{26ED738F-CE00-73D5-7DF6-201AD618206A}"/>
                </a:ext>
              </a:extLst>
            </p:cNvPr>
            <p:cNvSpPr/>
            <p:nvPr/>
          </p:nvSpPr>
          <p:spPr>
            <a:xfrm>
              <a:off x="6220052" y="2140855"/>
              <a:ext cx="3265714" cy="4717145"/>
            </a:xfrm>
            <a:prstGeom prst="ellipse">
              <a:avLst/>
            </a:prstGeom>
            <a:noFill/>
            <a:ln w="381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4" name="Title 1">
            <a:extLst>
              <a:ext uri="{FF2B5EF4-FFF2-40B4-BE49-F238E27FC236}">
                <a16:creationId xmlns:a16="http://schemas.microsoft.com/office/drawing/2014/main" id="{C714FD56-4202-9198-9E03-CFCAF09791AF}"/>
              </a:ext>
            </a:extLst>
          </p:cNvPr>
          <p:cNvSpPr txBox="1">
            <a:spLocks/>
          </p:cNvSpPr>
          <p:nvPr/>
        </p:nvSpPr>
        <p:spPr>
          <a:xfrm>
            <a:off x="1069848" y="484632"/>
            <a:ext cx="10058400" cy="1609344"/>
          </a:xfrm>
          <a:prstGeom prst="rect">
            <a:avLst/>
          </a:prstGeom>
        </p:spPr>
        <p:txBody>
          <a:bodyPr/>
          <a:lstStyle>
            <a:lvl1pPr algn="l" defTabSz="914400" rtl="0" eaLnBrk="1" latinLnBrk="0" hangingPunct="1">
              <a:lnSpc>
                <a:spcPct val="90000"/>
              </a:lnSpc>
              <a:spcBef>
                <a:spcPct val="0"/>
              </a:spcBef>
              <a:buNone/>
              <a:defRPr sz="5400" kern="1200" cap="all" baseline="0">
                <a:blipFill>
                  <a:blip r:embed="rId4">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r>
              <a:rPr lang="en-GB"/>
              <a:t>Systemic vessels</a:t>
            </a:r>
            <a:endParaRPr lang="en-GB"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0FC12D5-8A16-5A14-6896-C3950AE3409C}"/>
              </a:ext>
            </a:extLst>
          </p:cNvPr>
          <p:cNvGrpSpPr/>
          <p:nvPr/>
        </p:nvGrpSpPr>
        <p:grpSpPr>
          <a:xfrm>
            <a:off x="5375276" y="-1"/>
            <a:ext cx="4606925" cy="6858001"/>
            <a:chOff x="5375276" y="-1"/>
            <a:chExt cx="4606925" cy="6858001"/>
          </a:xfrm>
        </p:grpSpPr>
        <p:pic>
          <p:nvPicPr>
            <p:cNvPr id="35842" name="Picture 9" descr="18-05_circuits_1">
              <a:extLst>
                <a:ext uri="{FF2B5EF4-FFF2-40B4-BE49-F238E27FC236}">
                  <a16:creationId xmlns:a16="http://schemas.microsoft.com/office/drawing/2014/main" id="{FF4F16DC-E045-E4B4-5AC4-63C98B6251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75276" y="0"/>
              <a:ext cx="460692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Oval 1">
              <a:extLst>
                <a:ext uri="{FF2B5EF4-FFF2-40B4-BE49-F238E27FC236}">
                  <a16:creationId xmlns:a16="http://schemas.microsoft.com/office/drawing/2014/main" id="{9A673E32-A23A-3243-7B47-F559B343CA7B}"/>
                </a:ext>
              </a:extLst>
            </p:cNvPr>
            <p:cNvSpPr/>
            <p:nvPr/>
          </p:nvSpPr>
          <p:spPr>
            <a:xfrm>
              <a:off x="6096001" y="-1"/>
              <a:ext cx="3265714" cy="4165601"/>
            </a:xfrm>
            <a:prstGeom prst="ellipse">
              <a:avLst/>
            </a:prstGeom>
            <a:noFill/>
            <a:ln w="381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4" name="Title 1">
            <a:extLst>
              <a:ext uri="{FF2B5EF4-FFF2-40B4-BE49-F238E27FC236}">
                <a16:creationId xmlns:a16="http://schemas.microsoft.com/office/drawing/2014/main" id="{39B66DAA-51E7-8B13-5F57-BC90D94DE681}"/>
              </a:ext>
            </a:extLst>
          </p:cNvPr>
          <p:cNvSpPr txBox="1">
            <a:spLocks/>
          </p:cNvSpPr>
          <p:nvPr/>
        </p:nvSpPr>
        <p:spPr>
          <a:xfrm>
            <a:off x="1066800" y="426575"/>
            <a:ext cx="10058400" cy="1609344"/>
          </a:xfrm>
          <a:prstGeom prst="rect">
            <a:avLst/>
          </a:prstGeom>
        </p:spPr>
        <p:txBody>
          <a:bodyPr/>
          <a:lstStyle>
            <a:lvl1pPr algn="l" defTabSz="914400" rtl="0" eaLnBrk="1" latinLnBrk="0" hangingPunct="1">
              <a:lnSpc>
                <a:spcPct val="90000"/>
              </a:lnSpc>
              <a:spcBef>
                <a:spcPct val="0"/>
              </a:spcBef>
              <a:buNone/>
              <a:defRPr sz="5400" kern="1200" cap="all" baseline="0">
                <a:blipFill>
                  <a:blip r:embed="rId4">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r>
              <a:rPr lang="en-GB"/>
              <a:t>Pulmonary vessels</a:t>
            </a:r>
            <a:endParaRPr lang="en-GB" dirty="0"/>
          </a:p>
        </p:txBody>
      </p:sp>
    </p:spTree>
    <p:extLst>
      <p:ext uri="{BB962C8B-B14F-4D97-AF65-F5344CB8AC3E}">
        <p14:creationId xmlns:p14="http://schemas.microsoft.com/office/powerpoint/2010/main" val="11206285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E3723-C663-2C3D-18A9-1536572A1010}"/>
              </a:ext>
            </a:extLst>
          </p:cNvPr>
          <p:cNvSpPr>
            <a:spLocks noGrp="1"/>
          </p:cNvSpPr>
          <p:nvPr>
            <p:ph type="title"/>
          </p:nvPr>
        </p:nvSpPr>
        <p:spPr/>
        <p:txBody>
          <a:bodyPr/>
          <a:lstStyle/>
          <a:p>
            <a:r>
              <a:rPr lang="en-GB" dirty="0"/>
              <a:t>Capillaries</a:t>
            </a:r>
          </a:p>
        </p:txBody>
      </p:sp>
    </p:spTree>
    <p:extLst>
      <p:ext uri="{BB962C8B-B14F-4D97-AF65-F5344CB8AC3E}">
        <p14:creationId xmlns:p14="http://schemas.microsoft.com/office/powerpoint/2010/main" val="6080296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a:extLst>
              <a:ext uri="{FF2B5EF4-FFF2-40B4-BE49-F238E27FC236}">
                <a16:creationId xmlns:a16="http://schemas.microsoft.com/office/drawing/2014/main" id="{1982BD6F-DE77-5B16-C383-12D2D72E1180}"/>
              </a:ext>
            </a:extLst>
          </p:cNvPr>
          <p:cNvSpPr>
            <a:spLocks noChangeArrowheads="1"/>
          </p:cNvSpPr>
          <p:nvPr/>
        </p:nvSpPr>
        <p:spPr bwMode="auto">
          <a:xfrm>
            <a:off x="508000" y="179680"/>
            <a:ext cx="10145486" cy="6498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just" eaLnBrk="1" hangingPunct="1">
              <a:lnSpc>
                <a:spcPct val="150000"/>
              </a:lnSpc>
              <a:buClr>
                <a:srgbClr val="FF0000"/>
              </a:buClr>
              <a:buFont typeface="Arial" panose="020B0604020202020204" pitchFamily="34" charset="0"/>
              <a:buChar char="•"/>
            </a:pPr>
            <a:r>
              <a:rPr lang="en-GB" altLang="en-US" sz="2000" dirty="0">
                <a:solidFill>
                  <a:srgbClr val="3F5E9A"/>
                </a:solidFill>
                <a:latin typeface="Arial" panose="020B0604020202020204" pitchFamily="34" charset="0"/>
                <a:cs typeface="Times New Roman" panose="02020603050405020304" pitchFamily="18" charset="0"/>
              </a:rPr>
              <a:t>Capillary blood flow is slow and intermittent reflecting the need for an erythrocyte transit time of &gt;1 second for complete O</a:t>
            </a:r>
            <a:r>
              <a:rPr lang="en-GB" altLang="en-US" sz="2000" baseline="-30000" dirty="0">
                <a:solidFill>
                  <a:srgbClr val="3F5E9A"/>
                </a:solidFill>
                <a:latin typeface="Arial" panose="020B0604020202020204" pitchFamily="34" charset="0"/>
                <a:cs typeface="Times New Roman" panose="02020603050405020304" pitchFamily="18" charset="0"/>
              </a:rPr>
              <a:t>2</a:t>
            </a:r>
            <a:r>
              <a:rPr lang="en-GB" altLang="en-US" sz="2000" dirty="0">
                <a:solidFill>
                  <a:srgbClr val="3F5E9A"/>
                </a:solidFill>
                <a:latin typeface="Arial" panose="020B0604020202020204" pitchFamily="34" charset="0"/>
                <a:cs typeface="Times New Roman" panose="02020603050405020304" pitchFamily="18" charset="0"/>
              </a:rPr>
              <a:t> diffusion from the capillary to surrounding tissue </a:t>
            </a:r>
          </a:p>
          <a:p>
            <a:pPr algn="just" eaLnBrk="1" hangingPunct="1">
              <a:lnSpc>
                <a:spcPct val="150000"/>
              </a:lnSpc>
              <a:buClr>
                <a:srgbClr val="FF0000"/>
              </a:buClr>
            </a:pPr>
            <a:endParaRPr lang="en-GB" altLang="en-US" sz="2000" dirty="0">
              <a:solidFill>
                <a:srgbClr val="3F5E9A"/>
              </a:solidFill>
              <a:latin typeface="Arial" panose="020B0604020202020204" pitchFamily="34" charset="0"/>
              <a:cs typeface="Times New Roman" panose="02020603050405020304" pitchFamily="18" charset="0"/>
            </a:endParaRPr>
          </a:p>
          <a:p>
            <a:pPr algn="just" eaLnBrk="1" hangingPunct="1">
              <a:lnSpc>
                <a:spcPct val="150000"/>
              </a:lnSpc>
              <a:buClr>
                <a:srgbClr val="FF0000"/>
              </a:buClr>
              <a:buFont typeface="Arial" panose="020B0604020202020204" pitchFamily="34" charset="0"/>
              <a:buChar char="•"/>
            </a:pPr>
            <a:r>
              <a:rPr lang="en-GB" altLang="en-US" sz="2000" dirty="0">
                <a:solidFill>
                  <a:srgbClr val="3F5E9A"/>
                </a:solidFill>
                <a:latin typeface="Arial" panose="020B0604020202020204" pitchFamily="34" charset="0"/>
                <a:cs typeface="Times New Roman" panose="02020603050405020304" pitchFamily="18" charset="0"/>
              </a:rPr>
              <a:t>The erythrocyte has a diameter of 7.2μm – larger than a capillary </a:t>
            </a:r>
          </a:p>
          <a:p>
            <a:pPr algn="just" eaLnBrk="1" hangingPunct="1">
              <a:lnSpc>
                <a:spcPct val="150000"/>
              </a:lnSpc>
              <a:buClr>
                <a:srgbClr val="FF0000"/>
              </a:buClr>
            </a:pPr>
            <a:endParaRPr lang="en-GB" altLang="en-US" sz="2000" dirty="0">
              <a:solidFill>
                <a:srgbClr val="3F5E9A"/>
              </a:solidFill>
              <a:latin typeface="Arial" panose="020B0604020202020204" pitchFamily="34" charset="0"/>
              <a:cs typeface="Times New Roman" panose="02020603050405020304" pitchFamily="18" charset="0"/>
            </a:endParaRPr>
          </a:p>
          <a:p>
            <a:pPr algn="just">
              <a:lnSpc>
                <a:spcPct val="150000"/>
              </a:lnSpc>
              <a:buClr>
                <a:srgbClr val="FF0000"/>
              </a:buClr>
              <a:buFont typeface="Arial" panose="020B0604020202020204" pitchFamily="34" charset="0"/>
              <a:buChar char="•"/>
            </a:pPr>
            <a:r>
              <a:rPr lang="en-GB" altLang="en-US" sz="2000" dirty="0">
                <a:solidFill>
                  <a:srgbClr val="3F5E9A"/>
                </a:solidFill>
                <a:latin typeface="Arial" panose="020B0604020202020204" pitchFamily="34" charset="0"/>
                <a:cs typeface="Times New Roman" panose="02020603050405020304" pitchFamily="18" charset="0"/>
              </a:rPr>
              <a:t>Types: nutritional capillaries &amp; thermoregulatory capillaries </a:t>
            </a:r>
          </a:p>
          <a:p>
            <a:pPr algn="just">
              <a:lnSpc>
                <a:spcPct val="150000"/>
              </a:lnSpc>
              <a:buClr>
                <a:srgbClr val="FF0000"/>
              </a:buClr>
            </a:pPr>
            <a:endParaRPr lang="en-GB" altLang="en-US" sz="2000" dirty="0">
              <a:solidFill>
                <a:srgbClr val="3F5E9A"/>
              </a:solidFill>
              <a:latin typeface="Arial" panose="020B0604020202020204" pitchFamily="34" charset="0"/>
              <a:cs typeface="Times New Roman" panose="02020603050405020304" pitchFamily="18" charset="0"/>
            </a:endParaRPr>
          </a:p>
          <a:p>
            <a:pPr algn="just" eaLnBrk="1" hangingPunct="1">
              <a:lnSpc>
                <a:spcPct val="150000"/>
              </a:lnSpc>
              <a:buClr>
                <a:srgbClr val="FF0000"/>
              </a:buClr>
              <a:buFont typeface="Arial" panose="020B0604020202020204" pitchFamily="34" charset="0"/>
              <a:buChar char="•"/>
            </a:pPr>
            <a:r>
              <a:rPr lang="en-GB" altLang="en-US" sz="2000" dirty="0">
                <a:solidFill>
                  <a:srgbClr val="3F5E9A"/>
                </a:solidFill>
                <a:latin typeface="Arial" panose="020B0604020202020204" pitchFamily="34" charset="0"/>
                <a:cs typeface="Times New Roman" panose="02020603050405020304" pitchFamily="18" charset="0"/>
              </a:rPr>
              <a:t>Some capillaries are unresponsive to thermal stress and do not increase blood flow in response to heat</a:t>
            </a:r>
            <a:endParaRPr lang="en-GB" altLang="en-US" sz="2000" dirty="0">
              <a:solidFill>
                <a:srgbClr val="3F5E9A"/>
              </a:solidFill>
              <a:latin typeface="Arial" panose="020B0604020202020204" pitchFamily="34" charset="0"/>
            </a:endParaRPr>
          </a:p>
          <a:p>
            <a:pPr algn="just">
              <a:lnSpc>
                <a:spcPct val="150000"/>
              </a:lnSpc>
              <a:buClr>
                <a:srgbClr val="FF0000"/>
              </a:buClr>
            </a:pPr>
            <a:endParaRPr lang="en-GB" altLang="en-US" sz="2000" dirty="0">
              <a:solidFill>
                <a:srgbClr val="3F5E9A"/>
              </a:solidFill>
              <a:latin typeface="Arial" panose="020B0604020202020204" pitchFamily="34" charset="0"/>
              <a:cs typeface="Times New Roman" panose="02020603050405020304" pitchFamily="18" charset="0"/>
            </a:endParaRPr>
          </a:p>
          <a:p>
            <a:pPr algn="just">
              <a:lnSpc>
                <a:spcPct val="150000"/>
              </a:lnSpc>
              <a:buClr>
                <a:srgbClr val="FF0000"/>
              </a:buClr>
              <a:buFont typeface="Arial" panose="020B0604020202020204" pitchFamily="34" charset="0"/>
              <a:buChar char="•"/>
            </a:pPr>
            <a:r>
              <a:rPr lang="en-GB" altLang="en-US" sz="2000" dirty="0">
                <a:solidFill>
                  <a:srgbClr val="3F5E9A"/>
                </a:solidFill>
                <a:latin typeface="Arial" panose="020B0604020202020204" pitchFamily="34" charset="0"/>
                <a:cs typeface="Times New Roman" panose="02020603050405020304" pitchFamily="18" charset="0"/>
              </a:rPr>
              <a:t>Hyperaemia allows a 100 fold increase in capillary blood flow at maximal perfusion</a:t>
            </a:r>
          </a:p>
          <a:p>
            <a:pPr>
              <a:lnSpc>
                <a:spcPct val="150000"/>
              </a:lnSpc>
              <a:buClr>
                <a:srgbClr val="FF0000"/>
              </a:buClr>
            </a:pPr>
            <a:endParaRPr lang="en-GB" altLang="en-US" sz="2000" dirty="0">
              <a:solidFill>
                <a:srgbClr val="3F5E9A"/>
              </a:solidFill>
              <a:latin typeface="Arial" panose="020B0604020202020204" pitchFamily="34" charset="0"/>
            </a:endParaRPr>
          </a:p>
          <a:p>
            <a:pPr>
              <a:lnSpc>
                <a:spcPct val="150000"/>
              </a:lnSpc>
              <a:buClr>
                <a:srgbClr val="FF0000"/>
              </a:buClr>
              <a:buFont typeface="Arial" panose="020B0604020202020204" pitchFamily="34" charset="0"/>
              <a:buChar char="•"/>
            </a:pPr>
            <a:r>
              <a:rPr lang="en-GB" altLang="en-US" sz="2000" dirty="0">
                <a:solidFill>
                  <a:srgbClr val="3F5E9A"/>
                </a:solidFill>
                <a:latin typeface="Arial" panose="020B0604020202020204" pitchFamily="34" charset="0"/>
              </a:rPr>
              <a:t>The number of capillaries per unit area is considered a determinant of tissue oxygenation: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6E6CD-459F-51B9-5042-6643581EDD67}"/>
              </a:ext>
            </a:extLst>
          </p:cNvPr>
          <p:cNvSpPr>
            <a:spLocks noGrp="1"/>
          </p:cNvSpPr>
          <p:nvPr>
            <p:ph type="title"/>
          </p:nvPr>
        </p:nvSpPr>
        <p:spPr>
          <a:xfrm>
            <a:off x="1051560" y="643468"/>
            <a:ext cx="9966960" cy="3592432"/>
          </a:xfrm>
        </p:spPr>
        <p:txBody>
          <a:bodyPr vert="horz" lIns="91440" tIns="45720" rIns="91440" bIns="45720" rtlCol="0" anchor="ctr">
            <a:normAutofit/>
          </a:bodyPr>
          <a:lstStyle/>
          <a:p>
            <a:pPr>
              <a:lnSpc>
                <a:spcPct val="80000"/>
              </a:lnSpc>
            </a:pPr>
            <a:r>
              <a:rPr lang="en-US" sz="9600" dirty="0">
                <a:blipFill dpi="0" rotWithShape="1">
                  <a:blip r:embed="rId2"/>
                  <a:srcRect/>
                  <a:tile tx="6350" ty="-127000" sx="65000" sy="64000" flip="none" algn="tl"/>
                </a:blipFill>
              </a:rPr>
              <a:t>6. Lymphatic system</a:t>
            </a:r>
          </a:p>
        </p:txBody>
      </p:sp>
    </p:spTree>
    <p:extLst>
      <p:ext uri="{BB962C8B-B14F-4D97-AF65-F5344CB8AC3E}">
        <p14:creationId xmlns:p14="http://schemas.microsoft.com/office/powerpoint/2010/main" val="4247770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1511" name="Group 21510">
            <a:extLst>
              <a:ext uri="{FF2B5EF4-FFF2-40B4-BE49-F238E27FC236}">
                <a16:creationId xmlns:a16="http://schemas.microsoft.com/office/drawing/2014/main" id="{2A313B03-D361-4EC9-AF52-0B3C1C92C2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21512" name="Oval 21511">
              <a:extLst>
                <a:ext uri="{FF2B5EF4-FFF2-40B4-BE49-F238E27FC236}">
                  <a16:creationId xmlns:a16="http://schemas.microsoft.com/office/drawing/2014/main" id="{5E79CB85-A08A-4579-86F6-A8AA97551B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3">
                <a:duotone>
                  <a:schemeClr val="accent1">
                    <a:shade val="45000"/>
                    <a:satMod val="135000"/>
                  </a:schemeClr>
                  <a:prstClr val="white"/>
                </a:duotone>
                <a:extLst>
                  <a:ext uri="{BEBA8EAE-BF5A-486C-A8C5-ECC9F3942E4B}">
                    <a14:imgProps xmlns:a14="http://schemas.microsoft.com/office/drawing/2010/main">
                      <a14:imgLayer r:embed="rId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GB"/>
            </a:p>
          </p:txBody>
        </p:sp>
        <p:sp>
          <p:nvSpPr>
            <p:cNvPr id="21513" name="Oval 21512">
              <a:extLst>
                <a:ext uri="{FF2B5EF4-FFF2-40B4-BE49-F238E27FC236}">
                  <a16:creationId xmlns:a16="http://schemas.microsoft.com/office/drawing/2014/main" id="{D6C61C9C-364D-4CB6-B9D1-1A6F50F6AF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GB"/>
            </a:p>
          </p:txBody>
        </p:sp>
      </p:grpSp>
      <p:sp>
        <p:nvSpPr>
          <p:cNvPr id="21515" name="Rectangle 21514">
            <a:extLst>
              <a:ext uri="{FF2B5EF4-FFF2-40B4-BE49-F238E27FC236}">
                <a16:creationId xmlns:a16="http://schemas.microsoft.com/office/drawing/2014/main" id="{9C5EC292-991E-4C8F-9F55-D72971A4B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17" name="Rectangle 21516">
            <a:extLst>
              <a:ext uri="{FF2B5EF4-FFF2-40B4-BE49-F238E27FC236}">
                <a16:creationId xmlns:a16="http://schemas.microsoft.com/office/drawing/2014/main" id="{F90B7573-D2CD-4589-B099-E8254726AC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999"/>
          </a:xfrm>
          <a:prstGeom prst="rect">
            <a:avLst/>
          </a:prstGeom>
          <a:blipFill dpi="0" rotWithShape="1">
            <a:blip r:embed="rId5">
              <a:alphaModFix amt="50000"/>
              <a:lum bright="70000" contrast="-70000"/>
              <a:extLst>
                <a:ext uri="{BEBA8EAE-BF5A-486C-A8C5-ECC9F3942E4B}">
                  <a14:imgProps xmlns:a14="http://schemas.microsoft.com/office/drawing/2010/main">
                    <a14:imgLayer r:embed="rId6">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useBgFill="1">
        <p:nvSpPr>
          <p:cNvPr id="21519" name="Rectangle 21518">
            <a:extLst>
              <a:ext uri="{FF2B5EF4-FFF2-40B4-BE49-F238E27FC236}">
                <a16:creationId xmlns:a16="http://schemas.microsoft.com/office/drawing/2014/main" id="{C26A041F-C32D-4E9C-AD9A-6F8F9710D9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1" y="480059"/>
            <a:ext cx="11237976" cy="5897880"/>
          </a:xfrm>
          <a:prstGeom prst="rect">
            <a:avLst/>
          </a:prstGeom>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AF9E3C69-FD4B-F9BD-A27A-9F5948499E6A}"/>
              </a:ext>
            </a:extLst>
          </p:cNvPr>
          <p:cNvGrpSpPr/>
          <p:nvPr/>
        </p:nvGrpSpPr>
        <p:grpSpPr>
          <a:xfrm>
            <a:off x="2723322" y="803061"/>
            <a:ext cx="5668077" cy="5574877"/>
            <a:chOff x="734656" y="523149"/>
            <a:chExt cx="5361344" cy="6133378"/>
          </a:xfrm>
        </p:grpSpPr>
        <p:pic>
          <p:nvPicPr>
            <p:cNvPr id="21506" name="Picture 2" descr="the lymphatic system">
              <a:extLst>
                <a:ext uri="{FF2B5EF4-FFF2-40B4-BE49-F238E27FC236}">
                  <a16:creationId xmlns:a16="http://schemas.microsoft.com/office/drawing/2014/main" id="{5162D496-C5CA-E90B-EC1E-AE42316C9B5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34656" y="523149"/>
              <a:ext cx="5361344" cy="613337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73094437-D4A0-70AD-93B7-B5C38BB588D6}"/>
                </a:ext>
              </a:extLst>
            </p:cNvPr>
            <p:cNvSpPr/>
            <p:nvPr/>
          </p:nvSpPr>
          <p:spPr>
            <a:xfrm>
              <a:off x="4306531" y="5929883"/>
              <a:ext cx="1789469" cy="6895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464119"/>
            <a:ext cx="10222992" cy="80683"/>
          </a:xfrm>
          <a:prstGeom prst="rect">
            <a:avLst/>
          </a:prstGeom>
          <a:blipFill dpi="0" rotWithShape="1">
            <a:blip r:embed="rId3">
              <a:alphaModFix amt="85000"/>
              <a:lum bright="70000" contrast="-70000"/>
              <a:extLst>
                <a:ext uri="{BEBA8EAE-BF5A-486C-A8C5-ECC9F3942E4B}">
                  <a14:imgProps xmlns:a14="http://schemas.microsoft.com/office/drawing/2010/main">
                    <a14:imgLayer r:embed="rId4">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2" name="Rectangle 11">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01952"/>
            <a:ext cx="10222992" cy="1385874"/>
          </a:xfrm>
          <a:prstGeom prst="rect">
            <a:avLst/>
          </a:prstGeom>
          <a:blipFill dpi="0" rotWithShape="1">
            <a:blip r:embed="rId3">
              <a:alphaModFix amt="85000"/>
              <a:lum bright="70000" contrast="-70000"/>
              <a:extLst>
                <a:ext uri="{BEBA8EAE-BF5A-486C-A8C5-ECC9F3942E4B}">
                  <a14:imgProps xmlns:a14="http://schemas.microsoft.com/office/drawing/2010/main">
                    <a14:imgLayer r:embed="rId4">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4" name="Rectangle 13">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2038655"/>
            <a:ext cx="10222992" cy="80683"/>
          </a:xfrm>
          <a:prstGeom prst="rect">
            <a:avLst/>
          </a:prstGeom>
          <a:blipFill dpi="0" rotWithShape="1">
            <a:blip r:embed="rId3">
              <a:alphaModFix amt="85000"/>
              <a:lum bright="70000" contrast="-70000"/>
              <a:extLst>
                <a:ext uri="{BEBA8EAE-BF5A-486C-A8C5-ECC9F3942E4B}">
                  <a14:imgProps xmlns:a14="http://schemas.microsoft.com/office/drawing/2010/main">
                    <a14:imgLayer r:embed="rId4">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78774986-C2BC-76BD-E349-0FE3250AFD5C}"/>
              </a:ext>
            </a:extLst>
          </p:cNvPr>
          <p:cNvSpPr>
            <a:spLocks noGrp="1"/>
          </p:cNvSpPr>
          <p:nvPr>
            <p:ph type="title"/>
          </p:nvPr>
        </p:nvSpPr>
        <p:spPr>
          <a:xfrm>
            <a:off x="1069848" y="484632"/>
            <a:ext cx="10058400" cy="1609344"/>
          </a:xfrm>
        </p:spPr>
        <p:txBody>
          <a:bodyPr>
            <a:normAutofit/>
          </a:bodyPr>
          <a:lstStyle/>
          <a:p>
            <a:r>
              <a:rPr lang="en-GB" dirty="0"/>
              <a:t>Lymphatic system</a:t>
            </a:r>
          </a:p>
        </p:txBody>
      </p:sp>
      <p:sp>
        <p:nvSpPr>
          <p:cNvPr id="3" name="Content Placeholder 2">
            <a:extLst>
              <a:ext uri="{FF2B5EF4-FFF2-40B4-BE49-F238E27FC236}">
                <a16:creationId xmlns:a16="http://schemas.microsoft.com/office/drawing/2014/main" id="{050880BD-3F17-3EC0-C11D-F4B7119C0F94}"/>
              </a:ext>
            </a:extLst>
          </p:cNvPr>
          <p:cNvSpPr>
            <a:spLocks noGrp="1"/>
          </p:cNvSpPr>
          <p:nvPr>
            <p:ph idx="1"/>
          </p:nvPr>
        </p:nvSpPr>
        <p:spPr>
          <a:xfrm>
            <a:off x="1069848" y="2320412"/>
            <a:ext cx="10058400" cy="4366469"/>
          </a:xfrm>
        </p:spPr>
        <p:txBody>
          <a:bodyPr>
            <a:normAutofit/>
          </a:bodyPr>
          <a:lstStyle/>
          <a:p>
            <a:pPr>
              <a:lnSpc>
                <a:spcPct val="150000"/>
              </a:lnSpc>
            </a:pPr>
            <a:r>
              <a:rPr lang="en-GB" dirty="0"/>
              <a:t>Thin walled, highly permeable capillaries with one way valves and muscles cells </a:t>
            </a:r>
          </a:p>
          <a:p>
            <a:pPr>
              <a:lnSpc>
                <a:spcPct val="150000"/>
              </a:lnSpc>
            </a:pPr>
            <a:r>
              <a:rPr lang="en-GB" dirty="0"/>
              <a:t>Lymph fluid containing a significant number of lymphocytes (</a:t>
            </a:r>
            <a:r>
              <a:rPr lang="en-GB" dirty="0" err="1"/>
              <a:t>wbc</a:t>
            </a:r>
            <a:r>
              <a:rPr lang="en-GB" dirty="0"/>
              <a:t>)</a:t>
            </a:r>
          </a:p>
          <a:p>
            <a:pPr>
              <a:lnSpc>
                <a:spcPct val="150000"/>
              </a:lnSpc>
            </a:pPr>
            <a:r>
              <a:rPr lang="en-GB" dirty="0"/>
              <a:t>Nodes (glands)</a:t>
            </a:r>
          </a:p>
          <a:p>
            <a:pPr>
              <a:lnSpc>
                <a:spcPct val="150000"/>
              </a:lnSpc>
            </a:pPr>
            <a:endParaRPr lang="en-GB" dirty="0"/>
          </a:p>
          <a:p>
            <a:pPr>
              <a:lnSpc>
                <a:spcPct val="150000"/>
              </a:lnSpc>
            </a:pPr>
            <a:r>
              <a:rPr lang="en-GB" dirty="0"/>
              <a:t>1. Initial lymphatics: Receive interstitial fluid</a:t>
            </a:r>
          </a:p>
          <a:p>
            <a:pPr>
              <a:lnSpc>
                <a:spcPct val="150000"/>
              </a:lnSpc>
            </a:pPr>
            <a:r>
              <a:rPr lang="en-GB" dirty="0"/>
              <a:t>2. Collecting lymphatics: </a:t>
            </a:r>
          </a:p>
          <a:p>
            <a:pPr>
              <a:lnSpc>
                <a:spcPct val="150000"/>
              </a:lnSpc>
            </a:pPr>
            <a:endParaRPr lang="en-GB" dirty="0"/>
          </a:p>
        </p:txBody>
      </p:sp>
      <p:sp>
        <p:nvSpPr>
          <p:cNvPr id="16" name="Oval 15">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8" name="Oval 17">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269153874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TM03090434[[fn=Wood Type]]</Template>
  <TotalTime>0</TotalTime>
  <Words>736</Words>
  <Application>Microsoft Office PowerPoint</Application>
  <PresentationFormat>Widescreen</PresentationFormat>
  <Paragraphs>151</Paragraphs>
  <Slides>42</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42</vt:i4>
      </vt:variant>
    </vt:vector>
  </HeadingPairs>
  <TitlesOfParts>
    <vt:vector size="50" baseType="lpstr">
      <vt:lpstr>Arial</vt:lpstr>
      <vt:lpstr>Arial</vt:lpstr>
      <vt:lpstr>Calibri</vt:lpstr>
      <vt:lpstr>Rockwell</vt:lpstr>
      <vt:lpstr>Rockwell Condensed</vt:lpstr>
      <vt:lpstr>Rockwell Extra Bold</vt:lpstr>
      <vt:lpstr>Wingdings</vt:lpstr>
      <vt:lpstr>Wood Type</vt:lpstr>
      <vt:lpstr>Cell Physiology</vt:lpstr>
      <vt:lpstr>learning outcomes:</vt:lpstr>
      <vt:lpstr>1. Physiology</vt:lpstr>
      <vt:lpstr>PowerPoint Presentation</vt:lpstr>
      <vt:lpstr>Properties of the skin </vt:lpstr>
      <vt:lpstr>PowerPoint Presentation</vt:lpstr>
      <vt:lpstr>Cells</vt:lpstr>
      <vt:lpstr>PowerPoint Presentation</vt:lpstr>
      <vt:lpstr>PowerPoint Presentation</vt:lpstr>
      <vt:lpstr>PowerPoint Presentation</vt:lpstr>
      <vt:lpstr>Plasma Membrane</vt:lpstr>
      <vt:lpstr>Nucleus</vt:lpstr>
      <vt:lpstr>Cytoplasm </vt:lpstr>
      <vt:lpstr>Cytoplasmic organelles</vt:lpstr>
      <vt:lpstr>Mitochondria</vt:lpstr>
      <vt:lpstr>Cell division</vt:lpstr>
      <vt:lpstr>2. Tissue</vt:lpstr>
      <vt:lpstr>1. Epithelia - Simple</vt:lpstr>
      <vt:lpstr>1. Epithelia - Stratified</vt:lpstr>
      <vt:lpstr>2. Connective</vt:lpstr>
      <vt:lpstr>3. Nerve</vt:lpstr>
      <vt:lpstr>4. Muscle</vt:lpstr>
      <vt:lpstr>Tissues and organs</vt:lpstr>
      <vt:lpstr>3. Fascia</vt:lpstr>
      <vt:lpstr>Superficial Fascia</vt:lpstr>
      <vt:lpstr>Deep Fascia</vt:lpstr>
      <vt:lpstr>4. Serous membranes</vt:lpstr>
      <vt:lpstr>Serous membrane</vt:lpstr>
      <vt:lpstr>5. Vascular system</vt:lpstr>
      <vt:lpstr>PowerPoint Presentation</vt:lpstr>
      <vt:lpstr>PowerPoint Presentation</vt:lpstr>
      <vt:lpstr>The structure of arteries, veins and capillaries</vt:lpstr>
      <vt:lpstr>PowerPoint Presentation</vt:lpstr>
      <vt:lpstr>Systemic Blood Pressure</vt:lpstr>
      <vt:lpstr>Anastomose</vt:lpstr>
      <vt:lpstr>PowerPoint Presentation</vt:lpstr>
      <vt:lpstr>PowerPoint Presentation</vt:lpstr>
      <vt:lpstr>Capillaries</vt:lpstr>
      <vt:lpstr>PowerPoint Presentation</vt:lpstr>
      <vt:lpstr>6. Lymphatic system</vt:lpstr>
      <vt:lpstr>PowerPoint Presentation</vt:lpstr>
      <vt:lpstr>Lymphatic system</vt:lpstr>
    </vt:vector>
  </TitlesOfParts>
  <Company>London Metropolitan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Cell Physiology</dc:title>
  <dc:creator>Georgia Whitfield</dc:creator>
  <cp:lastModifiedBy>Christopher Chamberlin</cp:lastModifiedBy>
  <cp:revision>75</cp:revision>
  <cp:lastPrinted>2015-12-09T10:33:20Z</cp:lastPrinted>
  <dcterms:created xsi:type="dcterms:W3CDTF">2015-12-09T09:06:43Z</dcterms:created>
  <dcterms:modified xsi:type="dcterms:W3CDTF">2024-09-27T14:38:06Z</dcterms:modified>
</cp:coreProperties>
</file>