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397" r:id="rId3"/>
    <p:sldId id="429" r:id="rId4"/>
    <p:sldId id="433" r:id="rId5"/>
    <p:sldId id="378" r:id="rId6"/>
    <p:sldId id="262" r:id="rId7"/>
    <p:sldId id="428" r:id="rId8"/>
    <p:sldId id="344" r:id="rId9"/>
    <p:sldId id="434" r:id="rId10"/>
    <p:sldId id="400" r:id="rId11"/>
    <p:sldId id="402" r:id="rId12"/>
    <p:sldId id="403" r:id="rId13"/>
    <p:sldId id="404" r:id="rId14"/>
    <p:sldId id="396" r:id="rId15"/>
    <p:sldId id="405" r:id="rId16"/>
    <p:sldId id="407" r:id="rId17"/>
    <p:sldId id="336" r:id="rId18"/>
    <p:sldId id="408" r:id="rId19"/>
    <p:sldId id="409" r:id="rId20"/>
    <p:sldId id="425" r:id="rId21"/>
    <p:sldId id="411" r:id="rId22"/>
    <p:sldId id="410" r:id="rId23"/>
    <p:sldId id="335" r:id="rId24"/>
    <p:sldId id="412" r:id="rId25"/>
    <p:sldId id="413" r:id="rId26"/>
    <p:sldId id="414" r:id="rId27"/>
    <p:sldId id="415" r:id="rId28"/>
    <p:sldId id="416" r:id="rId29"/>
    <p:sldId id="435" r:id="rId30"/>
    <p:sldId id="417" r:id="rId31"/>
    <p:sldId id="418" r:id="rId32"/>
    <p:sldId id="419" r:id="rId33"/>
    <p:sldId id="420" r:id="rId34"/>
    <p:sldId id="421" r:id="rId35"/>
    <p:sldId id="423" r:id="rId36"/>
    <p:sldId id="422" r:id="rId37"/>
    <p:sldId id="424" r:id="rId38"/>
    <p:sldId id="406" r:id="rId39"/>
    <p:sldId id="38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4"/>
    <a:srgbClr val="F5FBEF"/>
    <a:srgbClr val="FFFFFF"/>
    <a:srgbClr val="E1EDF7"/>
    <a:srgbClr val="FF99CC"/>
    <a:srgbClr val="525252"/>
    <a:srgbClr val="222A35"/>
    <a:srgbClr val="35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6" autoAdjust="0"/>
    <p:restoredTop sz="75793" autoAdjust="0"/>
  </p:normalViewPr>
  <p:slideViewPr>
    <p:cSldViewPr snapToGrid="0">
      <p:cViewPr varScale="1">
        <p:scale>
          <a:sx n="84" d="100"/>
          <a:sy n="84" d="100"/>
        </p:scale>
        <p:origin x="16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F962E5-4559-4F16-9D98-81D7F772CB70}" type="doc">
      <dgm:prSet loTypeId="urn:microsoft.com/office/officeart/2005/8/layout/process5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9A7783E1-8E20-42BF-B114-721FE8CCBA05}">
      <dgm:prSet phldrT="[Text]" custT="1"/>
      <dgm:spPr/>
      <dgm:t>
        <a:bodyPr/>
        <a:lstStyle/>
        <a:p>
          <a:r>
            <a:rPr lang="en-GB" sz="2400" dirty="0"/>
            <a:t>Painful stimuli is detected by sensory neuron</a:t>
          </a:r>
        </a:p>
      </dgm:t>
    </dgm:pt>
    <dgm:pt modelId="{F6A22E70-6887-401B-AA19-792510FA9A05}" type="parTrans" cxnId="{4872479F-740D-41DD-A6A0-3DA1A631C908}">
      <dgm:prSet/>
      <dgm:spPr/>
      <dgm:t>
        <a:bodyPr/>
        <a:lstStyle/>
        <a:p>
          <a:endParaRPr lang="en-GB"/>
        </a:p>
      </dgm:t>
    </dgm:pt>
    <dgm:pt modelId="{F9104B5F-F369-40D0-BB17-8B32F13FF4F2}" type="sibTrans" cxnId="{4872479F-740D-41DD-A6A0-3DA1A631C908}">
      <dgm:prSet/>
      <dgm:spPr/>
      <dgm:t>
        <a:bodyPr/>
        <a:lstStyle/>
        <a:p>
          <a:endParaRPr lang="en-GB"/>
        </a:p>
      </dgm:t>
    </dgm:pt>
    <dgm:pt modelId="{30BB1564-659D-434C-AF26-2E96D4E0248A}">
      <dgm:prSet phldrT="[Text]" custT="1"/>
      <dgm:spPr/>
      <dgm:t>
        <a:bodyPr/>
        <a:lstStyle/>
        <a:p>
          <a:r>
            <a:rPr lang="en-GB" sz="2000" dirty="0"/>
            <a:t>Impulse travels down afferent interneurons and ascent to the brain</a:t>
          </a:r>
        </a:p>
      </dgm:t>
    </dgm:pt>
    <dgm:pt modelId="{A4850262-2815-4E04-AC98-DBEEBB109F33}" type="parTrans" cxnId="{63A2DA47-68E2-423E-8EB9-9CE2261847C5}">
      <dgm:prSet/>
      <dgm:spPr/>
      <dgm:t>
        <a:bodyPr/>
        <a:lstStyle/>
        <a:p>
          <a:endParaRPr lang="en-GB"/>
        </a:p>
      </dgm:t>
    </dgm:pt>
    <dgm:pt modelId="{E4843DD6-3DE8-422D-ADF7-B6EF2BE601FD}" type="sibTrans" cxnId="{63A2DA47-68E2-423E-8EB9-9CE2261847C5}">
      <dgm:prSet/>
      <dgm:spPr/>
      <dgm:t>
        <a:bodyPr/>
        <a:lstStyle/>
        <a:p>
          <a:endParaRPr lang="en-GB"/>
        </a:p>
      </dgm:t>
    </dgm:pt>
    <dgm:pt modelId="{7A4CFF68-9720-4F22-93A7-9902796F46D2}">
      <dgm:prSet phldrT="[Text]" custT="1"/>
      <dgm:spPr/>
      <dgm:t>
        <a:bodyPr/>
        <a:lstStyle/>
        <a:p>
          <a:r>
            <a:rPr lang="en-GB" sz="2400" dirty="0"/>
            <a:t>Information arrives and is interpreted by brain</a:t>
          </a:r>
        </a:p>
      </dgm:t>
    </dgm:pt>
    <dgm:pt modelId="{0D4D5C4E-D214-4559-B4B9-5F14E1120D7C}" type="parTrans" cxnId="{FE24BE5E-1CFF-4FC3-AAF6-B3453DCECEAF}">
      <dgm:prSet/>
      <dgm:spPr/>
      <dgm:t>
        <a:bodyPr/>
        <a:lstStyle/>
        <a:p>
          <a:endParaRPr lang="en-GB"/>
        </a:p>
      </dgm:t>
    </dgm:pt>
    <dgm:pt modelId="{45F0C7E6-A61F-46CE-87A4-469865588A88}" type="sibTrans" cxnId="{FE24BE5E-1CFF-4FC3-AAF6-B3453DCECEAF}">
      <dgm:prSet/>
      <dgm:spPr/>
      <dgm:t>
        <a:bodyPr/>
        <a:lstStyle/>
        <a:p>
          <a:endParaRPr lang="en-GB"/>
        </a:p>
      </dgm:t>
    </dgm:pt>
    <dgm:pt modelId="{1DB9A577-6B8F-4728-BB43-0A3FD1B197E4}">
      <dgm:prSet phldrT="[Text]" custT="1"/>
      <dgm:spPr/>
      <dgm:t>
        <a:bodyPr/>
        <a:lstStyle/>
        <a:p>
          <a:r>
            <a:rPr lang="en-GB" sz="2400" dirty="0"/>
            <a:t>Decision about response is made by the brain </a:t>
          </a:r>
        </a:p>
      </dgm:t>
    </dgm:pt>
    <dgm:pt modelId="{18AC64A4-FC1C-4A08-BE99-CE5A523BD945}" type="parTrans" cxnId="{45B0E740-8863-4847-B283-9AF5A2C47D27}">
      <dgm:prSet/>
      <dgm:spPr/>
      <dgm:t>
        <a:bodyPr/>
        <a:lstStyle/>
        <a:p>
          <a:endParaRPr lang="en-GB"/>
        </a:p>
      </dgm:t>
    </dgm:pt>
    <dgm:pt modelId="{2C79C296-AA03-450F-BE0B-AA76ACA6183E}" type="sibTrans" cxnId="{45B0E740-8863-4847-B283-9AF5A2C47D27}">
      <dgm:prSet/>
      <dgm:spPr/>
      <dgm:t>
        <a:bodyPr/>
        <a:lstStyle/>
        <a:p>
          <a:endParaRPr lang="en-GB"/>
        </a:p>
      </dgm:t>
    </dgm:pt>
    <dgm:pt modelId="{9B15E120-2D65-4E35-9E37-515275588248}">
      <dgm:prSet phldrT="[Text]" custT="1"/>
      <dgm:spPr/>
      <dgm:t>
        <a:bodyPr/>
        <a:lstStyle/>
        <a:p>
          <a:r>
            <a:rPr lang="en-GB" sz="2000" dirty="0"/>
            <a:t>Impulses travel down efferent motor neurons and descent to the target tissue</a:t>
          </a:r>
        </a:p>
      </dgm:t>
    </dgm:pt>
    <dgm:pt modelId="{89E39FDD-64E7-4932-97BF-EF734022F35C}" type="parTrans" cxnId="{CBDDA990-1FCD-42E9-8B49-18C64CE567A7}">
      <dgm:prSet/>
      <dgm:spPr/>
      <dgm:t>
        <a:bodyPr/>
        <a:lstStyle/>
        <a:p>
          <a:endParaRPr lang="en-GB"/>
        </a:p>
      </dgm:t>
    </dgm:pt>
    <dgm:pt modelId="{2C091625-FDDA-4697-9240-D9BFB714663F}" type="sibTrans" cxnId="{CBDDA990-1FCD-42E9-8B49-18C64CE567A7}">
      <dgm:prSet/>
      <dgm:spPr/>
      <dgm:t>
        <a:bodyPr/>
        <a:lstStyle/>
        <a:p>
          <a:endParaRPr lang="en-GB"/>
        </a:p>
      </dgm:t>
    </dgm:pt>
    <dgm:pt modelId="{F62EDB1A-FBC7-45A0-8737-609A622AA2EA}">
      <dgm:prSet custT="1"/>
      <dgm:spPr/>
      <dgm:t>
        <a:bodyPr/>
        <a:lstStyle/>
        <a:p>
          <a:r>
            <a:rPr lang="en-GB" sz="2800" dirty="0"/>
            <a:t>Response is initiated</a:t>
          </a:r>
        </a:p>
      </dgm:t>
    </dgm:pt>
    <dgm:pt modelId="{FD2A14CF-E8C7-4330-95D5-6BF3E3009489}" type="parTrans" cxnId="{CD80EB43-9467-49DF-AEB8-DB7B759CCC92}">
      <dgm:prSet/>
      <dgm:spPr/>
      <dgm:t>
        <a:bodyPr/>
        <a:lstStyle/>
        <a:p>
          <a:endParaRPr lang="en-GB"/>
        </a:p>
      </dgm:t>
    </dgm:pt>
    <dgm:pt modelId="{BBD12895-7D52-4722-B778-ECFD6A568766}" type="sibTrans" cxnId="{CD80EB43-9467-49DF-AEB8-DB7B759CCC92}">
      <dgm:prSet/>
      <dgm:spPr/>
      <dgm:t>
        <a:bodyPr/>
        <a:lstStyle/>
        <a:p>
          <a:endParaRPr lang="en-GB"/>
        </a:p>
      </dgm:t>
    </dgm:pt>
    <dgm:pt modelId="{995E8386-6FC6-4B76-8244-F5D83CC9EF2A}" type="pres">
      <dgm:prSet presAssocID="{25F962E5-4559-4F16-9D98-81D7F772CB70}" presName="diagram" presStyleCnt="0">
        <dgm:presLayoutVars>
          <dgm:dir/>
          <dgm:resizeHandles val="exact"/>
        </dgm:presLayoutVars>
      </dgm:prSet>
      <dgm:spPr/>
    </dgm:pt>
    <dgm:pt modelId="{8E6B6773-5A78-42FF-A3A4-E366133F7954}" type="pres">
      <dgm:prSet presAssocID="{9A7783E1-8E20-42BF-B114-721FE8CCBA05}" presName="node" presStyleLbl="node1" presStyleIdx="0" presStyleCnt="6" custScaleX="140729">
        <dgm:presLayoutVars>
          <dgm:bulletEnabled val="1"/>
        </dgm:presLayoutVars>
      </dgm:prSet>
      <dgm:spPr/>
    </dgm:pt>
    <dgm:pt modelId="{0F09876D-0356-4CB9-A162-5105FD19C64C}" type="pres">
      <dgm:prSet presAssocID="{F9104B5F-F369-40D0-BB17-8B32F13FF4F2}" presName="sibTrans" presStyleLbl="sibTrans2D1" presStyleIdx="0" presStyleCnt="5"/>
      <dgm:spPr/>
    </dgm:pt>
    <dgm:pt modelId="{0758BE7B-C707-4454-A26A-84653FDAA044}" type="pres">
      <dgm:prSet presAssocID="{F9104B5F-F369-40D0-BB17-8B32F13FF4F2}" presName="connectorText" presStyleLbl="sibTrans2D1" presStyleIdx="0" presStyleCnt="5"/>
      <dgm:spPr/>
    </dgm:pt>
    <dgm:pt modelId="{3A5DADAF-81B2-4E5E-85BC-F313180835A4}" type="pres">
      <dgm:prSet presAssocID="{30BB1564-659D-434C-AF26-2E96D4E0248A}" presName="node" presStyleLbl="node1" presStyleIdx="1" presStyleCnt="6" custScaleX="140729">
        <dgm:presLayoutVars>
          <dgm:bulletEnabled val="1"/>
        </dgm:presLayoutVars>
      </dgm:prSet>
      <dgm:spPr/>
    </dgm:pt>
    <dgm:pt modelId="{8D291196-DD4D-45D1-B6A0-077D32DAC16D}" type="pres">
      <dgm:prSet presAssocID="{E4843DD6-3DE8-422D-ADF7-B6EF2BE601FD}" presName="sibTrans" presStyleLbl="sibTrans2D1" presStyleIdx="1" presStyleCnt="5"/>
      <dgm:spPr/>
    </dgm:pt>
    <dgm:pt modelId="{D36D8033-8A87-4F8D-9133-F10D226F23D1}" type="pres">
      <dgm:prSet presAssocID="{E4843DD6-3DE8-422D-ADF7-B6EF2BE601FD}" presName="connectorText" presStyleLbl="sibTrans2D1" presStyleIdx="1" presStyleCnt="5"/>
      <dgm:spPr/>
    </dgm:pt>
    <dgm:pt modelId="{A0DE2CE5-4FB6-47FA-BF4A-2407EF61D735}" type="pres">
      <dgm:prSet presAssocID="{7A4CFF68-9720-4F22-93A7-9902796F46D2}" presName="node" presStyleLbl="node1" presStyleIdx="2" presStyleCnt="6" custScaleX="140729">
        <dgm:presLayoutVars>
          <dgm:bulletEnabled val="1"/>
        </dgm:presLayoutVars>
      </dgm:prSet>
      <dgm:spPr/>
    </dgm:pt>
    <dgm:pt modelId="{D9B2D2F1-2ACC-445B-AE1B-ABDD78804C0B}" type="pres">
      <dgm:prSet presAssocID="{45F0C7E6-A61F-46CE-87A4-469865588A88}" presName="sibTrans" presStyleLbl="sibTrans2D1" presStyleIdx="2" presStyleCnt="5"/>
      <dgm:spPr/>
    </dgm:pt>
    <dgm:pt modelId="{0E096CA5-52DD-4BAB-A77D-68EF4580D706}" type="pres">
      <dgm:prSet presAssocID="{45F0C7E6-A61F-46CE-87A4-469865588A88}" presName="connectorText" presStyleLbl="sibTrans2D1" presStyleIdx="2" presStyleCnt="5"/>
      <dgm:spPr/>
    </dgm:pt>
    <dgm:pt modelId="{C624545A-885E-4D30-BBFE-3DF653DDCB18}" type="pres">
      <dgm:prSet presAssocID="{1DB9A577-6B8F-4728-BB43-0A3FD1B197E4}" presName="node" presStyleLbl="node1" presStyleIdx="3" presStyleCnt="6" custScaleX="140729">
        <dgm:presLayoutVars>
          <dgm:bulletEnabled val="1"/>
        </dgm:presLayoutVars>
      </dgm:prSet>
      <dgm:spPr/>
    </dgm:pt>
    <dgm:pt modelId="{07D27007-81DC-46AC-93EA-98A2930558F4}" type="pres">
      <dgm:prSet presAssocID="{2C79C296-AA03-450F-BE0B-AA76ACA6183E}" presName="sibTrans" presStyleLbl="sibTrans2D1" presStyleIdx="3" presStyleCnt="5"/>
      <dgm:spPr/>
    </dgm:pt>
    <dgm:pt modelId="{AD0CE060-3D51-43E4-AA3F-3B9BFC7FB64E}" type="pres">
      <dgm:prSet presAssocID="{2C79C296-AA03-450F-BE0B-AA76ACA6183E}" presName="connectorText" presStyleLbl="sibTrans2D1" presStyleIdx="3" presStyleCnt="5"/>
      <dgm:spPr/>
    </dgm:pt>
    <dgm:pt modelId="{927AF663-B95F-4EBF-A4BA-A9C6AB415F9D}" type="pres">
      <dgm:prSet presAssocID="{9B15E120-2D65-4E35-9E37-515275588248}" presName="node" presStyleLbl="node1" presStyleIdx="4" presStyleCnt="6" custScaleX="140729">
        <dgm:presLayoutVars>
          <dgm:bulletEnabled val="1"/>
        </dgm:presLayoutVars>
      </dgm:prSet>
      <dgm:spPr/>
    </dgm:pt>
    <dgm:pt modelId="{81A383DB-D166-4A04-87D9-9CAAAC665073}" type="pres">
      <dgm:prSet presAssocID="{2C091625-FDDA-4697-9240-D9BFB714663F}" presName="sibTrans" presStyleLbl="sibTrans2D1" presStyleIdx="4" presStyleCnt="5"/>
      <dgm:spPr/>
    </dgm:pt>
    <dgm:pt modelId="{8C37A497-A3B7-4B25-8FA3-233DED50750B}" type="pres">
      <dgm:prSet presAssocID="{2C091625-FDDA-4697-9240-D9BFB714663F}" presName="connectorText" presStyleLbl="sibTrans2D1" presStyleIdx="4" presStyleCnt="5"/>
      <dgm:spPr/>
    </dgm:pt>
    <dgm:pt modelId="{A8BB85FE-3EBE-4AF8-9259-4C024627D4FF}" type="pres">
      <dgm:prSet presAssocID="{F62EDB1A-FBC7-45A0-8737-609A622AA2EA}" presName="node" presStyleLbl="node1" presStyleIdx="5" presStyleCnt="6" custScaleX="140729">
        <dgm:presLayoutVars>
          <dgm:bulletEnabled val="1"/>
        </dgm:presLayoutVars>
      </dgm:prSet>
      <dgm:spPr/>
    </dgm:pt>
  </dgm:ptLst>
  <dgm:cxnLst>
    <dgm:cxn modelId="{EC03E903-9EE7-4688-AA8A-8A630EAD3967}" type="presOf" srcId="{2C79C296-AA03-450F-BE0B-AA76ACA6183E}" destId="{AD0CE060-3D51-43E4-AA3F-3B9BFC7FB64E}" srcOrd="1" destOrd="0" presId="urn:microsoft.com/office/officeart/2005/8/layout/process5"/>
    <dgm:cxn modelId="{5F17F20E-14D5-413E-B9B2-C73A8E0AB856}" type="presOf" srcId="{2C091625-FDDA-4697-9240-D9BFB714663F}" destId="{81A383DB-D166-4A04-87D9-9CAAAC665073}" srcOrd="0" destOrd="0" presId="urn:microsoft.com/office/officeart/2005/8/layout/process5"/>
    <dgm:cxn modelId="{6C511D19-EA42-47E4-9F28-63F9DA973E1F}" type="presOf" srcId="{45F0C7E6-A61F-46CE-87A4-469865588A88}" destId="{0E096CA5-52DD-4BAB-A77D-68EF4580D706}" srcOrd="1" destOrd="0" presId="urn:microsoft.com/office/officeart/2005/8/layout/process5"/>
    <dgm:cxn modelId="{A1781E2F-B29F-4B7B-9801-F866D6DA87AE}" type="presOf" srcId="{9A7783E1-8E20-42BF-B114-721FE8CCBA05}" destId="{8E6B6773-5A78-42FF-A3A4-E366133F7954}" srcOrd="0" destOrd="0" presId="urn:microsoft.com/office/officeart/2005/8/layout/process5"/>
    <dgm:cxn modelId="{CA99E139-4EBD-40EC-8459-8C0691CCB83B}" type="presOf" srcId="{F62EDB1A-FBC7-45A0-8737-609A622AA2EA}" destId="{A8BB85FE-3EBE-4AF8-9259-4C024627D4FF}" srcOrd="0" destOrd="0" presId="urn:microsoft.com/office/officeart/2005/8/layout/process5"/>
    <dgm:cxn modelId="{233DCF3F-A3B0-42AA-A950-B57BFD139606}" type="presOf" srcId="{2C79C296-AA03-450F-BE0B-AA76ACA6183E}" destId="{07D27007-81DC-46AC-93EA-98A2930558F4}" srcOrd="0" destOrd="0" presId="urn:microsoft.com/office/officeart/2005/8/layout/process5"/>
    <dgm:cxn modelId="{45B0E740-8863-4847-B283-9AF5A2C47D27}" srcId="{25F962E5-4559-4F16-9D98-81D7F772CB70}" destId="{1DB9A577-6B8F-4728-BB43-0A3FD1B197E4}" srcOrd="3" destOrd="0" parTransId="{18AC64A4-FC1C-4A08-BE99-CE5A523BD945}" sibTransId="{2C79C296-AA03-450F-BE0B-AA76ACA6183E}"/>
    <dgm:cxn modelId="{FE24BE5E-1CFF-4FC3-AAF6-B3453DCECEAF}" srcId="{25F962E5-4559-4F16-9D98-81D7F772CB70}" destId="{7A4CFF68-9720-4F22-93A7-9902796F46D2}" srcOrd="2" destOrd="0" parTransId="{0D4D5C4E-D214-4559-B4B9-5F14E1120D7C}" sibTransId="{45F0C7E6-A61F-46CE-87A4-469865588A88}"/>
    <dgm:cxn modelId="{CD80EB43-9467-49DF-AEB8-DB7B759CCC92}" srcId="{25F962E5-4559-4F16-9D98-81D7F772CB70}" destId="{F62EDB1A-FBC7-45A0-8737-609A622AA2EA}" srcOrd="5" destOrd="0" parTransId="{FD2A14CF-E8C7-4330-95D5-6BF3E3009489}" sibTransId="{BBD12895-7D52-4722-B778-ECFD6A568766}"/>
    <dgm:cxn modelId="{ED247F44-2D65-4B3F-A77E-2D7B111171D9}" type="presOf" srcId="{E4843DD6-3DE8-422D-ADF7-B6EF2BE601FD}" destId="{8D291196-DD4D-45D1-B6A0-077D32DAC16D}" srcOrd="0" destOrd="0" presId="urn:microsoft.com/office/officeart/2005/8/layout/process5"/>
    <dgm:cxn modelId="{63A2DA47-68E2-423E-8EB9-9CE2261847C5}" srcId="{25F962E5-4559-4F16-9D98-81D7F772CB70}" destId="{30BB1564-659D-434C-AF26-2E96D4E0248A}" srcOrd="1" destOrd="0" parTransId="{A4850262-2815-4E04-AC98-DBEEBB109F33}" sibTransId="{E4843DD6-3DE8-422D-ADF7-B6EF2BE601FD}"/>
    <dgm:cxn modelId="{D723E14A-6591-4250-87A9-F552CB3D5F7C}" type="presOf" srcId="{1DB9A577-6B8F-4728-BB43-0A3FD1B197E4}" destId="{C624545A-885E-4D30-BBFE-3DF653DDCB18}" srcOrd="0" destOrd="0" presId="urn:microsoft.com/office/officeart/2005/8/layout/process5"/>
    <dgm:cxn modelId="{301D025A-6547-4C92-8F2C-0E8A8C05B250}" type="presOf" srcId="{2C091625-FDDA-4697-9240-D9BFB714663F}" destId="{8C37A497-A3B7-4B25-8FA3-233DED50750B}" srcOrd="1" destOrd="0" presId="urn:microsoft.com/office/officeart/2005/8/layout/process5"/>
    <dgm:cxn modelId="{A7153C8E-C45D-4F50-A146-860B1402F1CE}" type="presOf" srcId="{F9104B5F-F369-40D0-BB17-8B32F13FF4F2}" destId="{0758BE7B-C707-4454-A26A-84653FDAA044}" srcOrd="1" destOrd="0" presId="urn:microsoft.com/office/officeart/2005/8/layout/process5"/>
    <dgm:cxn modelId="{CBDDA990-1FCD-42E9-8B49-18C64CE567A7}" srcId="{25F962E5-4559-4F16-9D98-81D7F772CB70}" destId="{9B15E120-2D65-4E35-9E37-515275588248}" srcOrd="4" destOrd="0" parTransId="{89E39FDD-64E7-4932-97BF-EF734022F35C}" sibTransId="{2C091625-FDDA-4697-9240-D9BFB714663F}"/>
    <dgm:cxn modelId="{4872479F-740D-41DD-A6A0-3DA1A631C908}" srcId="{25F962E5-4559-4F16-9D98-81D7F772CB70}" destId="{9A7783E1-8E20-42BF-B114-721FE8CCBA05}" srcOrd="0" destOrd="0" parTransId="{F6A22E70-6887-401B-AA19-792510FA9A05}" sibTransId="{F9104B5F-F369-40D0-BB17-8B32F13FF4F2}"/>
    <dgm:cxn modelId="{591079A2-51EB-4DE7-B5CC-D92E825842C0}" type="presOf" srcId="{7A4CFF68-9720-4F22-93A7-9902796F46D2}" destId="{A0DE2CE5-4FB6-47FA-BF4A-2407EF61D735}" srcOrd="0" destOrd="0" presId="urn:microsoft.com/office/officeart/2005/8/layout/process5"/>
    <dgm:cxn modelId="{6F2DE4CC-BC0B-4070-ADF5-5883E5BD2957}" type="presOf" srcId="{F9104B5F-F369-40D0-BB17-8B32F13FF4F2}" destId="{0F09876D-0356-4CB9-A162-5105FD19C64C}" srcOrd="0" destOrd="0" presId="urn:microsoft.com/office/officeart/2005/8/layout/process5"/>
    <dgm:cxn modelId="{158AB4E3-05F2-4231-A871-BC12746D698D}" type="presOf" srcId="{25F962E5-4559-4F16-9D98-81D7F772CB70}" destId="{995E8386-6FC6-4B76-8244-F5D83CC9EF2A}" srcOrd="0" destOrd="0" presId="urn:microsoft.com/office/officeart/2005/8/layout/process5"/>
    <dgm:cxn modelId="{77B906E6-4C35-4411-99B6-715379205D19}" type="presOf" srcId="{45F0C7E6-A61F-46CE-87A4-469865588A88}" destId="{D9B2D2F1-2ACC-445B-AE1B-ABDD78804C0B}" srcOrd="0" destOrd="0" presId="urn:microsoft.com/office/officeart/2005/8/layout/process5"/>
    <dgm:cxn modelId="{EF860FE7-0C88-4F2B-BDD2-EAA65F4DF8DA}" type="presOf" srcId="{E4843DD6-3DE8-422D-ADF7-B6EF2BE601FD}" destId="{D36D8033-8A87-4F8D-9133-F10D226F23D1}" srcOrd="1" destOrd="0" presId="urn:microsoft.com/office/officeart/2005/8/layout/process5"/>
    <dgm:cxn modelId="{309D81EC-8F77-4749-AABD-1626825E8A6A}" type="presOf" srcId="{30BB1564-659D-434C-AF26-2E96D4E0248A}" destId="{3A5DADAF-81B2-4E5E-85BC-F313180835A4}" srcOrd="0" destOrd="0" presId="urn:microsoft.com/office/officeart/2005/8/layout/process5"/>
    <dgm:cxn modelId="{FAF01BF6-12F5-47E5-8311-A6C474C49FE9}" type="presOf" srcId="{9B15E120-2D65-4E35-9E37-515275588248}" destId="{927AF663-B95F-4EBF-A4BA-A9C6AB415F9D}" srcOrd="0" destOrd="0" presId="urn:microsoft.com/office/officeart/2005/8/layout/process5"/>
    <dgm:cxn modelId="{3834FA9D-BB75-41A4-A212-BBA4F8ACA8E5}" type="presParOf" srcId="{995E8386-6FC6-4B76-8244-F5D83CC9EF2A}" destId="{8E6B6773-5A78-42FF-A3A4-E366133F7954}" srcOrd="0" destOrd="0" presId="urn:microsoft.com/office/officeart/2005/8/layout/process5"/>
    <dgm:cxn modelId="{D57F428D-14D2-446C-9D52-A02412F0C079}" type="presParOf" srcId="{995E8386-6FC6-4B76-8244-F5D83CC9EF2A}" destId="{0F09876D-0356-4CB9-A162-5105FD19C64C}" srcOrd="1" destOrd="0" presId="urn:microsoft.com/office/officeart/2005/8/layout/process5"/>
    <dgm:cxn modelId="{959CADD5-413C-4255-AA9D-4D6AF15856C8}" type="presParOf" srcId="{0F09876D-0356-4CB9-A162-5105FD19C64C}" destId="{0758BE7B-C707-4454-A26A-84653FDAA044}" srcOrd="0" destOrd="0" presId="urn:microsoft.com/office/officeart/2005/8/layout/process5"/>
    <dgm:cxn modelId="{F4C70CC0-5868-46DC-80AB-2C78882D07EE}" type="presParOf" srcId="{995E8386-6FC6-4B76-8244-F5D83CC9EF2A}" destId="{3A5DADAF-81B2-4E5E-85BC-F313180835A4}" srcOrd="2" destOrd="0" presId="urn:microsoft.com/office/officeart/2005/8/layout/process5"/>
    <dgm:cxn modelId="{3BF99691-8CE6-4118-A9A0-3AB734D0FF2D}" type="presParOf" srcId="{995E8386-6FC6-4B76-8244-F5D83CC9EF2A}" destId="{8D291196-DD4D-45D1-B6A0-077D32DAC16D}" srcOrd="3" destOrd="0" presId="urn:microsoft.com/office/officeart/2005/8/layout/process5"/>
    <dgm:cxn modelId="{1A2E7FA5-2A70-44DE-A78F-02017D90E9FD}" type="presParOf" srcId="{8D291196-DD4D-45D1-B6A0-077D32DAC16D}" destId="{D36D8033-8A87-4F8D-9133-F10D226F23D1}" srcOrd="0" destOrd="0" presId="urn:microsoft.com/office/officeart/2005/8/layout/process5"/>
    <dgm:cxn modelId="{932C80DC-416B-49B8-BFBB-99F56F420805}" type="presParOf" srcId="{995E8386-6FC6-4B76-8244-F5D83CC9EF2A}" destId="{A0DE2CE5-4FB6-47FA-BF4A-2407EF61D735}" srcOrd="4" destOrd="0" presId="urn:microsoft.com/office/officeart/2005/8/layout/process5"/>
    <dgm:cxn modelId="{885C059D-3F89-4A97-BBF4-7C08CD96FBD7}" type="presParOf" srcId="{995E8386-6FC6-4B76-8244-F5D83CC9EF2A}" destId="{D9B2D2F1-2ACC-445B-AE1B-ABDD78804C0B}" srcOrd="5" destOrd="0" presId="urn:microsoft.com/office/officeart/2005/8/layout/process5"/>
    <dgm:cxn modelId="{5A1DA6B4-7322-4E7B-9530-3D9C9BF3A0F9}" type="presParOf" srcId="{D9B2D2F1-2ACC-445B-AE1B-ABDD78804C0B}" destId="{0E096CA5-52DD-4BAB-A77D-68EF4580D706}" srcOrd="0" destOrd="0" presId="urn:microsoft.com/office/officeart/2005/8/layout/process5"/>
    <dgm:cxn modelId="{8A600BE6-8C42-4E4F-9551-89D6162314D8}" type="presParOf" srcId="{995E8386-6FC6-4B76-8244-F5D83CC9EF2A}" destId="{C624545A-885E-4D30-BBFE-3DF653DDCB18}" srcOrd="6" destOrd="0" presId="urn:microsoft.com/office/officeart/2005/8/layout/process5"/>
    <dgm:cxn modelId="{530A4E08-4D3E-447F-99EC-4D183D447B9B}" type="presParOf" srcId="{995E8386-6FC6-4B76-8244-F5D83CC9EF2A}" destId="{07D27007-81DC-46AC-93EA-98A2930558F4}" srcOrd="7" destOrd="0" presId="urn:microsoft.com/office/officeart/2005/8/layout/process5"/>
    <dgm:cxn modelId="{FF4E4959-858E-4D07-B7C6-23EFE05052C4}" type="presParOf" srcId="{07D27007-81DC-46AC-93EA-98A2930558F4}" destId="{AD0CE060-3D51-43E4-AA3F-3B9BFC7FB64E}" srcOrd="0" destOrd="0" presId="urn:microsoft.com/office/officeart/2005/8/layout/process5"/>
    <dgm:cxn modelId="{397CF2C4-776C-41CB-A965-A3C8B86E5152}" type="presParOf" srcId="{995E8386-6FC6-4B76-8244-F5D83CC9EF2A}" destId="{927AF663-B95F-4EBF-A4BA-A9C6AB415F9D}" srcOrd="8" destOrd="0" presId="urn:microsoft.com/office/officeart/2005/8/layout/process5"/>
    <dgm:cxn modelId="{DC72FF5D-70E3-4E8C-B31B-7678DA1198B8}" type="presParOf" srcId="{995E8386-6FC6-4B76-8244-F5D83CC9EF2A}" destId="{81A383DB-D166-4A04-87D9-9CAAAC665073}" srcOrd="9" destOrd="0" presId="urn:microsoft.com/office/officeart/2005/8/layout/process5"/>
    <dgm:cxn modelId="{05A9BE49-DC82-443C-887F-0AABEA202AA0}" type="presParOf" srcId="{81A383DB-D166-4A04-87D9-9CAAAC665073}" destId="{8C37A497-A3B7-4B25-8FA3-233DED50750B}" srcOrd="0" destOrd="0" presId="urn:microsoft.com/office/officeart/2005/8/layout/process5"/>
    <dgm:cxn modelId="{2556C60F-3B22-498C-ADC0-7915BA153AB1}" type="presParOf" srcId="{995E8386-6FC6-4B76-8244-F5D83CC9EF2A}" destId="{A8BB85FE-3EBE-4AF8-9259-4C024627D4FF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9A94E4-65F5-4033-95A3-5E9C04E966C1}" type="doc">
      <dgm:prSet loTypeId="urn:microsoft.com/office/officeart/2005/8/layout/process5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DCF690DD-A33B-4327-9931-BF53A6F26B2A}">
      <dgm:prSet phldrT="[Text]" custT="1"/>
      <dgm:spPr/>
      <dgm:t>
        <a:bodyPr/>
        <a:lstStyle/>
        <a:p>
          <a:r>
            <a:rPr lang="en-GB" sz="2000" dirty="0"/>
            <a:t>Brain perceives the pain but decides to modulate it (survival mode)</a:t>
          </a:r>
        </a:p>
      </dgm:t>
    </dgm:pt>
    <dgm:pt modelId="{5160B6B8-B16E-4743-98AB-BD7C8AA1F1F9}" type="parTrans" cxnId="{92A169D7-D939-4C2E-AD43-2445CA570A7E}">
      <dgm:prSet/>
      <dgm:spPr/>
      <dgm:t>
        <a:bodyPr/>
        <a:lstStyle/>
        <a:p>
          <a:endParaRPr lang="en-GB" sz="2400"/>
        </a:p>
      </dgm:t>
    </dgm:pt>
    <dgm:pt modelId="{A2BA27E1-8100-4335-A844-8D681BAF3E19}" type="sibTrans" cxnId="{92A169D7-D939-4C2E-AD43-2445CA570A7E}">
      <dgm:prSet custT="1"/>
      <dgm:spPr/>
      <dgm:t>
        <a:bodyPr/>
        <a:lstStyle/>
        <a:p>
          <a:endParaRPr lang="en-GB" sz="1600"/>
        </a:p>
      </dgm:t>
    </dgm:pt>
    <dgm:pt modelId="{4598AFF4-E502-4AB7-9F03-DD345DF9B3DD}">
      <dgm:prSet phldrT="[Text]" custT="1"/>
      <dgm:spPr/>
      <dgm:t>
        <a:bodyPr/>
        <a:lstStyle/>
        <a:p>
          <a:r>
            <a:rPr lang="en-GB" sz="2000" dirty="0"/>
            <a:t>Signals to hypothalamus and impulse sent down brain stem (medulla oblongata)</a:t>
          </a:r>
        </a:p>
      </dgm:t>
    </dgm:pt>
    <dgm:pt modelId="{87EE3A37-9BFE-4435-9FB0-22890D385586}" type="parTrans" cxnId="{306774B4-68AC-4153-B78B-EA1C769D067C}">
      <dgm:prSet/>
      <dgm:spPr/>
      <dgm:t>
        <a:bodyPr/>
        <a:lstStyle/>
        <a:p>
          <a:endParaRPr lang="en-GB" sz="2400"/>
        </a:p>
      </dgm:t>
    </dgm:pt>
    <dgm:pt modelId="{C70A4FE1-0B52-4D08-A294-DDAD8316B01A}" type="sibTrans" cxnId="{306774B4-68AC-4153-B78B-EA1C769D067C}">
      <dgm:prSet custT="1"/>
      <dgm:spPr/>
      <dgm:t>
        <a:bodyPr/>
        <a:lstStyle/>
        <a:p>
          <a:endParaRPr lang="en-GB" sz="1600"/>
        </a:p>
      </dgm:t>
    </dgm:pt>
    <dgm:pt modelId="{19F6517A-05B3-43BA-867F-DAEE913C0EFE}">
      <dgm:prSet phldrT="[Text]" custT="1"/>
      <dgm:spPr/>
      <dgm:t>
        <a:bodyPr/>
        <a:lstStyle/>
        <a:p>
          <a:r>
            <a:rPr lang="en-GB" sz="2800" dirty="0"/>
            <a:t>Descends down spinal cord</a:t>
          </a:r>
        </a:p>
      </dgm:t>
    </dgm:pt>
    <dgm:pt modelId="{AEB2285E-4C10-4FDF-8A23-F30B42F5E525}" type="parTrans" cxnId="{FC74F5A1-2FAA-40DE-A3DF-24F1195898C5}">
      <dgm:prSet/>
      <dgm:spPr/>
      <dgm:t>
        <a:bodyPr/>
        <a:lstStyle/>
        <a:p>
          <a:endParaRPr lang="en-GB" sz="2400"/>
        </a:p>
      </dgm:t>
    </dgm:pt>
    <dgm:pt modelId="{5559A959-EAC9-40F8-B2FE-EC2A220C4A70}" type="sibTrans" cxnId="{FC74F5A1-2FAA-40DE-A3DF-24F1195898C5}">
      <dgm:prSet custT="1"/>
      <dgm:spPr/>
      <dgm:t>
        <a:bodyPr/>
        <a:lstStyle/>
        <a:p>
          <a:endParaRPr lang="en-GB" sz="1600"/>
        </a:p>
      </dgm:t>
    </dgm:pt>
    <dgm:pt modelId="{DDD8A6CF-4A4B-48A7-A39A-16606433A37C}">
      <dgm:prSet custT="1"/>
      <dgm:spPr/>
      <dgm:t>
        <a:bodyPr/>
        <a:lstStyle/>
        <a:p>
          <a:r>
            <a:rPr lang="en-GB" sz="2200" dirty="0"/>
            <a:t>Interrupts signal in spinal cord between synapse of inter-neuron and sensory-neuron (which will usually carry the signal to the brain)</a:t>
          </a:r>
        </a:p>
      </dgm:t>
    </dgm:pt>
    <dgm:pt modelId="{D8375886-74AC-4382-A4DE-6990F0A83298}" type="parTrans" cxnId="{0ED460C1-8800-4429-AC11-8FE1FD15EF95}">
      <dgm:prSet/>
      <dgm:spPr/>
      <dgm:t>
        <a:bodyPr/>
        <a:lstStyle/>
        <a:p>
          <a:endParaRPr lang="en-GB" sz="2400"/>
        </a:p>
      </dgm:t>
    </dgm:pt>
    <dgm:pt modelId="{55F5CCBB-D0F7-4032-8CA5-BFB46774D416}" type="sibTrans" cxnId="{0ED460C1-8800-4429-AC11-8FE1FD15EF95}">
      <dgm:prSet custT="1"/>
      <dgm:spPr/>
      <dgm:t>
        <a:bodyPr/>
        <a:lstStyle/>
        <a:p>
          <a:endParaRPr lang="en-GB" sz="1600"/>
        </a:p>
      </dgm:t>
    </dgm:pt>
    <dgm:pt modelId="{BFA5BE69-EB40-4BA5-B829-B2456A5B1380}">
      <dgm:prSet custT="1"/>
      <dgm:spPr/>
      <dgm:t>
        <a:bodyPr/>
        <a:lstStyle/>
        <a:p>
          <a:r>
            <a:rPr lang="en-GB" sz="3200" dirty="0"/>
            <a:t>Signal cannot ascend</a:t>
          </a:r>
        </a:p>
      </dgm:t>
    </dgm:pt>
    <dgm:pt modelId="{350DAA81-254F-4E6B-B22D-31BE802E6E9F}" type="parTrans" cxnId="{A8401586-8AEF-425A-9AA3-25B8EE8041C9}">
      <dgm:prSet/>
      <dgm:spPr/>
      <dgm:t>
        <a:bodyPr/>
        <a:lstStyle/>
        <a:p>
          <a:endParaRPr lang="en-GB" sz="2400"/>
        </a:p>
      </dgm:t>
    </dgm:pt>
    <dgm:pt modelId="{3D528FF5-FDDE-4CDD-B79A-8A14FA1A3A69}" type="sibTrans" cxnId="{A8401586-8AEF-425A-9AA3-25B8EE8041C9}">
      <dgm:prSet/>
      <dgm:spPr/>
      <dgm:t>
        <a:bodyPr/>
        <a:lstStyle/>
        <a:p>
          <a:endParaRPr lang="en-GB" sz="2400"/>
        </a:p>
      </dgm:t>
    </dgm:pt>
    <dgm:pt modelId="{87978A87-F270-45EC-8B2E-DCB43AA4FF7F}" type="pres">
      <dgm:prSet presAssocID="{729A94E4-65F5-4033-95A3-5E9C04E966C1}" presName="diagram" presStyleCnt="0">
        <dgm:presLayoutVars>
          <dgm:dir/>
          <dgm:resizeHandles val="exact"/>
        </dgm:presLayoutVars>
      </dgm:prSet>
      <dgm:spPr/>
    </dgm:pt>
    <dgm:pt modelId="{7D67FF65-64AA-4F51-934F-4CBE79AE755D}" type="pres">
      <dgm:prSet presAssocID="{DCF690DD-A33B-4327-9931-BF53A6F26B2A}" presName="node" presStyleLbl="node1" presStyleIdx="0" presStyleCnt="5">
        <dgm:presLayoutVars>
          <dgm:bulletEnabled val="1"/>
        </dgm:presLayoutVars>
      </dgm:prSet>
      <dgm:spPr/>
    </dgm:pt>
    <dgm:pt modelId="{6FCECCC8-1BF0-4009-832B-0F05ED402C6C}" type="pres">
      <dgm:prSet presAssocID="{A2BA27E1-8100-4335-A844-8D681BAF3E19}" presName="sibTrans" presStyleLbl="sibTrans2D1" presStyleIdx="0" presStyleCnt="4"/>
      <dgm:spPr/>
    </dgm:pt>
    <dgm:pt modelId="{E7CF3465-ADEF-4771-A27D-0BF84E68D044}" type="pres">
      <dgm:prSet presAssocID="{A2BA27E1-8100-4335-A844-8D681BAF3E19}" presName="connectorText" presStyleLbl="sibTrans2D1" presStyleIdx="0" presStyleCnt="4"/>
      <dgm:spPr/>
    </dgm:pt>
    <dgm:pt modelId="{D46F9BB6-E52E-4415-B242-5F233AD83C32}" type="pres">
      <dgm:prSet presAssocID="{4598AFF4-E502-4AB7-9F03-DD345DF9B3DD}" presName="node" presStyleLbl="node1" presStyleIdx="1" presStyleCnt="5" custScaleX="117618">
        <dgm:presLayoutVars>
          <dgm:bulletEnabled val="1"/>
        </dgm:presLayoutVars>
      </dgm:prSet>
      <dgm:spPr/>
    </dgm:pt>
    <dgm:pt modelId="{9BE92544-981B-4871-BDEC-A139E07B6750}" type="pres">
      <dgm:prSet presAssocID="{C70A4FE1-0B52-4D08-A294-DDAD8316B01A}" presName="sibTrans" presStyleLbl="sibTrans2D1" presStyleIdx="1" presStyleCnt="4"/>
      <dgm:spPr/>
    </dgm:pt>
    <dgm:pt modelId="{3B8CA18C-131F-4576-BFEB-C4B3085B3C1D}" type="pres">
      <dgm:prSet presAssocID="{C70A4FE1-0B52-4D08-A294-DDAD8316B01A}" presName="connectorText" presStyleLbl="sibTrans2D1" presStyleIdx="1" presStyleCnt="4"/>
      <dgm:spPr/>
    </dgm:pt>
    <dgm:pt modelId="{F81F44D9-A664-4D63-80CA-2F4D3CDF3C8F}" type="pres">
      <dgm:prSet presAssocID="{19F6517A-05B3-43BA-867F-DAEE913C0EFE}" presName="node" presStyleLbl="node1" presStyleIdx="2" presStyleCnt="5">
        <dgm:presLayoutVars>
          <dgm:bulletEnabled val="1"/>
        </dgm:presLayoutVars>
      </dgm:prSet>
      <dgm:spPr/>
    </dgm:pt>
    <dgm:pt modelId="{AFC6DD95-03A8-425E-9559-1464FEEE0FBC}" type="pres">
      <dgm:prSet presAssocID="{5559A959-EAC9-40F8-B2FE-EC2A220C4A70}" presName="sibTrans" presStyleLbl="sibTrans2D1" presStyleIdx="2" presStyleCnt="4" custAng="21278188"/>
      <dgm:spPr/>
    </dgm:pt>
    <dgm:pt modelId="{2E6221A7-C612-48D2-98F8-CE184B820831}" type="pres">
      <dgm:prSet presAssocID="{5559A959-EAC9-40F8-B2FE-EC2A220C4A70}" presName="connectorText" presStyleLbl="sibTrans2D1" presStyleIdx="2" presStyleCnt="4"/>
      <dgm:spPr/>
    </dgm:pt>
    <dgm:pt modelId="{0B6A0EBB-AB84-416E-86AF-964C0AE8F44D}" type="pres">
      <dgm:prSet presAssocID="{DDD8A6CF-4A4B-48A7-A39A-16606433A37C}" presName="node" presStyleLbl="node1" presStyleIdx="3" presStyleCnt="5" custScaleX="134059" custScaleY="129289" custLinFactNeighborX="17261" custLinFactNeighborY="1003">
        <dgm:presLayoutVars>
          <dgm:bulletEnabled val="1"/>
        </dgm:presLayoutVars>
      </dgm:prSet>
      <dgm:spPr/>
    </dgm:pt>
    <dgm:pt modelId="{FE8E92CE-49BE-4F10-8546-4F2D081B3527}" type="pres">
      <dgm:prSet presAssocID="{55F5CCBB-D0F7-4032-8CA5-BFB46774D416}" presName="sibTrans" presStyleLbl="sibTrans2D1" presStyleIdx="3" presStyleCnt="4"/>
      <dgm:spPr/>
    </dgm:pt>
    <dgm:pt modelId="{B4862DE2-DF94-42DB-BF11-FEF196911F7B}" type="pres">
      <dgm:prSet presAssocID="{55F5CCBB-D0F7-4032-8CA5-BFB46774D416}" presName="connectorText" presStyleLbl="sibTrans2D1" presStyleIdx="3" presStyleCnt="4"/>
      <dgm:spPr/>
    </dgm:pt>
    <dgm:pt modelId="{FAD87AB6-2E7B-452B-B479-9B4A56B52D37}" type="pres">
      <dgm:prSet presAssocID="{BFA5BE69-EB40-4BA5-B829-B2456A5B1380}" presName="node" presStyleLbl="node1" presStyleIdx="4" presStyleCnt="5">
        <dgm:presLayoutVars>
          <dgm:bulletEnabled val="1"/>
        </dgm:presLayoutVars>
      </dgm:prSet>
      <dgm:spPr/>
    </dgm:pt>
  </dgm:ptLst>
  <dgm:cxnLst>
    <dgm:cxn modelId="{115AEC22-71E8-4D36-8A5E-F2C5AAAE949D}" type="presOf" srcId="{BFA5BE69-EB40-4BA5-B829-B2456A5B1380}" destId="{FAD87AB6-2E7B-452B-B479-9B4A56B52D37}" srcOrd="0" destOrd="0" presId="urn:microsoft.com/office/officeart/2005/8/layout/process5"/>
    <dgm:cxn modelId="{15C6A726-6A40-4CE0-9734-1631B890CDA6}" type="presOf" srcId="{DDD8A6CF-4A4B-48A7-A39A-16606433A37C}" destId="{0B6A0EBB-AB84-416E-86AF-964C0AE8F44D}" srcOrd="0" destOrd="0" presId="urn:microsoft.com/office/officeart/2005/8/layout/process5"/>
    <dgm:cxn modelId="{21CC1B2E-7696-4DED-9E9F-EB33037F6465}" type="presOf" srcId="{C70A4FE1-0B52-4D08-A294-DDAD8316B01A}" destId="{3B8CA18C-131F-4576-BFEB-C4B3085B3C1D}" srcOrd="1" destOrd="0" presId="urn:microsoft.com/office/officeart/2005/8/layout/process5"/>
    <dgm:cxn modelId="{FEAB813F-F865-444C-942F-C7AF79050EAC}" type="presOf" srcId="{A2BA27E1-8100-4335-A844-8D681BAF3E19}" destId="{E7CF3465-ADEF-4771-A27D-0BF84E68D044}" srcOrd="1" destOrd="0" presId="urn:microsoft.com/office/officeart/2005/8/layout/process5"/>
    <dgm:cxn modelId="{01CE686D-927E-4867-837C-0FD969690EB8}" type="presOf" srcId="{C70A4FE1-0B52-4D08-A294-DDAD8316B01A}" destId="{9BE92544-981B-4871-BDEC-A139E07B6750}" srcOrd="0" destOrd="0" presId="urn:microsoft.com/office/officeart/2005/8/layout/process5"/>
    <dgm:cxn modelId="{7D154352-A6B3-4609-A5D7-0DD8881A1E2F}" type="presOf" srcId="{19F6517A-05B3-43BA-867F-DAEE913C0EFE}" destId="{F81F44D9-A664-4D63-80CA-2F4D3CDF3C8F}" srcOrd="0" destOrd="0" presId="urn:microsoft.com/office/officeart/2005/8/layout/process5"/>
    <dgm:cxn modelId="{CDFDBA76-0075-4F8D-86BD-6043D3E3823C}" type="presOf" srcId="{5559A959-EAC9-40F8-B2FE-EC2A220C4A70}" destId="{2E6221A7-C612-48D2-98F8-CE184B820831}" srcOrd="1" destOrd="0" presId="urn:microsoft.com/office/officeart/2005/8/layout/process5"/>
    <dgm:cxn modelId="{A8401586-8AEF-425A-9AA3-25B8EE8041C9}" srcId="{729A94E4-65F5-4033-95A3-5E9C04E966C1}" destId="{BFA5BE69-EB40-4BA5-B829-B2456A5B1380}" srcOrd="4" destOrd="0" parTransId="{350DAA81-254F-4E6B-B22D-31BE802E6E9F}" sibTransId="{3D528FF5-FDDE-4CDD-B79A-8A14FA1A3A69}"/>
    <dgm:cxn modelId="{7A315596-0CE2-45D4-A1E5-A3EA345568E0}" type="presOf" srcId="{5559A959-EAC9-40F8-B2FE-EC2A220C4A70}" destId="{AFC6DD95-03A8-425E-9559-1464FEEE0FBC}" srcOrd="0" destOrd="0" presId="urn:microsoft.com/office/officeart/2005/8/layout/process5"/>
    <dgm:cxn modelId="{B2BC1B9F-AAA3-4BA5-8C9B-D501416FD654}" type="presOf" srcId="{DCF690DD-A33B-4327-9931-BF53A6F26B2A}" destId="{7D67FF65-64AA-4F51-934F-4CBE79AE755D}" srcOrd="0" destOrd="0" presId="urn:microsoft.com/office/officeart/2005/8/layout/process5"/>
    <dgm:cxn modelId="{FC74F5A1-2FAA-40DE-A3DF-24F1195898C5}" srcId="{729A94E4-65F5-4033-95A3-5E9C04E966C1}" destId="{19F6517A-05B3-43BA-867F-DAEE913C0EFE}" srcOrd="2" destOrd="0" parTransId="{AEB2285E-4C10-4FDF-8A23-F30B42F5E525}" sibTransId="{5559A959-EAC9-40F8-B2FE-EC2A220C4A70}"/>
    <dgm:cxn modelId="{BBA2F2AE-6033-438A-B17A-81824D41E261}" type="presOf" srcId="{729A94E4-65F5-4033-95A3-5E9C04E966C1}" destId="{87978A87-F270-45EC-8B2E-DCB43AA4FF7F}" srcOrd="0" destOrd="0" presId="urn:microsoft.com/office/officeart/2005/8/layout/process5"/>
    <dgm:cxn modelId="{306774B4-68AC-4153-B78B-EA1C769D067C}" srcId="{729A94E4-65F5-4033-95A3-5E9C04E966C1}" destId="{4598AFF4-E502-4AB7-9F03-DD345DF9B3DD}" srcOrd="1" destOrd="0" parTransId="{87EE3A37-9BFE-4435-9FB0-22890D385586}" sibTransId="{C70A4FE1-0B52-4D08-A294-DDAD8316B01A}"/>
    <dgm:cxn modelId="{10EADFB4-4FE0-4F02-91B7-3FA1FAAAD321}" type="presOf" srcId="{A2BA27E1-8100-4335-A844-8D681BAF3E19}" destId="{6FCECCC8-1BF0-4009-832B-0F05ED402C6C}" srcOrd="0" destOrd="0" presId="urn:microsoft.com/office/officeart/2005/8/layout/process5"/>
    <dgm:cxn modelId="{0ED460C1-8800-4429-AC11-8FE1FD15EF95}" srcId="{729A94E4-65F5-4033-95A3-5E9C04E966C1}" destId="{DDD8A6CF-4A4B-48A7-A39A-16606433A37C}" srcOrd="3" destOrd="0" parTransId="{D8375886-74AC-4382-A4DE-6990F0A83298}" sibTransId="{55F5CCBB-D0F7-4032-8CA5-BFB46774D416}"/>
    <dgm:cxn modelId="{6462A2C9-C171-4193-B63D-50D57D449969}" type="presOf" srcId="{55F5CCBB-D0F7-4032-8CA5-BFB46774D416}" destId="{FE8E92CE-49BE-4F10-8546-4F2D081B3527}" srcOrd="0" destOrd="0" presId="urn:microsoft.com/office/officeart/2005/8/layout/process5"/>
    <dgm:cxn modelId="{92A169D7-D939-4C2E-AD43-2445CA570A7E}" srcId="{729A94E4-65F5-4033-95A3-5E9C04E966C1}" destId="{DCF690DD-A33B-4327-9931-BF53A6F26B2A}" srcOrd="0" destOrd="0" parTransId="{5160B6B8-B16E-4743-98AB-BD7C8AA1F1F9}" sibTransId="{A2BA27E1-8100-4335-A844-8D681BAF3E19}"/>
    <dgm:cxn modelId="{0674ECDD-ECC2-417A-8BC0-79BC38C9A33B}" type="presOf" srcId="{4598AFF4-E502-4AB7-9F03-DD345DF9B3DD}" destId="{D46F9BB6-E52E-4415-B242-5F233AD83C32}" srcOrd="0" destOrd="0" presId="urn:microsoft.com/office/officeart/2005/8/layout/process5"/>
    <dgm:cxn modelId="{E1F6DEEB-AD18-4614-81E1-02B2030E3486}" type="presOf" srcId="{55F5CCBB-D0F7-4032-8CA5-BFB46774D416}" destId="{B4862DE2-DF94-42DB-BF11-FEF196911F7B}" srcOrd="1" destOrd="0" presId="urn:microsoft.com/office/officeart/2005/8/layout/process5"/>
    <dgm:cxn modelId="{4BA710AC-C94E-427A-8C8A-A320E457F895}" type="presParOf" srcId="{87978A87-F270-45EC-8B2E-DCB43AA4FF7F}" destId="{7D67FF65-64AA-4F51-934F-4CBE79AE755D}" srcOrd="0" destOrd="0" presId="urn:microsoft.com/office/officeart/2005/8/layout/process5"/>
    <dgm:cxn modelId="{649C58F7-D108-4440-ABFF-B4E45628F88C}" type="presParOf" srcId="{87978A87-F270-45EC-8B2E-DCB43AA4FF7F}" destId="{6FCECCC8-1BF0-4009-832B-0F05ED402C6C}" srcOrd="1" destOrd="0" presId="urn:microsoft.com/office/officeart/2005/8/layout/process5"/>
    <dgm:cxn modelId="{9D387230-35F1-485C-923A-DB2AEB115E14}" type="presParOf" srcId="{6FCECCC8-1BF0-4009-832B-0F05ED402C6C}" destId="{E7CF3465-ADEF-4771-A27D-0BF84E68D044}" srcOrd="0" destOrd="0" presId="urn:microsoft.com/office/officeart/2005/8/layout/process5"/>
    <dgm:cxn modelId="{4A736EBB-D0E8-4655-B812-D1027AE348EC}" type="presParOf" srcId="{87978A87-F270-45EC-8B2E-DCB43AA4FF7F}" destId="{D46F9BB6-E52E-4415-B242-5F233AD83C32}" srcOrd="2" destOrd="0" presId="urn:microsoft.com/office/officeart/2005/8/layout/process5"/>
    <dgm:cxn modelId="{B3BD5CCA-F0F9-49A6-AC4C-BD98D2498B73}" type="presParOf" srcId="{87978A87-F270-45EC-8B2E-DCB43AA4FF7F}" destId="{9BE92544-981B-4871-BDEC-A139E07B6750}" srcOrd="3" destOrd="0" presId="urn:microsoft.com/office/officeart/2005/8/layout/process5"/>
    <dgm:cxn modelId="{6C025936-F3D6-4FB3-A453-2118FB9F74E2}" type="presParOf" srcId="{9BE92544-981B-4871-BDEC-A139E07B6750}" destId="{3B8CA18C-131F-4576-BFEB-C4B3085B3C1D}" srcOrd="0" destOrd="0" presId="urn:microsoft.com/office/officeart/2005/8/layout/process5"/>
    <dgm:cxn modelId="{8EFF8BA1-72AB-4C2F-9850-F2E21B5ED266}" type="presParOf" srcId="{87978A87-F270-45EC-8B2E-DCB43AA4FF7F}" destId="{F81F44D9-A664-4D63-80CA-2F4D3CDF3C8F}" srcOrd="4" destOrd="0" presId="urn:microsoft.com/office/officeart/2005/8/layout/process5"/>
    <dgm:cxn modelId="{03B1051C-AEDF-49FC-9EF1-B4B3D3A97FB3}" type="presParOf" srcId="{87978A87-F270-45EC-8B2E-DCB43AA4FF7F}" destId="{AFC6DD95-03A8-425E-9559-1464FEEE0FBC}" srcOrd="5" destOrd="0" presId="urn:microsoft.com/office/officeart/2005/8/layout/process5"/>
    <dgm:cxn modelId="{4114F4EF-9B61-4484-96A4-6D757CF6820A}" type="presParOf" srcId="{AFC6DD95-03A8-425E-9559-1464FEEE0FBC}" destId="{2E6221A7-C612-48D2-98F8-CE184B820831}" srcOrd="0" destOrd="0" presId="urn:microsoft.com/office/officeart/2005/8/layout/process5"/>
    <dgm:cxn modelId="{C3D97476-C03C-47C2-B006-2612AF48A976}" type="presParOf" srcId="{87978A87-F270-45EC-8B2E-DCB43AA4FF7F}" destId="{0B6A0EBB-AB84-416E-86AF-964C0AE8F44D}" srcOrd="6" destOrd="0" presId="urn:microsoft.com/office/officeart/2005/8/layout/process5"/>
    <dgm:cxn modelId="{50E6AA6D-34E3-4033-80C3-B1B56ABC509B}" type="presParOf" srcId="{87978A87-F270-45EC-8B2E-DCB43AA4FF7F}" destId="{FE8E92CE-49BE-4F10-8546-4F2D081B3527}" srcOrd="7" destOrd="0" presId="urn:microsoft.com/office/officeart/2005/8/layout/process5"/>
    <dgm:cxn modelId="{72635856-A0C9-4EB6-A7ED-9827C77ED617}" type="presParOf" srcId="{FE8E92CE-49BE-4F10-8546-4F2D081B3527}" destId="{B4862DE2-DF94-42DB-BF11-FEF196911F7B}" srcOrd="0" destOrd="0" presId="urn:microsoft.com/office/officeart/2005/8/layout/process5"/>
    <dgm:cxn modelId="{D326EE70-FD6F-4107-886F-0F306CACB4F4}" type="presParOf" srcId="{87978A87-F270-45EC-8B2E-DCB43AA4FF7F}" destId="{FAD87AB6-2E7B-452B-B479-9B4A56B52D3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B6773-5A78-42FF-A3A4-E366133F7954}">
      <dsp:nvSpPr>
        <dsp:cNvPr id="0" name=""/>
        <dsp:cNvSpPr/>
      </dsp:nvSpPr>
      <dsp:spPr>
        <a:xfrm>
          <a:off x="291835" y="3323"/>
          <a:ext cx="2753728" cy="1174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Painful stimuli is detected by sensory neuron</a:t>
          </a:r>
        </a:p>
      </dsp:txBody>
      <dsp:txXfrm>
        <a:off x="326222" y="37710"/>
        <a:ext cx="2684954" cy="1105281"/>
      </dsp:txXfrm>
    </dsp:sp>
    <dsp:sp modelId="{0F09876D-0356-4CB9-A162-5105FD19C64C}">
      <dsp:nvSpPr>
        <dsp:cNvPr id="0" name=""/>
        <dsp:cNvSpPr/>
      </dsp:nvSpPr>
      <dsp:spPr>
        <a:xfrm>
          <a:off x="3217758" y="347712"/>
          <a:ext cx="414833" cy="485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3217758" y="444767"/>
        <a:ext cx="290383" cy="291166"/>
      </dsp:txXfrm>
    </dsp:sp>
    <dsp:sp modelId="{3A5DADAF-81B2-4E5E-85BC-F313180835A4}">
      <dsp:nvSpPr>
        <dsp:cNvPr id="0" name=""/>
        <dsp:cNvSpPr/>
      </dsp:nvSpPr>
      <dsp:spPr>
        <a:xfrm>
          <a:off x="3828267" y="3323"/>
          <a:ext cx="2753728" cy="1174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Impulse travels down afferent interneurons and ascent to the brain</a:t>
          </a:r>
        </a:p>
      </dsp:txBody>
      <dsp:txXfrm>
        <a:off x="3862654" y="37710"/>
        <a:ext cx="2684954" cy="1105281"/>
      </dsp:txXfrm>
    </dsp:sp>
    <dsp:sp modelId="{8D291196-DD4D-45D1-B6A0-077D32DAC16D}">
      <dsp:nvSpPr>
        <dsp:cNvPr id="0" name=""/>
        <dsp:cNvSpPr/>
      </dsp:nvSpPr>
      <dsp:spPr>
        <a:xfrm rot="5400000">
          <a:off x="4997714" y="1314352"/>
          <a:ext cx="414833" cy="485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 rot="-5400000">
        <a:off x="5059548" y="1349573"/>
        <a:ext cx="291166" cy="290383"/>
      </dsp:txXfrm>
    </dsp:sp>
    <dsp:sp modelId="{A0DE2CE5-4FB6-47FA-BF4A-2407EF61D735}">
      <dsp:nvSpPr>
        <dsp:cNvPr id="0" name=""/>
        <dsp:cNvSpPr/>
      </dsp:nvSpPr>
      <dsp:spPr>
        <a:xfrm>
          <a:off x="3828267" y="1960082"/>
          <a:ext cx="2753728" cy="1174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Information arrives and is interpreted by brain</a:t>
          </a:r>
        </a:p>
      </dsp:txBody>
      <dsp:txXfrm>
        <a:off x="3862654" y="1994469"/>
        <a:ext cx="2684954" cy="1105281"/>
      </dsp:txXfrm>
    </dsp:sp>
    <dsp:sp modelId="{D9B2D2F1-2ACC-445B-AE1B-ABDD78804C0B}">
      <dsp:nvSpPr>
        <dsp:cNvPr id="0" name=""/>
        <dsp:cNvSpPr/>
      </dsp:nvSpPr>
      <dsp:spPr>
        <a:xfrm rot="10800000">
          <a:off x="3241239" y="2304472"/>
          <a:ext cx="414833" cy="485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 rot="10800000">
        <a:off x="3365689" y="2401527"/>
        <a:ext cx="290383" cy="291166"/>
      </dsp:txXfrm>
    </dsp:sp>
    <dsp:sp modelId="{C624545A-885E-4D30-BBFE-3DF653DDCB18}">
      <dsp:nvSpPr>
        <dsp:cNvPr id="0" name=""/>
        <dsp:cNvSpPr/>
      </dsp:nvSpPr>
      <dsp:spPr>
        <a:xfrm>
          <a:off x="291835" y="1960082"/>
          <a:ext cx="2753728" cy="1174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Decision about response is made by the brain </a:t>
          </a:r>
        </a:p>
      </dsp:txBody>
      <dsp:txXfrm>
        <a:off x="326222" y="1994469"/>
        <a:ext cx="2684954" cy="1105281"/>
      </dsp:txXfrm>
    </dsp:sp>
    <dsp:sp modelId="{07D27007-81DC-46AC-93EA-98A2930558F4}">
      <dsp:nvSpPr>
        <dsp:cNvPr id="0" name=""/>
        <dsp:cNvSpPr/>
      </dsp:nvSpPr>
      <dsp:spPr>
        <a:xfrm rot="5400000">
          <a:off x="1461283" y="3271111"/>
          <a:ext cx="414833" cy="485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 rot="-5400000">
        <a:off x="1523117" y="3306332"/>
        <a:ext cx="291166" cy="290383"/>
      </dsp:txXfrm>
    </dsp:sp>
    <dsp:sp modelId="{927AF663-B95F-4EBF-A4BA-A9C6AB415F9D}">
      <dsp:nvSpPr>
        <dsp:cNvPr id="0" name=""/>
        <dsp:cNvSpPr/>
      </dsp:nvSpPr>
      <dsp:spPr>
        <a:xfrm>
          <a:off x="291835" y="3916842"/>
          <a:ext cx="2753728" cy="1174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Impulses travel down efferent motor neurons and descent to the target tissue</a:t>
          </a:r>
        </a:p>
      </dsp:txBody>
      <dsp:txXfrm>
        <a:off x="326222" y="3951229"/>
        <a:ext cx="2684954" cy="1105281"/>
      </dsp:txXfrm>
    </dsp:sp>
    <dsp:sp modelId="{81A383DB-D166-4A04-87D9-9CAAAC665073}">
      <dsp:nvSpPr>
        <dsp:cNvPr id="0" name=""/>
        <dsp:cNvSpPr/>
      </dsp:nvSpPr>
      <dsp:spPr>
        <a:xfrm>
          <a:off x="3217758" y="4261231"/>
          <a:ext cx="414833" cy="485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3217758" y="4358286"/>
        <a:ext cx="290383" cy="291166"/>
      </dsp:txXfrm>
    </dsp:sp>
    <dsp:sp modelId="{A8BB85FE-3EBE-4AF8-9259-4C024627D4FF}">
      <dsp:nvSpPr>
        <dsp:cNvPr id="0" name=""/>
        <dsp:cNvSpPr/>
      </dsp:nvSpPr>
      <dsp:spPr>
        <a:xfrm>
          <a:off x="3828267" y="3916842"/>
          <a:ext cx="2753728" cy="1174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Response is initiated</a:t>
          </a:r>
        </a:p>
      </dsp:txBody>
      <dsp:txXfrm>
        <a:off x="3862654" y="3951229"/>
        <a:ext cx="2684954" cy="11052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7FF65-64AA-4F51-934F-4CBE79AE755D}">
      <dsp:nvSpPr>
        <dsp:cNvPr id="0" name=""/>
        <dsp:cNvSpPr/>
      </dsp:nvSpPr>
      <dsp:spPr>
        <a:xfrm>
          <a:off x="177506" y="688"/>
          <a:ext cx="2605224" cy="15631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Brain perceives the pain but decides to modulate it (survival mode)</a:t>
          </a:r>
        </a:p>
      </dsp:txBody>
      <dsp:txXfrm>
        <a:off x="223289" y="46471"/>
        <a:ext cx="2513658" cy="1471568"/>
      </dsp:txXfrm>
    </dsp:sp>
    <dsp:sp modelId="{6FCECCC8-1BF0-4009-832B-0F05ED402C6C}">
      <dsp:nvSpPr>
        <dsp:cNvPr id="0" name=""/>
        <dsp:cNvSpPr/>
      </dsp:nvSpPr>
      <dsp:spPr>
        <a:xfrm>
          <a:off x="3011990" y="459208"/>
          <a:ext cx="552307" cy="646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3011990" y="588427"/>
        <a:ext cx="386615" cy="387657"/>
      </dsp:txXfrm>
    </dsp:sp>
    <dsp:sp modelId="{D46F9BB6-E52E-4415-B242-5F233AD83C32}">
      <dsp:nvSpPr>
        <dsp:cNvPr id="0" name=""/>
        <dsp:cNvSpPr/>
      </dsp:nvSpPr>
      <dsp:spPr>
        <a:xfrm>
          <a:off x="3824821" y="688"/>
          <a:ext cx="3064212" cy="15631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Signals to hypothalamus and impulse sent down brain stem (medulla oblongata)</a:t>
          </a:r>
        </a:p>
      </dsp:txBody>
      <dsp:txXfrm>
        <a:off x="3870604" y="46471"/>
        <a:ext cx="2972646" cy="1471568"/>
      </dsp:txXfrm>
    </dsp:sp>
    <dsp:sp modelId="{9BE92544-981B-4871-BDEC-A139E07B6750}">
      <dsp:nvSpPr>
        <dsp:cNvPr id="0" name=""/>
        <dsp:cNvSpPr/>
      </dsp:nvSpPr>
      <dsp:spPr>
        <a:xfrm>
          <a:off x="7118293" y="459208"/>
          <a:ext cx="552307" cy="646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7118293" y="588427"/>
        <a:ext cx="386615" cy="387657"/>
      </dsp:txXfrm>
    </dsp:sp>
    <dsp:sp modelId="{F81F44D9-A664-4D63-80CA-2F4D3CDF3C8F}">
      <dsp:nvSpPr>
        <dsp:cNvPr id="0" name=""/>
        <dsp:cNvSpPr/>
      </dsp:nvSpPr>
      <dsp:spPr>
        <a:xfrm>
          <a:off x="7931123" y="688"/>
          <a:ext cx="2605224" cy="15631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Descends down spinal cord</a:t>
          </a:r>
        </a:p>
      </dsp:txBody>
      <dsp:txXfrm>
        <a:off x="7976906" y="46471"/>
        <a:ext cx="2513658" cy="1471568"/>
      </dsp:txXfrm>
    </dsp:sp>
    <dsp:sp modelId="{AFC6DD95-03A8-425E-9559-1464FEEE0FBC}">
      <dsp:nvSpPr>
        <dsp:cNvPr id="0" name=""/>
        <dsp:cNvSpPr/>
      </dsp:nvSpPr>
      <dsp:spPr>
        <a:xfrm rot="5400000">
          <a:off x="8835323" y="1746523"/>
          <a:ext cx="555103" cy="646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 rot="-5400000">
        <a:off x="8919046" y="1792020"/>
        <a:ext cx="387657" cy="388572"/>
      </dsp:txXfrm>
    </dsp:sp>
    <dsp:sp modelId="{0B6A0EBB-AB84-416E-86AF-964C0AE8F44D}">
      <dsp:nvSpPr>
        <dsp:cNvPr id="0" name=""/>
        <dsp:cNvSpPr/>
      </dsp:nvSpPr>
      <dsp:spPr>
        <a:xfrm>
          <a:off x="7221317" y="2606601"/>
          <a:ext cx="3492537" cy="20209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Interrupts signal in spinal cord between synapse of inter-neuron and sensory-neuron (which will usually carry the signal to the brain)</a:t>
          </a:r>
        </a:p>
      </dsp:txBody>
      <dsp:txXfrm>
        <a:off x="7280509" y="2665793"/>
        <a:ext cx="3374153" cy="1902577"/>
      </dsp:txXfrm>
    </dsp:sp>
    <dsp:sp modelId="{FE8E92CE-49BE-4F10-8546-4F2D081B3527}">
      <dsp:nvSpPr>
        <dsp:cNvPr id="0" name=""/>
        <dsp:cNvSpPr/>
      </dsp:nvSpPr>
      <dsp:spPr>
        <a:xfrm rot="10800555">
          <a:off x="6306619" y="3293657"/>
          <a:ext cx="646386" cy="646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 rot="10800000">
        <a:off x="6500447" y="3422892"/>
        <a:ext cx="452558" cy="387657"/>
      </dsp:txXfrm>
    </dsp:sp>
    <dsp:sp modelId="{FAD87AB6-2E7B-452B-B479-9B4A56B52D37}">
      <dsp:nvSpPr>
        <dsp:cNvPr id="0" name=""/>
        <dsp:cNvSpPr/>
      </dsp:nvSpPr>
      <dsp:spPr>
        <a:xfrm>
          <a:off x="3396496" y="2834826"/>
          <a:ext cx="2605224" cy="15631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Signal cannot ascend</a:t>
          </a:r>
        </a:p>
      </dsp:txBody>
      <dsp:txXfrm>
        <a:off x="3442279" y="2880609"/>
        <a:ext cx="2513658" cy="1471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F9951-7A27-477A-90ED-9C24BE06A186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64D8B-4CC5-402D-A151-B3E8152E5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8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600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095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607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next few slides are going to go over some examples of why this is the definition, and why the structural-pathology model is not always accurate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982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Not as straight forward as a </a:t>
            </a:r>
            <a:r>
              <a:rPr lang="en-GB" sz="1200" dirty="0">
                <a:solidFill>
                  <a:schemeClr val="bg1"/>
                </a:solidFill>
              </a:rPr>
              <a:t>structural-pathology model!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952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9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Palatino"/>
              </a:rPr>
              <a:t>A builder aged 29 went to the accident and emergency department having jumped down on to a 15 cm nail.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Palatino"/>
              </a:rPr>
              <a:t>As the smallest movement of the nail was painful he was sedated.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Palatino"/>
              </a:rPr>
              <a:t>The nail was then pulled out from below.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Palatino"/>
              </a:rPr>
              <a:t>When his boot was removed, despite entering proximal to the steel toecap the nail had penetrated between the toes: the foot was entirely uninjured.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Palatino"/>
              </a:rPr>
              <a:t>P</a:t>
            </a:r>
            <a:r>
              <a:rPr lang="en-GB" dirty="0"/>
              <a:t>eople can "hallucinate" pain based on perception alone. Strongly suggest that pure psychosomatic pain is also possible.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754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212121"/>
                </a:solidFill>
                <a:effectLst/>
                <a:latin typeface="BlinkMacSystemFont"/>
              </a:rPr>
              <a:t>A study which sought to estimate the prevalence, by age, of common degenerative spine conditions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212121"/>
                </a:solidFill>
                <a:effectLst/>
                <a:latin typeface="BlinkMacSystemFont"/>
              </a:rPr>
              <a:t>3110 asymptomatic individuals of varying 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212121"/>
                </a:solidFill>
                <a:effectLst/>
                <a:latin typeface="BlinkMacSystemFont"/>
              </a:rPr>
              <a:t>Imaging via MRI or CT to look at structural changes in the spine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212121"/>
                </a:solidFill>
                <a:effectLst/>
                <a:latin typeface="BlinkMacSystemFont"/>
              </a:rPr>
              <a:t>Imaging findings of spine degeneration are present in high proportions of asymptomatic individuals, increasing with age. Many imaging-based degenerative features are likely part of normal aging and </a:t>
            </a:r>
            <a:r>
              <a:rPr lang="en-GB" sz="1600" b="0" i="0" dirty="0" err="1">
                <a:solidFill>
                  <a:srgbClr val="212121"/>
                </a:solidFill>
                <a:effectLst/>
                <a:latin typeface="BlinkMacSystemFont"/>
              </a:rPr>
              <a:t>unassociated</a:t>
            </a:r>
            <a:r>
              <a:rPr lang="en-GB" sz="1600" b="0" i="0" dirty="0">
                <a:solidFill>
                  <a:srgbClr val="212121"/>
                </a:solidFill>
                <a:effectLst/>
                <a:latin typeface="BlinkMacSystemFont"/>
              </a:rPr>
              <a:t> with pain. </a:t>
            </a:r>
            <a:endParaRPr lang="en-GB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26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581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403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938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71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706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253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https://www.youtube.com/watch?v=I7wfDenj6CQ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People respond differently – Some us a task to distract themselves from the pain OTHERS get distracted by the pain when performing a task</a:t>
            </a:r>
          </a:p>
          <a:p>
            <a:r>
              <a:rPr lang="en-US" dirty="0"/>
              <a:t>Brain decided what to do with the pain signal to </a:t>
            </a:r>
          </a:p>
          <a:p>
            <a:r>
              <a:rPr lang="en-US" dirty="0"/>
              <a:t>Acute pain management – Exercise (endorphins), manual therapy (some may respond and others not), medication, meditation</a:t>
            </a:r>
          </a:p>
          <a:p>
            <a:r>
              <a:rPr lang="en-US" dirty="0"/>
              <a:t>Chronic pain management – CBT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478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652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127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026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644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65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115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574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84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2508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5538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189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741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759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9386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694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757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1985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https://www.youtube.com/watch?v=C_3phB93rvI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0839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2255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8268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749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97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80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8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0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09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24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07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51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77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58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57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37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1607B-1B4E-47C1-BC71-B8AA73963BFE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28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tif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7.jpeg"/><Relationship Id="rId4" Type="http://schemas.openxmlformats.org/officeDocument/2006/relationships/diagramData" Target="../diagrams/data1.xml"/><Relationship Id="rId9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I7wfDenj6CQ" TargetMode="External"/><Relationship Id="rId5" Type="http://schemas.openxmlformats.org/officeDocument/2006/relationships/image" Target="../media/image18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http://www.mydr.com.au/files/images/categories/nervefibres/c.gi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gif"/><Relationship Id="rId5" Type="http://schemas.openxmlformats.org/officeDocument/2006/relationships/image" Target="http://www.mydr.com.au/files/images/categories/nervefibres/adelta.gif" TargetMode="External"/><Relationship Id="rId4" Type="http://schemas.openxmlformats.org/officeDocument/2006/relationships/image" Target="../media/image2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gif"/><Relationship Id="rId3" Type="http://schemas.openxmlformats.org/officeDocument/2006/relationships/image" Target="../media/image2.png"/><Relationship Id="rId7" Type="http://schemas.openxmlformats.org/officeDocument/2006/relationships/image" Target="http://www.mydr.com.au/files/images/categories/nervefibres/adelta.gi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gif"/><Relationship Id="rId5" Type="http://schemas.openxmlformats.org/officeDocument/2006/relationships/image" Target="http://www.mydr.com.au/files/images/categories/nervefibres/abeta.gif" TargetMode="External"/><Relationship Id="rId4" Type="http://schemas.openxmlformats.org/officeDocument/2006/relationships/image" Target="../media/image24.gif"/><Relationship Id="rId9" Type="http://schemas.openxmlformats.org/officeDocument/2006/relationships/image" Target="http://www.mydr.com.au/files/images/categories/nervefibres/c.gi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C_3phB93rvI" TargetMode="External"/><Relationship Id="rId4" Type="http://schemas.openxmlformats.org/officeDocument/2006/relationships/image" Target="../media/image3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ti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626330"/>
            <a:ext cx="7766936" cy="1646302"/>
          </a:xfrm>
        </p:spPr>
        <p:txBody>
          <a:bodyPr>
            <a:normAutofit fontScale="90000"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and modulatory systems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859367" y="3310729"/>
            <a:ext cx="7766936" cy="1587967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GB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PT7001 / PT4050</a:t>
            </a:r>
            <a:endParaRPr lang="en-GB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GB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Paul Starrs</a:t>
            </a:r>
          </a:p>
          <a:p>
            <a:pPr algn="r"/>
            <a:r>
              <a:rPr lang="en-GB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P.Starrs@londonmet.ac.uk</a:t>
            </a:r>
          </a:p>
        </p:txBody>
      </p:sp>
    </p:spTree>
    <p:extLst>
      <p:ext uri="{BB962C8B-B14F-4D97-AF65-F5344CB8AC3E}">
        <p14:creationId xmlns:p14="http://schemas.microsoft.com/office/powerpoint/2010/main" val="340538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010607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CONTENTS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5959431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What is pain?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How do we feel pain?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Where does pain come from?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What types of pain can you feel?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How can it be modulated?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15FA7B29-0F42-BF63-37E2-21B8BA235D32}"/>
              </a:ext>
            </a:extLst>
          </p:cNvPr>
          <p:cNvSpPr/>
          <p:nvPr/>
        </p:nvSpPr>
        <p:spPr>
          <a:xfrm>
            <a:off x="6743700" y="1435100"/>
            <a:ext cx="5286961" cy="515976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99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325109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LEARNING OUTCOMES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165963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Explain how pain can arise, how the information is processed in the peripheral and central nervous system, and the physiological basis of treatments designed to reduce pain  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Explain the general organisation of pain pathways from skin to brain 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Explain the peripheral transducer structure, response characteristics, receptive field, and axon properties of sensory neurons underlying pain sensation 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Appreciate the neurochemical and electrophysiological heterogeneity of pain-responsive sensory neurons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Describe the somatotopy of nociceptive input to the spinal cord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Explain the synaptic arrangement and connections of nociceptors within the spinal cord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Understand the basics of pain transmission to the brain and its modification by spinal mechanisms (gate control theory) and descending influences</a:t>
            </a:r>
          </a:p>
        </p:txBody>
      </p:sp>
    </p:spTree>
    <p:extLst>
      <p:ext uri="{BB962C8B-B14F-4D97-AF65-F5344CB8AC3E}">
        <p14:creationId xmlns:p14="http://schemas.microsoft.com/office/powerpoint/2010/main" val="108595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8919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WHAT IS PAIN?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709460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At first glance, pain seems relatively simple – hitting one’s thumb with a hammer hurts one’s thumb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 structural-pathology model supposes the pain experienced provides an accurate indication of the state of the tissues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However, on closer inspection, pain is less straightforward…</a:t>
            </a:r>
          </a:p>
        </p:txBody>
      </p:sp>
      <p:sp>
        <p:nvSpPr>
          <p:cNvPr id="2" name="Round Diagonal Corner Rectangle 2">
            <a:extLst>
              <a:ext uri="{FF2B5EF4-FFF2-40B4-BE49-F238E27FC236}">
                <a16:creationId xmlns:a16="http://schemas.microsoft.com/office/drawing/2014/main" id="{79F1C47C-F1AA-6E90-CB21-E92FA75DE2BF}"/>
              </a:ext>
            </a:extLst>
          </p:cNvPr>
          <p:cNvSpPr/>
          <p:nvPr/>
        </p:nvSpPr>
        <p:spPr>
          <a:xfrm>
            <a:off x="7449312" y="1435099"/>
            <a:ext cx="4300018" cy="5180639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6516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8919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WHAT IS PAIN?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GB" sz="5400" dirty="0">
                <a:solidFill>
                  <a:schemeClr val="bg1"/>
                </a:solidFill>
              </a:rPr>
              <a:t>“An unpleasant sensory and emotional experience associated with actual or potential tissue damage”</a:t>
            </a:r>
          </a:p>
        </p:txBody>
      </p:sp>
      <p:sp>
        <p:nvSpPr>
          <p:cNvPr id="5" name="Round Diagonal Corner Rectangle 7">
            <a:extLst>
              <a:ext uri="{FF2B5EF4-FFF2-40B4-BE49-F238E27FC236}">
                <a16:creationId xmlns:a16="http://schemas.microsoft.com/office/drawing/2014/main" id="{E188436E-10E5-EAD6-9EFA-EF20F72FFB25}"/>
              </a:ext>
            </a:extLst>
          </p:cNvPr>
          <p:cNvSpPr/>
          <p:nvPr/>
        </p:nvSpPr>
        <p:spPr>
          <a:xfrm>
            <a:off x="7677152" y="302173"/>
            <a:ext cx="4324348" cy="950576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C840ED-B3CE-FA76-A146-21A773443F6B}"/>
              </a:ext>
            </a:extLst>
          </p:cNvPr>
          <p:cNvSpPr/>
          <p:nvPr/>
        </p:nvSpPr>
        <p:spPr>
          <a:xfrm>
            <a:off x="5776111" y="2507812"/>
            <a:ext cx="2299580" cy="67901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D219F6-1B9B-8C73-A873-98010BCAA2FF}"/>
              </a:ext>
            </a:extLst>
          </p:cNvPr>
          <p:cNvSpPr/>
          <p:nvPr/>
        </p:nvSpPr>
        <p:spPr>
          <a:xfrm>
            <a:off x="976141" y="3299757"/>
            <a:ext cx="4283922" cy="67901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E45C7-2995-3900-90D5-E461B6961FB8}"/>
              </a:ext>
            </a:extLst>
          </p:cNvPr>
          <p:cNvSpPr/>
          <p:nvPr/>
        </p:nvSpPr>
        <p:spPr>
          <a:xfrm>
            <a:off x="1182862" y="4969715"/>
            <a:ext cx="2664861" cy="67901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C3D3F4-2940-25D9-80F0-3E072E45226A}"/>
              </a:ext>
            </a:extLst>
          </p:cNvPr>
          <p:cNvSpPr/>
          <p:nvPr/>
        </p:nvSpPr>
        <p:spPr>
          <a:xfrm>
            <a:off x="7495685" y="4143254"/>
            <a:ext cx="813925" cy="67901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66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6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men running on a track&#10;&#10;Description automatically generated with medium confidence">
            <a:extLst>
              <a:ext uri="{FF2B5EF4-FFF2-40B4-BE49-F238E27FC236}">
                <a16:creationId xmlns:a16="http://schemas.microsoft.com/office/drawing/2014/main" id="{9855AE09-2302-7351-DE49-4BBD6BFC72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 Diagonal Corner Rectangle 3"/>
          <p:cNvSpPr/>
          <p:nvPr/>
        </p:nvSpPr>
        <p:spPr>
          <a:xfrm>
            <a:off x="622930" y="402810"/>
            <a:ext cx="3949070" cy="1235489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PHANTOM LIMB PAIN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09113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47307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PAIN IS COMPLICATED!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BAA20B0A-92FE-DD60-28F0-16A2EEB2771D}"/>
              </a:ext>
            </a:extLst>
          </p:cNvPr>
          <p:cNvSpPr/>
          <p:nvPr/>
        </p:nvSpPr>
        <p:spPr>
          <a:xfrm>
            <a:off x="700129" y="1469896"/>
            <a:ext cx="8129238" cy="4985293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527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9612452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DO PAIN AND TISSUE DAMAGE CORRELATE?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1CA268DA-CF53-10FE-328E-E9693ED46F89}"/>
              </a:ext>
            </a:extLst>
          </p:cNvPr>
          <p:cNvSpPr/>
          <p:nvPr/>
        </p:nvSpPr>
        <p:spPr>
          <a:xfrm>
            <a:off x="622930" y="1394373"/>
            <a:ext cx="5473070" cy="5221365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GB" sz="2800" dirty="0"/>
          </a:p>
        </p:txBody>
      </p:sp>
      <p:sp>
        <p:nvSpPr>
          <p:cNvPr id="12" name="Round Diagonal Corner Rectangle 2">
            <a:extLst>
              <a:ext uri="{FF2B5EF4-FFF2-40B4-BE49-F238E27FC236}">
                <a16:creationId xmlns:a16="http://schemas.microsoft.com/office/drawing/2014/main" id="{B6B13708-BD8C-6362-B901-7D6A04F16A51}"/>
              </a:ext>
            </a:extLst>
          </p:cNvPr>
          <p:cNvSpPr/>
          <p:nvPr/>
        </p:nvSpPr>
        <p:spPr>
          <a:xfrm>
            <a:off x="6407465" y="1394373"/>
            <a:ext cx="5473070" cy="5221365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EF3BC-4F69-70E1-FC1E-6BB37DFDCE35}"/>
              </a:ext>
            </a:extLst>
          </p:cNvPr>
          <p:cNvSpPr txBox="1"/>
          <p:nvPr/>
        </p:nvSpPr>
        <p:spPr>
          <a:xfrm>
            <a:off x="3581985" y="6147139"/>
            <a:ext cx="2095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Fisher </a:t>
            </a:r>
            <a:r>
              <a:rPr lang="en-GB" sz="2000" i="1" dirty="0">
                <a:solidFill>
                  <a:schemeClr val="bg1"/>
                </a:solidFill>
              </a:rPr>
              <a:t>et al</a:t>
            </a:r>
            <a:r>
              <a:rPr lang="en-GB" sz="2000" dirty="0">
                <a:solidFill>
                  <a:schemeClr val="bg1"/>
                </a:solidFill>
              </a:rPr>
              <a:t>., 1995</a:t>
            </a:r>
          </a:p>
        </p:txBody>
      </p:sp>
    </p:spTree>
    <p:extLst>
      <p:ext uri="{BB962C8B-B14F-4D97-AF65-F5344CB8AC3E}">
        <p14:creationId xmlns:p14="http://schemas.microsoft.com/office/powerpoint/2010/main" val="89290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A2F727-4A13-6B12-8062-9DCAC3FD2442}"/>
              </a:ext>
            </a:extLst>
          </p:cNvPr>
          <p:cNvSpPr txBox="1"/>
          <p:nvPr/>
        </p:nvSpPr>
        <p:spPr>
          <a:xfrm>
            <a:off x="9012795" y="6228717"/>
            <a:ext cx="21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Brinjikji </a:t>
            </a:r>
            <a:r>
              <a:rPr lang="en-US" i="1" dirty="0">
                <a:solidFill>
                  <a:schemeClr val="bg1"/>
                </a:solidFill>
              </a:rPr>
              <a:t>et al</a:t>
            </a:r>
            <a:r>
              <a:rPr lang="en-US" dirty="0">
                <a:solidFill>
                  <a:schemeClr val="bg1"/>
                </a:solidFill>
              </a:rPr>
              <a:t>. (2015)</a:t>
            </a:r>
          </a:p>
        </p:txBody>
      </p:sp>
      <p:sp>
        <p:nvSpPr>
          <p:cNvPr id="5" name="Round Diagonal Corner Rectangle 3">
            <a:extLst>
              <a:ext uri="{FF2B5EF4-FFF2-40B4-BE49-F238E27FC236}">
                <a16:creationId xmlns:a16="http://schemas.microsoft.com/office/drawing/2014/main" id="{70548406-D440-94DD-3F92-F92899D39989}"/>
              </a:ext>
            </a:extLst>
          </p:cNvPr>
          <p:cNvSpPr/>
          <p:nvPr/>
        </p:nvSpPr>
        <p:spPr>
          <a:xfrm>
            <a:off x="622930" y="402811"/>
            <a:ext cx="8904528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SYMPTOMS AND STRUCTURAL CHANGES</a:t>
            </a:r>
          </a:p>
        </p:txBody>
      </p:sp>
    </p:spTree>
    <p:extLst>
      <p:ext uri="{BB962C8B-B14F-4D97-AF65-F5344CB8AC3E}">
        <p14:creationId xmlns:p14="http://schemas.microsoft.com/office/powerpoint/2010/main" val="246187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8919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WHAT IS PAIN?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Nociception – “Sensory nervous system's response to certain harmful or potentially harmful stimuli”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Protective mechanism – </a:t>
            </a:r>
            <a:r>
              <a:rPr lang="en-GB" sz="2800" b="1" dirty="0">
                <a:solidFill>
                  <a:schemeClr val="accent2"/>
                </a:solidFill>
              </a:rPr>
              <a:t>USUALLY</a:t>
            </a:r>
            <a:r>
              <a:rPr lang="en-GB" sz="2800" dirty="0">
                <a:solidFill>
                  <a:schemeClr val="bg1"/>
                </a:solidFill>
              </a:rPr>
              <a:t> indicative of a problem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 subjective sensation – Descriptor can give you an idea as to what structure is damaged</a:t>
            </a:r>
          </a:p>
        </p:txBody>
      </p:sp>
      <p:sp>
        <p:nvSpPr>
          <p:cNvPr id="2" name="Round Diagonal Corner Rectangle 7" descr="Hand holding pan">
            <a:extLst>
              <a:ext uri="{FF2B5EF4-FFF2-40B4-BE49-F238E27FC236}">
                <a16:creationId xmlns:a16="http://schemas.microsoft.com/office/drawing/2014/main" id="{EED2D9CE-3649-36E9-F1B6-C9FD302690AB}"/>
              </a:ext>
            </a:extLst>
          </p:cNvPr>
          <p:cNvSpPr/>
          <p:nvPr/>
        </p:nvSpPr>
        <p:spPr>
          <a:xfrm>
            <a:off x="8452624" y="3368841"/>
            <a:ext cx="3586914" cy="3226026"/>
          </a:xfrm>
          <a:prstGeom prst="round2Diag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48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fitnessauthorityonline.com/wp-content/uploads/2014/11/Shoulder-Joint-Pain.jpg">
            <a:extLst>
              <a:ext uri="{FF2B5EF4-FFF2-40B4-BE49-F238E27FC236}">
                <a16:creationId xmlns:a16="http://schemas.microsoft.com/office/drawing/2014/main" id="{108DF564-7222-33B0-BCD9-9D2BC788C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 Diagonal Corner Rectangle 3"/>
          <p:cNvSpPr/>
          <p:nvPr/>
        </p:nvSpPr>
        <p:spPr>
          <a:xfrm>
            <a:off x="622930" y="402811"/>
            <a:ext cx="38919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NOCICEPTORS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Free nerve endings which sense pain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Present in:</a:t>
            </a:r>
          </a:p>
          <a:p>
            <a:pPr marL="914400" lvl="1" indent="-45720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chemeClr val="bg1"/>
                </a:solidFill>
              </a:rPr>
              <a:t>Skin, bone, ligament, muscle, tendon, fascia, bursae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Stimulated by:</a:t>
            </a:r>
          </a:p>
          <a:p>
            <a:pPr marL="914400" lvl="1" indent="-45720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chemeClr val="bg1"/>
                </a:solidFill>
              </a:rPr>
              <a:t>Mechanical pressure, chemical release, temperature extremes </a:t>
            </a:r>
          </a:p>
        </p:txBody>
      </p:sp>
    </p:spTree>
    <p:extLst>
      <p:ext uri="{BB962C8B-B14F-4D97-AF65-F5344CB8AC3E}">
        <p14:creationId xmlns:p14="http://schemas.microsoft.com/office/powerpoint/2010/main" val="3011918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6826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HOW IS PAIN DETECTED?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052440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Noxious stimuli (chemicals, especially from inflammatory processes) are released (Potassium ions, Bradykinin, Serotonin, Prostaglandins, Substance P, etc.)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When electrical energy reaches a threshold value, an action potential is induced and driven towards the central nervous system. This leads to the train of events that allows for the conscious awareness of pain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This threshold value is subject to change i.e. bruise, DOMS or those in chronic pain</a:t>
            </a: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F622C15F-E803-1AB7-F8C6-FA1F0D9EB125}"/>
              </a:ext>
            </a:extLst>
          </p:cNvPr>
          <p:cNvSpPr/>
          <p:nvPr/>
        </p:nvSpPr>
        <p:spPr>
          <a:xfrm>
            <a:off x="8420100" y="1435100"/>
            <a:ext cx="3619438" cy="515976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496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6826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HOW IS PAIN DETECTED?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EFB850-052B-7B26-3374-4EF856FDFF47}"/>
              </a:ext>
            </a:extLst>
          </p:cNvPr>
          <p:cNvSpPr/>
          <p:nvPr/>
        </p:nvSpPr>
        <p:spPr>
          <a:xfrm>
            <a:off x="7474470" y="5262730"/>
            <a:ext cx="1225030" cy="12104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Moon 1">
            <a:extLst>
              <a:ext uri="{FF2B5EF4-FFF2-40B4-BE49-F238E27FC236}">
                <a16:creationId xmlns:a16="http://schemas.microsoft.com/office/drawing/2014/main" id="{A8E95990-0E9F-78B6-660D-986AD2E9B214}"/>
              </a:ext>
            </a:extLst>
          </p:cNvPr>
          <p:cNvSpPr/>
          <p:nvPr/>
        </p:nvSpPr>
        <p:spPr>
          <a:xfrm rot="11000518">
            <a:off x="8258184" y="5140139"/>
            <a:ext cx="533400" cy="1284014"/>
          </a:xfrm>
          <a:prstGeom prst="mo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38C6641-16ED-1665-2057-6DE6EA162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16" y="5666800"/>
            <a:ext cx="1679905" cy="461665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b="1" dirty="0">
                <a:solidFill>
                  <a:schemeClr val="accent2"/>
                </a:solidFill>
                <a:cs typeface="Arial" charset="0"/>
              </a:rPr>
              <a:t>RECEPTION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99CA52DE-D05F-07C6-AAA5-707C5B1F0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69" y="3028890"/>
            <a:ext cx="2368042" cy="461665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b="1" dirty="0">
                <a:solidFill>
                  <a:schemeClr val="accent2"/>
                </a:solidFill>
                <a:cs typeface="Arial" charset="0"/>
              </a:rPr>
              <a:t>TRANSMISSION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75212A8-6C4C-B2D6-BCDB-1DCD73F0D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157" y="1818750"/>
            <a:ext cx="2007846" cy="461665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400" b="1" dirty="0">
                <a:solidFill>
                  <a:schemeClr val="accent2"/>
                </a:solidFill>
                <a:cs typeface="Arial" charset="0"/>
              </a:rPr>
              <a:t>PERCEPTION</a:t>
            </a:r>
          </a:p>
        </p:txBody>
      </p:sp>
    </p:spTree>
    <p:extLst>
      <p:ext uri="{BB962C8B-B14F-4D97-AF65-F5344CB8AC3E}">
        <p14:creationId xmlns:p14="http://schemas.microsoft.com/office/powerpoint/2010/main" val="1870564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75755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PAIN IS MULTIFACTORAL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5" cy="515976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28"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A2F727-4A13-6B12-8062-9DCAC3FD2442}"/>
              </a:ext>
            </a:extLst>
          </p:cNvPr>
          <p:cNvSpPr txBox="1"/>
          <p:nvPr/>
        </p:nvSpPr>
        <p:spPr>
          <a:xfrm>
            <a:off x="9012795" y="6228717"/>
            <a:ext cx="21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Moseley (2007)</a:t>
            </a:r>
          </a:p>
        </p:txBody>
      </p:sp>
    </p:spTree>
    <p:extLst>
      <p:ext uri="{BB962C8B-B14F-4D97-AF65-F5344CB8AC3E}">
        <p14:creationId xmlns:p14="http://schemas.microsoft.com/office/powerpoint/2010/main" val="152401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6826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HOW IS PAIN DETECTED?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FD6A998-29CD-2F3D-33A4-9D141A011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521585"/>
              </p:ext>
            </p:extLst>
          </p:nvPr>
        </p:nvGraphicFramePr>
        <p:xfrm>
          <a:off x="622929" y="1554921"/>
          <a:ext cx="6873831" cy="5094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A8984EDD-548E-2640-03E9-D8031EE0A1D0}"/>
              </a:ext>
            </a:extLst>
          </p:cNvPr>
          <p:cNvSpPr/>
          <p:nvPr/>
        </p:nvSpPr>
        <p:spPr>
          <a:xfrm>
            <a:off x="7658099" y="3498969"/>
            <a:ext cx="4372561" cy="3226026"/>
          </a:xfrm>
          <a:prstGeom prst="round2Diag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ound Diagonal Corner Rectangle 7" descr="Two ballet dancers wearing long tutus and pointe shoes posing on a stage">
            <a:extLst>
              <a:ext uri="{FF2B5EF4-FFF2-40B4-BE49-F238E27FC236}">
                <a16:creationId xmlns:a16="http://schemas.microsoft.com/office/drawing/2014/main" id="{C3C80E3A-CFF0-F247-E2B7-F0DCE3A35F09}"/>
              </a:ext>
            </a:extLst>
          </p:cNvPr>
          <p:cNvSpPr/>
          <p:nvPr/>
        </p:nvSpPr>
        <p:spPr>
          <a:xfrm>
            <a:off x="7658098" y="172176"/>
            <a:ext cx="4372561" cy="3226026"/>
          </a:xfrm>
          <a:prstGeom prst="round2Diag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639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8" name="I7wfDenj6CQ">
            <a:extLst>
              <a:ext uri="{FF2B5EF4-FFF2-40B4-BE49-F238E27FC236}">
                <a16:creationId xmlns:a16="http://schemas.microsoft.com/office/drawing/2014/main" id="{7F488824-E9F3-6844-C269-0EB84202C4B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0" y="-3079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4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8157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TYPES OF PAIN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3048000"/>
            <a:ext cx="5473070" cy="3608463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en-GB" sz="2800" dirty="0"/>
          </a:p>
        </p:txBody>
      </p:sp>
      <p:sp>
        <p:nvSpPr>
          <p:cNvPr id="8" name="Round Diagonal Corner Rectangle 3">
            <a:extLst>
              <a:ext uri="{FF2B5EF4-FFF2-40B4-BE49-F238E27FC236}">
                <a16:creationId xmlns:a16="http://schemas.microsoft.com/office/drawing/2014/main" id="{7C580129-A0D0-E6A1-4FAA-43A4C34C02A0}"/>
              </a:ext>
            </a:extLst>
          </p:cNvPr>
          <p:cNvSpPr/>
          <p:nvPr/>
        </p:nvSpPr>
        <p:spPr>
          <a:xfrm>
            <a:off x="622930" y="1435100"/>
            <a:ext cx="5473070" cy="1349766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ACUTE</a:t>
            </a:r>
          </a:p>
          <a:p>
            <a:pPr algn="ctr"/>
            <a:r>
              <a:rPr lang="en-GB" sz="4000" dirty="0"/>
              <a:t>&lt; 3 MONTHS</a:t>
            </a:r>
          </a:p>
        </p:txBody>
      </p:sp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1CA268DA-CF53-10FE-328E-E9693ED46F89}"/>
              </a:ext>
            </a:extLst>
          </p:cNvPr>
          <p:cNvSpPr/>
          <p:nvPr/>
        </p:nvSpPr>
        <p:spPr>
          <a:xfrm>
            <a:off x="6514099" y="3047999"/>
            <a:ext cx="5473070" cy="3608465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1" name="Round Diagonal Corner Rectangle 3">
            <a:extLst>
              <a:ext uri="{FF2B5EF4-FFF2-40B4-BE49-F238E27FC236}">
                <a16:creationId xmlns:a16="http://schemas.microsoft.com/office/drawing/2014/main" id="{4B17F21C-E127-7528-72A2-10BA3E893E50}"/>
              </a:ext>
            </a:extLst>
          </p:cNvPr>
          <p:cNvSpPr/>
          <p:nvPr/>
        </p:nvSpPr>
        <p:spPr>
          <a:xfrm>
            <a:off x="6514099" y="1435099"/>
            <a:ext cx="5473070" cy="1349767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CHRONIC</a:t>
            </a:r>
          </a:p>
          <a:p>
            <a:pPr algn="ctr"/>
            <a:r>
              <a:rPr lang="en-GB" sz="4000" dirty="0"/>
              <a:t>&gt; 3 MONTHS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A7C62E2-BC18-827E-FEDF-80958E7E8667}"/>
              </a:ext>
            </a:extLst>
          </p:cNvPr>
          <p:cNvSpPr/>
          <p:nvPr/>
        </p:nvSpPr>
        <p:spPr>
          <a:xfrm>
            <a:off x="8972550" y="4279106"/>
            <a:ext cx="69056" cy="83344"/>
          </a:xfrm>
          <a:prstGeom prst="ellipse">
            <a:avLst/>
          </a:prstGeom>
          <a:solidFill>
            <a:srgbClr val="F7F6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662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49187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ACUTE PAIN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Response to an immediately damaging stimuli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Simulated by chemical release:</a:t>
            </a:r>
          </a:p>
          <a:p>
            <a:pPr marL="914400" lvl="1" indent="-45720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chemeClr val="bg1"/>
                </a:solidFill>
              </a:rPr>
              <a:t>Bradykinin</a:t>
            </a:r>
          </a:p>
          <a:p>
            <a:pPr marL="914400" lvl="1" indent="-45720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chemeClr val="bg1"/>
                </a:solidFill>
              </a:rPr>
              <a:t>Prostaglandins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Transmitted by </a:t>
            </a:r>
            <a:r>
              <a:rPr lang="en-GB" sz="2800" b="1" dirty="0" err="1">
                <a:solidFill>
                  <a:schemeClr val="accent2"/>
                </a:solidFill>
              </a:rPr>
              <a:t>Aδ</a:t>
            </a:r>
            <a:r>
              <a:rPr lang="en-GB" sz="2800" b="1" dirty="0">
                <a:solidFill>
                  <a:schemeClr val="accent2"/>
                </a:solidFill>
              </a:rPr>
              <a:t> (A-DELTA) </a:t>
            </a:r>
            <a:r>
              <a:rPr lang="en-GB" sz="2800" dirty="0">
                <a:solidFill>
                  <a:schemeClr val="bg1"/>
                </a:solidFill>
              </a:rPr>
              <a:t>afferent fibres</a:t>
            </a:r>
          </a:p>
        </p:txBody>
      </p:sp>
    </p:spTree>
    <p:extLst>
      <p:ext uri="{BB962C8B-B14F-4D97-AF65-F5344CB8AC3E}">
        <p14:creationId xmlns:p14="http://schemas.microsoft.com/office/powerpoint/2010/main" val="3782871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49187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CHRONIC PAIN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Responses to presence of continued, potentially pain-provoking, stimuli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Transmitted by </a:t>
            </a:r>
            <a:r>
              <a:rPr lang="en-GB" sz="2800" b="1" dirty="0">
                <a:solidFill>
                  <a:schemeClr val="accent2"/>
                </a:solidFill>
              </a:rPr>
              <a:t>C-AFFERENT </a:t>
            </a:r>
            <a:r>
              <a:rPr lang="en-GB" sz="2800" dirty="0">
                <a:solidFill>
                  <a:schemeClr val="bg1"/>
                </a:solidFill>
              </a:rPr>
              <a:t>fibres</a:t>
            </a:r>
          </a:p>
        </p:txBody>
      </p:sp>
    </p:spTree>
    <p:extLst>
      <p:ext uri="{BB962C8B-B14F-4D97-AF65-F5344CB8AC3E}">
        <p14:creationId xmlns:p14="http://schemas.microsoft.com/office/powerpoint/2010/main" val="68667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89217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NERVE CHARACTERISTICS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8A836B-EE38-0B49-FA54-94F1A5B029E8}"/>
              </a:ext>
            </a:extLst>
          </p:cNvPr>
          <p:cNvGraphicFramePr>
            <a:graphicFrameLocks noGrp="1"/>
          </p:cNvGraphicFramePr>
          <p:nvPr/>
        </p:nvGraphicFramePr>
        <p:xfrm>
          <a:off x="622930" y="1668083"/>
          <a:ext cx="9228746" cy="46739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4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4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Nerve</a:t>
                      </a:r>
                      <a:r>
                        <a:rPr lang="en-US" sz="2400" b="1" baseline="0" dirty="0"/>
                        <a:t> fiber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A-delta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C</a:t>
                      </a:r>
                      <a:endParaRPr lang="en-GB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Appearance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78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Information carried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Sharp</a:t>
                      </a:r>
                      <a:r>
                        <a:rPr lang="en-US" sz="2400" baseline="0" dirty="0"/>
                        <a:t> pain, temperature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Dull</a:t>
                      </a:r>
                      <a:r>
                        <a:rPr lang="en-US" sz="2400" baseline="0" dirty="0"/>
                        <a:t> pain, itch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78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Diameter (micrometers)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1-5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0.2-1.5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Speed of signal conduction (</a:t>
                      </a:r>
                      <a:r>
                        <a:rPr lang="en-US" sz="2400" b="1" dirty="0" err="1"/>
                        <a:t>metres</a:t>
                      </a:r>
                      <a:r>
                        <a:rPr lang="en-US" sz="2400" b="1" dirty="0"/>
                        <a:t>/second)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5-35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0.5-2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Myelinated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2" descr="a-delta nerve fibre">
            <a:extLst>
              <a:ext uri="{FF2B5EF4-FFF2-40B4-BE49-F238E27FC236}">
                <a16:creationId xmlns:a16="http://schemas.microsoft.com/office/drawing/2014/main" id="{5FED696C-DEB3-118E-96AB-63C283800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6061748" y="2146940"/>
            <a:ext cx="609600" cy="657225"/>
          </a:xfrm>
          <a:prstGeom prst="rect">
            <a:avLst/>
          </a:prstGeom>
          <a:noFill/>
        </p:spPr>
      </p:pic>
      <p:pic>
        <p:nvPicPr>
          <p:cNvPr id="10" name="Picture 1" descr="c nerve fibre">
            <a:extLst>
              <a:ext uri="{FF2B5EF4-FFF2-40B4-BE49-F238E27FC236}">
                <a16:creationId xmlns:a16="http://schemas.microsoft.com/office/drawing/2014/main" id="{F77ACDD2-1DD9-331A-E138-344152CDF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8403488" y="2183096"/>
            <a:ext cx="576064" cy="621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4395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9493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SALTATORY CONDUCTION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005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89217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NERVE CHARACTERISTICS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8A836B-EE38-0B49-FA54-94F1A5B02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029988"/>
              </p:ext>
            </p:extLst>
          </p:nvPr>
        </p:nvGraphicFramePr>
        <p:xfrm>
          <a:off x="622930" y="1668083"/>
          <a:ext cx="9228746" cy="46739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4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4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Nerve</a:t>
                      </a:r>
                      <a:r>
                        <a:rPr lang="en-US" sz="2400" b="1" baseline="0" dirty="0"/>
                        <a:t> fiber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A-beta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A-delta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C</a:t>
                      </a:r>
                      <a:endParaRPr lang="en-GB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Appearance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78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Information carried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Touch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Sharp</a:t>
                      </a:r>
                      <a:r>
                        <a:rPr lang="en-US" sz="2400" baseline="0" dirty="0"/>
                        <a:t> pain, temperature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Dull</a:t>
                      </a:r>
                      <a:r>
                        <a:rPr lang="en-US" sz="2400" baseline="0" dirty="0"/>
                        <a:t> pain, itch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78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Diameter (micrometers)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6-12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1-5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0.2-1.5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Speed of signal conduction (</a:t>
                      </a:r>
                      <a:r>
                        <a:rPr lang="en-US" sz="2400" b="1" dirty="0" err="1"/>
                        <a:t>metres</a:t>
                      </a:r>
                      <a:r>
                        <a:rPr lang="en-US" sz="2400" b="1" dirty="0"/>
                        <a:t>/second)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35-75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5-35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0.5-2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Myelinated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3" descr="a-beta nerve fibre">
            <a:extLst>
              <a:ext uri="{FF2B5EF4-FFF2-40B4-BE49-F238E27FC236}">
                <a16:creationId xmlns:a16="http://schemas.microsoft.com/office/drawing/2014/main" id="{E4FF7C7E-C48E-D8D6-EBFE-556D74629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3878245" y="2146941"/>
            <a:ext cx="609600" cy="657225"/>
          </a:xfrm>
          <a:prstGeom prst="rect">
            <a:avLst/>
          </a:prstGeom>
          <a:noFill/>
        </p:spPr>
      </p:pic>
      <p:pic>
        <p:nvPicPr>
          <p:cNvPr id="9" name="Picture 2" descr="a-delta nerve fibre">
            <a:extLst>
              <a:ext uri="{FF2B5EF4-FFF2-40B4-BE49-F238E27FC236}">
                <a16:creationId xmlns:a16="http://schemas.microsoft.com/office/drawing/2014/main" id="{5FED696C-DEB3-118E-96AB-63C283800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6061748" y="2146940"/>
            <a:ext cx="609600" cy="657225"/>
          </a:xfrm>
          <a:prstGeom prst="rect">
            <a:avLst/>
          </a:prstGeom>
          <a:noFill/>
        </p:spPr>
      </p:pic>
      <p:pic>
        <p:nvPicPr>
          <p:cNvPr id="10" name="Picture 1" descr="c nerve fibre">
            <a:extLst>
              <a:ext uri="{FF2B5EF4-FFF2-40B4-BE49-F238E27FC236}">
                <a16:creationId xmlns:a16="http://schemas.microsoft.com/office/drawing/2014/main" id="{F77ACDD2-1DD9-331A-E138-344152CDF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r:link="rId9" cstate="print"/>
          <a:srcRect/>
          <a:stretch>
            <a:fillRect/>
          </a:stretch>
        </p:blipFill>
        <p:spPr bwMode="auto">
          <a:xfrm>
            <a:off x="8403488" y="2183096"/>
            <a:ext cx="576064" cy="621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3097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349121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PAIN GATE THEORY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 err="1"/>
              <a:t>Melzack</a:t>
            </a:r>
            <a:r>
              <a:rPr lang="en-GB" sz="2800" dirty="0"/>
              <a:t> and Wall (1965)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For sensation of pain to be experienced, pain signals must pass to the brain unopposed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Stimulation of skin mechanoreceptors at same spinal level creates additional sensory signals which stimulate the </a:t>
            </a:r>
            <a:r>
              <a:rPr lang="en-GB" sz="2800" b="1" dirty="0">
                <a:solidFill>
                  <a:schemeClr val="accent2"/>
                </a:solidFill>
              </a:rPr>
              <a:t>A-BETA </a:t>
            </a:r>
            <a:r>
              <a:rPr lang="en-GB" sz="2800" dirty="0">
                <a:solidFill>
                  <a:schemeClr val="bg1"/>
                </a:solidFill>
              </a:rPr>
              <a:t>fibres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Pre-synaptic inhibition stops pain signals arriving at the brain and blocks the pain i.e. ‘closes the gate’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0614A642-6E06-A7B0-5CF9-3DDDBA28102C}"/>
              </a:ext>
            </a:extLst>
          </p:cNvPr>
          <p:cNvSpPr/>
          <p:nvPr/>
        </p:nvSpPr>
        <p:spPr>
          <a:xfrm>
            <a:off x="9373379" y="2027613"/>
            <a:ext cx="2458035" cy="467081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52299B42-6CF6-580A-9C9A-4A507BF5A637}"/>
              </a:ext>
            </a:extLst>
          </p:cNvPr>
          <p:cNvSpPr/>
          <p:nvPr/>
        </p:nvSpPr>
        <p:spPr>
          <a:xfrm>
            <a:off x="8577944" y="132484"/>
            <a:ext cx="3331138" cy="1807482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9317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9493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ASCENDING INHIBITION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Noxious afferent signals blocked at spinal cord level by touch, heat, ice (sensory afferent impulses)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If occurring at same spinal level i.e. same area then inhibited at Substantia </a:t>
            </a:r>
            <a:r>
              <a:rPr lang="en-GB" sz="2800" dirty="0" err="1">
                <a:solidFill>
                  <a:schemeClr val="bg1"/>
                </a:solidFill>
              </a:rPr>
              <a:t>Gelatinosa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/>
              <a:t>(a grey matter structure of the dorsal spinal cord)</a:t>
            </a:r>
            <a:r>
              <a:rPr lang="en-GB" sz="2800" dirty="0">
                <a:solidFill>
                  <a:schemeClr val="bg1"/>
                </a:solidFill>
              </a:rPr>
              <a:t> which is the part of spinal cord that receives sensory info and where C fibres usually terminate</a:t>
            </a:r>
          </a:p>
        </p:txBody>
      </p:sp>
    </p:spTree>
    <p:extLst>
      <p:ext uri="{BB962C8B-B14F-4D97-AF65-F5344CB8AC3E}">
        <p14:creationId xmlns:p14="http://schemas.microsoft.com/office/powerpoint/2010/main" val="193301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CE4C1-DAC7-3229-1177-DDA0E2AA68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" b="88056"/>
          <a:stretch/>
        </p:blipFill>
        <p:spPr>
          <a:xfrm>
            <a:off x="0" y="0"/>
            <a:ext cx="12192000" cy="836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650044-CA0C-ADA5-8034-92DAF44B1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001" b="-1"/>
          <a:stretch/>
        </p:blipFill>
        <p:spPr>
          <a:xfrm>
            <a:off x="0" y="819151"/>
            <a:ext cx="12192000" cy="6038849"/>
          </a:xfrm>
          <a:prstGeom prst="rect">
            <a:avLst/>
          </a:prstGeom>
        </p:spPr>
      </p:pic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28EA8E78-2864-0AD0-47CB-9B0B4CAA80F9}"/>
              </a:ext>
            </a:extLst>
          </p:cNvPr>
          <p:cNvSpPr/>
          <p:nvPr/>
        </p:nvSpPr>
        <p:spPr>
          <a:xfrm>
            <a:off x="8795657" y="1419497"/>
            <a:ext cx="1541417" cy="714103"/>
          </a:xfrm>
          <a:prstGeom prst="roundRect">
            <a:avLst/>
          </a:prstGeom>
          <a:solidFill>
            <a:srgbClr val="565656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Substantia </a:t>
            </a:r>
            <a:r>
              <a:rPr lang="en-GB" dirty="0" err="1"/>
              <a:t>gelatinosa</a:t>
            </a:r>
            <a:endParaRPr lang="en-GB" dirty="0"/>
          </a:p>
        </p:txBody>
      </p:sp>
      <p:sp>
        <p:nvSpPr>
          <p:cNvPr id="10" name="Bent-Up Arrow 4">
            <a:extLst>
              <a:ext uri="{FF2B5EF4-FFF2-40B4-BE49-F238E27FC236}">
                <a16:creationId xmlns:a16="http://schemas.microsoft.com/office/drawing/2014/main" id="{373800AB-C4E2-214F-E133-D63ECED472B5}"/>
              </a:ext>
            </a:extLst>
          </p:cNvPr>
          <p:cNvSpPr/>
          <p:nvPr/>
        </p:nvSpPr>
        <p:spPr>
          <a:xfrm rot="10800000">
            <a:off x="7707085" y="1663610"/>
            <a:ext cx="1088572" cy="1933030"/>
          </a:xfrm>
          <a:prstGeom prst="bentUpArrow">
            <a:avLst/>
          </a:prstGeom>
          <a:solidFill>
            <a:srgbClr val="565656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37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5168271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PAIN AS A PERCEPTION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1CA268DA-CF53-10FE-328E-E9693ED46F89}"/>
              </a:ext>
            </a:extLst>
          </p:cNvPr>
          <p:cNvSpPr/>
          <p:nvPr/>
        </p:nvSpPr>
        <p:spPr>
          <a:xfrm>
            <a:off x="636258" y="1371716"/>
            <a:ext cx="5473070" cy="5221365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The ‘Pain Gate Theory’, although seminal, is outdated and based on the assumption that we have unimodal, as opposed to multimodal, nerve fibres</a:t>
            </a:r>
          </a:p>
        </p:txBody>
      </p:sp>
      <p:sp>
        <p:nvSpPr>
          <p:cNvPr id="12" name="Round Diagonal Corner Rectangle 2">
            <a:extLst>
              <a:ext uri="{FF2B5EF4-FFF2-40B4-BE49-F238E27FC236}">
                <a16:creationId xmlns:a16="http://schemas.microsoft.com/office/drawing/2014/main" id="{B6B13708-BD8C-6362-B901-7D6A04F16A51}"/>
              </a:ext>
            </a:extLst>
          </p:cNvPr>
          <p:cNvSpPr/>
          <p:nvPr/>
        </p:nvSpPr>
        <p:spPr>
          <a:xfrm>
            <a:off x="6458517" y="1371716"/>
            <a:ext cx="5473070" cy="5221365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C2B7B-D452-F955-C876-6880D60D404C}"/>
              </a:ext>
            </a:extLst>
          </p:cNvPr>
          <p:cNvSpPr txBox="1"/>
          <p:nvPr/>
        </p:nvSpPr>
        <p:spPr>
          <a:xfrm>
            <a:off x="9360309" y="6174658"/>
            <a:ext cx="1877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/>
              <a:t>Descrates</a:t>
            </a:r>
            <a:r>
              <a:rPr lang="en-GB" sz="2000" dirty="0"/>
              <a:t>, 1600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047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9493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DESCENDING INHIBITION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Whilst we need pain to protect us from further damage, we can turn off pain when appropriate, via our internal modulation mechanism i.e. fight or flight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The brain can request the release of specific hormones (noradrenaline) that can have analgesic effects which can reduce or inhibit pain sensation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The area of the brain that stimulates the release of these hormones is the hypothalamus</a:t>
            </a:r>
          </a:p>
        </p:txBody>
      </p:sp>
    </p:spTree>
    <p:extLst>
      <p:ext uri="{BB962C8B-B14F-4D97-AF65-F5344CB8AC3E}">
        <p14:creationId xmlns:p14="http://schemas.microsoft.com/office/powerpoint/2010/main" val="3388923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25.media.tumblr.com/tumblr_m92b90ZpJx1rdfoe2o1_500.jpg">
            <a:extLst>
              <a:ext uri="{FF2B5EF4-FFF2-40B4-BE49-F238E27FC236}">
                <a16:creationId xmlns:a16="http://schemas.microsoft.com/office/drawing/2014/main" id="{9BDBF4B1-792B-9177-55CC-2AEC56FD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7101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559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75755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PAIN IS MULTIFACTORAL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5" cy="515976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28"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A2F727-4A13-6B12-8062-9DCAC3FD2442}"/>
              </a:ext>
            </a:extLst>
          </p:cNvPr>
          <p:cNvSpPr txBox="1"/>
          <p:nvPr/>
        </p:nvSpPr>
        <p:spPr>
          <a:xfrm>
            <a:off x="9012795" y="6228717"/>
            <a:ext cx="21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Moseley (2007)</a:t>
            </a:r>
          </a:p>
        </p:txBody>
      </p:sp>
    </p:spTree>
    <p:extLst>
      <p:ext uri="{BB962C8B-B14F-4D97-AF65-F5344CB8AC3E}">
        <p14:creationId xmlns:p14="http://schemas.microsoft.com/office/powerpoint/2010/main" val="1519392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9493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DESCENDING INHIBITION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C4D7FC0-AF85-1554-484F-CC6FCC01E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3557694"/>
              </p:ext>
            </p:extLst>
          </p:nvPr>
        </p:nvGraphicFramePr>
        <p:xfrm>
          <a:off x="913848" y="1554922"/>
          <a:ext cx="10713855" cy="4627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2" descr="http://i.dailymail.co.uk/i/pix/2012/08/14/article-2188104-148A389F000005DC-903_634x523.jpg">
            <a:extLst>
              <a:ext uri="{FF2B5EF4-FFF2-40B4-BE49-F238E27FC236}">
                <a16:creationId xmlns:a16="http://schemas.microsoft.com/office/drawing/2014/main" id="{07A7EBCC-F455-194A-1ECF-570D47291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7"/>
          <a:stretch/>
        </p:blipFill>
        <p:spPr bwMode="auto">
          <a:xfrm>
            <a:off x="458054" y="3480641"/>
            <a:ext cx="3529398" cy="2800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77255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73723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DESCENDING INHIBITION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5959431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Noradrenaline secreted into synaptic space by analgesic neuron to inhibit pain signal 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Analgesics such as morphine (opiates) work in this way too – stop synaptic transmission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Speculation as to this is also how hands on Rx has an effect on pain perception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15FA7B29-0F42-BF63-37E2-21B8BA235D32}"/>
              </a:ext>
            </a:extLst>
          </p:cNvPr>
          <p:cNvSpPr/>
          <p:nvPr/>
        </p:nvSpPr>
        <p:spPr>
          <a:xfrm>
            <a:off x="6743700" y="1435100"/>
            <a:ext cx="5286961" cy="5159767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746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594932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CENTRAL PAIN PATHWAYS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Pain is based on experience where many factors including environment, memory, lifestyle, etc can directly affect the sensation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Neuroplasticity changes pathways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Rx and rehab can alter this = Repeated afferent input can evoke plastic (permanent) changes in central nervous system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Placebo and nocebo</a:t>
            </a:r>
          </a:p>
        </p:txBody>
      </p:sp>
    </p:spTree>
    <p:extLst>
      <p:ext uri="{BB962C8B-B14F-4D97-AF65-F5344CB8AC3E}">
        <p14:creationId xmlns:p14="http://schemas.microsoft.com/office/powerpoint/2010/main" val="1435417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58331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CHRONIC PAIN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35935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Not usually associated with structural damage, more an increasingly sensitive nervous system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Features include hyperalgesia and allodynia</a:t>
            </a:r>
          </a:p>
        </p:txBody>
      </p:sp>
    </p:spTree>
    <p:extLst>
      <p:ext uri="{BB962C8B-B14F-4D97-AF65-F5344CB8AC3E}">
        <p14:creationId xmlns:p14="http://schemas.microsoft.com/office/powerpoint/2010/main" val="867698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_3phB93rvI">
            <a:extLst>
              <a:ext uri="{FF2B5EF4-FFF2-40B4-BE49-F238E27FC236}">
                <a16:creationId xmlns:a16="http://schemas.microsoft.com/office/drawing/2014/main" id="{56D174A8-44B6-F9BD-9BEC-68CF675F773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91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7105226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CHRONIC PAIN IDENTIFICATION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26102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Screen / identify them by looking for </a:t>
            </a:r>
            <a:r>
              <a:rPr lang="en-GB" sz="2400" b="1" dirty="0">
                <a:solidFill>
                  <a:srgbClr val="FFFF00"/>
                </a:solidFill>
              </a:rPr>
              <a:t>YELLOW</a:t>
            </a:r>
            <a:r>
              <a:rPr lang="en-GB" sz="2400" dirty="0">
                <a:solidFill>
                  <a:schemeClr val="bg1"/>
                </a:solidFill>
              </a:rPr>
              <a:t> flags: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A</a:t>
            </a:r>
            <a:r>
              <a:rPr lang="en-GB" sz="2400" dirty="0">
                <a:solidFill>
                  <a:schemeClr val="bg1"/>
                </a:solidFill>
              </a:rPr>
              <a:t>ttitude – Fear avoidance behaviour and an expectation that passive, rather than active Rx, will be best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B</a:t>
            </a:r>
            <a:r>
              <a:rPr lang="en-GB" sz="2400" dirty="0">
                <a:solidFill>
                  <a:schemeClr val="bg1"/>
                </a:solidFill>
              </a:rPr>
              <a:t>eliefs – ‘Something must be seriously wrong’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C</a:t>
            </a:r>
            <a:r>
              <a:rPr lang="en-GB" sz="2400" dirty="0">
                <a:solidFill>
                  <a:schemeClr val="bg1"/>
                </a:solidFill>
              </a:rPr>
              <a:t>ompensation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D</a:t>
            </a:r>
            <a:r>
              <a:rPr lang="en-GB" sz="2400" dirty="0">
                <a:solidFill>
                  <a:schemeClr val="bg1"/>
                </a:solidFill>
              </a:rPr>
              <a:t>iagnosis – ‘Its bone on bone’, ‘My spine is crumbling’, ‘I have the knee of a 75 year old’, etc.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E</a:t>
            </a:r>
            <a:r>
              <a:rPr lang="en-GB" sz="2400" dirty="0">
                <a:solidFill>
                  <a:schemeClr val="bg1"/>
                </a:solidFill>
              </a:rPr>
              <a:t>motions – Look out for signs of low mood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F</a:t>
            </a:r>
            <a:r>
              <a:rPr lang="en-GB" sz="2400" dirty="0">
                <a:solidFill>
                  <a:schemeClr val="bg1"/>
                </a:solidFill>
              </a:rPr>
              <a:t>amily &amp; work – Either overbearing or unsupportive &amp; a poor relationship with a job that they do not enjoy</a:t>
            </a:r>
          </a:p>
        </p:txBody>
      </p:sp>
    </p:spTree>
    <p:extLst>
      <p:ext uri="{BB962C8B-B14F-4D97-AF65-F5344CB8AC3E}">
        <p14:creationId xmlns:p14="http://schemas.microsoft.com/office/powerpoint/2010/main" val="943182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7105226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CHRONIC PAIN MANAGEMENT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147444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Manage them using </a:t>
            </a:r>
            <a:r>
              <a:rPr lang="en-GB" sz="2800" b="1" dirty="0">
                <a:solidFill>
                  <a:srgbClr val="FF99CC"/>
                </a:solidFill>
              </a:rPr>
              <a:t>PINK</a:t>
            </a:r>
            <a:r>
              <a:rPr lang="en-GB" sz="2800" dirty="0">
                <a:solidFill>
                  <a:schemeClr val="bg1"/>
                </a:solidFill>
              </a:rPr>
              <a:t> flags: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Show empathy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Use clear communication with careful language and make sure that is understood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Explain pain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Do not send for further investigation if you do not believe the results will change the management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Exercise rehabilitation</a:t>
            </a:r>
          </a:p>
          <a:p>
            <a:pPr marL="914400" lvl="1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EF491748-7697-C283-4E3A-37876E2B16C6}"/>
              </a:ext>
            </a:extLst>
          </p:cNvPr>
          <p:cNvSpPr/>
          <p:nvPr/>
        </p:nvSpPr>
        <p:spPr>
          <a:xfrm>
            <a:off x="8554065" y="3844413"/>
            <a:ext cx="3476596" cy="2750454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7852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C31E55-9AA0-1078-4DF6-323476007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"/>
            <a:ext cx="6045960" cy="3293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22E6A9-A62A-6BCC-9D97-FB037E119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266" y="0"/>
            <a:ext cx="5886734" cy="3293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FB8EDD-3CC3-50D4-1BB0-5C6EC0F61E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93826"/>
            <a:ext cx="6045958" cy="3386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BA5294-96C8-DA1A-88CA-D13B80B464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266" y="3493826"/>
            <a:ext cx="5886734" cy="336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75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3010607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SUMMARY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0"/>
            <a:ext cx="8205186" cy="5159767"/>
          </a:xfrm>
          <a:prstGeom prst="round2Diag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Pain is complicated!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Perception of pain is very multifactorial, but it is always determined by the brain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Rx and rehab can influence pain positively, the exact mechanisms occur, mainly, due to ascending / descending inhibition and neuro-plasticity changes in the brain</a:t>
            </a:r>
          </a:p>
        </p:txBody>
      </p:sp>
    </p:spTree>
    <p:extLst>
      <p:ext uri="{BB962C8B-B14F-4D97-AF65-F5344CB8AC3E}">
        <p14:creationId xmlns:p14="http://schemas.microsoft.com/office/powerpoint/2010/main" val="2460999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4256780" cy="749300"/>
          </a:xfrm>
          <a:prstGeom prst="round2Diag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ANY QUESTIONS?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808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Microsoft Office PowerPoint</Application>
  <PresentationFormat>Widescreen</PresentationFormat>
  <Paragraphs>224</Paragraphs>
  <Slides>39</Slides>
  <Notes>37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BlinkMacSystemFont</vt:lpstr>
      <vt:lpstr>Calibri</vt:lpstr>
      <vt:lpstr>Calibri Light</vt:lpstr>
      <vt:lpstr>Courier New</vt:lpstr>
      <vt:lpstr>Palatino</vt:lpstr>
      <vt:lpstr>Office Theme</vt:lpstr>
      <vt:lpstr>Pain and modulatory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Life Support</dc:title>
  <dc:creator>Paul Starrs</dc:creator>
  <cp:lastModifiedBy>Paul Starrs</cp:lastModifiedBy>
  <cp:revision>58</cp:revision>
  <dcterms:created xsi:type="dcterms:W3CDTF">2018-09-14T09:18:39Z</dcterms:created>
  <dcterms:modified xsi:type="dcterms:W3CDTF">2024-12-02T07:16:28Z</dcterms:modified>
</cp:coreProperties>
</file>