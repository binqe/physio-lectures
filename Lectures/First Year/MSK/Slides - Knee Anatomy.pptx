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21.jpg" ContentType="image/jpe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48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78.jpg" ContentType="image/jpeg"/>
  <Override PartName="/ppt/media/image8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276" r:id="rId2"/>
    <p:sldId id="257" r:id="rId3"/>
    <p:sldId id="256" r:id="rId4"/>
    <p:sldId id="258" r:id="rId5"/>
    <p:sldId id="259" r:id="rId6"/>
    <p:sldId id="260" r:id="rId7"/>
    <p:sldId id="325" r:id="rId8"/>
    <p:sldId id="261" r:id="rId9"/>
    <p:sldId id="327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323" r:id="rId18"/>
    <p:sldId id="324" r:id="rId19"/>
    <p:sldId id="270" r:id="rId20"/>
    <p:sldId id="328" r:id="rId21"/>
    <p:sldId id="271" r:id="rId22"/>
    <p:sldId id="272" r:id="rId23"/>
    <p:sldId id="329" r:id="rId24"/>
    <p:sldId id="330" r:id="rId25"/>
    <p:sldId id="273" r:id="rId26"/>
    <p:sldId id="275" r:id="rId27"/>
    <p:sldId id="277" r:id="rId28"/>
    <p:sldId id="280" r:id="rId29"/>
    <p:sldId id="281" r:id="rId30"/>
    <p:sldId id="282" r:id="rId31"/>
    <p:sldId id="283" r:id="rId32"/>
    <p:sldId id="285" r:id="rId33"/>
    <p:sldId id="284" r:id="rId34"/>
    <p:sldId id="331" r:id="rId35"/>
    <p:sldId id="286" r:id="rId36"/>
    <p:sldId id="287" r:id="rId37"/>
    <p:sldId id="289" r:id="rId38"/>
    <p:sldId id="290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26" r:id="rId47"/>
    <p:sldId id="300" r:id="rId48"/>
    <p:sldId id="332" r:id="rId49"/>
    <p:sldId id="301" r:id="rId50"/>
    <p:sldId id="302" r:id="rId51"/>
    <p:sldId id="303" r:id="rId52"/>
    <p:sldId id="305" r:id="rId53"/>
    <p:sldId id="306" r:id="rId54"/>
    <p:sldId id="309" r:id="rId55"/>
    <p:sldId id="310" r:id="rId56"/>
    <p:sldId id="311" r:id="rId57"/>
    <p:sldId id="312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2" r:id="rId6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BCA9"/>
    <a:srgbClr val="D9D7C9"/>
    <a:srgbClr val="9379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88"/>
    <p:restoredTop sz="86220"/>
  </p:normalViewPr>
  <p:slideViewPr>
    <p:cSldViewPr>
      <p:cViewPr varScale="1">
        <p:scale>
          <a:sx n="86" d="100"/>
          <a:sy n="86" d="100"/>
        </p:scale>
        <p:origin x="232" y="8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EFE40-E661-AE45-A620-42F7619F8F32}" type="datetimeFigureOut">
              <a:rPr lang="en-US" smtClean="0"/>
              <a:t>9/30/24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8393D-8966-8D4C-93F6-840B07F3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5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936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8393D-8966-8D4C-93F6-840B07F31C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23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8393D-8966-8D4C-93F6-840B07F31C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2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8393D-8966-8D4C-93F6-840B07F31C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16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8393D-8966-8D4C-93F6-840B07F31C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60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8393D-8966-8D4C-93F6-840B07F31C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64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8393D-8966-8D4C-93F6-840B07F31CF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42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8393D-8966-8D4C-93F6-840B07F31CF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39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469655" y="2386744"/>
            <a:ext cx="9252693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5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8261CBD3-C81C-4863-9FFA-606E633DD56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608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430019"/>
            <a:ext cx="12179300" cy="736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41779"/>
            <a:ext cx="12179300" cy="406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9961" y="601662"/>
            <a:ext cx="3672077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46249" y="2084053"/>
            <a:ext cx="7699501" cy="416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wyiJw034ssA?start=22&amp;feature=oembe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XnYO4TnpTCo?start=22&amp;feature=oembed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RTV5Yo3E7VQ?start=27&amp;feature=oembed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1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5.jp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7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9AC5A6-12B8-B8E2-D12A-D0A92129509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Picture 2" descr="A picture containing text, indoor, black, dark&#10;&#10;Description automatically generated">
              <a:extLst>
                <a:ext uri="{FF2B5EF4-FFF2-40B4-BE49-F238E27FC236}">
                  <a16:creationId xmlns:a16="http://schemas.microsoft.com/office/drawing/2014/main" id="{F0A9824A-A88C-D2C3-5FA0-210F3E37FC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25" b="20813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5DABFD-6365-C3CE-7D58-C90A982428AB}"/>
                </a:ext>
              </a:extLst>
            </p:cNvPr>
            <p:cNvSpPr/>
            <p:nvPr/>
          </p:nvSpPr>
          <p:spPr>
            <a:xfrm>
              <a:off x="7239000" y="4953000"/>
              <a:ext cx="4953000" cy="137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24150" y="786544"/>
            <a:ext cx="6743700" cy="1645920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/>
          </a:bodyPr>
          <a:lstStyle/>
          <a:p>
            <a:pPr eaLnBrk="1" hangingPunct="1"/>
            <a:r>
              <a:rPr lang="en-GB" b="1" dirty="0">
                <a:solidFill>
                  <a:schemeClr val="tx1"/>
                </a:solidFill>
              </a:rPr>
              <a:t>KNEE ANATOMY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45398" y="2752344"/>
            <a:ext cx="5101209" cy="67665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b="1" dirty="0">
                <a:solidFill>
                  <a:schemeClr val="tx1"/>
                </a:solidFill>
              </a:rPr>
              <a:t>PT7001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629" y="304800"/>
            <a:ext cx="491299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pc="210" dirty="0"/>
              <a:t>Learning</a:t>
            </a:r>
            <a:r>
              <a:rPr spc="-55" dirty="0"/>
              <a:t> </a:t>
            </a:r>
            <a:r>
              <a:rPr spc="240" dirty="0"/>
              <a:t>Outcomes</a:t>
            </a:r>
            <a:br>
              <a:rPr lang="en-GB" sz="2000" spc="240" dirty="0"/>
            </a:br>
            <a:r>
              <a:rPr lang="en-GB" sz="2000" i="1" dirty="0">
                <a:latin typeface="Arial"/>
                <a:cs typeface="Arial"/>
              </a:rPr>
              <a:t>After</a:t>
            </a:r>
            <a:r>
              <a:rPr lang="en-GB" sz="2000" i="1" spc="-50" dirty="0">
                <a:latin typeface="Arial"/>
                <a:cs typeface="Arial"/>
              </a:rPr>
              <a:t> </a:t>
            </a:r>
            <a:r>
              <a:rPr lang="en-GB" sz="2000" i="1" dirty="0">
                <a:latin typeface="Arial"/>
                <a:cs typeface="Arial"/>
              </a:rPr>
              <a:t>this</a:t>
            </a:r>
            <a:r>
              <a:rPr lang="en-GB" sz="2000" i="1" spc="-30" dirty="0">
                <a:latin typeface="Arial"/>
                <a:cs typeface="Arial"/>
              </a:rPr>
              <a:t> </a:t>
            </a:r>
            <a:r>
              <a:rPr lang="en-GB" sz="2000" i="1" dirty="0">
                <a:latin typeface="Arial"/>
                <a:cs typeface="Arial"/>
              </a:rPr>
              <a:t>lecture</a:t>
            </a:r>
            <a:r>
              <a:rPr lang="en-GB" sz="2000" i="1" spc="-20" dirty="0">
                <a:latin typeface="Arial"/>
                <a:cs typeface="Arial"/>
              </a:rPr>
              <a:t> </a:t>
            </a:r>
            <a:r>
              <a:rPr lang="en-GB" sz="2000" i="1" dirty="0">
                <a:latin typeface="Arial"/>
                <a:cs typeface="Arial"/>
              </a:rPr>
              <a:t>you</a:t>
            </a:r>
            <a:r>
              <a:rPr lang="en-GB" sz="2000" i="1" spc="-10" dirty="0">
                <a:latin typeface="Arial"/>
                <a:cs typeface="Arial"/>
              </a:rPr>
              <a:t> </a:t>
            </a:r>
            <a:r>
              <a:rPr lang="en-GB" sz="2000" i="1" dirty="0">
                <a:latin typeface="Arial"/>
                <a:cs typeface="Arial"/>
              </a:rPr>
              <a:t>should</a:t>
            </a:r>
            <a:r>
              <a:rPr lang="en-GB" sz="2000" i="1" spc="-40" dirty="0">
                <a:latin typeface="Arial"/>
                <a:cs typeface="Arial"/>
              </a:rPr>
              <a:t> </a:t>
            </a:r>
            <a:r>
              <a:rPr lang="en-GB" sz="2000" i="1" dirty="0">
                <a:latin typeface="Arial"/>
                <a:cs typeface="Arial"/>
              </a:rPr>
              <a:t>be</a:t>
            </a:r>
            <a:r>
              <a:rPr lang="en-GB" sz="2000" i="1" spc="-20" dirty="0">
                <a:latin typeface="Arial"/>
                <a:cs typeface="Arial"/>
              </a:rPr>
              <a:t> </a:t>
            </a:r>
            <a:r>
              <a:rPr lang="en-GB" sz="2000" i="1" dirty="0">
                <a:latin typeface="Arial"/>
                <a:cs typeface="Arial"/>
              </a:rPr>
              <a:t>able</a:t>
            </a:r>
            <a:r>
              <a:rPr lang="en-GB" sz="2000" i="1" spc="-20" dirty="0">
                <a:latin typeface="Arial"/>
                <a:cs typeface="Arial"/>
              </a:rPr>
              <a:t> </a:t>
            </a:r>
            <a:r>
              <a:rPr lang="en-GB" sz="2000" i="1" dirty="0">
                <a:latin typeface="Arial"/>
                <a:cs typeface="Arial"/>
              </a:rPr>
              <a:t>to:</a:t>
            </a:r>
            <a:endParaRPr sz="2000" spc="240" dirty="0"/>
          </a:p>
        </p:txBody>
      </p:sp>
      <p:sp>
        <p:nvSpPr>
          <p:cNvPr id="3" name="object 3"/>
          <p:cNvSpPr txBox="1"/>
          <p:nvPr/>
        </p:nvSpPr>
        <p:spPr>
          <a:xfrm>
            <a:off x="1951354" y="1981200"/>
            <a:ext cx="8345170" cy="446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56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-5" dirty="0">
                <a:latin typeface="Arial"/>
                <a:cs typeface="Arial"/>
              </a:rPr>
              <a:t>Describe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bony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anatomy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knee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joint, including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shape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</a:p>
          <a:p>
            <a:pPr marL="3556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articular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surfaces</a:t>
            </a:r>
          </a:p>
          <a:p>
            <a:pPr marL="355600" marR="96520" indent="-34353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Know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femoral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obturator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nerves</a:t>
            </a:r>
            <a:r>
              <a:rPr sz="2000" spc="5" dirty="0">
                <a:latin typeface="Arial"/>
                <a:cs typeface="Arial"/>
              </a:rPr>
              <a:t> may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refer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knee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pain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5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vice-versa</a:t>
            </a:r>
            <a:endParaRPr sz="20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-5" dirty="0">
                <a:latin typeface="Arial"/>
                <a:cs typeface="Arial"/>
              </a:rPr>
              <a:t>Describe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patello-femoral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joint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its</a:t>
            </a:r>
            <a:r>
              <a:rPr sz="2000" spc="5" dirty="0">
                <a:latin typeface="Arial"/>
                <a:cs typeface="Arial"/>
              </a:rPr>
              <a:t> common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clinical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problems</a:t>
            </a: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Define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terms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“genu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valgum”</a:t>
            </a:r>
            <a:r>
              <a:rPr sz="2000" dirty="0">
                <a:latin typeface="Arial"/>
                <a:cs typeface="Arial"/>
              </a:rPr>
              <a:t> and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“genu varum”</a:t>
            </a:r>
            <a:endParaRPr sz="20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000" dirty="0">
                <a:latin typeface="Arial"/>
                <a:cs typeface="Arial"/>
              </a:rPr>
              <a:t>Know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position,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shape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and</a:t>
            </a:r>
            <a:r>
              <a:rPr lang="en-GB" sz="2000" spc="-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functions</a:t>
            </a:r>
            <a:r>
              <a:rPr lang="en-GB" sz="2000" spc="-7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of</a:t>
            </a:r>
            <a:r>
              <a:rPr lang="en-GB" sz="2000" spc="-1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menisci,</a:t>
            </a:r>
            <a:r>
              <a:rPr lang="en-GB" sz="2000" spc="-1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and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spc="-15" dirty="0">
                <a:latin typeface="Arial"/>
                <a:cs typeface="Arial"/>
              </a:rPr>
              <a:t>give</a:t>
            </a:r>
            <a:r>
              <a:rPr lang="en-GB" sz="2000" spc="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an</a:t>
            </a:r>
          </a:p>
          <a:p>
            <a:pPr marL="355600">
              <a:lnSpc>
                <a:spcPct val="100000"/>
              </a:lnSpc>
            </a:pPr>
            <a:r>
              <a:rPr lang="en-GB" sz="2000" dirty="0">
                <a:latin typeface="Arial"/>
                <a:cs typeface="Arial"/>
              </a:rPr>
              <a:t>account</a:t>
            </a:r>
            <a:r>
              <a:rPr lang="en-GB" sz="2000" spc="-4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of</a:t>
            </a:r>
            <a:r>
              <a:rPr lang="en-GB" sz="2000" spc="-4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their</a:t>
            </a:r>
            <a:r>
              <a:rPr lang="en-GB" sz="2000" spc="-40" dirty="0">
                <a:latin typeface="Arial"/>
                <a:cs typeface="Arial"/>
              </a:rPr>
              <a:t> </a:t>
            </a:r>
            <a:r>
              <a:rPr lang="en-GB" sz="2000" spc="5" dirty="0">
                <a:latin typeface="Arial"/>
                <a:cs typeface="Arial"/>
              </a:rPr>
              <a:t>common</a:t>
            </a:r>
            <a:r>
              <a:rPr lang="en-GB" sz="2000" spc="-60" dirty="0">
                <a:latin typeface="Arial"/>
                <a:cs typeface="Arial"/>
              </a:rPr>
              <a:t> </a:t>
            </a:r>
            <a:r>
              <a:rPr lang="en-GB" sz="2000" spc="-5" dirty="0">
                <a:latin typeface="Arial"/>
                <a:cs typeface="Arial"/>
              </a:rPr>
              <a:t>injuries</a:t>
            </a:r>
            <a:endParaRPr lang="en-GB" sz="20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000" spc="-10" dirty="0">
                <a:latin typeface="Arial"/>
                <a:cs typeface="Arial"/>
              </a:rPr>
              <a:t>Give</a:t>
            </a:r>
            <a:r>
              <a:rPr lang="en-GB" sz="2000" spc="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an</a:t>
            </a:r>
            <a:r>
              <a:rPr lang="en-GB" sz="2000" spc="-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account</a:t>
            </a:r>
            <a:r>
              <a:rPr lang="en-GB" sz="2000" spc="-5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of</a:t>
            </a:r>
            <a:r>
              <a:rPr lang="en-GB" sz="2000" spc="-1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movements</a:t>
            </a:r>
            <a:r>
              <a:rPr lang="en-GB" sz="2000" spc="-5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of</a:t>
            </a:r>
            <a:r>
              <a:rPr lang="en-GB" sz="2000" spc="-1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tibiofemoral</a:t>
            </a:r>
            <a:r>
              <a:rPr lang="en-GB" sz="2000" spc="-5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joints</a:t>
            </a:r>
          </a:p>
          <a:p>
            <a:pPr marL="355600" indent="-343535">
              <a:spcBef>
                <a:spcPts val="484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000" spc="-5" dirty="0">
                <a:latin typeface="Arial"/>
                <a:cs typeface="Arial"/>
              </a:rPr>
              <a:t>Describe</a:t>
            </a:r>
            <a:r>
              <a:rPr lang="en-GB" sz="2000" spc="1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spc="-5" dirty="0">
                <a:latin typeface="Arial"/>
                <a:cs typeface="Arial"/>
              </a:rPr>
              <a:t>ligaments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of</a:t>
            </a:r>
            <a:r>
              <a:rPr lang="en-GB" sz="2000" spc="-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knee</a:t>
            </a:r>
            <a:r>
              <a:rPr lang="en-GB" sz="2000" spc="-1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joint and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spc="-15" dirty="0">
                <a:latin typeface="Arial"/>
                <a:cs typeface="Arial"/>
              </a:rPr>
              <a:t>give</a:t>
            </a:r>
            <a:r>
              <a:rPr lang="en-GB" sz="2000" spc="5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their</a:t>
            </a:r>
            <a:r>
              <a:rPr lang="en-GB" sz="2000" spc="-4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functions</a:t>
            </a:r>
            <a:endParaRPr sz="2000" dirty="0">
              <a:latin typeface="Arial"/>
              <a:cs typeface="Arial"/>
            </a:endParaRPr>
          </a:p>
          <a:p>
            <a:pPr marL="355600" marR="330835" indent="-34353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  <a:tab pos="356235" algn="l"/>
                <a:tab pos="2496820" algn="l"/>
              </a:tabLst>
            </a:pPr>
            <a:r>
              <a:rPr sz="2000" spc="-5" dirty="0">
                <a:latin typeface="Arial"/>
                <a:cs typeface="Arial"/>
              </a:rPr>
              <a:t>Describe </a:t>
            </a:r>
            <a:r>
              <a:rPr sz="2000" dirty="0">
                <a:latin typeface="Arial"/>
                <a:cs typeface="Arial"/>
              </a:rPr>
              <a:t>the capsule and </a:t>
            </a:r>
            <a:r>
              <a:rPr sz="2000" spc="-5" dirty="0">
                <a:latin typeface="Arial"/>
                <a:cs typeface="Arial"/>
              </a:rPr>
              <a:t>synovium </a:t>
            </a:r>
            <a:r>
              <a:rPr sz="2000" spc="5" dirty="0">
                <a:latin typeface="Arial"/>
                <a:cs typeface="Arial"/>
              </a:rPr>
              <a:t>of </a:t>
            </a:r>
            <a:r>
              <a:rPr sz="2000" dirty="0">
                <a:latin typeface="Arial"/>
                <a:cs typeface="Arial"/>
              </a:rPr>
              <a:t>the joint, and </a:t>
            </a:r>
            <a:r>
              <a:rPr sz="2000" spc="-5" dirty="0">
                <a:latin typeface="Arial"/>
                <a:cs typeface="Arial"/>
              </a:rPr>
              <a:t>list </a:t>
            </a:r>
            <a:r>
              <a:rPr sz="2000" dirty="0">
                <a:latin typeface="Arial"/>
                <a:cs typeface="Arial"/>
              </a:rPr>
              <a:t>the bursae 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associated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with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it.	Know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symptoms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signs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of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inflammation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5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these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bursae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5347A7-7FE2-1A8E-7DAA-16D345C49929}"/>
              </a:ext>
            </a:extLst>
          </p:cNvPr>
          <p:cNvSpPr/>
          <p:nvPr/>
        </p:nvSpPr>
        <p:spPr>
          <a:xfrm>
            <a:off x="1752600" y="1981200"/>
            <a:ext cx="8686800" cy="2057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F2F75B-C7BC-8EF5-2539-7EA8492230EE}"/>
              </a:ext>
            </a:extLst>
          </p:cNvPr>
          <p:cNvSpPr/>
          <p:nvPr/>
        </p:nvSpPr>
        <p:spPr>
          <a:xfrm>
            <a:off x="1752600" y="4037610"/>
            <a:ext cx="8686800" cy="106779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943BF2-BF26-6E8B-0CAF-41158B4FE380}"/>
              </a:ext>
            </a:extLst>
          </p:cNvPr>
          <p:cNvSpPr/>
          <p:nvPr/>
        </p:nvSpPr>
        <p:spPr>
          <a:xfrm>
            <a:off x="1752600" y="5105400"/>
            <a:ext cx="8686800" cy="3810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1B5090-562D-85D4-E2F1-E0583497755F}"/>
              </a:ext>
            </a:extLst>
          </p:cNvPr>
          <p:cNvSpPr/>
          <p:nvPr/>
        </p:nvSpPr>
        <p:spPr>
          <a:xfrm>
            <a:off x="1752600" y="5486400"/>
            <a:ext cx="8686800" cy="106680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F958E5C2-96D0-523B-F31A-41A02E601064}"/>
              </a:ext>
            </a:extLst>
          </p:cNvPr>
          <p:cNvSpPr txBox="1">
            <a:spLocks/>
          </p:cNvSpPr>
          <p:nvPr/>
        </p:nvSpPr>
        <p:spPr>
          <a:xfrm>
            <a:off x="610522" y="2694657"/>
            <a:ext cx="999202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algn="r">
              <a:spcAft>
                <a:spcPts val="1200"/>
              </a:spcAft>
            </a:pPr>
            <a:r>
              <a:rPr lang="en-GB" sz="4000" kern="0" spc="210" dirty="0">
                <a:solidFill>
                  <a:srgbClr val="FF0000"/>
                </a:solidFill>
              </a:rPr>
              <a:t>1</a:t>
            </a:r>
          </a:p>
          <a:p>
            <a:pPr marL="12700" algn="r">
              <a:spcAft>
                <a:spcPts val="1200"/>
              </a:spcAft>
            </a:pPr>
            <a:endParaRPr lang="en-GB" sz="4000" kern="0" spc="210" dirty="0"/>
          </a:p>
          <a:p>
            <a:pPr marL="12700" algn="r">
              <a:spcAft>
                <a:spcPts val="1200"/>
              </a:spcAft>
            </a:pPr>
            <a:r>
              <a:rPr lang="en-GB" sz="4000" kern="0" spc="210" dirty="0">
                <a:solidFill>
                  <a:schemeClr val="accent6"/>
                </a:solidFill>
              </a:rPr>
              <a:t>2</a:t>
            </a:r>
          </a:p>
          <a:p>
            <a:pPr marL="12700" algn="r">
              <a:spcAft>
                <a:spcPts val="1200"/>
              </a:spcAft>
            </a:pPr>
            <a:r>
              <a:rPr lang="en-GB" sz="4000" kern="0" spc="210" dirty="0">
                <a:solidFill>
                  <a:srgbClr val="FFC000"/>
                </a:solidFill>
              </a:rPr>
              <a:t>3</a:t>
            </a:r>
          </a:p>
          <a:p>
            <a:pPr marL="12700" algn="r">
              <a:spcAft>
                <a:spcPts val="1200"/>
              </a:spcAft>
            </a:pPr>
            <a:r>
              <a:rPr lang="en-GB" sz="4000" kern="0" spc="210" dirty="0">
                <a:solidFill>
                  <a:srgbClr val="92D050"/>
                </a:solidFill>
              </a:rPr>
              <a:t>4</a:t>
            </a:r>
            <a:endParaRPr lang="en-GB" sz="4000" kern="0" spc="24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494FC4-DD5A-B85B-E95B-F35533854E7D}"/>
              </a:ext>
            </a:extLst>
          </p:cNvPr>
          <p:cNvSpPr/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2770" y="375602"/>
            <a:ext cx="5972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185" dirty="0">
                <a:solidFill>
                  <a:srgbClr val="FF0000"/>
                </a:solidFill>
              </a:rPr>
              <a:t>Part 1</a:t>
            </a:r>
            <a:endParaRPr spc="175" dirty="0">
              <a:solidFill>
                <a:srgbClr val="FF0000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2000404"/>
            <a:ext cx="31242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Knee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Joint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Part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r>
              <a:rPr sz="2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GB" sz="2800" b="1" spc="5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2800" b="1" spc="-15" dirty="0">
                <a:solidFill>
                  <a:srgbClr val="0070C0"/>
                </a:solidFill>
                <a:latin typeface="Arial"/>
                <a:cs typeface="Arial"/>
              </a:rPr>
              <a:t>Overview</a:t>
            </a:r>
            <a:r>
              <a:rPr sz="2800" b="1" spc="7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and</a:t>
            </a:r>
            <a:r>
              <a:rPr sz="28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Knee</a:t>
            </a:r>
            <a:r>
              <a:rPr sz="2800" b="1" spc="-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Dislocation</a:t>
            </a:r>
            <a:endParaRPr sz="28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pic>
        <p:nvPicPr>
          <p:cNvPr id="12" name="Picture 11" descr="A picture containing indoor&#10;&#10;Description automatically generated">
            <a:extLst>
              <a:ext uri="{FF2B5EF4-FFF2-40B4-BE49-F238E27FC236}">
                <a16:creationId xmlns:a16="http://schemas.microsoft.com/office/drawing/2014/main" id="{9DE28E25-B0D1-B482-12D1-EA964ABED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016" y="1600200"/>
            <a:ext cx="2929707" cy="5257800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E234435C-2CB8-BA61-CCC6-DC1AC8F75B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0600" y="1774613"/>
            <a:ext cx="1883875" cy="49160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5450" y="601662"/>
            <a:ext cx="62630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15" dirty="0"/>
              <a:t> </a:t>
            </a:r>
            <a:r>
              <a:rPr spc="170" dirty="0"/>
              <a:t>Knee</a:t>
            </a:r>
            <a:r>
              <a:rPr spc="-25" dirty="0"/>
              <a:t> </a:t>
            </a:r>
            <a:r>
              <a:rPr spc="110" dirty="0"/>
              <a:t>Joint</a:t>
            </a:r>
            <a:r>
              <a:rPr spc="-15" dirty="0"/>
              <a:t> </a:t>
            </a:r>
            <a:r>
              <a:rPr spc="24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7398" y="2127018"/>
            <a:ext cx="1878602" cy="42098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9461" y="2133560"/>
            <a:ext cx="3157457" cy="41227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72573" y="1965960"/>
            <a:ext cx="2383058" cy="4290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60F53F-0445-9270-E414-DE31D1590E8C}"/>
              </a:ext>
            </a:extLst>
          </p:cNvPr>
          <p:cNvSpPr txBox="1"/>
          <p:nvPr/>
        </p:nvSpPr>
        <p:spPr>
          <a:xfrm>
            <a:off x="427699" y="2133560"/>
            <a:ext cx="3630998" cy="4242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Hinge joint (modified)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Stable due to intra &amp; extra-capsular ligaments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Articulation points: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patellofemoral joint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med &amp; lat tibiofemoral joints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ideally congruent - potential for femoral condyles to slip off the plateaus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564" y="601662"/>
            <a:ext cx="44399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35" dirty="0"/>
              <a:t> </a:t>
            </a:r>
            <a:r>
              <a:rPr spc="170" dirty="0"/>
              <a:t>Knee</a:t>
            </a:r>
            <a:r>
              <a:rPr spc="-40" dirty="0"/>
              <a:t> </a:t>
            </a:r>
            <a:r>
              <a:rPr spc="140" dirty="0"/>
              <a:t>Menisci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 flipH="1">
            <a:off x="4648200" y="2113507"/>
            <a:ext cx="3199979" cy="417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400" y="2078038"/>
            <a:ext cx="3857457" cy="4178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49B0F5-288C-EE5D-DD01-283E537B25D1}"/>
              </a:ext>
            </a:extLst>
          </p:cNvPr>
          <p:cNvSpPr txBox="1"/>
          <p:nvPr/>
        </p:nvSpPr>
        <p:spPr>
          <a:xfrm>
            <a:off x="427699" y="2362200"/>
            <a:ext cx="3630998" cy="3980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Intra-synovial articular discs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Joint surfaces are made more stable by presence of menisci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Wedge-shaped - help to deepen socket for more congruency, support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Shock absorbency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… more later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6516" y="601662"/>
            <a:ext cx="80098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Muscles</a:t>
            </a:r>
            <a:r>
              <a:rPr spc="-15" dirty="0"/>
              <a:t> </a:t>
            </a:r>
            <a:r>
              <a:rPr spc="204" dirty="0"/>
              <a:t>Crossing</a:t>
            </a:r>
            <a:r>
              <a:rPr spc="-10" dirty="0"/>
              <a:t> </a:t>
            </a:r>
            <a:r>
              <a:rPr spc="240" dirty="0"/>
              <a:t>the</a:t>
            </a:r>
            <a:r>
              <a:rPr spc="-20" dirty="0"/>
              <a:t> </a:t>
            </a:r>
            <a:r>
              <a:rPr spc="165" dirty="0"/>
              <a:t>Knee</a:t>
            </a:r>
            <a:r>
              <a:rPr spc="20" dirty="0"/>
              <a:t> </a:t>
            </a:r>
            <a:r>
              <a:rPr spc="114" dirty="0"/>
              <a:t>Joint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0586" y="1972418"/>
            <a:ext cx="2965372" cy="4268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9C1BD0-5385-C382-EC54-AC032F271DFB}"/>
              </a:ext>
            </a:extLst>
          </p:cNvPr>
          <p:cNvSpPr txBox="1"/>
          <p:nvPr/>
        </p:nvSpPr>
        <p:spPr>
          <a:xfrm>
            <a:off x="427698" y="2414572"/>
            <a:ext cx="4525302" cy="2995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Produce movement across knee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Enhance joint stability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Anterior - quadriceps group crosses knee via patella - extends knee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Posterior - hamstring &amp; gastrocnemius, popliteus, (plantaris)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409A27-DA43-AABE-A9A8-6554D70ADD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61"/>
          <a:stretch/>
        </p:blipFill>
        <p:spPr>
          <a:xfrm>
            <a:off x="9906000" y="2057400"/>
            <a:ext cx="1536700" cy="40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6516" y="601662"/>
            <a:ext cx="80098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Muscles</a:t>
            </a:r>
            <a:r>
              <a:rPr spc="-15" dirty="0"/>
              <a:t> </a:t>
            </a:r>
            <a:r>
              <a:rPr spc="204" dirty="0"/>
              <a:t>Crossing</a:t>
            </a:r>
            <a:r>
              <a:rPr spc="-10" dirty="0"/>
              <a:t> </a:t>
            </a:r>
            <a:r>
              <a:rPr spc="240" dirty="0"/>
              <a:t>the</a:t>
            </a:r>
            <a:r>
              <a:rPr spc="-20" dirty="0"/>
              <a:t> </a:t>
            </a:r>
            <a:r>
              <a:rPr spc="165" dirty="0"/>
              <a:t>Knee</a:t>
            </a:r>
            <a:r>
              <a:rPr spc="20" dirty="0"/>
              <a:t> </a:t>
            </a:r>
            <a:r>
              <a:rPr spc="114" dirty="0"/>
              <a:t>Joint</a:t>
            </a:r>
          </a:p>
        </p:txBody>
      </p:sp>
      <p:pic>
        <p:nvPicPr>
          <p:cNvPr id="21" name="Picture 20" descr="A picture containing sandglass&#10;&#10;Description automatically generated">
            <a:extLst>
              <a:ext uri="{FF2B5EF4-FFF2-40B4-BE49-F238E27FC236}">
                <a16:creationId xmlns:a16="http://schemas.microsoft.com/office/drawing/2014/main" id="{F699891F-92C8-44C0-015E-CEDE6EBBD7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4" r="7682"/>
          <a:stretch/>
        </p:blipFill>
        <p:spPr>
          <a:xfrm>
            <a:off x="358096" y="1676400"/>
            <a:ext cx="2385104" cy="5029200"/>
          </a:xfrm>
          <a:prstGeom prst="rect">
            <a:avLst/>
          </a:prstGeom>
        </p:spPr>
      </p:pic>
      <p:pic>
        <p:nvPicPr>
          <p:cNvPr id="23" name="Picture 22" descr="A picture containing sandglass&#10;&#10;Description automatically generated">
            <a:extLst>
              <a:ext uri="{FF2B5EF4-FFF2-40B4-BE49-F238E27FC236}">
                <a16:creationId xmlns:a16="http://schemas.microsoft.com/office/drawing/2014/main" id="{AB44ECFB-1542-39B0-CEF1-FAE55634DF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" r="2439"/>
          <a:stretch/>
        </p:blipFill>
        <p:spPr>
          <a:xfrm>
            <a:off x="2743200" y="1680390"/>
            <a:ext cx="2971800" cy="5025210"/>
          </a:xfrm>
          <a:prstGeom prst="rect">
            <a:avLst/>
          </a:prstGeom>
        </p:spPr>
      </p:pic>
      <p:pic>
        <p:nvPicPr>
          <p:cNvPr id="25" name="Picture 24" descr="A close-up of a person's legs&#10;&#10;Description automatically generated with medium confidence">
            <a:extLst>
              <a:ext uri="{FF2B5EF4-FFF2-40B4-BE49-F238E27FC236}">
                <a16:creationId xmlns:a16="http://schemas.microsoft.com/office/drawing/2014/main" id="{1232BC6A-2776-1227-F269-2C439B52B18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7492"/>
          <a:stretch/>
        </p:blipFill>
        <p:spPr>
          <a:xfrm>
            <a:off x="5715000" y="1676400"/>
            <a:ext cx="2831186" cy="5012634"/>
          </a:xfrm>
          <a:prstGeom prst="rect">
            <a:avLst/>
          </a:prstGeom>
        </p:spPr>
      </p:pic>
      <p:pic>
        <p:nvPicPr>
          <p:cNvPr id="27" name="Picture 26" descr="Close-up of a person's hand holding a snake&#10;&#10;Description automatically generated with low confidence">
            <a:extLst>
              <a:ext uri="{FF2B5EF4-FFF2-40B4-BE49-F238E27FC236}">
                <a16:creationId xmlns:a16="http://schemas.microsoft.com/office/drawing/2014/main" id="{610E71BA-3488-30F6-D8C4-E1DAF149AA2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2" r="6041"/>
          <a:stretch/>
        </p:blipFill>
        <p:spPr>
          <a:xfrm>
            <a:off x="8763000" y="1676399"/>
            <a:ext cx="3287718" cy="501263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C523939-D7DB-0EBE-31EF-DDA46E65E87B}"/>
              </a:ext>
            </a:extLst>
          </p:cNvPr>
          <p:cNvSpPr txBox="1"/>
          <p:nvPr/>
        </p:nvSpPr>
        <p:spPr>
          <a:xfrm>
            <a:off x="1447800" y="190500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7092C7-2F86-B405-6435-78457DEB67AB}"/>
              </a:ext>
            </a:extLst>
          </p:cNvPr>
          <p:cNvSpPr txBox="1"/>
          <p:nvPr/>
        </p:nvSpPr>
        <p:spPr>
          <a:xfrm>
            <a:off x="2067094" y="214613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00D09E-2C3C-9845-8BD8-5964988EF2F0}"/>
              </a:ext>
            </a:extLst>
          </p:cNvPr>
          <p:cNvSpPr txBox="1"/>
          <p:nvPr/>
        </p:nvSpPr>
        <p:spPr>
          <a:xfrm>
            <a:off x="846950" y="197670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267DB2-FC11-BF87-5288-E11FC239245D}"/>
              </a:ext>
            </a:extLst>
          </p:cNvPr>
          <p:cNvSpPr txBox="1"/>
          <p:nvPr/>
        </p:nvSpPr>
        <p:spPr>
          <a:xfrm>
            <a:off x="430614" y="264634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39849F-A332-54DB-94F3-D89FDC03A34F}"/>
              </a:ext>
            </a:extLst>
          </p:cNvPr>
          <p:cNvSpPr txBox="1"/>
          <p:nvPr/>
        </p:nvSpPr>
        <p:spPr>
          <a:xfrm>
            <a:off x="2259455" y="34290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2C2355-2EEC-B0B1-B835-A9CAA0662256}"/>
              </a:ext>
            </a:extLst>
          </p:cNvPr>
          <p:cNvSpPr txBox="1"/>
          <p:nvPr/>
        </p:nvSpPr>
        <p:spPr>
          <a:xfrm>
            <a:off x="4453368" y="324433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D4C6B3-B05A-B43F-8E49-CD91C2433539}"/>
              </a:ext>
            </a:extLst>
          </p:cNvPr>
          <p:cNvSpPr txBox="1"/>
          <p:nvPr/>
        </p:nvSpPr>
        <p:spPr>
          <a:xfrm>
            <a:off x="3793209" y="1879854"/>
            <a:ext cx="479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BF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(L)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577F7-27DA-228F-8CFC-B062227A2E3F}"/>
              </a:ext>
            </a:extLst>
          </p:cNvPr>
          <p:cNvSpPr txBox="1"/>
          <p:nvPr/>
        </p:nvSpPr>
        <p:spPr>
          <a:xfrm>
            <a:off x="4127047" y="2469735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BF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C5ACF8-DA92-7390-55F4-42F6F972D97A}"/>
              </a:ext>
            </a:extLst>
          </p:cNvPr>
          <p:cNvSpPr txBox="1"/>
          <p:nvPr/>
        </p:nvSpPr>
        <p:spPr>
          <a:xfrm>
            <a:off x="4933848" y="264634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59453D-5591-668E-A5D3-8212F065D2C4}"/>
              </a:ext>
            </a:extLst>
          </p:cNvPr>
          <p:cNvSpPr txBox="1"/>
          <p:nvPr/>
        </p:nvSpPr>
        <p:spPr>
          <a:xfrm>
            <a:off x="3163254" y="47615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C680C9-AEC5-5EC5-9C14-10DFD354A47A}"/>
              </a:ext>
            </a:extLst>
          </p:cNvPr>
          <p:cNvSpPr txBox="1"/>
          <p:nvPr/>
        </p:nvSpPr>
        <p:spPr>
          <a:xfrm>
            <a:off x="6335856" y="52578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B1881C-0899-2AFB-C905-7B91B79DF912}"/>
              </a:ext>
            </a:extLst>
          </p:cNvPr>
          <p:cNvSpPr txBox="1"/>
          <p:nvPr/>
        </p:nvSpPr>
        <p:spPr>
          <a:xfrm>
            <a:off x="6975072" y="52578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2E85D6-3515-29D7-776C-1691DB9CEBDD}"/>
              </a:ext>
            </a:extLst>
          </p:cNvPr>
          <p:cNvSpPr txBox="1"/>
          <p:nvPr/>
        </p:nvSpPr>
        <p:spPr>
          <a:xfrm>
            <a:off x="6872480" y="34290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4C14E4-8F3E-AE56-68B0-45D770A32246}"/>
              </a:ext>
            </a:extLst>
          </p:cNvPr>
          <p:cNvSpPr txBox="1"/>
          <p:nvPr/>
        </p:nvSpPr>
        <p:spPr>
          <a:xfrm>
            <a:off x="7339274" y="476159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15BB51-0223-E440-41A5-5C23DC2BB4B7}"/>
              </a:ext>
            </a:extLst>
          </p:cNvPr>
          <p:cNvSpPr txBox="1"/>
          <p:nvPr/>
        </p:nvSpPr>
        <p:spPr>
          <a:xfrm>
            <a:off x="7243527" y="2089666"/>
            <a:ext cx="479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BF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(L)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682AF7-2B30-1266-35B1-FA2F4700A8A7}"/>
              </a:ext>
            </a:extLst>
          </p:cNvPr>
          <p:cNvSpPr txBox="1"/>
          <p:nvPr/>
        </p:nvSpPr>
        <p:spPr>
          <a:xfrm>
            <a:off x="7866707" y="196147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BF550F-319C-E3F7-779D-5B14DFFE8FFF}"/>
              </a:ext>
            </a:extLst>
          </p:cNvPr>
          <p:cNvSpPr txBox="1"/>
          <p:nvPr/>
        </p:nvSpPr>
        <p:spPr>
          <a:xfrm>
            <a:off x="6626258" y="240430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E27CE9-D01E-8F72-428A-08930D3699E4}"/>
              </a:ext>
            </a:extLst>
          </p:cNvPr>
          <p:cNvSpPr txBox="1"/>
          <p:nvPr/>
        </p:nvSpPr>
        <p:spPr>
          <a:xfrm>
            <a:off x="6252499" y="18650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A18CFF-FD79-8AD2-B5FE-23FECA9873A8}"/>
              </a:ext>
            </a:extLst>
          </p:cNvPr>
          <p:cNvSpPr txBox="1"/>
          <p:nvPr/>
        </p:nvSpPr>
        <p:spPr>
          <a:xfrm>
            <a:off x="5723071" y="233080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EAE134-6601-F3F7-1D39-FB7235CCFCA5}"/>
              </a:ext>
            </a:extLst>
          </p:cNvPr>
          <p:cNvSpPr txBox="1"/>
          <p:nvPr/>
        </p:nvSpPr>
        <p:spPr>
          <a:xfrm>
            <a:off x="9376238" y="277364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56CA2F-8499-2540-76D6-A52E967F5DC0}"/>
              </a:ext>
            </a:extLst>
          </p:cNvPr>
          <p:cNvSpPr txBox="1"/>
          <p:nvPr/>
        </p:nvSpPr>
        <p:spPr>
          <a:xfrm>
            <a:off x="10384556" y="34290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05883A-C5A9-04A5-85F4-4CEFA929BF0B}"/>
              </a:ext>
            </a:extLst>
          </p:cNvPr>
          <p:cNvSpPr txBox="1"/>
          <p:nvPr/>
        </p:nvSpPr>
        <p:spPr>
          <a:xfrm>
            <a:off x="10575761" y="29314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B75F09-6CE1-015B-9092-3CAC0C698DD5}"/>
              </a:ext>
            </a:extLst>
          </p:cNvPr>
          <p:cNvSpPr txBox="1"/>
          <p:nvPr/>
        </p:nvSpPr>
        <p:spPr>
          <a:xfrm>
            <a:off x="10896600" y="383104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C3C023-94D7-E524-62E0-1DF39F39BE78}"/>
              </a:ext>
            </a:extLst>
          </p:cNvPr>
          <p:cNvSpPr txBox="1"/>
          <p:nvPr/>
        </p:nvSpPr>
        <p:spPr>
          <a:xfrm>
            <a:off x="11114568" y="311606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E5DE2E-B50B-C38E-DDDC-6B72D0862274}"/>
              </a:ext>
            </a:extLst>
          </p:cNvPr>
          <p:cNvSpPr txBox="1"/>
          <p:nvPr/>
        </p:nvSpPr>
        <p:spPr>
          <a:xfrm>
            <a:off x="11088459" y="562713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9C884-5594-ED45-0D24-073DD2960415}"/>
              </a:ext>
            </a:extLst>
          </p:cNvPr>
          <p:cNvSpPr txBox="1"/>
          <p:nvPr/>
        </p:nvSpPr>
        <p:spPr>
          <a:xfrm>
            <a:off x="907489" y="6336268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ANTERIOR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679BF-B5DB-D448-712C-F1611BEC6F19}"/>
              </a:ext>
            </a:extLst>
          </p:cNvPr>
          <p:cNvSpPr txBox="1"/>
          <p:nvPr/>
        </p:nvSpPr>
        <p:spPr>
          <a:xfrm>
            <a:off x="3164577" y="6336268"/>
            <a:ext cx="9777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LATERAL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02F38E-7517-7E6A-04CB-9C92F647374E}"/>
              </a:ext>
            </a:extLst>
          </p:cNvPr>
          <p:cNvSpPr txBox="1"/>
          <p:nvPr/>
        </p:nvSpPr>
        <p:spPr>
          <a:xfrm>
            <a:off x="6209154" y="6404656"/>
            <a:ext cx="124425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POSTERIOR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93B9F-8F4C-CF86-CC14-86FC318BC0C9}"/>
              </a:ext>
            </a:extLst>
          </p:cNvPr>
          <p:cNvSpPr txBox="1"/>
          <p:nvPr/>
        </p:nvSpPr>
        <p:spPr>
          <a:xfrm>
            <a:off x="10554281" y="6351802"/>
            <a:ext cx="9252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MEDIAL</a:t>
            </a:r>
          </a:p>
        </p:txBody>
      </p:sp>
    </p:spTree>
    <p:extLst>
      <p:ext uri="{BB962C8B-B14F-4D97-AF65-F5344CB8AC3E}">
        <p14:creationId xmlns:p14="http://schemas.microsoft.com/office/powerpoint/2010/main" val="375649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0912" y="601662"/>
            <a:ext cx="10293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80" dirty="0"/>
              <a:t>Normal</a:t>
            </a:r>
            <a:r>
              <a:rPr spc="-5" dirty="0"/>
              <a:t> </a:t>
            </a:r>
            <a:r>
              <a:rPr spc="195" dirty="0"/>
              <a:t>Range</a:t>
            </a:r>
            <a:r>
              <a:rPr spc="-5" dirty="0"/>
              <a:t> </a:t>
            </a:r>
            <a:r>
              <a:rPr spc="100" dirty="0"/>
              <a:t>of</a:t>
            </a:r>
            <a:r>
              <a:rPr spc="-5" dirty="0"/>
              <a:t> </a:t>
            </a:r>
            <a:r>
              <a:rPr spc="240" dirty="0"/>
              <a:t>Movements</a:t>
            </a:r>
            <a:r>
              <a:rPr spc="50" dirty="0"/>
              <a:t> </a:t>
            </a:r>
            <a:r>
              <a:rPr spc="100" dirty="0"/>
              <a:t>of</a:t>
            </a:r>
            <a:r>
              <a:rPr spc="-5" dirty="0"/>
              <a:t> </a:t>
            </a:r>
            <a:r>
              <a:rPr spc="240" dirty="0"/>
              <a:t>the</a:t>
            </a:r>
            <a:r>
              <a:rPr spc="-20" dirty="0"/>
              <a:t> </a:t>
            </a:r>
            <a:r>
              <a:rPr spc="165" dirty="0"/>
              <a:t>Knee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0200" y="1719579"/>
            <a:ext cx="6377940" cy="49250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11390" y="4474464"/>
            <a:ext cx="972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30-40</a:t>
            </a:r>
            <a:r>
              <a:rPr sz="2400" baseline="41666" dirty="0">
                <a:latin typeface="Arial"/>
                <a:cs typeface="Arial"/>
              </a:rPr>
              <a:t>o</a:t>
            </a:r>
            <a:endParaRPr sz="2400" baseline="4166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17558" y="4474464"/>
            <a:ext cx="529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10</a:t>
            </a:r>
            <a:r>
              <a:rPr sz="2400" baseline="41666" dirty="0">
                <a:latin typeface="Arial"/>
                <a:cs typeface="Arial"/>
              </a:rPr>
              <a:t>o</a:t>
            </a:r>
            <a:endParaRPr sz="2400" baseline="41666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88075" y="2792729"/>
            <a:ext cx="5600065" cy="1355090"/>
          </a:xfrm>
          <a:custGeom>
            <a:avLst/>
            <a:gdLst/>
            <a:ahLst/>
            <a:cxnLst/>
            <a:rect l="l" t="t" r="r" b="b"/>
            <a:pathLst>
              <a:path w="5600065" h="1355089">
                <a:moveTo>
                  <a:pt x="1619859" y="789190"/>
                </a:moveTo>
                <a:lnTo>
                  <a:pt x="1611985" y="635000"/>
                </a:lnTo>
                <a:lnTo>
                  <a:pt x="1468221" y="468376"/>
                </a:lnTo>
                <a:lnTo>
                  <a:pt x="1339570" y="407162"/>
                </a:lnTo>
                <a:lnTo>
                  <a:pt x="1205966" y="249682"/>
                </a:lnTo>
                <a:lnTo>
                  <a:pt x="1162532" y="155321"/>
                </a:lnTo>
                <a:lnTo>
                  <a:pt x="1005433" y="105283"/>
                </a:lnTo>
                <a:lnTo>
                  <a:pt x="819759" y="66294"/>
                </a:lnTo>
                <a:lnTo>
                  <a:pt x="603859" y="0"/>
                </a:lnTo>
                <a:lnTo>
                  <a:pt x="469874" y="26162"/>
                </a:lnTo>
                <a:lnTo>
                  <a:pt x="310489" y="121158"/>
                </a:lnTo>
                <a:lnTo>
                  <a:pt x="143865" y="264922"/>
                </a:lnTo>
                <a:lnTo>
                  <a:pt x="29819" y="492887"/>
                </a:lnTo>
                <a:lnTo>
                  <a:pt x="0" y="668401"/>
                </a:lnTo>
                <a:lnTo>
                  <a:pt x="98018" y="885571"/>
                </a:lnTo>
                <a:lnTo>
                  <a:pt x="346303" y="1018032"/>
                </a:lnTo>
                <a:lnTo>
                  <a:pt x="646531" y="1031748"/>
                </a:lnTo>
                <a:lnTo>
                  <a:pt x="859510" y="1040257"/>
                </a:lnTo>
                <a:lnTo>
                  <a:pt x="980033" y="1130808"/>
                </a:lnTo>
                <a:lnTo>
                  <a:pt x="1150213" y="1247775"/>
                </a:lnTo>
                <a:lnTo>
                  <a:pt x="1277975" y="1289685"/>
                </a:lnTo>
                <a:lnTo>
                  <a:pt x="1409039" y="1205738"/>
                </a:lnTo>
                <a:lnTo>
                  <a:pt x="1534134" y="1006094"/>
                </a:lnTo>
                <a:lnTo>
                  <a:pt x="1619859" y="789190"/>
                </a:lnTo>
                <a:close/>
              </a:path>
              <a:path w="5600065" h="1355089">
                <a:moveTo>
                  <a:pt x="5599658" y="714121"/>
                </a:moveTo>
                <a:lnTo>
                  <a:pt x="5558764" y="482219"/>
                </a:lnTo>
                <a:lnTo>
                  <a:pt x="5476849" y="264033"/>
                </a:lnTo>
                <a:lnTo>
                  <a:pt x="5367629" y="154940"/>
                </a:lnTo>
                <a:lnTo>
                  <a:pt x="5149189" y="127635"/>
                </a:lnTo>
                <a:lnTo>
                  <a:pt x="5012664" y="168529"/>
                </a:lnTo>
                <a:lnTo>
                  <a:pt x="4807940" y="141224"/>
                </a:lnTo>
                <a:lnTo>
                  <a:pt x="4712436" y="100330"/>
                </a:lnTo>
                <a:lnTo>
                  <a:pt x="4562322" y="168529"/>
                </a:lnTo>
                <a:lnTo>
                  <a:pt x="4398492" y="264033"/>
                </a:lnTo>
                <a:lnTo>
                  <a:pt x="4193768" y="359410"/>
                </a:lnTo>
                <a:lnTo>
                  <a:pt x="4111853" y="468630"/>
                </a:lnTo>
                <a:lnTo>
                  <a:pt x="4057243" y="645922"/>
                </a:lnTo>
                <a:lnTo>
                  <a:pt x="4029938" y="864108"/>
                </a:lnTo>
                <a:lnTo>
                  <a:pt x="4098137" y="1109599"/>
                </a:lnTo>
                <a:lnTo>
                  <a:pt x="4193768" y="1259586"/>
                </a:lnTo>
                <a:lnTo>
                  <a:pt x="4412081" y="1355090"/>
                </a:lnTo>
                <a:lnTo>
                  <a:pt x="4685131" y="1286891"/>
                </a:lnTo>
                <a:lnTo>
                  <a:pt x="4917160" y="1096010"/>
                </a:lnTo>
                <a:lnTo>
                  <a:pt x="5080990" y="959612"/>
                </a:lnTo>
                <a:lnTo>
                  <a:pt x="5231104" y="945896"/>
                </a:lnTo>
                <a:lnTo>
                  <a:pt x="5435828" y="918591"/>
                </a:lnTo>
                <a:lnTo>
                  <a:pt x="5558764" y="864108"/>
                </a:lnTo>
                <a:lnTo>
                  <a:pt x="5599658" y="714121"/>
                </a:lnTo>
                <a:close/>
              </a:path>
            </a:pathLst>
          </a:custGeom>
          <a:solidFill>
            <a:srgbClr val="00AF5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C2E6822-A72E-BA57-A602-72AA764844EB}"/>
              </a:ext>
            </a:extLst>
          </p:cNvPr>
          <p:cNvSpPr/>
          <p:nvPr/>
        </p:nvSpPr>
        <p:spPr>
          <a:xfrm>
            <a:off x="7436714" y="2438400"/>
            <a:ext cx="1046861" cy="609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76C96F-CB22-3840-3007-9A17178F2ED4}"/>
              </a:ext>
            </a:extLst>
          </p:cNvPr>
          <p:cNvSpPr/>
          <p:nvPr/>
        </p:nvSpPr>
        <p:spPr>
          <a:xfrm>
            <a:off x="8685353" y="2445026"/>
            <a:ext cx="1046861" cy="609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A2AE2FE-7434-F7B0-9FE9-CC84E3D3B74B}"/>
              </a:ext>
            </a:extLst>
          </p:cNvPr>
          <p:cNvSpPr/>
          <p:nvPr/>
        </p:nvSpPr>
        <p:spPr>
          <a:xfrm>
            <a:off x="7480276" y="4474464"/>
            <a:ext cx="1003300" cy="4110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53A9491-A0DA-757A-64A5-C4B8D804AE87}"/>
              </a:ext>
            </a:extLst>
          </p:cNvPr>
          <p:cNvSpPr/>
          <p:nvPr/>
        </p:nvSpPr>
        <p:spPr>
          <a:xfrm>
            <a:off x="9617558" y="4476319"/>
            <a:ext cx="562546" cy="4110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0567F80B-969F-5D6B-3F61-23D36D79B3BE}"/>
              </a:ext>
            </a:extLst>
          </p:cNvPr>
          <p:cNvSpPr txBox="1"/>
          <p:nvPr/>
        </p:nvSpPr>
        <p:spPr>
          <a:xfrm>
            <a:off x="567145" y="4864999"/>
            <a:ext cx="4145000" cy="80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50000"/>
              </a:lnSpc>
              <a:spcBef>
                <a:spcPts val="100"/>
              </a:spcBef>
            </a:pPr>
            <a:r>
              <a:rPr lang="en-US" dirty="0">
                <a:latin typeface="Arial"/>
                <a:cs typeface="Arial"/>
              </a:rPr>
              <a:t>Flexion / extension </a:t>
            </a:r>
            <a:r>
              <a:rPr dirty="0">
                <a:latin typeface="Arial"/>
                <a:cs typeface="Arial"/>
              </a:rPr>
              <a:t>0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-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135</a:t>
            </a:r>
            <a:r>
              <a:rPr baseline="41666" dirty="0">
                <a:latin typeface="Arial"/>
                <a:cs typeface="Arial"/>
              </a:rPr>
              <a:t>o</a:t>
            </a:r>
            <a:endParaRPr lang="en-US" baseline="41666" dirty="0">
              <a:latin typeface="Arial"/>
              <a:cs typeface="Arial"/>
            </a:endParaRPr>
          </a:p>
          <a:p>
            <a:pPr marL="38100">
              <a:lnSpc>
                <a:spcPct val="150000"/>
              </a:lnSpc>
              <a:spcBef>
                <a:spcPts val="100"/>
              </a:spcBef>
            </a:pPr>
            <a:r>
              <a:rPr lang="en-GB" dirty="0">
                <a:latin typeface="Arial"/>
                <a:cs typeface="Arial"/>
              </a:rPr>
              <a:t>Pain, oedema, muscle bulk can restrict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E7709AC1-08FC-E159-70C3-BA5503DF9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45" y="1981200"/>
            <a:ext cx="4145000" cy="27226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4F52739-62A9-A2A8-B6E6-C34176465617}"/>
              </a:ext>
            </a:extLst>
          </p:cNvPr>
          <p:cNvSpPr/>
          <p:nvPr/>
        </p:nvSpPr>
        <p:spPr>
          <a:xfrm>
            <a:off x="519668" y="4864999"/>
            <a:ext cx="2909332" cy="4484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633DB895-3D01-4B83-1921-627E75CA7C7B}"/>
              </a:ext>
            </a:extLst>
          </p:cNvPr>
          <p:cNvSpPr txBox="1"/>
          <p:nvPr/>
        </p:nvSpPr>
        <p:spPr>
          <a:xfrm>
            <a:off x="1967467" y="5998760"/>
            <a:ext cx="2756933" cy="3769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50000"/>
              </a:lnSpc>
              <a:spcBef>
                <a:spcPts val="100"/>
              </a:spcBef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MODIFIED HINGE JOINT </a:t>
            </a:r>
            <a:endParaRPr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6A77C2-0BE7-A27D-BF12-85D5DC887A3A}"/>
              </a:ext>
            </a:extLst>
          </p:cNvPr>
          <p:cNvCxnSpPr>
            <a:cxnSpLocks/>
          </p:cNvCxnSpPr>
          <p:nvPr/>
        </p:nvCxnSpPr>
        <p:spPr>
          <a:xfrm flipV="1">
            <a:off x="4724400" y="5853393"/>
            <a:ext cx="838200" cy="376963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3A25EE7-A09B-7986-B1E2-CD822F447010}"/>
              </a:ext>
            </a:extLst>
          </p:cNvPr>
          <p:cNvCxnSpPr/>
          <p:nvPr/>
        </p:nvCxnSpPr>
        <p:spPr>
          <a:xfrm>
            <a:off x="7391400" y="6644639"/>
            <a:ext cx="17720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5676" y="601662"/>
            <a:ext cx="87407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250" dirty="0"/>
              <a:t>V</a:t>
            </a:r>
            <a:r>
              <a:rPr spc="250" dirty="0" err="1"/>
              <a:t>asculature</a:t>
            </a:r>
            <a:r>
              <a:rPr spc="-15" dirty="0"/>
              <a:t> </a:t>
            </a:r>
            <a:r>
              <a:rPr spc="100" dirty="0"/>
              <a:t>of</a:t>
            </a:r>
            <a:r>
              <a:rPr spc="5" dirty="0"/>
              <a:t> </a:t>
            </a:r>
            <a:r>
              <a:rPr spc="240" dirty="0"/>
              <a:t>the</a:t>
            </a:r>
            <a:r>
              <a:rPr dirty="0"/>
              <a:t> </a:t>
            </a:r>
            <a:r>
              <a:rPr spc="165" dirty="0"/>
              <a:t>Knee</a:t>
            </a:r>
            <a:r>
              <a:rPr spc="-5" dirty="0"/>
              <a:t> </a:t>
            </a:r>
            <a:r>
              <a:rPr spc="114" dirty="0"/>
              <a:t>Joint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2" y="1676400"/>
            <a:ext cx="4067469" cy="50021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D2E0FB-D95A-9E21-62C1-2E6D643566C4}"/>
              </a:ext>
            </a:extLst>
          </p:cNvPr>
          <p:cNvSpPr txBox="1"/>
          <p:nvPr/>
        </p:nvSpPr>
        <p:spPr>
          <a:xfrm>
            <a:off x="427697" y="2414572"/>
            <a:ext cx="5668303" cy="258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Blood supply is from: 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anastomoses (branches) of the popliteal artery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descending branches of genicular arteries (5)       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from hip &amp; thigh (genu = Latin  for knee)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popliteal artery branches from femoral a.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01EE2F3B-1E5D-58CD-A015-F6D3FC6A463B}"/>
              </a:ext>
            </a:extLst>
          </p:cNvPr>
          <p:cNvSpPr txBox="1"/>
          <p:nvPr/>
        </p:nvSpPr>
        <p:spPr>
          <a:xfrm>
            <a:off x="10820401" y="4724400"/>
            <a:ext cx="1066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lang="en-US" sz="1200" dirty="0">
                <a:latin typeface="Arial"/>
                <a:cs typeface="Arial"/>
              </a:rPr>
              <a:t>(posterior)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2D4D226-A66F-BD03-36DC-4DADACE13521}"/>
              </a:ext>
            </a:extLst>
          </p:cNvPr>
          <p:cNvSpPr txBox="1"/>
          <p:nvPr/>
        </p:nvSpPr>
        <p:spPr>
          <a:xfrm>
            <a:off x="9753601" y="2590800"/>
            <a:ext cx="1066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lang="en-US" sz="1200" dirty="0">
                <a:latin typeface="Arial"/>
                <a:cs typeface="Arial"/>
              </a:rPr>
              <a:t>Popliteal artery</a:t>
            </a:r>
            <a:endParaRPr sz="1200" dirty="0">
              <a:latin typeface="Arial"/>
              <a:cs typeface="Arial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131EF2-7B5D-9DB8-907C-F699351D9E6D}"/>
              </a:ext>
            </a:extLst>
          </p:cNvPr>
          <p:cNvCxnSpPr/>
          <p:nvPr/>
        </p:nvCxnSpPr>
        <p:spPr>
          <a:xfrm flipH="1">
            <a:off x="9144000" y="2689545"/>
            <a:ext cx="60960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74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5676" y="601662"/>
            <a:ext cx="87407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0" dirty="0"/>
              <a:t>Neurovasculature</a:t>
            </a:r>
            <a:r>
              <a:rPr spc="-15" dirty="0"/>
              <a:t> </a:t>
            </a:r>
            <a:r>
              <a:rPr spc="100" dirty="0"/>
              <a:t>of</a:t>
            </a:r>
            <a:r>
              <a:rPr spc="5" dirty="0"/>
              <a:t> </a:t>
            </a:r>
            <a:r>
              <a:rPr spc="240" dirty="0"/>
              <a:t>the</a:t>
            </a:r>
            <a:r>
              <a:rPr dirty="0"/>
              <a:t> </a:t>
            </a:r>
            <a:r>
              <a:rPr spc="165" dirty="0"/>
              <a:t>Knee</a:t>
            </a:r>
            <a:r>
              <a:rPr spc="-5" dirty="0"/>
              <a:t> </a:t>
            </a:r>
            <a:r>
              <a:rPr spc="114" dirty="0"/>
              <a:t>Joint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257800" y="1697350"/>
            <a:ext cx="6401001" cy="4855850"/>
            <a:chOff x="4530292" y="1681479"/>
            <a:chExt cx="6823709" cy="51765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0292" y="1681479"/>
              <a:ext cx="3757727" cy="51765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2380" y="1681479"/>
              <a:ext cx="3741420" cy="5176519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1519288-A88F-59A4-2FFC-3814D2061412}"/>
              </a:ext>
            </a:extLst>
          </p:cNvPr>
          <p:cNvSpPr txBox="1"/>
          <p:nvPr/>
        </p:nvSpPr>
        <p:spPr>
          <a:xfrm>
            <a:off x="381000" y="2052443"/>
            <a:ext cx="4038600" cy="4195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Capsule is innervated by 4 nerves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Anterior    - femoral nerve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Posterior  - obturator nerve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	       - tibial nerve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	       - common fibular nerves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FEMORAL &amp; OBTURATOR nerves also supply the hip joint so can often get referred pain from one joint to the other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3329" y="601662"/>
            <a:ext cx="71666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Retinaculae</a:t>
            </a:r>
            <a:r>
              <a:rPr spc="-15" dirty="0"/>
              <a:t> </a:t>
            </a:r>
            <a:r>
              <a:rPr spc="100" dirty="0"/>
              <a:t>of</a:t>
            </a:r>
            <a:r>
              <a:rPr spc="-5" dirty="0"/>
              <a:t> </a:t>
            </a:r>
            <a:r>
              <a:rPr spc="240" dirty="0"/>
              <a:t>the</a:t>
            </a:r>
            <a:r>
              <a:rPr spc="-25" dirty="0"/>
              <a:t> </a:t>
            </a:r>
            <a:r>
              <a:rPr spc="165" dirty="0"/>
              <a:t>Knee</a:t>
            </a:r>
            <a:r>
              <a:rPr spc="10" dirty="0"/>
              <a:t> </a:t>
            </a:r>
            <a:r>
              <a:rPr spc="114" dirty="0"/>
              <a:t>Joint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238766-55AE-F1E7-DDAA-611331828A8C}"/>
              </a:ext>
            </a:extLst>
          </p:cNvPr>
          <p:cNvSpPr txBox="1"/>
          <p:nvPr/>
        </p:nvSpPr>
        <p:spPr>
          <a:xfrm>
            <a:off x="499240" y="1836683"/>
            <a:ext cx="5444360" cy="448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Fibrous bands of thick fascia </a:t>
            </a:r>
          </a:p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Externally to the capsule the knee is supported by collateral ligaments </a:t>
            </a:r>
          </a:p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Patellar tendon acts like a ligament supporting the front of the joint (often ligamentum patellae)</a:t>
            </a:r>
          </a:p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Fat pad behind the patellar T. prevents the synovium from escaping anteriorly - also fills gap</a:t>
            </a:r>
          </a:p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Additional support by the quadriceps tendon continuations crossing downwards over the joint - these are the medial &amp; lateral retinaculae - keep fat pad &amp; synovium in place.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2B2AFE-3D9F-0266-EDE9-2DD9F8C8F9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" t="1092" r="2820" b="2997"/>
          <a:stretch/>
        </p:blipFill>
        <p:spPr>
          <a:xfrm>
            <a:off x="6476999" y="1828800"/>
            <a:ext cx="5334001" cy="48768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DF82F44-6BDE-3FA6-E1AE-6F3EF7DC20F4}"/>
              </a:ext>
            </a:extLst>
          </p:cNvPr>
          <p:cNvSpPr/>
          <p:nvPr/>
        </p:nvSpPr>
        <p:spPr>
          <a:xfrm>
            <a:off x="6400800" y="4191000"/>
            <a:ext cx="838201" cy="4572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80C5C7C-3D2E-790E-263E-2E5FCA18D53E}"/>
              </a:ext>
            </a:extLst>
          </p:cNvPr>
          <p:cNvSpPr/>
          <p:nvPr/>
        </p:nvSpPr>
        <p:spPr>
          <a:xfrm>
            <a:off x="10820400" y="3977244"/>
            <a:ext cx="838201" cy="4572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7670" y="601662"/>
            <a:ext cx="62953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Capsule</a:t>
            </a:r>
            <a:r>
              <a:rPr spc="-5" dirty="0"/>
              <a:t> </a:t>
            </a:r>
            <a:r>
              <a:rPr spc="100" dirty="0"/>
              <a:t>of</a:t>
            </a:r>
            <a:r>
              <a:rPr spc="-5" dirty="0"/>
              <a:t> </a:t>
            </a:r>
            <a:r>
              <a:rPr spc="240" dirty="0"/>
              <a:t>the</a:t>
            </a:r>
            <a:r>
              <a:rPr spc="-10" dirty="0"/>
              <a:t> </a:t>
            </a:r>
            <a:r>
              <a:rPr spc="165" dirty="0"/>
              <a:t>Knee</a:t>
            </a:r>
            <a:r>
              <a:rPr spc="-10" dirty="0"/>
              <a:t> </a:t>
            </a:r>
            <a:r>
              <a:rPr spc="114" dirty="0"/>
              <a:t>Joint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10400" y="1630679"/>
            <a:ext cx="3633470" cy="5227320"/>
            <a:chOff x="6657158" y="1630679"/>
            <a:chExt cx="3633470" cy="522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7158" y="1630679"/>
              <a:ext cx="3302588" cy="522731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47990" y="4028439"/>
              <a:ext cx="2242185" cy="1557655"/>
            </a:xfrm>
            <a:custGeom>
              <a:avLst/>
              <a:gdLst/>
              <a:ahLst/>
              <a:cxnLst/>
              <a:rect l="l" t="t" r="r" b="b"/>
              <a:pathLst>
                <a:path w="2242184" h="1557654">
                  <a:moveTo>
                    <a:pt x="1943989" y="76200"/>
                  </a:moveTo>
                  <a:lnTo>
                    <a:pt x="190500" y="76200"/>
                  </a:lnTo>
                  <a:lnTo>
                    <a:pt x="190500" y="0"/>
                  </a:lnTo>
                  <a:lnTo>
                    <a:pt x="0" y="95250"/>
                  </a:lnTo>
                  <a:lnTo>
                    <a:pt x="190500" y="190500"/>
                  </a:lnTo>
                  <a:lnTo>
                    <a:pt x="190500" y="114300"/>
                  </a:lnTo>
                  <a:lnTo>
                    <a:pt x="1943989" y="114300"/>
                  </a:lnTo>
                  <a:lnTo>
                    <a:pt x="1943989" y="76200"/>
                  </a:lnTo>
                  <a:close/>
                </a:path>
                <a:path w="2242184" h="1557654">
                  <a:moveTo>
                    <a:pt x="2242058" y="1526540"/>
                  </a:moveTo>
                  <a:lnTo>
                    <a:pt x="949579" y="576338"/>
                  </a:lnTo>
                  <a:lnTo>
                    <a:pt x="957897" y="565023"/>
                  </a:lnTo>
                  <a:lnTo>
                    <a:pt x="994791" y="514858"/>
                  </a:lnTo>
                  <a:lnTo>
                    <a:pt x="784860" y="478790"/>
                  </a:lnTo>
                  <a:lnTo>
                    <a:pt x="881888" y="668401"/>
                  </a:lnTo>
                  <a:lnTo>
                    <a:pt x="927023" y="607009"/>
                  </a:lnTo>
                  <a:lnTo>
                    <a:pt x="2219452" y="1557274"/>
                  </a:lnTo>
                  <a:lnTo>
                    <a:pt x="2242058" y="1526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0681" y="1722118"/>
            <a:ext cx="3375660" cy="5067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477047" y="3814812"/>
            <a:ext cx="1457325" cy="2128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7650" indent="431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Oblique </a:t>
            </a:r>
            <a:r>
              <a:rPr sz="2000" spc="-6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popliteal </a:t>
            </a:r>
            <a:r>
              <a:rPr sz="2000" spc="-6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ligament</a:t>
            </a: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339090">
              <a:lnSpc>
                <a:spcPct val="100000"/>
              </a:lnSpc>
              <a:spcBef>
                <a:spcPts val="2105"/>
              </a:spcBef>
            </a:pPr>
            <a:r>
              <a:rPr sz="2000" dirty="0">
                <a:latin typeface="Arial"/>
                <a:cs typeface="Arial"/>
              </a:rPr>
              <a:t>Arcuate</a:t>
            </a:r>
          </a:p>
          <a:p>
            <a:pPr marL="28829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l</a:t>
            </a:r>
            <a:r>
              <a:rPr sz="2000" spc="10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E95380-EF7C-6A3D-FCB6-6D33C72CB1D3}"/>
              </a:ext>
            </a:extLst>
          </p:cNvPr>
          <p:cNvSpPr txBox="1"/>
          <p:nvPr/>
        </p:nvSpPr>
        <p:spPr>
          <a:xfrm>
            <a:off x="260256" y="2041360"/>
            <a:ext cx="3375660" cy="225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Posteriorly strong capsule</a:t>
            </a:r>
          </a:p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supported by oblique popliteal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&amp; arcuate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ts val="2660"/>
              </a:lnSpc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…more ligaments later</a:t>
            </a:r>
          </a:p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9164" y="601662"/>
            <a:ext cx="42341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Knee</a:t>
            </a:r>
            <a:r>
              <a:rPr spc="-50" dirty="0"/>
              <a:t> </a:t>
            </a:r>
            <a:r>
              <a:rPr spc="155" dirty="0"/>
              <a:t>Dislocation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50436" y="2337005"/>
            <a:ext cx="3830320" cy="4508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14F915-E5DD-610A-02FA-61BA7A1591F7}"/>
              </a:ext>
            </a:extLst>
          </p:cNvPr>
          <p:cNvSpPr txBox="1"/>
          <p:nvPr/>
        </p:nvSpPr>
        <p:spPr>
          <a:xfrm>
            <a:off x="301752" y="1143000"/>
            <a:ext cx="3830320" cy="140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60"/>
              </a:lnSpc>
              <a:spcAft>
                <a:spcPts val="1200"/>
              </a:spcAf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Posterior tibiofemoral dislocation </a:t>
            </a:r>
          </a:p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rupture of 3 or 4 ligaments </a:t>
            </a:r>
          </a:p>
          <a:p>
            <a:pPr marL="285750" indent="-285750">
              <a:lnSpc>
                <a:spcPts val="266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popliteal artery at risk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6740" y="1803606"/>
            <a:ext cx="3352800" cy="46631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1811489"/>
            <a:ext cx="4091940" cy="485517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15589" y="601662"/>
            <a:ext cx="65633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15" dirty="0"/>
              <a:t> </a:t>
            </a:r>
            <a:r>
              <a:rPr spc="165" dirty="0"/>
              <a:t>Patello-Femoral</a:t>
            </a:r>
            <a:r>
              <a:rPr spc="-15" dirty="0"/>
              <a:t> </a:t>
            </a:r>
            <a:r>
              <a:rPr spc="120" dirty="0"/>
              <a:t>Joints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896F9-E265-8533-83E9-D4DA48D46714}"/>
              </a:ext>
            </a:extLst>
          </p:cNvPr>
          <p:cNvSpPr txBox="1"/>
          <p:nvPr/>
        </p:nvSpPr>
        <p:spPr>
          <a:xfrm>
            <a:off x="304800" y="1916688"/>
            <a:ext cx="3810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Patella = sesamoid bone, upside-down triangle (base at top superiorly, apex at bottom)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Quads T. attaches to the base (top)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Patella T. attaches to apex (bottom)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Patella only articulates between the femoral condyles - groove (trochlea). Not at all with tibia.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 &amp;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patellofemoral joints at reverse of patella…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D74EA87-0AC2-542E-1B38-2B18B50267B5}"/>
              </a:ext>
            </a:extLst>
          </p:cNvPr>
          <p:cNvGrpSpPr/>
          <p:nvPr/>
        </p:nvGrpSpPr>
        <p:grpSpPr>
          <a:xfrm>
            <a:off x="3764111" y="2051792"/>
            <a:ext cx="5760722" cy="3386762"/>
            <a:chOff x="309879" y="1820996"/>
            <a:chExt cx="7861300" cy="4621704"/>
          </a:xfrm>
        </p:grpSpPr>
        <p:pic>
          <p:nvPicPr>
            <p:cNvPr id="2" name="object 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879" y="1820996"/>
              <a:ext cx="7861300" cy="462170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455905-CDA5-2E8B-2FAE-49A1BB68DA59}"/>
                </a:ext>
              </a:extLst>
            </p:cNvPr>
            <p:cNvSpPr/>
            <p:nvPr/>
          </p:nvSpPr>
          <p:spPr>
            <a:xfrm>
              <a:off x="6172200" y="2362200"/>
              <a:ext cx="1818640" cy="1010920"/>
            </a:xfrm>
            <a:custGeom>
              <a:avLst/>
              <a:gdLst>
                <a:gd name="connsiteX0" fmla="*/ 0 w 1219200"/>
                <a:gd name="connsiteY0" fmla="*/ 0 h 990600"/>
                <a:gd name="connsiteX1" fmla="*/ 1219200 w 1219200"/>
                <a:gd name="connsiteY1" fmla="*/ 0 h 990600"/>
                <a:gd name="connsiteX2" fmla="*/ 1219200 w 1219200"/>
                <a:gd name="connsiteY2" fmla="*/ 990600 h 990600"/>
                <a:gd name="connsiteX3" fmla="*/ 0 w 1219200"/>
                <a:gd name="connsiteY3" fmla="*/ 990600 h 990600"/>
                <a:gd name="connsiteX4" fmla="*/ 0 w 1219200"/>
                <a:gd name="connsiteY4" fmla="*/ 0 h 990600"/>
                <a:gd name="connsiteX0" fmla="*/ 0 w 1889760"/>
                <a:gd name="connsiteY0" fmla="*/ 264160 h 990600"/>
                <a:gd name="connsiteX1" fmla="*/ 1889760 w 1889760"/>
                <a:gd name="connsiteY1" fmla="*/ 0 h 990600"/>
                <a:gd name="connsiteX2" fmla="*/ 1889760 w 1889760"/>
                <a:gd name="connsiteY2" fmla="*/ 990600 h 990600"/>
                <a:gd name="connsiteX3" fmla="*/ 670560 w 1889760"/>
                <a:gd name="connsiteY3" fmla="*/ 990600 h 990600"/>
                <a:gd name="connsiteX4" fmla="*/ 0 w 1889760"/>
                <a:gd name="connsiteY4" fmla="*/ 264160 h 990600"/>
                <a:gd name="connsiteX0" fmla="*/ 0 w 1889760"/>
                <a:gd name="connsiteY0" fmla="*/ 264160 h 1010920"/>
                <a:gd name="connsiteX1" fmla="*/ 1889760 w 1889760"/>
                <a:gd name="connsiteY1" fmla="*/ 0 h 1010920"/>
                <a:gd name="connsiteX2" fmla="*/ 1889760 w 1889760"/>
                <a:gd name="connsiteY2" fmla="*/ 990600 h 1010920"/>
                <a:gd name="connsiteX3" fmla="*/ 508000 w 1889760"/>
                <a:gd name="connsiteY3" fmla="*/ 1010920 h 1010920"/>
                <a:gd name="connsiteX4" fmla="*/ 0 w 1889760"/>
                <a:gd name="connsiteY4" fmla="*/ 264160 h 1010920"/>
                <a:gd name="connsiteX0" fmla="*/ 0 w 1778000"/>
                <a:gd name="connsiteY0" fmla="*/ 426720 h 1010920"/>
                <a:gd name="connsiteX1" fmla="*/ 1778000 w 1778000"/>
                <a:gd name="connsiteY1" fmla="*/ 0 h 1010920"/>
                <a:gd name="connsiteX2" fmla="*/ 1778000 w 1778000"/>
                <a:gd name="connsiteY2" fmla="*/ 990600 h 1010920"/>
                <a:gd name="connsiteX3" fmla="*/ 396240 w 1778000"/>
                <a:gd name="connsiteY3" fmla="*/ 1010920 h 1010920"/>
                <a:gd name="connsiteX4" fmla="*/ 0 w 1778000"/>
                <a:gd name="connsiteY4" fmla="*/ 426720 h 1010920"/>
                <a:gd name="connsiteX0" fmla="*/ 0 w 1818640"/>
                <a:gd name="connsiteY0" fmla="*/ 335280 h 1010920"/>
                <a:gd name="connsiteX1" fmla="*/ 1818640 w 1818640"/>
                <a:gd name="connsiteY1" fmla="*/ 0 h 1010920"/>
                <a:gd name="connsiteX2" fmla="*/ 1818640 w 1818640"/>
                <a:gd name="connsiteY2" fmla="*/ 990600 h 1010920"/>
                <a:gd name="connsiteX3" fmla="*/ 436880 w 1818640"/>
                <a:gd name="connsiteY3" fmla="*/ 1010920 h 1010920"/>
                <a:gd name="connsiteX4" fmla="*/ 0 w 1818640"/>
                <a:gd name="connsiteY4" fmla="*/ 335280 h 10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8640" h="1010920">
                  <a:moveTo>
                    <a:pt x="0" y="335280"/>
                  </a:moveTo>
                  <a:lnTo>
                    <a:pt x="1818640" y="0"/>
                  </a:lnTo>
                  <a:lnTo>
                    <a:pt x="1818640" y="990600"/>
                  </a:lnTo>
                  <a:lnTo>
                    <a:pt x="436880" y="1010920"/>
                  </a:lnTo>
                  <a:lnTo>
                    <a:pt x="0" y="3352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619B9C9-6A4B-3536-856A-BA7532330119}"/>
                </a:ext>
              </a:extLst>
            </p:cNvPr>
            <p:cNvSpPr/>
            <p:nvPr/>
          </p:nvSpPr>
          <p:spPr>
            <a:xfrm>
              <a:off x="6096000" y="2971800"/>
              <a:ext cx="304800" cy="228600"/>
            </a:xfrm>
            <a:prstGeom prst="ellipse">
              <a:avLst/>
            </a:prstGeom>
            <a:solidFill>
              <a:srgbClr val="9379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4C6AB07-6A70-17A3-5393-2C74A563EE8C}"/>
                </a:ext>
              </a:extLst>
            </p:cNvPr>
            <p:cNvSpPr/>
            <p:nvPr/>
          </p:nvSpPr>
          <p:spPr>
            <a:xfrm>
              <a:off x="4648200" y="3048000"/>
              <a:ext cx="1447800" cy="76200"/>
            </a:xfrm>
            <a:prstGeom prst="rect">
              <a:avLst/>
            </a:prstGeom>
            <a:solidFill>
              <a:srgbClr val="D9D7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D2187D-9CAF-B895-5BF4-DC497B3B0334}"/>
                </a:ext>
              </a:extLst>
            </p:cNvPr>
            <p:cNvSpPr/>
            <p:nvPr/>
          </p:nvSpPr>
          <p:spPr>
            <a:xfrm>
              <a:off x="3962400" y="3048000"/>
              <a:ext cx="685800" cy="76200"/>
            </a:xfrm>
            <a:prstGeom prst="rect">
              <a:avLst/>
            </a:prstGeom>
            <a:solidFill>
              <a:srgbClr val="C1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6128" y="601662"/>
            <a:ext cx="96215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dirty="0"/>
              <a:t> </a:t>
            </a:r>
            <a:r>
              <a:rPr spc="165" dirty="0"/>
              <a:t>Patello-Femoral</a:t>
            </a:r>
            <a:r>
              <a:rPr spc="-5" dirty="0"/>
              <a:t> </a:t>
            </a:r>
            <a:r>
              <a:rPr spc="200" dirty="0"/>
              <a:t>Articular</a:t>
            </a:r>
            <a:r>
              <a:rPr spc="-30" dirty="0"/>
              <a:t> </a:t>
            </a:r>
            <a:r>
              <a:rPr spc="140" dirty="0"/>
              <a:t>Surfaces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1955" y="2257718"/>
            <a:ext cx="2517720" cy="39343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51750" y="3674228"/>
            <a:ext cx="3644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125200" y="3745173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Arial"/>
                <a:cs typeface="Arial"/>
              </a:rPr>
              <a:t>L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8BCF5-87E1-60B5-A91E-083C29BA8685}"/>
              </a:ext>
            </a:extLst>
          </p:cNvPr>
          <p:cNvSpPr txBox="1"/>
          <p:nvPr/>
        </p:nvSpPr>
        <p:spPr>
          <a:xfrm>
            <a:off x="304800" y="1916688"/>
            <a:ext cx="3810000" cy="447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 &amp;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articular surface of the patella for each femoral condyle with a vertical ridge in between</a:t>
            </a:r>
          </a:p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 femoral condyle projects more anteriorly and is larger - therefore patella articular surface is larger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3" y="601662"/>
            <a:ext cx="43853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30" dirty="0"/>
              <a:t> </a:t>
            </a:r>
            <a:r>
              <a:rPr spc="185" dirty="0"/>
              <a:t>Sunrise</a:t>
            </a:r>
            <a:r>
              <a:rPr spc="-40" dirty="0"/>
              <a:t> </a:t>
            </a:r>
            <a:r>
              <a:rPr spc="170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019" y="2283460"/>
            <a:ext cx="4129899" cy="3949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6500" y="2103120"/>
            <a:ext cx="6995159" cy="4282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67C0D2-785F-D76D-A57A-43732CC46C6A}"/>
              </a:ext>
            </a:extLst>
          </p:cNvPr>
          <p:cNvSpPr txBox="1"/>
          <p:nvPr/>
        </p:nvSpPr>
        <p:spPr>
          <a:xfrm>
            <a:off x="4876800" y="6441492"/>
            <a:ext cx="1068114" cy="38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Left leg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Knee Joint - Range of Movement - 3D Medical Animation || ABP ©">
            <a:hlinkClick r:id="" action="ppaction://media"/>
            <a:extLst>
              <a:ext uri="{FF2B5EF4-FFF2-40B4-BE49-F238E27FC236}">
                <a16:creationId xmlns:a16="http://schemas.microsoft.com/office/drawing/2014/main" id="{A5324D11-6BB8-F667-C5C9-C17AF07F9D1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 rotWithShape="1">
          <a:blip r:embed="rId3"/>
          <a:srcRect l="13280" t="752" r="11720"/>
          <a:stretch/>
        </p:blipFill>
        <p:spPr>
          <a:xfrm>
            <a:off x="0" y="-990600"/>
            <a:ext cx="12192000" cy="918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descr="What Are Kneecaps For? | The Importance of Mobilization">
            <a:hlinkClick r:id="" action="ppaction://media"/>
            <a:extLst>
              <a:ext uri="{FF2B5EF4-FFF2-40B4-BE49-F238E27FC236}">
                <a16:creationId xmlns:a16="http://schemas.microsoft.com/office/drawing/2014/main" id="{109BE945-79BE-2854-1039-EFD8D7AB7D4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40461" y="-76200"/>
            <a:ext cx="12272921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3029" y="601662"/>
            <a:ext cx="68903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Patello-Femoral</a:t>
            </a:r>
            <a:r>
              <a:rPr spc="-45" dirty="0"/>
              <a:t> </a:t>
            </a:r>
            <a:r>
              <a:rPr spc="160" dirty="0"/>
              <a:t>Dislocation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87539" y="1976438"/>
            <a:ext cx="7254336" cy="3890962"/>
            <a:chOff x="1297939" y="1663700"/>
            <a:chExt cx="9499600" cy="50952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99" y="1706880"/>
              <a:ext cx="5615940" cy="49098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7939" y="1663700"/>
              <a:ext cx="4003040" cy="509524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50A2746-ECAC-6783-5A8C-DD2B2EDEE776}"/>
              </a:ext>
            </a:extLst>
          </p:cNvPr>
          <p:cNvSpPr txBox="1"/>
          <p:nvPr/>
        </p:nvSpPr>
        <p:spPr>
          <a:xfrm>
            <a:off x="304800" y="1916688"/>
            <a:ext cx="41910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patella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dislocs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lateral as medially the patella is very stable 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MOI - sudden medial rotation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normal knee, quads muscle pulls the patella upwards via the quads tendon - this is in exactly the same direction as the rec fem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fibres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but, vastus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&amp; intermedius pull the patella laterally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patella potentially deviates &amp; causes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disloc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prevented by 2 factors…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3029" y="601662"/>
            <a:ext cx="68903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Patello-Femoral</a:t>
            </a:r>
            <a:r>
              <a:rPr spc="-45" dirty="0"/>
              <a:t> </a:t>
            </a:r>
            <a:r>
              <a:rPr spc="160" dirty="0"/>
              <a:t>Dislocation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87539" y="1976438"/>
            <a:ext cx="7254336" cy="3890962"/>
            <a:chOff x="1297939" y="1663700"/>
            <a:chExt cx="9499600" cy="50952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99" y="1706880"/>
              <a:ext cx="5615940" cy="49098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7939" y="1663700"/>
              <a:ext cx="4003040" cy="509524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50A2746-ECAC-6783-5A8C-DD2B2EDEE776}"/>
              </a:ext>
            </a:extLst>
          </p:cNvPr>
          <p:cNvSpPr txBox="1"/>
          <p:nvPr/>
        </p:nvSpPr>
        <p:spPr>
          <a:xfrm>
            <a:off x="304800" y="1916688"/>
            <a:ext cx="41910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 this is prevented by 2 factors:…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femoral condyle is larger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vastus medialis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fibres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insert almost horizontally to the medial border of the patella to correct the pull of the other muscles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some sports (e.g. cycling) this medial pull can be too much</a:t>
            </a:r>
          </a:p>
        </p:txBody>
      </p:sp>
    </p:spTree>
    <p:extLst>
      <p:ext uri="{BB962C8B-B14F-4D97-AF65-F5344CB8AC3E}">
        <p14:creationId xmlns:p14="http://schemas.microsoft.com/office/powerpoint/2010/main" val="3051828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1216" y="601662"/>
            <a:ext cx="89909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Signs</a:t>
            </a:r>
            <a:r>
              <a:rPr spc="-10" dirty="0"/>
              <a:t> </a:t>
            </a:r>
            <a:r>
              <a:rPr spc="100" dirty="0"/>
              <a:t>of</a:t>
            </a:r>
            <a:r>
              <a:rPr spc="-5" dirty="0"/>
              <a:t> </a:t>
            </a:r>
            <a:r>
              <a:rPr spc="165" dirty="0"/>
              <a:t>Patello-Femoral</a:t>
            </a:r>
            <a:r>
              <a:rPr spc="15" dirty="0"/>
              <a:t> </a:t>
            </a:r>
            <a:r>
              <a:rPr spc="155" dirty="0"/>
              <a:t>Dislocation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39" y="1653539"/>
            <a:ext cx="6860540" cy="4998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3230" y="601662"/>
            <a:ext cx="21513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5" dirty="0"/>
              <a:t>Q-Angle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0367" y="1760043"/>
            <a:ext cx="3197833" cy="47931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9180" y="1689098"/>
            <a:ext cx="2242568" cy="5090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E574B3-11E9-DF06-B588-9B810FD2F014}"/>
              </a:ext>
            </a:extLst>
          </p:cNvPr>
          <p:cNvSpPr txBox="1"/>
          <p:nvPr/>
        </p:nvSpPr>
        <p:spPr>
          <a:xfrm>
            <a:off x="304800" y="1916688"/>
            <a:ext cx="4718430" cy="4657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femur is angled so the quads muscle pulls along the mechanical axis </a:t>
            </a:r>
          </a:p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Creates an angle across the knee joint - Q-angle (quadriceps angle)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also be affected by 	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- excessively wide hips	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- abnormally placed knees (knee valgus,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tibial torsion)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- mal-positioned patella (high-riding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(patella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alta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or displaced)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4744" y="601662"/>
            <a:ext cx="533997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185" dirty="0"/>
              <a:t>Measuring </a:t>
            </a:r>
            <a:r>
              <a:rPr spc="185" dirty="0"/>
              <a:t>Q-Angle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916688"/>
            <a:ext cx="3560264" cy="4711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9180" y="1689098"/>
            <a:ext cx="2242568" cy="5090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B89A49-6C9E-6416-1960-957EFF087112}"/>
              </a:ext>
            </a:extLst>
          </p:cNvPr>
          <p:cNvSpPr txBox="1"/>
          <p:nvPr/>
        </p:nvSpPr>
        <p:spPr>
          <a:xfrm>
            <a:off x="304800" y="1916688"/>
            <a:ext cx="38862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 through the center of the patella to the ASIS and another line from the tibial tuberosity through the center of the patella.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intersection of these two lines is the Q-angle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Normative value is 13° to 18°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Females have wider hips, so angle is greater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Q-angle puts enormous strain on the patella (fulcrum, force) = prone to dislocation</a:t>
            </a:r>
          </a:p>
        </p:txBody>
      </p:sp>
    </p:spTree>
    <p:extLst>
      <p:ext uri="{BB962C8B-B14F-4D97-AF65-F5344CB8AC3E}">
        <p14:creationId xmlns:p14="http://schemas.microsoft.com/office/powerpoint/2010/main" val="697297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2690" y="601662"/>
            <a:ext cx="31692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Knee</a:t>
            </a:r>
            <a:r>
              <a:rPr spc="-55" dirty="0"/>
              <a:t> </a:t>
            </a:r>
            <a:r>
              <a:rPr spc="195" dirty="0"/>
              <a:t>Angles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911" y="1653539"/>
            <a:ext cx="1823197" cy="439610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7419" y="2100579"/>
            <a:ext cx="3446779" cy="41605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24957" y="6115104"/>
            <a:ext cx="1557018" cy="289823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22860" algn="ct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genu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valgum</a:t>
            </a:r>
            <a:endParaRPr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E890B-87B9-1562-BB3F-C9E41D5DA674}"/>
              </a:ext>
            </a:extLst>
          </p:cNvPr>
          <p:cNvSpPr txBox="1"/>
          <p:nvPr/>
        </p:nvSpPr>
        <p:spPr>
          <a:xfrm>
            <a:off x="695456" y="2258848"/>
            <a:ext cx="4714744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Genu = Latin for knee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Genu valgum / knee valgus / knock knees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Increased Q-angle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Stresses MCL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pressure on bone &amp; cartilage on lateral side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074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2690" y="601662"/>
            <a:ext cx="31692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Knee</a:t>
            </a:r>
            <a:r>
              <a:rPr spc="-55" dirty="0"/>
              <a:t> </a:t>
            </a:r>
            <a:r>
              <a:rPr spc="195" dirty="0"/>
              <a:t>Angles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87196" y="1705609"/>
            <a:ext cx="2688336" cy="4978400"/>
            <a:chOff x="3343007" y="1651000"/>
            <a:chExt cx="2811780" cy="520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3007" y="1651000"/>
              <a:ext cx="2695786" cy="48209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12819" y="6027420"/>
              <a:ext cx="2641600" cy="830580"/>
            </a:xfrm>
            <a:custGeom>
              <a:avLst/>
              <a:gdLst/>
              <a:ahLst/>
              <a:cxnLst/>
              <a:rect l="l" t="t" r="r" b="b"/>
              <a:pathLst>
                <a:path w="2641600" h="830579">
                  <a:moveTo>
                    <a:pt x="2641600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2641600" y="830579"/>
                  </a:lnTo>
                  <a:lnTo>
                    <a:pt x="2641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3463" y="2148839"/>
            <a:ext cx="3002280" cy="40919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76336" y="6169967"/>
            <a:ext cx="1505639" cy="289823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genu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varum</a:t>
            </a:r>
            <a:endParaRPr dirty="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6EF9A7-9941-6AE0-BF88-F94B5EEFEDBC}"/>
              </a:ext>
            </a:extLst>
          </p:cNvPr>
          <p:cNvSpPr txBox="1"/>
          <p:nvPr/>
        </p:nvSpPr>
        <p:spPr>
          <a:xfrm>
            <a:off x="695456" y="2258848"/>
            <a:ext cx="4714744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Genu varum / knee varus / bow legs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Stresses LCL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lead to tearing of the meniscus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85800" y="528946"/>
            <a:ext cx="3672077" cy="696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algn="l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35" dirty="0"/>
              <a:t> </a:t>
            </a:r>
            <a:r>
              <a:rPr spc="170" dirty="0"/>
              <a:t>Knee</a:t>
            </a:r>
            <a:r>
              <a:rPr spc="-45" dirty="0"/>
              <a:t> </a:t>
            </a:r>
            <a:r>
              <a:rPr spc="114" dirty="0"/>
              <a:t>Joint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523167" y="2084053"/>
            <a:ext cx="7477834" cy="3528529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L="143510" algn="l">
              <a:lnSpc>
                <a:spcPct val="100000"/>
              </a:lnSpc>
              <a:spcBef>
                <a:spcPts val="1555"/>
              </a:spcBef>
            </a:pPr>
            <a:r>
              <a:rPr sz="3250" b="1" spc="5" dirty="0">
                <a:solidFill>
                  <a:srgbClr val="FF0000"/>
                </a:solidFill>
                <a:latin typeface="Arial"/>
                <a:cs typeface="Arial"/>
              </a:rPr>
              <a:t>Self-Assessment</a:t>
            </a:r>
            <a:r>
              <a:rPr sz="325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50" b="1" spc="5" dirty="0">
                <a:solidFill>
                  <a:srgbClr val="FF0000"/>
                </a:solidFill>
                <a:latin typeface="Arial"/>
                <a:cs typeface="Arial"/>
              </a:rPr>
              <a:t>Questions</a:t>
            </a:r>
            <a:r>
              <a:rPr lang="en-GB" sz="3250" b="1" spc="5" dirty="0">
                <a:solidFill>
                  <a:srgbClr val="FF0000"/>
                </a:solidFill>
                <a:latin typeface="Arial"/>
                <a:cs typeface="Arial"/>
              </a:rPr>
              <a:t> Pt 1</a:t>
            </a:r>
            <a:endParaRPr sz="325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620395" indent="-363855" algn="l">
              <a:lnSpc>
                <a:spcPct val="100000"/>
              </a:lnSpc>
              <a:spcBef>
                <a:spcPts val="1595"/>
              </a:spcBef>
              <a:buAutoNum type="arabicPeriod"/>
              <a:tabLst>
                <a:tab pos="621030" algn="l"/>
              </a:tabLst>
            </a:pPr>
            <a:r>
              <a:rPr sz="2400" spc="10" dirty="0"/>
              <a:t>What</a:t>
            </a:r>
            <a:r>
              <a:rPr sz="2400" spc="-80" dirty="0"/>
              <a:t> </a:t>
            </a:r>
            <a:r>
              <a:rPr sz="2400" spc="-5" dirty="0"/>
              <a:t>exactly</a:t>
            </a:r>
            <a:r>
              <a:rPr sz="2400" spc="10" dirty="0"/>
              <a:t> </a:t>
            </a:r>
            <a:r>
              <a:rPr sz="2400" spc="-5" dirty="0"/>
              <a:t>is</a:t>
            </a:r>
            <a:r>
              <a:rPr sz="2400" spc="-15" dirty="0"/>
              <a:t> </a:t>
            </a:r>
            <a:r>
              <a:rPr sz="2400" dirty="0"/>
              <a:t>the</a:t>
            </a:r>
            <a:r>
              <a:rPr sz="2400" spc="-5" dirty="0"/>
              <a:t> </a:t>
            </a:r>
            <a:r>
              <a:rPr sz="2400" dirty="0"/>
              <a:t>patella,</a:t>
            </a:r>
            <a:r>
              <a:rPr sz="2400" spc="-10" dirty="0"/>
              <a:t> </a:t>
            </a:r>
            <a:r>
              <a:rPr sz="2400" dirty="0"/>
              <a:t>and</a:t>
            </a:r>
            <a:r>
              <a:rPr sz="2400" spc="-30" dirty="0"/>
              <a:t> </a:t>
            </a:r>
            <a:r>
              <a:rPr sz="2400" spc="-15" dirty="0"/>
              <a:t>why</a:t>
            </a:r>
            <a:r>
              <a:rPr sz="2400" spc="35" dirty="0"/>
              <a:t> </a:t>
            </a:r>
            <a:r>
              <a:rPr sz="2400" spc="-5" dirty="0"/>
              <a:t>is</a:t>
            </a:r>
            <a:r>
              <a:rPr sz="2400" spc="-15" dirty="0"/>
              <a:t> </a:t>
            </a:r>
            <a:r>
              <a:rPr sz="2400" dirty="0"/>
              <a:t>it</a:t>
            </a:r>
            <a:r>
              <a:rPr sz="2400" spc="-15" dirty="0"/>
              <a:t> </a:t>
            </a:r>
            <a:r>
              <a:rPr sz="2400" dirty="0"/>
              <a:t>there?</a:t>
            </a:r>
          </a:p>
          <a:p>
            <a:pPr marL="67945" algn="l">
              <a:lnSpc>
                <a:spcPct val="100000"/>
              </a:lnSpc>
              <a:spcBef>
                <a:spcPts val="5"/>
              </a:spcBef>
              <a:buFont typeface="Arial"/>
              <a:buAutoNum type="arabicPeriod"/>
            </a:pPr>
            <a:endParaRPr sz="2500" dirty="0"/>
          </a:p>
          <a:p>
            <a:pPr marL="620395" indent="-363855" algn="l">
              <a:lnSpc>
                <a:spcPct val="100000"/>
              </a:lnSpc>
              <a:buAutoNum type="arabicPeriod"/>
              <a:tabLst>
                <a:tab pos="621030" algn="l"/>
              </a:tabLst>
            </a:pPr>
            <a:r>
              <a:rPr sz="2400" dirty="0"/>
              <a:t>Name </a:t>
            </a:r>
            <a:r>
              <a:rPr sz="2400" spc="-20" dirty="0"/>
              <a:t>two</a:t>
            </a:r>
            <a:r>
              <a:rPr sz="2400" spc="35" dirty="0"/>
              <a:t> </a:t>
            </a:r>
            <a:r>
              <a:rPr sz="2400" spc="-5" dirty="0"/>
              <a:t>factors</a:t>
            </a:r>
            <a:r>
              <a:rPr sz="2400" dirty="0"/>
              <a:t> </a:t>
            </a:r>
            <a:r>
              <a:rPr sz="2400" spc="-10" dirty="0"/>
              <a:t>which</a:t>
            </a:r>
            <a:r>
              <a:rPr sz="2400" spc="35" dirty="0"/>
              <a:t> </a:t>
            </a:r>
            <a:r>
              <a:rPr sz="2400" dirty="0"/>
              <a:t>help</a:t>
            </a:r>
            <a:r>
              <a:rPr sz="2400" spc="-20" dirty="0"/>
              <a:t> </a:t>
            </a:r>
            <a:r>
              <a:rPr sz="2400" spc="-5" dirty="0"/>
              <a:t>prevent</a:t>
            </a:r>
            <a:r>
              <a:rPr sz="2400" spc="30" dirty="0"/>
              <a:t> </a:t>
            </a:r>
            <a:r>
              <a:rPr sz="2400" dirty="0"/>
              <a:t>patello-</a:t>
            </a:r>
          </a:p>
          <a:p>
            <a:pPr marL="620395" algn="l">
              <a:lnSpc>
                <a:spcPct val="100000"/>
              </a:lnSpc>
            </a:pPr>
            <a:r>
              <a:rPr sz="2400" dirty="0"/>
              <a:t>femoral</a:t>
            </a:r>
            <a:r>
              <a:rPr sz="2400" spc="-35" dirty="0"/>
              <a:t> </a:t>
            </a:r>
            <a:r>
              <a:rPr sz="2400" dirty="0"/>
              <a:t>dislocation.</a:t>
            </a:r>
          </a:p>
          <a:p>
            <a:pPr marL="67945" algn="l">
              <a:lnSpc>
                <a:spcPct val="100000"/>
              </a:lnSpc>
              <a:spcBef>
                <a:spcPts val="10"/>
              </a:spcBef>
            </a:pPr>
            <a:endParaRPr sz="2500" dirty="0"/>
          </a:p>
          <a:p>
            <a:pPr marL="620395" indent="-363855" algn="l">
              <a:lnSpc>
                <a:spcPct val="100000"/>
              </a:lnSpc>
              <a:buAutoNum type="arabicPeriod" startAt="3"/>
              <a:tabLst>
                <a:tab pos="621030" algn="l"/>
              </a:tabLst>
            </a:pPr>
            <a:r>
              <a:rPr sz="2400" spc="10" dirty="0"/>
              <a:t>What</a:t>
            </a:r>
            <a:r>
              <a:rPr sz="2400" spc="-80" dirty="0"/>
              <a:t> </a:t>
            </a:r>
            <a:r>
              <a:rPr sz="2400" spc="-5" dirty="0"/>
              <a:t>do</a:t>
            </a:r>
            <a:r>
              <a:rPr sz="2400" dirty="0"/>
              <a:t> </a:t>
            </a:r>
            <a:r>
              <a:rPr sz="2400" spc="-5" dirty="0"/>
              <a:t>the</a:t>
            </a:r>
            <a:r>
              <a:rPr sz="2400" dirty="0"/>
              <a:t> </a:t>
            </a:r>
            <a:r>
              <a:rPr sz="2400" spc="-5" dirty="0"/>
              <a:t>terms</a:t>
            </a:r>
            <a:r>
              <a:rPr sz="2400" dirty="0"/>
              <a:t> </a:t>
            </a:r>
            <a:r>
              <a:rPr sz="2400" spc="-5" dirty="0"/>
              <a:t>‘genu</a:t>
            </a:r>
            <a:r>
              <a:rPr sz="2400" spc="10" dirty="0"/>
              <a:t> </a:t>
            </a:r>
            <a:r>
              <a:rPr sz="2400" spc="-5" dirty="0"/>
              <a:t>valgum’</a:t>
            </a:r>
            <a:r>
              <a:rPr sz="2400" spc="-85" dirty="0"/>
              <a:t> </a:t>
            </a:r>
            <a:r>
              <a:rPr sz="2400" dirty="0"/>
              <a:t>and</a:t>
            </a:r>
            <a:r>
              <a:rPr sz="2400" spc="-25" dirty="0"/>
              <a:t> </a:t>
            </a:r>
            <a:r>
              <a:rPr sz="2400" dirty="0"/>
              <a:t>‘genu</a:t>
            </a:r>
            <a:r>
              <a:rPr sz="2400" spc="-5" dirty="0"/>
              <a:t> varus’</a:t>
            </a:r>
            <a:endParaRPr sz="2400" dirty="0"/>
          </a:p>
          <a:p>
            <a:pPr marL="620395" algn="l">
              <a:lnSpc>
                <a:spcPct val="100000"/>
              </a:lnSpc>
            </a:pPr>
            <a:r>
              <a:rPr sz="2400" dirty="0"/>
              <a:t>mean?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09656A-4EE5-45E5-90DF-9C8DA71D4DA9}"/>
              </a:ext>
            </a:extLst>
          </p:cNvPr>
          <p:cNvGrpSpPr/>
          <p:nvPr/>
        </p:nvGrpSpPr>
        <p:grpSpPr>
          <a:xfrm>
            <a:off x="8513297" y="0"/>
            <a:ext cx="3678703" cy="6858000"/>
            <a:chOff x="8513297" y="0"/>
            <a:chExt cx="3678703" cy="6858000"/>
          </a:xfrm>
        </p:grpSpPr>
        <p:pic>
          <p:nvPicPr>
            <p:cNvPr id="12" name="Picture 11" descr="A picture containing text, indoor, black, dark&#10;&#10;Description automatically generated">
              <a:extLst>
                <a:ext uri="{FF2B5EF4-FFF2-40B4-BE49-F238E27FC236}">
                  <a16:creationId xmlns:a16="http://schemas.microsoft.com/office/drawing/2014/main" id="{008342DB-E4A5-229D-56DE-A3CAAD052E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36" r="31466"/>
            <a:stretch/>
          </p:blipFill>
          <p:spPr>
            <a:xfrm>
              <a:off x="8513297" y="0"/>
              <a:ext cx="3672077" cy="68580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E3E793-5873-E43C-9179-85065E4E1011}"/>
                </a:ext>
              </a:extLst>
            </p:cNvPr>
            <p:cNvSpPr/>
            <p:nvPr/>
          </p:nvSpPr>
          <p:spPr>
            <a:xfrm>
              <a:off x="11353800" y="4038600"/>
              <a:ext cx="838200" cy="1066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494FC4-DD5A-B85B-E95B-F35533854E7D}"/>
              </a:ext>
            </a:extLst>
          </p:cNvPr>
          <p:cNvSpPr/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2770" y="375602"/>
            <a:ext cx="5972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185" dirty="0">
                <a:solidFill>
                  <a:schemeClr val="accent6"/>
                </a:solidFill>
              </a:rPr>
              <a:t>Part 2</a:t>
            </a:r>
            <a:endParaRPr spc="175" dirty="0">
              <a:solidFill>
                <a:schemeClr val="accent6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2000404"/>
            <a:ext cx="335280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Knee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Joint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2800" b="1" spc="-5" dirty="0">
                <a:solidFill>
                  <a:schemeClr val="accent6"/>
                </a:solidFill>
                <a:latin typeface="Arial"/>
                <a:cs typeface="Arial"/>
              </a:rPr>
              <a:t>Part</a:t>
            </a:r>
            <a:r>
              <a:rPr sz="2800" b="1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GB" sz="2800" b="1" spc="-5" dirty="0">
                <a:solidFill>
                  <a:schemeClr val="accent6"/>
                </a:solidFill>
                <a:latin typeface="Arial"/>
                <a:cs typeface="Arial"/>
              </a:rPr>
              <a:t>2</a:t>
            </a:r>
            <a:r>
              <a:rPr sz="2800" b="1" spc="-5" dirty="0">
                <a:solidFill>
                  <a:schemeClr val="accent6"/>
                </a:solidFill>
                <a:latin typeface="Arial"/>
                <a:cs typeface="Arial"/>
              </a:rPr>
              <a:t>:</a:t>
            </a:r>
            <a:r>
              <a:rPr sz="2800" b="1" spc="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endParaRPr lang="en-GB" sz="2800" b="1" spc="5" dirty="0">
              <a:solidFill>
                <a:schemeClr val="accent6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GB" sz="2800" b="1" spc="-15" dirty="0">
                <a:solidFill>
                  <a:srgbClr val="0070C0"/>
                </a:solidFill>
                <a:latin typeface="Arial"/>
                <a:cs typeface="Arial"/>
              </a:rPr>
              <a:t>Tibiofemoral Joints</a:t>
            </a:r>
            <a:endParaRPr sz="28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pic>
        <p:nvPicPr>
          <p:cNvPr id="12" name="Picture 11" descr="A picture containing indoor&#10;&#10;Description automatically generated">
            <a:extLst>
              <a:ext uri="{FF2B5EF4-FFF2-40B4-BE49-F238E27FC236}">
                <a16:creationId xmlns:a16="http://schemas.microsoft.com/office/drawing/2014/main" id="{9DE28E25-B0D1-B482-12D1-EA964ABED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016" y="1600200"/>
            <a:ext cx="2929707" cy="5257800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E234435C-2CB8-BA61-CCC6-DC1AC8F75B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0600" y="1774613"/>
            <a:ext cx="1883875" cy="491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45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7671" y="601662"/>
            <a:ext cx="47612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Tibiofemoral</a:t>
            </a:r>
            <a:r>
              <a:rPr spc="-55" dirty="0"/>
              <a:t> </a:t>
            </a:r>
            <a:r>
              <a:rPr spc="120" dirty="0"/>
              <a:t>Joints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3304" y="1765300"/>
            <a:ext cx="3785507" cy="494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456235-FB67-2787-2E2D-78782CE1D727}"/>
              </a:ext>
            </a:extLst>
          </p:cNvPr>
          <p:cNvSpPr txBox="1"/>
          <p:nvPr/>
        </p:nvSpPr>
        <p:spPr>
          <a:xfrm>
            <a:off x="695456" y="2258848"/>
            <a:ext cx="47147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Hinge - 2 articulations - med &amp; lat. Femoral condyles with tibial condyles. 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Condyles = Greek for knuckle. Tibial condyles misnamed because they are flat plateaus</a:t>
            </a: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1144" y="601662"/>
            <a:ext cx="3034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80" dirty="0"/>
              <a:t> </a:t>
            </a:r>
            <a:r>
              <a:rPr spc="145" dirty="0"/>
              <a:t>Menisci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1D7E14-6B86-3B56-B256-E15D9FEBE3FE}"/>
              </a:ext>
            </a:extLst>
          </p:cNvPr>
          <p:cNvSpPr txBox="1"/>
          <p:nvPr/>
        </p:nvSpPr>
        <p:spPr>
          <a:xfrm>
            <a:off x="304800" y="1752600"/>
            <a:ext cx="4276344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Fibrocartilaginous pads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Compensate for the incongruence of the articular surfaces of the TFJ.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Post &amp; ant horns attach to the sides of the tibial intercondylar eminence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Thicker around periphery - wedge shape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Med meniscus C-shaped,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is O-shaped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Med meniscus additionally attached to deep part of MCL (why can often injure both structures)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 anterior horns attached to each other by transverse genicular ligament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Between the anterior horns - attachment of ACL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Between posterior horns - PCL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FE7347-D5DD-B89C-72A6-6EC8AB958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397" y="2286000"/>
            <a:ext cx="7144043" cy="346539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9429" y="601662"/>
            <a:ext cx="60725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Functions</a:t>
            </a:r>
            <a:r>
              <a:rPr spc="-30" dirty="0"/>
              <a:t> </a:t>
            </a:r>
            <a:r>
              <a:rPr spc="100" dirty="0"/>
              <a:t>of</a:t>
            </a:r>
            <a:r>
              <a:rPr spc="-40" dirty="0"/>
              <a:t> </a:t>
            </a:r>
            <a:r>
              <a:rPr spc="240" dirty="0"/>
              <a:t>the</a:t>
            </a:r>
            <a:r>
              <a:rPr spc="-25" dirty="0"/>
              <a:t> </a:t>
            </a:r>
            <a:r>
              <a:rPr spc="140" dirty="0"/>
              <a:t>Menisci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3000" y="1676400"/>
            <a:ext cx="10551160" cy="5029200"/>
            <a:chOff x="907216" y="1704339"/>
            <a:chExt cx="10551160" cy="5029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216" y="1737597"/>
              <a:ext cx="4730927" cy="49953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3699" y="1704339"/>
              <a:ext cx="5984240" cy="50165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09FD7DE-1071-46C0-7576-05DD45361A54}"/>
              </a:ext>
            </a:extLst>
          </p:cNvPr>
          <p:cNvSpPr txBox="1"/>
          <p:nvPr/>
        </p:nvSpPr>
        <p:spPr>
          <a:xfrm>
            <a:off x="145720" y="5780782"/>
            <a:ext cx="328052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Increase congruency - stability</a:t>
            </a:r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Shock-absorbers</a:t>
            </a:r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Aid lubrication - synovial fluid</a:t>
            </a:r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1" y="1650007"/>
            <a:ext cx="4571999" cy="444599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02990" y="601662"/>
            <a:ext cx="49961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Tears</a:t>
            </a:r>
            <a:r>
              <a:rPr dirty="0"/>
              <a:t> </a:t>
            </a:r>
            <a:r>
              <a:rPr spc="100" dirty="0"/>
              <a:t>of</a:t>
            </a:r>
            <a:r>
              <a:rPr spc="-15" dirty="0"/>
              <a:t> </a:t>
            </a:r>
            <a:r>
              <a:rPr spc="240" dirty="0"/>
              <a:t>the</a:t>
            </a:r>
            <a:r>
              <a:rPr spc="-20" dirty="0"/>
              <a:t> </a:t>
            </a:r>
            <a:r>
              <a:rPr spc="145" dirty="0"/>
              <a:t>Menisci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9ADBF-47A5-2EB5-1814-D15F5AAD0F99}"/>
              </a:ext>
            </a:extLst>
          </p:cNvPr>
          <p:cNvSpPr txBox="1"/>
          <p:nvPr/>
        </p:nvSpPr>
        <p:spPr>
          <a:xfrm>
            <a:off x="274320" y="2130961"/>
            <a:ext cx="3124200" cy="3949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Common, as menisci are subject to great forces placed upon them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 diff types of tear - can be along longitudinal, horizontal or radial axis</a:t>
            </a: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 meniscus is freer to move than med (not bound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.) so is less likely to be torn as can adapt to excessive forces. (Med attached to deep MCL)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4B28C-547E-1AD7-BE55-7255B1B6C6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72"/>
          <a:stretch/>
        </p:blipFill>
        <p:spPr>
          <a:xfrm>
            <a:off x="7467600" y="3587237"/>
            <a:ext cx="4450080" cy="309296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53440" y="533400"/>
            <a:ext cx="10363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lang="en-US" spc="155" dirty="0"/>
              <a:t>Bucket-handle</a:t>
            </a:r>
            <a:r>
              <a:rPr spc="-80" dirty="0"/>
              <a:t> </a:t>
            </a:r>
            <a:r>
              <a:rPr spc="165" dirty="0"/>
              <a:t>Tear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5453A-EDF8-306A-A0B7-D833D9B6B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457" y="3327409"/>
            <a:ext cx="5521182" cy="27633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F8B8F0-82CF-9629-2078-4A1311AD95B9}"/>
              </a:ext>
            </a:extLst>
          </p:cNvPr>
          <p:cNvSpPr txBox="1"/>
          <p:nvPr/>
        </p:nvSpPr>
        <p:spPr>
          <a:xfrm>
            <a:off x="381000" y="2190428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common tear = bucket handle tear - leaves a medial segment which can flip over - gets in the way of articulations &amp; knee may not fully extend.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D0982422-3121-E295-A065-4AC268E503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250" y="3464494"/>
            <a:ext cx="2485464" cy="2489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941FE8-75B4-0B54-FECA-1B5D0D369B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25"/>
          <a:stretch/>
        </p:blipFill>
        <p:spPr>
          <a:xfrm>
            <a:off x="9144000" y="3362825"/>
            <a:ext cx="2295768" cy="274319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0370" y="601662"/>
            <a:ext cx="62706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Red</a:t>
            </a:r>
            <a:r>
              <a:rPr spc="-20" dirty="0"/>
              <a:t> </a:t>
            </a:r>
            <a:r>
              <a:rPr spc="220" dirty="0"/>
              <a:t>Zones</a:t>
            </a:r>
            <a:r>
              <a:rPr spc="-15" dirty="0"/>
              <a:t> </a:t>
            </a:r>
            <a:r>
              <a:rPr spc="100" dirty="0"/>
              <a:t>of</a:t>
            </a:r>
            <a:r>
              <a:rPr spc="-10" dirty="0"/>
              <a:t> </a:t>
            </a:r>
            <a:r>
              <a:rPr spc="240" dirty="0"/>
              <a:t>the</a:t>
            </a:r>
            <a:r>
              <a:rPr spc="-30" dirty="0"/>
              <a:t> </a:t>
            </a:r>
            <a:r>
              <a:rPr spc="140" dirty="0"/>
              <a:t>Menisci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7052" y="1844040"/>
            <a:ext cx="6270625" cy="4625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897816-5D4F-6992-7095-EDF791B36260}"/>
              </a:ext>
            </a:extLst>
          </p:cNvPr>
          <p:cNvSpPr txBox="1"/>
          <p:nvPr/>
        </p:nvSpPr>
        <p:spPr>
          <a:xfrm>
            <a:off x="457200" y="2073488"/>
            <a:ext cx="3429000" cy="201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 relationship between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vascularisation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&amp; capacity to heal.</a:t>
            </a:r>
          </a:p>
          <a:p>
            <a:pPr>
              <a:spcAft>
                <a:spcPts val="10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000"/>
              </a:spcAft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 zone more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vascularised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so heals better.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890" y="1430337"/>
            <a:ext cx="12179300" cy="5427980"/>
            <a:chOff x="0" y="1430019"/>
            <a:chExt cx="12179300" cy="542798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9079" y="1432559"/>
              <a:ext cx="3893820" cy="54254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8670" y="1990089"/>
              <a:ext cx="972819" cy="914400"/>
            </a:xfrm>
            <a:custGeom>
              <a:avLst/>
              <a:gdLst/>
              <a:ahLst/>
              <a:cxnLst/>
              <a:rect l="l" t="t" r="r" b="b"/>
              <a:pathLst>
                <a:path w="972819" h="914400">
                  <a:moveTo>
                    <a:pt x="972820" y="467360"/>
                  </a:moveTo>
                  <a:lnTo>
                    <a:pt x="909320" y="435610"/>
                  </a:lnTo>
                  <a:lnTo>
                    <a:pt x="782320" y="372110"/>
                  </a:lnTo>
                  <a:lnTo>
                    <a:pt x="782320" y="435610"/>
                  </a:lnTo>
                  <a:lnTo>
                    <a:pt x="514350" y="435610"/>
                  </a:lnTo>
                  <a:lnTo>
                    <a:pt x="514350" y="190500"/>
                  </a:lnTo>
                  <a:lnTo>
                    <a:pt x="577850" y="190500"/>
                  </a:lnTo>
                  <a:lnTo>
                    <a:pt x="561975" y="158750"/>
                  </a:lnTo>
                  <a:lnTo>
                    <a:pt x="482600" y="0"/>
                  </a:lnTo>
                  <a:lnTo>
                    <a:pt x="387350" y="190500"/>
                  </a:lnTo>
                  <a:lnTo>
                    <a:pt x="450850" y="190500"/>
                  </a:lnTo>
                  <a:lnTo>
                    <a:pt x="450850" y="435610"/>
                  </a:lnTo>
                  <a:lnTo>
                    <a:pt x="190500" y="435610"/>
                  </a:lnTo>
                  <a:lnTo>
                    <a:pt x="190500" y="372110"/>
                  </a:lnTo>
                  <a:lnTo>
                    <a:pt x="0" y="467360"/>
                  </a:lnTo>
                  <a:lnTo>
                    <a:pt x="190500" y="562610"/>
                  </a:lnTo>
                  <a:lnTo>
                    <a:pt x="190500" y="499110"/>
                  </a:lnTo>
                  <a:lnTo>
                    <a:pt x="450850" y="499110"/>
                  </a:lnTo>
                  <a:lnTo>
                    <a:pt x="450850" y="723900"/>
                  </a:lnTo>
                  <a:lnTo>
                    <a:pt x="387350" y="723900"/>
                  </a:lnTo>
                  <a:lnTo>
                    <a:pt x="482600" y="914400"/>
                  </a:lnTo>
                  <a:lnTo>
                    <a:pt x="561975" y="755650"/>
                  </a:lnTo>
                  <a:lnTo>
                    <a:pt x="577850" y="723900"/>
                  </a:lnTo>
                  <a:lnTo>
                    <a:pt x="514350" y="723900"/>
                  </a:lnTo>
                  <a:lnTo>
                    <a:pt x="514350" y="499110"/>
                  </a:lnTo>
                  <a:lnTo>
                    <a:pt x="782320" y="499110"/>
                  </a:lnTo>
                  <a:lnTo>
                    <a:pt x="782320" y="562610"/>
                  </a:lnTo>
                  <a:lnTo>
                    <a:pt x="909320" y="499110"/>
                  </a:lnTo>
                  <a:lnTo>
                    <a:pt x="972820" y="467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9190" y="601662"/>
            <a:ext cx="48361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Tibio-Femoral</a:t>
            </a:r>
            <a:r>
              <a:rPr spc="-30" dirty="0"/>
              <a:t> </a:t>
            </a:r>
            <a:r>
              <a:rPr spc="114" dirty="0"/>
              <a:t>Joint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8082" y="1536128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2047" y="2915602"/>
            <a:ext cx="3219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1401" y="2202179"/>
            <a:ext cx="262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P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8307" y="2202179"/>
            <a:ext cx="262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82640" y="1404619"/>
            <a:ext cx="5761990" cy="5453380"/>
            <a:chOff x="5882640" y="1404619"/>
            <a:chExt cx="5761990" cy="545338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82640" y="1404619"/>
              <a:ext cx="4442459" cy="545337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671810" y="1995169"/>
              <a:ext cx="972819" cy="914400"/>
            </a:xfrm>
            <a:custGeom>
              <a:avLst/>
              <a:gdLst/>
              <a:ahLst/>
              <a:cxnLst/>
              <a:rect l="l" t="t" r="r" b="b"/>
              <a:pathLst>
                <a:path w="972820" h="914400">
                  <a:moveTo>
                    <a:pt x="972820" y="467360"/>
                  </a:moveTo>
                  <a:lnTo>
                    <a:pt x="909320" y="435610"/>
                  </a:lnTo>
                  <a:lnTo>
                    <a:pt x="782320" y="372110"/>
                  </a:lnTo>
                  <a:lnTo>
                    <a:pt x="782320" y="435610"/>
                  </a:lnTo>
                  <a:lnTo>
                    <a:pt x="516890" y="435610"/>
                  </a:lnTo>
                  <a:lnTo>
                    <a:pt x="516890" y="190500"/>
                  </a:lnTo>
                  <a:lnTo>
                    <a:pt x="580390" y="190500"/>
                  </a:lnTo>
                  <a:lnTo>
                    <a:pt x="564515" y="158750"/>
                  </a:lnTo>
                  <a:lnTo>
                    <a:pt x="485140" y="0"/>
                  </a:lnTo>
                  <a:lnTo>
                    <a:pt x="389890" y="190500"/>
                  </a:lnTo>
                  <a:lnTo>
                    <a:pt x="453390" y="190500"/>
                  </a:lnTo>
                  <a:lnTo>
                    <a:pt x="453390" y="435610"/>
                  </a:lnTo>
                  <a:lnTo>
                    <a:pt x="190500" y="435610"/>
                  </a:lnTo>
                  <a:lnTo>
                    <a:pt x="190500" y="372110"/>
                  </a:lnTo>
                  <a:lnTo>
                    <a:pt x="0" y="467360"/>
                  </a:lnTo>
                  <a:lnTo>
                    <a:pt x="190500" y="562610"/>
                  </a:lnTo>
                  <a:lnTo>
                    <a:pt x="190500" y="499110"/>
                  </a:lnTo>
                  <a:lnTo>
                    <a:pt x="453390" y="499110"/>
                  </a:lnTo>
                  <a:lnTo>
                    <a:pt x="453390" y="723900"/>
                  </a:lnTo>
                  <a:lnTo>
                    <a:pt x="389890" y="723900"/>
                  </a:lnTo>
                  <a:lnTo>
                    <a:pt x="485140" y="914400"/>
                  </a:lnTo>
                  <a:lnTo>
                    <a:pt x="564515" y="755650"/>
                  </a:lnTo>
                  <a:lnTo>
                    <a:pt x="580390" y="723900"/>
                  </a:lnTo>
                  <a:lnTo>
                    <a:pt x="516890" y="723900"/>
                  </a:lnTo>
                  <a:lnTo>
                    <a:pt x="516890" y="499110"/>
                  </a:lnTo>
                  <a:lnTo>
                    <a:pt x="782320" y="499110"/>
                  </a:lnTo>
                  <a:lnTo>
                    <a:pt x="782320" y="562610"/>
                  </a:lnTo>
                  <a:lnTo>
                    <a:pt x="909320" y="499110"/>
                  </a:lnTo>
                  <a:lnTo>
                    <a:pt x="972820" y="467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053826" y="1540128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27791" y="2919729"/>
            <a:ext cx="3219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96954" y="2205291"/>
            <a:ext cx="2628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14051" y="2205291"/>
            <a:ext cx="2628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P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77540" y="2009139"/>
            <a:ext cx="5458460" cy="1567815"/>
          </a:xfrm>
          <a:custGeom>
            <a:avLst/>
            <a:gdLst/>
            <a:ahLst/>
            <a:cxnLst/>
            <a:rect l="l" t="t" r="r" b="b"/>
            <a:pathLst>
              <a:path w="5458459" h="1567814">
                <a:moveTo>
                  <a:pt x="1727200" y="783336"/>
                </a:moveTo>
                <a:lnTo>
                  <a:pt x="1710690" y="570103"/>
                </a:lnTo>
                <a:lnTo>
                  <a:pt x="1606169" y="327660"/>
                </a:lnTo>
                <a:lnTo>
                  <a:pt x="1369187" y="95885"/>
                </a:lnTo>
                <a:lnTo>
                  <a:pt x="1318094" y="92684"/>
                </a:lnTo>
                <a:lnTo>
                  <a:pt x="1199159" y="77838"/>
                </a:lnTo>
                <a:lnTo>
                  <a:pt x="1148080" y="74549"/>
                </a:lnTo>
                <a:lnTo>
                  <a:pt x="735330" y="0"/>
                </a:lnTo>
                <a:lnTo>
                  <a:pt x="702183" y="18415"/>
                </a:lnTo>
                <a:lnTo>
                  <a:pt x="370840" y="202565"/>
                </a:lnTo>
                <a:lnTo>
                  <a:pt x="94361" y="397510"/>
                </a:lnTo>
                <a:lnTo>
                  <a:pt x="0" y="681482"/>
                </a:lnTo>
                <a:lnTo>
                  <a:pt x="55499" y="972185"/>
                </a:lnTo>
                <a:lnTo>
                  <a:pt x="354330" y="1185545"/>
                </a:lnTo>
                <a:lnTo>
                  <a:pt x="718820" y="1351280"/>
                </a:lnTo>
                <a:lnTo>
                  <a:pt x="1083183" y="1329055"/>
                </a:lnTo>
                <a:lnTo>
                  <a:pt x="1447673" y="1302893"/>
                </a:lnTo>
                <a:lnTo>
                  <a:pt x="1650873" y="1221486"/>
                </a:lnTo>
                <a:lnTo>
                  <a:pt x="1727200" y="783336"/>
                </a:lnTo>
                <a:close/>
              </a:path>
              <a:path w="5458459" h="1567814">
                <a:moveTo>
                  <a:pt x="5458460" y="1127506"/>
                </a:moveTo>
                <a:lnTo>
                  <a:pt x="5436108" y="755650"/>
                </a:lnTo>
                <a:lnTo>
                  <a:pt x="5442585" y="446786"/>
                </a:lnTo>
                <a:lnTo>
                  <a:pt x="5371973" y="276860"/>
                </a:lnTo>
                <a:lnTo>
                  <a:pt x="5097780" y="109982"/>
                </a:lnTo>
                <a:lnTo>
                  <a:pt x="4717034" y="54610"/>
                </a:lnTo>
                <a:lnTo>
                  <a:pt x="4137660" y="17780"/>
                </a:lnTo>
                <a:lnTo>
                  <a:pt x="3674110" y="36195"/>
                </a:lnTo>
                <a:lnTo>
                  <a:pt x="3359531" y="17780"/>
                </a:lnTo>
                <a:lnTo>
                  <a:pt x="3227070" y="312928"/>
                </a:lnTo>
                <a:lnTo>
                  <a:pt x="3210560" y="589534"/>
                </a:lnTo>
                <a:lnTo>
                  <a:pt x="3276727" y="921639"/>
                </a:lnTo>
                <a:lnTo>
                  <a:pt x="3359531" y="1235202"/>
                </a:lnTo>
                <a:lnTo>
                  <a:pt x="3442335" y="1382776"/>
                </a:lnTo>
                <a:lnTo>
                  <a:pt x="3425825" y="1290447"/>
                </a:lnTo>
                <a:lnTo>
                  <a:pt x="3574796" y="1364234"/>
                </a:lnTo>
                <a:lnTo>
                  <a:pt x="3872738" y="1382776"/>
                </a:lnTo>
                <a:lnTo>
                  <a:pt x="4468749" y="1530350"/>
                </a:lnTo>
                <a:lnTo>
                  <a:pt x="4948809" y="1548765"/>
                </a:lnTo>
                <a:lnTo>
                  <a:pt x="5362575" y="1567192"/>
                </a:lnTo>
                <a:lnTo>
                  <a:pt x="5443982" y="1433322"/>
                </a:lnTo>
                <a:lnTo>
                  <a:pt x="5458460" y="1127506"/>
                </a:lnTo>
                <a:close/>
              </a:path>
            </a:pathLst>
          </a:custGeom>
          <a:solidFill>
            <a:srgbClr val="FF0000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99740" y="4229099"/>
            <a:ext cx="6281420" cy="2225040"/>
          </a:xfrm>
          <a:custGeom>
            <a:avLst/>
            <a:gdLst/>
            <a:ahLst/>
            <a:cxnLst/>
            <a:rect l="l" t="t" r="r" b="b"/>
            <a:pathLst>
              <a:path w="6281420" h="2225040">
                <a:moveTo>
                  <a:pt x="1874520" y="896493"/>
                </a:moveTo>
                <a:lnTo>
                  <a:pt x="1741932" y="693674"/>
                </a:lnTo>
                <a:lnTo>
                  <a:pt x="1526540" y="527685"/>
                </a:lnTo>
                <a:lnTo>
                  <a:pt x="1327658" y="527685"/>
                </a:lnTo>
                <a:lnTo>
                  <a:pt x="1012825" y="509270"/>
                </a:lnTo>
                <a:lnTo>
                  <a:pt x="780923" y="472440"/>
                </a:lnTo>
                <a:lnTo>
                  <a:pt x="565531" y="490855"/>
                </a:lnTo>
                <a:lnTo>
                  <a:pt x="254254" y="489966"/>
                </a:lnTo>
                <a:lnTo>
                  <a:pt x="0" y="905002"/>
                </a:lnTo>
                <a:lnTo>
                  <a:pt x="50419" y="1326007"/>
                </a:lnTo>
                <a:lnTo>
                  <a:pt x="350012" y="1826793"/>
                </a:lnTo>
                <a:lnTo>
                  <a:pt x="930021" y="2054860"/>
                </a:lnTo>
                <a:lnTo>
                  <a:pt x="1410589" y="1965667"/>
                </a:lnTo>
                <a:lnTo>
                  <a:pt x="1741932" y="1707578"/>
                </a:lnTo>
                <a:lnTo>
                  <a:pt x="1874520" y="1375752"/>
                </a:lnTo>
                <a:lnTo>
                  <a:pt x="1874520" y="896493"/>
                </a:lnTo>
                <a:close/>
              </a:path>
              <a:path w="6281420" h="2225040">
                <a:moveTo>
                  <a:pt x="6281420" y="680085"/>
                </a:moveTo>
                <a:lnTo>
                  <a:pt x="6238240" y="344297"/>
                </a:lnTo>
                <a:lnTo>
                  <a:pt x="6121908" y="121031"/>
                </a:lnTo>
                <a:lnTo>
                  <a:pt x="5927217" y="0"/>
                </a:lnTo>
                <a:lnTo>
                  <a:pt x="5875210" y="2336"/>
                </a:lnTo>
                <a:lnTo>
                  <a:pt x="5820016" y="7874"/>
                </a:lnTo>
                <a:lnTo>
                  <a:pt x="5763768" y="14490"/>
                </a:lnTo>
                <a:lnTo>
                  <a:pt x="5708574" y="20027"/>
                </a:lnTo>
                <a:lnTo>
                  <a:pt x="5656580" y="22352"/>
                </a:lnTo>
                <a:lnTo>
                  <a:pt x="5407533" y="270637"/>
                </a:lnTo>
                <a:lnTo>
                  <a:pt x="5324729" y="325882"/>
                </a:lnTo>
                <a:lnTo>
                  <a:pt x="5026660" y="473456"/>
                </a:lnTo>
                <a:lnTo>
                  <a:pt x="4761738" y="639318"/>
                </a:lnTo>
                <a:lnTo>
                  <a:pt x="4463669" y="805307"/>
                </a:lnTo>
                <a:lnTo>
                  <a:pt x="4115943" y="879094"/>
                </a:lnTo>
                <a:lnTo>
                  <a:pt x="3801237" y="915924"/>
                </a:lnTo>
                <a:lnTo>
                  <a:pt x="3585959" y="952754"/>
                </a:lnTo>
                <a:lnTo>
                  <a:pt x="3453511" y="1008126"/>
                </a:lnTo>
                <a:lnTo>
                  <a:pt x="3354197" y="1155573"/>
                </a:lnTo>
                <a:lnTo>
                  <a:pt x="3304540" y="1561261"/>
                </a:lnTo>
                <a:lnTo>
                  <a:pt x="3387344" y="1966899"/>
                </a:lnTo>
                <a:lnTo>
                  <a:pt x="3470148" y="2206599"/>
                </a:lnTo>
                <a:lnTo>
                  <a:pt x="3585959" y="2225040"/>
                </a:lnTo>
                <a:lnTo>
                  <a:pt x="3966845" y="2225040"/>
                </a:lnTo>
                <a:lnTo>
                  <a:pt x="4231767" y="2206599"/>
                </a:lnTo>
                <a:lnTo>
                  <a:pt x="4447032" y="2040661"/>
                </a:lnTo>
                <a:lnTo>
                  <a:pt x="4827905" y="1948472"/>
                </a:lnTo>
                <a:lnTo>
                  <a:pt x="5225288" y="1874710"/>
                </a:lnTo>
                <a:lnTo>
                  <a:pt x="5490210" y="1764080"/>
                </a:lnTo>
                <a:lnTo>
                  <a:pt x="5722112" y="1561261"/>
                </a:lnTo>
                <a:lnTo>
                  <a:pt x="5937377" y="1413764"/>
                </a:lnTo>
                <a:lnTo>
                  <a:pt x="6069838" y="1192530"/>
                </a:lnTo>
                <a:lnTo>
                  <a:pt x="6192139" y="942086"/>
                </a:lnTo>
                <a:lnTo>
                  <a:pt x="6281420" y="680085"/>
                </a:lnTo>
                <a:close/>
              </a:path>
            </a:pathLst>
          </a:custGeom>
          <a:solidFill>
            <a:srgbClr val="00AF50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084A11-7671-598C-33DB-BCB8293EFE2D}"/>
              </a:ext>
            </a:extLst>
          </p:cNvPr>
          <p:cNvSpPr txBox="1"/>
          <p:nvPr/>
        </p:nvSpPr>
        <p:spPr>
          <a:xfrm>
            <a:off x="213550" y="4953000"/>
            <a:ext cx="2326449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Joint is fully flexed and pulled apart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most anterior part of the fem condyle is reserved for the patella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697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9190" y="601662"/>
            <a:ext cx="48361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Tibio-Femoral</a:t>
            </a:r>
            <a:r>
              <a:rPr spc="-30" dirty="0"/>
              <a:t> </a:t>
            </a:r>
            <a:r>
              <a:rPr spc="114" dirty="0"/>
              <a:t>Joint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6FF073-06CE-CA63-CC8E-50FA876BF445}"/>
              </a:ext>
            </a:extLst>
          </p:cNvPr>
          <p:cNvGrpSpPr/>
          <p:nvPr/>
        </p:nvGrpSpPr>
        <p:grpSpPr>
          <a:xfrm>
            <a:off x="5715000" y="1883920"/>
            <a:ext cx="5966853" cy="3714465"/>
            <a:chOff x="3873944" y="2028648"/>
            <a:chExt cx="6869884" cy="427661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3944" y="2067877"/>
              <a:ext cx="3041159" cy="42373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4171" y="2028648"/>
              <a:ext cx="3469657" cy="425920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61428" y="2500791"/>
              <a:ext cx="4263177" cy="1224498"/>
            </a:xfrm>
            <a:custGeom>
              <a:avLst/>
              <a:gdLst/>
              <a:ahLst/>
              <a:cxnLst/>
              <a:rect l="l" t="t" r="r" b="b"/>
              <a:pathLst>
                <a:path w="5458459" h="1567814">
                  <a:moveTo>
                    <a:pt x="1727200" y="783336"/>
                  </a:moveTo>
                  <a:lnTo>
                    <a:pt x="1710690" y="570103"/>
                  </a:lnTo>
                  <a:lnTo>
                    <a:pt x="1606169" y="327660"/>
                  </a:lnTo>
                  <a:lnTo>
                    <a:pt x="1369187" y="95885"/>
                  </a:lnTo>
                  <a:lnTo>
                    <a:pt x="1318094" y="92684"/>
                  </a:lnTo>
                  <a:lnTo>
                    <a:pt x="1199159" y="77838"/>
                  </a:lnTo>
                  <a:lnTo>
                    <a:pt x="1148080" y="74549"/>
                  </a:lnTo>
                  <a:lnTo>
                    <a:pt x="735330" y="0"/>
                  </a:lnTo>
                  <a:lnTo>
                    <a:pt x="702183" y="18415"/>
                  </a:lnTo>
                  <a:lnTo>
                    <a:pt x="370840" y="202565"/>
                  </a:lnTo>
                  <a:lnTo>
                    <a:pt x="94361" y="397510"/>
                  </a:lnTo>
                  <a:lnTo>
                    <a:pt x="0" y="681482"/>
                  </a:lnTo>
                  <a:lnTo>
                    <a:pt x="55499" y="972185"/>
                  </a:lnTo>
                  <a:lnTo>
                    <a:pt x="354330" y="1185545"/>
                  </a:lnTo>
                  <a:lnTo>
                    <a:pt x="718820" y="1351280"/>
                  </a:lnTo>
                  <a:lnTo>
                    <a:pt x="1083183" y="1329055"/>
                  </a:lnTo>
                  <a:lnTo>
                    <a:pt x="1447673" y="1302893"/>
                  </a:lnTo>
                  <a:lnTo>
                    <a:pt x="1650873" y="1221486"/>
                  </a:lnTo>
                  <a:lnTo>
                    <a:pt x="1727200" y="783336"/>
                  </a:lnTo>
                  <a:close/>
                </a:path>
                <a:path w="5458459" h="1567814">
                  <a:moveTo>
                    <a:pt x="5458460" y="1127506"/>
                  </a:moveTo>
                  <a:lnTo>
                    <a:pt x="5436108" y="755650"/>
                  </a:lnTo>
                  <a:lnTo>
                    <a:pt x="5442585" y="446786"/>
                  </a:lnTo>
                  <a:lnTo>
                    <a:pt x="5371973" y="276860"/>
                  </a:lnTo>
                  <a:lnTo>
                    <a:pt x="5097780" y="109982"/>
                  </a:lnTo>
                  <a:lnTo>
                    <a:pt x="4717034" y="54610"/>
                  </a:lnTo>
                  <a:lnTo>
                    <a:pt x="4137660" y="17780"/>
                  </a:lnTo>
                  <a:lnTo>
                    <a:pt x="3674110" y="36195"/>
                  </a:lnTo>
                  <a:lnTo>
                    <a:pt x="3359531" y="17780"/>
                  </a:lnTo>
                  <a:lnTo>
                    <a:pt x="3227070" y="312928"/>
                  </a:lnTo>
                  <a:lnTo>
                    <a:pt x="3210560" y="589534"/>
                  </a:lnTo>
                  <a:lnTo>
                    <a:pt x="3276727" y="921639"/>
                  </a:lnTo>
                  <a:lnTo>
                    <a:pt x="3359531" y="1235202"/>
                  </a:lnTo>
                  <a:lnTo>
                    <a:pt x="3442335" y="1382776"/>
                  </a:lnTo>
                  <a:lnTo>
                    <a:pt x="3425825" y="1290447"/>
                  </a:lnTo>
                  <a:lnTo>
                    <a:pt x="3574796" y="1364234"/>
                  </a:lnTo>
                  <a:lnTo>
                    <a:pt x="3872738" y="1382776"/>
                  </a:lnTo>
                  <a:lnTo>
                    <a:pt x="4468749" y="1530350"/>
                  </a:lnTo>
                  <a:lnTo>
                    <a:pt x="4948809" y="1548765"/>
                  </a:lnTo>
                  <a:lnTo>
                    <a:pt x="5362575" y="1567192"/>
                  </a:lnTo>
                  <a:lnTo>
                    <a:pt x="5443982" y="1433322"/>
                  </a:lnTo>
                  <a:lnTo>
                    <a:pt x="5458460" y="1127506"/>
                  </a:lnTo>
                  <a:close/>
                </a:path>
              </a:pathLst>
            </a:custGeom>
            <a:solidFill>
              <a:srgbClr val="FF0000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22563" y="4234629"/>
              <a:ext cx="4905927" cy="1737805"/>
            </a:xfrm>
            <a:custGeom>
              <a:avLst/>
              <a:gdLst/>
              <a:ahLst/>
              <a:cxnLst/>
              <a:rect l="l" t="t" r="r" b="b"/>
              <a:pathLst>
                <a:path w="6281420" h="2225040">
                  <a:moveTo>
                    <a:pt x="1874520" y="896493"/>
                  </a:moveTo>
                  <a:lnTo>
                    <a:pt x="1741932" y="693674"/>
                  </a:lnTo>
                  <a:lnTo>
                    <a:pt x="1526540" y="527685"/>
                  </a:lnTo>
                  <a:lnTo>
                    <a:pt x="1327658" y="527685"/>
                  </a:lnTo>
                  <a:lnTo>
                    <a:pt x="1012825" y="509270"/>
                  </a:lnTo>
                  <a:lnTo>
                    <a:pt x="780923" y="472440"/>
                  </a:lnTo>
                  <a:lnTo>
                    <a:pt x="565531" y="490855"/>
                  </a:lnTo>
                  <a:lnTo>
                    <a:pt x="254254" y="489966"/>
                  </a:lnTo>
                  <a:lnTo>
                    <a:pt x="0" y="905002"/>
                  </a:lnTo>
                  <a:lnTo>
                    <a:pt x="50419" y="1326007"/>
                  </a:lnTo>
                  <a:lnTo>
                    <a:pt x="350012" y="1826793"/>
                  </a:lnTo>
                  <a:lnTo>
                    <a:pt x="930021" y="2054860"/>
                  </a:lnTo>
                  <a:lnTo>
                    <a:pt x="1410589" y="1965667"/>
                  </a:lnTo>
                  <a:lnTo>
                    <a:pt x="1741932" y="1707578"/>
                  </a:lnTo>
                  <a:lnTo>
                    <a:pt x="1874520" y="1375752"/>
                  </a:lnTo>
                  <a:lnTo>
                    <a:pt x="1874520" y="896493"/>
                  </a:lnTo>
                  <a:close/>
                </a:path>
                <a:path w="6281420" h="2225040">
                  <a:moveTo>
                    <a:pt x="6281420" y="680085"/>
                  </a:moveTo>
                  <a:lnTo>
                    <a:pt x="6238240" y="344297"/>
                  </a:lnTo>
                  <a:lnTo>
                    <a:pt x="6121908" y="121031"/>
                  </a:lnTo>
                  <a:lnTo>
                    <a:pt x="5927217" y="0"/>
                  </a:lnTo>
                  <a:lnTo>
                    <a:pt x="5875210" y="2336"/>
                  </a:lnTo>
                  <a:lnTo>
                    <a:pt x="5820016" y="7874"/>
                  </a:lnTo>
                  <a:lnTo>
                    <a:pt x="5763768" y="14490"/>
                  </a:lnTo>
                  <a:lnTo>
                    <a:pt x="5708574" y="20027"/>
                  </a:lnTo>
                  <a:lnTo>
                    <a:pt x="5656580" y="22352"/>
                  </a:lnTo>
                  <a:lnTo>
                    <a:pt x="5407533" y="270637"/>
                  </a:lnTo>
                  <a:lnTo>
                    <a:pt x="5324729" y="325882"/>
                  </a:lnTo>
                  <a:lnTo>
                    <a:pt x="5026660" y="473456"/>
                  </a:lnTo>
                  <a:lnTo>
                    <a:pt x="4761738" y="639318"/>
                  </a:lnTo>
                  <a:lnTo>
                    <a:pt x="4463669" y="805307"/>
                  </a:lnTo>
                  <a:lnTo>
                    <a:pt x="4115943" y="879094"/>
                  </a:lnTo>
                  <a:lnTo>
                    <a:pt x="3801237" y="915924"/>
                  </a:lnTo>
                  <a:lnTo>
                    <a:pt x="3585959" y="952754"/>
                  </a:lnTo>
                  <a:lnTo>
                    <a:pt x="3453511" y="1008126"/>
                  </a:lnTo>
                  <a:lnTo>
                    <a:pt x="3354197" y="1155573"/>
                  </a:lnTo>
                  <a:lnTo>
                    <a:pt x="3304540" y="1561261"/>
                  </a:lnTo>
                  <a:lnTo>
                    <a:pt x="3387344" y="1966899"/>
                  </a:lnTo>
                  <a:lnTo>
                    <a:pt x="3470148" y="2206599"/>
                  </a:lnTo>
                  <a:lnTo>
                    <a:pt x="3585959" y="2225040"/>
                  </a:lnTo>
                  <a:lnTo>
                    <a:pt x="3966845" y="2225040"/>
                  </a:lnTo>
                  <a:lnTo>
                    <a:pt x="4231767" y="2206599"/>
                  </a:lnTo>
                  <a:lnTo>
                    <a:pt x="4447032" y="2040661"/>
                  </a:lnTo>
                  <a:lnTo>
                    <a:pt x="4827905" y="1948472"/>
                  </a:lnTo>
                  <a:lnTo>
                    <a:pt x="5225288" y="1874710"/>
                  </a:lnTo>
                  <a:lnTo>
                    <a:pt x="5490210" y="1764080"/>
                  </a:lnTo>
                  <a:lnTo>
                    <a:pt x="5722112" y="1561261"/>
                  </a:lnTo>
                  <a:lnTo>
                    <a:pt x="5937377" y="1413764"/>
                  </a:lnTo>
                  <a:lnTo>
                    <a:pt x="6069838" y="1192530"/>
                  </a:lnTo>
                  <a:lnTo>
                    <a:pt x="6192139" y="942086"/>
                  </a:lnTo>
                  <a:lnTo>
                    <a:pt x="6281420" y="680085"/>
                  </a:lnTo>
                  <a:close/>
                </a:path>
              </a:pathLst>
            </a:custGeom>
            <a:solidFill>
              <a:srgbClr val="00AF50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9B42ADA-4610-9FE6-25E2-05F672776375}"/>
              </a:ext>
            </a:extLst>
          </p:cNvPr>
          <p:cNvSpPr txBox="1"/>
          <p:nvPr/>
        </p:nvSpPr>
        <p:spPr>
          <a:xfrm>
            <a:off x="361573" y="1905000"/>
            <a:ext cx="469312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During walking, to move from flexion to extension there is a combination of rolling and gliding within this joint</a:t>
            </a:r>
          </a:p>
          <a:p>
            <a:pPr marL="742950" lvl="1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GB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 lateral side (orange) uses up its articular surface quicker than the medial (green) side </a:t>
            </a:r>
          </a:p>
          <a:p>
            <a:pPr marL="742950" lvl="1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medial continues into extension until its surface is used up </a:t>
            </a:r>
          </a:p>
          <a:p>
            <a:pPr marL="742950" lvl="1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causes medial rotation of the femur on the tibia in the final 15° of extension </a:t>
            </a:r>
          </a:p>
          <a:p>
            <a:pPr marL="742950" lvl="1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rotation causes tightening of all the ligaments </a:t>
            </a:r>
          </a:p>
          <a:p>
            <a:pPr marL="742950" lvl="1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joint becomes solid and stable = </a:t>
            </a:r>
            <a:r>
              <a:rPr lang="en-GB" sz="16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close-packed position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5859AA7-8FFF-086B-2BF8-9A90E4705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702" y="5598385"/>
            <a:ext cx="660400" cy="6731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38334B2-C64E-7B76-AF3D-0B535F0C55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010" y="5586637"/>
            <a:ext cx="661054" cy="6965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1384" y="601662"/>
            <a:ext cx="42748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Popliteus</a:t>
            </a:r>
            <a:r>
              <a:rPr spc="-70" dirty="0"/>
              <a:t> </a:t>
            </a:r>
            <a:r>
              <a:rPr spc="175" dirty="0"/>
              <a:t>Muscle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9443" y="1671318"/>
            <a:ext cx="3222580" cy="50698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3780" y="1689100"/>
            <a:ext cx="2783839" cy="24739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38540" y="4234179"/>
            <a:ext cx="2791459" cy="2476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D9C66F-FA94-B859-C80E-E48B4D7EFA78}"/>
              </a:ext>
            </a:extLst>
          </p:cNvPr>
          <p:cNvSpPr txBox="1"/>
          <p:nvPr/>
        </p:nvSpPr>
        <p:spPr>
          <a:xfrm>
            <a:off x="361573" y="1905000"/>
            <a:ext cx="3753227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Once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the joint is locked in full extension, it needs to be rotated the other way in order to be unlocked</a:t>
            </a:r>
          </a:p>
          <a:p>
            <a:pPr marL="742950" lvl="1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popliteus muscle does this - it laterally rotates the femur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riangular muscle at back of tibia, inserts into </a:t>
            </a:r>
            <a:r>
              <a:rPr lang="en-GB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lat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femoral condyle and actually pierces the capsule here and attaches inside</a:t>
            </a:r>
          </a:p>
          <a:p>
            <a:pPr marL="742950" lvl="1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 this point 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 a thickening of the capsule = arcuate ligament, part of the posterolateral ligament complex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Popliteus is supplied by the tibial nerve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508127" y="2084053"/>
            <a:ext cx="7264274" cy="3528529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L="143510" algn="l">
              <a:lnSpc>
                <a:spcPct val="100000"/>
              </a:lnSpc>
              <a:spcBef>
                <a:spcPts val="1555"/>
              </a:spcBef>
            </a:pPr>
            <a:r>
              <a:rPr sz="3250" b="1" spc="5" dirty="0">
                <a:solidFill>
                  <a:schemeClr val="accent6"/>
                </a:solidFill>
                <a:latin typeface="Arial"/>
                <a:cs typeface="Arial"/>
              </a:rPr>
              <a:t>Self-Assessment</a:t>
            </a:r>
            <a:r>
              <a:rPr sz="3250" b="1" spc="-100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sz="3250" b="1" spc="5" dirty="0">
                <a:solidFill>
                  <a:schemeClr val="accent6"/>
                </a:solidFill>
                <a:latin typeface="Arial"/>
                <a:cs typeface="Arial"/>
              </a:rPr>
              <a:t>Questions</a:t>
            </a:r>
            <a:r>
              <a:rPr lang="en-GB" sz="3250" b="1" spc="5" dirty="0">
                <a:solidFill>
                  <a:schemeClr val="accent6"/>
                </a:solidFill>
                <a:latin typeface="Arial"/>
                <a:cs typeface="Arial"/>
              </a:rPr>
              <a:t> Pt 2</a:t>
            </a:r>
            <a:endParaRPr sz="3250" dirty="0">
              <a:solidFill>
                <a:schemeClr val="accent6"/>
              </a:solidFill>
              <a:latin typeface="Arial"/>
              <a:cs typeface="Arial"/>
            </a:endParaRPr>
          </a:p>
          <a:p>
            <a:pPr marL="451484" indent="-363855">
              <a:lnSpc>
                <a:spcPct val="100000"/>
              </a:lnSpc>
              <a:spcBef>
                <a:spcPts val="1595"/>
              </a:spcBef>
              <a:buAutoNum type="arabicPeriod"/>
              <a:tabLst>
                <a:tab pos="452120" algn="l"/>
              </a:tabLst>
            </a:pPr>
            <a:r>
              <a:rPr sz="2400" spc="10" dirty="0"/>
              <a:t>What</a:t>
            </a:r>
            <a:r>
              <a:rPr sz="2400" spc="-75" dirty="0"/>
              <a:t> </a:t>
            </a:r>
            <a:r>
              <a:rPr sz="2400" spc="-5" dirty="0"/>
              <a:t>are</a:t>
            </a:r>
            <a:r>
              <a:rPr sz="2400" spc="10" dirty="0"/>
              <a:t> </a:t>
            </a:r>
            <a:r>
              <a:rPr sz="2400" spc="-10" dirty="0"/>
              <a:t>the</a:t>
            </a:r>
            <a:r>
              <a:rPr sz="2400" spc="10" dirty="0"/>
              <a:t> </a:t>
            </a:r>
            <a:r>
              <a:rPr sz="2400" spc="-5" dirty="0"/>
              <a:t>main</a:t>
            </a:r>
            <a:r>
              <a:rPr sz="2400" spc="15" dirty="0"/>
              <a:t> </a:t>
            </a:r>
            <a:r>
              <a:rPr sz="2400" spc="-5" dirty="0"/>
              <a:t>differences</a:t>
            </a:r>
            <a:r>
              <a:rPr sz="2400" spc="-25" dirty="0"/>
              <a:t> </a:t>
            </a:r>
            <a:r>
              <a:rPr sz="2400" spc="-10" dirty="0"/>
              <a:t>between</a:t>
            </a:r>
            <a:r>
              <a:rPr sz="2400" spc="35" dirty="0"/>
              <a:t> </a:t>
            </a:r>
            <a:r>
              <a:rPr sz="2400" dirty="0"/>
              <a:t>the</a:t>
            </a:r>
            <a:r>
              <a:rPr sz="2400" spc="5" dirty="0"/>
              <a:t> </a:t>
            </a:r>
            <a:r>
              <a:rPr sz="2400" dirty="0"/>
              <a:t>medial</a:t>
            </a:r>
          </a:p>
          <a:p>
            <a:pPr marL="451484">
              <a:lnSpc>
                <a:spcPct val="100000"/>
              </a:lnSpc>
            </a:pPr>
            <a:r>
              <a:rPr sz="2400" dirty="0"/>
              <a:t>and</a:t>
            </a:r>
            <a:r>
              <a:rPr sz="2400" spc="-10" dirty="0"/>
              <a:t> </a:t>
            </a:r>
            <a:r>
              <a:rPr sz="2400" dirty="0"/>
              <a:t>lateral</a:t>
            </a:r>
            <a:r>
              <a:rPr sz="2400" spc="-35" dirty="0"/>
              <a:t> </a:t>
            </a:r>
            <a:r>
              <a:rPr sz="2400" dirty="0"/>
              <a:t>femoral</a:t>
            </a:r>
            <a:r>
              <a:rPr sz="2400" spc="-10" dirty="0"/>
              <a:t> condyles?</a:t>
            </a:r>
            <a:endParaRPr sz="2400" dirty="0"/>
          </a:p>
          <a:p>
            <a:pPr marL="75565">
              <a:lnSpc>
                <a:spcPct val="100000"/>
              </a:lnSpc>
              <a:spcBef>
                <a:spcPts val="5"/>
              </a:spcBef>
            </a:pPr>
            <a:endParaRPr sz="2500" dirty="0"/>
          </a:p>
          <a:p>
            <a:pPr marL="451484" indent="-363855">
              <a:lnSpc>
                <a:spcPct val="100000"/>
              </a:lnSpc>
              <a:buAutoNum type="arabicPeriod" startAt="2"/>
              <a:tabLst>
                <a:tab pos="452120" algn="l"/>
              </a:tabLst>
            </a:pPr>
            <a:r>
              <a:rPr sz="2400" spc="15" dirty="0"/>
              <a:t>Why</a:t>
            </a:r>
            <a:r>
              <a:rPr sz="2400" spc="-70" dirty="0"/>
              <a:t> </a:t>
            </a:r>
            <a:r>
              <a:rPr sz="2400" dirty="0"/>
              <a:t>is </a:t>
            </a:r>
            <a:r>
              <a:rPr sz="2400" spc="-5" dirty="0"/>
              <a:t>the </a:t>
            </a:r>
            <a:r>
              <a:rPr sz="2400" dirty="0"/>
              <a:t>medial meniscus</a:t>
            </a:r>
            <a:r>
              <a:rPr sz="2400" spc="-35" dirty="0"/>
              <a:t> </a:t>
            </a:r>
            <a:r>
              <a:rPr sz="2400" dirty="0"/>
              <a:t>20 times</a:t>
            </a:r>
            <a:r>
              <a:rPr sz="2400" spc="-15" dirty="0"/>
              <a:t> </a:t>
            </a:r>
            <a:r>
              <a:rPr sz="2400" dirty="0"/>
              <a:t>more likely</a:t>
            </a:r>
            <a:r>
              <a:rPr sz="2400" spc="-15" dirty="0"/>
              <a:t> </a:t>
            </a:r>
            <a:r>
              <a:rPr sz="2400" spc="-5" dirty="0"/>
              <a:t>to</a:t>
            </a:r>
            <a:r>
              <a:rPr lang="en-GB" sz="2400" dirty="0"/>
              <a:t> </a:t>
            </a:r>
            <a:r>
              <a:rPr sz="2400" spc="-5" dirty="0"/>
              <a:t>be</a:t>
            </a:r>
            <a:r>
              <a:rPr sz="2400" dirty="0"/>
              <a:t> injured</a:t>
            </a:r>
            <a:r>
              <a:rPr sz="2400" spc="-30" dirty="0"/>
              <a:t> </a:t>
            </a:r>
            <a:r>
              <a:rPr sz="2400" spc="-5" dirty="0"/>
              <a:t>than </a:t>
            </a:r>
            <a:r>
              <a:rPr sz="2400" spc="-10" dirty="0"/>
              <a:t>the</a:t>
            </a:r>
            <a:r>
              <a:rPr sz="2400" spc="5" dirty="0"/>
              <a:t> </a:t>
            </a:r>
            <a:r>
              <a:rPr sz="2400" dirty="0"/>
              <a:t>lateral meniscus?</a:t>
            </a:r>
          </a:p>
          <a:p>
            <a:pPr marL="75565">
              <a:lnSpc>
                <a:spcPct val="100000"/>
              </a:lnSpc>
              <a:spcBef>
                <a:spcPts val="5"/>
              </a:spcBef>
            </a:pPr>
            <a:endParaRPr sz="2500" dirty="0"/>
          </a:p>
          <a:p>
            <a:pPr marL="451484" indent="-363855">
              <a:lnSpc>
                <a:spcPct val="100000"/>
              </a:lnSpc>
              <a:buAutoNum type="arabicPeriod" startAt="3"/>
              <a:tabLst>
                <a:tab pos="452120" algn="l"/>
              </a:tabLst>
            </a:pPr>
            <a:r>
              <a:rPr sz="2400" spc="10" dirty="0"/>
              <a:t>What</a:t>
            </a:r>
            <a:r>
              <a:rPr sz="2400" spc="-80" dirty="0"/>
              <a:t> </a:t>
            </a:r>
            <a:r>
              <a:rPr sz="2400" spc="-5" dirty="0"/>
              <a:t>is</a:t>
            </a:r>
            <a:r>
              <a:rPr sz="2400" spc="-15" dirty="0"/>
              <a:t> </a:t>
            </a:r>
            <a:r>
              <a:rPr sz="2400" dirty="0"/>
              <a:t>the</a:t>
            </a:r>
            <a:r>
              <a:rPr sz="2400" spc="-5" dirty="0"/>
              <a:t> action </a:t>
            </a:r>
            <a:r>
              <a:rPr sz="2400" dirty="0"/>
              <a:t>of</a:t>
            </a:r>
            <a:r>
              <a:rPr sz="2400" spc="-15" dirty="0"/>
              <a:t> </a:t>
            </a:r>
            <a:r>
              <a:rPr sz="2400" dirty="0"/>
              <a:t>the</a:t>
            </a:r>
            <a:r>
              <a:rPr sz="2400" spc="-5" dirty="0"/>
              <a:t> </a:t>
            </a:r>
            <a:r>
              <a:rPr sz="2400" dirty="0"/>
              <a:t>popliteus</a:t>
            </a:r>
            <a:r>
              <a:rPr sz="2400" spc="-25" dirty="0"/>
              <a:t> </a:t>
            </a:r>
            <a:r>
              <a:rPr sz="2400" dirty="0"/>
              <a:t>muscle?</a:t>
            </a: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861B546A-833E-60EB-0AB9-BA5A6435C6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528946"/>
            <a:ext cx="3672077" cy="696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algn="l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35" dirty="0"/>
              <a:t> </a:t>
            </a:r>
            <a:r>
              <a:rPr spc="170" dirty="0"/>
              <a:t>Knee</a:t>
            </a:r>
            <a:r>
              <a:rPr spc="-45" dirty="0"/>
              <a:t> </a:t>
            </a:r>
            <a:r>
              <a:rPr spc="114" dirty="0"/>
              <a:t>Joint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623C41-B3B3-98B0-73C1-FB32BADDD6C3}"/>
              </a:ext>
            </a:extLst>
          </p:cNvPr>
          <p:cNvGrpSpPr/>
          <p:nvPr/>
        </p:nvGrpSpPr>
        <p:grpSpPr>
          <a:xfrm>
            <a:off x="8513297" y="0"/>
            <a:ext cx="3678703" cy="6858000"/>
            <a:chOff x="8513297" y="0"/>
            <a:chExt cx="3678703" cy="6858000"/>
          </a:xfrm>
        </p:grpSpPr>
        <p:pic>
          <p:nvPicPr>
            <p:cNvPr id="15" name="Picture 14" descr="A picture containing text, indoor, black, dark&#10;&#10;Description automatically generated">
              <a:extLst>
                <a:ext uri="{FF2B5EF4-FFF2-40B4-BE49-F238E27FC236}">
                  <a16:creationId xmlns:a16="http://schemas.microsoft.com/office/drawing/2014/main" id="{91F1E283-4845-ADDD-F996-61A2D92FEB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36" r="31466"/>
            <a:stretch/>
          </p:blipFill>
          <p:spPr>
            <a:xfrm>
              <a:off x="8513297" y="0"/>
              <a:ext cx="3672077" cy="68580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E38ED2-D283-7C4D-67C1-54B90FB0AD12}"/>
                </a:ext>
              </a:extLst>
            </p:cNvPr>
            <p:cNvSpPr/>
            <p:nvPr/>
          </p:nvSpPr>
          <p:spPr>
            <a:xfrm>
              <a:off x="11353800" y="4038600"/>
              <a:ext cx="838200" cy="1066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494FC4-DD5A-B85B-E95B-F35533854E7D}"/>
              </a:ext>
            </a:extLst>
          </p:cNvPr>
          <p:cNvSpPr/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2770" y="375602"/>
            <a:ext cx="5972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185" dirty="0">
                <a:solidFill>
                  <a:srgbClr val="FFC000"/>
                </a:solidFill>
              </a:rPr>
              <a:t>Part 3</a:t>
            </a:r>
            <a:endParaRPr spc="175" dirty="0">
              <a:solidFill>
                <a:srgbClr val="FFC000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2000404"/>
            <a:ext cx="27432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Knee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Joint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2800" b="1" spc="-5" dirty="0">
                <a:solidFill>
                  <a:srgbClr val="FFC000"/>
                </a:solidFill>
                <a:latin typeface="Arial"/>
                <a:cs typeface="Arial"/>
              </a:rPr>
              <a:t>Part</a:t>
            </a:r>
            <a:r>
              <a:rPr sz="2800" b="1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lang="en-GB" sz="2800" b="1" spc="-5" dirty="0">
                <a:solidFill>
                  <a:srgbClr val="FFC000"/>
                </a:solidFill>
                <a:latin typeface="Arial"/>
                <a:cs typeface="Arial"/>
              </a:rPr>
              <a:t>3</a:t>
            </a:r>
            <a:r>
              <a:rPr sz="2800" b="1" spc="-5" dirty="0">
                <a:solidFill>
                  <a:srgbClr val="FFC000"/>
                </a:solidFill>
                <a:latin typeface="Arial"/>
                <a:cs typeface="Arial"/>
              </a:rPr>
              <a:t>:</a:t>
            </a:r>
            <a:r>
              <a:rPr sz="2800" b="1" spc="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endParaRPr lang="en-GB" sz="2800" b="1" spc="5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GB" sz="2800" b="1" spc="-15" dirty="0">
                <a:solidFill>
                  <a:srgbClr val="0070C0"/>
                </a:solidFill>
                <a:latin typeface="Arial"/>
                <a:cs typeface="Arial"/>
              </a:rPr>
              <a:t>Ligaments of the Knee Joint</a:t>
            </a:r>
            <a:endParaRPr sz="28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pic>
        <p:nvPicPr>
          <p:cNvPr id="12" name="Picture 11" descr="A picture containing indoor&#10;&#10;Description automatically generated">
            <a:extLst>
              <a:ext uri="{FF2B5EF4-FFF2-40B4-BE49-F238E27FC236}">
                <a16:creationId xmlns:a16="http://schemas.microsoft.com/office/drawing/2014/main" id="{9DE28E25-B0D1-B482-12D1-EA964ABED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016" y="1600200"/>
            <a:ext cx="2929707" cy="5257800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E234435C-2CB8-BA61-CCC6-DC1AC8F75B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0600" y="1774613"/>
            <a:ext cx="1883875" cy="491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37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623059"/>
            <a:ext cx="3054350" cy="5105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423" y="1625599"/>
            <a:ext cx="2788286" cy="5105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611296" y="3200399"/>
            <a:ext cx="6207760" cy="2598420"/>
          </a:xfrm>
          <a:custGeom>
            <a:avLst/>
            <a:gdLst/>
            <a:ahLst/>
            <a:cxnLst/>
            <a:rect l="l" t="t" r="r" b="b"/>
            <a:pathLst>
              <a:path w="6207759" h="2598420">
                <a:moveTo>
                  <a:pt x="1094740" y="395478"/>
                </a:moveTo>
                <a:lnTo>
                  <a:pt x="1064641" y="225933"/>
                </a:lnTo>
                <a:lnTo>
                  <a:pt x="1011555" y="125476"/>
                </a:lnTo>
                <a:lnTo>
                  <a:pt x="946785" y="76581"/>
                </a:lnTo>
                <a:lnTo>
                  <a:pt x="859917" y="71120"/>
                </a:lnTo>
                <a:lnTo>
                  <a:pt x="741426" y="104648"/>
                </a:lnTo>
                <a:lnTo>
                  <a:pt x="616712" y="270891"/>
                </a:lnTo>
                <a:lnTo>
                  <a:pt x="498983" y="660908"/>
                </a:lnTo>
                <a:lnTo>
                  <a:pt x="346456" y="1226185"/>
                </a:lnTo>
                <a:lnTo>
                  <a:pt x="201676" y="1662430"/>
                </a:lnTo>
                <a:lnTo>
                  <a:pt x="74295" y="1947164"/>
                </a:lnTo>
                <a:lnTo>
                  <a:pt x="23876" y="2037334"/>
                </a:lnTo>
                <a:lnTo>
                  <a:pt x="0" y="2067179"/>
                </a:lnTo>
                <a:lnTo>
                  <a:pt x="13843" y="2161540"/>
                </a:lnTo>
                <a:lnTo>
                  <a:pt x="90551" y="2209800"/>
                </a:lnTo>
                <a:lnTo>
                  <a:pt x="197612" y="2179828"/>
                </a:lnTo>
                <a:lnTo>
                  <a:pt x="266573" y="2133981"/>
                </a:lnTo>
                <a:lnTo>
                  <a:pt x="284099" y="1953133"/>
                </a:lnTo>
                <a:lnTo>
                  <a:pt x="408813" y="1870075"/>
                </a:lnTo>
                <a:lnTo>
                  <a:pt x="471157" y="1579245"/>
                </a:lnTo>
                <a:lnTo>
                  <a:pt x="616712" y="1122426"/>
                </a:lnTo>
                <a:lnTo>
                  <a:pt x="720598" y="831596"/>
                </a:lnTo>
                <a:lnTo>
                  <a:pt x="970026" y="644652"/>
                </a:lnTo>
                <a:lnTo>
                  <a:pt x="1094740" y="395478"/>
                </a:lnTo>
                <a:close/>
              </a:path>
              <a:path w="6207759" h="2598420">
                <a:moveTo>
                  <a:pt x="6207760" y="291084"/>
                </a:moveTo>
                <a:lnTo>
                  <a:pt x="6104001" y="118237"/>
                </a:lnTo>
                <a:lnTo>
                  <a:pt x="6020943" y="97409"/>
                </a:lnTo>
                <a:lnTo>
                  <a:pt x="5883148" y="6858"/>
                </a:lnTo>
                <a:lnTo>
                  <a:pt x="5688965" y="0"/>
                </a:lnTo>
                <a:lnTo>
                  <a:pt x="5542407" y="34163"/>
                </a:lnTo>
                <a:lnTo>
                  <a:pt x="5398389" y="103886"/>
                </a:lnTo>
                <a:lnTo>
                  <a:pt x="5338064" y="307213"/>
                </a:lnTo>
                <a:lnTo>
                  <a:pt x="5474335" y="484632"/>
                </a:lnTo>
                <a:lnTo>
                  <a:pt x="5528818" y="675767"/>
                </a:lnTo>
                <a:lnTo>
                  <a:pt x="5543677" y="964946"/>
                </a:lnTo>
                <a:lnTo>
                  <a:pt x="5543677" y="977011"/>
                </a:lnTo>
                <a:lnTo>
                  <a:pt x="5439918" y="1455166"/>
                </a:lnTo>
                <a:lnTo>
                  <a:pt x="5419852" y="1685925"/>
                </a:lnTo>
                <a:lnTo>
                  <a:pt x="5315458" y="2057908"/>
                </a:lnTo>
                <a:lnTo>
                  <a:pt x="5232400" y="2328164"/>
                </a:lnTo>
                <a:lnTo>
                  <a:pt x="5232400" y="2494483"/>
                </a:lnTo>
                <a:lnTo>
                  <a:pt x="5336159" y="2598420"/>
                </a:lnTo>
                <a:lnTo>
                  <a:pt x="5585206" y="2598420"/>
                </a:lnTo>
                <a:lnTo>
                  <a:pt x="5730494" y="2452903"/>
                </a:lnTo>
                <a:lnTo>
                  <a:pt x="5807786" y="2264867"/>
                </a:lnTo>
                <a:lnTo>
                  <a:pt x="5846508" y="2168791"/>
                </a:lnTo>
                <a:lnTo>
                  <a:pt x="5924042" y="1972564"/>
                </a:lnTo>
                <a:lnTo>
                  <a:pt x="5986018" y="1766951"/>
                </a:lnTo>
                <a:lnTo>
                  <a:pt x="6005830" y="1494790"/>
                </a:lnTo>
                <a:lnTo>
                  <a:pt x="6041771" y="1205611"/>
                </a:lnTo>
                <a:lnTo>
                  <a:pt x="6114796" y="880491"/>
                </a:lnTo>
                <a:lnTo>
                  <a:pt x="6124702" y="623570"/>
                </a:lnTo>
                <a:lnTo>
                  <a:pt x="6207760" y="291084"/>
                </a:lnTo>
                <a:close/>
              </a:path>
            </a:pathLst>
          </a:custGeom>
          <a:solidFill>
            <a:srgbClr val="00AF5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06470" y="601662"/>
            <a:ext cx="51873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Collateral</a:t>
            </a:r>
            <a:r>
              <a:rPr spc="-75" dirty="0"/>
              <a:t> </a:t>
            </a:r>
            <a:r>
              <a:rPr spc="210" dirty="0"/>
              <a:t>Ligaments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9A03E1-039C-13A3-7F14-C9D3F70515C7}"/>
              </a:ext>
            </a:extLst>
          </p:cNvPr>
          <p:cNvSpPr txBox="1"/>
          <p:nvPr/>
        </p:nvSpPr>
        <p:spPr>
          <a:xfrm>
            <a:off x="361573" y="1905000"/>
            <a:ext cx="2383991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LCL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thinner cord-like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attached proximally to lateral epicondyle and distally to head of fibula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endParaRPr lang="en-GB" sz="1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7CA00-CCB3-72B8-DA3E-A7671A805AD4}"/>
              </a:ext>
            </a:extLst>
          </p:cNvPr>
          <p:cNvSpPr txBox="1"/>
          <p:nvPr/>
        </p:nvSpPr>
        <p:spPr>
          <a:xfrm>
            <a:off x="9220200" y="1905000"/>
            <a:ext cx="238399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MCL 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flat strap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bands 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superficial band from med epicondyle of femur &amp; inserts distally onto proximal shaft of tibia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deep band - same but </a:t>
            </a:r>
            <a:r>
              <a:rPr lang="en-GB" sz="1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also anchored to medial meniscus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endParaRPr lang="en-GB" sz="1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35529" y="601662"/>
            <a:ext cx="7520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Collateral</a:t>
            </a:r>
            <a:r>
              <a:rPr spc="-45" dirty="0"/>
              <a:t> </a:t>
            </a:r>
            <a:r>
              <a:rPr spc="204" dirty="0"/>
              <a:t>Ligaments</a:t>
            </a:r>
            <a:r>
              <a:rPr spc="-5" dirty="0"/>
              <a:t> </a:t>
            </a:r>
            <a:r>
              <a:rPr spc="200" dirty="0"/>
              <a:t>Function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9531" y="1638300"/>
            <a:ext cx="3863340" cy="50825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17D746-3F94-A9F0-3B98-1052ADF353EF}"/>
              </a:ext>
            </a:extLst>
          </p:cNvPr>
          <p:cNvSpPr txBox="1"/>
          <p:nvPr/>
        </p:nvSpPr>
        <p:spPr>
          <a:xfrm>
            <a:off x="5268132" y="438733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LCL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D9B38D-9F5F-929D-35E3-7F95C7E1B094}"/>
              </a:ext>
            </a:extLst>
          </p:cNvPr>
          <p:cNvCxnSpPr>
            <a:cxnSpLocks/>
          </p:cNvCxnSpPr>
          <p:nvPr/>
        </p:nvCxnSpPr>
        <p:spPr>
          <a:xfrm>
            <a:off x="5798050" y="4572000"/>
            <a:ext cx="10685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658321-1230-AA05-9142-726EBDAD7681}"/>
              </a:ext>
            </a:extLst>
          </p:cNvPr>
          <p:cNvSpPr txBox="1"/>
          <p:nvPr/>
        </p:nvSpPr>
        <p:spPr>
          <a:xfrm>
            <a:off x="10600391" y="438733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MCL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BBAF0D-FD77-3F71-C60B-27CABCE0AA1A}"/>
              </a:ext>
            </a:extLst>
          </p:cNvPr>
          <p:cNvCxnSpPr>
            <a:cxnSpLocks/>
          </p:cNvCxnSpPr>
          <p:nvPr/>
        </p:nvCxnSpPr>
        <p:spPr>
          <a:xfrm flipH="1">
            <a:off x="9428181" y="4572000"/>
            <a:ext cx="11722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F8B748-06D9-05F9-1F2F-5B6B5C97828C}"/>
              </a:ext>
            </a:extLst>
          </p:cNvPr>
          <p:cNvSpPr txBox="1"/>
          <p:nvPr/>
        </p:nvSpPr>
        <p:spPr>
          <a:xfrm>
            <a:off x="598945" y="1981200"/>
            <a:ext cx="3508062" cy="353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Prevent sideways movement of the joint - against varus or valgus force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ollateral ligaments are taut in full extension &amp; relaxed during flexion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 normal walking it is in extension that body load is applied to the joint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 this is when it needs most support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2334" y="601662"/>
            <a:ext cx="931188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170" dirty="0"/>
              <a:t>Additional</a:t>
            </a:r>
            <a:r>
              <a:rPr sz="4000" spc="-25" dirty="0"/>
              <a:t> </a:t>
            </a:r>
            <a:r>
              <a:rPr lang="en-US" sz="4000" spc="265" dirty="0"/>
              <a:t>s</a:t>
            </a:r>
            <a:r>
              <a:rPr sz="4000" spc="265" dirty="0"/>
              <a:t>upport</a:t>
            </a:r>
            <a:r>
              <a:rPr sz="4000" spc="10" dirty="0"/>
              <a:t> </a:t>
            </a:r>
            <a:r>
              <a:rPr lang="en-US" sz="4000" spc="100" dirty="0"/>
              <a:t>is provided by…</a:t>
            </a:r>
            <a:endParaRPr sz="4000" spc="114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778" y="1794760"/>
            <a:ext cx="5405942" cy="50632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3199" y="1686559"/>
            <a:ext cx="5146040" cy="51714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9C0A6A-45F9-730F-29F6-BDD7C12A3D56}"/>
              </a:ext>
            </a:extLst>
          </p:cNvPr>
          <p:cNvSpPr txBox="1"/>
          <p:nvPr/>
        </p:nvSpPr>
        <p:spPr>
          <a:xfrm>
            <a:off x="6267650" y="6138923"/>
            <a:ext cx="2544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 Anserinus tendons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(goose foot)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1FA9E7-44C6-D9E7-1669-9E74D0B1BBF3}"/>
              </a:ext>
            </a:extLst>
          </p:cNvPr>
          <p:cNvSpPr/>
          <p:nvPr/>
        </p:nvSpPr>
        <p:spPr>
          <a:xfrm>
            <a:off x="7315200" y="5181600"/>
            <a:ext cx="10668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074E6E-A152-54E2-4409-BD4E552000D1}"/>
              </a:ext>
            </a:extLst>
          </p:cNvPr>
          <p:cNvSpPr/>
          <p:nvPr/>
        </p:nvSpPr>
        <p:spPr>
          <a:xfrm>
            <a:off x="10210800" y="5486400"/>
            <a:ext cx="1488439" cy="7552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E28529-7778-BA86-E98B-2D6ED091F7F7}"/>
              </a:ext>
            </a:extLst>
          </p:cNvPr>
          <p:cNvSpPr/>
          <p:nvPr/>
        </p:nvSpPr>
        <p:spPr>
          <a:xfrm>
            <a:off x="7162800" y="5613363"/>
            <a:ext cx="1271801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5D932-A01C-4B86-BA31-D35DCB174E55}"/>
              </a:ext>
            </a:extLst>
          </p:cNvPr>
          <p:cNvSpPr txBox="1"/>
          <p:nvPr/>
        </p:nvSpPr>
        <p:spPr>
          <a:xfrm>
            <a:off x="7162800" y="358961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ECE71B-09C4-EB30-E6E4-1691C156D498}"/>
              </a:ext>
            </a:extLst>
          </p:cNvPr>
          <p:cNvSpPr txBox="1"/>
          <p:nvPr/>
        </p:nvSpPr>
        <p:spPr>
          <a:xfrm>
            <a:off x="5486400" y="1905000"/>
            <a:ext cx="51771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7E6D8A-3F2B-653B-7434-385C0C255812}"/>
              </a:ext>
            </a:extLst>
          </p:cNvPr>
          <p:cNvSpPr txBox="1"/>
          <p:nvPr/>
        </p:nvSpPr>
        <p:spPr>
          <a:xfrm>
            <a:off x="5911295" y="6138923"/>
            <a:ext cx="51771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D11C92-0C1B-01DD-FFC8-564793706A70}"/>
              </a:ext>
            </a:extLst>
          </p:cNvPr>
          <p:cNvSpPr txBox="1"/>
          <p:nvPr/>
        </p:nvSpPr>
        <p:spPr>
          <a:xfrm>
            <a:off x="4648200" y="3393280"/>
            <a:ext cx="51771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42646-02A4-384A-FDCD-6073B20FE8A4}"/>
              </a:ext>
            </a:extLst>
          </p:cNvPr>
          <p:cNvSpPr txBox="1"/>
          <p:nvPr/>
        </p:nvSpPr>
        <p:spPr>
          <a:xfrm>
            <a:off x="1176401" y="4852147"/>
            <a:ext cx="51771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41814-663A-9945-76B1-52E6E0695DBB}"/>
              </a:ext>
            </a:extLst>
          </p:cNvPr>
          <p:cNvSpPr txBox="1"/>
          <p:nvPr/>
        </p:nvSpPr>
        <p:spPr>
          <a:xfrm>
            <a:off x="906045" y="4226547"/>
            <a:ext cx="51771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1FA1E-BB0A-A285-7FFE-E66532557D37}"/>
              </a:ext>
            </a:extLst>
          </p:cNvPr>
          <p:cNvSpPr txBox="1"/>
          <p:nvPr/>
        </p:nvSpPr>
        <p:spPr>
          <a:xfrm>
            <a:off x="250589" y="6006257"/>
            <a:ext cx="1914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also med head of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gastroc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084" y="601662"/>
            <a:ext cx="44983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Valgus</a:t>
            </a:r>
            <a:r>
              <a:rPr spc="-35" dirty="0"/>
              <a:t> </a:t>
            </a:r>
            <a:r>
              <a:rPr spc="125" dirty="0"/>
              <a:t>Stress</a:t>
            </a:r>
            <a:r>
              <a:rPr spc="-35" dirty="0"/>
              <a:t> </a:t>
            </a:r>
            <a:r>
              <a:rPr spc="125" dirty="0"/>
              <a:t>Test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7555" y="1892598"/>
            <a:ext cx="5975737" cy="32105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1892598"/>
            <a:ext cx="3459479" cy="46318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BEA510-5B2B-6DA2-2515-BBCAC3377084}"/>
              </a:ext>
            </a:extLst>
          </p:cNvPr>
          <p:cNvSpPr txBox="1"/>
          <p:nvPr/>
        </p:nvSpPr>
        <p:spPr>
          <a:xfrm>
            <a:off x="5255513" y="5181600"/>
            <a:ext cx="617981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When seated (knee flexion) there is little support from muscles or ligaments </a:t>
            </a: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relaxed), so must test the ligament in extension</a:t>
            </a:r>
          </a:p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Valgus stress test - stresses MCL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4084" y="601662"/>
            <a:ext cx="42475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Varus</a:t>
            </a:r>
            <a:r>
              <a:rPr spc="-50" dirty="0"/>
              <a:t> </a:t>
            </a:r>
            <a:r>
              <a:rPr spc="125" dirty="0"/>
              <a:t>Test</a:t>
            </a:r>
            <a:r>
              <a:rPr spc="-10" dirty="0"/>
              <a:t> </a:t>
            </a:r>
            <a:r>
              <a:rPr spc="130" dirty="0"/>
              <a:t>Stress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79" y="2062479"/>
            <a:ext cx="6713221" cy="37597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3800" y="1889511"/>
            <a:ext cx="3815079" cy="47590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BA5D0F-BA3A-6C6F-5135-00032913712E}"/>
              </a:ext>
            </a:extLst>
          </p:cNvPr>
          <p:cNvSpPr txBox="1"/>
          <p:nvPr/>
        </p:nvSpPr>
        <p:spPr>
          <a:xfrm>
            <a:off x="3733801" y="5914964"/>
            <a:ext cx="403860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Varus stress test - stresses LCL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endParaRPr lang="en-GB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9410" y="601662"/>
            <a:ext cx="48552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Cruciate</a:t>
            </a:r>
            <a:r>
              <a:rPr spc="-75" dirty="0"/>
              <a:t> </a:t>
            </a:r>
            <a:r>
              <a:rPr spc="204" dirty="0"/>
              <a:t>Ligaments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1676400"/>
            <a:ext cx="5067300" cy="4953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5FFE0-BBD4-BBAE-5D12-CD29AD7AF2C2}"/>
              </a:ext>
            </a:extLst>
          </p:cNvPr>
          <p:cNvSpPr txBox="1"/>
          <p:nvPr/>
        </p:nvSpPr>
        <p:spPr>
          <a:xfrm>
            <a:off x="533400" y="1981200"/>
            <a:ext cx="4724400" cy="347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rux = Latin for cross</a:t>
            </a:r>
          </a:p>
          <a:p>
            <a:endParaRPr lang="en-GB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ACL - anterior intercondylar ridge of tibia 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inserts lateral surface of medial femoral condyle posteriorly </a:t>
            </a:r>
            <a:r>
              <a:rPr lang="en-GB" sz="18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HAND IN TROUSER POCKET direction</a:t>
            </a:r>
          </a:p>
          <a:p>
            <a:pPr marL="285750" indent="-285750">
              <a:lnSpc>
                <a:spcPct val="115000"/>
              </a:lnSpc>
              <a:buFont typeface="Wingdings" pitchFamily="2" charset="2"/>
              <a:buChar char="q"/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PCL - posterior intercondylar ridge of tibia 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inserts lateral surface of medial femoral condyle anteriorly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dirty="0">
                <a:effectLst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nline Media 5" descr="Knee Ligament Anatomy Animation">
            <a:hlinkClick r:id="" action="ppaction://media"/>
            <a:extLst>
              <a:ext uri="{FF2B5EF4-FFF2-40B4-BE49-F238E27FC236}">
                <a16:creationId xmlns:a16="http://schemas.microsoft.com/office/drawing/2014/main" id="{CA487140-4193-6379-7421-A52DC21C03B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 rotWithShape="1">
          <a:blip r:embed="rId3"/>
          <a:srcRect l="20325" r="21952"/>
          <a:stretch/>
        </p:blipFill>
        <p:spPr>
          <a:xfrm>
            <a:off x="1219200" y="-1600200"/>
            <a:ext cx="10319713" cy="10100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0ABA9BD-B54A-B28F-52CC-A964BD5F37B5}"/>
              </a:ext>
            </a:extLst>
          </p:cNvPr>
          <p:cNvSpPr/>
          <p:nvPr/>
        </p:nvSpPr>
        <p:spPr>
          <a:xfrm>
            <a:off x="0" y="1201596"/>
            <a:ext cx="12192000" cy="551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639C26-8F12-52E9-2374-CF055A5928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1" b="5941"/>
          <a:stretch/>
        </p:blipFill>
        <p:spPr>
          <a:xfrm>
            <a:off x="4798150" y="26718"/>
            <a:ext cx="4048265" cy="32953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570251-8736-499B-FA3D-CD82615FC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229779"/>
            <a:ext cx="2616200" cy="33074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44F365C-E4F0-631D-ADFD-1F2D33FEB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921" y="3571802"/>
            <a:ext cx="3062405" cy="306719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38B34CA-FD7D-5776-29B8-BD4BB6C7F42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4" t="9447" r="8404" b="2871"/>
          <a:stretch/>
        </p:blipFill>
        <p:spPr>
          <a:xfrm>
            <a:off x="374943" y="518619"/>
            <a:ext cx="4117250" cy="290382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246AF80-30F4-AE4F-5A62-AF2E882F4791}"/>
              </a:ext>
            </a:extLst>
          </p:cNvPr>
          <p:cNvSpPr txBox="1"/>
          <p:nvPr/>
        </p:nvSpPr>
        <p:spPr>
          <a:xfrm>
            <a:off x="492974" y="412009"/>
            <a:ext cx="1488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TRANSVERSE VIEW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126F1C-F395-292B-2EB5-824284A5747A}"/>
              </a:ext>
            </a:extLst>
          </p:cNvPr>
          <p:cNvSpPr txBox="1"/>
          <p:nvPr/>
        </p:nvSpPr>
        <p:spPr>
          <a:xfrm>
            <a:off x="4989721" y="453419"/>
            <a:ext cx="1488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POSTERIOR 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E5DF2F-9E41-68FE-F3EF-8EAB5E991728}"/>
              </a:ext>
            </a:extLst>
          </p:cNvPr>
          <p:cNvSpPr txBox="1"/>
          <p:nvPr/>
        </p:nvSpPr>
        <p:spPr>
          <a:xfrm>
            <a:off x="2743200" y="4105420"/>
            <a:ext cx="1488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MEDIAL VIEW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BD3463-BA97-5555-83DC-D32D4191159E}"/>
              </a:ext>
            </a:extLst>
          </p:cNvPr>
          <p:cNvSpPr txBox="1"/>
          <p:nvPr/>
        </p:nvSpPr>
        <p:spPr>
          <a:xfrm>
            <a:off x="10777665" y="3571802"/>
            <a:ext cx="1488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POSTERIOR 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7E4AB0-08D1-8F08-4DE0-5938F4B04F6A}"/>
              </a:ext>
            </a:extLst>
          </p:cNvPr>
          <p:cNvSpPr txBox="1"/>
          <p:nvPr/>
        </p:nvSpPr>
        <p:spPr>
          <a:xfrm>
            <a:off x="2057400" y="1434239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F875C3-3619-0B7E-02C1-D962C8982BB1}"/>
              </a:ext>
            </a:extLst>
          </p:cNvPr>
          <p:cNvSpPr txBox="1"/>
          <p:nvPr/>
        </p:nvSpPr>
        <p:spPr>
          <a:xfrm>
            <a:off x="1803383" y="233083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PCL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76E54A-9A2D-9DBC-D64F-31428A458277}"/>
              </a:ext>
            </a:extLst>
          </p:cNvPr>
          <p:cNvSpPr txBox="1"/>
          <p:nvPr/>
        </p:nvSpPr>
        <p:spPr>
          <a:xfrm>
            <a:off x="6803452" y="5457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EE81DB-7124-2BE3-6898-4F9B9F04C8AE}"/>
              </a:ext>
            </a:extLst>
          </p:cNvPr>
          <p:cNvSpPr txBox="1"/>
          <p:nvPr/>
        </p:nvSpPr>
        <p:spPr>
          <a:xfrm>
            <a:off x="6705600" y="144234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PCL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E3CA20-7008-3268-20FC-0C10CEA838F1}"/>
              </a:ext>
            </a:extLst>
          </p:cNvPr>
          <p:cNvSpPr txBox="1"/>
          <p:nvPr/>
        </p:nvSpPr>
        <p:spPr>
          <a:xfrm>
            <a:off x="4801470" y="3602994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ACL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0C2C4D-42AA-1D91-77D5-96B7C27FC9F3}"/>
              </a:ext>
            </a:extLst>
          </p:cNvPr>
          <p:cNvSpPr txBox="1"/>
          <p:nvPr/>
        </p:nvSpPr>
        <p:spPr>
          <a:xfrm>
            <a:off x="4343400" y="3703366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PCL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ACCA07-3DEF-C8F6-2D64-4AEC42BC7840}"/>
              </a:ext>
            </a:extLst>
          </p:cNvPr>
          <p:cNvSpPr txBox="1"/>
          <p:nvPr/>
        </p:nvSpPr>
        <p:spPr>
          <a:xfrm>
            <a:off x="9906000" y="4515255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ACL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0A0FFD-FC2A-A4D9-B525-8A8DEB98E65E}"/>
              </a:ext>
            </a:extLst>
          </p:cNvPr>
          <p:cNvSpPr txBox="1"/>
          <p:nvPr/>
        </p:nvSpPr>
        <p:spPr>
          <a:xfrm>
            <a:off x="9753600" y="5105401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PCL</a:t>
            </a:r>
          </a:p>
        </p:txBody>
      </p:sp>
    </p:spTree>
    <p:extLst>
      <p:ext uri="{BB962C8B-B14F-4D97-AF65-F5344CB8AC3E}">
        <p14:creationId xmlns:p14="http://schemas.microsoft.com/office/powerpoint/2010/main" val="2484933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97150" y="601662"/>
            <a:ext cx="699833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90" dirty="0"/>
              <a:t>Anterior</a:t>
            </a:r>
            <a:r>
              <a:rPr spc="-20" dirty="0"/>
              <a:t> </a:t>
            </a:r>
            <a:r>
              <a:rPr spc="195" dirty="0"/>
              <a:t>Cruciate</a:t>
            </a:r>
            <a:r>
              <a:rPr spc="-15" dirty="0"/>
              <a:t> </a:t>
            </a:r>
            <a:r>
              <a:rPr spc="210" dirty="0"/>
              <a:t>Ligament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1752600"/>
            <a:ext cx="3904102" cy="4959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CAF23A-23AE-AEA4-3FE0-F26118FFC719}"/>
              </a:ext>
            </a:extLst>
          </p:cNvPr>
          <p:cNvSpPr txBox="1"/>
          <p:nvPr/>
        </p:nvSpPr>
        <p:spPr>
          <a:xfrm>
            <a:off x="779929" y="2487706"/>
            <a:ext cx="3182471" cy="291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ACL prevents anterior displacement of the tibia  in relation to the femur</a:t>
            </a:r>
          </a:p>
          <a:p>
            <a:pPr marL="285750" indent="-285750">
              <a:lnSpc>
                <a:spcPct val="115000"/>
              </a:lnSpc>
              <a:buFont typeface="Wingdings" pitchFamily="2" charset="2"/>
              <a:buChar char="q"/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 subject to great stress during full extension - taut, and tightened even more by locking mechanism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2581" y="1747413"/>
            <a:ext cx="3286452" cy="427238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324600" y="3886200"/>
            <a:ext cx="548458" cy="914400"/>
          </a:xfrm>
          <a:custGeom>
            <a:avLst/>
            <a:gdLst/>
            <a:ahLst/>
            <a:cxnLst/>
            <a:rect l="l" t="t" r="r" b="b"/>
            <a:pathLst>
              <a:path w="765175" h="1275714">
                <a:moveTo>
                  <a:pt x="165862" y="0"/>
                </a:moveTo>
                <a:lnTo>
                  <a:pt x="0" y="80137"/>
                </a:lnTo>
                <a:lnTo>
                  <a:pt x="516255" y="1149350"/>
                </a:lnTo>
                <a:lnTo>
                  <a:pt x="433324" y="1189482"/>
                </a:lnTo>
                <a:lnTo>
                  <a:pt x="679323" y="1275207"/>
                </a:lnTo>
                <a:lnTo>
                  <a:pt x="765175" y="1029208"/>
                </a:lnTo>
                <a:lnTo>
                  <a:pt x="682244" y="1069213"/>
                </a:lnTo>
                <a:lnTo>
                  <a:pt x="165862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97150" y="601662"/>
            <a:ext cx="699833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Posterior</a:t>
            </a:r>
            <a:r>
              <a:rPr spc="-20" dirty="0"/>
              <a:t> </a:t>
            </a:r>
            <a:r>
              <a:rPr spc="195" dirty="0"/>
              <a:t>Cruciate</a:t>
            </a:r>
            <a:r>
              <a:rPr spc="-15" dirty="0"/>
              <a:t> </a:t>
            </a:r>
            <a:r>
              <a:rPr spc="210" dirty="0"/>
              <a:t>Ligament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9298" y="1747413"/>
            <a:ext cx="3904102" cy="4959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0F06CA-F111-464B-F125-265AE38E8007}"/>
              </a:ext>
            </a:extLst>
          </p:cNvPr>
          <p:cNvSpPr txBox="1"/>
          <p:nvPr/>
        </p:nvSpPr>
        <p:spPr>
          <a:xfrm>
            <a:off x="368733" y="1784531"/>
            <a:ext cx="4050867" cy="4623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PCL does the opposite - prevents posterior translation of the tibia / excessive </a:t>
            </a:r>
            <a:r>
              <a:rPr lang="en-GB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fwd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movement of femur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PCL </a:t>
            </a:r>
            <a:r>
              <a:rPr lang="en-GB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approx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3 times thicker than ACL</a:t>
            </a:r>
          </a:p>
          <a:p>
            <a:pPr marL="285750" indent="-285750">
              <a:lnSpc>
                <a:spcPct val="115000"/>
              </a:lnSpc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When walking/running, knee is partially flexed as we begin to transfer body weight onto the limb</a:t>
            </a:r>
          </a:p>
          <a:p>
            <a:pPr marL="285750" indent="-285750">
              <a:lnSpc>
                <a:spcPct val="115000"/>
              </a:lnSpc>
              <a:buFont typeface="Wingdings" pitchFamily="2" charset="2"/>
              <a:buChar char="Ø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 that moment 2 structures are helping to keep the femur from slipping forward…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PCL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tightness of the extensor mechanism - quads is contracting = patellar T. stretched firmly across front of joint</a:t>
            </a:r>
          </a:p>
        </p:txBody>
      </p:sp>
    </p:spTree>
    <p:extLst>
      <p:ext uri="{BB962C8B-B14F-4D97-AF65-F5344CB8AC3E}">
        <p14:creationId xmlns:p14="http://schemas.microsoft.com/office/powerpoint/2010/main" val="17321271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0370" y="601662"/>
            <a:ext cx="62744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Cruciate</a:t>
            </a:r>
            <a:r>
              <a:rPr spc="-30" dirty="0"/>
              <a:t> </a:t>
            </a:r>
            <a:r>
              <a:rPr spc="210" dirty="0"/>
              <a:t>Ligament</a:t>
            </a:r>
            <a:r>
              <a:rPr spc="30" dirty="0"/>
              <a:t> </a:t>
            </a:r>
            <a:r>
              <a:rPr spc="185" dirty="0"/>
              <a:t>Injury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7043" y="1876597"/>
            <a:ext cx="5315524" cy="45714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A40241-F82F-2D6A-5CDB-3F15216042AA}"/>
              </a:ext>
            </a:extLst>
          </p:cNvPr>
          <p:cNvSpPr txBox="1"/>
          <p:nvPr/>
        </p:nvSpPr>
        <p:spPr>
          <a:xfrm>
            <a:off x="439636" y="1876597"/>
            <a:ext cx="5041467" cy="4210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When knee </a:t>
            </a: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is 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extended, ligaments are taut - if sudden additional medial twisting when foot is planted 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ligaments are subject to injury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ACL thinner so more prone to injury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ACL receives its blood supply from branches of the middle genicular artery, which form a vascular synovial envelope around the ligament. These </a:t>
            </a:r>
            <a:r>
              <a:rPr lang="en-GB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periligamentous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vessels penetrate the ligament transversely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Both ligaments have vascular zones (inferior geniculate artery) and if ruptured can leak blood inside the joint capsule = haematoma 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swelling, pain, discolouration of joint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8229" y="601662"/>
            <a:ext cx="49606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15" dirty="0"/>
              <a:t> </a:t>
            </a:r>
            <a:r>
              <a:rPr spc="175" dirty="0"/>
              <a:t>Lachman’s</a:t>
            </a:r>
            <a:r>
              <a:rPr spc="-30" dirty="0"/>
              <a:t> </a:t>
            </a:r>
            <a:r>
              <a:rPr spc="130" dirty="0"/>
              <a:t>Test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8920" y="1775460"/>
            <a:ext cx="6291580" cy="4721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28864-9F02-35EA-E34D-CDE440C971B7}"/>
              </a:ext>
            </a:extLst>
          </p:cNvPr>
          <p:cNvSpPr txBox="1"/>
          <p:nvPr/>
        </p:nvSpPr>
        <p:spPr>
          <a:xfrm>
            <a:off x="571500" y="2150409"/>
            <a:ext cx="4536291" cy="85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Knee at 30° so hamstring relaxed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Evaluates ACL rupture</a:t>
            </a:r>
            <a:endParaRPr lang="en-GB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A84E1E-6745-5B32-21C6-8A81E91FB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388659"/>
            <a:ext cx="46101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8390" y="601662"/>
            <a:ext cx="49441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The</a:t>
            </a:r>
            <a:r>
              <a:rPr spc="-25" dirty="0"/>
              <a:t> </a:t>
            </a:r>
            <a:r>
              <a:rPr spc="335" dirty="0"/>
              <a:t>Unhappy</a:t>
            </a:r>
            <a:r>
              <a:rPr spc="-15" dirty="0"/>
              <a:t> </a:t>
            </a:r>
            <a:r>
              <a:rPr spc="215" dirty="0"/>
              <a:t>Triad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3420" y="1750060"/>
            <a:ext cx="3385820" cy="4826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 rotWithShape="1">
          <a:blip r:embed="rId3" cstate="print"/>
          <a:srcRect l="57640"/>
          <a:stretch/>
        </p:blipFill>
        <p:spPr>
          <a:xfrm flipH="1">
            <a:off x="5648738" y="1750060"/>
            <a:ext cx="2598419" cy="4907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25045-8C4E-C4C7-0DDB-0DB9A51BDB9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2"/>
          <a:stretch/>
        </p:blipFill>
        <p:spPr>
          <a:xfrm>
            <a:off x="519654" y="3385808"/>
            <a:ext cx="4724400" cy="31402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B3E826-F686-5886-57E4-5EA7E9CF119E}"/>
              </a:ext>
            </a:extLst>
          </p:cNvPr>
          <p:cNvSpPr txBox="1"/>
          <p:nvPr/>
        </p:nvSpPr>
        <p:spPr>
          <a:xfrm>
            <a:off x="304800" y="2057400"/>
            <a:ext cx="4724400" cy="85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ACL + MCL + 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edial meniscus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from lateral force or twisting in extension</a:t>
            </a:r>
            <a:endParaRPr lang="en-GB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685800" y="2084053"/>
            <a:ext cx="7131050" cy="3528529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5"/>
              </a:spcBef>
            </a:pPr>
            <a:r>
              <a:rPr sz="3250" b="1" spc="5" dirty="0">
                <a:solidFill>
                  <a:srgbClr val="FFC000"/>
                </a:solidFill>
                <a:latin typeface="Arial"/>
                <a:cs typeface="Arial"/>
              </a:rPr>
              <a:t>Self-Assessment</a:t>
            </a:r>
            <a:r>
              <a:rPr sz="3250" b="1" spc="-10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50" b="1" spc="5" dirty="0">
                <a:solidFill>
                  <a:srgbClr val="FFC000"/>
                </a:solidFill>
                <a:latin typeface="Arial"/>
                <a:cs typeface="Arial"/>
              </a:rPr>
              <a:t>Questions</a:t>
            </a:r>
            <a:r>
              <a:rPr lang="en-GB" sz="3250" b="1" spc="5" dirty="0">
                <a:solidFill>
                  <a:srgbClr val="FFC000"/>
                </a:solidFill>
                <a:latin typeface="Arial"/>
                <a:cs typeface="Arial"/>
              </a:rPr>
              <a:t> Pt 3</a:t>
            </a:r>
            <a:endParaRPr sz="3250" dirty="0">
              <a:solidFill>
                <a:srgbClr val="FFC000"/>
              </a:solidFill>
              <a:latin typeface="Arial"/>
              <a:cs typeface="Arial"/>
            </a:endParaRPr>
          </a:p>
          <a:p>
            <a:pPr marL="375920" indent="-363855">
              <a:lnSpc>
                <a:spcPct val="100000"/>
              </a:lnSpc>
              <a:spcBef>
                <a:spcPts val="1595"/>
              </a:spcBef>
              <a:buAutoNum type="arabicPeriod"/>
              <a:tabLst>
                <a:tab pos="376555" algn="l"/>
              </a:tabLst>
            </a:pPr>
            <a:r>
              <a:rPr sz="2400" dirty="0">
                <a:latin typeface="Arial"/>
                <a:cs typeface="Arial"/>
              </a:rPr>
              <a:t>Name </a:t>
            </a:r>
            <a:r>
              <a:rPr sz="2400" spc="-10" dirty="0">
                <a:latin typeface="Arial"/>
                <a:cs typeface="Arial"/>
              </a:rPr>
              <a:t>five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structures</a:t>
            </a:r>
            <a:r>
              <a:rPr sz="2400" spc="-10" dirty="0">
                <a:latin typeface="Arial"/>
                <a:cs typeface="Arial"/>
              </a:rPr>
              <a:t> which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protect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lateral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side</a:t>
            </a:r>
            <a:endParaRPr sz="2400" dirty="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of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knee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joint?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375920" indent="-363855">
              <a:lnSpc>
                <a:spcPct val="100000"/>
              </a:lnSpc>
              <a:buAutoNum type="arabicPeriod" startAt="2"/>
              <a:tabLst>
                <a:tab pos="376555" algn="l"/>
              </a:tabLst>
            </a:pPr>
            <a:r>
              <a:rPr sz="2400" spc="10" dirty="0">
                <a:latin typeface="Arial"/>
                <a:cs typeface="Arial"/>
              </a:rPr>
              <a:t>Which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ligament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taut</a:t>
            </a:r>
            <a:r>
              <a:rPr sz="2400" dirty="0">
                <a:latin typeface="Arial"/>
                <a:cs typeface="Arial"/>
              </a:rPr>
              <a:t> during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flexion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knee?</a:t>
            </a: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AutoNum type="arabicPeriod" startAt="2"/>
            </a:pPr>
            <a:endParaRPr sz="2500" dirty="0">
              <a:latin typeface="Arial"/>
              <a:cs typeface="Arial"/>
            </a:endParaRPr>
          </a:p>
          <a:p>
            <a:pPr marL="375920" indent="-363855">
              <a:lnSpc>
                <a:spcPct val="100000"/>
              </a:lnSpc>
              <a:buAutoNum type="arabicPeriod" startAt="2"/>
              <a:tabLst>
                <a:tab pos="376555" algn="l"/>
              </a:tabLst>
            </a:pPr>
            <a:r>
              <a:rPr sz="2400" spc="10" dirty="0">
                <a:latin typeface="Arial"/>
                <a:cs typeface="Arial"/>
              </a:rPr>
              <a:t>Which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 </a:t>
            </a:r>
            <a:r>
              <a:rPr sz="2400" spc="-5" dirty="0">
                <a:latin typeface="Arial"/>
                <a:cs typeface="Arial"/>
              </a:rPr>
              <a:t>structures </a:t>
            </a:r>
            <a:r>
              <a:rPr sz="2400" dirty="0">
                <a:latin typeface="Arial"/>
                <a:cs typeface="Arial"/>
              </a:rPr>
              <a:t>are </a:t>
            </a:r>
            <a:r>
              <a:rPr sz="2400" spc="-5" dirty="0">
                <a:latin typeface="Arial"/>
                <a:cs typeface="Arial"/>
              </a:rPr>
              <a:t>involved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 a classical</a:t>
            </a:r>
          </a:p>
          <a:p>
            <a:pPr marL="37592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‘unhappy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triad’?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CE683818-C614-0220-278D-F09DF389FC90}"/>
              </a:ext>
            </a:extLst>
          </p:cNvPr>
          <p:cNvSpPr txBox="1">
            <a:spLocks/>
          </p:cNvSpPr>
          <p:nvPr/>
        </p:nvSpPr>
        <p:spPr>
          <a:xfrm>
            <a:off x="685800" y="528946"/>
            <a:ext cx="3672077" cy="696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3335" algn="l">
              <a:spcBef>
                <a:spcPts val="100"/>
              </a:spcBef>
            </a:pPr>
            <a:r>
              <a:rPr lang="en-GB" kern="0" spc="175" dirty="0"/>
              <a:t>The</a:t>
            </a:r>
            <a:r>
              <a:rPr lang="en-GB" kern="0" spc="-35" dirty="0"/>
              <a:t> </a:t>
            </a:r>
            <a:r>
              <a:rPr lang="en-GB" kern="0" spc="170" dirty="0"/>
              <a:t>Knee</a:t>
            </a:r>
            <a:r>
              <a:rPr lang="en-GB" kern="0" spc="-45" dirty="0"/>
              <a:t> </a:t>
            </a:r>
            <a:r>
              <a:rPr lang="en-GB" kern="0" spc="114" dirty="0"/>
              <a:t>Joint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FF0D665-DB3E-06DC-2CB4-CE144B62D4DF}"/>
              </a:ext>
            </a:extLst>
          </p:cNvPr>
          <p:cNvGrpSpPr/>
          <p:nvPr/>
        </p:nvGrpSpPr>
        <p:grpSpPr>
          <a:xfrm>
            <a:off x="8513297" y="0"/>
            <a:ext cx="3678703" cy="6858000"/>
            <a:chOff x="8513297" y="0"/>
            <a:chExt cx="3678703" cy="6858000"/>
          </a:xfrm>
        </p:grpSpPr>
        <p:pic>
          <p:nvPicPr>
            <p:cNvPr id="13" name="Picture 12" descr="A picture containing text, indoor, black, dark&#10;&#10;Description automatically generated">
              <a:extLst>
                <a:ext uri="{FF2B5EF4-FFF2-40B4-BE49-F238E27FC236}">
                  <a16:creationId xmlns:a16="http://schemas.microsoft.com/office/drawing/2014/main" id="{830745CB-3230-4909-F96E-FA6475DFCF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36" r="31466"/>
            <a:stretch/>
          </p:blipFill>
          <p:spPr>
            <a:xfrm>
              <a:off x="8513297" y="0"/>
              <a:ext cx="3672077" cy="68580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FFA6F2-4F37-C9DF-AF92-1BBB2D000865}"/>
                </a:ext>
              </a:extLst>
            </p:cNvPr>
            <p:cNvSpPr/>
            <p:nvPr/>
          </p:nvSpPr>
          <p:spPr>
            <a:xfrm>
              <a:off x="11353800" y="4038600"/>
              <a:ext cx="838200" cy="1066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494FC4-DD5A-B85B-E95B-F35533854E7D}"/>
              </a:ext>
            </a:extLst>
          </p:cNvPr>
          <p:cNvSpPr/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2770" y="375602"/>
            <a:ext cx="5972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185" dirty="0">
                <a:solidFill>
                  <a:srgbClr val="92D050"/>
                </a:solidFill>
              </a:rPr>
              <a:t>Part 4</a:t>
            </a:r>
            <a:endParaRPr spc="175" dirty="0">
              <a:solidFill>
                <a:srgbClr val="92D050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2000404"/>
            <a:ext cx="327660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Knee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Joint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2800" b="1" spc="-5" dirty="0">
                <a:solidFill>
                  <a:srgbClr val="92D050"/>
                </a:solidFill>
                <a:latin typeface="Arial"/>
                <a:cs typeface="Arial"/>
              </a:rPr>
              <a:t>Part</a:t>
            </a:r>
            <a:r>
              <a:rPr sz="2800" b="1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lang="en-GB" sz="2800" b="1" spc="-5" dirty="0">
                <a:solidFill>
                  <a:srgbClr val="92D050"/>
                </a:solidFill>
                <a:latin typeface="Arial"/>
                <a:cs typeface="Arial"/>
              </a:rPr>
              <a:t>4</a:t>
            </a:r>
            <a:r>
              <a:rPr sz="2800" b="1" spc="-5" dirty="0">
                <a:solidFill>
                  <a:srgbClr val="92D050"/>
                </a:solidFill>
                <a:latin typeface="Arial"/>
                <a:cs typeface="Arial"/>
              </a:rPr>
              <a:t>:</a:t>
            </a:r>
            <a:r>
              <a:rPr sz="2800" b="1" spc="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endParaRPr lang="en-GB" sz="2800" b="1" spc="5" dirty="0">
              <a:solidFill>
                <a:srgbClr val="92D05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GB" sz="2800" b="1" spc="-15" dirty="0">
                <a:solidFill>
                  <a:srgbClr val="0070C0"/>
                </a:solidFill>
                <a:latin typeface="Arial"/>
                <a:cs typeface="Arial"/>
              </a:rPr>
              <a:t>Bursae of the Knee</a:t>
            </a:r>
            <a:endParaRPr sz="28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pic>
        <p:nvPicPr>
          <p:cNvPr id="12" name="Picture 11" descr="A picture containing indoor&#10;&#10;Description automatically generated">
            <a:extLst>
              <a:ext uri="{FF2B5EF4-FFF2-40B4-BE49-F238E27FC236}">
                <a16:creationId xmlns:a16="http://schemas.microsoft.com/office/drawing/2014/main" id="{9DE28E25-B0D1-B482-12D1-EA964ABED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016" y="1600200"/>
            <a:ext cx="2929707" cy="5257800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E234435C-2CB8-BA61-CCC6-DC1AC8F75B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0600" y="1774613"/>
            <a:ext cx="1883875" cy="491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920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6050" y="601662"/>
            <a:ext cx="6821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Synovium</a:t>
            </a:r>
            <a:r>
              <a:rPr spc="-5" dirty="0"/>
              <a:t> </a:t>
            </a:r>
            <a:r>
              <a:rPr spc="100" dirty="0"/>
              <a:t>of</a:t>
            </a:r>
            <a:r>
              <a:rPr spc="-10" dirty="0"/>
              <a:t> </a:t>
            </a:r>
            <a:r>
              <a:rPr spc="240" dirty="0"/>
              <a:t>the</a:t>
            </a:r>
            <a:r>
              <a:rPr spc="-20" dirty="0"/>
              <a:t> </a:t>
            </a:r>
            <a:r>
              <a:rPr spc="165" dirty="0"/>
              <a:t>Knee</a:t>
            </a:r>
            <a:r>
              <a:rPr spc="-15" dirty="0"/>
              <a:t> </a:t>
            </a:r>
            <a:r>
              <a:rPr spc="114" dirty="0"/>
              <a:t>Joint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1676399"/>
            <a:ext cx="4943475" cy="51815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7D8218-203B-3FE3-B0AD-424B91E9256B}"/>
              </a:ext>
            </a:extLst>
          </p:cNvPr>
          <p:cNvSpPr txBox="1"/>
          <p:nvPr/>
        </p:nvSpPr>
        <p:spPr>
          <a:xfrm>
            <a:off x="609600" y="2209800"/>
            <a:ext cx="4343400" cy="3075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cruciate ligaments and popliteal tendon are inside the capsule - but lie OUTSIDE the synovial membrane (intra-capsular but extra-synovial)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endParaRPr lang="en-GB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cruciate ligaments get access to a blood supply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endParaRPr lang="en-GB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4409" y="601662"/>
            <a:ext cx="51263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Infrapatellar</a:t>
            </a:r>
            <a:r>
              <a:rPr spc="-20" dirty="0"/>
              <a:t> </a:t>
            </a:r>
            <a:r>
              <a:rPr spc="150" dirty="0"/>
              <a:t>Fat</a:t>
            </a:r>
            <a:r>
              <a:rPr spc="-25" dirty="0"/>
              <a:t> </a:t>
            </a:r>
            <a:r>
              <a:rPr spc="315" dirty="0"/>
              <a:t>Pad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2065990"/>
            <a:ext cx="4216497" cy="44196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929313" y="1698811"/>
            <a:ext cx="3042104" cy="4822639"/>
            <a:chOff x="7081139" y="1696720"/>
            <a:chExt cx="3042104" cy="482263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1139" y="1696720"/>
              <a:ext cx="2856357" cy="48226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 rot="1752718">
              <a:off x="9225353" y="4309256"/>
              <a:ext cx="897890" cy="281305"/>
            </a:xfrm>
            <a:custGeom>
              <a:avLst/>
              <a:gdLst/>
              <a:ahLst/>
              <a:cxnLst/>
              <a:rect l="l" t="t" r="r" b="b"/>
              <a:pathLst>
                <a:path w="897890" h="281304">
                  <a:moveTo>
                    <a:pt x="189654" y="74145"/>
                  </a:moveTo>
                  <a:lnTo>
                    <a:pt x="180811" y="111117"/>
                  </a:lnTo>
                  <a:lnTo>
                    <a:pt x="889000" y="280924"/>
                  </a:lnTo>
                  <a:lnTo>
                    <a:pt x="897889" y="243840"/>
                  </a:lnTo>
                  <a:lnTo>
                    <a:pt x="189654" y="74145"/>
                  </a:lnTo>
                  <a:close/>
                </a:path>
                <a:path w="897890" h="281304">
                  <a:moveTo>
                    <a:pt x="207390" y="0"/>
                  </a:moveTo>
                  <a:lnTo>
                    <a:pt x="0" y="48260"/>
                  </a:lnTo>
                  <a:lnTo>
                    <a:pt x="163067" y="185293"/>
                  </a:lnTo>
                  <a:lnTo>
                    <a:pt x="180811" y="111117"/>
                  </a:lnTo>
                  <a:lnTo>
                    <a:pt x="162305" y="106680"/>
                  </a:lnTo>
                  <a:lnTo>
                    <a:pt x="171195" y="69723"/>
                  </a:lnTo>
                  <a:lnTo>
                    <a:pt x="190712" y="69723"/>
                  </a:lnTo>
                  <a:lnTo>
                    <a:pt x="207390" y="0"/>
                  </a:lnTo>
                  <a:close/>
                </a:path>
                <a:path w="897890" h="281304">
                  <a:moveTo>
                    <a:pt x="171195" y="69723"/>
                  </a:moveTo>
                  <a:lnTo>
                    <a:pt x="162305" y="106680"/>
                  </a:lnTo>
                  <a:lnTo>
                    <a:pt x="180811" y="111117"/>
                  </a:lnTo>
                  <a:lnTo>
                    <a:pt x="189654" y="74145"/>
                  </a:lnTo>
                  <a:lnTo>
                    <a:pt x="171195" y="69723"/>
                  </a:lnTo>
                  <a:close/>
                </a:path>
                <a:path w="897890" h="281304">
                  <a:moveTo>
                    <a:pt x="190712" y="69723"/>
                  </a:moveTo>
                  <a:lnTo>
                    <a:pt x="171195" y="69723"/>
                  </a:lnTo>
                  <a:lnTo>
                    <a:pt x="189654" y="74145"/>
                  </a:lnTo>
                  <a:lnTo>
                    <a:pt x="190712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68635" y="4876604"/>
            <a:ext cx="13709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Infrapatellar</a:t>
            </a:r>
            <a:endParaRPr sz="2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spc="5" dirty="0">
                <a:latin typeface="Arial"/>
                <a:cs typeface="Arial"/>
              </a:rPr>
              <a:t>fat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FA68D-846C-F7F7-D02C-1BE512673BB7}"/>
              </a:ext>
            </a:extLst>
          </p:cNvPr>
          <p:cNvSpPr txBox="1"/>
          <p:nvPr/>
        </p:nvSpPr>
        <p:spPr>
          <a:xfrm>
            <a:off x="446879" y="1928176"/>
            <a:ext cx="2545905" cy="4514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Infrapatellar fat pad (Hoffa’s fat pad) (intracapsular, </a:t>
            </a:r>
            <a:r>
              <a:rPr lang="en-GB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extrasynovial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- outside synovium, behind patellar tendon. Synovium sits on top.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Fat pad acts as cushion, prevents friction, fills the gap for stabilisation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Richly vascularised</a:t>
            </a:r>
            <a:endParaRPr lang="en-GB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3029" y="601662"/>
            <a:ext cx="84277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Infrapatellar</a:t>
            </a:r>
            <a:r>
              <a:rPr dirty="0"/>
              <a:t> </a:t>
            </a:r>
            <a:r>
              <a:rPr spc="150" dirty="0"/>
              <a:t>Fat</a:t>
            </a:r>
            <a:r>
              <a:rPr dirty="0"/>
              <a:t> </a:t>
            </a:r>
            <a:r>
              <a:rPr spc="315" dirty="0"/>
              <a:t>Pad</a:t>
            </a:r>
            <a:r>
              <a:rPr spc="10" dirty="0"/>
              <a:t> </a:t>
            </a:r>
            <a:r>
              <a:rPr spc="235" dirty="0"/>
              <a:t>Attachments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990" y="1676399"/>
            <a:ext cx="4943475" cy="51815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80931" y="1803400"/>
            <a:ext cx="3136392" cy="48971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34659" y="1760220"/>
            <a:ext cx="339598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5310" y="601662"/>
            <a:ext cx="59639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70" dirty="0">
                <a:latin typeface="Times New Roman"/>
                <a:cs typeface="Times New Roman"/>
              </a:rPr>
              <a:t>Bursae</a:t>
            </a:r>
            <a:r>
              <a:rPr sz="4400" spc="-20" dirty="0">
                <a:latin typeface="Times New Roman"/>
                <a:cs typeface="Times New Roman"/>
              </a:rPr>
              <a:t> </a:t>
            </a:r>
            <a:r>
              <a:rPr sz="4400" spc="100" dirty="0">
                <a:latin typeface="Times New Roman"/>
                <a:cs typeface="Times New Roman"/>
              </a:rPr>
              <a:t>of</a:t>
            </a:r>
            <a:r>
              <a:rPr sz="4400" spc="-10" dirty="0">
                <a:latin typeface="Times New Roman"/>
                <a:cs typeface="Times New Roman"/>
              </a:rPr>
              <a:t> </a:t>
            </a:r>
            <a:r>
              <a:rPr sz="4400" spc="240" dirty="0">
                <a:latin typeface="Times New Roman"/>
                <a:cs typeface="Times New Roman"/>
              </a:rPr>
              <a:t>the</a:t>
            </a:r>
            <a:r>
              <a:rPr sz="4400" spc="-30" dirty="0">
                <a:latin typeface="Times New Roman"/>
                <a:cs typeface="Times New Roman"/>
              </a:rPr>
              <a:t> </a:t>
            </a:r>
            <a:r>
              <a:rPr sz="4400" spc="165" dirty="0">
                <a:latin typeface="Times New Roman"/>
                <a:cs typeface="Times New Roman"/>
              </a:rPr>
              <a:t>Knee</a:t>
            </a:r>
            <a:r>
              <a:rPr sz="4400" spc="5" dirty="0">
                <a:latin typeface="Times New Roman"/>
                <a:cs typeface="Times New Roman"/>
              </a:rPr>
              <a:t> </a:t>
            </a:r>
            <a:r>
              <a:rPr sz="4400" spc="114" dirty="0">
                <a:latin typeface="Times New Roman"/>
                <a:cs typeface="Times New Roman"/>
              </a:rPr>
              <a:t>Joint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2438400"/>
            <a:ext cx="7496493" cy="40981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2200" y="1769206"/>
            <a:ext cx="16179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Medial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view</a:t>
            </a:r>
            <a:endParaRPr lang="en-GB" sz="2400" spc="-1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F8855-5F6C-3EDA-A800-A524992773BB}"/>
              </a:ext>
            </a:extLst>
          </p:cNvPr>
          <p:cNvSpPr txBox="1"/>
          <p:nvPr/>
        </p:nvSpPr>
        <p:spPr>
          <a:xfrm>
            <a:off x="381000" y="1828800"/>
            <a:ext cx="3429000" cy="4668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Lots around knee - most protect tendons where they lie close to the bone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Prepatellar bursa protects the skin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 in continuity with joint - suprapatellar, semimembranosus, gastrocnemius, popliteal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Commonly the semimembranosus bursa &amp; the gastrocnemius bursa are combined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5399" y="1676400"/>
            <a:ext cx="5209347" cy="39265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0" y="2286000"/>
            <a:ext cx="3719216" cy="43408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44390" y="601662"/>
            <a:ext cx="39090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Popliteus</a:t>
            </a:r>
            <a:r>
              <a:rPr spc="-80" dirty="0"/>
              <a:t> </a:t>
            </a:r>
            <a:r>
              <a:rPr spc="175" dirty="0"/>
              <a:t>Bursa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C1BE8-06F4-DC9F-32F0-42035D39D335}"/>
              </a:ext>
            </a:extLst>
          </p:cNvPr>
          <p:cNvSpPr txBox="1"/>
          <p:nvPr/>
        </p:nvSpPr>
        <p:spPr>
          <a:xfrm>
            <a:off x="381000" y="1828800"/>
            <a:ext cx="3124200" cy="4832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Protects the popliteal tendon as it winds laterally under LCL to reach the lateral epicondyle of femur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Enlargement of these bursae - inflammation 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swelling = Baker’s Cyst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Can occur following any knee inflammation, but is commonly associated with inflammatory reaction in late stages of osteoarthritis of knee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1510" y="601662"/>
            <a:ext cx="58083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Popliteal</a:t>
            </a:r>
            <a:r>
              <a:rPr spc="-20" dirty="0"/>
              <a:t> </a:t>
            </a:r>
            <a:r>
              <a:rPr spc="55" dirty="0"/>
              <a:t>(Baker’s)</a:t>
            </a:r>
            <a:r>
              <a:rPr dirty="0"/>
              <a:t> </a:t>
            </a:r>
            <a:r>
              <a:rPr spc="195" dirty="0"/>
              <a:t>Cyst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800" y="1729739"/>
            <a:ext cx="4726940" cy="4912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9748" y="1661160"/>
            <a:ext cx="2642977" cy="49682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84903" y="601662"/>
            <a:ext cx="38239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Anserine</a:t>
            </a:r>
            <a:r>
              <a:rPr spc="-45" dirty="0"/>
              <a:t> </a:t>
            </a:r>
            <a:r>
              <a:rPr spc="175" dirty="0"/>
              <a:t>Bursa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57600" y="1828800"/>
            <a:ext cx="8032840" cy="4554538"/>
            <a:chOff x="1828800" y="1701800"/>
            <a:chExt cx="8910320" cy="5052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9876" y="1701800"/>
              <a:ext cx="4779244" cy="49834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800" y="1739898"/>
              <a:ext cx="4445000" cy="501396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4F23533-F449-3C14-2B93-F4E4FBD6F434}"/>
              </a:ext>
            </a:extLst>
          </p:cNvPr>
          <p:cNvSpPr txBox="1"/>
          <p:nvPr/>
        </p:nvSpPr>
        <p:spPr>
          <a:xfrm>
            <a:off x="381000" y="1828800"/>
            <a:ext cx="2514600" cy="1976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Most common bursa to be affected by running - constant friction, excessive rotation, valgus stress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4709" y="601662"/>
            <a:ext cx="54044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5" dirty="0"/>
              <a:t>Suprapatellar</a:t>
            </a:r>
            <a:r>
              <a:rPr spc="-50" dirty="0"/>
              <a:t> </a:t>
            </a:r>
            <a:r>
              <a:rPr spc="140" dirty="0"/>
              <a:t>Bursitis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05227" y="1750059"/>
            <a:ext cx="3041015" cy="5060315"/>
            <a:chOff x="1305227" y="1750059"/>
            <a:chExt cx="3041015" cy="5060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5227" y="1750059"/>
              <a:ext cx="2738452" cy="5060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87039" y="2915793"/>
              <a:ext cx="1358900" cy="789940"/>
            </a:xfrm>
            <a:custGeom>
              <a:avLst/>
              <a:gdLst/>
              <a:ahLst/>
              <a:cxnLst/>
              <a:rect l="l" t="t" r="r" b="b"/>
              <a:pathLst>
                <a:path w="1358900" h="789939">
                  <a:moveTo>
                    <a:pt x="238125" y="436626"/>
                  </a:moveTo>
                  <a:lnTo>
                    <a:pt x="0" y="789940"/>
                  </a:lnTo>
                  <a:lnTo>
                    <a:pt x="425450" y="768477"/>
                  </a:lnTo>
                  <a:lnTo>
                    <a:pt x="361072" y="654431"/>
                  </a:lnTo>
                  <a:lnTo>
                    <a:pt x="317373" y="654431"/>
                  </a:lnTo>
                  <a:lnTo>
                    <a:pt x="279908" y="588137"/>
                  </a:lnTo>
                  <a:lnTo>
                    <a:pt x="313076" y="569404"/>
                  </a:lnTo>
                  <a:lnTo>
                    <a:pt x="238125" y="436626"/>
                  </a:lnTo>
                  <a:close/>
                </a:path>
                <a:path w="1358900" h="789939">
                  <a:moveTo>
                    <a:pt x="313076" y="569404"/>
                  </a:moveTo>
                  <a:lnTo>
                    <a:pt x="279908" y="588137"/>
                  </a:lnTo>
                  <a:lnTo>
                    <a:pt x="317373" y="654431"/>
                  </a:lnTo>
                  <a:lnTo>
                    <a:pt x="350509" y="635717"/>
                  </a:lnTo>
                  <a:lnTo>
                    <a:pt x="313076" y="569404"/>
                  </a:lnTo>
                  <a:close/>
                </a:path>
                <a:path w="1358900" h="789939">
                  <a:moveTo>
                    <a:pt x="350509" y="635717"/>
                  </a:moveTo>
                  <a:lnTo>
                    <a:pt x="317373" y="654431"/>
                  </a:lnTo>
                  <a:lnTo>
                    <a:pt x="361072" y="654431"/>
                  </a:lnTo>
                  <a:lnTo>
                    <a:pt x="350509" y="635717"/>
                  </a:lnTo>
                  <a:close/>
                </a:path>
                <a:path w="1358900" h="789939">
                  <a:moveTo>
                    <a:pt x="1321308" y="0"/>
                  </a:moveTo>
                  <a:lnTo>
                    <a:pt x="313076" y="569404"/>
                  </a:lnTo>
                  <a:lnTo>
                    <a:pt x="350509" y="635717"/>
                  </a:lnTo>
                  <a:lnTo>
                    <a:pt x="1358773" y="66294"/>
                  </a:lnTo>
                  <a:lnTo>
                    <a:pt x="13213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179" y="1709420"/>
            <a:ext cx="6413500" cy="492506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0770" y="601662"/>
            <a:ext cx="49523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Pre-Patellar</a:t>
            </a:r>
            <a:r>
              <a:rPr spc="-50" dirty="0"/>
              <a:t> </a:t>
            </a:r>
            <a:r>
              <a:rPr spc="140" dirty="0"/>
              <a:t>Bursitis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05227" y="1750059"/>
            <a:ext cx="3823335" cy="5060315"/>
            <a:chOff x="1305227" y="1750059"/>
            <a:chExt cx="3823335" cy="5060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5227" y="1750059"/>
              <a:ext cx="2738452" cy="5060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69360" y="3248533"/>
              <a:ext cx="1358900" cy="789940"/>
            </a:xfrm>
            <a:custGeom>
              <a:avLst/>
              <a:gdLst/>
              <a:ahLst/>
              <a:cxnLst/>
              <a:rect l="l" t="t" r="r" b="b"/>
              <a:pathLst>
                <a:path w="1358900" h="789939">
                  <a:moveTo>
                    <a:pt x="238125" y="436625"/>
                  </a:moveTo>
                  <a:lnTo>
                    <a:pt x="0" y="789939"/>
                  </a:lnTo>
                  <a:lnTo>
                    <a:pt x="425450" y="768476"/>
                  </a:lnTo>
                  <a:lnTo>
                    <a:pt x="361072" y="654430"/>
                  </a:lnTo>
                  <a:lnTo>
                    <a:pt x="317373" y="654430"/>
                  </a:lnTo>
                  <a:lnTo>
                    <a:pt x="279907" y="588136"/>
                  </a:lnTo>
                  <a:lnTo>
                    <a:pt x="313076" y="569404"/>
                  </a:lnTo>
                  <a:lnTo>
                    <a:pt x="238125" y="436625"/>
                  </a:lnTo>
                  <a:close/>
                </a:path>
                <a:path w="1358900" h="789939">
                  <a:moveTo>
                    <a:pt x="313076" y="569404"/>
                  </a:moveTo>
                  <a:lnTo>
                    <a:pt x="279907" y="588136"/>
                  </a:lnTo>
                  <a:lnTo>
                    <a:pt x="317373" y="654430"/>
                  </a:lnTo>
                  <a:lnTo>
                    <a:pt x="350509" y="635717"/>
                  </a:lnTo>
                  <a:lnTo>
                    <a:pt x="313076" y="569404"/>
                  </a:lnTo>
                  <a:close/>
                </a:path>
                <a:path w="1358900" h="789939">
                  <a:moveTo>
                    <a:pt x="350509" y="635717"/>
                  </a:moveTo>
                  <a:lnTo>
                    <a:pt x="317373" y="654430"/>
                  </a:lnTo>
                  <a:lnTo>
                    <a:pt x="361072" y="654430"/>
                  </a:lnTo>
                  <a:lnTo>
                    <a:pt x="350509" y="635717"/>
                  </a:lnTo>
                  <a:close/>
                </a:path>
                <a:path w="1358900" h="789939">
                  <a:moveTo>
                    <a:pt x="1321307" y="0"/>
                  </a:moveTo>
                  <a:lnTo>
                    <a:pt x="313076" y="569404"/>
                  </a:lnTo>
                  <a:lnTo>
                    <a:pt x="350509" y="635717"/>
                  </a:lnTo>
                  <a:lnTo>
                    <a:pt x="1358773" y="66293"/>
                  </a:lnTo>
                  <a:lnTo>
                    <a:pt x="13213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3200" y="1856739"/>
            <a:ext cx="6327140" cy="46710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9329" y="601662"/>
            <a:ext cx="5137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Infrapatellar</a:t>
            </a:r>
            <a:r>
              <a:rPr spc="-45" dirty="0"/>
              <a:t> </a:t>
            </a:r>
            <a:r>
              <a:rPr spc="140" dirty="0"/>
              <a:t>Bursitis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05227" y="1750059"/>
            <a:ext cx="3754754" cy="5060315"/>
            <a:chOff x="1305227" y="1750059"/>
            <a:chExt cx="3754754" cy="5060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5227" y="1750059"/>
              <a:ext cx="2738452" cy="5060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02660" y="4521072"/>
              <a:ext cx="1557020" cy="1824989"/>
            </a:xfrm>
            <a:custGeom>
              <a:avLst/>
              <a:gdLst/>
              <a:ahLst/>
              <a:cxnLst/>
              <a:rect l="l" t="t" r="r" b="b"/>
              <a:pathLst>
                <a:path w="1557020" h="1824989">
                  <a:moveTo>
                    <a:pt x="1197737" y="1755432"/>
                  </a:moveTo>
                  <a:lnTo>
                    <a:pt x="362800" y="1377378"/>
                  </a:lnTo>
                  <a:lnTo>
                    <a:pt x="369925" y="1361630"/>
                  </a:lnTo>
                  <a:lnTo>
                    <a:pt x="425704" y="1238516"/>
                  </a:lnTo>
                  <a:lnTo>
                    <a:pt x="0" y="1254887"/>
                  </a:lnTo>
                  <a:lnTo>
                    <a:pt x="268478" y="1585582"/>
                  </a:lnTo>
                  <a:lnTo>
                    <a:pt x="331368" y="1446758"/>
                  </a:lnTo>
                  <a:lnTo>
                    <a:pt x="1166368" y="1824850"/>
                  </a:lnTo>
                  <a:lnTo>
                    <a:pt x="1197737" y="1755432"/>
                  </a:lnTo>
                  <a:close/>
                </a:path>
                <a:path w="1557020" h="1824989">
                  <a:moveTo>
                    <a:pt x="1556893" y="66294"/>
                  </a:moveTo>
                  <a:lnTo>
                    <a:pt x="1519428" y="0"/>
                  </a:lnTo>
                  <a:lnTo>
                    <a:pt x="511187" y="569417"/>
                  </a:lnTo>
                  <a:lnTo>
                    <a:pt x="436245" y="436626"/>
                  </a:lnTo>
                  <a:lnTo>
                    <a:pt x="198120" y="789940"/>
                  </a:lnTo>
                  <a:lnTo>
                    <a:pt x="623570" y="768477"/>
                  </a:lnTo>
                  <a:lnTo>
                    <a:pt x="559181" y="654431"/>
                  </a:lnTo>
                  <a:lnTo>
                    <a:pt x="548627" y="635723"/>
                  </a:lnTo>
                  <a:lnTo>
                    <a:pt x="1556893" y="662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9739" y="1719103"/>
            <a:ext cx="2866927" cy="491992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00626" y="1719103"/>
            <a:ext cx="2854611" cy="491992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6770" y="601662"/>
            <a:ext cx="54597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Treatment</a:t>
            </a:r>
            <a:r>
              <a:rPr spc="-20" dirty="0"/>
              <a:t> </a:t>
            </a:r>
            <a:r>
              <a:rPr spc="155" dirty="0"/>
              <a:t>for</a:t>
            </a:r>
            <a:r>
              <a:rPr spc="-30" dirty="0"/>
              <a:t> </a:t>
            </a:r>
            <a:r>
              <a:rPr spc="130" dirty="0"/>
              <a:t>Bursitis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1376" y="1785938"/>
            <a:ext cx="4246880" cy="4470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4699" y="1831657"/>
            <a:ext cx="4184165" cy="44704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0E874F-AD7B-1D9C-CA14-3FF2103AA24D}"/>
              </a:ext>
            </a:extLst>
          </p:cNvPr>
          <p:cNvSpPr txBox="1"/>
          <p:nvPr/>
        </p:nvSpPr>
        <p:spPr>
          <a:xfrm>
            <a:off x="381000" y="1828800"/>
            <a:ext cx="2590800" cy="1976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Excess fluid removed by aspiration, and NSAID agents are used to treat the inflammation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699053" y="2084053"/>
            <a:ext cx="6920948" cy="3528529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L="143510" algn="l">
              <a:lnSpc>
                <a:spcPct val="100000"/>
              </a:lnSpc>
              <a:spcBef>
                <a:spcPts val="1555"/>
              </a:spcBef>
            </a:pPr>
            <a:r>
              <a:rPr sz="3250" b="1" spc="5" dirty="0">
                <a:solidFill>
                  <a:srgbClr val="92D050"/>
                </a:solidFill>
                <a:latin typeface="Arial"/>
                <a:cs typeface="Arial"/>
              </a:rPr>
              <a:t>Self-Assessment</a:t>
            </a:r>
            <a:r>
              <a:rPr sz="3250" b="1" spc="-10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3250" b="1" spc="5" dirty="0">
                <a:solidFill>
                  <a:srgbClr val="92D050"/>
                </a:solidFill>
                <a:latin typeface="Arial"/>
                <a:cs typeface="Arial"/>
              </a:rPr>
              <a:t>Questions</a:t>
            </a:r>
            <a:r>
              <a:rPr lang="en-GB" sz="3250" b="1" spc="5" dirty="0">
                <a:solidFill>
                  <a:srgbClr val="92D050"/>
                </a:solidFill>
                <a:latin typeface="Arial"/>
                <a:cs typeface="Arial"/>
              </a:rPr>
              <a:t> Pt 4</a:t>
            </a:r>
            <a:endParaRPr sz="3250" dirty="0">
              <a:solidFill>
                <a:srgbClr val="92D050"/>
              </a:solidFill>
              <a:latin typeface="Arial"/>
              <a:cs typeface="Arial"/>
            </a:endParaRPr>
          </a:p>
          <a:p>
            <a:pPr marL="486409" indent="-363855" algn="l">
              <a:lnSpc>
                <a:spcPct val="100000"/>
              </a:lnSpc>
              <a:spcBef>
                <a:spcPts val="1595"/>
              </a:spcBef>
              <a:buAutoNum type="arabicPeriod"/>
              <a:tabLst>
                <a:tab pos="487045" algn="l"/>
              </a:tabLst>
            </a:pPr>
            <a:r>
              <a:rPr sz="2400" dirty="0"/>
              <a:t>Name</a:t>
            </a:r>
            <a:r>
              <a:rPr sz="2400" spc="-5" dirty="0"/>
              <a:t> four </a:t>
            </a:r>
            <a:r>
              <a:rPr sz="2400" dirty="0"/>
              <a:t>bursae</a:t>
            </a:r>
            <a:r>
              <a:rPr sz="2400" spc="-30" dirty="0"/>
              <a:t> </a:t>
            </a:r>
            <a:r>
              <a:rPr sz="2400" dirty="0"/>
              <a:t>that </a:t>
            </a:r>
            <a:r>
              <a:rPr sz="2400" spc="-5" dirty="0"/>
              <a:t>are</a:t>
            </a:r>
            <a:r>
              <a:rPr sz="2400" spc="-20" dirty="0"/>
              <a:t> </a:t>
            </a:r>
            <a:r>
              <a:rPr sz="2400" dirty="0"/>
              <a:t>continuous</a:t>
            </a:r>
            <a:r>
              <a:rPr sz="2400" spc="-15" dirty="0"/>
              <a:t> </a:t>
            </a:r>
            <a:r>
              <a:rPr sz="2400" spc="-10" dirty="0"/>
              <a:t>with</a:t>
            </a:r>
            <a:r>
              <a:rPr sz="2400" spc="20" dirty="0"/>
              <a:t> </a:t>
            </a:r>
            <a:r>
              <a:rPr sz="2400" spc="-5" dirty="0"/>
              <a:t>the</a:t>
            </a:r>
            <a:endParaRPr sz="2400" dirty="0"/>
          </a:p>
          <a:p>
            <a:pPr marL="486409" algn="l">
              <a:lnSpc>
                <a:spcPct val="100000"/>
              </a:lnSpc>
            </a:pPr>
            <a:r>
              <a:rPr sz="2400" spc="-5" dirty="0"/>
              <a:t>cavity</a:t>
            </a:r>
            <a:r>
              <a:rPr sz="2400" spc="-10" dirty="0"/>
              <a:t> </a:t>
            </a:r>
            <a:r>
              <a:rPr sz="2400" dirty="0"/>
              <a:t>of</a:t>
            </a:r>
            <a:r>
              <a:rPr sz="2400" spc="-25" dirty="0"/>
              <a:t> </a:t>
            </a:r>
            <a:r>
              <a:rPr sz="2400" spc="-5" dirty="0"/>
              <a:t>the</a:t>
            </a:r>
            <a:r>
              <a:rPr sz="2400" spc="-15" dirty="0"/>
              <a:t> </a:t>
            </a:r>
            <a:r>
              <a:rPr sz="2400" dirty="0"/>
              <a:t>knee</a:t>
            </a:r>
            <a:r>
              <a:rPr sz="2400" spc="-10" dirty="0"/>
              <a:t> </a:t>
            </a:r>
            <a:r>
              <a:rPr sz="2400" dirty="0"/>
              <a:t>joint.</a:t>
            </a:r>
          </a:p>
          <a:p>
            <a:pPr marL="110489" algn="l">
              <a:lnSpc>
                <a:spcPct val="100000"/>
              </a:lnSpc>
              <a:spcBef>
                <a:spcPts val="5"/>
              </a:spcBef>
            </a:pPr>
            <a:endParaRPr sz="2500" dirty="0"/>
          </a:p>
          <a:p>
            <a:pPr marL="486409" indent="-363855" algn="l">
              <a:lnSpc>
                <a:spcPct val="100000"/>
              </a:lnSpc>
              <a:buAutoNum type="arabicPeriod" startAt="2"/>
              <a:tabLst>
                <a:tab pos="487045" algn="l"/>
              </a:tabLst>
            </a:pPr>
            <a:r>
              <a:rPr sz="2400" spc="10" dirty="0"/>
              <a:t>Which</a:t>
            </a:r>
            <a:r>
              <a:rPr sz="2400" spc="-70" dirty="0"/>
              <a:t> </a:t>
            </a:r>
            <a:r>
              <a:rPr sz="2400" dirty="0"/>
              <a:t>bursa</a:t>
            </a:r>
            <a:r>
              <a:rPr sz="2400" spc="-5" dirty="0"/>
              <a:t> </a:t>
            </a:r>
            <a:r>
              <a:rPr sz="2400" dirty="0"/>
              <a:t>may</a:t>
            </a:r>
            <a:r>
              <a:rPr sz="2400" spc="-20" dirty="0"/>
              <a:t> </a:t>
            </a:r>
            <a:r>
              <a:rPr sz="2400" dirty="0"/>
              <a:t>be</a:t>
            </a:r>
            <a:r>
              <a:rPr sz="2400" spc="-5" dirty="0"/>
              <a:t> </a:t>
            </a:r>
            <a:r>
              <a:rPr sz="2400" dirty="0"/>
              <a:t>inflamed</a:t>
            </a:r>
            <a:r>
              <a:rPr sz="2400" spc="-30" dirty="0"/>
              <a:t> </a:t>
            </a:r>
            <a:r>
              <a:rPr sz="2400" dirty="0"/>
              <a:t>if</a:t>
            </a:r>
            <a:r>
              <a:rPr sz="2400" spc="-15" dirty="0"/>
              <a:t> </a:t>
            </a:r>
            <a:r>
              <a:rPr sz="2400" dirty="0"/>
              <a:t>there</a:t>
            </a:r>
            <a:r>
              <a:rPr sz="2400" spc="-5" dirty="0"/>
              <a:t> </a:t>
            </a:r>
            <a:r>
              <a:rPr sz="2400" dirty="0"/>
              <a:t>is</a:t>
            </a:r>
            <a:r>
              <a:rPr sz="2400" spc="-5" dirty="0"/>
              <a:t> </a:t>
            </a:r>
            <a:r>
              <a:rPr sz="2400" dirty="0"/>
              <a:t>pain</a:t>
            </a:r>
            <a:r>
              <a:rPr sz="2400" spc="-5" dirty="0"/>
              <a:t> </a:t>
            </a:r>
            <a:r>
              <a:rPr sz="2400" dirty="0"/>
              <a:t>on</a:t>
            </a:r>
            <a:r>
              <a:rPr sz="2400" spc="-5" dirty="0"/>
              <a:t> the</a:t>
            </a:r>
            <a:r>
              <a:rPr lang="en-GB" sz="2400" spc="-5" dirty="0"/>
              <a:t> </a:t>
            </a:r>
            <a:r>
              <a:rPr sz="2400" dirty="0"/>
              <a:t>medial</a:t>
            </a:r>
            <a:r>
              <a:rPr sz="2400" spc="-10" dirty="0"/>
              <a:t> </a:t>
            </a:r>
            <a:r>
              <a:rPr sz="2400" spc="-5" dirty="0"/>
              <a:t>side</a:t>
            </a:r>
            <a:r>
              <a:rPr sz="2400" spc="-35" dirty="0"/>
              <a:t> </a:t>
            </a:r>
            <a:r>
              <a:rPr sz="2400" dirty="0"/>
              <a:t>of</a:t>
            </a:r>
            <a:r>
              <a:rPr sz="2400" spc="-25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joint?</a:t>
            </a:r>
          </a:p>
          <a:p>
            <a:pPr marL="110489" algn="l">
              <a:lnSpc>
                <a:spcPct val="100000"/>
              </a:lnSpc>
              <a:spcBef>
                <a:spcPts val="5"/>
              </a:spcBef>
            </a:pPr>
            <a:endParaRPr sz="2500" dirty="0"/>
          </a:p>
          <a:p>
            <a:pPr marL="486409" indent="-363855" algn="l">
              <a:lnSpc>
                <a:spcPct val="100000"/>
              </a:lnSpc>
              <a:buAutoNum type="arabicPeriod" startAt="3"/>
              <a:tabLst>
                <a:tab pos="487045" algn="l"/>
              </a:tabLst>
            </a:pPr>
            <a:r>
              <a:rPr sz="2400" spc="10" dirty="0"/>
              <a:t>Which</a:t>
            </a:r>
            <a:r>
              <a:rPr sz="2400" spc="-75" dirty="0"/>
              <a:t> </a:t>
            </a:r>
            <a:r>
              <a:rPr sz="2400" dirty="0"/>
              <a:t>bursa</a:t>
            </a:r>
            <a:r>
              <a:rPr sz="2400" spc="-5" dirty="0"/>
              <a:t> is</a:t>
            </a:r>
            <a:r>
              <a:rPr sz="2400" spc="-10" dirty="0"/>
              <a:t> </a:t>
            </a:r>
            <a:r>
              <a:rPr sz="2400" dirty="0"/>
              <a:t>inflamed</a:t>
            </a:r>
            <a:r>
              <a:rPr sz="2400" spc="-35" dirty="0"/>
              <a:t> </a:t>
            </a:r>
            <a:r>
              <a:rPr sz="2400" dirty="0"/>
              <a:t>in</a:t>
            </a:r>
            <a:r>
              <a:rPr sz="2400" spc="-10" dirty="0"/>
              <a:t> Clergyman’s</a:t>
            </a:r>
            <a:r>
              <a:rPr sz="2400" spc="20" dirty="0"/>
              <a:t> </a:t>
            </a:r>
            <a:r>
              <a:rPr sz="2400" spc="-5" dirty="0"/>
              <a:t>Knee?</a:t>
            </a:r>
            <a:endParaRPr sz="2400"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23DED44C-10B4-2981-F207-36490BF4379A}"/>
              </a:ext>
            </a:extLst>
          </p:cNvPr>
          <p:cNvSpPr txBox="1">
            <a:spLocks/>
          </p:cNvSpPr>
          <p:nvPr/>
        </p:nvSpPr>
        <p:spPr>
          <a:xfrm>
            <a:off x="685800" y="528946"/>
            <a:ext cx="3672077" cy="696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3335" algn="l">
              <a:spcBef>
                <a:spcPts val="100"/>
              </a:spcBef>
            </a:pPr>
            <a:r>
              <a:rPr lang="en-GB" kern="0" spc="175" dirty="0"/>
              <a:t>The</a:t>
            </a:r>
            <a:r>
              <a:rPr lang="en-GB" kern="0" spc="-35" dirty="0"/>
              <a:t> </a:t>
            </a:r>
            <a:r>
              <a:rPr lang="en-GB" kern="0" spc="170" dirty="0"/>
              <a:t>Knee</a:t>
            </a:r>
            <a:r>
              <a:rPr lang="en-GB" kern="0" spc="-45" dirty="0"/>
              <a:t> </a:t>
            </a:r>
            <a:r>
              <a:rPr lang="en-GB" kern="0" spc="114" dirty="0"/>
              <a:t>Joint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85F29C-D9E6-A3A3-384B-AB27B509A3EB}"/>
              </a:ext>
            </a:extLst>
          </p:cNvPr>
          <p:cNvGrpSpPr/>
          <p:nvPr/>
        </p:nvGrpSpPr>
        <p:grpSpPr>
          <a:xfrm>
            <a:off x="8513297" y="0"/>
            <a:ext cx="3678703" cy="6858000"/>
            <a:chOff x="8513297" y="0"/>
            <a:chExt cx="3678703" cy="6858000"/>
          </a:xfrm>
        </p:grpSpPr>
        <p:pic>
          <p:nvPicPr>
            <p:cNvPr id="18" name="Picture 17" descr="A picture containing text, indoor, black, dark&#10;&#10;Description automatically generated">
              <a:extLst>
                <a:ext uri="{FF2B5EF4-FFF2-40B4-BE49-F238E27FC236}">
                  <a16:creationId xmlns:a16="http://schemas.microsoft.com/office/drawing/2014/main" id="{DC3B2095-DFB6-7839-131F-D853C1DC02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36" r="31466"/>
            <a:stretch/>
          </p:blipFill>
          <p:spPr>
            <a:xfrm>
              <a:off x="8513297" y="0"/>
              <a:ext cx="3672077" cy="68580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7F53ED6-B1D7-2FAE-D3DC-A9261DD5C6B4}"/>
                </a:ext>
              </a:extLst>
            </p:cNvPr>
            <p:cNvSpPr/>
            <p:nvPr/>
          </p:nvSpPr>
          <p:spPr>
            <a:xfrm>
              <a:off x="11353800" y="4038600"/>
              <a:ext cx="838200" cy="1066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1933</TotalTime>
  <Words>2362</Words>
  <Application>Microsoft Macintosh PowerPoint</Application>
  <PresentationFormat>Widescreen</PresentationFormat>
  <Paragraphs>372</Paragraphs>
  <Slides>65</Slides>
  <Notes>8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Arial</vt:lpstr>
      <vt:lpstr>Calibri</vt:lpstr>
      <vt:lpstr>Courier New</vt:lpstr>
      <vt:lpstr>Times New Roman</vt:lpstr>
      <vt:lpstr>Wingdings</vt:lpstr>
      <vt:lpstr>Office Theme</vt:lpstr>
      <vt:lpstr>KNEE ANATOMY</vt:lpstr>
      <vt:lpstr>Learning Outcomes After this lecture you should be able to:</vt:lpstr>
      <vt:lpstr>Part 1</vt:lpstr>
      <vt:lpstr>The Knee Joint Overview</vt:lpstr>
      <vt:lpstr>The Knee Menisci</vt:lpstr>
      <vt:lpstr>Muscles Crossing the Knee Joint</vt:lpstr>
      <vt:lpstr>Muscles Crossing the Knee Joint</vt:lpstr>
      <vt:lpstr>Normal Range of Movements of the Knee</vt:lpstr>
      <vt:lpstr>Vasculature of the Knee Joint</vt:lpstr>
      <vt:lpstr>Neurovasculature of the Knee Joint</vt:lpstr>
      <vt:lpstr>Retinaculae of the Knee Joint</vt:lpstr>
      <vt:lpstr>Capsule of the Knee Joint</vt:lpstr>
      <vt:lpstr>Knee Dislocation</vt:lpstr>
      <vt:lpstr>The Patello-Femoral Joints</vt:lpstr>
      <vt:lpstr>The Patello-Femoral Articular Surfaces</vt:lpstr>
      <vt:lpstr>The Sunrise View</vt:lpstr>
      <vt:lpstr>PowerPoint Presentation</vt:lpstr>
      <vt:lpstr>PowerPoint Presentation</vt:lpstr>
      <vt:lpstr>Patello-Femoral Dislocation</vt:lpstr>
      <vt:lpstr>Patello-Femoral Dislocation</vt:lpstr>
      <vt:lpstr>Signs of Patello-Femoral Dislocation</vt:lpstr>
      <vt:lpstr>Q-Angle</vt:lpstr>
      <vt:lpstr>Measuring Q-Angle</vt:lpstr>
      <vt:lpstr>Knee Angles</vt:lpstr>
      <vt:lpstr>Knee Angles</vt:lpstr>
      <vt:lpstr>The Knee Joint</vt:lpstr>
      <vt:lpstr>Part 2</vt:lpstr>
      <vt:lpstr>Tibiofemoral Joints</vt:lpstr>
      <vt:lpstr>The Menisci</vt:lpstr>
      <vt:lpstr>Functions of the Menisci</vt:lpstr>
      <vt:lpstr>Tears of the Menisci</vt:lpstr>
      <vt:lpstr>Bucket-handle Tear</vt:lpstr>
      <vt:lpstr>Red Zones of the Menisci</vt:lpstr>
      <vt:lpstr>Tibio-Femoral Joint</vt:lpstr>
      <vt:lpstr>Tibio-Femoral Joint</vt:lpstr>
      <vt:lpstr>Popliteus Muscle</vt:lpstr>
      <vt:lpstr>The Knee Joint</vt:lpstr>
      <vt:lpstr>Part 3</vt:lpstr>
      <vt:lpstr>Collateral Ligaments</vt:lpstr>
      <vt:lpstr>Collateral Ligaments Function</vt:lpstr>
      <vt:lpstr>Additional support is provided by…</vt:lpstr>
      <vt:lpstr>Valgus Stress Test</vt:lpstr>
      <vt:lpstr>Varus Test Stress</vt:lpstr>
      <vt:lpstr>Cruciate Ligaments</vt:lpstr>
      <vt:lpstr>PowerPoint Presentation</vt:lpstr>
      <vt:lpstr>PowerPoint Presentation</vt:lpstr>
      <vt:lpstr>Anterior Cruciate Ligament</vt:lpstr>
      <vt:lpstr>Posterior Cruciate Ligament</vt:lpstr>
      <vt:lpstr>Cruciate Ligament Injury</vt:lpstr>
      <vt:lpstr>The Lachman’s Test</vt:lpstr>
      <vt:lpstr>The Unhappy Triad</vt:lpstr>
      <vt:lpstr>PowerPoint Presentation</vt:lpstr>
      <vt:lpstr>Part 4</vt:lpstr>
      <vt:lpstr>Synovium of the Knee Joint</vt:lpstr>
      <vt:lpstr>Infrapatellar Fat Pad</vt:lpstr>
      <vt:lpstr>Infrapatellar Fat Pad Attachments</vt:lpstr>
      <vt:lpstr>PowerPoint Presentation</vt:lpstr>
      <vt:lpstr>Popliteus Bursa</vt:lpstr>
      <vt:lpstr>Popliteal (Baker’s) Cyst</vt:lpstr>
      <vt:lpstr>Anserine Bursa</vt:lpstr>
      <vt:lpstr>Suprapatellar Bursitis</vt:lpstr>
      <vt:lpstr>Pre-Patellar Bursitis</vt:lpstr>
      <vt:lpstr>Infrapatellar Bursitis</vt:lpstr>
      <vt:lpstr>Treatment for Bursitis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Knee Joint</dc:title>
  <dc:creator>Dr. Alistair Hunter</dc:creator>
  <cp:lastModifiedBy>Mia Preece</cp:lastModifiedBy>
  <cp:revision>39</cp:revision>
  <dcterms:created xsi:type="dcterms:W3CDTF">2022-10-12T16:26:51Z</dcterms:created>
  <dcterms:modified xsi:type="dcterms:W3CDTF">2024-09-30T16:52:48Z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2020-08-23T00:00:00Z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2022-10-12T00:00:00Z</vt:filetime>
  </property>
</Properties>
</file>