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332" r:id="rId3"/>
    <p:sldId id="390" r:id="rId4"/>
    <p:sldId id="449" r:id="rId5"/>
    <p:sldId id="386" r:id="rId6"/>
    <p:sldId id="404" r:id="rId7"/>
    <p:sldId id="411" r:id="rId8"/>
    <p:sldId id="392" r:id="rId9"/>
    <p:sldId id="393" r:id="rId10"/>
    <p:sldId id="394" r:id="rId11"/>
    <p:sldId id="395" r:id="rId12"/>
    <p:sldId id="396" r:id="rId13"/>
    <p:sldId id="397" r:id="rId14"/>
    <p:sldId id="400" r:id="rId15"/>
    <p:sldId id="405" r:id="rId16"/>
    <p:sldId id="401" r:id="rId17"/>
    <p:sldId id="398" r:id="rId18"/>
    <p:sldId id="403" r:id="rId19"/>
    <p:sldId id="399" r:id="rId20"/>
    <p:sldId id="402" r:id="rId21"/>
    <p:sldId id="412" r:id="rId22"/>
    <p:sldId id="406" r:id="rId23"/>
    <p:sldId id="407" r:id="rId24"/>
    <p:sldId id="408" r:id="rId25"/>
    <p:sldId id="409" r:id="rId26"/>
    <p:sldId id="410" r:id="rId27"/>
    <p:sldId id="413" r:id="rId28"/>
    <p:sldId id="414" r:id="rId29"/>
    <p:sldId id="415" r:id="rId30"/>
    <p:sldId id="416" r:id="rId31"/>
    <p:sldId id="424" r:id="rId32"/>
    <p:sldId id="417" r:id="rId33"/>
    <p:sldId id="418" r:id="rId34"/>
    <p:sldId id="419" r:id="rId35"/>
    <p:sldId id="420" r:id="rId36"/>
    <p:sldId id="421" r:id="rId37"/>
    <p:sldId id="450" r:id="rId38"/>
    <p:sldId id="422" r:id="rId39"/>
    <p:sldId id="423" r:id="rId40"/>
    <p:sldId id="425" r:id="rId41"/>
    <p:sldId id="388" r:id="rId42"/>
    <p:sldId id="426" r:id="rId43"/>
    <p:sldId id="435" r:id="rId44"/>
    <p:sldId id="427" r:id="rId45"/>
    <p:sldId id="428" r:id="rId46"/>
    <p:sldId id="431" r:id="rId47"/>
    <p:sldId id="430" r:id="rId48"/>
    <p:sldId id="429" r:id="rId49"/>
    <p:sldId id="451" r:id="rId50"/>
    <p:sldId id="432" r:id="rId51"/>
    <p:sldId id="433" r:id="rId52"/>
    <p:sldId id="434" r:id="rId53"/>
    <p:sldId id="436" r:id="rId54"/>
    <p:sldId id="437" r:id="rId55"/>
    <p:sldId id="438" r:id="rId56"/>
    <p:sldId id="439" r:id="rId57"/>
    <p:sldId id="440" r:id="rId58"/>
    <p:sldId id="441" r:id="rId59"/>
    <p:sldId id="442" r:id="rId60"/>
    <p:sldId id="294" r:id="rId61"/>
    <p:sldId id="444" r:id="rId62"/>
    <p:sldId id="443" r:id="rId63"/>
    <p:sldId id="445" r:id="rId64"/>
    <p:sldId id="446" r:id="rId65"/>
    <p:sldId id="447" r:id="rId66"/>
    <p:sldId id="448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D0EA"/>
    <a:srgbClr val="CEE5AD"/>
    <a:srgbClr val="002060"/>
    <a:srgbClr val="41719C"/>
    <a:srgbClr val="F0F0F0"/>
    <a:srgbClr val="3C6F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82941"/>
  </p:normalViewPr>
  <p:slideViewPr>
    <p:cSldViewPr snapToGrid="0">
      <p:cViewPr varScale="1">
        <p:scale>
          <a:sx n="101" d="100"/>
          <a:sy n="101" d="100"/>
        </p:scale>
        <p:origin x="144" y="17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3E2A3-5B0C-4FBF-AEF2-2E82C0A12858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4FB67-35DD-4C59-B9B3-FC1E89746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49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398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994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690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150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444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689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748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881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944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669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591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964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27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282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845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957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775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37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061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7812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19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2118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194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5741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2473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432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5712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5000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6025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0014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4398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5322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0399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0646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6387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5745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5500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3024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8073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3232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7379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606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83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359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22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03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83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4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77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634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54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20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904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E2B33-783D-411D-984F-8A21DCCC5E47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759B-2E52-4DDF-AC4D-5203B0CBE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15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eUsGFLaqM6s?feature=oembed" TargetMode="External"/><Relationship Id="rId5" Type="http://schemas.openxmlformats.org/officeDocument/2006/relationships/image" Target="../media/image39.jpe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gi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713988"/>
            <a:ext cx="7766936" cy="1646302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 &amp; A</a:t>
            </a:r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nkle Anatomy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859367" y="3529941"/>
            <a:ext cx="7766936" cy="1587967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en-GB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PT4050 / PT7001</a:t>
            </a:r>
          </a:p>
          <a:p>
            <a:pPr algn="r"/>
            <a:endParaRPr lang="en-GB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Paul </a:t>
            </a:r>
            <a:r>
              <a:rPr lang="en-GB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Starrs</a:t>
            </a:r>
            <a:endParaRPr lang="en-GB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p.starrs@londonmet.ac.uk</a:t>
            </a:r>
            <a:endParaRPr lang="en-GB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59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19" y="326611"/>
            <a:ext cx="566013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LEARNING OUTCOMES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797820" y="1358900"/>
            <a:ext cx="8086121" cy="5172489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Describe the anatomical features (articular surface, ligaments etc.) of the ankle joint and know their importance in relation to its stability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Describe the movements of the ankle joint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Give an account of forced inversion and eversion injuries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Give an outline of the subtalar and mid-tarsal joints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Explain the condition of clubfoot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Describe the muscles that move the ankle, subtalar and mid-tarsal joints, including their nerve supply and attachments  </a:t>
            </a:r>
          </a:p>
        </p:txBody>
      </p:sp>
    </p:spTree>
    <p:extLst>
      <p:ext uri="{BB962C8B-B14F-4D97-AF65-F5344CB8AC3E}">
        <p14:creationId xmlns:p14="http://schemas.microsoft.com/office/powerpoint/2010/main" val="425260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19" y="326611"/>
            <a:ext cx="566013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LEARNING OUTCOMES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797820" y="1358900"/>
            <a:ext cx="8086121" cy="5172489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Describe the joints of the midfoot and forefoot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Outline the basis of hallux valgus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Give an account of the arches of the foot, and state the importance of the tendons and ligaments during standing and walking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Appreciate the principles of the organisation of the intrinsic muscles of the foot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Identify the structures involved in the extensor mechanism of the toes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bg1"/>
                </a:solidFill>
              </a:rPr>
              <a:t>Give an account of the neurovascular structures in the foot and know the cutaneous distribution of the nerves</a:t>
            </a:r>
          </a:p>
        </p:txBody>
      </p:sp>
    </p:spTree>
    <p:extLst>
      <p:ext uri="{BB962C8B-B14F-4D97-AF65-F5344CB8AC3E}">
        <p14:creationId xmlns:p14="http://schemas.microsoft.com/office/powerpoint/2010/main" val="117700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19" y="326611"/>
            <a:ext cx="566013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LEARNING ANATOMY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797820" y="1358900"/>
            <a:ext cx="8086121" cy="5172489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14350" indent="-514350">
              <a:buFont typeface="+mj-lt"/>
              <a:buAutoNum type="arabicPeriod"/>
            </a:pPr>
            <a:r>
              <a:rPr lang="en-GB" sz="2600" dirty="0">
                <a:solidFill>
                  <a:schemeClr val="bg1"/>
                </a:solidFill>
              </a:rPr>
              <a:t>Learn the basic anatomical terms i.e. superior, inferior, proximal, distal, medial, lateral, etc.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dirty="0">
                <a:solidFill>
                  <a:schemeClr val="bg1"/>
                </a:solidFill>
              </a:rPr>
              <a:t>Learn the names of the bones and joints, as well as the movements available at each of the joints and what these movements look like (from a human anatomy textbook)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dirty="0">
                <a:solidFill>
                  <a:schemeClr val="bg1"/>
                </a:solidFill>
              </a:rPr>
              <a:t>Revise the names of the bony landmarks around each of the joints (from a human anatomy textbook)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dirty="0">
                <a:solidFill>
                  <a:schemeClr val="bg1"/>
                </a:solidFill>
              </a:rPr>
              <a:t>Revise the names of the muscles around each of the joints, as well as their origin, insertion and 'actions' (from a human anatomy textbook)</a:t>
            </a:r>
          </a:p>
        </p:txBody>
      </p:sp>
    </p:spTree>
    <p:extLst>
      <p:ext uri="{BB962C8B-B14F-4D97-AF65-F5344CB8AC3E}">
        <p14:creationId xmlns:p14="http://schemas.microsoft.com/office/powerpoint/2010/main" val="259358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6633547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BONES OF THE FOOT &amp; ANKLE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1"/>
            <a:ext cx="11096490" cy="502008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14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540000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THE FOOT &amp; ANKLE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primary functions of the foot are to provide a stable platform of support to attenuate impact loading and to assist in the efficient forward propulsion of the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Composed of multiple, mobile and semirigid articulations that afford foot conformity to varying surface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To accomplish these tasks, the foot is made up of three sections: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/>
              <a:t>Hindfoot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/>
              <a:t>Midfoot,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/>
              <a:t>Forefoot</a:t>
            </a:r>
          </a:p>
        </p:txBody>
      </p:sp>
    </p:spTree>
    <p:extLst>
      <p:ext uri="{BB962C8B-B14F-4D97-AF65-F5344CB8AC3E}">
        <p14:creationId xmlns:p14="http://schemas.microsoft.com/office/powerpoint/2010/main" val="151725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713988"/>
            <a:ext cx="7766936" cy="1646302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Hindfoot</a:t>
            </a:r>
            <a:endParaRPr lang="en-GB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743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91357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TALOCRURAL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ankle joint, aka the talocrural joint, is made up of three bones: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2"/>
                </a:solidFill>
              </a:rPr>
              <a:t>FIBULA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6"/>
                </a:solidFill>
              </a:rPr>
              <a:t>TIBIA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4"/>
                </a:solidFill>
              </a:rPr>
              <a:t>TALUS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327F9D10-B5CA-499B-6B5B-2EDF8DB18C02}"/>
              </a:ext>
            </a:extLst>
          </p:cNvPr>
          <p:cNvSpPr/>
          <p:nvPr/>
        </p:nvSpPr>
        <p:spPr>
          <a:xfrm>
            <a:off x="10448818" y="3041151"/>
            <a:ext cx="1120253" cy="387849"/>
          </a:xfrm>
          <a:prstGeom prst="round2DiagRect">
            <a:avLst/>
          </a:prstGeom>
          <a:solidFill>
            <a:schemeClr val="accent2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FIBULA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F28DDE87-3E89-C28E-D363-716AC2C20DDF}"/>
              </a:ext>
            </a:extLst>
          </p:cNvPr>
          <p:cNvSpPr/>
          <p:nvPr/>
        </p:nvSpPr>
        <p:spPr>
          <a:xfrm>
            <a:off x="8452668" y="2653302"/>
            <a:ext cx="1120253" cy="387849"/>
          </a:xfrm>
          <a:prstGeom prst="round2DiagRect">
            <a:avLst/>
          </a:prstGeom>
          <a:solidFill>
            <a:schemeClr val="accent6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TIBIA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2CB0AF59-DEFE-74F6-8BE7-ECE25823087B}"/>
              </a:ext>
            </a:extLst>
          </p:cNvPr>
          <p:cNvSpPr/>
          <p:nvPr/>
        </p:nvSpPr>
        <p:spPr>
          <a:xfrm>
            <a:off x="8378966" y="3555480"/>
            <a:ext cx="1120253" cy="387849"/>
          </a:xfrm>
          <a:prstGeom prst="round2DiagRect">
            <a:avLst/>
          </a:prstGeom>
          <a:solidFill>
            <a:schemeClr val="accent4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TALUS</a:t>
            </a:r>
          </a:p>
        </p:txBody>
      </p:sp>
    </p:spTree>
    <p:extLst>
      <p:ext uri="{BB962C8B-B14F-4D97-AF65-F5344CB8AC3E}">
        <p14:creationId xmlns:p14="http://schemas.microsoft.com/office/powerpoint/2010/main" val="179391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91357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TALOCRURAL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articular surfaces of the talocrural joint are the: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Distal end of the </a:t>
            </a:r>
            <a:r>
              <a:rPr lang="en-GB" sz="2400" dirty="0">
                <a:solidFill>
                  <a:schemeClr val="accent2"/>
                </a:solidFill>
              </a:rPr>
              <a:t>FIBULA </a:t>
            </a:r>
            <a:r>
              <a:rPr lang="en-GB" sz="2400" dirty="0">
                <a:solidFill>
                  <a:schemeClr val="bg1"/>
                </a:solidFill>
              </a:rPr>
              <a:t>(specifically the lateral malleolus)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Distal end of the </a:t>
            </a:r>
            <a:r>
              <a:rPr lang="en-GB" sz="2400" dirty="0">
                <a:solidFill>
                  <a:schemeClr val="accent6"/>
                </a:solidFill>
              </a:rPr>
              <a:t>TIBIA </a:t>
            </a:r>
            <a:r>
              <a:rPr lang="en-GB" sz="2400" dirty="0">
                <a:solidFill>
                  <a:schemeClr val="bg1"/>
                </a:solidFill>
              </a:rPr>
              <a:t>(medial malleolus and tibial plafond)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Dome of the </a:t>
            </a:r>
            <a:r>
              <a:rPr lang="en-GB" sz="2400" dirty="0">
                <a:solidFill>
                  <a:schemeClr val="accent4"/>
                </a:solidFill>
              </a:rPr>
              <a:t>TALUS</a:t>
            </a:r>
          </a:p>
          <a:p>
            <a:pPr marL="514350" indent="-5143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2"/>
                </a:solidFill>
              </a:rPr>
              <a:t>FIBULA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dirty="0">
                <a:solidFill>
                  <a:schemeClr val="accent6"/>
                </a:solidFill>
              </a:rPr>
              <a:t>TIBIA</a:t>
            </a:r>
            <a:r>
              <a:rPr lang="en-GB" sz="2400" dirty="0">
                <a:solidFill>
                  <a:schemeClr val="bg1"/>
                </a:solidFill>
              </a:rPr>
              <a:t> are concave, whereas, </a:t>
            </a:r>
            <a:r>
              <a:rPr lang="en-GB" sz="2400" dirty="0">
                <a:solidFill>
                  <a:schemeClr val="accent4"/>
                </a:solidFill>
              </a:rPr>
              <a:t>TALUS</a:t>
            </a:r>
            <a:r>
              <a:rPr lang="en-GB" sz="2400" dirty="0">
                <a:solidFill>
                  <a:schemeClr val="bg1"/>
                </a:solidFill>
              </a:rPr>
              <a:t> is convex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327F9D10-B5CA-499B-6B5B-2EDF8DB18C02}"/>
              </a:ext>
            </a:extLst>
          </p:cNvPr>
          <p:cNvSpPr/>
          <p:nvPr/>
        </p:nvSpPr>
        <p:spPr>
          <a:xfrm>
            <a:off x="10448818" y="3041151"/>
            <a:ext cx="1120253" cy="387849"/>
          </a:xfrm>
          <a:prstGeom prst="round2DiagRect">
            <a:avLst/>
          </a:prstGeom>
          <a:solidFill>
            <a:schemeClr val="accent2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FIBULA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F28DDE87-3E89-C28E-D363-716AC2C20DDF}"/>
              </a:ext>
            </a:extLst>
          </p:cNvPr>
          <p:cNvSpPr/>
          <p:nvPr/>
        </p:nvSpPr>
        <p:spPr>
          <a:xfrm>
            <a:off x="8452668" y="2653302"/>
            <a:ext cx="1120253" cy="387849"/>
          </a:xfrm>
          <a:prstGeom prst="round2DiagRect">
            <a:avLst/>
          </a:prstGeom>
          <a:solidFill>
            <a:schemeClr val="accent6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TIBIA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2CB0AF59-DEFE-74F6-8BE7-ECE25823087B}"/>
              </a:ext>
            </a:extLst>
          </p:cNvPr>
          <p:cNvSpPr/>
          <p:nvPr/>
        </p:nvSpPr>
        <p:spPr>
          <a:xfrm>
            <a:off x="8378966" y="3555480"/>
            <a:ext cx="1120253" cy="387849"/>
          </a:xfrm>
          <a:prstGeom prst="round2DiagRect">
            <a:avLst/>
          </a:prstGeom>
          <a:solidFill>
            <a:schemeClr val="accent4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TALUS</a:t>
            </a:r>
          </a:p>
        </p:txBody>
      </p:sp>
    </p:spTree>
    <p:extLst>
      <p:ext uri="{BB962C8B-B14F-4D97-AF65-F5344CB8AC3E}">
        <p14:creationId xmlns:p14="http://schemas.microsoft.com/office/powerpoint/2010/main" val="1441470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91357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TALOCRURAL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301508"/>
            <a:ext cx="5400000" cy="2587693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86" t="-2288" r="-1768" b="-3866"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Synovial hinge joint which permits one degree of movement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 appearance of the joint is a likened to a mortise and tenon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67A22828-3649-B044-FE94-E43A73A1B833}"/>
              </a:ext>
            </a:extLst>
          </p:cNvPr>
          <p:cNvSpPr/>
          <p:nvPr/>
        </p:nvSpPr>
        <p:spPr>
          <a:xfrm>
            <a:off x="6312795" y="4001509"/>
            <a:ext cx="5400000" cy="270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0210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91357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TALOCRURAL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Two movements: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rgbClr val="CEE5AD"/>
                </a:solidFill>
              </a:rPr>
              <a:t>DORSIFLEXION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PLANTARFLEXION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 dome of the talus is wider anteriorly than it is posteriorly. As such, the talus becomes firmly wedged within the mortise in dorsiflexion</a:t>
            </a:r>
          </a:p>
        </p:txBody>
      </p:sp>
      <p:sp>
        <p:nvSpPr>
          <p:cNvPr id="2" name="Round Diagonal Corner Rectangle 7">
            <a:extLst>
              <a:ext uri="{FF2B5EF4-FFF2-40B4-BE49-F238E27FC236}">
                <a16:creationId xmlns:a16="http://schemas.microsoft.com/office/drawing/2014/main" id="{EAFC8D73-4F75-0C4C-059F-52D3F6385D6C}"/>
              </a:ext>
            </a:extLst>
          </p:cNvPr>
          <p:cNvSpPr/>
          <p:nvPr/>
        </p:nvSpPr>
        <p:spPr>
          <a:xfrm>
            <a:off x="6312795" y="1194868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28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540000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DISTAL TIB-FIB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402811"/>
            <a:ext cx="2700000" cy="624051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tibia and fibular also create a joint, at both the proximal and distal ends, of the bones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Distally, they are connected by the </a:t>
            </a:r>
            <a:r>
              <a:rPr lang="en-GB" sz="2400" dirty="0" err="1">
                <a:solidFill>
                  <a:schemeClr val="bg1"/>
                </a:solidFill>
              </a:rPr>
              <a:t>tibio</a:t>
            </a:r>
            <a:r>
              <a:rPr lang="en-GB" sz="2400" dirty="0">
                <a:solidFill>
                  <a:schemeClr val="bg1"/>
                </a:solidFill>
              </a:rPr>
              <a:t>-fibular ligament both anteriorly and posteriorly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 interosseous membrane, or the syndesmosis, runs the length of the shafts and stabilise the bones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BAD6ED19-ECB3-08F1-238C-948FDEFCA02B}"/>
              </a:ext>
            </a:extLst>
          </p:cNvPr>
          <p:cNvSpPr/>
          <p:nvPr/>
        </p:nvSpPr>
        <p:spPr>
          <a:xfrm>
            <a:off x="9252397" y="354350"/>
            <a:ext cx="2700000" cy="6240518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8152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540000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DISTAL TIB-FIB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80856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2" name="Media1">
            <a:hlinkClick r:id="" action="ppaction://media"/>
            <a:extLst>
              <a:ext uri="{FF2B5EF4-FFF2-40B4-BE49-F238E27FC236}">
                <a16:creationId xmlns:a16="http://schemas.microsoft.com/office/drawing/2014/main" id="{C2B6799D-5AD7-8DEE-BCC3-F0E430902071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1027" y="1326909"/>
            <a:ext cx="8028000" cy="5375785"/>
          </a:xfrm>
          <a:prstGeom prst="round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0835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91357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SUBTALAR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27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talocalcaneal articulation is referred to as the subtalar joint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articular surfaces of the subtalar joint are the: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Inferior surface of the </a:t>
            </a:r>
            <a:r>
              <a:rPr lang="en-GB" sz="2400" dirty="0">
                <a:solidFill>
                  <a:schemeClr val="accent4"/>
                </a:solidFill>
              </a:rPr>
              <a:t>TALUS</a:t>
            </a:r>
            <a:endParaRPr lang="en-GB" sz="2400" dirty="0">
              <a:solidFill>
                <a:schemeClr val="bg1"/>
              </a:solidFill>
            </a:endParaRP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Superior surface of the </a:t>
            </a:r>
            <a:r>
              <a:rPr lang="en-GB" sz="2400" dirty="0">
                <a:solidFill>
                  <a:schemeClr val="accent2"/>
                </a:solidFill>
              </a:rPr>
              <a:t>CALCANEUS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327F9D10-B5CA-499B-6B5B-2EDF8DB18C02}"/>
              </a:ext>
            </a:extLst>
          </p:cNvPr>
          <p:cNvSpPr/>
          <p:nvPr/>
        </p:nvSpPr>
        <p:spPr>
          <a:xfrm>
            <a:off x="10108446" y="2803479"/>
            <a:ext cx="1548771" cy="387849"/>
          </a:xfrm>
          <a:prstGeom prst="round2DiagRect">
            <a:avLst/>
          </a:prstGeom>
          <a:solidFill>
            <a:schemeClr val="accent2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CALCANEUS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2CB0AF59-DEFE-74F6-8BE7-ECE25823087B}"/>
              </a:ext>
            </a:extLst>
          </p:cNvPr>
          <p:cNvSpPr/>
          <p:nvPr/>
        </p:nvSpPr>
        <p:spPr>
          <a:xfrm>
            <a:off x="8547338" y="2205480"/>
            <a:ext cx="1120253" cy="387849"/>
          </a:xfrm>
          <a:prstGeom prst="round2DiagRect">
            <a:avLst/>
          </a:prstGeom>
          <a:solidFill>
            <a:schemeClr val="accent4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TALUS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3FCDF980-9C1A-F421-D974-7AF6252379A7}"/>
              </a:ext>
            </a:extLst>
          </p:cNvPr>
          <p:cNvSpPr/>
          <p:nvPr/>
        </p:nvSpPr>
        <p:spPr>
          <a:xfrm>
            <a:off x="6312795" y="4020570"/>
            <a:ext cx="5400000" cy="2700000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084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4848957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SUBTALAR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80856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3" name="Media3">
            <a:hlinkClick r:id="" action="ppaction://media"/>
            <a:extLst>
              <a:ext uri="{FF2B5EF4-FFF2-40B4-BE49-F238E27FC236}">
                <a16:creationId xmlns:a16="http://schemas.microsoft.com/office/drawing/2014/main" id="{0D8376BD-F3DF-83D7-D508-37AA78A340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2929" y="1335881"/>
            <a:ext cx="8085600" cy="5365627"/>
          </a:xfrm>
          <a:prstGeom prst="round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4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91357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SUBTALAR JOINT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Two movements: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INVERSION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EVERSION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67A22828-3649-B044-FE94-E43A73A1B833}"/>
              </a:ext>
            </a:extLst>
          </p:cNvPr>
          <p:cNvSpPr/>
          <p:nvPr/>
        </p:nvSpPr>
        <p:spPr>
          <a:xfrm>
            <a:off x="6312795" y="130150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33F45CC2-3B35-4703-3F88-61D50406281B}"/>
              </a:ext>
            </a:extLst>
          </p:cNvPr>
          <p:cNvSpPr/>
          <p:nvPr/>
        </p:nvSpPr>
        <p:spPr>
          <a:xfrm>
            <a:off x="9971314" y="2024740"/>
            <a:ext cx="1296000" cy="1440000"/>
          </a:xfrm>
          <a:prstGeom prst="curved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A15B0306-3C22-BD78-5774-25AB28F6EBB5}"/>
              </a:ext>
            </a:extLst>
          </p:cNvPr>
          <p:cNvSpPr/>
          <p:nvPr/>
        </p:nvSpPr>
        <p:spPr>
          <a:xfrm flipH="1">
            <a:off x="6981448" y="2024740"/>
            <a:ext cx="1296000" cy="1440000"/>
          </a:xfrm>
          <a:prstGeom prst="curv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25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91357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MEDIAL LIGAMENTS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medial aspect of the talocrural joint is stabilised by the Deltoid ligament complex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Resist excessive subtalar eversion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3CDD319F-EF86-2750-6C06-1DF3B3B52F73}"/>
              </a:ext>
            </a:extLst>
          </p:cNvPr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ound Diagonal Corner Rectangle 3">
            <a:extLst>
              <a:ext uri="{FF2B5EF4-FFF2-40B4-BE49-F238E27FC236}">
                <a16:creationId xmlns:a16="http://schemas.microsoft.com/office/drawing/2014/main" id="{8A5C88EC-113C-E5AA-613B-45CE6C766FAD}"/>
              </a:ext>
            </a:extLst>
          </p:cNvPr>
          <p:cNvSpPr/>
          <p:nvPr/>
        </p:nvSpPr>
        <p:spPr>
          <a:xfrm>
            <a:off x="6312795" y="402811"/>
            <a:ext cx="5400000" cy="749300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31774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6576157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FORCE EVERSION INJURIES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Not as common as forced inversion injuries as the lateral malleolus extends further distally than the </a:t>
            </a:r>
            <a:r>
              <a:rPr lang="en-GB" sz="2400"/>
              <a:t>medial malleolus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688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91357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LATERAL LIGAMENTS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lateral aspect of the talocrural joint is stabilised by the: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ANTERIOR TALOFIBULAR LIGAMENT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4"/>
                </a:solidFill>
              </a:rPr>
              <a:t>POSTERIOR TALOFIBULAR LIGAMENT</a:t>
            </a:r>
          </a:p>
          <a:p>
            <a:pPr marL="971550" lvl="1" indent="-514350">
              <a:buClr>
                <a:schemeClr val="bg1"/>
              </a:buClr>
              <a:buFont typeface="+mj-lt"/>
              <a:buAutoNum type="romanLcPeriod"/>
            </a:pPr>
            <a:r>
              <a:rPr lang="en-GB" sz="2400" dirty="0">
                <a:solidFill>
                  <a:schemeClr val="accent2"/>
                </a:solidFill>
              </a:rPr>
              <a:t>CALCANEOFIBULAR LIGAMENT</a:t>
            </a:r>
          </a:p>
          <a:p>
            <a:pPr marL="514350" indent="-5143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Resist excessive subtalar inversion</a:t>
            </a:r>
          </a:p>
        </p:txBody>
      </p:sp>
      <p:sp>
        <p:nvSpPr>
          <p:cNvPr id="6" name="Round Diagonal Corner Rectangle 7">
            <a:extLst>
              <a:ext uri="{FF2B5EF4-FFF2-40B4-BE49-F238E27FC236}">
                <a16:creationId xmlns:a16="http://schemas.microsoft.com/office/drawing/2014/main" id="{3CDD319F-EF86-2750-6C06-1DF3B3B52F73}"/>
              </a:ext>
            </a:extLst>
          </p:cNvPr>
          <p:cNvSpPr/>
          <p:nvPr/>
        </p:nvSpPr>
        <p:spPr>
          <a:xfrm>
            <a:off x="6312795" y="1243329"/>
            <a:ext cx="5400000" cy="540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14CF99-B9C1-32C1-8798-213DF369CF5D}"/>
              </a:ext>
            </a:extLst>
          </p:cNvPr>
          <p:cNvSpPr/>
          <p:nvPr/>
        </p:nvSpPr>
        <p:spPr>
          <a:xfrm>
            <a:off x="6426200" y="3393280"/>
            <a:ext cx="1346200" cy="1293019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95388A-6729-231E-463C-AFE96304636E}"/>
              </a:ext>
            </a:extLst>
          </p:cNvPr>
          <p:cNvSpPr/>
          <p:nvPr/>
        </p:nvSpPr>
        <p:spPr>
          <a:xfrm>
            <a:off x="9571831" y="2185989"/>
            <a:ext cx="1346200" cy="1409700"/>
          </a:xfrm>
          <a:prstGeom prst="round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A58C34-1AF3-48BB-C3DC-36C74F57453A}"/>
              </a:ext>
            </a:extLst>
          </p:cNvPr>
          <p:cNvSpPr/>
          <p:nvPr/>
        </p:nvSpPr>
        <p:spPr>
          <a:xfrm>
            <a:off x="8251031" y="5988844"/>
            <a:ext cx="3274218" cy="55959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666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6764843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FORCED INVERSION INJURIES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80856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3" name="Media2">
            <a:hlinkClick r:id="" action="ppaction://media"/>
            <a:extLst>
              <a:ext uri="{FF2B5EF4-FFF2-40B4-BE49-F238E27FC236}">
                <a16:creationId xmlns:a16="http://schemas.microsoft.com/office/drawing/2014/main" id="{A902C0B6-E624-7C04-FFAE-DCF6622F42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2928" y="1301509"/>
            <a:ext cx="8085600" cy="5399999"/>
          </a:xfrm>
          <a:prstGeom prst="round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83906093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713988"/>
            <a:ext cx="7766936" cy="1646302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Midfoot</a:t>
            </a:r>
            <a:endParaRPr lang="en-GB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797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6576157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MID-TARSAL JOINTS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midfoot contains the small, angular navicular, cuneiforms (medial, intermediate, and lateral), and cuboid bone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midfoot makes up slightly more than one sixth of the overall length of the foot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Little movement occurs within the midfoot articulations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548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568986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AXIS OF THE MIDFOOT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2" name="Round Diagonal Corner Rectangle 8">
            <a:extLst>
              <a:ext uri="{FF2B5EF4-FFF2-40B4-BE49-F238E27FC236}">
                <a16:creationId xmlns:a16="http://schemas.microsoft.com/office/drawing/2014/main" id="{80BC73A5-D6F9-6E52-9DED-F9A5628B9A41}"/>
              </a:ext>
            </a:extLst>
          </p:cNvPr>
          <p:cNvSpPr/>
          <p:nvPr/>
        </p:nvSpPr>
        <p:spPr>
          <a:xfrm>
            <a:off x="622928" y="1301509"/>
            <a:ext cx="5400000" cy="5400000"/>
          </a:xfrm>
          <a:prstGeom prst="round2Diag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3" name="Media4">
            <a:hlinkClick r:id="" action="ppaction://media"/>
            <a:extLst>
              <a:ext uri="{FF2B5EF4-FFF2-40B4-BE49-F238E27FC236}">
                <a16:creationId xmlns:a16="http://schemas.microsoft.com/office/drawing/2014/main" id="{0D177E46-A09A-A28B-84E2-C6DA5DF392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35654" y="1258569"/>
            <a:ext cx="5364000" cy="5364000"/>
          </a:xfrm>
          <a:prstGeom prst="round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5426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627317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SUPINATION OF THE FOOT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8">
            <a:extLst>
              <a:ext uri="{FF2B5EF4-FFF2-40B4-BE49-F238E27FC236}">
                <a16:creationId xmlns:a16="http://schemas.microsoft.com/office/drawing/2014/main" id="{80BC73A5-D6F9-6E52-9DED-F9A5628B9A41}"/>
              </a:ext>
            </a:extLst>
          </p:cNvPr>
          <p:cNvSpPr/>
          <p:nvPr/>
        </p:nvSpPr>
        <p:spPr>
          <a:xfrm>
            <a:off x="622928" y="1301509"/>
            <a:ext cx="36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5" name="Round Diagonal Corner Rectangle 8">
            <a:extLst>
              <a:ext uri="{FF2B5EF4-FFF2-40B4-BE49-F238E27FC236}">
                <a16:creationId xmlns:a16="http://schemas.microsoft.com/office/drawing/2014/main" id="{A4607D21-F267-3E94-BFF1-74DF1EEA6B21}"/>
              </a:ext>
            </a:extLst>
          </p:cNvPr>
          <p:cNvSpPr/>
          <p:nvPr/>
        </p:nvSpPr>
        <p:spPr>
          <a:xfrm>
            <a:off x="4472397" y="1269663"/>
            <a:ext cx="3600000" cy="5400000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Round Diagonal Corner Rectangle 8">
            <a:extLst>
              <a:ext uri="{FF2B5EF4-FFF2-40B4-BE49-F238E27FC236}">
                <a16:creationId xmlns:a16="http://schemas.microsoft.com/office/drawing/2014/main" id="{C33039C9-AFB8-1B0C-811C-3CB3BDC929B8}"/>
              </a:ext>
            </a:extLst>
          </p:cNvPr>
          <p:cNvSpPr/>
          <p:nvPr/>
        </p:nvSpPr>
        <p:spPr>
          <a:xfrm>
            <a:off x="8321866" y="1266203"/>
            <a:ext cx="36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Round Diagonal Corner Rectangle 8">
            <a:extLst>
              <a:ext uri="{FF2B5EF4-FFF2-40B4-BE49-F238E27FC236}">
                <a16:creationId xmlns:a16="http://schemas.microsoft.com/office/drawing/2014/main" id="{C8F7C571-4550-A039-F4F1-1B31E57D6012}"/>
              </a:ext>
            </a:extLst>
          </p:cNvPr>
          <p:cNvSpPr/>
          <p:nvPr/>
        </p:nvSpPr>
        <p:spPr>
          <a:xfrm>
            <a:off x="8332198" y="1271717"/>
            <a:ext cx="3600000" cy="5400000"/>
          </a:xfrm>
          <a:prstGeom prst="round2Diag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651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627317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PRONATION OF THE FOOT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8">
            <a:extLst>
              <a:ext uri="{FF2B5EF4-FFF2-40B4-BE49-F238E27FC236}">
                <a16:creationId xmlns:a16="http://schemas.microsoft.com/office/drawing/2014/main" id="{80BC73A5-D6F9-6E52-9DED-F9A5628B9A41}"/>
              </a:ext>
            </a:extLst>
          </p:cNvPr>
          <p:cNvSpPr/>
          <p:nvPr/>
        </p:nvSpPr>
        <p:spPr>
          <a:xfrm>
            <a:off x="622928" y="1301509"/>
            <a:ext cx="36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5" name="Round Diagonal Corner Rectangle 8">
            <a:extLst>
              <a:ext uri="{FF2B5EF4-FFF2-40B4-BE49-F238E27FC236}">
                <a16:creationId xmlns:a16="http://schemas.microsoft.com/office/drawing/2014/main" id="{A4607D21-F267-3E94-BFF1-74DF1EEA6B21}"/>
              </a:ext>
            </a:extLst>
          </p:cNvPr>
          <p:cNvSpPr/>
          <p:nvPr/>
        </p:nvSpPr>
        <p:spPr>
          <a:xfrm>
            <a:off x="4472397" y="1269663"/>
            <a:ext cx="3600000" cy="5400000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Round Diagonal Corner Rectangle 8">
            <a:extLst>
              <a:ext uri="{FF2B5EF4-FFF2-40B4-BE49-F238E27FC236}">
                <a16:creationId xmlns:a16="http://schemas.microsoft.com/office/drawing/2014/main" id="{C33039C9-AFB8-1B0C-811C-3CB3BDC929B8}"/>
              </a:ext>
            </a:extLst>
          </p:cNvPr>
          <p:cNvSpPr/>
          <p:nvPr/>
        </p:nvSpPr>
        <p:spPr>
          <a:xfrm>
            <a:off x="8321866" y="1266203"/>
            <a:ext cx="36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3" name="Round Diagonal Corner Rectangle 8">
            <a:extLst>
              <a:ext uri="{FF2B5EF4-FFF2-40B4-BE49-F238E27FC236}">
                <a16:creationId xmlns:a16="http://schemas.microsoft.com/office/drawing/2014/main" id="{7624F353-D28B-703F-FCFD-DEDFF2363DAF}"/>
              </a:ext>
            </a:extLst>
          </p:cNvPr>
          <p:cNvSpPr/>
          <p:nvPr/>
        </p:nvSpPr>
        <p:spPr>
          <a:xfrm>
            <a:off x="8321866" y="1256465"/>
            <a:ext cx="3600000" cy="5400000"/>
          </a:xfrm>
          <a:prstGeom prst="round2Diag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559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8635372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TALIPES EQUINOVARUS AKA CLUBFOOT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7"/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360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713988"/>
            <a:ext cx="7766936" cy="1646302"/>
          </a:xfrm>
        </p:spPr>
        <p:txBody>
          <a:bodyPr>
            <a:normAutofit/>
          </a:bodyPr>
          <a:lstStyle/>
          <a:p>
            <a:pPr algn="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Forefoot</a:t>
            </a:r>
            <a:endParaRPr lang="en-GB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270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3510922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FOREFOOT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forefoot represents the remaining one-half of the overall length of the foot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It is composed of miniature long bones - 5 metatarsals and 14 phalanges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These articulations of the forefoot are hinge / modified hinge joints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Their stability is primarily due to medial and lateral ligament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bg1"/>
                </a:solidFill>
              </a:rPr>
              <a:t>Volarly</a:t>
            </a:r>
            <a:r>
              <a:rPr lang="en-GB" sz="2400" dirty="0">
                <a:solidFill>
                  <a:schemeClr val="bg1"/>
                </a:solidFill>
              </a:rPr>
              <a:t>, the interphalangeal joints are stabilized against excessive dorsiflexion by firm volar ligaments called </a:t>
            </a:r>
            <a:r>
              <a:rPr lang="en-GB" sz="2400" i="1" dirty="0">
                <a:solidFill>
                  <a:schemeClr val="bg1"/>
                </a:solidFill>
              </a:rPr>
              <a:t>plates</a:t>
            </a:r>
          </a:p>
        </p:txBody>
      </p:sp>
      <p:sp>
        <p:nvSpPr>
          <p:cNvPr id="2" name="Round Diagonal Corner Rectangle 7">
            <a:extLst>
              <a:ext uri="{FF2B5EF4-FFF2-40B4-BE49-F238E27FC236}">
                <a16:creationId xmlns:a16="http://schemas.microsoft.com/office/drawing/2014/main" id="{DE46C245-70CF-F72C-66E0-E3CF16CEABFB}"/>
              </a:ext>
            </a:extLst>
          </p:cNvPr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2734"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9116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3510922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FOREFOOT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digits of the foot can be: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400" dirty="0"/>
              <a:t>Numbered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400" dirty="0"/>
              <a:t>Divided into three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Medial digit (1</a:t>
            </a:r>
            <a:r>
              <a:rPr lang="en-GB" sz="2400" baseline="30000" dirty="0"/>
              <a:t>st</a:t>
            </a:r>
            <a:r>
              <a:rPr lang="en-GB" sz="2400" dirty="0"/>
              <a:t>) is the largest. It is more than twice the dimension of any of the other digits. This reflects its greater importance in weight-bearing and push-off activity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Middle (3</a:t>
            </a:r>
            <a:r>
              <a:rPr lang="en-GB" sz="2400" baseline="30000" dirty="0">
                <a:solidFill>
                  <a:schemeClr val="bg1"/>
                </a:solidFill>
              </a:rPr>
              <a:t>rd</a:t>
            </a:r>
            <a:r>
              <a:rPr lang="en-GB" sz="2400" dirty="0">
                <a:solidFill>
                  <a:schemeClr val="bg1"/>
                </a:solidFill>
              </a:rPr>
              <a:t>) digit represents the stable central column of the foot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Lateral two digits (4</a:t>
            </a:r>
            <a:r>
              <a:rPr lang="en-GB" sz="2400" baseline="30000" dirty="0">
                <a:solidFill>
                  <a:schemeClr val="bg1"/>
                </a:solidFill>
              </a:rPr>
              <a:t>th</a:t>
            </a:r>
            <a:r>
              <a:rPr lang="en-GB" sz="2400" dirty="0">
                <a:solidFill>
                  <a:schemeClr val="bg1"/>
                </a:solidFill>
              </a:rPr>
              <a:t> &amp; 5</a:t>
            </a:r>
            <a:r>
              <a:rPr lang="en-GB" sz="2400" baseline="30000" dirty="0">
                <a:solidFill>
                  <a:schemeClr val="bg1"/>
                </a:solidFill>
              </a:rPr>
              <a:t>th</a:t>
            </a:r>
            <a:r>
              <a:rPr lang="en-GB" sz="2400" dirty="0">
                <a:solidFill>
                  <a:schemeClr val="bg1"/>
                </a:solidFill>
              </a:rPr>
              <a:t>) are progressively more capable of movement</a:t>
            </a:r>
          </a:p>
        </p:txBody>
      </p:sp>
      <p:sp>
        <p:nvSpPr>
          <p:cNvPr id="2" name="Round Diagonal Corner Rectangle 7">
            <a:extLst>
              <a:ext uri="{FF2B5EF4-FFF2-40B4-BE49-F238E27FC236}">
                <a16:creationId xmlns:a16="http://schemas.microsoft.com/office/drawing/2014/main" id="{DE46C245-70CF-F72C-66E0-E3CF16CEABFB}"/>
              </a:ext>
            </a:extLst>
          </p:cNvPr>
          <p:cNvSpPr/>
          <p:nvPr/>
        </p:nvSpPr>
        <p:spPr>
          <a:xfrm>
            <a:off x="6312795" y="124332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547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410147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HALLUX VALGUS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1"/>
            <a:ext cx="11096490" cy="502008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139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3510922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QUIZ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890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713988"/>
            <a:ext cx="7766936" cy="1646302"/>
          </a:xfrm>
        </p:spPr>
        <p:txBody>
          <a:bodyPr>
            <a:normAutofit/>
          </a:bodyPr>
          <a:lstStyle/>
          <a:p>
            <a:pPr algn="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cles of the Ankle</a:t>
            </a:r>
            <a:endParaRPr lang="en-GB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845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603187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MUSCLES OF THE ANKLE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i="1" dirty="0">
              <a:solidFill>
                <a:schemeClr val="bg1"/>
              </a:solidFill>
            </a:endParaRPr>
          </a:p>
        </p:txBody>
      </p:sp>
      <p:sp>
        <p:nvSpPr>
          <p:cNvPr id="2" name="Round Diagonal Corner Rectangle 7">
            <a:extLst>
              <a:ext uri="{FF2B5EF4-FFF2-40B4-BE49-F238E27FC236}">
                <a16:creationId xmlns:a16="http://schemas.microsoft.com/office/drawing/2014/main" id="{DE46C245-70CF-F72C-66E0-E3CF16CEABFB}"/>
              </a:ext>
            </a:extLst>
          </p:cNvPr>
          <p:cNvSpPr/>
          <p:nvPr/>
        </p:nvSpPr>
        <p:spPr>
          <a:xfrm>
            <a:off x="6312795" y="1301509"/>
            <a:ext cx="5400000" cy="534182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1DFB41-211F-1A11-199A-0014BA89822F}"/>
              </a:ext>
            </a:extLst>
          </p:cNvPr>
          <p:cNvSpPr/>
          <p:nvPr/>
        </p:nvSpPr>
        <p:spPr>
          <a:xfrm>
            <a:off x="2466975" y="4657725"/>
            <a:ext cx="1504950" cy="209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34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677799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MUSCLES THAT PLANTARFLEX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1"/>
            <a:ext cx="11096490" cy="502008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4546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677799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MUSCLES THAT PLANTARFLEX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1"/>
            <a:ext cx="11096490" cy="502008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396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677799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MUSCLES THAT PLANTARFLEX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1"/>
            <a:ext cx="11096490" cy="502008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668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30" y="402811"/>
            <a:ext cx="661607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ACHILLES TENDON RUPTURE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8" name="Round Diagonal Corner Rectangle 2">
            <a:extLst>
              <a:ext uri="{FF2B5EF4-FFF2-40B4-BE49-F238E27FC236}">
                <a16:creationId xmlns:a16="http://schemas.microsoft.com/office/drawing/2014/main" id="{A3BB785C-4213-9C4E-BFE1-C1DA576F5260}"/>
              </a:ext>
            </a:extLst>
          </p:cNvPr>
          <p:cNvSpPr/>
          <p:nvPr/>
        </p:nvSpPr>
        <p:spPr>
          <a:xfrm>
            <a:off x="622930" y="1554922"/>
            <a:ext cx="11171803" cy="4824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600" dirty="0"/>
          </a:p>
        </p:txBody>
      </p:sp>
      <p:pic>
        <p:nvPicPr>
          <p:cNvPr id="3" name="Online Media 2" title="Beckham injury - 14/3/2010">
            <a:hlinkClick r:id="" action="ppaction://media"/>
            <a:extLst>
              <a:ext uri="{FF2B5EF4-FFF2-40B4-BE49-F238E27FC236}">
                <a16:creationId xmlns:a16="http://schemas.microsoft.com/office/drawing/2014/main" id="{7896116F-1B78-CE02-75AC-72513F79897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666898" y="1554922"/>
            <a:ext cx="11055915" cy="4813726"/>
          </a:xfrm>
          <a:prstGeom prst="round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3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677799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MUSCLES THAT DORSIFLEX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1"/>
            <a:ext cx="11096490" cy="502008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1919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677799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MUSCLES THAT DORSIFLEX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622930" y="1435101"/>
            <a:ext cx="11096490" cy="502008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513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3510922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QUIZ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1340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425678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/>
              <a:t>ANY QUESTIONS?</a:t>
            </a:r>
            <a:endParaRPr lang="en-GB" sz="4000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>
            <a:blip r:embed="rId3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4216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25740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BREAK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8439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713988"/>
            <a:ext cx="7766936" cy="1646302"/>
          </a:xfrm>
        </p:spPr>
        <p:txBody>
          <a:bodyPr>
            <a:normAutofit/>
          </a:bodyPr>
          <a:lstStyle/>
          <a:p>
            <a:pPr algn="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Arches of the foot</a:t>
            </a:r>
          </a:p>
        </p:txBody>
      </p:sp>
    </p:spTree>
    <p:extLst>
      <p:ext uri="{BB962C8B-B14F-4D97-AF65-F5344CB8AC3E}">
        <p14:creationId xmlns:p14="http://schemas.microsoft.com/office/powerpoint/2010/main" val="29662778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53934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ARCHES OF THE FOOT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20" y="1266955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There are three arches of the foot: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GB" sz="2800" dirty="0">
                <a:solidFill>
                  <a:schemeClr val="bg1"/>
                </a:solidFill>
              </a:rPr>
              <a:t>Medial longitudinal arch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GB" sz="2800" dirty="0">
                <a:solidFill>
                  <a:schemeClr val="bg1"/>
                </a:solidFill>
              </a:rPr>
              <a:t>Lateral longitudinal arch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GB" sz="2800" dirty="0">
                <a:solidFill>
                  <a:schemeClr val="bg1"/>
                </a:solidFill>
              </a:rPr>
              <a:t>Transverse arch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They provide shock absorption during locomotion and help to distribute load across the foot</a:t>
            </a:r>
          </a:p>
        </p:txBody>
      </p:sp>
      <p:sp>
        <p:nvSpPr>
          <p:cNvPr id="2" name="Round Diagonal Corner Rectangle 2" descr="Espresso shot pouring into cup">
            <a:extLst>
              <a:ext uri="{FF2B5EF4-FFF2-40B4-BE49-F238E27FC236}">
                <a16:creationId xmlns:a16="http://schemas.microsoft.com/office/drawing/2014/main" id="{C1082E37-881E-E1B1-9009-AFF63480DB64}"/>
              </a:ext>
            </a:extLst>
          </p:cNvPr>
          <p:cNvSpPr/>
          <p:nvPr/>
        </p:nvSpPr>
        <p:spPr>
          <a:xfrm>
            <a:off x="6398520" y="1266955"/>
            <a:ext cx="5400000" cy="5400000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1418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76032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MEDIAL LONGITUDINAL ARCH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2" descr="Espresso shot pouring into cup">
            <a:extLst>
              <a:ext uri="{FF2B5EF4-FFF2-40B4-BE49-F238E27FC236}">
                <a16:creationId xmlns:a16="http://schemas.microsoft.com/office/drawing/2014/main" id="{C1082E37-881E-E1B1-9009-AFF63480DB64}"/>
              </a:ext>
            </a:extLst>
          </p:cNvPr>
          <p:cNvSpPr/>
          <p:nvPr/>
        </p:nvSpPr>
        <p:spPr>
          <a:xfrm>
            <a:off x="797820" y="1266955"/>
            <a:ext cx="108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5" name="Round Diagonal Corner Rectangle 2" descr="Espresso shot pouring into cup">
            <a:extLst>
              <a:ext uri="{FF2B5EF4-FFF2-40B4-BE49-F238E27FC236}">
                <a16:creationId xmlns:a16="http://schemas.microsoft.com/office/drawing/2014/main" id="{0ECC61B2-29B2-D994-7C05-AB957C35D6AA}"/>
              </a:ext>
            </a:extLst>
          </p:cNvPr>
          <p:cNvSpPr/>
          <p:nvPr/>
        </p:nvSpPr>
        <p:spPr>
          <a:xfrm>
            <a:off x="797820" y="1256465"/>
            <a:ext cx="10800000" cy="5400000"/>
          </a:xfrm>
          <a:prstGeom prst="round2Diag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545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ound Diagonal Corner Rectangle 8">
            <a:extLst>
              <a:ext uri="{FF2B5EF4-FFF2-40B4-BE49-F238E27FC236}">
                <a16:creationId xmlns:a16="http://schemas.microsoft.com/office/drawing/2014/main" id="{0217234B-EC87-6AE1-B0A1-E3D2BBE060D3}"/>
              </a:ext>
            </a:extLst>
          </p:cNvPr>
          <p:cNvSpPr/>
          <p:nvPr/>
        </p:nvSpPr>
        <p:spPr>
          <a:xfrm>
            <a:off x="633260" y="1303325"/>
            <a:ext cx="8054347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Round Diagonal Corner Rectangle 8">
            <a:extLst>
              <a:ext uri="{FF2B5EF4-FFF2-40B4-BE49-F238E27FC236}">
                <a16:creationId xmlns:a16="http://schemas.microsoft.com/office/drawing/2014/main" id="{A4607D21-F267-3E94-BFF1-74DF1EEA6B21}"/>
              </a:ext>
            </a:extLst>
          </p:cNvPr>
          <p:cNvSpPr/>
          <p:nvPr/>
        </p:nvSpPr>
        <p:spPr>
          <a:xfrm>
            <a:off x="622928" y="1306785"/>
            <a:ext cx="8054347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9" name="Round Diagonal Corner Rectangle 3">
            <a:extLst>
              <a:ext uri="{FF2B5EF4-FFF2-40B4-BE49-F238E27FC236}">
                <a16:creationId xmlns:a16="http://schemas.microsoft.com/office/drawing/2014/main" id="{A198A006-586B-0395-AF60-4C20C22004AC}"/>
              </a:ext>
            </a:extLst>
          </p:cNvPr>
          <p:cNvSpPr/>
          <p:nvPr/>
        </p:nvSpPr>
        <p:spPr>
          <a:xfrm>
            <a:off x="797820" y="326611"/>
            <a:ext cx="76032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MEDIAL LONGITUDINAL ARCH</a:t>
            </a:r>
          </a:p>
        </p:txBody>
      </p:sp>
    </p:spTree>
    <p:extLst>
      <p:ext uri="{BB962C8B-B14F-4D97-AF65-F5344CB8AC3E}">
        <p14:creationId xmlns:p14="http://schemas.microsoft.com/office/powerpoint/2010/main" val="21549802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76032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LATERAL LONGITUDINAL ARCH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2" descr="Espresso shot pouring into cup">
            <a:extLst>
              <a:ext uri="{FF2B5EF4-FFF2-40B4-BE49-F238E27FC236}">
                <a16:creationId xmlns:a16="http://schemas.microsoft.com/office/drawing/2014/main" id="{C1082E37-881E-E1B1-9009-AFF63480DB64}"/>
              </a:ext>
            </a:extLst>
          </p:cNvPr>
          <p:cNvSpPr/>
          <p:nvPr/>
        </p:nvSpPr>
        <p:spPr>
          <a:xfrm>
            <a:off x="797820" y="1266955"/>
            <a:ext cx="108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5" name="Round Diagonal Corner Rectangle 2" descr="Espresso shot pouring into cup">
            <a:extLst>
              <a:ext uri="{FF2B5EF4-FFF2-40B4-BE49-F238E27FC236}">
                <a16:creationId xmlns:a16="http://schemas.microsoft.com/office/drawing/2014/main" id="{0ECC61B2-29B2-D994-7C05-AB957C35D6AA}"/>
              </a:ext>
            </a:extLst>
          </p:cNvPr>
          <p:cNvSpPr/>
          <p:nvPr/>
        </p:nvSpPr>
        <p:spPr>
          <a:xfrm>
            <a:off x="797820" y="1256465"/>
            <a:ext cx="10800000" cy="5400000"/>
          </a:xfrm>
          <a:prstGeom prst="round2Diag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9998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53934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TRANSVERSE ARCH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20" y="1266955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The transverse arch results from: 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GB" sz="2800" dirty="0">
                <a:solidFill>
                  <a:schemeClr val="bg1"/>
                </a:solidFill>
              </a:rPr>
              <a:t>the shape of the tarsal bones in the distal row, and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GB" sz="2800" dirty="0">
                <a:solidFill>
                  <a:schemeClr val="bg1"/>
                </a:solidFill>
              </a:rPr>
              <a:t>the metatarsal bases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The intermediate cuneiform is the ‘keystone’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Distributes load in the coronal plane</a:t>
            </a:r>
          </a:p>
        </p:txBody>
      </p:sp>
      <p:sp>
        <p:nvSpPr>
          <p:cNvPr id="5" name="Round Diagonal Corner Rectangle 2" descr="Espresso shot pouring into cup">
            <a:extLst>
              <a:ext uri="{FF2B5EF4-FFF2-40B4-BE49-F238E27FC236}">
                <a16:creationId xmlns:a16="http://schemas.microsoft.com/office/drawing/2014/main" id="{CBBB4998-BA43-B674-6F25-713FA7ADC21D}"/>
              </a:ext>
            </a:extLst>
          </p:cNvPr>
          <p:cNvSpPr/>
          <p:nvPr/>
        </p:nvSpPr>
        <p:spPr>
          <a:xfrm>
            <a:off x="6494910" y="1194868"/>
            <a:ext cx="5400000" cy="5400000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555" r="1"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6514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ound Diagonal Corner Rectangle 8">
            <a:extLst>
              <a:ext uri="{FF2B5EF4-FFF2-40B4-BE49-F238E27FC236}">
                <a16:creationId xmlns:a16="http://schemas.microsoft.com/office/drawing/2014/main" id="{0217234B-EC87-6AE1-B0A1-E3D2BBE060D3}"/>
              </a:ext>
            </a:extLst>
          </p:cNvPr>
          <p:cNvSpPr/>
          <p:nvPr/>
        </p:nvSpPr>
        <p:spPr>
          <a:xfrm>
            <a:off x="4482729" y="1266203"/>
            <a:ext cx="36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8" y="402811"/>
            <a:ext cx="6273171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PES PLANUS / CAVUS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8">
            <a:extLst>
              <a:ext uri="{FF2B5EF4-FFF2-40B4-BE49-F238E27FC236}">
                <a16:creationId xmlns:a16="http://schemas.microsoft.com/office/drawing/2014/main" id="{80BC73A5-D6F9-6E52-9DED-F9A5628B9A41}"/>
              </a:ext>
            </a:extLst>
          </p:cNvPr>
          <p:cNvSpPr/>
          <p:nvPr/>
        </p:nvSpPr>
        <p:spPr>
          <a:xfrm>
            <a:off x="622928" y="1301509"/>
            <a:ext cx="36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5" name="Round Diagonal Corner Rectangle 8">
            <a:extLst>
              <a:ext uri="{FF2B5EF4-FFF2-40B4-BE49-F238E27FC236}">
                <a16:creationId xmlns:a16="http://schemas.microsoft.com/office/drawing/2014/main" id="{A4607D21-F267-3E94-BFF1-74DF1EEA6B21}"/>
              </a:ext>
            </a:extLst>
          </p:cNvPr>
          <p:cNvSpPr/>
          <p:nvPr/>
        </p:nvSpPr>
        <p:spPr>
          <a:xfrm>
            <a:off x="4472397" y="1269663"/>
            <a:ext cx="36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6" name="Round Diagonal Corner Rectangle 8">
            <a:extLst>
              <a:ext uri="{FF2B5EF4-FFF2-40B4-BE49-F238E27FC236}">
                <a16:creationId xmlns:a16="http://schemas.microsoft.com/office/drawing/2014/main" id="{C33039C9-AFB8-1B0C-811C-3CB3BDC929B8}"/>
              </a:ext>
            </a:extLst>
          </p:cNvPr>
          <p:cNvSpPr/>
          <p:nvPr/>
        </p:nvSpPr>
        <p:spPr>
          <a:xfrm>
            <a:off x="8321866" y="1266203"/>
            <a:ext cx="3600000" cy="5400000"/>
          </a:xfrm>
          <a:prstGeom prst="round2Diag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0" name="Round Diagonal Corner Rectangle 8">
            <a:extLst>
              <a:ext uri="{FF2B5EF4-FFF2-40B4-BE49-F238E27FC236}">
                <a16:creationId xmlns:a16="http://schemas.microsoft.com/office/drawing/2014/main" id="{C8F7C571-4550-A039-F4F1-1B31E57D6012}"/>
              </a:ext>
            </a:extLst>
          </p:cNvPr>
          <p:cNvSpPr/>
          <p:nvPr/>
        </p:nvSpPr>
        <p:spPr>
          <a:xfrm>
            <a:off x="8332198" y="1271717"/>
            <a:ext cx="3600000" cy="5400000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B3F22809-1493-6A7C-4404-917A19301E55}"/>
              </a:ext>
            </a:extLst>
          </p:cNvPr>
          <p:cNvSpPr/>
          <p:nvPr/>
        </p:nvSpPr>
        <p:spPr>
          <a:xfrm>
            <a:off x="643016" y="1301509"/>
            <a:ext cx="3600000" cy="5400000"/>
          </a:xfrm>
          <a:prstGeom prst="round2Diag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9233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73746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ARCH SUPPORT – PLANTAR FASCIA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20" y="1266955"/>
            <a:ext cx="5400000" cy="5400000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2" name="Round Diagonal Corner Rectangle 2" descr="Espresso shot pouring into cup">
            <a:extLst>
              <a:ext uri="{FF2B5EF4-FFF2-40B4-BE49-F238E27FC236}">
                <a16:creationId xmlns:a16="http://schemas.microsoft.com/office/drawing/2014/main" id="{C1082E37-881E-E1B1-9009-AFF63480DB64}"/>
              </a:ext>
            </a:extLst>
          </p:cNvPr>
          <p:cNvSpPr/>
          <p:nvPr/>
        </p:nvSpPr>
        <p:spPr>
          <a:xfrm>
            <a:off x="6398520" y="1266955"/>
            <a:ext cx="5400000" cy="27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5" name="Round Diagonal Corner Rectangle 2" descr="Espresso shot pouring into cup">
            <a:extLst>
              <a:ext uri="{FF2B5EF4-FFF2-40B4-BE49-F238E27FC236}">
                <a16:creationId xmlns:a16="http://schemas.microsoft.com/office/drawing/2014/main" id="{87549B84-10E8-AE20-B08E-FCA886AA644B}"/>
              </a:ext>
            </a:extLst>
          </p:cNvPr>
          <p:cNvSpPr/>
          <p:nvPr/>
        </p:nvSpPr>
        <p:spPr>
          <a:xfrm>
            <a:off x="6312795" y="4026434"/>
            <a:ext cx="5400000" cy="2700000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6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2" descr="Espresso shot pouring into cup">
            <a:extLst>
              <a:ext uri="{FF2B5EF4-FFF2-40B4-BE49-F238E27FC236}">
                <a16:creationId xmlns:a16="http://schemas.microsoft.com/office/drawing/2014/main" id="{C1082E37-881E-E1B1-9009-AFF63480DB64}"/>
              </a:ext>
            </a:extLst>
          </p:cNvPr>
          <p:cNvSpPr/>
          <p:nvPr/>
        </p:nvSpPr>
        <p:spPr>
          <a:xfrm>
            <a:off x="797820" y="1266955"/>
            <a:ext cx="10251180" cy="54000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5" name="Round Diagonal Corner Rectangle 2" descr="Espresso shot pouring into cup">
            <a:extLst>
              <a:ext uri="{FF2B5EF4-FFF2-40B4-BE49-F238E27FC236}">
                <a16:creationId xmlns:a16="http://schemas.microsoft.com/office/drawing/2014/main" id="{0ECC61B2-29B2-D994-7C05-AB957C35D6AA}"/>
              </a:ext>
            </a:extLst>
          </p:cNvPr>
          <p:cNvSpPr/>
          <p:nvPr/>
        </p:nvSpPr>
        <p:spPr>
          <a:xfrm>
            <a:off x="797820" y="1256465"/>
            <a:ext cx="10251180" cy="54000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5354"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" name="Round Diagonal Corner Rectangle 3">
            <a:extLst>
              <a:ext uri="{FF2B5EF4-FFF2-40B4-BE49-F238E27FC236}">
                <a16:creationId xmlns:a16="http://schemas.microsoft.com/office/drawing/2014/main" id="{C235DFD9-93BE-9DE7-81CC-9B8ABBFF1D3E}"/>
              </a:ext>
            </a:extLst>
          </p:cNvPr>
          <p:cNvSpPr/>
          <p:nvPr/>
        </p:nvSpPr>
        <p:spPr>
          <a:xfrm>
            <a:off x="797820" y="326611"/>
            <a:ext cx="73746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ARCH SUPPORT – LIGAMENTS</a:t>
            </a:r>
          </a:p>
        </p:txBody>
      </p:sp>
    </p:spTree>
    <p:extLst>
      <p:ext uri="{BB962C8B-B14F-4D97-AF65-F5344CB8AC3E}">
        <p14:creationId xmlns:p14="http://schemas.microsoft.com/office/powerpoint/2010/main" val="36596034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 Diagonal Corner Rectangle 2" descr="Espresso shot pouring into cup">
            <a:extLst>
              <a:ext uri="{FF2B5EF4-FFF2-40B4-BE49-F238E27FC236}">
                <a16:creationId xmlns:a16="http://schemas.microsoft.com/office/drawing/2014/main" id="{C1082E37-881E-E1B1-9009-AFF63480DB64}"/>
              </a:ext>
            </a:extLst>
          </p:cNvPr>
          <p:cNvSpPr/>
          <p:nvPr/>
        </p:nvSpPr>
        <p:spPr>
          <a:xfrm>
            <a:off x="797820" y="1266955"/>
            <a:ext cx="10251180" cy="54000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5" name="Round Diagonal Corner Rectangle 2" descr="Espresso shot pouring into cup">
            <a:extLst>
              <a:ext uri="{FF2B5EF4-FFF2-40B4-BE49-F238E27FC236}">
                <a16:creationId xmlns:a16="http://schemas.microsoft.com/office/drawing/2014/main" id="{0ECC61B2-29B2-D994-7C05-AB957C35D6AA}"/>
              </a:ext>
            </a:extLst>
          </p:cNvPr>
          <p:cNvSpPr/>
          <p:nvPr/>
        </p:nvSpPr>
        <p:spPr>
          <a:xfrm>
            <a:off x="797820" y="1256465"/>
            <a:ext cx="10251180" cy="54000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" name="Round Diagonal Corner Rectangle 3">
            <a:extLst>
              <a:ext uri="{FF2B5EF4-FFF2-40B4-BE49-F238E27FC236}">
                <a16:creationId xmlns:a16="http://schemas.microsoft.com/office/drawing/2014/main" id="{374CF05B-A999-E410-EC0F-0E65B93785B7}"/>
              </a:ext>
            </a:extLst>
          </p:cNvPr>
          <p:cNvSpPr/>
          <p:nvPr/>
        </p:nvSpPr>
        <p:spPr>
          <a:xfrm>
            <a:off x="797820" y="326611"/>
            <a:ext cx="73746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ARCH SUPPORT – TENDON</a:t>
            </a:r>
          </a:p>
        </p:txBody>
      </p:sp>
    </p:spTree>
    <p:extLst>
      <p:ext uri="{BB962C8B-B14F-4D97-AF65-F5344CB8AC3E}">
        <p14:creationId xmlns:p14="http://schemas.microsoft.com/office/powerpoint/2010/main" val="2929940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3510922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QUIZ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9682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713988"/>
            <a:ext cx="7766936" cy="1646302"/>
          </a:xfrm>
        </p:spPr>
        <p:txBody>
          <a:bodyPr>
            <a:normAutofit/>
          </a:bodyPr>
          <a:lstStyle/>
          <a:p>
            <a:pPr algn="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of the foot</a:t>
            </a:r>
          </a:p>
        </p:txBody>
      </p:sp>
    </p:spTree>
    <p:extLst>
      <p:ext uri="{BB962C8B-B14F-4D97-AF65-F5344CB8AC3E}">
        <p14:creationId xmlns:p14="http://schemas.microsoft.com/office/powerpoint/2010/main" val="30420948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645414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MOVEMENTS OF THE TOES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The </a:t>
            </a:r>
            <a:r>
              <a:rPr lang="en-GB" sz="2400" dirty="0" err="1">
                <a:solidFill>
                  <a:schemeClr val="bg1"/>
                </a:solidFill>
              </a:rPr>
              <a:t>metatarsalphalangeal</a:t>
            </a:r>
            <a:r>
              <a:rPr lang="en-GB" sz="2400" dirty="0">
                <a:solidFill>
                  <a:schemeClr val="bg1"/>
                </a:solidFill>
              </a:rPr>
              <a:t> joints permit: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Extension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Flexion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Abduction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GB" sz="2400" dirty="0">
                <a:solidFill>
                  <a:schemeClr val="bg1"/>
                </a:solidFill>
              </a:rPr>
              <a:t>Adduction</a:t>
            </a:r>
          </a:p>
        </p:txBody>
      </p:sp>
      <p:sp>
        <p:nvSpPr>
          <p:cNvPr id="2" name="Round Diagonal Corner Rectangle 7">
            <a:extLst>
              <a:ext uri="{FF2B5EF4-FFF2-40B4-BE49-F238E27FC236}">
                <a16:creationId xmlns:a16="http://schemas.microsoft.com/office/drawing/2014/main" id="{DE46C245-70CF-F72C-66E0-E3CF16CEABFB}"/>
              </a:ext>
            </a:extLst>
          </p:cNvPr>
          <p:cNvSpPr/>
          <p:nvPr/>
        </p:nvSpPr>
        <p:spPr>
          <a:xfrm>
            <a:off x="6312795" y="1243329"/>
            <a:ext cx="5400000" cy="540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6661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6454146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MOVEMENTS OF THE TOES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27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bg1"/>
                </a:solidFill>
              </a:rPr>
              <a:t>Extensors of the toes: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bg1"/>
                </a:solidFill>
              </a:rPr>
              <a:t>Extensor hallucis longus, extensor digitorum longus, extensor digitorum brevis, lumbricals</a:t>
            </a:r>
          </a:p>
        </p:txBody>
      </p:sp>
      <p:sp>
        <p:nvSpPr>
          <p:cNvPr id="5" name="Round Diagonal Corner Rectangle 8">
            <a:extLst>
              <a:ext uri="{FF2B5EF4-FFF2-40B4-BE49-F238E27FC236}">
                <a16:creationId xmlns:a16="http://schemas.microsoft.com/office/drawing/2014/main" id="{CD841CD5-EB97-0F80-F256-7D5A60EDE39D}"/>
              </a:ext>
            </a:extLst>
          </p:cNvPr>
          <p:cNvSpPr/>
          <p:nvPr/>
        </p:nvSpPr>
        <p:spPr>
          <a:xfrm>
            <a:off x="6312795" y="1301509"/>
            <a:ext cx="5400000" cy="2700000"/>
          </a:xfrm>
          <a:prstGeom prst="round2DiagRect">
            <a:avLst/>
          </a:prstGeom>
          <a:solidFill>
            <a:srgbClr val="00206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bg1"/>
                </a:solidFill>
              </a:rPr>
              <a:t>Abductors of the toes: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bg1"/>
                </a:solidFill>
              </a:rPr>
              <a:t>Abductor hallucis, abductor digiti </a:t>
            </a:r>
            <a:r>
              <a:rPr lang="en-GB" sz="2400" dirty="0" err="1">
                <a:solidFill>
                  <a:schemeClr val="bg1"/>
                </a:solidFill>
              </a:rPr>
              <a:t>minimi</a:t>
            </a:r>
            <a:r>
              <a:rPr lang="en-GB" sz="2400" dirty="0">
                <a:solidFill>
                  <a:schemeClr val="bg1"/>
                </a:solidFill>
              </a:rPr>
              <a:t>, dorsal interossei</a:t>
            </a:r>
          </a:p>
        </p:txBody>
      </p:sp>
      <p:sp>
        <p:nvSpPr>
          <p:cNvPr id="8" name="Round Diagonal Corner Rectangle 8">
            <a:extLst>
              <a:ext uri="{FF2B5EF4-FFF2-40B4-BE49-F238E27FC236}">
                <a16:creationId xmlns:a16="http://schemas.microsoft.com/office/drawing/2014/main" id="{6EC8E8F4-3A0E-8841-CCB8-64698FB00E2C}"/>
              </a:ext>
            </a:extLst>
          </p:cNvPr>
          <p:cNvSpPr/>
          <p:nvPr/>
        </p:nvSpPr>
        <p:spPr>
          <a:xfrm>
            <a:off x="6312795" y="4099457"/>
            <a:ext cx="5400000" cy="2700000"/>
          </a:xfrm>
          <a:prstGeom prst="round2DiagRect">
            <a:avLst/>
          </a:prstGeom>
          <a:solidFill>
            <a:srgbClr val="00206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bg1"/>
                </a:solidFill>
              </a:rPr>
              <a:t>Adductors of the toes: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bg1"/>
                </a:solidFill>
              </a:rPr>
              <a:t>Adductor hallucis, plantar interossei</a:t>
            </a:r>
          </a:p>
        </p:txBody>
      </p:sp>
      <p:sp>
        <p:nvSpPr>
          <p:cNvPr id="10" name="Round Diagonal Corner Rectangle 8">
            <a:extLst>
              <a:ext uri="{FF2B5EF4-FFF2-40B4-BE49-F238E27FC236}">
                <a16:creationId xmlns:a16="http://schemas.microsoft.com/office/drawing/2014/main" id="{99FB1882-C993-B7D6-8F76-C6D9F6F3CC30}"/>
              </a:ext>
            </a:extLst>
          </p:cNvPr>
          <p:cNvSpPr/>
          <p:nvPr/>
        </p:nvSpPr>
        <p:spPr>
          <a:xfrm>
            <a:off x="622929" y="4078414"/>
            <a:ext cx="5400000" cy="2700000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bg1"/>
                </a:solidFill>
              </a:rPr>
              <a:t>Flexors of the toes: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>
                <a:solidFill>
                  <a:schemeClr val="bg1"/>
                </a:solidFill>
              </a:rPr>
              <a:t>Flexor hallucis longus, flexor hallucis longus, flexor digitorum longus, flexor digitorum brevis, flexor digiti </a:t>
            </a:r>
            <a:r>
              <a:rPr lang="en-GB" sz="2400" dirty="0" err="1">
                <a:solidFill>
                  <a:schemeClr val="bg1"/>
                </a:solidFill>
              </a:rPr>
              <a:t>minimi</a:t>
            </a:r>
            <a:r>
              <a:rPr lang="en-GB" sz="2400" dirty="0">
                <a:solidFill>
                  <a:schemeClr val="bg1"/>
                </a:solidFill>
              </a:rPr>
              <a:t>, lumbricals</a:t>
            </a:r>
          </a:p>
        </p:txBody>
      </p:sp>
    </p:spTree>
    <p:extLst>
      <p:ext uri="{BB962C8B-B14F-4D97-AF65-F5344CB8AC3E}">
        <p14:creationId xmlns:p14="http://schemas.microsoft.com/office/powerpoint/2010/main" val="33989625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377418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VISIBLE BODY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1775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622929" y="402811"/>
            <a:ext cx="3510922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QUIZ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Round Diagonal Corner Rectangle 8"/>
          <p:cNvSpPr/>
          <p:nvPr/>
        </p:nvSpPr>
        <p:spPr>
          <a:xfrm>
            <a:off x="622929" y="1301509"/>
            <a:ext cx="5400000" cy="5400000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6137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713988"/>
            <a:ext cx="7766936" cy="1646302"/>
          </a:xfrm>
        </p:spPr>
        <p:txBody>
          <a:bodyPr>
            <a:normAutofit fontScale="90000"/>
          </a:bodyPr>
          <a:lstStyle/>
          <a:p>
            <a:pPr algn="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Neurovascular supply of the foot</a:t>
            </a:r>
          </a:p>
        </p:txBody>
      </p:sp>
    </p:spTree>
    <p:extLst>
      <p:ext uri="{BB962C8B-B14F-4D97-AF65-F5344CB8AC3E}">
        <p14:creationId xmlns:p14="http://schemas.microsoft.com/office/powerpoint/2010/main" val="904718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19" y="326611"/>
            <a:ext cx="3720948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NERVE ROOTS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797821" y="1358900"/>
            <a:ext cx="3720948" cy="5172489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Location of neurological signs and/or symptoms can relate to a specific spinal level</a:t>
            </a:r>
          </a:p>
        </p:txBody>
      </p:sp>
      <p:sp>
        <p:nvSpPr>
          <p:cNvPr id="8" name="Round Diagonal Corner Rectangle 7"/>
          <p:cNvSpPr/>
          <p:nvPr/>
        </p:nvSpPr>
        <p:spPr>
          <a:xfrm>
            <a:off x="7631083" y="1358900"/>
            <a:ext cx="4339243" cy="5235968"/>
          </a:xfrm>
          <a:prstGeom prst="round2Diag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4645192" y="1358900"/>
            <a:ext cx="2890641" cy="5235968"/>
          </a:xfrm>
          <a:prstGeom prst="round2Diag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74448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66126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DERMATOME INNERVATION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5AC1964-8458-4091-4F76-80053BF5EA16}"/>
              </a:ext>
            </a:extLst>
          </p:cNvPr>
          <p:cNvSpPr/>
          <p:nvPr/>
        </p:nvSpPr>
        <p:spPr>
          <a:xfrm>
            <a:off x="6524625" y="4457700"/>
            <a:ext cx="200025" cy="200025"/>
          </a:xfrm>
          <a:prstGeom prst="ellipse">
            <a:avLst/>
          </a:prstGeom>
          <a:solidFill>
            <a:srgbClr val="E1D0EA"/>
          </a:solidFill>
          <a:ln>
            <a:solidFill>
              <a:srgbClr val="E1D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1963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661263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CUTANEOUS INNERVATION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2460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476478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ARTERIAL SUPPLY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039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476478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VENOUS SUPPLY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1983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335508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SUMMARY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 descr="Espresso shot pouring into cup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If you know your basic anatomical terminology, learning region-specific anatomy is far easier!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Be logical when learning anatomy – bones → joints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→</a:t>
            </a:r>
            <a:r>
              <a:rPr lang="en-GB" kern="100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GB" sz="3200" kern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movements </a:t>
            </a:r>
            <a:r>
              <a:rPr lang="en-GB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muscles</a:t>
            </a:r>
            <a:endParaRPr lang="en-GB" sz="18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1652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97820" y="326611"/>
            <a:ext cx="4256780" cy="749300"/>
          </a:xfrm>
          <a:prstGeom prst="round2Diag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/>
              <a:t>ANY QUESTIONS?</a:t>
            </a:r>
            <a:endParaRPr lang="en-GB" sz="4000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Round Diagonal Corner Rectangle 2"/>
          <p:cNvSpPr/>
          <p:nvPr/>
        </p:nvSpPr>
        <p:spPr>
          <a:xfrm>
            <a:off x="797819" y="1358901"/>
            <a:ext cx="7963796" cy="4842394"/>
          </a:xfrm>
          <a:prstGeom prst="round2DiagRect">
            <a:avLst/>
          </a:prstGeom>
          <a:blipFill>
            <a:blip r:embed="rId3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990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0</TotalTime>
  <Words>1191</Words>
  <Application>Microsoft Office PowerPoint</Application>
  <PresentationFormat>Widescreen</PresentationFormat>
  <Paragraphs>216</Paragraphs>
  <Slides>66</Slides>
  <Notes>42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Aptos</vt:lpstr>
      <vt:lpstr>Arial</vt:lpstr>
      <vt:lpstr>Calibri</vt:lpstr>
      <vt:lpstr>Calibri Light</vt:lpstr>
      <vt:lpstr>Courier New</vt:lpstr>
      <vt:lpstr>Office Theme</vt:lpstr>
      <vt:lpstr>Foot &amp; Ankle Anatomy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Hindfoot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Midfoot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Forefoot</vt:lpstr>
      <vt:lpstr>PowerPoint Presentation</vt:lpstr>
      <vt:lpstr>PowerPoint Presentation</vt:lpstr>
      <vt:lpstr>PowerPoint Presentation</vt:lpstr>
      <vt:lpstr>PowerPoint Presentation</vt:lpstr>
      <vt:lpstr>Muscles of the Ankle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Arches of the foot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Muscles of the foot</vt:lpstr>
      <vt:lpstr>PowerPoint Presentation</vt:lpstr>
      <vt:lpstr>PowerPoint Presentation</vt:lpstr>
      <vt:lpstr>PowerPoint Presentation</vt:lpstr>
      <vt:lpstr>PowerPoint Presentation</vt:lpstr>
      <vt:lpstr>Neurovascular supply of the foot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 Preece</dc:creator>
  <cp:lastModifiedBy>Paul Starrs</cp:lastModifiedBy>
  <cp:revision>127</cp:revision>
  <dcterms:created xsi:type="dcterms:W3CDTF">2017-09-08T13:51:42Z</dcterms:created>
  <dcterms:modified xsi:type="dcterms:W3CDTF">2024-11-11T08:15:15Z</dcterms:modified>
</cp:coreProperties>
</file>