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438" r:id="rId3"/>
    <p:sldId id="415" r:id="rId4"/>
    <p:sldId id="439" r:id="rId5"/>
    <p:sldId id="416" r:id="rId6"/>
    <p:sldId id="433" r:id="rId7"/>
    <p:sldId id="417" r:id="rId8"/>
    <p:sldId id="418" r:id="rId9"/>
    <p:sldId id="336" r:id="rId10"/>
    <p:sldId id="420" r:id="rId11"/>
    <p:sldId id="421" r:id="rId12"/>
    <p:sldId id="422" r:id="rId13"/>
    <p:sldId id="423" r:id="rId14"/>
    <p:sldId id="424" r:id="rId15"/>
    <p:sldId id="425" r:id="rId16"/>
    <p:sldId id="440" r:id="rId17"/>
    <p:sldId id="426" r:id="rId18"/>
    <p:sldId id="427" r:id="rId19"/>
    <p:sldId id="428" r:id="rId20"/>
    <p:sldId id="437" r:id="rId21"/>
    <p:sldId id="429" r:id="rId22"/>
    <p:sldId id="430" r:id="rId23"/>
    <p:sldId id="431" r:id="rId24"/>
    <p:sldId id="432" r:id="rId25"/>
    <p:sldId id="434" r:id="rId26"/>
    <p:sldId id="436" r:id="rId27"/>
    <p:sldId id="435" r:id="rId28"/>
    <p:sldId id="3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B0F0"/>
    <a:srgbClr val="525252"/>
    <a:srgbClr val="222A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37" autoAdjust="0"/>
    <p:restoredTop sz="95230" autoAdjust="0"/>
  </p:normalViewPr>
  <p:slideViewPr>
    <p:cSldViewPr snapToGrid="0">
      <p:cViewPr varScale="1">
        <p:scale>
          <a:sx n="108" d="100"/>
          <a:sy n="108" d="100"/>
        </p:scale>
        <p:origin x="102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F9951-7A27-477A-90ED-9C24BE06A186}" type="datetimeFigureOut">
              <a:rPr lang="en-GB" smtClean="0"/>
              <a:t>26/09/2024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B64D8B-4CC5-402D-A151-B3E8152E5330}" type="slidenum">
              <a:rPr lang="en-GB" smtClean="0"/>
              <a:t>‹#›</a:t>
            </a:fld>
            <a:endParaRPr lang="en-GB"/>
          </a:p>
        </p:txBody>
      </p:sp>
    </p:spTree>
    <p:extLst>
      <p:ext uri="{BB962C8B-B14F-4D97-AF65-F5344CB8AC3E}">
        <p14:creationId xmlns:p14="http://schemas.microsoft.com/office/powerpoint/2010/main" val="2166785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a:t>
            </a:fld>
            <a:endParaRPr lang="en-GB"/>
          </a:p>
        </p:txBody>
      </p:sp>
    </p:spTree>
    <p:extLst>
      <p:ext uri="{BB962C8B-B14F-4D97-AF65-F5344CB8AC3E}">
        <p14:creationId xmlns:p14="http://schemas.microsoft.com/office/powerpoint/2010/main" val="3172785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a:t>
            </a:fld>
            <a:endParaRPr lang="en-GB"/>
          </a:p>
        </p:txBody>
      </p:sp>
    </p:spTree>
    <p:extLst>
      <p:ext uri="{BB962C8B-B14F-4D97-AF65-F5344CB8AC3E}">
        <p14:creationId xmlns:p14="http://schemas.microsoft.com/office/powerpoint/2010/main" val="3657915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4</a:t>
            </a:fld>
            <a:endParaRPr lang="en-GB"/>
          </a:p>
        </p:txBody>
      </p:sp>
    </p:spTree>
    <p:extLst>
      <p:ext uri="{BB962C8B-B14F-4D97-AF65-F5344CB8AC3E}">
        <p14:creationId xmlns:p14="http://schemas.microsoft.com/office/powerpoint/2010/main" val="2305304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5</a:t>
            </a:fld>
            <a:endParaRPr lang="en-GB"/>
          </a:p>
        </p:txBody>
      </p:sp>
    </p:spTree>
    <p:extLst>
      <p:ext uri="{BB962C8B-B14F-4D97-AF65-F5344CB8AC3E}">
        <p14:creationId xmlns:p14="http://schemas.microsoft.com/office/powerpoint/2010/main" val="2372823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https://www.youtube.com/watch?v=TLVwELDMDWs</a:t>
            </a:r>
          </a:p>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6</a:t>
            </a:fld>
            <a:endParaRPr lang="en-GB"/>
          </a:p>
        </p:txBody>
      </p:sp>
    </p:spTree>
    <p:extLst>
      <p:ext uri="{BB962C8B-B14F-4D97-AF65-F5344CB8AC3E}">
        <p14:creationId xmlns:p14="http://schemas.microsoft.com/office/powerpoint/2010/main" val="2990397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7</a:t>
            </a:fld>
            <a:endParaRPr lang="en-GB"/>
          </a:p>
        </p:txBody>
      </p:sp>
    </p:spTree>
    <p:extLst>
      <p:ext uri="{BB962C8B-B14F-4D97-AF65-F5344CB8AC3E}">
        <p14:creationId xmlns:p14="http://schemas.microsoft.com/office/powerpoint/2010/main" val="2392139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8</a:t>
            </a:fld>
            <a:endParaRPr lang="en-GB"/>
          </a:p>
        </p:txBody>
      </p:sp>
    </p:spTree>
    <p:extLst>
      <p:ext uri="{BB962C8B-B14F-4D97-AF65-F5344CB8AC3E}">
        <p14:creationId xmlns:p14="http://schemas.microsoft.com/office/powerpoint/2010/main" val="1674480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9</a:t>
            </a:fld>
            <a:endParaRPr lang="en-GB"/>
          </a:p>
        </p:txBody>
      </p:sp>
    </p:spTree>
    <p:extLst>
      <p:ext uri="{BB962C8B-B14F-4D97-AF65-F5344CB8AC3E}">
        <p14:creationId xmlns:p14="http://schemas.microsoft.com/office/powerpoint/2010/main" val="1114652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10</a:t>
            </a:fld>
            <a:endParaRPr lang="en-GB"/>
          </a:p>
        </p:txBody>
      </p:sp>
    </p:spTree>
    <p:extLst>
      <p:ext uri="{BB962C8B-B14F-4D97-AF65-F5344CB8AC3E}">
        <p14:creationId xmlns:p14="http://schemas.microsoft.com/office/powerpoint/2010/main" val="467524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11</a:t>
            </a:fld>
            <a:endParaRPr lang="en-GB"/>
          </a:p>
        </p:txBody>
      </p:sp>
    </p:spTree>
    <p:extLst>
      <p:ext uri="{BB962C8B-B14F-4D97-AF65-F5344CB8AC3E}">
        <p14:creationId xmlns:p14="http://schemas.microsoft.com/office/powerpoint/2010/main" val="752372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12</a:t>
            </a:fld>
            <a:endParaRPr lang="en-GB"/>
          </a:p>
        </p:txBody>
      </p:sp>
    </p:spTree>
    <p:extLst>
      <p:ext uri="{BB962C8B-B14F-4D97-AF65-F5344CB8AC3E}">
        <p14:creationId xmlns:p14="http://schemas.microsoft.com/office/powerpoint/2010/main" val="2933405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13</a:t>
            </a:fld>
            <a:endParaRPr lang="en-GB"/>
          </a:p>
        </p:txBody>
      </p:sp>
    </p:spTree>
    <p:extLst>
      <p:ext uri="{BB962C8B-B14F-4D97-AF65-F5344CB8AC3E}">
        <p14:creationId xmlns:p14="http://schemas.microsoft.com/office/powerpoint/2010/main" val="2274279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14</a:t>
            </a:fld>
            <a:endParaRPr lang="en-GB"/>
          </a:p>
        </p:txBody>
      </p:sp>
    </p:spTree>
    <p:extLst>
      <p:ext uri="{BB962C8B-B14F-4D97-AF65-F5344CB8AC3E}">
        <p14:creationId xmlns:p14="http://schemas.microsoft.com/office/powerpoint/2010/main" val="3409223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15</a:t>
            </a:fld>
            <a:endParaRPr lang="en-GB"/>
          </a:p>
        </p:txBody>
      </p:sp>
    </p:spTree>
    <p:extLst>
      <p:ext uri="{BB962C8B-B14F-4D97-AF65-F5344CB8AC3E}">
        <p14:creationId xmlns:p14="http://schemas.microsoft.com/office/powerpoint/2010/main" val="2618326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16</a:t>
            </a:fld>
            <a:endParaRPr lang="en-GB"/>
          </a:p>
        </p:txBody>
      </p:sp>
    </p:spTree>
    <p:extLst>
      <p:ext uri="{BB962C8B-B14F-4D97-AF65-F5344CB8AC3E}">
        <p14:creationId xmlns:p14="http://schemas.microsoft.com/office/powerpoint/2010/main" val="3272922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17</a:t>
            </a:fld>
            <a:endParaRPr lang="en-GB"/>
          </a:p>
        </p:txBody>
      </p:sp>
    </p:spTree>
    <p:extLst>
      <p:ext uri="{BB962C8B-B14F-4D97-AF65-F5344CB8AC3E}">
        <p14:creationId xmlns:p14="http://schemas.microsoft.com/office/powerpoint/2010/main" val="41864417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18</a:t>
            </a:fld>
            <a:endParaRPr lang="en-GB"/>
          </a:p>
        </p:txBody>
      </p:sp>
    </p:spTree>
    <p:extLst>
      <p:ext uri="{BB962C8B-B14F-4D97-AF65-F5344CB8AC3E}">
        <p14:creationId xmlns:p14="http://schemas.microsoft.com/office/powerpoint/2010/main" val="26550600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19</a:t>
            </a:fld>
            <a:endParaRPr lang="en-GB"/>
          </a:p>
        </p:txBody>
      </p:sp>
    </p:spTree>
    <p:extLst>
      <p:ext uri="{BB962C8B-B14F-4D97-AF65-F5344CB8AC3E}">
        <p14:creationId xmlns:p14="http://schemas.microsoft.com/office/powerpoint/2010/main" val="35022499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20</a:t>
            </a:fld>
            <a:endParaRPr lang="en-GB"/>
          </a:p>
        </p:txBody>
      </p:sp>
    </p:spTree>
    <p:extLst>
      <p:ext uri="{BB962C8B-B14F-4D97-AF65-F5344CB8AC3E}">
        <p14:creationId xmlns:p14="http://schemas.microsoft.com/office/powerpoint/2010/main" val="11026714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21</a:t>
            </a:fld>
            <a:endParaRPr lang="en-GB"/>
          </a:p>
        </p:txBody>
      </p:sp>
    </p:spTree>
    <p:extLst>
      <p:ext uri="{BB962C8B-B14F-4D97-AF65-F5344CB8AC3E}">
        <p14:creationId xmlns:p14="http://schemas.microsoft.com/office/powerpoint/2010/main" val="3956498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22</a:t>
            </a:fld>
            <a:endParaRPr lang="en-GB"/>
          </a:p>
        </p:txBody>
      </p:sp>
    </p:spTree>
    <p:extLst>
      <p:ext uri="{BB962C8B-B14F-4D97-AF65-F5344CB8AC3E}">
        <p14:creationId xmlns:p14="http://schemas.microsoft.com/office/powerpoint/2010/main" val="8605835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23</a:t>
            </a:fld>
            <a:endParaRPr lang="en-GB"/>
          </a:p>
        </p:txBody>
      </p:sp>
    </p:spTree>
    <p:extLst>
      <p:ext uri="{BB962C8B-B14F-4D97-AF65-F5344CB8AC3E}">
        <p14:creationId xmlns:p14="http://schemas.microsoft.com/office/powerpoint/2010/main" val="34581742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24</a:t>
            </a:fld>
            <a:endParaRPr lang="en-GB"/>
          </a:p>
        </p:txBody>
      </p:sp>
    </p:spTree>
    <p:extLst>
      <p:ext uri="{BB962C8B-B14F-4D97-AF65-F5344CB8AC3E}">
        <p14:creationId xmlns:p14="http://schemas.microsoft.com/office/powerpoint/2010/main" val="4402821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25</a:t>
            </a:fld>
            <a:endParaRPr lang="en-GB"/>
          </a:p>
        </p:txBody>
      </p:sp>
    </p:spTree>
    <p:extLst>
      <p:ext uri="{BB962C8B-B14F-4D97-AF65-F5344CB8AC3E}">
        <p14:creationId xmlns:p14="http://schemas.microsoft.com/office/powerpoint/2010/main" val="7860053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26</a:t>
            </a:fld>
            <a:endParaRPr lang="en-GB"/>
          </a:p>
        </p:txBody>
      </p:sp>
    </p:spTree>
    <p:extLst>
      <p:ext uri="{BB962C8B-B14F-4D97-AF65-F5344CB8AC3E}">
        <p14:creationId xmlns:p14="http://schemas.microsoft.com/office/powerpoint/2010/main" val="9630135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27</a:t>
            </a:fld>
            <a:endParaRPr lang="en-GB"/>
          </a:p>
        </p:txBody>
      </p:sp>
    </p:spTree>
    <p:extLst>
      <p:ext uri="{BB962C8B-B14F-4D97-AF65-F5344CB8AC3E}">
        <p14:creationId xmlns:p14="http://schemas.microsoft.com/office/powerpoint/2010/main" val="4269858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26/09/2024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72380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26/09/2024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1057285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D1607B-1B4E-47C1-BC71-B8AA73963BFE}" type="datetimeFigureOut">
              <a:rPr lang="en-GB" smtClean="0"/>
              <a:t>26/09/2024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596008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4D1607B-1B4E-47C1-BC71-B8AA73963BFE}" type="datetimeFigureOut">
              <a:rPr lang="en-GB" smtClean="0"/>
              <a:t>26/09/2024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580093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4D1607B-1B4E-47C1-BC71-B8AA73963BFE}" type="datetimeFigureOut">
              <a:rPr lang="en-GB" smtClean="0"/>
              <a:t>26/09/2024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2169242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4D1607B-1B4E-47C1-BC71-B8AA73963BFE}" type="datetimeFigureOut">
              <a:rPr lang="en-GB" smtClean="0"/>
              <a:t>26/09/2024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2909071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D1607B-1B4E-47C1-BC71-B8AA73963BFE}" type="datetimeFigureOut">
              <a:rPr lang="en-GB" smtClean="0"/>
              <a:t>26/09/2024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790519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1607B-1B4E-47C1-BC71-B8AA73963BFE}" type="datetimeFigureOut">
              <a:rPr lang="en-GB" smtClean="0"/>
              <a:t>26/09/2024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463770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1607B-1B4E-47C1-BC71-B8AA73963BFE}" type="datetimeFigureOut">
              <a:rPr lang="en-GB" smtClean="0"/>
              <a:t>26/09/2024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1655580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26/09/2024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3252579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26/09/2024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416637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D1607B-1B4E-47C1-BC71-B8AA73963BFE}" type="datetimeFigureOut">
              <a:rPr lang="en-GB" smtClean="0"/>
              <a:t>26/09/2024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3F03D0-610E-4E12-945A-6B570D36E339}" type="slidenum">
              <a:rPr lang="en-GB" smtClean="0"/>
              <a:t>‹#›</a:t>
            </a:fld>
            <a:endParaRPr lang="en-GB"/>
          </a:p>
        </p:txBody>
      </p:sp>
    </p:spTree>
    <p:extLst>
      <p:ext uri="{BB962C8B-B14F-4D97-AF65-F5344CB8AC3E}">
        <p14:creationId xmlns:p14="http://schemas.microsoft.com/office/powerpoint/2010/main" val="58428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video" Target="https://www.youtube.com/embed/TLVwELDMDWs" TargetMode="External"/><Relationship Id="rId5" Type="http://schemas.openxmlformats.org/officeDocument/2006/relationships/image" Target="../media/image4.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tif"/></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gif"/></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3.jpg"/><Relationship Id="rId4" Type="http://schemas.openxmlformats.org/officeDocument/2006/relationships/image" Target="../media/image22.jp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9100" y="6122508"/>
            <a:ext cx="1688789" cy="434260"/>
          </a:xfrm>
          <a:prstGeom prst="rect">
            <a:avLst/>
          </a:prstGeom>
        </p:spPr>
      </p:pic>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p:spPr>
      </p:pic>
      <p:sp>
        <p:nvSpPr>
          <p:cNvPr id="20" name="Title 1"/>
          <p:cNvSpPr>
            <a:spLocks noGrp="1"/>
          </p:cNvSpPr>
          <p:nvPr>
            <p:ph type="ctrTitle"/>
          </p:nvPr>
        </p:nvSpPr>
        <p:spPr>
          <a:xfrm>
            <a:off x="859367" y="1626330"/>
            <a:ext cx="7766936" cy="1646302"/>
          </a:xfrm>
        </p:spPr>
        <p:txBody>
          <a:bodyPr>
            <a:normAutofit fontScale="90000"/>
          </a:bodyPr>
          <a:lstStyle/>
          <a:p>
            <a:pPr algn="r"/>
            <a:r>
              <a:rPr lang="en-GB" sz="6000" dirty="0">
                <a:solidFill>
                  <a:schemeClr val="bg1"/>
                </a:solidFill>
                <a:latin typeface="Arial" panose="020B0604020202020204" pitchFamily="34" charset="0"/>
                <a:cs typeface="Arial" panose="020B0604020202020204" pitchFamily="34" charset="0"/>
              </a:rPr>
              <a:t>Phases of </a:t>
            </a:r>
            <a:r>
              <a:rPr lang="en-GB" dirty="0">
                <a:solidFill>
                  <a:schemeClr val="bg1"/>
                </a:solidFill>
                <a:latin typeface="Arial" panose="020B0604020202020204" pitchFamily="34" charset="0"/>
                <a:cs typeface="Arial" panose="020B0604020202020204" pitchFamily="34" charset="0"/>
              </a:rPr>
              <a:t>t</a:t>
            </a:r>
            <a:r>
              <a:rPr lang="en-GB" sz="6000" dirty="0">
                <a:solidFill>
                  <a:schemeClr val="bg1"/>
                </a:solidFill>
                <a:latin typeface="Arial" panose="020B0604020202020204" pitchFamily="34" charset="0"/>
                <a:cs typeface="Arial" panose="020B0604020202020204" pitchFamily="34" charset="0"/>
              </a:rPr>
              <a:t>issue healing</a:t>
            </a:r>
          </a:p>
        </p:txBody>
      </p:sp>
      <p:sp>
        <p:nvSpPr>
          <p:cNvPr id="21" name="Subtitle 2"/>
          <p:cNvSpPr>
            <a:spLocks noGrp="1"/>
          </p:cNvSpPr>
          <p:nvPr>
            <p:ph type="subTitle" idx="1"/>
          </p:nvPr>
        </p:nvSpPr>
        <p:spPr>
          <a:xfrm>
            <a:off x="859367" y="3310729"/>
            <a:ext cx="7766936" cy="1587967"/>
          </a:xfrm>
        </p:spPr>
        <p:txBody>
          <a:bodyPr>
            <a:normAutofit fontScale="92500" lnSpcReduction="20000"/>
          </a:bodyPr>
          <a:lstStyle/>
          <a:p>
            <a:pPr algn="r"/>
            <a:r>
              <a:rPr lang="en-GB" sz="3200" dirty="0">
                <a:solidFill>
                  <a:schemeClr val="bg1"/>
                </a:solidFill>
                <a:latin typeface="Arial" panose="020B0604020202020204" pitchFamily="34" charset="0"/>
                <a:cs typeface="Arial" panose="020B0604020202020204" pitchFamily="34" charset="0"/>
              </a:rPr>
              <a:t>PT4050 / PT7001</a:t>
            </a:r>
          </a:p>
          <a:p>
            <a:pPr algn="r"/>
            <a:endParaRPr lang="en-GB" sz="3200" dirty="0">
              <a:solidFill>
                <a:srgbClr val="00B0F0"/>
              </a:solidFill>
              <a:latin typeface="Arial" panose="020B0604020202020204" pitchFamily="34" charset="0"/>
              <a:cs typeface="Arial" panose="020B0604020202020204" pitchFamily="34" charset="0"/>
            </a:endParaRPr>
          </a:p>
          <a:p>
            <a:pPr algn="r"/>
            <a:r>
              <a:rPr lang="en-GB" dirty="0">
                <a:solidFill>
                  <a:srgbClr val="00B0F0"/>
                </a:solidFill>
                <a:latin typeface="Arial" panose="020B0604020202020204" pitchFamily="34" charset="0"/>
                <a:cs typeface="Arial" panose="020B0604020202020204" pitchFamily="34" charset="0"/>
              </a:rPr>
              <a:t>Paul Starrs</a:t>
            </a:r>
          </a:p>
          <a:p>
            <a:pPr algn="r"/>
            <a:r>
              <a:rPr lang="en-GB" dirty="0">
                <a:solidFill>
                  <a:srgbClr val="00B0F0"/>
                </a:solidFill>
                <a:latin typeface="Arial" panose="020B0604020202020204" pitchFamily="34" charset="0"/>
                <a:cs typeface="Arial" panose="020B0604020202020204" pitchFamily="34" charset="0"/>
              </a:rPr>
              <a:t>P.Starrs@londonmet.ac.uk</a:t>
            </a:r>
          </a:p>
        </p:txBody>
      </p:sp>
    </p:spTree>
    <p:extLst>
      <p:ext uri="{BB962C8B-B14F-4D97-AF65-F5344CB8AC3E}">
        <p14:creationId xmlns:p14="http://schemas.microsoft.com/office/powerpoint/2010/main" val="3405389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281115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CONTENTS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789120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Review the phases of soft tissue healing</a:t>
            </a:r>
          </a:p>
          <a:p>
            <a:pPr marL="457200" indent="-457200">
              <a:buClr>
                <a:schemeClr val="bg1"/>
              </a:buClr>
              <a:buFont typeface="Arial" panose="020B0604020202020204" pitchFamily="34" charset="0"/>
              <a:buChar char="•"/>
            </a:pPr>
            <a:r>
              <a:rPr lang="en-GB" sz="2800" dirty="0">
                <a:solidFill>
                  <a:schemeClr val="bg1"/>
                </a:solidFill>
              </a:rPr>
              <a:t>Content from today is important! Knowledge gained from today will be useful not only for this module but for many other elements of the course (and your career!) beyond this point</a:t>
            </a:r>
          </a:p>
        </p:txBody>
      </p:sp>
    </p:spTree>
    <p:extLst>
      <p:ext uri="{BB962C8B-B14F-4D97-AF65-F5344CB8AC3E}">
        <p14:creationId xmlns:p14="http://schemas.microsoft.com/office/powerpoint/2010/main" val="43139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281115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CONTENTS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789120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Be able to define what is meant by the term ‘inflammation’, its signs and mediators </a:t>
            </a:r>
          </a:p>
          <a:p>
            <a:pPr marL="457200" indent="-457200">
              <a:buClr>
                <a:schemeClr val="bg1"/>
              </a:buClr>
              <a:buFont typeface="Arial" panose="020B0604020202020204" pitchFamily="34" charset="0"/>
              <a:buChar char="•"/>
            </a:pPr>
            <a:r>
              <a:rPr lang="en-GB" sz="2800" dirty="0">
                <a:solidFill>
                  <a:schemeClr val="bg1"/>
                </a:solidFill>
              </a:rPr>
              <a:t>Differentiate between pathophysiology, features and fate of acute and chronic inflammation</a:t>
            </a:r>
          </a:p>
          <a:p>
            <a:pPr marL="457200" indent="-457200">
              <a:buClr>
                <a:schemeClr val="bg1"/>
              </a:buClr>
              <a:buFont typeface="Arial" panose="020B0604020202020204" pitchFamily="34" charset="0"/>
              <a:buChar char="•"/>
            </a:pPr>
            <a:r>
              <a:rPr lang="en-GB" sz="2800" dirty="0">
                <a:solidFill>
                  <a:schemeClr val="bg1"/>
                </a:solidFill>
              </a:rPr>
              <a:t>Describe the general features of tissue healing such as regeneration and repair and the associated processes </a:t>
            </a:r>
          </a:p>
          <a:p>
            <a:pPr marL="457200" indent="-457200">
              <a:buClr>
                <a:schemeClr val="bg1"/>
              </a:buClr>
              <a:buFont typeface="Arial" panose="020B0604020202020204" pitchFamily="34" charset="0"/>
              <a:buChar char="•"/>
            </a:pPr>
            <a:r>
              <a:rPr lang="en-GB" sz="2800" dirty="0">
                <a:solidFill>
                  <a:schemeClr val="bg1"/>
                </a:solidFill>
              </a:rPr>
              <a:t>Describe the features of healing in soft tissues</a:t>
            </a:r>
          </a:p>
        </p:txBody>
      </p:sp>
    </p:spTree>
    <p:extLst>
      <p:ext uri="{BB962C8B-B14F-4D97-AF65-F5344CB8AC3E}">
        <p14:creationId xmlns:p14="http://schemas.microsoft.com/office/powerpoint/2010/main" val="163986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6914212"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INITIATION OF TISSUE HEALING</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1" y="1435100"/>
            <a:ext cx="726044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Acute inflammation can be as a result of:</a:t>
            </a:r>
          </a:p>
          <a:p>
            <a:pPr marL="914400" lvl="1" indent="-457200">
              <a:buClr>
                <a:schemeClr val="bg1"/>
              </a:buClr>
              <a:buFont typeface="Arial" panose="020B0604020202020204" pitchFamily="34" charset="0"/>
              <a:buChar char="•"/>
            </a:pPr>
            <a:r>
              <a:rPr lang="en-GB" sz="2800" dirty="0">
                <a:solidFill>
                  <a:schemeClr val="bg1"/>
                </a:solidFill>
              </a:rPr>
              <a:t>Acute trauma</a:t>
            </a:r>
          </a:p>
          <a:p>
            <a:pPr marL="914400" lvl="1" indent="-457200">
              <a:buClr>
                <a:schemeClr val="bg1"/>
              </a:buClr>
              <a:buFont typeface="Arial" panose="020B0604020202020204" pitchFamily="34" charset="0"/>
              <a:buChar char="•"/>
            </a:pPr>
            <a:r>
              <a:rPr lang="en-GB" sz="2800" dirty="0">
                <a:solidFill>
                  <a:schemeClr val="bg1"/>
                </a:solidFill>
              </a:rPr>
              <a:t>Mechanical irritation</a:t>
            </a:r>
          </a:p>
          <a:p>
            <a:pPr marL="914400" lvl="1" indent="-457200">
              <a:buClr>
                <a:schemeClr val="bg1"/>
              </a:buClr>
              <a:buFont typeface="Arial" panose="020B0604020202020204" pitchFamily="34" charset="0"/>
              <a:buChar char="•"/>
            </a:pPr>
            <a:r>
              <a:rPr lang="en-GB" sz="2800" dirty="0">
                <a:solidFill>
                  <a:schemeClr val="bg1"/>
                </a:solidFill>
              </a:rPr>
              <a:t>Thermal insult</a:t>
            </a:r>
          </a:p>
          <a:p>
            <a:pPr marL="914400" lvl="1" indent="-457200">
              <a:buClr>
                <a:schemeClr val="bg1"/>
              </a:buClr>
              <a:buFont typeface="Arial" panose="020B0604020202020204" pitchFamily="34" charset="0"/>
              <a:buChar char="•"/>
            </a:pPr>
            <a:r>
              <a:rPr lang="en-GB" sz="2800" dirty="0">
                <a:solidFill>
                  <a:schemeClr val="bg1"/>
                </a:solidFill>
              </a:rPr>
              <a:t>Chemical insult</a:t>
            </a:r>
          </a:p>
          <a:p>
            <a:pPr marL="457200" indent="-457200">
              <a:buClr>
                <a:schemeClr val="bg1"/>
              </a:buClr>
              <a:buFont typeface="Arial" panose="020B0604020202020204" pitchFamily="34" charset="0"/>
              <a:buChar char="•"/>
            </a:pPr>
            <a:endParaRPr lang="en-GB" sz="2800" dirty="0">
              <a:solidFill>
                <a:schemeClr val="bg1"/>
              </a:solidFill>
            </a:endParaRPr>
          </a:p>
        </p:txBody>
      </p:sp>
      <p:sp>
        <p:nvSpPr>
          <p:cNvPr id="2" name="Round Diagonal Corner Rectangle 7">
            <a:extLst>
              <a:ext uri="{FF2B5EF4-FFF2-40B4-BE49-F238E27FC236}">
                <a16:creationId xmlns:a16="http://schemas.microsoft.com/office/drawing/2014/main" id="{A45BBD10-8800-ADA2-C84D-A0A1676EE0E7}"/>
              </a:ext>
            </a:extLst>
          </p:cNvPr>
          <p:cNvSpPr/>
          <p:nvPr/>
        </p:nvSpPr>
        <p:spPr>
          <a:xfrm>
            <a:off x="8209280" y="1435100"/>
            <a:ext cx="3779520" cy="5159767"/>
          </a:xfrm>
          <a:prstGeom prst="round2DiagRect">
            <a:avLst/>
          </a:prstGeom>
          <a:blipFill dpi="0" rotWithShape="1">
            <a:blip r:embed="rId4">
              <a:extLst>
                <a:ext uri="{28A0092B-C50C-407E-A947-70E740481C1C}">
                  <a14:useLocalDpi xmlns:a14="http://schemas.microsoft.com/office/drawing/2010/main" val="0"/>
                </a:ext>
              </a:extLst>
            </a:blip>
            <a:srcRect/>
            <a:stretch>
              <a:fillRect l="-40575" r="-50358"/>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491075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776923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PRIMARY AND SECONDARY INJURY</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1" y="1435100"/>
            <a:ext cx="726044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Primary injury is the amount of tissue damage caused by the acute trauma – This can be increased by a continuation in aggravating activity but cannot be reduced</a:t>
            </a:r>
          </a:p>
          <a:p>
            <a:pPr marL="457200" indent="-457200">
              <a:buClr>
                <a:schemeClr val="bg1"/>
              </a:buClr>
              <a:buFont typeface="Arial" panose="020B0604020202020204" pitchFamily="34" charset="0"/>
              <a:buChar char="•"/>
            </a:pPr>
            <a:r>
              <a:rPr lang="en-GB" sz="2800" dirty="0">
                <a:solidFill>
                  <a:schemeClr val="bg1"/>
                </a:solidFill>
              </a:rPr>
              <a:t>Secondary injury occurs from hypoxic cell death caused by the subsequent management – Can be decreased</a:t>
            </a:r>
          </a:p>
          <a:p>
            <a:pPr marL="457200" indent="-457200">
              <a:buClr>
                <a:schemeClr val="bg1"/>
              </a:buClr>
              <a:buFont typeface="Arial" panose="020B0604020202020204" pitchFamily="34" charset="0"/>
              <a:buChar char="•"/>
            </a:pPr>
            <a:r>
              <a:rPr lang="en-GB" sz="2800" dirty="0">
                <a:solidFill>
                  <a:schemeClr val="bg1"/>
                </a:solidFill>
              </a:rPr>
              <a:t>Tissue healing refers to the body's replacement of destroyed tissue by living tissue (Walter and Israel, 1987) </a:t>
            </a:r>
          </a:p>
        </p:txBody>
      </p:sp>
      <p:sp>
        <p:nvSpPr>
          <p:cNvPr id="2" name="Round Diagonal Corner Rectangle 7">
            <a:extLst>
              <a:ext uri="{FF2B5EF4-FFF2-40B4-BE49-F238E27FC236}">
                <a16:creationId xmlns:a16="http://schemas.microsoft.com/office/drawing/2014/main" id="{A45BBD10-8800-ADA2-C84D-A0A1676EE0E7}"/>
              </a:ext>
            </a:extLst>
          </p:cNvPr>
          <p:cNvSpPr/>
          <p:nvPr/>
        </p:nvSpPr>
        <p:spPr>
          <a:xfrm>
            <a:off x="8209280" y="1435100"/>
            <a:ext cx="3779520" cy="5159767"/>
          </a:xfrm>
          <a:prstGeom prst="round2DiagRect">
            <a:avLst/>
          </a:prstGeom>
          <a:blipFill dpi="0" rotWithShape="1">
            <a:blip r:embed="rId4">
              <a:extLst>
                <a:ext uri="{28A0092B-C50C-407E-A947-70E740481C1C}">
                  <a14:useLocalDpi xmlns:a14="http://schemas.microsoft.com/office/drawing/2010/main" val="0"/>
                </a:ext>
              </a:extLst>
            </a:blip>
            <a:srcRect/>
            <a:stretch>
              <a:fillRect l="-40575" r="-50358"/>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84302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descr="COSMOS GRAPHIC WHITE.png"/>
          <p:cNvPicPr>
            <a:picLocks noChangeAspect="1"/>
          </p:cNvPicPr>
          <p:nvPr/>
        </p:nvPicPr>
        <p:blipFill rotWithShape="1">
          <a:blip r:embed="rId4"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pic>
        <p:nvPicPr>
          <p:cNvPr id="6" name="TLVwELDMDWs">
            <a:extLst>
              <a:ext uri="{FF2B5EF4-FFF2-40B4-BE49-F238E27FC236}">
                <a16:creationId xmlns:a16="http://schemas.microsoft.com/office/drawing/2014/main" id="{9D07577D-7F20-9147-A79C-BA3E0797665A}"/>
              </a:ext>
            </a:extLst>
          </p:cNvPr>
          <p:cNvPicPr>
            <a:picLocks noRot="1" noChangeAspect="1"/>
          </p:cNvPicPr>
          <p:nvPr>
            <a:videoFile r:link="rId1"/>
          </p:nvPr>
        </p:nvPicPr>
        <p:blipFill>
          <a:blip r:embed="rId5"/>
          <a:stretch>
            <a:fillRect/>
          </a:stretch>
        </p:blipFill>
        <p:spPr>
          <a:xfrm>
            <a:off x="0" y="1905"/>
            <a:ext cx="12192000" cy="6856095"/>
          </a:xfrm>
          <a:prstGeom prst="rect">
            <a:avLst/>
          </a:prstGeom>
        </p:spPr>
      </p:pic>
    </p:spTree>
    <p:extLst>
      <p:ext uri="{BB962C8B-B14F-4D97-AF65-F5344CB8AC3E}">
        <p14:creationId xmlns:p14="http://schemas.microsoft.com/office/powerpoint/2010/main" val="3935595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201534"/>
            <a:ext cx="8205186" cy="6393333"/>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3388263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281115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BLEEDING</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t>Sometimes referred to as </a:t>
            </a:r>
            <a:r>
              <a:rPr lang="en-GB" sz="2800" dirty="0" err="1"/>
              <a:t>hemostasis</a:t>
            </a:r>
            <a:endParaRPr lang="en-GB" sz="2800" dirty="0">
              <a:solidFill>
                <a:schemeClr val="bg1"/>
              </a:solidFill>
            </a:endParaRPr>
          </a:p>
          <a:p>
            <a:pPr marL="457200" indent="-457200">
              <a:buClr>
                <a:schemeClr val="bg1"/>
              </a:buClr>
              <a:buFont typeface="Arial" panose="020B0604020202020204" pitchFamily="34" charset="0"/>
              <a:buChar char="•"/>
            </a:pPr>
            <a:r>
              <a:rPr lang="en-GB" sz="2800" dirty="0">
                <a:solidFill>
                  <a:schemeClr val="bg1"/>
                </a:solidFill>
              </a:rPr>
              <a:t>Relatively short lived – 4-6 hours</a:t>
            </a:r>
          </a:p>
          <a:p>
            <a:pPr marL="457200" indent="-457200">
              <a:buClr>
                <a:schemeClr val="bg1"/>
              </a:buClr>
              <a:buFont typeface="Arial" panose="020B0604020202020204" pitchFamily="34" charset="0"/>
              <a:buChar char="•"/>
            </a:pPr>
            <a:r>
              <a:rPr lang="en-GB" sz="2800" dirty="0">
                <a:solidFill>
                  <a:schemeClr val="bg1"/>
                </a:solidFill>
              </a:rPr>
              <a:t>Duration of bleeding will vary depending on structure involved – the more vascular the tissue, the longer it will bleed but the quicker it will repair</a:t>
            </a:r>
          </a:p>
        </p:txBody>
      </p:sp>
      <p:sp>
        <p:nvSpPr>
          <p:cNvPr id="6" name="Round Diagonal Corner Rectangle 7">
            <a:extLst>
              <a:ext uri="{FF2B5EF4-FFF2-40B4-BE49-F238E27FC236}">
                <a16:creationId xmlns:a16="http://schemas.microsoft.com/office/drawing/2014/main" id="{276C856B-6A3E-9648-75D0-39535A60B70E}"/>
              </a:ext>
            </a:extLst>
          </p:cNvPr>
          <p:cNvSpPr/>
          <p:nvPr/>
        </p:nvSpPr>
        <p:spPr>
          <a:xfrm>
            <a:off x="6718930" y="1435100"/>
            <a:ext cx="52698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75706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28314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BLEEDING</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3881120"/>
            <a:ext cx="7891150" cy="277534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endParaRPr lang="en-GB" sz="2800" dirty="0"/>
          </a:p>
        </p:txBody>
      </p:sp>
      <p:sp>
        <p:nvSpPr>
          <p:cNvPr id="8" name="Round Diagonal Corner Rectangle 3">
            <a:extLst>
              <a:ext uri="{FF2B5EF4-FFF2-40B4-BE49-F238E27FC236}">
                <a16:creationId xmlns:a16="http://schemas.microsoft.com/office/drawing/2014/main" id="{7C580129-A0D0-E6A1-4FAA-43A4C34C02A0}"/>
              </a:ext>
            </a:extLst>
          </p:cNvPr>
          <p:cNvSpPr/>
          <p:nvPr/>
        </p:nvSpPr>
        <p:spPr>
          <a:xfrm>
            <a:off x="622930" y="1435099"/>
            <a:ext cx="7891150" cy="2244483"/>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500" indent="-571500">
              <a:buFont typeface="Arial" panose="020B0604020202020204" pitchFamily="34" charset="0"/>
              <a:buChar char="•"/>
            </a:pPr>
            <a:r>
              <a:rPr lang="en-GB" sz="2800" dirty="0"/>
              <a:t>Disruption of blood vessels</a:t>
            </a:r>
          </a:p>
          <a:p>
            <a:pPr marL="571500" indent="-571500">
              <a:buFont typeface="Arial" panose="020B0604020202020204" pitchFamily="34" charset="0"/>
              <a:buChar char="•"/>
            </a:pPr>
            <a:r>
              <a:rPr lang="en-GB" sz="2800" dirty="0"/>
              <a:t>Immediate, but brief, vasoconstriction of local vessels to limit blood flow to area and prevent excess bleeding, followed by vasodilation once clot formed by fibrin and fibronectin</a:t>
            </a:r>
          </a:p>
        </p:txBody>
      </p:sp>
    </p:spTree>
    <p:extLst>
      <p:ext uri="{BB962C8B-B14F-4D97-AF65-F5344CB8AC3E}">
        <p14:creationId xmlns:p14="http://schemas.microsoft.com/office/powerpoint/2010/main" val="2318662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403035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INFLAMMATION</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000" b="1" dirty="0">
                <a:solidFill>
                  <a:schemeClr val="accent2"/>
                </a:solidFill>
              </a:rPr>
              <a:t>NORMAL</a:t>
            </a:r>
            <a:r>
              <a:rPr lang="en-GB" sz="2000" dirty="0">
                <a:solidFill>
                  <a:schemeClr val="bg1"/>
                </a:solidFill>
              </a:rPr>
              <a:t> reaction of the body to tissue damage</a:t>
            </a:r>
          </a:p>
          <a:p>
            <a:pPr marL="457200" indent="-457200">
              <a:buClr>
                <a:schemeClr val="bg1"/>
              </a:buClr>
              <a:buFont typeface="Arial" panose="020B0604020202020204" pitchFamily="34" charset="0"/>
              <a:buChar char="•"/>
            </a:pPr>
            <a:r>
              <a:rPr lang="en-GB" sz="2000" dirty="0">
                <a:solidFill>
                  <a:schemeClr val="bg1"/>
                </a:solidFill>
              </a:rPr>
              <a:t>Essential component, rather than inappropriate reaction, as:</a:t>
            </a:r>
          </a:p>
          <a:p>
            <a:pPr marL="914400" lvl="1" indent="-457200">
              <a:buClr>
                <a:schemeClr val="bg1"/>
              </a:buClr>
              <a:buFont typeface="Arial" panose="020B0604020202020204" pitchFamily="34" charset="0"/>
              <a:buChar char="•"/>
            </a:pPr>
            <a:r>
              <a:rPr lang="en-GB" sz="2000" dirty="0">
                <a:solidFill>
                  <a:schemeClr val="bg1"/>
                </a:solidFill>
              </a:rPr>
              <a:t>Removal of damaged and dead tissues</a:t>
            </a:r>
          </a:p>
          <a:p>
            <a:pPr marL="914400" lvl="1" indent="-457200">
              <a:buClr>
                <a:schemeClr val="bg1"/>
              </a:buClr>
              <a:buFont typeface="Arial" panose="020B0604020202020204" pitchFamily="34" charset="0"/>
              <a:buChar char="•"/>
            </a:pPr>
            <a:r>
              <a:rPr lang="en-GB" sz="2000" dirty="0">
                <a:solidFill>
                  <a:schemeClr val="bg1"/>
                </a:solidFill>
              </a:rPr>
              <a:t>Prepares body to repair</a:t>
            </a:r>
          </a:p>
          <a:p>
            <a:pPr marL="457200" indent="-457200">
              <a:buClr>
                <a:schemeClr val="bg1"/>
              </a:buClr>
              <a:buFont typeface="Arial" panose="020B0604020202020204" pitchFamily="34" charset="0"/>
              <a:buChar char="•"/>
            </a:pPr>
            <a:r>
              <a:rPr lang="en-GB" sz="2000" dirty="0">
                <a:solidFill>
                  <a:schemeClr val="bg1"/>
                </a:solidFill>
              </a:rPr>
              <a:t>Onset and resolution are swifter in more vascular tissues and slower in the relatively poorly vascularised tissues</a:t>
            </a:r>
          </a:p>
          <a:p>
            <a:pPr marL="457200" indent="-457200">
              <a:buClr>
                <a:schemeClr val="bg1"/>
              </a:buClr>
              <a:buFont typeface="Arial" panose="020B0604020202020204" pitchFamily="34" charset="0"/>
              <a:buChar char="•"/>
            </a:pPr>
            <a:r>
              <a:rPr lang="en-GB" sz="2000" dirty="0">
                <a:solidFill>
                  <a:schemeClr val="bg1"/>
                </a:solidFill>
              </a:rPr>
              <a:t>“-itis” is a suffix which usually indicates a condition with inflammation presence</a:t>
            </a:r>
          </a:p>
        </p:txBody>
      </p:sp>
      <p:sp>
        <p:nvSpPr>
          <p:cNvPr id="6" name="Round Diagonal Corner Rectangle 7">
            <a:extLst>
              <a:ext uri="{FF2B5EF4-FFF2-40B4-BE49-F238E27FC236}">
                <a16:creationId xmlns:a16="http://schemas.microsoft.com/office/drawing/2014/main" id="{276C856B-6A3E-9648-75D0-39535A60B70E}"/>
              </a:ext>
            </a:extLst>
          </p:cNvPr>
          <p:cNvSpPr/>
          <p:nvPr/>
        </p:nvSpPr>
        <p:spPr>
          <a:xfrm>
            <a:off x="6718930" y="1435100"/>
            <a:ext cx="52698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025071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032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8389865"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CARDINAL SIGNS OF INFLAMMATION</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33115" y="201535"/>
            <a:ext cx="3179205" cy="6393333"/>
          </a:xfrm>
          <a:prstGeom prst="rect">
            <a:avLst/>
          </a:prstGeom>
          <a:noFill/>
          <a:effectLst/>
        </p:spPr>
      </p:pic>
      <p:sp>
        <p:nvSpPr>
          <p:cNvPr id="3" name="Round Diagonal Corner Rectangle 2"/>
          <p:cNvSpPr/>
          <p:nvPr/>
        </p:nvSpPr>
        <p:spPr>
          <a:xfrm>
            <a:off x="622930" y="2235200"/>
            <a:ext cx="2099950" cy="4359667"/>
          </a:xfrm>
          <a:prstGeom prst="round2DiagRect">
            <a:avLst/>
          </a:prstGeom>
          <a:solidFill>
            <a:schemeClr val="accent6">
              <a:lumMod val="20000"/>
              <a:lumOff val="8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800" dirty="0">
                <a:solidFill>
                  <a:schemeClr val="tx1"/>
                </a:solidFill>
              </a:rPr>
              <a:t>Increased chemical activity &amp; increased blood flow to skin surface</a:t>
            </a:r>
          </a:p>
        </p:txBody>
      </p:sp>
      <p:sp>
        <p:nvSpPr>
          <p:cNvPr id="8" name="Round Diagonal Corner Rectangle 2">
            <a:extLst>
              <a:ext uri="{FF2B5EF4-FFF2-40B4-BE49-F238E27FC236}">
                <a16:creationId xmlns:a16="http://schemas.microsoft.com/office/drawing/2014/main" id="{532627F2-CBC1-F5F8-8E37-7CE0984F925E}"/>
              </a:ext>
            </a:extLst>
          </p:cNvPr>
          <p:cNvSpPr/>
          <p:nvPr/>
        </p:nvSpPr>
        <p:spPr>
          <a:xfrm>
            <a:off x="2908930" y="2235200"/>
            <a:ext cx="2099950" cy="4359667"/>
          </a:xfrm>
          <a:prstGeom prst="round2DiagRect">
            <a:avLst/>
          </a:prstGeom>
          <a:solidFill>
            <a:schemeClr val="accent5">
              <a:lumMod val="20000"/>
              <a:lumOff val="8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800" dirty="0">
                <a:solidFill>
                  <a:schemeClr val="tx1"/>
                </a:solidFill>
              </a:rPr>
              <a:t>Caused by dilation of blood vessels &amp; increased blood flow</a:t>
            </a:r>
          </a:p>
        </p:txBody>
      </p:sp>
      <p:sp>
        <p:nvSpPr>
          <p:cNvPr id="9" name="Round Diagonal Corner Rectangle 2">
            <a:extLst>
              <a:ext uri="{FF2B5EF4-FFF2-40B4-BE49-F238E27FC236}">
                <a16:creationId xmlns:a16="http://schemas.microsoft.com/office/drawing/2014/main" id="{1F31BA2B-F5A7-796B-638E-DB2F61046B2B}"/>
              </a:ext>
            </a:extLst>
          </p:cNvPr>
          <p:cNvSpPr/>
          <p:nvPr/>
        </p:nvSpPr>
        <p:spPr>
          <a:xfrm>
            <a:off x="5194930" y="2235199"/>
            <a:ext cx="2099950" cy="4359667"/>
          </a:xfrm>
          <a:prstGeom prst="round2DiagRect">
            <a:avLst/>
          </a:prstGeom>
          <a:solidFill>
            <a:schemeClr val="accent2">
              <a:lumMod val="20000"/>
              <a:lumOff val="8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800" dirty="0">
                <a:solidFill>
                  <a:schemeClr val="tx1"/>
                </a:solidFill>
              </a:rPr>
              <a:t>Caused by accumulation of blood, lymphatic fluid and damaged tissue cells</a:t>
            </a:r>
          </a:p>
        </p:txBody>
      </p:sp>
      <p:sp>
        <p:nvSpPr>
          <p:cNvPr id="10" name="Round Diagonal Corner Rectangle 2">
            <a:extLst>
              <a:ext uri="{FF2B5EF4-FFF2-40B4-BE49-F238E27FC236}">
                <a16:creationId xmlns:a16="http://schemas.microsoft.com/office/drawing/2014/main" id="{4296D3E0-4BCC-079A-0529-CDE7137CF49D}"/>
              </a:ext>
            </a:extLst>
          </p:cNvPr>
          <p:cNvSpPr/>
          <p:nvPr/>
        </p:nvSpPr>
        <p:spPr>
          <a:xfrm>
            <a:off x="7484100" y="2235198"/>
            <a:ext cx="2099950" cy="4359667"/>
          </a:xfrm>
          <a:prstGeom prst="round2DiagRect">
            <a:avLst/>
          </a:prstGeom>
          <a:solidFill>
            <a:schemeClr val="accent4">
              <a:lumMod val="20000"/>
              <a:lumOff val="8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800" dirty="0">
                <a:solidFill>
                  <a:schemeClr val="tx1"/>
                </a:solidFill>
              </a:rPr>
              <a:t>Stimulation of pain detecting nerve endings. Increase in chemical irritants</a:t>
            </a:r>
          </a:p>
        </p:txBody>
      </p:sp>
      <p:sp>
        <p:nvSpPr>
          <p:cNvPr id="11" name="Round Diagonal Corner Rectangle 2">
            <a:extLst>
              <a:ext uri="{FF2B5EF4-FFF2-40B4-BE49-F238E27FC236}">
                <a16:creationId xmlns:a16="http://schemas.microsoft.com/office/drawing/2014/main" id="{1242C594-9324-48D8-4A1C-67558B9B6E3A}"/>
              </a:ext>
            </a:extLst>
          </p:cNvPr>
          <p:cNvSpPr/>
          <p:nvPr/>
        </p:nvSpPr>
        <p:spPr>
          <a:xfrm>
            <a:off x="9766930" y="2235197"/>
            <a:ext cx="2099950" cy="4359667"/>
          </a:xfrm>
          <a:prstGeom prst="round2DiagRect">
            <a:avLst/>
          </a:prstGeom>
          <a:solidFill>
            <a:schemeClr val="bg2">
              <a:lumMod val="9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800" dirty="0">
                <a:solidFill>
                  <a:schemeClr val="tx1"/>
                </a:solidFill>
              </a:rPr>
              <a:t>Resultant of increased pain &amp; swelling</a:t>
            </a:r>
          </a:p>
        </p:txBody>
      </p:sp>
      <p:sp>
        <p:nvSpPr>
          <p:cNvPr id="12" name="Round Diagonal Corner Rectangle 2">
            <a:extLst>
              <a:ext uri="{FF2B5EF4-FFF2-40B4-BE49-F238E27FC236}">
                <a16:creationId xmlns:a16="http://schemas.microsoft.com/office/drawing/2014/main" id="{26F2C108-0DE5-9314-3EC9-4B0BFDE9741A}"/>
              </a:ext>
            </a:extLst>
          </p:cNvPr>
          <p:cNvSpPr/>
          <p:nvPr/>
        </p:nvSpPr>
        <p:spPr>
          <a:xfrm>
            <a:off x="622929" y="1327694"/>
            <a:ext cx="2099950" cy="731921"/>
          </a:xfrm>
          <a:prstGeom prst="round2DiagRect">
            <a:avLst/>
          </a:prstGeom>
          <a:solidFill>
            <a:schemeClr val="accent6">
              <a:lumMod val="20000"/>
              <a:lumOff val="8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800" dirty="0">
                <a:solidFill>
                  <a:schemeClr val="tx1"/>
                </a:solidFill>
              </a:rPr>
              <a:t>HEAT</a:t>
            </a:r>
          </a:p>
        </p:txBody>
      </p:sp>
      <p:sp>
        <p:nvSpPr>
          <p:cNvPr id="13" name="Round Diagonal Corner Rectangle 2">
            <a:extLst>
              <a:ext uri="{FF2B5EF4-FFF2-40B4-BE49-F238E27FC236}">
                <a16:creationId xmlns:a16="http://schemas.microsoft.com/office/drawing/2014/main" id="{209B3006-429A-56FC-F69A-C8D3B5970816}"/>
              </a:ext>
            </a:extLst>
          </p:cNvPr>
          <p:cNvSpPr/>
          <p:nvPr/>
        </p:nvSpPr>
        <p:spPr>
          <a:xfrm>
            <a:off x="2908930" y="1321888"/>
            <a:ext cx="2099950" cy="731921"/>
          </a:xfrm>
          <a:prstGeom prst="round2DiagRect">
            <a:avLst/>
          </a:prstGeom>
          <a:solidFill>
            <a:schemeClr val="accent5">
              <a:lumMod val="20000"/>
              <a:lumOff val="8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800" dirty="0">
                <a:solidFill>
                  <a:schemeClr val="tx1"/>
                </a:solidFill>
              </a:rPr>
              <a:t>REDNESS</a:t>
            </a:r>
          </a:p>
        </p:txBody>
      </p:sp>
      <p:sp>
        <p:nvSpPr>
          <p:cNvPr id="14" name="Round Diagonal Corner Rectangle 2">
            <a:extLst>
              <a:ext uri="{FF2B5EF4-FFF2-40B4-BE49-F238E27FC236}">
                <a16:creationId xmlns:a16="http://schemas.microsoft.com/office/drawing/2014/main" id="{C5E7D47B-13FD-F790-04EC-D89AFF3C5D5C}"/>
              </a:ext>
            </a:extLst>
          </p:cNvPr>
          <p:cNvSpPr/>
          <p:nvPr/>
        </p:nvSpPr>
        <p:spPr>
          <a:xfrm>
            <a:off x="5194930" y="1321887"/>
            <a:ext cx="2099950" cy="731921"/>
          </a:xfrm>
          <a:prstGeom prst="round2DiagRect">
            <a:avLst/>
          </a:prstGeom>
          <a:solidFill>
            <a:schemeClr val="accent2">
              <a:lumMod val="20000"/>
              <a:lumOff val="8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800" dirty="0">
                <a:solidFill>
                  <a:schemeClr val="tx1"/>
                </a:solidFill>
              </a:rPr>
              <a:t>SWELLING</a:t>
            </a:r>
          </a:p>
        </p:txBody>
      </p:sp>
      <p:sp>
        <p:nvSpPr>
          <p:cNvPr id="15" name="Round Diagonal Corner Rectangle 2">
            <a:extLst>
              <a:ext uri="{FF2B5EF4-FFF2-40B4-BE49-F238E27FC236}">
                <a16:creationId xmlns:a16="http://schemas.microsoft.com/office/drawing/2014/main" id="{AA83372F-9932-F1B1-85C1-2E93A9E5E3C9}"/>
              </a:ext>
            </a:extLst>
          </p:cNvPr>
          <p:cNvSpPr/>
          <p:nvPr/>
        </p:nvSpPr>
        <p:spPr>
          <a:xfrm>
            <a:off x="7484100" y="1321884"/>
            <a:ext cx="2099950" cy="731921"/>
          </a:xfrm>
          <a:prstGeom prst="round2DiagRect">
            <a:avLst/>
          </a:prstGeom>
          <a:solidFill>
            <a:schemeClr val="accent4">
              <a:lumMod val="20000"/>
              <a:lumOff val="8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800" dirty="0">
                <a:solidFill>
                  <a:schemeClr val="tx1"/>
                </a:solidFill>
              </a:rPr>
              <a:t>PAIN</a:t>
            </a:r>
          </a:p>
        </p:txBody>
      </p:sp>
      <p:sp>
        <p:nvSpPr>
          <p:cNvPr id="16" name="Round Diagonal Corner Rectangle 2">
            <a:extLst>
              <a:ext uri="{FF2B5EF4-FFF2-40B4-BE49-F238E27FC236}">
                <a16:creationId xmlns:a16="http://schemas.microsoft.com/office/drawing/2014/main" id="{3F39115E-4201-F16E-1935-C7C74AAF9E28}"/>
              </a:ext>
            </a:extLst>
          </p:cNvPr>
          <p:cNvSpPr/>
          <p:nvPr/>
        </p:nvSpPr>
        <p:spPr>
          <a:xfrm>
            <a:off x="9766930" y="1330582"/>
            <a:ext cx="2099950" cy="731921"/>
          </a:xfrm>
          <a:prstGeom prst="round2DiagRect">
            <a:avLst/>
          </a:prstGeom>
          <a:solidFill>
            <a:schemeClr val="bg2">
              <a:lumMod val="9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2400" dirty="0">
                <a:solidFill>
                  <a:schemeClr val="tx1"/>
                </a:solidFill>
              </a:rPr>
              <a:t>LOSS OF FUNCTION</a:t>
            </a:r>
          </a:p>
        </p:txBody>
      </p:sp>
    </p:spTree>
    <p:extLst>
      <p:ext uri="{BB962C8B-B14F-4D97-AF65-F5344CB8AC3E}">
        <p14:creationId xmlns:p14="http://schemas.microsoft.com/office/powerpoint/2010/main" val="2327733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403035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INFLAMMATION</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400" dirty="0">
                <a:solidFill>
                  <a:schemeClr val="bg1"/>
                </a:solidFill>
              </a:rPr>
              <a:t>Rapid onset after acute injury</a:t>
            </a:r>
          </a:p>
          <a:p>
            <a:pPr marL="457200" indent="-457200">
              <a:buClr>
                <a:schemeClr val="bg1"/>
              </a:buClr>
              <a:buFont typeface="Arial" panose="020B0604020202020204" pitchFamily="34" charset="0"/>
              <a:buChar char="•"/>
            </a:pPr>
            <a:r>
              <a:rPr lang="en-GB" sz="2400" dirty="0">
                <a:solidFill>
                  <a:schemeClr val="bg1"/>
                </a:solidFill>
              </a:rPr>
              <a:t>Maximal reaction 1-3 days following</a:t>
            </a:r>
          </a:p>
          <a:p>
            <a:pPr marL="457200" indent="-457200">
              <a:buClr>
                <a:schemeClr val="bg1"/>
              </a:buClr>
              <a:buFont typeface="Arial" panose="020B0604020202020204" pitchFamily="34" charset="0"/>
              <a:buChar char="•"/>
            </a:pPr>
            <a:r>
              <a:rPr lang="en-GB" sz="2400" dirty="0">
                <a:solidFill>
                  <a:schemeClr val="bg1"/>
                </a:solidFill>
              </a:rPr>
              <a:t>Numerous chemical mediators involved e.g. IGF, prostaglandins, growth factors, etc.</a:t>
            </a:r>
          </a:p>
          <a:p>
            <a:pPr marL="457200" indent="-457200">
              <a:buClr>
                <a:schemeClr val="bg1"/>
              </a:buClr>
              <a:buFont typeface="Arial" panose="020B0604020202020204" pitchFamily="34" charset="0"/>
              <a:buChar char="•"/>
            </a:pPr>
            <a:r>
              <a:rPr lang="en-GB" sz="2400" dirty="0">
                <a:solidFill>
                  <a:schemeClr val="bg1"/>
                </a:solidFill>
              </a:rPr>
              <a:t>Two cascading components which occur in parallel and are significantly interlinked:</a:t>
            </a:r>
          </a:p>
          <a:p>
            <a:pPr marL="914400" lvl="1" indent="-457200">
              <a:buClr>
                <a:schemeClr val="bg1"/>
              </a:buClr>
              <a:buFont typeface="Arial" panose="020B0604020202020204" pitchFamily="34" charset="0"/>
              <a:buChar char="•"/>
            </a:pPr>
            <a:r>
              <a:rPr lang="en-GB" sz="2400" dirty="0">
                <a:solidFill>
                  <a:schemeClr val="bg1"/>
                </a:solidFill>
              </a:rPr>
              <a:t>Vascular events</a:t>
            </a:r>
          </a:p>
          <a:p>
            <a:pPr marL="914400" lvl="1" indent="-457200">
              <a:buClr>
                <a:schemeClr val="bg1"/>
              </a:buClr>
              <a:buFont typeface="Arial" panose="020B0604020202020204" pitchFamily="34" charset="0"/>
              <a:buChar char="•"/>
            </a:pPr>
            <a:r>
              <a:rPr lang="en-GB" sz="2400" dirty="0">
                <a:solidFill>
                  <a:schemeClr val="bg1"/>
                </a:solidFill>
              </a:rPr>
              <a:t>Cellular events</a:t>
            </a:r>
          </a:p>
        </p:txBody>
      </p:sp>
      <p:sp>
        <p:nvSpPr>
          <p:cNvPr id="6" name="Round Diagonal Corner Rectangle 7">
            <a:extLst>
              <a:ext uri="{FF2B5EF4-FFF2-40B4-BE49-F238E27FC236}">
                <a16:creationId xmlns:a16="http://schemas.microsoft.com/office/drawing/2014/main" id="{276C856B-6A3E-9648-75D0-39535A60B70E}"/>
              </a:ext>
            </a:extLst>
          </p:cNvPr>
          <p:cNvSpPr/>
          <p:nvPr/>
        </p:nvSpPr>
        <p:spPr>
          <a:xfrm>
            <a:off x="6718930" y="1435100"/>
            <a:ext cx="52698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9550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46602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VASCULAR EVENTS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29" y="1435100"/>
            <a:ext cx="6408185"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buClr>
                <a:schemeClr val="bg1"/>
              </a:buClr>
              <a:buFont typeface="+mj-lt"/>
              <a:buAutoNum type="arabicPeriod"/>
            </a:pPr>
            <a:r>
              <a:rPr lang="en-GB" sz="2800" dirty="0">
                <a:solidFill>
                  <a:schemeClr val="accent2"/>
                </a:solidFill>
              </a:rPr>
              <a:t> </a:t>
            </a:r>
            <a:r>
              <a:rPr lang="en-GB" sz="2800" b="1" dirty="0">
                <a:solidFill>
                  <a:schemeClr val="accent2"/>
                </a:solidFill>
              </a:rPr>
              <a:t>VASODILATION</a:t>
            </a:r>
          </a:p>
          <a:p>
            <a:pPr marL="514350" indent="-514350">
              <a:buClr>
                <a:schemeClr val="bg1"/>
              </a:buClr>
              <a:buFont typeface="+mj-lt"/>
              <a:buAutoNum type="arabicPeriod"/>
            </a:pPr>
            <a:r>
              <a:rPr lang="en-GB" sz="2800" dirty="0">
                <a:solidFill>
                  <a:schemeClr val="bg1"/>
                </a:solidFill>
              </a:rPr>
              <a:t> An increase in </a:t>
            </a:r>
            <a:r>
              <a:rPr lang="en-GB" sz="2800" b="1" dirty="0">
                <a:solidFill>
                  <a:schemeClr val="accent2"/>
                </a:solidFill>
              </a:rPr>
              <a:t>VASOPERMEABILITY</a:t>
            </a:r>
          </a:p>
        </p:txBody>
      </p:sp>
      <p:sp>
        <p:nvSpPr>
          <p:cNvPr id="6" name="Round Diagonal Corner Rectangle 7">
            <a:extLst>
              <a:ext uri="{FF2B5EF4-FFF2-40B4-BE49-F238E27FC236}">
                <a16:creationId xmlns:a16="http://schemas.microsoft.com/office/drawing/2014/main" id="{276C856B-6A3E-9648-75D0-39535A60B70E}"/>
              </a:ext>
            </a:extLst>
          </p:cNvPr>
          <p:cNvSpPr/>
          <p:nvPr/>
        </p:nvSpPr>
        <p:spPr>
          <a:xfrm>
            <a:off x="7226422" y="1435100"/>
            <a:ext cx="4762377" cy="5159767"/>
          </a:xfrm>
          <a:prstGeom prst="round2DiagRect">
            <a:avLst/>
          </a:prstGeom>
          <a:blipFill dpi="0" rotWithShape="1">
            <a:blip r:embed="rId4" cstate="print">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69622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421323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VASCULAR EVENTS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29" y="1435101"/>
            <a:ext cx="8301995" cy="2263140"/>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400" dirty="0">
                <a:solidFill>
                  <a:schemeClr val="bg1"/>
                </a:solidFill>
              </a:rPr>
              <a:t>Vasodilation follows brief period of vasoconstriction (mediated by histamine and prostaglandins)</a:t>
            </a:r>
          </a:p>
          <a:p>
            <a:pPr marL="457200" indent="-457200">
              <a:buClr>
                <a:schemeClr val="bg1"/>
              </a:buClr>
              <a:buFont typeface="Arial" panose="020B0604020202020204" pitchFamily="34" charset="0"/>
              <a:buChar char="•"/>
            </a:pPr>
            <a:r>
              <a:rPr lang="en-GB" sz="2400" dirty="0">
                <a:solidFill>
                  <a:schemeClr val="bg1"/>
                </a:solidFill>
              </a:rPr>
              <a:t>More volume present and therefore more platelets and white blood cells migrate</a:t>
            </a:r>
          </a:p>
          <a:p>
            <a:pPr marL="457200" indent="-457200">
              <a:buClr>
                <a:schemeClr val="bg1"/>
              </a:buClr>
              <a:buFont typeface="Arial" panose="020B0604020202020204" pitchFamily="34" charset="0"/>
              <a:buChar char="•"/>
            </a:pPr>
            <a:r>
              <a:rPr lang="en-GB" sz="2400" dirty="0">
                <a:solidFill>
                  <a:schemeClr val="bg1"/>
                </a:solidFill>
              </a:rPr>
              <a:t>Previous dormant capillaries are opened</a:t>
            </a:r>
          </a:p>
        </p:txBody>
      </p:sp>
      <p:sp>
        <p:nvSpPr>
          <p:cNvPr id="6" name="Round Diagonal Corner Rectangle 2">
            <a:extLst>
              <a:ext uri="{FF2B5EF4-FFF2-40B4-BE49-F238E27FC236}">
                <a16:creationId xmlns:a16="http://schemas.microsoft.com/office/drawing/2014/main" id="{09588C94-B331-9A11-C67B-69A86A41ABEA}"/>
              </a:ext>
            </a:extLst>
          </p:cNvPr>
          <p:cNvSpPr/>
          <p:nvPr/>
        </p:nvSpPr>
        <p:spPr>
          <a:xfrm>
            <a:off x="622930" y="3981231"/>
            <a:ext cx="8301994" cy="261363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400" dirty="0">
                <a:solidFill>
                  <a:schemeClr val="bg1"/>
                </a:solidFill>
              </a:rPr>
              <a:t>An increase in </a:t>
            </a:r>
            <a:r>
              <a:rPr lang="en-GB" sz="2400" dirty="0" err="1">
                <a:solidFill>
                  <a:schemeClr val="bg1"/>
                </a:solidFill>
              </a:rPr>
              <a:t>vasopermeability</a:t>
            </a:r>
            <a:r>
              <a:rPr lang="en-GB" sz="2400" dirty="0">
                <a:solidFill>
                  <a:schemeClr val="bg1"/>
                </a:solidFill>
              </a:rPr>
              <a:t> is mediated by release of chemicals such as histamine and serotonin</a:t>
            </a:r>
          </a:p>
          <a:p>
            <a:pPr marL="457200" indent="-457200">
              <a:buClr>
                <a:schemeClr val="bg1"/>
              </a:buClr>
              <a:buFont typeface="Arial" panose="020B0604020202020204" pitchFamily="34" charset="0"/>
              <a:buChar char="•"/>
            </a:pPr>
            <a:r>
              <a:rPr lang="en-GB" sz="2400" dirty="0">
                <a:solidFill>
                  <a:schemeClr val="bg1"/>
                </a:solidFill>
              </a:rPr>
              <a:t>Leakier cell membranes, increase volume, flow and pressure cause smaller solutes to pass into tissue spaces</a:t>
            </a:r>
          </a:p>
          <a:p>
            <a:pPr marL="457200" indent="-457200">
              <a:buClr>
                <a:schemeClr val="bg1"/>
              </a:buClr>
              <a:buFont typeface="Arial" panose="020B0604020202020204" pitchFamily="34" charset="0"/>
              <a:buChar char="•"/>
            </a:pPr>
            <a:r>
              <a:rPr lang="en-GB" sz="2400" dirty="0">
                <a:solidFill>
                  <a:schemeClr val="bg1"/>
                </a:solidFill>
              </a:rPr>
              <a:t>Increase presence of plasma proteins causes an attraction, and the retention, of fluid which results in tissue oedema</a:t>
            </a:r>
          </a:p>
        </p:txBody>
      </p:sp>
    </p:spTree>
    <p:extLst>
      <p:ext uri="{BB962C8B-B14F-4D97-AF65-F5344CB8AC3E}">
        <p14:creationId xmlns:p14="http://schemas.microsoft.com/office/powerpoint/2010/main" val="89510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461963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CELLULAR EVENTS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400" dirty="0">
                <a:solidFill>
                  <a:schemeClr val="bg1"/>
                </a:solidFill>
              </a:rPr>
              <a:t>Emigration of phagocytes e.g. </a:t>
            </a:r>
            <a:r>
              <a:rPr lang="en-GB" sz="2400" dirty="0" err="1">
                <a:solidFill>
                  <a:schemeClr val="bg1"/>
                </a:solidFill>
              </a:rPr>
              <a:t>neurtrophils</a:t>
            </a:r>
            <a:r>
              <a:rPr lang="en-GB" sz="2400" dirty="0">
                <a:solidFill>
                  <a:schemeClr val="bg1"/>
                </a:solidFill>
              </a:rPr>
              <a:t> (white blood cells that fight infection and bacteria) help to protect from infection</a:t>
            </a:r>
          </a:p>
          <a:p>
            <a:pPr marL="457200" indent="-457200">
              <a:buClr>
                <a:schemeClr val="bg1"/>
              </a:buClr>
              <a:buFont typeface="Arial" panose="020B0604020202020204" pitchFamily="34" charset="0"/>
              <a:buChar char="•"/>
            </a:pPr>
            <a:r>
              <a:rPr lang="en-GB" sz="2400" dirty="0">
                <a:solidFill>
                  <a:schemeClr val="bg1"/>
                </a:solidFill>
              </a:rPr>
              <a:t>Remove tissue debris e.g. dead/dying cells, fibrin mesh/clot, all need to be removed</a:t>
            </a:r>
          </a:p>
          <a:p>
            <a:pPr marL="457200" indent="-457200">
              <a:buClr>
                <a:schemeClr val="bg1"/>
              </a:buClr>
              <a:buFont typeface="Arial" panose="020B0604020202020204" pitchFamily="34" charset="0"/>
              <a:buChar char="•"/>
            </a:pPr>
            <a:r>
              <a:rPr lang="en-GB" sz="2400" dirty="0">
                <a:solidFill>
                  <a:schemeClr val="bg1"/>
                </a:solidFill>
              </a:rPr>
              <a:t>As a bonus, one of the chemicals released as an end product of phagocytosis is lactic acid which is one of the stimulants of proliferation</a:t>
            </a:r>
          </a:p>
        </p:txBody>
      </p:sp>
      <p:sp>
        <p:nvSpPr>
          <p:cNvPr id="6" name="Round Diagonal Corner Rectangle 7">
            <a:extLst>
              <a:ext uri="{FF2B5EF4-FFF2-40B4-BE49-F238E27FC236}">
                <a16:creationId xmlns:a16="http://schemas.microsoft.com/office/drawing/2014/main" id="{276C856B-6A3E-9648-75D0-39535A60B70E}"/>
              </a:ext>
            </a:extLst>
          </p:cNvPr>
          <p:cNvSpPr/>
          <p:nvPr/>
        </p:nvSpPr>
        <p:spPr>
          <a:xfrm>
            <a:off x="6718930" y="1435100"/>
            <a:ext cx="52698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451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609600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CHRONIC INFLAMMATION</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400" dirty="0">
                <a:solidFill>
                  <a:schemeClr val="bg1"/>
                </a:solidFill>
              </a:rPr>
              <a:t>May follow on from a prolonged acute inflammatory reaction or in fact develop slowly with no initial acute phase (insidious onset)</a:t>
            </a:r>
          </a:p>
          <a:p>
            <a:pPr marL="457200" indent="-457200">
              <a:buClr>
                <a:schemeClr val="bg1"/>
              </a:buClr>
              <a:buFont typeface="Arial" panose="020B0604020202020204" pitchFamily="34" charset="0"/>
              <a:buChar char="•"/>
            </a:pPr>
            <a:r>
              <a:rPr lang="en-GB" sz="2400" dirty="0">
                <a:solidFill>
                  <a:schemeClr val="bg1"/>
                </a:solidFill>
              </a:rPr>
              <a:t>Insidious onset of inflammation may be caused by local irritants, poor circulation, some micro-organisms or immune disturbances</a:t>
            </a:r>
          </a:p>
          <a:p>
            <a:pPr marL="457200" indent="-457200">
              <a:buClr>
                <a:schemeClr val="bg1"/>
              </a:buClr>
              <a:buFont typeface="Arial" panose="020B0604020202020204" pitchFamily="34" charset="0"/>
              <a:buChar char="•"/>
            </a:pPr>
            <a:r>
              <a:rPr lang="en-GB" sz="2400" dirty="0">
                <a:solidFill>
                  <a:schemeClr val="bg1"/>
                </a:solidFill>
              </a:rPr>
              <a:t>Usually more productive as attempting to produce fibrous material to aid repair</a:t>
            </a:r>
          </a:p>
        </p:txBody>
      </p:sp>
      <p:sp>
        <p:nvSpPr>
          <p:cNvPr id="6" name="Round Diagonal Corner Rectangle 7" descr="Masseuse treating patient's shoulder">
            <a:extLst>
              <a:ext uri="{FF2B5EF4-FFF2-40B4-BE49-F238E27FC236}">
                <a16:creationId xmlns:a16="http://schemas.microsoft.com/office/drawing/2014/main" id="{276C856B-6A3E-9648-75D0-39535A60B70E}"/>
              </a:ext>
            </a:extLst>
          </p:cNvPr>
          <p:cNvSpPr/>
          <p:nvPr/>
        </p:nvSpPr>
        <p:spPr>
          <a:xfrm>
            <a:off x="6718930" y="1435100"/>
            <a:ext cx="5269870" cy="5159767"/>
          </a:xfrm>
          <a:prstGeom prst="round2DiagRect">
            <a:avLst/>
          </a:prstGeom>
          <a:blipFill dpi="0" rotWithShape="1">
            <a:blip r:embed="rId4" cstate="print">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94032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39490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PROLIFERATION</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Also referred to as the regeneration phase</a:t>
            </a:r>
          </a:p>
          <a:p>
            <a:pPr marL="457200" indent="-457200">
              <a:buClr>
                <a:schemeClr val="bg1"/>
              </a:buClr>
              <a:buFont typeface="Arial" panose="020B0604020202020204" pitchFamily="34" charset="0"/>
              <a:buChar char="•"/>
            </a:pPr>
            <a:r>
              <a:rPr lang="en-GB" sz="2800" dirty="0">
                <a:solidFill>
                  <a:schemeClr val="bg1"/>
                </a:solidFill>
              </a:rPr>
              <a:t>Restoration of repair tissue</a:t>
            </a:r>
          </a:p>
          <a:p>
            <a:pPr marL="457200" indent="-457200">
              <a:buClr>
                <a:schemeClr val="bg1"/>
              </a:buClr>
              <a:buFont typeface="Arial" panose="020B0604020202020204" pitchFamily="34" charset="0"/>
              <a:buChar char="•"/>
            </a:pPr>
            <a:r>
              <a:rPr lang="en-GB" sz="2800" dirty="0">
                <a:solidFill>
                  <a:schemeClr val="bg1"/>
                </a:solidFill>
              </a:rPr>
              <a:t>Extends from 48 hours to 3-6 weeks</a:t>
            </a:r>
          </a:p>
        </p:txBody>
      </p:sp>
      <p:sp>
        <p:nvSpPr>
          <p:cNvPr id="6" name="Round Diagonal Corner Rectangle 7">
            <a:extLst>
              <a:ext uri="{FF2B5EF4-FFF2-40B4-BE49-F238E27FC236}">
                <a16:creationId xmlns:a16="http://schemas.microsoft.com/office/drawing/2014/main" id="{276C856B-6A3E-9648-75D0-39535A60B70E}"/>
              </a:ext>
            </a:extLst>
          </p:cNvPr>
          <p:cNvSpPr/>
          <p:nvPr/>
        </p:nvSpPr>
        <p:spPr>
          <a:xfrm>
            <a:off x="6718930" y="1435100"/>
            <a:ext cx="52698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Round Diagonal Corner Rectangle 3">
            <a:extLst>
              <a:ext uri="{FF2B5EF4-FFF2-40B4-BE49-F238E27FC236}">
                <a16:creationId xmlns:a16="http://schemas.microsoft.com/office/drawing/2014/main" id="{B0DD56C3-E20F-827A-FCBC-8C90A6E20B9C}"/>
              </a:ext>
            </a:extLst>
          </p:cNvPr>
          <p:cNvSpPr/>
          <p:nvPr/>
        </p:nvSpPr>
        <p:spPr>
          <a:xfrm>
            <a:off x="5001100" y="402811"/>
            <a:ext cx="6987700" cy="749300"/>
          </a:xfrm>
          <a:prstGeom prst="round2DiagRect">
            <a:avLst/>
          </a:prstGeom>
          <a:solidFill>
            <a:schemeClr val="accent2">
              <a:lumMod val="60000"/>
              <a:lumOff val="40000"/>
            </a:schemeClr>
          </a:soli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t>“TO INCREASE RAPIDLY IN NUMBER”</a:t>
            </a:r>
          </a:p>
        </p:txBody>
      </p:sp>
    </p:spTree>
    <p:extLst>
      <p:ext uri="{BB962C8B-B14F-4D97-AF65-F5344CB8AC3E}">
        <p14:creationId xmlns:p14="http://schemas.microsoft.com/office/powerpoint/2010/main" val="4155468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396939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PROLIFERATION</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There are two processes involved in the temporary repair procedure:</a:t>
            </a:r>
          </a:p>
          <a:p>
            <a:pPr marL="1428750" lvl="2" indent="-514350">
              <a:buClr>
                <a:schemeClr val="bg1"/>
              </a:buClr>
              <a:buFont typeface="+mj-lt"/>
              <a:buAutoNum type="arabicPeriod"/>
            </a:pPr>
            <a:r>
              <a:rPr lang="en-GB" sz="2800" dirty="0">
                <a:solidFill>
                  <a:schemeClr val="bg1"/>
                </a:solidFill>
              </a:rPr>
              <a:t>Formation of fibroblasts (fibroplasia)</a:t>
            </a:r>
          </a:p>
          <a:p>
            <a:pPr marL="1428750" lvl="2" indent="-514350">
              <a:buClr>
                <a:schemeClr val="bg1"/>
              </a:buClr>
              <a:buFont typeface="+mj-lt"/>
              <a:buAutoNum type="arabicPeriod"/>
            </a:pPr>
            <a:r>
              <a:rPr lang="en-GB" sz="2800" dirty="0">
                <a:solidFill>
                  <a:schemeClr val="bg1"/>
                </a:solidFill>
              </a:rPr>
              <a:t>Angiogenesis </a:t>
            </a:r>
          </a:p>
        </p:txBody>
      </p:sp>
    </p:spTree>
    <p:extLst>
      <p:ext uri="{BB962C8B-B14F-4D97-AF65-F5344CB8AC3E}">
        <p14:creationId xmlns:p14="http://schemas.microsoft.com/office/powerpoint/2010/main" val="96354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569659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FIBROBLAST FORMATION</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186665"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A fibroblast is a cell that manufactures and maintains connective tissue. In the human body, this connective tissue is called </a:t>
            </a:r>
            <a:r>
              <a:rPr lang="en-GB" sz="2800" b="1" dirty="0">
                <a:solidFill>
                  <a:schemeClr val="accent2"/>
                </a:solidFill>
              </a:rPr>
              <a:t>COLLAGEN</a:t>
            </a:r>
          </a:p>
          <a:p>
            <a:pPr marL="457200" indent="-457200">
              <a:buClr>
                <a:schemeClr val="bg1"/>
              </a:buClr>
              <a:buFont typeface="Arial" panose="020B0604020202020204" pitchFamily="34" charset="0"/>
              <a:buChar char="•"/>
            </a:pPr>
            <a:r>
              <a:rPr lang="en-GB" sz="2800" dirty="0">
                <a:solidFill>
                  <a:schemeClr val="bg1"/>
                </a:solidFill>
              </a:rPr>
              <a:t>During proliferation, fibroblasts will migrate to the injured area (as a result of chemical mediators (Macrophage Derived Growth Factors) released by the macrophages during inflammation) and start to produce new collagen to replace the dead/dying tissue</a:t>
            </a:r>
          </a:p>
          <a:p>
            <a:pPr marL="457200" indent="-457200">
              <a:buClr>
                <a:schemeClr val="bg1"/>
              </a:buClr>
              <a:buFont typeface="Arial" panose="020B0604020202020204" pitchFamily="34" charset="0"/>
              <a:buChar char="•"/>
            </a:pPr>
            <a:r>
              <a:rPr lang="en-GB" sz="2800" dirty="0">
                <a:solidFill>
                  <a:schemeClr val="bg1"/>
                </a:solidFill>
              </a:rPr>
              <a:t>Initially, type III collagen will be produced which has a granular structure</a:t>
            </a:r>
          </a:p>
        </p:txBody>
      </p:sp>
      <p:sp>
        <p:nvSpPr>
          <p:cNvPr id="6" name="Round Diagonal Corner Rectangle 7">
            <a:extLst>
              <a:ext uri="{FF2B5EF4-FFF2-40B4-BE49-F238E27FC236}">
                <a16:creationId xmlns:a16="http://schemas.microsoft.com/office/drawing/2014/main" id="{4CB247CD-79B3-206F-AC16-C9FD9878848E}"/>
              </a:ext>
            </a:extLst>
          </p:cNvPr>
          <p:cNvSpPr/>
          <p:nvPr/>
        </p:nvSpPr>
        <p:spPr>
          <a:xfrm>
            <a:off x="8615680" y="4104640"/>
            <a:ext cx="3373120" cy="2490227"/>
          </a:xfrm>
          <a:prstGeom prst="round2DiagRect">
            <a:avLst/>
          </a:prstGeom>
          <a:blipFill dpi="0" rotWithShape="1">
            <a:blip r:embed="rId4" cstate="print">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86607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380683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accent2">
                    <a:lumMod val="40000"/>
                    <a:lumOff val="60000"/>
                  </a:schemeClr>
                </a:solidFill>
              </a:rPr>
              <a:t>ANGIO</a:t>
            </a:r>
            <a:r>
              <a:rPr lang="en-GB" sz="4000" dirty="0">
                <a:solidFill>
                  <a:schemeClr val="accent6">
                    <a:lumMod val="40000"/>
                    <a:lumOff val="60000"/>
                  </a:schemeClr>
                </a:solidFill>
              </a:rPr>
              <a:t>GENESIS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186665"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Capillaries bud in area to provide cells with blood which provide the oxygen required for metabolism, as well as removal of metabolic and repair waste products</a:t>
            </a:r>
          </a:p>
        </p:txBody>
      </p:sp>
      <p:sp>
        <p:nvSpPr>
          <p:cNvPr id="6" name="Round Diagonal Corner Rectangle 7">
            <a:extLst>
              <a:ext uri="{FF2B5EF4-FFF2-40B4-BE49-F238E27FC236}">
                <a16:creationId xmlns:a16="http://schemas.microsoft.com/office/drawing/2014/main" id="{4CB247CD-79B3-206F-AC16-C9FD9878848E}"/>
              </a:ext>
            </a:extLst>
          </p:cNvPr>
          <p:cNvSpPr/>
          <p:nvPr/>
        </p:nvSpPr>
        <p:spPr>
          <a:xfrm>
            <a:off x="8615680" y="4104640"/>
            <a:ext cx="3373120" cy="249022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Round Diagonal Corner Rectangle 3">
            <a:extLst>
              <a:ext uri="{FF2B5EF4-FFF2-40B4-BE49-F238E27FC236}">
                <a16:creationId xmlns:a16="http://schemas.microsoft.com/office/drawing/2014/main" id="{B74785BE-716F-19CA-DADA-B78EEB049B90}"/>
              </a:ext>
            </a:extLst>
          </p:cNvPr>
          <p:cNvSpPr/>
          <p:nvPr/>
        </p:nvSpPr>
        <p:spPr>
          <a:xfrm>
            <a:off x="5001100" y="402811"/>
            <a:ext cx="3312000" cy="749300"/>
          </a:xfrm>
          <a:prstGeom prst="round2DiagRect">
            <a:avLst/>
          </a:prstGeom>
          <a:solidFill>
            <a:schemeClr val="accent2">
              <a:lumMod val="60000"/>
              <a:lumOff val="4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t>LATIN FOR BLOOD VESSEL</a:t>
            </a:r>
          </a:p>
        </p:txBody>
      </p:sp>
      <p:sp>
        <p:nvSpPr>
          <p:cNvPr id="5" name="Round Diagonal Corner Rectangle 3">
            <a:extLst>
              <a:ext uri="{FF2B5EF4-FFF2-40B4-BE49-F238E27FC236}">
                <a16:creationId xmlns:a16="http://schemas.microsoft.com/office/drawing/2014/main" id="{6A1431C2-B8F1-5760-8FD6-0928543E94C8}"/>
              </a:ext>
            </a:extLst>
          </p:cNvPr>
          <p:cNvSpPr/>
          <p:nvPr/>
        </p:nvSpPr>
        <p:spPr>
          <a:xfrm>
            <a:off x="8516300" y="402811"/>
            <a:ext cx="3312000" cy="749300"/>
          </a:xfrm>
          <a:prstGeom prst="round2DiagRect">
            <a:avLst/>
          </a:prstGeom>
          <a:solidFill>
            <a:schemeClr val="accent6">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t>“TO CREATE”</a:t>
            </a:r>
          </a:p>
        </p:txBody>
      </p:sp>
    </p:spTree>
    <p:extLst>
      <p:ext uri="{BB962C8B-B14F-4D97-AF65-F5344CB8AC3E}">
        <p14:creationId xmlns:p14="http://schemas.microsoft.com/office/powerpoint/2010/main" val="16433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380683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REMODELLING</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186665"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Refinement of the collagen and its extracellular matrix</a:t>
            </a:r>
          </a:p>
          <a:p>
            <a:pPr marL="457200" indent="-457200">
              <a:buClr>
                <a:schemeClr val="bg1"/>
              </a:buClr>
              <a:buFont typeface="Arial" panose="020B0604020202020204" pitchFamily="34" charset="0"/>
              <a:buChar char="•"/>
            </a:pPr>
            <a:r>
              <a:rPr lang="en-GB" sz="2800" dirty="0">
                <a:solidFill>
                  <a:schemeClr val="bg1"/>
                </a:solidFill>
              </a:rPr>
              <a:t>The initial deposition of collagen produces relatively weak fibrils with random orientation</a:t>
            </a:r>
          </a:p>
          <a:p>
            <a:pPr marL="457200" indent="-457200">
              <a:buClr>
                <a:schemeClr val="bg1"/>
              </a:buClr>
              <a:buFont typeface="Arial" panose="020B0604020202020204" pitchFamily="34" charset="0"/>
              <a:buChar char="•"/>
            </a:pPr>
            <a:r>
              <a:rPr lang="en-GB" sz="2800" dirty="0">
                <a:solidFill>
                  <a:schemeClr val="bg1"/>
                </a:solidFill>
              </a:rPr>
              <a:t>With maturity, the collagen increases in tensile strength and is oriented in line with local stresses (tissue loading via exercise is key!)</a:t>
            </a:r>
          </a:p>
          <a:p>
            <a:pPr marL="457200" indent="-457200">
              <a:buClr>
                <a:schemeClr val="bg1"/>
              </a:buClr>
              <a:buFont typeface="Arial" panose="020B0604020202020204" pitchFamily="34" charset="0"/>
              <a:buChar char="•"/>
            </a:pPr>
            <a:r>
              <a:rPr lang="en-GB" sz="2800" dirty="0">
                <a:solidFill>
                  <a:schemeClr val="bg1"/>
                </a:solidFill>
              </a:rPr>
              <a:t>Overall, type III collagen matures, or is reabsorbed, into type I collagen</a:t>
            </a:r>
          </a:p>
          <a:p>
            <a:pPr marL="457200" indent="-457200">
              <a:buClr>
                <a:schemeClr val="bg1"/>
              </a:buClr>
              <a:buFont typeface="Arial" panose="020B0604020202020204" pitchFamily="34" charset="0"/>
              <a:buChar char="•"/>
            </a:pPr>
            <a:r>
              <a:rPr lang="en-GB" sz="2800" dirty="0">
                <a:solidFill>
                  <a:schemeClr val="bg1"/>
                </a:solidFill>
              </a:rPr>
              <a:t>Can last up to 12 months post injury</a:t>
            </a:r>
          </a:p>
        </p:txBody>
      </p:sp>
      <p:sp>
        <p:nvSpPr>
          <p:cNvPr id="6" name="Round Diagonal Corner Rectangle 7">
            <a:extLst>
              <a:ext uri="{FF2B5EF4-FFF2-40B4-BE49-F238E27FC236}">
                <a16:creationId xmlns:a16="http://schemas.microsoft.com/office/drawing/2014/main" id="{4CB247CD-79B3-206F-AC16-C9FD9878848E}"/>
              </a:ext>
            </a:extLst>
          </p:cNvPr>
          <p:cNvSpPr/>
          <p:nvPr/>
        </p:nvSpPr>
        <p:spPr>
          <a:xfrm>
            <a:off x="8615680" y="4714240"/>
            <a:ext cx="3373120" cy="188062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ound Diagonal Corner Rectangle 7">
            <a:extLst>
              <a:ext uri="{FF2B5EF4-FFF2-40B4-BE49-F238E27FC236}">
                <a16:creationId xmlns:a16="http://schemas.microsoft.com/office/drawing/2014/main" id="{C4E327BB-B72F-6449-64F0-5C2DA4A39AB4}"/>
              </a:ext>
            </a:extLst>
          </p:cNvPr>
          <p:cNvSpPr/>
          <p:nvPr/>
        </p:nvSpPr>
        <p:spPr>
          <a:xfrm>
            <a:off x="8615680" y="2565719"/>
            <a:ext cx="3373120" cy="188062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ound Diagonal Corner Rectangle 7">
            <a:extLst>
              <a:ext uri="{FF2B5EF4-FFF2-40B4-BE49-F238E27FC236}">
                <a16:creationId xmlns:a16="http://schemas.microsoft.com/office/drawing/2014/main" id="{FE03844F-01BC-DE63-3097-5D27FE0AEA59}"/>
              </a:ext>
            </a:extLst>
          </p:cNvPr>
          <p:cNvSpPr/>
          <p:nvPr/>
        </p:nvSpPr>
        <p:spPr>
          <a:xfrm>
            <a:off x="8615680" y="417198"/>
            <a:ext cx="3373120" cy="1880627"/>
          </a:xfrm>
          <a:prstGeom prst="round2DiagRect">
            <a:avLst/>
          </a:prstGeom>
          <a:blipFill dpi="0" rotWithShape="1">
            <a:blip r:embed="rId6">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Arrow: Down 1">
            <a:extLst>
              <a:ext uri="{FF2B5EF4-FFF2-40B4-BE49-F238E27FC236}">
                <a16:creationId xmlns:a16="http://schemas.microsoft.com/office/drawing/2014/main" id="{469163BF-E8E1-81D5-0BA1-4BCC946CCFE7}"/>
              </a:ext>
            </a:extLst>
          </p:cNvPr>
          <p:cNvSpPr/>
          <p:nvPr/>
        </p:nvSpPr>
        <p:spPr>
          <a:xfrm>
            <a:off x="10253709" y="2324459"/>
            <a:ext cx="195308" cy="215663"/>
          </a:xfrm>
          <a:prstGeom prst="downArrow">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Down 4">
            <a:extLst>
              <a:ext uri="{FF2B5EF4-FFF2-40B4-BE49-F238E27FC236}">
                <a16:creationId xmlns:a16="http://schemas.microsoft.com/office/drawing/2014/main" id="{F621F2CA-4EC2-EE19-FEAE-4ED3C3E5E646}"/>
              </a:ext>
            </a:extLst>
          </p:cNvPr>
          <p:cNvSpPr/>
          <p:nvPr/>
        </p:nvSpPr>
        <p:spPr>
          <a:xfrm>
            <a:off x="10248974" y="4470080"/>
            <a:ext cx="195308" cy="215663"/>
          </a:xfrm>
          <a:prstGeom prst="downArrow">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55195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878523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rgbClr val="35B0F0"/>
                </a:solidFill>
              </a:rPr>
              <a:t>INJURED</a:t>
            </a:r>
            <a:r>
              <a:rPr lang="en-GB" sz="4000" dirty="0"/>
              <a:t> AND </a:t>
            </a:r>
            <a:r>
              <a:rPr lang="en-GB" sz="4000" dirty="0">
                <a:solidFill>
                  <a:schemeClr val="accent2"/>
                </a:solidFill>
              </a:rPr>
              <a:t>HEALTHY</a:t>
            </a:r>
            <a:r>
              <a:rPr lang="en-GB" sz="4000" dirty="0"/>
              <a:t> TENDON TISSUE</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sz="2800" dirty="0">
              <a:solidFill>
                <a:schemeClr val="bg1"/>
              </a:solidFill>
            </a:endParaRPr>
          </a:p>
        </p:txBody>
      </p:sp>
      <p:sp>
        <p:nvSpPr>
          <p:cNvPr id="2" name="Rectangle 1">
            <a:extLst>
              <a:ext uri="{FF2B5EF4-FFF2-40B4-BE49-F238E27FC236}">
                <a16:creationId xmlns:a16="http://schemas.microsoft.com/office/drawing/2014/main" id="{E6CD5066-3300-E40B-112C-668A4ED0BB47}"/>
              </a:ext>
            </a:extLst>
          </p:cNvPr>
          <p:cNvSpPr/>
          <p:nvPr/>
        </p:nvSpPr>
        <p:spPr>
          <a:xfrm>
            <a:off x="853440" y="1605280"/>
            <a:ext cx="7741920" cy="2235200"/>
          </a:xfrm>
          <a:prstGeom prst="rect">
            <a:avLst/>
          </a:prstGeom>
          <a:noFill/>
          <a:ln w="38100">
            <a:solidFill>
              <a:srgbClr val="35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911BC43-242A-C8D1-5A56-4B99FF798993}"/>
              </a:ext>
            </a:extLst>
          </p:cNvPr>
          <p:cNvSpPr/>
          <p:nvPr/>
        </p:nvSpPr>
        <p:spPr>
          <a:xfrm>
            <a:off x="853440" y="3906175"/>
            <a:ext cx="7741920" cy="2321905"/>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96144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520891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COLLAGEN STRENGTH</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1325942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805371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PROLIFERATION AND REMODELLING</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726077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69970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FACTORS THAT AFFECT HEALING</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186665"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Age</a:t>
            </a:r>
          </a:p>
          <a:p>
            <a:pPr marL="457200" indent="-457200">
              <a:buClr>
                <a:schemeClr val="bg1"/>
              </a:buClr>
              <a:buFont typeface="Arial" panose="020B0604020202020204" pitchFamily="34" charset="0"/>
              <a:buChar char="•"/>
            </a:pPr>
            <a:r>
              <a:rPr lang="en-GB" sz="2800" dirty="0">
                <a:solidFill>
                  <a:schemeClr val="bg1"/>
                </a:solidFill>
              </a:rPr>
              <a:t>Smoking</a:t>
            </a:r>
          </a:p>
          <a:p>
            <a:pPr marL="457200" indent="-457200">
              <a:buClr>
                <a:schemeClr val="bg1"/>
              </a:buClr>
              <a:buFont typeface="Arial" panose="020B0604020202020204" pitchFamily="34" charset="0"/>
              <a:buChar char="•"/>
            </a:pPr>
            <a:r>
              <a:rPr lang="en-GB" sz="2800" dirty="0">
                <a:solidFill>
                  <a:schemeClr val="bg1"/>
                </a:solidFill>
              </a:rPr>
              <a:t>Long term steroid use</a:t>
            </a:r>
          </a:p>
          <a:p>
            <a:pPr marL="457200" indent="-457200">
              <a:buClr>
                <a:schemeClr val="bg1"/>
              </a:buClr>
              <a:buFont typeface="Arial" panose="020B0604020202020204" pitchFamily="34" charset="0"/>
              <a:buChar char="•"/>
            </a:pPr>
            <a:r>
              <a:rPr lang="en-GB" sz="2800" dirty="0">
                <a:solidFill>
                  <a:schemeClr val="bg1"/>
                </a:solidFill>
              </a:rPr>
              <a:t>NSAID's </a:t>
            </a:r>
          </a:p>
          <a:p>
            <a:pPr marL="457200" indent="-457200">
              <a:buClr>
                <a:schemeClr val="bg1"/>
              </a:buClr>
              <a:buFont typeface="Arial" panose="020B0604020202020204" pitchFamily="34" charset="0"/>
              <a:buChar char="•"/>
            </a:pPr>
            <a:r>
              <a:rPr lang="en-GB" sz="2800" dirty="0">
                <a:solidFill>
                  <a:schemeClr val="bg1"/>
                </a:solidFill>
              </a:rPr>
              <a:t>Temperature (lower rate when colder)</a:t>
            </a:r>
          </a:p>
          <a:p>
            <a:pPr marL="457200" indent="-457200">
              <a:buClr>
                <a:schemeClr val="bg1"/>
              </a:buClr>
              <a:buFont typeface="Arial" panose="020B0604020202020204" pitchFamily="34" charset="0"/>
              <a:buChar char="•"/>
            </a:pPr>
            <a:r>
              <a:rPr lang="en-GB" sz="2800" dirty="0">
                <a:solidFill>
                  <a:schemeClr val="bg1"/>
                </a:solidFill>
              </a:rPr>
              <a:t>Poor blood supply / ischaemia</a:t>
            </a:r>
          </a:p>
          <a:p>
            <a:pPr marL="457200" indent="-457200">
              <a:buClr>
                <a:schemeClr val="bg1"/>
              </a:buClr>
              <a:buFont typeface="Arial" panose="020B0604020202020204" pitchFamily="34" charset="0"/>
              <a:buChar char="•"/>
            </a:pPr>
            <a:r>
              <a:rPr lang="en-GB" sz="2800" dirty="0">
                <a:solidFill>
                  <a:schemeClr val="bg1"/>
                </a:solidFill>
              </a:rPr>
              <a:t>Excessive movement or mechanical stress</a:t>
            </a:r>
          </a:p>
        </p:txBody>
      </p:sp>
      <p:sp>
        <p:nvSpPr>
          <p:cNvPr id="6" name="Round Diagonal Corner Rectangle 7">
            <a:extLst>
              <a:ext uri="{FF2B5EF4-FFF2-40B4-BE49-F238E27FC236}">
                <a16:creationId xmlns:a16="http://schemas.microsoft.com/office/drawing/2014/main" id="{4CB247CD-79B3-206F-AC16-C9FD9878848E}"/>
              </a:ext>
            </a:extLst>
          </p:cNvPr>
          <p:cNvSpPr/>
          <p:nvPr/>
        </p:nvSpPr>
        <p:spPr>
          <a:xfrm>
            <a:off x="8615680" y="4714240"/>
            <a:ext cx="3373120" cy="188062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ound Diagonal Corner Rectangle 7">
            <a:extLst>
              <a:ext uri="{FF2B5EF4-FFF2-40B4-BE49-F238E27FC236}">
                <a16:creationId xmlns:a16="http://schemas.microsoft.com/office/drawing/2014/main" id="{FE03844F-01BC-DE63-3097-5D27FE0AEA59}"/>
              </a:ext>
            </a:extLst>
          </p:cNvPr>
          <p:cNvSpPr/>
          <p:nvPr/>
        </p:nvSpPr>
        <p:spPr>
          <a:xfrm>
            <a:off x="8615680" y="2732845"/>
            <a:ext cx="3373120" cy="188062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67719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8205185"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INJURY MANAGEMENT AND HEALING</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Effects of treatment and exercise prescription appear to be achieved by 'stimulating' rather than 'changing' the events during healing</a:t>
            </a:r>
          </a:p>
          <a:p>
            <a:pPr marL="457200" indent="-457200">
              <a:buClr>
                <a:schemeClr val="bg1"/>
              </a:buClr>
              <a:buFont typeface="Arial" panose="020B0604020202020204" pitchFamily="34" charset="0"/>
              <a:buChar char="•"/>
            </a:pPr>
            <a:r>
              <a:rPr lang="en-GB" sz="2800" dirty="0">
                <a:solidFill>
                  <a:schemeClr val="bg1"/>
                </a:solidFill>
              </a:rPr>
              <a:t>Inappropriate therapy at any stage is capable of inhibiting these events and therefore results in poorer tissue repair</a:t>
            </a:r>
          </a:p>
          <a:p>
            <a:pPr marL="457200" indent="-457200">
              <a:buClr>
                <a:schemeClr val="bg1"/>
              </a:buClr>
              <a:buFont typeface="Arial" panose="020B0604020202020204" pitchFamily="34" charset="0"/>
              <a:buChar char="•"/>
            </a:pPr>
            <a:r>
              <a:rPr lang="en-GB" sz="2800" dirty="0">
                <a:solidFill>
                  <a:schemeClr val="bg1"/>
                </a:solidFill>
              </a:rPr>
              <a:t>Treatment is not guaranteed to be beneficial – you have to be mindful of the cellular and tissue events and be selective of the most appropriate and evidence based intervention at each stage</a:t>
            </a:r>
          </a:p>
        </p:txBody>
      </p:sp>
    </p:spTree>
    <p:extLst>
      <p:ext uri="{BB962C8B-B14F-4D97-AF65-F5344CB8AC3E}">
        <p14:creationId xmlns:p14="http://schemas.microsoft.com/office/powerpoint/2010/main" val="3384937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301060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SUMMARY</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400" dirty="0">
                <a:solidFill>
                  <a:schemeClr val="bg1"/>
                </a:solidFill>
              </a:rPr>
              <a:t>Four phases of healing:</a:t>
            </a:r>
          </a:p>
          <a:p>
            <a:pPr marL="1428750" lvl="2" indent="-514350">
              <a:buClr>
                <a:schemeClr val="bg1"/>
              </a:buClr>
              <a:buFont typeface="+mj-lt"/>
              <a:buAutoNum type="arabicPeriod"/>
            </a:pPr>
            <a:r>
              <a:rPr lang="en-GB" sz="2400" dirty="0">
                <a:solidFill>
                  <a:schemeClr val="bg1"/>
                </a:solidFill>
              </a:rPr>
              <a:t>Bleeding</a:t>
            </a:r>
          </a:p>
          <a:p>
            <a:pPr marL="1428750" lvl="2" indent="-514350">
              <a:buClr>
                <a:schemeClr val="bg1"/>
              </a:buClr>
              <a:buFont typeface="+mj-lt"/>
              <a:buAutoNum type="arabicPeriod"/>
            </a:pPr>
            <a:r>
              <a:rPr lang="en-GB" sz="2400" dirty="0">
                <a:solidFill>
                  <a:schemeClr val="bg1"/>
                </a:solidFill>
              </a:rPr>
              <a:t>Inflammation</a:t>
            </a:r>
          </a:p>
          <a:p>
            <a:pPr marL="1428750" lvl="2" indent="-514350">
              <a:buClr>
                <a:schemeClr val="bg1"/>
              </a:buClr>
              <a:buFont typeface="+mj-lt"/>
              <a:buAutoNum type="arabicPeriod"/>
            </a:pPr>
            <a:r>
              <a:rPr lang="en-GB" sz="2400" dirty="0">
                <a:solidFill>
                  <a:schemeClr val="bg1"/>
                </a:solidFill>
              </a:rPr>
              <a:t>Proliferation </a:t>
            </a:r>
          </a:p>
          <a:p>
            <a:pPr marL="1428750" lvl="2" indent="-514350">
              <a:buClr>
                <a:schemeClr val="bg1"/>
              </a:buClr>
              <a:buFont typeface="+mj-lt"/>
              <a:buAutoNum type="arabicPeriod"/>
            </a:pPr>
            <a:r>
              <a:rPr lang="en-GB" sz="2400" dirty="0">
                <a:solidFill>
                  <a:schemeClr val="bg1"/>
                </a:solidFill>
              </a:rPr>
              <a:t>Remodelling</a:t>
            </a:r>
          </a:p>
          <a:p>
            <a:pPr marL="457200" indent="-457200">
              <a:buClr>
                <a:schemeClr val="bg1"/>
              </a:buClr>
              <a:buFont typeface="Arial" panose="020B0604020202020204" pitchFamily="34" charset="0"/>
              <a:buChar char="•"/>
            </a:pPr>
            <a:r>
              <a:rPr lang="en-GB" sz="2400" dirty="0">
                <a:solidFill>
                  <a:schemeClr val="bg1"/>
                </a:solidFill>
              </a:rPr>
              <a:t>Inappropriate therapy at any stage is capable of inhibiting these events and therefore results in poorer tissue repair</a:t>
            </a:r>
          </a:p>
        </p:txBody>
      </p:sp>
    </p:spTree>
    <p:extLst>
      <p:ext uri="{BB962C8B-B14F-4D97-AF65-F5344CB8AC3E}">
        <p14:creationId xmlns:p14="http://schemas.microsoft.com/office/powerpoint/2010/main" val="2582195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797820" y="326611"/>
            <a:ext cx="42567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ANY QUESTIONS?</a:t>
            </a:r>
          </a:p>
        </p:txBody>
      </p:sp>
      <p:pic>
        <p:nvPicPr>
          <p:cNvPr id="19" name="Picture 18" descr="COSMOS GRAPHIC WHITE.png"/>
          <p:cNvPicPr>
            <a:picLocks noChangeAspect="1"/>
          </p:cNvPicPr>
          <p:nvPr/>
        </p:nvPicPr>
        <p:blipFill rotWithShape="1">
          <a:blip r:embed="rId2"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797819" y="1358901"/>
            <a:ext cx="7963796" cy="4842394"/>
          </a:xfrm>
          <a:prstGeom prst="round2DiagRect">
            <a:avLst/>
          </a:prstGeom>
          <a:blipFill>
            <a:blip r:embed="rId3"/>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3200" dirty="0">
              <a:solidFill>
                <a:schemeClr val="bg1"/>
              </a:solidFill>
            </a:endParaRPr>
          </a:p>
        </p:txBody>
      </p:sp>
    </p:spTree>
    <p:extLst>
      <p:ext uri="{BB962C8B-B14F-4D97-AF65-F5344CB8AC3E}">
        <p14:creationId xmlns:p14="http://schemas.microsoft.com/office/powerpoint/2010/main" val="1300808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1079</Words>
  <Application>Microsoft Office PowerPoint</Application>
  <PresentationFormat>Widescreen</PresentationFormat>
  <Paragraphs>146</Paragraphs>
  <Slides>28</Slides>
  <Notes>26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 Theme</vt:lpstr>
      <vt:lpstr>Phases of tissue healing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Life Support</dc:title>
  <dc:creator>Paul Starrs</dc:creator>
  <cp:lastModifiedBy>Paul Starrs</cp:lastModifiedBy>
  <cp:revision>59</cp:revision>
  <dcterms:created xsi:type="dcterms:W3CDTF">2018-09-14T09:18:39Z</dcterms:created>
  <dcterms:modified xsi:type="dcterms:W3CDTF">2024-09-26T12:06:04Z</dcterms:modified>
</cp:coreProperties>
</file>