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5"/>
  </p:notesMasterIdLst>
  <p:sldIdLst>
    <p:sldId id="474" r:id="rId2"/>
    <p:sldId id="406" r:id="rId3"/>
    <p:sldId id="400" r:id="rId4"/>
    <p:sldId id="335" r:id="rId5"/>
    <p:sldId id="464" r:id="rId6"/>
    <p:sldId id="419" r:id="rId7"/>
    <p:sldId id="470" r:id="rId8"/>
    <p:sldId id="460" r:id="rId9"/>
    <p:sldId id="461" r:id="rId10"/>
    <p:sldId id="437" r:id="rId11"/>
    <p:sldId id="438" r:id="rId12"/>
    <p:sldId id="472" r:id="rId13"/>
    <p:sldId id="465" r:id="rId14"/>
    <p:sldId id="463" r:id="rId15"/>
    <p:sldId id="466" r:id="rId16"/>
    <p:sldId id="418" r:id="rId17"/>
    <p:sldId id="439" r:id="rId18"/>
    <p:sldId id="467" r:id="rId19"/>
    <p:sldId id="473" r:id="rId20"/>
    <p:sldId id="440" r:id="rId21"/>
    <p:sldId id="424" r:id="rId22"/>
    <p:sldId id="441" r:id="rId23"/>
    <p:sldId id="442" r:id="rId24"/>
    <p:sldId id="443" r:id="rId25"/>
    <p:sldId id="446" r:id="rId26"/>
    <p:sldId id="447" r:id="rId27"/>
    <p:sldId id="444" r:id="rId28"/>
    <p:sldId id="445" r:id="rId29"/>
    <p:sldId id="385" r:id="rId30"/>
    <p:sldId id="449" r:id="rId31"/>
    <p:sldId id="448" r:id="rId32"/>
    <p:sldId id="468" r:id="rId33"/>
    <p:sldId id="451" r:id="rId34"/>
    <p:sldId id="452" r:id="rId35"/>
    <p:sldId id="453" r:id="rId36"/>
    <p:sldId id="454" r:id="rId37"/>
    <p:sldId id="455" r:id="rId38"/>
    <p:sldId id="456" r:id="rId39"/>
    <p:sldId id="457" r:id="rId40"/>
    <p:sldId id="458" r:id="rId41"/>
    <p:sldId id="459" r:id="rId42"/>
    <p:sldId id="469" r:id="rId43"/>
    <p:sldId id="471"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4EAB8"/>
    <a:srgbClr val="E1CCEC"/>
    <a:srgbClr val="F4D58D"/>
    <a:srgbClr val="A87362"/>
    <a:srgbClr val="E29E8F"/>
    <a:srgbClr val="FBC3A9"/>
    <a:srgbClr val="A6CEE8"/>
    <a:srgbClr val="F9BDA0"/>
    <a:srgbClr val="525252"/>
    <a:srgbClr val="A9CFE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210" autoAdjust="0"/>
    <p:restoredTop sz="80000" autoAdjust="0"/>
  </p:normalViewPr>
  <p:slideViewPr>
    <p:cSldViewPr snapToGrid="0">
      <p:cViewPr varScale="1">
        <p:scale>
          <a:sx n="81" d="100"/>
          <a:sy n="81" d="100"/>
        </p:scale>
        <p:origin x="1080"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EF9951-7A27-477A-90ED-9C24BE06A186}" type="datetimeFigureOut">
              <a:rPr lang="en-GB" smtClean="0"/>
              <a:t>20/02/2025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6B64D8B-4CC5-402D-A151-B3E8152E5330}" type="slidenum">
              <a:rPr lang="en-GB" smtClean="0"/>
              <a:t>‹#›</a:t>
            </a:fld>
            <a:endParaRPr lang="en-GB"/>
          </a:p>
        </p:txBody>
      </p:sp>
    </p:spTree>
    <p:extLst>
      <p:ext uri="{BB962C8B-B14F-4D97-AF65-F5344CB8AC3E}">
        <p14:creationId xmlns:p14="http://schemas.microsoft.com/office/powerpoint/2010/main" val="21667851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9CC15EA-E8F8-4AE6-B596-8F7295FA54C3}" type="slidenum">
              <a:rPr lang="en-GB" smtClean="0"/>
              <a:t>2</a:t>
            </a:fld>
            <a:endParaRPr lang="en-GB"/>
          </a:p>
        </p:txBody>
      </p:sp>
    </p:spTree>
    <p:extLst>
      <p:ext uri="{BB962C8B-B14F-4D97-AF65-F5344CB8AC3E}">
        <p14:creationId xmlns:p14="http://schemas.microsoft.com/office/powerpoint/2010/main" val="8829746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9CC15EA-E8F8-4AE6-B596-8F7295FA54C3}" type="slidenum">
              <a:rPr lang="en-GB" smtClean="0"/>
              <a:t>3</a:t>
            </a:fld>
            <a:endParaRPr lang="en-GB"/>
          </a:p>
        </p:txBody>
      </p:sp>
    </p:spTree>
    <p:extLst>
      <p:ext uri="{BB962C8B-B14F-4D97-AF65-F5344CB8AC3E}">
        <p14:creationId xmlns:p14="http://schemas.microsoft.com/office/powerpoint/2010/main" val="9415811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9CC15EA-E8F8-4AE6-B596-8F7295FA54C3}" type="slidenum">
              <a:rPr lang="en-GB" smtClean="0"/>
              <a:t>4</a:t>
            </a:fld>
            <a:endParaRPr lang="en-GB"/>
          </a:p>
        </p:txBody>
      </p:sp>
    </p:spTree>
    <p:extLst>
      <p:ext uri="{BB962C8B-B14F-4D97-AF65-F5344CB8AC3E}">
        <p14:creationId xmlns:p14="http://schemas.microsoft.com/office/powerpoint/2010/main" val="31265744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9CC15EA-E8F8-4AE6-B596-8F7295FA54C3}" type="slidenum">
              <a:rPr lang="en-GB" smtClean="0"/>
              <a:t>5</a:t>
            </a:fld>
            <a:endParaRPr lang="en-GB"/>
          </a:p>
        </p:txBody>
      </p:sp>
    </p:spTree>
    <p:extLst>
      <p:ext uri="{BB962C8B-B14F-4D97-AF65-F5344CB8AC3E}">
        <p14:creationId xmlns:p14="http://schemas.microsoft.com/office/powerpoint/2010/main" val="15734414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1200" b="1" dirty="0"/>
          </a:p>
        </p:txBody>
      </p:sp>
      <p:sp>
        <p:nvSpPr>
          <p:cNvPr id="4" name="Slide Number Placeholder 3"/>
          <p:cNvSpPr>
            <a:spLocks noGrp="1"/>
          </p:cNvSpPr>
          <p:nvPr>
            <p:ph type="sldNum" sz="quarter" idx="10"/>
          </p:nvPr>
        </p:nvSpPr>
        <p:spPr/>
        <p:txBody>
          <a:bodyPr/>
          <a:lstStyle/>
          <a:p>
            <a:fld id="{69CC15EA-E8F8-4AE6-B596-8F7295FA54C3}" type="slidenum">
              <a:rPr lang="en-GB" smtClean="0"/>
              <a:t>6</a:t>
            </a:fld>
            <a:endParaRPr lang="en-GB"/>
          </a:p>
        </p:txBody>
      </p:sp>
    </p:spTree>
    <p:extLst>
      <p:ext uri="{BB962C8B-B14F-4D97-AF65-F5344CB8AC3E}">
        <p14:creationId xmlns:p14="http://schemas.microsoft.com/office/powerpoint/2010/main" val="15922354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dirty="0"/>
              <a:t>Common injuries:</a:t>
            </a:r>
          </a:p>
          <a:p>
            <a:r>
              <a:rPr lang="en-GB" sz="1200" b="1" dirty="0"/>
              <a:t>- Scaphoid # and avascular necrosis</a:t>
            </a:r>
          </a:p>
          <a:p>
            <a:r>
              <a:rPr lang="en-GB" sz="1200" b="1" dirty="0"/>
              <a:t>- Anatomical snuffbox</a:t>
            </a:r>
          </a:p>
          <a:p>
            <a:r>
              <a:rPr lang="en-GB" sz="1200" b="1" dirty="0"/>
              <a:t>- Scapho-lunate dislocations</a:t>
            </a:r>
          </a:p>
          <a:p>
            <a:endParaRPr lang="en-GB" sz="1200" b="1" dirty="0"/>
          </a:p>
        </p:txBody>
      </p:sp>
      <p:sp>
        <p:nvSpPr>
          <p:cNvPr id="4" name="Slide Number Placeholder 3"/>
          <p:cNvSpPr>
            <a:spLocks noGrp="1"/>
          </p:cNvSpPr>
          <p:nvPr>
            <p:ph type="sldNum" sz="quarter" idx="10"/>
          </p:nvPr>
        </p:nvSpPr>
        <p:spPr/>
        <p:txBody>
          <a:bodyPr/>
          <a:lstStyle/>
          <a:p>
            <a:fld id="{69CC15EA-E8F8-4AE6-B596-8F7295FA54C3}" type="slidenum">
              <a:rPr lang="en-GB" smtClean="0"/>
              <a:t>7</a:t>
            </a:fld>
            <a:endParaRPr lang="en-GB"/>
          </a:p>
        </p:txBody>
      </p:sp>
    </p:spTree>
    <p:extLst>
      <p:ext uri="{BB962C8B-B14F-4D97-AF65-F5344CB8AC3E}">
        <p14:creationId xmlns:p14="http://schemas.microsoft.com/office/powerpoint/2010/main" val="31858060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1200" b="1" dirty="0"/>
          </a:p>
        </p:txBody>
      </p:sp>
      <p:sp>
        <p:nvSpPr>
          <p:cNvPr id="4" name="Slide Number Placeholder 3"/>
          <p:cNvSpPr>
            <a:spLocks noGrp="1"/>
          </p:cNvSpPr>
          <p:nvPr>
            <p:ph type="sldNum" sz="quarter" idx="10"/>
          </p:nvPr>
        </p:nvSpPr>
        <p:spPr/>
        <p:txBody>
          <a:bodyPr/>
          <a:lstStyle/>
          <a:p>
            <a:fld id="{69CC15EA-E8F8-4AE6-B596-8F7295FA54C3}" type="slidenum">
              <a:rPr lang="en-GB" smtClean="0"/>
              <a:t>8</a:t>
            </a:fld>
            <a:endParaRPr lang="en-GB"/>
          </a:p>
        </p:txBody>
      </p:sp>
    </p:spTree>
    <p:extLst>
      <p:ext uri="{BB962C8B-B14F-4D97-AF65-F5344CB8AC3E}">
        <p14:creationId xmlns:p14="http://schemas.microsoft.com/office/powerpoint/2010/main" val="31428569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1200" b="1" dirty="0"/>
          </a:p>
        </p:txBody>
      </p:sp>
      <p:sp>
        <p:nvSpPr>
          <p:cNvPr id="4" name="Slide Number Placeholder 3"/>
          <p:cNvSpPr>
            <a:spLocks noGrp="1"/>
          </p:cNvSpPr>
          <p:nvPr>
            <p:ph type="sldNum" sz="quarter" idx="10"/>
          </p:nvPr>
        </p:nvSpPr>
        <p:spPr/>
        <p:txBody>
          <a:bodyPr/>
          <a:lstStyle/>
          <a:p>
            <a:fld id="{69CC15EA-E8F8-4AE6-B596-8F7295FA54C3}" type="slidenum">
              <a:rPr lang="en-GB" smtClean="0"/>
              <a:t>9</a:t>
            </a:fld>
            <a:endParaRPr lang="en-GB"/>
          </a:p>
        </p:txBody>
      </p:sp>
    </p:spTree>
    <p:extLst>
      <p:ext uri="{BB962C8B-B14F-4D97-AF65-F5344CB8AC3E}">
        <p14:creationId xmlns:p14="http://schemas.microsoft.com/office/powerpoint/2010/main" val="34958747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1200" b="1" dirty="0"/>
          </a:p>
        </p:txBody>
      </p:sp>
      <p:sp>
        <p:nvSpPr>
          <p:cNvPr id="4" name="Slide Number Placeholder 3"/>
          <p:cNvSpPr>
            <a:spLocks noGrp="1"/>
          </p:cNvSpPr>
          <p:nvPr>
            <p:ph type="sldNum" sz="quarter" idx="10"/>
          </p:nvPr>
        </p:nvSpPr>
        <p:spPr/>
        <p:txBody>
          <a:bodyPr/>
          <a:lstStyle/>
          <a:p>
            <a:fld id="{69CC15EA-E8F8-4AE6-B596-8F7295FA54C3}" type="slidenum">
              <a:rPr lang="en-GB" smtClean="0"/>
              <a:t>10</a:t>
            </a:fld>
            <a:endParaRPr lang="en-GB"/>
          </a:p>
        </p:txBody>
      </p:sp>
    </p:spTree>
    <p:extLst>
      <p:ext uri="{BB962C8B-B14F-4D97-AF65-F5344CB8AC3E}">
        <p14:creationId xmlns:p14="http://schemas.microsoft.com/office/powerpoint/2010/main" val="9158734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1200" b="1" dirty="0"/>
          </a:p>
        </p:txBody>
      </p:sp>
      <p:sp>
        <p:nvSpPr>
          <p:cNvPr id="4" name="Slide Number Placeholder 3"/>
          <p:cNvSpPr>
            <a:spLocks noGrp="1"/>
          </p:cNvSpPr>
          <p:nvPr>
            <p:ph type="sldNum" sz="quarter" idx="10"/>
          </p:nvPr>
        </p:nvSpPr>
        <p:spPr/>
        <p:txBody>
          <a:bodyPr/>
          <a:lstStyle/>
          <a:p>
            <a:fld id="{69CC15EA-E8F8-4AE6-B596-8F7295FA54C3}" type="slidenum">
              <a:rPr lang="en-GB" smtClean="0"/>
              <a:t>11</a:t>
            </a:fld>
            <a:endParaRPr lang="en-GB"/>
          </a:p>
        </p:txBody>
      </p:sp>
    </p:spTree>
    <p:extLst>
      <p:ext uri="{BB962C8B-B14F-4D97-AF65-F5344CB8AC3E}">
        <p14:creationId xmlns:p14="http://schemas.microsoft.com/office/powerpoint/2010/main" val="42922975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9CC15EA-E8F8-4AE6-B596-8F7295FA54C3}" type="slidenum">
              <a:rPr lang="en-GB" smtClean="0"/>
              <a:t>12</a:t>
            </a:fld>
            <a:endParaRPr lang="en-GB"/>
          </a:p>
        </p:txBody>
      </p:sp>
    </p:spTree>
    <p:extLst>
      <p:ext uri="{BB962C8B-B14F-4D97-AF65-F5344CB8AC3E}">
        <p14:creationId xmlns:p14="http://schemas.microsoft.com/office/powerpoint/2010/main" val="19960614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9CC15EA-E8F8-4AE6-B596-8F7295FA54C3}" type="slidenum">
              <a:rPr lang="en-GB" smtClean="0"/>
              <a:t>13</a:t>
            </a:fld>
            <a:endParaRPr lang="en-GB"/>
          </a:p>
        </p:txBody>
      </p:sp>
    </p:spTree>
    <p:extLst>
      <p:ext uri="{BB962C8B-B14F-4D97-AF65-F5344CB8AC3E}">
        <p14:creationId xmlns:p14="http://schemas.microsoft.com/office/powerpoint/2010/main" val="29184798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9CC15EA-E8F8-4AE6-B596-8F7295FA54C3}" type="slidenum">
              <a:rPr lang="en-GB" smtClean="0"/>
              <a:t>14</a:t>
            </a:fld>
            <a:endParaRPr lang="en-GB"/>
          </a:p>
        </p:txBody>
      </p:sp>
    </p:spTree>
    <p:extLst>
      <p:ext uri="{BB962C8B-B14F-4D97-AF65-F5344CB8AC3E}">
        <p14:creationId xmlns:p14="http://schemas.microsoft.com/office/powerpoint/2010/main" val="7328795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9CC15EA-E8F8-4AE6-B596-8F7295FA54C3}" type="slidenum">
              <a:rPr lang="en-GB" smtClean="0"/>
              <a:t>15</a:t>
            </a:fld>
            <a:endParaRPr lang="en-GB"/>
          </a:p>
        </p:txBody>
      </p:sp>
    </p:spTree>
    <p:extLst>
      <p:ext uri="{BB962C8B-B14F-4D97-AF65-F5344CB8AC3E}">
        <p14:creationId xmlns:p14="http://schemas.microsoft.com/office/powerpoint/2010/main" val="24991981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a:p>
            <a:endParaRPr lang="en-GB" dirty="0"/>
          </a:p>
        </p:txBody>
      </p:sp>
      <p:sp>
        <p:nvSpPr>
          <p:cNvPr id="4" name="Slide Number Placeholder 3"/>
          <p:cNvSpPr>
            <a:spLocks noGrp="1"/>
          </p:cNvSpPr>
          <p:nvPr>
            <p:ph type="sldNum" sz="quarter" idx="10"/>
          </p:nvPr>
        </p:nvSpPr>
        <p:spPr/>
        <p:txBody>
          <a:bodyPr/>
          <a:lstStyle/>
          <a:p>
            <a:fld id="{69CC15EA-E8F8-4AE6-B596-8F7295FA54C3}" type="slidenum">
              <a:rPr lang="en-GB" smtClean="0"/>
              <a:t>16</a:t>
            </a:fld>
            <a:endParaRPr lang="en-GB"/>
          </a:p>
        </p:txBody>
      </p:sp>
    </p:spTree>
    <p:extLst>
      <p:ext uri="{BB962C8B-B14F-4D97-AF65-F5344CB8AC3E}">
        <p14:creationId xmlns:p14="http://schemas.microsoft.com/office/powerpoint/2010/main" val="25236948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9CC15EA-E8F8-4AE6-B596-8F7295FA54C3}" type="slidenum">
              <a:rPr lang="en-GB" smtClean="0"/>
              <a:t>17</a:t>
            </a:fld>
            <a:endParaRPr lang="en-GB"/>
          </a:p>
        </p:txBody>
      </p:sp>
    </p:spTree>
    <p:extLst>
      <p:ext uri="{BB962C8B-B14F-4D97-AF65-F5344CB8AC3E}">
        <p14:creationId xmlns:p14="http://schemas.microsoft.com/office/powerpoint/2010/main" val="508101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9CC15EA-E8F8-4AE6-B596-8F7295FA54C3}" type="slidenum">
              <a:rPr lang="en-GB" smtClean="0"/>
              <a:t>18</a:t>
            </a:fld>
            <a:endParaRPr lang="en-GB"/>
          </a:p>
        </p:txBody>
      </p:sp>
    </p:spTree>
    <p:extLst>
      <p:ext uri="{BB962C8B-B14F-4D97-AF65-F5344CB8AC3E}">
        <p14:creationId xmlns:p14="http://schemas.microsoft.com/office/powerpoint/2010/main" val="1549693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D9D940-E074-9ED6-7A7A-C14B96B588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21F8E3-A833-39C3-84C9-E2C37ADEA4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0AC76B-D2CD-594A-9DB8-72000B16EAC3}"/>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2D0A63F5-21F6-EEF6-CC0B-0F3CBCF9BCF1}"/>
              </a:ext>
            </a:extLst>
          </p:cNvPr>
          <p:cNvSpPr>
            <a:spLocks noGrp="1"/>
          </p:cNvSpPr>
          <p:nvPr>
            <p:ph type="sldNum" sz="quarter" idx="10"/>
          </p:nvPr>
        </p:nvSpPr>
        <p:spPr/>
        <p:txBody>
          <a:bodyPr/>
          <a:lstStyle/>
          <a:p>
            <a:fld id="{69CC15EA-E8F8-4AE6-B596-8F7295FA54C3}" type="slidenum">
              <a:rPr lang="en-GB" smtClean="0"/>
              <a:t>19</a:t>
            </a:fld>
            <a:endParaRPr lang="en-GB"/>
          </a:p>
        </p:txBody>
      </p:sp>
    </p:spTree>
    <p:extLst>
      <p:ext uri="{BB962C8B-B14F-4D97-AF65-F5344CB8AC3E}">
        <p14:creationId xmlns:p14="http://schemas.microsoft.com/office/powerpoint/2010/main" val="20342295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Can be divided up into intrinsic and extrinsic muscles </a:t>
            </a:r>
          </a:p>
        </p:txBody>
      </p:sp>
      <p:sp>
        <p:nvSpPr>
          <p:cNvPr id="4" name="Slide Number Placeholder 3"/>
          <p:cNvSpPr>
            <a:spLocks noGrp="1"/>
          </p:cNvSpPr>
          <p:nvPr>
            <p:ph type="sldNum" sz="quarter" idx="10"/>
          </p:nvPr>
        </p:nvSpPr>
        <p:spPr/>
        <p:txBody>
          <a:bodyPr/>
          <a:lstStyle/>
          <a:p>
            <a:fld id="{69CC15EA-E8F8-4AE6-B596-8F7295FA54C3}" type="slidenum">
              <a:rPr lang="en-GB" smtClean="0"/>
              <a:t>20</a:t>
            </a:fld>
            <a:endParaRPr lang="en-GB"/>
          </a:p>
        </p:txBody>
      </p:sp>
    </p:spTree>
    <p:extLst>
      <p:ext uri="{BB962C8B-B14F-4D97-AF65-F5344CB8AC3E}">
        <p14:creationId xmlns:p14="http://schemas.microsoft.com/office/powerpoint/2010/main" val="18207627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9CC15EA-E8F8-4AE6-B596-8F7295FA54C3}" type="slidenum">
              <a:rPr lang="en-GB" smtClean="0"/>
              <a:t>21</a:t>
            </a:fld>
            <a:endParaRPr lang="en-GB"/>
          </a:p>
        </p:txBody>
      </p:sp>
    </p:spTree>
    <p:extLst>
      <p:ext uri="{BB962C8B-B14F-4D97-AF65-F5344CB8AC3E}">
        <p14:creationId xmlns:p14="http://schemas.microsoft.com/office/powerpoint/2010/main" val="799055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9CC15EA-E8F8-4AE6-B596-8F7295FA54C3}" type="slidenum">
              <a:rPr lang="en-GB" smtClean="0"/>
              <a:t>22</a:t>
            </a:fld>
            <a:endParaRPr lang="en-GB"/>
          </a:p>
        </p:txBody>
      </p:sp>
    </p:spTree>
    <p:extLst>
      <p:ext uri="{BB962C8B-B14F-4D97-AF65-F5344CB8AC3E}">
        <p14:creationId xmlns:p14="http://schemas.microsoft.com/office/powerpoint/2010/main" val="5777505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9CC15EA-E8F8-4AE6-B596-8F7295FA54C3}" type="slidenum">
              <a:rPr lang="en-GB" smtClean="0"/>
              <a:t>23</a:t>
            </a:fld>
            <a:endParaRPr lang="en-GB"/>
          </a:p>
        </p:txBody>
      </p:sp>
    </p:spTree>
    <p:extLst>
      <p:ext uri="{BB962C8B-B14F-4D97-AF65-F5344CB8AC3E}">
        <p14:creationId xmlns:p14="http://schemas.microsoft.com/office/powerpoint/2010/main" val="359032918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9CC15EA-E8F8-4AE6-B596-8F7295FA54C3}" type="slidenum">
              <a:rPr lang="en-GB" smtClean="0"/>
              <a:t>24</a:t>
            </a:fld>
            <a:endParaRPr lang="en-GB"/>
          </a:p>
        </p:txBody>
      </p:sp>
    </p:spTree>
    <p:extLst>
      <p:ext uri="{BB962C8B-B14F-4D97-AF65-F5344CB8AC3E}">
        <p14:creationId xmlns:p14="http://schemas.microsoft.com/office/powerpoint/2010/main" val="219716664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9CC15EA-E8F8-4AE6-B596-8F7295FA54C3}" type="slidenum">
              <a:rPr lang="en-GB" smtClean="0"/>
              <a:t>25</a:t>
            </a:fld>
            <a:endParaRPr lang="en-GB"/>
          </a:p>
        </p:txBody>
      </p:sp>
    </p:spTree>
    <p:extLst>
      <p:ext uri="{BB962C8B-B14F-4D97-AF65-F5344CB8AC3E}">
        <p14:creationId xmlns:p14="http://schemas.microsoft.com/office/powerpoint/2010/main" val="27562995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9CC15EA-E8F8-4AE6-B596-8F7295FA54C3}" type="slidenum">
              <a:rPr lang="en-GB" smtClean="0"/>
              <a:t>26</a:t>
            </a:fld>
            <a:endParaRPr lang="en-GB"/>
          </a:p>
        </p:txBody>
      </p:sp>
    </p:spTree>
    <p:extLst>
      <p:ext uri="{BB962C8B-B14F-4D97-AF65-F5344CB8AC3E}">
        <p14:creationId xmlns:p14="http://schemas.microsoft.com/office/powerpoint/2010/main" val="290569534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9CC15EA-E8F8-4AE6-B596-8F7295FA54C3}" type="slidenum">
              <a:rPr lang="en-GB" smtClean="0"/>
              <a:t>27</a:t>
            </a:fld>
            <a:endParaRPr lang="en-GB"/>
          </a:p>
        </p:txBody>
      </p:sp>
    </p:spTree>
    <p:extLst>
      <p:ext uri="{BB962C8B-B14F-4D97-AF65-F5344CB8AC3E}">
        <p14:creationId xmlns:p14="http://schemas.microsoft.com/office/powerpoint/2010/main" val="105505025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9CC15EA-E8F8-4AE6-B596-8F7295FA54C3}" type="slidenum">
              <a:rPr lang="en-GB" smtClean="0"/>
              <a:t>28</a:t>
            </a:fld>
            <a:endParaRPr lang="en-GB"/>
          </a:p>
        </p:txBody>
      </p:sp>
    </p:spTree>
    <p:extLst>
      <p:ext uri="{BB962C8B-B14F-4D97-AF65-F5344CB8AC3E}">
        <p14:creationId xmlns:p14="http://schemas.microsoft.com/office/powerpoint/2010/main" val="279916275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9CC15EA-E8F8-4AE6-B596-8F7295FA54C3}" type="slidenum">
              <a:rPr lang="en-GB" smtClean="0"/>
              <a:t>30</a:t>
            </a:fld>
            <a:endParaRPr lang="en-GB"/>
          </a:p>
        </p:txBody>
      </p:sp>
    </p:spTree>
    <p:extLst>
      <p:ext uri="{BB962C8B-B14F-4D97-AF65-F5344CB8AC3E}">
        <p14:creationId xmlns:p14="http://schemas.microsoft.com/office/powerpoint/2010/main" val="252369480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9CC15EA-E8F8-4AE6-B596-8F7295FA54C3}" type="slidenum">
              <a:rPr lang="en-GB" smtClean="0"/>
              <a:t>31</a:t>
            </a:fld>
            <a:endParaRPr lang="en-GB"/>
          </a:p>
        </p:txBody>
      </p:sp>
    </p:spTree>
    <p:extLst>
      <p:ext uri="{BB962C8B-B14F-4D97-AF65-F5344CB8AC3E}">
        <p14:creationId xmlns:p14="http://schemas.microsoft.com/office/powerpoint/2010/main" val="137106504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9CC15EA-E8F8-4AE6-B596-8F7295FA54C3}" type="slidenum">
              <a:rPr lang="en-GB" smtClean="0"/>
              <a:t>32</a:t>
            </a:fld>
            <a:endParaRPr lang="en-GB"/>
          </a:p>
        </p:txBody>
      </p:sp>
    </p:spTree>
    <p:extLst>
      <p:ext uri="{BB962C8B-B14F-4D97-AF65-F5344CB8AC3E}">
        <p14:creationId xmlns:p14="http://schemas.microsoft.com/office/powerpoint/2010/main" val="393861142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9CC15EA-E8F8-4AE6-B596-8F7295FA54C3}" type="slidenum">
              <a:rPr lang="en-GB" smtClean="0"/>
              <a:t>33</a:t>
            </a:fld>
            <a:endParaRPr lang="en-GB"/>
          </a:p>
        </p:txBody>
      </p:sp>
    </p:spTree>
    <p:extLst>
      <p:ext uri="{BB962C8B-B14F-4D97-AF65-F5344CB8AC3E}">
        <p14:creationId xmlns:p14="http://schemas.microsoft.com/office/powerpoint/2010/main" val="54130354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9CC15EA-E8F8-4AE6-B596-8F7295FA54C3}" type="slidenum">
              <a:rPr lang="en-GB" smtClean="0"/>
              <a:t>34</a:t>
            </a:fld>
            <a:endParaRPr lang="en-GB"/>
          </a:p>
        </p:txBody>
      </p:sp>
    </p:spTree>
    <p:extLst>
      <p:ext uri="{BB962C8B-B14F-4D97-AF65-F5344CB8AC3E}">
        <p14:creationId xmlns:p14="http://schemas.microsoft.com/office/powerpoint/2010/main" val="346077231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9CC15EA-E8F8-4AE6-B596-8F7295FA54C3}" type="slidenum">
              <a:rPr lang="en-GB" smtClean="0"/>
              <a:t>35</a:t>
            </a:fld>
            <a:endParaRPr lang="en-GB"/>
          </a:p>
        </p:txBody>
      </p:sp>
    </p:spTree>
    <p:extLst>
      <p:ext uri="{BB962C8B-B14F-4D97-AF65-F5344CB8AC3E}">
        <p14:creationId xmlns:p14="http://schemas.microsoft.com/office/powerpoint/2010/main" val="20006536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Implicated when pt has carpal tunnel syndrome</a:t>
            </a:r>
          </a:p>
        </p:txBody>
      </p:sp>
      <p:sp>
        <p:nvSpPr>
          <p:cNvPr id="4" name="Slide Number Placeholder 3"/>
          <p:cNvSpPr>
            <a:spLocks noGrp="1"/>
          </p:cNvSpPr>
          <p:nvPr>
            <p:ph type="sldNum" sz="quarter" idx="10"/>
          </p:nvPr>
        </p:nvSpPr>
        <p:spPr/>
        <p:txBody>
          <a:bodyPr/>
          <a:lstStyle/>
          <a:p>
            <a:fld id="{69CC15EA-E8F8-4AE6-B596-8F7295FA54C3}" type="slidenum">
              <a:rPr lang="en-GB" smtClean="0"/>
              <a:t>36</a:t>
            </a:fld>
            <a:endParaRPr lang="en-GB"/>
          </a:p>
        </p:txBody>
      </p:sp>
    </p:spTree>
    <p:extLst>
      <p:ext uri="{BB962C8B-B14F-4D97-AF65-F5344CB8AC3E}">
        <p14:creationId xmlns:p14="http://schemas.microsoft.com/office/powerpoint/2010/main" val="7990557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9CC15EA-E8F8-4AE6-B596-8F7295FA54C3}" type="slidenum">
              <a:rPr lang="en-GB" smtClean="0"/>
              <a:t>37</a:t>
            </a:fld>
            <a:endParaRPr lang="en-GB"/>
          </a:p>
        </p:txBody>
      </p:sp>
    </p:spTree>
    <p:extLst>
      <p:ext uri="{BB962C8B-B14F-4D97-AF65-F5344CB8AC3E}">
        <p14:creationId xmlns:p14="http://schemas.microsoft.com/office/powerpoint/2010/main" val="419136540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Sometimes implicated when pt cycles</a:t>
            </a:r>
          </a:p>
          <a:p>
            <a:endParaRPr lang="en-GB" dirty="0"/>
          </a:p>
        </p:txBody>
      </p:sp>
      <p:sp>
        <p:nvSpPr>
          <p:cNvPr id="4" name="Slide Number Placeholder 3"/>
          <p:cNvSpPr>
            <a:spLocks noGrp="1"/>
          </p:cNvSpPr>
          <p:nvPr>
            <p:ph type="sldNum" sz="quarter" idx="10"/>
          </p:nvPr>
        </p:nvSpPr>
        <p:spPr/>
        <p:txBody>
          <a:bodyPr/>
          <a:lstStyle/>
          <a:p>
            <a:fld id="{69CC15EA-E8F8-4AE6-B596-8F7295FA54C3}" type="slidenum">
              <a:rPr lang="en-GB" smtClean="0"/>
              <a:t>38</a:t>
            </a:fld>
            <a:endParaRPr lang="en-GB"/>
          </a:p>
        </p:txBody>
      </p:sp>
    </p:spTree>
    <p:extLst>
      <p:ext uri="{BB962C8B-B14F-4D97-AF65-F5344CB8AC3E}">
        <p14:creationId xmlns:p14="http://schemas.microsoft.com/office/powerpoint/2010/main" val="243158425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9CC15EA-E8F8-4AE6-B596-8F7295FA54C3}" type="slidenum">
              <a:rPr lang="en-GB" smtClean="0"/>
              <a:t>39</a:t>
            </a:fld>
            <a:endParaRPr lang="en-GB"/>
          </a:p>
        </p:txBody>
      </p:sp>
    </p:spTree>
    <p:extLst>
      <p:ext uri="{BB962C8B-B14F-4D97-AF65-F5344CB8AC3E}">
        <p14:creationId xmlns:p14="http://schemas.microsoft.com/office/powerpoint/2010/main" val="192902239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9CC15EA-E8F8-4AE6-B596-8F7295FA54C3}" type="slidenum">
              <a:rPr lang="en-GB" smtClean="0"/>
              <a:t>40</a:t>
            </a:fld>
            <a:endParaRPr lang="en-GB"/>
          </a:p>
        </p:txBody>
      </p:sp>
    </p:spTree>
    <p:extLst>
      <p:ext uri="{BB962C8B-B14F-4D97-AF65-F5344CB8AC3E}">
        <p14:creationId xmlns:p14="http://schemas.microsoft.com/office/powerpoint/2010/main" val="329146126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9CC15EA-E8F8-4AE6-B596-8F7295FA54C3}" type="slidenum">
              <a:rPr lang="en-GB" smtClean="0"/>
              <a:t>41</a:t>
            </a:fld>
            <a:endParaRPr lang="en-GB"/>
          </a:p>
        </p:txBody>
      </p:sp>
    </p:spTree>
    <p:extLst>
      <p:ext uri="{BB962C8B-B14F-4D97-AF65-F5344CB8AC3E}">
        <p14:creationId xmlns:p14="http://schemas.microsoft.com/office/powerpoint/2010/main" val="90327278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9CC15EA-E8F8-4AE6-B596-8F7295FA54C3}" type="slidenum">
              <a:rPr lang="en-GB" smtClean="0"/>
              <a:t>42</a:t>
            </a:fld>
            <a:endParaRPr lang="en-GB"/>
          </a:p>
        </p:txBody>
      </p:sp>
    </p:spTree>
    <p:extLst>
      <p:ext uri="{BB962C8B-B14F-4D97-AF65-F5344CB8AC3E}">
        <p14:creationId xmlns:p14="http://schemas.microsoft.com/office/powerpoint/2010/main" val="8280505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04D1607B-1B4E-47C1-BC71-B8AA73963BFE}" type="datetimeFigureOut">
              <a:rPr lang="en-GB" smtClean="0"/>
              <a:t>20/02/2025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73F03D0-610E-4E12-945A-6B570D36E339}" type="slidenum">
              <a:rPr lang="en-GB" smtClean="0"/>
              <a:t>‹#›</a:t>
            </a:fld>
            <a:endParaRPr lang="en-GB"/>
          </a:p>
        </p:txBody>
      </p:sp>
    </p:spTree>
    <p:extLst>
      <p:ext uri="{BB962C8B-B14F-4D97-AF65-F5344CB8AC3E}">
        <p14:creationId xmlns:p14="http://schemas.microsoft.com/office/powerpoint/2010/main" val="7238020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04D1607B-1B4E-47C1-BC71-B8AA73963BFE}" type="datetimeFigureOut">
              <a:rPr lang="en-GB" smtClean="0"/>
              <a:t>20/02/2025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73F03D0-610E-4E12-945A-6B570D36E339}" type="slidenum">
              <a:rPr lang="en-GB" smtClean="0"/>
              <a:t>‹#›</a:t>
            </a:fld>
            <a:endParaRPr lang="en-GB"/>
          </a:p>
        </p:txBody>
      </p:sp>
    </p:spTree>
    <p:extLst>
      <p:ext uri="{BB962C8B-B14F-4D97-AF65-F5344CB8AC3E}">
        <p14:creationId xmlns:p14="http://schemas.microsoft.com/office/powerpoint/2010/main" val="10572852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4D1607B-1B4E-47C1-BC71-B8AA73963BFE}" type="datetimeFigureOut">
              <a:rPr lang="en-GB" smtClean="0"/>
              <a:t>20/02/2025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73F03D0-610E-4E12-945A-6B570D36E339}" type="slidenum">
              <a:rPr lang="en-GB" smtClean="0"/>
              <a:t>‹#›</a:t>
            </a:fld>
            <a:endParaRPr lang="en-GB"/>
          </a:p>
        </p:txBody>
      </p:sp>
    </p:spTree>
    <p:extLst>
      <p:ext uri="{BB962C8B-B14F-4D97-AF65-F5344CB8AC3E}">
        <p14:creationId xmlns:p14="http://schemas.microsoft.com/office/powerpoint/2010/main" val="5960087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04D1607B-1B4E-47C1-BC71-B8AA73963BFE}" type="datetimeFigureOut">
              <a:rPr lang="en-GB" smtClean="0"/>
              <a:t>20/02/2025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73F03D0-610E-4E12-945A-6B570D36E339}" type="slidenum">
              <a:rPr lang="en-GB" smtClean="0"/>
              <a:t>‹#›</a:t>
            </a:fld>
            <a:endParaRPr lang="en-GB"/>
          </a:p>
        </p:txBody>
      </p:sp>
    </p:spTree>
    <p:extLst>
      <p:ext uri="{BB962C8B-B14F-4D97-AF65-F5344CB8AC3E}">
        <p14:creationId xmlns:p14="http://schemas.microsoft.com/office/powerpoint/2010/main" val="5800939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04D1607B-1B4E-47C1-BC71-B8AA73963BFE}" type="datetimeFigureOut">
              <a:rPr lang="en-GB" smtClean="0"/>
              <a:t>20/02/2025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B73F03D0-610E-4E12-945A-6B570D36E339}" type="slidenum">
              <a:rPr lang="en-GB" smtClean="0"/>
              <a:t>‹#›</a:t>
            </a:fld>
            <a:endParaRPr lang="en-GB"/>
          </a:p>
        </p:txBody>
      </p:sp>
    </p:spTree>
    <p:extLst>
      <p:ext uri="{BB962C8B-B14F-4D97-AF65-F5344CB8AC3E}">
        <p14:creationId xmlns:p14="http://schemas.microsoft.com/office/powerpoint/2010/main" val="21692428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04D1607B-1B4E-47C1-BC71-B8AA73963BFE}" type="datetimeFigureOut">
              <a:rPr lang="en-GB" smtClean="0"/>
              <a:t>20/02/2025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B73F03D0-610E-4E12-945A-6B570D36E339}" type="slidenum">
              <a:rPr lang="en-GB" smtClean="0"/>
              <a:t>‹#›</a:t>
            </a:fld>
            <a:endParaRPr lang="en-GB"/>
          </a:p>
        </p:txBody>
      </p:sp>
    </p:spTree>
    <p:extLst>
      <p:ext uri="{BB962C8B-B14F-4D97-AF65-F5344CB8AC3E}">
        <p14:creationId xmlns:p14="http://schemas.microsoft.com/office/powerpoint/2010/main" val="29090714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D1607B-1B4E-47C1-BC71-B8AA73963BFE}" type="datetimeFigureOut">
              <a:rPr lang="en-GB" smtClean="0"/>
              <a:t>20/02/2025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B73F03D0-610E-4E12-945A-6B570D36E339}" type="slidenum">
              <a:rPr lang="en-GB" smtClean="0"/>
              <a:t>‹#›</a:t>
            </a:fld>
            <a:endParaRPr lang="en-GB"/>
          </a:p>
        </p:txBody>
      </p:sp>
    </p:spTree>
    <p:extLst>
      <p:ext uri="{BB962C8B-B14F-4D97-AF65-F5344CB8AC3E}">
        <p14:creationId xmlns:p14="http://schemas.microsoft.com/office/powerpoint/2010/main" val="7905195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4D1607B-1B4E-47C1-BC71-B8AA73963BFE}" type="datetimeFigureOut">
              <a:rPr lang="en-GB" smtClean="0"/>
              <a:t>20/02/2025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73F03D0-610E-4E12-945A-6B570D36E339}" type="slidenum">
              <a:rPr lang="en-GB" smtClean="0"/>
              <a:t>‹#›</a:t>
            </a:fld>
            <a:endParaRPr lang="en-GB"/>
          </a:p>
        </p:txBody>
      </p:sp>
    </p:spTree>
    <p:extLst>
      <p:ext uri="{BB962C8B-B14F-4D97-AF65-F5344CB8AC3E}">
        <p14:creationId xmlns:p14="http://schemas.microsoft.com/office/powerpoint/2010/main" val="4637703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4D1607B-1B4E-47C1-BC71-B8AA73963BFE}" type="datetimeFigureOut">
              <a:rPr lang="en-GB" smtClean="0"/>
              <a:t>20/02/2025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73F03D0-610E-4E12-945A-6B570D36E339}" type="slidenum">
              <a:rPr lang="en-GB" smtClean="0"/>
              <a:t>‹#›</a:t>
            </a:fld>
            <a:endParaRPr lang="en-GB"/>
          </a:p>
        </p:txBody>
      </p:sp>
    </p:spTree>
    <p:extLst>
      <p:ext uri="{BB962C8B-B14F-4D97-AF65-F5344CB8AC3E}">
        <p14:creationId xmlns:p14="http://schemas.microsoft.com/office/powerpoint/2010/main" val="16555804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04D1607B-1B4E-47C1-BC71-B8AA73963BFE}" type="datetimeFigureOut">
              <a:rPr lang="en-GB" smtClean="0"/>
              <a:t>20/02/2025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73F03D0-610E-4E12-945A-6B570D36E339}" type="slidenum">
              <a:rPr lang="en-GB" smtClean="0"/>
              <a:t>‹#›</a:t>
            </a:fld>
            <a:endParaRPr lang="en-GB"/>
          </a:p>
        </p:txBody>
      </p:sp>
    </p:spTree>
    <p:extLst>
      <p:ext uri="{BB962C8B-B14F-4D97-AF65-F5344CB8AC3E}">
        <p14:creationId xmlns:p14="http://schemas.microsoft.com/office/powerpoint/2010/main" val="32525797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04D1607B-1B4E-47C1-BC71-B8AA73963BFE}" type="datetimeFigureOut">
              <a:rPr lang="en-GB" smtClean="0"/>
              <a:t>20/02/2025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73F03D0-610E-4E12-945A-6B570D36E339}" type="slidenum">
              <a:rPr lang="en-GB" smtClean="0"/>
              <a:t>‹#›</a:t>
            </a:fld>
            <a:endParaRPr lang="en-GB"/>
          </a:p>
        </p:txBody>
      </p:sp>
    </p:spTree>
    <p:extLst>
      <p:ext uri="{BB962C8B-B14F-4D97-AF65-F5344CB8AC3E}">
        <p14:creationId xmlns:p14="http://schemas.microsoft.com/office/powerpoint/2010/main" val="41663723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4D1607B-1B4E-47C1-BC71-B8AA73963BFE}" type="datetimeFigureOut">
              <a:rPr lang="en-GB" smtClean="0"/>
              <a:t>20/02/2025</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3F03D0-610E-4E12-945A-6B570D36E339}" type="slidenum">
              <a:rPr lang="en-GB" smtClean="0"/>
              <a:t>‹#›</a:t>
            </a:fld>
            <a:endParaRPr lang="en-GB"/>
          </a:p>
        </p:txBody>
      </p:sp>
    </p:spTree>
    <p:extLst>
      <p:ext uri="{BB962C8B-B14F-4D97-AF65-F5344CB8AC3E}">
        <p14:creationId xmlns:p14="http://schemas.microsoft.com/office/powerpoint/2010/main" val="584282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6.jpe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2.jpg"/><Relationship Id="rId4" Type="http://schemas.openxmlformats.org/officeDocument/2006/relationships/image" Target="../media/image11.jp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4.jp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jp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29.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38.png"/><Relationship Id="rId4" Type="http://schemas.openxmlformats.org/officeDocument/2006/relationships/image" Target="../media/image37.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29.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46.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image" Target="../media/image48.png"/><Relationship Id="rId4" Type="http://schemas.openxmlformats.org/officeDocument/2006/relationships/image" Target="../media/image47.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49.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1.xml"/><Relationship Id="rId5" Type="http://schemas.openxmlformats.org/officeDocument/2006/relationships/image" Target="../media/image51.jpg"/><Relationship Id="rId4" Type="http://schemas.openxmlformats.org/officeDocument/2006/relationships/image" Target="../media/image50.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52.jp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53.jp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1.xml"/><Relationship Id="rId5" Type="http://schemas.openxmlformats.org/officeDocument/2006/relationships/image" Target="../media/image55.jpg"/><Relationship Id="rId4" Type="http://schemas.openxmlformats.org/officeDocument/2006/relationships/image" Target="../media/image54.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1.xml"/><Relationship Id="rId5" Type="http://schemas.openxmlformats.org/officeDocument/2006/relationships/image" Target="../media/image57.png"/><Relationship Id="rId4" Type="http://schemas.openxmlformats.org/officeDocument/2006/relationships/image" Target="../media/image56.png"/></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1.xml"/><Relationship Id="rId5" Type="http://schemas.openxmlformats.org/officeDocument/2006/relationships/image" Target="../media/image59.png"/><Relationship Id="rId4" Type="http://schemas.openxmlformats.org/officeDocument/2006/relationships/image" Target="../media/image58.jpg"/></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1.xml"/><Relationship Id="rId5" Type="http://schemas.openxmlformats.org/officeDocument/2006/relationships/image" Target="../media/image61.png"/><Relationship Id="rId4" Type="http://schemas.openxmlformats.org/officeDocument/2006/relationships/image" Target="../media/image60.png"/></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1.xml"/><Relationship Id="rId5" Type="http://schemas.openxmlformats.org/officeDocument/2006/relationships/image" Target="../media/image63.png"/><Relationship Id="rId4" Type="http://schemas.openxmlformats.org/officeDocument/2006/relationships/image" Target="../media/image62.jp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1.xml"/><Relationship Id="rId5" Type="http://schemas.openxmlformats.org/officeDocument/2006/relationships/image" Target="../media/image65.png"/><Relationship Id="rId4" Type="http://schemas.openxmlformats.org/officeDocument/2006/relationships/image" Target="../media/image64.png"/></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CD0758-5CE9-5D0B-458E-9E9B2A6333D7}"/>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188698E1-3446-C868-3849-53774A609F90}"/>
              </a:ext>
            </a:extLst>
          </p:cNvPr>
          <p:cNvSpPr/>
          <p:nvPr/>
        </p:nvSpPr>
        <p:spPr>
          <a:xfrm>
            <a:off x="0" y="10938"/>
            <a:ext cx="12192000" cy="6858000"/>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Picture 5">
            <a:extLst>
              <a:ext uri="{FF2B5EF4-FFF2-40B4-BE49-F238E27FC236}">
                <a16:creationId xmlns:a16="http://schemas.microsoft.com/office/drawing/2014/main" id="{047589B6-7FAE-B2DA-6688-684985E96ED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79100" y="6122508"/>
            <a:ext cx="1688789" cy="434260"/>
          </a:xfrm>
          <a:prstGeom prst="rect">
            <a:avLst/>
          </a:prstGeom>
        </p:spPr>
      </p:pic>
      <p:pic>
        <p:nvPicPr>
          <p:cNvPr id="19" name="Picture 18" descr="COSMOS GRAPHIC WHITE.png">
            <a:extLst>
              <a:ext uri="{FF2B5EF4-FFF2-40B4-BE49-F238E27FC236}">
                <a16:creationId xmlns:a16="http://schemas.microsoft.com/office/drawing/2014/main" id="{38CC5464-0D76-C1BD-10E9-CC51D092EAB9}"/>
              </a:ext>
            </a:extLst>
          </p:cNvPr>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p:spPr>
      </p:pic>
      <p:sp>
        <p:nvSpPr>
          <p:cNvPr id="20" name="Title 1">
            <a:extLst>
              <a:ext uri="{FF2B5EF4-FFF2-40B4-BE49-F238E27FC236}">
                <a16:creationId xmlns:a16="http://schemas.microsoft.com/office/drawing/2014/main" id="{13C9040B-CB64-248E-B775-CDFC37F8A8BB}"/>
              </a:ext>
            </a:extLst>
          </p:cNvPr>
          <p:cNvSpPr>
            <a:spLocks noGrp="1"/>
          </p:cNvSpPr>
          <p:nvPr>
            <p:ph type="ctrTitle"/>
          </p:nvPr>
        </p:nvSpPr>
        <p:spPr>
          <a:xfrm>
            <a:off x="859367" y="1626330"/>
            <a:ext cx="7766936" cy="1646302"/>
          </a:xfrm>
        </p:spPr>
        <p:txBody>
          <a:bodyPr>
            <a:normAutofit/>
          </a:bodyPr>
          <a:lstStyle/>
          <a:p>
            <a:pPr algn="r"/>
            <a:r>
              <a:rPr lang="en-GB" dirty="0">
                <a:solidFill>
                  <a:schemeClr val="bg1"/>
                </a:solidFill>
                <a:latin typeface="Arial" panose="020B0604020202020204" pitchFamily="34" charset="0"/>
                <a:cs typeface="Arial" panose="020B0604020202020204" pitchFamily="34" charset="0"/>
              </a:rPr>
              <a:t>Hand</a:t>
            </a:r>
            <a:r>
              <a:rPr lang="en-GB" sz="6000" dirty="0">
                <a:solidFill>
                  <a:schemeClr val="bg1"/>
                </a:solidFill>
                <a:latin typeface="Arial" panose="020B0604020202020204" pitchFamily="34" charset="0"/>
                <a:cs typeface="Arial" panose="020B0604020202020204" pitchFamily="34" charset="0"/>
              </a:rPr>
              <a:t> Anatomy</a:t>
            </a:r>
          </a:p>
        </p:txBody>
      </p:sp>
      <p:sp>
        <p:nvSpPr>
          <p:cNvPr id="21" name="Subtitle 2">
            <a:extLst>
              <a:ext uri="{FF2B5EF4-FFF2-40B4-BE49-F238E27FC236}">
                <a16:creationId xmlns:a16="http://schemas.microsoft.com/office/drawing/2014/main" id="{195AC44A-5FAF-9D27-E8E5-A32C0B5A32E9}"/>
              </a:ext>
            </a:extLst>
          </p:cNvPr>
          <p:cNvSpPr>
            <a:spLocks noGrp="1"/>
          </p:cNvSpPr>
          <p:nvPr>
            <p:ph type="subTitle" idx="1"/>
          </p:nvPr>
        </p:nvSpPr>
        <p:spPr>
          <a:xfrm>
            <a:off x="859367" y="3310729"/>
            <a:ext cx="7766936" cy="1587967"/>
          </a:xfrm>
        </p:spPr>
        <p:txBody>
          <a:bodyPr>
            <a:normAutofit fontScale="92500" lnSpcReduction="20000"/>
          </a:bodyPr>
          <a:lstStyle/>
          <a:p>
            <a:pPr algn="r"/>
            <a:r>
              <a:rPr lang="en-GB" sz="3200" dirty="0">
                <a:solidFill>
                  <a:schemeClr val="bg1"/>
                </a:solidFill>
                <a:latin typeface="Arial" panose="020B0604020202020204" pitchFamily="34" charset="0"/>
                <a:cs typeface="Arial" panose="020B0604020202020204" pitchFamily="34" charset="0"/>
              </a:rPr>
              <a:t>PT4050 / PT7001</a:t>
            </a:r>
          </a:p>
          <a:p>
            <a:pPr algn="r"/>
            <a:endParaRPr lang="en-GB" sz="3200" dirty="0">
              <a:solidFill>
                <a:srgbClr val="00B0F0"/>
              </a:solidFill>
              <a:latin typeface="Arial" panose="020B0604020202020204" pitchFamily="34" charset="0"/>
              <a:cs typeface="Arial" panose="020B0604020202020204" pitchFamily="34" charset="0"/>
            </a:endParaRPr>
          </a:p>
          <a:p>
            <a:pPr algn="r"/>
            <a:r>
              <a:rPr lang="en-GB" dirty="0">
                <a:solidFill>
                  <a:srgbClr val="00B0F0"/>
                </a:solidFill>
                <a:latin typeface="Arial" panose="020B0604020202020204" pitchFamily="34" charset="0"/>
                <a:cs typeface="Arial" panose="020B0604020202020204" pitchFamily="34" charset="0"/>
              </a:rPr>
              <a:t>Paul Starrs</a:t>
            </a:r>
          </a:p>
          <a:p>
            <a:pPr algn="r"/>
            <a:r>
              <a:rPr lang="en-GB" dirty="0">
                <a:solidFill>
                  <a:srgbClr val="00B0F0"/>
                </a:solidFill>
                <a:latin typeface="Arial" panose="020B0604020202020204" pitchFamily="34" charset="0"/>
                <a:cs typeface="Arial" panose="020B0604020202020204" pitchFamily="34" charset="0"/>
              </a:rPr>
              <a:t>P.Starrs@londonmet.ac.uk</a:t>
            </a:r>
          </a:p>
        </p:txBody>
      </p:sp>
    </p:spTree>
    <p:extLst>
      <p:ext uri="{BB962C8B-B14F-4D97-AF65-F5344CB8AC3E}">
        <p14:creationId xmlns:p14="http://schemas.microsoft.com/office/powerpoint/2010/main" val="5461071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ound Diagonal Corner Rectangle 3"/>
          <p:cNvSpPr/>
          <p:nvPr/>
        </p:nvSpPr>
        <p:spPr>
          <a:xfrm>
            <a:off x="622930" y="402811"/>
            <a:ext cx="5236003"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LEARNING OUTCOMES</a:t>
            </a:r>
          </a:p>
        </p:txBody>
      </p:sp>
      <p:pic>
        <p:nvPicPr>
          <p:cNvPr id="19" name="Picture 18" descr="COSMOS GRAPHIC WHITE.png"/>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3" name="Round Diagonal Corner Rectangle 2"/>
          <p:cNvSpPr/>
          <p:nvPr/>
        </p:nvSpPr>
        <p:spPr>
          <a:xfrm>
            <a:off x="622930" y="1435100"/>
            <a:ext cx="8205186" cy="5159767"/>
          </a:xfrm>
          <a:prstGeom prst="round2DiagRect">
            <a:avLst/>
          </a:prstGeom>
          <a:no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Clr>
                <a:schemeClr val="bg1"/>
              </a:buClr>
              <a:buFont typeface="Arial" panose="020B0604020202020204" pitchFamily="34" charset="0"/>
              <a:buChar char="•"/>
            </a:pPr>
            <a:r>
              <a:rPr lang="en-GB" sz="2200" dirty="0">
                <a:solidFill>
                  <a:schemeClr val="bg1"/>
                </a:solidFill>
              </a:rPr>
              <a:t>Identify bones of the hand and give an account of their joints  </a:t>
            </a:r>
          </a:p>
          <a:p>
            <a:pPr marL="342900" indent="-342900">
              <a:buClr>
                <a:schemeClr val="bg1"/>
              </a:buClr>
              <a:buFont typeface="Arial" panose="020B0604020202020204" pitchFamily="34" charset="0"/>
              <a:buChar char="•"/>
            </a:pPr>
            <a:r>
              <a:rPr lang="en-GB" sz="2200" dirty="0">
                <a:solidFill>
                  <a:schemeClr val="bg1"/>
                </a:solidFill>
              </a:rPr>
              <a:t>Briefly describe the fibrous and synovial sheaths of the fingers  </a:t>
            </a:r>
          </a:p>
          <a:p>
            <a:pPr marL="342900" indent="-342900">
              <a:buClr>
                <a:schemeClr val="bg1"/>
              </a:buClr>
              <a:buFont typeface="Arial" panose="020B0604020202020204" pitchFamily="34" charset="0"/>
              <a:buChar char="•"/>
            </a:pPr>
            <a:r>
              <a:rPr lang="en-GB" sz="2200" dirty="0">
                <a:solidFill>
                  <a:schemeClr val="bg1"/>
                </a:solidFill>
              </a:rPr>
              <a:t>Describe the arrangement of fascia in the hand and name the spaces between fascial planes  </a:t>
            </a:r>
          </a:p>
          <a:p>
            <a:pPr marL="342900" indent="-342900">
              <a:buClr>
                <a:schemeClr val="bg1"/>
              </a:buClr>
              <a:buFont typeface="Arial" panose="020B0604020202020204" pitchFamily="34" charset="0"/>
              <a:buChar char="•"/>
            </a:pPr>
            <a:r>
              <a:rPr lang="en-GB" sz="2200" dirty="0">
                <a:solidFill>
                  <a:schemeClr val="bg1"/>
                </a:solidFill>
              </a:rPr>
              <a:t>Describe the muscles contained within the thenar and hypothenar eminences, and know their innervations and functions  </a:t>
            </a:r>
          </a:p>
          <a:p>
            <a:pPr marL="342900" indent="-342900">
              <a:buClr>
                <a:schemeClr val="bg1"/>
              </a:buClr>
              <a:buFont typeface="Arial" panose="020B0604020202020204" pitchFamily="34" charset="0"/>
              <a:buChar char="•"/>
            </a:pPr>
            <a:r>
              <a:rPr lang="en-GB" sz="2200" dirty="0">
                <a:solidFill>
                  <a:schemeClr val="bg1"/>
                </a:solidFill>
              </a:rPr>
              <a:t>Know the attachments, innervations and actions of the lumbricals and interossei muscles  </a:t>
            </a:r>
          </a:p>
          <a:p>
            <a:pPr marL="342900" indent="-342900">
              <a:buClr>
                <a:schemeClr val="bg1"/>
              </a:buClr>
              <a:buFont typeface="Arial" panose="020B0604020202020204" pitchFamily="34" charset="0"/>
              <a:buChar char="•"/>
            </a:pPr>
            <a:r>
              <a:rPr lang="en-GB" sz="2200" dirty="0">
                <a:solidFill>
                  <a:schemeClr val="bg1"/>
                </a:solidFill>
              </a:rPr>
              <a:t>Briefly describe the dorsal digital expansion </a:t>
            </a:r>
          </a:p>
          <a:p>
            <a:pPr marL="342900" indent="-342900">
              <a:buClr>
                <a:schemeClr val="bg1"/>
              </a:buClr>
              <a:buFont typeface="Arial" panose="020B0604020202020204" pitchFamily="34" charset="0"/>
              <a:buChar char="•"/>
            </a:pPr>
            <a:r>
              <a:rPr lang="en-GB" sz="2200" dirty="0">
                <a:solidFill>
                  <a:schemeClr val="bg1"/>
                </a:solidFill>
              </a:rPr>
              <a:t>Describe the arrangement of the arteries, veins and nerves of the hand </a:t>
            </a:r>
          </a:p>
        </p:txBody>
      </p:sp>
    </p:spTree>
    <p:extLst>
      <p:ext uri="{BB962C8B-B14F-4D97-AF65-F5344CB8AC3E}">
        <p14:creationId xmlns:p14="http://schemas.microsoft.com/office/powerpoint/2010/main" val="24609991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ound Diagonal Corner Rectangle 3"/>
          <p:cNvSpPr/>
          <p:nvPr/>
        </p:nvSpPr>
        <p:spPr>
          <a:xfrm>
            <a:off x="622930" y="402811"/>
            <a:ext cx="2798696"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CONTENTS</a:t>
            </a:r>
          </a:p>
        </p:txBody>
      </p:sp>
      <p:pic>
        <p:nvPicPr>
          <p:cNvPr id="19" name="Picture 18" descr="COSMOS GRAPHIC WHITE.png"/>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3" name="Round Diagonal Corner Rectangle 2"/>
          <p:cNvSpPr/>
          <p:nvPr/>
        </p:nvSpPr>
        <p:spPr>
          <a:xfrm>
            <a:off x="622930" y="1435100"/>
            <a:ext cx="5473070" cy="5159767"/>
          </a:xfrm>
          <a:prstGeom prst="round2DiagRect">
            <a:avLst/>
          </a:prstGeom>
          <a:no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Clr>
                <a:schemeClr val="bg1"/>
              </a:buClr>
              <a:buFont typeface="Arial" panose="020B0604020202020204" pitchFamily="34" charset="0"/>
              <a:buChar char="•"/>
            </a:pPr>
            <a:r>
              <a:rPr lang="en-GB" sz="2800" dirty="0">
                <a:solidFill>
                  <a:schemeClr val="bg1"/>
                </a:solidFill>
              </a:rPr>
              <a:t>Discuss hand anatomy including joint structures, ligaments, muscles and innervation</a:t>
            </a:r>
          </a:p>
        </p:txBody>
      </p:sp>
      <p:sp>
        <p:nvSpPr>
          <p:cNvPr id="2" name="Round Diagonal Corner Rectangle 2">
            <a:extLst>
              <a:ext uri="{FF2B5EF4-FFF2-40B4-BE49-F238E27FC236}">
                <a16:creationId xmlns:a16="http://schemas.microsoft.com/office/drawing/2014/main" id="{483D0426-37E4-1DA9-19FD-7A3665278E7A}"/>
              </a:ext>
            </a:extLst>
          </p:cNvPr>
          <p:cNvSpPr/>
          <p:nvPr/>
        </p:nvSpPr>
        <p:spPr>
          <a:xfrm>
            <a:off x="6276259" y="1435100"/>
            <a:ext cx="5473070" cy="5159767"/>
          </a:xfrm>
          <a:prstGeom prst="round2DiagRect">
            <a:avLst/>
          </a:prstGeom>
          <a:blipFill dpi="0" rotWithShape="1">
            <a:blip r:embed="rId4">
              <a:extLst>
                <a:ext uri="{28A0092B-C50C-407E-A947-70E740481C1C}">
                  <a14:useLocalDpi xmlns:a14="http://schemas.microsoft.com/office/drawing/2010/main" val="0"/>
                </a:ext>
              </a:extLst>
            </a:blip>
            <a:srcRect/>
            <a:stretch>
              <a:fillRect r="-3406"/>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Clr>
                <a:schemeClr val="bg1"/>
              </a:buClr>
              <a:buFont typeface="Arial" panose="020B0604020202020204" pitchFamily="34" charset="0"/>
              <a:buChar char="•"/>
            </a:pPr>
            <a:endParaRPr lang="en-GB" sz="2800" dirty="0">
              <a:solidFill>
                <a:schemeClr val="bg1"/>
              </a:solidFill>
            </a:endParaRPr>
          </a:p>
        </p:txBody>
      </p:sp>
    </p:spTree>
    <p:extLst>
      <p:ext uri="{BB962C8B-B14F-4D97-AF65-F5344CB8AC3E}">
        <p14:creationId xmlns:p14="http://schemas.microsoft.com/office/powerpoint/2010/main" val="4078487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ound Diagonal Corner Rectangle 3"/>
          <p:cNvSpPr/>
          <p:nvPr/>
        </p:nvSpPr>
        <p:spPr>
          <a:xfrm>
            <a:off x="622929" y="402811"/>
            <a:ext cx="8079637"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FUNDAMENTALS OF HAND ANATOMY</a:t>
            </a:r>
          </a:p>
        </p:txBody>
      </p:sp>
      <p:pic>
        <p:nvPicPr>
          <p:cNvPr id="19" name="Picture 18" descr="COSMOS GRAPHIC WHITE.png"/>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3" name="Round Diagonal Corner Rectangle 2"/>
          <p:cNvSpPr/>
          <p:nvPr/>
        </p:nvSpPr>
        <p:spPr>
          <a:xfrm>
            <a:off x="622930" y="1435100"/>
            <a:ext cx="5714808" cy="5159767"/>
          </a:xfrm>
          <a:prstGeom prst="round2DiagRect">
            <a:avLst/>
          </a:prstGeom>
          <a:no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Clr>
                <a:schemeClr val="bg1"/>
              </a:buClr>
              <a:buFont typeface="Arial" panose="020B0604020202020204" pitchFamily="34" charset="0"/>
              <a:buChar char="•"/>
            </a:pPr>
            <a:r>
              <a:rPr lang="en-GB" sz="2400" dirty="0">
                <a:solidFill>
                  <a:schemeClr val="bg1"/>
                </a:solidFill>
              </a:rPr>
              <a:t>Hand anatomy is easiest to learn by logically progressing through the material </a:t>
            </a:r>
          </a:p>
          <a:p>
            <a:pPr marL="800100" lvl="1" indent="-342900">
              <a:buClr>
                <a:schemeClr val="bg1"/>
              </a:buClr>
              <a:buFont typeface="Courier New" panose="02070309020205020404" pitchFamily="49" charset="0"/>
              <a:buChar char="o"/>
            </a:pPr>
            <a:r>
              <a:rPr lang="en-GB" sz="2400" dirty="0">
                <a:solidFill>
                  <a:schemeClr val="bg1"/>
                </a:solidFill>
              </a:rPr>
              <a:t>Bones → joints → movements at joints → bony landmarks → origin/insertion/action of muscles → neurovascular supply</a:t>
            </a:r>
          </a:p>
          <a:p>
            <a:pPr marL="342900" indent="-342900">
              <a:buClr>
                <a:schemeClr val="bg1"/>
              </a:buClr>
              <a:buFont typeface="Arial" panose="020B0604020202020204" pitchFamily="34" charset="0"/>
              <a:buChar char="•"/>
            </a:pPr>
            <a:r>
              <a:rPr lang="en-GB" sz="2400" dirty="0">
                <a:solidFill>
                  <a:schemeClr val="bg1"/>
                </a:solidFill>
              </a:rPr>
              <a:t>Similar to the foot, which has a dorsal and plantar aspect, the hand has a dorsal and palmar aspect</a:t>
            </a:r>
          </a:p>
        </p:txBody>
      </p:sp>
      <p:sp>
        <p:nvSpPr>
          <p:cNvPr id="2" name="Round Diagonal Corner Rectangle 7">
            <a:extLst>
              <a:ext uri="{FF2B5EF4-FFF2-40B4-BE49-F238E27FC236}">
                <a16:creationId xmlns:a16="http://schemas.microsoft.com/office/drawing/2014/main" id="{7122E6B7-E67F-BAF2-386C-76D8F27F11DC}"/>
              </a:ext>
            </a:extLst>
          </p:cNvPr>
          <p:cNvSpPr/>
          <p:nvPr/>
        </p:nvSpPr>
        <p:spPr>
          <a:xfrm>
            <a:off x="6528669" y="1353646"/>
            <a:ext cx="5348021" cy="5159767"/>
          </a:xfrm>
          <a:prstGeom prst="round2DiagRect">
            <a:avLst/>
          </a:prstGeom>
          <a:blipFill dpi="0" rotWithShape="1">
            <a:blip r:embed="rId4">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649317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ound Diagonal Corner Rectangle 3"/>
          <p:cNvSpPr/>
          <p:nvPr/>
        </p:nvSpPr>
        <p:spPr>
          <a:xfrm>
            <a:off x="622929" y="402811"/>
            <a:ext cx="4138257"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HAND FUNCTION</a:t>
            </a:r>
          </a:p>
        </p:txBody>
      </p:sp>
      <p:pic>
        <p:nvPicPr>
          <p:cNvPr id="19" name="Picture 18" descr="COSMOS GRAPHIC WHITE.png"/>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3" name="Round Diagonal Corner Rectangle 2"/>
          <p:cNvSpPr/>
          <p:nvPr/>
        </p:nvSpPr>
        <p:spPr>
          <a:xfrm>
            <a:off x="622929" y="1435100"/>
            <a:ext cx="5472000" cy="5159767"/>
          </a:xfrm>
          <a:prstGeom prst="round2DiagRect">
            <a:avLst/>
          </a:prstGeom>
          <a:no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r>
              <a:rPr lang="en-GB" sz="2800" dirty="0">
                <a:solidFill>
                  <a:schemeClr val="bg1"/>
                </a:solidFill>
              </a:rPr>
              <a:t>Exceptionally refined complex needed for grip and manipulation e.g. dressing, playing instruments, writing, typing, etc.</a:t>
            </a:r>
          </a:p>
          <a:p>
            <a:pPr marL="457200" indent="-457200">
              <a:buClr>
                <a:schemeClr val="bg1"/>
              </a:buClr>
              <a:buFont typeface="Arial" panose="020B0604020202020204" pitchFamily="34" charset="0"/>
              <a:buChar char="•"/>
            </a:pPr>
            <a:r>
              <a:rPr lang="en-GB" sz="2800" dirty="0">
                <a:solidFill>
                  <a:schemeClr val="bg1"/>
                </a:solidFill>
              </a:rPr>
              <a:t>Balance of power and precision required, also, e.g. weight lifting, rock climbing, etc. </a:t>
            </a:r>
          </a:p>
        </p:txBody>
      </p:sp>
      <p:sp>
        <p:nvSpPr>
          <p:cNvPr id="5" name="Round Diagonal Corner Rectangle 2">
            <a:extLst>
              <a:ext uri="{FF2B5EF4-FFF2-40B4-BE49-F238E27FC236}">
                <a16:creationId xmlns:a16="http://schemas.microsoft.com/office/drawing/2014/main" id="{191F45AF-0AAC-0D33-74EB-C8923D79BA5F}"/>
              </a:ext>
            </a:extLst>
          </p:cNvPr>
          <p:cNvSpPr/>
          <p:nvPr/>
        </p:nvSpPr>
        <p:spPr>
          <a:xfrm>
            <a:off x="6448719" y="263132"/>
            <a:ext cx="5472000" cy="2782058"/>
          </a:xfrm>
          <a:prstGeom prst="round2DiagRect">
            <a:avLst/>
          </a:prstGeom>
          <a:blipFill dpi="0" rotWithShape="1">
            <a:blip r:embed="rId4">
              <a:extLst>
                <a:ext uri="{28A0092B-C50C-407E-A947-70E740481C1C}">
                  <a14:useLocalDpi xmlns:a14="http://schemas.microsoft.com/office/drawing/2010/main" val="0"/>
                </a:ext>
              </a:extLst>
            </a:blip>
            <a:srcRect/>
            <a:stretch>
              <a:fillRect b="-85466"/>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endParaRPr lang="en-GB" sz="2400" dirty="0">
              <a:solidFill>
                <a:schemeClr val="bg1"/>
              </a:solidFill>
            </a:endParaRPr>
          </a:p>
        </p:txBody>
      </p:sp>
      <p:sp>
        <p:nvSpPr>
          <p:cNvPr id="2" name="Round Diagonal Corner Rectangle 2" descr="Rock climber">
            <a:extLst>
              <a:ext uri="{FF2B5EF4-FFF2-40B4-BE49-F238E27FC236}">
                <a16:creationId xmlns:a16="http://schemas.microsoft.com/office/drawing/2014/main" id="{DA6CAB10-358D-FDF4-5282-584622050F43}"/>
              </a:ext>
            </a:extLst>
          </p:cNvPr>
          <p:cNvSpPr/>
          <p:nvPr/>
        </p:nvSpPr>
        <p:spPr>
          <a:xfrm>
            <a:off x="6448719" y="3106787"/>
            <a:ext cx="5472000" cy="3488080"/>
          </a:xfrm>
          <a:prstGeom prst="round2DiagRect">
            <a:avLst/>
          </a:prstGeom>
          <a:blipFill dpi="0" rotWithShape="1">
            <a:blip r:embed="rId5" cstate="print">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endParaRPr lang="en-GB" sz="2400" dirty="0">
              <a:solidFill>
                <a:schemeClr val="bg1"/>
              </a:solidFill>
            </a:endParaRPr>
          </a:p>
        </p:txBody>
      </p:sp>
    </p:spTree>
    <p:extLst>
      <p:ext uri="{BB962C8B-B14F-4D97-AF65-F5344CB8AC3E}">
        <p14:creationId xmlns:p14="http://schemas.microsoft.com/office/powerpoint/2010/main" val="3662165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ound Diagonal Corner Rectangle 3"/>
          <p:cNvSpPr/>
          <p:nvPr/>
        </p:nvSpPr>
        <p:spPr>
          <a:xfrm>
            <a:off x="622929" y="402811"/>
            <a:ext cx="2556277"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BONES</a:t>
            </a:r>
          </a:p>
        </p:txBody>
      </p:sp>
      <p:pic>
        <p:nvPicPr>
          <p:cNvPr id="19" name="Picture 18" descr="COSMOS GRAPHIC WHITE.png"/>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3" name="Round Diagonal Corner Rectangle 2"/>
          <p:cNvSpPr/>
          <p:nvPr/>
        </p:nvSpPr>
        <p:spPr>
          <a:xfrm>
            <a:off x="6276795" y="1435101"/>
            <a:ext cx="5472000" cy="5159767"/>
          </a:xfrm>
          <a:prstGeom prst="round2DiagRect">
            <a:avLst/>
          </a:prstGeom>
          <a:blipFill dpi="0" rotWithShape="1">
            <a:blip r:embed="rId4">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Clr>
                <a:schemeClr val="bg1"/>
              </a:buClr>
              <a:buFont typeface="Arial" panose="020B0604020202020204" pitchFamily="34" charset="0"/>
              <a:buChar char="•"/>
            </a:pPr>
            <a:endParaRPr lang="en-GB" sz="2800" dirty="0">
              <a:solidFill>
                <a:schemeClr val="bg1"/>
              </a:solidFill>
            </a:endParaRPr>
          </a:p>
        </p:txBody>
      </p:sp>
      <p:sp>
        <p:nvSpPr>
          <p:cNvPr id="2" name="Round Diagonal Corner Rectangle 2">
            <a:extLst>
              <a:ext uri="{FF2B5EF4-FFF2-40B4-BE49-F238E27FC236}">
                <a16:creationId xmlns:a16="http://schemas.microsoft.com/office/drawing/2014/main" id="{92AC808F-03F2-59BC-14A3-2DB558A3F96F}"/>
              </a:ext>
            </a:extLst>
          </p:cNvPr>
          <p:cNvSpPr/>
          <p:nvPr/>
        </p:nvSpPr>
        <p:spPr>
          <a:xfrm>
            <a:off x="622929" y="1554922"/>
            <a:ext cx="5472000" cy="5159767"/>
          </a:xfrm>
          <a:prstGeom prst="round2DiagRect">
            <a:avLst/>
          </a:prstGeom>
          <a:no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Clr>
                <a:schemeClr val="bg1"/>
              </a:buClr>
              <a:buFont typeface="Arial" panose="020B0604020202020204" pitchFamily="34" charset="0"/>
              <a:buChar char="•"/>
            </a:pPr>
            <a:r>
              <a:rPr lang="en-GB" sz="2200" dirty="0">
                <a:solidFill>
                  <a:schemeClr val="bg1"/>
                </a:solidFill>
              </a:rPr>
              <a:t>Twenty-seven bones in total:</a:t>
            </a:r>
          </a:p>
          <a:p>
            <a:pPr marL="800100" lvl="1" indent="-342900">
              <a:buClr>
                <a:schemeClr val="bg1"/>
              </a:buClr>
              <a:buFont typeface="Arial" panose="020B0604020202020204" pitchFamily="34" charset="0"/>
              <a:buChar char="•"/>
            </a:pPr>
            <a:r>
              <a:rPr lang="en-GB" sz="2200" dirty="0">
                <a:solidFill>
                  <a:schemeClr val="bg1"/>
                </a:solidFill>
              </a:rPr>
              <a:t>Eight </a:t>
            </a:r>
            <a:r>
              <a:rPr lang="en-GB" sz="2200" b="1" dirty="0">
                <a:solidFill>
                  <a:srgbClr val="E1CCEC"/>
                </a:solidFill>
              </a:rPr>
              <a:t>CARPALS</a:t>
            </a:r>
          </a:p>
          <a:p>
            <a:pPr marL="800100" lvl="1" indent="-342900">
              <a:buClr>
                <a:schemeClr val="bg1"/>
              </a:buClr>
              <a:buFont typeface="Arial" panose="020B0604020202020204" pitchFamily="34" charset="0"/>
              <a:buChar char="•"/>
            </a:pPr>
            <a:r>
              <a:rPr lang="en-GB" sz="2200" dirty="0">
                <a:solidFill>
                  <a:schemeClr val="bg1"/>
                </a:solidFill>
              </a:rPr>
              <a:t>Five </a:t>
            </a:r>
            <a:r>
              <a:rPr lang="en-GB" sz="2200" b="1" dirty="0">
                <a:solidFill>
                  <a:srgbClr val="FFE597"/>
                </a:solidFill>
              </a:rPr>
              <a:t>METACARPALS</a:t>
            </a:r>
          </a:p>
          <a:p>
            <a:pPr marL="800100" lvl="1" indent="-342900">
              <a:buClr>
                <a:schemeClr val="bg1"/>
              </a:buClr>
              <a:buFont typeface="Arial" panose="020B0604020202020204" pitchFamily="34" charset="0"/>
              <a:buChar char="•"/>
            </a:pPr>
            <a:r>
              <a:rPr lang="en-GB" sz="2200" dirty="0">
                <a:solidFill>
                  <a:schemeClr val="bg1"/>
                </a:solidFill>
              </a:rPr>
              <a:t>Five </a:t>
            </a:r>
            <a:r>
              <a:rPr lang="en-GB" sz="2200" b="1" dirty="0">
                <a:solidFill>
                  <a:srgbClr val="CDE6AC"/>
                </a:solidFill>
              </a:rPr>
              <a:t>PROXIMAL PHALANGES</a:t>
            </a:r>
          </a:p>
          <a:p>
            <a:pPr marL="800100" lvl="1" indent="-342900">
              <a:buClr>
                <a:schemeClr val="bg1"/>
              </a:buClr>
              <a:buFont typeface="Arial" panose="020B0604020202020204" pitchFamily="34" charset="0"/>
              <a:buChar char="•"/>
            </a:pPr>
            <a:r>
              <a:rPr lang="en-GB" sz="2200" dirty="0">
                <a:solidFill>
                  <a:schemeClr val="bg1"/>
                </a:solidFill>
              </a:rPr>
              <a:t>Four </a:t>
            </a:r>
            <a:r>
              <a:rPr lang="en-GB" sz="2200" b="1" dirty="0">
                <a:solidFill>
                  <a:srgbClr val="A9CFE9"/>
                </a:solidFill>
              </a:rPr>
              <a:t>INTERMEDIATE PHALANGES</a:t>
            </a:r>
          </a:p>
          <a:p>
            <a:pPr marL="800100" lvl="1" indent="-342900">
              <a:buClr>
                <a:schemeClr val="bg1"/>
              </a:buClr>
              <a:buFont typeface="Arial" panose="020B0604020202020204" pitchFamily="34" charset="0"/>
              <a:buChar char="•"/>
            </a:pPr>
            <a:r>
              <a:rPr lang="en-GB" sz="2200" dirty="0">
                <a:solidFill>
                  <a:schemeClr val="bg1"/>
                </a:solidFill>
              </a:rPr>
              <a:t>Five </a:t>
            </a:r>
            <a:r>
              <a:rPr lang="en-GB" sz="2200" b="1" dirty="0">
                <a:solidFill>
                  <a:srgbClr val="F9BDA0"/>
                </a:solidFill>
              </a:rPr>
              <a:t>DISTAL PHALANGES</a:t>
            </a:r>
          </a:p>
          <a:p>
            <a:pPr marL="342900" indent="-342900">
              <a:buClr>
                <a:schemeClr val="bg1"/>
              </a:buClr>
              <a:buFont typeface="Arial" panose="020B0604020202020204" pitchFamily="34" charset="0"/>
              <a:buChar char="•"/>
            </a:pPr>
            <a:r>
              <a:rPr lang="en-GB" sz="2200" dirty="0">
                <a:solidFill>
                  <a:schemeClr val="bg1"/>
                </a:solidFill>
              </a:rPr>
              <a:t>By convention, the digits are named; </a:t>
            </a:r>
          </a:p>
          <a:p>
            <a:pPr marL="800100" lvl="1" indent="-342900">
              <a:buClr>
                <a:schemeClr val="bg1"/>
              </a:buClr>
              <a:buFont typeface="Arial" panose="020B0604020202020204" pitchFamily="34" charset="0"/>
              <a:buChar char="•"/>
            </a:pPr>
            <a:r>
              <a:rPr lang="en-GB" sz="2200" dirty="0">
                <a:solidFill>
                  <a:schemeClr val="bg1"/>
                </a:solidFill>
              </a:rPr>
              <a:t>Thumb (pollicis) (I)</a:t>
            </a:r>
          </a:p>
          <a:p>
            <a:pPr marL="800100" lvl="1" indent="-342900">
              <a:buClr>
                <a:schemeClr val="bg1"/>
              </a:buClr>
              <a:buFont typeface="Arial" panose="020B0604020202020204" pitchFamily="34" charset="0"/>
              <a:buChar char="•"/>
            </a:pPr>
            <a:r>
              <a:rPr lang="en-GB" sz="2200" dirty="0">
                <a:solidFill>
                  <a:schemeClr val="bg1"/>
                </a:solidFill>
              </a:rPr>
              <a:t>Index finger (indicis) (II)</a:t>
            </a:r>
          </a:p>
          <a:p>
            <a:pPr marL="800100" lvl="1" indent="-342900">
              <a:buClr>
                <a:schemeClr val="bg1"/>
              </a:buClr>
              <a:buFont typeface="Arial" panose="020B0604020202020204" pitchFamily="34" charset="0"/>
              <a:buChar char="•"/>
            </a:pPr>
            <a:r>
              <a:rPr lang="en-GB" sz="2200" dirty="0">
                <a:solidFill>
                  <a:schemeClr val="bg1"/>
                </a:solidFill>
              </a:rPr>
              <a:t>Middle finger (III)</a:t>
            </a:r>
          </a:p>
          <a:p>
            <a:pPr marL="800100" lvl="1" indent="-342900">
              <a:buClr>
                <a:schemeClr val="bg1"/>
              </a:buClr>
              <a:buFont typeface="Arial" panose="020B0604020202020204" pitchFamily="34" charset="0"/>
              <a:buChar char="•"/>
            </a:pPr>
            <a:r>
              <a:rPr lang="en-GB" sz="2200" dirty="0">
                <a:solidFill>
                  <a:schemeClr val="bg1"/>
                </a:solidFill>
              </a:rPr>
              <a:t>Ring finger (IV)</a:t>
            </a:r>
          </a:p>
          <a:p>
            <a:pPr marL="800100" lvl="1" indent="-342900">
              <a:buClr>
                <a:schemeClr val="bg1"/>
              </a:buClr>
              <a:buFont typeface="Arial" panose="020B0604020202020204" pitchFamily="34" charset="0"/>
              <a:buChar char="•"/>
            </a:pPr>
            <a:r>
              <a:rPr lang="en-GB" sz="2200" dirty="0">
                <a:solidFill>
                  <a:schemeClr val="bg1"/>
                </a:solidFill>
              </a:rPr>
              <a:t>Little finger (</a:t>
            </a:r>
            <a:r>
              <a:rPr lang="en-GB" sz="2200" dirty="0" err="1">
                <a:solidFill>
                  <a:schemeClr val="bg1"/>
                </a:solidFill>
              </a:rPr>
              <a:t>minimi</a:t>
            </a:r>
            <a:r>
              <a:rPr lang="en-GB" sz="2200" dirty="0">
                <a:solidFill>
                  <a:schemeClr val="bg1"/>
                </a:solidFill>
              </a:rPr>
              <a:t>) (V)</a:t>
            </a:r>
          </a:p>
        </p:txBody>
      </p:sp>
    </p:spTree>
    <p:extLst>
      <p:ext uri="{BB962C8B-B14F-4D97-AF65-F5344CB8AC3E}">
        <p14:creationId xmlns:p14="http://schemas.microsoft.com/office/powerpoint/2010/main" val="35208450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ound Diagonal Corner Rectangle 3"/>
          <p:cNvSpPr/>
          <p:nvPr/>
        </p:nvSpPr>
        <p:spPr>
          <a:xfrm>
            <a:off x="622929" y="402811"/>
            <a:ext cx="2556277"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solidFill>
                  <a:srgbClr val="E1CCEC"/>
                </a:solidFill>
              </a:rPr>
              <a:t>CARPALS</a:t>
            </a:r>
          </a:p>
        </p:txBody>
      </p:sp>
      <p:pic>
        <p:nvPicPr>
          <p:cNvPr id="19" name="Picture 18" descr="COSMOS GRAPHIC WHITE.png"/>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3" name="Round Diagonal Corner Rectangle 2"/>
          <p:cNvSpPr/>
          <p:nvPr/>
        </p:nvSpPr>
        <p:spPr>
          <a:xfrm>
            <a:off x="6276795" y="1435101"/>
            <a:ext cx="5472000" cy="5159767"/>
          </a:xfrm>
          <a:prstGeom prst="round2DiagRect">
            <a:avLst/>
          </a:prstGeom>
          <a:blipFill dpi="0" rotWithShape="1">
            <a:blip r:embed="rId4">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Clr>
                <a:schemeClr val="bg1"/>
              </a:buClr>
              <a:buFont typeface="Arial" panose="020B0604020202020204" pitchFamily="34" charset="0"/>
              <a:buChar char="•"/>
            </a:pPr>
            <a:endParaRPr lang="en-GB" sz="2800" dirty="0">
              <a:solidFill>
                <a:schemeClr val="bg1"/>
              </a:solidFill>
            </a:endParaRPr>
          </a:p>
        </p:txBody>
      </p:sp>
      <p:sp>
        <p:nvSpPr>
          <p:cNvPr id="2" name="Round Diagonal Corner Rectangle 2">
            <a:extLst>
              <a:ext uri="{FF2B5EF4-FFF2-40B4-BE49-F238E27FC236}">
                <a16:creationId xmlns:a16="http://schemas.microsoft.com/office/drawing/2014/main" id="{92AC808F-03F2-59BC-14A3-2DB558A3F96F}"/>
              </a:ext>
            </a:extLst>
          </p:cNvPr>
          <p:cNvSpPr/>
          <p:nvPr/>
        </p:nvSpPr>
        <p:spPr>
          <a:xfrm>
            <a:off x="622929" y="1554922"/>
            <a:ext cx="2556277" cy="5159767"/>
          </a:xfrm>
          <a:prstGeom prst="round2DiagRect">
            <a:avLst/>
          </a:prstGeom>
          <a:no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r>
              <a:rPr lang="en-GB" sz="3600" dirty="0">
                <a:solidFill>
                  <a:srgbClr val="E1CCEC"/>
                </a:solidFill>
              </a:rPr>
              <a:t>S</a:t>
            </a:r>
            <a:r>
              <a:rPr lang="en-GB" sz="2800" dirty="0">
                <a:solidFill>
                  <a:schemeClr val="bg1"/>
                </a:solidFill>
              </a:rPr>
              <a:t>ome</a:t>
            </a:r>
            <a:endParaRPr lang="en-GB" sz="3600" dirty="0">
              <a:solidFill>
                <a:schemeClr val="bg1"/>
              </a:solidFill>
            </a:endParaRPr>
          </a:p>
          <a:p>
            <a:pPr algn="ctr">
              <a:buClr>
                <a:schemeClr val="bg1"/>
              </a:buClr>
            </a:pPr>
            <a:r>
              <a:rPr lang="en-GB" sz="3600" dirty="0">
                <a:solidFill>
                  <a:srgbClr val="E1CCEC"/>
                </a:solidFill>
              </a:rPr>
              <a:t>L</a:t>
            </a:r>
            <a:r>
              <a:rPr lang="en-GB" sz="2800" dirty="0">
                <a:solidFill>
                  <a:schemeClr val="bg1"/>
                </a:solidFill>
              </a:rPr>
              <a:t>overs</a:t>
            </a:r>
            <a:endParaRPr lang="en-GB" sz="4000" dirty="0">
              <a:solidFill>
                <a:schemeClr val="bg1"/>
              </a:solidFill>
            </a:endParaRPr>
          </a:p>
          <a:p>
            <a:pPr algn="ctr">
              <a:buClr>
                <a:schemeClr val="bg1"/>
              </a:buClr>
            </a:pPr>
            <a:r>
              <a:rPr lang="en-GB" sz="3600" dirty="0">
                <a:solidFill>
                  <a:srgbClr val="E1CCEC"/>
                </a:solidFill>
              </a:rPr>
              <a:t>T</a:t>
            </a:r>
            <a:r>
              <a:rPr lang="en-GB" sz="2800" dirty="0">
                <a:solidFill>
                  <a:schemeClr val="bg1"/>
                </a:solidFill>
              </a:rPr>
              <a:t>ry</a:t>
            </a:r>
          </a:p>
          <a:p>
            <a:pPr algn="ctr">
              <a:buClr>
                <a:schemeClr val="bg1"/>
              </a:buClr>
            </a:pPr>
            <a:r>
              <a:rPr lang="en-GB" sz="3600" dirty="0">
                <a:solidFill>
                  <a:srgbClr val="E1CCEC"/>
                </a:solidFill>
              </a:rPr>
              <a:t>P</a:t>
            </a:r>
            <a:r>
              <a:rPr lang="en-GB" sz="2800" dirty="0">
                <a:solidFill>
                  <a:schemeClr val="bg1"/>
                </a:solidFill>
              </a:rPr>
              <a:t>ositions</a:t>
            </a:r>
          </a:p>
          <a:p>
            <a:pPr algn="ctr">
              <a:buClr>
                <a:schemeClr val="bg1"/>
              </a:buClr>
            </a:pPr>
            <a:r>
              <a:rPr lang="en-GB" sz="3600" dirty="0">
                <a:solidFill>
                  <a:srgbClr val="E1CCEC"/>
                </a:solidFill>
              </a:rPr>
              <a:t>T</a:t>
            </a:r>
            <a:r>
              <a:rPr lang="en-GB" sz="2800" dirty="0">
                <a:solidFill>
                  <a:schemeClr val="bg1"/>
                </a:solidFill>
              </a:rPr>
              <a:t>hat</a:t>
            </a:r>
          </a:p>
          <a:p>
            <a:pPr algn="ctr">
              <a:buClr>
                <a:schemeClr val="bg1"/>
              </a:buClr>
            </a:pPr>
            <a:r>
              <a:rPr lang="en-GB" sz="3600" dirty="0">
                <a:solidFill>
                  <a:srgbClr val="E1CCEC"/>
                </a:solidFill>
              </a:rPr>
              <a:t>T</a:t>
            </a:r>
            <a:r>
              <a:rPr lang="en-GB" sz="2800" dirty="0">
                <a:solidFill>
                  <a:schemeClr val="bg1"/>
                </a:solidFill>
              </a:rPr>
              <a:t>hey</a:t>
            </a:r>
          </a:p>
          <a:p>
            <a:pPr algn="ctr">
              <a:buClr>
                <a:schemeClr val="bg1"/>
              </a:buClr>
            </a:pPr>
            <a:r>
              <a:rPr lang="en-GB" sz="3600" dirty="0">
                <a:solidFill>
                  <a:srgbClr val="E1CCEC"/>
                </a:solidFill>
              </a:rPr>
              <a:t>C</a:t>
            </a:r>
            <a:r>
              <a:rPr lang="en-GB" sz="2800" dirty="0">
                <a:solidFill>
                  <a:schemeClr val="bg1"/>
                </a:solidFill>
              </a:rPr>
              <a:t>annot</a:t>
            </a:r>
          </a:p>
          <a:p>
            <a:pPr algn="ctr">
              <a:buClr>
                <a:schemeClr val="bg1"/>
              </a:buClr>
            </a:pPr>
            <a:r>
              <a:rPr lang="en-GB" sz="3600" dirty="0">
                <a:solidFill>
                  <a:srgbClr val="E1CCEC"/>
                </a:solidFill>
              </a:rPr>
              <a:t>H</a:t>
            </a:r>
            <a:r>
              <a:rPr lang="en-GB" sz="2800" dirty="0">
                <a:solidFill>
                  <a:schemeClr val="bg1"/>
                </a:solidFill>
              </a:rPr>
              <a:t>andle</a:t>
            </a:r>
            <a:endParaRPr lang="en-GB" sz="3600" dirty="0">
              <a:solidFill>
                <a:schemeClr val="bg1"/>
              </a:solidFill>
            </a:endParaRPr>
          </a:p>
        </p:txBody>
      </p:sp>
      <p:sp>
        <p:nvSpPr>
          <p:cNvPr id="6" name="Round Diagonal Corner Rectangle 2">
            <a:extLst>
              <a:ext uri="{FF2B5EF4-FFF2-40B4-BE49-F238E27FC236}">
                <a16:creationId xmlns:a16="http://schemas.microsoft.com/office/drawing/2014/main" id="{D33EF785-7987-570E-1C45-F60FD8BD1152}"/>
              </a:ext>
            </a:extLst>
          </p:cNvPr>
          <p:cNvSpPr/>
          <p:nvPr/>
        </p:nvSpPr>
        <p:spPr>
          <a:xfrm>
            <a:off x="3358929" y="1554921"/>
            <a:ext cx="2556277" cy="5159767"/>
          </a:xfrm>
          <a:prstGeom prst="round2DiagRect">
            <a:avLst/>
          </a:prstGeom>
          <a:no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r>
              <a:rPr lang="en-GB" sz="3600" dirty="0">
                <a:solidFill>
                  <a:srgbClr val="E1CCEC"/>
                </a:solidFill>
              </a:rPr>
              <a:t>S</a:t>
            </a:r>
            <a:r>
              <a:rPr lang="en-GB" sz="2800" dirty="0">
                <a:solidFill>
                  <a:schemeClr val="bg1"/>
                </a:solidFill>
              </a:rPr>
              <a:t>caphoid</a:t>
            </a:r>
            <a:endParaRPr lang="en-GB" sz="3600" dirty="0">
              <a:solidFill>
                <a:schemeClr val="bg1"/>
              </a:solidFill>
            </a:endParaRPr>
          </a:p>
          <a:p>
            <a:pPr algn="ctr">
              <a:buClr>
                <a:schemeClr val="bg1"/>
              </a:buClr>
            </a:pPr>
            <a:r>
              <a:rPr lang="en-GB" sz="3600" dirty="0">
                <a:solidFill>
                  <a:srgbClr val="E1CCEC"/>
                </a:solidFill>
              </a:rPr>
              <a:t>L</a:t>
            </a:r>
            <a:r>
              <a:rPr lang="en-GB" sz="2800" dirty="0">
                <a:solidFill>
                  <a:schemeClr val="bg1"/>
                </a:solidFill>
              </a:rPr>
              <a:t>unate</a:t>
            </a:r>
            <a:endParaRPr lang="en-GB" sz="4000" dirty="0">
              <a:solidFill>
                <a:schemeClr val="bg1"/>
              </a:solidFill>
            </a:endParaRPr>
          </a:p>
          <a:p>
            <a:pPr algn="ctr">
              <a:buClr>
                <a:schemeClr val="bg1"/>
              </a:buClr>
            </a:pPr>
            <a:r>
              <a:rPr lang="en-GB" sz="3600" dirty="0">
                <a:solidFill>
                  <a:srgbClr val="E1CCEC"/>
                </a:solidFill>
              </a:rPr>
              <a:t>T</a:t>
            </a:r>
            <a:r>
              <a:rPr lang="en-GB" sz="2800" dirty="0">
                <a:solidFill>
                  <a:schemeClr val="bg1"/>
                </a:solidFill>
              </a:rPr>
              <a:t>riquetrum</a:t>
            </a:r>
          </a:p>
          <a:p>
            <a:pPr algn="ctr">
              <a:buClr>
                <a:schemeClr val="bg1"/>
              </a:buClr>
            </a:pPr>
            <a:r>
              <a:rPr lang="en-GB" sz="3600" dirty="0">
                <a:solidFill>
                  <a:srgbClr val="E1CCEC"/>
                </a:solidFill>
              </a:rPr>
              <a:t>P</a:t>
            </a:r>
            <a:r>
              <a:rPr lang="en-GB" sz="2800" dirty="0">
                <a:solidFill>
                  <a:schemeClr val="bg1"/>
                </a:solidFill>
              </a:rPr>
              <a:t>isiform</a:t>
            </a:r>
          </a:p>
          <a:p>
            <a:pPr algn="ctr">
              <a:buClr>
                <a:schemeClr val="bg1"/>
              </a:buClr>
            </a:pPr>
            <a:r>
              <a:rPr lang="en-GB" sz="3600" dirty="0">
                <a:solidFill>
                  <a:srgbClr val="E1CCEC"/>
                </a:solidFill>
              </a:rPr>
              <a:t>T</a:t>
            </a:r>
            <a:r>
              <a:rPr lang="en-GB" sz="2800" dirty="0">
                <a:solidFill>
                  <a:schemeClr val="bg1"/>
                </a:solidFill>
              </a:rPr>
              <a:t>rapezium</a:t>
            </a:r>
          </a:p>
          <a:p>
            <a:pPr algn="ctr">
              <a:buClr>
                <a:schemeClr val="bg1"/>
              </a:buClr>
            </a:pPr>
            <a:r>
              <a:rPr lang="en-GB" sz="3600" dirty="0">
                <a:solidFill>
                  <a:srgbClr val="E1CCEC"/>
                </a:solidFill>
              </a:rPr>
              <a:t>T</a:t>
            </a:r>
            <a:r>
              <a:rPr lang="en-GB" sz="2800" dirty="0">
                <a:solidFill>
                  <a:schemeClr val="bg1"/>
                </a:solidFill>
              </a:rPr>
              <a:t>rapezoid</a:t>
            </a:r>
          </a:p>
          <a:p>
            <a:pPr algn="ctr">
              <a:buClr>
                <a:schemeClr val="bg1"/>
              </a:buClr>
            </a:pPr>
            <a:r>
              <a:rPr lang="en-GB" sz="3600" dirty="0">
                <a:solidFill>
                  <a:srgbClr val="E1CCEC"/>
                </a:solidFill>
              </a:rPr>
              <a:t>C</a:t>
            </a:r>
            <a:r>
              <a:rPr lang="en-GB" sz="2800" dirty="0">
                <a:solidFill>
                  <a:schemeClr val="bg1"/>
                </a:solidFill>
              </a:rPr>
              <a:t>apitate</a:t>
            </a:r>
          </a:p>
          <a:p>
            <a:pPr algn="ctr">
              <a:buClr>
                <a:schemeClr val="bg1"/>
              </a:buClr>
            </a:pPr>
            <a:r>
              <a:rPr lang="en-GB" sz="3600" dirty="0">
                <a:solidFill>
                  <a:srgbClr val="E1CCEC"/>
                </a:solidFill>
              </a:rPr>
              <a:t>H</a:t>
            </a:r>
            <a:r>
              <a:rPr lang="en-GB" sz="2800" dirty="0">
                <a:solidFill>
                  <a:schemeClr val="bg1"/>
                </a:solidFill>
              </a:rPr>
              <a:t>amate</a:t>
            </a:r>
            <a:endParaRPr lang="en-GB" sz="3600" dirty="0">
              <a:solidFill>
                <a:schemeClr val="bg1"/>
              </a:solidFill>
            </a:endParaRPr>
          </a:p>
        </p:txBody>
      </p:sp>
    </p:spTree>
    <p:extLst>
      <p:ext uri="{BB962C8B-B14F-4D97-AF65-F5344CB8AC3E}">
        <p14:creationId xmlns:p14="http://schemas.microsoft.com/office/powerpoint/2010/main" val="2437155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ound Diagonal Corner Rectangle 3"/>
          <p:cNvSpPr/>
          <p:nvPr/>
        </p:nvSpPr>
        <p:spPr>
          <a:xfrm>
            <a:off x="622929" y="402811"/>
            <a:ext cx="3621693"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solidFill>
                  <a:srgbClr val="F4D58D"/>
                </a:solidFill>
              </a:rPr>
              <a:t>METACARPALS</a:t>
            </a:r>
          </a:p>
        </p:txBody>
      </p:sp>
      <p:pic>
        <p:nvPicPr>
          <p:cNvPr id="19" name="Picture 18" descr="COSMOS GRAPHIC WHITE.png"/>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3" name="Round Diagonal Corner Rectangle 2"/>
          <p:cNvSpPr/>
          <p:nvPr/>
        </p:nvSpPr>
        <p:spPr>
          <a:xfrm>
            <a:off x="622930" y="1435100"/>
            <a:ext cx="5473070" cy="5159767"/>
          </a:xfrm>
          <a:prstGeom prst="round2DiagRect">
            <a:avLst/>
          </a:prstGeom>
          <a:no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Clr>
                <a:schemeClr val="bg1"/>
              </a:buClr>
              <a:buFont typeface="Arial" panose="020B0604020202020204" pitchFamily="34" charset="0"/>
              <a:buChar char="•"/>
            </a:pPr>
            <a:r>
              <a:rPr lang="en-GB" sz="2400" dirty="0">
                <a:solidFill>
                  <a:schemeClr val="bg1"/>
                </a:solidFill>
              </a:rPr>
              <a:t>Long bones that have a:</a:t>
            </a:r>
          </a:p>
          <a:p>
            <a:pPr marL="800100" lvl="1" indent="-342900">
              <a:buClr>
                <a:schemeClr val="bg1"/>
              </a:buClr>
              <a:buFont typeface="Arial" panose="020B0604020202020204" pitchFamily="34" charset="0"/>
              <a:buChar char="•"/>
            </a:pPr>
            <a:r>
              <a:rPr lang="en-GB" sz="2400" dirty="0">
                <a:solidFill>
                  <a:schemeClr val="bg1"/>
                </a:solidFill>
              </a:rPr>
              <a:t>Base (</a:t>
            </a:r>
            <a:r>
              <a:rPr lang="en-GB" sz="2400" dirty="0">
                <a:solidFill>
                  <a:srgbClr val="FF0000"/>
                </a:solidFill>
              </a:rPr>
              <a:t>A</a:t>
            </a:r>
            <a:r>
              <a:rPr lang="en-GB" sz="2400" dirty="0">
                <a:solidFill>
                  <a:schemeClr val="bg1"/>
                </a:solidFill>
              </a:rPr>
              <a:t>)</a:t>
            </a:r>
          </a:p>
          <a:p>
            <a:pPr marL="800100" lvl="1" indent="-342900">
              <a:buClr>
                <a:schemeClr val="bg1"/>
              </a:buClr>
              <a:buFont typeface="Arial" panose="020B0604020202020204" pitchFamily="34" charset="0"/>
              <a:buChar char="•"/>
            </a:pPr>
            <a:r>
              <a:rPr lang="en-GB" sz="2400" dirty="0">
                <a:solidFill>
                  <a:schemeClr val="bg1"/>
                </a:solidFill>
              </a:rPr>
              <a:t>Body/shaft (</a:t>
            </a:r>
            <a:r>
              <a:rPr lang="en-GB" sz="2400" dirty="0">
                <a:solidFill>
                  <a:srgbClr val="FF0000"/>
                </a:solidFill>
              </a:rPr>
              <a:t>B</a:t>
            </a:r>
            <a:r>
              <a:rPr lang="en-GB" sz="2400" dirty="0">
                <a:solidFill>
                  <a:schemeClr val="bg1"/>
                </a:solidFill>
              </a:rPr>
              <a:t>)</a:t>
            </a:r>
          </a:p>
          <a:p>
            <a:pPr marL="800100" lvl="1" indent="-342900">
              <a:buClr>
                <a:schemeClr val="bg1"/>
              </a:buClr>
              <a:buFont typeface="Arial" panose="020B0604020202020204" pitchFamily="34" charset="0"/>
              <a:buChar char="•"/>
            </a:pPr>
            <a:r>
              <a:rPr lang="en-GB" sz="2400" dirty="0">
                <a:solidFill>
                  <a:schemeClr val="bg1"/>
                </a:solidFill>
              </a:rPr>
              <a:t>Head (</a:t>
            </a:r>
            <a:r>
              <a:rPr lang="en-GB" sz="2400" dirty="0">
                <a:solidFill>
                  <a:srgbClr val="FF0000"/>
                </a:solidFill>
              </a:rPr>
              <a:t>C</a:t>
            </a:r>
            <a:r>
              <a:rPr lang="en-GB" sz="2400" dirty="0">
                <a:solidFill>
                  <a:schemeClr val="bg1"/>
                </a:solidFill>
              </a:rPr>
              <a:t>)</a:t>
            </a:r>
          </a:p>
          <a:p>
            <a:pPr marL="342900" indent="-342900">
              <a:buClr>
                <a:schemeClr val="bg1"/>
              </a:buClr>
              <a:buFont typeface="Arial" panose="020B0604020202020204" pitchFamily="34" charset="0"/>
              <a:buChar char="•"/>
            </a:pPr>
            <a:r>
              <a:rPr lang="en-GB" sz="2400" dirty="0">
                <a:solidFill>
                  <a:schemeClr val="bg1"/>
                </a:solidFill>
              </a:rPr>
              <a:t>The base of each </a:t>
            </a:r>
            <a:r>
              <a:rPr lang="en-GB" sz="2400" dirty="0">
                <a:solidFill>
                  <a:srgbClr val="F4D58D"/>
                </a:solidFill>
              </a:rPr>
              <a:t>metacarpal</a:t>
            </a:r>
            <a:r>
              <a:rPr lang="en-GB" sz="2400" dirty="0">
                <a:solidFill>
                  <a:schemeClr val="bg1"/>
                </a:solidFill>
              </a:rPr>
              <a:t> has its own unique shape so it can articulate with the bone(s) in the distal row of </a:t>
            </a:r>
            <a:r>
              <a:rPr lang="en-GB" sz="2400" dirty="0">
                <a:solidFill>
                  <a:srgbClr val="E1CCEC"/>
                </a:solidFill>
              </a:rPr>
              <a:t>carpals</a:t>
            </a:r>
          </a:p>
          <a:p>
            <a:pPr marL="342900" indent="-342900">
              <a:buClr>
                <a:schemeClr val="bg1"/>
              </a:buClr>
              <a:buFont typeface="Arial" panose="020B0604020202020204" pitchFamily="34" charset="0"/>
              <a:buChar char="•"/>
            </a:pPr>
            <a:r>
              <a:rPr lang="en-GB" sz="2400" dirty="0">
                <a:solidFill>
                  <a:schemeClr val="bg1"/>
                </a:solidFill>
              </a:rPr>
              <a:t>The heads are smooth and outwardly rounded (convex) so it can articulate with the </a:t>
            </a:r>
            <a:r>
              <a:rPr lang="en-GB" sz="2400" dirty="0">
                <a:solidFill>
                  <a:srgbClr val="D4EAB8"/>
                </a:solidFill>
              </a:rPr>
              <a:t>proximal phalanx</a:t>
            </a:r>
            <a:r>
              <a:rPr lang="en-GB" sz="2400" dirty="0">
                <a:solidFill>
                  <a:schemeClr val="bg1"/>
                </a:solidFill>
              </a:rPr>
              <a:t> (concave)</a:t>
            </a:r>
          </a:p>
        </p:txBody>
      </p:sp>
      <p:sp>
        <p:nvSpPr>
          <p:cNvPr id="2" name="Round Diagonal Corner Rectangle 2">
            <a:extLst>
              <a:ext uri="{FF2B5EF4-FFF2-40B4-BE49-F238E27FC236}">
                <a16:creationId xmlns:a16="http://schemas.microsoft.com/office/drawing/2014/main" id="{01C314B9-6E83-BACF-7798-697C0892C1E3}"/>
              </a:ext>
            </a:extLst>
          </p:cNvPr>
          <p:cNvSpPr/>
          <p:nvPr/>
        </p:nvSpPr>
        <p:spPr>
          <a:xfrm>
            <a:off x="6577819" y="1327856"/>
            <a:ext cx="5473070" cy="5159767"/>
          </a:xfrm>
          <a:prstGeom prst="round2DiagRect">
            <a:avLst/>
          </a:prstGeom>
          <a:blipFill dpi="0" rotWithShape="1">
            <a:blip r:embed="rId4">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Clr>
                <a:schemeClr val="bg1"/>
              </a:buClr>
              <a:buFont typeface="Arial" panose="020B0604020202020204" pitchFamily="34" charset="0"/>
              <a:buChar char="•"/>
            </a:pPr>
            <a:endParaRPr lang="en-GB" sz="2800" dirty="0">
              <a:solidFill>
                <a:schemeClr val="bg1"/>
              </a:solidFill>
            </a:endParaRPr>
          </a:p>
        </p:txBody>
      </p:sp>
      <p:sp>
        <p:nvSpPr>
          <p:cNvPr id="5" name="TextBox 4">
            <a:extLst>
              <a:ext uri="{FF2B5EF4-FFF2-40B4-BE49-F238E27FC236}">
                <a16:creationId xmlns:a16="http://schemas.microsoft.com/office/drawing/2014/main" id="{EEC5190E-F335-AC3A-8C1A-19B6724F4D6C}"/>
              </a:ext>
            </a:extLst>
          </p:cNvPr>
          <p:cNvSpPr txBox="1"/>
          <p:nvPr/>
        </p:nvSpPr>
        <p:spPr>
          <a:xfrm>
            <a:off x="9832219" y="4721175"/>
            <a:ext cx="225778" cy="369332"/>
          </a:xfrm>
          <a:prstGeom prst="rect">
            <a:avLst/>
          </a:prstGeom>
          <a:noFill/>
        </p:spPr>
        <p:txBody>
          <a:bodyPr wrap="square" rtlCol="0">
            <a:spAutoFit/>
          </a:bodyPr>
          <a:lstStyle/>
          <a:p>
            <a:r>
              <a:rPr lang="en-GB" b="1" dirty="0">
                <a:solidFill>
                  <a:srgbClr val="FF0000"/>
                </a:solidFill>
              </a:rPr>
              <a:t>A</a:t>
            </a:r>
          </a:p>
        </p:txBody>
      </p:sp>
      <p:sp>
        <p:nvSpPr>
          <p:cNvPr id="8" name="TextBox 7">
            <a:extLst>
              <a:ext uri="{FF2B5EF4-FFF2-40B4-BE49-F238E27FC236}">
                <a16:creationId xmlns:a16="http://schemas.microsoft.com/office/drawing/2014/main" id="{4AD44E6F-0F70-F059-A939-6887DDACEBC5}"/>
              </a:ext>
            </a:extLst>
          </p:cNvPr>
          <p:cNvSpPr txBox="1"/>
          <p:nvPr/>
        </p:nvSpPr>
        <p:spPr>
          <a:xfrm>
            <a:off x="9810387" y="4273377"/>
            <a:ext cx="322378" cy="369332"/>
          </a:xfrm>
          <a:prstGeom prst="rect">
            <a:avLst/>
          </a:prstGeom>
          <a:noFill/>
        </p:spPr>
        <p:txBody>
          <a:bodyPr wrap="square" rtlCol="0">
            <a:spAutoFit/>
          </a:bodyPr>
          <a:lstStyle/>
          <a:p>
            <a:r>
              <a:rPr lang="en-GB" b="1" dirty="0">
                <a:solidFill>
                  <a:srgbClr val="FF0000"/>
                </a:solidFill>
              </a:rPr>
              <a:t>B</a:t>
            </a:r>
          </a:p>
        </p:txBody>
      </p:sp>
      <p:sp>
        <p:nvSpPr>
          <p:cNvPr id="9" name="TextBox 8">
            <a:extLst>
              <a:ext uri="{FF2B5EF4-FFF2-40B4-BE49-F238E27FC236}">
                <a16:creationId xmlns:a16="http://schemas.microsoft.com/office/drawing/2014/main" id="{EA481276-D202-2C28-D32E-14765D6969DE}"/>
              </a:ext>
            </a:extLst>
          </p:cNvPr>
          <p:cNvSpPr txBox="1"/>
          <p:nvPr/>
        </p:nvSpPr>
        <p:spPr>
          <a:xfrm>
            <a:off x="9783919" y="3687915"/>
            <a:ext cx="322378" cy="369332"/>
          </a:xfrm>
          <a:prstGeom prst="rect">
            <a:avLst/>
          </a:prstGeom>
          <a:noFill/>
        </p:spPr>
        <p:txBody>
          <a:bodyPr wrap="square" rtlCol="0">
            <a:spAutoFit/>
          </a:bodyPr>
          <a:lstStyle/>
          <a:p>
            <a:r>
              <a:rPr lang="en-GB" b="1" dirty="0">
                <a:solidFill>
                  <a:srgbClr val="FF0000"/>
                </a:solidFill>
              </a:rPr>
              <a:t>C</a:t>
            </a:r>
          </a:p>
        </p:txBody>
      </p:sp>
    </p:spTree>
    <p:extLst>
      <p:ext uri="{BB962C8B-B14F-4D97-AF65-F5344CB8AC3E}">
        <p14:creationId xmlns:p14="http://schemas.microsoft.com/office/powerpoint/2010/main" val="2500083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ound Diagonal Corner Rectangle 3"/>
          <p:cNvSpPr/>
          <p:nvPr/>
        </p:nvSpPr>
        <p:spPr>
          <a:xfrm>
            <a:off x="622929" y="402811"/>
            <a:ext cx="3621693"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solidFill>
                  <a:srgbClr val="D4EAB8"/>
                </a:solidFill>
              </a:rPr>
              <a:t>PHA</a:t>
            </a:r>
            <a:r>
              <a:rPr lang="en-GB" sz="4000" dirty="0">
                <a:solidFill>
                  <a:srgbClr val="A6CEE8"/>
                </a:solidFill>
              </a:rPr>
              <a:t>LAN</a:t>
            </a:r>
            <a:r>
              <a:rPr lang="en-GB" sz="4000" dirty="0">
                <a:solidFill>
                  <a:srgbClr val="FBC3A9"/>
                </a:solidFill>
              </a:rPr>
              <a:t>GES</a:t>
            </a:r>
          </a:p>
        </p:txBody>
      </p:sp>
      <p:pic>
        <p:nvPicPr>
          <p:cNvPr id="19" name="Picture 18" descr="COSMOS GRAPHIC WHITE.png"/>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3" name="Round Diagonal Corner Rectangle 2"/>
          <p:cNvSpPr/>
          <p:nvPr/>
        </p:nvSpPr>
        <p:spPr>
          <a:xfrm>
            <a:off x="622930" y="1435100"/>
            <a:ext cx="5473070" cy="5159767"/>
          </a:xfrm>
          <a:prstGeom prst="round2DiagRect">
            <a:avLst/>
          </a:prstGeom>
          <a:no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Clr>
                <a:schemeClr val="bg1"/>
              </a:buClr>
              <a:buFont typeface="Arial" panose="020B0604020202020204" pitchFamily="34" charset="0"/>
              <a:buChar char="•"/>
            </a:pPr>
            <a:r>
              <a:rPr lang="en-GB" sz="2800" dirty="0">
                <a:solidFill>
                  <a:schemeClr val="bg1"/>
                </a:solidFill>
              </a:rPr>
              <a:t>Long bones that have a:</a:t>
            </a:r>
          </a:p>
          <a:p>
            <a:pPr marL="800100" lvl="1" indent="-342900">
              <a:buClr>
                <a:schemeClr val="bg1"/>
              </a:buClr>
              <a:buFont typeface="Arial" panose="020B0604020202020204" pitchFamily="34" charset="0"/>
              <a:buChar char="•"/>
            </a:pPr>
            <a:r>
              <a:rPr lang="en-GB" sz="2800" dirty="0">
                <a:solidFill>
                  <a:schemeClr val="bg1"/>
                </a:solidFill>
              </a:rPr>
              <a:t>Larger proximal base (</a:t>
            </a:r>
            <a:r>
              <a:rPr lang="en-GB" sz="2800" dirty="0">
                <a:solidFill>
                  <a:srgbClr val="FF0000"/>
                </a:solidFill>
              </a:rPr>
              <a:t>X</a:t>
            </a:r>
            <a:r>
              <a:rPr lang="en-GB" sz="2800" dirty="0">
                <a:solidFill>
                  <a:schemeClr val="bg1"/>
                </a:solidFill>
              </a:rPr>
              <a:t>)</a:t>
            </a:r>
          </a:p>
          <a:p>
            <a:pPr marL="800100" lvl="1" indent="-342900">
              <a:buClr>
                <a:schemeClr val="bg1"/>
              </a:buClr>
              <a:buFont typeface="Arial" panose="020B0604020202020204" pitchFamily="34" charset="0"/>
              <a:buChar char="•"/>
            </a:pPr>
            <a:r>
              <a:rPr lang="en-GB" sz="2800" dirty="0">
                <a:solidFill>
                  <a:schemeClr val="bg1"/>
                </a:solidFill>
              </a:rPr>
              <a:t>Body/shaft (</a:t>
            </a:r>
            <a:r>
              <a:rPr lang="en-GB" sz="2800" dirty="0">
                <a:solidFill>
                  <a:srgbClr val="FF0000"/>
                </a:solidFill>
              </a:rPr>
              <a:t>Y</a:t>
            </a:r>
            <a:r>
              <a:rPr lang="en-GB" sz="2800" dirty="0">
                <a:solidFill>
                  <a:schemeClr val="bg1"/>
                </a:solidFill>
              </a:rPr>
              <a:t>)</a:t>
            </a:r>
          </a:p>
          <a:p>
            <a:pPr marL="800100" lvl="1" indent="-342900">
              <a:buClr>
                <a:schemeClr val="bg1"/>
              </a:buClr>
              <a:buFont typeface="Arial" panose="020B0604020202020204" pitchFamily="34" charset="0"/>
              <a:buChar char="•"/>
            </a:pPr>
            <a:r>
              <a:rPr lang="en-GB" sz="2800" dirty="0">
                <a:solidFill>
                  <a:schemeClr val="bg1"/>
                </a:solidFill>
              </a:rPr>
              <a:t>Smaller distal head (</a:t>
            </a:r>
            <a:r>
              <a:rPr lang="en-GB" sz="2800" dirty="0">
                <a:solidFill>
                  <a:srgbClr val="FF0000"/>
                </a:solidFill>
              </a:rPr>
              <a:t>Z</a:t>
            </a:r>
            <a:r>
              <a:rPr lang="en-GB" sz="2800" dirty="0">
                <a:solidFill>
                  <a:schemeClr val="bg1"/>
                </a:solidFill>
              </a:rPr>
              <a:t>)</a:t>
            </a:r>
          </a:p>
          <a:p>
            <a:pPr marL="342900" indent="-342900">
              <a:buClr>
                <a:schemeClr val="bg1"/>
              </a:buClr>
              <a:buFont typeface="Arial" panose="020B0604020202020204" pitchFamily="34" charset="0"/>
              <a:buChar char="•"/>
            </a:pPr>
            <a:r>
              <a:rPr lang="en-GB" sz="2800" dirty="0">
                <a:solidFill>
                  <a:schemeClr val="bg1"/>
                </a:solidFill>
              </a:rPr>
              <a:t>Proximal base is concave</a:t>
            </a:r>
          </a:p>
          <a:p>
            <a:pPr marL="342900" indent="-342900">
              <a:buClr>
                <a:schemeClr val="bg1"/>
              </a:buClr>
              <a:buFont typeface="Arial" panose="020B0604020202020204" pitchFamily="34" charset="0"/>
              <a:buChar char="•"/>
            </a:pPr>
            <a:r>
              <a:rPr lang="en-GB" sz="2800" dirty="0">
                <a:solidFill>
                  <a:schemeClr val="bg1"/>
                </a:solidFill>
              </a:rPr>
              <a:t>Head is convex</a:t>
            </a:r>
          </a:p>
        </p:txBody>
      </p:sp>
      <p:sp>
        <p:nvSpPr>
          <p:cNvPr id="2" name="Round Diagonal Corner Rectangle 2">
            <a:extLst>
              <a:ext uri="{FF2B5EF4-FFF2-40B4-BE49-F238E27FC236}">
                <a16:creationId xmlns:a16="http://schemas.microsoft.com/office/drawing/2014/main" id="{01C314B9-6E83-BACF-7798-697C0892C1E3}"/>
              </a:ext>
            </a:extLst>
          </p:cNvPr>
          <p:cNvSpPr/>
          <p:nvPr/>
        </p:nvSpPr>
        <p:spPr>
          <a:xfrm>
            <a:off x="6577819" y="1327856"/>
            <a:ext cx="5473070" cy="5159767"/>
          </a:xfrm>
          <a:prstGeom prst="round2DiagRect">
            <a:avLst/>
          </a:prstGeom>
          <a:blipFill dpi="0" rotWithShape="1">
            <a:blip r:embed="rId4">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Clr>
                <a:schemeClr val="bg1"/>
              </a:buClr>
              <a:buFont typeface="Arial" panose="020B0604020202020204" pitchFamily="34" charset="0"/>
              <a:buChar char="•"/>
            </a:pPr>
            <a:endParaRPr lang="en-GB" sz="2800" dirty="0">
              <a:solidFill>
                <a:schemeClr val="bg1"/>
              </a:solidFill>
            </a:endParaRPr>
          </a:p>
        </p:txBody>
      </p:sp>
      <p:sp>
        <p:nvSpPr>
          <p:cNvPr id="5" name="TextBox 4">
            <a:extLst>
              <a:ext uri="{FF2B5EF4-FFF2-40B4-BE49-F238E27FC236}">
                <a16:creationId xmlns:a16="http://schemas.microsoft.com/office/drawing/2014/main" id="{7C15F4F6-0A6C-E768-D00E-89A2D66311C6}"/>
              </a:ext>
            </a:extLst>
          </p:cNvPr>
          <p:cNvSpPr txBox="1"/>
          <p:nvPr/>
        </p:nvSpPr>
        <p:spPr>
          <a:xfrm>
            <a:off x="9783919" y="3409130"/>
            <a:ext cx="225778" cy="369332"/>
          </a:xfrm>
          <a:prstGeom prst="rect">
            <a:avLst/>
          </a:prstGeom>
          <a:noFill/>
        </p:spPr>
        <p:txBody>
          <a:bodyPr wrap="square" rtlCol="0">
            <a:spAutoFit/>
          </a:bodyPr>
          <a:lstStyle/>
          <a:p>
            <a:r>
              <a:rPr lang="en-GB" b="1" dirty="0">
                <a:solidFill>
                  <a:srgbClr val="FF0000"/>
                </a:solidFill>
              </a:rPr>
              <a:t>X</a:t>
            </a:r>
          </a:p>
        </p:txBody>
      </p:sp>
      <p:sp>
        <p:nvSpPr>
          <p:cNvPr id="6" name="TextBox 5">
            <a:extLst>
              <a:ext uri="{FF2B5EF4-FFF2-40B4-BE49-F238E27FC236}">
                <a16:creationId xmlns:a16="http://schemas.microsoft.com/office/drawing/2014/main" id="{8ACB9909-D88B-0E8A-AF2F-8B211183A4AB}"/>
              </a:ext>
            </a:extLst>
          </p:cNvPr>
          <p:cNvSpPr txBox="1"/>
          <p:nvPr/>
        </p:nvSpPr>
        <p:spPr>
          <a:xfrm>
            <a:off x="9783919" y="3108459"/>
            <a:ext cx="322378" cy="369332"/>
          </a:xfrm>
          <a:prstGeom prst="rect">
            <a:avLst/>
          </a:prstGeom>
          <a:noFill/>
        </p:spPr>
        <p:txBody>
          <a:bodyPr wrap="square" rtlCol="0">
            <a:spAutoFit/>
          </a:bodyPr>
          <a:lstStyle/>
          <a:p>
            <a:r>
              <a:rPr lang="en-GB" b="1" dirty="0">
                <a:solidFill>
                  <a:srgbClr val="FF0000"/>
                </a:solidFill>
              </a:rPr>
              <a:t>Y</a:t>
            </a:r>
          </a:p>
        </p:txBody>
      </p:sp>
      <p:sp>
        <p:nvSpPr>
          <p:cNvPr id="8" name="TextBox 7">
            <a:extLst>
              <a:ext uri="{FF2B5EF4-FFF2-40B4-BE49-F238E27FC236}">
                <a16:creationId xmlns:a16="http://schemas.microsoft.com/office/drawing/2014/main" id="{10C4CB55-F441-C2A0-B959-5B61D36E26CA}"/>
              </a:ext>
            </a:extLst>
          </p:cNvPr>
          <p:cNvSpPr txBox="1"/>
          <p:nvPr/>
        </p:nvSpPr>
        <p:spPr>
          <a:xfrm>
            <a:off x="9783919" y="2704797"/>
            <a:ext cx="322378" cy="369332"/>
          </a:xfrm>
          <a:prstGeom prst="rect">
            <a:avLst/>
          </a:prstGeom>
          <a:noFill/>
        </p:spPr>
        <p:txBody>
          <a:bodyPr wrap="square" rtlCol="0">
            <a:spAutoFit/>
          </a:bodyPr>
          <a:lstStyle/>
          <a:p>
            <a:r>
              <a:rPr lang="en-GB" b="1" dirty="0">
                <a:solidFill>
                  <a:srgbClr val="FF0000"/>
                </a:solidFill>
              </a:rPr>
              <a:t>Z</a:t>
            </a:r>
          </a:p>
        </p:txBody>
      </p:sp>
    </p:spTree>
    <p:extLst>
      <p:ext uri="{BB962C8B-B14F-4D97-AF65-F5344CB8AC3E}">
        <p14:creationId xmlns:p14="http://schemas.microsoft.com/office/powerpoint/2010/main" val="37021922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ound Diagonal Corner Rectangle 3"/>
          <p:cNvSpPr/>
          <p:nvPr/>
        </p:nvSpPr>
        <p:spPr>
          <a:xfrm>
            <a:off x="622929" y="402811"/>
            <a:ext cx="4761871"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BONES AND </a:t>
            </a:r>
            <a:r>
              <a:rPr lang="en-GB" sz="4000" dirty="0">
                <a:solidFill>
                  <a:schemeClr val="bg1"/>
                </a:solidFill>
              </a:rPr>
              <a:t>JOINTS</a:t>
            </a:r>
          </a:p>
        </p:txBody>
      </p:sp>
      <p:pic>
        <p:nvPicPr>
          <p:cNvPr id="19" name="Picture 18" descr="COSMOS GRAPHIC WHITE.png"/>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3" name="Round Diagonal Corner Rectangle 2"/>
          <p:cNvSpPr/>
          <p:nvPr/>
        </p:nvSpPr>
        <p:spPr>
          <a:xfrm>
            <a:off x="622930" y="1435100"/>
            <a:ext cx="10085710" cy="5159767"/>
          </a:xfrm>
          <a:prstGeom prst="round2DiagRect">
            <a:avLst/>
          </a:prstGeom>
          <a:blipFill dpi="0" rotWithShape="1">
            <a:blip r:embed="rId4">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Clr>
                <a:schemeClr val="bg1"/>
              </a:buClr>
              <a:buFont typeface="Arial" panose="020B0604020202020204" pitchFamily="34" charset="0"/>
              <a:buChar char="•"/>
            </a:pPr>
            <a:endParaRPr lang="en-GB" sz="2800" dirty="0">
              <a:solidFill>
                <a:schemeClr val="bg1"/>
              </a:solidFill>
            </a:endParaRPr>
          </a:p>
        </p:txBody>
      </p:sp>
      <p:sp>
        <p:nvSpPr>
          <p:cNvPr id="2" name="Rectangle 1">
            <a:extLst>
              <a:ext uri="{FF2B5EF4-FFF2-40B4-BE49-F238E27FC236}">
                <a16:creationId xmlns:a16="http://schemas.microsoft.com/office/drawing/2014/main" id="{9980499F-E9E7-3A3B-BC57-B3A5515107D3}"/>
              </a:ext>
            </a:extLst>
          </p:cNvPr>
          <p:cNvSpPr/>
          <p:nvPr/>
        </p:nvSpPr>
        <p:spPr>
          <a:xfrm>
            <a:off x="8134320" y="5663416"/>
            <a:ext cx="1440160" cy="144016"/>
          </a:xfrm>
          <a:prstGeom prst="rect">
            <a:avLst/>
          </a:prstGeom>
          <a:solidFill>
            <a:srgbClr val="FFFF99"/>
          </a:solidFill>
          <a:ln>
            <a:solidFill>
              <a:schemeClr val="bg1">
                <a:lumMod val="8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3F0EB27C-C8F5-D226-C614-8E5CE19166C3}"/>
              </a:ext>
            </a:extLst>
          </p:cNvPr>
          <p:cNvSpPr/>
          <p:nvPr/>
        </p:nvSpPr>
        <p:spPr>
          <a:xfrm>
            <a:off x="8134320" y="5805377"/>
            <a:ext cx="1440160" cy="191657"/>
          </a:xfrm>
          <a:prstGeom prst="rect">
            <a:avLst/>
          </a:prstGeom>
          <a:solidFill>
            <a:srgbClr val="D8BEE7"/>
          </a:solidFill>
          <a:ln>
            <a:solidFill>
              <a:schemeClr val="bg1">
                <a:lumMod val="8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6" name="TextBox 5">
            <a:extLst>
              <a:ext uri="{FF2B5EF4-FFF2-40B4-BE49-F238E27FC236}">
                <a16:creationId xmlns:a16="http://schemas.microsoft.com/office/drawing/2014/main" id="{B2B27710-F74B-375D-F6BA-09FA9B22C280}"/>
              </a:ext>
            </a:extLst>
          </p:cNvPr>
          <p:cNvSpPr txBox="1"/>
          <p:nvPr/>
        </p:nvSpPr>
        <p:spPr>
          <a:xfrm>
            <a:off x="8134320" y="5606262"/>
            <a:ext cx="1440160" cy="430887"/>
          </a:xfrm>
          <a:prstGeom prst="rect">
            <a:avLst/>
          </a:prstGeom>
          <a:noFill/>
        </p:spPr>
        <p:txBody>
          <a:bodyPr wrap="square" rtlCol="0">
            <a:spAutoFit/>
          </a:bodyPr>
          <a:lstStyle/>
          <a:p>
            <a:r>
              <a:rPr lang="en-GB" sz="1100" dirty="0">
                <a:solidFill>
                  <a:schemeClr val="tx1">
                    <a:lumMod val="75000"/>
                    <a:lumOff val="25000"/>
                  </a:schemeClr>
                </a:solidFill>
                <a:latin typeface="Arial" panose="020B0604020202020204" pitchFamily="34" charset="0"/>
                <a:cs typeface="Arial" panose="020B0604020202020204" pitchFamily="34" charset="0"/>
              </a:rPr>
              <a:t>Carpometacarpal (CMC) </a:t>
            </a:r>
          </a:p>
        </p:txBody>
      </p:sp>
      <p:sp>
        <p:nvSpPr>
          <p:cNvPr id="8" name="Oval 7">
            <a:extLst>
              <a:ext uri="{FF2B5EF4-FFF2-40B4-BE49-F238E27FC236}">
                <a16:creationId xmlns:a16="http://schemas.microsoft.com/office/drawing/2014/main" id="{05E3A83C-57FA-B434-A32E-74A24E1BE200}"/>
              </a:ext>
            </a:extLst>
          </p:cNvPr>
          <p:cNvSpPr/>
          <p:nvPr/>
        </p:nvSpPr>
        <p:spPr>
          <a:xfrm>
            <a:off x="7820168" y="5207545"/>
            <a:ext cx="477672" cy="383864"/>
          </a:xfrm>
          <a:prstGeom prst="ellipse">
            <a:avLst/>
          </a:prstGeom>
          <a:noFill/>
          <a:ln w="19050">
            <a:solidFill>
              <a:srgbClr val="BFBF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1012877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ound Diagonal Corner Rectangle 3"/>
          <p:cNvSpPr/>
          <p:nvPr/>
        </p:nvSpPr>
        <p:spPr>
          <a:xfrm>
            <a:off x="622929" y="402811"/>
            <a:ext cx="4761871"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BONES AND JOINTS</a:t>
            </a:r>
          </a:p>
        </p:txBody>
      </p:sp>
      <p:pic>
        <p:nvPicPr>
          <p:cNvPr id="19" name="Picture 18" descr="COSMOS GRAPHIC WHITE.png"/>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3" name="Round Diagonal Corner Rectangle 2"/>
          <p:cNvSpPr/>
          <p:nvPr/>
        </p:nvSpPr>
        <p:spPr>
          <a:xfrm>
            <a:off x="622930" y="1435100"/>
            <a:ext cx="8178170" cy="5159767"/>
          </a:xfrm>
          <a:prstGeom prst="round2DiagRect">
            <a:avLst/>
          </a:prstGeom>
          <a:no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Clr>
                <a:schemeClr val="bg1"/>
              </a:buClr>
              <a:buFont typeface="Arial" panose="020B0604020202020204" pitchFamily="34" charset="0"/>
              <a:buChar char="•"/>
            </a:pPr>
            <a:r>
              <a:rPr lang="en-GB" sz="2800" b="1" dirty="0">
                <a:solidFill>
                  <a:schemeClr val="bg1"/>
                </a:solidFill>
              </a:rPr>
              <a:t>NINETEEN JOINTS!</a:t>
            </a:r>
          </a:p>
          <a:p>
            <a:pPr marL="800100" lvl="1" indent="-342900">
              <a:buClr>
                <a:schemeClr val="bg1"/>
              </a:buClr>
              <a:buFont typeface="Arial" panose="020B0604020202020204" pitchFamily="34" charset="0"/>
              <a:buChar char="•"/>
            </a:pPr>
            <a:r>
              <a:rPr lang="en-GB" sz="2800" dirty="0">
                <a:solidFill>
                  <a:schemeClr val="bg1"/>
                </a:solidFill>
              </a:rPr>
              <a:t>x five </a:t>
            </a:r>
            <a:r>
              <a:rPr lang="en-GB" sz="2800" b="1" dirty="0">
                <a:solidFill>
                  <a:srgbClr val="D8BEE7"/>
                </a:solidFill>
              </a:rPr>
              <a:t>CARPO</a:t>
            </a:r>
            <a:r>
              <a:rPr lang="en-GB" sz="2800" b="1" dirty="0">
                <a:solidFill>
                  <a:srgbClr val="F4D58D"/>
                </a:solidFill>
              </a:rPr>
              <a:t>METACARPAL</a:t>
            </a:r>
            <a:r>
              <a:rPr lang="en-GB" sz="2800" dirty="0">
                <a:solidFill>
                  <a:schemeClr val="bg1"/>
                </a:solidFill>
              </a:rPr>
              <a:t> (CMC) joints – the joint between the carpals and metacarpals</a:t>
            </a:r>
          </a:p>
          <a:p>
            <a:pPr marL="800100" lvl="1" indent="-342900">
              <a:buClr>
                <a:schemeClr val="bg1"/>
              </a:buClr>
              <a:buFont typeface="Arial" panose="020B0604020202020204" pitchFamily="34" charset="0"/>
              <a:buChar char="•"/>
            </a:pPr>
            <a:r>
              <a:rPr lang="en-GB" sz="2800" dirty="0">
                <a:solidFill>
                  <a:schemeClr val="bg1"/>
                </a:solidFill>
              </a:rPr>
              <a:t>x five </a:t>
            </a:r>
            <a:r>
              <a:rPr lang="en-GB" sz="2800" b="1" dirty="0">
                <a:solidFill>
                  <a:srgbClr val="F4D58D"/>
                </a:solidFill>
              </a:rPr>
              <a:t>METACARPO</a:t>
            </a:r>
            <a:r>
              <a:rPr lang="en-GB" sz="2800" b="1" dirty="0">
                <a:solidFill>
                  <a:srgbClr val="D4EAB8"/>
                </a:solidFill>
              </a:rPr>
              <a:t>PHALANGEAL</a:t>
            </a:r>
            <a:r>
              <a:rPr lang="en-GB" sz="2800" dirty="0">
                <a:solidFill>
                  <a:srgbClr val="D4EAB8"/>
                </a:solidFill>
              </a:rPr>
              <a:t> </a:t>
            </a:r>
            <a:r>
              <a:rPr lang="en-GB" sz="2800" dirty="0">
                <a:solidFill>
                  <a:schemeClr val="bg1"/>
                </a:solidFill>
              </a:rPr>
              <a:t>(MCP) joints – the joint at the base of the finger</a:t>
            </a:r>
          </a:p>
          <a:p>
            <a:pPr marL="800100" lvl="1" indent="-342900">
              <a:buClr>
                <a:schemeClr val="bg1"/>
              </a:buClr>
              <a:buFont typeface="Arial" panose="020B0604020202020204" pitchFamily="34" charset="0"/>
              <a:buChar char="•"/>
            </a:pPr>
            <a:r>
              <a:rPr lang="en-GB" sz="2800" dirty="0">
                <a:solidFill>
                  <a:schemeClr val="bg1"/>
                </a:solidFill>
              </a:rPr>
              <a:t>x four </a:t>
            </a:r>
            <a:r>
              <a:rPr lang="en-GB" sz="2800" b="1" dirty="0">
                <a:solidFill>
                  <a:srgbClr val="D4EAB8"/>
                </a:solidFill>
              </a:rPr>
              <a:t>PROXIMAL INTER</a:t>
            </a:r>
            <a:r>
              <a:rPr lang="en-GB" sz="2800" b="1" dirty="0">
                <a:solidFill>
                  <a:srgbClr val="A6CEE8"/>
                </a:solidFill>
              </a:rPr>
              <a:t>PHALANGEAL</a:t>
            </a:r>
            <a:r>
              <a:rPr lang="en-GB" sz="2800" dirty="0">
                <a:solidFill>
                  <a:schemeClr val="bg1"/>
                </a:solidFill>
              </a:rPr>
              <a:t> (PIP) joints – the joint in the middle of the finger</a:t>
            </a:r>
          </a:p>
          <a:p>
            <a:pPr marL="800100" lvl="1" indent="-342900">
              <a:buClr>
                <a:schemeClr val="bg1"/>
              </a:buClr>
              <a:buFont typeface="Arial" panose="020B0604020202020204" pitchFamily="34" charset="0"/>
              <a:buChar char="•"/>
            </a:pPr>
            <a:r>
              <a:rPr lang="en-GB" sz="2800" dirty="0">
                <a:solidFill>
                  <a:schemeClr val="bg1"/>
                </a:solidFill>
              </a:rPr>
              <a:t>x four </a:t>
            </a:r>
            <a:r>
              <a:rPr lang="en-GB" sz="2800" b="1" dirty="0">
                <a:solidFill>
                  <a:srgbClr val="A6CEE8"/>
                </a:solidFill>
              </a:rPr>
              <a:t>DISTAL INTER</a:t>
            </a:r>
            <a:r>
              <a:rPr lang="en-GB" sz="2800" b="1" dirty="0">
                <a:solidFill>
                  <a:srgbClr val="FBC3A9"/>
                </a:solidFill>
              </a:rPr>
              <a:t>PHALANGEAL</a:t>
            </a:r>
            <a:r>
              <a:rPr lang="en-GB" sz="2800" dirty="0">
                <a:solidFill>
                  <a:schemeClr val="bg1"/>
                </a:solidFill>
              </a:rPr>
              <a:t> (DIP) joints – the joint closest to the fingertip</a:t>
            </a:r>
          </a:p>
          <a:p>
            <a:pPr marL="800100" lvl="1" indent="-342900">
              <a:buClr>
                <a:schemeClr val="bg1"/>
              </a:buClr>
              <a:buFont typeface="Arial" panose="020B0604020202020204" pitchFamily="34" charset="0"/>
              <a:buChar char="•"/>
            </a:pPr>
            <a:r>
              <a:rPr lang="en-GB" sz="2800" dirty="0">
                <a:solidFill>
                  <a:schemeClr val="bg1"/>
                </a:solidFill>
              </a:rPr>
              <a:t>x one </a:t>
            </a:r>
            <a:r>
              <a:rPr lang="en-GB" sz="2800" b="1" dirty="0">
                <a:solidFill>
                  <a:srgbClr val="D4EAB8"/>
                </a:solidFill>
              </a:rPr>
              <a:t>INTER</a:t>
            </a:r>
            <a:r>
              <a:rPr lang="en-GB" sz="2800" b="1" dirty="0">
                <a:solidFill>
                  <a:srgbClr val="FBC3A9"/>
                </a:solidFill>
              </a:rPr>
              <a:t>PHALANGEAL</a:t>
            </a:r>
            <a:r>
              <a:rPr lang="en-GB" sz="2800" b="1" dirty="0">
                <a:solidFill>
                  <a:schemeClr val="bg1"/>
                </a:solidFill>
              </a:rPr>
              <a:t> </a:t>
            </a:r>
            <a:r>
              <a:rPr lang="en-GB" sz="2800" dirty="0">
                <a:solidFill>
                  <a:schemeClr val="bg1"/>
                </a:solidFill>
              </a:rPr>
              <a:t>joint – the joint in the middle of the thumb</a:t>
            </a:r>
          </a:p>
        </p:txBody>
      </p:sp>
    </p:spTree>
    <p:extLst>
      <p:ext uri="{BB962C8B-B14F-4D97-AF65-F5344CB8AC3E}">
        <p14:creationId xmlns:p14="http://schemas.microsoft.com/office/powerpoint/2010/main" val="2350899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ound Diagonal Corner Rectangle 3"/>
          <p:cNvSpPr/>
          <p:nvPr/>
        </p:nvSpPr>
        <p:spPr>
          <a:xfrm>
            <a:off x="622929" y="402811"/>
            <a:ext cx="8079637"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JOINT MOVEMENTS OF THE FINGERS</a:t>
            </a:r>
          </a:p>
        </p:txBody>
      </p:sp>
      <p:pic>
        <p:nvPicPr>
          <p:cNvPr id="19" name="Picture 18" descr="COSMOS GRAPHIC WHITE.png"/>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3" name="Round Diagonal Corner Rectangle 2"/>
          <p:cNvSpPr/>
          <p:nvPr/>
        </p:nvSpPr>
        <p:spPr>
          <a:xfrm>
            <a:off x="622930" y="1435100"/>
            <a:ext cx="7995554" cy="5159767"/>
          </a:xfrm>
          <a:prstGeom prst="round2DiagRect">
            <a:avLst/>
          </a:prstGeom>
          <a:no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r>
              <a:rPr kumimoji="0" lang="en-GB" sz="2400" b="1" i="0" u="none" strike="noStrike" kern="1200" cap="none" spc="0" normalizeH="0" baseline="0" noProof="0" dirty="0">
                <a:ln>
                  <a:noFill/>
                </a:ln>
                <a:solidFill>
                  <a:srgbClr val="D8BEE7"/>
                </a:solidFill>
                <a:effectLst/>
                <a:uLnTx/>
                <a:uFillTx/>
                <a:latin typeface="Calibri" panose="020F0502020204030204"/>
                <a:ea typeface="+mn-ea"/>
                <a:cs typeface="+mn-cs"/>
              </a:rPr>
              <a:t>CARPO</a:t>
            </a:r>
            <a:r>
              <a:rPr kumimoji="0" lang="en-GB" sz="2400" b="1" i="0" u="none" strike="noStrike" kern="1200" cap="none" spc="0" normalizeH="0" baseline="0" noProof="0" dirty="0">
                <a:ln>
                  <a:noFill/>
                </a:ln>
                <a:solidFill>
                  <a:srgbClr val="F4D58D"/>
                </a:solidFill>
                <a:effectLst/>
                <a:uLnTx/>
                <a:uFillTx/>
                <a:latin typeface="Calibri" panose="020F0502020204030204"/>
                <a:ea typeface="+mn-ea"/>
                <a:cs typeface="+mn-cs"/>
              </a:rPr>
              <a:t>METACARPAL</a:t>
            </a:r>
            <a:r>
              <a:rPr kumimoji="0" lang="en-GB" sz="2400" b="0" i="0" u="none" strike="noStrike" kern="1200" cap="none" spc="0" normalizeH="0" baseline="0" noProof="0" dirty="0">
                <a:ln>
                  <a:noFill/>
                </a:ln>
                <a:solidFill>
                  <a:prstClr val="white"/>
                </a:solidFill>
                <a:effectLst/>
                <a:uLnTx/>
                <a:uFillTx/>
                <a:latin typeface="Calibri" panose="020F0502020204030204"/>
                <a:ea typeface="+mn-ea"/>
                <a:cs typeface="+mn-cs"/>
              </a:rPr>
              <a:t> (CMC) joints produce little movement</a:t>
            </a:r>
          </a:p>
          <a:p>
            <a:pPr marL="457200" indent="-457200">
              <a:buClr>
                <a:schemeClr val="bg1"/>
              </a:buClr>
              <a:buFont typeface="Arial" panose="020B0604020202020204" pitchFamily="34" charset="0"/>
              <a:buChar char="•"/>
            </a:pPr>
            <a:r>
              <a:rPr lang="en-GB" sz="2400" b="1" dirty="0">
                <a:solidFill>
                  <a:srgbClr val="F4D58D"/>
                </a:solidFill>
              </a:rPr>
              <a:t>METACARPO</a:t>
            </a:r>
            <a:r>
              <a:rPr lang="en-GB" sz="2400" b="1" dirty="0">
                <a:solidFill>
                  <a:srgbClr val="D4EAB8"/>
                </a:solidFill>
              </a:rPr>
              <a:t>PHALANGEAL</a:t>
            </a:r>
            <a:r>
              <a:rPr lang="en-GB" sz="2400" dirty="0">
                <a:solidFill>
                  <a:srgbClr val="D4EAB8"/>
                </a:solidFill>
              </a:rPr>
              <a:t> </a:t>
            </a:r>
            <a:r>
              <a:rPr lang="en-GB" sz="2400" dirty="0">
                <a:solidFill>
                  <a:schemeClr val="bg1"/>
                </a:solidFill>
              </a:rPr>
              <a:t>(MCP) joints produce;</a:t>
            </a:r>
          </a:p>
          <a:p>
            <a:pPr marL="914400" lvl="1" indent="-457200">
              <a:buClr>
                <a:schemeClr val="bg1"/>
              </a:buClr>
              <a:buFont typeface="Arial" panose="020B0604020202020204" pitchFamily="34" charset="0"/>
              <a:buChar char="•"/>
            </a:pPr>
            <a:r>
              <a:rPr lang="en-GB" sz="2400" dirty="0">
                <a:solidFill>
                  <a:schemeClr val="bg1"/>
                </a:solidFill>
              </a:rPr>
              <a:t>Flexion</a:t>
            </a:r>
          </a:p>
          <a:p>
            <a:pPr marL="914400" lvl="1" indent="-457200">
              <a:buClr>
                <a:schemeClr val="bg1"/>
              </a:buClr>
              <a:buFont typeface="Arial" panose="020B0604020202020204" pitchFamily="34" charset="0"/>
              <a:buChar char="•"/>
            </a:pPr>
            <a:r>
              <a:rPr lang="en-GB" sz="2400" dirty="0">
                <a:solidFill>
                  <a:schemeClr val="bg1"/>
                </a:solidFill>
              </a:rPr>
              <a:t>Extension</a:t>
            </a:r>
          </a:p>
          <a:p>
            <a:pPr marL="914400" lvl="1" indent="-457200">
              <a:buClr>
                <a:schemeClr val="bg1"/>
              </a:buClr>
              <a:buFont typeface="Arial" panose="020B0604020202020204" pitchFamily="34" charset="0"/>
              <a:buChar char="•"/>
            </a:pPr>
            <a:r>
              <a:rPr lang="en-GB" sz="2400" dirty="0">
                <a:solidFill>
                  <a:schemeClr val="bg1"/>
                </a:solidFill>
              </a:rPr>
              <a:t>Abduction</a:t>
            </a:r>
          </a:p>
          <a:p>
            <a:pPr marL="914400" lvl="1" indent="-457200">
              <a:buClr>
                <a:schemeClr val="bg1"/>
              </a:buClr>
              <a:buFont typeface="Arial" panose="020B0604020202020204" pitchFamily="34" charset="0"/>
              <a:buChar char="•"/>
            </a:pPr>
            <a:r>
              <a:rPr lang="en-GB" sz="2400" dirty="0">
                <a:solidFill>
                  <a:schemeClr val="bg1"/>
                </a:solidFill>
              </a:rPr>
              <a:t>Adduction</a:t>
            </a:r>
          </a:p>
          <a:p>
            <a:pPr marL="457200" indent="-457200">
              <a:buClr>
                <a:schemeClr val="bg1"/>
              </a:buClr>
              <a:buFont typeface="Arial" panose="020B0604020202020204" pitchFamily="34" charset="0"/>
              <a:buChar char="•"/>
            </a:pPr>
            <a:r>
              <a:rPr lang="en-GB" sz="2400" b="1" dirty="0">
                <a:solidFill>
                  <a:srgbClr val="D4EAB8"/>
                </a:solidFill>
              </a:rPr>
              <a:t>PROXIMAL INTER</a:t>
            </a:r>
            <a:r>
              <a:rPr lang="en-GB" sz="2400" b="1" dirty="0">
                <a:solidFill>
                  <a:srgbClr val="A6CEE8"/>
                </a:solidFill>
              </a:rPr>
              <a:t>PHALANGEAL</a:t>
            </a:r>
            <a:r>
              <a:rPr lang="en-GB" sz="2400" dirty="0">
                <a:solidFill>
                  <a:schemeClr val="bg1"/>
                </a:solidFill>
              </a:rPr>
              <a:t> (PIP) joints and </a:t>
            </a:r>
            <a:r>
              <a:rPr lang="en-GB" sz="2400" b="1" dirty="0">
                <a:solidFill>
                  <a:srgbClr val="A6CEE8"/>
                </a:solidFill>
              </a:rPr>
              <a:t>DISTAL INTER</a:t>
            </a:r>
            <a:r>
              <a:rPr lang="en-GB" sz="2400" b="1" dirty="0">
                <a:solidFill>
                  <a:srgbClr val="FBC3A9"/>
                </a:solidFill>
              </a:rPr>
              <a:t>PHALANGEAL</a:t>
            </a:r>
            <a:r>
              <a:rPr lang="en-GB" sz="2400" dirty="0">
                <a:solidFill>
                  <a:schemeClr val="bg1"/>
                </a:solidFill>
              </a:rPr>
              <a:t> (DIP) joints produce;</a:t>
            </a:r>
          </a:p>
          <a:p>
            <a:pPr marL="914400" lvl="1" indent="-457200">
              <a:buClr>
                <a:schemeClr val="bg1"/>
              </a:buClr>
              <a:buFont typeface="Arial" panose="020B0604020202020204" pitchFamily="34" charset="0"/>
              <a:buChar char="•"/>
            </a:pPr>
            <a:r>
              <a:rPr lang="en-GB" sz="2400" dirty="0">
                <a:solidFill>
                  <a:schemeClr val="bg1"/>
                </a:solidFill>
              </a:rPr>
              <a:t>Flexion</a:t>
            </a:r>
          </a:p>
          <a:p>
            <a:pPr marL="914400" lvl="1" indent="-457200">
              <a:buClr>
                <a:schemeClr val="bg1"/>
              </a:buClr>
              <a:buFont typeface="Arial" panose="020B0604020202020204" pitchFamily="34" charset="0"/>
              <a:buChar char="•"/>
            </a:pPr>
            <a:r>
              <a:rPr lang="en-GB" sz="2400" dirty="0">
                <a:solidFill>
                  <a:schemeClr val="bg1"/>
                </a:solidFill>
              </a:rPr>
              <a:t>Extension</a:t>
            </a:r>
          </a:p>
        </p:txBody>
      </p:sp>
      <p:sp>
        <p:nvSpPr>
          <p:cNvPr id="2" name="Round Diagonal Corner Rectangle 7">
            <a:extLst>
              <a:ext uri="{FF2B5EF4-FFF2-40B4-BE49-F238E27FC236}">
                <a16:creationId xmlns:a16="http://schemas.microsoft.com/office/drawing/2014/main" id="{7122E6B7-E67F-BAF2-386C-76D8F27F11DC}"/>
              </a:ext>
            </a:extLst>
          </p:cNvPr>
          <p:cNvSpPr/>
          <p:nvPr/>
        </p:nvSpPr>
        <p:spPr>
          <a:xfrm>
            <a:off x="8851456" y="402811"/>
            <a:ext cx="3179205" cy="3026189"/>
          </a:xfrm>
          <a:prstGeom prst="round2DiagRect">
            <a:avLst/>
          </a:prstGeom>
          <a:blipFill dpi="0" rotWithShape="1">
            <a:blip r:embed="rId4">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ound Diagonal Corner Rectangle 7">
            <a:extLst>
              <a:ext uri="{FF2B5EF4-FFF2-40B4-BE49-F238E27FC236}">
                <a16:creationId xmlns:a16="http://schemas.microsoft.com/office/drawing/2014/main" id="{7D1501E6-51F6-09D7-9B27-6DD8BF06E935}"/>
              </a:ext>
            </a:extLst>
          </p:cNvPr>
          <p:cNvSpPr/>
          <p:nvPr/>
        </p:nvSpPr>
        <p:spPr>
          <a:xfrm>
            <a:off x="8779823" y="3568678"/>
            <a:ext cx="3179205" cy="3026189"/>
          </a:xfrm>
          <a:prstGeom prst="round2DiagRect">
            <a:avLst/>
          </a:prstGeom>
          <a:blipFill dpi="0" rotWithShape="1">
            <a:blip r:embed="rId5">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5679505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ound Diagonal Corner Rectangle 3"/>
          <p:cNvSpPr/>
          <p:nvPr/>
        </p:nvSpPr>
        <p:spPr>
          <a:xfrm>
            <a:off x="622929" y="402811"/>
            <a:ext cx="7406645"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PULLEY SYSTEM OF THE FINGERS</a:t>
            </a:r>
          </a:p>
        </p:txBody>
      </p:sp>
      <p:pic>
        <p:nvPicPr>
          <p:cNvPr id="19" name="Picture 18" descr="COSMOS GRAPHIC WHITE.png"/>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3" name="Round Diagonal Corner Rectangle 2"/>
          <p:cNvSpPr/>
          <p:nvPr/>
        </p:nvSpPr>
        <p:spPr>
          <a:xfrm>
            <a:off x="622930" y="1435100"/>
            <a:ext cx="7995554" cy="5159767"/>
          </a:xfrm>
          <a:prstGeom prst="round2DiagRect">
            <a:avLst/>
          </a:prstGeom>
          <a:no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r>
              <a:rPr lang="en-GB" sz="2400" dirty="0">
                <a:solidFill>
                  <a:schemeClr val="bg1"/>
                </a:solidFill>
              </a:rPr>
              <a:t>The fingers possesses a complex pulley system to co-ordinate flexion of the digits consisting of:</a:t>
            </a:r>
          </a:p>
          <a:p>
            <a:pPr marL="914400" lvl="1" indent="-457200">
              <a:buClr>
                <a:schemeClr val="bg1"/>
              </a:buClr>
              <a:buFont typeface="Arial" panose="020B0604020202020204" pitchFamily="34" charset="0"/>
              <a:buChar char="•"/>
            </a:pPr>
            <a:r>
              <a:rPr lang="en-GB" sz="2400" dirty="0">
                <a:solidFill>
                  <a:schemeClr val="bg1"/>
                </a:solidFill>
              </a:rPr>
              <a:t>Long flexor tendon</a:t>
            </a:r>
          </a:p>
          <a:p>
            <a:pPr marL="914400" lvl="1" indent="-457200">
              <a:buClr>
                <a:schemeClr val="bg1"/>
              </a:buClr>
              <a:buFont typeface="Arial" panose="020B0604020202020204" pitchFamily="34" charset="0"/>
              <a:buChar char="•"/>
            </a:pPr>
            <a:r>
              <a:rPr lang="en-GB" sz="2400" dirty="0">
                <a:solidFill>
                  <a:schemeClr val="bg1"/>
                </a:solidFill>
              </a:rPr>
              <a:t>Annular pulleys</a:t>
            </a:r>
          </a:p>
          <a:p>
            <a:pPr marL="914400" lvl="1" indent="-457200">
              <a:buClr>
                <a:schemeClr val="bg1"/>
              </a:buClr>
              <a:buFont typeface="Arial" panose="020B0604020202020204" pitchFamily="34" charset="0"/>
              <a:buChar char="•"/>
            </a:pPr>
            <a:r>
              <a:rPr lang="en-GB" sz="2400" dirty="0">
                <a:solidFill>
                  <a:schemeClr val="bg1"/>
                </a:solidFill>
              </a:rPr>
              <a:t>Cruciate pulleys</a:t>
            </a:r>
          </a:p>
          <a:p>
            <a:pPr marL="457200" indent="-457200">
              <a:buClr>
                <a:schemeClr val="bg1"/>
              </a:buClr>
              <a:buFont typeface="Arial" panose="020B0604020202020204" pitchFamily="34" charset="0"/>
              <a:buChar char="•"/>
            </a:pPr>
            <a:r>
              <a:rPr lang="en-GB" sz="2400" dirty="0">
                <a:solidFill>
                  <a:schemeClr val="bg1"/>
                </a:solidFill>
              </a:rPr>
              <a:t>This system ensures the flexor tendons remain close to the joints axis of motion and prevent ‘bowstringing’</a:t>
            </a:r>
          </a:p>
          <a:p>
            <a:pPr marL="457200" indent="-457200">
              <a:buClr>
                <a:schemeClr val="bg1"/>
              </a:buClr>
              <a:buFont typeface="Arial" panose="020B0604020202020204" pitchFamily="34" charset="0"/>
              <a:buChar char="•"/>
            </a:pPr>
            <a:r>
              <a:rPr lang="en-GB" sz="2400" dirty="0">
                <a:solidFill>
                  <a:schemeClr val="bg1"/>
                </a:solidFill>
              </a:rPr>
              <a:t>A synovial sheath ensures: </a:t>
            </a:r>
          </a:p>
          <a:p>
            <a:pPr marL="914400" lvl="1" indent="-457200">
              <a:buClr>
                <a:schemeClr val="bg1"/>
              </a:buClr>
              <a:buFont typeface="Arial" panose="020B0604020202020204" pitchFamily="34" charset="0"/>
              <a:buChar char="•"/>
            </a:pPr>
            <a:r>
              <a:rPr lang="en-GB" sz="2400" dirty="0">
                <a:solidFill>
                  <a:schemeClr val="bg1"/>
                </a:solidFill>
              </a:rPr>
              <a:t>Smooth gliding of the tendons</a:t>
            </a:r>
          </a:p>
          <a:p>
            <a:pPr marL="914400" lvl="1" indent="-457200">
              <a:buClr>
                <a:schemeClr val="bg1"/>
              </a:buClr>
              <a:buFont typeface="Arial" panose="020B0604020202020204" pitchFamily="34" charset="0"/>
              <a:buChar char="•"/>
            </a:pPr>
            <a:r>
              <a:rPr lang="en-GB" sz="2400" dirty="0">
                <a:solidFill>
                  <a:schemeClr val="bg1"/>
                </a:solidFill>
              </a:rPr>
              <a:t>Synovial fluid</a:t>
            </a:r>
          </a:p>
          <a:p>
            <a:pPr marL="914400" lvl="1" indent="-457200">
              <a:buClr>
                <a:schemeClr val="bg1"/>
              </a:buClr>
              <a:buFont typeface="Arial" panose="020B0604020202020204" pitchFamily="34" charset="0"/>
              <a:buChar char="•"/>
            </a:pPr>
            <a:r>
              <a:rPr lang="en-GB" sz="2400" dirty="0">
                <a:solidFill>
                  <a:schemeClr val="bg1"/>
                </a:solidFill>
              </a:rPr>
              <a:t>Mechanical advantage</a:t>
            </a:r>
          </a:p>
        </p:txBody>
      </p:sp>
      <p:sp>
        <p:nvSpPr>
          <p:cNvPr id="2" name="Round Diagonal Corner Rectangle 7">
            <a:extLst>
              <a:ext uri="{FF2B5EF4-FFF2-40B4-BE49-F238E27FC236}">
                <a16:creationId xmlns:a16="http://schemas.microsoft.com/office/drawing/2014/main" id="{7122E6B7-E67F-BAF2-386C-76D8F27F11DC}"/>
              </a:ext>
            </a:extLst>
          </p:cNvPr>
          <p:cNvSpPr/>
          <p:nvPr/>
        </p:nvSpPr>
        <p:spPr>
          <a:xfrm>
            <a:off x="8851456" y="533400"/>
            <a:ext cx="3107572" cy="2895600"/>
          </a:xfrm>
          <a:prstGeom prst="round2DiagRect">
            <a:avLst/>
          </a:prstGeom>
          <a:blipFill dpi="0" rotWithShape="1">
            <a:blip r:embed="rId4" cstate="print">
              <a:extLst>
                <a:ext uri="{28A0092B-C50C-407E-A947-70E740481C1C}">
                  <a14:useLocalDpi xmlns:a14="http://schemas.microsoft.com/office/drawing/2010/main" val="0"/>
                </a:ext>
              </a:extLst>
            </a:blip>
            <a:srcRect/>
            <a:stretch>
              <a:fillRect l="-24063" t="-4916" r="-12725" b="-8959"/>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ound Diagonal Corner Rectangle 7">
            <a:extLst>
              <a:ext uri="{FF2B5EF4-FFF2-40B4-BE49-F238E27FC236}">
                <a16:creationId xmlns:a16="http://schemas.microsoft.com/office/drawing/2014/main" id="{7D1501E6-51F6-09D7-9B27-6DD8BF06E935}"/>
              </a:ext>
            </a:extLst>
          </p:cNvPr>
          <p:cNvSpPr/>
          <p:nvPr/>
        </p:nvSpPr>
        <p:spPr>
          <a:xfrm>
            <a:off x="8779823" y="3568678"/>
            <a:ext cx="3179205" cy="3026189"/>
          </a:xfrm>
          <a:prstGeom prst="round2DiagRect">
            <a:avLst/>
          </a:prstGeom>
          <a:blipFill dpi="0" rotWithShape="1">
            <a:blip r:embed="rId5">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2528784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ound Diagonal Corner Rectangle 3"/>
          <p:cNvSpPr/>
          <p:nvPr/>
        </p:nvSpPr>
        <p:spPr>
          <a:xfrm>
            <a:off x="622929" y="402811"/>
            <a:ext cx="7806368"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JOINT MOVEMENTS OF THE THUMB</a:t>
            </a:r>
          </a:p>
        </p:txBody>
      </p:sp>
      <p:pic>
        <p:nvPicPr>
          <p:cNvPr id="19" name="Picture 18" descr="COSMOS GRAPHIC WHITE.png"/>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3" name="Round Diagonal Corner Rectangle 2"/>
          <p:cNvSpPr/>
          <p:nvPr/>
        </p:nvSpPr>
        <p:spPr>
          <a:xfrm>
            <a:off x="622929" y="1435100"/>
            <a:ext cx="8079637" cy="5159767"/>
          </a:xfrm>
          <a:prstGeom prst="round2DiagRect">
            <a:avLst/>
          </a:prstGeom>
          <a:no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r>
              <a:rPr kumimoji="0" lang="en-GB" sz="2000" i="0" u="none" strike="noStrike" kern="1200" cap="none" spc="0" normalizeH="0" baseline="0" noProof="0" dirty="0">
                <a:ln>
                  <a:noFill/>
                </a:ln>
                <a:solidFill>
                  <a:schemeClr val="bg1"/>
                </a:solidFill>
                <a:effectLst/>
                <a:uLnTx/>
                <a:uFillTx/>
                <a:latin typeface="Calibri" panose="020F0502020204030204"/>
              </a:rPr>
              <a:t>In the anatomical position, the thumb is rotated 90° medially to the rest of the digits, consequently, movements of the thumb are defined at </a:t>
            </a:r>
            <a:r>
              <a:rPr lang="en-GB" sz="2000" dirty="0">
                <a:solidFill>
                  <a:schemeClr val="bg1"/>
                </a:solidFill>
                <a:latin typeface="Calibri" panose="020F0502020204030204"/>
              </a:rPr>
              <a:t>medially orientated </a:t>
            </a:r>
            <a:r>
              <a:rPr kumimoji="0" lang="en-GB" sz="2000" i="0" u="none" strike="noStrike" kern="1200" cap="none" spc="0" normalizeH="0" baseline="0" noProof="0" dirty="0">
                <a:ln>
                  <a:noFill/>
                </a:ln>
                <a:solidFill>
                  <a:schemeClr val="bg1"/>
                </a:solidFill>
                <a:effectLst/>
                <a:uLnTx/>
                <a:uFillTx/>
                <a:latin typeface="Calibri" panose="020F0502020204030204"/>
              </a:rPr>
              <a:t>right angles to the movements of the other digits of the hand</a:t>
            </a:r>
          </a:p>
          <a:p>
            <a:pPr marL="457200" indent="-457200">
              <a:buClr>
                <a:schemeClr val="bg1"/>
              </a:buClr>
              <a:buFont typeface="Arial" panose="020B0604020202020204" pitchFamily="34" charset="0"/>
              <a:buChar char="•"/>
            </a:pPr>
            <a:r>
              <a:rPr kumimoji="0" lang="en-GB" sz="2000" b="1" i="0" u="none" strike="noStrike" kern="1200" cap="none" spc="0" normalizeH="0" baseline="0" noProof="0" dirty="0">
                <a:ln>
                  <a:noFill/>
                </a:ln>
                <a:solidFill>
                  <a:srgbClr val="D8BEE7"/>
                </a:solidFill>
                <a:effectLst/>
                <a:uLnTx/>
                <a:uFillTx/>
                <a:latin typeface="Calibri" panose="020F0502020204030204"/>
              </a:rPr>
              <a:t>CARPO</a:t>
            </a:r>
            <a:r>
              <a:rPr kumimoji="0" lang="en-GB" sz="2000" b="1" i="0" u="none" strike="noStrike" kern="1200" cap="none" spc="0" normalizeH="0" baseline="0" noProof="0" dirty="0">
                <a:ln>
                  <a:noFill/>
                </a:ln>
                <a:solidFill>
                  <a:srgbClr val="F4D58D"/>
                </a:solidFill>
                <a:effectLst/>
                <a:uLnTx/>
                <a:uFillTx/>
                <a:latin typeface="Calibri" panose="020F0502020204030204"/>
              </a:rPr>
              <a:t>METACARPAL</a:t>
            </a:r>
            <a:r>
              <a:rPr kumimoji="0" lang="en-GB" sz="2000" b="0" i="0" u="none" strike="noStrike" kern="1200" cap="none" spc="0" normalizeH="0" baseline="0" noProof="0" dirty="0">
                <a:ln>
                  <a:noFill/>
                </a:ln>
                <a:solidFill>
                  <a:prstClr val="white"/>
                </a:solidFill>
                <a:effectLst/>
                <a:uLnTx/>
                <a:uFillTx/>
                <a:latin typeface="Calibri" panose="020F0502020204030204"/>
              </a:rPr>
              <a:t> (CMC) </a:t>
            </a:r>
            <a:r>
              <a:rPr lang="en-GB" sz="2000" dirty="0">
                <a:solidFill>
                  <a:schemeClr val="bg1"/>
                </a:solidFill>
              </a:rPr>
              <a:t>joint produces;</a:t>
            </a:r>
          </a:p>
          <a:p>
            <a:pPr marL="914400" lvl="1" indent="-457200">
              <a:buClr>
                <a:schemeClr val="bg1"/>
              </a:buClr>
              <a:buFont typeface="Arial" panose="020B0604020202020204" pitchFamily="34" charset="0"/>
              <a:buChar char="•"/>
            </a:pPr>
            <a:r>
              <a:rPr lang="en-GB" sz="2000" dirty="0">
                <a:solidFill>
                  <a:schemeClr val="bg1"/>
                </a:solidFill>
              </a:rPr>
              <a:t>Flexion</a:t>
            </a:r>
          </a:p>
          <a:p>
            <a:pPr marL="914400" lvl="1" indent="-457200">
              <a:buClr>
                <a:schemeClr val="bg1"/>
              </a:buClr>
              <a:buFont typeface="Arial" panose="020B0604020202020204" pitchFamily="34" charset="0"/>
              <a:buChar char="•"/>
            </a:pPr>
            <a:r>
              <a:rPr lang="en-GB" sz="2000" dirty="0">
                <a:solidFill>
                  <a:schemeClr val="bg1"/>
                </a:solidFill>
              </a:rPr>
              <a:t>Extension</a:t>
            </a:r>
          </a:p>
          <a:p>
            <a:pPr marL="914400" lvl="1" indent="-457200">
              <a:buClr>
                <a:schemeClr val="bg1"/>
              </a:buClr>
              <a:buFont typeface="Arial" panose="020B0604020202020204" pitchFamily="34" charset="0"/>
              <a:buChar char="•"/>
            </a:pPr>
            <a:r>
              <a:rPr lang="en-GB" sz="2000" dirty="0">
                <a:solidFill>
                  <a:schemeClr val="bg1"/>
                </a:solidFill>
              </a:rPr>
              <a:t>Abduction</a:t>
            </a:r>
          </a:p>
          <a:p>
            <a:pPr marL="914400" lvl="1" indent="-457200">
              <a:buClr>
                <a:schemeClr val="bg1"/>
              </a:buClr>
              <a:buFont typeface="Arial" panose="020B0604020202020204" pitchFamily="34" charset="0"/>
              <a:buChar char="•"/>
            </a:pPr>
            <a:r>
              <a:rPr lang="en-GB" sz="2000" dirty="0">
                <a:solidFill>
                  <a:schemeClr val="bg1"/>
                </a:solidFill>
              </a:rPr>
              <a:t>Adduction</a:t>
            </a:r>
          </a:p>
          <a:p>
            <a:pPr marL="914400" lvl="1" indent="-457200">
              <a:buClr>
                <a:schemeClr val="bg1"/>
              </a:buClr>
              <a:buFont typeface="Arial" panose="020B0604020202020204" pitchFamily="34" charset="0"/>
              <a:buChar char="•"/>
            </a:pPr>
            <a:r>
              <a:rPr lang="en-GB" sz="2000" dirty="0">
                <a:solidFill>
                  <a:schemeClr val="bg1"/>
                </a:solidFill>
              </a:rPr>
              <a:t>Opposition</a:t>
            </a:r>
          </a:p>
          <a:p>
            <a:pPr marL="457200" indent="-457200">
              <a:buClr>
                <a:schemeClr val="bg1"/>
              </a:buClr>
              <a:buFont typeface="Arial" panose="020B0604020202020204" pitchFamily="34" charset="0"/>
              <a:buChar char="•"/>
            </a:pPr>
            <a:r>
              <a:rPr lang="en-GB" sz="2000" b="1" dirty="0">
                <a:solidFill>
                  <a:srgbClr val="F4D58D"/>
                </a:solidFill>
              </a:rPr>
              <a:t>METACARPO</a:t>
            </a:r>
            <a:r>
              <a:rPr lang="en-GB" sz="2000" b="1" dirty="0">
                <a:solidFill>
                  <a:srgbClr val="D4EAB8"/>
                </a:solidFill>
              </a:rPr>
              <a:t>PHALANGEAL</a:t>
            </a:r>
            <a:r>
              <a:rPr lang="en-GB" sz="2000" dirty="0">
                <a:solidFill>
                  <a:srgbClr val="D4EAB8"/>
                </a:solidFill>
              </a:rPr>
              <a:t> </a:t>
            </a:r>
            <a:r>
              <a:rPr lang="en-GB" sz="2000" dirty="0">
                <a:solidFill>
                  <a:schemeClr val="bg1"/>
                </a:solidFill>
              </a:rPr>
              <a:t>(MCP) and the </a:t>
            </a:r>
            <a:r>
              <a:rPr lang="en-GB" sz="2000" b="1" dirty="0">
                <a:solidFill>
                  <a:srgbClr val="D4EAB8"/>
                </a:solidFill>
              </a:rPr>
              <a:t>INTER</a:t>
            </a:r>
            <a:r>
              <a:rPr lang="en-GB" sz="2000" b="1" dirty="0">
                <a:solidFill>
                  <a:srgbClr val="FBC3A9"/>
                </a:solidFill>
              </a:rPr>
              <a:t>PHALANGEAL</a:t>
            </a:r>
            <a:r>
              <a:rPr lang="en-GB" sz="2000" dirty="0">
                <a:solidFill>
                  <a:schemeClr val="bg1"/>
                </a:solidFill>
              </a:rPr>
              <a:t> joint produce;</a:t>
            </a:r>
          </a:p>
          <a:p>
            <a:pPr marL="914400" lvl="1" indent="-457200">
              <a:buClr>
                <a:schemeClr val="bg1"/>
              </a:buClr>
              <a:buFont typeface="Arial" panose="020B0604020202020204" pitchFamily="34" charset="0"/>
              <a:buChar char="•"/>
            </a:pPr>
            <a:r>
              <a:rPr lang="en-GB" sz="2000" dirty="0">
                <a:solidFill>
                  <a:schemeClr val="bg1"/>
                </a:solidFill>
              </a:rPr>
              <a:t>Flexion</a:t>
            </a:r>
          </a:p>
          <a:p>
            <a:pPr marL="914400" lvl="1" indent="-457200">
              <a:buClr>
                <a:schemeClr val="bg1"/>
              </a:buClr>
              <a:buFont typeface="Arial" panose="020B0604020202020204" pitchFamily="34" charset="0"/>
              <a:buChar char="•"/>
            </a:pPr>
            <a:r>
              <a:rPr lang="en-GB" sz="2000" dirty="0">
                <a:solidFill>
                  <a:schemeClr val="bg1"/>
                </a:solidFill>
              </a:rPr>
              <a:t>Extension</a:t>
            </a:r>
          </a:p>
        </p:txBody>
      </p:sp>
      <p:sp>
        <p:nvSpPr>
          <p:cNvPr id="2" name="Round Diagonal Corner Rectangle 7">
            <a:extLst>
              <a:ext uri="{FF2B5EF4-FFF2-40B4-BE49-F238E27FC236}">
                <a16:creationId xmlns:a16="http://schemas.microsoft.com/office/drawing/2014/main" id="{C038383B-A960-6844-9002-229A0DB72011}"/>
              </a:ext>
            </a:extLst>
          </p:cNvPr>
          <p:cNvSpPr/>
          <p:nvPr/>
        </p:nvSpPr>
        <p:spPr>
          <a:xfrm>
            <a:off x="8851456" y="1435100"/>
            <a:ext cx="3179205" cy="5159767"/>
          </a:xfrm>
          <a:prstGeom prst="round2DiagRect">
            <a:avLst/>
          </a:prstGeom>
          <a:blipFill dpi="0" rotWithShape="1">
            <a:blip r:embed="rId4">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033309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ound Diagonal Corner Rectangle 3"/>
          <p:cNvSpPr/>
          <p:nvPr/>
        </p:nvSpPr>
        <p:spPr>
          <a:xfrm>
            <a:off x="622929" y="402811"/>
            <a:ext cx="7292345"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PULLEY SYSTEM OF THE THUMB</a:t>
            </a:r>
          </a:p>
        </p:txBody>
      </p:sp>
      <p:pic>
        <p:nvPicPr>
          <p:cNvPr id="19" name="Picture 18" descr="COSMOS GRAPHIC WHITE.png"/>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3" name="Round Diagonal Corner Rectangle 2"/>
          <p:cNvSpPr/>
          <p:nvPr/>
        </p:nvSpPr>
        <p:spPr>
          <a:xfrm>
            <a:off x="622929" y="1435100"/>
            <a:ext cx="5580000" cy="5159767"/>
          </a:xfrm>
          <a:prstGeom prst="round2DiagRect">
            <a:avLst/>
          </a:prstGeom>
          <a:no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r>
              <a:rPr lang="en-GB" sz="2400" dirty="0">
                <a:solidFill>
                  <a:schemeClr val="bg1"/>
                </a:solidFill>
              </a:rPr>
              <a:t>The thumb possesses a pulley system too consisting of:</a:t>
            </a:r>
          </a:p>
          <a:p>
            <a:pPr marL="914400" lvl="1" indent="-457200">
              <a:buClr>
                <a:schemeClr val="bg1"/>
              </a:buClr>
              <a:buFont typeface="Arial" panose="020B0604020202020204" pitchFamily="34" charset="0"/>
              <a:buChar char="•"/>
            </a:pPr>
            <a:r>
              <a:rPr lang="en-GB" sz="2400" dirty="0">
                <a:solidFill>
                  <a:schemeClr val="bg1"/>
                </a:solidFill>
              </a:rPr>
              <a:t>Long flexor tendon</a:t>
            </a:r>
          </a:p>
          <a:p>
            <a:pPr marL="914400" lvl="1" indent="-457200">
              <a:buClr>
                <a:schemeClr val="bg1"/>
              </a:buClr>
              <a:buFont typeface="Arial" panose="020B0604020202020204" pitchFamily="34" charset="0"/>
              <a:buChar char="•"/>
            </a:pPr>
            <a:r>
              <a:rPr lang="en-GB" sz="2400" dirty="0">
                <a:solidFill>
                  <a:schemeClr val="bg1"/>
                </a:solidFill>
              </a:rPr>
              <a:t>Annual pulleys</a:t>
            </a:r>
          </a:p>
          <a:p>
            <a:pPr marL="914400" lvl="1" indent="-457200">
              <a:buClr>
                <a:schemeClr val="bg1"/>
              </a:buClr>
              <a:buFont typeface="Arial" panose="020B0604020202020204" pitchFamily="34" charset="0"/>
              <a:buChar char="•"/>
            </a:pPr>
            <a:r>
              <a:rPr lang="en-GB" sz="2400" dirty="0">
                <a:solidFill>
                  <a:schemeClr val="bg1"/>
                </a:solidFill>
              </a:rPr>
              <a:t>Oblique pulley</a:t>
            </a:r>
          </a:p>
        </p:txBody>
      </p:sp>
      <p:sp>
        <p:nvSpPr>
          <p:cNvPr id="2" name="Round Diagonal Corner Rectangle 7">
            <a:extLst>
              <a:ext uri="{FF2B5EF4-FFF2-40B4-BE49-F238E27FC236}">
                <a16:creationId xmlns:a16="http://schemas.microsoft.com/office/drawing/2014/main" id="{7122E6B7-E67F-BAF2-386C-76D8F27F11DC}"/>
              </a:ext>
            </a:extLst>
          </p:cNvPr>
          <p:cNvSpPr/>
          <p:nvPr/>
        </p:nvSpPr>
        <p:spPr>
          <a:xfrm>
            <a:off x="6337930" y="1352550"/>
            <a:ext cx="5580000" cy="5159767"/>
          </a:xfrm>
          <a:prstGeom prst="round2DiagRect">
            <a:avLst/>
          </a:prstGeom>
          <a:blipFill dpi="0" rotWithShape="1">
            <a:blip r:embed="rId4">
              <a:extLst>
                <a:ext uri="{28A0092B-C50C-407E-A947-70E740481C1C}">
                  <a14:useLocalDpi xmlns:a14="http://schemas.microsoft.com/office/drawing/2010/main" val="0"/>
                </a:ext>
              </a:extLst>
            </a:blip>
            <a:srcRect/>
            <a:stretch>
              <a:fillRect l="-19420" t="-5288" r="-8024" b="-9865"/>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1374513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ound Diagonal Corner Rectangle 3"/>
          <p:cNvSpPr/>
          <p:nvPr/>
        </p:nvSpPr>
        <p:spPr>
          <a:xfrm>
            <a:off x="622930" y="402811"/>
            <a:ext cx="3179205"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LIGAMENTS</a:t>
            </a:r>
          </a:p>
        </p:txBody>
      </p:sp>
      <p:pic>
        <p:nvPicPr>
          <p:cNvPr id="19" name="Picture 18" descr="COSMOS GRAPHIC WHITE.png"/>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3" name="Round Diagonal Corner Rectangle 2"/>
          <p:cNvSpPr/>
          <p:nvPr/>
        </p:nvSpPr>
        <p:spPr>
          <a:xfrm>
            <a:off x="622930" y="1435100"/>
            <a:ext cx="5959431" cy="5159767"/>
          </a:xfrm>
          <a:prstGeom prst="round2DiagRect">
            <a:avLst/>
          </a:prstGeom>
          <a:no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r>
              <a:rPr lang="en-GB" sz="2800" dirty="0">
                <a:solidFill>
                  <a:schemeClr val="bg1"/>
                </a:solidFill>
              </a:rPr>
              <a:t>Large number of intercarpal ligaments!</a:t>
            </a:r>
          </a:p>
          <a:p>
            <a:pPr marL="457200" indent="-457200">
              <a:buClr>
                <a:schemeClr val="bg1"/>
              </a:buClr>
              <a:buFont typeface="Arial" panose="020B0604020202020204" pitchFamily="34" charset="0"/>
              <a:buChar char="•"/>
            </a:pPr>
            <a:r>
              <a:rPr lang="en-GB" sz="2800" dirty="0">
                <a:solidFill>
                  <a:schemeClr val="bg1"/>
                </a:solidFill>
              </a:rPr>
              <a:t>Both superficial and deep intermetacarpal ligaments on the palmar and dorsal aspect </a:t>
            </a:r>
          </a:p>
          <a:p>
            <a:pPr marL="457200" indent="-457200">
              <a:buClr>
                <a:schemeClr val="bg1"/>
              </a:buClr>
              <a:buFont typeface="Arial" panose="020B0604020202020204" pitchFamily="34" charset="0"/>
              <a:buChar char="•"/>
            </a:pPr>
            <a:r>
              <a:rPr lang="en-GB" sz="2800" dirty="0">
                <a:solidFill>
                  <a:schemeClr val="bg1"/>
                </a:solidFill>
              </a:rPr>
              <a:t>Collateral ligaments on between the phalanges</a:t>
            </a:r>
          </a:p>
          <a:p>
            <a:pPr marL="457200" indent="-457200">
              <a:buClr>
                <a:schemeClr val="bg1"/>
              </a:buClr>
              <a:buFont typeface="Arial" panose="020B0604020202020204" pitchFamily="34" charset="0"/>
              <a:buChar char="•"/>
            </a:pPr>
            <a:r>
              <a:rPr lang="en-GB" sz="2800" dirty="0">
                <a:solidFill>
                  <a:schemeClr val="bg1"/>
                </a:solidFill>
              </a:rPr>
              <a:t>Volar plate ligaments span the PIP on the palmar aspect of the hand to prevent excessive extension</a:t>
            </a:r>
          </a:p>
        </p:txBody>
      </p:sp>
      <p:sp>
        <p:nvSpPr>
          <p:cNvPr id="6" name="Round Diagonal Corner Rectangle 7">
            <a:extLst>
              <a:ext uri="{FF2B5EF4-FFF2-40B4-BE49-F238E27FC236}">
                <a16:creationId xmlns:a16="http://schemas.microsoft.com/office/drawing/2014/main" id="{15FA7B29-0F42-BF63-37E2-21B8BA235D32}"/>
              </a:ext>
            </a:extLst>
          </p:cNvPr>
          <p:cNvSpPr/>
          <p:nvPr/>
        </p:nvSpPr>
        <p:spPr>
          <a:xfrm>
            <a:off x="6743698" y="3429000"/>
            <a:ext cx="5286961" cy="3305129"/>
          </a:xfrm>
          <a:prstGeom prst="round2DiagRect">
            <a:avLst/>
          </a:prstGeom>
          <a:blipFill dpi="0" rotWithShape="1">
            <a:blip r:embed="rId4">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ound Diagonal Corner Rectangle 7">
            <a:extLst>
              <a:ext uri="{FF2B5EF4-FFF2-40B4-BE49-F238E27FC236}">
                <a16:creationId xmlns:a16="http://schemas.microsoft.com/office/drawing/2014/main" id="{C392D863-1114-8012-8EC7-977CBFEEAC1B}"/>
              </a:ext>
            </a:extLst>
          </p:cNvPr>
          <p:cNvSpPr/>
          <p:nvPr/>
        </p:nvSpPr>
        <p:spPr>
          <a:xfrm>
            <a:off x="6743698" y="61936"/>
            <a:ext cx="5286961" cy="3305129"/>
          </a:xfrm>
          <a:prstGeom prst="round2DiagRect">
            <a:avLst/>
          </a:prstGeom>
          <a:blipFill dpi="0" rotWithShape="1">
            <a:blip r:embed="rId5">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1377460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ound Diagonal Corner Rectangle 3"/>
          <p:cNvSpPr/>
          <p:nvPr/>
        </p:nvSpPr>
        <p:spPr>
          <a:xfrm>
            <a:off x="622930" y="402811"/>
            <a:ext cx="4025270"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SKIER’S THUMB</a:t>
            </a:r>
          </a:p>
        </p:txBody>
      </p:sp>
      <p:pic>
        <p:nvPicPr>
          <p:cNvPr id="19" name="Picture 18" descr="COSMOS GRAPHIC WHITE.png"/>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3" name="Round Diagonal Corner Rectangle 2"/>
          <p:cNvSpPr/>
          <p:nvPr/>
        </p:nvSpPr>
        <p:spPr>
          <a:xfrm>
            <a:off x="622930" y="1435100"/>
            <a:ext cx="8063870" cy="5159767"/>
          </a:xfrm>
          <a:prstGeom prst="round2DiagRect">
            <a:avLst/>
          </a:prstGeom>
          <a:blipFill dpi="0" rotWithShape="1">
            <a:blip r:embed="rId4">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endParaRPr lang="en-GB" sz="2800" dirty="0">
              <a:solidFill>
                <a:schemeClr val="bg1"/>
              </a:solidFill>
            </a:endParaRPr>
          </a:p>
        </p:txBody>
      </p:sp>
    </p:spTree>
    <p:extLst>
      <p:ext uri="{BB962C8B-B14F-4D97-AF65-F5344CB8AC3E}">
        <p14:creationId xmlns:p14="http://schemas.microsoft.com/office/powerpoint/2010/main" val="35915901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ound Diagonal Corner Rectangle 3"/>
          <p:cNvSpPr/>
          <p:nvPr/>
        </p:nvSpPr>
        <p:spPr>
          <a:xfrm>
            <a:off x="622930" y="402811"/>
            <a:ext cx="4025270"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PALMAR FASCIA</a:t>
            </a:r>
          </a:p>
        </p:txBody>
      </p:sp>
      <p:pic>
        <p:nvPicPr>
          <p:cNvPr id="19" name="Picture 18" descr="COSMOS GRAPHIC WHITE.png"/>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3" name="Round Diagonal Corner Rectangle 2"/>
          <p:cNvSpPr/>
          <p:nvPr/>
        </p:nvSpPr>
        <p:spPr>
          <a:xfrm>
            <a:off x="622930" y="1435100"/>
            <a:ext cx="8063870" cy="5159767"/>
          </a:xfrm>
          <a:prstGeom prst="round2DiagRect">
            <a:avLst/>
          </a:prstGeom>
          <a:no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r>
              <a:rPr lang="en-GB" sz="2400" dirty="0">
                <a:solidFill>
                  <a:schemeClr val="bg1"/>
                </a:solidFill>
              </a:rPr>
              <a:t>The palmar fascia is a triangular-shaped fascial structure with its apex pointed proximally and the base of the triangle at the metacarpophalangeal joints</a:t>
            </a:r>
          </a:p>
          <a:p>
            <a:pPr marL="457200" indent="-457200">
              <a:buClr>
                <a:schemeClr val="bg1"/>
              </a:buClr>
              <a:buFont typeface="Arial" panose="020B0604020202020204" pitchFamily="34" charset="0"/>
              <a:buChar char="•"/>
            </a:pPr>
            <a:r>
              <a:rPr lang="en-GB" sz="2400" dirty="0">
                <a:solidFill>
                  <a:schemeClr val="bg1"/>
                </a:solidFill>
              </a:rPr>
              <a:t>It is composed of four longitudinal bands overlying each digit</a:t>
            </a:r>
          </a:p>
          <a:p>
            <a:pPr marL="457200" indent="-457200">
              <a:buClr>
                <a:schemeClr val="bg1"/>
              </a:buClr>
              <a:buFont typeface="Arial" panose="020B0604020202020204" pitchFamily="34" charset="0"/>
              <a:buChar char="•"/>
            </a:pPr>
            <a:r>
              <a:rPr lang="en-GB" sz="2400" dirty="0">
                <a:solidFill>
                  <a:schemeClr val="bg1"/>
                </a:solidFill>
              </a:rPr>
              <a:t>It is liable to undergo contraction, producing an inconvenient hereditary deformity known as ‘Dupuytren’s contraction’. The ring and little fingers are most frequently implicated, but the others may also be involved. The proximal phalanx is flexed and cannot be straightened, and the middle and distal phalanges become similarly flexed as the condition advances</a:t>
            </a:r>
          </a:p>
        </p:txBody>
      </p:sp>
      <p:sp>
        <p:nvSpPr>
          <p:cNvPr id="2" name="Round Diagonal Corner Rectangle 7">
            <a:extLst>
              <a:ext uri="{FF2B5EF4-FFF2-40B4-BE49-F238E27FC236}">
                <a16:creationId xmlns:a16="http://schemas.microsoft.com/office/drawing/2014/main" id="{9724374F-E2AA-5086-9859-F03D0DC08A92}"/>
              </a:ext>
            </a:extLst>
          </p:cNvPr>
          <p:cNvSpPr/>
          <p:nvPr/>
        </p:nvSpPr>
        <p:spPr>
          <a:xfrm>
            <a:off x="8889556" y="542490"/>
            <a:ext cx="3107572" cy="2895600"/>
          </a:xfrm>
          <a:prstGeom prst="round2DiagRect">
            <a:avLst/>
          </a:prstGeom>
          <a:blipFill dpi="0" rotWithShape="1">
            <a:blip r:embed="rId4">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ound Diagonal Corner Rectangle 7">
            <a:extLst>
              <a:ext uri="{FF2B5EF4-FFF2-40B4-BE49-F238E27FC236}">
                <a16:creationId xmlns:a16="http://schemas.microsoft.com/office/drawing/2014/main" id="{A27BC2E0-3EE8-74CC-87A4-E579929DF4EB}"/>
              </a:ext>
            </a:extLst>
          </p:cNvPr>
          <p:cNvSpPr/>
          <p:nvPr/>
        </p:nvSpPr>
        <p:spPr>
          <a:xfrm>
            <a:off x="8889556" y="3701222"/>
            <a:ext cx="3107572" cy="2895600"/>
          </a:xfrm>
          <a:prstGeom prst="round2DiagRect">
            <a:avLst/>
          </a:prstGeom>
          <a:blipFill dpi="0" rotWithShape="1">
            <a:blip r:embed="rId5">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979203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A411EE-4EAF-A656-767C-1CAE3C06C668}"/>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2C903530-C1BC-F3A7-54EF-DC18AC9D39BB}"/>
              </a:ext>
            </a:extLst>
          </p:cNvPr>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ound Diagonal Corner Rectangle 3">
            <a:extLst>
              <a:ext uri="{FF2B5EF4-FFF2-40B4-BE49-F238E27FC236}">
                <a16:creationId xmlns:a16="http://schemas.microsoft.com/office/drawing/2014/main" id="{465A5009-0DDF-65F8-D4DF-55560A028588}"/>
              </a:ext>
            </a:extLst>
          </p:cNvPr>
          <p:cNvSpPr/>
          <p:nvPr/>
        </p:nvSpPr>
        <p:spPr>
          <a:xfrm>
            <a:off x="622930" y="402811"/>
            <a:ext cx="6704970"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solidFill>
                  <a:schemeClr val="bg1"/>
                </a:solidFill>
              </a:rPr>
              <a:t>DUPUYTREN’S CONTRACTION</a:t>
            </a:r>
            <a:endParaRPr lang="en-GB" sz="4000" dirty="0"/>
          </a:p>
        </p:txBody>
      </p:sp>
      <p:pic>
        <p:nvPicPr>
          <p:cNvPr id="19" name="Picture 18" descr="COSMOS GRAPHIC WHITE.png">
            <a:extLst>
              <a:ext uri="{FF2B5EF4-FFF2-40B4-BE49-F238E27FC236}">
                <a16:creationId xmlns:a16="http://schemas.microsoft.com/office/drawing/2014/main" id="{B8AF2847-64C5-E1FC-1247-60DEC9096A3F}"/>
              </a:ext>
            </a:extLst>
          </p:cNvPr>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3" name="Round Diagonal Corner Rectangle 2">
            <a:extLst>
              <a:ext uri="{FF2B5EF4-FFF2-40B4-BE49-F238E27FC236}">
                <a16:creationId xmlns:a16="http://schemas.microsoft.com/office/drawing/2014/main" id="{0B5276E7-4A24-126A-7522-1336387C325C}"/>
              </a:ext>
            </a:extLst>
          </p:cNvPr>
          <p:cNvSpPr/>
          <p:nvPr/>
        </p:nvSpPr>
        <p:spPr>
          <a:xfrm>
            <a:off x="622930" y="1435100"/>
            <a:ext cx="8063870" cy="5159767"/>
          </a:xfrm>
          <a:prstGeom prst="round2DiagRect">
            <a:avLst/>
          </a:prstGeom>
          <a:blipFill dpi="0" rotWithShape="1">
            <a:blip r:embed="rId4">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Clr>
                <a:schemeClr val="bg1"/>
              </a:buClr>
            </a:pPr>
            <a:endParaRPr lang="en-GB" sz="2400" dirty="0">
              <a:solidFill>
                <a:schemeClr val="bg1"/>
              </a:solidFill>
            </a:endParaRPr>
          </a:p>
        </p:txBody>
      </p:sp>
      <p:sp>
        <p:nvSpPr>
          <p:cNvPr id="2" name="Round Diagonal Corner Rectangle 7">
            <a:extLst>
              <a:ext uri="{FF2B5EF4-FFF2-40B4-BE49-F238E27FC236}">
                <a16:creationId xmlns:a16="http://schemas.microsoft.com/office/drawing/2014/main" id="{32E60AF7-4EEC-3EB7-80BC-AF1DD380E221}"/>
              </a:ext>
            </a:extLst>
          </p:cNvPr>
          <p:cNvSpPr/>
          <p:nvPr/>
        </p:nvSpPr>
        <p:spPr>
          <a:xfrm>
            <a:off x="8737600" y="1435100"/>
            <a:ext cx="3348428" cy="5159767"/>
          </a:xfrm>
          <a:prstGeom prst="round2DiagRect">
            <a:avLst/>
          </a:prstGeom>
          <a:blipFill dpi="0" rotWithShape="1">
            <a:blip r:embed="rId5">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77147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ound Diagonal Corner Rectangle 3"/>
          <p:cNvSpPr/>
          <p:nvPr/>
        </p:nvSpPr>
        <p:spPr>
          <a:xfrm>
            <a:off x="622930" y="402811"/>
            <a:ext cx="3179205"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MUSCLES</a:t>
            </a:r>
          </a:p>
        </p:txBody>
      </p:sp>
      <p:pic>
        <p:nvPicPr>
          <p:cNvPr id="19" name="Picture 18" descr="COSMOS GRAPHIC WHITE.png"/>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3" name="Round Diagonal Corner Rectangle 2"/>
          <p:cNvSpPr/>
          <p:nvPr/>
        </p:nvSpPr>
        <p:spPr>
          <a:xfrm>
            <a:off x="622930" y="1435100"/>
            <a:ext cx="5959431" cy="5159767"/>
          </a:xfrm>
          <a:prstGeom prst="round2DiagRect">
            <a:avLst/>
          </a:prstGeom>
          <a:blipFill dpi="0" rotWithShape="1">
            <a:blip r:embed="rId4">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endParaRPr lang="en-GB" sz="2800" dirty="0">
              <a:solidFill>
                <a:schemeClr val="bg1"/>
              </a:solidFill>
            </a:endParaRPr>
          </a:p>
        </p:txBody>
      </p:sp>
      <p:sp>
        <p:nvSpPr>
          <p:cNvPr id="6" name="Round Diagonal Corner Rectangle 7">
            <a:extLst>
              <a:ext uri="{FF2B5EF4-FFF2-40B4-BE49-F238E27FC236}">
                <a16:creationId xmlns:a16="http://schemas.microsoft.com/office/drawing/2014/main" id="{15FA7B29-0F42-BF63-37E2-21B8BA235D32}"/>
              </a:ext>
            </a:extLst>
          </p:cNvPr>
          <p:cNvSpPr/>
          <p:nvPr/>
        </p:nvSpPr>
        <p:spPr>
          <a:xfrm>
            <a:off x="6743700" y="1435100"/>
            <a:ext cx="5286961" cy="5159767"/>
          </a:xfrm>
          <a:prstGeom prst="round2DiagRect">
            <a:avLst/>
          </a:prstGeom>
          <a:blipFill dpi="0" rotWithShape="1">
            <a:blip r:embed="rId5">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Rectangle 1">
            <a:extLst>
              <a:ext uri="{FF2B5EF4-FFF2-40B4-BE49-F238E27FC236}">
                <a16:creationId xmlns:a16="http://schemas.microsoft.com/office/drawing/2014/main" id="{F273CCC1-49EF-AA51-6E09-A3C286973D2C}"/>
              </a:ext>
            </a:extLst>
          </p:cNvPr>
          <p:cNvSpPr/>
          <p:nvPr/>
        </p:nvSpPr>
        <p:spPr>
          <a:xfrm>
            <a:off x="8476891" y="6291532"/>
            <a:ext cx="1489494" cy="25879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9525897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ound Diagonal Corner Rectangle 3"/>
          <p:cNvSpPr/>
          <p:nvPr/>
        </p:nvSpPr>
        <p:spPr>
          <a:xfrm>
            <a:off x="622929" y="402811"/>
            <a:ext cx="2556277"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MUSCLES</a:t>
            </a:r>
          </a:p>
        </p:txBody>
      </p:sp>
      <p:pic>
        <p:nvPicPr>
          <p:cNvPr id="19" name="Picture 18" descr="COSMOS GRAPHIC WHITE.png"/>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8" name="Round Diagonal Corner Rectangle 3">
            <a:extLst>
              <a:ext uri="{FF2B5EF4-FFF2-40B4-BE49-F238E27FC236}">
                <a16:creationId xmlns:a16="http://schemas.microsoft.com/office/drawing/2014/main" id="{7C580129-A0D0-E6A1-4FAA-43A4C34C02A0}"/>
              </a:ext>
            </a:extLst>
          </p:cNvPr>
          <p:cNvSpPr/>
          <p:nvPr/>
        </p:nvSpPr>
        <p:spPr>
          <a:xfrm>
            <a:off x="622930" y="1435100"/>
            <a:ext cx="5473070"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FLEXORS OF THE WRIST</a:t>
            </a:r>
          </a:p>
        </p:txBody>
      </p:sp>
      <p:sp>
        <p:nvSpPr>
          <p:cNvPr id="10" name="Round Diagonal Corner Rectangle 2">
            <a:extLst>
              <a:ext uri="{FF2B5EF4-FFF2-40B4-BE49-F238E27FC236}">
                <a16:creationId xmlns:a16="http://schemas.microsoft.com/office/drawing/2014/main" id="{58A3FD29-DAE6-EBDA-EAEC-9386C377D750}"/>
              </a:ext>
            </a:extLst>
          </p:cNvPr>
          <p:cNvSpPr/>
          <p:nvPr/>
        </p:nvSpPr>
        <p:spPr>
          <a:xfrm>
            <a:off x="622929" y="2435830"/>
            <a:ext cx="6312680" cy="4088810"/>
          </a:xfrm>
          <a:prstGeom prst="round2DiagRect">
            <a:avLst/>
          </a:prstGeom>
          <a:solidFill>
            <a:srgbClr val="525252"/>
          </a:solid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r>
              <a:rPr lang="en-GB" altLang="en-US" sz="2800" dirty="0"/>
              <a:t>Flexors originate from the medial epicondyle of the humerus</a:t>
            </a:r>
          </a:p>
          <a:p>
            <a:pPr marL="914400" lvl="1" indent="-457200">
              <a:buClr>
                <a:schemeClr val="bg1"/>
              </a:buClr>
              <a:buFont typeface="Arial" panose="020B0604020202020204" pitchFamily="34" charset="0"/>
              <a:buChar char="•"/>
            </a:pPr>
            <a:r>
              <a:rPr lang="en-GB" altLang="en-US" sz="2800" dirty="0"/>
              <a:t>Flexor carpi radialis</a:t>
            </a:r>
          </a:p>
          <a:p>
            <a:pPr marL="914400" lvl="1" indent="-457200">
              <a:buClr>
                <a:schemeClr val="bg1"/>
              </a:buClr>
              <a:buFont typeface="Arial" panose="020B0604020202020204" pitchFamily="34" charset="0"/>
              <a:buChar char="•"/>
            </a:pPr>
            <a:r>
              <a:rPr lang="en-GB" altLang="en-US" sz="2800" dirty="0"/>
              <a:t>Flexors carpi </a:t>
            </a:r>
            <a:r>
              <a:rPr lang="en-GB" altLang="en-US" sz="2800" dirty="0" err="1"/>
              <a:t>ulnaris</a:t>
            </a:r>
            <a:endParaRPr lang="en-GB" altLang="en-US" sz="2800" dirty="0"/>
          </a:p>
          <a:p>
            <a:pPr marL="914400" lvl="1" indent="-457200">
              <a:buClr>
                <a:schemeClr val="bg1"/>
              </a:buClr>
              <a:buFont typeface="Arial" panose="020B0604020202020204" pitchFamily="34" charset="0"/>
              <a:buChar char="•"/>
            </a:pPr>
            <a:r>
              <a:rPr lang="en-GB" altLang="en-US" sz="2800" dirty="0"/>
              <a:t>Palmaris longus</a:t>
            </a:r>
          </a:p>
        </p:txBody>
      </p:sp>
      <p:sp>
        <p:nvSpPr>
          <p:cNvPr id="2" name="Round Diagonal Corner Rectangle 2">
            <a:extLst>
              <a:ext uri="{FF2B5EF4-FFF2-40B4-BE49-F238E27FC236}">
                <a16:creationId xmlns:a16="http://schemas.microsoft.com/office/drawing/2014/main" id="{A0D68D73-E6CA-3366-67E7-63835A2503E6}"/>
              </a:ext>
            </a:extLst>
          </p:cNvPr>
          <p:cNvSpPr/>
          <p:nvPr/>
        </p:nvSpPr>
        <p:spPr>
          <a:xfrm>
            <a:off x="7240409" y="421527"/>
            <a:ext cx="4646789" cy="3007473"/>
          </a:xfrm>
          <a:prstGeom prst="round2DiagRect">
            <a:avLst/>
          </a:prstGeom>
          <a:blipFill dpi="0" rotWithShape="1">
            <a:blip r:embed="rId4">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endParaRPr lang="en-GB" altLang="en-US" sz="2800" dirty="0"/>
          </a:p>
        </p:txBody>
      </p:sp>
      <p:sp>
        <p:nvSpPr>
          <p:cNvPr id="5" name="Round Diagonal Corner Rectangle 2">
            <a:extLst>
              <a:ext uri="{FF2B5EF4-FFF2-40B4-BE49-F238E27FC236}">
                <a16:creationId xmlns:a16="http://schemas.microsoft.com/office/drawing/2014/main" id="{17565574-CBA1-3300-D6E4-78222C792ED4}"/>
              </a:ext>
            </a:extLst>
          </p:cNvPr>
          <p:cNvSpPr/>
          <p:nvPr/>
        </p:nvSpPr>
        <p:spPr>
          <a:xfrm>
            <a:off x="7240409" y="3563797"/>
            <a:ext cx="4646789" cy="3007473"/>
          </a:xfrm>
          <a:prstGeom prst="round2DiagRect">
            <a:avLst/>
          </a:prstGeom>
          <a:blipFill dpi="0" rotWithShape="1">
            <a:blip r:embed="rId5">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endParaRPr lang="en-GB" altLang="en-US" sz="2800" dirty="0"/>
          </a:p>
        </p:txBody>
      </p:sp>
    </p:spTree>
    <p:extLst>
      <p:ext uri="{BB962C8B-B14F-4D97-AF65-F5344CB8AC3E}">
        <p14:creationId xmlns:p14="http://schemas.microsoft.com/office/powerpoint/2010/main" val="28379629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ound Diagonal Corner Rectangle 3"/>
          <p:cNvSpPr/>
          <p:nvPr/>
        </p:nvSpPr>
        <p:spPr>
          <a:xfrm>
            <a:off x="622929" y="402811"/>
            <a:ext cx="2556277"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MUSCLES</a:t>
            </a:r>
          </a:p>
        </p:txBody>
      </p:sp>
      <p:pic>
        <p:nvPicPr>
          <p:cNvPr id="19" name="Picture 18" descr="COSMOS GRAPHIC WHITE.png"/>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8" name="Round Diagonal Corner Rectangle 3">
            <a:extLst>
              <a:ext uri="{FF2B5EF4-FFF2-40B4-BE49-F238E27FC236}">
                <a16:creationId xmlns:a16="http://schemas.microsoft.com/office/drawing/2014/main" id="{7C580129-A0D0-E6A1-4FAA-43A4C34C02A0}"/>
              </a:ext>
            </a:extLst>
          </p:cNvPr>
          <p:cNvSpPr/>
          <p:nvPr/>
        </p:nvSpPr>
        <p:spPr>
          <a:xfrm>
            <a:off x="622929" y="1435100"/>
            <a:ext cx="6042566"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EXTENSORS OF THE WRIST</a:t>
            </a:r>
          </a:p>
        </p:txBody>
      </p:sp>
      <p:sp>
        <p:nvSpPr>
          <p:cNvPr id="10" name="Round Diagonal Corner Rectangle 2">
            <a:extLst>
              <a:ext uri="{FF2B5EF4-FFF2-40B4-BE49-F238E27FC236}">
                <a16:creationId xmlns:a16="http://schemas.microsoft.com/office/drawing/2014/main" id="{58A3FD29-DAE6-EBDA-EAEC-9386C377D750}"/>
              </a:ext>
            </a:extLst>
          </p:cNvPr>
          <p:cNvSpPr/>
          <p:nvPr/>
        </p:nvSpPr>
        <p:spPr>
          <a:xfrm>
            <a:off x="622929" y="2435830"/>
            <a:ext cx="6312680" cy="4088810"/>
          </a:xfrm>
          <a:prstGeom prst="round2DiagRect">
            <a:avLst/>
          </a:prstGeom>
          <a:solidFill>
            <a:srgbClr val="525252"/>
          </a:solid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r>
              <a:rPr lang="en-GB" altLang="en-US" sz="2800" dirty="0"/>
              <a:t>Extensors originate from the lateral epicondyle of the humerus</a:t>
            </a:r>
          </a:p>
          <a:p>
            <a:pPr marL="914400" lvl="1" indent="-457200">
              <a:buClr>
                <a:schemeClr val="bg1"/>
              </a:buClr>
              <a:buFont typeface="Arial" panose="020B0604020202020204" pitchFamily="34" charset="0"/>
              <a:buChar char="•"/>
            </a:pPr>
            <a:r>
              <a:rPr lang="en-GB" altLang="en-US" sz="2800" dirty="0"/>
              <a:t>Extensor carpi radialis longus</a:t>
            </a:r>
          </a:p>
          <a:p>
            <a:pPr marL="914400" lvl="1" indent="-457200">
              <a:buClr>
                <a:schemeClr val="bg1"/>
              </a:buClr>
              <a:buFont typeface="Arial" panose="020B0604020202020204" pitchFamily="34" charset="0"/>
              <a:buChar char="•"/>
            </a:pPr>
            <a:r>
              <a:rPr lang="en-GB" altLang="en-US" sz="2800" dirty="0"/>
              <a:t>Extensor carpi radialis brevis</a:t>
            </a:r>
          </a:p>
          <a:p>
            <a:pPr marL="914400" lvl="1" indent="-457200">
              <a:buClr>
                <a:schemeClr val="bg1"/>
              </a:buClr>
              <a:buFont typeface="Arial" panose="020B0604020202020204" pitchFamily="34" charset="0"/>
              <a:buChar char="•"/>
            </a:pPr>
            <a:r>
              <a:rPr lang="en-GB" altLang="en-US" sz="2800" dirty="0"/>
              <a:t>Extensor carpi </a:t>
            </a:r>
            <a:r>
              <a:rPr lang="en-GB" altLang="en-US" sz="2800" dirty="0" err="1"/>
              <a:t>ulnaris</a:t>
            </a:r>
            <a:endParaRPr lang="en-GB" altLang="en-US" sz="2800" dirty="0"/>
          </a:p>
        </p:txBody>
      </p:sp>
      <p:sp>
        <p:nvSpPr>
          <p:cNvPr id="2" name="Round Diagonal Corner Rectangle 2">
            <a:extLst>
              <a:ext uri="{FF2B5EF4-FFF2-40B4-BE49-F238E27FC236}">
                <a16:creationId xmlns:a16="http://schemas.microsoft.com/office/drawing/2014/main" id="{A0D68D73-E6CA-3366-67E7-63835A2503E6}"/>
              </a:ext>
            </a:extLst>
          </p:cNvPr>
          <p:cNvSpPr/>
          <p:nvPr/>
        </p:nvSpPr>
        <p:spPr>
          <a:xfrm>
            <a:off x="7240410" y="421527"/>
            <a:ext cx="2360790" cy="3007473"/>
          </a:xfrm>
          <a:prstGeom prst="round2DiagRect">
            <a:avLst/>
          </a:prstGeom>
          <a:blipFill dpi="0" rotWithShape="1">
            <a:blip r:embed="rId4">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endParaRPr lang="en-GB" altLang="en-US" sz="2800" dirty="0"/>
          </a:p>
        </p:txBody>
      </p:sp>
      <p:sp>
        <p:nvSpPr>
          <p:cNvPr id="3" name="Round Diagonal Corner Rectangle 2">
            <a:extLst>
              <a:ext uri="{FF2B5EF4-FFF2-40B4-BE49-F238E27FC236}">
                <a16:creationId xmlns:a16="http://schemas.microsoft.com/office/drawing/2014/main" id="{F72D1482-72F1-0022-BA69-FA31ABBC2C65}"/>
              </a:ext>
            </a:extLst>
          </p:cNvPr>
          <p:cNvSpPr/>
          <p:nvPr/>
        </p:nvSpPr>
        <p:spPr>
          <a:xfrm>
            <a:off x="9716205" y="390728"/>
            <a:ext cx="2360790" cy="3007473"/>
          </a:xfrm>
          <a:prstGeom prst="round2DiagRect">
            <a:avLst/>
          </a:prstGeom>
          <a:blipFill dpi="0" rotWithShape="1">
            <a:blip r:embed="rId5">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endParaRPr lang="en-GB" altLang="en-US" sz="2800" dirty="0"/>
          </a:p>
        </p:txBody>
      </p:sp>
      <p:sp>
        <p:nvSpPr>
          <p:cNvPr id="6" name="Round Diagonal Corner Rectangle 2">
            <a:extLst>
              <a:ext uri="{FF2B5EF4-FFF2-40B4-BE49-F238E27FC236}">
                <a16:creationId xmlns:a16="http://schemas.microsoft.com/office/drawing/2014/main" id="{A58DA396-631F-4062-A7EA-2D8C9F88CFD6}"/>
              </a:ext>
            </a:extLst>
          </p:cNvPr>
          <p:cNvSpPr/>
          <p:nvPr/>
        </p:nvSpPr>
        <p:spPr>
          <a:xfrm>
            <a:off x="8431109" y="3587394"/>
            <a:ext cx="2360790" cy="3007473"/>
          </a:xfrm>
          <a:prstGeom prst="round2DiagRect">
            <a:avLst/>
          </a:prstGeom>
          <a:blipFill dpi="0" rotWithShape="1">
            <a:blip r:embed="rId6">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endParaRPr lang="en-GB" altLang="en-US" sz="2800" dirty="0"/>
          </a:p>
        </p:txBody>
      </p:sp>
    </p:spTree>
    <p:extLst>
      <p:ext uri="{BB962C8B-B14F-4D97-AF65-F5344CB8AC3E}">
        <p14:creationId xmlns:p14="http://schemas.microsoft.com/office/powerpoint/2010/main" val="36321781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ound Diagonal Corner Rectangle 3"/>
          <p:cNvSpPr/>
          <p:nvPr/>
        </p:nvSpPr>
        <p:spPr>
          <a:xfrm>
            <a:off x="622929" y="402811"/>
            <a:ext cx="2556277"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MUSCLES</a:t>
            </a:r>
          </a:p>
        </p:txBody>
      </p:sp>
      <p:pic>
        <p:nvPicPr>
          <p:cNvPr id="19" name="Picture 18" descr="COSMOS GRAPHIC WHITE.png"/>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8" name="Round Diagonal Corner Rectangle 3">
            <a:extLst>
              <a:ext uri="{FF2B5EF4-FFF2-40B4-BE49-F238E27FC236}">
                <a16:creationId xmlns:a16="http://schemas.microsoft.com/office/drawing/2014/main" id="{7C580129-A0D0-E6A1-4FAA-43A4C34C02A0}"/>
              </a:ext>
            </a:extLst>
          </p:cNvPr>
          <p:cNvSpPr/>
          <p:nvPr/>
        </p:nvSpPr>
        <p:spPr>
          <a:xfrm>
            <a:off x="622929" y="1435100"/>
            <a:ext cx="6312680"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EXTRINSICS OF THE FINGERS</a:t>
            </a:r>
          </a:p>
        </p:txBody>
      </p:sp>
      <p:sp>
        <p:nvSpPr>
          <p:cNvPr id="10" name="Round Diagonal Corner Rectangle 2">
            <a:extLst>
              <a:ext uri="{FF2B5EF4-FFF2-40B4-BE49-F238E27FC236}">
                <a16:creationId xmlns:a16="http://schemas.microsoft.com/office/drawing/2014/main" id="{58A3FD29-DAE6-EBDA-EAEC-9386C377D750}"/>
              </a:ext>
            </a:extLst>
          </p:cNvPr>
          <p:cNvSpPr/>
          <p:nvPr/>
        </p:nvSpPr>
        <p:spPr>
          <a:xfrm>
            <a:off x="622929" y="2435830"/>
            <a:ext cx="6312680" cy="4088810"/>
          </a:xfrm>
          <a:prstGeom prst="round2DiagRect">
            <a:avLst/>
          </a:prstGeom>
          <a:solidFill>
            <a:srgbClr val="525252"/>
          </a:solid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r>
              <a:rPr lang="pt-BR" altLang="en-US" sz="2800" dirty="0"/>
              <a:t>Flexor </a:t>
            </a:r>
            <a:r>
              <a:rPr lang="pt-BR" altLang="en-US" sz="2800" dirty="0" err="1"/>
              <a:t>digitorum</a:t>
            </a:r>
            <a:r>
              <a:rPr lang="pt-BR" altLang="en-US" sz="2800" dirty="0"/>
              <a:t> </a:t>
            </a:r>
            <a:r>
              <a:rPr lang="pt-BR" altLang="en-US" sz="2800" dirty="0" err="1"/>
              <a:t>superficialis</a:t>
            </a:r>
            <a:endParaRPr lang="pt-BR" altLang="en-US" sz="2800" dirty="0"/>
          </a:p>
          <a:p>
            <a:pPr marL="457200" indent="-457200">
              <a:buClr>
                <a:schemeClr val="bg1"/>
              </a:buClr>
              <a:buFont typeface="Arial" panose="020B0604020202020204" pitchFamily="34" charset="0"/>
              <a:buChar char="•"/>
            </a:pPr>
            <a:r>
              <a:rPr lang="pt-BR" altLang="en-US" sz="2800" dirty="0"/>
              <a:t>Flexor </a:t>
            </a:r>
            <a:r>
              <a:rPr lang="pt-BR" altLang="en-US" sz="2800" dirty="0" err="1"/>
              <a:t>digitorum</a:t>
            </a:r>
            <a:r>
              <a:rPr lang="pt-BR" altLang="en-US" sz="2800" dirty="0"/>
              <a:t> </a:t>
            </a:r>
            <a:r>
              <a:rPr lang="pt-BR" altLang="en-US" sz="2800" dirty="0" err="1"/>
              <a:t>profundus</a:t>
            </a:r>
            <a:r>
              <a:rPr lang="pt-BR" altLang="en-US" sz="2800" dirty="0"/>
              <a:t> (</a:t>
            </a:r>
            <a:r>
              <a:rPr lang="pt-BR" altLang="en-US" sz="2800" dirty="0" err="1"/>
              <a:t>Latin</a:t>
            </a:r>
            <a:r>
              <a:rPr lang="pt-BR" altLang="en-US" sz="2800" dirty="0"/>
              <a:t> for </a:t>
            </a:r>
            <a:r>
              <a:rPr lang="pt-BR" altLang="en-US" sz="2800" dirty="0" err="1"/>
              <a:t>deep</a:t>
            </a:r>
            <a:r>
              <a:rPr lang="pt-BR" altLang="en-US" sz="2800" dirty="0"/>
              <a:t>)</a:t>
            </a:r>
          </a:p>
        </p:txBody>
      </p:sp>
      <p:sp>
        <p:nvSpPr>
          <p:cNvPr id="2" name="Round Diagonal Corner Rectangle 2">
            <a:extLst>
              <a:ext uri="{FF2B5EF4-FFF2-40B4-BE49-F238E27FC236}">
                <a16:creationId xmlns:a16="http://schemas.microsoft.com/office/drawing/2014/main" id="{A0D68D73-E6CA-3366-67E7-63835A2503E6}"/>
              </a:ext>
            </a:extLst>
          </p:cNvPr>
          <p:cNvSpPr/>
          <p:nvPr/>
        </p:nvSpPr>
        <p:spPr>
          <a:xfrm>
            <a:off x="7168221" y="2466629"/>
            <a:ext cx="2360790" cy="4058011"/>
          </a:xfrm>
          <a:prstGeom prst="round2DiagRect">
            <a:avLst/>
          </a:prstGeom>
          <a:blipFill dpi="0" rotWithShape="1">
            <a:blip r:embed="rId4">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endParaRPr lang="en-GB" altLang="en-US" sz="2800" dirty="0"/>
          </a:p>
        </p:txBody>
      </p:sp>
      <p:sp>
        <p:nvSpPr>
          <p:cNvPr id="3" name="Round Diagonal Corner Rectangle 2">
            <a:extLst>
              <a:ext uri="{FF2B5EF4-FFF2-40B4-BE49-F238E27FC236}">
                <a16:creationId xmlns:a16="http://schemas.microsoft.com/office/drawing/2014/main" id="{F72D1482-72F1-0022-BA69-FA31ABBC2C65}"/>
              </a:ext>
            </a:extLst>
          </p:cNvPr>
          <p:cNvSpPr/>
          <p:nvPr/>
        </p:nvSpPr>
        <p:spPr>
          <a:xfrm>
            <a:off x="9644016" y="2435830"/>
            <a:ext cx="2360790" cy="4058011"/>
          </a:xfrm>
          <a:prstGeom prst="round2DiagRect">
            <a:avLst/>
          </a:prstGeom>
          <a:blipFill dpi="0" rotWithShape="1">
            <a:blip r:embed="rId5">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endParaRPr lang="en-GB" altLang="en-US" sz="2800" dirty="0"/>
          </a:p>
        </p:txBody>
      </p:sp>
    </p:spTree>
    <p:extLst>
      <p:ext uri="{BB962C8B-B14F-4D97-AF65-F5344CB8AC3E}">
        <p14:creationId xmlns:p14="http://schemas.microsoft.com/office/powerpoint/2010/main" val="25273326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ound Diagonal Corner Rectangle 3"/>
          <p:cNvSpPr/>
          <p:nvPr/>
        </p:nvSpPr>
        <p:spPr>
          <a:xfrm>
            <a:off x="622929" y="402811"/>
            <a:ext cx="2556277"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MUSCLES</a:t>
            </a:r>
          </a:p>
        </p:txBody>
      </p:sp>
      <p:pic>
        <p:nvPicPr>
          <p:cNvPr id="19" name="Picture 18" descr="COSMOS GRAPHIC WHITE.png"/>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8" name="Round Diagonal Corner Rectangle 3">
            <a:extLst>
              <a:ext uri="{FF2B5EF4-FFF2-40B4-BE49-F238E27FC236}">
                <a16:creationId xmlns:a16="http://schemas.microsoft.com/office/drawing/2014/main" id="{7C580129-A0D0-E6A1-4FAA-43A4C34C02A0}"/>
              </a:ext>
            </a:extLst>
          </p:cNvPr>
          <p:cNvSpPr/>
          <p:nvPr/>
        </p:nvSpPr>
        <p:spPr>
          <a:xfrm>
            <a:off x="622929" y="1435100"/>
            <a:ext cx="6312680"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EXTRINSICS OF THE FINGERS</a:t>
            </a:r>
          </a:p>
        </p:txBody>
      </p:sp>
      <p:sp>
        <p:nvSpPr>
          <p:cNvPr id="10" name="Round Diagonal Corner Rectangle 2">
            <a:extLst>
              <a:ext uri="{FF2B5EF4-FFF2-40B4-BE49-F238E27FC236}">
                <a16:creationId xmlns:a16="http://schemas.microsoft.com/office/drawing/2014/main" id="{58A3FD29-DAE6-EBDA-EAEC-9386C377D750}"/>
              </a:ext>
            </a:extLst>
          </p:cNvPr>
          <p:cNvSpPr/>
          <p:nvPr/>
        </p:nvSpPr>
        <p:spPr>
          <a:xfrm>
            <a:off x="622929" y="2435830"/>
            <a:ext cx="6312680" cy="4088810"/>
          </a:xfrm>
          <a:prstGeom prst="round2DiagRect">
            <a:avLst/>
          </a:prstGeom>
          <a:solidFill>
            <a:srgbClr val="525252"/>
          </a:solid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r>
              <a:rPr lang="pt-BR" altLang="en-US" sz="2800" dirty="0"/>
              <a:t>Extensor </a:t>
            </a:r>
            <a:r>
              <a:rPr lang="pt-BR" altLang="en-US" sz="2800" dirty="0" err="1"/>
              <a:t>digitorum</a:t>
            </a:r>
            <a:endParaRPr lang="pt-BR" altLang="en-US" sz="2800" dirty="0"/>
          </a:p>
          <a:p>
            <a:pPr marL="457200" indent="-457200">
              <a:buClr>
                <a:schemeClr val="bg1"/>
              </a:buClr>
              <a:buFont typeface="Arial" panose="020B0604020202020204" pitchFamily="34" charset="0"/>
              <a:buChar char="•"/>
            </a:pPr>
            <a:r>
              <a:rPr lang="pt-BR" altLang="en-US" sz="2800" dirty="0"/>
              <a:t>Extensor </a:t>
            </a:r>
            <a:r>
              <a:rPr lang="pt-BR" altLang="en-US" sz="2800" dirty="0" err="1"/>
              <a:t>digiti</a:t>
            </a:r>
            <a:r>
              <a:rPr lang="pt-BR" altLang="en-US" sz="2800" dirty="0"/>
              <a:t> </a:t>
            </a:r>
            <a:r>
              <a:rPr lang="pt-BR" altLang="en-US" sz="2800" dirty="0" err="1"/>
              <a:t>minimi</a:t>
            </a:r>
            <a:endParaRPr lang="pt-BR" altLang="en-US" sz="2800" dirty="0"/>
          </a:p>
          <a:p>
            <a:pPr marL="457200" indent="-457200">
              <a:buClr>
                <a:schemeClr val="bg1"/>
              </a:buClr>
              <a:buFont typeface="Arial" panose="020B0604020202020204" pitchFamily="34" charset="0"/>
              <a:buChar char="•"/>
            </a:pPr>
            <a:r>
              <a:rPr lang="pt-BR" altLang="en-US" sz="2800" dirty="0"/>
              <a:t>Extensor </a:t>
            </a:r>
            <a:r>
              <a:rPr lang="pt-BR" altLang="en-US" sz="2800" dirty="0" err="1"/>
              <a:t>indicis</a:t>
            </a:r>
            <a:r>
              <a:rPr lang="pt-BR" altLang="en-US" sz="2800" dirty="0"/>
              <a:t> </a:t>
            </a:r>
          </a:p>
          <a:p>
            <a:pPr marL="457200" indent="-457200">
              <a:buClr>
                <a:schemeClr val="bg1"/>
              </a:buClr>
              <a:buFont typeface="Arial" panose="020B0604020202020204" pitchFamily="34" charset="0"/>
              <a:buChar char="•"/>
            </a:pPr>
            <a:endParaRPr lang="pt-BR" altLang="en-US" sz="2800" dirty="0"/>
          </a:p>
          <a:p>
            <a:pPr marL="457200" indent="-457200">
              <a:buClr>
                <a:schemeClr val="bg1"/>
              </a:buClr>
              <a:buFont typeface="Arial" panose="020B0604020202020204" pitchFamily="34" charset="0"/>
              <a:buChar char="•"/>
            </a:pPr>
            <a:r>
              <a:rPr lang="pt-BR" altLang="en-US" sz="2800" dirty="0"/>
              <a:t>Dorsal digital </a:t>
            </a:r>
            <a:r>
              <a:rPr lang="pt-BR" altLang="en-US" sz="2800" dirty="0" err="1"/>
              <a:t>expansion</a:t>
            </a:r>
            <a:r>
              <a:rPr lang="pt-BR" altLang="en-US" sz="2800" dirty="0"/>
              <a:t>, </a:t>
            </a:r>
            <a:r>
              <a:rPr lang="pt-BR" altLang="en-US" sz="2800" dirty="0" err="1"/>
              <a:t>sometimes</a:t>
            </a:r>
            <a:r>
              <a:rPr lang="pt-BR" altLang="en-US" sz="2800" dirty="0"/>
              <a:t> </a:t>
            </a:r>
            <a:r>
              <a:rPr lang="pt-BR" altLang="en-US" sz="2800" dirty="0" err="1"/>
              <a:t>referred</a:t>
            </a:r>
            <a:r>
              <a:rPr lang="pt-BR" altLang="en-US" sz="2800" dirty="0"/>
              <a:t> </a:t>
            </a:r>
            <a:r>
              <a:rPr lang="pt-BR" altLang="en-US" sz="2800" dirty="0" err="1"/>
              <a:t>to</a:t>
            </a:r>
            <a:r>
              <a:rPr lang="pt-BR" altLang="en-US" sz="2800" dirty="0"/>
              <a:t> as </a:t>
            </a:r>
            <a:r>
              <a:rPr lang="pt-BR" altLang="en-US" sz="2800" dirty="0" err="1"/>
              <a:t>the</a:t>
            </a:r>
            <a:r>
              <a:rPr lang="pt-BR" altLang="en-US" sz="2800" dirty="0"/>
              <a:t> ‘extensor </a:t>
            </a:r>
            <a:r>
              <a:rPr lang="pt-BR" altLang="en-US" sz="2800" dirty="0" err="1"/>
              <a:t>hood</a:t>
            </a:r>
            <a:r>
              <a:rPr lang="pt-BR" altLang="en-US" sz="2800" dirty="0"/>
              <a:t>’, h</a:t>
            </a:r>
            <a:r>
              <a:rPr lang="en-GB" altLang="en-US" sz="2800" dirty="0"/>
              <a:t>olds the extensor tendons in place beyond the </a:t>
            </a:r>
            <a:r>
              <a:rPr lang="en-GB" sz="2800" b="1" dirty="0">
                <a:solidFill>
                  <a:srgbClr val="D4EAB8"/>
                </a:solidFill>
              </a:rPr>
              <a:t>PROXIMAL INTER</a:t>
            </a:r>
            <a:r>
              <a:rPr lang="en-GB" sz="2800" b="1" dirty="0">
                <a:solidFill>
                  <a:srgbClr val="A6CEE8"/>
                </a:solidFill>
              </a:rPr>
              <a:t>PHALANGEAL</a:t>
            </a:r>
            <a:r>
              <a:rPr lang="en-GB" sz="2800" b="1" dirty="0">
                <a:solidFill>
                  <a:schemeClr val="bg1"/>
                </a:solidFill>
              </a:rPr>
              <a:t> </a:t>
            </a:r>
            <a:r>
              <a:rPr lang="en-GB" sz="2800" dirty="0">
                <a:solidFill>
                  <a:schemeClr val="bg1"/>
                </a:solidFill>
              </a:rPr>
              <a:t>(PIP)</a:t>
            </a:r>
            <a:endParaRPr lang="pt-BR" altLang="en-US" sz="2800" dirty="0"/>
          </a:p>
        </p:txBody>
      </p:sp>
      <p:sp>
        <p:nvSpPr>
          <p:cNvPr id="2" name="Round Diagonal Corner Rectangle 2">
            <a:extLst>
              <a:ext uri="{FF2B5EF4-FFF2-40B4-BE49-F238E27FC236}">
                <a16:creationId xmlns:a16="http://schemas.microsoft.com/office/drawing/2014/main" id="{A0D68D73-E6CA-3366-67E7-63835A2503E6}"/>
              </a:ext>
            </a:extLst>
          </p:cNvPr>
          <p:cNvSpPr/>
          <p:nvPr/>
        </p:nvSpPr>
        <p:spPr>
          <a:xfrm>
            <a:off x="7240410" y="421527"/>
            <a:ext cx="2360790" cy="3007473"/>
          </a:xfrm>
          <a:prstGeom prst="round2DiagRect">
            <a:avLst/>
          </a:prstGeom>
          <a:blipFill dpi="0" rotWithShape="1">
            <a:blip r:embed="rId4">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endParaRPr lang="en-GB" altLang="en-US" sz="2800" dirty="0"/>
          </a:p>
        </p:txBody>
      </p:sp>
      <p:sp>
        <p:nvSpPr>
          <p:cNvPr id="3" name="Round Diagonal Corner Rectangle 2">
            <a:extLst>
              <a:ext uri="{FF2B5EF4-FFF2-40B4-BE49-F238E27FC236}">
                <a16:creationId xmlns:a16="http://schemas.microsoft.com/office/drawing/2014/main" id="{F72D1482-72F1-0022-BA69-FA31ABBC2C65}"/>
              </a:ext>
            </a:extLst>
          </p:cNvPr>
          <p:cNvSpPr/>
          <p:nvPr/>
        </p:nvSpPr>
        <p:spPr>
          <a:xfrm>
            <a:off x="9716205" y="390728"/>
            <a:ext cx="2360790" cy="3007473"/>
          </a:xfrm>
          <a:prstGeom prst="round2DiagRect">
            <a:avLst/>
          </a:prstGeom>
          <a:blipFill dpi="0" rotWithShape="1">
            <a:blip r:embed="rId5">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endParaRPr lang="en-GB" altLang="en-US" sz="2800" dirty="0"/>
          </a:p>
        </p:txBody>
      </p:sp>
      <p:sp>
        <p:nvSpPr>
          <p:cNvPr id="6" name="Round Diagonal Corner Rectangle 2">
            <a:extLst>
              <a:ext uri="{FF2B5EF4-FFF2-40B4-BE49-F238E27FC236}">
                <a16:creationId xmlns:a16="http://schemas.microsoft.com/office/drawing/2014/main" id="{A58DA396-631F-4062-A7EA-2D8C9F88CFD6}"/>
              </a:ext>
            </a:extLst>
          </p:cNvPr>
          <p:cNvSpPr/>
          <p:nvPr/>
        </p:nvSpPr>
        <p:spPr>
          <a:xfrm>
            <a:off x="9678105" y="3554159"/>
            <a:ext cx="2360790" cy="3007473"/>
          </a:xfrm>
          <a:prstGeom prst="round2DiagRect">
            <a:avLst/>
          </a:prstGeom>
          <a:blipFill dpi="0" rotWithShape="1">
            <a:blip r:embed="rId6">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endParaRPr lang="en-GB" altLang="en-US" sz="2800" dirty="0"/>
          </a:p>
        </p:txBody>
      </p:sp>
      <p:sp>
        <p:nvSpPr>
          <p:cNvPr id="5" name="Rectangle: Rounded Corners 4">
            <a:extLst>
              <a:ext uri="{FF2B5EF4-FFF2-40B4-BE49-F238E27FC236}">
                <a16:creationId xmlns:a16="http://schemas.microsoft.com/office/drawing/2014/main" id="{06A2E9BC-F68E-3BBB-DA34-4B6C75F862B7}"/>
              </a:ext>
            </a:extLst>
          </p:cNvPr>
          <p:cNvSpPr/>
          <p:nvPr/>
        </p:nvSpPr>
        <p:spPr>
          <a:xfrm>
            <a:off x="7324725" y="3587394"/>
            <a:ext cx="2181225" cy="1899006"/>
          </a:xfrm>
          <a:prstGeom prst="roundRect">
            <a:avLst/>
          </a:prstGeom>
          <a:solidFill>
            <a:srgbClr val="E29E8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dirty="0"/>
              <a:t>DORSAL DIGITAL EXPANSION</a:t>
            </a:r>
          </a:p>
        </p:txBody>
      </p:sp>
      <p:sp>
        <p:nvSpPr>
          <p:cNvPr id="9" name="Arrow: Down 8">
            <a:extLst>
              <a:ext uri="{FF2B5EF4-FFF2-40B4-BE49-F238E27FC236}">
                <a16:creationId xmlns:a16="http://schemas.microsoft.com/office/drawing/2014/main" id="{6D0F6AAA-0A34-FDB5-CDD0-DB986A338D3F}"/>
              </a:ext>
            </a:extLst>
          </p:cNvPr>
          <p:cNvSpPr/>
          <p:nvPr/>
        </p:nvSpPr>
        <p:spPr>
          <a:xfrm flipV="1">
            <a:off x="8181270" y="3171723"/>
            <a:ext cx="295275" cy="415671"/>
          </a:xfrm>
          <a:prstGeom prst="downArrow">
            <a:avLst/>
          </a:prstGeom>
          <a:solidFill>
            <a:srgbClr val="E29E8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9563328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ound Diagonal Corner Rectangle 3"/>
          <p:cNvSpPr/>
          <p:nvPr/>
        </p:nvSpPr>
        <p:spPr>
          <a:xfrm>
            <a:off x="622929" y="402811"/>
            <a:ext cx="2556277"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MUSCLES</a:t>
            </a:r>
          </a:p>
        </p:txBody>
      </p:sp>
      <p:pic>
        <p:nvPicPr>
          <p:cNvPr id="19" name="Picture 18" descr="COSMOS GRAPHIC WHITE.png"/>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8" name="Round Diagonal Corner Rectangle 3">
            <a:extLst>
              <a:ext uri="{FF2B5EF4-FFF2-40B4-BE49-F238E27FC236}">
                <a16:creationId xmlns:a16="http://schemas.microsoft.com/office/drawing/2014/main" id="{7C580129-A0D0-E6A1-4FAA-43A4C34C02A0}"/>
              </a:ext>
            </a:extLst>
          </p:cNvPr>
          <p:cNvSpPr/>
          <p:nvPr/>
        </p:nvSpPr>
        <p:spPr>
          <a:xfrm>
            <a:off x="622929" y="1435100"/>
            <a:ext cx="6312680"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INTRINSICS OF THE FINGERS</a:t>
            </a:r>
          </a:p>
        </p:txBody>
      </p:sp>
      <p:sp>
        <p:nvSpPr>
          <p:cNvPr id="10" name="Round Diagonal Corner Rectangle 2">
            <a:extLst>
              <a:ext uri="{FF2B5EF4-FFF2-40B4-BE49-F238E27FC236}">
                <a16:creationId xmlns:a16="http://schemas.microsoft.com/office/drawing/2014/main" id="{58A3FD29-DAE6-EBDA-EAEC-9386C377D750}"/>
              </a:ext>
            </a:extLst>
          </p:cNvPr>
          <p:cNvSpPr/>
          <p:nvPr/>
        </p:nvSpPr>
        <p:spPr>
          <a:xfrm>
            <a:off x="622929" y="2435830"/>
            <a:ext cx="6312680" cy="4088810"/>
          </a:xfrm>
          <a:prstGeom prst="round2DiagRect">
            <a:avLst/>
          </a:prstGeom>
          <a:solidFill>
            <a:srgbClr val="525252"/>
          </a:solid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r>
              <a:rPr lang="pt-BR" altLang="en-US" sz="2800" dirty="0" err="1"/>
              <a:t>Opponens</a:t>
            </a:r>
            <a:r>
              <a:rPr lang="pt-BR" altLang="en-US" sz="2800" dirty="0"/>
              <a:t> </a:t>
            </a:r>
            <a:r>
              <a:rPr lang="pt-BR" altLang="en-US" sz="2800" dirty="0" err="1"/>
              <a:t>digiti</a:t>
            </a:r>
            <a:r>
              <a:rPr lang="pt-BR" altLang="en-US" sz="2800" dirty="0"/>
              <a:t> </a:t>
            </a:r>
            <a:r>
              <a:rPr lang="pt-BR" altLang="en-US" sz="2800" dirty="0" err="1"/>
              <a:t>minimi</a:t>
            </a:r>
            <a:endParaRPr lang="pt-BR" altLang="en-US" sz="2800" dirty="0"/>
          </a:p>
          <a:p>
            <a:pPr marL="457200" indent="-457200">
              <a:buClr>
                <a:schemeClr val="bg1"/>
              </a:buClr>
              <a:buFont typeface="Arial" panose="020B0604020202020204" pitchFamily="34" charset="0"/>
              <a:buChar char="•"/>
            </a:pPr>
            <a:r>
              <a:rPr lang="pt-BR" altLang="en-US" sz="2800" dirty="0" err="1"/>
              <a:t>Abductor</a:t>
            </a:r>
            <a:r>
              <a:rPr lang="pt-BR" altLang="en-US" sz="2800" dirty="0"/>
              <a:t> </a:t>
            </a:r>
            <a:r>
              <a:rPr lang="pt-BR" altLang="en-US" sz="2800" dirty="0" err="1"/>
              <a:t>digiti</a:t>
            </a:r>
            <a:r>
              <a:rPr lang="pt-BR" altLang="en-US" sz="2800" dirty="0"/>
              <a:t> </a:t>
            </a:r>
            <a:r>
              <a:rPr lang="pt-BR" altLang="en-US" sz="2800" dirty="0" err="1"/>
              <a:t>minimi</a:t>
            </a:r>
            <a:endParaRPr lang="pt-BR" altLang="en-US" sz="2800" dirty="0"/>
          </a:p>
          <a:p>
            <a:pPr marL="457200" indent="-457200">
              <a:buClr>
                <a:schemeClr val="bg1"/>
              </a:buClr>
              <a:buFont typeface="Arial" panose="020B0604020202020204" pitchFamily="34" charset="0"/>
              <a:buChar char="•"/>
            </a:pPr>
            <a:r>
              <a:rPr lang="pt-BR" altLang="en-US" sz="2800" dirty="0"/>
              <a:t>Flexor </a:t>
            </a:r>
            <a:r>
              <a:rPr lang="pt-BR" altLang="en-US" sz="2800" dirty="0" err="1"/>
              <a:t>digiti</a:t>
            </a:r>
            <a:r>
              <a:rPr lang="pt-BR" altLang="en-US" sz="2800" dirty="0"/>
              <a:t> </a:t>
            </a:r>
            <a:r>
              <a:rPr lang="pt-BR" altLang="en-US" sz="2800" dirty="0" err="1"/>
              <a:t>minimi</a:t>
            </a:r>
            <a:r>
              <a:rPr lang="pt-BR" altLang="en-US" sz="2800" dirty="0"/>
              <a:t> </a:t>
            </a:r>
            <a:r>
              <a:rPr lang="pt-BR" altLang="en-US" sz="2800" dirty="0" err="1"/>
              <a:t>brevis</a:t>
            </a:r>
            <a:endParaRPr lang="pt-BR" altLang="en-US" sz="2800" dirty="0"/>
          </a:p>
        </p:txBody>
      </p:sp>
      <p:sp>
        <p:nvSpPr>
          <p:cNvPr id="2" name="Round Diagonal Corner Rectangle 2">
            <a:extLst>
              <a:ext uri="{FF2B5EF4-FFF2-40B4-BE49-F238E27FC236}">
                <a16:creationId xmlns:a16="http://schemas.microsoft.com/office/drawing/2014/main" id="{A0D68D73-E6CA-3366-67E7-63835A2503E6}"/>
              </a:ext>
            </a:extLst>
          </p:cNvPr>
          <p:cNvSpPr/>
          <p:nvPr/>
        </p:nvSpPr>
        <p:spPr>
          <a:xfrm>
            <a:off x="7156111" y="293931"/>
            <a:ext cx="2360790" cy="3007473"/>
          </a:xfrm>
          <a:prstGeom prst="round2DiagRect">
            <a:avLst/>
          </a:prstGeom>
          <a:blipFill dpi="0" rotWithShape="1">
            <a:blip r:embed="rId4">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endParaRPr lang="en-GB" altLang="en-US" sz="2800" dirty="0"/>
          </a:p>
        </p:txBody>
      </p:sp>
      <p:sp>
        <p:nvSpPr>
          <p:cNvPr id="3" name="Round Diagonal Corner Rectangle 2">
            <a:extLst>
              <a:ext uri="{FF2B5EF4-FFF2-40B4-BE49-F238E27FC236}">
                <a16:creationId xmlns:a16="http://schemas.microsoft.com/office/drawing/2014/main" id="{F72D1482-72F1-0022-BA69-FA31ABBC2C65}"/>
              </a:ext>
            </a:extLst>
          </p:cNvPr>
          <p:cNvSpPr/>
          <p:nvPr/>
        </p:nvSpPr>
        <p:spPr>
          <a:xfrm>
            <a:off x="9631906" y="263132"/>
            <a:ext cx="2360790" cy="3007473"/>
          </a:xfrm>
          <a:prstGeom prst="round2DiagRect">
            <a:avLst/>
          </a:prstGeom>
          <a:blipFill dpi="0" rotWithShape="1">
            <a:blip r:embed="rId5">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endParaRPr lang="en-GB" altLang="en-US" sz="2800" dirty="0"/>
          </a:p>
        </p:txBody>
      </p:sp>
      <p:sp>
        <p:nvSpPr>
          <p:cNvPr id="5" name="Round Diagonal Corner Rectangle 2">
            <a:extLst>
              <a:ext uri="{FF2B5EF4-FFF2-40B4-BE49-F238E27FC236}">
                <a16:creationId xmlns:a16="http://schemas.microsoft.com/office/drawing/2014/main" id="{841DEC70-558B-C4F3-D842-9FE37ECDA4EA}"/>
              </a:ext>
            </a:extLst>
          </p:cNvPr>
          <p:cNvSpPr/>
          <p:nvPr/>
        </p:nvSpPr>
        <p:spPr>
          <a:xfrm>
            <a:off x="8431109" y="3587394"/>
            <a:ext cx="2360790" cy="3007473"/>
          </a:xfrm>
          <a:prstGeom prst="round2DiagRect">
            <a:avLst/>
          </a:prstGeom>
          <a:blipFill dpi="0" rotWithShape="1">
            <a:blip r:embed="rId6">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endParaRPr lang="en-GB" altLang="en-US" sz="2800" dirty="0"/>
          </a:p>
        </p:txBody>
      </p:sp>
    </p:spTree>
    <p:extLst>
      <p:ext uri="{BB962C8B-B14F-4D97-AF65-F5344CB8AC3E}">
        <p14:creationId xmlns:p14="http://schemas.microsoft.com/office/powerpoint/2010/main" val="10711535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ound Diagonal Corner Rectangle 3"/>
          <p:cNvSpPr/>
          <p:nvPr/>
        </p:nvSpPr>
        <p:spPr>
          <a:xfrm>
            <a:off x="622929" y="402811"/>
            <a:ext cx="2556277"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MUSCLES</a:t>
            </a:r>
          </a:p>
        </p:txBody>
      </p:sp>
      <p:pic>
        <p:nvPicPr>
          <p:cNvPr id="19" name="Picture 18" descr="COSMOS GRAPHIC WHITE.png"/>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8" name="Round Diagonal Corner Rectangle 3">
            <a:extLst>
              <a:ext uri="{FF2B5EF4-FFF2-40B4-BE49-F238E27FC236}">
                <a16:creationId xmlns:a16="http://schemas.microsoft.com/office/drawing/2014/main" id="{7C580129-A0D0-E6A1-4FAA-43A4C34C02A0}"/>
              </a:ext>
            </a:extLst>
          </p:cNvPr>
          <p:cNvSpPr/>
          <p:nvPr/>
        </p:nvSpPr>
        <p:spPr>
          <a:xfrm>
            <a:off x="622929" y="1435100"/>
            <a:ext cx="6312680"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INTRINSICS OF THE FINGERS</a:t>
            </a:r>
          </a:p>
        </p:txBody>
      </p:sp>
      <p:sp>
        <p:nvSpPr>
          <p:cNvPr id="10" name="Round Diagonal Corner Rectangle 2">
            <a:extLst>
              <a:ext uri="{FF2B5EF4-FFF2-40B4-BE49-F238E27FC236}">
                <a16:creationId xmlns:a16="http://schemas.microsoft.com/office/drawing/2014/main" id="{58A3FD29-DAE6-EBDA-EAEC-9386C377D750}"/>
              </a:ext>
            </a:extLst>
          </p:cNvPr>
          <p:cNvSpPr/>
          <p:nvPr/>
        </p:nvSpPr>
        <p:spPr>
          <a:xfrm>
            <a:off x="622929" y="2435830"/>
            <a:ext cx="6312680" cy="4088810"/>
          </a:xfrm>
          <a:prstGeom prst="round2DiagRect">
            <a:avLst/>
          </a:prstGeom>
          <a:solidFill>
            <a:srgbClr val="525252"/>
          </a:solid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r>
              <a:rPr lang="pt-BR" altLang="en-US" sz="2800" dirty="0"/>
              <a:t>Dorsal </a:t>
            </a:r>
            <a:r>
              <a:rPr lang="pt-BR" altLang="en-US" sz="2800" dirty="0" err="1"/>
              <a:t>interosseii</a:t>
            </a:r>
            <a:r>
              <a:rPr lang="pt-BR" altLang="en-US" sz="2800" dirty="0"/>
              <a:t> </a:t>
            </a:r>
          </a:p>
          <a:p>
            <a:pPr marL="457200" indent="-457200">
              <a:buClr>
                <a:schemeClr val="bg1"/>
              </a:buClr>
              <a:buFont typeface="Arial" panose="020B0604020202020204" pitchFamily="34" charset="0"/>
              <a:buChar char="•"/>
            </a:pPr>
            <a:r>
              <a:rPr lang="pt-BR" altLang="en-US" sz="2800" dirty="0"/>
              <a:t>Palmar </a:t>
            </a:r>
            <a:r>
              <a:rPr lang="pt-BR" altLang="en-US" sz="2800" dirty="0" err="1"/>
              <a:t>interoesseii</a:t>
            </a:r>
            <a:endParaRPr lang="pt-BR" altLang="en-US" sz="2800" dirty="0"/>
          </a:p>
          <a:p>
            <a:pPr marL="457200" indent="-457200">
              <a:buClr>
                <a:schemeClr val="bg1"/>
              </a:buClr>
              <a:buFont typeface="Arial" panose="020B0604020202020204" pitchFamily="34" charset="0"/>
              <a:buChar char="•"/>
            </a:pPr>
            <a:r>
              <a:rPr lang="pt-BR" altLang="en-US" sz="2800" dirty="0" err="1"/>
              <a:t>Lumbricals</a:t>
            </a:r>
            <a:endParaRPr lang="pt-BR" altLang="en-US" sz="2800" dirty="0"/>
          </a:p>
        </p:txBody>
      </p:sp>
      <p:sp>
        <p:nvSpPr>
          <p:cNvPr id="2" name="Round Diagonal Corner Rectangle 2">
            <a:extLst>
              <a:ext uri="{FF2B5EF4-FFF2-40B4-BE49-F238E27FC236}">
                <a16:creationId xmlns:a16="http://schemas.microsoft.com/office/drawing/2014/main" id="{A0D68D73-E6CA-3366-67E7-63835A2503E6}"/>
              </a:ext>
            </a:extLst>
          </p:cNvPr>
          <p:cNvSpPr/>
          <p:nvPr/>
        </p:nvSpPr>
        <p:spPr>
          <a:xfrm>
            <a:off x="7156111" y="2466629"/>
            <a:ext cx="2360790" cy="4058011"/>
          </a:xfrm>
          <a:prstGeom prst="round2DiagRect">
            <a:avLst/>
          </a:prstGeom>
          <a:blipFill dpi="0" rotWithShape="1">
            <a:blip r:embed="rId4">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endParaRPr lang="en-GB" altLang="en-US" sz="2800" dirty="0"/>
          </a:p>
        </p:txBody>
      </p:sp>
      <p:sp>
        <p:nvSpPr>
          <p:cNvPr id="3" name="Round Diagonal Corner Rectangle 2">
            <a:extLst>
              <a:ext uri="{FF2B5EF4-FFF2-40B4-BE49-F238E27FC236}">
                <a16:creationId xmlns:a16="http://schemas.microsoft.com/office/drawing/2014/main" id="{F72D1482-72F1-0022-BA69-FA31ABBC2C65}"/>
              </a:ext>
            </a:extLst>
          </p:cNvPr>
          <p:cNvSpPr/>
          <p:nvPr/>
        </p:nvSpPr>
        <p:spPr>
          <a:xfrm>
            <a:off x="9631906" y="2435830"/>
            <a:ext cx="2360790" cy="4058011"/>
          </a:xfrm>
          <a:prstGeom prst="round2DiagRect">
            <a:avLst/>
          </a:prstGeom>
          <a:blipFill dpi="0" rotWithShape="1">
            <a:blip r:embed="rId5">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endParaRPr lang="en-GB" altLang="en-US" sz="2800" dirty="0"/>
          </a:p>
        </p:txBody>
      </p:sp>
    </p:spTree>
    <p:extLst>
      <p:ext uri="{BB962C8B-B14F-4D97-AF65-F5344CB8AC3E}">
        <p14:creationId xmlns:p14="http://schemas.microsoft.com/office/powerpoint/2010/main" val="37774063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ound Diagonal Corner Rectangle 3"/>
          <p:cNvSpPr/>
          <p:nvPr/>
        </p:nvSpPr>
        <p:spPr>
          <a:xfrm>
            <a:off x="622929" y="402811"/>
            <a:ext cx="2556277"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MUSCLES</a:t>
            </a:r>
          </a:p>
        </p:txBody>
      </p:sp>
      <p:pic>
        <p:nvPicPr>
          <p:cNvPr id="19" name="Picture 18" descr="COSMOS GRAPHIC WHITE.png"/>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8" name="Round Diagonal Corner Rectangle 3">
            <a:extLst>
              <a:ext uri="{FF2B5EF4-FFF2-40B4-BE49-F238E27FC236}">
                <a16:creationId xmlns:a16="http://schemas.microsoft.com/office/drawing/2014/main" id="{7C580129-A0D0-E6A1-4FAA-43A4C34C02A0}"/>
              </a:ext>
            </a:extLst>
          </p:cNvPr>
          <p:cNvSpPr/>
          <p:nvPr/>
        </p:nvSpPr>
        <p:spPr>
          <a:xfrm>
            <a:off x="622929" y="1435100"/>
            <a:ext cx="6312680"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EXTRINSICS OF THE THUMB</a:t>
            </a:r>
          </a:p>
        </p:txBody>
      </p:sp>
      <p:sp>
        <p:nvSpPr>
          <p:cNvPr id="10" name="Round Diagonal Corner Rectangle 2">
            <a:extLst>
              <a:ext uri="{FF2B5EF4-FFF2-40B4-BE49-F238E27FC236}">
                <a16:creationId xmlns:a16="http://schemas.microsoft.com/office/drawing/2014/main" id="{58A3FD29-DAE6-EBDA-EAEC-9386C377D750}"/>
              </a:ext>
            </a:extLst>
          </p:cNvPr>
          <p:cNvSpPr/>
          <p:nvPr/>
        </p:nvSpPr>
        <p:spPr>
          <a:xfrm>
            <a:off x="622929" y="2435830"/>
            <a:ext cx="6312680" cy="4088810"/>
          </a:xfrm>
          <a:prstGeom prst="round2DiagRect">
            <a:avLst/>
          </a:prstGeom>
          <a:solidFill>
            <a:srgbClr val="525252"/>
          </a:solid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r>
              <a:rPr lang="pt-BR" altLang="en-US" sz="2800" dirty="0"/>
              <a:t>Extensor </a:t>
            </a:r>
            <a:r>
              <a:rPr lang="pt-BR" altLang="en-US" sz="2800" dirty="0" err="1"/>
              <a:t>pollicis</a:t>
            </a:r>
            <a:r>
              <a:rPr lang="pt-BR" altLang="en-US" sz="2800" dirty="0"/>
              <a:t> </a:t>
            </a:r>
            <a:r>
              <a:rPr lang="pt-BR" altLang="en-US" sz="2800" dirty="0" err="1"/>
              <a:t>longus</a:t>
            </a:r>
            <a:endParaRPr lang="pt-BR" altLang="en-US" sz="2800" dirty="0"/>
          </a:p>
          <a:p>
            <a:pPr marL="457200" indent="-457200">
              <a:buClr>
                <a:schemeClr val="bg1"/>
              </a:buClr>
              <a:buFont typeface="Arial" panose="020B0604020202020204" pitchFamily="34" charset="0"/>
              <a:buChar char="•"/>
            </a:pPr>
            <a:r>
              <a:rPr lang="pt-BR" altLang="en-US" sz="2800" dirty="0"/>
              <a:t>Extensor </a:t>
            </a:r>
            <a:r>
              <a:rPr lang="pt-BR" altLang="en-US" sz="2800" dirty="0" err="1"/>
              <a:t>pollicis</a:t>
            </a:r>
            <a:r>
              <a:rPr lang="pt-BR" altLang="en-US" sz="2800" dirty="0"/>
              <a:t> </a:t>
            </a:r>
            <a:r>
              <a:rPr lang="pt-BR" altLang="en-US" sz="2800" dirty="0" err="1"/>
              <a:t>brevis</a:t>
            </a:r>
            <a:endParaRPr lang="pt-BR" altLang="en-US" sz="2800" dirty="0"/>
          </a:p>
          <a:p>
            <a:pPr marL="457200" indent="-457200">
              <a:buClr>
                <a:schemeClr val="bg1"/>
              </a:buClr>
              <a:buFont typeface="Arial" panose="020B0604020202020204" pitchFamily="34" charset="0"/>
              <a:buChar char="•"/>
            </a:pPr>
            <a:r>
              <a:rPr lang="pt-BR" altLang="en-US" sz="2800" dirty="0" err="1"/>
              <a:t>Abductor</a:t>
            </a:r>
            <a:r>
              <a:rPr lang="pt-BR" altLang="en-US" sz="2800" dirty="0"/>
              <a:t> </a:t>
            </a:r>
            <a:r>
              <a:rPr lang="pt-BR" altLang="en-US" sz="2800" dirty="0" err="1"/>
              <a:t>pollicis</a:t>
            </a:r>
            <a:r>
              <a:rPr lang="pt-BR" altLang="en-US" sz="2800" dirty="0"/>
              <a:t> </a:t>
            </a:r>
            <a:r>
              <a:rPr lang="pt-BR" altLang="en-US" sz="2800" dirty="0" err="1"/>
              <a:t>longus</a:t>
            </a:r>
            <a:endParaRPr lang="pt-BR" altLang="en-US" sz="2800" dirty="0"/>
          </a:p>
          <a:p>
            <a:pPr marL="457200" indent="-457200">
              <a:buClr>
                <a:schemeClr val="bg1"/>
              </a:buClr>
              <a:buFont typeface="Arial" panose="020B0604020202020204" pitchFamily="34" charset="0"/>
              <a:buChar char="•"/>
            </a:pPr>
            <a:r>
              <a:rPr lang="pt-BR" altLang="en-US" sz="2800" dirty="0"/>
              <a:t>Flexor </a:t>
            </a:r>
            <a:r>
              <a:rPr lang="pt-BR" altLang="en-US" sz="2800" dirty="0" err="1"/>
              <a:t>pollicis</a:t>
            </a:r>
            <a:r>
              <a:rPr lang="pt-BR" altLang="en-US" sz="2800" dirty="0"/>
              <a:t> </a:t>
            </a:r>
            <a:r>
              <a:rPr lang="pt-BR" altLang="en-US" sz="2800" dirty="0" err="1"/>
              <a:t>longus</a:t>
            </a:r>
            <a:endParaRPr lang="pt-BR" altLang="en-US" sz="2800" dirty="0"/>
          </a:p>
          <a:p>
            <a:pPr>
              <a:buClr>
                <a:schemeClr val="bg1"/>
              </a:buClr>
            </a:pPr>
            <a:endParaRPr lang="pt-BR" altLang="en-US" sz="2800" dirty="0"/>
          </a:p>
        </p:txBody>
      </p:sp>
      <p:sp>
        <p:nvSpPr>
          <p:cNvPr id="2" name="Round Diagonal Corner Rectangle 2">
            <a:extLst>
              <a:ext uri="{FF2B5EF4-FFF2-40B4-BE49-F238E27FC236}">
                <a16:creationId xmlns:a16="http://schemas.microsoft.com/office/drawing/2014/main" id="{A0D68D73-E6CA-3366-67E7-63835A2503E6}"/>
              </a:ext>
            </a:extLst>
          </p:cNvPr>
          <p:cNvSpPr/>
          <p:nvPr/>
        </p:nvSpPr>
        <p:spPr>
          <a:xfrm>
            <a:off x="7156111" y="293931"/>
            <a:ext cx="2360790" cy="3007473"/>
          </a:xfrm>
          <a:prstGeom prst="round2DiagRect">
            <a:avLst/>
          </a:prstGeom>
          <a:blipFill dpi="0" rotWithShape="1">
            <a:blip r:embed="rId4">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endParaRPr lang="en-GB" altLang="en-US" sz="2800" dirty="0"/>
          </a:p>
        </p:txBody>
      </p:sp>
      <p:sp>
        <p:nvSpPr>
          <p:cNvPr id="3" name="Round Diagonal Corner Rectangle 2">
            <a:extLst>
              <a:ext uri="{FF2B5EF4-FFF2-40B4-BE49-F238E27FC236}">
                <a16:creationId xmlns:a16="http://schemas.microsoft.com/office/drawing/2014/main" id="{F72D1482-72F1-0022-BA69-FA31ABBC2C65}"/>
              </a:ext>
            </a:extLst>
          </p:cNvPr>
          <p:cNvSpPr/>
          <p:nvPr/>
        </p:nvSpPr>
        <p:spPr>
          <a:xfrm>
            <a:off x="9631906" y="263132"/>
            <a:ext cx="2360790" cy="3007473"/>
          </a:xfrm>
          <a:prstGeom prst="round2DiagRect">
            <a:avLst/>
          </a:prstGeom>
          <a:blipFill dpi="0" rotWithShape="1">
            <a:blip r:embed="rId5">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endParaRPr lang="en-GB" altLang="en-US" sz="2800" dirty="0"/>
          </a:p>
        </p:txBody>
      </p:sp>
      <p:sp>
        <p:nvSpPr>
          <p:cNvPr id="5" name="Round Diagonal Corner Rectangle 2">
            <a:extLst>
              <a:ext uri="{FF2B5EF4-FFF2-40B4-BE49-F238E27FC236}">
                <a16:creationId xmlns:a16="http://schemas.microsoft.com/office/drawing/2014/main" id="{841DEC70-558B-C4F3-D842-9FE37ECDA4EA}"/>
              </a:ext>
            </a:extLst>
          </p:cNvPr>
          <p:cNvSpPr/>
          <p:nvPr/>
        </p:nvSpPr>
        <p:spPr>
          <a:xfrm>
            <a:off x="8431109" y="3587394"/>
            <a:ext cx="2360790" cy="3007473"/>
          </a:xfrm>
          <a:prstGeom prst="round2DiagRect">
            <a:avLst/>
          </a:prstGeom>
          <a:blipFill dpi="0" rotWithShape="1">
            <a:blip r:embed="rId6">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endParaRPr lang="en-GB" altLang="en-US" sz="2800" dirty="0"/>
          </a:p>
        </p:txBody>
      </p:sp>
    </p:spTree>
    <p:extLst>
      <p:ext uri="{BB962C8B-B14F-4D97-AF65-F5344CB8AC3E}">
        <p14:creationId xmlns:p14="http://schemas.microsoft.com/office/powerpoint/2010/main" val="27391563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ound Diagonal Corner Rectangle 3"/>
          <p:cNvSpPr/>
          <p:nvPr/>
        </p:nvSpPr>
        <p:spPr>
          <a:xfrm>
            <a:off x="622929" y="402811"/>
            <a:ext cx="2556277"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MUSCLES</a:t>
            </a:r>
          </a:p>
        </p:txBody>
      </p:sp>
      <p:pic>
        <p:nvPicPr>
          <p:cNvPr id="19" name="Picture 18" descr="COSMOS GRAPHIC WHITE.png"/>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8" name="Round Diagonal Corner Rectangle 3">
            <a:extLst>
              <a:ext uri="{FF2B5EF4-FFF2-40B4-BE49-F238E27FC236}">
                <a16:creationId xmlns:a16="http://schemas.microsoft.com/office/drawing/2014/main" id="{7C580129-A0D0-E6A1-4FAA-43A4C34C02A0}"/>
              </a:ext>
            </a:extLst>
          </p:cNvPr>
          <p:cNvSpPr/>
          <p:nvPr/>
        </p:nvSpPr>
        <p:spPr>
          <a:xfrm>
            <a:off x="622929" y="1435100"/>
            <a:ext cx="6312680"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INTRINSICS OF THE THUMB</a:t>
            </a:r>
          </a:p>
        </p:txBody>
      </p:sp>
      <p:sp>
        <p:nvSpPr>
          <p:cNvPr id="10" name="Round Diagonal Corner Rectangle 2">
            <a:extLst>
              <a:ext uri="{FF2B5EF4-FFF2-40B4-BE49-F238E27FC236}">
                <a16:creationId xmlns:a16="http://schemas.microsoft.com/office/drawing/2014/main" id="{58A3FD29-DAE6-EBDA-EAEC-9386C377D750}"/>
              </a:ext>
            </a:extLst>
          </p:cNvPr>
          <p:cNvSpPr/>
          <p:nvPr/>
        </p:nvSpPr>
        <p:spPr>
          <a:xfrm>
            <a:off x="622929" y="2435830"/>
            <a:ext cx="6312680" cy="4088810"/>
          </a:xfrm>
          <a:prstGeom prst="round2DiagRect">
            <a:avLst/>
          </a:prstGeom>
          <a:solidFill>
            <a:srgbClr val="525252"/>
          </a:solid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r>
              <a:rPr lang="pt-BR" altLang="en-US" sz="2800" dirty="0" err="1"/>
              <a:t>Opponens</a:t>
            </a:r>
            <a:r>
              <a:rPr lang="pt-BR" altLang="en-US" sz="2800" dirty="0"/>
              <a:t> </a:t>
            </a:r>
            <a:r>
              <a:rPr lang="pt-BR" altLang="en-US" sz="2800" dirty="0" err="1"/>
              <a:t>pollicis</a:t>
            </a:r>
            <a:endParaRPr lang="pt-BR" altLang="en-US" sz="2800" dirty="0"/>
          </a:p>
          <a:p>
            <a:pPr marL="457200" indent="-457200">
              <a:buClr>
                <a:schemeClr val="bg1"/>
              </a:buClr>
              <a:buFont typeface="Arial" panose="020B0604020202020204" pitchFamily="34" charset="0"/>
              <a:buChar char="•"/>
            </a:pPr>
            <a:r>
              <a:rPr lang="pt-BR" altLang="en-US" sz="2800" dirty="0" err="1"/>
              <a:t>Adductor</a:t>
            </a:r>
            <a:r>
              <a:rPr lang="pt-BR" altLang="en-US" sz="2800" dirty="0"/>
              <a:t> </a:t>
            </a:r>
            <a:r>
              <a:rPr lang="pt-BR" altLang="en-US" sz="2800" dirty="0" err="1"/>
              <a:t>pollicis</a:t>
            </a:r>
            <a:r>
              <a:rPr lang="pt-BR" altLang="en-US" sz="2800" dirty="0"/>
              <a:t> </a:t>
            </a:r>
            <a:r>
              <a:rPr lang="pt-BR" altLang="en-US" sz="2800" dirty="0" err="1"/>
              <a:t>brevis</a:t>
            </a:r>
            <a:endParaRPr lang="pt-BR" altLang="en-US" sz="2800" dirty="0"/>
          </a:p>
          <a:p>
            <a:pPr marL="457200" indent="-457200">
              <a:buClr>
                <a:schemeClr val="bg1"/>
              </a:buClr>
              <a:buFont typeface="Arial" panose="020B0604020202020204" pitchFamily="34" charset="0"/>
              <a:buChar char="•"/>
            </a:pPr>
            <a:r>
              <a:rPr lang="pt-BR" altLang="en-US" sz="2800" dirty="0" err="1"/>
              <a:t>Abductor</a:t>
            </a:r>
            <a:r>
              <a:rPr lang="pt-BR" altLang="en-US" sz="2800" dirty="0"/>
              <a:t> </a:t>
            </a:r>
            <a:r>
              <a:rPr lang="pt-BR" altLang="en-US" sz="2800" dirty="0" err="1"/>
              <a:t>pollicis</a:t>
            </a:r>
            <a:r>
              <a:rPr lang="pt-BR" altLang="en-US" sz="2800" dirty="0"/>
              <a:t> </a:t>
            </a:r>
            <a:r>
              <a:rPr lang="pt-BR" altLang="en-US" sz="2800" dirty="0" err="1"/>
              <a:t>brevis</a:t>
            </a:r>
            <a:endParaRPr lang="pt-BR" altLang="en-US" sz="2800" dirty="0"/>
          </a:p>
          <a:p>
            <a:pPr marL="457200" indent="-457200">
              <a:buClr>
                <a:schemeClr val="bg1"/>
              </a:buClr>
              <a:buFont typeface="Arial" panose="020B0604020202020204" pitchFamily="34" charset="0"/>
              <a:buChar char="•"/>
            </a:pPr>
            <a:r>
              <a:rPr lang="pt-BR" altLang="en-US" sz="2800" dirty="0"/>
              <a:t>Flexor </a:t>
            </a:r>
            <a:r>
              <a:rPr lang="pt-BR" altLang="en-US" sz="2800" dirty="0" err="1"/>
              <a:t>pollicis</a:t>
            </a:r>
            <a:r>
              <a:rPr lang="pt-BR" altLang="en-US" sz="2800" dirty="0"/>
              <a:t> </a:t>
            </a:r>
            <a:r>
              <a:rPr lang="pt-BR" altLang="en-US" sz="2800" dirty="0" err="1"/>
              <a:t>brevis</a:t>
            </a:r>
            <a:endParaRPr lang="pt-BR" altLang="en-US" sz="2800" dirty="0"/>
          </a:p>
        </p:txBody>
      </p:sp>
      <p:sp>
        <p:nvSpPr>
          <p:cNvPr id="2" name="Round Diagonal Corner Rectangle 2">
            <a:extLst>
              <a:ext uri="{FF2B5EF4-FFF2-40B4-BE49-F238E27FC236}">
                <a16:creationId xmlns:a16="http://schemas.microsoft.com/office/drawing/2014/main" id="{A0D68D73-E6CA-3366-67E7-63835A2503E6}"/>
              </a:ext>
            </a:extLst>
          </p:cNvPr>
          <p:cNvSpPr/>
          <p:nvPr/>
        </p:nvSpPr>
        <p:spPr>
          <a:xfrm>
            <a:off x="7156111" y="293931"/>
            <a:ext cx="2360790" cy="3007473"/>
          </a:xfrm>
          <a:prstGeom prst="round2DiagRect">
            <a:avLst/>
          </a:prstGeom>
          <a:blipFill dpi="0" rotWithShape="1">
            <a:blip r:embed="rId4">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endParaRPr lang="en-GB" altLang="en-US" sz="2800" dirty="0"/>
          </a:p>
        </p:txBody>
      </p:sp>
      <p:sp>
        <p:nvSpPr>
          <p:cNvPr id="3" name="Round Diagonal Corner Rectangle 2">
            <a:extLst>
              <a:ext uri="{FF2B5EF4-FFF2-40B4-BE49-F238E27FC236}">
                <a16:creationId xmlns:a16="http://schemas.microsoft.com/office/drawing/2014/main" id="{F72D1482-72F1-0022-BA69-FA31ABBC2C65}"/>
              </a:ext>
            </a:extLst>
          </p:cNvPr>
          <p:cNvSpPr/>
          <p:nvPr/>
        </p:nvSpPr>
        <p:spPr>
          <a:xfrm>
            <a:off x="9631906" y="263132"/>
            <a:ext cx="2360790" cy="3007473"/>
          </a:xfrm>
          <a:prstGeom prst="round2DiagRect">
            <a:avLst/>
          </a:prstGeom>
          <a:blipFill dpi="0" rotWithShape="1">
            <a:blip r:embed="rId5">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endParaRPr lang="en-GB" altLang="en-US" sz="2800" dirty="0"/>
          </a:p>
        </p:txBody>
      </p:sp>
      <p:sp>
        <p:nvSpPr>
          <p:cNvPr id="5" name="Round Diagonal Corner Rectangle 2">
            <a:extLst>
              <a:ext uri="{FF2B5EF4-FFF2-40B4-BE49-F238E27FC236}">
                <a16:creationId xmlns:a16="http://schemas.microsoft.com/office/drawing/2014/main" id="{841DEC70-558B-C4F3-D842-9FE37ECDA4EA}"/>
              </a:ext>
            </a:extLst>
          </p:cNvPr>
          <p:cNvSpPr/>
          <p:nvPr/>
        </p:nvSpPr>
        <p:spPr>
          <a:xfrm>
            <a:off x="8431109" y="3587394"/>
            <a:ext cx="2360790" cy="3007473"/>
          </a:xfrm>
          <a:prstGeom prst="round2DiagRect">
            <a:avLst/>
          </a:prstGeom>
          <a:blipFill dpi="0" rotWithShape="1">
            <a:blip r:embed="rId6">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endParaRPr lang="en-GB" altLang="en-US" sz="2800" dirty="0"/>
          </a:p>
        </p:txBody>
      </p:sp>
    </p:spTree>
    <p:extLst>
      <p:ext uri="{BB962C8B-B14F-4D97-AF65-F5344CB8AC3E}">
        <p14:creationId xmlns:p14="http://schemas.microsoft.com/office/powerpoint/2010/main" val="11519388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ound Diagonal Corner Rectangle 3"/>
          <p:cNvSpPr/>
          <p:nvPr/>
        </p:nvSpPr>
        <p:spPr>
          <a:xfrm>
            <a:off x="797820" y="326611"/>
            <a:ext cx="4256780"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ANY QUESTIONS?</a:t>
            </a:r>
          </a:p>
        </p:txBody>
      </p:sp>
      <p:pic>
        <p:nvPicPr>
          <p:cNvPr id="19" name="Picture 18" descr="COSMOS GRAPHIC WHITE.png"/>
          <p:cNvPicPr>
            <a:picLocks noChangeAspect="1"/>
          </p:cNvPicPr>
          <p:nvPr/>
        </p:nvPicPr>
        <p:blipFill rotWithShape="1">
          <a:blip r:embed="rId2"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3" name="Round Diagonal Corner Rectangle 2"/>
          <p:cNvSpPr/>
          <p:nvPr/>
        </p:nvSpPr>
        <p:spPr>
          <a:xfrm>
            <a:off x="797819" y="1358901"/>
            <a:ext cx="7963796" cy="4842394"/>
          </a:xfrm>
          <a:prstGeom prst="round2DiagRect">
            <a:avLst/>
          </a:prstGeom>
          <a:blipFill>
            <a:blip r:embed="rId3"/>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endParaRPr lang="en-GB" sz="3200" dirty="0">
              <a:solidFill>
                <a:schemeClr val="bg1"/>
              </a:solidFill>
            </a:endParaRPr>
          </a:p>
        </p:txBody>
      </p:sp>
    </p:spTree>
    <p:extLst>
      <p:ext uri="{BB962C8B-B14F-4D97-AF65-F5344CB8AC3E}">
        <p14:creationId xmlns:p14="http://schemas.microsoft.com/office/powerpoint/2010/main" val="13008083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ound Diagonal Corner Rectangle 3"/>
          <p:cNvSpPr/>
          <p:nvPr/>
        </p:nvSpPr>
        <p:spPr>
          <a:xfrm>
            <a:off x="622930" y="402811"/>
            <a:ext cx="4782190"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VASULAR SUPPLY</a:t>
            </a:r>
          </a:p>
        </p:txBody>
      </p:sp>
      <p:pic>
        <p:nvPicPr>
          <p:cNvPr id="19" name="Picture 18" descr="COSMOS GRAPHIC WHITE.png"/>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3" name="Round Diagonal Corner Rectangle 2"/>
          <p:cNvSpPr/>
          <p:nvPr/>
        </p:nvSpPr>
        <p:spPr>
          <a:xfrm>
            <a:off x="622930" y="1435100"/>
            <a:ext cx="5959431" cy="5159767"/>
          </a:xfrm>
          <a:prstGeom prst="round2DiagRect">
            <a:avLst/>
          </a:prstGeom>
          <a:no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r>
              <a:rPr lang="en-GB" sz="2800" dirty="0">
                <a:solidFill>
                  <a:schemeClr val="bg1"/>
                </a:solidFill>
              </a:rPr>
              <a:t>The arteries and veins of the hand arise from the Radial and Ulnar arteries/veins and divide into the Palmar and Dorsal digital arteries/veins</a:t>
            </a:r>
          </a:p>
        </p:txBody>
      </p:sp>
      <p:sp>
        <p:nvSpPr>
          <p:cNvPr id="6" name="Round Diagonal Corner Rectangle 7">
            <a:extLst>
              <a:ext uri="{FF2B5EF4-FFF2-40B4-BE49-F238E27FC236}">
                <a16:creationId xmlns:a16="http://schemas.microsoft.com/office/drawing/2014/main" id="{15FA7B29-0F42-BF63-37E2-21B8BA235D32}"/>
              </a:ext>
            </a:extLst>
          </p:cNvPr>
          <p:cNvSpPr/>
          <p:nvPr/>
        </p:nvSpPr>
        <p:spPr>
          <a:xfrm>
            <a:off x="6743700" y="402812"/>
            <a:ext cx="5286961" cy="6192056"/>
          </a:xfrm>
          <a:prstGeom prst="round2DiagRect">
            <a:avLst/>
          </a:prstGeom>
          <a:blipFill dpi="0" rotWithShape="1">
            <a:blip r:embed="rId4">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3112576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ound Diagonal Corner Rectangle 3"/>
          <p:cNvSpPr/>
          <p:nvPr/>
        </p:nvSpPr>
        <p:spPr>
          <a:xfrm>
            <a:off x="622930" y="402811"/>
            <a:ext cx="4457070"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NERVE ANATOMY</a:t>
            </a:r>
          </a:p>
        </p:txBody>
      </p:sp>
      <p:pic>
        <p:nvPicPr>
          <p:cNvPr id="19" name="Picture 18" descr="COSMOS GRAPHIC WHITE.png"/>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3" name="Round Diagonal Corner Rectangle 2"/>
          <p:cNvSpPr/>
          <p:nvPr/>
        </p:nvSpPr>
        <p:spPr>
          <a:xfrm>
            <a:off x="622930" y="1435100"/>
            <a:ext cx="3745870" cy="5159767"/>
          </a:xfrm>
          <a:prstGeom prst="round2DiagRect">
            <a:avLst/>
          </a:prstGeom>
          <a:blipFill dpi="0" rotWithShape="1">
            <a:blip r:embed="rId4">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Clr>
                <a:schemeClr val="bg1"/>
              </a:buClr>
              <a:buFont typeface="Arial" panose="020B0604020202020204" pitchFamily="34" charset="0"/>
              <a:buChar char="•"/>
            </a:pPr>
            <a:endParaRPr lang="en-GB" sz="2800" dirty="0">
              <a:solidFill>
                <a:schemeClr val="bg1"/>
              </a:solidFill>
            </a:endParaRPr>
          </a:p>
        </p:txBody>
      </p:sp>
      <p:sp>
        <p:nvSpPr>
          <p:cNvPr id="10" name="Round Diagonal Corner Rectangle 2">
            <a:extLst>
              <a:ext uri="{FF2B5EF4-FFF2-40B4-BE49-F238E27FC236}">
                <a16:creationId xmlns:a16="http://schemas.microsoft.com/office/drawing/2014/main" id="{8061409A-EC23-6060-C06C-E3664112B376}"/>
              </a:ext>
            </a:extLst>
          </p:cNvPr>
          <p:cNvSpPr/>
          <p:nvPr/>
        </p:nvSpPr>
        <p:spPr>
          <a:xfrm>
            <a:off x="4817862" y="1400053"/>
            <a:ext cx="3745870" cy="5159767"/>
          </a:xfrm>
          <a:prstGeom prst="round2DiagRect">
            <a:avLst/>
          </a:prstGeom>
          <a:blipFill dpi="0" rotWithShape="1">
            <a:blip r:embed="rId5">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Clr>
                <a:schemeClr val="bg1"/>
              </a:buClr>
              <a:buFont typeface="Arial" panose="020B0604020202020204" pitchFamily="34" charset="0"/>
              <a:buChar char="•"/>
            </a:pPr>
            <a:endParaRPr lang="en-GB" sz="2800" dirty="0">
              <a:solidFill>
                <a:schemeClr val="bg1"/>
              </a:solidFill>
            </a:endParaRPr>
          </a:p>
        </p:txBody>
      </p:sp>
    </p:spTree>
    <p:extLst>
      <p:ext uri="{BB962C8B-B14F-4D97-AF65-F5344CB8AC3E}">
        <p14:creationId xmlns:p14="http://schemas.microsoft.com/office/powerpoint/2010/main" val="7836996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ound Diagonal Corner Rectangle 3"/>
          <p:cNvSpPr/>
          <p:nvPr/>
        </p:nvSpPr>
        <p:spPr>
          <a:xfrm>
            <a:off x="622930" y="402811"/>
            <a:ext cx="4782190"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NEURAL PATHWAYS</a:t>
            </a:r>
          </a:p>
        </p:txBody>
      </p:sp>
      <p:pic>
        <p:nvPicPr>
          <p:cNvPr id="19" name="Picture 18" descr="COSMOS GRAPHIC WHITE.png"/>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3" name="Round Diagonal Corner Rectangle 2"/>
          <p:cNvSpPr/>
          <p:nvPr/>
        </p:nvSpPr>
        <p:spPr>
          <a:xfrm>
            <a:off x="622930" y="1435100"/>
            <a:ext cx="5959431" cy="5159767"/>
          </a:xfrm>
          <a:prstGeom prst="round2DiagRect">
            <a:avLst/>
          </a:prstGeom>
          <a:no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r>
              <a:rPr lang="en-GB" sz="2800" dirty="0">
                <a:solidFill>
                  <a:schemeClr val="bg1"/>
                </a:solidFill>
              </a:rPr>
              <a:t>You need to be aware of all peripheral nerves inc. ones not shown here!</a:t>
            </a:r>
          </a:p>
          <a:p>
            <a:pPr marL="457200" indent="-457200">
              <a:buClr>
                <a:schemeClr val="bg1"/>
              </a:buClr>
              <a:buFont typeface="Arial" panose="020B0604020202020204" pitchFamily="34" charset="0"/>
              <a:buChar char="•"/>
            </a:pPr>
            <a:r>
              <a:rPr lang="en-GB" sz="2800" dirty="0">
                <a:solidFill>
                  <a:schemeClr val="bg1"/>
                </a:solidFill>
              </a:rPr>
              <a:t>It is important you know their pathway, as well as their dermatological and muscular innervation </a:t>
            </a:r>
          </a:p>
          <a:p>
            <a:pPr marL="457200" indent="-457200">
              <a:buClr>
                <a:schemeClr val="bg1"/>
              </a:buClr>
              <a:buFont typeface="Arial" panose="020B0604020202020204" pitchFamily="34" charset="0"/>
              <a:buChar char="•"/>
            </a:pPr>
            <a:r>
              <a:rPr lang="en-GB" sz="2800" dirty="0">
                <a:solidFill>
                  <a:schemeClr val="bg1"/>
                </a:solidFill>
              </a:rPr>
              <a:t>‘To test and to treat’</a:t>
            </a:r>
          </a:p>
        </p:txBody>
      </p:sp>
      <p:sp>
        <p:nvSpPr>
          <p:cNvPr id="6" name="Round Diagonal Corner Rectangle 7">
            <a:extLst>
              <a:ext uri="{FF2B5EF4-FFF2-40B4-BE49-F238E27FC236}">
                <a16:creationId xmlns:a16="http://schemas.microsoft.com/office/drawing/2014/main" id="{15FA7B29-0F42-BF63-37E2-21B8BA235D32}"/>
              </a:ext>
            </a:extLst>
          </p:cNvPr>
          <p:cNvSpPr/>
          <p:nvPr/>
        </p:nvSpPr>
        <p:spPr>
          <a:xfrm>
            <a:off x="6743700" y="402812"/>
            <a:ext cx="5286961" cy="6192056"/>
          </a:xfrm>
          <a:prstGeom prst="round2DiagRect">
            <a:avLst/>
          </a:prstGeom>
          <a:blipFill dpi="0" rotWithShape="1">
            <a:blip r:embed="rId4">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5877364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ound Diagonal Corner Rectangle 3"/>
          <p:cNvSpPr/>
          <p:nvPr/>
        </p:nvSpPr>
        <p:spPr>
          <a:xfrm>
            <a:off x="622930" y="402811"/>
            <a:ext cx="3502030"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NERVE ROOTS</a:t>
            </a:r>
          </a:p>
        </p:txBody>
      </p:sp>
      <p:pic>
        <p:nvPicPr>
          <p:cNvPr id="19" name="Picture 18" descr="COSMOS GRAPHIC WHITE.png"/>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3" name="Round Diagonal Corner Rectangle 2"/>
          <p:cNvSpPr/>
          <p:nvPr/>
        </p:nvSpPr>
        <p:spPr>
          <a:xfrm>
            <a:off x="6096000" y="1353646"/>
            <a:ext cx="5040000" cy="5159767"/>
          </a:xfrm>
          <a:prstGeom prst="round2DiagRect">
            <a:avLst/>
          </a:prstGeom>
          <a:blipFill dpi="0" rotWithShape="1">
            <a:blip r:embed="rId4">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Clr>
                <a:schemeClr val="bg1"/>
              </a:buClr>
              <a:buFont typeface="Arial" panose="020B0604020202020204" pitchFamily="34" charset="0"/>
              <a:buChar char="•"/>
            </a:pPr>
            <a:endParaRPr lang="en-GB" sz="2800" dirty="0">
              <a:solidFill>
                <a:schemeClr val="bg1"/>
              </a:solidFill>
            </a:endParaRPr>
          </a:p>
        </p:txBody>
      </p:sp>
      <p:sp>
        <p:nvSpPr>
          <p:cNvPr id="2" name="Round Diagonal Corner Rectangle 2"/>
          <p:cNvSpPr/>
          <p:nvPr/>
        </p:nvSpPr>
        <p:spPr>
          <a:xfrm>
            <a:off x="622930" y="1435101"/>
            <a:ext cx="5040000" cy="5159767"/>
          </a:xfrm>
          <a:prstGeom prst="round2DiagRect">
            <a:avLst/>
          </a:prstGeom>
          <a:blipFill dpi="0" rotWithShape="1">
            <a:blip r:embed="rId5">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Clr>
                <a:schemeClr val="bg1"/>
              </a:buClr>
              <a:buFont typeface="Arial" panose="020B0604020202020204" pitchFamily="34" charset="0"/>
              <a:buChar char="•"/>
            </a:pPr>
            <a:endParaRPr lang="en-GB" sz="2800" dirty="0">
              <a:solidFill>
                <a:schemeClr val="bg1"/>
              </a:solidFill>
            </a:endParaRPr>
          </a:p>
        </p:txBody>
      </p:sp>
    </p:spTree>
    <p:extLst>
      <p:ext uri="{BB962C8B-B14F-4D97-AF65-F5344CB8AC3E}">
        <p14:creationId xmlns:p14="http://schemas.microsoft.com/office/powerpoint/2010/main" val="42627245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ound Diagonal Corner Rectangle 3"/>
          <p:cNvSpPr/>
          <p:nvPr/>
        </p:nvSpPr>
        <p:spPr>
          <a:xfrm>
            <a:off x="622930" y="402811"/>
            <a:ext cx="4863470"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DERMATOMAL MAP</a:t>
            </a:r>
          </a:p>
        </p:txBody>
      </p:sp>
      <p:pic>
        <p:nvPicPr>
          <p:cNvPr id="19" name="Picture 18" descr="COSMOS GRAPHIC WHITE.png"/>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3" name="Round Diagonal Corner Rectangle 2"/>
          <p:cNvSpPr/>
          <p:nvPr/>
        </p:nvSpPr>
        <p:spPr>
          <a:xfrm>
            <a:off x="622930" y="1435100"/>
            <a:ext cx="8205186" cy="5159767"/>
          </a:xfrm>
          <a:prstGeom prst="round2DiagRect">
            <a:avLst/>
          </a:prstGeom>
          <a:blipFill dpi="0" rotWithShape="1">
            <a:blip r:embed="rId4">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Clr>
                <a:schemeClr val="bg1"/>
              </a:buClr>
              <a:buFont typeface="Arial" panose="020B0604020202020204" pitchFamily="34" charset="0"/>
              <a:buChar char="•"/>
            </a:pPr>
            <a:endParaRPr lang="en-GB" sz="2800" dirty="0">
              <a:solidFill>
                <a:schemeClr val="bg1"/>
              </a:solidFill>
            </a:endParaRPr>
          </a:p>
        </p:txBody>
      </p:sp>
    </p:spTree>
    <p:extLst>
      <p:ext uri="{BB962C8B-B14F-4D97-AF65-F5344CB8AC3E}">
        <p14:creationId xmlns:p14="http://schemas.microsoft.com/office/powerpoint/2010/main" val="40717948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ound Diagonal Corner Rectangle 3"/>
          <p:cNvSpPr/>
          <p:nvPr/>
        </p:nvSpPr>
        <p:spPr>
          <a:xfrm>
            <a:off x="622930" y="402811"/>
            <a:ext cx="4721230"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BRACHIAL PLEXUS</a:t>
            </a:r>
          </a:p>
        </p:txBody>
      </p:sp>
      <p:pic>
        <p:nvPicPr>
          <p:cNvPr id="19" name="Picture 18" descr="COSMOS GRAPHIC WHITE.png"/>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3" name="Round Diagonal Corner Rectangle 2"/>
          <p:cNvSpPr/>
          <p:nvPr/>
        </p:nvSpPr>
        <p:spPr>
          <a:xfrm>
            <a:off x="622930" y="1435100"/>
            <a:ext cx="8205186" cy="5159767"/>
          </a:xfrm>
          <a:prstGeom prst="round2DiagRect">
            <a:avLst/>
          </a:prstGeom>
          <a:blipFill dpi="0" rotWithShape="1">
            <a:blip r:embed="rId4">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Clr>
                <a:schemeClr val="bg1"/>
              </a:buClr>
              <a:buFont typeface="Arial" panose="020B0604020202020204" pitchFamily="34" charset="0"/>
              <a:buChar char="•"/>
            </a:pPr>
            <a:endParaRPr lang="en-GB" sz="2800" dirty="0">
              <a:solidFill>
                <a:schemeClr val="bg1"/>
              </a:solidFill>
            </a:endParaRPr>
          </a:p>
        </p:txBody>
      </p:sp>
    </p:spTree>
    <p:extLst>
      <p:ext uri="{BB962C8B-B14F-4D97-AF65-F5344CB8AC3E}">
        <p14:creationId xmlns:p14="http://schemas.microsoft.com/office/powerpoint/2010/main" val="11536550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ound Diagonal Corner Rectangle 3"/>
          <p:cNvSpPr/>
          <p:nvPr/>
        </p:nvSpPr>
        <p:spPr>
          <a:xfrm>
            <a:off x="622929" y="402811"/>
            <a:ext cx="4436751"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BRACHIAL PLEXUS</a:t>
            </a:r>
          </a:p>
        </p:txBody>
      </p:sp>
      <p:pic>
        <p:nvPicPr>
          <p:cNvPr id="19" name="Picture 18" descr="COSMOS GRAPHIC WHITE.png"/>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9" name="Round Diagonal Corner Rectangle 2">
            <a:extLst>
              <a:ext uri="{FF2B5EF4-FFF2-40B4-BE49-F238E27FC236}">
                <a16:creationId xmlns:a16="http://schemas.microsoft.com/office/drawing/2014/main" id="{6B047C31-4CA3-26C5-14DA-8F0CEBA79556}"/>
              </a:ext>
            </a:extLst>
          </p:cNvPr>
          <p:cNvSpPr/>
          <p:nvPr/>
        </p:nvSpPr>
        <p:spPr>
          <a:xfrm>
            <a:off x="7240409" y="383771"/>
            <a:ext cx="4646789" cy="6090457"/>
          </a:xfrm>
          <a:prstGeom prst="round2DiagRect">
            <a:avLst/>
          </a:prstGeom>
          <a:solidFill>
            <a:schemeClr val="bg1"/>
          </a:solid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endParaRPr lang="en-GB" altLang="en-US" sz="2800" dirty="0"/>
          </a:p>
        </p:txBody>
      </p:sp>
      <p:sp>
        <p:nvSpPr>
          <p:cNvPr id="3" name="Round Diagonal Corner Rectangle 2"/>
          <p:cNvSpPr/>
          <p:nvPr/>
        </p:nvSpPr>
        <p:spPr>
          <a:xfrm>
            <a:off x="7240410" y="402811"/>
            <a:ext cx="4646789" cy="6090457"/>
          </a:xfrm>
          <a:prstGeom prst="round2DiagRect">
            <a:avLst/>
          </a:prstGeom>
          <a:blipFill dpi="0" rotWithShape="1">
            <a:blip r:embed="rId4">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endParaRPr lang="en-GB" altLang="en-US" sz="2800" dirty="0"/>
          </a:p>
        </p:txBody>
      </p:sp>
      <p:sp>
        <p:nvSpPr>
          <p:cNvPr id="8" name="Round Diagonal Corner Rectangle 3">
            <a:extLst>
              <a:ext uri="{FF2B5EF4-FFF2-40B4-BE49-F238E27FC236}">
                <a16:creationId xmlns:a16="http://schemas.microsoft.com/office/drawing/2014/main" id="{7C580129-A0D0-E6A1-4FAA-43A4C34C02A0}"/>
              </a:ext>
            </a:extLst>
          </p:cNvPr>
          <p:cNvSpPr/>
          <p:nvPr/>
        </p:nvSpPr>
        <p:spPr>
          <a:xfrm>
            <a:off x="622930" y="1435100"/>
            <a:ext cx="3815720"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MEDIAN NERVE</a:t>
            </a:r>
          </a:p>
        </p:txBody>
      </p:sp>
      <p:sp>
        <p:nvSpPr>
          <p:cNvPr id="10" name="Round Diagonal Corner Rectangle 2">
            <a:extLst>
              <a:ext uri="{FF2B5EF4-FFF2-40B4-BE49-F238E27FC236}">
                <a16:creationId xmlns:a16="http://schemas.microsoft.com/office/drawing/2014/main" id="{58A3FD29-DAE6-EBDA-EAEC-9386C377D750}"/>
              </a:ext>
            </a:extLst>
          </p:cNvPr>
          <p:cNvSpPr/>
          <p:nvPr/>
        </p:nvSpPr>
        <p:spPr>
          <a:xfrm>
            <a:off x="622929" y="2435830"/>
            <a:ext cx="6312680" cy="4088810"/>
          </a:xfrm>
          <a:prstGeom prst="round2DiagRect">
            <a:avLst/>
          </a:prstGeom>
          <a:blipFill dpi="0" rotWithShape="1">
            <a:blip r:embed="rId5">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endParaRPr lang="en-GB" altLang="en-US" sz="2800" dirty="0"/>
          </a:p>
        </p:txBody>
      </p:sp>
      <p:sp>
        <p:nvSpPr>
          <p:cNvPr id="2" name="Rectangle 1">
            <a:extLst>
              <a:ext uri="{FF2B5EF4-FFF2-40B4-BE49-F238E27FC236}">
                <a16:creationId xmlns:a16="http://schemas.microsoft.com/office/drawing/2014/main" id="{0AF70812-1827-4346-DFA0-DA12CF7508F9}"/>
              </a:ext>
            </a:extLst>
          </p:cNvPr>
          <p:cNvSpPr/>
          <p:nvPr/>
        </p:nvSpPr>
        <p:spPr>
          <a:xfrm>
            <a:off x="659606" y="6214946"/>
            <a:ext cx="1815965" cy="28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738737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ound Diagonal Corner Rectangle 3"/>
          <p:cNvSpPr/>
          <p:nvPr/>
        </p:nvSpPr>
        <p:spPr>
          <a:xfrm>
            <a:off x="622929" y="402811"/>
            <a:ext cx="4436751"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BRACHIAL PLEXUS</a:t>
            </a:r>
          </a:p>
        </p:txBody>
      </p:sp>
      <p:pic>
        <p:nvPicPr>
          <p:cNvPr id="19" name="Picture 18" descr="COSMOS GRAPHIC WHITE.png"/>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3" name="Round Diagonal Corner Rectangle 2"/>
          <p:cNvSpPr/>
          <p:nvPr/>
        </p:nvSpPr>
        <p:spPr>
          <a:xfrm>
            <a:off x="5364480" y="418514"/>
            <a:ext cx="6204590" cy="6090457"/>
          </a:xfrm>
          <a:prstGeom prst="round2DiagRect">
            <a:avLst/>
          </a:prstGeom>
          <a:blipFill dpi="0" rotWithShape="1">
            <a:blip r:embed="rId4">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endParaRPr lang="en-GB" altLang="en-US" sz="2800" dirty="0"/>
          </a:p>
        </p:txBody>
      </p:sp>
      <p:sp>
        <p:nvSpPr>
          <p:cNvPr id="8" name="Round Diagonal Corner Rectangle 3">
            <a:extLst>
              <a:ext uri="{FF2B5EF4-FFF2-40B4-BE49-F238E27FC236}">
                <a16:creationId xmlns:a16="http://schemas.microsoft.com/office/drawing/2014/main" id="{7C580129-A0D0-E6A1-4FAA-43A4C34C02A0}"/>
              </a:ext>
            </a:extLst>
          </p:cNvPr>
          <p:cNvSpPr/>
          <p:nvPr/>
        </p:nvSpPr>
        <p:spPr>
          <a:xfrm>
            <a:off x="622930" y="1435100"/>
            <a:ext cx="3815720"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MEDIAN NERVE</a:t>
            </a:r>
          </a:p>
        </p:txBody>
      </p:sp>
      <p:sp>
        <p:nvSpPr>
          <p:cNvPr id="2" name="Round Diagonal Corner Rectangle 2">
            <a:extLst>
              <a:ext uri="{FF2B5EF4-FFF2-40B4-BE49-F238E27FC236}">
                <a16:creationId xmlns:a16="http://schemas.microsoft.com/office/drawing/2014/main" id="{4D0C8555-CEC9-BCD0-1292-450C7C673191}"/>
              </a:ext>
            </a:extLst>
          </p:cNvPr>
          <p:cNvSpPr/>
          <p:nvPr/>
        </p:nvSpPr>
        <p:spPr>
          <a:xfrm>
            <a:off x="622929" y="2435830"/>
            <a:ext cx="4033154" cy="4088810"/>
          </a:xfrm>
          <a:prstGeom prst="round2DiagRect">
            <a:avLst/>
          </a:prstGeom>
          <a:blipFill dpi="0" rotWithShape="1">
            <a:blip r:embed="rId5">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endParaRPr lang="en-GB" altLang="en-US" sz="2800" dirty="0"/>
          </a:p>
        </p:txBody>
      </p:sp>
    </p:spTree>
    <p:extLst>
      <p:ext uri="{BB962C8B-B14F-4D97-AF65-F5344CB8AC3E}">
        <p14:creationId xmlns:p14="http://schemas.microsoft.com/office/powerpoint/2010/main" val="24996904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ound Diagonal Corner Rectangle 3"/>
          <p:cNvSpPr/>
          <p:nvPr/>
        </p:nvSpPr>
        <p:spPr>
          <a:xfrm>
            <a:off x="622929" y="402811"/>
            <a:ext cx="4436751"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BRACHIAL PLEXUS</a:t>
            </a:r>
          </a:p>
        </p:txBody>
      </p:sp>
      <p:pic>
        <p:nvPicPr>
          <p:cNvPr id="19" name="Picture 18" descr="COSMOS GRAPHIC WHITE.png"/>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9" name="Round Diagonal Corner Rectangle 2">
            <a:extLst>
              <a:ext uri="{FF2B5EF4-FFF2-40B4-BE49-F238E27FC236}">
                <a16:creationId xmlns:a16="http://schemas.microsoft.com/office/drawing/2014/main" id="{6B047C31-4CA3-26C5-14DA-8F0CEBA79556}"/>
              </a:ext>
            </a:extLst>
          </p:cNvPr>
          <p:cNvSpPr/>
          <p:nvPr/>
        </p:nvSpPr>
        <p:spPr>
          <a:xfrm>
            <a:off x="7240409" y="383771"/>
            <a:ext cx="4646789" cy="6090457"/>
          </a:xfrm>
          <a:prstGeom prst="round2DiagRect">
            <a:avLst/>
          </a:prstGeom>
          <a:solidFill>
            <a:schemeClr val="bg1"/>
          </a:solid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endParaRPr lang="en-GB" altLang="en-US" sz="2800" dirty="0"/>
          </a:p>
        </p:txBody>
      </p:sp>
      <p:sp>
        <p:nvSpPr>
          <p:cNvPr id="8" name="Round Diagonal Corner Rectangle 3">
            <a:extLst>
              <a:ext uri="{FF2B5EF4-FFF2-40B4-BE49-F238E27FC236}">
                <a16:creationId xmlns:a16="http://schemas.microsoft.com/office/drawing/2014/main" id="{7C580129-A0D0-E6A1-4FAA-43A4C34C02A0}"/>
              </a:ext>
            </a:extLst>
          </p:cNvPr>
          <p:cNvSpPr/>
          <p:nvPr/>
        </p:nvSpPr>
        <p:spPr>
          <a:xfrm>
            <a:off x="622930" y="1435100"/>
            <a:ext cx="3815720"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ULNAR NERVE</a:t>
            </a:r>
          </a:p>
        </p:txBody>
      </p:sp>
      <p:sp>
        <p:nvSpPr>
          <p:cNvPr id="10" name="Round Diagonal Corner Rectangle 2">
            <a:extLst>
              <a:ext uri="{FF2B5EF4-FFF2-40B4-BE49-F238E27FC236}">
                <a16:creationId xmlns:a16="http://schemas.microsoft.com/office/drawing/2014/main" id="{58A3FD29-DAE6-EBDA-EAEC-9386C377D750}"/>
              </a:ext>
            </a:extLst>
          </p:cNvPr>
          <p:cNvSpPr/>
          <p:nvPr/>
        </p:nvSpPr>
        <p:spPr>
          <a:xfrm>
            <a:off x="622929" y="2435830"/>
            <a:ext cx="6312680" cy="4088810"/>
          </a:xfrm>
          <a:prstGeom prst="round2DiagRect">
            <a:avLst/>
          </a:prstGeom>
          <a:blipFill dpi="0" rotWithShape="1">
            <a:blip r:embed="rId4">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endParaRPr lang="en-GB" altLang="en-US" sz="2800" dirty="0"/>
          </a:p>
        </p:txBody>
      </p:sp>
      <p:sp>
        <p:nvSpPr>
          <p:cNvPr id="11" name="Round Diagonal Corner Rectangle 2">
            <a:extLst>
              <a:ext uri="{FF2B5EF4-FFF2-40B4-BE49-F238E27FC236}">
                <a16:creationId xmlns:a16="http://schemas.microsoft.com/office/drawing/2014/main" id="{FFCEA9D1-64FF-CB57-6C96-F3530340674F}"/>
              </a:ext>
            </a:extLst>
          </p:cNvPr>
          <p:cNvSpPr/>
          <p:nvPr/>
        </p:nvSpPr>
        <p:spPr>
          <a:xfrm>
            <a:off x="7240409" y="402811"/>
            <a:ext cx="4646789" cy="6090457"/>
          </a:xfrm>
          <a:prstGeom prst="round2DiagRect">
            <a:avLst/>
          </a:prstGeom>
          <a:blipFill dpi="0" rotWithShape="1">
            <a:blip r:embed="rId5">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endParaRPr lang="en-GB" altLang="en-US" sz="2800" dirty="0"/>
          </a:p>
        </p:txBody>
      </p:sp>
      <p:sp>
        <p:nvSpPr>
          <p:cNvPr id="12" name="Rectangle 11">
            <a:extLst>
              <a:ext uri="{FF2B5EF4-FFF2-40B4-BE49-F238E27FC236}">
                <a16:creationId xmlns:a16="http://schemas.microsoft.com/office/drawing/2014/main" id="{00AD383A-54A7-772F-9F8D-80550A28C68A}"/>
              </a:ext>
            </a:extLst>
          </p:cNvPr>
          <p:cNvSpPr/>
          <p:nvPr/>
        </p:nvSpPr>
        <p:spPr>
          <a:xfrm>
            <a:off x="657225" y="6214946"/>
            <a:ext cx="1818346" cy="28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737957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ound Diagonal Corner Rectangle 3"/>
          <p:cNvSpPr/>
          <p:nvPr/>
        </p:nvSpPr>
        <p:spPr>
          <a:xfrm>
            <a:off x="622929" y="402811"/>
            <a:ext cx="4436751"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BRACHIAL PLEXUS</a:t>
            </a:r>
          </a:p>
        </p:txBody>
      </p:sp>
      <p:pic>
        <p:nvPicPr>
          <p:cNvPr id="19" name="Picture 18" descr="COSMOS GRAPHIC WHITE.png"/>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3" name="Round Diagonal Corner Rectangle 2"/>
          <p:cNvSpPr/>
          <p:nvPr/>
        </p:nvSpPr>
        <p:spPr>
          <a:xfrm>
            <a:off x="5364480" y="418514"/>
            <a:ext cx="6204590" cy="6090457"/>
          </a:xfrm>
          <a:prstGeom prst="round2DiagRect">
            <a:avLst/>
          </a:prstGeom>
          <a:blipFill dpi="0" rotWithShape="1">
            <a:blip r:embed="rId4">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endParaRPr lang="en-GB" altLang="en-US" sz="2800" dirty="0"/>
          </a:p>
        </p:txBody>
      </p:sp>
      <p:sp>
        <p:nvSpPr>
          <p:cNvPr id="8" name="Round Diagonal Corner Rectangle 3">
            <a:extLst>
              <a:ext uri="{FF2B5EF4-FFF2-40B4-BE49-F238E27FC236}">
                <a16:creationId xmlns:a16="http://schemas.microsoft.com/office/drawing/2014/main" id="{7C580129-A0D0-E6A1-4FAA-43A4C34C02A0}"/>
              </a:ext>
            </a:extLst>
          </p:cNvPr>
          <p:cNvSpPr/>
          <p:nvPr/>
        </p:nvSpPr>
        <p:spPr>
          <a:xfrm>
            <a:off x="622930" y="1435100"/>
            <a:ext cx="3815720"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ULNAR NERVE</a:t>
            </a:r>
          </a:p>
        </p:txBody>
      </p:sp>
      <p:sp>
        <p:nvSpPr>
          <p:cNvPr id="5" name="Round Diagonal Corner Rectangle 2">
            <a:extLst>
              <a:ext uri="{FF2B5EF4-FFF2-40B4-BE49-F238E27FC236}">
                <a16:creationId xmlns:a16="http://schemas.microsoft.com/office/drawing/2014/main" id="{0950A09B-7038-8DC3-BD7E-6B27763661FD}"/>
              </a:ext>
            </a:extLst>
          </p:cNvPr>
          <p:cNvSpPr/>
          <p:nvPr/>
        </p:nvSpPr>
        <p:spPr>
          <a:xfrm>
            <a:off x="622929" y="2435830"/>
            <a:ext cx="4033154" cy="4088810"/>
          </a:xfrm>
          <a:prstGeom prst="round2DiagRect">
            <a:avLst/>
          </a:prstGeom>
          <a:blipFill dpi="0" rotWithShape="1">
            <a:blip r:embed="rId5">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endParaRPr lang="en-GB" altLang="en-US" sz="2800" dirty="0"/>
          </a:p>
        </p:txBody>
      </p:sp>
    </p:spTree>
    <p:extLst>
      <p:ext uri="{BB962C8B-B14F-4D97-AF65-F5344CB8AC3E}">
        <p14:creationId xmlns:p14="http://schemas.microsoft.com/office/powerpoint/2010/main" val="37925899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ound Diagonal Corner Rectangle 3"/>
          <p:cNvSpPr/>
          <p:nvPr/>
        </p:nvSpPr>
        <p:spPr>
          <a:xfrm>
            <a:off x="622929" y="402811"/>
            <a:ext cx="4436751"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BRACHIAL PLEXUS</a:t>
            </a:r>
          </a:p>
        </p:txBody>
      </p:sp>
      <p:pic>
        <p:nvPicPr>
          <p:cNvPr id="19" name="Picture 18" descr="COSMOS GRAPHIC WHITE.png"/>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9" name="Round Diagonal Corner Rectangle 2">
            <a:extLst>
              <a:ext uri="{FF2B5EF4-FFF2-40B4-BE49-F238E27FC236}">
                <a16:creationId xmlns:a16="http://schemas.microsoft.com/office/drawing/2014/main" id="{6B047C31-4CA3-26C5-14DA-8F0CEBA79556}"/>
              </a:ext>
            </a:extLst>
          </p:cNvPr>
          <p:cNvSpPr/>
          <p:nvPr/>
        </p:nvSpPr>
        <p:spPr>
          <a:xfrm>
            <a:off x="7240409" y="383771"/>
            <a:ext cx="4646789" cy="6090457"/>
          </a:xfrm>
          <a:prstGeom prst="round2DiagRect">
            <a:avLst/>
          </a:prstGeom>
          <a:solidFill>
            <a:schemeClr val="bg1"/>
          </a:solid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endParaRPr lang="en-GB" altLang="en-US" sz="2800" dirty="0"/>
          </a:p>
        </p:txBody>
      </p:sp>
      <p:sp>
        <p:nvSpPr>
          <p:cNvPr id="8" name="Round Diagonal Corner Rectangle 3">
            <a:extLst>
              <a:ext uri="{FF2B5EF4-FFF2-40B4-BE49-F238E27FC236}">
                <a16:creationId xmlns:a16="http://schemas.microsoft.com/office/drawing/2014/main" id="{7C580129-A0D0-E6A1-4FAA-43A4C34C02A0}"/>
              </a:ext>
            </a:extLst>
          </p:cNvPr>
          <p:cNvSpPr/>
          <p:nvPr/>
        </p:nvSpPr>
        <p:spPr>
          <a:xfrm>
            <a:off x="622930" y="1435100"/>
            <a:ext cx="3815720"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RADIAL NERVE</a:t>
            </a:r>
          </a:p>
        </p:txBody>
      </p:sp>
      <p:sp>
        <p:nvSpPr>
          <p:cNvPr id="10" name="Round Diagonal Corner Rectangle 2">
            <a:extLst>
              <a:ext uri="{FF2B5EF4-FFF2-40B4-BE49-F238E27FC236}">
                <a16:creationId xmlns:a16="http://schemas.microsoft.com/office/drawing/2014/main" id="{58A3FD29-DAE6-EBDA-EAEC-9386C377D750}"/>
              </a:ext>
            </a:extLst>
          </p:cNvPr>
          <p:cNvSpPr/>
          <p:nvPr/>
        </p:nvSpPr>
        <p:spPr>
          <a:xfrm>
            <a:off x="622929" y="2435830"/>
            <a:ext cx="6312680" cy="4088810"/>
          </a:xfrm>
          <a:prstGeom prst="round2DiagRect">
            <a:avLst/>
          </a:prstGeom>
          <a:blipFill dpi="0" rotWithShape="1">
            <a:blip r:embed="rId4">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endParaRPr lang="en-GB" altLang="en-US" sz="2800" dirty="0"/>
          </a:p>
        </p:txBody>
      </p:sp>
      <p:sp>
        <p:nvSpPr>
          <p:cNvPr id="12" name="Rectangle 11">
            <a:extLst>
              <a:ext uri="{FF2B5EF4-FFF2-40B4-BE49-F238E27FC236}">
                <a16:creationId xmlns:a16="http://schemas.microsoft.com/office/drawing/2014/main" id="{00AD383A-54A7-772F-9F8D-80550A28C68A}"/>
              </a:ext>
            </a:extLst>
          </p:cNvPr>
          <p:cNvSpPr/>
          <p:nvPr/>
        </p:nvSpPr>
        <p:spPr>
          <a:xfrm>
            <a:off x="659606" y="6214946"/>
            <a:ext cx="1815965" cy="28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ound Diagonal Corner Rectangle 2">
            <a:extLst>
              <a:ext uri="{FF2B5EF4-FFF2-40B4-BE49-F238E27FC236}">
                <a16:creationId xmlns:a16="http://schemas.microsoft.com/office/drawing/2014/main" id="{DB8C148B-9ADA-7A6A-5600-11F1C3EEB73F}"/>
              </a:ext>
            </a:extLst>
          </p:cNvPr>
          <p:cNvSpPr/>
          <p:nvPr/>
        </p:nvSpPr>
        <p:spPr>
          <a:xfrm>
            <a:off x="7240409" y="402811"/>
            <a:ext cx="4646789" cy="6090457"/>
          </a:xfrm>
          <a:prstGeom prst="round2DiagRect">
            <a:avLst/>
          </a:prstGeom>
          <a:blipFill dpi="0" rotWithShape="1">
            <a:blip r:embed="rId5">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endParaRPr lang="en-GB" altLang="en-US" sz="2800" dirty="0"/>
          </a:p>
        </p:txBody>
      </p:sp>
    </p:spTree>
    <p:extLst>
      <p:ext uri="{BB962C8B-B14F-4D97-AF65-F5344CB8AC3E}">
        <p14:creationId xmlns:p14="http://schemas.microsoft.com/office/powerpoint/2010/main" val="53695308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ound Diagonal Corner Rectangle 3"/>
          <p:cNvSpPr/>
          <p:nvPr/>
        </p:nvSpPr>
        <p:spPr>
          <a:xfrm>
            <a:off x="622929" y="402811"/>
            <a:ext cx="4436751"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BRACHIAL PLEXUS</a:t>
            </a:r>
          </a:p>
        </p:txBody>
      </p:sp>
      <p:pic>
        <p:nvPicPr>
          <p:cNvPr id="19" name="Picture 18" descr="COSMOS GRAPHIC WHITE.png"/>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3" name="Round Diagonal Corner Rectangle 2"/>
          <p:cNvSpPr/>
          <p:nvPr/>
        </p:nvSpPr>
        <p:spPr>
          <a:xfrm>
            <a:off x="5364480" y="418514"/>
            <a:ext cx="6204590" cy="6090457"/>
          </a:xfrm>
          <a:prstGeom prst="round2DiagRect">
            <a:avLst/>
          </a:prstGeom>
          <a:blipFill dpi="0" rotWithShape="1">
            <a:blip r:embed="rId4">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endParaRPr lang="en-GB" altLang="en-US" sz="2800" dirty="0"/>
          </a:p>
        </p:txBody>
      </p:sp>
      <p:sp>
        <p:nvSpPr>
          <p:cNvPr id="8" name="Round Diagonal Corner Rectangle 3">
            <a:extLst>
              <a:ext uri="{FF2B5EF4-FFF2-40B4-BE49-F238E27FC236}">
                <a16:creationId xmlns:a16="http://schemas.microsoft.com/office/drawing/2014/main" id="{7C580129-A0D0-E6A1-4FAA-43A4C34C02A0}"/>
              </a:ext>
            </a:extLst>
          </p:cNvPr>
          <p:cNvSpPr/>
          <p:nvPr/>
        </p:nvSpPr>
        <p:spPr>
          <a:xfrm>
            <a:off x="622930" y="1435100"/>
            <a:ext cx="3815720"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RADIAL NERVE</a:t>
            </a:r>
          </a:p>
        </p:txBody>
      </p:sp>
      <p:sp>
        <p:nvSpPr>
          <p:cNvPr id="2" name="Round Diagonal Corner Rectangle 2">
            <a:extLst>
              <a:ext uri="{FF2B5EF4-FFF2-40B4-BE49-F238E27FC236}">
                <a16:creationId xmlns:a16="http://schemas.microsoft.com/office/drawing/2014/main" id="{FFD78A66-CC48-5C48-53D8-474E6087B17B}"/>
              </a:ext>
            </a:extLst>
          </p:cNvPr>
          <p:cNvSpPr/>
          <p:nvPr/>
        </p:nvSpPr>
        <p:spPr>
          <a:xfrm>
            <a:off x="622929" y="2435830"/>
            <a:ext cx="4033154" cy="4088810"/>
          </a:xfrm>
          <a:prstGeom prst="round2DiagRect">
            <a:avLst/>
          </a:prstGeom>
          <a:blipFill dpi="0" rotWithShape="1">
            <a:blip r:embed="rId5">
              <a:extLst>
                <a:ext uri="{28A0092B-C50C-407E-A947-70E740481C1C}">
                  <a14:useLocalDpi xmlns:a14="http://schemas.microsoft.com/office/drawing/2010/main" val="0"/>
                </a:ext>
              </a:extLst>
            </a:blip>
            <a:srcRect/>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endParaRPr lang="en-GB" altLang="en-US" sz="2800" dirty="0"/>
          </a:p>
        </p:txBody>
      </p:sp>
    </p:spTree>
    <p:extLst>
      <p:ext uri="{BB962C8B-B14F-4D97-AF65-F5344CB8AC3E}">
        <p14:creationId xmlns:p14="http://schemas.microsoft.com/office/powerpoint/2010/main" val="13454856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ound Diagonal Corner Rectangle 3"/>
          <p:cNvSpPr/>
          <p:nvPr/>
        </p:nvSpPr>
        <p:spPr>
          <a:xfrm>
            <a:off x="622930" y="402811"/>
            <a:ext cx="3010607"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SUMMARY</a:t>
            </a:r>
          </a:p>
        </p:txBody>
      </p:sp>
      <p:pic>
        <p:nvPicPr>
          <p:cNvPr id="19" name="Picture 18" descr="COSMOS GRAPHIC WHITE.png"/>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3" name="Round Diagonal Corner Rectangle 2"/>
          <p:cNvSpPr/>
          <p:nvPr/>
        </p:nvSpPr>
        <p:spPr>
          <a:xfrm>
            <a:off x="622930" y="1435100"/>
            <a:ext cx="8205186" cy="5159767"/>
          </a:xfrm>
          <a:prstGeom prst="round2DiagRect">
            <a:avLst/>
          </a:prstGeom>
          <a:no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Clr>
                <a:schemeClr val="bg1"/>
              </a:buClr>
              <a:buFont typeface="Arial" panose="020B0604020202020204" pitchFamily="34" charset="0"/>
              <a:buChar char="•"/>
            </a:pPr>
            <a:r>
              <a:rPr lang="en-GB" sz="2800" dirty="0">
                <a:solidFill>
                  <a:schemeClr val="bg1"/>
                </a:solidFill>
              </a:rPr>
              <a:t>Hand anatomy is complicated and understanding it is heavily dependent on anatomical knowledge! </a:t>
            </a:r>
          </a:p>
          <a:p>
            <a:pPr marL="457200" indent="-457200">
              <a:buClr>
                <a:schemeClr val="bg1"/>
              </a:buClr>
              <a:buFont typeface="Arial" panose="020B0604020202020204" pitchFamily="34" charset="0"/>
              <a:buChar char="•"/>
            </a:pPr>
            <a:r>
              <a:rPr lang="en-GB" sz="2800" dirty="0">
                <a:solidFill>
                  <a:schemeClr val="bg1"/>
                </a:solidFill>
              </a:rPr>
              <a:t>Easiest to learn by logically progressing through the material </a:t>
            </a:r>
          </a:p>
          <a:p>
            <a:pPr marL="457200" indent="-457200">
              <a:buClr>
                <a:schemeClr val="bg1"/>
              </a:buClr>
              <a:buFont typeface="Arial" panose="020B0604020202020204" pitchFamily="34" charset="0"/>
              <a:buChar char="•"/>
            </a:pPr>
            <a:r>
              <a:rPr lang="en-GB" sz="2800" dirty="0">
                <a:solidFill>
                  <a:schemeClr val="bg1"/>
                </a:solidFill>
              </a:rPr>
              <a:t>It is important you know the neural pathways as well as their muscular and dermatological innervation – ‘To test and to treat’</a:t>
            </a:r>
          </a:p>
        </p:txBody>
      </p:sp>
    </p:spTree>
    <p:extLst>
      <p:ext uri="{BB962C8B-B14F-4D97-AF65-F5344CB8AC3E}">
        <p14:creationId xmlns:p14="http://schemas.microsoft.com/office/powerpoint/2010/main" val="209330106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ound Diagonal Corner Rectangle 3"/>
          <p:cNvSpPr/>
          <p:nvPr/>
        </p:nvSpPr>
        <p:spPr>
          <a:xfrm>
            <a:off x="797820" y="326611"/>
            <a:ext cx="4256780" cy="749300"/>
          </a:xfrm>
          <a:prstGeom prst="round2Diag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000" dirty="0"/>
              <a:t>ANY QUESTIONS?</a:t>
            </a:r>
          </a:p>
        </p:txBody>
      </p:sp>
      <p:pic>
        <p:nvPicPr>
          <p:cNvPr id="19" name="Picture 18" descr="COSMOS GRAPHIC WHITE.png"/>
          <p:cNvPicPr>
            <a:picLocks noChangeAspect="1"/>
          </p:cNvPicPr>
          <p:nvPr/>
        </p:nvPicPr>
        <p:blipFill rotWithShape="1">
          <a:blip r:embed="rId2"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a:effectLst/>
        </p:spPr>
      </p:pic>
      <p:sp>
        <p:nvSpPr>
          <p:cNvPr id="3" name="Round Diagonal Corner Rectangle 2"/>
          <p:cNvSpPr/>
          <p:nvPr/>
        </p:nvSpPr>
        <p:spPr>
          <a:xfrm>
            <a:off x="797819" y="1358901"/>
            <a:ext cx="7963796" cy="4842394"/>
          </a:xfrm>
          <a:prstGeom prst="round2DiagRect">
            <a:avLst/>
          </a:prstGeom>
          <a:blipFill>
            <a:blip r:embed="rId3"/>
            <a:stretch>
              <a:fillRect/>
            </a:stretch>
          </a:blip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endParaRPr lang="en-GB" sz="3200" dirty="0">
              <a:solidFill>
                <a:schemeClr val="bg1"/>
              </a:solidFill>
            </a:endParaRPr>
          </a:p>
        </p:txBody>
      </p:sp>
    </p:spTree>
    <p:extLst>
      <p:ext uri="{BB962C8B-B14F-4D97-AF65-F5344CB8AC3E}">
        <p14:creationId xmlns:p14="http://schemas.microsoft.com/office/powerpoint/2010/main" val="17631746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1224</Words>
  <Application>Microsoft Office PowerPoint</Application>
  <PresentationFormat>Widescreen</PresentationFormat>
  <Paragraphs>250</Paragraphs>
  <Slides>43</Slides>
  <Notes>40</Notes>
  <HiddenSlides>2</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43</vt:i4>
      </vt:variant>
    </vt:vector>
  </HeadingPairs>
  <TitlesOfParts>
    <vt:vector size="48" baseType="lpstr">
      <vt:lpstr>Arial</vt:lpstr>
      <vt:lpstr>Calibri</vt:lpstr>
      <vt:lpstr>Calibri Light</vt:lpstr>
      <vt:lpstr>Courier New</vt:lpstr>
      <vt:lpstr>Office Theme</vt:lpstr>
      <vt:lpstr>Hand Anatomy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London Metropolitan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Life Support</dc:title>
  <dc:creator>Paul Starrs</dc:creator>
  <cp:lastModifiedBy>Paul Starrs</cp:lastModifiedBy>
  <cp:revision>75</cp:revision>
  <dcterms:created xsi:type="dcterms:W3CDTF">2018-09-14T09:18:39Z</dcterms:created>
  <dcterms:modified xsi:type="dcterms:W3CDTF">2025-02-20T14:17:16Z</dcterms:modified>
</cp:coreProperties>
</file>