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69" r:id="rId2"/>
    <p:sldId id="275" r:id="rId3"/>
    <p:sldId id="276" r:id="rId4"/>
    <p:sldId id="336" r:id="rId5"/>
    <p:sldId id="323" r:id="rId6"/>
    <p:sldId id="277" r:id="rId7"/>
    <p:sldId id="328" r:id="rId8"/>
    <p:sldId id="257" r:id="rId9"/>
    <p:sldId id="338" r:id="rId10"/>
    <p:sldId id="343" r:id="rId11"/>
    <p:sldId id="344" r:id="rId12"/>
    <p:sldId id="345" r:id="rId13"/>
    <p:sldId id="339" r:id="rId14"/>
    <p:sldId id="340" r:id="rId15"/>
    <p:sldId id="346" r:id="rId16"/>
    <p:sldId id="341" r:id="rId17"/>
    <p:sldId id="342" r:id="rId18"/>
    <p:sldId id="330" r:id="rId19"/>
    <p:sldId id="347" r:id="rId20"/>
    <p:sldId id="348" r:id="rId21"/>
    <p:sldId id="349" r:id="rId22"/>
    <p:sldId id="350" r:id="rId23"/>
    <p:sldId id="329" r:id="rId24"/>
    <p:sldId id="351" r:id="rId25"/>
    <p:sldId id="352" r:id="rId26"/>
    <p:sldId id="353" r:id="rId27"/>
    <p:sldId id="354" r:id="rId28"/>
    <p:sldId id="327" r:id="rId29"/>
    <p:sldId id="278" r:id="rId30"/>
    <p:sldId id="331" r:id="rId31"/>
    <p:sldId id="335" r:id="rId32"/>
    <p:sldId id="267" r:id="rId33"/>
    <p:sldId id="260" r:id="rId34"/>
    <p:sldId id="266" r:id="rId35"/>
    <p:sldId id="256" r:id="rId36"/>
    <p:sldId id="261" r:id="rId37"/>
    <p:sldId id="258" r:id="rId38"/>
    <p:sldId id="259" r:id="rId39"/>
    <p:sldId id="263" r:id="rId40"/>
    <p:sldId id="262" r:id="rId41"/>
    <p:sldId id="264" r:id="rId42"/>
    <p:sldId id="265" r:id="rId43"/>
    <p:sldId id="355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0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96ACDC-7DD2-463A-9F05-613F9F284600}" type="datetimeFigureOut">
              <a:rPr lang="en-GB" smtClean="0"/>
              <a:t>23/11/2024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2575BE-8716-4ECD-9BFF-C536651380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2000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F71F40-1AA3-4C33-9255-8DEAF2E526ED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48782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F71F40-1AA3-4C33-9255-8DEAF2E526ED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6924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F71F40-1AA3-4C33-9255-8DEAF2E526ED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86919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F71F40-1AA3-4C33-9255-8DEAF2E526ED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56460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F71F40-1AA3-4C33-9255-8DEAF2E526ED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87441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F71F40-1AA3-4C33-9255-8DEAF2E526ED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0548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47666-4F8E-40F1-72C0-3C9F9D0A8F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3A158F-E844-7BF2-023F-8176124752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8D59F-44E0-76A4-3ABF-6A11EE568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D1D4F-DC22-4CEB-85B3-D9EADE039BFC}" type="datetimeFigureOut">
              <a:rPr lang="en-GB" smtClean="0"/>
              <a:t>23/11/2024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DCB38-2278-5D26-C311-9DBA3E438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5B26F7-7006-91F4-2276-52E3812CF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0ED91-671F-49D1-BB65-148CA94B3C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811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4ECA3-6306-2822-A0E0-81B413868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A1416-97DF-F2EE-0E49-2DAC1AC767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D4B6C-0A10-63F3-C68E-AFD16457D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D1D4F-DC22-4CEB-85B3-D9EADE039BFC}" type="datetimeFigureOut">
              <a:rPr lang="en-GB" smtClean="0"/>
              <a:t>23/11/2024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8303A9-4E93-319A-D43B-8EC8A44DB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90D97-7826-3465-03A2-16644FDF3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0ED91-671F-49D1-BB65-148CA94B3C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0289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44180-7032-A22A-B53A-FAFB0AD0A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C96FFA-B06E-AAF1-4E37-6ACB1D49C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F5C76-5358-09D6-170B-A80195734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D1D4F-DC22-4CEB-85B3-D9EADE039BFC}" type="datetimeFigureOut">
              <a:rPr lang="en-GB" smtClean="0"/>
              <a:t>23/11/2024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6C86D-DB8B-CE01-606E-A317E69B8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4710D-CF91-BD73-E000-6526348C3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0ED91-671F-49D1-BB65-148CA94B3C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3075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B804E-ED80-BEA3-5339-D38EF13F4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252E6-646E-B708-D5E4-176B95778D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8CCC18-6FD1-67C0-68EE-AEB59A5538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E64E4-3B3B-94F5-4B19-45CED7FF0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D1D4F-DC22-4CEB-85B3-D9EADE039BFC}" type="datetimeFigureOut">
              <a:rPr lang="en-GB" smtClean="0"/>
              <a:t>23/11/2024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EE91A3-74E4-6DD9-A1BE-101A092B0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5B1DB8-96A1-F3C6-170C-79B85D8C2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0ED91-671F-49D1-BB65-148CA94B3C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1732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F14A3-E9C8-45E6-1433-5C1D8A137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53561E-71F6-6125-A4C9-184E6552F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4AD3D2-F998-20B9-908D-39771AEFB9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CAB86F-83E5-8538-1C4B-791299BD81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C61473-4A18-E774-90FC-D7E533FD0D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F9E603-125D-B580-F46E-798908601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D1D4F-DC22-4CEB-85B3-D9EADE039BFC}" type="datetimeFigureOut">
              <a:rPr lang="en-GB" smtClean="0"/>
              <a:t>23/11/2024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99D463-BA1E-8197-926C-0D2C3F464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C25D9A-18AE-53EB-8953-08F25D767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0ED91-671F-49D1-BB65-148CA94B3C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7686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4B8AE-E5D0-C564-F3EC-39F25003E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0C51F1-6A71-F729-EF24-18A89FE77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D1D4F-DC22-4CEB-85B3-D9EADE039BFC}" type="datetimeFigureOut">
              <a:rPr lang="en-GB" smtClean="0"/>
              <a:t>23/11/2024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2C0BE5-84B2-A81E-F7AF-4F23015C4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23E375-26DF-16DB-0E50-4B2C7FC8D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0ED91-671F-49D1-BB65-148CA94B3C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995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C451CD-09DB-3B67-5DF2-898E3FE8E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D1D4F-DC22-4CEB-85B3-D9EADE039BFC}" type="datetimeFigureOut">
              <a:rPr lang="en-GB" smtClean="0"/>
              <a:t>23/11/2024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2CCAA9-B84D-2B31-14FE-CA8673B65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6512B-1E80-9A7F-4E3D-D634ABF73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0ED91-671F-49D1-BB65-148CA94B3C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8648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D6636-0D6F-EED7-4630-A84D48371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1CE86-61F7-0408-52EA-8D69E3704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288483-DA68-76E0-2A94-42E9864EB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906A05-AA09-33B3-304A-9F87C4ABC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D1D4F-DC22-4CEB-85B3-D9EADE039BFC}" type="datetimeFigureOut">
              <a:rPr lang="en-GB" smtClean="0"/>
              <a:t>23/11/2024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53D1A-F33D-D9F1-448A-431DD0C6B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FE3553-F130-76D7-43EB-1A8CF44DB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0ED91-671F-49D1-BB65-148CA94B3C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9831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FC39E-871A-6F64-64B6-1EADC3DF1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417D11-42ED-70BC-9368-A917518C83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D4BABD-C97D-D467-501F-29C24AB103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09EFA5-E07A-DA46-70A9-473C66255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D1D4F-DC22-4CEB-85B3-D9EADE039BFC}" type="datetimeFigureOut">
              <a:rPr lang="en-GB" smtClean="0"/>
              <a:t>23/11/2024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B6F19D-286E-80CB-8A5A-F6B95E09A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5BFC68-65D5-9BC2-5A26-5803FD687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0ED91-671F-49D1-BB65-148CA94B3C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1571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1897C-121E-037F-7C71-6BAC80301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441917-9EEC-9F4A-9D94-195BB41584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55D03-CF38-06D3-54CE-E00EE888E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D1D4F-DC22-4CEB-85B3-D9EADE039BFC}" type="datetimeFigureOut">
              <a:rPr lang="en-GB" smtClean="0"/>
              <a:t>23/11/2024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2DE6D-EAB7-0F41-DF38-13AEA8175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2154F-3974-8D26-3D97-7AF92C4EF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0ED91-671F-49D1-BB65-148CA94B3C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3477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CA5F15-208E-CB15-7AD7-368B75FDD3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D5317C-93CF-4EEE-6F7E-588B973D12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5E97E-92F6-46D0-E0AC-5BBB34CDB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D1D4F-DC22-4CEB-85B3-D9EADE039BFC}" type="datetimeFigureOut">
              <a:rPr lang="en-GB" smtClean="0"/>
              <a:t>23/11/2024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4E83A-01DB-BC47-9206-E194A8A8E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CA7FD-81E5-CDBC-2D7F-F190EE3EE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0ED91-671F-49D1-BB65-148CA94B3C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7338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DDF812-8375-E4F4-E51B-A93D8A1F4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08E750-6CF7-7748-E41E-29D9CD4C9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18B9B-973A-32CA-8C11-89EF9F8EA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AD1D4F-DC22-4CEB-85B3-D9EADE039BFC}" type="datetimeFigureOut">
              <a:rPr lang="en-GB" smtClean="0"/>
              <a:t>23/11/2024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E4E7F-520C-D3FB-6A1B-C1F4CEAC0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2BE40-6B9E-B4E4-44A7-5935EB8AC2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50ED91-671F-49D1-BB65-148CA94B3C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0526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esearchgate.net/publication/51672384_Manual_palpation_of_lumbo-pelvic_landmarks_A_validity_study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esearchgate.net/publication/51672384_Manual_palpation_of_lumbo-pelvic_landmarks_A_validity_study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F03BBB-2AA5-512A-3E05-F13B6A3BA5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GB" sz="4800">
                <a:solidFill>
                  <a:srgbClr val="FFFFFF"/>
                </a:solidFill>
              </a:rPr>
              <a:t>SURFACE ANATOMY OF THE LOWER LIMB: Practical Workshop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DC67D2-DCF7-6C64-DD72-A83B9F713A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en-GB" sz="2000">
                <a:solidFill>
                  <a:srgbClr val="FFFFFF"/>
                </a:solidFill>
              </a:rPr>
              <a:t>PT7001/PT4050</a:t>
            </a:r>
          </a:p>
          <a:p>
            <a:pPr algn="r"/>
            <a:r>
              <a:rPr lang="en-GB" sz="2000">
                <a:solidFill>
                  <a:srgbClr val="FFFFFF"/>
                </a:solidFill>
              </a:rPr>
              <a:t>Ngozi Onuegbu PhD</a:t>
            </a:r>
          </a:p>
          <a:p>
            <a:pPr algn="r"/>
            <a:r>
              <a:rPr lang="en-GB" sz="2000">
                <a:solidFill>
                  <a:srgbClr val="FFFFFF"/>
                </a:solidFill>
              </a:rPr>
              <a:t>Walaa Abu-Taleb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12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C2D57-7ED1-2B0C-451C-CDB7142C6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D0CCD-D10E-F1F7-09DB-1F99F75E1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581" y="1484768"/>
            <a:ext cx="11334939" cy="44543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By the end of this lecture, you will be able to:</a:t>
            </a:r>
          </a:p>
          <a:p>
            <a:pPr marL="0" indent="0">
              <a:buNone/>
            </a:pPr>
            <a:endParaRPr lang="en-GB" sz="2400" dirty="0"/>
          </a:p>
          <a:p>
            <a:r>
              <a:rPr lang="en-GB" sz="2400" dirty="0"/>
              <a:t>Accurately identify and palpate major anatomical landmarks of the lower limb</a:t>
            </a:r>
          </a:p>
          <a:p>
            <a:r>
              <a:rPr lang="en-GB" sz="2400" dirty="0"/>
              <a:t>Understand the functional significance of various bony prominences</a:t>
            </a:r>
          </a:p>
          <a:p>
            <a:r>
              <a:rPr lang="en-GB" sz="2400" dirty="0"/>
              <a:t>Describe the surface anatomy and palpation techniques for identifying structures of the lower limb</a:t>
            </a:r>
          </a:p>
          <a:p>
            <a:r>
              <a:rPr lang="en-GB" sz="2400" dirty="0"/>
              <a:t>Differentiate Between Lower Limb Joint Landmarks</a:t>
            </a:r>
          </a:p>
          <a:p>
            <a:r>
              <a:rPr lang="en-GB" sz="2400" dirty="0"/>
              <a:t>Apply the knowledge of anatomical landmarks in a clinical setting</a:t>
            </a:r>
          </a:p>
        </p:txBody>
      </p:sp>
    </p:spTree>
    <p:extLst>
      <p:ext uri="{BB962C8B-B14F-4D97-AF65-F5344CB8AC3E}">
        <p14:creationId xmlns:p14="http://schemas.microsoft.com/office/powerpoint/2010/main" val="2734254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F15EC-247F-548A-7A79-4DE510C6E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Regions of the Lower Limb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EBAE5A-B6AC-B6C5-A79A-61B644B25B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62345" t="23658" b="-72"/>
          <a:stretch/>
        </p:blipFill>
        <p:spPr>
          <a:xfrm>
            <a:off x="1727480" y="1362455"/>
            <a:ext cx="2844520" cy="50635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42E8D4-5A20-D757-7155-3526C4689B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3469" r="61402"/>
          <a:stretch/>
        </p:blipFill>
        <p:spPr>
          <a:xfrm>
            <a:off x="5893642" y="1332031"/>
            <a:ext cx="2844520" cy="516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098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21038-5EEE-35E5-6C97-E74D7A597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Gluteal Region: Surface Anatomy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3DFA7-6E81-3440-EDD7-565FEB322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993" y="1825625"/>
            <a:ext cx="6827661" cy="4667250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The gluteal region, commonly referred to as the </a:t>
            </a:r>
            <a:r>
              <a:rPr lang="en-GB" b="1" dirty="0"/>
              <a:t>buttocks</a:t>
            </a:r>
            <a:r>
              <a:rPr lang="en-GB" dirty="0"/>
              <a:t>, is an anatomical area located on the posterior aspect of the pelvis. </a:t>
            </a:r>
          </a:p>
          <a:p>
            <a:pPr marL="0" indent="0">
              <a:buNone/>
            </a:pPr>
            <a:r>
              <a:rPr lang="en-GB" b="1" dirty="0"/>
              <a:t>Boundaries of the Gluteal Region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Superior</a:t>
            </a:r>
            <a:r>
              <a:rPr lang="en-GB" dirty="0"/>
              <a:t>: </a:t>
            </a:r>
            <a:r>
              <a:rPr lang="en-GB" b="1" dirty="0"/>
              <a:t>Iliac crest</a:t>
            </a:r>
            <a:r>
              <a:rPr lang="en-GB" dirty="0"/>
              <a:t> (the upper border of the hip bone).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Inferior</a:t>
            </a:r>
            <a:r>
              <a:rPr lang="en-GB" dirty="0"/>
              <a:t>: </a:t>
            </a:r>
            <a:r>
              <a:rPr lang="en-GB" b="1" dirty="0"/>
              <a:t>Gluteal fold</a:t>
            </a:r>
            <a:r>
              <a:rPr lang="en-GB" dirty="0"/>
              <a:t> (the crease formed where the buttocks meet the upper thigh).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Medial</a:t>
            </a:r>
            <a:r>
              <a:rPr lang="en-GB" dirty="0"/>
              <a:t>: </a:t>
            </a:r>
            <a:r>
              <a:rPr lang="en-GB" b="1" dirty="0"/>
              <a:t>Sacrum</a:t>
            </a:r>
            <a:r>
              <a:rPr lang="en-GB" dirty="0"/>
              <a:t> and </a:t>
            </a:r>
            <a:r>
              <a:rPr lang="en-GB" b="1" dirty="0"/>
              <a:t>coccyx</a:t>
            </a:r>
            <a:r>
              <a:rPr lang="en-GB" dirty="0"/>
              <a:t> (midline structures of the lower spine).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Lateral</a:t>
            </a:r>
            <a:r>
              <a:rPr lang="en-GB" dirty="0"/>
              <a:t>: </a:t>
            </a:r>
            <a:r>
              <a:rPr lang="en-GB" b="1" dirty="0"/>
              <a:t>Greater trochanter of the femur</a:t>
            </a:r>
            <a:r>
              <a:rPr lang="en-GB" dirty="0"/>
              <a:t> (the bony prominence on the side of the hip).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B8017D-2804-89BD-EE57-5E01359E5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1854" y="1909970"/>
            <a:ext cx="3762439" cy="4091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954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 sz="4300" b="1" dirty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</a:rPr>
              <a:t>Gluteal Region</a:t>
            </a:r>
          </a:p>
        </p:txBody>
      </p:sp>
      <p:sp>
        <p:nvSpPr>
          <p:cNvPr id="158723" name="Rectangle 3"/>
          <p:cNvSpPr>
            <a:spLocks noGrp="1"/>
          </p:cNvSpPr>
          <p:nvPr>
            <p:ph idx="1"/>
          </p:nvPr>
        </p:nvSpPr>
        <p:spPr>
          <a:xfrm>
            <a:off x="583661" y="1825624"/>
            <a:ext cx="6634262" cy="3777507"/>
          </a:xfrm>
          <a:ln/>
        </p:spPr>
        <p:txBody>
          <a:bodyPr vert="horz" wrap="square" anchor="t" anchorCtr="0"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GB" sz="2400" dirty="0"/>
              <a:t>The inferior border of the gluteus maximus muscle forms the gluteal fold. 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The gluteal (natal) cleft extends vertically to separate the buttocks into two prominences. 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In the inferior portion of each buttock, an ischial tuberosity can be palpated; these tuberosities support body weight while seated. 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The gluteus maximus muscle forms most of the inferolateral “fleshy” part of the buttock. 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The gluteus </a:t>
            </a:r>
            <a:r>
              <a:rPr lang="en-GB" sz="2400" dirty="0" err="1"/>
              <a:t>medius</a:t>
            </a:r>
            <a:r>
              <a:rPr lang="en-GB" sz="2400" dirty="0"/>
              <a:t> muscle may be palpated only in the superolateral portion of each buttock. </a:t>
            </a:r>
          </a:p>
          <a:p>
            <a:pPr>
              <a:lnSpc>
                <a:spcPct val="90000"/>
              </a:lnSpc>
            </a:pPr>
            <a:endParaRPr lang="en-GB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endParaRPr lang="en-GB" dirty="0"/>
          </a:p>
        </p:txBody>
      </p:sp>
      <p:sp>
        <p:nvSpPr>
          <p:cNvPr id="5" name="Slide Number Placeholder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charset="0"/>
                <a:ea typeface="+mn-ea"/>
                <a:cs typeface="+mn-cs"/>
              </a:defRPr>
            </a:lvl5pPr>
          </a:lstStyle>
          <a:p>
            <a:pPr lvl="0" algn="ctr" eaLnBrk="1" hangingPunct="1">
              <a:buNone/>
            </a:pPr>
            <a:r>
              <a:rPr lang="en-GB" sz="1200">
                <a:solidFill>
                  <a:srgbClr val="B5A788"/>
                </a:solidFill>
              </a:rPr>
              <a:t>13-</a:t>
            </a:r>
            <a:fld id="{9A0DB2DC-4C9A-4742-B13C-FB6460FD3503}" type="slidenum">
              <a:rPr lang="en-US" sz="1200" smtClean="0">
                <a:solidFill>
                  <a:srgbClr val="B5A788"/>
                </a:solidFill>
              </a:rPr>
              <a:t>5</a:t>
            </a:fld>
            <a:endParaRPr lang="en-US" sz="1200" dirty="0">
              <a:solidFill>
                <a:srgbClr val="B5A788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22C01D0-78CA-9A62-9001-EB958C4A5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0484" y="2527489"/>
            <a:ext cx="1439709" cy="156581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E3EC18D-D8D3-BEFF-A412-336F5311BC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410"/>
          <a:stretch/>
        </p:blipFill>
        <p:spPr>
          <a:xfrm>
            <a:off x="8610600" y="365125"/>
            <a:ext cx="3467100" cy="246937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B310CEF-17A2-B269-1AF8-15437CBD8E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1653" y="3429000"/>
            <a:ext cx="3901094" cy="325186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eaLnBrk="1" hangingPunct="1"/>
            <a:r>
              <a:rPr b="1" dirty="0"/>
              <a:t>Surface Anatomy</a:t>
            </a:r>
          </a:p>
        </p:txBody>
      </p:sp>
      <p:sp>
        <p:nvSpPr>
          <p:cNvPr id="5123" name="Rectangle 3"/>
          <p:cNvSpPr>
            <a:spLocks noGrp="1"/>
          </p:cNvSpPr>
          <p:nvPr>
            <p:ph sz="half" idx="2"/>
          </p:nvPr>
        </p:nvSpPr>
        <p:spPr>
          <a:xfrm>
            <a:off x="6705600" y="1447801"/>
            <a:ext cx="5045798" cy="5045074"/>
          </a:xfrm>
          <a:ln/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eaLnBrk="1" hangingPunct="1">
              <a:buSzPct val="75000"/>
            </a:pPr>
            <a:r>
              <a:rPr dirty="0">
                <a:latin typeface="+mn-lt"/>
                <a:ea typeface="+mn-ea"/>
                <a:cs typeface="+mn-cs"/>
              </a:rPr>
              <a:t>Gluteal region / posterior pelvis</a:t>
            </a:r>
          </a:p>
          <a:p>
            <a:pPr lvl="1" eaLnBrk="1" hangingPunct="1">
              <a:buSzPct val="80000"/>
            </a:pPr>
            <a:r>
              <a:rPr dirty="0">
                <a:latin typeface="+mn-lt"/>
              </a:rPr>
              <a:t>Iliac crest</a:t>
            </a:r>
          </a:p>
          <a:p>
            <a:pPr lvl="1" eaLnBrk="1" hangingPunct="1">
              <a:buSzPct val="80000"/>
            </a:pPr>
            <a:r>
              <a:rPr dirty="0">
                <a:latin typeface="+mn-lt"/>
              </a:rPr>
              <a:t>Gluteus maximus </a:t>
            </a:r>
          </a:p>
          <a:p>
            <a:pPr lvl="2" eaLnBrk="1" hangingPunct="1">
              <a:buSzPct val="65000"/>
            </a:pPr>
            <a:r>
              <a:rPr dirty="0">
                <a:latin typeface="+mn-lt"/>
              </a:rPr>
              <a:t>Cheeks</a:t>
            </a:r>
          </a:p>
          <a:p>
            <a:pPr lvl="1" eaLnBrk="1" hangingPunct="1">
              <a:buSzPct val="80000"/>
            </a:pPr>
            <a:r>
              <a:rPr dirty="0">
                <a:latin typeface="+mn-lt"/>
              </a:rPr>
              <a:t>Natal/gluteal cleft </a:t>
            </a:r>
          </a:p>
          <a:p>
            <a:pPr lvl="2" eaLnBrk="1" hangingPunct="1">
              <a:buSzPct val="65000"/>
            </a:pPr>
            <a:r>
              <a:rPr dirty="0">
                <a:latin typeface="+mn-lt"/>
              </a:rPr>
              <a:t>Vertical midline; “Crack”</a:t>
            </a:r>
          </a:p>
          <a:p>
            <a:pPr lvl="1" eaLnBrk="1" hangingPunct="1">
              <a:buSzPct val="80000"/>
            </a:pPr>
            <a:r>
              <a:rPr dirty="0">
                <a:latin typeface="+mn-lt"/>
              </a:rPr>
              <a:t>Gluteal folds </a:t>
            </a:r>
          </a:p>
          <a:p>
            <a:pPr lvl="2" eaLnBrk="1" hangingPunct="1">
              <a:buSzPct val="65000"/>
            </a:pPr>
            <a:r>
              <a:rPr dirty="0">
                <a:latin typeface="+mn-lt"/>
              </a:rPr>
              <a:t>Bottom of cheek; “prominence”</a:t>
            </a:r>
          </a:p>
          <a:p>
            <a:pPr lvl="1">
              <a:buSzPct val="80000"/>
            </a:pPr>
            <a:r>
              <a:rPr lang="en-GB" b="1" dirty="0"/>
              <a:t>Bony Landmarks</a:t>
            </a:r>
            <a:r>
              <a:rPr lang="en-GB" dirty="0"/>
              <a:t>: Iliac crest, sacrum, coccyx, greater trochanter of the femur, PSIS, Ischial tuberosity.</a:t>
            </a:r>
          </a:p>
          <a:p>
            <a:pPr lvl="1" eaLnBrk="1" hangingPunct="1">
              <a:buSzPct val="80000"/>
            </a:pPr>
            <a:endParaRPr dirty="0">
              <a:latin typeface="+mn-lt"/>
            </a:endParaRPr>
          </a:p>
          <a:p>
            <a:pPr eaLnBrk="1" hangingPunct="1">
              <a:buSzPct val="75000"/>
            </a:pPr>
            <a:endParaRPr dirty="0">
              <a:latin typeface="+mn-lt"/>
              <a:ea typeface="+mn-ea"/>
              <a:cs typeface="+mn-cs"/>
            </a:endParaRPr>
          </a:p>
        </p:txBody>
      </p:sp>
      <p:pic>
        <p:nvPicPr>
          <p:cNvPr id="5124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05000"/>
            <a:ext cx="4648200" cy="4013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20213-5718-DB1F-5825-1E2F9E616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Iliac Crest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1FDAEC6-307C-E37D-3E54-623FE1E74B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1981" r="61707" b="-672"/>
          <a:stretch/>
        </p:blipFill>
        <p:spPr>
          <a:xfrm>
            <a:off x="8781057" y="641845"/>
            <a:ext cx="2572743" cy="55743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264C5D-597A-6E7B-A435-72DA5B8C6A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122" y="2049889"/>
            <a:ext cx="3000375" cy="30003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E756AE-37BF-6A34-813D-136CDD883B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5221" y="1316553"/>
            <a:ext cx="3761558" cy="42248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654AAE3-D1F5-1886-05B2-60F29D67EA1B}"/>
              </a:ext>
            </a:extLst>
          </p:cNvPr>
          <p:cNvSpPr txBox="1"/>
          <p:nvPr/>
        </p:nvSpPr>
        <p:spPr>
          <a:xfrm>
            <a:off x="977122" y="5778230"/>
            <a:ext cx="7213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Easily traced from the posterior superior iliac spine (PSIS)</a:t>
            </a:r>
          </a:p>
        </p:txBody>
      </p:sp>
    </p:spTree>
    <p:extLst>
      <p:ext uri="{BB962C8B-B14F-4D97-AF65-F5344CB8AC3E}">
        <p14:creationId xmlns:p14="http://schemas.microsoft.com/office/powerpoint/2010/main" val="474394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0F1032-3435-7533-E7D5-BEB19E67C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5478" y="3013771"/>
            <a:ext cx="3324871" cy="36212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F6E26F-D0B0-4A0E-6909-C65A07124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7781"/>
            <a:ext cx="10515600" cy="1325563"/>
          </a:xfrm>
        </p:spPr>
        <p:txBody>
          <a:bodyPr/>
          <a:lstStyle/>
          <a:p>
            <a:r>
              <a:rPr lang="en-GB" b="1" dirty="0"/>
              <a:t>The Iliac Crests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3157F-2AD2-D935-7F4D-2B1999C9B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994" y="1825624"/>
            <a:ext cx="6382693" cy="457459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iliac crest forms the superior border of the ilium and the superior lateral margin of the greater pelvis.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Palpation:</a:t>
            </a:r>
          </a:p>
          <a:p>
            <a:pPr lvl="1"/>
            <a:r>
              <a:rPr lang="en-GB" dirty="0"/>
              <a:t>Ask your model to lie on the side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Start from the posterior superior iliac spine.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Trace anteriorly to the anterior superior iliac spine.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0D780E-EDA6-87DA-6FF5-899DA65A8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4316" y="692545"/>
            <a:ext cx="4468239" cy="3351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043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EEE7256-2604-EC6E-CCC4-515E2C75A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411" y="178037"/>
            <a:ext cx="2192627" cy="30253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CA1F6B-2E22-F244-9222-55C65D044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Iliac Crest: Clinical Relevance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A23D8-2091-1E1C-0F33-E7DDF2675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03848" cy="44105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Surface Landmark for Anatomical Assessments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Alignment in </a:t>
            </a:r>
            <a:r>
              <a:rPr lang="en-GB" b="1" dirty="0"/>
              <a:t>pelvic examinations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Reference point for identifying other structures, such as the </a:t>
            </a:r>
            <a:r>
              <a:rPr lang="en-GB" b="1" dirty="0"/>
              <a:t>L4-L5 vertebral level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Landmark in imaging studies (X-rays, CT scans, and MRIs).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C6BEC8-5922-DCAD-F7D7-BB47BB7B25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3532" y="1877776"/>
            <a:ext cx="3739486" cy="4163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026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A1F6B-2E22-F244-9222-55C65D044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Iliac Crest: Clinical Relevance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A23D8-2091-1E1C-0F33-E7DDF2675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Muscle Attachments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iliac crest serves as the attachment site for several important muscles, including: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Abdominal muscles</a:t>
            </a:r>
            <a:r>
              <a:rPr lang="en-GB" dirty="0"/>
              <a:t> (External oblique, Internal oblique, Transversus abdominis)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Back muscles</a:t>
            </a:r>
            <a:r>
              <a:rPr lang="en-GB" dirty="0"/>
              <a:t> (Erector spinae, Latissimus dorsi)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Hip stabilizers</a:t>
            </a:r>
            <a:r>
              <a:rPr lang="en-GB" dirty="0"/>
              <a:t> (Tensor fasciae </a:t>
            </a:r>
            <a:r>
              <a:rPr lang="en-GB" dirty="0" err="1"/>
              <a:t>latae</a:t>
            </a:r>
            <a:r>
              <a:rPr lang="en-GB" dirty="0"/>
              <a:t>, Gluteus </a:t>
            </a:r>
            <a:r>
              <a:rPr lang="en-GB" dirty="0" err="1"/>
              <a:t>medius</a:t>
            </a:r>
            <a:r>
              <a:rPr lang="en-GB" dirty="0"/>
              <a:t>, and Gluteus maximus)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7851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4BA2BAD-307E-DFCA-7EF7-F47B104A4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2089" y="1589044"/>
            <a:ext cx="3170672" cy="21011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C376B5-B5DE-AF84-A0C0-61A986CAA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Posterior Superior Iliac Spine (PSIS)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F667E-0430-4AC7-FFCA-93D319412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48591" cy="3952605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Found on the posterior border of the ilium.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Identified by dimples above the gluteal muscles.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Serves as an attachment for: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Posterior sacroiliac ligaments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Multifidus muscle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Consistently crosses the spinous process of S2, making it a reliable lumbar spine landmark.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3078E0-52BA-37DD-228F-711DEBC12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512950"/>
            <a:ext cx="3739896" cy="40309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2C80DC-1B37-58BC-788F-73C55E1F98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2689" y="3720485"/>
            <a:ext cx="2200072" cy="2200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625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02990-592C-B851-7FFC-BB41C85F0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The Ischial Tuberosities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EE0BD-98FF-DDD0-4988-B411AABC0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01697" cy="4059127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Known as "</a:t>
            </a:r>
            <a:r>
              <a:rPr lang="en-GB" b="1" dirty="0"/>
              <a:t>sitting bones</a:t>
            </a:r>
            <a:r>
              <a:rPr lang="en-GB" dirty="0"/>
              <a:t>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Two large bony protrusions on the inferior margin of the ischium.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Best palpated with the patient prone or seated upright with relaxed gluteal muscles.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Mark the lateral boundary of the pelvic outlet.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D346E7-CFD4-891D-0367-81679A3E6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3472" y="86842"/>
            <a:ext cx="3462828" cy="38480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679827-0AE0-B27E-98B2-EB8F7594AE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3387" y="4356427"/>
            <a:ext cx="2142500" cy="2136448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9A0FB12-92B5-2DAD-A723-4F60DAF35BB6}"/>
              </a:ext>
            </a:extLst>
          </p:cNvPr>
          <p:cNvCxnSpPr>
            <a:cxnSpLocks/>
          </p:cNvCxnSpPr>
          <p:nvPr/>
        </p:nvCxnSpPr>
        <p:spPr>
          <a:xfrm flipH="1" flipV="1">
            <a:off x="10334886" y="5780804"/>
            <a:ext cx="399502" cy="2078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E9FE0709-F20F-ACD2-51E4-89304EA7F7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7708" y="2365691"/>
            <a:ext cx="3187867" cy="3981471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5BF6B77-6848-1F46-7450-68F772EA9AE7}"/>
              </a:ext>
            </a:extLst>
          </p:cNvPr>
          <p:cNvCxnSpPr>
            <a:cxnSpLocks/>
          </p:cNvCxnSpPr>
          <p:nvPr/>
        </p:nvCxnSpPr>
        <p:spPr>
          <a:xfrm flipH="1" flipV="1">
            <a:off x="8135757" y="3653651"/>
            <a:ext cx="333809" cy="4030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0876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BD4C6-F618-DBEB-6366-ED8D1CB12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Palpating the Ischial Tuberosity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E955E-C97C-1A70-B058-91DE2B36B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111" y="1825625"/>
            <a:ext cx="10963071" cy="4828094"/>
          </a:xfrm>
        </p:spPr>
        <p:txBody>
          <a:bodyPr>
            <a:normAutofit fontScale="85000" lnSpcReduction="20000"/>
          </a:bodyPr>
          <a:lstStyle/>
          <a:p>
            <a:pPr>
              <a:buFont typeface="+mj-lt"/>
              <a:buAutoNum type="arabicPeriod"/>
            </a:pPr>
            <a:r>
              <a:rPr lang="en-GB" b="1" dirty="0"/>
              <a:t>Positioning the Patient</a:t>
            </a:r>
            <a:r>
              <a:rPr lang="en-GB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b="1" dirty="0"/>
              <a:t>Prone Position</a:t>
            </a:r>
            <a:r>
              <a:rPr lang="en-GB" dirty="0"/>
              <a:t>: Have the patient lie face down on an examination table with legs extended. This position allows for easy access to the ischial tuberosities.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Locating the Ischial Tuberosity</a:t>
            </a:r>
            <a:r>
              <a:rPr lang="en-GB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b="1" dirty="0"/>
              <a:t>Start at the Gluteal Fold</a:t>
            </a:r>
            <a:r>
              <a:rPr lang="en-GB" dirty="0"/>
              <a:t>: Place your hands just above the crease where the buttocks meet the upper thigh (gluteal fold).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b="1" dirty="0"/>
              <a:t>Palpate Upward</a:t>
            </a:r>
            <a:r>
              <a:rPr lang="en-GB" dirty="0"/>
              <a:t>: Move your fingers upward and slightly inward towards the midline to feel the bony prominence deep beneath the gluteal muscles.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Apply firm pressure to reach the ischial tuberosity, especially in patients with thicker soft tissue.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Palpation Technique</a:t>
            </a:r>
            <a:r>
              <a:rPr lang="en-GB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Use the </a:t>
            </a:r>
            <a:r>
              <a:rPr lang="en-GB" b="1" dirty="0"/>
              <a:t>pads of your fingers</a:t>
            </a:r>
            <a:r>
              <a:rPr lang="en-GB" dirty="0"/>
              <a:t> to apply firm but gentle pressure.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The ischial tuberosity will feel like a large, round bony prominence.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Ask the patient to relax their gluteal muscles to make the palpation easier.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For a seated assessment, place your hand under the patient’s buttock while they are seated upright, and gently press upwards.</a:t>
            </a:r>
          </a:p>
          <a:p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151613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8820C-AC95-D4A6-281A-36443E972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64911"/>
          </a:xfrm>
        </p:spPr>
        <p:txBody>
          <a:bodyPr/>
          <a:lstStyle/>
          <a:p>
            <a:r>
              <a:rPr lang="en-GB" b="1" dirty="0"/>
              <a:t>Clinical Considerations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DFA78-81A0-CEDD-20A6-F9253487B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Hamstring Tendinopathy</a:t>
            </a:r>
            <a:r>
              <a:rPr lang="en-GB" dirty="0"/>
              <a:t>: overuse hamstring injury due to hamstrings attachment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Ischial Bursitis</a:t>
            </a:r>
            <a:r>
              <a:rPr lang="en-GB" dirty="0"/>
              <a:t>: inflammation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Avulsion Fracture</a:t>
            </a:r>
            <a:r>
              <a:rPr lang="en-GB" dirty="0"/>
              <a:t>: forceful contractions of the hamstrings.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Conditions Assessed with Ischial Tuberosity Palpation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Sciatica</a:t>
            </a:r>
            <a:r>
              <a:rPr lang="en-GB" dirty="0"/>
              <a:t>: Differential diagnosis with hamstring or ischial bursitis.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Sitting Bone Pain</a:t>
            </a:r>
            <a:r>
              <a:rPr lang="en-GB" dirty="0"/>
              <a:t>: Assessing for tenderness in patients who report pain when sitting for extended periods.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81286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BDB5F-3D91-27A6-CD94-7C819EBEC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Slide 5: The Greater Trochanter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05454-091F-9915-E85D-C218F7D2B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44081" cy="415871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Large projection on the proximal femur for muscle attachments.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Located lateral to the hip joint, palpable about 10 cm below the iliac crest.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Can be felt during hip rotation.</a:t>
            </a:r>
          </a:p>
          <a:p>
            <a:r>
              <a:rPr lang="en-GB" dirty="0"/>
              <a:t>Important anatomical landmark and attachment site for several gluteal muscles and piriformis,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BF5530-C4B1-2884-B253-6D3201B13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281" y="1262771"/>
            <a:ext cx="4361234" cy="24531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C7B8E86-385D-37D9-0885-AF9C07E288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339" t="20879" r="13201"/>
          <a:stretch/>
        </p:blipFill>
        <p:spPr>
          <a:xfrm>
            <a:off x="7062282" y="3904983"/>
            <a:ext cx="4361234" cy="264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8439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C16313-599B-2E16-39ED-45E9150E5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8664" y="165471"/>
            <a:ext cx="4400549" cy="24291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434A37-36DF-B6AB-228D-E08827455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787" y="690377"/>
            <a:ext cx="7305877" cy="1342704"/>
          </a:xfrm>
        </p:spPr>
        <p:txBody>
          <a:bodyPr/>
          <a:lstStyle/>
          <a:p>
            <a:r>
              <a:rPr lang="en-GB" b="1" dirty="0"/>
              <a:t>Palpating the Greater Trochanter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3CD5D-0E79-4B14-0BB7-507DECCE96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787" y="2341191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>
              <a:buFont typeface="+mj-lt"/>
              <a:buAutoNum type="arabicPeriod"/>
            </a:pPr>
            <a:r>
              <a:rPr lang="en-GB" b="1" dirty="0"/>
              <a:t>Positioning the Patient</a:t>
            </a:r>
            <a:r>
              <a:rPr lang="en-GB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b="1" dirty="0"/>
              <a:t>Side-Lying Position</a:t>
            </a:r>
            <a:r>
              <a:rPr lang="en-GB" dirty="0"/>
              <a:t>: This position exposes the greater trochanter for easier palpation.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Locating the Greater Trochanter</a:t>
            </a:r>
            <a:r>
              <a:rPr lang="en-GB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b="1" dirty="0"/>
              <a:t>Landmarks</a:t>
            </a:r>
            <a:r>
              <a:rPr lang="en-GB" dirty="0"/>
              <a:t>: Begin by palpating the </a:t>
            </a:r>
            <a:r>
              <a:rPr lang="en-GB" b="1" dirty="0"/>
              <a:t>iliac crest</a:t>
            </a:r>
            <a:r>
              <a:rPr lang="en-GB" dirty="0"/>
              <a:t> and moving your hand down the lateral side of the thigh.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The greater trochanter is located approximately </a:t>
            </a:r>
            <a:r>
              <a:rPr lang="en-GB" b="1" dirty="0"/>
              <a:t>10 cm below the iliac crest</a:t>
            </a:r>
            <a:r>
              <a:rPr lang="en-GB" dirty="0"/>
              <a:t> and can be felt as a large bony prominence on the outer aspect of the hip.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Palpation Technique</a:t>
            </a:r>
            <a:r>
              <a:rPr lang="en-GB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Use the </a:t>
            </a:r>
            <a:r>
              <a:rPr lang="en-GB" b="1" dirty="0"/>
              <a:t>pads of your fingers</a:t>
            </a:r>
            <a:r>
              <a:rPr lang="en-GB" dirty="0"/>
              <a:t> (index and middle fingers) to apply firm pressure over the lateral aspect of the hip.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Feel for the </a:t>
            </a:r>
            <a:r>
              <a:rPr lang="en-GB" b="1" dirty="0"/>
              <a:t>rounded contour</a:t>
            </a:r>
            <a:r>
              <a:rPr lang="en-GB" dirty="0"/>
              <a:t> of the greater trochanter. It should feel like a solid, smooth bump beneath the skin.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To confirm the location, ask the patient to </a:t>
            </a:r>
            <a:r>
              <a:rPr lang="en-GB" b="1" dirty="0"/>
              <a:t>internally and externally rotate their hip</a:t>
            </a:r>
            <a:r>
              <a:rPr lang="en-GB" dirty="0"/>
              <a:t> (turning the leg inwards and outwards) while keeping the knee bent. You should feel the greater trochanter move beneath your fingers during rotation.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A74045-4281-2912-A2FA-73B40799FA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7775"/>
          <a:stretch/>
        </p:blipFill>
        <p:spPr>
          <a:xfrm>
            <a:off x="5650606" y="495286"/>
            <a:ext cx="1791053" cy="176947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F71BA83-D981-4DCB-DD70-B76AF3DB691B}"/>
              </a:ext>
            </a:extLst>
          </p:cNvPr>
          <p:cNvSpPr/>
          <p:nvPr/>
        </p:nvSpPr>
        <p:spPr>
          <a:xfrm>
            <a:off x="6834499" y="1575187"/>
            <a:ext cx="291831" cy="4961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42635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A5530-689B-247C-26AF-CF99026F2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Conditions Assessed with Greater Trochanter Palpation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45B62-603B-EF1F-5013-C1D7D8848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Trochanteric Pain Syndrome</a:t>
            </a:r>
            <a:r>
              <a:rPr lang="en-GB" dirty="0"/>
              <a:t>: Characterized by pain over the lateral hip, often linked to bursitis, tendinopathy, or muscle tears.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Hip Fractures</a:t>
            </a:r>
            <a:r>
              <a:rPr lang="en-GB" dirty="0"/>
              <a:t>: In elderly patients, tenderness over the greater trochanter may indicate a femoral fracture, especially after a fall.</a:t>
            </a:r>
          </a:p>
          <a:p>
            <a:r>
              <a:rPr lang="en-GB" b="1" dirty="0"/>
              <a:t>Hip Osteoarthritis</a:t>
            </a:r>
            <a:r>
              <a:rPr lang="en-GB" dirty="0"/>
              <a:t>: Palpation of the greater trochanter can help differentiate pain from joint-related issues versus soft tissue or bursal involvement.</a:t>
            </a:r>
          </a:p>
          <a:p>
            <a:r>
              <a:rPr lang="en-GB" b="1" dirty="0"/>
              <a:t>Goniometry: </a:t>
            </a:r>
            <a:r>
              <a:rPr lang="en-GB" dirty="0"/>
              <a:t>Important landmark for the fulcrum in Hip ROM measurements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1877266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0F048-8DC6-64B9-4ED2-37D0BB833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664" y="365125"/>
            <a:ext cx="11301984" cy="1325563"/>
          </a:xfrm>
        </p:spPr>
        <p:txBody>
          <a:bodyPr/>
          <a:lstStyle/>
          <a:p>
            <a:r>
              <a:rPr lang="en-GB" b="1" dirty="0"/>
              <a:t>Palpable Gluteal and Posterior thigh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C7C67-D550-369C-2DD0-AD1880C36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747097" cy="307711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sz="2200" b="1" dirty="0"/>
              <a:t>How Many Structures Can You Palpate?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400" dirty="0">
                <a:solidFill>
                  <a:srgbClr val="000000"/>
                </a:solidFill>
                <a:effectLst/>
                <a:latin typeface="AkzidenzGroteskBE-Light"/>
              </a:rPr>
              <a:t>Posterior superior iliac spine </a:t>
            </a:r>
            <a:endParaRPr lang="en-GB" sz="3600" dirty="0"/>
          </a:p>
          <a:p>
            <a:pPr marL="342900" indent="-342900">
              <a:buFont typeface="+mj-lt"/>
              <a:buAutoNum type="arabicPeriod"/>
            </a:pPr>
            <a:r>
              <a:rPr lang="en-GB" sz="2400" dirty="0">
                <a:solidFill>
                  <a:srgbClr val="000000"/>
                </a:solidFill>
                <a:effectLst/>
                <a:latin typeface="AkzidenzGroteskBE-Light"/>
              </a:rPr>
              <a:t>Coccyx </a:t>
            </a:r>
            <a:endParaRPr lang="en-GB" sz="3600" dirty="0"/>
          </a:p>
          <a:p>
            <a:pPr marL="342900" indent="-342900">
              <a:buFont typeface="+mj-lt"/>
              <a:buAutoNum type="arabicPeriod"/>
            </a:pPr>
            <a:r>
              <a:rPr lang="en-GB" sz="2400" dirty="0">
                <a:solidFill>
                  <a:srgbClr val="000000"/>
                </a:solidFill>
                <a:effectLst/>
                <a:latin typeface="AkzidenzGroteskBE-Light"/>
              </a:rPr>
              <a:t>Ischial tuberosity </a:t>
            </a:r>
            <a:endParaRPr lang="en-GB" sz="3600" dirty="0"/>
          </a:p>
          <a:p>
            <a:pPr marL="342900" indent="-342900">
              <a:buFont typeface="+mj-lt"/>
              <a:buAutoNum type="arabicPeriod"/>
            </a:pPr>
            <a:r>
              <a:rPr lang="en-GB" sz="2400" dirty="0">
                <a:solidFill>
                  <a:srgbClr val="000000"/>
                </a:solidFill>
                <a:effectLst/>
                <a:latin typeface="AkzidenzGroteskBE-Light"/>
              </a:rPr>
              <a:t>Greater trochanter </a:t>
            </a:r>
            <a:endParaRPr lang="en-GB" sz="3600" dirty="0"/>
          </a:p>
          <a:p>
            <a:pPr marL="342900" indent="-342900">
              <a:buFont typeface="+mj-lt"/>
              <a:buAutoNum type="arabicPeriod"/>
            </a:pPr>
            <a:r>
              <a:rPr lang="en-GB" sz="2400" dirty="0">
                <a:solidFill>
                  <a:srgbClr val="000000"/>
                </a:solidFill>
                <a:effectLst/>
                <a:latin typeface="AkzidenzGroteskBE-Light"/>
              </a:rPr>
              <a:t>Medial and lateral </a:t>
            </a:r>
            <a:r>
              <a:rPr lang="en-GB" sz="2400" dirty="0">
                <a:solidFill>
                  <a:srgbClr val="000000"/>
                </a:solidFill>
                <a:latin typeface="AkzidenzGroteskBE-Light"/>
              </a:rPr>
              <a:t>F</a:t>
            </a:r>
            <a:r>
              <a:rPr lang="en-GB" sz="2400" dirty="0">
                <a:solidFill>
                  <a:srgbClr val="000000"/>
                </a:solidFill>
                <a:effectLst/>
                <a:latin typeface="AkzidenzGroteskBE-Light"/>
              </a:rPr>
              <a:t>emoral condyles </a:t>
            </a:r>
            <a:endParaRPr lang="en-GB" sz="3600" dirty="0"/>
          </a:p>
          <a:p>
            <a:pPr marL="342900" indent="-342900">
              <a:buFont typeface="+mj-lt"/>
              <a:buAutoNum type="arabicPeriod"/>
            </a:pPr>
            <a:r>
              <a:rPr lang="en-GB" sz="2400" dirty="0">
                <a:solidFill>
                  <a:srgbClr val="000000"/>
                </a:solidFill>
                <a:effectLst/>
                <a:latin typeface="AkzidenzGroteskBE-Light"/>
              </a:rPr>
              <a:t>Medial and lateral Tibial condyles</a:t>
            </a:r>
            <a:endParaRPr lang="en-GB" sz="3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CD53C6-F1EE-AE08-67E5-51079EBBD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835" y="1316035"/>
            <a:ext cx="3953427" cy="4867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1182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F1335-7FCA-F460-AE73-DDA54FC5A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Medial and Lateral Femoral Condyles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ADBEB-E02C-00C3-F09A-97B214CC1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20574" cy="4205524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Large rounded projections at the end of the femur forming articulating surfaces with the tibia.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medial condyle is larger than the lateral one.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Joint line of the knee can be felt as a soft depression on either side of the patella.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9C0407-CCB2-F8D9-DB70-F8D68071F7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669" y="1825625"/>
            <a:ext cx="3504915" cy="437744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E7D51ED-EE6E-39AC-92DC-36BA630FF2A8}"/>
              </a:ext>
            </a:extLst>
          </p:cNvPr>
          <p:cNvCxnSpPr/>
          <p:nvPr/>
        </p:nvCxnSpPr>
        <p:spPr>
          <a:xfrm>
            <a:off x="8525249" y="5287956"/>
            <a:ext cx="369651" cy="3891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D263A99-DE34-19D3-7964-088C2BB45E44}"/>
              </a:ext>
            </a:extLst>
          </p:cNvPr>
          <p:cNvCxnSpPr>
            <a:cxnSpLocks/>
          </p:cNvCxnSpPr>
          <p:nvPr/>
        </p:nvCxnSpPr>
        <p:spPr>
          <a:xfrm flipH="1">
            <a:off x="9615133" y="5287956"/>
            <a:ext cx="485867" cy="3891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17979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257F8-801B-2DE4-3629-ECEEDD958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Medial Femur Condyles: Palpation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4371E-054C-0785-8B61-FDF60E0E6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30696" cy="4255136"/>
          </a:xfrm>
        </p:spPr>
        <p:txBody>
          <a:bodyPr>
            <a:normAutofit fontScale="55000" lnSpcReduction="20000"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Patient Position: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Position the patient in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supine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(lying on their back) or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sitting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the knee flexed at approximately 90 degrees to relax surrounding soft tissues and allow better access to the joint structures.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Locate the Patella: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Begin by identifying the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patella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(kneecap) as a central reference point on the anterior knee.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Medial Femoral Condyle: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Move your fingers to the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medial side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the knee, just proximal to the joint line.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Palpate the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medial femoral condyle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 prominent bony structure on the inner aspect of the distal femur.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confirm, ask the patient to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flex and extend their knee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gently. You should feel the condyle moving as the femur articulates with the tibia.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B3265B-FF11-269E-4C62-9AAEC1F99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9210" y="1274322"/>
            <a:ext cx="3987414" cy="4980062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6A183EF-22DB-4E3D-EC7C-D3E065DC8B53}"/>
              </a:ext>
            </a:extLst>
          </p:cNvPr>
          <p:cNvCxnSpPr/>
          <p:nvPr/>
        </p:nvCxnSpPr>
        <p:spPr>
          <a:xfrm>
            <a:off x="9267152" y="5739319"/>
            <a:ext cx="408562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31382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FBFC5D1-BF36-1607-BCDE-23200EE92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4928" y="1551119"/>
            <a:ext cx="3743679" cy="46812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14A5C7C-58A2-BACC-D1D3-9E8ED570B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Lateral Femur Condyle: Palpation</a:t>
            </a:r>
            <a:endParaRPr lang="en-GB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A848BC-1100-ACD4-AABE-1E85B71250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13232" y="1920431"/>
            <a:ext cx="6153912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Lateral Femoral Condyle: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Shift your palpation to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lateral side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the knee, just above the joint line.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Palpate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lateral femoral condyle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which is slightly less prominent than the medial condyle.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Again, flex and extend the knee to feel the movement of the lateral condyle during articulation.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Comparison: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size, shape, and prominence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the medial and lateral condyles.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847776-3F4D-A71E-72A9-BBD49EED9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8231" y="5229060"/>
            <a:ext cx="463336" cy="4816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4A48E9-7A80-8654-AE33-08E3F55E8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9936980" y="5229059"/>
            <a:ext cx="463337" cy="481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5274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C1958-E997-A154-2AE7-468FDFD90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Gluteal region and posterior thigh: Superficial Muscles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DEA2D-E73C-383A-425C-4D7E9DD68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37888" cy="4154551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Gluteus </a:t>
            </a:r>
            <a:r>
              <a:rPr lang="en-GB" dirty="0" err="1"/>
              <a:t>medius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Tensor fascia </a:t>
            </a:r>
            <a:r>
              <a:rPr lang="en-GB" dirty="0" err="1"/>
              <a:t>lata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Gluteus maximus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Iliotibial tract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 err="1"/>
              <a:t>Gracilis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Biceps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Semitendinosus overlying semimembranosus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DF93D9-2BCB-5A36-21C9-C69950E32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5914" y="1416411"/>
            <a:ext cx="3972479" cy="48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6929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C49C5-3284-8D98-6C5A-F7DD67E24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529" y="365126"/>
            <a:ext cx="11316831" cy="1228284"/>
          </a:xfrm>
        </p:spPr>
        <p:txBody>
          <a:bodyPr>
            <a:normAutofit/>
          </a:bodyPr>
          <a:lstStyle/>
          <a:p>
            <a:r>
              <a:rPr lang="en-GB" sz="4000" b="1" dirty="0"/>
              <a:t>Palpable Structures of the Pelvis and Anterior Thigh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A94245-87CB-27E9-DBD0-E8963F0E9C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21652"/>
          <a:stretch/>
        </p:blipFill>
        <p:spPr>
          <a:xfrm>
            <a:off x="7422121" y="1335627"/>
            <a:ext cx="4321729" cy="4757854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45ED580-0A8B-09B6-5BC0-4A17D146D2F3}"/>
              </a:ext>
            </a:extLst>
          </p:cNvPr>
          <p:cNvSpPr txBox="1"/>
          <p:nvPr/>
        </p:nvSpPr>
        <p:spPr>
          <a:xfrm>
            <a:off x="722376" y="1973654"/>
            <a:ext cx="469087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How Many Structures Can You Palpate?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Iliac Crest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Tubercule of Ilium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Anterior Superior Iliac Spine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Femoral artery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Pubic Tubercle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Symphysis Pubis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Head of Femur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Greater Trochanter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8EE4CB-6E9C-7A2E-FA71-D98C868EFE19}"/>
              </a:ext>
            </a:extLst>
          </p:cNvPr>
          <p:cNvSpPr/>
          <p:nvPr/>
        </p:nvSpPr>
        <p:spPr>
          <a:xfrm>
            <a:off x="10444682" y="5001798"/>
            <a:ext cx="1149790" cy="10411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346ACD-6B67-5604-A997-8FB79A371FE6}"/>
              </a:ext>
            </a:extLst>
          </p:cNvPr>
          <p:cNvSpPr txBox="1"/>
          <p:nvPr/>
        </p:nvSpPr>
        <p:spPr>
          <a:xfrm>
            <a:off x="597528" y="4738548"/>
            <a:ext cx="61507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i="0" dirty="0">
                <a:solidFill>
                  <a:srgbClr val="040C28"/>
                </a:solidFill>
                <a:effectLst/>
                <a:latin typeface="Google Sans"/>
              </a:rPr>
              <a:t>Femoral Pulse: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40C28"/>
                </a:solidFill>
                <a:effectLst/>
                <a:latin typeface="Google Sans"/>
              </a:rPr>
              <a:t>Press deeply, below the inguinal ligament and about midway between symphysis pubis and anterior superior iliac spine.</a:t>
            </a:r>
            <a:r>
              <a:rPr lang="en-GB" b="0" i="0" dirty="0">
                <a:solidFill>
                  <a:srgbClr val="1F1F1F"/>
                </a:solidFill>
                <a:effectLst/>
                <a:latin typeface="Google Sans"/>
              </a:rPr>
              <a:t>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40C28"/>
                </a:solidFill>
                <a:effectLst/>
                <a:latin typeface="Google Sans"/>
              </a:rPr>
              <a:t>Use two hands, one on top of the other, to feel the femoral pulse</a:t>
            </a:r>
            <a:r>
              <a:rPr lang="en-GB" b="0" i="0" dirty="0">
                <a:solidFill>
                  <a:srgbClr val="1F1F1F"/>
                </a:solidFill>
                <a:effectLst/>
                <a:latin typeface="Google Sans"/>
              </a:rPr>
              <a:t>. Note the adequacy of the pulse volume.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693329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A5B05-8604-D953-A16E-21832B780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Anterior Superior Iliac Spine (ASIS)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3C1AD-592E-0C55-0279-B8390CC7A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60" y="1690689"/>
            <a:ext cx="6172200" cy="437178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ASIS is the anterior extremity of the iliac crest.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Approximately 30 cm apart; slightly wider in females.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Provides attachment for</a:t>
            </a:r>
            <a:r>
              <a:rPr lang="en-GB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Inguinal ligament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Sartorius muscle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Tensor fasciae </a:t>
            </a:r>
            <a:r>
              <a:rPr lang="en-GB" dirty="0" err="1"/>
              <a:t>latae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0F0AC2-AA1C-CFAD-D7B3-C4C1A27F4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0374" y="1760706"/>
            <a:ext cx="3991150" cy="4443405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9B7DCD4-8710-8AC8-E7D2-6433E94B01E7}"/>
              </a:ext>
            </a:extLst>
          </p:cNvPr>
          <p:cNvCxnSpPr/>
          <p:nvPr/>
        </p:nvCxnSpPr>
        <p:spPr>
          <a:xfrm flipH="1">
            <a:off x="8336604" y="2694562"/>
            <a:ext cx="642026" cy="4766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308EE513-55F3-823F-DF3D-C74E6556C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0991" y="5147661"/>
            <a:ext cx="1170533" cy="1054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9710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8D9E1-F39E-2B4F-B502-BD64945E3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Palpation of the ASIS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8A843-1F1A-8123-DC82-A151222BB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7904"/>
            <a:ext cx="4812792" cy="4782312"/>
          </a:xfrm>
        </p:spPr>
        <p:txBody>
          <a:bodyPr>
            <a:normAutofit fontScale="92500" lnSpcReduction="10000"/>
          </a:bodyPr>
          <a:lstStyle/>
          <a:p>
            <a:pPr>
              <a:buFont typeface="+mj-lt"/>
              <a:buAutoNum type="arabicPeriod"/>
            </a:pPr>
            <a:r>
              <a:rPr lang="en-GB" b="1" dirty="0"/>
              <a:t>Positioning the Patient: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Model lies supine (on their back) on a flat surface.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Ensure the model is relaxed to allow easier palpation of the pelvic structures.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Identifying the ASIS: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From the Iliac Crest, move your fingers forward along the iliac crest toward the front of the pelvis.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The </a:t>
            </a:r>
            <a:r>
              <a:rPr lang="en-GB" b="1" dirty="0"/>
              <a:t>ASIS</a:t>
            </a:r>
            <a:r>
              <a:rPr lang="en-GB" dirty="0"/>
              <a:t> is the prominent bony point you will feel at the anterior end of the iliac crest.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A269CF-0CAE-F246-7735-B18120B40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677" y="1517904"/>
            <a:ext cx="5177400" cy="2913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5672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2F88F-3F13-5781-A08E-74785BF04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The Patella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0191B-A7B8-278E-43B4-1586570B2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776" y="1825625"/>
            <a:ext cx="6729984" cy="460260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b="1" dirty="0"/>
              <a:t>Steps for Palpation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Position the model: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Place the model in a </a:t>
            </a:r>
            <a:r>
              <a:rPr lang="en-GB" b="1" dirty="0"/>
              <a:t>supine position</a:t>
            </a:r>
            <a:r>
              <a:rPr lang="en-GB" dirty="0"/>
              <a:t> (lying on their back) with the knee fully extended and relaxed. For better palpation of the patella's mobility, the quadriceps must be relaxed.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Locate the Patella: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Identify the patella at the anterior aspect of the knee. It is a </a:t>
            </a:r>
            <a:r>
              <a:rPr lang="en-GB" b="1" dirty="0"/>
              <a:t>flat, movable bone</a:t>
            </a:r>
            <a:r>
              <a:rPr lang="en-GB" dirty="0"/>
              <a:t> that can be easily felt beneath the skin.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Assess the Superior and Inferior Borders: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Run your fingers along the </a:t>
            </a:r>
            <a:r>
              <a:rPr lang="en-GB" b="1" dirty="0"/>
              <a:t>superior border</a:t>
            </a:r>
            <a:r>
              <a:rPr lang="en-GB" dirty="0"/>
              <a:t> of the patella, where the quadriceps tendon inserts.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Move to the </a:t>
            </a:r>
            <a:r>
              <a:rPr lang="en-GB" b="1" dirty="0"/>
              <a:t>inferior border</a:t>
            </a:r>
            <a:r>
              <a:rPr lang="en-GB" dirty="0"/>
              <a:t>, where the patellar ligament connects the patella to the tibial tuberosity.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Palpate the Medial and Lateral Borders: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Use your fingers to feel the </a:t>
            </a:r>
            <a:r>
              <a:rPr lang="en-GB" b="1" dirty="0"/>
              <a:t>medial border</a:t>
            </a:r>
            <a:r>
              <a:rPr lang="en-GB" dirty="0"/>
              <a:t> of the patella, noting any tenderness or irregularities.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Similarly, palpate the </a:t>
            </a:r>
            <a:r>
              <a:rPr lang="en-GB" b="1" dirty="0"/>
              <a:t>lateral border</a:t>
            </a:r>
            <a:r>
              <a:rPr lang="en-GB" dirty="0"/>
              <a:t>, checking for asymmetry, pain, or bony protrusions.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6AF26F-262D-7044-1305-E847ACDE8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5306" y="252919"/>
            <a:ext cx="3562918" cy="26721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DBBBEC-2399-994A-696B-9BF0C20EF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7448" y="3219856"/>
            <a:ext cx="3178633" cy="21238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F82222-AFC0-3D84-A3A0-E161C728E3C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52" t="47677" r="-1552" b="1174"/>
          <a:stretch/>
        </p:blipFill>
        <p:spPr>
          <a:xfrm>
            <a:off x="5476672" y="340249"/>
            <a:ext cx="2411487" cy="1605284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30582B3-0C80-620E-F353-9236E7979C66}"/>
              </a:ext>
            </a:extLst>
          </p:cNvPr>
          <p:cNvCxnSpPr/>
          <p:nvPr/>
        </p:nvCxnSpPr>
        <p:spPr>
          <a:xfrm>
            <a:off x="5832510" y="1142891"/>
            <a:ext cx="327498" cy="17509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99079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DB054-ECF6-177B-EE19-CD04E6DED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Anterior and medial aspect of thigh: Superficial Muscles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9600B-2762-552E-6511-58FE731E9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3569208" cy="3779647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rgbClr val="000000"/>
                </a:solidFill>
                <a:effectLst/>
                <a:latin typeface="AkzidenzGroteskBE-Light"/>
              </a:rPr>
              <a:t>Tensor fascia </a:t>
            </a:r>
            <a:r>
              <a:rPr lang="en-GB" dirty="0" err="1">
                <a:solidFill>
                  <a:srgbClr val="000000"/>
                </a:solidFill>
                <a:effectLst/>
                <a:latin typeface="AkzidenzGroteskBE-Light"/>
              </a:rPr>
              <a:t>lata</a:t>
            </a:r>
            <a:r>
              <a:rPr lang="en-GB" dirty="0">
                <a:solidFill>
                  <a:srgbClr val="000000"/>
                </a:solidFill>
                <a:effectLst/>
                <a:latin typeface="AkzidenzGroteskBE-Light"/>
              </a:rPr>
              <a:t> </a:t>
            </a:r>
            <a:endParaRPr lang="en-GB" sz="4000" dirty="0"/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rgbClr val="000000"/>
                </a:solidFill>
                <a:effectLst/>
                <a:latin typeface="AkzidenzGroteskBE-Light"/>
              </a:rPr>
              <a:t>Iliopsoas </a:t>
            </a:r>
            <a:endParaRPr lang="en-GB" sz="4000" dirty="0"/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rgbClr val="000000"/>
                </a:solidFill>
                <a:effectLst/>
                <a:latin typeface="AkzidenzGroteskBE-Light"/>
              </a:rPr>
              <a:t>Sartorius </a:t>
            </a:r>
            <a:endParaRPr lang="en-GB" sz="4000" dirty="0"/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rgbClr val="000000"/>
                </a:solidFill>
                <a:effectLst/>
                <a:latin typeface="AkzidenzGroteskBE-Light"/>
              </a:rPr>
              <a:t>Adductor magnus </a:t>
            </a:r>
            <a:endParaRPr lang="en-GB" sz="4000" dirty="0"/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rgbClr val="000000"/>
                </a:solidFill>
                <a:effectLst/>
                <a:latin typeface="AkzidenzGroteskBE-Light"/>
              </a:rPr>
              <a:t>Rectus femoris </a:t>
            </a:r>
            <a:endParaRPr lang="en-GB" sz="4000" dirty="0"/>
          </a:p>
          <a:p>
            <a:pPr marL="342900" indent="-342900">
              <a:buFont typeface="+mj-lt"/>
              <a:buAutoNum type="arabicPeriod"/>
            </a:pPr>
            <a:r>
              <a:rPr lang="en-GB" dirty="0" err="1">
                <a:solidFill>
                  <a:srgbClr val="000000"/>
                </a:solidFill>
                <a:effectLst/>
                <a:latin typeface="AkzidenzGroteskBE-Light"/>
              </a:rPr>
              <a:t>Gracilis</a:t>
            </a:r>
            <a:r>
              <a:rPr lang="en-GB" dirty="0">
                <a:solidFill>
                  <a:srgbClr val="000000"/>
                </a:solidFill>
                <a:effectLst/>
                <a:latin typeface="AkzidenzGroteskBE-Light"/>
              </a:rPr>
              <a:t> </a:t>
            </a:r>
            <a:endParaRPr lang="en-GB" sz="4000" dirty="0"/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rgbClr val="000000"/>
                </a:solidFill>
                <a:effectLst/>
                <a:latin typeface="AkzidenzGroteskBE-Light"/>
              </a:rPr>
              <a:t>Vastus lateralis </a:t>
            </a:r>
            <a:endParaRPr lang="en-GB" sz="4000" dirty="0"/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rgbClr val="000000"/>
                </a:solidFill>
                <a:effectLst/>
                <a:latin typeface="AkzidenzGroteskBE-Light"/>
              </a:rPr>
              <a:t>Vastus medialis </a:t>
            </a:r>
            <a:endParaRPr lang="en-GB" sz="4000" dirty="0"/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rgbClr val="000000"/>
                </a:solidFill>
                <a:effectLst/>
                <a:latin typeface="AkzidenzGroteskBE-Light"/>
              </a:rPr>
              <a:t>Iliotibial tract</a:t>
            </a:r>
            <a:endParaRPr lang="en-GB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BFF13C-C814-0261-B6AB-BA119E689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764" y="1469248"/>
            <a:ext cx="3717846" cy="502362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DC82594-4B97-CF9C-591A-738DEDD48F11}"/>
              </a:ext>
            </a:extLst>
          </p:cNvPr>
          <p:cNvSpPr/>
          <p:nvPr/>
        </p:nvSpPr>
        <p:spPr>
          <a:xfrm>
            <a:off x="8210144" y="2694901"/>
            <a:ext cx="650391" cy="8255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53559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rtlCol="0" anchor="t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400" dirty="0">
                <a:latin typeface="Arial" panose="020B0604020202020204" pitchFamily="34" charset="0"/>
              </a:rPr>
              <a:t>28</a:t>
            </a:fld>
            <a:endParaRPr lang="en-US" sz="1400" dirty="0">
              <a:latin typeface="Arial" panose="020B0604020202020204" pitchFamily="34" charset="0"/>
            </a:endParaRPr>
          </a:p>
        </p:txBody>
      </p:sp>
      <p:pic>
        <p:nvPicPr>
          <p:cNvPr id="59395" name="Picture 6" descr="13_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552450"/>
            <a:ext cx="9144000" cy="6000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xfrm>
            <a:off x="685800" y="0"/>
            <a:ext cx="10268712" cy="1371600"/>
          </a:xfrm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eaLnBrk="1" hangingPunct="1"/>
            <a:r>
              <a:rPr b="1" dirty="0"/>
              <a:t>Surface Anatomy</a:t>
            </a:r>
            <a:r>
              <a:rPr lang="en-GB" b="1" dirty="0"/>
              <a:t>: Femoral Triangle</a:t>
            </a:r>
            <a:endParaRPr b="1" dirty="0"/>
          </a:p>
        </p:txBody>
      </p:sp>
      <p:sp>
        <p:nvSpPr>
          <p:cNvPr id="6147" name="Rectangle 3"/>
          <p:cNvSpPr>
            <a:spLocks noGrp="1"/>
          </p:cNvSpPr>
          <p:nvPr>
            <p:ph sz="half" idx="2"/>
          </p:nvPr>
        </p:nvSpPr>
        <p:spPr>
          <a:xfrm>
            <a:off x="5897880" y="1828801"/>
            <a:ext cx="5879592" cy="4434839"/>
          </a:xfrm>
          <a:ln/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marL="0" indent="0" eaLnBrk="1" hangingPunct="1">
              <a:buSzPct val="75000"/>
              <a:buNone/>
            </a:pPr>
            <a:r>
              <a:rPr dirty="0">
                <a:latin typeface="+mn-lt"/>
                <a:ea typeface="+mn-ea"/>
                <a:cs typeface="+mn-cs"/>
              </a:rPr>
              <a:t>Anterior thigh </a:t>
            </a:r>
            <a:endParaRPr lang="en-GB" dirty="0">
              <a:latin typeface="+mn-lt"/>
              <a:ea typeface="+mn-ea"/>
              <a:cs typeface="+mn-cs"/>
            </a:endParaRPr>
          </a:p>
          <a:p>
            <a:pPr eaLnBrk="1" hangingPunct="1">
              <a:buSzPct val="75000"/>
            </a:pPr>
            <a:r>
              <a:rPr lang="en-GB" dirty="0">
                <a:latin typeface="+mn-lt"/>
              </a:rPr>
              <a:t>Palpate</a:t>
            </a:r>
          </a:p>
          <a:p>
            <a:pPr lvl="2" eaLnBrk="1" hangingPunct="1">
              <a:buSzPct val="65000"/>
            </a:pPr>
            <a:r>
              <a:rPr dirty="0">
                <a:latin typeface="+mn-lt"/>
              </a:rPr>
              <a:t>Patella</a:t>
            </a:r>
          </a:p>
          <a:p>
            <a:pPr lvl="2" eaLnBrk="1" hangingPunct="1">
              <a:buSzPct val="65000"/>
            </a:pPr>
            <a:r>
              <a:rPr dirty="0">
                <a:latin typeface="+mn-lt"/>
              </a:rPr>
              <a:t>Condyles of femur</a:t>
            </a:r>
          </a:p>
          <a:p>
            <a:pPr lvl="1" eaLnBrk="1" hangingPunct="1">
              <a:buSzPct val="80000"/>
            </a:pPr>
            <a:r>
              <a:rPr dirty="0">
                <a:latin typeface="+mn-lt"/>
              </a:rPr>
              <a:t>Femoral Triangle</a:t>
            </a:r>
          </a:p>
          <a:p>
            <a:pPr lvl="2" eaLnBrk="1" hangingPunct="1">
              <a:buSzPct val="65000"/>
            </a:pPr>
            <a:r>
              <a:rPr dirty="0">
                <a:latin typeface="+mn-lt"/>
              </a:rPr>
              <a:t>Boundaries:</a:t>
            </a:r>
          </a:p>
          <a:p>
            <a:pPr lvl="3" eaLnBrk="1" hangingPunct="1">
              <a:buSzPct val="70000"/>
            </a:pPr>
            <a:r>
              <a:rPr dirty="0">
                <a:latin typeface="+mn-lt"/>
              </a:rPr>
              <a:t>Sartorius (lateral)</a:t>
            </a:r>
          </a:p>
          <a:p>
            <a:pPr lvl="3" eaLnBrk="1" hangingPunct="1">
              <a:buSzPct val="70000"/>
            </a:pPr>
            <a:r>
              <a:rPr dirty="0">
                <a:latin typeface="+mn-lt"/>
              </a:rPr>
              <a:t>Adductor longus (medial)</a:t>
            </a:r>
          </a:p>
          <a:p>
            <a:pPr lvl="3" eaLnBrk="1" hangingPunct="1">
              <a:buSzPct val="70000"/>
            </a:pPr>
            <a:r>
              <a:rPr dirty="0">
                <a:latin typeface="+mn-lt"/>
              </a:rPr>
              <a:t>Inguinal ligament (superior)</a:t>
            </a:r>
          </a:p>
          <a:p>
            <a:pPr lvl="2" eaLnBrk="1" hangingPunct="1">
              <a:buSzPct val="65000"/>
            </a:pPr>
            <a:r>
              <a:rPr dirty="0">
                <a:latin typeface="+mn-lt"/>
              </a:rPr>
              <a:t>Contents:</a:t>
            </a:r>
          </a:p>
          <a:p>
            <a:pPr lvl="3" eaLnBrk="1" hangingPunct="1">
              <a:buSzPct val="70000"/>
            </a:pPr>
            <a:r>
              <a:rPr dirty="0">
                <a:latin typeface="+mn-lt"/>
              </a:rPr>
              <a:t>Femoral artery, vein and nerve, lymph nodes</a:t>
            </a:r>
          </a:p>
          <a:p>
            <a:pPr lvl="1" eaLnBrk="1" hangingPunct="1">
              <a:buSzPct val="80000"/>
            </a:pPr>
            <a:endParaRPr dirty="0">
              <a:latin typeface="+mn-lt"/>
            </a:endParaRPr>
          </a:p>
        </p:txBody>
      </p:sp>
      <p:pic>
        <p:nvPicPr>
          <p:cNvPr id="614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1" y="1371600"/>
            <a:ext cx="3808413" cy="531495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EB107-2FB4-9FE7-E07E-333D6378F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GB" sz="5000"/>
              <a:t>Palpable lateral thigh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DB49F-ECC9-186D-1159-5B21FC90C5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 sz="1800" b="1" dirty="0"/>
              <a:t>How Many Structures Can You Palpate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200" dirty="0">
                <a:effectLst/>
                <a:latin typeface="AkzidenzGroteskBE-Light"/>
              </a:rPr>
              <a:t>Anterior superior iliac spine </a:t>
            </a:r>
            <a:endParaRPr lang="en-GB" sz="2200" dirty="0"/>
          </a:p>
          <a:p>
            <a:pPr marL="342900" indent="-342900">
              <a:buFont typeface="+mj-lt"/>
              <a:buAutoNum type="arabicPeriod"/>
            </a:pPr>
            <a:r>
              <a:rPr lang="en-GB" sz="2200" dirty="0">
                <a:effectLst/>
                <a:latin typeface="AkzidenzGroteskBE-Light"/>
              </a:rPr>
              <a:t>Iliac crest </a:t>
            </a:r>
            <a:endParaRPr lang="en-GB" sz="2200" dirty="0"/>
          </a:p>
          <a:p>
            <a:pPr marL="342900" indent="-342900">
              <a:buFont typeface="+mj-lt"/>
              <a:buAutoNum type="arabicPeriod"/>
            </a:pPr>
            <a:r>
              <a:rPr lang="en-GB" sz="2200" dirty="0">
                <a:effectLst/>
                <a:latin typeface="AkzidenzGroteskBE-Light"/>
              </a:rPr>
              <a:t>Posterior superior iliac spine </a:t>
            </a:r>
            <a:endParaRPr lang="en-GB" sz="2200" dirty="0"/>
          </a:p>
          <a:p>
            <a:pPr marL="342900" indent="-342900">
              <a:buFont typeface="+mj-lt"/>
              <a:buAutoNum type="arabicPeriod"/>
            </a:pPr>
            <a:r>
              <a:rPr lang="en-GB" sz="2200" dirty="0">
                <a:effectLst/>
                <a:latin typeface="AkzidenzGroteskBE-Light"/>
              </a:rPr>
              <a:t>Symphysis pubis </a:t>
            </a:r>
            <a:endParaRPr lang="en-GB" sz="2200" dirty="0"/>
          </a:p>
          <a:p>
            <a:pPr marL="342900" indent="-342900">
              <a:buFont typeface="+mj-lt"/>
              <a:buAutoNum type="arabicPeriod"/>
            </a:pPr>
            <a:r>
              <a:rPr lang="en-GB" sz="2200" dirty="0">
                <a:effectLst/>
                <a:latin typeface="AkzidenzGroteskBE-Light"/>
              </a:rPr>
              <a:t>Greater trochanter</a:t>
            </a:r>
            <a:endParaRPr lang="en-GB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9FA56D-F425-017D-22B2-E61376DC7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292" y="715281"/>
            <a:ext cx="5042500" cy="493551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C486A6D-DA05-0680-E30A-E3B85D61BA13}"/>
              </a:ext>
            </a:extLst>
          </p:cNvPr>
          <p:cNvSpPr/>
          <p:nvPr/>
        </p:nvSpPr>
        <p:spPr>
          <a:xfrm>
            <a:off x="9694071" y="3472600"/>
            <a:ext cx="865769" cy="15931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3A2FB4-C53B-6783-D5D4-304361B6A5C6}"/>
              </a:ext>
            </a:extLst>
          </p:cNvPr>
          <p:cNvSpPr txBox="1"/>
          <p:nvPr/>
        </p:nvSpPr>
        <p:spPr>
          <a:xfrm>
            <a:off x="9610916" y="2562973"/>
            <a:ext cx="359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0A3585-9F29-F748-44A9-C5A4206D040A}"/>
              </a:ext>
            </a:extLst>
          </p:cNvPr>
          <p:cNvSpPr txBox="1"/>
          <p:nvPr/>
        </p:nvSpPr>
        <p:spPr>
          <a:xfrm>
            <a:off x="8806042" y="1814721"/>
            <a:ext cx="359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7A6919-0539-1E13-AD61-6D1C893BD757}"/>
              </a:ext>
            </a:extLst>
          </p:cNvPr>
          <p:cNvSpPr txBox="1"/>
          <p:nvPr/>
        </p:nvSpPr>
        <p:spPr>
          <a:xfrm>
            <a:off x="7731753" y="2562973"/>
            <a:ext cx="359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2DC4B1-5D7D-6178-BE44-901CE214E5BD}"/>
              </a:ext>
            </a:extLst>
          </p:cNvPr>
          <p:cNvSpPr txBox="1"/>
          <p:nvPr/>
        </p:nvSpPr>
        <p:spPr>
          <a:xfrm>
            <a:off x="9370854" y="3560803"/>
            <a:ext cx="359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68DCF6-FEC5-8AE2-CAEB-04DEEE092A6A}"/>
              </a:ext>
            </a:extLst>
          </p:cNvPr>
          <p:cNvSpPr txBox="1"/>
          <p:nvPr/>
        </p:nvSpPr>
        <p:spPr>
          <a:xfrm>
            <a:off x="8620191" y="3629937"/>
            <a:ext cx="359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0561964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E902-66EB-7731-93E1-1B1958E9C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BC651-EE00-943A-735F-3F8DBF4E2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Moore, K.L., </a:t>
            </a:r>
            <a:r>
              <a:rPr lang="en-GB" dirty="0" err="1"/>
              <a:t>Dalley</a:t>
            </a:r>
            <a:r>
              <a:rPr lang="en-GB" dirty="0"/>
              <a:t>, A.F. &amp; </a:t>
            </a:r>
            <a:r>
              <a:rPr lang="en-GB" dirty="0" err="1"/>
              <a:t>Agur</a:t>
            </a:r>
            <a:r>
              <a:rPr lang="en-GB" dirty="0"/>
              <a:t>, A.M.R. (2018) Clinically Oriented Anatomy. 8th </a:t>
            </a:r>
            <a:r>
              <a:rPr lang="en-GB" dirty="0" err="1"/>
              <a:t>edn</a:t>
            </a:r>
            <a:r>
              <a:rPr lang="en-GB" dirty="0"/>
              <a:t>. Philadelphia: Wolters Kluwer.</a:t>
            </a:r>
          </a:p>
          <a:p>
            <a:r>
              <a:rPr lang="en-GB" dirty="0"/>
              <a:t>Drake, R.L., </a:t>
            </a:r>
            <a:r>
              <a:rPr lang="en-GB" dirty="0" err="1"/>
              <a:t>Vogl</a:t>
            </a:r>
            <a:r>
              <a:rPr lang="en-GB" dirty="0"/>
              <a:t>, A.W. &amp; Mitchell, A.W.M. (2020) Gray’s Anatomy for Students. 4th </a:t>
            </a:r>
            <a:r>
              <a:rPr lang="en-GB" dirty="0" err="1"/>
              <a:t>edn</a:t>
            </a:r>
            <a:r>
              <a:rPr lang="en-GB" dirty="0"/>
              <a:t>. Philadelphia: Elsevier.</a:t>
            </a:r>
          </a:p>
          <a:p>
            <a:r>
              <a:rPr lang="en-GB" b="0" i="0" dirty="0">
                <a:solidFill>
                  <a:srgbClr val="020621"/>
                </a:solidFill>
                <a:effectLst/>
                <a:latin typeface="tisapro-regular"/>
              </a:rPr>
              <a:t>Kilby J, Heneghan NR, Maybury M. </a:t>
            </a:r>
            <a:r>
              <a:rPr lang="en-GB" b="0" i="0" u="none" strike="noStrike" dirty="0">
                <a:solidFill>
                  <a:srgbClr val="2752FF"/>
                </a:solidFill>
                <a:effectLst/>
                <a:latin typeface="tisapro-regular"/>
                <a:hlinkClick r:id="rId2"/>
              </a:rPr>
              <a:t>Manual palpation of lumbo-pelvic landmarks: a validity study</a:t>
            </a:r>
            <a:r>
              <a:rPr lang="en-GB" b="0" i="0" dirty="0">
                <a:solidFill>
                  <a:srgbClr val="020621"/>
                </a:solidFill>
                <a:effectLst/>
                <a:latin typeface="tisapro-regular"/>
              </a:rPr>
              <a:t>. Manual therapy. 2012 Jun 1;17(3):259-62.Available: </a:t>
            </a:r>
            <a:r>
              <a:rPr lang="en-GB" b="0" i="0" u="none" strike="noStrike" dirty="0">
                <a:solidFill>
                  <a:srgbClr val="2752FF"/>
                </a:solidFill>
                <a:effectLst/>
                <a:latin typeface="tisapro-regular"/>
                <a:hlinkClick r:id="rId2"/>
              </a:rPr>
              <a:t>https://www.researchgate.net/publication/51672384_Manual_palpation_of_lumbo-pelvic_landmarks_A_validity_study</a:t>
            </a:r>
            <a:r>
              <a:rPr lang="en-GB" b="0" i="0" dirty="0">
                <a:solidFill>
                  <a:srgbClr val="020621"/>
                </a:solidFill>
                <a:effectLst/>
                <a:latin typeface="tisapro-regular"/>
              </a:rPr>
              <a:t>(accessed 7.11.2021)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66000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he radiologic figure of a skeleton">
            <a:extLst>
              <a:ext uri="{FF2B5EF4-FFF2-40B4-BE49-F238E27FC236}">
                <a16:creationId xmlns:a16="http://schemas.microsoft.com/office/drawing/2014/main" id="{B00A232F-A946-F8F0-71F7-E9885C7B1C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260" r="-1" b="-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F2EC27-5404-45B9-007D-732DA58BB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2"/>
            <a:ext cx="5506360" cy="483481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Surface Anatomy of the Leg and foot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03901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9AFD88-32DC-7F43-E486-A00C8662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Bony Landmarks of the Lower Leg</a:t>
            </a: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0A3B0B-5076-3617-5CCD-53874ACA3487}"/>
              </a:ext>
            </a:extLst>
          </p:cNvPr>
          <p:cNvSpPr txBox="1"/>
          <p:nvPr/>
        </p:nvSpPr>
        <p:spPr>
          <a:xfrm>
            <a:off x="630936" y="2660904"/>
            <a:ext cx="5702408" cy="3823240"/>
          </a:xfrm>
          <a:prstGeom prst="rect">
            <a:avLst/>
          </a:prstGeom>
        </p:spPr>
        <p:txBody>
          <a:bodyPr vert="horz" lIns="91440" tIns="45720" rIns="91440" bIns="45720" numCol="2" rtlCol="0" anchor="t">
            <a:normAutofit fontScale="92500" lnSpcReduction="2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dirty="0"/>
              <a:t>Anterior aspect of the lower leg: bones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1 Tibia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2 Fibula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3 Medial malleolus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4 Lateral malleolus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5 Talus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6 First metatarsal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7 Fifth metatarsal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dirty="0"/>
              <a:t>Anterior aspect of lower leg: palpable structures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1 Medial femoral condyle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2 Lateral femoral condyle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 3 Patella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4 Medial tibial condyle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5 Lateral tibial condyle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6 Head of fibula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7 Tibial tuberosity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8 Subcutaneous border and surface of tibia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9 Medial malleolus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10 Lateral malleolus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11 Anterior tibial artery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12 Perforating peroneal artery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13 Dorsalis pedis artery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6280A9-61DC-73B4-DB80-DC152D294A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448" t="-260" r="-442" b="32938"/>
          <a:stretch/>
        </p:blipFill>
        <p:spPr>
          <a:xfrm>
            <a:off x="6080760" y="253497"/>
            <a:ext cx="5643478" cy="6346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4362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50ABA-6ECE-414D-B101-5389DF063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Lateral lower leg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DF6F9-C7FE-CE55-310F-9D22AA38DC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299" y="1690688"/>
            <a:ext cx="4807390" cy="4972661"/>
          </a:xfrm>
        </p:spPr>
        <p:txBody>
          <a:bodyPr numCol="2">
            <a:normAutofit/>
          </a:bodyPr>
          <a:lstStyle/>
          <a:p>
            <a:r>
              <a:rPr lang="en-GB" sz="1600" b="1" dirty="0"/>
              <a:t>1 Tibia </a:t>
            </a:r>
          </a:p>
          <a:p>
            <a:r>
              <a:rPr lang="en-GB" sz="1600" b="1" dirty="0"/>
              <a:t>2 Head of fibula </a:t>
            </a:r>
          </a:p>
          <a:p>
            <a:r>
              <a:rPr lang="en-GB" sz="1600" b="1" dirty="0"/>
              <a:t>3 Lateral malleolus </a:t>
            </a:r>
          </a:p>
          <a:p>
            <a:r>
              <a:rPr lang="en-GB" sz="1600" b="1" dirty="0"/>
              <a:t>4 Talus</a:t>
            </a:r>
          </a:p>
          <a:p>
            <a:r>
              <a:rPr lang="en-GB" sz="1600" b="1" dirty="0"/>
              <a:t> 5 Calcaneus </a:t>
            </a:r>
          </a:p>
          <a:p>
            <a:r>
              <a:rPr lang="en-GB" sz="1600" dirty="0"/>
              <a:t>6 Peroneal tubercle of calcaneus </a:t>
            </a:r>
          </a:p>
          <a:p>
            <a:r>
              <a:rPr lang="en-GB" sz="1600" b="1" dirty="0"/>
              <a:t>7 Cuboid </a:t>
            </a:r>
          </a:p>
          <a:p>
            <a:r>
              <a:rPr lang="en-GB" sz="1600" b="1" dirty="0"/>
              <a:t>8 Fifth metatarsal </a:t>
            </a:r>
          </a:p>
          <a:p>
            <a:r>
              <a:rPr lang="en-GB" sz="1600" b="1" dirty="0"/>
              <a:t>9 Phalanges</a:t>
            </a:r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r>
              <a:rPr lang="en-GB" sz="1600" b="1" dirty="0"/>
              <a:t>1 Patella </a:t>
            </a:r>
          </a:p>
          <a:p>
            <a:r>
              <a:rPr lang="en-GB" sz="1600" b="1" dirty="0"/>
              <a:t>2 Lateral femoral condyle </a:t>
            </a:r>
          </a:p>
          <a:p>
            <a:r>
              <a:rPr lang="en-GB" sz="1600" b="1" dirty="0"/>
              <a:t>3 Lateral tibial condyle </a:t>
            </a:r>
          </a:p>
          <a:p>
            <a:r>
              <a:rPr lang="en-GB" sz="1600" b="1" dirty="0"/>
              <a:t>4 Tibial tuberosity </a:t>
            </a:r>
          </a:p>
          <a:p>
            <a:r>
              <a:rPr lang="en-GB" sz="1600" b="1" dirty="0"/>
              <a:t>5 Head of fibula </a:t>
            </a:r>
          </a:p>
          <a:p>
            <a:r>
              <a:rPr lang="en-GB" sz="1600" dirty="0"/>
              <a:t>6 Common peroneal nerve</a:t>
            </a:r>
          </a:p>
          <a:p>
            <a:r>
              <a:rPr lang="en-GB" sz="1600" dirty="0"/>
              <a:t> </a:t>
            </a:r>
            <a:r>
              <a:rPr lang="en-GB" sz="1600" b="1" dirty="0"/>
              <a:t>7 Lateral malleolus </a:t>
            </a:r>
          </a:p>
          <a:p>
            <a:r>
              <a:rPr lang="en-GB" sz="1600" dirty="0"/>
              <a:t>8 Calcaneal tuberosity </a:t>
            </a:r>
          </a:p>
          <a:p>
            <a:r>
              <a:rPr lang="en-GB" sz="1600" dirty="0"/>
              <a:t>9 Peroneal tubercle </a:t>
            </a:r>
          </a:p>
          <a:p>
            <a:r>
              <a:rPr lang="en-GB" sz="1600" dirty="0"/>
              <a:t>10 Cuboid </a:t>
            </a:r>
          </a:p>
          <a:p>
            <a:r>
              <a:rPr lang="en-GB" sz="1600" b="1" dirty="0"/>
              <a:t>11 Tuberosity of 5th metatarsal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4CDD27-FDFF-C55E-D390-BA9D2DA57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734" y="0"/>
            <a:ext cx="74581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7117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C37023-6E6F-1450-1EAB-3401BAAA17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041" y="2767106"/>
            <a:ext cx="2880828" cy="3071906"/>
          </a:xfrm>
        </p:spPr>
        <p:txBody>
          <a:bodyPr anchor="t">
            <a:normAutofit/>
          </a:bodyPr>
          <a:lstStyle/>
          <a:p>
            <a:pPr algn="l"/>
            <a:r>
              <a:rPr lang="en-GB" sz="4000" dirty="0">
                <a:solidFill>
                  <a:srgbClr val="FFFFFF"/>
                </a:solidFill>
              </a:rPr>
              <a:t>Anterior Knee Joint structures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0A8469-6DF6-E9DC-E646-7BC83F80F8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0042" y="806824"/>
            <a:ext cx="2919738" cy="1494117"/>
          </a:xfrm>
        </p:spPr>
        <p:txBody>
          <a:bodyPr anchor="b">
            <a:normAutofit/>
          </a:bodyPr>
          <a:lstStyle/>
          <a:p>
            <a:pPr algn="l"/>
            <a:endParaRPr lang="en-GB" sz="200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C4505B-A583-E3DF-632B-25196741BE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618" b="12833"/>
          <a:stretch/>
        </p:blipFill>
        <p:spPr>
          <a:xfrm>
            <a:off x="4502428" y="697437"/>
            <a:ext cx="7225748" cy="546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760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FFBD1F-030A-F11C-868B-3B78E9F809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28978"/>
          <a:stretch/>
        </p:blipFill>
        <p:spPr>
          <a:xfrm>
            <a:off x="3502801" y="198786"/>
            <a:ext cx="4996622" cy="646042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889DFE2-A4F6-AC37-DD78-E3193986940F}"/>
              </a:ext>
            </a:extLst>
          </p:cNvPr>
          <p:cNvSpPr txBox="1"/>
          <p:nvPr/>
        </p:nvSpPr>
        <p:spPr>
          <a:xfrm>
            <a:off x="8499423" y="2120788"/>
            <a:ext cx="32753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Superficial muscle Layer</a:t>
            </a:r>
          </a:p>
          <a:p>
            <a:r>
              <a:rPr lang="en-GB" b="1" dirty="0"/>
              <a:t> 1 Quadriceps tendon </a:t>
            </a:r>
          </a:p>
          <a:p>
            <a:r>
              <a:rPr lang="en-GB" b="1" dirty="0"/>
              <a:t>2 Iliotibial tract </a:t>
            </a:r>
          </a:p>
          <a:p>
            <a:r>
              <a:rPr lang="en-GB" b="1" dirty="0"/>
              <a:t>3 Patellar tendon </a:t>
            </a:r>
          </a:p>
          <a:p>
            <a:r>
              <a:rPr lang="en-GB" b="1" dirty="0"/>
              <a:t>4 Tibialis anterior </a:t>
            </a:r>
          </a:p>
          <a:p>
            <a:r>
              <a:rPr lang="en-GB" b="1" dirty="0"/>
              <a:t>5 Peroneal muscles </a:t>
            </a:r>
          </a:p>
          <a:p>
            <a:r>
              <a:rPr lang="en-GB" b="1" dirty="0"/>
              <a:t>6 Gastrocnemius, medial head 7 Soleus </a:t>
            </a:r>
          </a:p>
          <a:p>
            <a:r>
              <a:rPr lang="en-GB" b="1" dirty="0"/>
              <a:t>8 Extensor hallucis longus</a:t>
            </a:r>
          </a:p>
          <a:p>
            <a:r>
              <a:rPr lang="en-GB" b="1" dirty="0"/>
              <a:t> 9 Extensor digitorum longus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E002A1-4E0A-BDA1-FF69-E9E6506F1FDB}"/>
              </a:ext>
            </a:extLst>
          </p:cNvPr>
          <p:cNvSpPr txBox="1"/>
          <p:nvPr/>
        </p:nvSpPr>
        <p:spPr>
          <a:xfrm>
            <a:off x="584615" y="1843790"/>
            <a:ext cx="316292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Deep muscle layer</a:t>
            </a:r>
          </a:p>
          <a:p>
            <a:r>
              <a:rPr lang="en-GB" b="1" dirty="0"/>
              <a:t>1 </a:t>
            </a:r>
            <a:r>
              <a:rPr lang="en-GB" dirty="0"/>
              <a:t>Tibialis anterior </a:t>
            </a:r>
          </a:p>
          <a:p>
            <a:r>
              <a:rPr lang="en-GB" dirty="0"/>
              <a:t>2 Extensor hallucis longus 3 Extensor digitorum longus </a:t>
            </a:r>
          </a:p>
          <a:p>
            <a:r>
              <a:rPr lang="en-GB" dirty="0"/>
              <a:t>4 Peroneus tertius </a:t>
            </a:r>
          </a:p>
          <a:p>
            <a:r>
              <a:rPr lang="en-GB" b="1" dirty="0"/>
              <a:t>5 Superior extensor retinaculum </a:t>
            </a:r>
          </a:p>
          <a:p>
            <a:r>
              <a:rPr lang="en-GB" b="1" dirty="0"/>
              <a:t>6 Dorsalis pedis artery </a:t>
            </a:r>
          </a:p>
          <a:p>
            <a:r>
              <a:rPr lang="en-GB" dirty="0"/>
              <a:t>7 First dorsal metatarsal artery </a:t>
            </a:r>
          </a:p>
          <a:p>
            <a:r>
              <a:rPr lang="en-GB" b="1" dirty="0"/>
              <a:t>8 Peroneal muscles</a:t>
            </a:r>
          </a:p>
        </p:txBody>
      </p:sp>
    </p:spTree>
    <p:extLst>
      <p:ext uri="{BB962C8B-B14F-4D97-AF65-F5344CB8AC3E}">
        <p14:creationId xmlns:p14="http://schemas.microsoft.com/office/powerpoint/2010/main" val="8984266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428AC11-BFDF-42EF-80FF-717BBF909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08628" y="1408629"/>
            <a:ext cx="6858000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CC56AF6-38E4-490B-8E2B-1A1037B4ED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832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339A6F5-AD6A-4D80-8AD9-6290D13AC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513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61000"/>
                </a:srgbClr>
              </a:gs>
              <a:gs pos="95000">
                <a:schemeClr val="accent5"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96267F-48AC-5AFD-B7E7-93A53AA16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2" y="2945176"/>
            <a:ext cx="2878688" cy="275797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Lateral Knee Joint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63DB7B-1426-E0C3-DA24-6FF116482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2239" y="776370"/>
            <a:ext cx="4362161" cy="5116904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A97A39-52AD-A4B5-3E7D-3A58477CAB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894622" y="586246"/>
            <a:ext cx="4110378" cy="584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7418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D99FD2-029A-B9B7-ACE0-2AB7ECB8F28C}"/>
              </a:ext>
            </a:extLst>
          </p:cNvPr>
          <p:cNvSpPr txBox="1"/>
          <p:nvPr/>
        </p:nvSpPr>
        <p:spPr>
          <a:xfrm>
            <a:off x="4082499" y="649480"/>
            <a:ext cx="3524531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1 Biceps femoris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 2 Semimembranosus(on either side of semitendinosus tendon)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 </a:t>
            </a:r>
            <a:r>
              <a:rPr lang="en-US" sz="1700" dirty="0">
                <a:solidFill>
                  <a:schemeClr val="accent5"/>
                </a:solidFill>
              </a:rPr>
              <a:t>3 Semitendinosus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accent5"/>
                </a:solidFill>
              </a:rPr>
              <a:t> 4 </a:t>
            </a:r>
            <a:r>
              <a:rPr lang="en-US" sz="1700" dirty="0" err="1">
                <a:solidFill>
                  <a:schemeClr val="accent5"/>
                </a:solidFill>
              </a:rPr>
              <a:t>Gracilis</a:t>
            </a:r>
            <a:endParaRPr lang="en-US" sz="1700" dirty="0">
              <a:solidFill>
                <a:schemeClr val="accent5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accent5"/>
                </a:solidFill>
              </a:rPr>
              <a:t> 5 Sartorius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 6 Gastrocnemius, medial head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 7 Gastrocnemius, lateral head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 8 Adductor hiatus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 </a:t>
            </a:r>
            <a:r>
              <a:rPr lang="en-US" sz="1700" b="1" dirty="0"/>
              <a:t>9 Popliteal artery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 10 Anterior tibial artery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 11 Peroneal artery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 12 Posterior tibial artery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 13 Tibial nerve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 14 Common peroneal nerve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A6D1C4-561D-1E18-0F7C-F9BA936747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9137" r="42927" b="38122"/>
          <a:stretch/>
        </p:blipFill>
        <p:spPr>
          <a:xfrm>
            <a:off x="8109502" y="971927"/>
            <a:ext cx="3615776" cy="49260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8010D6-8238-C2FF-AA4B-6F2E1CB9CBBA}"/>
              </a:ext>
            </a:extLst>
          </p:cNvPr>
          <p:cNvSpPr txBox="1"/>
          <p:nvPr/>
        </p:nvSpPr>
        <p:spPr>
          <a:xfrm>
            <a:off x="267699" y="2469642"/>
            <a:ext cx="350241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b="1" dirty="0">
                <a:solidFill>
                  <a:schemeClr val="bg1"/>
                </a:solidFill>
              </a:rPr>
              <a:t>Posterior Knee</a:t>
            </a:r>
          </a:p>
        </p:txBody>
      </p:sp>
    </p:spTree>
    <p:extLst>
      <p:ext uri="{BB962C8B-B14F-4D97-AF65-F5344CB8AC3E}">
        <p14:creationId xmlns:p14="http://schemas.microsoft.com/office/powerpoint/2010/main" val="3007807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8BBD4-FB65-9253-2CAD-26DB5455A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469505" cy="1325563"/>
          </a:xfrm>
        </p:spPr>
        <p:txBody>
          <a:bodyPr/>
          <a:lstStyle/>
          <a:p>
            <a:r>
              <a:rPr lang="en-GB" b="1" dirty="0"/>
              <a:t>Posterior aspect of the lower leg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968F7-65B6-C846-662F-05DA5CA34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15262" cy="4351338"/>
          </a:xfrm>
        </p:spPr>
        <p:txBody>
          <a:bodyPr/>
          <a:lstStyle/>
          <a:p>
            <a:r>
              <a:rPr lang="en-GB" b="1" dirty="0"/>
              <a:t>1 Biceps </a:t>
            </a:r>
          </a:p>
          <a:p>
            <a:r>
              <a:rPr lang="en-GB" b="1" dirty="0"/>
              <a:t>2 Semitendinosus overlying Semimembranosus </a:t>
            </a:r>
          </a:p>
          <a:p>
            <a:r>
              <a:rPr lang="en-GB" b="1" dirty="0"/>
              <a:t>3 Sartorius </a:t>
            </a:r>
          </a:p>
          <a:p>
            <a:r>
              <a:rPr lang="en-GB" b="1" dirty="0"/>
              <a:t>4 </a:t>
            </a:r>
            <a:r>
              <a:rPr lang="en-GB" b="1" dirty="0" err="1"/>
              <a:t>Gracilis</a:t>
            </a:r>
            <a:r>
              <a:rPr lang="en-GB" b="1" dirty="0"/>
              <a:t> </a:t>
            </a:r>
          </a:p>
          <a:p>
            <a:r>
              <a:rPr lang="en-GB" b="1" dirty="0"/>
              <a:t>5 Medial and lateral heads of gastrocnemius </a:t>
            </a:r>
          </a:p>
          <a:p>
            <a:r>
              <a:rPr lang="en-GB" b="1" dirty="0"/>
              <a:t>6 Soleus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CDB44C-C5BD-3E02-99BE-B0CDFAC2E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194" y="3748"/>
            <a:ext cx="36811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037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818D6-8D8E-99B2-151A-4FA2C7495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6224" y="365125"/>
            <a:ext cx="5488723" cy="1325563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0992D-BE02-C587-46CD-0C5B9B398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14412" y="1304144"/>
            <a:ext cx="3498503" cy="4737882"/>
          </a:xfrm>
        </p:spPr>
        <p:txBody>
          <a:bodyPr>
            <a:normAutofit fontScale="55000" lnSpcReduction="20000"/>
          </a:bodyPr>
          <a:lstStyle/>
          <a:p>
            <a:r>
              <a:rPr lang="en-GB" sz="3300" b="1" dirty="0"/>
              <a:t>1 Calcaneus </a:t>
            </a:r>
          </a:p>
          <a:p>
            <a:r>
              <a:rPr lang="en-GB" sz="3300" b="1" dirty="0"/>
              <a:t>2 Talus </a:t>
            </a:r>
          </a:p>
          <a:p>
            <a:r>
              <a:rPr lang="en-GB" sz="3300" b="1" dirty="0"/>
              <a:t>3 Navicular </a:t>
            </a:r>
          </a:p>
          <a:p>
            <a:r>
              <a:rPr lang="en-GB" sz="3300" dirty="0"/>
              <a:t>4 Tubercle of navicular bone </a:t>
            </a:r>
          </a:p>
          <a:p>
            <a:r>
              <a:rPr lang="en-GB" sz="3300" dirty="0"/>
              <a:t>5 Cuboid </a:t>
            </a:r>
          </a:p>
          <a:p>
            <a:r>
              <a:rPr lang="en-GB" sz="3300" dirty="0"/>
              <a:t>6 Lateral cuneiform </a:t>
            </a:r>
          </a:p>
          <a:p>
            <a:r>
              <a:rPr lang="en-GB" sz="3300" dirty="0"/>
              <a:t>7 Intermediate cuneiform </a:t>
            </a:r>
          </a:p>
          <a:p>
            <a:r>
              <a:rPr lang="en-GB" sz="3300" dirty="0"/>
              <a:t>8 Medial cuneiform </a:t>
            </a:r>
          </a:p>
          <a:p>
            <a:r>
              <a:rPr lang="en-GB" sz="3300" b="1" dirty="0"/>
              <a:t>9 Metatarsals </a:t>
            </a:r>
          </a:p>
          <a:p>
            <a:r>
              <a:rPr lang="en-GB" sz="3300" b="1" dirty="0"/>
              <a:t>10 Tuberosity (styloid process) of fifth metatarsal bone </a:t>
            </a:r>
          </a:p>
          <a:p>
            <a:r>
              <a:rPr lang="en-GB" sz="3300" b="1" dirty="0"/>
              <a:t>11 Proximal phalanges </a:t>
            </a:r>
          </a:p>
          <a:p>
            <a:r>
              <a:rPr lang="en-GB" sz="3300" b="1" dirty="0"/>
              <a:t>12 Middle phalanx </a:t>
            </a:r>
          </a:p>
          <a:p>
            <a:r>
              <a:rPr lang="en-GB" sz="3300" b="1" dirty="0"/>
              <a:t>13 Distal phalanges</a:t>
            </a:r>
            <a:endParaRPr lang="en-GB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305C5D-EC65-EB95-CB1F-704429F59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8225" y="0"/>
            <a:ext cx="3049042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0582D9-9C0D-639E-B310-BB9B79F7E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94548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DD826A6-3592-3BFF-3E31-A4E87AAD3BE3}"/>
              </a:ext>
            </a:extLst>
          </p:cNvPr>
          <p:cNvSpPr txBox="1"/>
          <p:nvPr/>
        </p:nvSpPr>
        <p:spPr>
          <a:xfrm>
            <a:off x="2945479" y="1911246"/>
            <a:ext cx="281274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1 Tibialis anterior </a:t>
            </a:r>
          </a:p>
          <a:p>
            <a:r>
              <a:rPr lang="en-GB" b="1" dirty="0"/>
              <a:t>2 Extensor hallucis longus </a:t>
            </a:r>
          </a:p>
          <a:p>
            <a:r>
              <a:rPr lang="en-GB" b="1" dirty="0"/>
              <a:t>3 Extensor digitorum longus </a:t>
            </a:r>
          </a:p>
          <a:p>
            <a:r>
              <a:rPr lang="en-GB" dirty="0"/>
              <a:t>4 Peroneus tertius </a:t>
            </a:r>
          </a:p>
          <a:p>
            <a:r>
              <a:rPr lang="en-GB" dirty="0"/>
              <a:t>5 Extensor digitorum brevis </a:t>
            </a:r>
          </a:p>
          <a:p>
            <a:r>
              <a:rPr lang="en-GB" dirty="0"/>
              <a:t>6 Extensor tendons </a:t>
            </a:r>
          </a:p>
          <a:p>
            <a:r>
              <a:rPr lang="en-GB" b="1" dirty="0"/>
              <a:t>7 Peroneus brevis </a:t>
            </a:r>
          </a:p>
          <a:p>
            <a:r>
              <a:rPr lang="en-GB" b="1" dirty="0"/>
              <a:t>8 Dorsalis pedis artery </a:t>
            </a:r>
          </a:p>
          <a:p>
            <a:r>
              <a:rPr lang="en-GB" dirty="0"/>
              <a:t>9 First dorsal metatarsal artery</a:t>
            </a:r>
          </a:p>
        </p:txBody>
      </p:sp>
    </p:spTree>
    <p:extLst>
      <p:ext uri="{BB962C8B-B14F-4D97-AF65-F5344CB8AC3E}">
        <p14:creationId xmlns:p14="http://schemas.microsoft.com/office/powerpoint/2010/main" val="35752024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ABBCB-6F28-9923-7AF3-40080D42A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C788D-5426-F068-15D5-4C335725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597" y="4839753"/>
            <a:ext cx="3635115" cy="18856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500" b="1" u="sng" dirty="0"/>
              <a:t>Sole of the foot: plantar fascia </a:t>
            </a:r>
          </a:p>
          <a:p>
            <a:r>
              <a:rPr lang="en-GB" sz="1500" b="1" dirty="0"/>
              <a:t>1 Plantar aponeurosis</a:t>
            </a:r>
          </a:p>
          <a:p>
            <a:r>
              <a:rPr lang="en-GB" sz="1500" dirty="0"/>
              <a:t> 2 Transverse bands </a:t>
            </a:r>
          </a:p>
          <a:p>
            <a:r>
              <a:rPr lang="en-GB" sz="1500" b="1" dirty="0"/>
              <a:t>3 Digital bands </a:t>
            </a:r>
          </a:p>
          <a:p>
            <a:r>
              <a:rPr lang="en-GB" sz="1500" dirty="0"/>
              <a:t>4 Superficial transverse metacarpal ligament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39ACF0-5B9F-3EC2-7E8E-52BB2BE8E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402" y="132627"/>
            <a:ext cx="8514413" cy="441154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89F78BD-1B5D-DAAE-129E-601D077A55FF}"/>
              </a:ext>
            </a:extLst>
          </p:cNvPr>
          <p:cNvSpPr txBox="1"/>
          <p:nvPr/>
        </p:nvSpPr>
        <p:spPr>
          <a:xfrm>
            <a:off x="4585440" y="5132476"/>
            <a:ext cx="3261610" cy="1136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  <a:spcBef>
                <a:spcPts val="1000"/>
              </a:spcBef>
            </a:pPr>
            <a:r>
              <a:rPr lang="en-GB" sz="1500" b="1" u="sng" dirty="0"/>
              <a:t>Sole of the Foot: First Muscle Layer</a:t>
            </a:r>
          </a:p>
          <a:p>
            <a:pPr marL="228600" indent="-228600">
              <a:lnSpc>
                <a:spcPct val="7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1500" b="1" dirty="0"/>
              <a:t>1 Abductor digiti </a:t>
            </a:r>
            <a:r>
              <a:rPr lang="en-GB" sz="1500" b="1" dirty="0" err="1"/>
              <a:t>minimi</a:t>
            </a:r>
            <a:r>
              <a:rPr lang="en-GB" sz="1500" b="1" dirty="0"/>
              <a:t> </a:t>
            </a:r>
          </a:p>
          <a:p>
            <a:pPr marL="228600" indent="-228600">
              <a:lnSpc>
                <a:spcPct val="7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1500" b="1" dirty="0"/>
              <a:t>2 Flexor digitorum brevis </a:t>
            </a:r>
          </a:p>
          <a:p>
            <a:pPr marL="228600" indent="-228600">
              <a:lnSpc>
                <a:spcPct val="7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1500" b="1" dirty="0"/>
              <a:t>3 Abductor hallucis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2C2193-1518-8F1D-AEE4-83405E31CB96}"/>
              </a:ext>
            </a:extLst>
          </p:cNvPr>
          <p:cNvSpPr txBox="1"/>
          <p:nvPr/>
        </p:nvSpPr>
        <p:spPr>
          <a:xfrm>
            <a:off x="8182778" y="5051685"/>
            <a:ext cx="3515194" cy="1426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  <a:spcBef>
                <a:spcPts val="1000"/>
              </a:spcBef>
            </a:pPr>
            <a:r>
              <a:rPr lang="en-GB" sz="1500" b="1" dirty="0"/>
              <a:t>Sole of the foot: second muscle layer </a:t>
            </a:r>
          </a:p>
          <a:p>
            <a:pPr marL="228600" indent="-228600">
              <a:lnSpc>
                <a:spcPct val="7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1500" dirty="0"/>
              <a:t>1 Flexor hallucis longus </a:t>
            </a:r>
          </a:p>
          <a:p>
            <a:pPr marL="228600" indent="-228600">
              <a:lnSpc>
                <a:spcPct val="7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1500" dirty="0"/>
              <a:t>2 Flexor digitorum longus </a:t>
            </a:r>
          </a:p>
          <a:p>
            <a:pPr marL="228600" indent="-228600">
              <a:lnSpc>
                <a:spcPct val="7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1500" dirty="0"/>
              <a:t>3 Flexor digitorum </a:t>
            </a:r>
            <a:r>
              <a:rPr lang="en-GB" sz="1500" dirty="0" err="1"/>
              <a:t>accessorius</a:t>
            </a:r>
            <a:r>
              <a:rPr lang="en-GB" sz="1500" dirty="0"/>
              <a:t> </a:t>
            </a:r>
          </a:p>
          <a:p>
            <a:pPr marL="228600" indent="-228600">
              <a:lnSpc>
                <a:spcPct val="7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1500" dirty="0"/>
              <a:t>4 Four lumbrical muscles</a:t>
            </a:r>
          </a:p>
        </p:txBody>
      </p:sp>
    </p:spTree>
    <p:extLst>
      <p:ext uri="{BB962C8B-B14F-4D97-AF65-F5344CB8AC3E}">
        <p14:creationId xmlns:p14="http://schemas.microsoft.com/office/powerpoint/2010/main" val="21378997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1A784-59D5-647F-EDF1-D8EC94B2A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089223" cy="1325563"/>
          </a:xfrm>
        </p:spPr>
        <p:txBody>
          <a:bodyPr>
            <a:normAutofit fontScale="90000"/>
          </a:bodyPr>
          <a:lstStyle/>
          <a:p>
            <a:r>
              <a:rPr lang="en-GB" dirty="0"/>
              <a:t>Superficial Vessels of the lower limbs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A4A7E-78D8-80BE-179F-3ED352C1D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676" y="1825625"/>
            <a:ext cx="4624466" cy="4351338"/>
          </a:xfrm>
        </p:spPr>
        <p:txBody>
          <a:bodyPr numCol="2">
            <a:normAutofit fontScale="25000" lnSpcReduction="20000"/>
          </a:bodyPr>
          <a:lstStyle/>
          <a:p>
            <a:pPr marL="0" indent="0">
              <a:buNone/>
            </a:pPr>
            <a:r>
              <a:rPr lang="en-GB" sz="6400" b="1" dirty="0"/>
              <a:t>Anterior:</a:t>
            </a:r>
          </a:p>
          <a:p>
            <a:r>
              <a:rPr lang="en-GB" sz="6400" dirty="0"/>
              <a:t>1 Femoral (common femoral) artery </a:t>
            </a:r>
          </a:p>
          <a:p>
            <a:r>
              <a:rPr lang="en-GB" sz="6400" dirty="0"/>
              <a:t>2 Deep femoral (profunda femoris) artery </a:t>
            </a:r>
          </a:p>
          <a:p>
            <a:r>
              <a:rPr lang="en-GB" sz="6400" b="1" dirty="0"/>
              <a:t>3 Femoral (superficial femoral) artery </a:t>
            </a:r>
          </a:p>
          <a:p>
            <a:r>
              <a:rPr lang="en-GB" sz="6400" dirty="0"/>
              <a:t>4 Anterior tibial artery </a:t>
            </a:r>
          </a:p>
          <a:p>
            <a:r>
              <a:rPr lang="en-GB" sz="6400" b="1" dirty="0"/>
              <a:t>5 Dorsalis pedis artery </a:t>
            </a:r>
          </a:p>
          <a:p>
            <a:r>
              <a:rPr lang="en-GB" sz="6400" b="1" dirty="0"/>
              <a:t>6 Posterior tibial artery </a:t>
            </a:r>
          </a:p>
          <a:p>
            <a:r>
              <a:rPr lang="en-GB" sz="6400" dirty="0"/>
              <a:t>7 Dorsal venous arch </a:t>
            </a:r>
          </a:p>
          <a:p>
            <a:r>
              <a:rPr lang="en-GB" sz="6400" dirty="0"/>
              <a:t>8 Great saphenous vein </a:t>
            </a:r>
          </a:p>
          <a:p>
            <a:r>
              <a:rPr lang="en-GB" sz="6400" dirty="0"/>
              <a:t>9 Saphenous opening </a:t>
            </a:r>
          </a:p>
          <a:p>
            <a:r>
              <a:rPr lang="en-GB" sz="6400" dirty="0"/>
              <a:t>10 Vertical chain of inguinal lymph nodes </a:t>
            </a:r>
          </a:p>
          <a:p>
            <a:r>
              <a:rPr lang="en-GB" sz="6400" dirty="0"/>
              <a:t>11 Horizontal chain of inguinal lymph nodes </a:t>
            </a:r>
          </a:p>
          <a:p>
            <a:r>
              <a:rPr lang="en-GB" sz="6400" dirty="0"/>
              <a:t>12 Point of access to femoral artery </a:t>
            </a:r>
          </a:p>
          <a:p>
            <a:r>
              <a:rPr lang="en-GB" sz="6400" dirty="0"/>
              <a:t>13 Perforating peroneal artery</a:t>
            </a:r>
          </a:p>
          <a:p>
            <a:pPr marL="0" indent="0">
              <a:buNone/>
            </a:pPr>
            <a:r>
              <a:rPr lang="en-GB" sz="6400" b="1" dirty="0"/>
              <a:t>Posterior:</a:t>
            </a:r>
          </a:p>
          <a:p>
            <a:pPr marL="0" indent="0">
              <a:buNone/>
            </a:pPr>
            <a:r>
              <a:rPr lang="en-GB" sz="6400" b="1" dirty="0"/>
              <a:t>1 Popliteal artery </a:t>
            </a:r>
          </a:p>
          <a:p>
            <a:pPr marL="0" indent="0">
              <a:buNone/>
            </a:pPr>
            <a:r>
              <a:rPr lang="en-GB" sz="6400" dirty="0"/>
              <a:t>2 Anterior tibial artery </a:t>
            </a:r>
          </a:p>
          <a:p>
            <a:pPr marL="0" indent="0">
              <a:buNone/>
            </a:pPr>
            <a:r>
              <a:rPr lang="en-GB" sz="6400" dirty="0"/>
              <a:t>3 Posterior tibial artery </a:t>
            </a:r>
          </a:p>
          <a:p>
            <a:pPr marL="0" indent="0">
              <a:buNone/>
            </a:pPr>
            <a:r>
              <a:rPr lang="en-GB" sz="6400" dirty="0"/>
              <a:t>4 Peroneal artery </a:t>
            </a:r>
          </a:p>
          <a:p>
            <a:pPr marL="0" indent="0">
              <a:buNone/>
            </a:pPr>
            <a:r>
              <a:rPr lang="en-GB" sz="6400" dirty="0"/>
              <a:t>5 Small saphenous vein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9AD167-7827-6F3F-4698-88927B091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9945" y="622662"/>
            <a:ext cx="6609472" cy="555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7019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E902-66EB-7731-93E1-1B1958E9C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BC651-EE00-943A-735F-3F8DBF4E2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Moore, K.L., </a:t>
            </a:r>
            <a:r>
              <a:rPr lang="en-GB" dirty="0" err="1"/>
              <a:t>Dalley</a:t>
            </a:r>
            <a:r>
              <a:rPr lang="en-GB" dirty="0"/>
              <a:t>, A.F. &amp; </a:t>
            </a:r>
            <a:r>
              <a:rPr lang="en-GB" dirty="0" err="1"/>
              <a:t>Agur</a:t>
            </a:r>
            <a:r>
              <a:rPr lang="en-GB" dirty="0"/>
              <a:t>, A.M.R. (2018) Clinically Oriented Anatomy. 8th </a:t>
            </a:r>
            <a:r>
              <a:rPr lang="en-GB" dirty="0" err="1"/>
              <a:t>edn</a:t>
            </a:r>
            <a:r>
              <a:rPr lang="en-GB" dirty="0"/>
              <a:t>. Philadelphia: Wolters Kluwer.</a:t>
            </a:r>
          </a:p>
          <a:p>
            <a:r>
              <a:rPr lang="en-GB" dirty="0"/>
              <a:t>Drake, R.L., </a:t>
            </a:r>
            <a:r>
              <a:rPr lang="en-GB" dirty="0" err="1"/>
              <a:t>Vogl</a:t>
            </a:r>
            <a:r>
              <a:rPr lang="en-GB" dirty="0"/>
              <a:t>, A.W. &amp; Mitchell, A.W.M. (2020) Gray’s Anatomy for Students. 4th </a:t>
            </a:r>
            <a:r>
              <a:rPr lang="en-GB" dirty="0" err="1"/>
              <a:t>edn</a:t>
            </a:r>
            <a:r>
              <a:rPr lang="en-GB" dirty="0"/>
              <a:t>. Philadelphia: Elsevier.</a:t>
            </a:r>
          </a:p>
          <a:p>
            <a:r>
              <a:rPr lang="en-GB" b="0" i="0" dirty="0">
                <a:solidFill>
                  <a:srgbClr val="020621"/>
                </a:solidFill>
                <a:effectLst/>
                <a:latin typeface="tisapro-regular"/>
              </a:rPr>
              <a:t>Kilby J, Heneghan NR, Maybury M. </a:t>
            </a:r>
            <a:r>
              <a:rPr lang="en-GB" b="0" i="0" u="none" strike="noStrike" dirty="0">
                <a:solidFill>
                  <a:srgbClr val="2752FF"/>
                </a:solidFill>
                <a:effectLst/>
                <a:latin typeface="tisapro-regular"/>
                <a:hlinkClick r:id="rId2"/>
              </a:rPr>
              <a:t>Manual palpation of lumbo-pelvic landmarks: a validity study</a:t>
            </a:r>
            <a:r>
              <a:rPr lang="en-GB" b="0" i="0" dirty="0">
                <a:solidFill>
                  <a:srgbClr val="020621"/>
                </a:solidFill>
                <a:effectLst/>
                <a:latin typeface="tisapro-regular"/>
              </a:rPr>
              <a:t>. Manual therapy. 2012 Jun 1;17(3):259-62.Available: </a:t>
            </a:r>
            <a:r>
              <a:rPr lang="en-GB" b="0" i="0" u="none" strike="noStrike" dirty="0">
                <a:solidFill>
                  <a:srgbClr val="2752FF"/>
                </a:solidFill>
                <a:effectLst/>
                <a:latin typeface="tisapro-regular"/>
                <a:hlinkClick r:id="rId2"/>
              </a:rPr>
              <a:t>https://www.researchgate.net/publication/51672384_Manual_palpation_of_lumbo-pelvic_landmarks_A_validity_study</a:t>
            </a:r>
            <a:r>
              <a:rPr lang="en-GB" b="0" i="0" dirty="0">
                <a:solidFill>
                  <a:srgbClr val="020621"/>
                </a:solidFill>
                <a:effectLst/>
                <a:latin typeface="tisapro-regular"/>
              </a:rPr>
              <a:t>(accessed 7.11.2021)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0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2728</Words>
  <Application>Microsoft Office PowerPoint</Application>
  <PresentationFormat>Widescreen</PresentationFormat>
  <Paragraphs>389</Paragraphs>
  <Slides>43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2" baseType="lpstr">
      <vt:lpstr>AkzidenzGroteskBE-Light</vt:lpstr>
      <vt:lpstr>Aptos</vt:lpstr>
      <vt:lpstr>Aptos Display</vt:lpstr>
      <vt:lpstr>Arial</vt:lpstr>
      <vt:lpstr>Calibri</vt:lpstr>
      <vt:lpstr>Courier New</vt:lpstr>
      <vt:lpstr>Google Sans</vt:lpstr>
      <vt:lpstr>tisapro-regular</vt:lpstr>
      <vt:lpstr>Office Theme</vt:lpstr>
      <vt:lpstr>SURFACE ANATOMY OF THE LOWER LIMB: Practical Workshop</vt:lpstr>
      <vt:lpstr>Learning Outcomes</vt:lpstr>
      <vt:lpstr>Regions of the Lower Limb</vt:lpstr>
      <vt:lpstr>Gluteal Region: Surface Anatomy</vt:lpstr>
      <vt:lpstr>Gluteal Region</vt:lpstr>
      <vt:lpstr>Surface Anatomy</vt:lpstr>
      <vt:lpstr>Iliac Crest</vt:lpstr>
      <vt:lpstr>The Iliac Crests</vt:lpstr>
      <vt:lpstr>Iliac Crest: Clinical Relevance</vt:lpstr>
      <vt:lpstr>Iliac Crest: Clinical Relevance</vt:lpstr>
      <vt:lpstr>Posterior Superior Iliac Spine (PSIS)</vt:lpstr>
      <vt:lpstr>The Ischial Tuberosities</vt:lpstr>
      <vt:lpstr>Palpating the Ischial Tuberosity</vt:lpstr>
      <vt:lpstr>Clinical Considerations</vt:lpstr>
      <vt:lpstr>Slide 5: The Greater Trochanter</vt:lpstr>
      <vt:lpstr>Palpating the Greater Trochanter</vt:lpstr>
      <vt:lpstr>Conditions Assessed with Greater Trochanter Palpation</vt:lpstr>
      <vt:lpstr>Palpable Gluteal and Posterior thigh Structures</vt:lpstr>
      <vt:lpstr>Medial and Lateral Femoral Condyles</vt:lpstr>
      <vt:lpstr>Medial Femur Condyles: Palpation</vt:lpstr>
      <vt:lpstr>Lateral Femur Condyle: Palpation</vt:lpstr>
      <vt:lpstr>Gluteal region and posterior thigh: Superficial Muscles</vt:lpstr>
      <vt:lpstr>Palpable Structures of the Pelvis and Anterior Thigh</vt:lpstr>
      <vt:lpstr>Anterior Superior Iliac Spine (ASIS)</vt:lpstr>
      <vt:lpstr>Palpation of the ASIS</vt:lpstr>
      <vt:lpstr>The Patella</vt:lpstr>
      <vt:lpstr>Anterior and medial aspect of thigh: Superficial Muscles</vt:lpstr>
      <vt:lpstr>PowerPoint Presentation</vt:lpstr>
      <vt:lpstr>Surface Anatomy: Femoral Triangle</vt:lpstr>
      <vt:lpstr>Palpable lateral thigh structures</vt:lpstr>
      <vt:lpstr>References</vt:lpstr>
      <vt:lpstr>Surface Anatomy of the Leg and foot</vt:lpstr>
      <vt:lpstr>Bony Landmarks of the Lower Leg</vt:lpstr>
      <vt:lpstr>Lateral lower leg</vt:lpstr>
      <vt:lpstr>Anterior Knee Joint structures</vt:lpstr>
      <vt:lpstr>PowerPoint Presentation</vt:lpstr>
      <vt:lpstr>Lateral Knee Joint</vt:lpstr>
      <vt:lpstr>PowerPoint Presentation</vt:lpstr>
      <vt:lpstr>Posterior aspect of the lower leg</vt:lpstr>
      <vt:lpstr>PowerPoint Presentation</vt:lpstr>
      <vt:lpstr>PowerPoint Presentation</vt:lpstr>
      <vt:lpstr>Superficial Vessels of the lower limbs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Walaa Abu-Taleb</dc:creator>
  <cp:lastModifiedBy>Ngozi Onuegbu</cp:lastModifiedBy>
  <cp:revision>9</cp:revision>
  <dcterms:created xsi:type="dcterms:W3CDTF">2024-11-15T14:29:54Z</dcterms:created>
  <dcterms:modified xsi:type="dcterms:W3CDTF">2024-11-23T16:31:56Z</dcterms:modified>
</cp:coreProperties>
</file>