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2" r:id="rId5"/>
    <p:sldId id="263" r:id="rId6"/>
    <p:sldId id="282" r:id="rId7"/>
    <p:sldId id="260" r:id="rId8"/>
    <p:sldId id="277" r:id="rId9"/>
    <p:sldId id="279" r:id="rId10"/>
    <p:sldId id="278" r:id="rId11"/>
    <p:sldId id="276" r:id="rId12"/>
    <p:sldId id="275" r:id="rId13"/>
    <p:sldId id="274" r:id="rId14"/>
    <p:sldId id="273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A2257-6626-1576-69F6-61A665E8D185}" v="32" dt="2023-11-02T16:37:09.059"/>
    <p1510:client id="{F1416972-160B-3549-893C-BE02A2315717}" v="45" dt="2023-11-02T16:34:54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89" autoAdjust="0"/>
    <p:restoredTop sz="94774" autoAdjust="0"/>
  </p:normalViewPr>
  <p:slideViewPr>
    <p:cSldViewPr snapToGrid="0" snapToObjects="1">
      <p:cViewPr varScale="1">
        <p:scale>
          <a:sx n="105" d="100"/>
          <a:sy n="105" d="100"/>
        </p:scale>
        <p:origin x="13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2311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a Jenkins" userId="S::bakerj3@staff.londonmet.ac.uk::7f8ffc6a-1db6-4a56-a50f-7678922f1165" providerId="AD" clId="Web-{8ACA2257-6626-1576-69F6-61A665E8D185}"/>
    <pc:docChg chg="delSld modSld">
      <pc:chgData name="Joanna Jenkins" userId="S::bakerj3@staff.londonmet.ac.uk::7f8ffc6a-1db6-4a56-a50f-7678922f1165" providerId="AD" clId="Web-{8ACA2257-6626-1576-69F6-61A665E8D185}" dt="2023-11-02T16:37:09.059" v="28" actId="20577"/>
      <pc:docMkLst>
        <pc:docMk/>
      </pc:docMkLst>
      <pc:sldChg chg="modSp">
        <pc:chgData name="Joanna Jenkins" userId="S::bakerj3@staff.londonmet.ac.uk::7f8ffc6a-1db6-4a56-a50f-7678922f1165" providerId="AD" clId="Web-{8ACA2257-6626-1576-69F6-61A665E8D185}" dt="2023-11-02T16:35:38.616" v="2" actId="20577"/>
        <pc:sldMkLst>
          <pc:docMk/>
          <pc:sldMk cId="0" sldId="257"/>
        </pc:sldMkLst>
        <pc:spChg chg="mod">
          <ac:chgData name="Joanna Jenkins" userId="S::bakerj3@staff.londonmet.ac.uk::7f8ffc6a-1db6-4a56-a50f-7678922f1165" providerId="AD" clId="Web-{8ACA2257-6626-1576-69F6-61A665E8D185}" dt="2023-11-02T16:35:38.616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Joanna Jenkins" userId="S::bakerj3@staff.londonmet.ac.uk::7f8ffc6a-1db6-4a56-a50f-7678922f1165" providerId="AD" clId="Web-{8ACA2257-6626-1576-69F6-61A665E8D185}" dt="2023-11-02T16:35:47.413" v="7" actId="20577"/>
        <pc:sldMkLst>
          <pc:docMk/>
          <pc:sldMk cId="0" sldId="259"/>
        </pc:sldMkLst>
        <pc:spChg chg="mod">
          <ac:chgData name="Joanna Jenkins" userId="S::bakerj3@staff.londonmet.ac.uk::7f8ffc6a-1db6-4a56-a50f-7678922f1165" providerId="AD" clId="Web-{8ACA2257-6626-1576-69F6-61A665E8D185}" dt="2023-11-02T16:35:47.413" v="7" actId="20577"/>
          <ac:spMkLst>
            <pc:docMk/>
            <pc:sldMk cId="0" sldId="259"/>
            <ac:spMk id="5123" creationId="{00000000-0000-0000-0000-000000000000}"/>
          </ac:spMkLst>
        </pc:spChg>
      </pc:sldChg>
      <pc:sldChg chg="modSp">
        <pc:chgData name="Joanna Jenkins" userId="S::bakerj3@staff.londonmet.ac.uk::7f8ffc6a-1db6-4a56-a50f-7678922f1165" providerId="AD" clId="Web-{8ACA2257-6626-1576-69F6-61A665E8D185}" dt="2023-11-02T16:35:51.570" v="9" actId="20577"/>
        <pc:sldMkLst>
          <pc:docMk/>
          <pc:sldMk cId="0" sldId="262"/>
        </pc:sldMkLst>
        <pc:spChg chg="mod">
          <ac:chgData name="Joanna Jenkins" userId="S::bakerj3@staff.londonmet.ac.uk::7f8ffc6a-1db6-4a56-a50f-7678922f1165" providerId="AD" clId="Web-{8ACA2257-6626-1576-69F6-61A665E8D185}" dt="2023-11-02T16:35:51.570" v="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Joanna Jenkins" userId="S::bakerj3@staff.londonmet.ac.uk::7f8ffc6a-1db6-4a56-a50f-7678922f1165" providerId="AD" clId="Web-{8ACA2257-6626-1576-69F6-61A665E8D185}" dt="2023-11-02T16:35:53.726" v="10" actId="20577"/>
        <pc:sldMkLst>
          <pc:docMk/>
          <pc:sldMk cId="0" sldId="263"/>
        </pc:sldMkLst>
        <pc:spChg chg="mod">
          <ac:chgData name="Joanna Jenkins" userId="S::bakerj3@staff.londonmet.ac.uk::7f8ffc6a-1db6-4a56-a50f-7678922f1165" providerId="AD" clId="Web-{8ACA2257-6626-1576-69F6-61A665E8D185}" dt="2023-11-02T16:35:53.726" v="10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Joanna Jenkins" userId="S::bakerj3@staff.londonmet.ac.uk::7f8ffc6a-1db6-4a56-a50f-7678922f1165" providerId="AD" clId="Web-{8ACA2257-6626-1576-69F6-61A665E8D185}" dt="2023-11-02T16:36:00.398" v="11"/>
        <pc:sldMkLst>
          <pc:docMk/>
          <pc:sldMk cId="0" sldId="264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00.961" v="12"/>
        <pc:sldMkLst>
          <pc:docMk/>
          <pc:sldMk cId="0" sldId="265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06.539" v="14"/>
        <pc:sldMkLst>
          <pc:docMk/>
          <pc:sldMk cId="0" sldId="266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10.571" v="16"/>
        <pc:sldMkLst>
          <pc:docMk/>
          <pc:sldMk cId="0" sldId="267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14.868" v="17"/>
        <pc:sldMkLst>
          <pc:docMk/>
          <pc:sldMk cId="0" sldId="268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08.633" v="15"/>
        <pc:sldMkLst>
          <pc:docMk/>
          <pc:sldMk cId="0" sldId="269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57.058" v="22"/>
        <pc:sldMkLst>
          <pc:docMk/>
          <pc:sldMk cId="0" sldId="270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51.855" v="21"/>
        <pc:sldMkLst>
          <pc:docMk/>
          <pc:sldMk cId="0" sldId="271"/>
        </pc:sldMkLst>
      </pc:sldChg>
      <pc:sldChg chg="modSp">
        <pc:chgData name="Joanna Jenkins" userId="S::bakerj3@staff.londonmet.ac.uk::7f8ffc6a-1db6-4a56-a50f-7678922f1165" providerId="AD" clId="Web-{8ACA2257-6626-1576-69F6-61A665E8D185}" dt="2023-11-02T16:37:09.059" v="28" actId="20577"/>
        <pc:sldMkLst>
          <pc:docMk/>
          <pc:sldMk cId="0" sldId="272"/>
        </pc:sldMkLst>
        <pc:spChg chg="mod">
          <ac:chgData name="Joanna Jenkins" userId="S::bakerj3@staff.londonmet.ac.uk::7f8ffc6a-1db6-4a56-a50f-7678922f1165" providerId="AD" clId="Web-{8ACA2257-6626-1576-69F6-61A665E8D185}" dt="2023-11-02T16:37:09.059" v="28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Joanna Jenkins" userId="S::bakerj3@staff.londonmet.ac.uk::7f8ffc6a-1db6-4a56-a50f-7678922f1165" providerId="AD" clId="Web-{8ACA2257-6626-1576-69F6-61A665E8D185}" dt="2023-11-02T16:36:43.714" v="20" actId="20577"/>
        <pc:sldMkLst>
          <pc:docMk/>
          <pc:sldMk cId="0" sldId="274"/>
        </pc:sldMkLst>
        <pc:spChg chg="mod">
          <ac:chgData name="Joanna Jenkins" userId="S::bakerj3@staff.londonmet.ac.uk::7f8ffc6a-1db6-4a56-a50f-7678922f1165" providerId="AD" clId="Web-{8ACA2257-6626-1576-69F6-61A665E8D185}" dt="2023-11-02T16:36:43.714" v="20" actId="20577"/>
          <ac:spMkLst>
            <pc:docMk/>
            <pc:sldMk cId="0" sldId="274"/>
            <ac:spMk id="3" creationId="{00000000-0000-0000-0000-000000000000}"/>
          </ac:spMkLst>
        </pc:spChg>
      </pc:sldChg>
      <pc:sldChg chg="del">
        <pc:chgData name="Joanna Jenkins" userId="S::bakerj3@staff.londonmet.ac.uk::7f8ffc6a-1db6-4a56-a50f-7678922f1165" providerId="AD" clId="Web-{8ACA2257-6626-1576-69F6-61A665E8D185}" dt="2023-11-02T16:36:58.933" v="23"/>
        <pc:sldMkLst>
          <pc:docMk/>
          <pc:sldMk cId="0" sldId="280"/>
        </pc:sldMkLst>
      </pc:sldChg>
      <pc:sldChg chg="del">
        <pc:chgData name="Joanna Jenkins" userId="S::bakerj3@staff.londonmet.ac.uk::7f8ffc6a-1db6-4a56-a50f-7678922f1165" providerId="AD" clId="Web-{8ACA2257-6626-1576-69F6-61A665E8D185}" dt="2023-11-02T16:36:02.055" v="13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4E864-C4C2-6047-AFA4-D76167C91BEF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F7F2A-C256-614A-BBA3-D5987F1BB3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>
                <a:latin typeface="Times New Roman" pitchFamily="-112" charset="0"/>
              </a:rPr>
              <a:t>Sport related norms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09CD45-A9A4-5844-A337-9A4F896227B5}" type="slidenum">
              <a:rPr lang="en-GB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GB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GB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GB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GB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GB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GB"/>
              <a:t>Click to edit Master text styles</a:t>
            </a:r>
          </a:p>
          <a:p>
            <a:pPr lvl="1" eaLnBrk="1" latinLnBrk="0" hangingPunct="1"/>
            <a:r>
              <a:rPr kumimoji="0" lang="en-GB"/>
              <a:t>Second level</a:t>
            </a:r>
          </a:p>
          <a:p>
            <a:pPr lvl="2" eaLnBrk="1" latinLnBrk="0" hangingPunct="1"/>
            <a:r>
              <a:rPr kumimoji="0" lang="en-GB"/>
              <a:t>Third level</a:t>
            </a:r>
          </a:p>
          <a:p>
            <a:pPr lvl="3" eaLnBrk="1" latinLnBrk="0" hangingPunct="1"/>
            <a:r>
              <a:rPr kumimoji="0" lang="en-GB"/>
              <a:t>Fourth level</a:t>
            </a:r>
          </a:p>
          <a:p>
            <a:pPr lvl="4" eaLnBrk="1" latinLnBrk="0" hangingPunct="1"/>
            <a:r>
              <a:rPr kumimoji="0" lang="en-GB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A4E9326-A1EE-8C4C-A37A-F095FC165242}" type="datetimeFigureOut">
              <a:rPr lang="en-US" smtClean="0"/>
              <a:pPr/>
              <a:t>11/2/2023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6052FCB-92B1-D949-8504-23FB9D1A88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anchor="b">
            <a:normAutofit fontScale="90000"/>
          </a:bodyPr>
          <a:lstStyle/>
          <a:p>
            <a:r>
              <a:rPr lang="en-US" sz="4000" dirty="0">
                <a:latin typeface="Arial"/>
                <a:cs typeface="Arial"/>
              </a:rPr>
              <a:t>Introduction to Flexibility and Stretching</a:t>
            </a:r>
            <a:endParaRPr lang="en-US" sz="4000" dirty="0" err="1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role of flexibility</a:t>
            </a:r>
          </a:p>
          <a:p>
            <a:r>
              <a:rPr lang="en-US" dirty="0">
                <a:latin typeface="Arial"/>
                <a:cs typeface="Arial"/>
              </a:rPr>
              <a:t>Biomechanical advantage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Structures involved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Changes over time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Age-related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Training related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Measuring flexibility - lab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1600200"/>
            <a:ext cx="28321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42938" y="428625"/>
            <a:ext cx="7772400" cy="990600"/>
          </a:xfrm>
        </p:spPr>
        <p:txBody>
          <a:bodyPr/>
          <a:lstStyle/>
          <a:p>
            <a:pPr eaLnBrk="1" hangingPunct="1"/>
            <a:r>
              <a:rPr lang="en-GB">
                <a:latin typeface="Arial" pitchFamily="34" charset="0"/>
                <a:ea typeface="Arial" pitchFamily="-112" charset="0"/>
                <a:cs typeface="Arial" pitchFamily="34" charset="0"/>
              </a:rPr>
              <a:t>Flexibility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714375" y="1500187"/>
            <a:ext cx="7772400" cy="5357813"/>
          </a:xfrm>
        </p:spPr>
        <p:txBody>
          <a:bodyPr vert="horz" lIns="91440" tIns="45720" rIns="91440" bIns="45720" anchor="t">
            <a:normAutofit/>
          </a:bodyPr>
          <a:lstStyle/>
          <a:p>
            <a:pPr eaLnBrk="1" hangingPunct="1"/>
            <a:r>
              <a:rPr lang="en-GB" sz="2400" dirty="0">
                <a:latin typeface="Arial" pitchFamily="34" charset="0"/>
                <a:ea typeface="Arial" pitchFamily="-112" charset="0"/>
                <a:cs typeface="Arial" pitchFamily="34" charset="0"/>
              </a:rPr>
              <a:t>“To bend or be pliable” (Alter, 2004)</a:t>
            </a:r>
          </a:p>
          <a:p>
            <a:pPr eaLnBrk="1" hangingPunct="1"/>
            <a:r>
              <a:rPr lang="en-GB" sz="2400" dirty="0">
                <a:latin typeface="Arial" pitchFamily="34" charset="0"/>
                <a:ea typeface="Arial" pitchFamily="-112" charset="0"/>
                <a:cs typeface="Arial" pitchFamily="34" charset="0"/>
              </a:rPr>
              <a:t>Definition: ‘the ability of the neuromuscular system to allow for efficient movement of a joint or series of joints through full, non-restricted, pain free range of motion’ (Prentice, 2004)</a:t>
            </a:r>
          </a:p>
          <a:p>
            <a:pPr eaLnBrk="1" hangingPunct="1"/>
            <a:endParaRPr lang="en-GB" dirty="0">
              <a:latin typeface="Arial" pitchFamily="34" charset="0"/>
              <a:ea typeface="Arial" pitchFamily="-112" charset="0"/>
              <a:cs typeface="Arial" pitchFamily="34" charset="0"/>
            </a:endParaRPr>
          </a:p>
          <a:p>
            <a:pPr eaLnBrk="1" hangingPunct="1"/>
            <a:r>
              <a:rPr lang="en-GB" sz="2400" dirty="0">
                <a:latin typeface="Arial"/>
                <a:ea typeface="Arial" pitchFamily="-112" charset="0"/>
                <a:cs typeface="Arial"/>
              </a:rPr>
              <a:t>Allows movement</a:t>
            </a:r>
          </a:p>
          <a:p>
            <a:pPr lvl="1"/>
            <a:r>
              <a:rPr lang="en-GB" sz="2100" dirty="0">
                <a:latin typeface="Arial" pitchFamily="34" charset="0"/>
                <a:ea typeface="Arial" pitchFamily="-112" charset="0"/>
                <a:cs typeface="Arial" pitchFamily="34" charset="0"/>
              </a:rPr>
              <a:t>Not always large ranges of movement, sometimes </a:t>
            </a:r>
            <a:r>
              <a:rPr lang="en-GB" sz="2100" b="1" dirty="0">
                <a:latin typeface="Arial" pitchFamily="34" charset="0"/>
                <a:ea typeface="Arial" pitchFamily="-112" charset="0"/>
                <a:cs typeface="Arial" pitchFamily="34" charset="0"/>
              </a:rPr>
              <a:t>mechanical advantage</a:t>
            </a:r>
          </a:p>
          <a:p>
            <a:pPr lvl="1"/>
            <a:r>
              <a:rPr lang="en-GB" dirty="0">
                <a:solidFill>
                  <a:schemeClr val="accent1"/>
                </a:solidFill>
                <a:latin typeface="Arial"/>
                <a:ea typeface="Arial" pitchFamily="-112" charset="0"/>
                <a:cs typeface="Arial"/>
              </a:rPr>
              <a:t>What movements do you NEED flexibility for</a:t>
            </a:r>
            <a:endParaRPr lang="en-GB" sz="2100" dirty="0">
              <a:solidFill>
                <a:schemeClr val="accent1"/>
              </a:solidFill>
              <a:latin typeface="Arial"/>
              <a:ea typeface="Arial" pitchFamily="-112" charset="0"/>
              <a:cs typeface="Arial"/>
            </a:endParaRPr>
          </a:p>
          <a:p>
            <a:pPr eaLnBrk="1" hangingPunct="1">
              <a:buFontTx/>
              <a:buNone/>
            </a:pPr>
            <a:endParaRPr lang="en-GB" sz="2400" dirty="0">
              <a:latin typeface="Arial" pitchFamily="34" charset="0"/>
              <a:ea typeface="Arial" pitchFamily="-112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Biomechanical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Mechanical advantage - </a:t>
            </a:r>
            <a:r>
              <a:rPr lang="en-US" dirty="0">
                <a:latin typeface="Arial" pitchFamily="34" charset="0"/>
                <a:cs typeface="Arial" pitchFamily="34" charset="0"/>
              </a:rPr>
              <a:t>The ratio of the output force produced by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a machine</a:t>
            </a:r>
            <a:r>
              <a:rPr lang="en-US" dirty="0">
                <a:latin typeface="Arial" pitchFamily="34" charset="0"/>
                <a:cs typeface="Arial" pitchFamily="34" charset="0"/>
              </a:rPr>
              <a:t> to the applied input force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Relate this to “Bio-”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Essentially what you gain from using a machine</a:t>
            </a:r>
          </a:p>
          <a:p>
            <a:pPr lvl="1"/>
            <a:r>
              <a:rPr lang="en-US" dirty="0">
                <a:latin typeface="Arial"/>
                <a:cs typeface="Arial"/>
              </a:rPr>
              <a:t>Therefore in bio terms, what you gain from using your body differently or altering position</a:t>
            </a:r>
          </a:p>
          <a:p>
            <a:pPr lvl="1"/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Biomechanical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1600200"/>
            <a:ext cx="7962673" cy="5257800"/>
          </a:xfrm>
        </p:spPr>
        <p:txBody>
          <a:bodyPr vert="horz" lIns="91440" tIns="45720" rIns="91440" bIns="45720" anchor="t"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flexibility  =            biomechanical advantage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Positional change (assuming plastic deformation)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Force production change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Chapter 4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More sarcomeres therefore more force produced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However,  research has recently shown increased length DECREASES force production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Efficiency / aesthetical result</a:t>
            </a:r>
          </a:p>
        </p:txBody>
      </p:sp>
      <p:sp>
        <p:nvSpPr>
          <p:cNvPr id="10" name="Up Arrow 9"/>
          <p:cNvSpPr/>
          <p:nvPr/>
        </p:nvSpPr>
        <p:spPr>
          <a:xfrm>
            <a:off x="609536" y="1600199"/>
            <a:ext cx="319830" cy="63040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3026979" y="1600199"/>
            <a:ext cx="382721" cy="63040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Injury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Tight muscles are more likely to tear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Relate to stress-strain curve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More compliant = less susceptible</a:t>
            </a:r>
          </a:p>
          <a:p>
            <a:pPr lvl="1"/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Excessive ROM is often not necessary in sport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Problems associated with it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Injuries often occur during flexibility training sessions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Overstretching - relate to stress-strain curve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latin typeface="Arial" pitchFamily="34" charset="0"/>
                <a:ea typeface="Arial" pitchFamily="-112" charset="0"/>
                <a:cs typeface="Arial" pitchFamily="34" charset="0"/>
              </a:rPr>
              <a:t>What restricts? </a:t>
            </a:r>
            <a:endParaRPr lang="en-GB" dirty="0">
              <a:latin typeface="Arial" pitchFamily="34" charset="0"/>
              <a:ea typeface="Arial" pitchFamily="-112" charset="0"/>
              <a:cs typeface="Arial" pitchFamily="34" charset="0"/>
            </a:endParaRP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Muscle length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Muscle connective tissue (</a:t>
            </a:r>
            <a:r>
              <a:rPr lang="en-GB" dirty="0" err="1">
                <a:latin typeface="Arial" pitchFamily="34" charset="0"/>
                <a:ea typeface="Arial" pitchFamily="-112" charset="0"/>
                <a:cs typeface="Arial" pitchFamily="34" charset="0"/>
              </a:rPr>
              <a:t>endo</a:t>
            </a:r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-, </a:t>
            </a:r>
            <a:r>
              <a:rPr lang="en-GB" dirty="0" err="1">
                <a:latin typeface="Arial" pitchFamily="34" charset="0"/>
                <a:ea typeface="Arial" pitchFamily="-112" charset="0"/>
                <a:cs typeface="Arial" pitchFamily="34" charset="0"/>
              </a:rPr>
              <a:t>peri</a:t>
            </a:r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-, </a:t>
            </a:r>
            <a:r>
              <a:rPr lang="en-GB" dirty="0" err="1">
                <a:latin typeface="Arial" pitchFamily="34" charset="0"/>
                <a:ea typeface="Arial" pitchFamily="-112" charset="0"/>
                <a:cs typeface="Arial" pitchFamily="34" charset="0"/>
              </a:rPr>
              <a:t>epi</a:t>
            </a:r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-)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Muscle strength (if active)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Bone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Scar tissue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Joint structures – position and capsule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Neural structures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Overactive receptors leading to increased muscle tone</a:t>
            </a:r>
          </a:p>
          <a:p>
            <a:pPr>
              <a:buNone/>
            </a:pPr>
            <a:endParaRPr lang="en-GB" dirty="0">
              <a:latin typeface="Arial" pitchFamily="34" charset="0"/>
              <a:ea typeface="Arial" pitchFamily="-112" charset="0"/>
              <a:cs typeface="Arial" pitchFamily="34" charset="0"/>
            </a:endParaRPr>
          </a:p>
          <a:p>
            <a:r>
              <a:rPr lang="en-GB" b="1" dirty="0">
                <a:latin typeface="Arial" pitchFamily="34" charset="0"/>
                <a:ea typeface="Arial" pitchFamily="-112" charset="0"/>
                <a:cs typeface="Arial" pitchFamily="34" charset="0"/>
              </a:rPr>
              <a:t>What can we change?</a:t>
            </a:r>
          </a:p>
          <a:p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Plastic deformation of collagen</a:t>
            </a:r>
          </a:p>
          <a:p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Genes (Collagen)</a:t>
            </a:r>
          </a:p>
          <a:p>
            <a:pPr lvl="1"/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Can be changed through stretching</a:t>
            </a:r>
          </a:p>
          <a:p>
            <a:pPr lvl="1"/>
            <a:r>
              <a:rPr lang="en-GB" dirty="0" err="1">
                <a:latin typeface="Arial" pitchFamily="34" charset="0"/>
                <a:ea typeface="Arial" pitchFamily="-112" charset="0"/>
                <a:cs typeface="Arial" pitchFamily="34" charset="0"/>
              </a:rPr>
              <a:t>Sadoshima</a:t>
            </a:r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 and </a:t>
            </a:r>
            <a:r>
              <a:rPr lang="en-GB" dirty="0" err="1">
                <a:latin typeface="Arial" pitchFamily="34" charset="0"/>
                <a:ea typeface="Arial" pitchFamily="-112" charset="0"/>
                <a:cs typeface="Arial" pitchFamily="34" charset="0"/>
              </a:rPr>
              <a:t>Izumo</a:t>
            </a:r>
            <a:r>
              <a:rPr lang="en-GB" dirty="0">
                <a:latin typeface="Arial" pitchFamily="34" charset="0"/>
                <a:ea typeface="Arial" pitchFamily="-112" charset="0"/>
                <a:cs typeface="Arial" pitchFamily="34" charset="0"/>
              </a:rPr>
              <a:t> (1993)</a:t>
            </a:r>
          </a:p>
          <a:p>
            <a:endParaRPr lang="en-GB" b="1" dirty="0">
              <a:latin typeface="Arial" pitchFamily="34" charset="0"/>
              <a:ea typeface="Arial" pitchFamily="-112" charset="0"/>
              <a:cs typeface="Arial" pitchFamily="34" charset="0"/>
            </a:endParaRPr>
          </a:p>
          <a:p>
            <a:endParaRPr lang="en-GB" b="1" dirty="0">
              <a:latin typeface="Arial" pitchFamily="34" charset="0"/>
              <a:ea typeface="Arial" pitchFamily="-112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Muscle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95834" y="1143000"/>
            <a:ext cx="8337177" cy="5715000"/>
          </a:xfrm>
        </p:spPr>
        <p:txBody>
          <a:bodyPr>
            <a:normAutofit/>
          </a:bodyPr>
          <a:lstStyle/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Parallel Elastic Component (PEC) responsible for resting length/tension lies alongside contractile component</a:t>
            </a:r>
          </a:p>
          <a:p>
            <a:pPr lvl="1"/>
            <a:r>
              <a:rPr lang="en-GB" dirty="0" err="1">
                <a:latin typeface="Arial" pitchFamily="34" charset="0"/>
                <a:cs typeface="Arial" pitchFamily="34" charset="0"/>
              </a:rPr>
              <a:t>Sarcolemma</a:t>
            </a:r>
            <a:r>
              <a:rPr lang="en-GB" dirty="0">
                <a:latin typeface="Arial" pitchFamily="34" charset="0"/>
                <a:cs typeface="Arial" pitchFamily="34" charset="0"/>
              </a:rPr>
              <a:t>,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sarcoplasm</a:t>
            </a:r>
            <a:r>
              <a:rPr lang="en-GB" dirty="0">
                <a:latin typeface="Arial" pitchFamily="34" charset="0"/>
                <a:cs typeface="Arial" pitchFamily="34" charset="0"/>
              </a:rPr>
              <a:t>,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epi</a:t>
            </a:r>
            <a:r>
              <a:rPr lang="en-GB" dirty="0">
                <a:latin typeface="Arial" pitchFamily="34" charset="0"/>
                <a:cs typeface="Arial" pitchFamily="34" charset="0"/>
              </a:rPr>
              <a:t>,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peri</a:t>
            </a:r>
            <a:r>
              <a:rPr lang="en-GB" dirty="0">
                <a:latin typeface="Arial" pitchFamily="34" charset="0"/>
                <a:cs typeface="Arial" pitchFamily="34" charset="0"/>
              </a:rPr>
              <a:t> and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endomysium</a:t>
            </a:r>
            <a:r>
              <a:rPr lang="en-GB" dirty="0">
                <a:latin typeface="Arial" pitchFamily="34" charset="0"/>
                <a:cs typeface="Arial" pitchFamily="34" charset="0"/>
              </a:rPr>
              <a:t> and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Titin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GB" dirty="0" err="1">
                <a:latin typeface="Arial" pitchFamily="34" charset="0"/>
                <a:cs typeface="Arial" pitchFamily="34" charset="0"/>
              </a:rPr>
              <a:t>Titin</a:t>
            </a:r>
            <a:r>
              <a:rPr lang="en-GB" dirty="0">
                <a:latin typeface="Arial" pitchFamily="34" charset="0"/>
                <a:cs typeface="Arial" pitchFamily="34" charset="0"/>
              </a:rPr>
              <a:t> thought to be responsible for elasticity</a:t>
            </a:r>
          </a:p>
          <a:p>
            <a:pPr lvl="1"/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Series Elastic Component (SEC)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“smoothing out rapid changes” (Alter, 2004) - mediator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Passive – Primarily tendon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Active – Cross bridges between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actin</a:t>
            </a:r>
            <a:r>
              <a:rPr lang="en-GB" dirty="0">
                <a:latin typeface="Arial" pitchFamily="34" charset="0"/>
                <a:cs typeface="Arial" pitchFamily="34" charset="0"/>
              </a:rPr>
              <a:t> and myosin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Contractile Component (CC)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The filaments</a:t>
            </a:r>
          </a:p>
          <a:p>
            <a:pPr>
              <a:buNone/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436003"/>
            <a:ext cx="4011698" cy="3087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8898" y="3185684"/>
            <a:ext cx="3881725" cy="3503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Nerve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9348"/>
            <a:ext cx="7467600" cy="4873752"/>
          </a:xfrm>
        </p:spPr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Elastic range 6-20% of resting length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As with any tissue will fail under excessive loading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Nerves need to slide in their sheaths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3 sheaths –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epi</a:t>
            </a:r>
            <a:r>
              <a:rPr lang="en-GB" dirty="0">
                <a:latin typeface="Arial" pitchFamily="34" charset="0"/>
                <a:cs typeface="Arial" pitchFamily="34" charset="0"/>
              </a:rPr>
              <a:t>,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peri</a:t>
            </a:r>
            <a:r>
              <a:rPr lang="en-GB" dirty="0">
                <a:latin typeface="Arial" pitchFamily="34" charset="0"/>
                <a:cs typeface="Arial" pitchFamily="34" charset="0"/>
              </a:rPr>
              <a:t> and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endoneurium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Restriction of this causes ‘Adverse Neural Tension’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4659" y="3626224"/>
            <a:ext cx="30194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What can we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1600200"/>
            <a:ext cx="7987553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>
                <a:latin typeface="Arial" pitchFamily="34" charset="0"/>
                <a:cs typeface="Arial" pitchFamily="34" charset="0"/>
              </a:rPr>
              <a:t>Remember there are acute and chronic effects 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Muscular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Plastic deformation – new resting length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Creep – constant length held leads to lengthening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Stress-relaxation – constant length held leads to relaxation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Neural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Decreased reflexes</a:t>
            </a:r>
          </a:p>
          <a:p>
            <a:pPr lvl="2"/>
            <a:r>
              <a:rPr lang="en-GB" dirty="0">
                <a:latin typeface="Arial" pitchFamily="34" charset="0"/>
                <a:cs typeface="Arial" pitchFamily="34" charset="0"/>
              </a:rPr>
              <a:t>acute i.e. autogenic inhibition – GTO overriding muscle spindles</a:t>
            </a:r>
          </a:p>
          <a:p>
            <a:pPr lvl="2"/>
            <a:r>
              <a:rPr lang="en-GB" dirty="0">
                <a:latin typeface="Arial" pitchFamily="34" charset="0"/>
                <a:cs typeface="Arial" pitchFamily="34" charset="0"/>
              </a:rPr>
              <a:t>Decreased Hoffmann reflex (H-reflex)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Spinal cord plasticity (CNS)</a:t>
            </a:r>
          </a:p>
          <a:p>
            <a:pPr lvl="2"/>
            <a:r>
              <a:rPr lang="en-GB" dirty="0">
                <a:latin typeface="Arial" pitchFamily="34" charset="0"/>
                <a:cs typeface="Arial" pitchFamily="34" charset="0"/>
              </a:rPr>
              <a:t>Spinal cord can be altered through reflexes and learned behaviour</a:t>
            </a:r>
          </a:p>
          <a:p>
            <a:pPr lvl="2"/>
            <a:r>
              <a:rPr lang="en-GB" dirty="0">
                <a:latin typeface="Arial" pitchFamily="34" charset="0"/>
                <a:cs typeface="Arial" pitchFamily="34" charset="0"/>
              </a:rPr>
              <a:t>Reducing the stretch reflex should allow muscle to stretch further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Stress-Strain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Soft tissues can be altered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Stress strain relationship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The stiffer the structure the more force needed to elongate it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Should we stretch at end of elastic or into plastic range?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6988" y="3566602"/>
            <a:ext cx="4454120" cy="3291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What can we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257800"/>
          </a:xfrm>
        </p:spPr>
        <p:txBody>
          <a:bodyPr vert="horz" lIns="91440" tIns="45720" rIns="91440" bIns="45720" anchor="t">
            <a:normAutofit fontScale="92500" lnSpcReduction="10000"/>
          </a:bodyPr>
          <a:lstStyle/>
          <a:p>
            <a:r>
              <a:rPr lang="en-GB" dirty="0">
                <a:latin typeface="Arial"/>
                <a:cs typeface="Arial"/>
              </a:rPr>
              <a:t>Bony changes are not likely after age 11 </a:t>
            </a:r>
            <a:r>
              <a:rPr lang="en-GB" u="sng" dirty="0">
                <a:solidFill>
                  <a:srgbClr val="FF0000"/>
                </a:solidFill>
                <a:latin typeface="Arial"/>
                <a:cs typeface="Arial"/>
              </a:rPr>
              <a:t>(Bennell and Khan, 2001)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Maximal flexibility at age 10-11 then slowly decreasing (Valdivia, 2008)</a:t>
            </a:r>
          </a:p>
          <a:p>
            <a:r>
              <a:rPr lang="en-GB" dirty="0">
                <a:latin typeface="Arial"/>
                <a:cs typeface="Arial"/>
              </a:rPr>
              <a:t>Milne and Mierau (1979) related school sitting position to tight hamstrings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Reflexes associated with flexibility were decreased in dancers (Nielsen </a:t>
            </a:r>
            <a:r>
              <a:rPr lang="en-GB" i="1" dirty="0">
                <a:latin typeface="Arial" pitchFamily="34" charset="0"/>
                <a:cs typeface="Arial" pitchFamily="34" charset="0"/>
              </a:rPr>
              <a:t>et al.</a:t>
            </a:r>
            <a:r>
              <a:rPr lang="en-GB" dirty="0">
                <a:latin typeface="Arial" pitchFamily="34" charset="0"/>
                <a:cs typeface="Arial" pitchFamily="34" charset="0"/>
              </a:rPr>
              <a:t>, 1993)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Caused by “prolonged co-contraction during ballet positions”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Change in composition leading to a tendency to stay in a prolonged state</a:t>
            </a:r>
          </a:p>
          <a:p>
            <a:r>
              <a:rPr lang="en-GB" dirty="0">
                <a:latin typeface="Arial"/>
                <a:cs typeface="Arial"/>
              </a:rPr>
              <a:t>Modified titin within the muscle fibres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Modified myosin chain</a:t>
            </a: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Increased compliance and decreased cross-bridges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Age related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199"/>
            <a:ext cx="7799294" cy="5069541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During growth spurts bones grow quicker than muscle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Increased tension leads to decreased flexibility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Adolescence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Tension causes new 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sarcomeres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pPr lvl="1"/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Muscle changes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As we age our muscle atrophy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Replaced by fatty and fibrous tissue leading to stiffness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Decrease in muscle length with age (</a:t>
            </a:r>
            <a:r>
              <a:rPr lang="en-GB" dirty="0" err="1">
                <a:latin typeface="Arial" pitchFamily="34" charset="0"/>
                <a:cs typeface="Arial" pitchFamily="34" charset="0"/>
              </a:rPr>
              <a:t>Gajdosik</a:t>
            </a:r>
            <a:r>
              <a:rPr lang="en-GB" dirty="0">
                <a:latin typeface="Arial" pitchFamily="34" charset="0"/>
                <a:cs typeface="Arial" pitchFamily="34" charset="0"/>
              </a:rPr>
              <a:t>, 1997 in Alter, 2004)</a:t>
            </a:r>
          </a:p>
          <a:p>
            <a:pPr lvl="1"/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Collagen changes</a:t>
            </a:r>
          </a:p>
          <a:p>
            <a:pPr lvl="1"/>
            <a:r>
              <a:rPr lang="en-GB" dirty="0">
                <a:latin typeface="Arial" pitchFamily="34" charset="0"/>
                <a:cs typeface="Arial" pitchFamily="34" charset="0"/>
              </a:rPr>
              <a:t>Increases rigidity by various methods – Alter (2004, p.41)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Recommended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</a:rPr>
              <a:t>Alter, M.J. (2004) </a:t>
            </a:r>
            <a:r>
              <a:rPr lang="en-GB" i="1" dirty="0">
                <a:latin typeface="Arial" pitchFamily="34" charset="0"/>
                <a:cs typeface="Arial" pitchFamily="34" charset="0"/>
              </a:rPr>
              <a:t>Science of Flexibility, </a:t>
            </a:r>
            <a:r>
              <a:rPr lang="en-GB" dirty="0">
                <a:latin typeface="Arial" pitchFamily="34" charset="0"/>
                <a:cs typeface="Arial" pitchFamily="34" charset="0"/>
              </a:rPr>
              <a:t>Human Kinetics; Champaign, IL, pp.277-8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Oriel.thmx</Template>
  <TotalTime>615</TotalTime>
  <Words>1299</Words>
  <Application>Microsoft Office PowerPoint</Application>
  <PresentationFormat>On-screen Show (4:3)</PresentationFormat>
  <Paragraphs>240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Oriel</vt:lpstr>
      <vt:lpstr>Introduction to Flexibility and Stretching</vt:lpstr>
      <vt:lpstr>Overview</vt:lpstr>
      <vt:lpstr>Flexibility</vt:lpstr>
      <vt:lpstr>Biomechanical Advantage</vt:lpstr>
      <vt:lpstr>Biomechanical Advantage</vt:lpstr>
      <vt:lpstr>Injury</vt:lpstr>
      <vt:lpstr>Restrictions</vt:lpstr>
      <vt:lpstr>Muscle</vt:lpstr>
      <vt:lpstr>PowerPoint Presentation</vt:lpstr>
      <vt:lpstr>Nerve</vt:lpstr>
      <vt:lpstr>What can we change?</vt:lpstr>
      <vt:lpstr>Stress-Strain curve</vt:lpstr>
      <vt:lpstr>What can we change?</vt:lpstr>
      <vt:lpstr>Age related changes</vt:lpstr>
      <vt:lpstr>Recommended Reading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Flexibility</dc:title>
  <dc:creator>Jo Baker</dc:creator>
  <cp:lastModifiedBy>Microsoft Office User</cp:lastModifiedBy>
  <cp:revision>83</cp:revision>
  <dcterms:created xsi:type="dcterms:W3CDTF">2011-07-12T15:04:39Z</dcterms:created>
  <dcterms:modified xsi:type="dcterms:W3CDTF">2023-11-02T16:37:12Z</dcterms:modified>
</cp:coreProperties>
</file>