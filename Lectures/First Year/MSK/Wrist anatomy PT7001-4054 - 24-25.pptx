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474" r:id="rId2"/>
    <p:sldId id="406" r:id="rId3"/>
    <p:sldId id="460" r:id="rId4"/>
    <p:sldId id="419" r:id="rId5"/>
    <p:sldId id="461" r:id="rId6"/>
    <p:sldId id="475" r:id="rId7"/>
    <p:sldId id="476" r:id="rId8"/>
    <p:sldId id="477" r:id="rId9"/>
    <p:sldId id="478" r:id="rId10"/>
    <p:sldId id="480" r:id="rId11"/>
    <p:sldId id="481" r:id="rId12"/>
    <p:sldId id="471" r:id="rId13"/>
    <p:sldId id="440" r:id="rId14"/>
    <p:sldId id="424" r:id="rId15"/>
    <p:sldId id="441" r:id="rId16"/>
    <p:sldId id="442" r:id="rId17"/>
    <p:sldId id="443" r:id="rId18"/>
    <p:sldId id="444" r:id="rId19"/>
    <p:sldId id="484" r:id="rId20"/>
    <p:sldId id="482" r:id="rId21"/>
    <p:sldId id="483" r:id="rId22"/>
    <p:sldId id="479" r:id="rId23"/>
    <p:sldId id="485" r:id="rId24"/>
    <p:sldId id="486" r:id="rId25"/>
    <p:sldId id="487" r:id="rId26"/>
    <p:sldId id="489" r:id="rId27"/>
    <p:sldId id="488"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22A35"/>
    <a:srgbClr val="525252"/>
    <a:srgbClr val="D4EAB8"/>
    <a:srgbClr val="E1CCEC"/>
    <a:srgbClr val="F4D58D"/>
    <a:srgbClr val="A87362"/>
    <a:srgbClr val="E29E8F"/>
    <a:srgbClr val="FBC3A9"/>
    <a:srgbClr val="A6CEE8"/>
    <a:srgbClr val="F9BDA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7843" autoAdjust="0"/>
    <p:restoredTop sz="80000" autoAdjust="0"/>
  </p:normalViewPr>
  <p:slideViewPr>
    <p:cSldViewPr snapToGrid="0">
      <p:cViewPr varScale="1">
        <p:scale>
          <a:sx n="88" d="100"/>
          <a:sy n="88" d="100"/>
        </p:scale>
        <p:origin x="73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4EF9951-7A27-477A-90ED-9C24BE06A186}" type="datetimeFigureOut">
              <a:rPr lang="en-GB" smtClean="0"/>
              <a:t>21/02/2025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6B64D8B-4CC5-402D-A151-B3E8152E5330}" type="slidenum">
              <a:rPr lang="en-GB" smtClean="0"/>
              <a:t>‹#›</a:t>
            </a:fld>
            <a:endParaRPr lang="en-GB"/>
          </a:p>
        </p:txBody>
      </p:sp>
    </p:spTree>
    <p:extLst>
      <p:ext uri="{BB962C8B-B14F-4D97-AF65-F5344CB8AC3E}">
        <p14:creationId xmlns:p14="http://schemas.microsoft.com/office/powerpoint/2010/main" val="21667851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9CC15EA-E8F8-4AE6-B596-8F7295FA54C3}" type="slidenum">
              <a:rPr lang="en-GB" smtClean="0"/>
              <a:t>2</a:t>
            </a:fld>
            <a:endParaRPr lang="en-GB"/>
          </a:p>
        </p:txBody>
      </p:sp>
    </p:spTree>
    <p:extLst>
      <p:ext uri="{BB962C8B-B14F-4D97-AF65-F5344CB8AC3E}">
        <p14:creationId xmlns:p14="http://schemas.microsoft.com/office/powerpoint/2010/main" val="8829746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sz="1200" b="1" dirty="0"/>
          </a:p>
        </p:txBody>
      </p:sp>
      <p:sp>
        <p:nvSpPr>
          <p:cNvPr id="4" name="Slide Number Placeholder 3"/>
          <p:cNvSpPr>
            <a:spLocks noGrp="1"/>
          </p:cNvSpPr>
          <p:nvPr>
            <p:ph type="sldNum" sz="quarter" idx="10"/>
          </p:nvPr>
        </p:nvSpPr>
        <p:spPr/>
        <p:txBody>
          <a:bodyPr/>
          <a:lstStyle/>
          <a:p>
            <a:fld id="{69CC15EA-E8F8-4AE6-B596-8F7295FA54C3}" type="slidenum">
              <a:rPr lang="en-GB" smtClean="0"/>
              <a:t>3</a:t>
            </a:fld>
            <a:endParaRPr lang="en-GB"/>
          </a:p>
        </p:txBody>
      </p:sp>
    </p:spTree>
    <p:extLst>
      <p:ext uri="{BB962C8B-B14F-4D97-AF65-F5344CB8AC3E}">
        <p14:creationId xmlns:p14="http://schemas.microsoft.com/office/powerpoint/2010/main" val="31428569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sz="1200" b="1" dirty="0"/>
          </a:p>
        </p:txBody>
      </p:sp>
      <p:sp>
        <p:nvSpPr>
          <p:cNvPr id="4" name="Slide Number Placeholder 3"/>
          <p:cNvSpPr>
            <a:spLocks noGrp="1"/>
          </p:cNvSpPr>
          <p:nvPr>
            <p:ph type="sldNum" sz="quarter" idx="10"/>
          </p:nvPr>
        </p:nvSpPr>
        <p:spPr/>
        <p:txBody>
          <a:bodyPr/>
          <a:lstStyle/>
          <a:p>
            <a:fld id="{69CC15EA-E8F8-4AE6-B596-8F7295FA54C3}" type="slidenum">
              <a:rPr lang="en-GB" smtClean="0"/>
              <a:t>4</a:t>
            </a:fld>
            <a:endParaRPr lang="en-GB"/>
          </a:p>
        </p:txBody>
      </p:sp>
    </p:spTree>
    <p:extLst>
      <p:ext uri="{BB962C8B-B14F-4D97-AF65-F5344CB8AC3E}">
        <p14:creationId xmlns:p14="http://schemas.microsoft.com/office/powerpoint/2010/main" val="15922354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sz="1200" b="1" dirty="0"/>
          </a:p>
        </p:txBody>
      </p:sp>
      <p:sp>
        <p:nvSpPr>
          <p:cNvPr id="4" name="Slide Number Placeholder 3"/>
          <p:cNvSpPr>
            <a:spLocks noGrp="1"/>
          </p:cNvSpPr>
          <p:nvPr>
            <p:ph type="sldNum" sz="quarter" idx="10"/>
          </p:nvPr>
        </p:nvSpPr>
        <p:spPr/>
        <p:txBody>
          <a:bodyPr/>
          <a:lstStyle/>
          <a:p>
            <a:fld id="{69CC15EA-E8F8-4AE6-B596-8F7295FA54C3}" type="slidenum">
              <a:rPr lang="en-GB" smtClean="0"/>
              <a:t>5</a:t>
            </a:fld>
            <a:endParaRPr lang="en-GB"/>
          </a:p>
        </p:txBody>
      </p:sp>
    </p:spTree>
    <p:extLst>
      <p:ext uri="{BB962C8B-B14F-4D97-AF65-F5344CB8AC3E}">
        <p14:creationId xmlns:p14="http://schemas.microsoft.com/office/powerpoint/2010/main" val="34958747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0A59F6-31F3-001B-9904-280880A24C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8D84E8-FB2B-AC1E-524F-F3B0C4B8C5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A6CAF3-3FB5-B2D2-32E1-E46FF3FBF1C0}"/>
              </a:ext>
            </a:extLst>
          </p:cNvPr>
          <p:cNvSpPr>
            <a:spLocks noGrp="1"/>
          </p:cNvSpPr>
          <p:nvPr>
            <p:ph type="body" idx="1"/>
          </p:nvPr>
        </p:nvSpPr>
        <p:spPr/>
        <p:txBody>
          <a:bodyPr/>
          <a:lstStyle/>
          <a:p>
            <a:endParaRPr lang="en-GB" sz="1200" b="1" dirty="0"/>
          </a:p>
        </p:txBody>
      </p:sp>
      <p:sp>
        <p:nvSpPr>
          <p:cNvPr id="4" name="Slide Number Placeholder 3">
            <a:extLst>
              <a:ext uri="{FF2B5EF4-FFF2-40B4-BE49-F238E27FC236}">
                <a16:creationId xmlns:a16="http://schemas.microsoft.com/office/drawing/2014/main" id="{3A42E731-3E11-A138-1554-BC2BCCB459C7}"/>
              </a:ext>
            </a:extLst>
          </p:cNvPr>
          <p:cNvSpPr>
            <a:spLocks noGrp="1"/>
          </p:cNvSpPr>
          <p:nvPr>
            <p:ph type="sldNum" sz="quarter" idx="10"/>
          </p:nvPr>
        </p:nvSpPr>
        <p:spPr/>
        <p:txBody>
          <a:bodyPr/>
          <a:lstStyle/>
          <a:p>
            <a:fld id="{69CC15EA-E8F8-4AE6-B596-8F7295FA54C3}" type="slidenum">
              <a:rPr lang="en-GB" smtClean="0"/>
              <a:t>6</a:t>
            </a:fld>
            <a:endParaRPr lang="en-GB"/>
          </a:p>
        </p:txBody>
      </p:sp>
    </p:spTree>
    <p:extLst>
      <p:ext uri="{BB962C8B-B14F-4D97-AF65-F5344CB8AC3E}">
        <p14:creationId xmlns:p14="http://schemas.microsoft.com/office/powerpoint/2010/main" val="22459559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03B314-241D-7336-209B-E28724ACD1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E94B5E-8998-CA66-8982-4E4D11F76C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48B8C0-11A2-6253-25DB-BA88569C7B96}"/>
              </a:ext>
            </a:extLst>
          </p:cNvPr>
          <p:cNvSpPr>
            <a:spLocks noGrp="1"/>
          </p:cNvSpPr>
          <p:nvPr>
            <p:ph type="body" idx="1"/>
          </p:nvPr>
        </p:nvSpPr>
        <p:spPr/>
        <p:txBody>
          <a:bodyPr/>
          <a:lstStyle/>
          <a:p>
            <a:endParaRPr lang="en-GB" sz="1200" b="1" dirty="0"/>
          </a:p>
        </p:txBody>
      </p:sp>
      <p:sp>
        <p:nvSpPr>
          <p:cNvPr id="4" name="Slide Number Placeholder 3">
            <a:extLst>
              <a:ext uri="{FF2B5EF4-FFF2-40B4-BE49-F238E27FC236}">
                <a16:creationId xmlns:a16="http://schemas.microsoft.com/office/drawing/2014/main" id="{AC3EBA21-3FBA-798A-CC69-E2EDBACAE15E}"/>
              </a:ext>
            </a:extLst>
          </p:cNvPr>
          <p:cNvSpPr>
            <a:spLocks noGrp="1"/>
          </p:cNvSpPr>
          <p:nvPr>
            <p:ph type="sldNum" sz="quarter" idx="10"/>
          </p:nvPr>
        </p:nvSpPr>
        <p:spPr/>
        <p:txBody>
          <a:bodyPr/>
          <a:lstStyle/>
          <a:p>
            <a:fld id="{69CC15EA-E8F8-4AE6-B596-8F7295FA54C3}" type="slidenum">
              <a:rPr lang="en-GB" smtClean="0"/>
              <a:t>7</a:t>
            </a:fld>
            <a:endParaRPr lang="en-GB"/>
          </a:p>
        </p:txBody>
      </p:sp>
    </p:spTree>
    <p:extLst>
      <p:ext uri="{BB962C8B-B14F-4D97-AF65-F5344CB8AC3E}">
        <p14:creationId xmlns:p14="http://schemas.microsoft.com/office/powerpoint/2010/main" val="29687633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16643D-77C9-7B15-58D6-F4F171C2FE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73CEA3-D380-338D-62C1-CA8301190C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ACB1FF-7A9A-BE66-4B1F-B5E84D6D9A3B}"/>
              </a:ext>
            </a:extLst>
          </p:cNvPr>
          <p:cNvSpPr>
            <a:spLocks noGrp="1"/>
          </p:cNvSpPr>
          <p:nvPr>
            <p:ph type="body" idx="1"/>
          </p:nvPr>
        </p:nvSpPr>
        <p:spPr/>
        <p:txBody>
          <a:bodyPr/>
          <a:lstStyle/>
          <a:p>
            <a:endParaRPr lang="en-GB" sz="1200" b="1" dirty="0"/>
          </a:p>
        </p:txBody>
      </p:sp>
      <p:sp>
        <p:nvSpPr>
          <p:cNvPr id="4" name="Slide Number Placeholder 3">
            <a:extLst>
              <a:ext uri="{FF2B5EF4-FFF2-40B4-BE49-F238E27FC236}">
                <a16:creationId xmlns:a16="http://schemas.microsoft.com/office/drawing/2014/main" id="{46C1948D-D51C-5D94-646D-30C474C05058}"/>
              </a:ext>
            </a:extLst>
          </p:cNvPr>
          <p:cNvSpPr>
            <a:spLocks noGrp="1"/>
          </p:cNvSpPr>
          <p:nvPr>
            <p:ph type="sldNum" sz="quarter" idx="10"/>
          </p:nvPr>
        </p:nvSpPr>
        <p:spPr/>
        <p:txBody>
          <a:bodyPr/>
          <a:lstStyle/>
          <a:p>
            <a:fld id="{69CC15EA-E8F8-4AE6-B596-8F7295FA54C3}" type="slidenum">
              <a:rPr lang="en-GB" smtClean="0"/>
              <a:t>8</a:t>
            </a:fld>
            <a:endParaRPr lang="en-GB"/>
          </a:p>
        </p:txBody>
      </p:sp>
    </p:spTree>
    <p:extLst>
      <p:ext uri="{BB962C8B-B14F-4D97-AF65-F5344CB8AC3E}">
        <p14:creationId xmlns:p14="http://schemas.microsoft.com/office/powerpoint/2010/main" val="14016697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837EE9-E22E-D324-6C2E-FFD830ABC3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9A27EA-5287-084B-EB1A-0738E5EA2F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3BC1C7-7193-923F-474C-A5899196DBA6}"/>
              </a:ext>
            </a:extLst>
          </p:cNvPr>
          <p:cNvSpPr>
            <a:spLocks noGrp="1"/>
          </p:cNvSpPr>
          <p:nvPr>
            <p:ph type="body" idx="1"/>
          </p:nvPr>
        </p:nvSpPr>
        <p:spPr/>
        <p:txBody>
          <a:bodyPr/>
          <a:lstStyle/>
          <a:p>
            <a:endParaRPr lang="en-GB" sz="1200" b="1" dirty="0"/>
          </a:p>
        </p:txBody>
      </p:sp>
      <p:sp>
        <p:nvSpPr>
          <p:cNvPr id="4" name="Slide Number Placeholder 3">
            <a:extLst>
              <a:ext uri="{FF2B5EF4-FFF2-40B4-BE49-F238E27FC236}">
                <a16:creationId xmlns:a16="http://schemas.microsoft.com/office/drawing/2014/main" id="{DEC6A2A5-BD6B-60EF-7709-CB35C6BEF748}"/>
              </a:ext>
            </a:extLst>
          </p:cNvPr>
          <p:cNvSpPr>
            <a:spLocks noGrp="1"/>
          </p:cNvSpPr>
          <p:nvPr>
            <p:ph type="sldNum" sz="quarter" idx="10"/>
          </p:nvPr>
        </p:nvSpPr>
        <p:spPr/>
        <p:txBody>
          <a:bodyPr/>
          <a:lstStyle/>
          <a:p>
            <a:fld id="{69CC15EA-E8F8-4AE6-B596-8F7295FA54C3}" type="slidenum">
              <a:rPr lang="en-GB" smtClean="0"/>
              <a:t>9</a:t>
            </a:fld>
            <a:endParaRPr lang="en-GB"/>
          </a:p>
        </p:txBody>
      </p:sp>
    </p:spTree>
    <p:extLst>
      <p:ext uri="{BB962C8B-B14F-4D97-AF65-F5344CB8AC3E}">
        <p14:creationId xmlns:p14="http://schemas.microsoft.com/office/powerpoint/2010/main" val="32844310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9FA8C6-62B2-8548-76DC-CC5E98A533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773C07-4800-7448-6EFA-6190E285C5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0F3435-DCBF-113B-01D2-2FBBE09C76E7}"/>
              </a:ext>
            </a:extLst>
          </p:cNvPr>
          <p:cNvSpPr>
            <a:spLocks noGrp="1"/>
          </p:cNvSpPr>
          <p:nvPr>
            <p:ph type="body" idx="1"/>
          </p:nvPr>
        </p:nvSpPr>
        <p:spPr/>
        <p:txBody>
          <a:bodyPr/>
          <a:lstStyle/>
          <a:p>
            <a:endParaRPr lang="en-GB" sz="1200" b="1" dirty="0"/>
          </a:p>
        </p:txBody>
      </p:sp>
      <p:sp>
        <p:nvSpPr>
          <p:cNvPr id="4" name="Slide Number Placeholder 3">
            <a:extLst>
              <a:ext uri="{FF2B5EF4-FFF2-40B4-BE49-F238E27FC236}">
                <a16:creationId xmlns:a16="http://schemas.microsoft.com/office/drawing/2014/main" id="{63CB3320-E7A4-AB33-38BD-24D0BE62119E}"/>
              </a:ext>
            </a:extLst>
          </p:cNvPr>
          <p:cNvSpPr>
            <a:spLocks noGrp="1"/>
          </p:cNvSpPr>
          <p:nvPr>
            <p:ph type="sldNum" sz="quarter" idx="10"/>
          </p:nvPr>
        </p:nvSpPr>
        <p:spPr/>
        <p:txBody>
          <a:bodyPr/>
          <a:lstStyle/>
          <a:p>
            <a:fld id="{69CC15EA-E8F8-4AE6-B596-8F7295FA54C3}" type="slidenum">
              <a:rPr lang="en-GB" smtClean="0"/>
              <a:t>10</a:t>
            </a:fld>
            <a:endParaRPr lang="en-GB"/>
          </a:p>
        </p:txBody>
      </p:sp>
    </p:spTree>
    <p:extLst>
      <p:ext uri="{BB962C8B-B14F-4D97-AF65-F5344CB8AC3E}">
        <p14:creationId xmlns:p14="http://schemas.microsoft.com/office/powerpoint/2010/main" val="38610371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D22873-6186-A922-9CE8-E730CD3327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B50674-ACC0-2DC6-2ECA-86A786140E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B29F15-7F6C-95A9-7D75-20EEBDFF1D1F}"/>
              </a:ext>
            </a:extLst>
          </p:cNvPr>
          <p:cNvSpPr>
            <a:spLocks noGrp="1"/>
          </p:cNvSpPr>
          <p:nvPr>
            <p:ph type="body" idx="1"/>
          </p:nvPr>
        </p:nvSpPr>
        <p:spPr/>
        <p:txBody>
          <a:bodyPr/>
          <a:lstStyle/>
          <a:p>
            <a:endParaRPr lang="en-GB" sz="1200" b="1" dirty="0"/>
          </a:p>
        </p:txBody>
      </p:sp>
      <p:sp>
        <p:nvSpPr>
          <p:cNvPr id="4" name="Slide Number Placeholder 3">
            <a:extLst>
              <a:ext uri="{FF2B5EF4-FFF2-40B4-BE49-F238E27FC236}">
                <a16:creationId xmlns:a16="http://schemas.microsoft.com/office/drawing/2014/main" id="{80BFA87A-7B4E-4C11-0A39-4DF7453CEC48}"/>
              </a:ext>
            </a:extLst>
          </p:cNvPr>
          <p:cNvSpPr>
            <a:spLocks noGrp="1"/>
          </p:cNvSpPr>
          <p:nvPr>
            <p:ph type="sldNum" sz="quarter" idx="10"/>
          </p:nvPr>
        </p:nvSpPr>
        <p:spPr/>
        <p:txBody>
          <a:bodyPr/>
          <a:lstStyle/>
          <a:p>
            <a:fld id="{69CC15EA-E8F8-4AE6-B596-8F7295FA54C3}" type="slidenum">
              <a:rPr lang="en-GB" smtClean="0"/>
              <a:t>11</a:t>
            </a:fld>
            <a:endParaRPr lang="en-GB"/>
          </a:p>
        </p:txBody>
      </p:sp>
    </p:spTree>
    <p:extLst>
      <p:ext uri="{BB962C8B-B14F-4D97-AF65-F5344CB8AC3E}">
        <p14:creationId xmlns:p14="http://schemas.microsoft.com/office/powerpoint/2010/main" val="37232560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Can be divided up into intrinsic and extrinsic muscles </a:t>
            </a:r>
          </a:p>
        </p:txBody>
      </p:sp>
      <p:sp>
        <p:nvSpPr>
          <p:cNvPr id="4" name="Slide Number Placeholder 3"/>
          <p:cNvSpPr>
            <a:spLocks noGrp="1"/>
          </p:cNvSpPr>
          <p:nvPr>
            <p:ph type="sldNum" sz="quarter" idx="10"/>
          </p:nvPr>
        </p:nvSpPr>
        <p:spPr/>
        <p:txBody>
          <a:bodyPr/>
          <a:lstStyle/>
          <a:p>
            <a:fld id="{69CC15EA-E8F8-4AE6-B596-8F7295FA54C3}" type="slidenum">
              <a:rPr lang="en-GB" smtClean="0"/>
              <a:t>13</a:t>
            </a:fld>
            <a:endParaRPr lang="en-GB"/>
          </a:p>
        </p:txBody>
      </p:sp>
    </p:spTree>
    <p:extLst>
      <p:ext uri="{BB962C8B-B14F-4D97-AF65-F5344CB8AC3E}">
        <p14:creationId xmlns:p14="http://schemas.microsoft.com/office/powerpoint/2010/main" val="18207627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9CC15EA-E8F8-4AE6-B596-8F7295FA54C3}" type="slidenum">
              <a:rPr lang="en-GB" smtClean="0"/>
              <a:t>14</a:t>
            </a:fld>
            <a:endParaRPr lang="en-GB"/>
          </a:p>
        </p:txBody>
      </p:sp>
    </p:spTree>
    <p:extLst>
      <p:ext uri="{BB962C8B-B14F-4D97-AF65-F5344CB8AC3E}">
        <p14:creationId xmlns:p14="http://schemas.microsoft.com/office/powerpoint/2010/main" val="799055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9CC15EA-E8F8-4AE6-B596-8F7295FA54C3}" type="slidenum">
              <a:rPr lang="en-GB" smtClean="0"/>
              <a:t>15</a:t>
            </a:fld>
            <a:endParaRPr lang="en-GB"/>
          </a:p>
        </p:txBody>
      </p:sp>
    </p:spTree>
    <p:extLst>
      <p:ext uri="{BB962C8B-B14F-4D97-AF65-F5344CB8AC3E}">
        <p14:creationId xmlns:p14="http://schemas.microsoft.com/office/powerpoint/2010/main" val="5777505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9CC15EA-E8F8-4AE6-B596-8F7295FA54C3}" type="slidenum">
              <a:rPr lang="en-GB" smtClean="0"/>
              <a:t>16</a:t>
            </a:fld>
            <a:endParaRPr lang="en-GB"/>
          </a:p>
        </p:txBody>
      </p:sp>
    </p:spTree>
    <p:extLst>
      <p:ext uri="{BB962C8B-B14F-4D97-AF65-F5344CB8AC3E}">
        <p14:creationId xmlns:p14="http://schemas.microsoft.com/office/powerpoint/2010/main" val="35903291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9CC15EA-E8F8-4AE6-B596-8F7295FA54C3}" type="slidenum">
              <a:rPr lang="en-GB" smtClean="0"/>
              <a:t>17</a:t>
            </a:fld>
            <a:endParaRPr lang="en-GB"/>
          </a:p>
        </p:txBody>
      </p:sp>
    </p:spTree>
    <p:extLst>
      <p:ext uri="{BB962C8B-B14F-4D97-AF65-F5344CB8AC3E}">
        <p14:creationId xmlns:p14="http://schemas.microsoft.com/office/powerpoint/2010/main" val="21971666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9CC15EA-E8F8-4AE6-B596-8F7295FA54C3}" type="slidenum">
              <a:rPr lang="en-GB" smtClean="0"/>
              <a:t>18</a:t>
            </a:fld>
            <a:endParaRPr lang="en-GB"/>
          </a:p>
        </p:txBody>
      </p:sp>
    </p:spTree>
    <p:extLst>
      <p:ext uri="{BB962C8B-B14F-4D97-AF65-F5344CB8AC3E}">
        <p14:creationId xmlns:p14="http://schemas.microsoft.com/office/powerpoint/2010/main" val="10550502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D17ECB-2481-75AF-9DC6-F9E8727312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0D3CC8-E1FC-61CB-6E09-CF0F879160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FD5170-0207-1143-6664-902E5E955E0E}"/>
              </a:ext>
            </a:extLst>
          </p:cNvPr>
          <p:cNvSpPr>
            <a:spLocks noGrp="1"/>
          </p:cNvSpPr>
          <p:nvPr>
            <p:ph type="body" idx="1"/>
          </p:nvPr>
        </p:nvSpPr>
        <p:spPr/>
        <p:txBody>
          <a:bodyPr/>
          <a:lstStyle/>
          <a:p>
            <a:endParaRPr lang="en-GB" sz="1200" b="1" dirty="0"/>
          </a:p>
        </p:txBody>
      </p:sp>
      <p:sp>
        <p:nvSpPr>
          <p:cNvPr id="4" name="Slide Number Placeholder 3">
            <a:extLst>
              <a:ext uri="{FF2B5EF4-FFF2-40B4-BE49-F238E27FC236}">
                <a16:creationId xmlns:a16="http://schemas.microsoft.com/office/drawing/2014/main" id="{32F57C02-7A91-1654-2C38-C5E5A9A55E67}"/>
              </a:ext>
            </a:extLst>
          </p:cNvPr>
          <p:cNvSpPr>
            <a:spLocks noGrp="1"/>
          </p:cNvSpPr>
          <p:nvPr>
            <p:ph type="sldNum" sz="quarter" idx="10"/>
          </p:nvPr>
        </p:nvSpPr>
        <p:spPr/>
        <p:txBody>
          <a:bodyPr/>
          <a:lstStyle/>
          <a:p>
            <a:fld id="{69CC15EA-E8F8-4AE6-B596-8F7295FA54C3}" type="slidenum">
              <a:rPr lang="en-GB" smtClean="0"/>
              <a:t>20</a:t>
            </a:fld>
            <a:endParaRPr lang="en-GB"/>
          </a:p>
        </p:txBody>
      </p:sp>
    </p:spTree>
    <p:extLst>
      <p:ext uri="{BB962C8B-B14F-4D97-AF65-F5344CB8AC3E}">
        <p14:creationId xmlns:p14="http://schemas.microsoft.com/office/powerpoint/2010/main" val="315840580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E35B2F-0006-6FE1-3F04-F0F6D383FB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F9D7B1-6C15-51FA-05FB-83F3F68771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D835D4-7011-3B96-0783-C113D5D1BCC8}"/>
              </a:ext>
            </a:extLst>
          </p:cNvPr>
          <p:cNvSpPr>
            <a:spLocks noGrp="1"/>
          </p:cNvSpPr>
          <p:nvPr>
            <p:ph type="body" idx="1"/>
          </p:nvPr>
        </p:nvSpPr>
        <p:spPr/>
        <p:txBody>
          <a:bodyPr/>
          <a:lstStyle/>
          <a:p>
            <a:endParaRPr lang="en-GB" sz="1200" b="1" dirty="0"/>
          </a:p>
        </p:txBody>
      </p:sp>
      <p:sp>
        <p:nvSpPr>
          <p:cNvPr id="4" name="Slide Number Placeholder 3">
            <a:extLst>
              <a:ext uri="{FF2B5EF4-FFF2-40B4-BE49-F238E27FC236}">
                <a16:creationId xmlns:a16="http://schemas.microsoft.com/office/drawing/2014/main" id="{4E170B09-EF04-A0D7-F4FA-1DA0001DF9F6}"/>
              </a:ext>
            </a:extLst>
          </p:cNvPr>
          <p:cNvSpPr>
            <a:spLocks noGrp="1"/>
          </p:cNvSpPr>
          <p:nvPr>
            <p:ph type="sldNum" sz="quarter" idx="10"/>
          </p:nvPr>
        </p:nvSpPr>
        <p:spPr/>
        <p:txBody>
          <a:bodyPr/>
          <a:lstStyle/>
          <a:p>
            <a:fld id="{69CC15EA-E8F8-4AE6-B596-8F7295FA54C3}" type="slidenum">
              <a:rPr lang="en-GB" smtClean="0"/>
              <a:t>21</a:t>
            </a:fld>
            <a:endParaRPr lang="en-GB"/>
          </a:p>
        </p:txBody>
      </p:sp>
    </p:spTree>
    <p:extLst>
      <p:ext uri="{BB962C8B-B14F-4D97-AF65-F5344CB8AC3E}">
        <p14:creationId xmlns:p14="http://schemas.microsoft.com/office/powerpoint/2010/main" val="401357090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1C86B-A94C-EB59-72E2-2A6CA86BB6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E70834-B142-4ADB-6047-F6F4021E6E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54E694-52BB-B477-E5CB-8E82DF38357C}"/>
              </a:ext>
            </a:extLst>
          </p:cNvPr>
          <p:cNvSpPr>
            <a:spLocks noGrp="1"/>
          </p:cNvSpPr>
          <p:nvPr>
            <p:ph type="body" idx="1"/>
          </p:nvPr>
        </p:nvSpPr>
        <p:spPr/>
        <p:txBody>
          <a:bodyPr/>
          <a:lstStyle/>
          <a:p>
            <a:endParaRPr lang="en-GB" sz="1200" b="1" dirty="0"/>
          </a:p>
        </p:txBody>
      </p:sp>
      <p:sp>
        <p:nvSpPr>
          <p:cNvPr id="4" name="Slide Number Placeholder 3">
            <a:extLst>
              <a:ext uri="{FF2B5EF4-FFF2-40B4-BE49-F238E27FC236}">
                <a16:creationId xmlns:a16="http://schemas.microsoft.com/office/drawing/2014/main" id="{91F4278B-C9BA-9B0A-F973-0528116A25F9}"/>
              </a:ext>
            </a:extLst>
          </p:cNvPr>
          <p:cNvSpPr>
            <a:spLocks noGrp="1"/>
          </p:cNvSpPr>
          <p:nvPr>
            <p:ph type="sldNum" sz="quarter" idx="10"/>
          </p:nvPr>
        </p:nvSpPr>
        <p:spPr/>
        <p:txBody>
          <a:bodyPr/>
          <a:lstStyle/>
          <a:p>
            <a:fld id="{69CC15EA-E8F8-4AE6-B596-8F7295FA54C3}" type="slidenum">
              <a:rPr lang="en-GB" smtClean="0"/>
              <a:t>22</a:t>
            </a:fld>
            <a:endParaRPr lang="en-GB"/>
          </a:p>
        </p:txBody>
      </p:sp>
    </p:spTree>
    <p:extLst>
      <p:ext uri="{BB962C8B-B14F-4D97-AF65-F5344CB8AC3E}">
        <p14:creationId xmlns:p14="http://schemas.microsoft.com/office/powerpoint/2010/main" val="257861579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4289F2-57F8-0849-8F71-9743494ECA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3F49F4-6AB8-C1B9-2A1E-CE21747048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86215D-0525-F9A6-40C7-A4667F780A63}"/>
              </a:ext>
            </a:extLst>
          </p:cNvPr>
          <p:cNvSpPr>
            <a:spLocks noGrp="1"/>
          </p:cNvSpPr>
          <p:nvPr>
            <p:ph type="body" idx="1"/>
          </p:nvPr>
        </p:nvSpPr>
        <p:spPr/>
        <p:txBody>
          <a:bodyPr/>
          <a:lstStyle/>
          <a:p>
            <a:endParaRPr lang="en-GB" sz="1200" b="1" dirty="0"/>
          </a:p>
        </p:txBody>
      </p:sp>
      <p:sp>
        <p:nvSpPr>
          <p:cNvPr id="4" name="Slide Number Placeholder 3">
            <a:extLst>
              <a:ext uri="{FF2B5EF4-FFF2-40B4-BE49-F238E27FC236}">
                <a16:creationId xmlns:a16="http://schemas.microsoft.com/office/drawing/2014/main" id="{622795B6-15F7-6749-BE9B-48417231BFE5}"/>
              </a:ext>
            </a:extLst>
          </p:cNvPr>
          <p:cNvSpPr>
            <a:spLocks noGrp="1"/>
          </p:cNvSpPr>
          <p:nvPr>
            <p:ph type="sldNum" sz="quarter" idx="10"/>
          </p:nvPr>
        </p:nvSpPr>
        <p:spPr/>
        <p:txBody>
          <a:bodyPr/>
          <a:lstStyle/>
          <a:p>
            <a:fld id="{69CC15EA-E8F8-4AE6-B596-8F7295FA54C3}" type="slidenum">
              <a:rPr lang="en-GB" smtClean="0"/>
              <a:t>23</a:t>
            </a:fld>
            <a:endParaRPr lang="en-GB"/>
          </a:p>
        </p:txBody>
      </p:sp>
    </p:spTree>
    <p:extLst>
      <p:ext uri="{BB962C8B-B14F-4D97-AF65-F5344CB8AC3E}">
        <p14:creationId xmlns:p14="http://schemas.microsoft.com/office/powerpoint/2010/main" val="36959069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898264-6A41-29CC-A25F-0950342688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854E45-9442-7EDE-2D7C-CEE4BA1991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51F90B-0E05-F2F1-9036-0C1112854F3C}"/>
              </a:ext>
            </a:extLst>
          </p:cNvPr>
          <p:cNvSpPr>
            <a:spLocks noGrp="1"/>
          </p:cNvSpPr>
          <p:nvPr>
            <p:ph type="body" idx="1"/>
          </p:nvPr>
        </p:nvSpPr>
        <p:spPr/>
        <p:txBody>
          <a:bodyPr/>
          <a:lstStyle/>
          <a:p>
            <a:endParaRPr lang="en-GB" sz="1200" b="1" dirty="0"/>
          </a:p>
        </p:txBody>
      </p:sp>
      <p:sp>
        <p:nvSpPr>
          <p:cNvPr id="4" name="Slide Number Placeholder 3">
            <a:extLst>
              <a:ext uri="{FF2B5EF4-FFF2-40B4-BE49-F238E27FC236}">
                <a16:creationId xmlns:a16="http://schemas.microsoft.com/office/drawing/2014/main" id="{357F2A9A-7A68-4918-0D67-61951C5E0923}"/>
              </a:ext>
            </a:extLst>
          </p:cNvPr>
          <p:cNvSpPr>
            <a:spLocks noGrp="1"/>
          </p:cNvSpPr>
          <p:nvPr>
            <p:ph type="sldNum" sz="quarter" idx="10"/>
          </p:nvPr>
        </p:nvSpPr>
        <p:spPr/>
        <p:txBody>
          <a:bodyPr/>
          <a:lstStyle/>
          <a:p>
            <a:fld id="{69CC15EA-E8F8-4AE6-B596-8F7295FA54C3}" type="slidenum">
              <a:rPr lang="en-GB" smtClean="0"/>
              <a:t>24</a:t>
            </a:fld>
            <a:endParaRPr lang="en-GB"/>
          </a:p>
        </p:txBody>
      </p:sp>
    </p:spTree>
    <p:extLst>
      <p:ext uri="{BB962C8B-B14F-4D97-AF65-F5344CB8AC3E}">
        <p14:creationId xmlns:p14="http://schemas.microsoft.com/office/powerpoint/2010/main" val="17345569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04D1607B-1B4E-47C1-BC71-B8AA73963BFE}" type="datetimeFigureOut">
              <a:rPr lang="en-GB" smtClean="0"/>
              <a:t>21/02/2025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73F03D0-610E-4E12-945A-6B570D36E339}" type="slidenum">
              <a:rPr lang="en-GB" smtClean="0"/>
              <a:t>‹#›</a:t>
            </a:fld>
            <a:endParaRPr lang="en-GB"/>
          </a:p>
        </p:txBody>
      </p:sp>
    </p:spTree>
    <p:extLst>
      <p:ext uri="{BB962C8B-B14F-4D97-AF65-F5344CB8AC3E}">
        <p14:creationId xmlns:p14="http://schemas.microsoft.com/office/powerpoint/2010/main" val="7238020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04D1607B-1B4E-47C1-BC71-B8AA73963BFE}" type="datetimeFigureOut">
              <a:rPr lang="en-GB" smtClean="0"/>
              <a:t>21/02/2025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73F03D0-610E-4E12-945A-6B570D36E339}" type="slidenum">
              <a:rPr lang="en-GB" smtClean="0"/>
              <a:t>‹#›</a:t>
            </a:fld>
            <a:endParaRPr lang="en-GB"/>
          </a:p>
        </p:txBody>
      </p:sp>
    </p:spTree>
    <p:extLst>
      <p:ext uri="{BB962C8B-B14F-4D97-AF65-F5344CB8AC3E}">
        <p14:creationId xmlns:p14="http://schemas.microsoft.com/office/powerpoint/2010/main" val="10572852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4D1607B-1B4E-47C1-BC71-B8AA73963BFE}" type="datetimeFigureOut">
              <a:rPr lang="en-GB" smtClean="0"/>
              <a:t>21/02/2025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73F03D0-610E-4E12-945A-6B570D36E339}" type="slidenum">
              <a:rPr lang="en-GB" smtClean="0"/>
              <a:t>‹#›</a:t>
            </a:fld>
            <a:endParaRPr lang="en-GB"/>
          </a:p>
        </p:txBody>
      </p:sp>
    </p:spTree>
    <p:extLst>
      <p:ext uri="{BB962C8B-B14F-4D97-AF65-F5344CB8AC3E}">
        <p14:creationId xmlns:p14="http://schemas.microsoft.com/office/powerpoint/2010/main" val="5960087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04D1607B-1B4E-47C1-BC71-B8AA73963BFE}" type="datetimeFigureOut">
              <a:rPr lang="en-GB" smtClean="0"/>
              <a:t>21/02/2025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B73F03D0-610E-4E12-945A-6B570D36E339}" type="slidenum">
              <a:rPr lang="en-GB" smtClean="0"/>
              <a:t>‹#›</a:t>
            </a:fld>
            <a:endParaRPr lang="en-GB"/>
          </a:p>
        </p:txBody>
      </p:sp>
    </p:spTree>
    <p:extLst>
      <p:ext uri="{BB962C8B-B14F-4D97-AF65-F5344CB8AC3E}">
        <p14:creationId xmlns:p14="http://schemas.microsoft.com/office/powerpoint/2010/main" val="5800939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04D1607B-1B4E-47C1-BC71-B8AA73963BFE}" type="datetimeFigureOut">
              <a:rPr lang="en-GB" smtClean="0"/>
              <a:t>21/02/2025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B73F03D0-610E-4E12-945A-6B570D36E339}" type="slidenum">
              <a:rPr lang="en-GB" smtClean="0"/>
              <a:t>‹#›</a:t>
            </a:fld>
            <a:endParaRPr lang="en-GB"/>
          </a:p>
        </p:txBody>
      </p:sp>
    </p:spTree>
    <p:extLst>
      <p:ext uri="{BB962C8B-B14F-4D97-AF65-F5344CB8AC3E}">
        <p14:creationId xmlns:p14="http://schemas.microsoft.com/office/powerpoint/2010/main" val="21692428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04D1607B-1B4E-47C1-BC71-B8AA73963BFE}" type="datetimeFigureOut">
              <a:rPr lang="en-GB" smtClean="0"/>
              <a:t>21/02/2025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B73F03D0-610E-4E12-945A-6B570D36E339}" type="slidenum">
              <a:rPr lang="en-GB" smtClean="0"/>
              <a:t>‹#›</a:t>
            </a:fld>
            <a:endParaRPr lang="en-GB"/>
          </a:p>
        </p:txBody>
      </p:sp>
    </p:spTree>
    <p:extLst>
      <p:ext uri="{BB962C8B-B14F-4D97-AF65-F5344CB8AC3E}">
        <p14:creationId xmlns:p14="http://schemas.microsoft.com/office/powerpoint/2010/main" val="29090714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D1607B-1B4E-47C1-BC71-B8AA73963BFE}" type="datetimeFigureOut">
              <a:rPr lang="en-GB" smtClean="0"/>
              <a:t>21/02/2025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B73F03D0-610E-4E12-945A-6B570D36E339}" type="slidenum">
              <a:rPr lang="en-GB" smtClean="0"/>
              <a:t>‹#›</a:t>
            </a:fld>
            <a:endParaRPr lang="en-GB"/>
          </a:p>
        </p:txBody>
      </p:sp>
    </p:spTree>
    <p:extLst>
      <p:ext uri="{BB962C8B-B14F-4D97-AF65-F5344CB8AC3E}">
        <p14:creationId xmlns:p14="http://schemas.microsoft.com/office/powerpoint/2010/main" val="7905195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4D1607B-1B4E-47C1-BC71-B8AA73963BFE}" type="datetimeFigureOut">
              <a:rPr lang="en-GB" smtClean="0"/>
              <a:t>21/02/2025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B73F03D0-610E-4E12-945A-6B570D36E339}" type="slidenum">
              <a:rPr lang="en-GB" smtClean="0"/>
              <a:t>‹#›</a:t>
            </a:fld>
            <a:endParaRPr lang="en-GB"/>
          </a:p>
        </p:txBody>
      </p:sp>
    </p:spTree>
    <p:extLst>
      <p:ext uri="{BB962C8B-B14F-4D97-AF65-F5344CB8AC3E}">
        <p14:creationId xmlns:p14="http://schemas.microsoft.com/office/powerpoint/2010/main" val="4637703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4D1607B-1B4E-47C1-BC71-B8AA73963BFE}" type="datetimeFigureOut">
              <a:rPr lang="en-GB" smtClean="0"/>
              <a:t>21/02/2025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B73F03D0-610E-4E12-945A-6B570D36E339}" type="slidenum">
              <a:rPr lang="en-GB" smtClean="0"/>
              <a:t>‹#›</a:t>
            </a:fld>
            <a:endParaRPr lang="en-GB"/>
          </a:p>
        </p:txBody>
      </p:sp>
    </p:spTree>
    <p:extLst>
      <p:ext uri="{BB962C8B-B14F-4D97-AF65-F5344CB8AC3E}">
        <p14:creationId xmlns:p14="http://schemas.microsoft.com/office/powerpoint/2010/main" val="16555804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04D1607B-1B4E-47C1-BC71-B8AA73963BFE}" type="datetimeFigureOut">
              <a:rPr lang="en-GB" smtClean="0"/>
              <a:t>21/02/2025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73F03D0-610E-4E12-945A-6B570D36E339}" type="slidenum">
              <a:rPr lang="en-GB" smtClean="0"/>
              <a:t>‹#›</a:t>
            </a:fld>
            <a:endParaRPr lang="en-GB"/>
          </a:p>
        </p:txBody>
      </p:sp>
    </p:spTree>
    <p:extLst>
      <p:ext uri="{BB962C8B-B14F-4D97-AF65-F5344CB8AC3E}">
        <p14:creationId xmlns:p14="http://schemas.microsoft.com/office/powerpoint/2010/main" val="32525797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04D1607B-1B4E-47C1-BC71-B8AA73963BFE}" type="datetimeFigureOut">
              <a:rPr lang="en-GB" smtClean="0"/>
              <a:t>21/02/2025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73F03D0-610E-4E12-945A-6B570D36E339}" type="slidenum">
              <a:rPr lang="en-GB" smtClean="0"/>
              <a:t>‹#›</a:t>
            </a:fld>
            <a:endParaRPr lang="en-GB"/>
          </a:p>
        </p:txBody>
      </p:sp>
    </p:spTree>
    <p:extLst>
      <p:ext uri="{BB962C8B-B14F-4D97-AF65-F5344CB8AC3E}">
        <p14:creationId xmlns:p14="http://schemas.microsoft.com/office/powerpoint/2010/main" val="41663723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4D1607B-1B4E-47C1-BC71-B8AA73963BFE}" type="datetimeFigureOut">
              <a:rPr lang="en-GB" smtClean="0"/>
              <a:t>21/02/2025</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3F03D0-610E-4E12-945A-6B570D36E339}" type="slidenum">
              <a:rPr lang="en-GB" smtClean="0"/>
              <a:t>‹#›</a:t>
            </a:fld>
            <a:endParaRPr lang="en-GB"/>
          </a:p>
        </p:txBody>
      </p:sp>
    </p:spTree>
    <p:extLst>
      <p:ext uri="{BB962C8B-B14F-4D97-AF65-F5344CB8AC3E}">
        <p14:creationId xmlns:p14="http://schemas.microsoft.com/office/powerpoint/2010/main" val="584282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jp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8.jp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8.jpg"/></Relationships>
</file>

<file path=ppt/slides/_rels/slide12.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8.jp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25.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7.jpe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29.jpg"/><Relationship Id="rId4" Type="http://schemas.openxmlformats.org/officeDocument/2006/relationships/image" Target="../media/image28.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29.jpg"/><Relationship Id="rId4" Type="http://schemas.openxmlformats.org/officeDocument/2006/relationships/image" Target="../media/image30.png"/></Relationships>
</file>

<file path=ppt/slides/_rels/slide2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CD0758-5CE9-5D0B-458E-9E9B2A6333D7}"/>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188698E1-3446-C868-3849-53774A609F90}"/>
              </a:ext>
            </a:extLst>
          </p:cNvPr>
          <p:cNvSpPr/>
          <p:nvPr/>
        </p:nvSpPr>
        <p:spPr>
          <a:xfrm>
            <a:off x="0" y="52"/>
            <a:ext cx="12192000" cy="6858000"/>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 name="Picture 5">
            <a:extLst>
              <a:ext uri="{FF2B5EF4-FFF2-40B4-BE49-F238E27FC236}">
                <a16:creationId xmlns:a16="http://schemas.microsoft.com/office/drawing/2014/main" id="{047589B6-7FAE-B2DA-6688-684985E96ED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79100" y="6122508"/>
            <a:ext cx="1688789" cy="434260"/>
          </a:xfrm>
          <a:prstGeom prst="rect">
            <a:avLst/>
          </a:prstGeom>
        </p:spPr>
      </p:pic>
      <p:pic>
        <p:nvPicPr>
          <p:cNvPr id="19" name="Picture 18" descr="COSMOS GRAPHIC WHITE.png">
            <a:extLst>
              <a:ext uri="{FF2B5EF4-FFF2-40B4-BE49-F238E27FC236}">
                <a16:creationId xmlns:a16="http://schemas.microsoft.com/office/drawing/2014/main" id="{38CC5464-0D76-C1BD-10E9-CC51D092EAB9}"/>
              </a:ext>
            </a:extLst>
          </p:cNvPr>
          <p:cNvPicPr>
            <a:picLocks noChangeAspect="1"/>
          </p:cNvPicPr>
          <p:nvPr/>
        </p:nvPicPr>
        <p:blipFill rotWithShape="1">
          <a:blip r:embed="rId3"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p:spPr>
      </p:pic>
      <p:sp>
        <p:nvSpPr>
          <p:cNvPr id="20" name="Title 1">
            <a:extLst>
              <a:ext uri="{FF2B5EF4-FFF2-40B4-BE49-F238E27FC236}">
                <a16:creationId xmlns:a16="http://schemas.microsoft.com/office/drawing/2014/main" id="{13C9040B-CB64-248E-B775-CDFC37F8A8BB}"/>
              </a:ext>
            </a:extLst>
          </p:cNvPr>
          <p:cNvSpPr>
            <a:spLocks noGrp="1"/>
          </p:cNvSpPr>
          <p:nvPr>
            <p:ph type="ctrTitle"/>
          </p:nvPr>
        </p:nvSpPr>
        <p:spPr>
          <a:xfrm>
            <a:off x="859367" y="1626330"/>
            <a:ext cx="7766936" cy="1646302"/>
          </a:xfrm>
        </p:spPr>
        <p:txBody>
          <a:bodyPr>
            <a:normAutofit/>
          </a:bodyPr>
          <a:lstStyle/>
          <a:p>
            <a:pPr algn="r"/>
            <a:r>
              <a:rPr lang="en-GB" dirty="0">
                <a:solidFill>
                  <a:schemeClr val="bg1"/>
                </a:solidFill>
                <a:latin typeface="Arial" panose="020B0604020202020204" pitchFamily="34" charset="0"/>
                <a:cs typeface="Arial" panose="020B0604020202020204" pitchFamily="34" charset="0"/>
              </a:rPr>
              <a:t>Wrist</a:t>
            </a:r>
            <a:r>
              <a:rPr lang="en-GB" sz="6000" dirty="0">
                <a:solidFill>
                  <a:schemeClr val="bg1"/>
                </a:solidFill>
                <a:latin typeface="Arial" panose="020B0604020202020204" pitchFamily="34" charset="0"/>
                <a:cs typeface="Arial" panose="020B0604020202020204" pitchFamily="34" charset="0"/>
              </a:rPr>
              <a:t> Anatomy</a:t>
            </a:r>
          </a:p>
        </p:txBody>
      </p:sp>
      <p:sp>
        <p:nvSpPr>
          <p:cNvPr id="21" name="Subtitle 2">
            <a:extLst>
              <a:ext uri="{FF2B5EF4-FFF2-40B4-BE49-F238E27FC236}">
                <a16:creationId xmlns:a16="http://schemas.microsoft.com/office/drawing/2014/main" id="{195AC44A-5FAF-9D27-E8E5-A32C0B5A32E9}"/>
              </a:ext>
            </a:extLst>
          </p:cNvPr>
          <p:cNvSpPr>
            <a:spLocks noGrp="1"/>
          </p:cNvSpPr>
          <p:nvPr>
            <p:ph type="subTitle" idx="1"/>
          </p:nvPr>
        </p:nvSpPr>
        <p:spPr>
          <a:xfrm>
            <a:off x="859367" y="3310729"/>
            <a:ext cx="7766936" cy="1587967"/>
          </a:xfrm>
        </p:spPr>
        <p:txBody>
          <a:bodyPr>
            <a:normAutofit fontScale="92500" lnSpcReduction="20000"/>
          </a:bodyPr>
          <a:lstStyle/>
          <a:p>
            <a:pPr algn="r"/>
            <a:r>
              <a:rPr lang="en-GB" sz="3200" dirty="0">
                <a:solidFill>
                  <a:schemeClr val="bg1"/>
                </a:solidFill>
                <a:latin typeface="Arial" panose="020B0604020202020204" pitchFamily="34" charset="0"/>
                <a:cs typeface="Arial" panose="020B0604020202020204" pitchFamily="34" charset="0"/>
              </a:rPr>
              <a:t>PT4050 / PT7001</a:t>
            </a:r>
          </a:p>
          <a:p>
            <a:pPr algn="r"/>
            <a:endParaRPr lang="en-GB" sz="3200" dirty="0">
              <a:solidFill>
                <a:srgbClr val="00B0F0"/>
              </a:solidFill>
              <a:latin typeface="Arial" panose="020B0604020202020204" pitchFamily="34" charset="0"/>
              <a:cs typeface="Arial" panose="020B0604020202020204" pitchFamily="34" charset="0"/>
            </a:endParaRPr>
          </a:p>
          <a:p>
            <a:pPr algn="r"/>
            <a:r>
              <a:rPr lang="en-GB" dirty="0">
                <a:solidFill>
                  <a:srgbClr val="00B0F0"/>
                </a:solidFill>
                <a:latin typeface="Arial" panose="020B0604020202020204" pitchFamily="34" charset="0"/>
                <a:cs typeface="Arial" panose="020B0604020202020204" pitchFamily="34" charset="0"/>
              </a:rPr>
              <a:t>Paul Starrs</a:t>
            </a:r>
          </a:p>
          <a:p>
            <a:pPr algn="r"/>
            <a:r>
              <a:rPr lang="en-GB" dirty="0">
                <a:solidFill>
                  <a:srgbClr val="00B0F0"/>
                </a:solidFill>
                <a:latin typeface="Arial" panose="020B0604020202020204" pitchFamily="34" charset="0"/>
                <a:cs typeface="Arial" panose="020B0604020202020204" pitchFamily="34" charset="0"/>
              </a:rPr>
              <a:t>P.Starrs@londonmet.ac.uk</a:t>
            </a:r>
          </a:p>
        </p:txBody>
      </p:sp>
    </p:spTree>
    <p:extLst>
      <p:ext uri="{BB962C8B-B14F-4D97-AF65-F5344CB8AC3E}">
        <p14:creationId xmlns:p14="http://schemas.microsoft.com/office/powerpoint/2010/main" val="5461071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ound Diagonal Corner Rectangle 3"/>
          <p:cNvSpPr/>
          <p:nvPr/>
        </p:nvSpPr>
        <p:spPr>
          <a:xfrm>
            <a:off x="622930" y="402811"/>
            <a:ext cx="5236003"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t>LEARNING OUTCOMES</a:t>
            </a:r>
          </a:p>
        </p:txBody>
      </p:sp>
      <p:pic>
        <p:nvPicPr>
          <p:cNvPr id="19" name="Picture 18" descr="COSMOS GRAPHIC WHITE.png"/>
          <p:cNvPicPr>
            <a:picLocks noChangeAspect="1"/>
          </p:cNvPicPr>
          <p:nvPr/>
        </p:nvPicPr>
        <p:blipFill rotWithShape="1">
          <a:blip r:embed="rId3"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sp>
        <p:nvSpPr>
          <p:cNvPr id="3" name="Round Diagonal Corner Rectangle 2"/>
          <p:cNvSpPr/>
          <p:nvPr/>
        </p:nvSpPr>
        <p:spPr>
          <a:xfrm>
            <a:off x="622930" y="1435100"/>
            <a:ext cx="8205186" cy="5159767"/>
          </a:xfrm>
          <a:prstGeom prst="round2DiagRect">
            <a:avLst/>
          </a:prstGeom>
          <a:no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Clr>
                <a:schemeClr val="bg1"/>
              </a:buClr>
              <a:buFont typeface="Arial" panose="020B0604020202020204" pitchFamily="34" charset="0"/>
              <a:buChar char="•"/>
            </a:pPr>
            <a:r>
              <a:rPr lang="en-GB" sz="2200" dirty="0">
                <a:solidFill>
                  <a:schemeClr val="bg1"/>
                </a:solidFill>
              </a:rPr>
              <a:t>List the bones and joints of the wrist  </a:t>
            </a:r>
          </a:p>
          <a:p>
            <a:pPr marL="342900" indent="-342900">
              <a:buClr>
                <a:schemeClr val="bg1"/>
              </a:buClr>
              <a:buFont typeface="Arial" panose="020B0604020202020204" pitchFamily="34" charset="0"/>
              <a:buChar char="•"/>
            </a:pPr>
            <a:r>
              <a:rPr lang="en-GB" sz="2200" dirty="0">
                <a:solidFill>
                  <a:schemeClr val="bg1"/>
                </a:solidFill>
              </a:rPr>
              <a:t>Give an account of the wrist joint and its movements   </a:t>
            </a:r>
          </a:p>
          <a:p>
            <a:pPr marL="342900" indent="-342900">
              <a:buClr>
                <a:schemeClr val="bg1"/>
              </a:buClr>
              <a:buFont typeface="Arial" panose="020B0604020202020204" pitchFamily="34" charset="0"/>
              <a:buChar char="•"/>
            </a:pPr>
            <a:r>
              <a:rPr lang="en-GB" sz="2200" dirty="0">
                <a:solidFill>
                  <a:schemeClr val="bg1"/>
                </a:solidFill>
              </a:rPr>
              <a:t>Be aware of the importance of the triangular disc, and the Triangular Fibrocartilaginous complex (TFCC) </a:t>
            </a:r>
          </a:p>
          <a:p>
            <a:pPr marL="342900" indent="-342900">
              <a:buClr>
                <a:schemeClr val="bg1"/>
              </a:buClr>
              <a:buFont typeface="Arial" panose="020B0604020202020204" pitchFamily="34" charset="0"/>
              <a:buChar char="•"/>
            </a:pPr>
            <a:r>
              <a:rPr lang="en-GB" sz="2200" dirty="0">
                <a:solidFill>
                  <a:schemeClr val="bg1"/>
                </a:solidFill>
              </a:rPr>
              <a:t>List the attachments of the flexor retinaculum </a:t>
            </a:r>
          </a:p>
          <a:p>
            <a:pPr marL="342900" indent="-342900">
              <a:buClr>
                <a:schemeClr val="bg1"/>
              </a:buClr>
              <a:buFont typeface="Arial" panose="020B0604020202020204" pitchFamily="34" charset="0"/>
              <a:buChar char="•"/>
            </a:pPr>
            <a:r>
              <a:rPr lang="en-GB" sz="2200" dirty="0">
                <a:solidFill>
                  <a:schemeClr val="bg1"/>
                </a:solidFill>
              </a:rPr>
              <a:t>Know the boundaries and content of the carpal tunnel </a:t>
            </a:r>
          </a:p>
          <a:p>
            <a:pPr marL="342900" indent="-342900">
              <a:buClr>
                <a:schemeClr val="bg1"/>
              </a:buClr>
              <a:buFont typeface="Arial" panose="020B0604020202020204" pitchFamily="34" charset="0"/>
              <a:buChar char="•"/>
            </a:pPr>
            <a:r>
              <a:rPr lang="en-GB" sz="2200" dirty="0">
                <a:solidFill>
                  <a:schemeClr val="bg1"/>
                </a:solidFill>
              </a:rPr>
              <a:t>Differentiate between extrinsic and intrinsic ligaments  </a:t>
            </a:r>
          </a:p>
          <a:p>
            <a:pPr marL="342900" indent="-342900">
              <a:buClr>
                <a:schemeClr val="bg1"/>
              </a:buClr>
              <a:buFont typeface="Arial" panose="020B0604020202020204" pitchFamily="34" charset="0"/>
              <a:buChar char="•"/>
            </a:pPr>
            <a:r>
              <a:rPr lang="en-GB" sz="2200" dirty="0">
                <a:solidFill>
                  <a:schemeClr val="bg1"/>
                </a:solidFill>
              </a:rPr>
              <a:t>Briefly describe the arrangement of the carpal ligaments, and the consequences of their instability  </a:t>
            </a:r>
          </a:p>
          <a:p>
            <a:pPr marL="342900" indent="-342900">
              <a:buClr>
                <a:schemeClr val="bg1"/>
              </a:buClr>
              <a:buFont typeface="Arial" panose="020B0604020202020204" pitchFamily="34" charset="0"/>
              <a:buChar char="•"/>
            </a:pPr>
            <a:r>
              <a:rPr lang="en-GB" sz="2200" dirty="0">
                <a:solidFill>
                  <a:schemeClr val="bg1"/>
                </a:solidFill>
              </a:rPr>
              <a:t>Describe the common wrist injuries</a:t>
            </a:r>
          </a:p>
        </p:txBody>
      </p:sp>
    </p:spTree>
    <p:extLst>
      <p:ext uri="{BB962C8B-B14F-4D97-AF65-F5344CB8AC3E}">
        <p14:creationId xmlns:p14="http://schemas.microsoft.com/office/powerpoint/2010/main" val="24609991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ound Diagonal Corner Rectangle 3"/>
          <p:cNvSpPr/>
          <p:nvPr/>
        </p:nvSpPr>
        <p:spPr>
          <a:xfrm>
            <a:off x="622929" y="402811"/>
            <a:ext cx="2556277"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solidFill>
                  <a:schemeClr val="bg1"/>
                </a:solidFill>
              </a:rPr>
              <a:t>JOINTS</a:t>
            </a:r>
          </a:p>
        </p:txBody>
      </p:sp>
      <p:pic>
        <p:nvPicPr>
          <p:cNvPr id="19" name="Picture 18" descr="COSMOS GRAPHIC WHITE.png"/>
          <p:cNvPicPr>
            <a:picLocks noChangeAspect="1"/>
          </p:cNvPicPr>
          <p:nvPr/>
        </p:nvPicPr>
        <p:blipFill rotWithShape="1">
          <a:blip r:embed="rId3"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sp>
        <p:nvSpPr>
          <p:cNvPr id="3" name="Round Diagonal Corner Rectangle 2"/>
          <p:cNvSpPr/>
          <p:nvPr/>
        </p:nvSpPr>
        <p:spPr>
          <a:xfrm>
            <a:off x="622930" y="1435100"/>
            <a:ext cx="5473070" cy="5159767"/>
          </a:xfrm>
          <a:prstGeom prst="round2DiagRect">
            <a:avLst/>
          </a:prstGeom>
          <a:no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Clr>
                <a:schemeClr val="bg1"/>
              </a:buClr>
              <a:buFont typeface="Arial" panose="020B0604020202020204" pitchFamily="34" charset="0"/>
              <a:buChar char="•"/>
            </a:pPr>
            <a:r>
              <a:rPr lang="en-GB" sz="2400" dirty="0">
                <a:solidFill>
                  <a:schemeClr val="bg1"/>
                </a:solidFill>
              </a:rPr>
              <a:t>Inferior Radio-Ulnar joint</a:t>
            </a:r>
          </a:p>
          <a:p>
            <a:pPr marL="342900" indent="-342900">
              <a:buClr>
                <a:schemeClr val="bg1"/>
              </a:buClr>
              <a:buFont typeface="Arial" panose="020B0604020202020204" pitchFamily="34" charset="0"/>
              <a:buChar char="•"/>
            </a:pPr>
            <a:r>
              <a:rPr lang="en-GB" sz="2400" dirty="0">
                <a:solidFill>
                  <a:schemeClr val="bg1"/>
                </a:solidFill>
              </a:rPr>
              <a:t>Radio-Carpal joint</a:t>
            </a:r>
          </a:p>
        </p:txBody>
      </p:sp>
      <p:sp>
        <p:nvSpPr>
          <p:cNvPr id="2" name="Round Diagonal Corner Rectangle 2">
            <a:extLst>
              <a:ext uri="{FF2B5EF4-FFF2-40B4-BE49-F238E27FC236}">
                <a16:creationId xmlns:a16="http://schemas.microsoft.com/office/drawing/2014/main" id="{01C314B9-6E83-BACF-7798-697C0892C1E3}"/>
              </a:ext>
            </a:extLst>
          </p:cNvPr>
          <p:cNvSpPr/>
          <p:nvPr/>
        </p:nvSpPr>
        <p:spPr>
          <a:xfrm>
            <a:off x="6577819" y="1327856"/>
            <a:ext cx="5473070" cy="5159767"/>
          </a:xfrm>
          <a:prstGeom prst="round2DiagRect">
            <a:avLst/>
          </a:prstGeom>
          <a:blipFill dpi="0" rotWithShape="1">
            <a:blip r:embed="rId4">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Clr>
                <a:schemeClr val="bg1"/>
              </a:buClr>
              <a:buFont typeface="Arial" panose="020B0604020202020204" pitchFamily="34" charset="0"/>
              <a:buChar char="•"/>
            </a:pPr>
            <a:endParaRPr lang="en-GB" sz="2800" dirty="0">
              <a:solidFill>
                <a:schemeClr val="bg1"/>
              </a:solidFill>
            </a:endParaRPr>
          </a:p>
        </p:txBody>
      </p:sp>
    </p:spTree>
    <p:extLst>
      <p:ext uri="{BB962C8B-B14F-4D97-AF65-F5344CB8AC3E}">
        <p14:creationId xmlns:p14="http://schemas.microsoft.com/office/powerpoint/2010/main" val="2500083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ound Diagonal Corner Rectangle 3"/>
          <p:cNvSpPr/>
          <p:nvPr/>
        </p:nvSpPr>
        <p:spPr>
          <a:xfrm>
            <a:off x="622929" y="402811"/>
            <a:ext cx="2556277"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t>BONES</a:t>
            </a:r>
          </a:p>
        </p:txBody>
      </p:sp>
      <p:pic>
        <p:nvPicPr>
          <p:cNvPr id="19" name="Picture 18" descr="COSMOS GRAPHIC WHITE.png"/>
          <p:cNvPicPr>
            <a:picLocks noChangeAspect="1"/>
          </p:cNvPicPr>
          <p:nvPr/>
        </p:nvPicPr>
        <p:blipFill rotWithShape="1">
          <a:blip r:embed="rId3"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sp>
        <p:nvSpPr>
          <p:cNvPr id="3" name="Round Diagonal Corner Rectangle 2"/>
          <p:cNvSpPr/>
          <p:nvPr/>
        </p:nvSpPr>
        <p:spPr>
          <a:xfrm>
            <a:off x="6276795" y="1435101"/>
            <a:ext cx="5472000" cy="5159767"/>
          </a:xfrm>
          <a:prstGeom prst="round2DiagRect">
            <a:avLst/>
          </a:prstGeom>
          <a:blipFill dpi="0" rotWithShape="1">
            <a:blip r:embed="rId4">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Clr>
                <a:schemeClr val="bg1"/>
              </a:buClr>
              <a:buFont typeface="Arial" panose="020B0604020202020204" pitchFamily="34" charset="0"/>
              <a:buChar char="•"/>
            </a:pPr>
            <a:endParaRPr lang="en-GB" sz="2800" dirty="0">
              <a:solidFill>
                <a:schemeClr val="bg1"/>
              </a:solidFill>
            </a:endParaRPr>
          </a:p>
        </p:txBody>
      </p:sp>
      <p:sp>
        <p:nvSpPr>
          <p:cNvPr id="2" name="Round Diagonal Corner Rectangle 2">
            <a:extLst>
              <a:ext uri="{FF2B5EF4-FFF2-40B4-BE49-F238E27FC236}">
                <a16:creationId xmlns:a16="http://schemas.microsoft.com/office/drawing/2014/main" id="{92AC808F-03F2-59BC-14A3-2DB558A3F96F}"/>
              </a:ext>
            </a:extLst>
          </p:cNvPr>
          <p:cNvSpPr/>
          <p:nvPr/>
        </p:nvSpPr>
        <p:spPr>
          <a:xfrm>
            <a:off x="622929" y="1554922"/>
            <a:ext cx="5472000" cy="5159767"/>
          </a:xfrm>
          <a:prstGeom prst="round2DiagRect">
            <a:avLst/>
          </a:prstGeom>
          <a:no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Clr>
                <a:schemeClr val="bg1"/>
              </a:buClr>
              <a:buFont typeface="Arial" panose="020B0604020202020204" pitchFamily="34" charset="0"/>
              <a:buChar char="•"/>
            </a:pPr>
            <a:r>
              <a:rPr lang="en-GB" sz="2200" dirty="0">
                <a:solidFill>
                  <a:schemeClr val="bg1"/>
                </a:solidFill>
              </a:rPr>
              <a:t>Proximal row of carpals</a:t>
            </a:r>
          </a:p>
          <a:p>
            <a:pPr marL="800100" lvl="1" indent="-342900">
              <a:buClr>
                <a:schemeClr val="bg1"/>
              </a:buClr>
              <a:buFont typeface="Arial" panose="020B0604020202020204" pitchFamily="34" charset="0"/>
              <a:buChar char="•"/>
            </a:pPr>
            <a:r>
              <a:rPr lang="en-GB" sz="2200" dirty="0">
                <a:solidFill>
                  <a:schemeClr val="bg1"/>
                </a:solidFill>
              </a:rPr>
              <a:t>Scaphoid</a:t>
            </a:r>
          </a:p>
          <a:p>
            <a:pPr marL="800100" lvl="1" indent="-342900">
              <a:buClr>
                <a:schemeClr val="bg1"/>
              </a:buClr>
              <a:buFont typeface="Arial" panose="020B0604020202020204" pitchFamily="34" charset="0"/>
              <a:buChar char="•"/>
            </a:pPr>
            <a:r>
              <a:rPr lang="en-GB" sz="2200" dirty="0">
                <a:solidFill>
                  <a:schemeClr val="bg1"/>
                </a:solidFill>
              </a:rPr>
              <a:t>Lunate</a:t>
            </a:r>
          </a:p>
          <a:p>
            <a:pPr marL="800100" lvl="1" indent="-342900">
              <a:buClr>
                <a:schemeClr val="bg1"/>
              </a:buClr>
              <a:buFont typeface="Arial" panose="020B0604020202020204" pitchFamily="34" charset="0"/>
              <a:buChar char="•"/>
            </a:pPr>
            <a:r>
              <a:rPr lang="en-GB" sz="2200" dirty="0">
                <a:solidFill>
                  <a:schemeClr val="bg1"/>
                </a:solidFill>
              </a:rPr>
              <a:t>Triquetrum</a:t>
            </a:r>
          </a:p>
          <a:p>
            <a:pPr marL="800100" lvl="1" indent="-342900">
              <a:buClr>
                <a:schemeClr val="bg1"/>
              </a:buClr>
              <a:buFont typeface="Arial" panose="020B0604020202020204" pitchFamily="34" charset="0"/>
              <a:buChar char="•"/>
            </a:pPr>
            <a:r>
              <a:rPr lang="en-GB" sz="2200" dirty="0">
                <a:solidFill>
                  <a:schemeClr val="bg1"/>
                </a:solidFill>
              </a:rPr>
              <a:t>Pisiform</a:t>
            </a:r>
          </a:p>
          <a:p>
            <a:pPr marL="342900" indent="-342900">
              <a:buClr>
                <a:schemeClr val="bg1"/>
              </a:buClr>
              <a:buFont typeface="Arial" panose="020B0604020202020204" pitchFamily="34" charset="0"/>
              <a:buChar char="•"/>
            </a:pPr>
            <a:r>
              <a:rPr lang="en-GB" sz="2200" dirty="0">
                <a:solidFill>
                  <a:schemeClr val="bg1"/>
                </a:solidFill>
              </a:rPr>
              <a:t>Radius</a:t>
            </a:r>
          </a:p>
          <a:p>
            <a:pPr marL="342900" indent="-342900">
              <a:buClr>
                <a:schemeClr val="bg1"/>
              </a:buClr>
              <a:buFont typeface="Arial" panose="020B0604020202020204" pitchFamily="34" charset="0"/>
              <a:buChar char="•"/>
            </a:pPr>
            <a:r>
              <a:rPr lang="en-GB" sz="2200" dirty="0">
                <a:solidFill>
                  <a:schemeClr val="bg1"/>
                </a:solidFill>
              </a:rPr>
              <a:t>Ulnar</a:t>
            </a:r>
          </a:p>
        </p:txBody>
      </p:sp>
    </p:spTree>
    <p:extLst>
      <p:ext uri="{BB962C8B-B14F-4D97-AF65-F5344CB8AC3E}">
        <p14:creationId xmlns:p14="http://schemas.microsoft.com/office/powerpoint/2010/main" val="35208450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ound Diagonal Corner Rectangle 3"/>
          <p:cNvSpPr/>
          <p:nvPr/>
        </p:nvSpPr>
        <p:spPr>
          <a:xfrm>
            <a:off x="622929" y="402811"/>
            <a:ext cx="6964414"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solidFill>
                  <a:schemeClr val="bg1"/>
                </a:solidFill>
              </a:rPr>
              <a:t>INFERIOR RADIO-ULNAR JOINT</a:t>
            </a:r>
          </a:p>
        </p:txBody>
      </p:sp>
      <p:pic>
        <p:nvPicPr>
          <p:cNvPr id="19" name="Picture 18" descr="COSMOS GRAPHIC WHITE.png"/>
          <p:cNvPicPr>
            <a:picLocks noChangeAspect="1"/>
          </p:cNvPicPr>
          <p:nvPr/>
        </p:nvPicPr>
        <p:blipFill rotWithShape="1">
          <a:blip r:embed="rId3"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sp>
        <p:nvSpPr>
          <p:cNvPr id="3" name="Round Diagonal Corner Rectangle 2"/>
          <p:cNvSpPr/>
          <p:nvPr/>
        </p:nvSpPr>
        <p:spPr>
          <a:xfrm>
            <a:off x="622930" y="1435100"/>
            <a:ext cx="5473070" cy="5159767"/>
          </a:xfrm>
          <a:prstGeom prst="round2DiagRect">
            <a:avLst/>
          </a:prstGeom>
          <a:no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Clr>
                <a:schemeClr val="bg1"/>
              </a:buClr>
              <a:buFont typeface="Arial" panose="020B0604020202020204" pitchFamily="34" charset="0"/>
              <a:buChar char="•"/>
            </a:pPr>
            <a:r>
              <a:rPr lang="en-GB" sz="2800" dirty="0">
                <a:solidFill>
                  <a:schemeClr val="bg1"/>
                </a:solidFill>
              </a:rPr>
              <a:t>The interosseous membrane is a thin fibrous sheet that connects the radius and ulnar and aids in transfer of forces between the two bones</a:t>
            </a:r>
          </a:p>
          <a:p>
            <a:pPr marL="342900" indent="-342900">
              <a:buClr>
                <a:schemeClr val="bg1"/>
              </a:buClr>
              <a:buFont typeface="Arial" panose="020B0604020202020204" pitchFamily="34" charset="0"/>
              <a:buChar char="•"/>
            </a:pPr>
            <a:r>
              <a:rPr lang="en-GB" sz="2800" dirty="0">
                <a:solidFill>
                  <a:schemeClr val="bg1"/>
                </a:solidFill>
              </a:rPr>
              <a:t>A synovial pivot joint formed by the head of the ulnar and the ulnar notch of the radius</a:t>
            </a:r>
          </a:p>
          <a:p>
            <a:pPr marL="342900" indent="-342900">
              <a:buClr>
                <a:schemeClr val="bg1"/>
              </a:buClr>
              <a:buFont typeface="Arial" panose="020B0604020202020204" pitchFamily="34" charset="0"/>
              <a:buChar char="•"/>
            </a:pPr>
            <a:r>
              <a:rPr lang="en-GB" sz="2800" dirty="0">
                <a:solidFill>
                  <a:schemeClr val="bg1"/>
                </a:solidFill>
              </a:rPr>
              <a:t>Assists the superior radio-ulnar joint with pronation and supination</a:t>
            </a:r>
          </a:p>
        </p:txBody>
      </p:sp>
      <p:sp>
        <p:nvSpPr>
          <p:cNvPr id="9" name="Round Diagonal Corner Rectangle 2">
            <a:extLst>
              <a:ext uri="{FF2B5EF4-FFF2-40B4-BE49-F238E27FC236}">
                <a16:creationId xmlns:a16="http://schemas.microsoft.com/office/drawing/2014/main" id="{250D772F-7DBF-2A29-E19C-BE7491613E58}"/>
              </a:ext>
            </a:extLst>
          </p:cNvPr>
          <p:cNvSpPr/>
          <p:nvPr/>
        </p:nvSpPr>
        <p:spPr>
          <a:xfrm>
            <a:off x="6577819" y="1327856"/>
            <a:ext cx="5473070" cy="5159767"/>
          </a:xfrm>
          <a:prstGeom prst="round2DiagRect">
            <a:avLst/>
          </a:prstGeom>
          <a:blipFill dpi="0" rotWithShape="1">
            <a:blip r:embed="rId4">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Clr>
                <a:schemeClr val="bg1"/>
              </a:buClr>
              <a:buFont typeface="Arial" panose="020B0604020202020204" pitchFamily="34" charset="0"/>
              <a:buChar char="•"/>
            </a:pPr>
            <a:endParaRPr lang="en-GB" sz="2800" dirty="0">
              <a:solidFill>
                <a:schemeClr val="bg1"/>
              </a:solidFill>
            </a:endParaRPr>
          </a:p>
        </p:txBody>
      </p:sp>
    </p:spTree>
    <p:extLst>
      <p:ext uri="{BB962C8B-B14F-4D97-AF65-F5344CB8AC3E}">
        <p14:creationId xmlns:p14="http://schemas.microsoft.com/office/powerpoint/2010/main" val="37021922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D384E9-87EE-35F9-206A-881EA6AAB544}"/>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D41CCE94-E3B6-663F-08EC-FA7C6E78262B}"/>
              </a:ext>
            </a:extLst>
          </p:cNvPr>
          <p:cNvSpPr/>
          <p:nvPr/>
        </p:nvSpPr>
        <p:spPr>
          <a:xfrm>
            <a:off x="0" y="0"/>
            <a:ext cx="12192000" cy="685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ound Diagonal Corner Rectangle 3">
            <a:extLst>
              <a:ext uri="{FF2B5EF4-FFF2-40B4-BE49-F238E27FC236}">
                <a16:creationId xmlns:a16="http://schemas.microsoft.com/office/drawing/2014/main" id="{78C363FC-65A7-320C-860A-41D172FD7374}"/>
              </a:ext>
            </a:extLst>
          </p:cNvPr>
          <p:cNvSpPr/>
          <p:nvPr/>
        </p:nvSpPr>
        <p:spPr>
          <a:xfrm>
            <a:off x="622929" y="402811"/>
            <a:ext cx="6964414"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solidFill>
                  <a:schemeClr val="bg1"/>
                </a:solidFill>
              </a:rPr>
              <a:t>INFERIOR RADIO-ULNAR JOINT</a:t>
            </a:r>
          </a:p>
        </p:txBody>
      </p:sp>
      <p:pic>
        <p:nvPicPr>
          <p:cNvPr id="19" name="Picture 18" descr="COSMOS GRAPHIC WHITE.png">
            <a:extLst>
              <a:ext uri="{FF2B5EF4-FFF2-40B4-BE49-F238E27FC236}">
                <a16:creationId xmlns:a16="http://schemas.microsoft.com/office/drawing/2014/main" id="{3419B050-EF2A-66A4-4D14-01B90C2CB28A}"/>
              </a:ext>
            </a:extLst>
          </p:cNvPr>
          <p:cNvPicPr>
            <a:picLocks noChangeAspect="1"/>
          </p:cNvPicPr>
          <p:nvPr/>
        </p:nvPicPr>
        <p:blipFill rotWithShape="1">
          <a:blip r:embed="rId3"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sp>
        <p:nvSpPr>
          <p:cNvPr id="3" name="Round Diagonal Corner Rectangle 2">
            <a:extLst>
              <a:ext uri="{FF2B5EF4-FFF2-40B4-BE49-F238E27FC236}">
                <a16:creationId xmlns:a16="http://schemas.microsoft.com/office/drawing/2014/main" id="{C285464F-73EF-646A-EF45-DC4A383BDDB5}"/>
              </a:ext>
            </a:extLst>
          </p:cNvPr>
          <p:cNvSpPr/>
          <p:nvPr/>
        </p:nvSpPr>
        <p:spPr>
          <a:xfrm>
            <a:off x="622930" y="1435100"/>
            <a:ext cx="5473070" cy="5159767"/>
          </a:xfrm>
          <a:prstGeom prst="round2DiagRect">
            <a:avLst/>
          </a:prstGeom>
          <a:no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Clr>
                <a:schemeClr val="bg1"/>
              </a:buClr>
              <a:buFont typeface="Arial" panose="020B0604020202020204" pitchFamily="34" charset="0"/>
              <a:buChar char="•"/>
            </a:pPr>
            <a:r>
              <a:rPr lang="en-GB" sz="2800" dirty="0">
                <a:solidFill>
                  <a:schemeClr val="bg1"/>
                </a:solidFill>
              </a:rPr>
              <a:t>Supported anteriorly and posteriorly by the volar (or palmar) and dorsal radio-ulnar ligaments </a:t>
            </a:r>
          </a:p>
        </p:txBody>
      </p:sp>
      <p:sp>
        <p:nvSpPr>
          <p:cNvPr id="9" name="Round Diagonal Corner Rectangle 2">
            <a:extLst>
              <a:ext uri="{FF2B5EF4-FFF2-40B4-BE49-F238E27FC236}">
                <a16:creationId xmlns:a16="http://schemas.microsoft.com/office/drawing/2014/main" id="{8C7B25AF-21F9-7AE8-692B-87131A67F6D5}"/>
              </a:ext>
            </a:extLst>
          </p:cNvPr>
          <p:cNvSpPr/>
          <p:nvPr/>
        </p:nvSpPr>
        <p:spPr>
          <a:xfrm>
            <a:off x="6577819" y="1327856"/>
            <a:ext cx="5473070" cy="5159767"/>
          </a:xfrm>
          <a:prstGeom prst="round2DiagRect">
            <a:avLst/>
          </a:prstGeom>
          <a:blipFill dpi="0" rotWithShape="1">
            <a:blip r:embed="rId4">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Clr>
                <a:schemeClr val="bg1"/>
              </a:buClr>
              <a:buFont typeface="Arial" panose="020B0604020202020204" pitchFamily="34" charset="0"/>
              <a:buChar char="•"/>
            </a:pPr>
            <a:endParaRPr lang="en-GB" sz="2800" dirty="0">
              <a:solidFill>
                <a:schemeClr val="bg1"/>
              </a:solidFill>
            </a:endParaRPr>
          </a:p>
        </p:txBody>
      </p:sp>
    </p:spTree>
    <p:extLst>
      <p:ext uri="{BB962C8B-B14F-4D97-AF65-F5344CB8AC3E}">
        <p14:creationId xmlns:p14="http://schemas.microsoft.com/office/powerpoint/2010/main" val="4093679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3E616B-C978-398E-9C59-273814BE26E6}"/>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E3E7A7F3-FA52-59A2-5FEE-0C367A1D6FA4}"/>
              </a:ext>
            </a:extLst>
          </p:cNvPr>
          <p:cNvSpPr/>
          <p:nvPr/>
        </p:nvSpPr>
        <p:spPr>
          <a:xfrm>
            <a:off x="0" y="0"/>
            <a:ext cx="12192000" cy="685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ound Diagonal Corner Rectangle 3">
            <a:extLst>
              <a:ext uri="{FF2B5EF4-FFF2-40B4-BE49-F238E27FC236}">
                <a16:creationId xmlns:a16="http://schemas.microsoft.com/office/drawing/2014/main" id="{2938949C-A4D8-DC27-3A89-8229CF00254D}"/>
              </a:ext>
            </a:extLst>
          </p:cNvPr>
          <p:cNvSpPr/>
          <p:nvPr/>
        </p:nvSpPr>
        <p:spPr>
          <a:xfrm>
            <a:off x="622929" y="402811"/>
            <a:ext cx="1771928"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solidFill>
                  <a:schemeClr val="bg1"/>
                </a:solidFill>
              </a:rPr>
              <a:t>TFCC</a:t>
            </a:r>
          </a:p>
        </p:txBody>
      </p:sp>
      <p:pic>
        <p:nvPicPr>
          <p:cNvPr id="19" name="Picture 18" descr="COSMOS GRAPHIC WHITE.png">
            <a:extLst>
              <a:ext uri="{FF2B5EF4-FFF2-40B4-BE49-F238E27FC236}">
                <a16:creationId xmlns:a16="http://schemas.microsoft.com/office/drawing/2014/main" id="{D94C9286-8BCA-3DB8-CF67-99ECF1F1CD57}"/>
              </a:ext>
            </a:extLst>
          </p:cNvPr>
          <p:cNvPicPr>
            <a:picLocks noChangeAspect="1"/>
          </p:cNvPicPr>
          <p:nvPr/>
        </p:nvPicPr>
        <p:blipFill rotWithShape="1">
          <a:blip r:embed="rId3"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sp>
        <p:nvSpPr>
          <p:cNvPr id="3" name="Round Diagonal Corner Rectangle 2">
            <a:extLst>
              <a:ext uri="{FF2B5EF4-FFF2-40B4-BE49-F238E27FC236}">
                <a16:creationId xmlns:a16="http://schemas.microsoft.com/office/drawing/2014/main" id="{D5958D87-16B2-914F-BEAF-CE8A98FCC398}"/>
              </a:ext>
            </a:extLst>
          </p:cNvPr>
          <p:cNvSpPr/>
          <p:nvPr/>
        </p:nvSpPr>
        <p:spPr>
          <a:xfrm>
            <a:off x="622930" y="1435100"/>
            <a:ext cx="5473070" cy="5159767"/>
          </a:xfrm>
          <a:prstGeom prst="round2DiagRect">
            <a:avLst/>
          </a:prstGeom>
          <a:no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Clr>
                <a:schemeClr val="bg1"/>
              </a:buClr>
              <a:buFont typeface="Arial" panose="020B0604020202020204" pitchFamily="34" charset="0"/>
              <a:buChar char="•"/>
            </a:pPr>
            <a:r>
              <a:rPr lang="en-GB" sz="2800" dirty="0">
                <a:solidFill>
                  <a:schemeClr val="bg1"/>
                </a:solidFill>
              </a:rPr>
              <a:t>Triangular fibrocartilage complex (TFCC) is a load-bearing structure between the lunate, triquetrum, and ulnar head</a:t>
            </a:r>
          </a:p>
          <a:p>
            <a:pPr marL="342900" indent="-342900">
              <a:buClr>
                <a:schemeClr val="bg1"/>
              </a:buClr>
              <a:buFont typeface="Arial" panose="020B0604020202020204" pitchFamily="34" charset="0"/>
              <a:buChar char="•"/>
            </a:pPr>
            <a:r>
              <a:rPr lang="en-GB" sz="2800" dirty="0">
                <a:solidFill>
                  <a:schemeClr val="bg1"/>
                </a:solidFill>
              </a:rPr>
              <a:t>The function of the TFCC is to act as a stabilizer for the ulnar aspect of the wrist</a:t>
            </a:r>
          </a:p>
        </p:txBody>
      </p:sp>
      <p:sp>
        <p:nvSpPr>
          <p:cNvPr id="9" name="Round Diagonal Corner Rectangle 2">
            <a:extLst>
              <a:ext uri="{FF2B5EF4-FFF2-40B4-BE49-F238E27FC236}">
                <a16:creationId xmlns:a16="http://schemas.microsoft.com/office/drawing/2014/main" id="{EE984FCF-1B9A-C616-51DC-D5726615C495}"/>
              </a:ext>
            </a:extLst>
          </p:cNvPr>
          <p:cNvSpPr/>
          <p:nvPr/>
        </p:nvSpPr>
        <p:spPr>
          <a:xfrm>
            <a:off x="6577819" y="1327856"/>
            <a:ext cx="5473070" cy="5159767"/>
          </a:xfrm>
          <a:prstGeom prst="round2DiagRect">
            <a:avLst/>
          </a:prstGeom>
          <a:blipFill dpi="0" rotWithShape="1">
            <a:blip r:embed="rId4">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Clr>
                <a:schemeClr val="bg1"/>
              </a:buClr>
              <a:buFont typeface="Arial" panose="020B0604020202020204" pitchFamily="34" charset="0"/>
              <a:buChar char="•"/>
            </a:pPr>
            <a:endParaRPr lang="en-GB" sz="2800" dirty="0">
              <a:solidFill>
                <a:schemeClr val="bg1"/>
              </a:solidFill>
            </a:endParaRPr>
          </a:p>
        </p:txBody>
      </p:sp>
      <p:sp>
        <p:nvSpPr>
          <p:cNvPr id="2" name="Rectangle: Rounded Corners 1">
            <a:extLst>
              <a:ext uri="{FF2B5EF4-FFF2-40B4-BE49-F238E27FC236}">
                <a16:creationId xmlns:a16="http://schemas.microsoft.com/office/drawing/2014/main" id="{C8FB135B-0169-0C8D-CB5F-C607B83A96AC}"/>
              </a:ext>
            </a:extLst>
          </p:cNvPr>
          <p:cNvSpPr/>
          <p:nvPr/>
        </p:nvSpPr>
        <p:spPr>
          <a:xfrm>
            <a:off x="9740900" y="3070225"/>
            <a:ext cx="1139825" cy="838200"/>
          </a:xfrm>
          <a:prstGeom prst="roundRect">
            <a:avLst/>
          </a:prstGeom>
          <a:solidFill>
            <a:schemeClr val="accent2">
              <a:lumMod val="20000"/>
              <a:lumOff val="80000"/>
              <a:alpha val="50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5883672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68C991-DD07-2D75-5237-786988C8B978}"/>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DFF4F596-6F07-7F61-9F70-DB8C1539E029}"/>
              </a:ext>
            </a:extLst>
          </p:cNvPr>
          <p:cNvSpPr/>
          <p:nvPr/>
        </p:nvSpPr>
        <p:spPr>
          <a:xfrm>
            <a:off x="0" y="0"/>
            <a:ext cx="12192000" cy="685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ound Diagonal Corner Rectangle 3">
            <a:extLst>
              <a:ext uri="{FF2B5EF4-FFF2-40B4-BE49-F238E27FC236}">
                <a16:creationId xmlns:a16="http://schemas.microsoft.com/office/drawing/2014/main" id="{35075AC9-0F6E-D89F-5E20-DD47039BEC57}"/>
              </a:ext>
            </a:extLst>
          </p:cNvPr>
          <p:cNvSpPr/>
          <p:nvPr/>
        </p:nvSpPr>
        <p:spPr>
          <a:xfrm>
            <a:off x="622929" y="402811"/>
            <a:ext cx="5232439"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solidFill>
                  <a:schemeClr val="bg1"/>
                </a:solidFill>
              </a:rPr>
              <a:t>RADIOCARPAL JOINT</a:t>
            </a:r>
          </a:p>
        </p:txBody>
      </p:sp>
      <p:pic>
        <p:nvPicPr>
          <p:cNvPr id="19" name="Picture 18" descr="COSMOS GRAPHIC WHITE.png">
            <a:extLst>
              <a:ext uri="{FF2B5EF4-FFF2-40B4-BE49-F238E27FC236}">
                <a16:creationId xmlns:a16="http://schemas.microsoft.com/office/drawing/2014/main" id="{EFCAC727-E9FD-DB9C-4DA1-8411E6C5CB88}"/>
              </a:ext>
            </a:extLst>
          </p:cNvPr>
          <p:cNvPicPr>
            <a:picLocks noChangeAspect="1"/>
          </p:cNvPicPr>
          <p:nvPr/>
        </p:nvPicPr>
        <p:blipFill rotWithShape="1">
          <a:blip r:embed="rId3"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sp>
        <p:nvSpPr>
          <p:cNvPr id="3" name="Round Diagonal Corner Rectangle 2">
            <a:extLst>
              <a:ext uri="{FF2B5EF4-FFF2-40B4-BE49-F238E27FC236}">
                <a16:creationId xmlns:a16="http://schemas.microsoft.com/office/drawing/2014/main" id="{61DB47AF-F8F3-6DF8-A2BA-C12E29FFBCE8}"/>
              </a:ext>
            </a:extLst>
          </p:cNvPr>
          <p:cNvSpPr/>
          <p:nvPr/>
        </p:nvSpPr>
        <p:spPr>
          <a:xfrm>
            <a:off x="622930" y="1435100"/>
            <a:ext cx="5473070" cy="5159767"/>
          </a:xfrm>
          <a:prstGeom prst="round2DiagRect">
            <a:avLst/>
          </a:prstGeom>
          <a:no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Clr>
                <a:schemeClr val="bg1"/>
              </a:buClr>
              <a:buFont typeface="Arial" panose="020B0604020202020204" pitchFamily="34" charset="0"/>
              <a:buChar char="•"/>
            </a:pPr>
            <a:r>
              <a:rPr lang="en-GB" sz="2400" dirty="0">
                <a:solidFill>
                  <a:schemeClr val="bg1"/>
                </a:solidFill>
              </a:rPr>
              <a:t>The wrist is an ellipsoidal (condyloid) type synovial joint, allowing for movement along two axes</a:t>
            </a:r>
          </a:p>
          <a:p>
            <a:pPr marL="342900" indent="-342900">
              <a:buClr>
                <a:schemeClr val="bg1"/>
              </a:buClr>
              <a:buFont typeface="Arial" panose="020B0604020202020204" pitchFamily="34" charset="0"/>
              <a:buChar char="•"/>
            </a:pPr>
            <a:r>
              <a:rPr lang="en-GB" sz="2400" dirty="0">
                <a:solidFill>
                  <a:schemeClr val="bg1"/>
                </a:solidFill>
              </a:rPr>
              <a:t>Compromised of the distal end of the radius (and ulnar) and the proximal row of carpals</a:t>
            </a:r>
          </a:p>
          <a:p>
            <a:pPr marL="342900" indent="-342900">
              <a:buClr>
                <a:schemeClr val="bg1"/>
              </a:buClr>
              <a:buFont typeface="Arial" panose="020B0604020202020204" pitchFamily="34" charset="0"/>
              <a:buChar char="•"/>
            </a:pPr>
            <a:r>
              <a:rPr lang="en-GB" sz="2400" dirty="0">
                <a:solidFill>
                  <a:schemeClr val="bg1"/>
                </a:solidFill>
              </a:rPr>
              <a:t>Produces flexion, extension, ulnar deviation and radial deviation </a:t>
            </a:r>
          </a:p>
        </p:txBody>
      </p:sp>
      <p:sp>
        <p:nvSpPr>
          <p:cNvPr id="9" name="Round Diagonal Corner Rectangle 2">
            <a:extLst>
              <a:ext uri="{FF2B5EF4-FFF2-40B4-BE49-F238E27FC236}">
                <a16:creationId xmlns:a16="http://schemas.microsoft.com/office/drawing/2014/main" id="{F9231968-7645-782F-8D05-2010F4AF91C2}"/>
              </a:ext>
            </a:extLst>
          </p:cNvPr>
          <p:cNvSpPr/>
          <p:nvPr/>
        </p:nvSpPr>
        <p:spPr>
          <a:xfrm>
            <a:off x="6577819" y="3537857"/>
            <a:ext cx="5473070" cy="2949766"/>
          </a:xfrm>
          <a:prstGeom prst="round2DiagRect">
            <a:avLst/>
          </a:prstGeom>
          <a:blipFill dpi="0" rotWithShape="1">
            <a:blip r:embed="rId4">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Clr>
                <a:schemeClr val="bg1"/>
              </a:buClr>
              <a:buFont typeface="Arial" panose="020B0604020202020204" pitchFamily="34" charset="0"/>
              <a:buChar char="•"/>
            </a:pPr>
            <a:endParaRPr lang="en-GB" sz="2800" dirty="0">
              <a:solidFill>
                <a:schemeClr val="bg1"/>
              </a:solidFill>
            </a:endParaRPr>
          </a:p>
        </p:txBody>
      </p:sp>
      <p:sp>
        <p:nvSpPr>
          <p:cNvPr id="2" name="Round Diagonal Corner Rectangle 2">
            <a:extLst>
              <a:ext uri="{FF2B5EF4-FFF2-40B4-BE49-F238E27FC236}">
                <a16:creationId xmlns:a16="http://schemas.microsoft.com/office/drawing/2014/main" id="{564AF39C-7195-25AC-6965-7DCE090895DA}"/>
              </a:ext>
            </a:extLst>
          </p:cNvPr>
          <p:cNvSpPr/>
          <p:nvPr/>
        </p:nvSpPr>
        <p:spPr>
          <a:xfrm>
            <a:off x="6577819" y="402811"/>
            <a:ext cx="5473070" cy="2949767"/>
          </a:xfrm>
          <a:prstGeom prst="round2DiagRect">
            <a:avLst/>
          </a:prstGeom>
          <a:blipFill dpi="0" rotWithShape="1">
            <a:blip r:embed="rId5">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Clr>
                <a:schemeClr val="bg1"/>
              </a:buClr>
              <a:buFont typeface="Arial" panose="020B0604020202020204" pitchFamily="34" charset="0"/>
              <a:buChar char="•"/>
            </a:pPr>
            <a:endParaRPr lang="en-GB" sz="2800" dirty="0">
              <a:solidFill>
                <a:schemeClr val="bg1"/>
              </a:solidFill>
            </a:endParaRPr>
          </a:p>
        </p:txBody>
      </p:sp>
    </p:spTree>
    <p:extLst>
      <p:ext uri="{BB962C8B-B14F-4D97-AF65-F5344CB8AC3E}">
        <p14:creationId xmlns:p14="http://schemas.microsoft.com/office/powerpoint/2010/main" val="32490803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509F81-9A06-8AC6-EBDB-541AF65FACB0}"/>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BE86F8B3-1679-E312-385F-DD1DBFB9D9AC}"/>
              </a:ext>
            </a:extLst>
          </p:cNvPr>
          <p:cNvSpPr/>
          <p:nvPr/>
        </p:nvSpPr>
        <p:spPr>
          <a:xfrm>
            <a:off x="0" y="0"/>
            <a:ext cx="12192000" cy="685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ound Diagonal Corner Rectangle 3">
            <a:extLst>
              <a:ext uri="{FF2B5EF4-FFF2-40B4-BE49-F238E27FC236}">
                <a16:creationId xmlns:a16="http://schemas.microsoft.com/office/drawing/2014/main" id="{04A7C152-99BB-0E73-E555-79B1910EBEBF}"/>
              </a:ext>
            </a:extLst>
          </p:cNvPr>
          <p:cNvSpPr/>
          <p:nvPr/>
        </p:nvSpPr>
        <p:spPr>
          <a:xfrm>
            <a:off x="622929" y="402811"/>
            <a:ext cx="5232439"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solidFill>
                  <a:schemeClr val="bg1"/>
                </a:solidFill>
              </a:rPr>
              <a:t>RADIOCARPAL JOINT</a:t>
            </a:r>
          </a:p>
        </p:txBody>
      </p:sp>
      <p:pic>
        <p:nvPicPr>
          <p:cNvPr id="19" name="Picture 18" descr="COSMOS GRAPHIC WHITE.png">
            <a:extLst>
              <a:ext uri="{FF2B5EF4-FFF2-40B4-BE49-F238E27FC236}">
                <a16:creationId xmlns:a16="http://schemas.microsoft.com/office/drawing/2014/main" id="{9337B63A-A211-2FEA-F440-EAAF5E29AAE2}"/>
              </a:ext>
            </a:extLst>
          </p:cNvPr>
          <p:cNvPicPr>
            <a:picLocks noChangeAspect="1"/>
          </p:cNvPicPr>
          <p:nvPr/>
        </p:nvPicPr>
        <p:blipFill rotWithShape="1">
          <a:blip r:embed="rId3"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sp>
        <p:nvSpPr>
          <p:cNvPr id="9" name="Round Diagonal Corner Rectangle 2">
            <a:extLst>
              <a:ext uri="{FF2B5EF4-FFF2-40B4-BE49-F238E27FC236}">
                <a16:creationId xmlns:a16="http://schemas.microsoft.com/office/drawing/2014/main" id="{24436BD5-D264-29A9-DCAC-79E23B788B55}"/>
              </a:ext>
            </a:extLst>
          </p:cNvPr>
          <p:cNvSpPr/>
          <p:nvPr/>
        </p:nvSpPr>
        <p:spPr>
          <a:xfrm>
            <a:off x="622929" y="1327856"/>
            <a:ext cx="8233200" cy="5159767"/>
          </a:xfrm>
          <a:prstGeom prst="round2DiagRect">
            <a:avLst/>
          </a:prstGeom>
          <a:blipFill dpi="0" rotWithShape="1">
            <a:blip r:embed="rId4">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Clr>
                <a:schemeClr val="bg1"/>
              </a:buClr>
              <a:buFont typeface="Arial" panose="020B0604020202020204" pitchFamily="34" charset="0"/>
              <a:buChar char="•"/>
            </a:pPr>
            <a:endParaRPr lang="en-GB" sz="2800" dirty="0">
              <a:solidFill>
                <a:schemeClr val="bg1"/>
              </a:solidFill>
            </a:endParaRPr>
          </a:p>
        </p:txBody>
      </p:sp>
      <p:sp>
        <p:nvSpPr>
          <p:cNvPr id="2" name="Round Diagonal Corner Rectangle 2">
            <a:extLst>
              <a:ext uri="{FF2B5EF4-FFF2-40B4-BE49-F238E27FC236}">
                <a16:creationId xmlns:a16="http://schemas.microsoft.com/office/drawing/2014/main" id="{AE0D7428-69C6-00C0-CD83-1AE519678EF4}"/>
              </a:ext>
            </a:extLst>
          </p:cNvPr>
          <p:cNvSpPr/>
          <p:nvPr/>
        </p:nvSpPr>
        <p:spPr>
          <a:xfrm>
            <a:off x="9157330" y="1326042"/>
            <a:ext cx="2729870" cy="5159767"/>
          </a:xfrm>
          <a:prstGeom prst="round2DiagRect">
            <a:avLst/>
          </a:prstGeom>
          <a:solidFill>
            <a:srgbClr val="525252"/>
          </a:solid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Clr>
                <a:schemeClr val="bg1"/>
              </a:buClr>
              <a:buFont typeface="Arial" panose="020B0604020202020204" pitchFamily="34" charset="0"/>
              <a:buChar char="•"/>
            </a:pPr>
            <a:r>
              <a:rPr lang="en-GB" sz="2800" dirty="0">
                <a:solidFill>
                  <a:schemeClr val="bg1"/>
                </a:solidFill>
              </a:rPr>
              <a:t>The dorsal aspect of the wrist includes the dorsal radiocarpal ligament</a:t>
            </a:r>
          </a:p>
        </p:txBody>
      </p:sp>
    </p:spTree>
    <p:extLst>
      <p:ext uri="{BB962C8B-B14F-4D97-AF65-F5344CB8AC3E}">
        <p14:creationId xmlns:p14="http://schemas.microsoft.com/office/powerpoint/2010/main" val="9749984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325730-A8B1-166B-5E0C-A6815EA307C0}"/>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4C2BF584-4EE7-A0DE-518A-F29FD2F5ECAB}"/>
              </a:ext>
            </a:extLst>
          </p:cNvPr>
          <p:cNvSpPr/>
          <p:nvPr/>
        </p:nvSpPr>
        <p:spPr>
          <a:xfrm>
            <a:off x="0" y="0"/>
            <a:ext cx="12192000" cy="685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ound Diagonal Corner Rectangle 3">
            <a:extLst>
              <a:ext uri="{FF2B5EF4-FFF2-40B4-BE49-F238E27FC236}">
                <a16:creationId xmlns:a16="http://schemas.microsoft.com/office/drawing/2014/main" id="{C209EF02-F23F-9A28-DC3F-C85AC765C094}"/>
              </a:ext>
            </a:extLst>
          </p:cNvPr>
          <p:cNvSpPr/>
          <p:nvPr/>
        </p:nvSpPr>
        <p:spPr>
          <a:xfrm>
            <a:off x="622928" y="402811"/>
            <a:ext cx="4359379"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solidFill>
                  <a:schemeClr val="bg1"/>
                </a:solidFill>
              </a:rPr>
              <a:t>CARPAL TUNNEL</a:t>
            </a:r>
          </a:p>
        </p:txBody>
      </p:sp>
      <p:pic>
        <p:nvPicPr>
          <p:cNvPr id="19" name="Picture 18" descr="COSMOS GRAPHIC WHITE.png">
            <a:extLst>
              <a:ext uri="{FF2B5EF4-FFF2-40B4-BE49-F238E27FC236}">
                <a16:creationId xmlns:a16="http://schemas.microsoft.com/office/drawing/2014/main" id="{D45EF45C-7EC7-CC68-37D6-97624E3568AD}"/>
              </a:ext>
            </a:extLst>
          </p:cNvPr>
          <p:cNvPicPr>
            <a:picLocks noChangeAspect="1"/>
          </p:cNvPicPr>
          <p:nvPr/>
        </p:nvPicPr>
        <p:blipFill rotWithShape="1">
          <a:blip r:embed="rId3"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sp>
        <p:nvSpPr>
          <p:cNvPr id="3" name="Round Diagonal Corner Rectangle 2">
            <a:extLst>
              <a:ext uri="{FF2B5EF4-FFF2-40B4-BE49-F238E27FC236}">
                <a16:creationId xmlns:a16="http://schemas.microsoft.com/office/drawing/2014/main" id="{DA507040-E21E-7F0B-9612-A0A4973DC4B7}"/>
              </a:ext>
            </a:extLst>
          </p:cNvPr>
          <p:cNvSpPr/>
          <p:nvPr/>
        </p:nvSpPr>
        <p:spPr>
          <a:xfrm>
            <a:off x="622930" y="1435100"/>
            <a:ext cx="5473070" cy="5159767"/>
          </a:xfrm>
          <a:prstGeom prst="round2DiagRect">
            <a:avLst/>
          </a:prstGeom>
          <a:no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Clr>
                <a:schemeClr val="bg1"/>
              </a:buClr>
              <a:buFont typeface="Arial" panose="020B0604020202020204" pitchFamily="34" charset="0"/>
              <a:buChar char="•"/>
            </a:pPr>
            <a:r>
              <a:rPr lang="en-GB" sz="2400" dirty="0">
                <a:solidFill>
                  <a:schemeClr val="bg1"/>
                </a:solidFill>
              </a:rPr>
              <a:t>The flexor retinaculum is a thick connective tissue ligament that bridges the space between the medial and lateral sides of the base of the carpal arch (Scaphoid to Pisiform and Trapezium to Hamate)</a:t>
            </a:r>
          </a:p>
          <a:p>
            <a:pPr marL="342900" indent="-342900">
              <a:buClr>
                <a:schemeClr val="bg1"/>
              </a:buClr>
              <a:buFont typeface="Arial" panose="020B0604020202020204" pitchFamily="34" charset="0"/>
              <a:buChar char="•"/>
            </a:pPr>
            <a:r>
              <a:rPr lang="en-GB" sz="2400" dirty="0">
                <a:solidFill>
                  <a:schemeClr val="bg1"/>
                </a:solidFill>
              </a:rPr>
              <a:t>Converts the carpal arch into the carpal tunnel</a:t>
            </a:r>
          </a:p>
          <a:p>
            <a:pPr marL="342900" indent="-342900">
              <a:buClr>
                <a:schemeClr val="bg1"/>
              </a:buClr>
              <a:buFont typeface="Arial" panose="020B0604020202020204" pitchFamily="34" charset="0"/>
              <a:buChar char="•"/>
            </a:pPr>
            <a:r>
              <a:rPr lang="en-GB" sz="2400" dirty="0">
                <a:solidFill>
                  <a:schemeClr val="bg1"/>
                </a:solidFill>
              </a:rPr>
              <a:t>It also holds the flexor tendons close to radio-carpal joint</a:t>
            </a:r>
          </a:p>
        </p:txBody>
      </p:sp>
      <p:sp>
        <p:nvSpPr>
          <p:cNvPr id="9" name="Round Diagonal Corner Rectangle 2">
            <a:extLst>
              <a:ext uri="{FF2B5EF4-FFF2-40B4-BE49-F238E27FC236}">
                <a16:creationId xmlns:a16="http://schemas.microsoft.com/office/drawing/2014/main" id="{F6349DBD-D31B-42BB-4B05-28B1A13FF868}"/>
              </a:ext>
            </a:extLst>
          </p:cNvPr>
          <p:cNvSpPr/>
          <p:nvPr/>
        </p:nvSpPr>
        <p:spPr>
          <a:xfrm>
            <a:off x="6577819" y="402812"/>
            <a:ext cx="5473070" cy="6084812"/>
          </a:xfrm>
          <a:prstGeom prst="round2DiagRect">
            <a:avLst/>
          </a:prstGeom>
          <a:blipFill dpi="0" rotWithShape="1">
            <a:blip r:embed="rId4">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Clr>
                <a:schemeClr val="bg1"/>
              </a:buClr>
              <a:buFont typeface="Arial" panose="020B0604020202020204" pitchFamily="34" charset="0"/>
              <a:buChar char="•"/>
            </a:pPr>
            <a:endParaRPr lang="en-GB" sz="2800" dirty="0">
              <a:solidFill>
                <a:schemeClr val="bg1"/>
              </a:solidFill>
            </a:endParaRPr>
          </a:p>
        </p:txBody>
      </p:sp>
    </p:spTree>
    <p:extLst>
      <p:ext uri="{BB962C8B-B14F-4D97-AF65-F5344CB8AC3E}">
        <p14:creationId xmlns:p14="http://schemas.microsoft.com/office/powerpoint/2010/main" val="14986014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F70A9C-F792-74F9-23F2-DC03318812DF}"/>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C6E9C75B-3F8F-DE97-CFD7-B2DC4E1B763D}"/>
              </a:ext>
            </a:extLst>
          </p:cNvPr>
          <p:cNvSpPr/>
          <p:nvPr/>
        </p:nvSpPr>
        <p:spPr>
          <a:xfrm>
            <a:off x="0" y="0"/>
            <a:ext cx="12192000" cy="685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ound Diagonal Corner Rectangle 3">
            <a:extLst>
              <a:ext uri="{FF2B5EF4-FFF2-40B4-BE49-F238E27FC236}">
                <a16:creationId xmlns:a16="http://schemas.microsoft.com/office/drawing/2014/main" id="{2AA001FE-D730-83E0-D078-C4CEA348BB0C}"/>
              </a:ext>
            </a:extLst>
          </p:cNvPr>
          <p:cNvSpPr/>
          <p:nvPr/>
        </p:nvSpPr>
        <p:spPr>
          <a:xfrm>
            <a:off x="622928" y="402811"/>
            <a:ext cx="4359379"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solidFill>
                  <a:schemeClr val="bg1"/>
                </a:solidFill>
              </a:rPr>
              <a:t>CARPAL TUNNEL</a:t>
            </a:r>
          </a:p>
        </p:txBody>
      </p:sp>
      <p:pic>
        <p:nvPicPr>
          <p:cNvPr id="19" name="Picture 18" descr="COSMOS GRAPHIC WHITE.png">
            <a:extLst>
              <a:ext uri="{FF2B5EF4-FFF2-40B4-BE49-F238E27FC236}">
                <a16:creationId xmlns:a16="http://schemas.microsoft.com/office/drawing/2014/main" id="{7C89DE96-798D-D403-089E-7EC60B6D0A80}"/>
              </a:ext>
            </a:extLst>
          </p:cNvPr>
          <p:cNvPicPr>
            <a:picLocks noChangeAspect="1"/>
          </p:cNvPicPr>
          <p:nvPr/>
        </p:nvPicPr>
        <p:blipFill rotWithShape="1">
          <a:blip r:embed="rId3"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sp>
        <p:nvSpPr>
          <p:cNvPr id="3" name="Round Diagonal Corner Rectangle 2">
            <a:extLst>
              <a:ext uri="{FF2B5EF4-FFF2-40B4-BE49-F238E27FC236}">
                <a16:creationId xmlns:a16="http://schemas.microsoft.com/office/drawing/2014/main" id="{59A58440-F590-3522-47F6-15C80E447841}"/>
              </a:ext>
            </a:extLst>
          </p:cNvPr>
          <p:cNvSpPr/>
          <p:nvPr/>
        </p:nvSpPr>
        <p:spPr>
          <a:xfrm>
            <a:off x="622930" y="1435100"/>
            <a:ext cx="5473070" cy="5159767"/>
          </a:xfrm>
          <a:prstGeom prst="round2DiagRect">
            <a:avLst/>
          </a:prstGeom>
          <a:no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Clr>
                <a:schemeClr val="bg1"/>
              </a:buClr>
              <a:buFont typeface="Arial" panose="020B0604020202020204" pitchFamily="34" charset="0"/>
              <a:buChar char="•"/>
            </a:pPr>
            <a:r>
              <a:rPr lang="en-GB" sz="2800" dirty="0">
                <a:solidFill>
                  <a:schemeClr val="bg1"/>
                </a:solidFill>
              </a:rPr>
              <a:t>The four tendons of the flexor digitorum </a:t>
            </a:r>
            <a:r>
              <a:rPr lang="en-GB" sz="2800" dirty="0" err="1">
                <a:solidFill>
                  <a:schemeClr val="bg1"/>
                </a:solidFill>
              </a:rPr>
              <a:t>profundus</a:t>
            </a:r>
            <a:r>
              <a:rPr lang="en-GB" sz="2800" dirty="0">
                <a:solidFill>
                  <a:schemeClr val="bg1"/>
                </a:solidFill>
              </a:rPr>
              <a:t>, the four tendons of the flexor digitorum superficialis, and the tendon of the flexor pollicis longus pass through the carpal tunnel, as does the median nerve</a:t>
            </a:r>
          </a:p>
        </p:txBody>
      </p:sp>
      <p:sp>
        <p:nvSpPr>
          <p:cNvPr id="9" name="Round Diagonal Corner Rectangle 2">
            <a:extLst>
              <a:ext uri="{FF2B5EF4-FFF2-40B4-BE49-F238E27FC236}">
                <a16:creationId xmlns:a16="http://schemas.microsoft.com/office/drawing/2014/main" id="{99ABF09C-A3FF-CDAC-1206-CF35229C2819}"/>
              </a:ext>
            </a:extLst>
          </p:cNvPr>
          <p:cNvSpPr/>
          <p:nvPr/>
        </p:nvSpPr>
        <p:spPr>
          <a:xfrm>
            <a:off x="6577819" y="402812"/>
            <a:ext cx="5473070" cy="6084812"/>
          </a:xfrm>
          <a:prstGeom prst="round2DiagRect">
            <a:avLst/>
          </a:prstGeom>
          <a:blipFill dpi="0" rotWithShape="1">
            <a:blip r:embed="rId4">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Clr>
                <a:schemeClr val="bg1"/>
              </a:buClr>
              <a:buFont typeface="Arial" panose="020B0604020202020204" pitchFamily="34" charset="0"/>
              <a:buChar char="•"/>
            </a:pPr>
            <a:endParaRPr lang="en-GB" sz="2800" dirty="0">
              <a:solidFill>
                <a:schemeClr val="bg1"/>
              </a:solidFill>
            </a:endParaRPr>
          </a:p>
        </p:txBody>
      </p:sp>
    </p:spTree>
    <p:extLst>
      <p:ext uri="{BB962C8B-B14F-4D97-AF65-F5344CB8AC3E}">
        <p14:creationId xmlns:p14="http://schemas.microsoft.com/office/powerpoint/2010/main" val="23806668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ound Diagonal Corner Rectangle 3"/>
          <p:cNvSpPr/>
          <p:nvPr/>
        </p:nvSpPr>
        <p:spPr>
          <a:xfrm>
            <a:off x="797820" y="326611"/>
            <a:ext cx="4256780"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t>ANY QUESTIONS?</a:t>
            </a:r>
          </a:p>
        </p:txBody>
      </p:sp>
      <p:pic>
        <p:nvPicPr>
          <p:cNvPr id="19" name="Picture 18" descr="COSMOS GRAPHIC WHITE.png"/>
          <p:cNvPicPr>
            <a:picLocks noChangeAspect="1"/>
          </p:cNvPicPr>
          <p:nvPr/>
        </p:nvPicPr>
        <p:blipFill rotWithShape="1">
          <a:blip r:embed="rId2"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sp>
        <p:nvSpPr>
          <p:cNvPr id="3" name="Round Diagonal Corner Rectangle 2"/>
          <p:cNvSpPr/>
          <p:nvPr/>
        </p:nvSpPr>
        <p:spPr>
          <a:xfrm>
            <a:off x="797819" y="1358901"/>
            <a:ext cx="7963796" cy="4842394"/>
          </a:xfrm>
          <a:prstGeom prst="round2DiagRect">
            <a:avLst/>
          </a:prstGeom>
          <a:blipFill>
            <a:blip r:embed="rId3"/>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endParaRPr lang="en-GB" sz="3200" dirty="0">
              <a:solidFill>
                <a:schemeClr val="bg1"/>
              </a:solidFill>
            </a:endParaRPr>
          </a:p>
        </p:txBody>
      </p:sp>
    </p:spTree>
    <p:extLst>
      <p:ext uri="{BB962C8B-B14F-4D97-AF65-F5344CB8AC3E}">
        <p14:creationId xmlns:p14="http://schemas.microsoft.com/office/powerpoint/2010/main" val="17631746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ound Diagonal Corner Rectangle 3"/>
          <p:cNvSpPr/>
          <p:nvPr/>
        </p:nvSpPr>
        <p:spPr>
          <a:xfrm>
            <a:off x="622930" y="402811"/>
            <a:ext cx="3179205"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t>MUSCLES</a:t>
            </a:r>
          </a:p>
        </p:txBody>
      </p:sp>
      <p:pic>
        <p:nvPicPr>
          <p:cNvPr id="19" name="Picture 18" descr="COSMOS GRAPHIC WHITE.png"/>
          <p:cNvPicPr>
            <a:picLocks noChangeAspect="1"/>
          </p:cNvPicPr>
          <p:nvPr/>
        </p:nvPicPr>
        <p:blipFill rotWithShape="1">
          <a:blip r:embed="rId3"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sp>
        <p:nvSpPr>
          <p:cNvPr id="3" name="Round Diagonal Corner Rectangle 2"/>
          <p:cNvSpPr/>
          <p:nvPr/>
        </p:nvSpPr>
        <p:spPr>
          <a:xfrm>
            <a:off x="622930" y="1435100"/>
            <a:ext cx="5959431" cy="5159767"/>
          </a:xfrm>
          <a:prstGeom prst="round2DiagRect">
            <a:avLst/>
          </a:prstGeom>
          <a:blipFill dpi="0" rotWithShape="1">
            <a:blip r:embed="rId4">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endParaRPr lang="en-GB" sz="2800" dirty="0">
              <a:solidFill>
                <a:schemeClr val="bg1"/>
              </a:solidFill>
            </a:endParaRPr>
          </a:p>
        </p:txBody>
      </p:sp>
      <p:sp>
        <p:nvSpPr>
          <p:cNvPr id="6" name="Round Diagonal Corner Rectangle 7">
            <a:extLst>
              <a:ext uri="{FF2B5EF4-FFF2-40B4-BE49-F238E27FC236}">
                <a16:creationId xmlns:a16="http://schemas.microsoft.com/office/drawing/2014/main" id="{15FA7B29-0F42-BF63-37E2-21B8BA235D32}"/>
              </a:ext>
            </a:extLst>
          </p:cNvPr>
          <p:cNvSpPr/>
          <p:nvPr/>
        </p:nvSpPr>
        <p:spPr>
          <a:xfrm>
            <a:off x="6743700" y="1435100"/>
            <a:ext cx="5286961" cy="5159767"/>
          </a:xfrm>
          <a:prstGeom prst="round2DiagRect">
            <a:avLst/>
          </a:prstGeom>
          <a:blipFill dpi="0" rotWithShape="1">
            <a:blip r:embed="rId5">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Rectangle 1">
            <a:extLst>
              <a:ext uri="{FF2B5EF4-FFF2-40B4-BE49-F238E27FC236}">
                <a16:creationId xmlns:a16="http://schemas.microsoft.com/office/drawing/2014/main" id="{F273CCC1-49EF-AA51-6E09-A3C286973D2C}"/>
              </a:ext>
            </a:extLst>
          </p:cNvPr>
          <p:cNvSpPr/>
          <p:nvPr/>
        </p:nvSpPr>
        <p:spPr>
          <a:xfrm>
            <a:off x="8476891" y="6291532"/>
            <a:ext cx="1489494" cy="25879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9525897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ound Diagonal Corner Rectangle 3"/>
          <p:cNvSpPr/>
          <p:nvPr/>
        </p:nvSpPr>
        <p:spPr>
          <a:xfrm>
            <a:off x="622929" y="402811"/>
            <a:ext cx="2556277"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t>MUSCLES</a:t>
            </a:r>
          </a:p>
        </p:txBody>
      </p:sp>
      <p:pic>
        <p:nvPicPr>
          <p:cNvPr id="19" name="Picture 18" descr="COSMOS GRAPHIC WHITE.png"/>
          <p:cNvPicPr>
            <a:picLocks noChangeAspect="1"/>
          </p:cNvPicPr>
          <p:nvPr/>
        </p:nvPicPr>
        <p:blipFill rotWithShape="1">
          <a:blip r:embed="rId3"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sp>
        <p:nvSpPr>
          <p:cNvPr id="8" name="Round Diagonal Corner Rectangle 3">
            <a:extLst>
              <a:ext uri="{FF2B5EF4-FFF2-40B4-BE49-F238E27FC236}">
                <a16:creationId xmlns:a16="http://schemas.microsoft.com/office/drawing/2014/main" id="{7C580129-A0D0-E6A1-4FAA-43A4C34C02A0}"/>
              </a:ext>
            </a:extLst>
          </p:cNvPr>
          <p:cNvSpPr/>
          <p:nvPr/>
        </p:nvSpPr>
        <p:spPr>
          <a:xfrm>
            <a:off x="622930" y="1435100"/>
            <a:ext cx="5473070"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t>FLEXORS OF THE WRIST</a:t>
            </a:r>
          </a:p>
        </p:txBody>
      </p:sp>
      <p:sp>
        <p:nvSpPr>
          <p:cNvPr id="10" name="Round Diagonal Corner Rectangle 2">
            <a:extLst>
              <a:ext uri="{FF2B5EF4-FFF2-40B4-BE49-F238E27FC236}">
                <a16:creationId xmlns:a16="http://schemas.microsoft.com/office/drawing/2014/main" id="{58A3FD29-DAE6-EBDA-EAEC-9386C377D750}"/>
              </a:ext>
            </a:extLst>
          </p:cNvPr>
          <p:cNvSpPr/>
          <p:nvPr/>
        </p:nvSpPr>
        <p:spPr>
          <a:xfrm>
            <a:off x="622929" y="2435830"/>
            <a:ext cx="6312680" cy="4088810"/>
          </a:xfrm>
          <a:prstGeom prst="round2DiagRect">
            <a:avLst/>
          </a:prstGeom>
          <a:solidFill>
            <a:srgbClr val="525252"/>
          </a:solid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r>
              <a:rPr lang="en-GB" altLang="en-US" sz="2800" dirty="0"/>
              <a:t>Flexors originate from the medial epicondyle of the humerus</a:t>
            </a:r>
          </a:p>
          <a:p>
            <a:pPr marL="914400" lvl="1" indent="-457200">
              <a:buClr>
                <a:schemeClr val="bg1"/>
              </a:buClr>
              <a:buFont typeface="Arial" panose="020B0604020202020204" pitchFamily="34" charset="0"/>
              <a:buChar char="•"/>
            </a:pPr>
            <a:r>
              <a:rPr lang="en-GB" altLang="en-US" sz="2800" dirty="0"/>
              <a:t>Flexor carpi radialis</a:t>
            </a:r>
          </a:p>
          <a:p>
            <a:pPr marL="914400" lvl="1" indent="-457200">
              <a:buClr>
                <a:schemeClr val="bg1"/>
              </a:buClr>
              <a:buFont typeface="Arial" panose="020B0604020202020204" pitchFamily="34" charset="0"/>
              <a:buChar char="•"/>
            </a:pPr>
            <a:r>
              <a:rPr lang="en-GB" altLang="en-US" sz="2800" dirty="0"/>
              <a:t>Flexors carpi </a:t>
            </a:r>
            <a:r>
              <a:rPr lang="en-GB" altLang="en-US" sz="2800" dirty="0" err="1"/>
              <a:t>ulnaris</a:t>
            </a:r>
            <a:endParaRPr lang="en-GB" altLang="en-US" sz="2800" dirty="0"/>
          </a:p>
          <a:p>
            <a:pPr marL="914400" lvl="1" indent="-457200">
              <a:buClr>
                <a:schemeClr val="bg1"/>
              </a:buClr>
              <a:buFont typeface="Arial" panose="020B0604020202020204" pitchFamily="34" charset="0"/>
              <a:buChar char="•"/>
            </a:pPr>
            <a:r>
              <a:rPr lang="en-GB" altLang="en-US" sz="2800" dirty="0"/>
              <a:t>Palmaris longus</a:t>
            </a:r>
          </a:p>
        </p:txBody>
      </p:sp>
      <p:sp>
        <p:nvSpPr>
          <p:cNvPr id="2" name="Round Diagonal Corner Rectangle 2">
            <a:extLst>
              <a:ext uri="{FF2B5EF4-FFF2-40B4-BE49-F238E27FC236}">
                <a16:creationId xmlns:a16="http://schemas.microsoft.com/office/drawing/2014/main" id="{A0D68D73-E6CA-3366-67E7-63835A2503E6}"/>
              </a:ext>
            </a:extLst>
          </p:cNvPr>
          <p:cNvSpPr/>
          <p:nvPr/>
        </p:nvSpPr>
        <p:spPr>
          <a:xfrm>
            <a:off x="7240409" y="421527"/>
            <a:ext cx="4646789" cy="3007473"/>
          </a:xfrm>
          <a:prstGeom prst="round2DiagRect">
            <a:avLst/>
          </a:prstGeom>
          <a:blipFill dpi="0" rotWithShape="1">
            <a:blip r:embed="rId4">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endParaRPr lang="en-GB" altLang="en-US" sz="2800" dirty="0"/>
          </a:p>
        </p:txBody>
      </p:sp>
      <p:sp>
        <p:nvSpPr>
          <p:cNvPr id="5" name="Round Diagonal Corner Rectangle 2">
            <a:extLst>
              <a:ext uri="{FF2B5EF4-FFF2-40B4-BE49-F238E27FC236}">
                <a16:creationId xmlns:a16="http://schemas.microsoft.com/office/drawing/2014/main" id="{17565574-CBA1-3300-D6E4-78222C792ED4}"/>
              </a:ext>
            </a:extLst>
          </p:cNvPr>
          <p:cNvSpPr/>
          <p:nvPr/>
        </p:nvSpPr>
        <p:spPr>
          <a:xfrm>
            <a:off x="7240409" y="3563797"/>
            <a:ext cx="4646789" cy="3007473"/>
          </a:xfrm>
          <a:prstGeom prst="round2DiagRect">
            <a:avLst/>
          </a:prstGeom>
          <a:blipFill dpi="0" rotWithShape="1">
            <a:blip r:embed="rId5">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endParaRPr lang="en-GB" altLang="en-US" sz="2800" dirty="0"/>
          </a:p>
        </p:txBody>
      </p:sp>
    </p:spTree>
    <p:extLst>
      <p:ext uri="{BB962C8B-B14F-4D97-AF65-F5344CB8AC3E}">
        <p14:creationId xmlns:p14="http://schemas.microsoft.com/office/powerpoint/2010/main" val="28379629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ound Diagonal Corner Rectangle 3"/>
          <p:cNvSpPr/>
          <p:nvPr/>
        </p:nvSpPr>
        <p:spPr>
          <a:xfrm>
            <a:off x="622929" y="402811"/>
            <a:ext cx="2556277"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t>MUSCLES</a:t>
            </a:r>
          </a:p>
        </p:txBody>
      </p:sp>
      <p:pic>
        <p:nvPicPr>
          <p:cNvPr id="19" name="Picture 18" descr="COSMOS GRAPHIC WHITE.png"/>
          <p:cNvPicPr>
            <a:picLocks noChangeAspect="1"/>
          </p:cNvPicPr>
          <p:nvPr/>
        </p:nvPicPr>
        <p:blipFill rotWithShape="1">
          <a:blip r:embed="rId3"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sp>
        <p:nvSpPr>
          <p:cNvPr id="8" name="Round Diagonal Corner Rectangle 3">
            <a:extLst>
              <a:ext uri="{FF2B5EF4-FFF2-40B4-BE49-F238E27FC236}">
                <a16:creationId xmlns:a16="http://schemas.microsoft.com/office/drawing/2014/main" id="{7C580129-A0D0-E6A1-4FAA-43A4C34C02A0}"/>
              </a:ext>
            </a:extLst>
          </p:cNvPr>
          <p:cNvSpPr/>
          <p:nvPr/>
        </p:nvSpPr>
        <p:spPr>
          <a:xfrm>
            <a:off x="622929" y="1435100"/>
            <a:ext cx="6042566"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t>EXTENSORS OF THE WRIST</a:t>
            </a:r>
          </a:p>
        </p:txBody>
      </p:sp>
      <p:sp>
        <p:nvSpPr>
          <p:cNvPr id="10" name="Round Diagonal Corner Rectangle 2">
            <a:extLst>
              <a:ext uri="{FF2B5EF4-FFF2-40B4-BE49-F238E27FC236}">
                <a16:creationId xmlns:a16="http://schemas.microsoft.com/office/drawing/2014/main" id="{58A3FD29-DAE6-EBDA-EAEC-9386C377D750}"/>
              </a:ext>
            </a:extLst>
          </p:cNvPr>
          <p:cNvSpPr/>
          <p:nvPr/>
        </p:nvSpPr>
        <p:spPr>
          <a:xfrm>
            <a:off x="622929" y="2435830"/>
            <a:ext cx="6312680" cy="4088810"/>
          </a:xfrm>
          <a:prstGeom prst="round2DiagRect">
            <a:avLst/>
          </a:prstGeom>
          <a:solidFill>
            <a:srgbClr val="525252"/>
          </a:solid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r>
              <a:rPr lang="en-GB" altLang="en-US" sz="2800" dirty="0"/>
              <a:t>Extensors originate from the lateral epicondyle of the humerus</a:t>
            </a:r>
          </a:p>
          <a:p>
            <a:pPr marL="914400" lvl="1" indent="-457200">
              <a:buClr>
                <a:schemeClr val="bg1"/>
              </a:buClr>
              <a:buFont typeface="Arial" panose="020B0604020202020204" pitchFamily="34" charset="0"/>
              <a:buChar char="•"/>
            </a:pPr>
            <a:r>
              <a:rPr lang="en-GB" altLang="en-US" sz="2800" dirty="0"/>
              <a:t>Extensor carpi radialis longus</a:t>
            </a:r>
          </a:p>
          <a:p>
            <a:pPr marL="914400" lvl="1" indent="-457200">
              <a:buClr>
                <a:schemeClr val="bg1"/>
              </a:buClr>
              <a:buFont typeface="Arial" panose="020B0604020202020204" pitchFamily="34" charset="0"/>
              <a:buChar char="•"/>
            </a:pPr>
            <a:r>
              <a:rPr lang="en-GB" altLang="en-US" sz="2800" dirty="0"/>
              <a:t>Extensor carpi radialis brevis</a:t>
            </a:r>
          </a:p>
          <a:p>
            <a:pPr marL="914400" lvl="1" indent="-457200">
              <a:buClr>
                <a:schemeClr val="bg1"/>
              </a:buClr>
              <a:buFont typeface="Arial" panose="020B0604020202020204" pitchFamily="34" charset="0"/>
              <a:buChar char="•"/>
            </a:pPr>
            <a:r>
              <a:rPr lang="en-GB" altLang="en-US" sz="2800" dirty="0"/>
              <a:t>Extensor carpi </a:t>
            </a:r>
            <a:r>
              <a:rPr lang="en-GB" altLang="en-US" sz="2800" dirty="0" err="1"/>
              <a:t>ulnaris</a:t>
            </a:r>
            <a:endParaRPr lang="en-GB" altLang="en-US" sz="2800" dirty="0"/>
          </a:p>
        </p:txBody>
      </p:sp>
      <p:sp>
        <p:nvSpPr>
          <p:cNvPr id="2" name="Round Diagonal Corner Rectangle 2">
            <a:extLst>
              <a:ext uri="{FF2B5EF4-FFF2-40B4-BE49-F238E27FC236}">
                <a16:creationId xmlns:a16="http://schemas.microsoft.com/office/drawing/2014/main" id="{A0D68D73-E6CA-3366-67E7-63835A2503E6}"/>
              </a:ext>
            </a:extLst>
          </p:cNvPr>
          <p:cNvSpPr/>
          <p:nvPr/>
        </p:nvSpPr>
        <p:spPr>
          <a:xfrm>
            <a:off x="7240410" y="421527"/>
            <a:ext cx="2360790" cy="3007473"/>
          </a:xfrm>
          <a:prstGeom prst="round2DiagRect">
            <a:avLst/>
          </a:prstGeom>
          <a:blipFill dpi="0" rotWithShape="1">
            <a:blip r:embed="rId4">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endParaRPr lang="en-GB" altLang="en-US" sz="2800" dirty="0"/>
          </a:p>
        </p:txBody>
      </p:sp>
      <p:sp>
        <p:nvSpPr>
          <p:cNvPr id="3" name="Round Diagonal Corner Rectangle 2">
            <a:extLst>
              <a:ext uri="{FF2B5EF4-FFF2-40B4-BE49-F238E27FC236}">
                <a16:creationId xmlns:a16="http://schemas.microsoft.com/office/drawing/2014/main" id="{F72D1482-72F1-0022-BA69-FA31ABBC2C65}"/>
              </a:ext>
            </a:extLst>
          </p:cNvPr>
          <p:cNvSpPr/>
          <p:nvPr/>
        </p:nvSpPr>
        <p:spPr>
          <a:xfrm>
            <a:off x="9716205" y="390728"/>
            <a:ext cx="2360790" cy="3007473"/>
          </a:xfrm>
          <a:prstGeom prst="round2DiagRect">
            <a:avLst/>
          </a:prstGeom>
          <a:blipFill dpi="0" rotWithShape="1">
            <a:blip r:embed="rId5">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endParaRPr lang="en-GB" altLang="en-US" sz="2800" dirty="0"/>
          </a:p>
        </p:txBody>
      </p:sp>
      <p:sp>
        <p:nvSpPr>
          <p:cNvPr id="6" name="Round Diagonal Corner Rectangle 2">
            <a:extLst>
              <a:ext uri="{FF2B5EF4-FFF2-40B4-BE49-F238E27FC236}">
                <a16:creationId xmlns:a16="http://schemas.microsoft.com/office/drawing/2014/main" id="{A58DA396-631F-4062-A7EA-2D8C9F88CFD6}"/>
              </a:ext>
            </a:extLst>
          </p:cNvPr>
          <p:cNvSpPr/>
          <p:nvPr/>
        </p:nvSpPr>
        <p:spPr>
          <a:xfrm>
            <a:off x="8431109" y="3587394"/>
            <a:ext cx="2360790" cy="3007473"/>
          </a:xfrm>
          <a:prstGeom prst="round2DiagRect">
            <a:avLst/>
          </a:prstGeom>
          <a:blipFill dpi="0" rotWithShape="1">
            <a:blip r:embed="rId6">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endParaRPr lang="en-GB" altLang="en-US" sz="2800" dirty="0"/>
          </a:p>
        </p:txBody>
      </p:sp>
    </p:spTree>
    <p:extLst>
      <p:ext uri="{BB962C8B-B14F-4D97-AF65-F5344CB8AC3E}">
        <p14:creationId xmlns:p14="http://schemas.microsoft.com/office/powerpoint/2010/main" val="36321781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ound Diagonal Corner Rectangle 3"/>
          <p:cNvSpPr/>
          <p:nvPr/>
        </p:nvSpPr>
        <p:spPr>
          <a:xfrm>
            <a:off x="622929" y="402811"/>
            <a:ext cx="2556277"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t>MUSCLES</a:t>
            </a:r>
          </a:p>
        </p:txBody>
      </p:sp>
      <p:pic>
        <p:nvPicPr>
          <p:cNvPr id="19" name="Picture 18" descr="COSMOS GRAPHIC WHITE.png"/>
          <p:cNvPicPr>
            <a:picLocks noChangeAspect="1"/>
          </p:cNvPicPr>
          <p:nvPr/>
        </p:nvPicPr>
        <p:blipFill rotWithShape="1">
          <a:blip r:embed="rId3"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sp>
        <p:nvSpPr>
          <p:cNvPr id="8" name="Round Diagonal Corner Rectangle 3">
            <a:extLst>
              <a:ext uri="{FF2B5EF4-FFF2-40B4-BE49-F238E27FC236}">
                <a16:creationId xmlns:a16="http://schemas.microsoft.com/office/drawing/2014/main" id="{7C580129-A0D0-E6A1-4FAA-43A4C34C02A0}"/>
              </a:ext>
            </a:extLst>
          </p:cNvPr>
          <p:cNvSpPr/>
          <p:nvPr/>
        </p:nvSpPr>
        <p:spPr>
          <a:xfrm>
            <a:off x="622929" y="1435100"/>
            <a:ext cx="6312680"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t>EXTRINSICS OF THE FINGERS</a:t>
            </a:r>
          </a:p>
        </p:txBody>
      </p:sp>
      <p:sp>
        <p:nvSpPr>
          <p:cNvPr id="10" name="Round Diagonal Corner Rectangle 2">
            <a:extLst>
              <a:ext uri="{FF2B5EF4-FFF2-40B4-BE49-F238E27FC236}">
                <a16:creationId xmlns:a16="http://schemas.microsoft.com/office/drawing/2014/main" id="{58A3FD29-DAE6-EBDA-EAEC-9386C377D750}"/>
              </a:ext>
            </a:extLst>
          </p:cNvPr>
          <p:cNvSpPr/>
          <p:nvPr/>
        </p:nvSpPr>
        <p:spPr>
          <a:xfrm>
            <a:off x="622929" y="2435830"/>
            <a:ext cx="6312680" cy="4088810"/>
          </a:xfrm>
          <a:prstGeom prst="round2DiagRect">
            <a:avLst/>
          </a:prstGeom>
          <a:solidFill>
            <a:srgbClr val="525252"/>
          </a:solid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r>
              <a:rPr lang="en-GB" altLang="en-US" sz="2800" dirty="0"/>
              <a:t>Extrinsic muscles of the wrist and hand originate in the forearm and include:</a:t>
            </a:r>
          </a:p>
          <a:p>
            <a:pPr marL="914400" lvl="1" indent="-457200">
              <a:buClr>
                <a:schemeClr val="bg1"/>
              </a:buClr>
              <a:buFont typeface="Arial" panose="020B0604020202020204" pitchFamily="34" charset="0"/>
              <a:buChar char="•"/>
            </a:pPr>
            <a:r>
              <a:rPr lang="en-GB" altLang="en-US" sz="2800" dirty="0"/>
              <a:t>Flexor digitorum superficialis</a:t>
            </a:r>
          </a:p>
          <a:p>
            <a:pPr marL="914400" lvl="1" indent="-457200">
              <a:buClr>
                <a:schemeClr val="bg1"/>
              </a:buClr>
              <a:buFont typeface="Arial" panose="020B0604020202020204" pitchFamily="34" charset="0"/>
              <a:buChar char="•"/>
            </a:pPr>
            <a:r>
              <a:rPr lang="en-GB" altLang="en-US" sz="2800" dirty="0"/>
              <a:t>Flexor digitorum </a:t>
            </a:r>
            <a:r>
              <a:rPr lang="en-GB" altLang="en-US" sz="2800" dirty="0" err="1"/>
              <a:t>profundus</a:t>
            </a:r>
            <a:r>
              <a:rPr lang="en-GB" altLang="en-US" sz="2800" dirty="0"/>
              <a:t> (Latin for deep)</a:t>
            </a:r>
          </a:p>
        </p:txBody>
      </p:sp>
      <p:sp>
        <p:nvSpPr>
          <p:cNvPr id="2" name="Round Diagonal Corner Rectangle 2">
            <a:extLst>
              <a:ext uri="{FF2B5EF4-FFF2-40B4-BE49-F238E27FC236}">
                <a16:creationId xmlns:a16="http://schemas.microsoft.com/office/drawing/2014/main" id="{A0D68D73-E6CA-3366-67E7-63835A2503E6}"/>
              </a:ext>
            </a:extLst>
          </p:cNvPr>
          <p:cNvSpPr/>
          <p:nvPr/>
        </p:nvSpPr>
        <p:spPr>
          <a:xfrm>
            <a:off x="7168221" y="2466629"/>
            <a:ext cx="2360790" cy="4058011"/>
          </a:xfrm>
          <a:prstGeom prst="round2DiagRect">
            <a:avLst/>
          </a:prstGeom>
          <a:blipFill dpi="0" rotWithShape="1">
            <a:blip r:embed="rId4">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endParaRPr lang="en-GB" altLang="en-US" sz="2800" dirty="0"/>
          </a:p>
        </p:txBody>
      </p:sp>
      <p:sp>
        <p:nvSpPr>
          <p:cNvPr id="3" name="Round Diagonal Corner Rectangle 2">
            <a:extLst>
              <a:ext uri="{FF2B5EF4-FFF2-40B4-BE49-F238E27FC236}">
                <a16:creationId xmlns:a16="http://schemas.microsoft.com/office/drawing/2014/main" id="{F72D1482-72F1-0022-BA69-FA31ABBC2C65}"/>
              </a:ext>
            </a:extLst>
          </p:cNvPr>
          <p:cNvSpPr/>
          <p:nvPr/>
        </p:nvSpPr>
        <p:spPr>
          <a:xfrm>
            <a:off x="9644016" y="2435830"/>
            <a:ext cx="2360790" cy="4058011"/>
          </a:xfrm>
          <a:prstGeom prst="round2DiagRect">
            <a:avLst/>
          </a:prstGeom>
          <a:blipFill dpi="0" rotWithShape="1">
            <a:blip r:embed="rId5">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endParaRPr lang="en-GB" altLang="en-US" sz="2800" dirty="0"/>
          </a:p>
        </p:txBody>
      </p:sp>
    </p:spTree>
    <p:extLst>
      <p:ext uri="{BB962C8B-B14F-4D97-AF65-F5344CB8AC3E}">
        <p14:creationId xmlns:p14="http://schemas.microsoft.com/office/powerpoint/2010/main" val="25273326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ound Diagonal Corner Rectangle 3"/>
          <p:cNvSpPr/>
          <p:nvPr/>
        </p:nvSpPr>
        <p:spPr>
          <a:xfrm>
            <a:off x="622929" y="402811"/>
            <a:ext cx="2556277"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t>MUSCLES</a:t>
            </a:r>
          </a:p>
        </p:txBody>
      </p:sp>
      <p:pic>
        <p:nvPicPr>
          <p:cNvPr id="19" name="Picture 18" descr="COSMOS GRAPHIC WHITE.png"/>
          <p:cNvPicPr>
            <a:picLocks noChangeAspect="1"/>
          </p:cNvPicPr>
          <p:nvPr/>
        </p:nvPicPr>
        <p:blipFill rotWithShape="1">
          <a:blip r:embed="rId3"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sp>
        <p:nvSpPr>
          <p:cNvPr id="8" name="Round Diagonal Corner Rectangle 3">
            <a:extLst>
              <a:ext uri="{FF2B5EF4-FFF2-40B4-BE49-F238E27FC236}">
                <a16:creationId xmlns:a16="http://schemas.microsoft.com/office/drawing/2014/main" id="{7C580129-A0D0-E6A1-4FAA-43A4C34C02A0}"/>
              </a:ext>
            </a:extLst>
          </p:cNvPr>
          <p:cNvSpPr/>
          <p:nvPr/>
        </p:nvSpPr>
        <p:spPr>
          <a:xfrm>
            <a:off x="622929" y="1435100"/>
            <a:ext cx="6312680"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t>EXTRINSICS OF THE FINGERS</a:t>
            </a:r>
          </a:p>
        </p:txBody>
      </p:sp>
      <p:sp>
        <p:nvSpPr>
          <p:cNvPr id="10" name="Round Diagonal Corner Rectangle 2">
            <a:extLst>
              <a:ext uri="{FF2B5EF4-FFF2-40B4-BE49-F238E27FC236}">
                <a16:creationId xmlns:a16="http://schemas.microsoft.com/office/drawing/2014/main" id="{58A3FD29-DAE6-EBDA-EAEC-9386C377D750}"/>
              </a:ext>
            </a:extLst>
          </p:cNvPr>
          <p:cNvSpPr/>
          <p:nvPr/>
        </p:nvSpPr>
        <p:spPr>
          <a:xfrm>
            <a:off x="622929" y="2435830"/>
            <a:ext cx="6312680" cy="4088810"/>
          </a:xfrm>
          <a:prstGeom prst="round2DiagRect">
            <a:avLst/>
          </a:prstGeom>
          <a:solidFill>
            <a:srgbClr val="525252"/>
          </a:solid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r>
              <a:rPr lang="pt-BR" altLang="en-US" sz="2800" dirty="0"/>
              <a:t>Extensor </a:t>
            </a:r>
            <a:r>
              <a:rPr lang="pt-BR" altLang="en-US" sz="2800" dirty="0" err="1"/>
              <a:t>digitorum</a:t>
            </a:r>
            <a:endParaRPr lang="pt-BR" altLang="en-US" sz="2800" dirty="0"/>
          </a:p>
          <a:p>
            <a:pPr marL="457200" indent="-457200">
              <a:buClr>
                <a:schemeClr val="bg1"/>
              </a:buClr>
              <a:buFont typeface="Arial" panose="020B0604020202020204" pitchFamily="34" charset="0"/>
              <a:buChar char="•"/>
            </a:pPr>
            <a:r>
              <a:rPr lang="pt-BR" altLang="en-US" sz="2800" dirty="0"/>
              <a:t>Extensor </a:t>
            </a:r>
            <a:r>
              <a:rPr lang="pt-BR" altLang="en-US" sz="2800" dirty="0" err="1"/>
              <a:t>digiti</a:t>
            </a:r>
            <a:r>
              <a:rPr lang="pt-BR" altLang="en-US" sz="2800" dirty="0"/>
              <a:t> </a:t>
            </a:r>
            <a:r>
              <a:rPr lang="pt-BR" altLang="en-US" sz="2800" dirty="0" err="1"/>
              <a:t>minimi</a:t>
            </a:r>
            <a:endParaRPr lang="pt-BR" altLang="en-US" sz="2800" dirty="0"/>
          </a:p>
          <a:p>
            <a:pPr marL="457200" indent="-457200">
              <a:buClr>
                <a:schemeClr val="bg1"/>
              </a:buClr>
              <a:buFont typeface="Arial" panose="020B0604020202020204" pitchFamily="34" charset="0"/>
              <a:buChar char="•"/>
            </a:pPr>
            <a:r>
              <a:rPr lang="pt-BR" altLang="en-US" sz="2800" dirty="0"/>
              <a:t>Extensor </a:t>
            </a:r>
            <a:r>
              <a:rPr lang="pt-BR" altLang="en-US" sz="2800" dirty="0" err="1"/>
              <a:t>indicis</a:t>
            </a:r>
            <a:r>
              <a:rPr lang="pt-BR" altLang="en-US" sz="2800" dirty="0"/>
              <a:t> </a:t>
            </a:r>
          </a:p>
          <a:p>
            <a:pPr marL="457200" indent="-457200">
              <a:buClr>
                <a:schemeClr val="bg1"/>
              </a:buClr>
              <a:buFont typeface="Arial" panose="020B0604020202020204" pitchFamily="34" charset="0"/>
              <a:buChar char="•"/>
            </a:pPr>
            <a:endParaRPr lang="pt-BR" altLang="en-US" sz="2800" dirty="0"/>
          </a:p>
          <a:p>
            <a:pPr marL="457200" indent="-457200">
              <a:buClr>
                <a:schemeClr val="bg1"/>
              </a:buClr>
              <a:buFont typeface="Arial" panose="020B0604020202020204" pitchFamily="34" charset="0"/>
              <a:buChar char="•"/>
            </a:pPr>
            <a:r>
              <a:rPr lang="pt-BR" altLang="en-US" sz="2800" dirty="0"/>
              <a:t>Dorsal digital </a:t>
            </a:r>
            <a:r>
              <a:rPr lang="pt-BR" altLang="en-US" sz="2800" dirty="0" err="1"/>
              <a:t>expansion</a:t>
            </a:r>
            <a:r>
              <a:rPr lang="pt-BR" altLang="en-US" sz="2800" dirty="0"/>
              <a:t>, </a:t>
            </a:r>
            <a:r>
              <a:rPr lang="pt-BR" altLang="en-US" sz="2800" dirty="0" err="1"/>
              <a:t>sometimes</a:t>
            </a:r>
            <a:r>
              <a:rPr lang="pt-BR" altLang="en-US" sz="2800" dirty="0"/>
              <a:t> </a:t>
            </a:r>
            <a:r>
              <a:rPr lang="pt-BR" altLang="en-US" sz="2800" dirty="0" err="1"/>
              <a:t>referred</a:t>
            </a:r>
            <a:r>
              <a:rPr lang="pt-BR" altLang="en-US" sz="2800" dirty="0"/>
              <a:t> </a:t>
            </a:r>
            <a:r>
              <a:rPr lang="pt-BR" altLang="en-US" sz="2800" dirty="0" err="1"/>
              <a:t>to</a:t>
            </a:r>
            <a:r>
              <a:rPr lang="pt-BR" altLang="en-US" sz="2800" dirty="0"/>
              <a:t> as </a:t>
            </a:r>
            <a:r>
              <a:rPr lang="pt-BR" altLang="en-US" sz="2800" dirty="0" err="1"/>
              <a:t>the</a:t>
            </a:r>
            <a:r>
              <a:rPr lang="pt-BR" altLang="en-US" sz="2800" dirty="0"/>
              <a:t> ‘extensor </a:t>
            </a:r>
            <a:r>
              <a:rPr lang="pt-BR" altLang="en-US" sz="2800" dirty="0" err="1"/>
              <a:t>hood</a:t>
            </a:r>
            <a:r>
              <a:rPr lang="pt-BR" altLang="en-US" sz="2800" dirty="0"/>
              <a:t>’, h</a:t>
            </a:r>
            <a:r>
              <a:rPr lang="en-GB" altLang="en-US" sz="2800" dirty="0"/>
              <a:t>olds the extensor tendons in place beyond the </a:t>
            </a:r>
            <a:r>
              <a:rPr lang="en-GB" sz="2800" b="1" dirty="0">
                <a:solidFill>
                  <a:srgbClr val="D4EAB8"/>
                </a:solidFill>
              </a:rPr>
              <a:t>PROXIMAL INTER</a:t>
            </a:r>
            <a:r>
              <a:rPr lang="en-GB" sz="2800" b="1" dirty="0">
                <a:solidFill>
                  <a:srgbClr val="A6CEE8"/>
                </a:solidFill>
              </a:rPr>
              <a:t>PHALANGEAL</a:t>
            </a:r>
            <a:r>
              <a:rPr lang="en-GB" sz="2800" b="1" dirty="0">
                <a:solidFill>
                  <a:schemeClr val="bg1"/>
                </a:solidFill>
              </a:rPr>
              <a:t> </a:t>
            </a:r>
            <a:r>
              <a:rPr lang="en-GB" sz="2800" dirty="0">
                <a:solidFill>
                  <a:schemeClr val="bg1"/>
                </a:solidFill>
              </a:rPr>
              <a:t>(PIP)</a:t>
            </a:r>
            <a:endParaRPr lang="pt-BR" altLang="en-US" sz="2800" dirty="0"/>
          </a:p>
        </p:txBody>
      </p:sp>
      <p:sp>
        <p:nvSpPr>
          <p:cNvPr id="2" name="Round Diagonal Corner Rectangle 2">
            <a:extLst>
              <a:ext uri="{FF2B5EF4-FFF2-40B4-BE49-F238E27FC236}">
                <a16:creationId xmlns:a16="http://schemas.microsoft.com/office/drawing/2014/main" id="{A0D68D73-E6CA-3366-67E7-63835A2503E6}"/>
              </a:ext>
            </a:extLst>
          </p:cNvPr>
          <p:cNvSpPr/>
          <p:nvPr/>
        </p:nvSpPr>
        <p:spPr>
          <a:xfrm>
            <a:off x="7240410" y="421527"/>
            <a:ext cx="2360790" cy="3007473"/>
          </a:xfrm>
          <a:prstGeom prst="round2DiagRect">
            <a:avLst/>
          </a:prstGeom>
          <a:blipFill dpi="0" rotWithShape="1">
            <a:blip r:embed="rId4">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endParaRPr lang="en-GB" altLang="en-US" sz="2800" dirty="0"/>
          </a:p>
        </p:txBody>
      </p:sp>
      <p:sp>
        <p:nvSpPr>
          <p:cNvPr id="3" name="Round Diagonal Corner Rectangle 2">
            <a:extLst>
              <a:ext uri="{FF2B5EF4-FFF2-40B4-BE49-F238E27FC236}">
                <a16:creationId xmlns:a16="http://schemas.microsoft.com/office/drawing/2014/main" id="{F72D1482-72F1-0022-BA69-FA31ABBC2C65}"/>
              </a:ext>
            </a:extLst>
          </p:cNvPr>
          <p:cNvSpPr/>
          <p:nvPr/>
        </p:nvSpPr>
        <p:spPr>
          <a:xfrm>
            <a:off x="9716205" y="390728"/>
            <a:ext cx="2360790" cy="3007473"/>
          </a:xfrm>
          <a:prstGeom prst="round2DiagRect">
            <a:avLst/>
          </a:prstGeom>
          <a:blipFill dpi="0" rotWithShape="1">
            <a:blip r:embed="rId5">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endParaRPr lang="en-GB" altLang="en-US" sz="2800" dirty="0"/>
          </a:p>
        </p:txBody>
      </p:sp>
      <p:sp>
        <p:nvSpPr>
          <p:cNvPr id="6" name="Round Diagonal Corner Rectangle 2">
            <a:extLst>
              <a:ext uri="{FF2B5EF4-FFF2-40B4-BE49-F238E27FC236}">
                <a16:creationId xmlns:a16="http://schemas.microsoft.com/office/drawing/2014/main" id="{A58DA396-631F-4062-A7EA-2D8C9F88CFD6}"/>
              </a:ext>
            </a:extLst>
          </p:cNvPr>
          <p:cNvSpPr/>
          <p:nvPr/>
        </p:nvSpPr>
        <p:spPr>
          <a:xfrm>
            <a:off x="9678105" y="3554159"/>
            <a:ext cx="2360790" cy="3007473"/>
          </a:xfrm>
          <a:prstGeom prst="round2DiagRect">
            <a:avLst/>
          </a:prstGeom>
          <a:blipFill dpi="0" rotWithShape="1">
            <a:blip r:embed="rId6">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endParaRPr lang="en-GB" altLang="en-US" sz="2800" dirty="0"/>
          </a:p>
        </p:txBody>
      </p:sp>
      <p:sp>
        <p:nvSpPr>
          <p:cNvPr id="5" name="Rectangle: Rounded Corners 4">
            <a:extLst>
              <a:ext uri="{FF2B5EF4-FFF2-40B4-BE49-F238E27FC236}">
                <a16:creationId xmlns:a16="http://schemas.microsoft.com/office/drawing/2014/main" id="{06A2E9BC-F68E-3BBB-DA34-4B6C75F862B7}"/>
              </a:ext>
            </a:extLst>
          </p:cNvPr>
          <p:cNvSpPr/>
          <p:nvPr/>
        </p:nvSpPr>
        <p:spPr>
          <a:xfrm>
            <a:off x="7324725" y="3587394"/>
            <a:ext cx="2181225" cy="1899006"/>
          </a:xfrm>
          <a:prstGeom prst="roundRect">
            <a:avLst/>
          </a:prstGeom>
          <a:solidFill>
            <a:srgbClr val="E29E8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800" dirty="0"/>
              <a:t>DORSAL DIGITAL EXPANSION</a:t>
            </a:r>
          </a:p>
        </p:txBody>
      </p:sp>
      <p:sp>
        <p:nvSpPr>
          <p:cNvPr id="9" name="Arrow: Down 8">
            <a:extLst>
              <a:ext uri="{FF2B5EF4-FFF2-40B4-BE49-F238E27FC236}">
                <a16:creationId xmlns:a16="http://schemas.microsoft.com/office/drawing/2014/main" id="{6D0F6AAA-0A34-FDB5-CDD0-DB986A338D3F}"/>
              </a:ext>
            </a:extLst>
          </p:cNvPr>
          <p:cNvSpPr/>
          <p:nvPr/>
        </p:nvSpPr>
        <p:spPr>
          <a:xfrm flipV="1">
            <a:off x="8181270" y="3171723"/>
            <a:ext cx="295275" cy="415671"/>
          </a:xfrm>
          <a:prstGeom prst="downArrow">
            <a:avLst/>
          </a:prstGeom>
          <a:solidFill>
            <a:srgbClr val="E29E8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9563328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ound Diagonal Corner Rectangle 3"/>
          <p:cNvSpPr/>
          <p:nvPr/>
        </p:nvSpPr>
        <p:spPr>
          <a:xfrm>
            <a:off x="622929" y="402811"/>
            <a:ext cx="2556277"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t>MUSCLES</a:t>
            </a:r>
          </a:p>
        </p:txBody>
      </p:sp>
      <p:pic>
        <p:nvPicPr>
          <p:cNvPr id="19" name="Picture 18" descr="COSMOS GRAPHIC WHITE.png"/>
          <p:cNvPicPr>
            <a:picLocks noChangeAspect="1"/>
          </p:cNvPicPr>
          <p:nvPr/>
        </p:nvPicPr>
        <p:blipFill rotWithShape="1">
          <a:blip r:embed="rId3"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sp>
        <p:nvSpPr>
          <p:cNvPr id="8" name="Round Diagonal Corner Rectangle 3">
            <a:extLst>
              <a:ext uri="{FF2B5EF4-FFF2-40B4-BE49-F238E27FC236}">
                <a16:creationId xmlns:a16="http://schemas.microsoft.com/office/drawing/2014/main" id="{7C580129-A0D0-E6A1-4FAA-43A4C34C02A0}"/>
              </a:ext>
            </a:extLst>
          </p:cNvPr>
          <p:cNvSpPr/>
          <p:nvPr/>
        </p:nvSpPr>
        <p:spPr>
          <a:xfrm>
            <a:off x="622929" y="1435100"/>
            <a:ext cx="6312680"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t>EXTRINSICS OF THE THUMB</a:t>
            </a:r>
          </a:p>
        </p:txBody>
      </p:sp>
      <p:sp>
        <p:nvSpPr>
          <p:cNvPr id="10" name="Round Diagonal Corner Rectangle 2">
            <a:extLst>
              <a:ext uri="{FF2B5EF4-FFF2-40B4-BE49-F238E27FC236}">
                <a16:creationId xmlns:a16="http://schemas.microsoft.com/office/drawing/2014/main" id="{58A3FD29-DAE6-EBDA-EAEC-9386C377D750}"/>
              </a:ext>
            </a:extLst>
          </p:cNvPr>
          <p:cNvSpPr/>
          <p:nvPr/>
        </p:nvSpPr>
        <p:spPr>
          <a:xfrm>
            <a:off x="622929" y="2435830"/>
            <a:ext cx="6312680" cy="4088810"/>
          </a:xfrm>
          <a:prstGeom prst="round2DiagRect">
            <a:avLst/>
          </a:prstGeom>
          <a:solidFill>
            <a:srgbClr val="525252"/>
          </a:solid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r>
              <a:rPr lang="pt-BR" altLang="en-US" sz="2800" dirty="0"/>
              <a:t>Extensor </a:t>
            </a:r>
            <a:r>
              <a:rPr lang="pt-BR" altLang="en-US" sz="2800" dirty="0" err="1"/>
              <a:t>pollicis</a:t>
            </a:r>
            <a:r>
              <a:rPr lang="pt-BR" altLang="en-US" sz="2800" dirty="0"/>
              <a:t> </a:t>
            </a:r>
            <a:r>
              <a:rPr lang="pt-BR" altLang="en-US" sz="2800" dirty="0" err="1"/>
              <a:t>longus</a:t>
            </a:r>
            <a:endParaRPr lang="pt-BR" altLang="en-US" sz="2800" dirty="0"/>
          </a:p>
          <a:p>
            <a:pPr marL="457200" indent="-457200">
              <a:buClr>
                <a:schemeClr val="bg1"/>
              </a:buClr>
              <a:buFont typeface="Arial" panose="020B0604020202020204" pitchFamily="34" charset="0"/>
              <a:buChar char="•"/>
            </a:pPr>
            <a:r>
              <a:rPr lang="pt-BR" altLang="en-US" sz="2800" dirty="0"/>
              <a:t>Extensor </a:t>
            </a:r>
            <a:r>
              <a:rPr lang="pt-BR" altLang="en-US" sz="2800" dirty="0" err="1"/>
              <a:t>pollicis</a:t>
            </a:r>
            <a:r>
              <a:rPr lang="pt-BR" altLang="en-US" sz="2800" dirty="0"/>
              <a:t> </a:t>
            </a:r>
            <a:r>
              <a:rPr lang="pt-BR" altLang="en-US" sz="2800" dirty="0" err="1"/>
              <a:t>brevis</a:t>
            </a:r>
            <a:endParaRPr lang="pt-BR" altLang="en-US" sz="2800" dirty="0"/>
          </a:p>
          <a:p>
            <a:pPr marL="457200" indent="-457200">
              <a:buClr>
                <a:schemeClr val="bg1"/>
              </a:buClr>
              <a:buFont typeface="Arial" panose="020B0604020202020204" pitchFamily="34" charset="0"/>
              <a:buChar char="•"/>
            </a:pPr>
            <a:r>
              <a:rPr lang="pt-BR" altLang="en-US" sz="2800" dirty="0" err="1"/>
              <a:t>Abductor</a:t>
            </a:r>
            <a:r>
              <a:rPr lang="pt-BR" altLang="en-US" sz="2800" dirty="0"/>
              <a:t> </a:t>
            </a:r>
            <a:r>
              <a:rPr lang="pt-BR" altLang="en-US" sz="2800" dirty="0" err="1"/>
              <a:t>pollicis</a:t>
            </a:r>
            <a:r>
              <a:rPr lang="pt-BR" altLang="en-US" sz="2800" dirty="0"/>
              <a:t> </a:t>
            </a:r>
            <a:r>
              <a:rPr lang="pt-BR" altLang="en-US" sz="2800" dirty="0" err="1"/>
              <a:t>longus</a:t>
            </a:r>
            <a:endParaRPr lang="pt-BR" altLang="en-US" sz="2800" dirty="0"/>
          </a:p>
          <a:p>
            <a:pPr marL="457200" indent="-457200">
              <a:buClr>
                <a:schemeClr val="bg1"/>
              </a:buClr>
              <a:buFont typeface="Arial" panose="020B0604020202020204" pitchFamily="34" charset="0"/>
              <a:buChar char="•"/>
            </a:pPr>
            <a:r>
              <a:rPr lang="pt-BR" altLang="en-US" sz="2800" dirty="0"/>
              <a:t>Flexor </a:t>
            </a:r>
            <a:r>
              <a:rPr lang="pt-BR" altLang="en-US" sz="2800" dirty="0" err="1"/>
              <a:t>pollicis</a:t>
            </a:r>
            <a:r>
              <a:rPr lang="pt-BR" altLang="en-US" sz="2800" dirty="0"/>
              <a:t> </a:t>
            </a:r>
            <a:r>
              <a:rPr lang="pt-BR" altLang="en-US" sz="2800" dirty="0" err="1"/>
              <a:t>longus</a:t>
            </a:r>
            <a:endParaRPr lang="pt-BR" altLang="en-US" sz="2800" dirty="0"/>
          </a:p>
          <a:p>
            <a:pPr>
              <a:buClr>
                <a:schemeClr val="bg1"/>
              </a:buClr>
            </a:pPr>
            <a:endParaRPr lang="pt-BR" altLang="en-US" sz="2800" dirty="0"/>
          </a:p>
        </p:txBody>
      </p:sp>
      <p:sp>
        <p:nvSpPr>
          <p:cNvPr id="2" name="Round Diagonal Corner Rectangle 2">
            <a:extLst>
              <a:ext uri="{FF2B5EF4-FFF2-40B4-BE49-F238E27FC236}">
                <a16:creationId xmlns:a16="http://schemas.microsoft.com/office/drawing/2014/main" id="{A0D68D73-E6CA-3366-67E7-63835A2503E6}"/>
              </a:ext>
            </a:extLst>
          </p:cNvPr>
          <p:cNvSpPr/>
          <p:nvPr/>
        </p:nvSpPr>
        <p:spPr>
          <a:xfrm>
            <a:off x="7156111" y="293931"/>
            <a:ext cx="2360790" cy="3007473"/>
          </a:xfrm>
          <a:prstGeom prst="round2DiagRect">
            <a:avLst/>
          </a:prstGeom>
          <a:blipFill dpi="0" rotWithShape="1">
            <a:blip r:embed="rId4">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endParaRPr lang="en-GB" altLang="en-US" sz="2800" dirty="0"/>
          </a:p>
        </p:txBody>
      </p:sp>
      <p:sp>
        <p:nvSpPr>
          <p:cNvPr id="3" name="Round Diagonal Corner Rectangle 2">
            <a:extLst>
              <a:ext uri="{FF2B5EF4-FFF2-40B4-BE49-F238E27FC236}">
                <a16:creationId xmlns:a16="http://schemas.microsoft.com/office/drawing/2014/main" id="{F72D1482-72F1-0022-BA69-FA31ABBC2C65}"/>
              </a:ext>
            </a:extLst>
          </p:cNvPr>
          <p:cNvSpPr/>
          <p:nvPr/>
        </p:nvSpPr>
        <p:spPr>
          <a:xfrm>
            <a:off x="9631906" y="263132"/>
            <a:ext cx="2360790" cy="3007473"/>
          </a:xfrm>
          <a:prstGeom prst="round2DiagRect">
            <a:avLst/>
          </a:prstGeom>
          <a:blipFill dpi="0" rotWithShape="1">
            <a:blip r:embed="rId5">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endParaRPr lang="en-GB" altLang="en-US" sz="2800" dirty="0"/>
          </a:p>
        </p:txBody>
      </p:sp>
      <p:sp>
        <p:nvSpPr>
          <p:cNvPr id="5" name="Round Diagonal Corner Rectangle 2">
            <a:extLst>
              <a:ext uri="{FF2B5EF4-FFF2-40B4-BE49-F238E27FC236}">
                <a16:creationId xmlns:a16="http://schemas.microsoft.com/office/drawing/2014/main" id="{841DEC70-558B-C4F3-D842-9FE37ECDA4EA}"/>
              </a:ext>
            </a:extLst>
          </p:cNvPr>
          <p:cNvSpPr/>
          <p:nvPr/>
        </p:nvSpPr>
        <p:spPr>
          <a:xfrm>
            <a:off x="8431109" y="3587394"/>
            <a:ext cx="2360790" cy="3007473"/>
          </a:xfrm>
          <a:prstGeom prst="round2DiagRect">
            <a:avLst/>
          </a:prstGeom>
          <a:blipFill dpi="0" rotWithShape="1">
            <a:blip r:embed="rId6">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endParaRPr lang="en-GB" altLang="en-US" sz="2800" dirty="0"/>
          </a:p>
        </p:txBody>
      </p:sp>
    </p:spTree>
    <p:extLst>
      <p:ext uri="{BB962C8B-B14F-4D97-AF65-F5344CB8AC3E}">
        <p14:creationId xmlns:p14="http://schemas.microsoft.com/office/powerpoint/2010/main" val="27391563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64FCC0-5A74-C92F-6559-2575EED37E18}"/>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9D2123AD-8F02-1D6D-853E-6AC906EB53CE}"/>
              </a:ext>
            </a:extLst>
          </p:cNvPr>
          <p:cNvSpPr/>
          <p:nvPr/>
        </p:nvSpPr>
        <p:spPr>
          <a:xfrm>
            <a:off x="0" y="0"/>
            <a:ext cx="12192000" cy="685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ound Diagonal Corner Rectangle 3">
            <a:extLst>
              <a:ext uri="{FF2B5EF4-FFF2-40B4-BE49-F238E27FC236}">
                <a16:creationId xmlns:a16="http://schemas.microsoft.com/office/drawing/2014/main" id="{A3EAE4FA-37EC-1341-6A20-5F50AE0B1B09}"/>
              </a:ext>
            </a:extLst>
          </p:cNvPr>
          <p:cNvSpPr/>
          <p:nvPr/>
        </p:nvSpPr>
        <p:spPr>
          <a:xfrm>
            <a:off x="797820" y="326611"/>
            <a:ext cx="4256780"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t>ANY QUESTIONS?</a:t>
            </a:r>
          </a:p>
        </p:txBody>
      </p:sp>
      <p:pic>
        <p:nvPicPr>
          <p:cNvPr id="19" name="Picture 18" descr="COSMOS GRAPHIC WHITE.png">
            <a:extLst>
              <a:ext uri="{FF2B5EF4-FFF2-40B4-BE49-F238E27FC236}">
                <a16:creationId xmlns:a16="http://schemas.microsoft.com/office/drawing/2014/main" id="{4253AABB-FEDA-039D-ABBA-814B8695DD44}"/>
              </a:ext>
            </a:extLst>
          </p:cNvPr>
          <p:cNvPicPr>
            <a:picLocks noChangeAspect="1"/>
          </p:cNvPicPr>
          <p:nvPr/>
        </p:nvPicPr>
        <p:blipFill rotWithShape="1">
          <a:blip r:embed="rId2"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sp>
        <p:nvSpPr>
          <p:cNvPr id="3" name="Round Diagonal Corner Rectangle 2">
            <a:extLst>
              <a:ext uri="{FF2B5EF4-FFF2-40B4-BE49-F238E27FC236}">
                <a16:creationId xmlns:a16="http://schemas.microsoft.com/office/drawing/2014/main" id="{B7308BD1-7284-3F76-4F75-A025C7DEA137}"/>
              </a:ext>
            </a:extLst>
          </p:cNvPr>
          <p:cNvSpPr/>
          <p:nvPr/>
        </p:nvSpPr>
        <p:spPr>
          <a:xfrm>
            <a:off x="797819" y="1358901"/>
            <a:ext cx="7963796" cy="4842394"/>
          </a:xfrm>
          <a:prstGeom prst="round2DiagRect">
            <a:avLst/>
          </a:prstGeom>
          <a:blipFill>
            <a:blip r:embed="rId3"/>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endParaRPr lang="en-GB" sz="3200" dirty="0">
              <a:solidFill>
                <a:schemeClr val="bg1"/>
              </a:solidFill>
            </a:endParaRPr>
          </a:p>
        </p:txBody>
      </p:sp>
    </p:spTree>
    <p:extLst>
      <p:ext uri="{BB962C8B-B14F-4D97-AF65-F5344CB8AC3E}">
        <p14:creationId xmlns:p14="http://schemas.microsoft.com/office/powerpoint/2010/main" val="1113148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F4A486-18E6-5002-E1F7-3DF93D19D257}"/>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7179F7D0-190B-85FE-E87D-A8BDD5E79184}"/>
              </a:ext>
            </a:extLst>
          </p:cNvPr>
          <p:cNvSpPr/>
          <p:nvPr/>
        </p:nvSpPr>
        <p:spPr>
          <a:xfrm>
            <a:off x="0" y="0"/>
            <a:ext cx="12192000" cy="685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ound Diagonal Corner Rectangle 3">
            <a:extLst>
              <a:ext uri="{FF2B5EF4-FFF2-40B4-BE49-F238E27FC236}">
                <a16:creationId xmlns:a16="http://schemas.microsoft.com/office/drawing/2014/main" id="{44830395-687E-796D-BDF7-B44241C4DAA8}"/>
              </a:ext>
            </a:extLst>
          </p:cNvPr>
          <p:cNvSpPr/>
          <p:nvPr/>
        </p:nvSpPr>
        <p:spPr>
          <a:xfrm>
            <a:off x="622928" y="402811"/>
            <a:ext cx="6176457"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solidFill>
                  <a:schemeClr val="bg1"/>
                </a:solidFill>
              </a:rPr>
              <a:t>CARPAL TUNNEL SYNDROME</a:t>
            </a:r>
          </a:p>
        </p:txBody>
      </p:sp>
      <p:pic>
        <p:nvPicPr>
          <p:cNvPr id="19" name="Picture 18" descr="COSMOS GRAPHIC WHITE.png">
            <a:extLst>
              <a:ext uri="{FF2B5EF4-FFF2-40B4-BE49-F238E27FC236}">
                <a16:creationId xmlns:a16="http://schemas.microsoft.com/office/drawing/2014/main" id="{7E49064D-8221-EBCA-D315-172261FDC906}"/>
              </a:ext>
            </a:extLst>
          </p:cNvPr>
          <p:cNvPicPr>
            <a:picLocks noChangeAspect="1"/>
          </p:cNvPicPr>
          <p:nvPr/>
        </p:nvPicPr>
        <p:blipFill rotWithShape="1">
          <a:blip r:embed="rId3"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sp>
        <p:nvSpPr>
          <p:cNvPr id="3" name="Round Diagonal Corner Rectangle 2">
            <a:extLst>
              <a:ext uri="{FF2B5EF4-FFF2-40B4-BE49-F238E27FC236}">
                <a16:creationId xmlns:a16="http://schemas.microsoft.com/office/drawing/2014/main" id="{F28C9189-6DED-660D-F009-02F26E61BB6D}"/>
              </a:ext>
            </a:extLst>
          </p:cNvPr>
          <p:cNvSpPr/>
          <p:nvPr/>
        </p:nvSpPr>
        <p:spPr>
          <a:xfrm>
            <a:off x="622930" y="1435100"/>
            <a:ext cx="6082670" cy="5159767"/>
          </a:xfrm>
          <a:prstGeom prst="round2DiagRect">
            <a:avLst/>
          </a:prstGeom>
          <a:no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Clr>
                <a:schemeClr val="bg1"/>
              </a:buClr>
              <a:buFont typeface="Arial" panose="020B0604020202020204" pitchFamily="34" charset="0"/>
              <a:buChar char="•"/>
            </a:pPr>
            <a:r>
              <a:rPr lang="en-GB" sz="2400" dirty="0">
                <a:solidFill>
                  <a:schemeClr val="bg1"/>
                </a:solidFill>
              </a:rPr>
              <a:t>Carpal tunnel syndrome is an entrapment syndrome caused by pressure on the median nerve within the carpal tunnel</a:t>
            </a:r>
          </a:p>
          <a:p>
            <a:pPr marL="342900" indent="-342900">
              <a:buClr>
                <a:schemeClr val="bg1"/>
              </a:buClr>
              <a:buFont typeface="Arial" panose="020B0604020202020204" pitchFamily="34" charset="0"/>
              <a:buChar char="•"/>
            </a:pPr>
            <a:r>
              <a:rPr lang="en-GB" sz="2400" dirty="0">
                <a:solidFill>
                  <a:schemeClr val="bg1"/>
                </a:solidFill>
              </a:rPr>
              <a:t>Usually, a direct effect of increased pressure on the median nerve caused by overuse, swelling of the tendons and tendon sheaths and cysts arising from the carpal joints</a:t>
            </a:r>
          </a:p>
        </p:txBody>
      </p:sp>
      <p:sp>
        <p:nvSpPr>
          <p:cNvPr id="9" name="Round Diagonal Corner Rectangle 2">
            <a:extLst>
              <a:ext uri="{FF2B5EF4-FFF2-40B4-BE49-F238E27FC236}">
                <a16:creationId xmlns:a16="http://schemas.microsoft.com/office/drawing/2014/main" id="{54FCD601-9631-911A-B3BB-ECB5B2902F68}"/>
              </a:ext>
            </a:extLst>
          </p:cNvPr>
          <p:cNvSpPr/>
          <p:nvPr/>
        </p:nvSpPr>
        <p:spPr>
          <a:xfrm>
            <a:off x="6975231" y="402812"/>
            <a:ext cx="5075658" cy="6084812"/>
          </a:xfrm>
          <a:prstGeom prst="round2DiagRect">
            <a:avLst/>
          </a:prstGeom>
          <a:blipFill dpi="0" rotWithShape="1">
            <a:blip r:embed="rId4">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Clr>
                <a:schemeClr val="bg1"/>
              </a:buClr>
              <a:buFont typeface="Arial" panose="020B0604020202020204" pitchFamily="34" charset="0"/>
              <a:buChar char="•"/>
            </a:pPr>
            <a:endParaRPr lang="en-GB" sz="2800" dirty="0">
              <a:solidFill>
                <a:schemeClr val="bg1"/>
              </a:solidFill>
            </a:endParaRPr>
          </a:p>
        </p:txBody>
      </p:sp>
    </p:spTree>
    <p:extLst>
      <p:ext uri="{BB962C8B-B14F-4D97-AF65-F5344CB8AC3E}">
        <p14:creationId xmlns:p14="http://schemas.microsoft.com/office/powerpoint/2010/main" val="15400813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4F2AB-8CC7-B435-8BD2-169946BE2A5A}"/>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BB9D9F92-EBA2-B652-F3B6-7E03C72A0AF2}"/>
              </a:ext>
            </a:extLst>
          </p:cNvPr>
          <p:cNvSpPr/>
          <p:nvPr/>
        </p:nvSpPr>
        <p:spPr>
          <a:xfrm>
            <a:off x="0" y="0"/>
            <a:ext cx="12192000" cy="685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ound Diagonal Corner Rectangle 3">
            <a:extLst>
              <a:ext uri="{FF2B5EF4-FFF2-40B4-BE49-F238E27FC236}">
                <a16:creationId xmlns:a16="http://schemas.microsoft.com/office/drawing/2014/main" id="{1BA130DF-1E52-B190-21E8-2B50E5D4FF60}"/>
              </a:ext>
            </a:extLst>
          </p:cNvPr>
          <p:cNvSpPr/>
          <p:nvPr/>
        </p:nvSpPr>
        <p:spPr>
          <a:xfrm>
            <a:off x="622928" y="402811"/>
            <a:ext cx="6176457"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solidFill>
                  <a:schemeClr val="bg1"/>
                </a:solidFill>
              </a:rPr>
              <a:t>CARPAL TUNNEL SYNDROME</a:t>
            </a:r>
          </a:p>
        </p:txBody>
      </p:sp>
      <p:pic>
        <p:nvPicPr>
          <p:cNvPr id="19" name="Picture 18" descr="COSMOS GRAPHIC WHITE.png">
            <a:extLst>
              <a:ext uri="{FF2B5EF4-FFF2-40B4-BE49-F238E27FC236}">
                <a16:creationId xmlns:a16="http://schemas.microsoft.com/office/drawing/2014/main" id="{2BA488DA-984C-3B91-7660-725FC253A51C}"/>
              </a:ext>
            </a:extLst>
          </p:cNvPr>
          <p:cNvPicPr>
            <a:picLocks noChangeAspect="1"/>
          </p:cNvPicPr>
          <p:nvPr/>
        </p:nvPicPr>
        <p:blipFill rotWithShape="1">
          <a:blip r:embed="rId3"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sp>
        <p:nvSpPr>
          <p:cNvPr id="3" name="Round Diagonal Corner Rectangle 2">
            <a:extLst>
              <a:ext uri="{FF2B5EF4-FFF2-40B4-BE49-F238E27FC236}">
                <a16:creationId xmlns:a16="http://schemas.microsoft.com/office/drawing/2014/main" id="{0EB28155-F824-DAD8-CA81-9C33BC81B9AF}"/>
              </a:ext>
            </a:extLst>
          </p:cNvPr>
          <p:cNvSpPr/>
          <p:nvPr/>
        </p:nvSpPr>
        <p:spPr>
          <a:xfrm>
            <a:off x="622930" y="1435100"/>
            <a:ext cx="6797778" cy="5159767"/>
          </a:xfrm>
          <a:prstGeom prst="round2DiagRect">
            <a:avLst/>
          </a:prstGeom>
          <a:no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Clr>
                <a:schemeClr val="bg1"/>
              </a:buClr>
              <a:buFont typeface="Arial" panose="020B0604020202020204" pitchFamily="34" charset="0"/>
              <a:buChar char="•"/>
            </a:pPr>
            <a:r>
              <a:rPr lang="en-GB" sz="2200" dirty="0">
                <a:solidFill>
                  <a:schemeClr val="bg1"/>
                </a:solidFill>
              </a:rPr>
              <a:t>Patients typically report pain and pins-and-needles sensations in the distribution of the median nerve</a:t>
            </a:r>
          </a:p>
          <a:p>
            <a:pPr marL="342900" indent="-342900">
              <a:buClr>
                <a:schemeClr val="bg1"/>
              </a:buClr>
              <a:buFont typeface="Arial" panose="020B0604020202020204" pitchFamily="34" charset="0"/>
              <a:buChar char="•"/>
            </a:pPr>
            <a:r>
              <a:rPr lang="en-GB" sz="2200" dirty="0">
                <a:solidFill>
                  <a:schemeClr val="bg1"/>
                </a:solidFill>
              </a:rPr>
              <a:t>Weakness and loss of muscle bulk of the thenar muscles (those at the base of the thumb) may also occur</a:t>
            </a:r>
          </a:p>
          <a:p>
            <a:pPr marL="342900" indent="-342900">
              <a:buClr>
                <a:schemeClr val="bg1"/>
              </a:buClr>
              <a:buFont typeface="Arial" panose="020B0604020202020204" pitchFamily="34" charset="0"/>
              <a:buChar char="•"/>
            </a:pPr>
            <a:r>
              <a:rPr lang="en-GB" sz="2200" dirty="0">
                <a:solidFill>
                  <a:schemeClr val="bg1"/>
                </a:solidFill>
              </a:rPr>
              <a:t>Gently tapping over the median nerve readily produces these symptoms </a:t>
            </a:r>
          </a:p>
          <a:p>
            <a:pPr marL="342900" indent="-342900">
              <a:buClr>
                <a:schemeClr val="bg1"/>
              </a:buClr>
              <a:buFont typeface="Arial" panose="020B0604020202020204" pitchFamily="34" charset="0"/>
              <a:buChar char="•"/>
            </a:pPr>
            <a:r>
              <a:rPr lang="en-GB" sz="2200" dirty="0">
                <a:solidFill>
                  <a:schemeClr val="bg1"/>
                </a:solidFill>
              </a:rPr>
              <a:t>Initial treatment is aimed at reducing the inflammation and removing any repetitive actions that produce the symptoms</a:t>
            </a:r>
          </a:p>
          <a:p>
            <a:pPr marL="342900" indent="-342900">
              <a:buClr>
                <a:schemeClr val="bg1"/>
              </a:buClr>
              <a:buFont typeface="Arial" panose="020B0604020202020204" pitchFamily="34" charset="0"/>
              <a:buChar char="•"/>
            </a:pPr>
            <a:r>
              <a:rPr lang="en-GB" sz="2200" dirty="0">
                <a:solidFill>
                  <a:schemeClr val="bg1"/>
                </a:solidFill>
              </a:rPr>
              <a:t>If this does not lead to improvement, nerve conduction studies will be necessary to confirm nerve entrapment, which may require surgical decompression of the flexor retinaculum</a:t>
            </a:r>
          </a:p>
        </p:txBody>
      </p:sp>
      <p:sp>
        <p:nvSpPr>
          <p:cNvPr id="2" name="Round Diagonal Corner Rectangle 2">
            <a:extLst>
              <a:ext uri="{FF2B5EF4-FFF2-40B4-BE49-F238E27FC236}">
                <a16:creationId xmlns:a16="http://schemas.microsoft.com/office/drawing/2014/main" id="{01A10775-5560-F340-0098-B6298016FACE}"/>
              </a:ext>
            </a:extLst>
          </p:cNvPr>
          <p:cNvSpPr/>
          <p:nvPr/>
        </p:nvSpPr>
        <p:spPr>
          <a:xfrm>
            <a:off x="7668497" y="139938"/>
            <a:ext cx="4324209" cy="3227465"/>
          </a:xfrm>
          <a:prstGeom prst="round2DiagRect">
            <a:avLst/>
          </a:prstGeom>
          <a:blipFill dpi="0" rotWithShape="1">
            <a:blip r:embed="rId4">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endParaRPr lang="en-GB" altLang="en-US" sz="2800" dirty="0"/>
          </a:p>
        </p:txBody>
      </p:sp>
      <p:sp>
        <p:nvSpPr>
          <p:cNvPr id="5" name="Round Diagonal Corner Rectangle 2">
            <a:extLst>
              <a:ext uri="{FF2B5EF4-FFF2-40B4-BE49-F238E27FC236}">
                <a16:creationId xmlns:a16="http://schemas.microsoft.com/office/drawing/2014/main" id="{AA2A99CD-392B-C99E-9887-E389A0E2F970}"/>
              </a:ext>
            </a:extLst>
          </p:cNvPr>
          <p:cNvSpPr/>
          <p:nvPr/>
        </p:nvSpPr>
        <p:spPr>
          <a:xfrm>
            <a:off x="7668496" y="3490597"/>
            <a:ext cx="4324209" cy="3227465"/>
          </a:xfrm>
          <a:prstGeom prst="round2DiagRect">
            <a:avLst/>
          </a:prstGeom>
          <a:blipFill dpi="0" rotWithShape="1">
            <a:blip r:embed="rId5">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endParaRPr lang="en-GB" altLang="en-US" sz="2800" dirty="0"/>
          </a:p>
        </p:txBody>
      </p:sp>
    </p:spTree>
    <p:extLst>
      <p:ext uri="{BB962C8B-B14F-4D97-AF65-F5344CB8AC3E}">
        <p14:creationId xmlns:p14="http://schemas.microsoft.com/office/powerpoint/2010/main" val="4094831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4D1C6D-5CCB-8DB6-69A6-FE33869273B0}"/>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49A68CE7-6381-FB92-2B2E-43AB094DB7D7}"/>
              </a:ext>
            </a:extLst>
          </p:cNvPr>
          <p:cNvSpPr/>
          <p:nvPr/>
        </p:nvSpPr>
        <p:spPr>
          <a:xfrm>
            <a:off x="0" y="0"/>
            <a:ext cx="12192000" cy="685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ound Diagonal Corner Rectangle 3">
            <a:extLst>
              <a:ext uri="{FF2B5EF4-FFF2-40B4-BE49-F238E27FC236}">
                <a16:creationId xmlns:a16="http://schemas.microsoft.com/office/drawing/2014/main" id="{0EDB4342-5351-290D-6EEB-C4CF385EDB6D}"/>
              </a:ext>
            </a:extLst>
          </p:cNvPr>
          <p:cNvSpPr/>
          <p:nvPr/>
        </p:nvSpPr>
        <p:spPr>
          <a:xfrm>
            <a:off x="622929" y="402811"/>
            <a:ext cx="4602214"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solidFill>
                  <a:schemeClr val="bg1"/>
                </a:solidFill>
              </a:rPr>
              <a:t>COLLES’ FRACTURE</a:t>
            </a:r>
          </a:p>
        </p:txBody>
      </p:sp>
      <p:pic>
        <p:nvPicPr>
          <p:cNvPr id="19" name="Picture 18" descr="COSMOS GRAPHIC WHITE.png">
            <a:extLst>
              <a:ext uri="{FF2B5EF4-FFF2-40B4-BE49-F238E27FC236}">
                <a16:creationId xmlns:a16="http://schemas.microsoft.com/office/drawing/2014/main" id="{861DC96A-FFD5-8A9C-850B-A088E738801C}"/>
              </a:ext>
            </a:extLst>
          </p:cNvPr>
          <p:cNvPicPr>
            <a:picLocks noChangeAspect="1"/>
          </p:cNvPicPr>
          <p:nvPr/>
        </p:nvPicPr>
        <p:blipFill rotWithShape="1">
          <a:blip r:embed="rId3"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sp>
        <p:nvSpPr>
          <p:cNvPr id="3" name="Round Diagonal Corner Rectangle 2">
            <a:extLst>
              <a:ext uri="{FF2B5EF4-FFF2-40B4-BE49-F238E27FC236}">
                <a16:creationId xmlns:a16="http://schemas.microsoft.com/office/drawing/2014/main" id="{83DA9D87-DE2D-BA5B-55F7-AF5B2779F004}"/>
              </a:ext>
            </a:extLst>
          </p:cNvPr>
          <p:cNvSpPr/>
          <p:nvPr/>
        </p:nvSpPr>
        <p:spPr>
          <a:xfrm>
            <a:off x="622930" y="1435100"/>
            <a:ext cx="5473070" cy="5159767"/>
          </a:xfrm>
          <a:prstGeom prst="round2DiagRect">
            <a:avLst/>
          </a:prstGeom>
          <a:no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Clr>
                <a:schemeClr val="bg1"/>
              </a:buClr>
              <a:buFont typeface="Arial" panose="020B0604020202020204" pitchFamily="34" charset="0"/>
              <a:buChar char="•"/>
            </a:pPr>
            <a:r>
              <a:rPr lang="en-GB" sz="2400" dirty="0">
                <a:solidFill>
                  <a:schemeClr val="bg1"/>
                </a:solidFill>
              </a:rPr>
              <a:t>Alternative name for a distal radius fracture (when there is displacement), which are common following a fall onto an outstretched hand (FOOSH)</a:t>
            </a:r>
          </a:p>
          <a:p>
            <a:pPr marL="342900" indent="-342900">
              <a:buClr>
                <a:schemeClr val="bg1"/>
              </a:buClr>
              <a:buFont typeface="Arial" panose="020B0604020202020204" pitchFamily="34" charset="0"/>
              <a:buChar char="•"/>
            </a:pPr>
            <a:r>
              <a:rPr lang="en-GB" sz="2400" dirty="0">
                <a:solidFill>
                  <a:schemeClr val="bg1"/>
                </a:solidFill>
              </a:rPr>
              <a:t>Characterised by posterior displacement of the distal end of the radius</a:t>
            </a:r>
          </a:p>
        </p:txBody>
      </p:sp>
      <p:sp>
        <p:nvSpPr>
          <p:cNvPr id="5" name="Round Diagonal Corner Rectangle 7">
            <a:extLst>
              <a:ext uri="{FF2B5EF4-FFF2-40B4-BE49-F238E27FC236}">
                <a16:creationId xmlns:a16="http://schemas.microsoft.com/office/drawing/2014/main" id="{08DF60AA-8E0A-22A9-84C9-9A93D1E312BD}"/>
              </a:ext>
            </a:extLst>
          </p:cNvPr>
          <p:cNvSpPr/>
          <p:nvPr/>
        </p:nvSpPr>
        <p:spPr>
          <a:xfrm>
            <a:off x="6414130" y="1435100"/>
            <a:ext cx="5473070" cy="5159768"/>
          </a:xfrm>
          <a:prstGeom prst="round2DiagRect">
            <a:avLst/>
          </a:prstGeom>
          <a:blipFill dpi="0" rotWithShape="1">
            <a:blip r:embed="rId4" cstate="print">
              <a:extLst>
                <a:ext uri="{28A0092B-C50C-407E-A947-70E740481C1C}">
                  <a14:useLocalDpi xmlns:a14="http://schemas.microsoft.com/office/drawing/2010/main" val="0"/>
                </a:ext>
              </a:extLst>
            </a:blip>
            <a:srcRect/>
            <a:stretch>
              <a:fillRect/>
            </a:stretch>
          </a:blipFill>
          <a:ln w="28575">
            <a:solidFill>
              <a:srgbClr val="222A3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3958646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2AC3A6-477E-FC0D-60AD-279D6CDF6A0D}"/>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2E469D88-A128-CD4E-D1D6-C6A85A39A9DD}"/>
              </a:ext>
            </a:extLst>
          </p:cNvPr>
          <p:cNvSpPr/>
          <p:nvPr/>
        </p:nvSpPr>
        <p:spPr>
          <a:xfrm>
            <a:off x="0" y="0"/>
            <a:ext cx="12192000" cy="685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ound Diagonal Corner Rectangle 3">
            <a:extLst>
              <a:ext uri="{FF2B5EF4-FFF2-40B4-BE49-F238E27FC236}">
                <a16:creationId xmlns:a16="http://schemas.microsoft.com/office/drawing/2014/main" id="{8ECA2FFA-9E59-653A-3BA7-EEFFE936CD28}"/>
              </a:ext>
            </a:extLst>
          </p:cNvPr>
          <p:cNvSpPr/>
          <p:nvPr/>
        </p:nvSpPr>
        <p:spPr>
          <a:xfrm>
            <a:off x="622928" y="402811"/>
            <a:ext cx="5039317"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solidFill>
                  <a:schemeClr val="bg1"/>
                </a:solidFill>
              </a:rPr>
              <a:t>SCAPHOID FRACTURE</a:t>
            </a:r>
          </a:p>
        </p:txBody>
      </p:sp>
      <p:pic>
        <p:nvPicPr>
          <p:cNvPr id="19" name="Picture 18" descr="COSMOS GRAPHIC WHITE.png">
            <a:extLst>
              <a:ext uri="{FF2B5EF4-FFF2-40B4-BE49-F238E27FC236}">
                <a16:creationId xmlns:a16="http://schemas.microsoft.com/office/drawing/2014/main" id="{ACB5E74B-CEBB-E7DA-DC40-29B4051B66BC}"/>
              </a:ext>
            </a:extLst>
          </p:cNvPr>
          <p:cNvPicPr>
            <a:picLocks noChangeAspect="1"/>
          </p:cNvPicPr>
          <p:nvPr/>
        </p:nvPicPr>
        <p:blipFill rotWithShape="1">
          <a:blip r:embed="rId3"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sp>
        <p:nvSpPr>
          <p:cNvPr id="3" name="Round Diagonal Corner Rectangle 2">
            <a:extLst>
              <a:ext uri="{FF2B5EF4-FFF2-40B4-BE49-F238E27FC236}">
                <a16:creationId xmlns:a16="http://schemas.microsoft.com/office/drawing/2014/main" id="{60D9872F-EA95-EC30-8081-6D57338B8A2C}"/>
              </a:ext>
            </a:extLst>
          </p:cNvPr>
          <p:cNvSpPr/>
          <p:nvPr/>
        </p:nvSpPr>
        <p:spPr>
          <a:xfrm>
            <a:off x="622930" y="1435100"/>
            <a:ext cx="7098670" cy="5159767"/>
          </a:xfrm>
          <a:prstGeom prst="round2DiagRect">
            <a:avLst/>
          </a:prstGeom>
          <a:no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Clr>
                <a:schemeClr val="bg1"/>
              </a:buClr>
              <a:buFont typeface="Arial" panose="020B0604020202020204" pitchFamily="34" charset="0"/>
              <a:buChar char="•"/>
            </a:pPr>
            <a:r>
              <a:rPr lang="en-GB" sz="2400" dirty="0">
                <a:solidFill>
                  <a:schemeClr val="bg1"/>
                </a:solidFill>
              </a:rPr>
              <a:t>Common following a fall onto an outstretched hand (FOOSH)</a:t>
            </a:r>
          </a:p>
          <a:p>
            <a:pPr marL="342900" indent="-342900">
              <a:buClr>
                <a:schemeClr val="bg1"/>
              </a:buClr>
              <a:buFont typeface="Arial" panose="020B0604020202020204" pitchFamily="34" charset="0"/>
              <a:buChar char="•"/>
            </a:pPr>
            <a:r>
              <a:rPr lang="en-GB" sz="2400" dirty="0">
                <a:solidFill>
                  <a:schemeClr val="bg1"/>
                </a:solidFill>
              </a:rPr>
              <a:t>Occurs at the ‘waist’ of the scaphoid</a:t>
            </a:r>
          </a:p>
          <a:p>
            <a:pPr marL="342900" indent="-342900">
              <a:buClr>
                <a:schemeClr val="bg1"/>
              </a:buClr>
              <a:buFont typeface="Arial" panose="020B0604020202020204" pitchFamily="34" charset="0"/>
              <a:buChar char="•"/>
            </a:pPr>
            <a:r>
              <a:rPr lang="en-GB" sz="2400" dirty="0">
                <a:solidFill>
                  <a:schemeClr val="bg1"/>
                </a:solidFill>
              </a:rPr>
              <a:t>Pain usually present on palpation of the ‘snuffbox’</a:t>
            </a:r>
          </a:p>
          <a:p>
            <a:pPr marL="342900" indent="-342900">
              <a:buClr>
                <a:schemeClr val="bg1"/>
              </a:buClr>
              <a:buFont typeface="Arial" panose="020B0604020202020204" pitchFamily="34" charset="0"/>
              <a:buChar char="•"/>
            </a:pPr>
            <a:r>
              <a:rPr lang="en-GB" sz="2400" dirty="0">
                <a:solidFill>
                  <a:schemeClr val="bg1"/>
                </a:solidFill>
              </a:rPr>
              <a:t>In 10% of the population, the scaphoid has one vessel of blood supply (scaphoid branch of the radial artery) which can cause avascular necrosis, if the scaphoid fractures and is not recognised and managed</a:t>
            </a:r>
          </a:p>
          <a:p>
            <a:pPr marL="342900" indent="-342900">
              <a:buClr>
                <a:schemeClr val="bg1"/>
              </a:buClr>
              <a:buFont typeface="Arial" panose="020B0604020202020204" pitchFamily="34" charset="0"/>
              <a:buChar char="•"/>
            </a:pPr>
            <a:r>
              <a:rPr lang="en-GB" sz="2400" dirty="0">
                <a:solidFill>
                  <a:schemeClr val="bg1"/>
                </a:solidFill>
              </a:rPr>
              <a:t>Other issues include onset of wrist arthritis later</a:t>
            </a:r>
          </a:p>
          <a:p>
            <a:pPr marL="342900" indent="-342900">
              <a:buClr>
                <a:schemeClr val="bg1"/>
              </a:buClr>
              <a:buFont typeface="Arial" panose="020B0604020202020204" pitchFamily="34" charset="0"/>
              <a:buChar char="•"/>
            </a:pPr>
            <a:r>
              <a:rPr lang="en-GB" sz="2400" dirty="0">
                <a:solidFill>
                  <a:schemeClr val="bg1"/>
                </a:solidFill>
              </a:rPr>
              <a:t>FOOSH can sometimes lead to a scapholunate ligament rupture which causes instability symptoms </a:t>
            </a:r>
          </a:p>
        </p:txBody>
      </p:sp>
      <p:sp>
        <p:nvSpPr>
          <p:cNvPr id="2" name="Round Diagonal Corner Rectangle 7">
            <a:extLst>
              <a:ext uri="{FF2B5EF4-FFF2-40B4-BE49-F238E27FC236}">
                <a16:creationId xmlns:a16="http://schemas.microsoft.com/office/drawing/2014/main" id="{650DC1C6-90AA-6AC8-AA03-C65AFEC2DA66}"/>
              </a:ext>
            </a:extLst>
          </p:cNvPr>
          <p:cNvSpPr/>
          <p:nvPr/>
        </p:nvSpPr>
        <p:spPr>
          <a:xfrm>
            <a:off x="8026400" y="3429000"/>
            <a:ext cx="3860800" cy="3165868"/>
          </a:xfrm>
          <a:prstGeom prst="round2DiagRect">
            <a:avLst/>
          </a:prstGeom>
          <a:blipFill dpi="0" rotWithShape="1">
            <a:blip r:embed="rId4"/>
            <a:srcRect/>
            <a:stretch>
              <a:fillRect/>
            </a:stretch>
          </a:blipFill>
          <a:ln w="38100">
            <a:solidFill>
              <a:srgbClr val="222A3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ound Diagonal Corner Rectangle 7">
            <a:extLst>
              <a:ext uri="{FF2B5EF4-FFF2-40B4-BE49-F238E27FC236}">
                <a16:creationId xmlns:a16="http://schemas.microsoft.com/office/drawing/2014/main" id="{4F144245-0AAE-7E7D-8E1B-6921FF5E976F}"/>
              </a:ext>
            </a:extLst>
          </p:cNvPr>
          <p:cNvSpPr/>
          <p:nvPr/>
        </p:nvSpPr>
        <p:spPr>
          <a:xfrm>
            <a:off x="8026400" y="263131"/>
            <a:ext cx="3860800" cy="2925545"/>
          </a:xfrm>
          <a:prstGeom prst="round2DiagRect">
            <a:avLst/>
          </a:prstGeom>
          <a:blipFill dpi="0" rotWithShape="1">
            <a:blip r:embed="rId5">
              <a:extLst>
                <a:ext uri="{28A0092B-C50C-407E-A947-70E740481C1C}">
                  <a14:useLocalDpi xmlns:a14="http://schemas.microsoft.com/office/drawing/2010/main" val="0"/>
                </a:ext>
              </a:extLst>
            </a:blip>
            <a:srcRect/>
            <a:stretch>
              <a:fillRect/>
            </a:stretch>
          </a:blipFill>
          <a:ln w="38100">
            <a:solidFill>
              <a:srgbClr val="222A3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1916286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8603B9-5EFB-F91E-59B0-9D1A1CB7A7A8}"/>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168E6BDC-9699-0DCC-B814-F03A673F1AD1}"/>
              </a:ext>
            </a:extLst>
          </p:cNvPr>
          <p:cNvSpPr/>
          <p:nvPr/>
        </p:nvSpPr>
        <p:spPr>
          <a:xfrm>
            <a:off x="0" y="0"/>
            <a:ext cx="12192000" cy="685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ound Diagonal Corner Rectangle 3">
            <a:extLst>
              <a:ext uri="{FF2B5EF4-FFF2-40B4-BE49-F238E27FC236}">
                <a16:creationId xmlns:a16="http://schemas.microsoft.com/office/drawing/2014/main" id="{315AFBE8-17A5-ECBF-D068-8055FA466479}"/>
              </a:ext>
            </a:extLst>
          </p:cNvPr>
          <p:cNvSpPr/>
          <p:nvPr/>
        </p:nvSpPr>
        <p:spPr>
          <a:xfrm>
            <a:off x="622928" y="402811"/>
            <a:ext cx="6469534"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solidFill>
                  <a:schemeClr val="bg1"/>
                </a:solidFill>
              </a:rPr>
              <a:t>DE QUERVAINS SYNDROME</a:t>
            </a:r>
          </a:p>
        </p:txBody>
      </p:sp>
      <p:pic>
        <p:nvPicPr>
          <p:cNvPr id="19" name="Picture 18" descr="COSMOS GRAPHIC WHITE.png">
            <a:extLst>
              <a:ext uri="{FF2B5EF4-FFF2-40B4-BE49-F238E27FC236}">
                <a16:creationId xmlns:a16="http://schemas.microsoft.com/office/drawing/2014/main" id="{15E6B53B-1982-18F8-340A-5691F21F5DB7}"/>
              </a:ext>
            </a:extLst>
          </p:cNvPr>
          <p:cNvPicPr>
            <a:picLocks noChangeAspect="1"/>
          </p:cNvPicPr>
          <p:nvPr/>
        </p:nvPicPr>
        <p:blipFill rotWithShape="1">
          <a:blip r:embed="rId3"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sp>
        <p:nvSpPr>
          <p:cNvPr id="3" name="Round Diagonal Corner Rectangle 2">
            <a:extLst>
              <a:ext uri="{FF2B5EF4-FFF2-40B4-BE49-F238E27FC236}">
                <a16:creationId xmlns:a16="http://schemas.microsoft.com/office/drawing/2014/main" id="{F460AB6E-5A6F-4D12-E2B4-6354585200C3}"/>
              </a:ext>
            </a:extLst>
          </p:cNvPr>
          <p:cNvSpPr/>
          <p:nvPr/>
        </p:nvSpPr>
        <p:spPr>
          <a:xfrm>
            <a:off x="622930" y="1435100"/>
            <a:ext cx="7098670" cy="5159767"/>
          </a:xfrm>
          <a:prstGeom prst="round2DiagRect">
            <a:avLst/>
          </a:prstGeom>
          <a:no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Clr>
                <a:schemeClr val="bg1"/>
              </a:buClr>
              <a:buFont typeface="Arial" panose="020B0604020202020204" pitchFamily="34" charset="0"/>
              <a:buChar char="•"/>
            </a:pPr>
            <a:r>
              <a:rPr lang="en-GB" sz="2400" dirty="0">
                <a:solidFill>
                  <a:schemeClr val="bg1"/>
                </a:solidFill>
              </a:rPr>
              <a:t>De </a:t>
            </a:r>
            <a:r>
              <a:rPr lang="en-GB" sz="2400" dirty="0" err="1">
                <a:solidFill>
                  <a:schemeClr val="bg1"/>
                </a:solidFill>
              </a:rPr>
              <a:t>Quervain's</a:t>
            </a:r>
            <a:r>
              <a:rPr lang="en-GB" sz="2400" dirty="0">
                <a:solidFill>
                  <a:schemeClr val="bg1"/>
                </a:solidFill>
              </a:rPr>
              <a:t> syndrome is an inflammatory disorder that involves the extensor pollicis brevis tendon and abductor pollicis longus tendon</a:t>
            </a:r>
          </a:p>
          <a:p>
            <a:pPr marL="342900" indent="-342900">
              <a:buClr>
                <a:schemeClr val="bg1"/>
              </a:buClr>
              <a:buFont typeface="Arial" panose="020B0604020202020204" pitchFamily="34" charset="0"/>
              <a:buChar char="•"/>
            </a:pPr>
            <a:r>
              <a:rPr lang="en-GB" sz="2400" dirty="0">
                <a:solidFill>
                  <a:schemeClr val="bg1"/>
                </a:solidFill>
              </a:rPr>
              <a:t>Patients typically present with significant wrist pain preventing flexion/extension and abduction of the thumb</a:t>
            </a:r>
          </a:p>
          <a:p>
            <a:pPr marL="342900" indent="-342900">
              <a:buClr>
                <a:schemeClr val="bg1"/>
              </a:buClr>
              <a:buFont typeface="Arial" panose="020B0604020202020204" pitchFamily="34" charset="0"/>
              <a:buChar char="•"/>
            </a:pPr>
            <a:r>
              <a:rPr lang="en-GB" sz="2400" dirty="0">
                <a:solidFill>
                  <a:schemeClr val="bg1"/>
                </a:solidFill>
              </a:rPr>
              <a:t>The cause of this disorder is often overuse and is common in new mothers who are constantly lifting young children</a:t>
            </a:r>
          </a:p>
          <a:p>
            <a:pPr marL="342900" indent="-342900">
              <a:buClr>
                <a:schemeClr val="bg1"/>
              </a:buClr>
              <a:buFont typeface="Arial" panose="020B0604020202020204" pitchFamily="34" charset="0"/>
              <a:buChar char="•"/>
            </a:pPr>
            <a:r>
              <a:rPr lang="en-GB" sz="2400" dirty="0">
                <a:solidFill>
                  <a:schemeClr val="bg1"/>
                </a:solidFill>
              </a:rPr>
              <a:t>Identified using </a:t>
            </a:r>
            <a:r>
              <a:rPr lang="en-GB" sz="2400" dirty="0" err="1">
                <a:solidFill>
                  <a:schemeClr val="bg1"/>
                </a:solidFill>
              </a:rPr>
              <a:t>Finklestein’s</a:t>
            </a:r>
            <a:r>
              <a:rPr lang="en-GB" sz="2400" dirty="0">
                <a:solidFill>
                  <a:schemeClr val="bg1"/>
                </a:solidFill>
              </a:rPr>
              <a:t> test</a:t>
            </a:r>
          </a:p>
        </p:txBody>
      </p:sp>
      <p:sp>
        <p:nvSpPr>
          <p:cNvPr id="2" name="Round Diagonal Corner Rectangle 7">
            <a:extLst>
              <a:ext uri="{FF2B5EF4-FFF2-40B4-BE49-F238E27FC236}">
                <a16:creationId xmlns:a16="http://schemas.microsoft.com/office/drawing/2014/main" id="{E44C23FD-B1F3-68D9-ED94-7CB17F4D487B}"/>
              </a:ext>
            </a:extLst>
          </p:cNvPr>
          <p:cNvSpPr/>
          <p:nvPr/>
        </p:nvSpPr>
        <p:spPr>
          <a:xfrm>
            <a:off x="8026400" y="3429000"/>
            <a:ext cx="3860800" cy="3165868"/>
          </a:xfrm>
          <a:prstGeom prst="round2DiagRect">
            <a:avLst/>
          </a:prstGeom>
          <a:blipFill dpi="0" rotWithShape="1">
            <a:blip r:embed="rId4">
              <a:extLst>
                <a:ext uri="{28A0092B-C50C-407E-A947-70E740481C1C}">
                  <a14:useLocalDpi xmlns:a14="http://schemas.microsoft.com/office/drawing/2010/main" val="0"/>
                </a:ext>
              </a:extLst>
            </a:blip>
            <a:srcRect/>
            <a:stretch>
              <a:fillRect/>
            </a:stretch>
          </a:blipFill>
          <a:ln w="38100">
            <a:solidFill>
              <a:srgbClr val="222A3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ound Diagonal Corner Rectangle 7">
            <a:extLst>
              <a:ext uri="{FF2B5EF4-FFF2-40B4-BE49-F238E27FC236}">
                <a16:creationId xmlns:a16="http://schemas.microsoft.com/office/drawing/2014/main" id="{42ED8EA1-87AF-04BA-C2BB-5DE666EDE205}"/>
              </a:ext>
            </a:extLst>
          </p:cNvPr>
          <p:cNvSpPr/>
          <p:nvPr/>
        </p:nvSpPr>
        <p:spPr>
          <a:xfrm>
            <a:off x="8026400" y="263131"/>
            <a:ext cx="3860800" cy="2925545"/>
          </a:xfrm>
          <a:prstGeom prst="round2DiagRect">
            <a:avLst/>
          </a:prstGeom>
          <a:blipFill dpi="0" rotWithShape="1">
            <a:blip r:embed="rId5">
              <a:extLst>
                <a:ext uri="{28A0092B-C50C-407E-A947-70E740481C1C}">
                  <a14:useLocalDpi xmlns:a14="http://schemas.microsoft.com/office/drawing/2010/main" val="0"/>
                </a:ext>
              </a:extLst>
            </a:blip>
            <a:srcRect/>
            <a:stretch>
              <a:fillRect/>
            </a:stretch>
          </a:blipFill>
          <a:ln w="38100">
            <a:solidFill>
              <a:srgbClr val="222A3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1984245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F41E8C-4FD0-9B10-4EC3-F66EC660FA57}"/>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63D99894-C8B5-8BCE-8863-FD692ED913CD}"/>
              </a:ext>
            </a:extLst>
          </p:cNvPr>
          <p:cNvSpPr/>
          <p:nvPr/>
        </p:nvSpPr>
        <p:spPr>
          <a:xfrm>
            <a:off x="0" y="0"/>
            <a:ext cx="12192000" cy="685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ound Diagonal Corner Rectangle 3">
            <a:extLst>
              <a:ext uri="{FF2B5EF4-FFF2-40B4-BE49-F238E27FC236}">
                <a16:creationId xmlns:a16="http://schemas.microsoft.com/office/drawing/2014/main" id="{E86B2E75-C5E4-6C06-D10B-44B1755FA589}"/>
              </a:ext>
            </a:extLst>
          </p:cNvPr>
          <p:cNvSpPr/>
          <p:nvPr/>
        </p:nvSpPr>
        <p:spPr>
          <a:xfrm>
            <a:off x="797820" y="326611"/>
            <a:ext cx="3436723"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t>QUIZ</a:t>
            </a:r>
          </a:p>
        </p:txBody>
      </p:sp>
      <p:pic>
        <p:nvPicPr>
          <p:cNvPr id="19" name="Picture 18" descr="COSMOS GRAPHIC WHITE.png">
            <a:extLst>
              <a:ext uri="{FF2B5EF4-FFF2-40B4-BE49-F238E27FC236}">
                <a16:creationId xmlns:a16="http://schemas.microsoft.com/office/drawing/2014/main" id="{FE3E6BB3-48F0-B643-9512-B59C2C058FF6}"/>
              </a:ext>
            </a:extLst>
          </p:cNvPr>
          <p:cNvPicPr>
            <a:picLocks noChangeAspect="1"/>
          </p:cNvPicPr>
          <p:nvPr/>
        </p:nvPicPr>
        <p:blipFill rotWithShape="1">
          <a:blip r:embed="rId2"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sp>
        <p:nvSpPr>
          <p:cNvPr id="3" name="Round Diagonal Corner Rectangle 2">
            <a:extLst>
              <a:ext uri="{FF2B5EF4-FFF2-40B4-BE49-F238E27FC236}">
                <a16:creationId xmlns:a16="http://schemas.microsoft.com/office/drawing/2014/main" id="{12F8AE31-3879-60A1-AA09-4FAA90D83AAF}"/>
              </a:ext>
            </a:extLst>
          </p:cNvPr>
          <p:cNvSpPr/>
          <p:nvPr/>
        </p:nvSpPr>
        <p:spPr>
          <a:xfrm>
            <a:off x="797819" y="1358901"/>
            <a:ext cx="4982495" cy="4842394"/>
          </a:xfrm>
          <a:prstGeom prst="round2DiagRect">
            <a:avLst/>
          </a:prstGeom>
          <a:solidFill>
            <a:schemeClr val="bg1"/>
          </a:solid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endParaRPr lang="en-GB" sz="2800" dirty="0">
              <a:solidFill>
                <a:schemeClr val="bg1"/>
              </a:solidFill>
            </a:endParaRPr>
          </a:p>
        </p:txBody>
      </p:sp>
      <p:pic>
        <p:nvPicPr>
          <p:cNvPr id="1026" name="Picture 2">
            <a:extLst>
              <a:ext uri="{FF2B5EF4-FFF2-40B4-BE49-F238E27FC236}">
                <a16:creationId xmlns:a16="http://schemas.microsoft.com/office/drawing/2014/main" id="{5A62296D-F97B-C239-1C6C-8CB192A2E2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5467" y="1779848"/>
            <a:ext cx="4000500" cy="4000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13830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1345E-A031-6AC4-CAE4-91E4C980C915}"/>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9C50C8B0-5300-59A8-EAD3-827D1FDBBE5A}"/>
              </a:ext>
            </a:extLst>
          </p:cNvPr>
          <p:cNvSpPr/>
          <p:nvPr/>
        </p:nvSpPr>
        <p:spPr>
          <a:xfrm>
            <a:off x="0" y="0"/>
            <a:ext cx="12192000" cy="685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ound Diagonal Corner Rectangle 3">
            <a:extLst>
              <a:ext uri="{FF2B5EF4-FFF2-40B4-BE49-F238E27FC236}">
                <a16:creationId xmlns:a16="http://schemas.microsoft.com/office/drawing/2014/main" id="{FD47D4BC-C2AC-DE97-D91B-F17B2D832638}"/>
              </a:ext>
            </a:extLst>
          </p:cNvPr>
          <p:cNvSpPr/>
          <p:nvPr/>
        </p:nvSpPr>
        <p:spPr>
          <a:xfrm>
            <a:off x="797820" y="326611"/>
            <a:ext cx="3436723"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t>SUMMARY</a:t>
            </a:r>
          </a:p>
        </p:txBody>
      </p:sp>
      <p:pic>
        <p:nvPicPr>
          <p:cNvPr id="19" name="Picture 18" descr="COSMOS GRAPHIC WHITE.png">
            <a:extLst>
              <a:ext uri="{FF2B5EF4-FFF2-40B4-BE49-F238E27FC236}">
                <a16:creationId xmlns:a16="http://schemas.microsoft.com/office/drawing/2014/main" id="{5716E185-B7A6-AB78-1EF2-46DF43084766}"/>
              </a:ext>
            </a:extLst>
          </p:cNvPr>
          <p:cNvPicPr>
            <a:picLocks noChangeAspect="1"/>
          </p:cNvPicPr>
          <p:nvPr/>
        </p:nvPicPr>
        <p:blipFill rotWithShape="1">
          <a:blip r:embed="rId2"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sp>
        <p:nvSpPr>
          <p:cNvPr id="3" name="Round Diagonal Corner Rectangle 2">
            <a:extLst>
              <a:ext uri="{FF2B5EF4-FFF2-40B4-BE49-F238E27FC236}">
                <a16:creationId xmlns:a16="http://schemas.microsoft.com/office/drawing/2014/main" id="{8F174D57-778C-4F4F-393C-AC6736801857}"/>
              </a:ext>
            </a:extLst>
          </p:cNvPr>
          <p:cNvSpPr/>
          <p:nvPr/>
        </p:nvSpPr>
        <p:spPr>
          <a:xfrm>
            <a:off x="797819" y="1358901"/>
            <a:ext cx="7963796" cy="4842394"/>
          </a:xfrm>
          <a:prstGeom prst="round2DiagRect">
            <a:avLst/>
          </a:prstGeom>
          <a:no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GB" sz="2800" dirty="0">
                <a:solidFill>
                  <a:schemeClr val="bg1"/>
                </a:solidFill>
              </a:rPr>
              <a:t>The wrist complex is made up of the radius, ulnar and proximal row of carpals</a:t>
            </a:r>
          </a:p>
          <a:p>
            <a:pPr marL="285750" indent="-285750">
              <a:buFont typeface="Arial" panose="020B0604020202020204" pitchFamily="34" charset="0"/>
              <a:buChar char="•"/>
            </a:pPr>
            <a:r>
              <a:rPr lang="en-GB" sz="2800" dirty="0">
                <a:solidFill>
                  <a:schemeClr val="bg1"/>
                </a:solidFill>
              </a:rPr>
              <a:t>Supported by articular disc, TFCC and ligaments</a:t>
            </a:r>
          </a:p>
          <a:p>
            <a:pPr marL="285750" indent="-285750">
              <a:buFont typeface="Arial" panose="020B0604020202020204" pitchFamily="34" charset="0"/>
              <a:buChar char="•"/>
            </a:pPr>
            <a:r>
              <a:rPr lang="en-GB" sz="2800" dirty="0">
                <a:solidFill>
                  <a:schemeClr val="bg1"/>
                </a:solidFill>
              </a:rPr>
              <a:t>Many structures are present in a small space and some of these (flexor tendons and median nerve) run through the carpal tunnel</a:t>
            </a:r>
          </a:p>
          <a:p>
            <a:pPr marL="285750" indent="-285750">
              <a:buFont typeface="Arial" panose="020B0604020202020204" pitchFamily="34" charset="0"/>
              <a:buChar char="•"/>
            </a:pPr>
            <a:r>
              <a:rPr lang="en-GB" sz="2800" dirty="0">
                <a:solidFill>
                  <a:schemeClr val="bg1"/>
                </a:solidFill>
              </a:rPr>
              <a:t>Common traumatic injuries include distal radius and scaphoid fractures</a:t>
            </a:r>
          </a:p>
          <a:p>
            <a:pPr marL="285750" indent="-285750">
              <a:buFont typeface="Arial" panose="020B0604020202020204" pitchFamily="34" charset="0"/>
              <a:buChar char="•"/>
            </a:pPr>
            <a:r>
              <a:rPr lang="en-GB" sz="2800" dirty="0">
                <a:solidFill>
                  <a:schemeClr val="bg1"/>
                </a:solidFill>
              </a:rPr>
              <a:t>Common insidious injuries include carpal tunnel and De </a:t>
            </a:r>
            <a:r>
              <a:rPr lang="en-GB" sz="2800" dirty="0" err="1">
                <a:solidFill>
                  <a:schemeClr val="bg1"/>
                </a:solidFill>
              </a:rPr>
              <a:t>Quervains</a:t>
            </a:r>
            <a:r>
              <a:rPr lang="en-GB" sz="2800" dirty="0">
                <a:solidFill>
                  <a:schemeClr val="bg1"/>
                </a:solidFill>
              </a:rPr>
              <a:t> syndromes</a:t>
            </a:r>
          </a:p>
        </p:txBody>
      </p:sp>
    </p:spTree>
    <p:extLst>
      <p:ext uri="{BB962C8B-B14F-4D97-AF65-F5344CB8AC3E}">
        <p14:creationId xmlns:p14="http://schemas.microsoft.com/office/powerpoint/2010/main" val="42823971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38FD75-A821-25F4-83B8-AA9F3019388B}"/>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031B19C4-8FE5-76B2-1EEE-2A84F4DEAE7E}"/>
              </a:ext>
            </a:extLst>
          </p:cNvPr>
          <p:cNvSpPr/>
          <p:nvPr/>
        </p:nvSpPr>
        <p:spPr>
          <a:xfrm>
            <a:off x="0" y="0"/>
            <a:ext cx="12192000" cy="685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ound Diagonal Corner Rectangle 3">
            <a:extLst>
              <a:ext uri="{FF2B5EF4-FFF2-40B4-BE49-F238E27FC236}">
                <a16:creationId xmlns:a16="http://schemas.microsoft.com/office/drawing/2014/main" id="{14ABCD8F-7142-4A24-A191-D8A910D9857C}"/>
              </a:ext>
            </a:extLst>
          </p:cNvPr>
          <p:cNvSpPr/>
          <p:nvPr/>
        </p:nvSpPr>
        <p:spPr>
          <a:xfrm>
            <a:off x="797820" y="326611"/>
            <a:ext cx="4256780"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t>ANY QUESTIONS?</a:t>
            </a:r>
          </a:p>
        </p:txBody>
      </p:sp>
      <p:pic>
        <p:nvPicPr>
          <p:cNvPr id="19" name="Picture 18" descr="COSMOS GRAPHIC WHITE.png">
            <a:extLst>
              <a:ext uri="{FF2B5EF4-FFF2-40B4-BE49-F238E27FC236}">
                <a16:creationId xmlns:a16="http://schemas.microsoft.com/office/drawing/2014/main" id="{3CF1363B-A612-F41F-C08D-8D4DE637DE52}"/>
              </a:ext>
            </a:extLst>
          </p:cNvPr>
          <p:cNvPicPr>
            <a:picLocks noChangeAspect="1"/>
          </p:cNvPicPr>
          <p:nvPr/>
        </p:nvPicPr>
        <p:blipFill rotWithShape="1">
          <a:blip r:embed="rId2"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sp>
        <p:nvSpPr>
          <p:cNvPr id="3" name="Round Diagonal Corner Rectangle 2">
            <a:extLst>
              <a:ext uri="{FF2B5EF4-FFF2-40B4-BE49-F238E27FC236}">
                <a16:creationId xmlns:a16="http://schemas.microsoft.com/office/drawing/2014/main" id="{AE279594-C117-4903-7CC6-D189D7FC8402}"/>
              </a:ext>
            </a:extLst>
          </p:cNvPr>
          <p:cNvSpPr/>
          <p:nvPr/>
        </p:nvSpPr>
        <p:spPr>
          <a:xfrm>
            <a:off x="797819" y="1358901"/>
            <a:ext cx="7963796" cy="4842394"/>
          </a:xfrm>
          <a:prstGeom prst="round2DiagRect">
            <a:avLst/>
          </a:prstGeom>
          <a:blipFill>
            <a:blip r:embed="rId3"/>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endParaRPr lang="en-GB" sz="3200" dirty="0">
              <a:solidFill>
                <a:schemeClr val="bg1"/>
              </a:solidFill>
            </a:endParaRPr>
          </a:p>
        </p:txBody>
      </p:sp>
    </p:spTree>
    <p:extLst>
      <p:ext uri="{BB962C8B-B14F-4D97-AF65-F5344CB8AC3E}">
        <p14:creationId xmlns:p14="http://schemas.microsoft.com/office/powerpoint/2010/main" val="9955131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962</Words>
  <Application>Microsoft Office PowerPoint</Application>
  <PresentationFormat>Widescreen</PresentationFormat>
  <Paragraphs>134</Paragraphs>
  <Slides>27</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Arial</vt:lpstr>
      <vt:lpstr>Calibri</vt:lpstr>
      <vt:lpstr>Calibri Light</vt:lpstr>
      <vt:lpstr>Office Theme</vt:lpstr>
      <vt:lpstr>Wrist Anatomy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London Metropolitan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 Life Support</dc:title>
  <dc:creator>Paul Starrs</dc:creator>
  <cp:lastModifiedBy>Paul Starrs</cp:lastModifiedBy>
  <cp:revision>81</cp:revision>
  <dcterms:created xsi:type="dcterms:W3CDTF">2018-09-14T09:18:39Z</dcterms:created>
  <dcterms:modified xsi:type="dcterms:W3CDTF">2025-02-21T12:18:37Z</dcterms:modified>
</cp:coreProperties>
</file>