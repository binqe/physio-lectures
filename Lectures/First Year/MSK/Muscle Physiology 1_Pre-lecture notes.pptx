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331" r:id="rId3"/>
    <p:sldId id="332" r:id="rId4"/>
    <p:sldId id="355" r:id="rId5"/>
    <p:sldId id="356" r:id="rId6"/>
    <p:sldId id="357" r:id="rId7"/>
    <p:sldId id="358" r:id="rId8"/>
    <p:sldId id="333" r:id="rId9"/>
    <p:sldId id="305" r:id="rId10"/>
    <p:sldId id="339" r:id="rId11"/>
    <p:sldId id="340" r:id="rId12"/>
    <p:sldId id="341" r:id="rId13"/>
    <p:sldId id="342" r:id="rId14"/>
    <p:sldId id="343" r:id="rId15"/>
    <p:sldId id="344" r:id="rId16"/>
    <p:sldId id="345" r:id="rId17"/>
    <p:sldId id="346" r:id="rId18"/>
    <p:sldId id="347" r:id="rId19"/>
    <p:sldId id="348" r:id="rId20"/>
    <p:sldId id="351" r:id="rId21"/>
    <p:sldId id="338" r:id="rId22"/>
    <p:sldId id="352" r:id="rId23"/>
    <p:sldId id="353" r:id="rId24"/>
    <p:sldId id="354" r:id="rId25"/>
    <p:sldId id="334" r:id="rId26"/>
    <p:sldId id="335" r:id="rId27"/>
    <p:sldId id="336" r:id="rId28"/>
    <p:sldId id="367" r:id="rId29"/>
    <p:sldId id="349" r:id="rId30"/>
    <p:sldId id="350" r:id="rId31"/>
    <p:sldId id="378" r:id="rId32"/>
    <p:sldId id="329" r:id="rId33"/>
  </p:sldIdLst>
  <p:sldSz cx="12192000" cy="6858000"/>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a Preece" initials="M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00FDFF"/>
    <a:srgbClr val="8EFA00"/>
    <a:srgbClr val="FF40FF"/>
    <a:srgbClr val="00B0F0"/>
    <a:srgbClr val="009193"/>
    <a:srgbClr val="4171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001" autoAdjust="0"/>
    <p:restoredTop sz="92978" autoAdjust="0"/>
  </p:normalViewPr>
  <p:slideViewPr>
    <p:cSldViewPr snapToGrid="0">
      <p:cViewPr varScale="1">
        <p:scale>
          <a:sx n="103" d="100"/>
          <a:sy n="103" d="100"/>
        </p:scale>
        <p:origin x="798" y="102"/>
      </p:cViewPr>
      <p:guideLst>
        <p:guide orient="horz" pos="2160"/>
        <p:guide pos="3840"/>
      </p:guideLst>
    </p:cSldViewPr>
  </p:slideViewPr>
  <p:notesTextViewPr>
    <p:cViewPr>
      <p:scale>
        <a:sx n="1" d="1"/>
        <a:sy n="1" d="1"/>
      </p:scale>
      <p:origin x="0" y="0"/>
    </p:cViewPr>
  </p:notesTextViewPr>
  <p:sorterViewPr>
    <p:cViewPr>
      <p:scale>
        <a:sx n="130" d="100"/>
        <a:sy n="130" d="100"/>
      </p:scale>
      <p:origin x="0" y="-89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2547" cy="497842"/>
          </a:xfrm>
          <a:prstGeom prst="rect">
            <a:avLst/>
          </a:prstGeom>
        </p:spPr>
        <p:txBody>
          <a:bodyPr vert="horz" lIns="91870" tIns="45935" rIns="91870" bIns="45935" rtlCol="0"/>
          <a:lstStyle>
            <a:lvl1pPr algn="l">
              <a:defRPr sz="1200"/>
            </a:lvl1pPr>
          </a:lstStyle>
          <a:p>
            <a:endParaRPr lang="en-GB"/>
          </a:p>
        </p:txBody>
      </p:sp>
      <p:sp>
        <p:nvSpPr>
          <p:cNvPr id="3" name="Date Placeholder 2"/>
          <p:cNvSpPr>
            <a:spLocks noGrp="1"/>
          </p:cNvSpPr>
          <p:nvPr>
            <p:ph type="dt" sz="quarter" idx="1"/>
          </p:nvPr>
        </p:nvSpPr>
        <p:spPr>
          <a:xfrm>
            <a:off x="3883852" y="0"/>
            <a:ext cx="2972547" cy="497842"/>
          </a:xfrm>
          <a:prstGeom prst="rect">
            <a:avLst/>
          </a:prstGeom>
        </p:spPr>
        <p:txBody>
          <a:bodyPr vert="horz" lIns="91870" tIns="45935" rIns="91870" bIns="45935" rtlCol="0"/>
          <a:lstStyle>
            <a:lvl1pPr algn="r">
              <a:defRPr sz="1200"/>
            </a:lvl1pPr>
          </a:lstStyle>
          <a:p>
            <a:fld id="{4F1B2C48-23D4-48F3-B0D1-BA7CD777040E}" type="datetimeFigureOut">
              <a:rPr lang="en-GB" smtClean="0"/>
              <a:t>09/10/2024</a:t>
            </a:fld>
            <a:endParaRPr lang="en-GB"/>
          </a:p>
        </p:txBody>
      </p:sp>
      <p:sp>
        <p:nvSpPr>
          <p:cNvPr id="4" name="Footer Placeholder 3"/>
          <p:cNvSpPr>
            <a:spLocks noGrp="1"/>
          </p:cNvSpPr>
          <p:nvPr>
            <p:ph type="ftr" sz="quarter" idx="2"/>
          </p:nvPr>
        </p:nvSpPr>
        <p:spPr>
          <a:xfrm>
            <a:off x="0" y="9447846"/>
            <a:ext cx="2972547" cy="497842"/>
          </a:xfrm>
          <a:prstGeom prst="rect">
            <a:avLst/>
          </a:prstGeom>
        </p:spPr>
        <p:txBody>
          <a:bodyPr vert="horz" lIns="91870" tIns="45935" rIns="91870" bIns="45935" rtlCol="0" anchor="b"/>
          <a:lstStyle>
            <a:lvl1pPr algn="l">
              <a:defRPr sz="1200"/>
            </a:lvl1pPr>
          </a:lstStyle>
          <a:p>
            <a:endParaRPr lang="en-GB"/>
          </a:p>
        </p:txBody>
      </p:sp>
      <p:sp>
        <p:nvSpPr>
          <p:cNvPr id="5" name="Slide Number Placeholder 4"/>
          <p:cNvSpPr>
            <a:spLocks noGrp="1"/>
          </p:cNvSpPr>
          <p:nvPr>
            <p:ph type="sldNum" sz="quarter" idx="3"/>
          </p:nvPr>
        </p:nvSpPr>
        <p:spPr>
          <a:xfrm>
            <a:off x="3883852" y="9447846"/>
            <a:ext cx="2972547" cy="497842"/>
          </a:xfrm>
          <a:prstGeom prst="rect">
            <a:avLst/>
          </a:prstGeom>
        </p:spPr>
        <p:txBody>
          <a:bodyPr vert="horz" lIns="91870" tIns="45935" rIns="91870" bIns="45935" rtlCol="0" anchor="b"/>
          <a:lstStyle>
            <a:lvl1pPr algn="r">
              <a:defRPr sz="1200"/>
            </a:lvl1pPr>
          </a:lstStyle>
          <a:p>
            <a:fld id="{FAFF93F5-80D9-41C0-AD16-4ADEE6A57273}" type="slidenum">
              <a:rPr lang="en-GB" smtClean="0"/>
              <a:t>‹#›</a:t>
            </a:fld>
            <a:endParaRPr lang="en-GB"/>
          </a:p>
        </p:txBody>
      </p:sp>
    </p:spTree>
    <p:extLst>
      <p:ext uri="{BB962C8B-B14F-4D97-AF65-F5344CB8AC3E}">
        <p14:creationId xmlns:p14="http://schemas.microsoft.com/office/powerpoint/2010/main" val="30240461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12"/>
          </a:xfrm>
          <a:prstGeom prst="rect">
            <a:avLst/>
          </a:prstGeom>
        </p:spPr>
        <p:txBody>
          <a:bodyPr vert="horz" lIns="91870" tIns="45935" rIns="91870" bIns="45935" rtlCol="0"/>
          <a:lstStyle>
            <a:lvl1pPr algn="l">
              <a:defRPr sz="1200"/>
            </a:lvl1pPr>
          </a:lstStyle>
          <a:p>
            <a:endParaRPr lang="en-US"/>
          </a:p>
        </p:txBody>
      </p:sp>
      <p:sp>
        <p:nvSpPr>
          <p:cNvPr id="3" name="Date Placeholder 2"/>
          <p:cNvSpPr>
            <a:spLocks noGrp="1"/>
          </p:cNvSpPr>
          <p:nvPr>
            <p:ph type="dt" idx="1"/>
          </p:nvPr>
        </p:nvSpPr>
        <p:spPr>
          <a:xfrm>
            <a:off x="3884614" y="0"/>
            <a:ext cx="2971800" cy="499012"/>
          </a:xfrm>
          <a:prstGeom prst="rect">
            <a:avLst/>
          </a:prstGeom>
        </p:spPr>
        <p:txBody>
          <a:bodyPr vert="horz" lIns="91870" tIns="45935" rIns="91870" bIns="45935" rtlCol="0"/>
          <a:lstStyle>
            <a:lvl1pPr algn="r">
              <a:defRPr sz="1200"/>
            </a:lvl1pPr>
          </a:lstStyle>
          <a:p>
            <a:fld id="{86C53DF0-DE70-1943-8859-B15094DAE0DA}" type="datetimeFigureOut">
              <a:rPr lang="en-US" smtClean="0"/>
              <a:t>10/9/2024</a:t>
            </a:fld>
            <a:endParaRPr lang="en-US"/>
          </a:p>
        </p:txBody>
      </p:sp>
      <p:sp>
        <p:nvSpPr>
          <p:cNvPr id="4" name="Slide Image Placeholder 3"/>
          <p:cNvSpPr>
            <a:spLocks noGrp="1" noRot="1" noChangeAspect="1"/>
          </p:cNvSpPr>
          <p:nvPr>
            <p:ph type="sldImg" idx="2"/>
          </p:nvPr>
        </p:nvSpPr>
        <p:spPr>
          <a:xfrm>
            <a:off x="446088" y="1244600"/>
            <a:ext cx="5965825" cy="3355975"/>
          </a:xfrm>
          <a:prstGeom prst="rect">
            <a:avLst/>
          </a:prstGeom>
          <a:noFill/>
          <a:ln w="12700">
            <a:solidFill>
              <a:prstClr val="black"/>
            </a:solidFill>
          </a:ln>
        </p:spPr>
        <p:txBody>
          <a:bodyPr vert="horz" lIns="91870" tIns="45935" rIns="91870" bIns="45935" rtlCol="0" anchor="ctr"/>
          <a:lstStyle/>
          <a:p>
            <a:endParaRPr lang="en-US"/>
          </a:p>
        </p:txBody>
      </p:sp>
      <p:sp>
        <p:nvSpPr>
          <p:cNvPr id="5" name="Notes Placeholder 4"/>
          <p:cNvSpPr>
            <a:spLocks noGrp="1"/>
          </p:cNvSpPr>
          <p:nvPr>
            <p:ph type="body" sz="quarter" idx="3"/>
          </p:nvPr>
        </p:nvSpPr>
        <p:spPr>
          <a:xfrm>
            <a:off x="685801" y="4786362"/>
            <a:ext cx="5486400" cy="3916115"/>
          </a:xfrm>
          <a:prstGeom prst="rect">
            <a:avLst/>
          </a:prstGeom>
        </p:spPr>
        <p:txBody>
          <a:bodyPr vert="horz" lIns="91870" tIns="45935" rIns="91870" bIns="4593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6679"/>
            <a:ext cx="2971800" cy="499011"/>
          </a:xfrm>
          <a:prstGeom prst="rect">
            <a:avLst/>
          </a:prstGeom>
        </p:spPr>
        <p:txBody>
          <a:bodyPr vert="horz" lIns="91870" tIns="45935" rIns="91870" bIns="45935" rtlCol="0" anchor="b"/>
          <a:lstStyle>
            <a:lvl1pPr algn="l">
              <a:defRPr sz="1200"/>
            </a:lvl1pPr>
          </a:lstStyle>
          <a:p>
            <a:endParaRPr lang="en-US"/>
          </a:p>
        </p:txBody>
      </p:sp>
      <p:sp>
        <p:nvSpPr>
          <p:cNvPr id="7" name="Slide Number Placeholder 6"/>
          <p:cNvSpPr>
            <a:spLocks noGrp="1"/>
          </p:cNvSpPr>
          <p:nvPr>
            <p:ph type="sldNum" sz="quarter" idx="5"/>
          </p:nvPr>
        </p:nvSpPr>
        <p:spPr>
          <a:xfrm>
            <a:off x="3884614" y="9446679"/>
            <a:ext cx="2971800" cy="499011"/>
          </a:xfrm>
          <a:prstGeom prst="rect">
            <a:avLst/>
          </a:prstGeom>
        </p:spPr>
        <p:txBody>
          <a:bodyPr vert="horz" lIns="91870" tIns="45935" rIns="91870" bIns="45935" rtlCol="0" anchor="b"/>
          <a:lstStyle>
            <a:lvl1pPr algn="r">
              <a:defRPr sz="1200"/>
            </a:lvl1pPr>
          </a:lstStyle>
          <a:p>
            <a:fld id="{351CA05B-4666-C243-B26B-0D8F1F7B965D}" type="slidenum">
              <a:rPr lang="en-US" smtClean="0"/>
              <a:t>‹#›</a:t>
            </a:fld>
            <a:endParaRPr lang="en-US"/>
          </a:p>
        </p:txBody>
      </p:sp>
    </p:spTree>
    <p:extLst>
      <p:ext uri="{BB962C8B-B14F-4D97-AF65-F5344CB8AC3E}">
        <p14:creationId xmlns:p14="http://schemas.microsoft.com/office/powerpoint/2010/main" val="118740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1</a:t>
            </a:fld>
            <a:endParaRPr lang="en-US"/>
          </a:p>
        </p:txBody>
      </p:sp>
    </p:spTree>
    <p:extLst>
      <p:ext uri="{BB962C8B-B14F-4D97-AF65-F5344CB8AC3E}">
        <p14:creationId xmlns:p14="http://schemas.microsoft.com/office/powerpoint/2010/main" val="383284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a:t>
            </a:fld>
            <a:endParaRPr lang="en-US"/>
          </a:p>
        </p:txBody>
      </p:sp>
    </p:spTree>
    <p:extLst>
      <p:ext uri="{BB962C8B-B14F-4D97-AF65-F5344CB8AC3E}">
        <p14:creationId xmlns:p14="http://schemas.microsoft.com/office/powerpoint/2010/main" val="219855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The sarcolemma surrounds the muscle fibre and allows the </a:t>
            </a:r>
            <a:r>
              <a:rPr lang="en-GB" sz="1200" dirty="0" err="1">
                <a:effectLst/>
                <a:latin typeface="Calibri" panose="020F0502020204030204" pitchFamily="34" charset="0"/>
                <a:cs typeface="Calibri" panose="020F0502020204030204" pitchFamily="34" charset="0"/>
              </a:rPr>
              <a:t>propogation</a:t>
            </a:r>
            <a:r>
              <a:rPr lang="en-GB" sz="1200" dirty="0">
                <a:effectLst/>
                <a:latin typeface="Calibri" panose="020F0502020204030204" pitchFamily="34" charset="0"/>
                <a:cs typeface="Calibri" panose="020F0502020204030204" pitchFamily="34" charset="0"/>
              </a:rPr>
              <a:t> of action potentials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Sarcoplasmic reticulum surround each myofibril and stores/releases calcium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Transverse tubular system invaginates into the muscle fibre from the surface and allows action potential to travel down it </a:t>
            </a:r>
          </a:p>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3</a:t>
            </a:fld>
            <a:endParaRPr lang="en-US"/>
          </a:p>
        </p:txBody>
      </p:sp>
    </p:spTree>
    <p:extLst>
      <p:ext uri="{BB962C8B-B14F-4D97-AF65-F5344CB8AC3E}">
        <p14:creationId xmlns:p14="http://schemas.microsoft.com/office/powerpoint/2010/main" val="2881315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The sarcolemma surrounds the muscle fibre and allows the </a:t>
            </a:r>
            <a:r>
              <a:rPr lang="en-GB" sz="1200" dirty="0" err="1">
                <a:effectLst/>
                <a:latin typeface="Calibri" panose="020F0502020204030204" pitchFamily="34" charset="0"/>
                <a:cs typeface="Calibri" panose="020F0502020204030204" pitchFamily="34" charset="0"/>
              </a:rPr>
              <a:t>propogation</a:t>
            </a:r>
            <a:r>
              <a:rPr lang="en-GB" sz="1200" dirty="0">
                <a:effectLst/>
                <a:latin typeface="Calibri" panose="020F0502020204030204" pitchFamily="34" charset="0"/>
                <a:cs typeface="Calibri" panose="020F0502020204030204" pitchFamily="34" charset="0"/>
              </a:rPr>
              <a:t> of action potentials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Sarcoplasmic reticulum surround each myofibril and stores/releases calcium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Transverse tubular system invaginates into the muscle fibre from the surface and allows action potential to travel down it </a:t>
            </a:r>
          </a:p>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4</a:t>
            </a:fld>
            <a:endParaRPr lang="en-US"/>
          </a:p>
        </p:txBody>
      </p:sp>
    </p:spTree>
    <p:extLst>
      <p:ext uri="{BB962C8B-B14F-4D97-AF65-F5344CB8AC3E}">
        <p14:creationId xmlns:p14="http://schemas.microsoft.com/office/powerpoint/2010/main" val="3642875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5</a:t>
            </a:fld>
            <a:endParaRPr lang="en-US"/>
          </a:p>
        </p:txBody>
      </p:sp>
    </p:spTree>
    <p:extLst>
      <p:ext uri="{BB962C8B-B14F-4D97-AF65-F5344CB8AC3E}">
        <p14:creationId xmlns:p14="http://schemas.microsoft.com/office/powerpoint/2010/main" val="1084746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The sarcolemma surrounds the muscle fibre and allows the </a:t>
            </a:r>
            <a:r>
              <a:rPr lang="en-GB" sz="1200" dirty="0" err="1">
                <a:effectLst/>
                <a:latin typeface="Calibri" panose="020F0502020204030204" pitchFamily="34" charset="0"/>
                <a:cs typeface="Calibri" panose="020F0502020204030204" pitchFamily="34" charset="0"/>
              </a:rPr>
              <a:t>propogation</a:t>
            </a:r>
            <a:r>
              <a:rPr lang="en-GB" sz="1200" dirty="0">
                <a:effectLst/>
                <a:latin typeface="Calibri" panose="020F0502020204030204" pitchFamily="34" charset="0"/>
                <a:cs typeface="Calibri" panose="020F0502020204030204" pitchFamily="34" charset="0"/>
              </a:rPr>
              <a:t> of action potentials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Sarcoplasmic reticulum surround each myofibril and stores/releases calcium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Transverse tubular system invaginates into the muscle fibre from the surface and allows action potential to travel down it </a:t>
            </a:r>
          </a:p>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6</a:t>
            </a:fld>
            <a:endParaRPr lang="en-US"/>
          </a:p>
        </p:txBody>
      </p:sp>
    </p:spTree>
    <p:extLst>
      <p:ext uri="{BB962C8B-B14F-4D97-AF65-F5344CB8AC3E}">
        <p14:creationId xmlns:p14="http://schemas.microsoft.com/office/powerpoint/2010/main" val="1391218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7</a:t>
            </a:fld>
            <a:endParaRPr lang="en-US"/>
          </a:p>
        </p:txBody>
      </p:sp>
    </p:spTree>
    <p:extLst>
      <p:ext uri="{BB962C8B-B14F-4D97-AF65-F5344CB8AC3E}">
        <p14:creationId xmlns:p14="http://schemas.microsoft.com/office/powerpoint/2010/main" val="4189655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8</a:t>
            </a:fld>
            <a:endParaRPr lang="en-US"/>
          </a:p>
        </p:txBody>
      </p:sp>
    </p:spTree>
    <p:extLst>
      <p:ext uri="{BB962C8B-B14F-4D97-AF65-F5344CB8AC3E}">
        <p14:creationId xmlns:p14="http://schemas.microsoft.com/office/powerpoint/2010/main" val="1746160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In a copper electrical wire this is brought about by the movement of electrons along the wire. Air acts as the insulator.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cs typeface="Calibri" panose="020F0502020204030204" pitchFamily="34" charset="0"/>
              </a:rPr>
              <a:t>The speed of action potentials conduction is </a:t>
            </a:r>
            <a:r>
              <a:rPr lang="en-GB" sz="1200" i="1" dirty="0">
                <a:effectLst/>
                <a:latin typeface="Calibri" panose="020F0502020204030204" pitchFamily="34" charset="0"/>
                <a:cs typeface="Calibri" panose="020F0502020204030204" pitchFamily="34" charset="0"/>
              </a:rPr>
              <a:t>slower </a:t>
            </a:r>
            <a:r>
              <a:rPr lang="en-GB" sz="1200" dirty="0">
                <a:effectLst/>
                <a:latin typeface="Calibri" panose="020F0502020204030204" pitchFamily="34" charset="0"/>
                <a:cs typeface="Calibri" panose="020F0502020204030204" pitchFamily="34" charset="0"/>
              </a:rPr>
              <a:t>than that of electricity along a wire </a:t>
            </a:r>
          </a:p>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9</a:t>
            </a:fld>
            <a:endParaRPr lang="en-US"/>
          </a:p>
        </p:txBody>
      </p:sp>
    </p:spTree>
    <p:extLst>
      <p:ext uri="{BB962C8B-B14F-4D97-AF65-F5344CB8AC3E}">
        <p14:creationId xmlns:p14="http://schemas.microsoft.com/office/powerpoint/2010/main" val="3010412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10</a:t>
            </a:fld>
            <a:endParaRPr lang="en-US"/>
          </a:p>
        </p:txBody>
      </p:sp>
    </p:spTree>
    <p:extLst>
      <p:ext uri="{BB962C8B-B14F-4D97-AF65-F5344CB8AC3E}">
        <p14:creationId xmlns:p14="http://schemas.microsoft.com/office/powerpoint/2010/main" val="2727120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Z-discs (Z-lines):</a:t>
            </a:r>
            <a:r>
              <a:rPr lang="en-GB" b="0" i="0" u="none" strike="noStrike" dirty="0">
                <a:solidFill>
                  <a:srgbClr val="D1D5DB"/>
                </a:solidFill>
                <a:effectLst/>
                <a:latin typeface="Söhne"/>
              </a:rPr>
              <a:t> These are protein structures that bisect the sarcomere, marking the boundaries between adjacent sarcomeres. They anchor the thin filaments (actin) and provide structural stability.</a:t>
            </a:r>
          </a:p>
          <a:p>
            <a:pPr algn="l">
              <a:buFont typeface="+mj-lt"/>
              <a:buAutoNum type="arabicPeriod"/>
            </a:pPr>
            <a:r>
              <a:rPr lang="en-GB" b="1" i="0" u="none" strike="noStrike" dirty="0">
                <a:solidFill>
                  <a:srgbClr val="D1D5DB"/>
                </a:solidFill>
                <a:effectLst/>
                <a:latin typeface="Söhne"/>
              </a:rPr>
              <a:t>H-zone:</a:t>
            </a:r>
            <a:r>
              <a:rPr lang="en-GB" b="0" i="0" u="none" strike="noStrike" dirty="0">
                <a:solidFill>
                  <a:srgbClr val="D1D5DB"/>
                </a:solidFill>
                <a:effectLst/>
                <a:latin typeface="Söhne"/>
              </a:rPr>
              <a:t> This is the central region of the sarcomere where only myosin filaments are present. During muscle contraction, the H-zone narrows as the actin filaments slide inward.</a:t>
            </a:r>
          </a:p>
          <a:p>
            <a:pPr algn="l">
              <a:buFont typeface="+mj-lt"/>
              <a:buAutoNum type="arabicPeriod"/>
            </a:pPr>
            <a:r>
              <a:rPr lang="en-GB" b="1" i="0" u="none" strike="noStrike" dirty="0">
                <a:solidFill>
                  <a:srgbClr val="D1D5DB"/>
                </a:solidFill>
                <a:effectLst/>
                <a:latin typeface="Söhne"/>
              </a:rPr>
              <a:t>A-band:</a:t>
            </a:r>
            <a:r>
              <a:rPr lang="en-GB" b="0" i="0" u="none" strike="noStrike" dirty="0">
                <a:solidFill>
                  <a:srgbClr val="D1D5DB"/>
                </a:solidFill>
                <a:effectLst/>
                <a:latin typeface="Söhne"/>
              </a:rPr>
              <a:t> The A-band is the dark region of the sarcomere that contains both actin and myosin filaments. It does not change in length during muscle contraction.</a:t>
            </a:r>
          </a:p>
          <a:p>
            <a:pPr algn="l">
              <a:buFont typeface="+mj-lt"/>
              <a:buAutoNum type="arabicPeriod"/>
            </a:pPr>
            <a:r>
              <a:rPr lang="en-GB" b="1" i="0" u="none" strike="noStrike" dirty="0">
                <a:solidFill>
                  <a:srgbClr val="D1D5DB"/>
                </a:solidFill>
                <a:effectLst/>
                <a:latin typeface="Söhne"/>
              </a:rPr>
              <a:t>I-band:</a:t>
            </a:r>
            <a:r>
              <a:rPr lang="en-GB" b="0" i="0" u="none" strike="noStrike" dirty="0">
                <a:solidFill>
                  <a:srgbClr val="D1D5DB"/>
                </a:solidFill>
                <a:effectLst/>
                <a:latin typeface="Söhne"/>
              </a:rPr>
              <a:t> The I-band is the light region on either side of the A-band. It contains only actin filaments and gets narrower during muscle contraction.</a:t>
            </a:r>
          </a:p>
          <a:p>
            <a:pPr algn="l">
              <a:buFont typeface="+mj-lt"/>
              <a:buAutoNum type="arabicPeriod"/>
            </a:pPr>
            <a:r>
              <a:rPr lang="en-GB" b="1" i="0" u="none" strike="noStrike" dirty="0">
                <a:solidFill>
                  <a:srgbClr val="D1D5DB"/>
                </a:solidFill>
                <a:effectLst/>
                <a:latin typeface="Söhne"/>
              </a:rPr>
              <a:t>M-line:</a:t>
            </a:r>
            <a:r>
              <a:rPr lang="en-GB" b="0" i="0" u="none" strike="noStrike" dirty="0">
                <a:solidFill>
                  <a:srgbClr val="D1D5DB"/>
                </a:solidFill>
                <a:effectLst/>
                <a:latin typeface="Söhne"/>
              </a:rPr>
              <a:t> This is a protein structure in the center of the sarcomere that helps hold the myosin filaments in place.</a:t>
            </a:r>
          </a:p>
        </p:txBody>
      </p:sp>
      <p:sp>
        <p:nvSpPr>
          <p:cNvPr id="4" name="Slide Number Placeholder 3"/>
          <p:cNvSpPr>
            <a:spLocks noGrp="1"/>
          </p:cNvSpPr>
          <p:nvPr>
            <p:ph type="sldNum" sz="quarter" idx="5"/>
          </p:nvPr>
        </p:nvSpPr>
        <p:spPr/>
        <p:txBody>
          <a:bodyPr/>
          <a:lstStyle/>
          <a:p>
            <a:fld id="{351CA05B-4666-C243-B26B-0D8F1F7B965D}" type="slidenum">
              <a:rPr lang="en-US" smtClean="0"/>
              <a:t>11</a:t>
            </a:fld>
            <a:endParaRPr lang="en-US"/>
          </a:p>
        </p:txBody>
      </p:sp>
    </p:spTree>
    <p:extLst>
      <p:ext uri="{BB962C8B-B14F-4D97-AF65-F5344CB8AC3E}">
        <p14:creationId xmlns:p14="http://schemas.microsoft.com/office/powerpoint/2010/main" val="934641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u="none" strike="noStrike" dirty="0">
                <a:solidFill>
                  <a:srgbClr val="D1D5DB"/>
                </a:solidFill>
                <a:effectLst/>
                <a:latin typeface="Söhne"/>
              </a:rPr>
              <a:t>Actin: </a:t>
            </a:r>
            <a:r>
              <a:rPr lang="en-GB" b="0" i="0" u="none" strike="noStrike" dirty="0">
                <a:solidFill>
                  <a:srgbClr val="D1D5DB"/>
                </a:solidFill>
                <a:effectLst/>
                <a:latin typeface="Söhne"/>
              </a:rPr>
              <a:t>These are thin, thread-like structures composed primarily of the protein actin. Actin filaments are anchored to the Z-discs and extend towards the center of the </a:t>
            </a:r>
            <a:r>
              <a:rPr lang="en-GB" b="0" i="0" u="none" strike="noStrike" dirty="0" err="1">
                <a:solidFill>
                  <a:srgbClr val="D1D5DB"/>
                </a:solidFill>
                <a:effectLst/>
                <a:latin typeface="Söhne"/>
              </a:rPr>
              <a:t>sarcomere.These</a:t>
            </a:r>
            <a:r>
              <a:rPr lang="en-GB" b="0" i="0" u="none" strike="noStrike" dirty="0">
                <a:solidFill>
                  <a:srgbClr val="D1D5DB"/>
                </a:solidFill>
                <a:effectLst/>
                <a:latin typeface="Söhne"/>
              </a:rPr>
              <a:t> are thin, thread-like structures composed primarily of the protein actin. Actin filaments are anchored to the Z-discs and extend towards the center of the sarcomere.</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12</a:t>
            </a:fld>
            <a:endParaRPr lang="en-US"/>
          </a:p>
        </p:txBody>
      </p:sp>
    </p:spTree>
    <p:extLst>
      <p:ext uri="{BB962C8B-B14F-4D97-AF65-F5344CB8AC3E}">
        <p14:creationId xmlns:p14="http://schemas.microsoft.com/office/powerpoint/2010/main" val="4090392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Myosin Filaments (Thick Filaments):</a:t>
            </a:r>
            <a:r>
              <a:rPr lang="en-GB" b="0" i="0" u="none" strike="noStrike" dirty="0">
                <a:solidFill>
                  <a:srgbClr val="D1D5DB"/>
                </a:solidFill>
                <a:effectLst/>
                <a:latin typeface="Söhne"/>
              </a:rPr>
              <a:t> These are thicker, club-shaped structures primarily composed of the protein myosin. Myosin filaments are located in the center of the sarcomere, overlapping with the actin filaments.</a:t>
            </a:r>
          </a:p>
        </p:txBody>
      </p:sp>
      <p:sp>
        <p:nvSpPr>
          <p:cNvPr id="4" name="Slide Number Placeholder 3"/>
          <p:cNvSpPr>
            <a:spLocks noGrp="1"/>
          </p:cNvSpPr>
          <p:nvPr>
            <p:ph type="sldNum" sz="quarter" idx="5"/>
          </p:nvPr>
        </p:nvSpPr>
        <p:spPr/>
        <p:txBody>
          <a:bodyPr/>
          <a:lstStyle/>
          <a:p>
            <a:fld id="{351CA05B-4666-C243-B26B-0D8F1F7B965D}" type="slidenum">
              <a:rPr lang="en-US" smtClean="0"/>
              <a:t>13</a:t>
            </a:fld>
            <a:endParaRPr lang="en-US"/>
          </a:p>
        </p:txBody>
      </p:sp>
    </p:spTree>
    <p:extLst>
      <p:ext uri="{BB962C8B-B14F-4D97-AF65-F5344CB8AC3E}">
        <p14:creationId xmlns:p14="http://schemas.microsoft.com/office/powerpoint/2010/main" val="3894224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Binding of Myosin to Actin: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In a resting muscle, the myosin heads are in a low-energy state, with an ADP and inorganic phosphate (Pi) molecule bound to them.</a:t>
            </a:r>
          </a:p>
          <a:p>
            <a:pPr marL="742950" lvl="1" indent="-285750" algn="l">
              <a:buFont typeface="+mj-lt"/>
              <a:buAutoNum type="arabicPeriod"/>
            </a:pPr>
            <a:r>
              <a:rPr lang="en-GB" b="0" i="0" u="none" strike="noStrike" dirty="0">
                <a:solidFill>
                  <a:srgbClr val="D1D5DB"/>
                </a:solidFill>
                <a:effectLst/>
                <a:latin typeface="Söhne"/>
              </a:rPr>
              <a:t>When a nerve signal triggers a muscle contraction, calcium ions are released, which expose the binding sites on the actin filaments.</a:t>
            </a:r>
          </a:p>
          <a:p>
            <a:pPr marL="742950" lvl="1" indent="-285750" algn="l">
              <a:buFont typeface="+mj-lt"/>
              <a:buAutoNum type="arabicPeriod"/>
            </a:pPr>
            <a:r>
              <a:rPr lang="en-GB" b="0" i="0" u="none" strike="noStrike" dirty="0">
                <a:solidFill>
                  <a:srgbClr val="D1D5DB"/>
                </a:solidFill>
                <a:effectLst/>
                <a:latin typeface="Söhne"/>
              </a:rPr>
              <a:t>The myosin heads then bind to these exposed sites on the actin, forming a cross-bridge.</a:t>
            </a:r>
          </a:p>
          <a:p>
            <a:pPr algn="l">
              <a:buFont typeface="+mj-lt"/>
              <a:buAutoNum type="arabicPeriod"/>
            </a:pPr>
            <a:r>
              <a:rPr lang="en-GB" b="1" i="0" u="none" strike="noStrike" dirty="0">
                <a:solidFill>
                  <a:srgbClr val="D1D5DB"/>
                </a:solidFill>
                <a:effectLst/>
                <a:latin typeface="Söhne"/>
              </a:rPr>
              <a:t>Power Stroke: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After binding, the myosin head pivots, pulling the actin filament toward the center of the sarcomere. This movement is known as the power stroke.</a:t>
            </a:r>
          </a:p>
          <a:p>
            <a:pPr marL="742950" lvl="1" indent="-285750" algn="l">
              <a:buFont typeface="+mj-lt"/>
              <a:buAutoNum type="arabicPeriod"/>
            </a:pPr>
            <a:r>
              <a:rPr lang="en-GB" b="0" i="0" u="none" strike="noStrike" dirty="0">
                <a:solidFill>
                  <a:srgbClr val="D1D5DB"/>
                </a:solidFill>
                <a:effectLst/>
                <a:latin typeface="Söhne"/>
              </a:rPr>
              <a:t>As a result, the Z-discs move closer together, and the sarcomere shortens.</a:t>
            </a:r>
          </a:p>
          <a:p>
            <a:pPr algn="l">
              <a:buFont typeface="+mj-lt"/>
              <a:buAutoNum type="arabicPeriod"/>
            </a:pPr>
            <a:r>
              <a:rPr lang="en-GB" b="1" i="0" u="none" strike="noStrike" dirty="0">
                <a:solidFill>
                  <a:srgbClr val="D1D5DB"/>
                </a:solidFill>
                <a:effectLst/>
                <a:latin typeface="Söhne"/>
              </a:rPr>
              <a:t>Rigor (Low Energy State):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After the power stroke, the myosin head is in a rigor state, tightly bound to actin.</a:t>
            </a:r>
          </a:p>
          <a:p>
            <a:pPr marL="742950" lvl="1" indent="-285750" algn="l">
              <a:buFont typeface="+mj-lt"/>
              <a:buAutoNum type="arabicPeriod"/>
            </a:pPr>
            <a:r>
              <a:rPr lang="en-GB" b="0" i="0" u="none" strike="noStrike" dirty="0">
                <a:solidFill>
                  <a:srgbClr val="D1D5DB"/>
                </a:solidFill>
                <a:effectLst/>
                <a:latin typeface="Söhne"/>
              </a:rPr>
              <a:t>In this state, ADP and Pi are still attached to the myosin head, but the myosin can't release the actin filament on its own.</a:t>
            </a:r>
          </a:p>
          <a:p>
            <a:pPr algn="l">
              <a:buFont typeface="+mj-lt"/>
              <a:buAutoNum type="arabicPeriod"/>
            </a:pPr>
            <a:r>
              <a:rPr lang="en-GB" b="1" i="0" u="none" strike="noStrike" dirty="0">
                <a:solidFill>
                  <a:srgbClr val="D1D5DB"/>
                </a:solidFill>
                <a:effectLst/>
                <a:latin typeface="Söhne"/>
              </a:rPr>
              <a:t>Unbinding of Myosin and Actin: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To detach from actin, a new ATP molecule binds to the myosin head, causing it to detach from the actin binding site.</a:t>
            </a:r>
          </a:p>
          <a:p>
            <a:pPr marL="742950" lvl="1" indent="-285750" algn="l">
              <a:buFont typeface="+mj-lt"/>
              <a:buAutoNum type="arabicPeriod"/>
            </a:pPr>
            <a:r>
              <a:rPr lang="en-GB" b="0" i="0" u="none" strike="noStrike" dirty="0">
                <a:solidFill>
                  <a:srgbClr val="D1D5DB"/>
                </a:solidFill>
                <a:effectLst/>
                <a:latin typeface="Söhne"/>
              </a:rPr>
              <a:t>ATP binding also triggers a conformational change in the myosin head, which readies it for the next cycle.</a:t>
            </a:r>
          </a:p>
          <a:p>
            <a:pPr algn="l">
              <a:buFont typeface="+mj-lt"/>
              <a:buAutoNum type="arabicPeriod"/>
            </a:pPr>
            <a:r>
              <a:rPr lang="en-GB" b="1" i="0" u="none" strike="noStrike" dirty="0">
                <a:solidFill>
                  <a:srgbClr val="D1D5DB"/>
                </a:solidFill>
                <a:effectLst/>
                <a:latin typeface="Söhne"/>
              </a:rPr>
              <a:t>Cocking of Myosin Head (High Energy State):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ATP is split into ADP and Pi, providing energy for the myosin head. This energy is used to "cock" or reposition the myosin head into a high-energy state.</a:t>
            </a:r>
          </a:p>
          <a:p>
            <a:pPr marL="742950" lvl="1" indent="-285750" algn="l">
              <a:buFont typeface="+mj-lt"/>
              <a:buAutoNum type="arabicPeriod"/>
            </a:pPr>
            <a:r>
              <a:rPr lang="en-GB" b="0" i="0" u="none" strike="noStrike" dirty="0">
                <a:solidFill>
                  <a:srgbClr val="D1D5DB"/>
                </a:solidFill>
                <a:effectLst/>
                <a:latin typeface="Söhne"/>
              </a:rPr>
              <a:t>This high-energy state positions the myosin head in a way that it's ready to bind to actin again once calcium ions are present and binding sites are exposed.</a:t>
            </a:r>
          </a:p>
        </p:txBody>
      </p:sp>
      <p:sp>
        <p:nvSpPr>
          <p:cNvPr id="4" name="Slide Number Placeholder 3"/>
          <p:cNvSpPr>
            <a:spLocks noGrp="1"/>
          </p:cNvSpPr>
          <p:nvPr>
            <p:ph type="sldNum" sz="quarter" idx="5"/>
          </p:nvPr>
        </p:nvSpPr>
        <p:spPr/>
        <p:txBody>
          <a:bodyPr/>
          <a:lstStyle/>
          <a:p>
            <a:fld id="{351CA05B-4666-C243-B26B-0D8F1F7B965D}" type="slidenum">
              <a:rPr lang="en-US" smtClean="0"/>
              <a:t>14</a:t>
            </a:fld>
            <a:endParaRPr lang="en-US"/>
          </a:p>
        </p:txBody>
      </p:sp>
    </p:spTree>
    <p:extLst>
      <p:ext uri="{BB962C8B-B14F-4D97-AF65-F5344CB8AC3E}">
        <p14:creationId xmlns:p14="http://schemas.microsoft.com/office/powerpoint/2010/main" val="3322159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Binding of Myosin to Actin: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In a resting muscle, the myosin heads are in a low-energy state, with an ADP and inorganic phosphate (Pi) molecule bound to them.</a:t>
            </a:r>
          </a:p>
          <a:p>
            <a:pPr marL="742950" lvl="1" indent="-285750" algn="l">
              <a:buFont typeface="+mj-lt"/>
              <a:buAutoNum type="arabicPeriod"/>
            </a:pPr>
            <a:r>
              <a:rPr lang="en-GB" b="0" i="0" u="none" strike="noStrike" dirty="0">
                <a:solidFill>
                  <a:srgbClr val="D1D5DB"/>
                </a:solidFill>
                <a:effectLst/>
                <a:latin typeface="Söhne"/>
              </a:rPr>
              <a:t>When a nerve signal triggers a muscle contraction, calcium ions are released, which expose the binding sites on the actin filaments.</a:t>
            </a:r>
          </a:p>
          <a:p>
            <a:pPr marL="742950" lvl="1" indent="-285750" algn="l">
              <a:buFont typeface="+mj-lt"/>
              <a:buAutoNum type="arabicPeriod"/>
            </a:pPr>
            <a:r>
              <a:rPr lang="en-GB" b="0" i="0" u="none" strike="noStrike" dirty="0">
                <a:solidFill>
                  <a:srgbClr val="D1D5DB"/>
                </a:solidFill>
                <a:effectLst/>
                <a:latin typeface="Söhne"/>
              </a:rPr>
              <a:t>The myosin heads then bind to these exposed sites on the actin, forming a cross-bridge.</a:t>
            </a:r>
          </a:p>
          <a:p>
            <a:pPr algn="l">
              <a:buFont typeface="+mj-lt"/>
              <a:buAutoNum type="arabicPeriod"/>
            </a:pPr>
            <a:r>
              <a:rPr lang="en-GB" b="1" i="0" u="none" strike="noStrike" dirty="0">
                <a:solidFill>
                  <a:srgbClr val="D1D5DB"/>
                </a:solidFill>
                <a:effectLst/>
                <a:latin typeface="Söhne"/>
              </a:rPr>
              <a:t>Power Stroke: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After binding, the myosin head pivots, pulling the actin filament toward the center of the sarcomere. This movement is known as the power stroke.</a:t>
            </a:r>
          </a:p>
          <a:p>
            <a:pPr marL="742950" lvl="1" indent="-285750" algn="l">
              <a:buFont typeface="+mj-lt"/>
              <a:buAutoNum type="arabicPeriod"/>
            </a:pPr>
            <a:r>
              <a:rPr lang="en-GB" b="0" i="0" u="none" strike="noStrike" dirty="0">
                <a:solidFill>
                  <a:srgbClr val="D1D5DB"/>
                </a:solidFill>
                <a:effectLst/>
                <a:latin typeface="Söhne"/>
              </a:rPr>
              <a:t>As a result, the Z-discs move closer together, and the sarcomere shortens.</a:t>
            </a:r>
          </a:p>
          <a:p>
            <a:pPr algn="l">
              <a:buFont typeface="+mj-lt"/>
              <a:buAutoNum type="arabicPeriod"/>
            </a:pPr>
            <a:r>
              <a:rPr lang="en-GB" b="1" i="0" u="none" strike="noStrike" dirty="0">
                <a:solidFill>
                  <a:srgbClr val="D1D5DB"/>
                </a:solidFill>
                <a:effectLst/>
                <a:latin typeface="Söhne"/>
              </a:rPr>
              <a:t>Rigor (Low Energy State):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After the power stroke, the myosin head is in a rigor state, tightly bound to actin.</a:t>
            </a:r>
          </a:p>
          <a:p>
            <a:pPr marL="742950" lvl="1" indent="-285750" algn="l">
              <a:buFont typeface="+mj-lt"/>
              <a:buAutoNum type="arabicPeriod"/>
            </a:pPr>
            <a:r>
              <a:rPr lang="en-GB" b="0" i="0" u="none" strike="noStrike" dirty="0">
                <a:solidFill>
                  <a:srgbClr val="D1D5DB"/>
                </a:solidFill>
                <a:effectLst/>
                <a:latin typeface="Söhne"/>
              </a:rPr>
              <a:t>In this state, ADP and Pi are still attached to the myosin head, but the myosin can't release the actin filament on its own.</a:t>
            </a:r>
          </a:p>
          <a:p>
            <a:pPr algn="l">
              <a:buFont typeface="+mj-lt"/>
              <a:buAutoNum type="arabicPeriod"/>
            </a:pPr>
            <a:r>
              <a:rPr lang="en-GB" b="1" i="0" u="none" strike="noStrike" dirty="0">
                <a:solidFill>
                  <a:srgbClr val="D1D5DB"/>
                </a:solidFill>
                <a:effectLst/>
                <a:latin typeface="Söhne"/>
              </a:rPr>
              <a:t>Unbinding of Myosin and Actin:</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To detach from actin, a new ATP molecule binds to the myosin head, causing it to detach from the actin binding site.</a:t>
            </a:r>
          </a:p>
          <a:p>
            <a:pPr marL="742950" lvl="1" indent="-285750" algn="l">
              <a:buFont typeface="+mj-lt"/>
              <a:buAutoNum type="arabicPeriod"/>
            </a:pPr>
            <a:r>
              <a:rPr lang="en-GB" b="0" i="0" u="none" strike="noStrike" dirty="0">
                <a:solidFill>
                  <a:srgbClr val="D1D5DB"/>
                </a:solidFill>
                <a:effectLst/>
                <a:latin typeface="Söhne"/>
              </a:rPr>
              <a:t>ATP binding also triggers a conformational change in the myosin head, which readies it for the next cycle.</a:t>
            </a:r>
          </a:p>
          <a:p>
            <a:pPr algn="l">
              <a:buFont typeface="+mj-lt"/>
              <a:buAutoNum type="arabicPeriod"/>
            </a:pPr>
            <a:r>
              <a:rPr lang="en-GB" b="1" i="0" u="none" strike="noStrike" dirty="0">
                <a:solidFill>
                  <a:srgbClr val="D1D5DB"/>
                </a:solidFill>
                <a:effectLst/>
                <a:latin typeface="Söhne"/>
              </a:rPr>
              <a:t>Cocking of Myosin Head (High Energy State):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ATP is split into ADP and Pi, providing energy for the myosin head. This energy is used to "cock" or reposition the myosin head into a high-energy state.</a:t>
            </a:r>
          </a:p>
          <a:p>
            <a:pPr marL="742950" lvl="1" indent="-285750" algn="l">
              <a:buFont typeface="+mj-lt"/>
              <a:buAutoNum type="arabicPeriod"/>
            </a:pPr>
            <a:r>
              <a:rPr lang="en-GB" b="0" i="0" u="none" strike="noStrike" dirty="0">
                <a:solidFill>
                  <a:srgbClr val="D1D5DB"/>
                </a:solidFill>
                <a:effectLst/>
                <a:latin typeface="Söhne"/>
              </a:rPr>
              <a:t>This high-energy state positions the myosin head in a way that it's ready to bind to actin again once calcium ions are present and binding sites are exposed.</a:t>
            </a:r>
          </a:p>
        </p:txBody>
      </p:sp>
      <p:sp>
        <p:nvSpPr>
          <p:cNvPr id="4" name="Slide Number Placeholder 3"/>
          <p:cNvSpPr>
            <a:spLocks noGrp="1"/>
          </p:cNvSpPr>
          <p:nvPr>
            <p:ph type="sldNum" sz="quarter" idx="5"/>
          </p:nvPr>
        </p:nvSpPr>
        <p:spPr/>
        <p:txBody>
          <a:bodyPr/>
          <a:lstStyle/>
          <a:p>
            <a:fld id="{351CA05B-4666-C243-B26B-0D8F1F7B965D}" type="slidenum">
              <a:rPr lang="en-US" smtClean="0"/>
              <a:t>15</a:t>
            </a:fld>
            <a:endParaRPr lang="en-US"/>
          </a:p>
        </p:txBody>
      </p:sp>
    </p:spTree>
    <p:extLst>
      <p:ext uri="{BB962C8B-B14F-4D97-AF65-F5344CB8AC3E}">
        <p14:creationId xmlns:p14="http://schemas.microsoft.com/office/powerpoint/2010/main" val="2375850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16</a:t>
            </a:fld>
            <a:endParaRPr lang="en-US"/>
          </a:p>
        </p:txBody>
      </p:sp>
    </p:spTree>
    <p:extLst>
      <p:ext uri="{BB962C8B-B14F-4D97-AF65-F5344CB8AC3E}">
        <p14:creationId xmlns:p14="http://schemas.microsoft.com/office/powerpoint/2010/main" val="1128206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17</a:t>
            </a:fld>
            <a:endParaRPr lang="en-US"/>
          </a:p>
        </p:txBody>
      </p:sp>
    </p:spTree>
    <p:extLst>
      <p:ext uri="{BB962C8B-B14F-4D97-AF65-F5344CB8AC3E}">
        <p14:creationId xmlns:p14="http://schemas.microsoft.com/office/powerpoint/2010/main" val="1097290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18</a:t>
            </a:fld>
            <a:endParaRPr lang="en-US"/>
          </a:p>
        </p:txBody>
      </p:sp>
    </p:spTree>
    <p:extLst>
      <p:ext uri="{BB962C8B-B14F-4D97-AF65-F5344CB8AC3E}">
        <p14:creationId xmlns:p14="http://schemas.microsoft.com/office/powerpoint/2010/main" val="1088342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19</a:t>
            </a:fld>
            <a:endParaRPr lang="en-US"/>
          </a:p>
        </p:txBody>
      </p:sp>
    </p:spTree>
    <p:extLst>
      <p:ext uri="{BB962C8B-B14F-4D97-AF65-F5344CB8AC3E}">
        <p14:creationId xmlns:p14="http://schemas.microsoft.com/office/powerpoint/2010/main" val="2893020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20</a:t>
            </a:fld>
            <a:endParaRPr lang="en-US"/>
          </a:p>
        </p:txBody>
      </p:sp>
    </p:spTree>
    <p:extLst>
      <p:ext uri="{BB962C8B-B14F-4D97-AF65-F5344CB8AC3E}">
        <p14:creationId xmlns:p14="http://schemas.microsoft.com/office/powerpoint/2010/main" val="2769058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21</a:t>
            </a:fld>
            <a:endParaRPr lang="en-US"/>
          </a:p>
        </p:txBody>
      </p:sp>
    </p:spTree>
    <p:extLst>
      <p:ext uri="{BB962C8B-B14F-4D97-AF65-F5344CB8AC3E}">
        <p14:creationId xmlns:p14="http://schemas.microsoft.com/office/powerpoint/2010/main" val="1772727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Nervous Stimulation:</a:t>
            </a:r>
            <a:r>
              <a:rPr lang="en-GB" b="0" i="0" u="none" strike="noStrike" dirty="0">
                <a:solidFill>
                  <a:srgbClr val="D1D5DB"/>
                </a:solidFill>
                <a:effectLst/>
                <a:latin typeface="Söhne"/>
              </a:rPr>
              <a:t> A twitch occurs when a nerve impulse (action potential) stimulates a motor neuron, which in turn signals a specific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to contract.</a:t>
            </a:r>
          </a:p>
          <a:p>
            <a:pPr algn="l">
              <a:buFont typeface="+mj-lt"/>
              <a:buAutoNum type="arabicPeriod"/>
            </a:pPr>
            <a:r>
              <a:rPr lang="en-GB" b="1" i="0" u="none" strike="noStrike" dirty="0">
                <a:solidFill>
                  <a:srgbClr val="D1D5DB"/>
                </a:solidFill>
                <a:effectLst/>
                <a:latin typeface="Söhne"/>
              </a:rPr>
              <a:t>Phases of a Twitch:</a:t>
            </a:r>
            <a:endParaRPr lang="en-GB" b="0" i="0" u="none" strike="noStrike" dirty="0">
              <a:solidFill>
                <a:srgbClr val="D1D5DB"/>
              </a:solidFill>
              <a:effectLst/>
              <a:latin typeface="Söhne"/>
            </a:endParaRPr>
          </a:p>
          <a:p>
            <a:pPr marL="742950" lvl="1" indent="-285750" algn="l">
              <a:buFont typeface="+mj-lt"/>
              <a:buAutoNum type="arabicPeriod"/>
            </a:pPr>
            <a:r>
              <a:rPr lang="en-GB" b="1" i="0" u="none" strike="noStrike" dirty="0">
                <a:solidFill>
                  <a:srgbClr val="D1D5DB"/>
                </a:solidFill>
                <a:effectLst/>
                <a:latin typeface="Söhne"/>
              </a:rPr>
              <a:t>Latent Phase:</a:t>
            </a:r>
            <a:r>
              <a:rPr lang="en-GB" b="0" i="0" u="none" strike="noStrike" dirty="0">
                <a:solidFill>
                  <a:srgbClr val="D1D5DB"/>
                </a:solidFill>
                <a:effectLst/>
                <a:latin typeface="Söhne"/>
              </a:rPr>
              <a:t> This is the brief moment between the nerve impulse and the onset of muscle contraction. It represents the time taken for the action potential to travel along the nerve and initiate the muscle response.</a:t>
            </a:r>
          </a:p>
          <a:p>
            <a:pPr marL="742950" lvl="1" indent="-285750" algn="l">
              <a:buFont typeface="+mj-lt"/>
              <a:buAutoNum type="arabicPeriod"/>
            </a:pPr>
            <a:r>
              <a:rPr lang="en-GB" b="1" i="0" u="none" strike="noStrike" dirty="0">
                <a:solidFill>
                  <a:srgbClr val="D1D5DB"/>
                </a:solidFill>
                <a:effectLst/>
                <a:latin typeface="Söhne"/>
              </a:rPr>
              <a:t>Contraction Phase:</a:t>
            </a:r>
            <a:r>
              <a:rPr lang="en-GB" b="0" i="0" u="none" strike="noStrike" dirty="0">
                <a:solidFill>
                  <a:srgbClr val="D1D5DB"/>
                </a:solidFill>
                <a:effectLst/>
                <a:latin typeface="Söhne"/>
              </a:rPr>
              <a:t> This is when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actively shortens and generates force.</a:t>
            </a:r>
          </a:p>
          <a:p>
            <a:pPr marL="742950" lvl="1" indent="-285750" algn="l">
              <a:buFont typeface="+mj-lt"/>
              <a:buAutoNum type="arabicPeriod"/>
            </a:pPr>
            <a:r>
              <a:rPr lang="en-GB" b="1" i="0" u="none" strike="noStrike" dirty="0">
                <a:solidFill>
                  <a:srgbClr val="D1D5DB"/>
                </a:solidFill>
                <a:effectLst/>
                <a:latin typeface="Söhne"/>
              </a:rPr>
              <a:t>Relaxation Phase:</a:t>
            </a:r>
            <a:r>
              <a:rPr lang="en-GB" b="0" i="0" u="none" strike="noStrike" dirty="0">
                <a:solidFill>
                  <a:srgbClr val="D1D5DB"/>
                </a:solidFill>
                <a:effectLst/>
                <a:latin typeface="Söhne"/>
              </a:rPr>
              <a:t> After the contraction,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returns to its original length, and tension decreases.</a:t>
            </a:r>
          </a:p>
          <a:p>
            <a:pPr algn="l">
              <a:buFont typeface="+mj-lt"/>
              <a:buAutoNum type="arabicPeriod"/>
            </a:pPr>
            <a:r>
              <a:rPr lang="en-GB" b="1" i="0" u="none" strike="noStrike" dirty="0">
                <a:solidFill>
                  <a:srgbClr val="D1D5DB"/>
                </a:solidFill>
                <a:effectLst/>
                <a:latin typeface="Söhne"/>
              </a:rPr>
              <a:t>Strength and Duration:</a:t>
            </a:r>
            <a:r>
              <a:rPr lang="en-GB" b="0" i="0" u="none" strike="noStrike" dirty="0">
                <a:solidFill>
                  <a:srgbClr val="D1D5DB"/>
                </a:solidFill>
                <a:effectLst/>
                <a:latin typeface="Söhne"/>
              </a:rPr>
              <a:t> The strength and duration of a twitch are relatively constant and do not vary greatly under normal physiological conditions.</a:t>
            </a:r>
          </a:p>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22</a:t>
            </a:fld>
            <a:endParaRPr lang="en-US"/>
          </a:p>
        </p:txBody>
      </p:sp>
    </p:spTree>
    <p:extLst>
      <p:ext uri="{BB962C8B-B14F-4D97-AF65-F5344CB8AC3E}">
        <p14:creationId xmlns:p14="http://schemas.microsoft.com/office/powerpoint/2010/main" val="8742196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23</a:t>
            </a:fld>
            <a:endParaRPr lang="en-US"/>
          </a:p>
        </p:txBody>
      </p:sp>
    </p:spTree>
    <p:extLst>
      <p:ext uri="{BB962C8B-B14F-4D97-AF65-F5344CB8AC3E}">
        <p14:creationId xmlns:p14="http://schemas.microsoft.com/office/powerpoint/2010/main" val="3566876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D1D5DB"/>
                </a:solidFill>
                <a:effectLst/>
                <a:latin typeface="Söhne"/>
              </a:rPr>
              <a:t>Summation and tetanus are processes by which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can produce sustained contractions. </a:t>
            </a:r>
          </a:p>
          <a:p>
            <a:pPr algn="l">
              <a:buFont typeface="Arial" panose="020B0604020202020204" pitchFamily="34" charset="0"/>
              <a:buChar char="•"/>
            </a:pPr>
            <a:r>
              <a:rPr lang="en-GB" b="0" i="0" u="none" strike="noStrike" dirty="0">
                <a:solidFill>
                  <a:srgbClr val="D1D5DB"/>
                </a:solidFill>
                <a:effectLst/>
                <a:latin typeface="Söhne"/>
              </a:rPr>
              <a:t>They occur when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receive repeated nerve impulses in a short period of time.</a:t>
            </a:r>
            <a:endParaRPr lang="en-GB" b="1" i="0" u="none" strike="noStrike" dirty="0">
              <a:solidFill>
                <a:srgbClr val="D1D5DB"/>
              </a:solidFill>
              <a:effectLst/>
              <a:latin typeface="Söhne"/>
            </a:endParaRPr>
          </a:p>
          <a:p>
            <a:pPr algn="l">
              <a:buFont typeface="Arial" panose="020B0604020202020204" pitchFamily="34" charset="0"/>
              <a:buChar char="•"/>
            </a:pPr>
            <a:endParaRPr lang="en-GB" b="1" i="0" u="none" strike="noStrike" dirty="0">
              <a:solidFill>
                <a:srgbClr val="D1D5DB"/>
              </a:solidFill>
              <a:effectLst/>
              <a:latin typeface="Söhne"/>
            </a:endParaRPr>
          </a:p>
          <a:p>
            <a:pPr algn="l">
              <a:buFont typeface="Arial" panose="020B0604020202020204" pitchFamily="34" charset="0"/>
              <a:buChar char="•"/>
            </a:pPr>
            <a:r>
              <a:rPr lang="en-GB" b="1" i="0" u="none" strike="noStrike" dirty="0">
                <a:effectLst/>
                <a:latin typeface="Söhne"/>
              </a:rPr>
              <a:t>Summation:</a:t>
            </a:r>
            <a:r>
              <a:rPr lang="en-GB" b="0" i="0" u="none" strike="noStrike" dirty="0">
                <a:solidFill>
                  <a:srgbClr val="D1D5DB"/>
                </a:solidFill>
                <a:effectLst/>
                <a:latin typeface="Söhne"/>
              </a:rPr>
              <a:t> This occurs when a single motor neuron repeatedly sends action potentials in quick succession to a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If the impulses are frequent enough,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doesn't have enough time to completely relax between contractions. As a result, the force of each contraction adds up, leading to a more sustained, stronger contraction.</a:t>
            </a:r>
            <a:endParaRPr lang="en-GB" b="1" i="0" u="none" strike="noStrike" dirty="0">
              <a:solidFill>
                <a:srgbClr val="D1D5DB"/>
              </a:solidFill>
              <a:effectLst/>
              <a:latin typeface="Söhne"/>
            </a:endParaRPr>
          </a:p>
          <a:p>
            <a:pPr algn="l">
              <a:buFont typeface="Arial" panose="020B0604020202020204" pitchFamily="34" charset="0"/>
              <a:buChar char="•"/>
            </a:pPr>
            <a:endParaRPr lang="en-GB" b="1" i="0" u="none" strike="noStrike" dirty="0">
              <a:solidFill>
                <a:srgbClr val="D1D5DB"/>
              </a:solidFill>
              <a:effectLst/>
              <a:latin typeface="Söhne"/>
            </a:endParaRPr>
          </a:p>
          <a:p>
            <a:pPr algn="l">
              <a:buFont typeface="Arial" panose="020B0604020202020204" pitchFamily="34" charset="0"/>
              <a:buChar char="•"/>
            </a:pPr>
            <a:r>
              <a:rPr lang="en-GB" b="1" i="0" u="none" strike="noStrike" dirty="0">
                <a:solidFill>
                  <a:srgbClr val="D1D5DB"/>
                </a:solidFill>
                <a:effectLst/>
                <a:latin typeface="Söhne"/>
              </a:rPr>
              <a:t>Incomplete Tetanus:</a:t>
            </a:r>
            <a:r>
              <a:rPr lang="en-GB" b="0" i="0" u="none" strike="noStrike" dirty="0">
                <a:solidFill>
                  <a:srgbClr val="D1D5DB"/>
                </a:solidFill>
                <a:effectLst/>
                <a:latin typeface="Söhne"/>
              </a:rPr>
              <a:t> In this state,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is stimulated at a rapid rate, but there is still a partial relaxation between contractions. The result is a sustained but not entirely steady level of muscle tension.</a:t>
            </a:r>
          </a:p>
          <a:p>
            <a:pPr algn="l">
              <a:buFont typeface="Arial" panose="020B0604020202020204" pitchFamily="34" charset="0"/>
              <a:buChar char="•"/>
            </a:pPr>
            <a:r>
              <a:rPr lang="en-GB" b="1" i="0" u="none" strike="noStrike" dirty="0">
                <a:solidFill>
                  <a:srgbClr val="D1D5DB"/>
                </a:solidFill>
                <a:effectLst/>
                <a:latin typeface="Söhne"/>
              </a:rPr>
              <a:t>Complete Tetanus (Fused Tetanus):</a:t>
            </a:r>
            <a:r>
              <a:rPr lang="en-GB" b="0" i="0" u="none" strike="noStrike" dirty="0">
                <a:solidFill>
                  <a:srgbClr val="D1D5DB"/>
                </a:solidFill>
                <a:effectLst/>
                <a:latin typeface="Söhne"/>
              </a:rPr>
              <a:t> When the stimulation frequency is so high that the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doesn't have time to relax at all between contractions, a complete tetanus occurs. The contractions fuse together, resulting in a sustained, smooth, and maximal level of muscle tension.</a:t>
            </a:r>
          </a:p>
          <a:p>
            <a:pPr algn="l">
              <a:buFont typeface="Arial" panose="020B0604020202020204" pitchFamily="34" charset="0"/>
              <a:buChar char="•"/>
            </a:pPr>
            <a:r>
              <a:rPr lang="en-GB" b="1" i="0" u="none" strike="noStrike" dirty="0">
                <a:solidFill>
                  <a:srgbClr val="D1D5DB"/>
                </a:solidFill>
                <a:effectLst/>
                <a:latin typeface="Söhne"/>
              </a:rPr>
              <a:t>Physiological Tetanus:</a:t>
            </a:r>
            <a:r>
              <a:rPr lang="en-GB" b="0" i="0" u="none" strike="noStrike" dirty="0">
                <a:solidFill>
                  <a:srgbClr val="D1D5DB"/>
                </a:solidFill>
                <a:effectLst/>
                <a:latin typeface="Söhne"/>
              </a:rPr>
              <a:t> This is a sustained muscle contraction that occurs during normal, everyday activities. It's the result of repeated motor neuron </a:t>
            </a:r>
            <a:r>
              <a:rPr lang="en-GB" b="0" i="0" u="none" strike="noStrike" dirty="0" err="1">
                <a:solidFill>
                  <a:srgbClr val="D1D5DB"/>
                </a:solidFill>
                <a:effectLst/>
                <a:latin typeface="Söhne"/>
              </a:rPr>
              <a:t>signaling</a:t>
            </a:r>
            <a:r>
              <a:rPr lang="en-GB" b="0" i="0" u="none" strike="noStrike" dirty="0">
                <a:solidFill>
                  <a:srgbClr val="D1D5DB"/>
                </a:solidFill>
                <a:effectLst/>
                <a:latin typeface="Söhne"/>
              </a:rPr>
              <a:t> to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a:t>
            </a:r>
          </a:p>
          <a:p>
            <a:pPr algn="l">
              <a:buFont typeface="Arial" panose="020B0604020202020204" pitchFamily="34" charset="0"/>
              <a:buChar char="•"/>
            </a:pPr>
            <a:r>
              <a:rPr lang="en-GB" b="1" i="0" u="none" strike="noStrike" dirty="0">
                <a:solidFill>
                  <a:srgbClr val="D1D5DB"/>
                </a:solidFill>
                <a:effectLst/>
                <a:latin typeface="Söhne"/>
              </a:rPr>
              <a:t>Pathological Tetanus:</a:t>
            </a:r>
            <a:r>
              <a:rPr lang="en-GB" b="0" i="0" u="none" strike="noStrike" dirty="0">
                <a:solidFill>
                  <a:srgbClr val="D1D5DB"/>
                </a:solidFill>
                <a:effectLst/>
                <a:latin typeface="Söhne"/>
              </a:rPr>
              <a:t> This is an uncontrolled, sustained muscle contraction often caused by the toxin produced by the bacterium Clostridium tetani. It leads to severe muscle rigidity.</a:t>
            </a:r>
          </a:p>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24</a:t>
            </a:fld>
            <a:endParaRPr lang="en-US"/>
          </a:p>
        </p:txBody>
      </p:sp>
    </p:spTree>
    <p:extLst>
      <p:ext uri="{BB962C8B-B14F-4D97-AF65-F5344CB8AC3E}">
        <p14:creationId xmlns:p14="http://schemas.microsoft.com/office/powerpoint/2010/main" val="1177143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25</a:t>
            </a:fld>
            <a:endParaRPr lang="en-US"/>
          </a:p>
        </p:txBody>
      </p:sp>
    </p:spTree>
    <p:extLst>
      <p:ext uri="{BB962C8B-B14F-4D97-AF65-F5344CB8AC3E}">
        <p14:creationId xmlns:p14="http://schemas.microsoft.com/office/powerpoint/2010/main" val="23270016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26</a:t>
            </a:fld>
            <a:endParaRPr lang="en-US"/>
          </a:p>
        </p:txBody>
      </p:sp>
    </p:spTree>
    <p:extLst>
      <p:ext uri="{BB962C8B-B14F-4D97-AF65-F5344CB8AC3E}">
        <p14:creationId xmlns:p14="http://schemas.microsoft.com/office/powerpoint/2010/main" val="2294588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202124"/>
                </a:solidFill>
                <a:effectLst/>
                <a:latin typeface="Google Sans"/>
              </a:rPr>
              <a:t>The striated appearance of skeletal muscle tissue is a result of </a:t>
            </a:r>
            <a:r>
              <a:rPr lang="en-GB" b="0" i="0" u="none" strike="noStrike" dirty="0">
                <a:solidFill>
                  <a:srgbClr val="040C28"/>
                </a:solidFill>
                <a:effectLst/>
                <a:latin typeface="Google Sans"/>
              </a:rPr>
              <a:t>repeating bands of the proteins actin and myosin that are present along the length of myofibrils</a:t>
            </a:r>
            <a:r>
              <a:rPr lang="en-GB" b="0" i="0" u="none" strike="noStrike" dirty="0">
                <a:solidFill>
                  <a:srgbClr val="202124"/>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27</a:t>
            </a:fld>
            <a:endParaRPr lang="en-US"/>
          </a:p>
        </p:txBody>
      </p:sp>
    </p:spTree>
    <p:extLst>
      <p:ext uri="{BB962C8B-B14F-4D97-AF65-F5344CB8AC3E}">
        <p14:creationId xmlns:p14="http://schemas.microsoft.com/office/powerpoint/2010/main" val="3399289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err="1">
                <a:solidFill>
                  <a:srgbClr val="D1D5DB"/>
                </a:solidFill>
                <a:effectLst/>
                <a:latin typeface="Söhne"/>
              </a:rPr>
              <a:t>ometric</a:t>
            </a:r>
            <a:r>
              <a:rPr lang="en-GB" b="1" i="0" u="none" strike="noStrike" dirty="0">
                <a:solidFill>
                  <a:srgbClr val="D1D5DB"/>
                </a:solidFill>
                <a:effectLst/>
                <a:latin typeface="Söhne"/>
              </a:rPr>
              <a:t> Muscle Strength Testing:</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In this method, the muscle contracts against an immovable resistance. It's commonly used to measure static strength and assess the maximum force a muscle or muscle group can generate at a specific joint angle.</a:t>
            </a:r>
          </a:p>
          <a:p>
            <a:pPr algn="l">
              <a:buFont typeface="+mj-lt"/>
              <a:buAutoNum type="arabicPeriod"/>
            </a:pPr>
            <a:r>
              <a:rPr lang="en-GB" b="1" i="0" u="none" strike="noStrike" dirty="0">
                <a:solidFill>
                  <a:srgbClr val="D1D5DB"/>
                </a:solidFill>
                <a:effectLst/>
                <a:latin typeface="Söhne"/>
              </a:rPr>
              <a:t>Isokinetic Muscle Testing:</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Isokinetic testing involves dynamic movements against a constant speed of resistance. It measures both concentric (muscle shortening) and eccentric (muscle lengthening) strength. Specialized isokinetic machines are used for this purpose.</a:t>
            </a:r>
          </a:p>
          <a:p>
            <a:pPr algn="l">
              <a:buFont typeface="+mj-lt"/>
              <a:buAutoNum type="arabicPeriod"/>
            </a:pPr>
            <a:r>
              <a:rPr lang="en-GB" b="1" i="0" u="none" strike="noStrike" dirty="0">
                <a:solidFill>
                  <a:srgbClr val="D1D5DB"/>
                </a:solidFill>
                <a:effectLst/>
                <a:latin typeface="Söhne"/>
              </a:rPr>
              <a:t>Handheld Dynamometry:</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This involves using a handheld device (dynamometer) to measure muscle force. It's particularly useful for assessing muscle strength in a clinical setting, as it's portable and allows for quick measurements.</a:t>
            </a:r>
          </a:p>
          <a:p>
            <a:pPr algn="l">
              <a:buFont typeface="+mj-lt"/>
              <a:buAutoNum type="arabicPeriod"/>
            </a:pPr>
            <a:r>
              <a:rPr lang="en-GB" b="1" i="0" u="none" strike="noStrike" dirty="0">
                <a:solidFill>
                  <a:srgbClr val="D1D5DB"/>
                </a:solidFill>
                <a:effectLst/>
                <a:latin typeface="Söhne"/>
              </a:rPr>
              <a:t>Manual Muscle Testing (MMT):</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MMT is a subjective assessment conducted by a trained examiner. It involves applying resistance against a specific muscle group's movement to grade its strength on a scale (e.g., from 0 to 5).</a:t>
            </a:r>
          </a:p>
          <a:p>
            <a:pPr algn="l">
              <a:buFont typeface="+mj-lt"/>
              <a:buAutoNum type="arabicPeriod"/>
            </a:pPr>
            <a:r>
              <a:rPr lang="en-GB" b="1" i="0" u="none" strike="noStrike" dirty="0">
                <a:solidFill>
                  <a:srgbClr val="D1D5DB"/>
                </a:solidFill>
                <a:effectLst/>
                <a:latin typeface="Söhne"/>
              </a:rPr>
              <a:t>Electromyography (EMG):</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EMG measures the electrical activity of muscles during contraction. Electrodes are placed on the skin or inserted into the muscle to record and </a:t>
            </a:r>
            <a:r>
              <a:rPr lang="en-GB" b="0" i="0" u="none" strike="noStrike" dirty="0" err="1">
                <a:solidFill>
                  <a:srgbClr val="D1D5DB"/>
                </a:solidFill>
                <a:effectLst/>
                <a:latin typeface="Söhne"/>
              </a:rPr>
              <a:t>analyze</a:t>
            </a:r>
            <a:r>
              <a:rPr lang="en-GB" b="0" i="0" u="none" strike="noStrike" dirty="0">
                <a:solidFill>
                  <a:srgbClr val="D1D5DB"/>
                </a:solidFill>
                <a:effectLst/>
                <a:latin typeface="Söhne"/>
              </a:rPr>
              <a:t> the muscle's electrical signals. This method provides insights into muscle activation patterns and timing.</a:t>
            </a:r>
          </a:p>
          <a:p>
            <a:pPr algn="l">
              <a:buFont typeface="+mj-lt"/>
              <a:buAutoNum type="arabicPeriod"/>
            </a:pPr>
            <a:r>
              <a:rPr lang="en-GB" b="1" i="0" u="none" strike="noStrike" dirty="0">
                <a:solidFill>
                  <a:srgbClr val="D1D5DB"/>
                </a:solidFill>
                <a:effectLst/>
                <a:latin typeface="Söhne"/>
              </a:rPr>
              <a:t>Muscle Biopsy:</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A muscle biopsy involves the removal of a small sample of muscle tissue for examination under a microscope. This method is used to study muscle </a:t>
            </a:r>
            <a:r>
              <a:rPr lang="en-GB" b="0" i="0" u="none" strike="noStrike" dirty="0" err="1">
                <a:solidFill>
                  <a:srgbClr val="D1D5DB"/>
                </a:solidFill>
                <a:effectLst/>
                <a:latin typeface="Söhne"/>
              </a:rPr>
              <a:t>fiber</a:t>
            </a:r>
            <a:r>
              <a:rPr lang="en-GB" b="0" i="0" u="none" strike="noStrike" dirty="0">
                <a:solidFill>
                  <a:srgbClr val="D1D5DB"/>
                </a:solidFill>
                <a:effectLst/>
                <a:latin typeface="Söhne"/>
              </a:rPr>
              <a:t> type composition, structure, and potential abnormalities.</a:t>
            </a:r>
          </a:p>
          <a:p>
            <a:pPr algn="l">
              <a:buFont typeface="+mj-lt"/>
              <a:buAutoNum type="arabicPeriod"/>
            </a:pPr>
            <a:r>
              <a:rPr lang="en-GB" b="1" i="0" u="none" strike="noStrike" dirty="0">
                <a:solidFill>
                  <a:srgbClr val="D1D5DB"/>
                </a:solidFill>
                <a:effectLst/>
                <a:latin typeface="Söhne"/>
              </a:rPr>
              <a:t>Ultrasound Imaging:</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Ultrasound can be used to assess muscle size, architecture, and composition. It's non-invasive and provides real-time images of muscle tissue.</a:t>
            </a:r>
          </a:p>
          <a:p>
            <a:pPr algn="l">
              <a:buFont typeface="+mj-lt"/>
              <a:buAutoNum type="arabicPeriod"/>
            </a:pPr>
            <a:r>
              <a:rPr lang="en-GB" b="1" i="0" u="none" strike="noStrike" dirty="0">
                <a:solidFill>
                  <a:srgbClr val="D1D5DB"/>
                </a:solidFill>
                <a:effectLst/>
                <a:latin typeface="Söhne"/>
              </a:rPr>
              <a:t>Force Plate Analysis: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Force plates measure the ground reaction forces produced during movements. This method is used to </a:t>
            </a:r>
            <a:r>
              <a:rPr lang="en-GB" b="0" i="0" u="none" strike="noStrike" dirty="0" err="1">
                <a:solidFill>
                  <a:srgbClr val="D1D5DB"/>
                </a:solidFill>
                <a:effectLst/>
                <a:latin typeface="Söhne"/>
              </a:rPr>
              <a:t>analyze</a:t>
            </a:r>
            <a:r>
              <a:rPr lang="en-GB" b="0" i="0" u="none" strike="noStrike" dirty="0">
                <a:solidFill>
                  <a:srgbClr val="D1D5DB"/>
                </a:solidFill>
                <a:effectLst/>
                <a:latin typeface="Söhne"/>
              </a:rPr>
              <a:t> factors like balance, gait, and the force exerted by muscles during dynamic activities.</a:t>
            </a:r>
          </a:p>
        </p:txBody>
      </p:sp>
      <p:sp>
        <p:nvSpPr>
          <p:cNvPr id="4" name="Slide Number Placeholder 3"/>
          <p:cNvSpPr>
            <a:spLocks noGrp="1"/>
          </p:cNvSpPr>
          <p:nvPr>
            <p:ph type="sldNum" sz="quarter" idx="5"/>
          </p:nvPr>
        </p:nvSpPr>
        <p:spPr/>
        <p:txBody>
          <a:bodyPr/>
          <a:lstStyle/>
          <a:p>
            <a:fld id="{351CA05B-4666-C243-B26B-0D8F1F7B965D}" type="slidenum">
              <a:rPr lang="en-US" smtClean="0"/>
              <a:t>28</a:t>
            </a:fld>
            <a:endParaRPr lang="en-US"/>
          </a:p>
        </p:txBody>
      </p:sp>
    </p:spTree>
    <p:extLst>
      <p:ext uri="{BB962C8B-B14F-4D97-AF65-F5344CB8AC3E}">
        <p14:creationId xmlns:p14="http://schemas.microsoft.com/office/powerpoint/2010/main" val="5928824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29</a:t>
            </a:fld>
            <a:endParaRPr lang="en-US"/>
          </a:p>
        </p:txBody>
      </p:sp>
    </p:spTree>
    <p:extLst>
      <p:ext uri="{BB962C8B-B14F-4D97-AF65-F5344CB8AC3E}">
        <p14:creationId xmlns:p14="http://schemas.microsoft.com/office/powerpoint/2010/main" val="27832461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u="none" strike="noStrike" dirty="0">
                <a:solidFill>
                  <a:srgbClr val="D1D5DB"/>
                </a:solidFill>
                <a:effectLst/>
                <a:latin typeface="Söhne"/>
              </a:rPr>
              <a:t>Gradation of Muscle Force:</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Motor unit recruitment allows for fine control over muscle force production.</a:t>
            </a:r>
          </a:p>
          <a:p>
            <a:pPr marL="742950" lvl="1" indent="-285750" algn="l">
              <a:buFont typeface="+mj-lt"/>
              <a:buAutoNum type="arabicPeriod"/>
            </a:pPr>
            <a:r>
              <a:rPr lang="en-GB" b="0" i="0" u="none" strike="noStrike" dirty="0">
                <a:solidFill>
                  <a:srgbClr val="D1D5DB"/>
                </a:solidFill>
                <a:effectLst/>
                <a:latin typeface="Söhne"/>
              </a:rPr>
              <a:t>Smaller, weaker motor units are recruited first for lighter tasks.</a:t>
            </a:r>
          </a:p>
          <a:p>
            <a:pPr marL="742950" lvl="1" indent="-285750" algn="l">
              <a:buFont typeface="+mj-lt"/>
              <a:buAutoNum type="arabicPeriod"/>
            </a:pPr>
            <a:r>
              <a:rPr lang="en-GB" b="0" i="0" u="none" strike="noStrike" dirty="0">
                <a:solidFill>
                  <a:srgbClr val="D1D5DB"/>
                </a:solidFill>
                <a:effectLst/>
                <a:latin typeface="Söhne"/>
              </a:rPr>
              <a:t>As the demand for force increases, larger, stronger motor units are progressively activated.</a:t>
            </a:r>
          </a:p>
          <a:p>
            <a:pPr algn="l">
              <a:buFont typeface="+mj-lt"/>
              <a:buAutoNum type="arabicPeriod"/>
            </a:pPr>
            <a:r>
              <a:rPr lang="en-GB" b="1" i="0" u="none" strike="noStrike" dirty="0">
                <a:solidFill>
                  <a:srgbClr val="D1D5DB"/>
                </a:solidFill>
                <a:effectLst/>
                <a:latin typeface="Söhne"/>
              </a:rPr>
              <a:t>All-or-None Principle within Motor Units:</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Once a motor unit is activated, all the muscle </a:t>
            </a:r>
            <a:r>
              <a:rPr lang="en-GB" b="0" i="0" u="none" strike="noStrike" dirty="0" err="1">
                <a:solidFill>
                  <a:srgbClr val="D1D5DB"/>
                </a:solidFill>
                <a:effectLst/>
                <a:latin typeface="Söhne"/>
              </a:rPr>
              <a:t>fibers</a:t>
            </a:r>
            <a:r>
              <a:rPr lang="en-GB" b="0" i="0" u="none" strike="noStrike" dirty="0">
                <a:solidFill>
                  <a:srgbClr val="D1D5DB"/>
                </a:solidFill>
                <a:effectLst/>
                <a:latin typeface="Söhne"/>
              </a:rPr>
              <a:t> it innervates contract maximally (the all-or-none principle).</a:t>
            </a:r>
          </a:p>
          <a:p>
            <a:pPr marL="742950" lvl="1" indent="-285750" algn="l">
              <a:buFont typeface="+mj-lt"/>
              <a:buAutoNum type="arabicPeriod"/>
            </a:pPr>
            <a:r>
              <a:rPr lang="en-GB" b="0" i="0" u="none" strike="noStrike" dirty="0">
                <a:solidFill>
                  <a:srgbClr val="D1D5DB"/>
                </a:solidFill>
                <a:effectLst/>
                <a:latin typeface="Söhne"/>
              </a:rPr>
              <a:t>To generate greater force, the nervous system recruits additional motor units.</a:t>
            </a:r>
          </a:p>
          <a:p>
            <a:pPr algn="l">
              <a:buFont typeface="+mj-lt"/>
              <a:buAutoNum type="arabicPeriod"/>
            </a:pPr>
            <a:r>
              <a:rPr lang="en-GB" b="1" i="0" u="none" strike="noStrike" dirty="0">
                <a:solidFill>
                  <a:srgbClr val="D1D5DB"/>
                </a:solidFill>
                <a:effectLst/>
                <a:latin typeface="Söhne"/>
              </a:rPr>
              <a:t>Precision and Adaptability:</a:t>
            </a:r>
            <a:endParaRPr lang="en-GB" b="0" i="0" u="none" strike="noStrike" dirty="0">
              <a:solidFill>
                <a:srgbClr val="D1D5DB"/>
              </a:solidFill>
              <a:effectLst/>
              <a:latin typeface="Söhne"/>
            </a:endParaRPr>
          </a:p>
          <a:p>
            <a:pPr marL="742950" lvl="1" indent="-285750" algn="l">
              <a:buFont typeface="+mj-lt"/>
              <a:buAutoNum type="arabicPeriod"/>
            </a:pPr>
            <a:r>
              <a:rPr lang="en-GB" b="0" i="0" u="none" strike="noStrike" dirty="0">
                <a:solidFill>
                  <a:srgbClr val="D1D5DB"/>
                </a:solidFill>
                <a:effectLst/>
                <a:latin typeface="Söhne"/>
              </a:rPr>
              <a:t>Motor unit recruitment enables precise control of movement and adaptability to varying demands.</a:t>
            </a:r>
          </a:p>
          <a:p>
            <a:pPr marL="742950" lvl="1" indent="-285750" algn="l">
              <a:buFont typeface="+mj-lt"/>
              <a:buAutoNum type="arabicPeriod"/>
            </a:pPr>
            <a:r>
              <a:rPr lang="en-GB" b="0" i="0" u="none" strike="noStrike" dirty="0">
                <a:solidFill>
                  <a:srgbClr val="D1D5DB"/>
                </a:solidFill>
                <a:effectLst/>
                <a:latin typeface="Söhne"/>
              </a:rPr>
              <a:t>Delicate tasks (e.g., typing) use fewer and smaller motor units, while forceful tasks (e.g., lifting) engage more and larger motor units.</a:t>
            </a:r>
          </a:p>
          <a:p>
            <a:pPr algn="l">
              <a:buFont typeface="+mj-lt"/>
              <a:buAutoNum type="arabicPeriod"/>
            </a:pPr>
            <a:endParaRPr lang="en-GB" b="0" i="0" u="none" strike="noStrike"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351CA05B-4666-C243-B26B-0D8F1F7B965D}" type="slidenum">
              <a:rPr lang="en-US" smtClean="0"/>
              <a:t>30</a:t>
            </a:fld>
            <a:endParaRPr lang="en-US"/>
          </a:p>
        </p:txBody>
      </p:sp>
    </p:spTree>
    <p:extLst>
      <p:ext uri="{BB962C8B-B14F-4D97-AF65-F5344CB8AC3E}">
        <p14:creationId xmlns:p14="http://schemas.microsoft.com/office/powerpoint/2010/main" val="41962427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D1D5DB"/>
                </a:solidFill>
                <a:effectLst/>
                <a:latin typeface="Söhne"/>
              </a:rPr>
              <a:t>The conversion of pyruvate to lactate results in the release of hydrogen ions (H+). These ions contribute to the increase in acidity (lower pH) in the muscle tissue and bloodstream, a condition known as acidosis.</a:t>
            </a:r>
          </a:p>
        </p:txBody>
      </p:sp>
      <p:sp>
        <p:nvSpPr>
          <p:cNvPr id="4" name="Slide Number Placeholder 3"/>
          <p:cNvSpPr>
            <a:spLocks noGrp="1"/>
          </p:cNvSpPr>
          <p:nvPr>
            <p:ph type="sldNum" sz="quarter" idx="5"/>
          </p:nvPr>
        </p:nvSpPr>
        <p:spPr/>
        <p:txBody>
          <a:bodyPr/>
          <a:lstStyle/>
          <a:p>
            <a:fld id="{351CA05B-4666-C243-B26B-0D8F1F7B965D}" type="slidenum">
              <a:rPr lang="en-US" smtClean="0"/>
              <a:t>31</a:t>
            </a:fld>
            <a:endParaRPr lang="en-US"/>
          </a:p>
        </p:txBody>
      </p:sp>
    </p:spTree>
    <p:extLst>
      <p:ext uri="{BB962C8B-B14F-4D97-AF65-F5344CB8AC3E}">
        <p14:creationId xmlns:p14="http://schemas.microsoft.com/office/powerpoint/2010/main" val="35241043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1CA05B-4666-C243-B26B-0D8F1F7B965D}" type="slidenum">
              <a:rPr lang="en-US" smtClean="0"/>
              <a:t>32</a:t>
            </a:fld>
            <a:endParaRPr lang="en-US"/>
          </a:p>
        </p:txBody>
      </p:sp>
    </p:spTree>
    <p:extLst>
      <p:ext uri="{BB962C8B-B14F-4D97-AF65-F5344CB8AC3E}">
        <p14:creationId xmlns:p14="http://schemas.microsoft.com/office/powerpoint/2010/main" val="3059316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4150831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marL="2286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1pPr>
            <a:lvl2pPr marL="6858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2pPr>
            <a:lvl3pPr marL="11430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3pPr>
            <a:lvl4pPr marL="16002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4pPr>
            <a:lvl5pPr marL="2057400" indent="-228600">
              <a:buClr>
                <a:srgbClr val="00FDFF"/>
              </a:buClr>
              <a:buFont typeface="Wingdings" panose="05000000000000000000" pitchFamily="2" charset="2"/>
              <a:buChar char="è"/>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
        <p:nvSpPr>
          <p:cNvPr id="8" name="Round Diagonal Corner of Rectangle 8">
            <a:extLst>
              <a:ext uri="{FF2B5EF4-FFF2-40B4-BE49-F238E27FC236}">
                <a16:creationId xmlns:a16="http://schemas.microsoft.com/office/drawing/2014/main" id="{10631EC3-0AD3-164E-AF11-6A057C004796}"/>
              </a:ext>
            </a:extLst>
          </p:cNvPr>
          <p:cNvSpPr/>
          <p:nvPr userDrawn="1"/>
        </p:nvSpPr>
        <p:spPr>
          <a:xfrm>
            <a:off x="477792" y="1686945"/>
            <a:ext cx="8246078" cy="4590409"/>
          </a:xfrm>
          <a:prstGeom prst="round2DiagRect">
            <a:avLst/>
          </a:prstGeom>
          <a:noFill/>
          <a:ln w="38100">
            <a:solidFill>
              <a:srgbClr val="417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35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06922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219503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A3E2B33-783D-411D-984F-8A21DCCC5E47}" type="datetimeFigureOut">
              <a:rPr lang="en-GB" smtClean="0"/>
              <a:t>09/10/2024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638838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A3E2B33-783D-411D-984F-8A21DCCC5E47}" type="datetimeFigureOut">
              <a:rPr lang="en-GB" smtClean="0"/>
              <a:t>09/10/2024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406644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3E2B33-783D-411D-984F-8A21DCCC5E47}" type="datetimeFigureOut">
              <a:rPr lang="en-GB" smtClean="0"/>
              <a:t>09/10/2024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1473775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216634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E2B33-783D-411D-984F-8A21DCCC5E47}" type="datetimeFigureOut">
              <a:rPr lang="en-GB" smtClean="0"/>
              <a:t>09/10/2024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58954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69520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3E2B33-783D-411D-984F-8A21DCCC5E47}" type="datetimeFigureOut">
              <a:rPr lang="en-GB" smtClean="0"/>
              <a:t>09/10/2024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EEF759B-2E52-4DDF-AC4D-5203B0CBE6B1}" type="slidenum">
              <a:rPr lang="en-GB" smtClean="0"/>
              <a:t>‹#›</a:t>
            </a:fld>
            <a:endParaRPr lang="en-GB"/>
          </a:p>
        </p:txBody>
      </p:sp>
    </p:spTree>
    <p:extLst>
      <p:ext uri="{BB962C8B-B14F-4D97-AF65-F5344CB8AC3E}">
        <p14:creationId xmlns:p14="http://schemas.microsoft.com/office/powerpoint/2010/main" val="3521904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3E2B33-783D-411D-984F-8A21DCCC5E47}" type="datetimeFigureOut">
              <a:rPr lang="en-GB" smtClean="0"/>
              <a:t>09/10/2024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F759B-2E52-4DDF-AC4D-5203B0CBE6B1}" type="slidenum">
              <a:rPr lang="en-GB" smtClean="0"/>
              <a:t>‹#›</a:t>
            </a:fld>
            <a:endParaRPr lang="en-GB"/>
          </a:p>
        </p:txBody>
      </p:sp>
      <p:sp>
        <p:nvSpPr>
          <p:cNvPr id="7" name="Rectangle 6"/>
          <p:cNvSpPr/>
          <p:nvPr/>
        </p:nvSpPr>
        <p:spPr>
          <a:xfrm>
            <a:off x="0" y="0"/>
            <a:ext cx="12192000" cy="6858000"/>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COSMOS GRAPHIC WHITE.png"/>
          <p:cNvPicPr>
            <a:picLocks noChangeAspect="1"/>
          </p:cNvPicPr>
          <p:nvPr/>
        </p:nvPicPr>
        <p:blipFill rotWithShape="1">
          <a:blip r:embed="rId1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Tree>
    <p:extLst>
      <p:ext uri="{BB962C8B-B14F-4D97-AF65-F5344CB8AC3E}">
        <p14:creationId xmlns:p14="http://schemas.microsoft.com/office/powerpoint/2010/main" val="3280158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emf"/><Relationship Id="rId7"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jpeg"/><Relationship Id="rId9"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ndon Metropolitan University logo"/>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sp>
        <p:nvSpPr>
          <p:cNvPr id="13" name="Title 1">
            <a:extLst>
              <a:ext uri="{FF2B5EF4-FFF2-40B4-BE49-F238E27FC236}">
                <a16:creationId xmlns:a16="http://schemas.microsoft.com/office/drawing/2014/main" id="{D716E601-E960-914B-9E24-DB158018F9CF}"/>
              </a:ext>
            </a:extLst>
          </p:cNvPr>
          <p:cNvSpPr txBox="1">
            <a:spLocks/>
          </p:cNvSpPr>
          <p:nvPr/>
        </p:nvSpPr>
        <p:spPr>
          <a:xfrm>
            <a:off x="859367" y="1626330"/>
            <a:ext cx="7766936" cy="16463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dirty="0">
                <a:solidFill>
                  <a:schemeClr val="bg1"/>
                </a:solidFill>
                <a:latin typeface="Arial" panose="020B0604020202020204" pitchFamily="34" charset="0"/>
                <a:cs typeface="Arial" panose="020B0604020202020204" pitchFamily="34" charset="0"/>
              </a:rPr>
              <a:t>Applied Sciences</a:t>
            </a:r>
          </a:p>
        </p:txBody>
      </p:sp>
      <p:sp>
        <p:nvSpPr>
          <p:cNvPr id="14" name="Subtitle 2">
            <a:extLst>
              <a:ext uri="{FF2B5EF4-FFF2-40B4-BE49-F238E27FC236}">
                <a16:creationId xmlns:a16="http://schemas.microsoft.com/office/drawing/2014/main" id="{9D54B19F-1A94-8640-8DAB-23A14C560723}"/>
              </a:ext>
            </a:extLst>
          </p:cNvPr>
          <p:cNvSpPr txBox="1">
            <a:spLocks/>
          </p:cNvSpPr>
          <p:nvPr/>
        </p:nvSpPr>
        <p:spPr>
          <a:xfrm>
            <a:off x="520964" y="3585369"/>
            <a:ext cx="8105339" cy="2083036"/>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sz="3200" dirty="0">
                <a:solidFill>
                  <a:schemeClr val="bg1"/>
                </a:solidFill>
                <a:latin typeface="Arial" panose="020B0604020202020204" pitchFamily="34" charset="0"/>
                <a:cs typeface="Arial" panose="020B0604020202020204" pitchFamily="34" charset="0"/>
              </a:rPr>
              <a:t>PT4050 and PT7001</a:t>
            </a:r>
          </a:p>
          <a:p>
            <a:pPr algn="r"/>
            <a:r>
              <a:rPr lang="en-GB" sz="3200" dirty="0">
                <a:solidFill>
                  <a:schemeClr val="bg1"/>
                </a:solidFill>
                <a:latin typeface="Arial" panose="020B0604020202020204" pitchFamily="34" charset="0"/>
                <a:cs typeface="Arial" panose="020B0604020202020204" pitchFamily="34" charset="0"/>
              </a:rPr>
              <a:t>Muscle Physiology Part 1 </a:t>
            </a:r>
            <a:endParaRPr lang="en-GB" sz="3200" dirty="0">
              <a:solidFill>
                <a:srgbClr val="00B0F0"/>
              </a:solidFill>
              <a:latin typeface="Arial" panose="020B0604020202020204" pitchFamily="34" charset="0"/>
              <a:cs typeface="Arial" panose="020B0604020202020204" pitchFamily="34" charset="0"/>
            </a:endParaRPr>
          </a:p>
          <a:p>
            <a:pPr algn="r"/>
            <a:endParaRPr lang="en-GB" dirty="0">
              <a:solidFill>
                <a:srgbClr val="00B0F0"/>
              </a:solidFill>
              <a:latin typeface="Arial" panose="020B0604020202020204" pitchFamily="34" charset="0"/>
              <a:cs typeface="Arial" panose="020B0604020202020204" pitchFamily="34" charset="0"/>
            </a:endParaRPr>
          </a:p>
          <a:p>
            <a:pPr algn="r"/>
            <a:r>
              <a:rPr lang="en-GB" dirty="0">
                <a:solidFill>
                  <a:srgbClr val="00B0F0"/>
                </a:solidFill>
                <a:latin typeface="Arial" panose="020B0604020202020204" pitchFamily="34" charset="0"/>
                <a:cs typeface="Arial" panose="020B0604020202020204" pitchFamily="34" charset="0"/>
              </a:rPr>
              <a:t>Chris Chamberlin  and Dr Ben Hunter</a:t>
            </a:r>
          </a:p>
          <a:p>
            <a:pPr algn="r"/>
            <a:r>
              <a:rPr lang="en-GB" dirty="0">
                <a:solidFill>
                  <a:srgbClr val="00B0F0"/>
                </a:solidFill>
                <a:latin typeface="Arial" panose="020B0604020202020204" pitchFamily="34" charset="0"/>
                <a:cs typeface="Arial" panose="020B0604020202020204" pitchFamily="34" charset="0"/>
              </a:rPr>
              <a:t>c.chamberlin@londonmet.ac.uk</a:t>
            </a:r>
          </a:p>
        </p:txBody>
      </p:sp>
      <p:pic>
        <p:nvPicPr>
          <p:cNvPr id="1026" name="Picture 2" descr="Ronnie Coleman Yeah Buddy Light weight baby on Make a GIF">
            <a:extLst>
              <a:ext uri="{FF2B5EF4-FFF2-40B4-BE49-F238E27FC236}">
                <a16:creationId xmlns:a16="http://schemas.microsoft.com/office/drawing/2014/main" id="{04322729-2C45-13AF-18E0-1A63C82CED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953"/>
          <a:stretch/>
        </p:blipFill>
        <p:spPr bwMode="auto">
          <a:xfrm>
            <a:off x="8797525" y="2820393"/>
            <a:ext cx="3233833" cy="2280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59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Learning Outcomes</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797800" cy="4351338"/>
          </a:xfrm>
        </p:spPr>
        <p:txBody>
          <a:bodyPr>
            <a:noAutofit/>
          </a:bodyPr>
          <a:lstStyle/>
          <a:p>
            <a:pPr>
              <a:lnSpc>
                <a:spcPct val="200000"/>
              </a:lnSpc>
            </a:pPr>
            <a:r>
              <a:rPr lang="en-GB" sz="2200" b="0" i="0" u="none" strike="noStrike" dirty="0">
                <a:effectLst/>
                <a:latin typeface="Calibri" panose="020F0502020204030204" pitchFamily="34" charset="0"/>
              </a:rPr>
              <a:t>Neuromuscular junction</a:t>
            </a:r>
          </a:p>
          <a:p>
            <a:pPr>
              <a:lnSpc>
                <a:spcPct val="200000"/>
              </a:lnSpc>
            </a:pPr>
            <a:r>
              <a:rPr lang="en-GB" sz="2200" dirty="0">
                <a:latin typeface="Calibri" panose="020F0502020204030204" pitchFamily="34" charset="0"/>
              </a:rPr>
              <a:t>Muscle structure</a:t>
            </a:r>
          </a:p>
          <a:p>
            <a:pPr>
              <a:lnSpc>
                <a:spcPct val="200000"/>
              </a:lnSpc>
            </a:pPr>
            <a:r>
              <a:rPr lang="en-GB" sz="2200" b="0" i="0" u="none" strike="noStrike" dirty="0">
                <a:effectLst/>
                <a:latin typeface="Calibri" panose="020F0502020204030204" pitchFamily="34" charset="0"/>
              </a:rPr>
              <a:t>Contraction types</a:t>
            </a:r>
          </a:p>
          <a:p>
            <a:pPr>
              <a:lnSpc>
                <a:spcPct val="200000"/>
              </a:lnSpc>
            </a:pPr>
            <a:r>
              <a:rPr lang="en-GB" sz="2200" dirty="0">
                <a:latin typeface="Calibri" panose="020F0502020204030204" pitchFamily="34" charset="0"/>
              </a:rPr>
              <a:t>Cross-bridge formation</a:t>
            </a:r>
          </a:p>
          <a:p>
            <a:pPr>
              <a:lnSpc>
                <a:spcPct val="200000"/>
              </a:lnSpc>
            </a:pPr>
            <a:r>
              <a:rPr lang="en-GB" sz="2200" b="0" i="0" u="none" strike="noStrike" dirty="0">
                <a:effectLst/>
                <a:latin typeface="Calibri" panose="020F0502020204030204" pitchFamily="34" charset="0"/>
              </a:rPr>
              <a:t>Motor units</a:t>
            </a:r>
          </a:p>
        </p:txBody>
      </p:sp>
    </p:spTree>
    <p:extLst>
      <p:ext uri="{BB962C8B-B14F-4D97-AF65-F5344CB8AC3E}">
        <p14:creationId xmlns:p14="http://schemas.microsoft.com/office/powerpoint/2010/main" val="4216962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Structure </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4526534" cy="4351338"/>
          </a:xfrm>
        </p:spPr>
        <p:txBody>
          <a:bodyPr>
            <a:normAutofit fontScale="85000" lnSpcReduction="10000"/>
          </a:bodyPr>
          <a:lstStyle/>
          <a:p>
            <a:pPr>
              <a:lnSpc>
                <a:spcPct val="120000"/>
              </a:lnSpc>
              <a:spcAft>
                <a:spcPct val="20000"/>
              </a:spcAft>
              <a:buFont typeface="Symbol" charset="2"/>
              <a:buChar char="·"/>
            </a:pPr>
            <a:r>
              <a:rPr lang="en-GB" altLang="en-US" kern="0" dirty="0">
                <a:latin typeface="Calibri" pitchFamily="34" charset="0"/>
              </a:rPr>
              <a:t>Sarcolemma: plasma membrane</a:t>
            </a:r>
          </a:p>
          <a:p>
            <a:pPr>
              <a:lnSpc>
                <a:spcPct val="120000"/>
              </a:lnSpc>
              <a:spcAft>
                <a:spcPct val="20000"/>
              </a:spcAft>
              <a:buFont typeface="Symbol" charset="2"/>
              <a:buChar char="·"/>
            </a:pPr>
            <a:r>
              <a:rPr lang="en-GB" altLang="en-US" kern="0" dirty="0">
                <a:latin typeface="Calibri" pitchFamily="34" charset="0"/>
              </a:rPr>
              <a:t>Sarcoplasm: cytoplasm</a:t>
            </a:r>
          </a:p>
          <a:p>
            <a:pPr>
              <a:lnSpc>
                <a:spcPct val="120000"/>
              </a:lnSpc>
              <a:spcAft>
                <a:spcPct val="20000"/>
              </a:spcAft>
              <a:buFont typeface="Symbol" charset="2"/>
              <a:buChar char="·"/>
            </a:pPr>
            <a:r>
              <a:rPr lang="en-GB" altLang="en-US" kern="0" dirty="0">
                <a:latin typeface="Calibri" pitchFamily="34" charset="0"/>
              </a:rPr>
              <a:t>Myofibrils</a:t>
            </a:r>
          </a:p>
          <a:p>
            <a:pPr>
              <a:lnSpc>
                <a:spcPct val="120000"/>
              </a:lnSpc>
              <a:spcAft>
                <a:spcPct val="20000"/>
              </a:spcAft>
              <a:buFont typeface="Symbol" charset="2"/>
              <a:buChar char="·"/>
            </a:pPr>
            <a:r>
              <a:rPr lang="en-GB" altLang="en-US" kern="0" dirty="0">
                <a:latin typeface="Calibri" pitchFamily="34" charset="0"/>
              </a:rPr>
              <a:t>Mitochondria</a:t>
            </a:r>
          </a:p>
          <a:p>
            <a:pPr>
              <a:lnSpc>
                <a:spcPct val="120000"/>
              </a:lnSpc>
              <a:spcAft>
                <a:spcPct val="20000"/>
              </a:spcAft>
              <a:buFont typeface="Symbol" charset="2"/>
              <a:buChar char="·"/>
            </a:pPr>
            <a:r>
              <a:rPr lang="en-GB" altLang="en-US" kern="0" dirty="0">
                <a:latin typeface="Calibri" pitchFamily="34" charset="0"/>
              </a:rPr>
              <a:t>Sarcoplasmic reticulum: smooth ER</a:t>
            </a:r>
          </a:p>
          <a:p>
            <a:pPr>
              <a:lnSpc>
                <a:spcPct val="120000"/>
              </a:lnSpc>
              <a:spcAft>
                <a:spcPct val="20000"/>
              </a:spcAft>
              <a:buFont typeface="Symbol" charset="2"/>
              <a:buChar char="·"/>
            </a:pPr>
            <a:r>
              <a:rPr lang="en-GB" altLang="en-US" kern="0" dirty="0">
                <a:latin typeface="Calibri" pitchFamily="34" charset="0"/>
              </a:rPr>
              <a:t>Transverse tubule: T tubule</a:t>
            </a:r>
            <a:r>
              <a:rPr lang="en-GB" dirty="0">
                <a:latin typeface="Calibri" panose="020F0502020204030204" pitchFamily="34" charset="0"/>
                <a:cs typeface="Calibri" panose="020F0502020204030204" pitchFamily="34" charset="0"/>
              </a:rPr>
              <a:t>)</a:t>
            </a:r>
          </a:p>
          <a:p>
            <a:endParaRPr lang="en-GB" dirty="0">
              <a:effectLst/>
              <a:latin typeface="Calibri" panose="020F0502020204030204" pitchFamily="34" charset="0"/>
              <a:cs typeface="Calibri" panose="020F0502020204030204" pitchFamily="34" charset="0"/>
            </a:endParaRPr>
          </a:p>
        </p:txBody>
      </p:sp>
      <p:pic>
        <p:nvPicPr>
          <p:cNvPr id="11" name="Picture 8" descr="Figure_12_02_L.jpg                                             000067D1&#10;SG_for_Kym                     C1CA77B7:">
            <a:extLst>
              <a:ext uri="{FF2B5EF4-FFF2-40B4-BE49-F238E27FC236}">
                <a16:creationId xmlns:a16="http://schemas.microsoft.com/office/drawing/2014/main" id="{FC4A4F7D-1941-F60C-69F6-0982DB7B6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1" t="1721" r="893" b="5507"/>
          <a:stretch>
            <a:fillRect/>
          </a:stretch>
        </p:blipFill>
        <p:spPr bwMode="auto">
          <a:xfrm>
            <a:off x="5692458" y="1825625"/>
            <a:ext cx="6332079" cy="420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075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647367"/>
            <a:ext cx="5810713"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Neuromuscular junction (NMJ)</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696200" cy="4351338"/>
          </a:xfrm>
        </p:spPr>
        <p:txBody>
          <a:bodyPr>
            <a:normAutofit fontScale="85000" lnSpcReduction="10000"/>
          </a:bodyPr>
          <a:lstStyle/>
          <a:p>
            <a:pPr marL="514350" indent="-514350">
              <a:lnSpc>
                <a:spcPct val="120000"/>
              </a:lnSpc>
              <a:spcBef>
                <a:spcPts val="600"/>
              </a:spcBef>
              <a:spcAft>
                <a:spcPts val="600"/>
              </a:spcAft>
              <a:buFont typeface="+mj-lt"/>
              <a:buAutoNum type="arabicPeriod"/>
            </a:pPr>
            <a:r>
              <a:rPr lang="en-US" altLang="en-US" sz="2800" kern="0" dirty="0"/>
              <a:t>Action potential to axon terminal of motor neuron</a:t>
            </a:r>
          </a:p>
          <a:p>
            <a:pPr marL="514350" indent="-514350">
              <a:lnSpc>
                <a:spcPct val="120000"/>
              </a:lnSpc>
              <a:spcBef>
                <a:spcPts val="600"/>
              </a:spcBef>
              <a:spcAft>
                <a:spcPts val="600"/>
              </a:spcAft>
              <a:buFont typeface="+mj-lt"/>
              <a:buAutoNum type="arabicPeriod"/>
            </a:pPr>
            <a:r>
              <a:rPr lang="en-US" altLang="en-US" sz="2800" kern="0" dirty="0"/>
              <a:t>Ca</a:t>
            </a:r>
            <a:r>
              <a:rPr lang="en-US" altLang="en-US" sz="2800" kern="0" baseline="30000" dirty="0"/>
              <a:t>2+</a:t>
            </a:r>
            <a:r>
              <a:rPr lang="en-US" altLang="en-US" sz="2800" kern="0" dirty="0"/>
              <a:t> channels opens</a:t>
            </a:r>
          </a:p>
          <a:p>
            <a:pPr marL="514350" indent="-514350">
              <a:lnSpc>
                <a:spcPct val="120000"/>
              </a:lnSpc>
              <a:spcBef>
                <a:spcPts val="600"/>
              </a:spcBef>
              <a:spcAft>
                <a:spcPts val="600"/>
              </a:spcAft>
              <a:buFont typeface="+mj-lt"/>
              <a:buAutoNum type="arabicPeriod"/>
            </a:pPr>
            <a:r>
              <a:rPr lang="en-US" altLang="en-US" sz="2800" kern="0" dirty="0"/>
              <a:t>Neurotransmitter acetylcholine (</a:t>
            </a:r>
            <a:r>
              <a:rPr lang="en-US" altLang="en-US" sz="2800" kern="0" dirty="0" err="1"/>
              <a:t>ACh</a:t>
            </a:r>
            <a:r>
              <a:rPr lang="en-US" altLang="en-US" sz="2800" kern="0" dirty="0"/>
              <a:t>) releases</a:t>
            </a:r>
          </a:p>
          <a:p>
            <a:pPr marL="514350" indent="-514350">
              <a:lnSpc>
                <a:spcPct val="120000"/>
              </a:lnSpc>
              <a:spcBef>
                <a:spcPts val="600"/>
              </a:spcBef>
              <a:spcAft>
                <a:spcPts val="600"/>
              </a:spcAft>
              <a:buFont typeface="+mj-lt"/>
              <a:buAutoNum type="arabicPeriod"/>
            </a:pPr>
            <a:r>
              <a:rPr lang="en-US" altLang="en-US" sz="2800" kern="0" dirty="0"/>
              <a:t>Ligand-gated (Na</a:t>
            </a:r>
            <a:r>
              <a:rPr lang="en-US" altLang="en-US" sz="2800" kern="0" baseline="30000" dirty="0"/>
              <a:t>+</a:t>
            </a:r>
            <a:r>
              <a:rPr lang="en-US" altLang="en-US" sz="2800" kern="0" dirty="0"/>
              <a:t>) channels open when </a:t>
            </a:r>
            <a:r>
              <a:rPr lang="en-US" altLang="en-US" sz="2800" kern="0" dirty="0" err="1"/>
              <a:t>ACh</a:t>
            </a:r>
            <a:r>
              <a:rPr lang="en-US" altLang="en-US" sz="2800" kern="0" dirty="0"/>
              <a:t> binds to the receptors on motor end plate</a:t>
            </a:r>
          </a:p>
          <a:p>
            <a:pPr marL="514350" indent="-514350">
              <a:lnSpc>
                <a:spcPct val="120000"/>
              </a:lnSpc>
              <a:spcBef>
                <a:spcPts val="600"/>
              </a:spcBef>
              <a:spcAft>
                <a:spcPts val="600"/>
              </a:spcAft>
              <a:buFont typeface="+mj-lt"/>
              <a:buAutoNum type="arabicPeriod"/>
            </a:pPr>
            <a:r>
              <a:rPr lang="en-US" altLang="en-US" sz="2800" kern="0" dirty="0"/>
              <a:t>Action potential is generated when threshold is reached – All or Nothing Principle</a:t>
            </a:r>
          </a:p>
          <a:p>
            <a:pPr marL="514350" indent="-514350">
              <a:lnSpc>
                <a:spcPct val="120000"/>
              </a:lnSpc>
              <a:spcBef>
                <a:spcPts val="600"/>
              </a:spcBef>
              <a:spcAft>
                <a:spcPts val="600"/>
              </a:spcAft>
              <a:buFont typeface="+mj-lt"/>
              <a:buAutoNum type="arabicPeriod"/>
            </a:pPr>
            <a:r>
              <a:rPr lang="en-US" altLang="en-US" sz="2800" kern="0" dirty="0"/>
              <a:t>Propagation of action potential on sarcolemma</a:t>
            </a:r>
          </a:p>
        </p:txBody>
      </p:sp>
    </p:spTree>
    <p:extLst>
      <p:ext uri="{BB962C8B-B14F-4D97-AF65-F5344CB8AC3E}">
        <p14:creationId xmlns:p14="http://schemas.microsoft.com/office/powerpoint/2010/main" val="419251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647367"/>
            <a:ext cx="5810713"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Neuromuscular junction (NMJ)</a:t>
            </a:r>
          </a:p>
        </p:txBody>
      </p:sp>
      <p:pic>
        <p:nvPicPr>
          <p:cNvPr id="5" name="Picture 4">
            <a:extLst>
              <a:ext uri="{FF2B5EF4-FFF2-40B4-BE49-F238E27FC236}">
                <a16:creationId xmlns:a16="http://schemas.microsoft.com/office/drawing/2014/main" id="{8B058D2C-B4A9-015D-6D7A-55EEA62D37AA}"/>
              </a:ext>
            </a:extLst>
          </p:cNvPr>
          <p:cNvPicPr>
            <a:picLocks noChangeAspect="1"/>
          </p:cNvPicPr>
          <p:nvPr/>
        </p:nvPicPr>
        <p:blipFill>
          <a:blip r:embed="rId3"/>
          <a:stretch>
            <a:fillRect/>
          </a:stretch>
        </p:blipFill>
        <p:spPr>
          <a:xfrm>
            <a:off x="2277428" y="1678909"/>
            <a:ext cx="7637143" cy="5028572"/>
          </a:xfrm>
          <a:prstGeom prst="rect">
            <a:avLst/>
          </a:prstGeom>
        </p:spPr>
      </p:pic>
    </p:spTree>
    <p:extLst>
      <p:ext uri="{BB962C8B-B14F-4D97-AF65-F5344CB8AC3E}">
        <p14:creationId xmlns:p14="http://schemas.microsoft.com/office/powerpoint/2010/main" val="1026379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1" y="647367"/>
            <a:ext cx="5810713"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Excitation-contraction coupling</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696200" cy="4351338"/>
          </a:xfrm>
        </p:spPr>
        <p:txBody>
          <a:bodyPr>
            <a:normAutofit/>
          </a:bodyPr>
          <a:lstStyle/>
          <a:p>
            <a:pPr marL="442913" lvl="1" indent="-442913">
              <a:spcBef>
                <a:spcPts val="600"/>
              </a:spcBef>
              <a:spcAft>
                <a:spcPts val="600"/>
              </a:spcAft>
              <a:buFont typeface="Times" charset="0"/>
              <a:buAutoNum type="arabicPeriod"/>
            </a:pPr>
            <a:r>
              <a:rPr lang="en-US" altLang="en-US" sz="2800" kern="0" dirty="0" err="1">
                <a:cs typeface="Arial" charset="0"/>
              </a:rPr>
              <a:t>ACh</a:t>
            </a:r>
            <a:r>
              <a:rPr lang="en-US" altLang="en-US" sz="2800" kern="0" dirty="0">
                <a:cs typeface="Arial" charset="0"/>
              </a:rPr>
              <a:t> released at N -M J,  receptor,  AP</a:t>
            </a:r>
          </a:p>
          <a:p>
            <a:pPr marL="442913" lvl="1" indent="-442913">
              <a:spcBef>
                <a:spcPts val="600"/>
              </a:spcBef>
              <a:spcAft>
                <a:spcPts val="600"/>
              </a:spcAft>
              <a:buFont typeface="Times" charset="0"/>
              <a:buAutoNum type="arabicPeriod"/>
            </a:pPr>
            <a:r>
              <a:rPr lang="en-US" altLang="en-US" sz="2800" kern="0" dirty="0">
                <a:cs typeface="Arial" charset="0"/>
              </a:rPr>
              <a:t>Action potential down T tubules</a:t>
            </a:r>
          </a:p>
          <a:p>
            <a:pPr marL="442913" lvl="1" indent="-442913">
              <a:spcBef>
                <a:spcPts val="600"/>
              </a:spcBef>
              <a:spcAft>
                <a:spcPts val="600"/>
              </a:spcAft>
              <a:buFont typeface="Times" charset="0"/>
              <a:buAutoNum type="arabicPeriod"/>
            </a:pPr>
            <a:r>
              <a:rPr lang="en-US" altLang="en-US" sz="2800" kern="0" dirty="0">
                <a:cs typeface="Arial" charset="0"/>
              </a:rPr>
              <a:t>AP trigger Ca</a:t>
            </a:r>
            <a:r>
              <a:rPr lang="en-US" altLang="en-US" sz="2800" kern="0" baseline="30000" dirty="0">
                <a:cs typeface="Arial" charset="0"/>
              </a:rPr>
              <a:t>2+</a:t>
            </a:r>
            <a:r>
              <a:rPr lang="en-US" altLang="en-US" sz="2800" kern="0" dirty="0">
                <a:cs typeface="Arial" charset="0"/>
              </a:rPr>
              <a:t> release from SR</a:t>
            </a:r>
          </a:p>
          <a:p>
            <a:pPr marL="442913" lvl="1" indent="-442913">
              <a:spcBef>
                <a:spcPts val="600"/>
              </a:spcBef>
              <a:spcAft>
                <a:spcPts val="600"/>
              </a:spcAft>
              <a:buFont typeface="Times" charset="0"/>
              <a:buAutoNum type="arabicPeriod" startAt="4"/>
            </a:pPr>
            <a:r>
              <a:rPr lang="en-US" altLang="en-US" sz="2800" kern="0" dirty="0">
                <a:cs typeface="Arial" charset="0"/>
              </a:rPr>
              <a:t>Ca</a:t>
            </a:r>
            <a:r>
              <a:rPr lang="en-US" altLang="en-US" sz="2800" kern="0" baseline="30000" dirty="0">
                <a:cs typeface="Arial" charset="0"/>
              </a:rPr>
              <a:t>2+</a:t>
            </a:r>
            <a:r>
              <a:rPr lang="en-US" altLang="en-US" sz="2800" kern="0" dirty="0">
                <a:cs typeface="Arial" charset="0"/>
              </a:rPr>
              <a:t> binds to troponin exposing myosin binding site</a:t>
            </a:r>
          </a:p>
          <a:p>
            <a:pPr marL="442913" lvl="1" indent="-442913">
              <a:spcBef>
                <a:spcPts val="600"/>
              </a:spcBef>
              <a:spcAft>
                <a:spcPts val="600"/>
              </a:spcAft>
              <a:buFont typeface="Times" charset="0"/>
              <a:buAutoNum type="arabicPeriod" startAt="4"/>
            </a:pPr>
            <a:r>
              <a:rPr lang="en-US" altLang="en-US" sz="2800" kern="0" dirty="0">
                <a:cs typeface="Arial" charset="0"/>
              </a:rPr>
              <a:t>Crossbridge cycling occurs</a:t>
            </a:r>
          </a:p>
          <a:p>
            <a:pPr marL="442913" lvl="1" indent="-442913">
              <a:spcBef>
                <a:spcPts val="600"/>
              </a:spcBef>
              <a:spcAft>
                <a:spcPts val="600"/>
              </a:spcAft>
              <a:buFont typeface="Times" charset="0"/>
              <a:buAutoNum type="arabicPeriod" startAt="4"/>
            </a:pPr>
            <a:r>
              <a:rPr lang="en-US" altLang="en-US" sz="2800" kern="0" dirty="0">
                <a:cs typeface="Arial" charset="0"/>
              </a:rPr>
              <a:t>Ca</a:t>
            </a:r>
            <a:r>
              <a:rPr lang="en-US" altLang="en-US" sz="2800" kern="0" baseline="30000" dirty="0">
                <a:cs typeface="Arial" charset="0"/>
              </a:rPr>
              <a:t>2+</a:t>
            </a:r>
            <a:r>
              <a:rPr lang="en-US" altLang="en-US" sz="2800" kern="0" dirty="0">
                <a:cs typeface="Arial" charset="0"/>
              </a:rPr>
              <a:t> re-uptake actively</a:t>
            </a:r>
          </a:p>
          <a:p>
            <a:pPr marL="442913" lvl="1" indent="-442913">
              <a:spcBef>
                <a:spcPts val="600"/>
              </a:spcBef>
              <a:spcAft>
                <a:spcPts val="600"/>
              </a:spcAft>
              <a:buFont typeface="Times" charset="0"/>
              <a:buAutoNum type="arabicPeriod" startAt="4"/>
            </a:pPr>
            <a:r>
              <a:rPr lang="en-US" altLang="en-US" sz="2800" kern="0" dirty="0">
                <a:cs typeface="Arial" charset="0"/>
              </a:rPr>
              <a:t>Myosin binding sites blocked</a:t>
            </a:r>
          </a:p>
        </p:txBody>
      </p:sp>
    </p:spTree>
    <p:extLst>
      <p:ext uri="{BB962C8B-B14F-4D97-AF65-F5344CB8AC3E}">
        <p14:creationId xmlns:p14="http://schemas.microsoft.com/office/powerpoint/2010/main" val="4086239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1C33D607-7EBB-ABF2-F3BB-8BD75605D78E}"/>
              </a:ext>
            </a:extLst>
          </p:cNvPr>
          <p:cNvPicPr>
            <a:picLocks noChangeAspect="1"/>
          </p:cNvPicPr>
          <p:nvPr/>
        </p:nvPicPr>
        <p:blipFill>
          <a:blip r:embed="rId3"/>
          <a:stretch>
            <a:fillRect/>
          </a:stretch>
        </p:blipFill>
        <p:spPr>
          <a:xfrm>
            <a:off x="2156493" y="144864"/>
            <a:ext cx="7879013" cy="6568271"/>
          </a:xfrm>
          <a:prstGeom prst="rect">
            <a:avLst/>
          </a:prstGeom>
          <a:solidFill>
            <a:schemeClr val="bg1"/>
          </a:solidFill>
        </p:spPr>
      </p:pic>
    </p:spTree>
    <p:extLst>
      <p:ext uri="{BB962C8B-B14F-4D97-AF65-F5344CB8AC3E}">
        <p14:creationId xmlns:p14="http://schemas.microsoft.com/office/powerpoint/2010/main" val="4258387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Striations </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54534"/>
            <a:ext cx="4526534" cy="4351338"/>
          </a:xfrm>
        </p:spPr>
        <p:txBody>
          <a:bodyPr>
            <a:normAutofit fontScale="92500"/>
          </a:bodyPr>
          <a:lstStyle/>
          <a:p>
            <a:pPr>
              <a:lnSpc>
                <a:spcPct val="120000"/>
              </a:lnSpc>
              <a:spcAft>
                <a:spcPct val="20000"/>
              </a:spcAft>
              <a:buFont typeface="Symbol" charset="2"/>
              <a:buChar char="·"/>
            </a:pPr>
            <a:r>
              <a:rPr lang="en-GB" altLang="en-US" kern="0" dirty="0">
                <a:latin typeface="Calibri" pitchFamily="34" charset="0"/>
              </a:rPr>
              <a:t>When viewed longitudinally, skeletal muscles have striations</a:t>
            </a:r>
          </a:p>
          <a:p>
            <a:pPr>
              <a:lnSpc>
                <a:spcPct val="120000"/>
              </a:lnSpc>
              <a:spcAft>
                <a:spcPct val="20000"/>
              </a:spcAft>
              <a:buFont typeface="Symbol" charset="2"/>
              <a:buChar char="·"/>
            </a:pPr>
            <a:endParaRPr lang="en-GB" kern="0" dirty="0">
              <a:latin typeface="Calibri" pitchFamily="34" charset="0"/>
              <a:cs typeface="Calibri" panose="020F0502020204030204" pitchFamily="34" charset="0"/>
            </a:endParaRPr>
          </a:p>
          <a:p>
            <a:pPr>
              <a:lnSpc>
                <a:spcPct val="120000"/>
              </a:lnSpc>
              <a:spcAft>
                <a:spcPct val="20000"/>
              </a:spcAft>
              <a:buFont typeface="Symbol" charset="2"/>
              <a:buChar char="·"/>
            </a:pPr>
            <a:r>
              <a:rPr lang="en-GB" kern="0" dirty="0">
                <a:latin typeface="Calibri" pitchFamily="34" charset="0"/>
                <a:cs typeface="Calibri" panose="020F0502020204030204" pitchFamily="34" charset="0"/>
              </a:rPr>
              <a:t>Highly organised intracellular structures called myofibrils cause the striations</a:t>
            </a:r>
            <a:endParaRPr lang="en-GB" dirty="0">
              <a:latin typeface="Calibri" panose="020F0502020204030204" pitchFamily="34" charset="0"/>
              <a:cs typeface="Calibri" panose="020F0502020204030204" pitchFamily="34" charset="0"/>
            </a:endParaRPr>
          </a:p>
          <a:p>
            <a:endParaRPr lang="en-GB" dirty="0">
              <a:effectLst/>
              <a:latin typeface="Calibri" panose="020F0502020204030204" pitchFamily="34" charset="0"/>
              <a:cs typeface="Calibri" panose="020F0502020204030204" pitchFamily="34" charset="0"/>
            </a:endParaRPr>
          </a:p>
        </p:txBody>
      </p:sp>
      <p:pic>
        <p:nvPicPr>
          <p:cNvPr id="40" name="Picture 39">
            <a:extLst>
              <a:ext uri="{FF2B5EF4-FFF2-40B4-BE49-F238E27FC236}">
                <a16:creationId xmlns:a16="http://schemas.microsoft.com/office/drawing/2014/main" id="{7F640650-5D44-F88A-44CA-AD31E45ACF35}"/>
              </a:ext>
            </a:extLst>
          </p:cNvPr>
          <p:cNvPicPr>
            <a:picLocks noChangeAspect="1"/>
          </p:cNvPicPr>
          <p:nvPr/>
        </p:nvPicPr>
        <p:blipFill>
          <a:blip r:embed="rId3"/>
          <a:stretch>
            <a:fillRect/>
          </a:stretch>
        </p:blipFill>
        <p:spPr>
          <a:xfrm>
            <a:off x="6706937" y="1226218"/>
            <a:ext cx="4521200" cy="5143500"/>
          </a:xfrm>
          <a:prstGeom prst="rect">
            <a:avLst/>
          </a:prstGeom>
          <a:solidFill>
            <a:schemeClr val="bg1"/>
          </a:solidFill>
        </p:spPr>
      </p:pic>
    </p:spTree>
    <p:extLst>
      <p:ext uri="{BB962C8B-B14F-4D97-AF65-F5344CB8AC3E}">
        <p14:creationId xmlns:p14="http://schemas.microsoft.com/office/powerpoint/2010/main" val="343038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Structure </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797800" cy="4351338"/>
          </a:xfrm>
        </p:spPr>
        <p:txBody>
          <a:bodyPr>
            <a:normAutofit/>
          </a:bodyPr>
          <a:lstStyle/>
          <a:p>
            <a:pPr marL="0" indent="0">
              <a:buNone/>
            </a:pPr>
            <a:r>
              <a:rPr lang="en-GB" dirty="0">
                <a:latin typeface="Calibri" panose="020F0502020204030204" pitchFamily="34" charset="0"/>
                <a:cs typeface="Calibri" panose="020F0502020204030204" pitchFamily="34" charset="0"/>
              </a:rPr>
              <a:t>Levels of organisation</a:t>
            </a:r>
          </a:p>
          <a:p>
            <a:r>
              <a:rPr lang="en-GB" dirty="0">
                <a:latin typeface="Calibri" panose="020F0502020204030204" pitchFamily="34" charset="0"/>
                <a:cs typeface="Calibri" panose="020F0502020204030204" pitchFamily="34" charset="0"/>
              </a:rPr>
              <a:t>Epimysium (entire muscle)</a:t>
            </a:r>
          </a:p>
          <a:p>
            <a:r>
              <a:rPr lang="en-GB" dirty="0">
                <a:effectLst/>
                <a:latin typeface="Calibri" panose="020F0502020204030204" pitchFamily="34" charset="0"/>
                <a:cs typeface="Calibri" panose="020F0502020204030204" pitchFamily="34" charset="0"/>
              </a:rPr>
              <a:t>Perimysium (approx. 150 fibres)</a:t>
            </a:r>
          </a:p>
          <a:p>
            <a:r>
              <a:rPr lang="en-GB" dirty="0">
                <a:latin typeface="Calibri" panose="020F0502020204030204" pitchFamily="34" charset="0"/>
                <a:cs typeface="Calibri" panose="020F0502020204030204" pitchFamily="34" charset="0"/>
              </a:rPr>
              <a:t>Endomysium (single fibre)</a:t>
            </a:r>
          </a:p>
          <a:p>
            <a:endParaRPr lang="en-GB" dirty="0">
              <a:effectLst/>
              <a:latin typeface="Calibri" panose="020F0502020204030204" pitchFamily="34" charset="0"/>
              <a:cs typeface="Calibri" panose="020F0502020204030204" pitchFamily="34" charset="0"/>
            </a:endParaRPr>
          </a:p>
        </p:txBody>
      </p:sp>
      <p:pic>
        <p:nvPicPr>
          <p:cNvPr id="3" name="object 18">
            <a:extLst>
              <a:ext uri="{FF2B5EF4-FFF2-40B4-BE49-F238E27FC236}">
                <a16:creationId xmlns:a16="http://schemas.microsoft.com/office/drawing/2014/main" id="{F4E816EB-DFD5-4A90-B583-60DE35A529E2}"/>
              </a:ext>
            </a:extLst>
          </p:cNvPr>
          <p:cNvPicPr/>
          <p:nvPr/>
        </p:nvPicPr>
        <p:blipFill>
          <a:blip r:embed="rId3" cstate="print"/>
          <a:stretch>
            <a:fillRect/>
          </a:stretch>
        </p:blipFill>
        <p:spPr>
          <a:xfrm>
            <a:off x="7009678" y="468630"/>
            <a:ext cx="3491483" cy="5920739"/>
          </a:xfrm>
          <a:prstGeom prst="rect">
            <a:avLst/>
          </a:prstGeom>
        </p:spPr>
      </p:pic>
      <p:sp>
        <p:nvSpPr>
          <p:cNvPr id="4" name="TextBox 3">
            <a:extLst>
              <a:ext uri="{FF2B5EF4-FFF2-40B4-BE49-F238E27FC236}">
                <a16:creationId xmlns:a16="http://schemas.microsoft.com/office/drawing/2014/main" id="{5D4E5200-3EFD-7166-EA3C-E45D2449743A}"/>
              </a:ext>
            </a:extLst>
          </p:cNvPr>
          <p:cNvSpPr txBox="1"/>
          <p:nvPr/>
        </p:nvSpPr>
        <p:spPr>
          <a:xfrm>
            <a:off x="3196133" y="4180344"/>
            <a:ext cx="1789208" cy="2677656"/>
          </a:xfrm>
          <a:prstGeom prst="rect">
            <a:avLst/>
          </a:prstGeom>
          <a:noFill/>
        </p:spPr>
        <p:txBody>
          <a:bodyPr wrap="none" rtlCol="0">
            <a:spAutoFit/>
          </a:bodyPr>
          <a:lstStyle/>
          <a:p>
            <a:pPr algn="ctr"/>
            <a:r>
              <a:rPr lang="en-US" sz="2400" dirty="0">
                <a:solidFill>
                  <a:schemeClr val="bg1"/>
                </a:solidFill>
              </a:rPr>
              <a:t>Muscle</a:t>
            </a:r>
          </a:p>
          <a:p>
            <a:pPr algn="ctr"/>
            <a:endParaRPr lang="en-US" sz="2400" dirty="0">
              <a:solidFill>
                <a:schemeClr val="bg1"/>
              </a:solidFill>
            </a:endParaRPr>
          </a:p>
          <a:p>
            <a:pPr algn="ctr"/>
            <a:r>
              <a:rPr lang="en-US" sz="2400" dirty="0">
                <a:solidFill>
                  <a:schemeClr val="bg1"/>
                </a:solidFill>
              </a:rPr>
              <a:t>Muscle </a:t>
            </a:r>
            <a:r>
              <a:rPr lang="en-US" sz="2400" dirty="0" err="1">
                <a:solidFill>
                  <a:schemeClr val="bg1"/>
                </a:solidFill>
              </a:rPr>
              <a:t>Fibre</a:t>
            </a:r>
            <a:endParaRPr lang="en-US" sz="2400" dirty="0">
              <a:solidFill>
                <a:schemeClr val="bg1"/>
              </a:solidFill>
            </a:endParaRPr>
          </a:p>
          <a:p>
            <a:pPr algn="ctr"/>
            <a:endParaRPr lang="en-US" sz="2400" dirty="0">
              <a:solidFill>
                <a:schemeClr val="bg1"/>
              </a:solidFill>
            </a:endParaRPr>
          </a:p>
          <a:p>
            <a:pPr algn="ctr"/>
            <a:r>
              <a:rPr lang="en-US" sz="2400" dirty="0">
                <a:solidFill>
                  <a:schemeClr val="bg1"/>
                </a:solidFill>
              </a:rPr>
              <a:t>Myofibril</a:t>
            </a:r>
          </a:p>
          <a:p>
            <a:pPr algn="ctr"/>
            <a:endParaRPr lang="en-US" sz="2400" dirty="0">
              <a:solidFill>
                <a:schemeClr val="bg1"/>
              </a:solidFill>
            </a:endParaRPr>
          </a:p>
          <a:p>
            <a:pPr algn="ctr"/>
            <a:r>
              <a:rPr lang="en-US" sz="2400" dirty="0">
                <a:solidFill>
                  <a:schemeClr val="bg1"/>
                </a:solidFill>
              </a:rPr>
              <a:t>Myofilament</a:t>
            </a:r>
          </a:p>
        </p:txBody>
      </p:sp>
      <p:sp>
        <p:nvSpPr>
          <p:cNvPr id="5" name="Down Arrow 4">
            <a:extLst>
              <a:ext uri="{FF2B5EF4-FFF2-40B4-BE49-F238E27FC236}">
                <a16:creationId xmlns:a16="http://schemas.microsoft.com/office/drawing/2014/main" id="{0FCCD89F-97B1-D742-27C5-580BC2A05BF6}"/>
              </a:ext>
            </a:extLst>
          </p:cNvPr>
          <p:cNvSpPr/>
          <p:nvPr/>
        </p:nvSpPr>
        <p:spPr>
          <a:xfrm>
            <a:off x="3978442" y="4539916"/>
            <a:ext cx="224590" cy="4331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a:extLst>
              <a:ext uri="{FF2B5EF4-FFF2-40B4-BE49-F238E27FC236}">
                <a16:creationId xmlns:a16="http://schemas.microsoft.com/office/drawing/2014/main" id="{DFD31E43-6B99-589E-996E-8FF512E7EFF5}"/>
              </a:ext>
            </a:extLst>
          </p:cNvPr>
          <p:cNvSpPr/>
          <p:nvPr/>
        </p:nvSpPr>
        <p:spPr>
          <a:xfrm>
            <a:off x="3954379" y="5268127"/>
            <a:ext cx="224590" cy="4331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A7CE6299-80AC-9289-F2F1-0D72BEF0324B}"/>
              </a:ext>
            </a:extLst>
          </p:cNvPr>
          <p:cNvSpPr/>
          <p:nvPr/>
        </p:nvSpPr>
        <p:spPr>
          <a:xfrm>
            <a:off x="3978442" y="6028422"/>
            <a:ext cx="224590" cy="4331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0940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Striations </a:t>
            </a:r>
          </a:p>
        </p:txBody>
      </p:sp>
      <p:pic>
        <p:nvPicPr>
          <p:cNvPr id="64" name="Picture 63">
            <a:extLst>
              <a:ext uri="{FF2B5EF4-FFF2-40B4-BE49-F238E27FC236}">
                <a16:creationId xmlns:a16="http://schemas.microsoft.com/office/drawing/2014/main" id="{28B41B1B-2FB2-11C3-48A7-9228CEC5EB43}"/>
              </a:ext>
            </a:extLst>
          </p:cNvPr>
          <p:cNvPicPr>
            <a:picLocks noChangeAspect="1"/>
          </p:cNvPicPr>
          <p:nvPr/>
        </p:nvPicPr>
        <p:blipFill>
          <a:blip r:embed="rId3"/>
          <a:stretch>
            <a:fillRect/>
          </a:stretch>
        </p:blipFill>
        <p:spPr>
          <a:xfrm>
            <a:off x="2209800" y="1577979"/>
            <a:ext cx="7772400" cy="5143652"/>
          </a:xfrm>
          <a:prstGeom prst="rect">
            <a:avLst/>
          </a:prstGeom>
          <a:solidFill>
            <a:schemeClr val="bg1"/>
          </a:solidFill>
        </p:spPr>
      </p:pic>
    </p:spTree>
    <p:extLst>
      <p:ext uri="{BB962C8B-B14F-4D97-AF65-F5344CB8AC3E}">
        <p14:creationId xmlns:p14="http://schemas.microsoft.com/office/powerpoint/2010/main" val="2898632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243850"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altLang="en-US" sz="2800" kern="0" dirty="0"/>
              <a:t>Structure of a myofibril / sarcomere</a:t>
            </a:r>
          </a:p>
        </p:txBody>
      </p:sp>
      <p:pic>
        <p:nvPicPr>
          <p:cNvPr id="3" name="Picture 8" descr="Figure_12_03_L.jpg                                             000067D1&#10;SG_for_Kym                     C1CA77B7:">
            <a:extLst>
              <a:ext uri="{FF2B5EF4-FFF2-40B4-BE49-F238E27FC236}">
                <a16:creationId xmlns:a16="http://schemas.microsoft.com/office/drawing/2014/main" id="{FE65C516-F456-DBAD-B8AA-EAD4BCB70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21" b="5507"/>
          <a:stretch>
            <a:fillRect/>
          </a:stretch>
        </p:blipFill>
        <p:spPr bwMode="auto">
          <a:xfrm>
            <a:off x="2480446" y="1549067"/>
            <a:ext cx="8144960" cy="530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0782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r>
              <a:rPr lang="en-GB" kern="0" dirty="0"/>
              <a:t>Myofilaments</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199" y="1854534"/>
            <a:ext cx="4680285" cy="4351338"/>
          </a:xfrm>
        </p:spPr>
        <p:txBody>
          <a:bodyPr>
            <a:normAutofit/>
          </a:bodyPr>
          <a:lstStyle/>
          <a:p>
            <a:pPr lvl="1">
              <a:buFont typeface="Symbol" charset="2"/>
              <a:buChar char="·"/>
              <a:defRPr/>
            </a:pPr>
            <a:r>
              <a:rPr lang="en-US" sz="3200" b="1" kern="0" dirty="0">
                <a:latin typeface="Calibri" pitchFamily="34" charset="0"/>
              </a:rPr>
              <a:t>Actin</a:t>
            </a:r>
            <a:r>
              <a:rPr lang="en-US" sz="3200" kern="0" dirty="0">
                <a:latin typeface="Calibri" pitchFamily="34" charset="0"/>
              </a:rPr>
              <a:t> - contractile protein</a:t>
            </a:r>
          </a:p>
          <a:p>
            <a:pPr marL="0" lvl="1" indent="0">
              <a:defRPr/>
            </a:pPr>
            <a:endParaRPr lang="en-US" sz="3200" kern="0" dirty="0">
              <a:latin typeface="Calibri" pitchFamily="34" charset="0"/>
            </a:endParaRPr>
          </a:p>
          <a:p>
            <a:pPr lvl="1">
              <a:buFont typeface="Symbol" charset="2"/>
              <a:buChar char="·"/>
              <a:defRPr/>
            </a:pPr>
            <a:r>
              <a:rPr lang="en-US" sz="3200" b="1" kern="0" dirty="0">
                <a:latin typeface="Calibri" pitchFamily="34" charset="0"/>
              </a:rPr>
              <a:t>Troponin</a:t>
            </a:r>
            <a:r>
              <a:rPr lang="en-US" sz="3200" kern="0" dirty="0">
                <a:latin typeface="Calibri" pitchFamily="34" charset="0"/>
              </a:rPr>
              <a:t> – regulatory protein</a:t>
            </a:r>
          </a:p>
          <a:p>
            <a:pPr lvl="2">
              <a:buFont typeface="Symbol" charset="2"/>
              <a:buChar char="·"/>
              <a:defRPr/>
            </a:pPr>
            <a:endParaRPr lang="en-US" sz="3200" kern="0" dirty="0">
              <a:latin typeface="Calibri" pitchFamily="34" charset="0"/>
            </a:endParaRPr>
          </a:p>
          <a:p>
            <a:pPr lvl="1">
              <a:buFont typeface="Symbol" charset="2"/>
              <a:buChar char="·"/>
              <a:defRPr/>
            </a:pPr>
            <a:r>
              <a:rPr lang="en-US" sz="3200" b="1" kern="0" dirty="0">
                <a:latin typeface="Calibri" pitchFamily="34" charset="0"/>
              </a:rPr>
              <a:t>Tropomyosin</a:t>
            </a:r>
            <a:r>
              <a:rPr lang="en-US" sz="3200" kern="0" dirty="0">
                <a:latin typeface="Calibri" pitchFamily="34" charset="0"/>
              </a:rPr>
              <a:t> – regulatory protein</a:t>
            </a:r>
          </a:p>
          <a:p>
            <a:endParaRPr lang="en-GB" dirty="0">
              <a:effectLst/>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4F4EA90-1434-EBB1-9315-1502996CF8E8}"/>
              </a:ext>
            </a:extLst>
          </p:cNvPr>
          <p:cNvPicPr>
            <a:picLocks noChangeAspect="1"/>
          </p:cNvPicPr>
          <p:nvPr/>
        </p:nvPicPr>
        <p:blipFill>
          <a:blip r:embed="rId3"/>
          <a:stretch>
            <a:fillRect/>
          </a:stretch>
        </p:blipFill>
        <p:spPr>
          <a:xfrm>
            <a:off x="6584747" y="1326196"/>
            <a:ext cx="4810557" cy="5408014"/>
          </a:xfrm>
          <a:prstGeom prst="rect">
            <a:avLst/>
          </a:prstGeom>
        </p:spPr>
      </p:pic>
    </p:spTree>
    <p:extLst>
      <p:ext uri="{BB962C8B-B14F-4D97-AF65-F5344CB8AC3E}">
        <p14:creationId xmlns:p14="http://schemas.microsoft.com/office/powerpoint/2010/main" val="1324480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r>
              <a:rPr lang="en-GB" kern="0" dirty="0"/>
              <a:t>Myosin</a:t>
            </a:r>
            <a:endParaRPr lang="en-GB" dirty="0"/>
          </a:p>
        </p:txBody>
      </p:sp>
      <p:pic>
        <p:nvPicPr>
          <p:cNvPr id="9" name="Picture 8">
            <a:extLst>
              <a:ext uri="{FF2B5EF4-FFF2-40B4-BE49-F238E27FC236}">
                <a16:creationId xmlns:a16="http://schemas.microsoft.com/office/drawing/2014/main" id="{49F1EF5E-6DD9-153F-9041-83C4CF213886}"/>
              </a:ext>
            </a:extLst>
          </p:cNvPr>
          <p:cNvPicPr>
            <a:picLocks noChangeAspect="1"/>
          </p:cNvPicPr>
          <p:nvPr/>
        </p:nvPicPr>
        <p:blipFill>
          <a:blip r:embed="rId3"/>
          <a:stretch>
            <a:fillRect/>
          </a:stretch>
        </p:blipFill>
        <p:spPr>
          <a:xfrm>
            <a:off x="1564764" y="1602190"/>
            <a:ext cx="9062472" cy="4890685"/>
          </a:xfrm>
          <a:prstGeom prst="rect">
            <a:avLst/>
          </a:prstGeom>
        </p:spPr>
      </p:pic>
    </p:spTree>
    <p:extLst>
      <p:ext uri="{BB962C8B-B14F-4D97-AF65-F5344CB8AC3E}">
        <p14:creationId xmlns:p14="http://schemas.microsoft.com/office/powerpoint/2010/main" val="3076593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The crossbridge cycle</a:t>
            </a:r>
            <a:endParaRPr lang="en-GB" dirty="0"/>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199" y="1854534"/>
            <a:ext cx="7279105" cy="4351338"/>
          </a:xfrm>
        </p:spPr>
        <p:txBody>
          <a:bodyPr>
            <a:normAutofit/>
          </a:bodyPr>
          <a:lstStyle/>
          <a:p>
            <a:pPr marL="442913" lvl="1" indent="-442913">
              <a:spcBef>
                <a:spcPts val="600"/>
              </a:spcBef>
              <a:spcAft>
                <a:spcPts val="600"/>
              </a:spcAft>
              <a:buFont typeface="Times" charset="0"/>
              <a:buAutoNum type="arabicPeriod"/>
            </a:pPr>
            <a:r>
              <a:rPr lang="en-US" altLang="en-US" sz="3200" kern="0" dirty="0">
                <a:cs typeface="Arial" charset="0"/>
              </a:rPr>
              <a:t>Binding of myosin to actin</a:t>
            </a:r>
          </a:p>
          <a:p>
            <a:pPr marL="442913" lvl="1" indent="-442913">
              <a:spcBef>
                <a:spcPts val="600"/>
              </a:spcBef>
              <a:spcAft>
                <a:spcPts val="600"/>
              </a:spcAft>
              <a:buFont typeface="Times" charset="0"/>
              <a:buAutoNum type="arabicPeriod"/>
            </a:pPr>
            <a:r>
              <a:rPr lang="en-US" altLang="en-US" sz="3200" kern="0" dirty="0">
                <a:cs typeface="Arial" charset="0"/>
              </a:rPr>
              <a:t>Power stroke</a:t>
            </a:r>
          </a:p>
          <a:p>
            <a:pPr marL="442913" lvl="1" indent="-442913">
              <a:spcBef>
                <a:spcPts val="600"/>
              </a:spcBef>
              <a:spcAft>
                <a:spcPts val="600"/>
              </a:spcAft>
              <a:buFont typeface="Times" charset="0"/>
              <a:buAutoNum type="arabicPeriod"/>
            </a:pPr>
            <a:r>
              <a:rPr lang="en-US" altLang="en-US" sz="3200" kern="0" dirty="0">
                <a:cs typeface="Arial" charset="0"/>
              </a:rPr>
              <a:t>Rigor (low energy state)</a:t>
            </a:r>
          </a:p>
          <a:p>
            <a:pPr marL="442913" lvl="1" indent="-442913">
              <a:spcBef>
                <a:spcPts val="600"/>
              </a:spcBef>
              <a:spcAft>
                <a:spcPts val="600"/>
              </a:spcAft>
              <a:buFont typeface="Times" charset="0"/>
              <a:buAutoNum type="arabicPeriod"/>
            </a:pPr>
            <a:r>
              <a:rPr lang="en-US" altLang="en-US" sz="3200" kern="0" dirty="0">
                <a:cs typeface="Arial" charset="0"/>
              </a:rPr>
              <a:t>Unbinding of myosin and actin</a:t>
            </a:r>
          </a:p>
          <a:p>
            <a:pPr marL="442913" lvl="1" indent="-442913">
              <a:spcBef>
                <a:spcPts val="600"/>
              </a:spcBef>
              <a:spcAft>
                <a:spcPts val="600"/>
              </a:spcAft>
              <a:buFont typeface="Times" charset="0"/>
              <a:buAutoNum type="arabicPeriod"/>
            </a:pPr>
            <a:r>
              <a:rPr lang="en-US" altLang="en-US" sz="3200" kern="0" dirty="0">
                <a:cs typeface="Arial" charset="0"/>
              </a:rPr>
              <a:t>Cocking of myosin head (high energy state)</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5345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The crossbridge cycle</a:t>
            </a:r>
            <a:endParaRPr lang="en-GB" dirty="0"/>
          </a:p>
        </p:txBody>
      </p:sp>
      <p:pic>
        <p:nvPicPr>
          <p:cNvPr id="44" name="Picture 43">
            <a:extLst>
              <a:ext uri="{FF2B5EF4-FFF2-40B4-BE49-F238E27FC236}">
                <a16:creationId xmlns:a16="http://schemas.microsoft.com/office/drawing/2014/main" id="{E2BBB137-38CC-1280-940C-70618A6B68C8}"/>
              </a:ext>
            </a:extLst>
          </p:cNvPr>
          <p:cNvPicPr>
            <a:picLocks noChangeAspect="1"/>
          </p:cNvPicPr>
          <p:nvPr/>
        </p:nvPicPr>
        <p:blipFill>
          <a:blip r:embed="rId3"/>
          <a:stretch>
            <a:fillRect/>
          </a:stretch>
        </p:blipFill>
        <p:spPr>
          <a:xfrm>
            <a:off x="2466473" y="1643650"/>
            <a:ext cx="7772400" cy="4966352"/>
          </a:xfrm>
          <a:prstGeom prst="rect">
            <a:avLst/>
          </a:prstGeom>
          <a:solidFill>
            <a:schemeClr val="bg1"/>
          </a:solidFill>
        </p:spPr>
      </p:pic>
    </p:spTree>
    <p:extLst>
      <p:ext uri="{BB962C8B-B14F-4D97-AF65-F5344CB8AC3E}">
        <p14:creationId xmlns:p14="http://schemas.microsoft.com/office/powerpoint/2010/main" val="668425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Sliding Filaments</a:t>
            </a:r>
            <a:endParaRPr lang="en-GB" dirty="0"/>
          </a:p>
        </p:txBody>
      </p:sp>
      <p:pic>
        <p:nvPicPr>
          <p:cNvPr id="3" name="Picture 2">
            <a:extLst>
              <a:ext uri="{FF2B5EF4-FFF2-40B4-BE49-F238E27FC236}">
                <a16:creationId xmlns:a16="http://schemas.microsoft.com/office/drawing/2014/main" id="{3957EE14-365F-4C1E-AE6D-ECA1B04348CB}"/>
              </a:ext>
            </a:extLst>
          </p:cNvPr>
          <p:cNvPicPr>
            <a:picLocks noChangeAspect="1"/>
          </p:cNvPicPr>
          <p:nvPr/>
        </p:nvPicPr>
        <p:blipFill>
          <a:blip r:embed="rId3"/>
          <a:stretch>
            <a:fillRect/>
          </a:stretch>
        </p:blipFill>
        <p:spPr>
          <a:xfrm>
            <a:off x="2136507" y="1690688"/>
            <a:ext cx="7918986" cy="2554885"/>
          </a:xfrm>
          <a:prstGeom prst="rect">
            <a:avLst/>
          </a:prstGeom>
        </p:spPr>
      </p:pic>
      <p:pic>
        <p:nvPicPr>
          <p:cNvPr id="4" name="Picture 3">
            <a:extLst>
              <a:ext uri="{FF2B5EF4-FFF2-40B4-BE49-F238E27FC236}">
                <a16:creationId xmlns:a16="http://schemas.microsoft.com/office/drawing/2014/main" id="{6D231293-B5FD-EA6A-B75C-64CCE8BE3B2B}"/>
              </a:ext>
            </a:extLst>
          </p:cNvPr>
          <p:cNvPicPr>
            <a:picLocks noChangeAspect="1"/>
          </p:cNvPicPr>
          <p:nvPr/>
        </p:nvPicPr>
        <p:blipFill>
          <a:blip r:embed="rId4"/>
          <a:stretch>
            <a:fillRect/>
          </a:stretch>
        </p:blipFill>
        <p:spPr>
          <a:xfrm>
            <a:off x="2257893" y="4351496"/>
            <a:ext cx="7676214" cy="2439279"/>
          </a:xfrm>
          <a:prstGeom prst="rect">
            <a:avLst/>
          </a:prstGeom>
        </p:spPr>
      </p:pic>
    </p:spTree>
    <p:extLst>
      <p:ext uri="{BB962C8B-B14F-4D97-AF65-F5344CB8AC3E}">
        <p14:creationId xmlns:p14="http://schemas.microsoft.com/office/powerpoint/2010/main" val="165360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Sliding Filaments</a:t>
            </a:r>
            <a:endParaRPr lang="en-GB" dirty="0"/>
          </a:p>
        </p:txBody>
      </p:sp>
      <p:pic>
        <p:nvPicPr>
          <p:cNvPr id="5" name="Picture 4">
            <a:extLst>
              <a:ext uri="{FF2B5EF4-FFF2-40B4-BE49-F238E27FC236}">
                <a16:creationId xmlns:a16="http://schemas.microsoft.com/office/drawing/2014/main" id="{78414463-B11E-4DE9-4133-799168A932E9}"/>
              </a:ext>
            </a:extLst>
          </p:cNvPr>
          <p:cNvPicPr>
            <a:picLocks noChangeAspect="1"/>
          </p:cNvPicPr>
          <p:nvPr/>
        </p:nvPicPr>
        <p:blipFill>
          <a:blip r:embed="rId3"/>
          <a:stretch>
            <a:fillRect/>
          </a:stretch>
        </p:blipFill>
        <p:spPr>
          <a:xfrm>
            <a:off x="7180875" y="1344488"/>
            <a:ext cx="4533333" cy="5371429"/>
          </a:xfrm>
          <a:prstGeom prst="rect">
            <a:avLst/>
          </a:prstGeom>
        </p:spPr>
      </p:pic>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199" y="1854534"/>
            <a:ext cx="4680285" cy="4351338"/>
          </a:xfrm>
        </p:spPr>
        <p:txBody>
          <a:bodyPr>
            <a:normAutofit fontScale="92500" lnSpcReduction="10000"/>
          </a:bodyPr>
          <a:lstStyle/>
          <a:p>
            <a:pPr marL="457200" lvl="1" indent="-457200">
              <a:lnSpc>
                <a:spcPct val="120000"/>
              </a:lnSpc>
              <a:spcBef>
                <a:spcPts val="1200"/>
              </a:spcBef>
              <a:spcAft>
                <a:spcPts val="1200"/>
              </a:spcAft>
            </a:pPr>
            <a:r>
              <a:rPr lang="en-US" altLang="en-US" sz="3200" kern="0" dirty="0">
                <a:cs typeface="Arial" charset="0"/>
              </a:rPr>
              <a:t>Myosin/actin filaments do not shorten</a:t>
            </a:r>
          </a:p>
          <a:p>
            <a:pPr marL="457200" lvl="1" indent="-457200">
              <a:lnSpc>
                <a:spcPct val="120000"/>
              </a:lnSpc>
              <a:spcBef>
                <a:spcPts val="1200"/>
              </a:spcBef>
              <a:spcAft>
                <a:spcPts val="1200"/>
              </a:spcAft>
            </a:pPr>
            <a:r>
              <a:rPr lang="en-US" altLang="en-US" sz="3200" kern="0" dirty="0">
                <a:cs typeface="Arial" charset="0"/>
              </a:rPr>
              <a:t>A-band remains the same length</a:t>
            </a:r>
          </a:p>
          <a:p>
            <a:pPr marL="457200" lvl="1" indent="-457200">
              <a:lnSpc>
                <a:spcPct val="120000"/>
              </a:lnSpc>
              <a:spcBef>
                <a:spcPts val="1200"/>
              </a:spcBef>
              <a:spcAft>
                <a:spcPts val="1200"/>
              </a:spcAft>
            </a:pPr>
            <a:r>
              <a:rPr lang="en-US" altLang="en-US" sz="3200" kern="0" dirty="0">
                <a:cs typeface="Arial" charset="0"/>
              </a:rPr>
              <a:t>I-band shortens</a:t>
            </a:r>
          </a:p>
          <a:p>
            <a:pPr marL="457200" lvl="1" indent="-457200">
              <a:lnSpc>
                <a:spcPct val="120000"/>
              </a:lnSpc>
              <a:spcBef>
                <a:spcPts val="1200"/>
              </a:spcBef>
              <a:spcAft>
                <a:spcPts val="1200"/>
              </a:spcAft>
            </a:pPr>
            <a:r>
              <a:rPr lang="en-US" altLang="en-US" sz="3200" kern="0" dirty="0">
                <a:cs typeface="Arial" charset="0"/>
              </a:rPr>
              <a:t>H-band shortens</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3461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Length-Tension Relationship</a:t>
            </a:r>
            <a:endParaRPr lang="en-GB" dirty="0"/>
          </a:p>
        </p:txBody>
      </p:sp>
      <p:sp>
        <p:nvSpPr>
          <p:cNvPr id="4" name="Content Placeholder 3">
            <a:extLst>
              <a:ext uri="{FF2B5EF4-FFF2-40B4-BE49-F238E27FC236}">
                <a16:creationId xmlns:a16="http://schemas.microsoft.com/office/drawing/2014/main" id="{99415132-87E0-D185-39DC-93CC6492C51E}"/>
              </a:ext>
            </a:extLst>
          </p:cNvPr>
          <p:cNvSpPr>
            <a:spLocks noGrp="1"/>
          </p:cNvSpPr>
          <p:nvPr>
            <p:ph idx="1"/>
          </p:nvPr>
        </p:nvSpPr>
        <p:spPr>
          <a:xfrm>
            <a:off x="581526" y="5254625"/>
            <a:ext cx="10515600" cy="1603375"/>
          </a:xfrm>
        </p:spPr>
        <p:txBody>
          <a:bodyPr/>
          <a:lstStyle/>
          <a:p>
            <a:r>
              <a:rPr lang="en-US" dirty="0"/>
              <a:t>Is there a position where maximum force can be generated?</a:t>
            </a:r>
          </a:p>
          <a:p>
            <a:r>
              <a:rPr lang="en-US" dirty="0"/>
              <a:t>What’s the relevance in physiotherapy?</a:t>
            </a:r>
          </a:p>
        </p:txBody>
      </p:sp>
      <p:pic>
        <p:nvPicPr>
          <p:cNvPr id="8" name="object 23">
            <a:extLst>
              <a:ext uri="{FF2B5EF4-FFF2-40B4-BE49-F238E27FC236}">
                <a16:creationId xmlns:a16="http://schemas.microsoft.com/office/drawing/2014/main" id="{72586625-5DB2-04D1-403C-7552A2D0A470}"/>
              </a:ext>
            </a:extLst>
          </p:cNvPr>
          <p:cNvPicPr/>
          <p:nvPr/>
        </p:nvPicPr>
        <p:blipFill>
          <a:blip r:embed="rId3" cstate="print"/>
          <a:stretch>
            <a:fillRect/>
          </a:stretch>
        </p:blipFill>
        <p:spPr>
          <a:xfrm>
            <a:off x="3850184" y="1714500"/>
            <a:ext cx="5231891" cy="3429000"/>
          </a:xfrm>
          <a:prstGeom prst="rect">
            <a:avLst/>
          </a:prstGeom>
        </p:spPr>
      </p:pic>
    </p:spTree>
    <p:extLst>
      <p:ext uri="{BB962C8B-B14F-4D97-AF65-F5344CB8AC3E}">
        <p14:creationId xmlns:p14="http://schemas.microsoft.com/office/powerpoint/2010/main" val="3043625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Length-Tension Relationship</a:t>
            </a:r>
            <a:endParaRPr lang="en-GB" dirty="0"/>
          </a:p>
        </p:txBody>
      </p:sp>
      <p:pic>
        <p:nvPicPr>
          <p:cNvPr id="98" name="Picture 97">
            <a:extLst>
              <a:ext uri="{FF2B5EF4-FFF2-40B4-BE49-F238E27FC236}">
                <a16:creationId xmlns:a16="http://schemas.microsoft.com/office/drawing/2014/main" id="{6034E8FA-558D-0011-8964-99430DADC073}"/>
              </a:ext>
            </a:extLst>
          </p:cNvPr>
          <p:cNvPicPr>
            <a:picLocks noChangeAspect="1"/>
          </p:cNvPicPr>
          <p:nvPr/>
        </p:nvPicPr>
        <p:blipFill>
          <a:blip r:embed="rId3"/>
          <a:stretch>
            <a:fillRect/>
          </a:stretch>
        </p:blipFill>
        <p:spPr>
          <a:xfrm>
            <a:off x="2438400" y="1734344"/>
            <a:ext cx="7315200" cy="4533900"/>
          </a:xfrm>
          <a:prstGeom prst="rect">
            <a:avLst/>
          </a:prstGeom>
          <a:solidFill>
            <a:schemeClr val="bg1"/>
          </a:solidFill>
        </p:spPr>
      </p:pic>
    </p:spTree>
    <p:extLst>
      <p:ext uri="{BB962C8B-B14F-4D97-AF65-F5344CB8AC3E}">
        <p14:creationId xmlns:p14="http://schemas.microsoft.com/office/powerpoint/2010/main" val="1691704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Twitch contraction</a:t>
            </a:r>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199" y="1854533"/>
            <a:ext cx="8353927" cy="4638341"/>
          </a:xfrm>
        </p:spPr>
        <p:txBody>
          <a:bodyPr>
            <a:normAutofit/>
          </a:bodyPr>
          <a:lstStyle/>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produced in response to a single action potential</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All or nothing for a given muscle </a:t>
            </a:r>
            <a:r>
              <a:rPr lang="en-GB" sz="2400" kern="0" dirty="0">
                <a:cs typeface="Arial" pitchFamily="34" charset="0"/>
              </a:rPr>
              <a:t>fibre</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Can be induced for a muscle </a:t>
            </a:r>
            <a:r>
              <a:rPr lang="en-GB" sz="2400" kern="0" dirty="0">
                <a:cs typeface="Arial" pitchFamily="34" charset="0"/>
              </a:rPr>
              <a:t>fibre</a:t>
            </a:r>
            <a:r>
              <a:rPr lang="en-US" sz="2400" kern="0" dirty="0">
                <a:cs typeface="Arial" pitchFamily="34" charset="0"/>
              </a:rPr>
              <a:t>, a motor unit or a whole muscle </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Latency: time delay between stimulation (nerve AP or direct electrical) – </a:t>
            </a:r>
            <a:r>
              <a:rPr lang="en-US" sz="2400" kern="0" dirty="0">
                <a:solidFill>
                  <a:srgbClr val="00FDFF"/>
                </a:solidFill>
                <a:cs typeface="Arial" pitchFamily="34" charset="0"/>
              </a:rPr>
              <a:t>E-C coupling</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phase – </a:t>
            </a:r>
            <a:r>
              <a:rPr lang="en-US" sz="2400" kern="0" dirty="0">
                <a:solidFill>
                  <a:srgbClr val="00FDFF"/>
                </a:solidFill>
                <a:cs typeface="Arial" pitchFamily="34" charset="0"/>
              </a:rPr>
              <a:t>cross-bridge cycling</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Relaxation phase – </a:t>
            </a:r>
            <a:r>
              <a:rPr lang="en-US" sz="2400" kern="0" dirty="0">
                <a:solidFill>
                  <a:srgbClr val="00FDFF"/>
                </a:solidFill>
                <a:cs typeface="Arial" pitchFamily="34" charset="0"/>
              </a:rPr>
              <a:t>Ca</a:t>
            </a:r>
            <a:r>
              <a:rPr lang="en-US" sz="2400" kern="0" baseline="30000" dirty="0">
                <a:solidFill>
                  <a:srgbClr val="00FDFF"/>
                </a:solidFill>
                <a:cs typeface="Arial" pitchFamily="34" charset="0"/>
              </a:rPr>
              <a:t>2+</a:t>
            </a:r>
            <a:r>
              <a:rPr lang="en-US" sz="2400" kern="0" dirty="0">
                <a:solidFill>
                  <a:srgbClr val="00FDFF"/>
                </a:solidFill>
                <a:cs typeface="Arial" pitchFamily="34" charset="0"/>
              </a:rPr>
              <a:t> uptake</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3900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Types of muscle contraction</a:t>
            </a:r>
            <a:r>
              <a:rPr lang="en-GB" dirty="0"/>
              <a:t> </a:t>
            </a:r>
          </a:p>
        </p:txBody>
      </p:sp>
      <p:pic>
        <p:nvPicPr>
          <p:cNvPr id="85" name="Picture 84">
            <a:extLst>
              <a:ext uri="{FF2B5EF4-FFF2-40B4-BE49-F238E27FC236}">
                <a16:creationId xmlns:a16="http://schemas.microsoft.com/office/drawing/2014/main" id="{A06D371A-E731-7243-C011-01F637273F50}"/>
              </a:ext>
            </a:extLst>
          </p:cNvPr>
          <p:cNvPicPr>
            <a:picLocks noChangeAspect="1"/>
          </p:cNvPicPr>
          <p:nvPr/>
        </p:nvPicPr>
        <p:blipFill>
          <a:blip r:embed="rId3"/>
          <a:stretch>
            <a:fillRect/>
          </a:stretch>
        </p:blipFill>
        <p:spPr>
          <a:xfrm>
            <a:off x="2848038" y="1678909"/>
            <a:ext cx="6495923" cy="5120605"/>
          </a:xfrm>
          <a:prstGeom prst="rect">
            <a:avLst/>
          </a:prstGeom>
          <a:solidFill>
            <a:schemeClr val="bg1"/>
          </a:solidFill>
        </p:spPr>
      </p:pic>
      <p:sp>
        <p:nvSpPr>
          <p:cNvPr id="86" name="Text Box 38">
            <a:extLst>
              <a:ext uri="{FF2B5EF4-FFF2-40B4-BE49-F238E27FC236}">
                <a16:creationId xmlns:a16="http://schemas.microsoft.com/office/drawing/2014/main" id="{546D5B17-15C5-9BFE-2A8F-C557A6B96FB8}"/>
              </a:ext>
            </a:extLst>
          </p:cNvPr>
          <p:cNvSpPr txBox="1">
            <a:spLocks noChangeArrowheads="1"/>
          </p:cNvSpPr>
          <p:nvPr/>
        </p:nvSpPr>
        <p:spPr bwMode="auto">
          <a:xfrm>
            <a:off x="9491663" y="4195180"/>
            <a:ext cx="2700337" cy="831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ltLang="en-US" sz="2400" b="1" dirty="0">
                <a:solidFill>
                  <a:srgbClr val="FF0000"/>
                </a:solidFill>
                <a:cs typeface="Arial" charset="0"/>
              </a:rPr>
              <a:t>Easy to cause muscle damage</a:t>
            </a:r>
          </a:p>
        </p:txBody>
      </p:sp>
    </p:spTree>
    <p:extLst>
      <p:ext uri="{BB962C8B-B14F-4D97-AF65-F5344CB8AC3E}">
        <p14:creationId xmlns:p14="http://schemas.microsoft.com/office/powerpoint/2010/main" val="253768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Twitch contraction</a:t>
            </a:r>
          </a:p>
        </p:txBody>
      </p:sp>
      <p:pic>
        <p:nvPicPr>
          <p:cNvPr id="5" name="Picture 7" descr="Figure_12_12_L.jpg                                             000067D1&#10;SG_for_Kym                     C1CA77B7:">
            <a:extLst>
              <a:ext uri="{FF2B5EF4-FFF2-40B4-BE49-F238E27FC236}">
                <a16:creationId xmlns:a16="http://schemas.microsoft.com/office/drawing/2014/main" id="{EA5BE3E3-152C-36A8-7112-FE4497EEC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65" r="893" b="6540"/>
          <a:stretch>
            <a:fillRect/>
          </a:stretch>
        </p:blipFill>
        <p:spPr bwMode="auto">
          <a:xfrm>
            <a:off x="1725136" y="1550573"/>
            <a:ext cx="8741728" cy="5118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9277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Frequency and Summation</a:t>
            </a:r>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200" y="1854533"/>
            <a:ext cx="7279106" cy="4638341"/>
          </a:xfrm>
        </p:spPr>
        <p:txBody>
          <a:bodyPr>
            <a:normAutofit/>
          </a:bodyPr>
          <a:lstStyle/>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Action potential: </a:t>
            </a:r>
            <a:r>
              <a:rPr lang="en-US" sz="2400" kern="0" dirty="0">
                <a:solidFill>
                  <a:srgbClr val="00FDFF"/>
                </a:solidFill>
                <a:cs typeface="Arial" pitchFamily="34" charset="0"/>
              </a:rPr>
              <a:t>2 </a:t>
            </a:r>
            <a:r>
              <a:rPr lang="en-US" sz="2400" kern="0" dirty="0" err="1">
                <a:solidFill>
                  <a:srgbClr val="00FDFF"/>
                </a:solidFill>
                <a:cs typeface="Arial" pitchFamily="34" charset="0"/>
              </a:rPr>
              <a:t>ms</a:t>
            </a:r>
            <a:endParaRPr lang="en-US" sz="2400" kern="0" dirty="0">
              <a:solidFill>
                <a:srgbClr val="00FDFF"/>
              </a:solidFill>
              <a:cs typeface="Arial" pitchFamily="34" charset="0"/>
            </a:endParaRP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Contraction: </a:t>
            </a:r>
            <a:r>
              <a:rPr lang="en-US" sz="2400" kern="0" dirty="0">
                <a:solidFill>
                  <a:srgbClr val="00FDFF"/>
                </a:solidFill>
                <a:cs typeface="Arial" pitchFamily="34" charset="0"/>
              </a:rPr>
              <a:t>10–200 </a:t>
            </a:r>
            <a:r>
              <a:rPr lang="en-US" sz="2400" kern="0" dirty="0" err="1">
                <a:solidFill>
                  <a:srgbClr val="00FDFF"/>
                </a:solidFill>
                <a:cs typeface="Arial" pitchFamily="34" charset="0"/>
              </a:rPr>
              <a:t>ms</a:t>
            </a:r>
            <a:r>
              <a:rPr lang="en-US" sz="2400" kern="0" dirty="0">
                <a:cs typeface="Arial" pitchFamily="34" charset="0"/>
              </a:rPr>
              <a:t>, possible to summate</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Tension (force) depends on [</a:t>
            </a:r>
            <a:r>
              <a:rPr lang="en-US" sz="2400" kern="0" dirty="0">
                <a:cs typeface="Arial" pitchFamily="34" charset="0"/>
                <a:sym typeface="Symbol"/>
              </a:rPr>
              <a:t>Ca</a:t>
            </a:r>
            <a:r>
              <a:rPr lang="en-US" sz="2400" kern="0" baseline="30000" dirty="0">
                <a:cs typeface="Arial" pitchFamily="34" charset="0"/>
                <a:sym typeface="Symbol"/>
              </a:rPr>
              <a:t>2+</a:t>
            </a:r>
            <a:r>
              <a:rPr lang="en-US" sz="2400" kern="0" dirty="0">
                <a:cs typeface="Arial" pitchFamily="34" charset="0"/>
              </a:rPr>
              <a:t>]</a:t>
            </a:r>
            <a:r>
              <a:rPr lang="en-US" sz="2400" kern="0" baseline="-25000" dirty="0" err="1">
                <a:cs typeface="Arial" pitchFamily="34" charset="0"/>
              </a:rPr>
              <a:t>i</a:t>
            </a:r>
            <a:endParaRPr lang="en-US" sz="2400" kern="0" baseline="-25000" dirty="0">
              <a:cs typeface="Arial" pitchFamily="34" charset="0"/>
            </a:endParaRP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rPr>
              <a:t>Freq. of stim.</a:t>
            </a:r>
            <a:r>
              <a:rPr lang="en-US" sz="2400" kern="0" dirty="0">
                <a:cs typeface="Arial" pitchFamily="34" charset="0"/>
                <a:sym typeface="Symbol"/>
              </a:rPr>
              <a:t>, Ca</a:t>
            </a:r>
            <a:r>
              <a:rPr lang="en-US" sz="2400" kern="0" baseline="30000" dirty="0">
                <a:cs typeface="Arial" pitchFamily="34" charset="0"/>
                <a:sym typeface="Symbol"/>
              </a:rPr>
              <a:t>2+</a:t>
            </a:r>
            <a:r>
              <a:rPr lang="en-US" sz="2400" kern="0" dirty="0">
                <a:cs typeface="Arial" pitchFamily="34" charset="0"/>
                <a:sym typeface="Symbol"/>
              </a:rPr>
              <a:t> release&gt;uptake, </a:t>
            </a:r>
            <a:r>
              <a:rPr lang="en-US" sz="2400" kern="0" dirty="0">
                <a:cs typeface="Arial" pitchFamily="34" charset="0"/>
              </a:rPr>
              <a:t>[</a:t>
            </a:r>
            <a:r>
              <a:rPr lang="en-US" sz="2400" kern="0" dirty="0">
                <a:cs typeface="Arial" pitchFamily="34" charset="0"/>
                <a:sym typeface="Symbol"/>
              </a:rPr>
              <a:t>Ca</a:t>
            </a:r>
            <a:r>
              <a:rPr lang="en-US" sz="2400" kern="0" baseline="30000" dirty="0">
                <a:cs typeface="Arial" pitchFamily="34" charset="0"/>
                <a:sym typeface="Symbol"/>
              </a:rPr>
              <a:t>2+</a:t>
            </a:r>
            <a:r>
              <a:rPr lang="en-US" sz="2400" kern="0" dirty="0">
                <a:cs typeface="Arial" pitchFamily="34" charset="0"/>
              </a:rPr>
              <a:t>]</a:t>
            </a:r>
            <a:r>
              <a:rPr lang="en-US" sz="2400" kern="0" baseline="-25000" dirty="0" err="1">
                <a:cs typeface="Arial" pitchFamily="34" charset="0"/>
              </a:rPr>
              <a:t>i</a:t>
            </a:r>
            <a:r>
              <a:rPr lang="en-US" sz="2400" kern="0" dirty="0">
                <a:cs typeface="Arial" pitchFamily="34" charset="0"/>
                <a:sym typeface="Symbol"/>
              </a:rPr>
              <a:t></a:t>
            </a:r>
          </a:p>
          <a:p>
            <a:pPr marL="457200" lvl="1" indent="-457200" fontAlgn="auto">
              <a:spcBef>
                <a:spcPts val="1200"/>
              </a:spcBef>
              <a:spcAft>
                <a:spcPts val="600"/>
              </a:spcAft>
              <a:buFont typeface="Arial" panose="020B0604020202020204" pitchFamily="34" charset="0"/>
              <a:buChar char="•"/>
              <a:defRPr/>
            </a:pPr>
            <a:r>
              <a:rPr lang="en-US" sz="2400" kern="0" dirty="0">
                <a:cs typeface="Arial" pitchFamily="34" charset="0"/>
                <a:sym typeface="Symbol"/>
              </a:rPr>
              <a:t>When the system is saturated (all troponin bind with Ca</a:t>
            </a:r>
            <a:r>
              <a:rPr lang="en-US" sz="2400" kern="0" baseline="30000" dirty="0">
                <a:cs typeface="Arial" pitchFamily="34" charset="0"/>
                <a:sym typeface="Symbol"/>
              </a:rPr>
              <a:t>2+</a:t>
            </a:r>
            <a:r>
              <a:rPr lang="en-US" sz="2400" kern="0" dirty="0">
                <a:cs typeface="Arial" pitchFamily="34" charset="0"/>
                <a:sym typeface="Symbol"/>
              </a:rPr>
              <a:t> and cross-bridge cycling maxed out) – </a:t>
            </a:r>
            <a:r>
              <a:rPr lang="en-US" sz="2400" b="1" kern="0" dirty="0">
                <a:cs typeface="Arial" pitchFamily="34" charset="0"/>
                <a:sym typeface="Symbol"/>
              </a:rPr>
              <a:t>tetanus</a:t>
            </a:r>
            <a:r>
              <a:rPr lang="en-US" sz="2400" kern="0" dirty="0">
                <a:cs typeface="Arial" pitchFamily="34" charset="0"/>
                <a:sym typeface="Symbol"/>
              </a:rPr>
              <a:t> (long lasting contraction)</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7066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fontAlgn="auto">
              <a:spcAft>
                <a:spcPts val="0"/>
              </a:spcAft>
              <a:defRPr/>
            </a:pPr>
            <a:r>
              <a:rPr lang="en-US" kern="0" dirty="0"/>
              <a:t>Frequency and Summation</a:t>
            </a:r>
          </a:p>
        </p:txBody>
      </p:sp>
      <p:pic>
        <p:nvPicPr>
          <p:cNvPr id="5" name="Picture 7" descr="Figure_12_17_L.jpg                                             000067D1&#10;SG_for_Kym                     C1CA77B7:">
            <a:extLst>
              <a:ext uri="{FF2B5EF4-FFF2-40B4-BE49-F238E27FC236}">
                <a16:creationId xmlns:a16="http://schemas.microsoft.com/office/drawing/2014/main" id="{5A11AB7E-4169-10E2-8342-54C306DC7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4532"/>
          <a:stretch>
            <a:fillRect/>
          </a:stretch>
        </p:blipFill>
        <p:spPr bwMode="auto">
          <a:xfrm>
            <a:off x="507368" y="2452245"/>
            <a:ext cx="11177263" cy="2889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9574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Types of muscle contraction</a:t>
            </a:r>
            <a:r>
              <a:rPr lang="en-GB" dirty="0"/>
              <a:t> </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199" y="1854534"/>
            <a:ext cx="7279105" cy="4351338"/>
          </a:xfrm>
        </p:spPr>
        <p:txBody>
          <a:bodyPr>
            <a:normAutofit fontScale="92500" lnSpcReduction="10000"/>
          </a:bodyPr>
          <a:lstStyle/>
          <a:p>
            <a:pPr marL="530225" lvl="1" indent="-530225">
              <a:spcBef>
                <a:spcPts val="1200"/>
              </a:spcBef>
              <a:spcAft>
                <a:spcPts val="600"/>
              </a:spcAft>
              <a:buFont typeface="Times" charset="0"/>
              <a:buAutoNum type="arabicPeriod"/>
            </a:pPr>
            <a:r>
              <a:rPr lang="en-US" altLang="en-US" sz="3200" kern="0" dirty="0">
                <a:cs typeface="Arial" charset="0"/>
              </a:rPr>
              <a:t>Isometric contraction</a:t>
            </a:r>
          </a:p>
          <a:p>
            <a:pPr marL="930275" lvl="2" indent="-530225">
              <a:spcBef>
                <a:spcPts val="600"/>
              </a:spcBef>
              <a:spcAft>
                <a:spcPts val="600"/>
              </a:spcAft>
              <a:buFont typeface="Wingdings" pitchFamily="2" charset="2"/>
              <a:buChar char="Ø"/>
            </a:pPr>
            <a:r>
              <a:rPr lang="en-US" altLang="en-US" sz="3200" kern="0" dirty="0">
                <a:cs typeface="Arial" charset="0"/>
              </a:rPr>
              <a:t>Muscle does not shorten</a:t>
            </a:r>
          </a:p>
          <a:p>
            <a:pPr marL="930275" lvl="2" indent="-530225">
              <a:spcBef>
                <a:spcPts val="600"/>
              </a:spcBef>
              <a:spcAft>
                <a:spcPts val="600"/>
              </a:spcAft>
              <a:buFont typeface="Wingdings" pitchFamily="2" charset="2"/>
              <a:buChar char="Ø"/>
            </a:pPr>
            <a:r>
              <a:rPr lang="en-US" altLang="en-US" sz="3200" kern="0" dirty="0">
                <a:cs typeface="Arial" charset="0"/>
              </a:rPr>
              <a:t>No work is done</a:t>
            </a:r>
          </a:p>
          <a:p>
            <a:pPr marL="930275" lvl="2" indent="-530225">
              <a:spcBef>
                <a:spcPts val="600"/>
              </a:spcBef>
              <a:spcAft>
                <a:spcPts val="600"/>
              </a:spcAft>
              <a:buFont typeface="Wingdings" pitchFamily="2" charset="2"/>
              <a:buChar char="Ø"/>
            </a:pPr>
            <a:r>
              <a:rPr lang="en-US" altLang="en-US" sz="3200" kern="0" dirty="0">
                <a:cs typeface="Arial" charset="0"/>
              </a:rPr>
              <a:t>Load &gt; tension</a:t>
            </a:r>
          </a:p>
          <a:p>
            <a:pPr marL="530225" lvl="1" indent="-530225">
              <a:spcBef>
                <a:spcPts val="600"/>
              </a:spcBef>
              <a:spcAft>
                <a:spcPts val="600"/>
              </a:spcAft>
              <a:buFont typeface="Times" charset="0"/>
              <a:buAutoNum type="arabicPeriod"/>
            </a:pPr>
            <a:r>
              <a:rPr lang="en-US" altLang="en-US" sz="3200" kern="0" dirty="0">
                <a:cs typeface="Arial" charset="0"/>
              </a:rPr>
              <a:t>Isotonic contraction</a:t>
            </a:r>
          </a:p>
          <a:p>
            <a:pPr marL="930275" lvl="2" indent="-530225">
              <a:spcBef>
                <a:spcPts val="600"/>
              </a:spcBef>
              <a:spcAft>
                <a:spcPts val="600"/>
              </a:spcAft>
              <a:buFont typeface="Wingdings" pitchFamily="2" charset="2"/>
              <a:buChar char="Ø"/>
            </a:pPr>
            <a:r>
              <a:rPr lang="en-US" altLang="en-US" sz="3200" kern="0" dirty="0">
                <a:cs typeface="Arial" charset="0"/>
              </a:rPr>
              <a:t>Constant force</a:t>
            </a:r>
          </a:p>
          <a:p>
            <a:pPr marL="930275" lvl="2" indent="-530225">
              <a:spcBef>
                <a:spcPts val="600"/>
              </a:spcBef>
              <a:spcAft>
                <a:spcPts val="600"/>
              </a:spcAft>
              <a:buFont typeface="Wingdings" pitchFamily="2" charset="2"/>
              <a:buChar char="Ø"/>
            </a:pPr>
            <a:r>
              <a:rPr lang="en-US" altLang="en-US" sz="3200" kern="0" dirty="0">
                <a:cs typeface="Arial" charset="0"/>
              </a:rPr>
              <a:t>Work is being done</a:t>
            </a:r>
          </a:p>
          <a:p>
            <a:pPr marL="930275" lvl="2" indent="-530225">
              <a:spcBef>
                <a:spcPts val="600"/>
              </a:spcBef>
              <a:spcAft>
                <a:spcPts val="600"/>
              </a:spcAft>
              <a:buFont typeface="Wingdings" pitchFamily="2" charset="2"/>
              <a:buChar char="Ø"/>
            </a:pPr>
            <a:r>
              <a:rPr lang="en-US" altLang="en-US" sz="3200" kern="0" dirty="0">
                <a:cs typeface="Arial" charset="0"/>
              </a:rPr>
              <a:t>Load &lt; tension</a:t>
            </a: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0470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Types of muscle contraction</a:t>
            </a:r>
            <a:r>
              <a:rPr lang="en-GB" dirty="0"/>
              <a:t> </a:t>
            </a:r>
          </a:p>
        </p:txBody>
      </p:sp>
      <p:pic>
        <p:nvPicPr>
          <p:cNvPr id="5" name="Picture 8" descr="Figure_12_14_L.jpg                                             000067D1&#10;SG_for_Kym                     C1CA77B7:">
            <a:extLst>
              <a:ext uri="{FF2B5EF4-FFF2-40B4-BE49-F238E27FC236}">
                <a16:creationId xmlns:a16="http://schemas.microsoft.com/office/drawing/2014/main" id="{CC1A248E-B332-844B-DCAE-B12F08C97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15" b="4761"/>
          <a:stretch>
            <a:fillRect/>
          </a:stretch>
        </p:blipFill>
        <p:spPr bwMode="auto">
          <a:xfrm>
            <a:off x="2689119" y="1562351"/>
            <a:ext cx="6813761" cy="516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4079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516566"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Concentric vs. Eccentric contraction</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199" y="1825625"/>
            <a:ext cx="7792453" cy="4351338"/>
          </a:xfrm>
        </p:spPr>
        <p:txBody>
          <a:bodyPr>
            <a:normAutofit/>
          </a:bodyPr>
          <a:lstStyle/>
          <a:p>
            <a:pPr marL="357188" lvl="1" indent="-357188">
              <a:spcBef>
                <a:spcPts val="600"/>
              </a:spcBef>
              <a:spcAft>
                <a:spcPts val="600"/>
              </a:spcAft>
              <a:buFont typeface="Symbol" charset="2"/>
              <a:buChar char="·"/>
            </a:pPr>
            <a:r>
              <a:rPr lang="en-US" altLang="en-US" sz="3200" kern="0" dirty="0">
                <a:latin typeface="Calibri" panose="020F0502020204030204" pitchFamily="34" charset="0"/>
                <a:cs typeface="Calibri" panose="020F0502020204030204" pitchFamily="34" charset="0"/>
              </a:rPr>
              <a:t>Both involve changes in muscle length</a:t>
            </a:r>
          </a:p>
          <a:p>
            <a:pPr marL="357188" lvl="1" indent="-357188">
              <a:spcBef>
                <a:spcPts val="600"/>
              </a:spcBef>
              <a:spcAft>
                <a:spcPts val="600"/>
              </a:spcAft>
              <a:buFont typeface="Symbol" charset="2"/>
              <a:buChar char="·"/>
            </a:pPr>
            <a:r>
              <a:rPr lang="en-GB" altLang="en-US" sz="3200" kern="0" dirty="0">
                <a:latin typeface="Calibri" panose="020F0502020204030204" pitchFamily="34" charset="0"/>
                <a:cs typeface="Calibri" panose="020F0502020204030204" pitchFamily="34" charset="0"/>
              </a:rPr>
              <a:t>Concentric contraction: </a:t>
            </a:r>
          </a:p>
          <a:p>
            <a:pPr marL="757238" lvl="2" indent="-357188">
              <a:spcBef>
                <a:spcPts val="600"/>
              </a:spcBef>
              <a:spcAft>
                <a:spcPts val="600"/>
              </a:spcAft>
              <a:buFont typeface="Symbol" charset="2"/>
              <a:buChar char="·"/>
            </a:pPr>
            <a:r>
              <a:rPr lang="en-GB" altLang="en-US" kern="0" dirty="0">
                <a:latin typeface="Calibri" panose="020F0502020204030204" pitchFamily="34" charset="0"/>
                <a:cs typeface="Calibri" panose="020F0502020204030204" pitchFamily="34" charset="0"/>
              </a:rPr>
              <a:t>The muscle contracts and shortens (does work)</a:t>
            </a:r>
          </a:p>
          <a:p>
            <a:pPr marL="449263" indent="-449263">
              <a:spcBef>
                <a:spcPts val="600"/>
              </a:spcBef>
              <a:spcAft>
                <a:spcPts val="600"/>
              </a:spcAft>
              <a:buFont typeface="Symbol" charset="2"/>
              <a:buChar char="·"/>
            </a:pPr>
            <a:r>
              <a:rPr lang="en-GB" altLang="en-US" kern="0" dirty="0">
                <a:latin typeface="Calibri" panose="020F0502020204030204" pitchFamily="34" charset="0"/>
                <a:cs typeface="Calibri" panose="020F0502020204030204" pitchFamily="34" charset="0"/>
              </a:rPr>
              <a:t>Eccentric contraction:</a:t>
            </a:r>
          </a:p>
          <a:p>
            <a:pPr marL="849313" lvl="1" indent="-449263">
              <a:spcBef>
                <a:spcPts val="600"/>
              </a:spcBef>
              <a:spcAft>
                <a:spcPts val="600"/>
              </a:spcAft>
              <a:buFont typeface="Symbol" charset="2"/>
              <a:buChar char="·"/>
            </a:pPr>
            <a:r>
              <a:rPr lang="en-GB" altLang="en-US" kern="0" dirty="0">
                <a:latin typeface="Calibri" panose="020F0502020204030204" pitchFamily="34" charset="0"/>
                <a:cs typeface="Calibri" panose="020F0502020204030204" pitchFamily="34" charset="0"/>
              </a:rPr>
              <a:t>The muscle generates force as it lengthens absorb energy - puts the body in position to contract concentrically</a:t>
            </a:r>
          </a:p>
          <a:p>
            <a:pPr marL="449263" indent="-449263">
              <a:spcBef>
                <a:spcPts val="600"/>
              </a:spcBef>
              <a:spcAft>
                <a:spcPts val="600"/>
              </a:spcAft>
              <a:buFont typeface="Symbol" charset="2"/>
              <a:buChar char="·"/>
            </a:pPr>
            <a:r>
              <a:rPr lang="en-GB" altLang="en-US" kern="0" dirty="0">
                <a:latin typeface="Calibri" panose="020F0502020204030204" pitchFamily="34" charset="0"/>
                <a:cs typeface="Calibri" panose="020F0502020204030204" pitchFamily="34" charset="0"/>
              </a:rPr>
              <a:t>Quadriceps in squat:</a:t>
            </a:r>
          </a:p>
          <a:p>
            <a:pPr marL="849313" lvl="1" indent="-449263">
              <a:spcBef>
                <a:spcPts val="600"/>
              </a:spcBef>
              <a:spcAft>
                <a:spcPts val="600"/>
              </a:spcAft>
              <a:buFont typeface="Symbol" charset="2"/>
              <a:buChar char="·"/>
            </a:pPr>
            <a:r>
              <a:rPr lang="en-GB" altLang="en-US" kern="0" dirty="0">
                <a:latin typeface="Calibri" panose="020F0502020204030204" pitchFamily="34" charset="0"/>
                <a:cs typeface="Calibri" panose="020F0502020204030204" pitchFamily="34" charset="0"/>
              </a:rPr>
              <a:t>eccentric – isometric – concentric</a:t>
            </a:r>
            <a:endParaRPr lang="en-US" altLang="en-US" kern="0" dirty="0">
              <a:latin typeface="Calibri" panose="020F0502020204030204" pitchFamily="34" charset="0"/>
              <a:cs typeface="Calibri" panose="020F0502020204030204" pitchFamily="34" charset="0"/>
            </a:endParaRPr>
          </a:p>
          <a:p>
            <a:endParaRPr lang="en-GB"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2372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defRPr/>
            </a:pPr>
            <a:r>
              <a:rPr lang="en-US" kern="0" dirty="0"/>
              <a:t>Measurement Methods</a:t>
            </a:r>
          </a:p>
        </p:txBody>
      </p:sp>
      <p:sp>
        <p:nvSpPr>
          <p:cNvPr id="3" name="Subtitle 2">
            <a:extLst>
              <a:ext uri="{FF2B5EF4-FFF2-40B4-BE49-F238E27FC236}">
                <a16:creationId xmlns:a16="http://schemas.microsoft.com/office/drawing/2014/main" id="{BF8A635A-2BCB-1C98-47A3-76D41CC4CF22}"/>
              </a:ext>
            </a:extLst>
          </p:cNvPr>
          <p:cNvSpPr>
            <a:spLocks noGrp="1"/>
          </p:cNvSpPr>
          <p:nvPr>
            <p:ph idx="1"/>
          </p:nvPr>
        </p:nvSpPr>
        <p:spPr>
          <a:xfrm>
            <a:off x="838200" y="1972930"/>
            <a:ext cx="7632031" cy="4519945"/>
          </a:xfrm>
        </p:spPr>
        <p:txBody>
          <a:bodyPr>
            <a:normAutofit/>
          </a:bodyPr>
          <a:lstStyle/>
          <a:p>
            <a:pPr algn="l">
              <a:buFont typeface="+mj-lt"/>
              <a:buAutoNum type="arabicPeriod"/>
            </a:pPr>
            <a:r>
              <a:rPr lang="en-GB" i="0" u="none" strike="noStrike" dirty="0">
                <a:effectLst/>
                <a:latin typeface="Calibri" panose="020F0502020204030204" pitchFamily="34" charset="0"/>
                <a:cs typeface="Calibri" panose="020F0502020204030204" pitchFamily="34" charset="0"/>
              </a:rPr>
              <a:t> Isometric Muscle Strength Testing</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Isokinetic Muscle Testing</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Handheld Dynamometry</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Manual Muscle Testing (MMT)</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Electromyography (EMG)</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Muscle Biopsy</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Ultrasound Imaging</a:t>
            </a:r>
          </a:p>
          <a:p>
            <a:pPr algn="l">
              <a:buFont typeface="+mj-lt"/>
              <a:buAutoNum type="arabicPeriod"/>
            </a:pPr>
            <a:r>
              <a:rPr lang="en-GB" i="0" u="none" strike="noStrike" dirty="0">
                <a:effectLst/>
                <a:latin typeface="Calibri" panose="020F0502020204030204" pitchFamily="34" charset="0"/>
                <a:cs typeface="Calibri" panose="020F0502020204030204" pitchFamily="34" charset="0"/>
              </a:rPr>
              <a:t> Force Plate Analysis</a:t>
            </a:r>
          </a:p>
        </p:txBody>
      </p:sp>
    </p:spTree>
    <p:extLst>
      <p:ext uri="{BB962C8B-B14F-4D97-AF65-F5344CB8AC3E}">
        <p14:creationId xmlns:p14="http://schemas.microsoft.com/office/powerpoint/2010/main" val="844918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The Motor Unit</a:t>
            </a:r>
            <a:endParaRPr lang="en-GB" dirty="0"/>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199" y="1854534"/>
            <a:ext cx="5314187" cy="4113130"/>
          </a:xfrm>
        </p:spPr>
        <p:txBody>
          <a:bodyPr>
            <a:normAutofit fontScale="70000" lnSpcReduction="20000"/>
          </a:bodyPr>
          <a:lstStyle/>
          <a:p>
            <a:pPr marL="457200" lvl="1" indent="-457200">
              <a:lnSpc>
                <a:spcPct val="120000"/>
              </a:lnSpc>
              <a:spcBef>
                <a:spcPts val="1200"/>
              </a:spcBef>
              <a:spcAft>
                <a:spcPts val="1200"/>
              </a:spcAft>
            </a:pPr>
            <a:r>
              <a:rPr lang="en-US" altLang="en-US" sz="3200" kern="0" dirty="0">
                <a:cs typeface="Arial" charset="0"/>
              </a:rPr>
              <a:t>One motor neuron innervates many </a:t>
            </a:r>
            <a:r>
              <a:rPr lang="en-US" altLang="en-US" sz="3200" kern="0" dirty="0" err="1">
                <a:cs typeface="Arial" charset="0"/>
              </a:rPr>
              <a:t>fibres</a:t>
            </a:r>
            <a:endParaRPr lang="en-US" altLang="en-US" sz="3200" kern="0" dirty="0">
              <a:cs typeface="Arial" charset="0"/>
            </a:endParaRPr>
          </a:p>
          <a:p>
            <a:pPr marL="457200" lvl="1" indent="-457200">
              <a:lnSpc>
                <a:spcPct val="120000"/>
              </a:lnSpc>
              <a:spcBef>
                <a:spcPts val="1200"/>
              </a:spcBef>
              <a:spcAft>
                <a:spcPts val="1200"/>
              </a:spcAft>
            </a:pPr>
            <a:r>
              <a:rPr lang="en-US" altLang="en-US" sz="3200" kern="0" dirty="0">
                <a:cs typeface="Arial" charset="0"/>
              </a:rPr>
              <a:t>One </a:t>
            </a:r>
            <a:r>
              <a:rPr lang="en-US" altLang="en-US" sz="3200" kern="0" dirty="0" err="1">
                <a:cs typeface="Arial" charset="0"/>
              </a:rPr>
              <a:t>fibre</a:t>
            </a:r>
            <a:r>
              <a:rPr lang="en-US" altLang="en-US" sz="3200" kern="0" dirty="0">
                <a:cs typeface="Arial" charset="0"/>
              </a:rPr>
              <a:t> innervated by only one neuron</a:t>
            </a:r>
          </a:p>
          <a:p>
            <a:pPr marL="457200" lvl="1" indent="-457200">
              <a:lnSpc>
                <a:spcPct val="120000"/>
              </a:lnSpc>
              <a:spcBef>
                <a:spcPts val="1200"/>
              </a:spcBef>
              <a:spcAft>
                <a:spcPts val="1200"/>
              </a:spcAft>
            </a:pPr>
            <a:r>
              <a:rPr lang="en-US" altLang="en-US" sz="3200" kern="0" dirty="0">
                <a:cs typeface="Arial" charset="0"/>
              </a:rPr>
              <a:t>Same type of </a:t>
            </a:r>
            <a:r>
              <a:rPr lang="en-US" altLang="en-US" sz="3200" kern="0" dirty="0" err="1">
                <a:cs typeface="Arial" charset="0"/>
              </a:rPr>
              <a:t>fibres</a:t>
            </a:r>
            <a:r>
              <a:rPr lang="en-US" altLang="en-US" sz="3200" kern="0" dirty="0">
                <a:cs typeface="Arial" charset="0"/>
              </a:rPr>
              <a:t> within the motor unit</a:t>
            </a:r>
          </a:p>
          <a:p>
            <a:pPr marL="457200" lvl="1" indent="-457200">
              <a:lnSpc>
                <a:spcPct val="120000"/>
              </a:lnSpc>
              <a:spcBef>
                <a:spcPts val="1200"/>
              </a:spcBef>
              <a:spcAft>
                <a:spcPts val="1200"/>
              </a:spcAft>
            </a:pPr>
            <a:r>
              <a:rPr lang="en-US" altLang="en-US" sz="3200" kern="0" dirty="0">
                <a:cs typeface="Arial" charset="0"/>
              </a:rPr>
              <a:t>All the muscle </a:t>
            </a:r>
            <a:r>
              <a:rPr lang="en-US" altLang="en-US" sz="3200" kern="0" dirty="0" err="1">
                <a:cs typeface="Arial" charset="0"/>
              </a:rPr>
              <a:t>fibres</a:t>
            </a:r>
            <a:r>
              <a:rPr lang="en-US" altLang="en-US" sz="3200" kern="0" dirty="0">
                <a:cs typeface="Arial" charset="0"/>
              </a:rPr>
              <a:t> in a motor unit will simultaneously contract when it “fires”</a:t>
            </a:r>
          </a:p>
        </p:txBody>
      </p:sp>
      <p:pic>
        <p:nvPicPr>
          <p:cNvPr id="3" name="object 12">
            <a:extLst>
              <a:ext uri="{FF2B5EF4-FFF2-40B4-BE49-F238E27FC236}">
                <a16:creationId xmlns:a16="http://schemas.microsoft.com/office/drawing/2014/main" id="{447BC255-1107-5928-1DD0-695831D456E7}"/>
              </a:ext>
            </a:extLst>
          </p:cNvPr>
          <p:cNvPicPr/>
          <p:nvPr/>
        </p:nvPicPr>
        <p:blipFill>
          <a:blip r:embed="rId3" cstate="print"/>
          <a:stretch>
            <a:fillRect/>
          </a:stretch>
        </p:blipFill>
        <p:spPr>
          <a:xfrm>
            <a:off x="6248480" y="1854533"/>
            <a:ext cx="5314187" cy="3998975"/>
          </a:xfrm>
          <a:prstGeom prst="rect">
            <a:avLst/>
          </a:prstGeom>
        </p:spPr>
      </p:pic>
      <p:sp>
        <p:nvSpPr>
          <p:cNvPr id="4" name="TextBox 3">
            <a:extLst>
              <a:ext uri="{FF2B5EF4-FFF2-40B4-BE49-F238E27FC236}">
                <a16:creationId xmlns:a16="http://schemas.microsoft.com/office/drawing/2014/main" id="{95197C58-044B-5FCD-14B0-7FA5637405DF}"/>
              </a:ext>
            </a:extLst>
          </p:cNvPr>
          <p:cNvSpPr txBox="1"/>
          <p:nvPr/>
        </p:nvSpPr>
        <p:spPr>
          <a:xfrm>
            <a:off x="1453703" y="6148028"/>
            <a:ext cx="9284593" cy="461665"/>
          </a:xfrm>
          <a:prstGeom prst="rect">
            <a:avLst/>
          </a:prstGeom>
          <a:noFill/>
        </p:spPr>
        <p:txBody>
          <a:bodyPr wrap="none" rtlCol="0">
            <a:spAutoFit/>
          </a:bodyPr>
          <a:lstStyle/>
          <a:p>
            <a:r>
              <a:rPr lang="en-US" sz="2400" dirty="0">
                <a:solidFill>
                  <a:schemeClr val="bg1"/>
                </a:solidFill>
              </a:rPr>
              <a:t>A motor unit is a motoneuron axon and all the muscle </a:t>
            </a:r>
            <a:r>
              <a:rPr lang="en-US" sz="2400" dirty="0" err="1">
                <a:solidFill>
                  <a:schemeClr val="bg1"/>
                </a:solidFill>
              </a:rPr>
              <a:t>fibres</a:t>
            </a:r>
            <a:r>
              <a:rPr lang="en-US" sz="2400" dirty="0">
                <a:solidFill>
                  <a:schemeClr val="bg1"/>
                </a:solidFill>
              </a:rPr>
              <a:t> it innervates</a:t>
            </a:r>
          </a:p>
        </p:txBody>
      </p:sp>
    </p:spTree>
    <p:extLst>
      <p:ext uri="{BB962C8B-B14F-4D97-AF65-F5344CB8AC3E}">
        <p14:creationId xmlns:p14="http://schemas.microsoft.com/office/powerpoint/2010/main" val="3521853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5361534"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kern="0" dirty="0"/>
              <a:t>Recruitment </a:t>
            </a:r>
            <a:endParaRPr lang="en-GB" dirty="0"/>
          </a:p>
        </p:txBody>
      </p:sp>
      <p:sp>
        <p:nvSpPr>
          <p:cNvPr id="7" name="Subtitle 2">
            <a:extLst>
              <a:ext uri="{FF2B5EF4-FFF2-40B4-BE49-F238E27FC236}">
                <a16:creationId xmlns:a16="http://schemas.microsoft.com/office/drawing/2014/main" id="{6C883721-863C-BF0A-6E6D-C35E38AFE1C8}"/>
              </a:ext>
            </a:extLst>
          </p:cNvPr>
          <p:cNvSpPr>
            <a:spLocks noGrp="1"/>
          </p:cNvSpPr>
          <p:nvPr>
            <p:ph idx="1"/>
          </p:nvPr>
        </p:nvSpPr>
        <p:spPr>
          <a:xfrm>
            <a:off x="838199" y="1854533"/>
            <a:ext cx="6372813" cy="4638341"/>
          </a:xfrm>
        </p:spPr>
        <p:txBody>
          <a:bodyPr>
            <a:normAutofit fontScale="85000" lnSpcReduction="10000"/>
          </a:bodyPr>
          <a:lstStyle/>
          <a:p>
            <a:pPr marL="457200" lvl="1" indent="-457200">
              <a:lnSpc>
                <a:spcPct val="120000"/>
              </a:lnSpc>
              <a:spcBef>
                <a:spcPts val="1200"/>
              </a:spcBef>
              <a:spcAft>
                <a:spcPts val="1200"/>
              </a:spcAft>
            </a:pPr>
            <a:r>
              <a:rPr lang="en-US" altLang="en-US" sz="3200" kern="0" dirty="0">
                <a:cs typeface="Arial" charset="0"/>
              </a:rPr>
              <a:t>MU recruitment occurs in a specific order according to </a:t>
            </a:r>
            <a:r>
              <a:rPr lang="en-US" altLang="en-US" sz="3200" kern="0" dirty="0" err="1">
                <a:cs typeface="Arial" charset="0"/>
              </a:rPr>
              <a:t>Henneman’s</a:t>
            </a:r>
            <a:r>
              <a:rPr lang="en-US" altLang="en-US" sz="3200" kern="0" dirty="0">
                <a:cs typeface="Arial" charset="0"/>
              </a:rPr>
              <a:t> size principle</a:t>
            </a:r>
          </a:p>
          <a:p>
            <a:pPr marL="457200" lvl="1" indent="-457200">
              <a:lnSpc>
                <a:spcPct val="120000"/>
              </a:lnSpc>
              <a:spcBef>
                <a:spcPts val="1200"/>
              </a:spcBef>
              <a:spcAft>
                <a:spcPts val="1200"/>
              </a:spcAft>
            </a:pPr>
            <a:r>
              <a:rPr lang="en-US" altLang="en-US" sz="3200" kern="0" dirty="0">
                <a:cs typeface="Arial" charset="0"/>
              </a:rPr>
              <a:t>Once one MU is activated, all </a:t>
            </a:r>
            <a:r>
              <a:rPr lang="en-US" altLang="en-US" sz="3200" kern="0" dirty="0" err="1">
                <a:cs typeface="Arial" charset="0"/>
              </a:rPr>
              <a:t>fibres</a:t>
            </a:r>
            <a:r>
              <a:rPr lang="en-US" altLang="en-US" sz="3200" kern="0" dirty="0">
                <a:cs typeface="Arial" charset="0"/>
              </a:rPr>
              <a:t> within the MU will contract maximally</a:t>
            </a:r>
          </a:p>
          <a:p>
            <a:pPr marL="457200" lvl="1" indent="-457200">
              <a:lnSpc>
                <a:spcPct val="120000"/>
              </a:lnSpc>
              <a:spcBef>
                <a:spcPts val="1200"/>
              </a:spcBef>
              <a:spcAft>
                <a:spcPts val="1200"/>
              </a:spcAft>
            </a:pPr>
            <a:r>
              <a:rPr lang="en-US" altLang="en-US" sz="3200" kern="0" dirty="0">
                <a:cs typeface="Arial" charset="0"/>
              </a:rPr>
              <a:t>Smallest MUs recruited first (type I)</a:t>
            </a:r>
          </a:p>
          <a:p>
            <a:pPr marL="457200" lvl="1" indent="-457200">
              <a:lnSpc>
                <a:spcPct val="120000"/>
              </a:lnSpc>
              <a:spcBef>
                <a:spcPts val="1200"/>
              </a:spcBef>
              <a:spcAft>
                <a:spcPts val="1200"/>
              </a:spcAft>
            </a:pPr>
            <a:r>
              <a:rPr lang="en-US" altLang="en-US" sz="3200" kern="0" dirty="0">
                <a:cs typeface="Arial" charset="0"/>
              </a:rPr>
              <a:t>Largest MUs recruited last (type II)</a:t>
            </a:r>
          </a:p>
          <a:p>
            <a:endParaRPr lang="en-GB" dirty="0">
              <a:effectLst/>
              <a:latin typeface="Calibri" panose="020F0502020204030204" pitchFamily="34" charset="0"/>
              <a:cs typeface="Calibri" panose="020F0502020204030204" pitchFamily="34" charset="0"/>
            </a:endParaRPr>
          </a:p>
        </p:txBody>
      </p:sp>
      <p:pic>
        <p:nvPicPr>
          <p:cNvPr id="93" name="Picture 92">
            <a:extLst>
              <a:ext uri="{FF2B5EF4-FFF2-40B4-BE49-F238E27FC236}">
                <a16:creationId xmlns:a16="http://schemas.microsoft.com/office/drawing/2014/main" id="{5EA1F845-CAD1-EEA3-B7DC-6C8DE2BB8D1B}"/>
              </a:ext>
            </a:extLst>
          </p:cNvPr>
          <p:cNvPicPr>
            <a:picLocks noChangeAspect="1"/>
          </p:cNvPicPr>
          <p:nvPr/>
        </p:nvPicPr>
        <p:blipFill>
          <a:blip r:embed="rId3"/>
          <a:stretch>
            <a:fillRect/>
          </a:stretch>
        </p:blipFill>
        <p:spPr>
          <a:xfrm>
            <a:off x="7211012" y="106742"/>
            <a:ext cx="4521200" cy="3530600"/>
          </a:xfrm>
          <a:prstGeom prst="rect">
            <a:avLst/>
          </a:prstGeom>
          <a:solidFill>
            <a:schemeClr val="bg1"/>
          </a:solidFill>
        </p:spPr>
      </p:pic>
      <p:grpSp>
        <p:nvGrpSpPr>
          <p:cNvPr id="94" name="object 15">
            <a:extLst>
              <a:ext uri="{FF2B5EF4-FFF2-40B4-BE49-F238E27FC236}">
                <a16:creationId xmlns:a16="http://schemas.microsoft.com/office/drawing/2014/main" id="{2173D88F-5498-BC16-E659-9E6DA80E9766}"/>
              </a:ext>
            </a:extLst>
          </p:cNvPr>
          <p:cNvGrpSpPr/>
          <p:nvPr/>
        </p:nvGrpSpPr>
        <p:grpSpPr>
          <a:xfrm>
            <a:off x="7519035" y="3769263"/>
            <a:ext cx="3834765" cy="2783205"/>
            <a:chOff x="499872" y="1783079"/>
            <a:chExt cx="3834765" cy="2783205"/>
          </a:xfrm>
        </p:grpSpPr>
        <p:pic>
          <p:nvPicPr>
            <p:cNvPr id="95" name="object 16">
              <a:extLst>
                <a:ext uri="{FF2B5EF4-FFF2-40B4-BE49-F238E27FC236}">
                  <a16:creationId xmlns:a16="http://schemas.microsoft.com/office/drawing/2014/main" id="{29C94B7F-5B41-3F84-39DA-AFB678BE9BEE}"/>
                </a:ext>
              </a:extLst>
            </p:cNvPr>
            <p:cNvPicPr/>
            <p:nvPr/>
          </p:nvPicPr>
          <p:blipFill>
            <a:blip r:embed="rId4" cstate="print"/>
            <a:stretch>
              <a:fillRect/>
            </a:stretch>
          </p:blipFill>
          <p:spPr>
            <a:xfrm>
              <a:off x="499872" y="1783079"/>
              <a:ext cx="3834383" cy="2782823"/>
            </a:xfrm>
            <a:prstGeom prst="rect">
              <a:avLst/>
            </a:prstGeom>
          </p:spPr>
        </p:pic>
        <p:pic>
          <p:nvPicPr>
            <p:cNvPr id="96" name="object 17">
              <a:extLst>
                <a:ext uri="{FF2B5EF4-FFF2-40B4-BE49-F238E27FC236}">
                  <a16:creationId xmlns:a16="http://schemas.microsoft.com/office/drawing/2014/main" id="{91E61473-90AF-A1E9-36BA-640E3ADF33B2}"/>
                </a:ext>
              </a:extLst>
            </p:cNvPr>
            <p:cNvPicPr/>
            <p:nvPr/>
          </p:nvPicPr>
          <p:blipFill>
            <a:blip r:embed="rId5" cstate="print"/>
            <a:stretch>
              <a:fillRect/>
            </a:stretch>
          </p:blipFill>
          <p:spPr>
            <a:xfrm>
              <a:off x="2349436" y="3951065"/>
              <a:ext cx="364617" cy="158686"/>
            </a:xfrm>
            <a:prstGeom prst="rect">
              <a:avLst/>
            </a:prstGeom>
          </p:spPr>
        </p:pic>
        <p:sp>
          <p:nvSpPr>
            <p:cNvPr id="97" name="object 18">
              <a:extLst>
                <a:ext uri="{FF2B5EF4-FFF2-40B4-BE49-F238E27FC236}">
                  <a16:creationId xmlns:a16="http://schemas.microsoft.com/office/drawing/2014/main" id="{8AC7F5FF-CDB6-EFE4-A9CD-23D012852ED9}"/>
                </a:ext>
              </a:extLst>
            </p:cNvPr>
            <p:cNvSpPr/>
            <p:nvPr/>
          </p:nvSpPr>
          <p:spPr>
            <a:xfrm>
              <a:off x="2784252" y="3949541"/>
              <a:ext cx="17145" cy="125730"/>
            </a:xfrm>
            <a:custGeom>
              <a:avLst/>
              <a:gdLst/>
              <a:ahLst/>
              <a:cxnLst/>
              <a:rect l="l" t="t" r="r" b="b"/>
              <a:pathLst>
                <a:path w="17144" h="125729">
                  <a:moveTo>
                    <a:pt x="15240" y="1524"/>
                  </a:moveTo>
                  <a:lnTo>
                    <a:pt x="3048" y="1524"/>
                  </a:lnTo>
                  <a:lnTo>
                    <a:pt x="4572" y="0"/>
                  </a:lnTo>
                  <a:lnTo>
                    <a:pt x="13716" y="0"/>
                  </a:lnTo>
                  <a:lnTo>
                    <a:pt x="15240" y="1524"/>
                  </a:lnTo>
                  <a:close/>
                </a:path>
                <a:path w="17144" h="125729">
                  <a:moveTo>
                    <a:pt x="16764" y="125158"/>
                  </a:moveTo>
                  <a:lnTo>
                    <a:pt x="1524" y="125158"/>
                  </a:lnTo>
                  <a:lnTo>
                    <a:pt x="1524" y="123634"/>
                  </a:lnTo>
                  <a:lnTo>
                    <a:pt x="0" y="123634"/>
                  </a:lnTo>
                  <a:lnTo>
                    <a:pt x="0" y="3048"/>
                  </a:lnTo>
                  <a:lnTo>
                    <a:pt x="1524" y="1524"/>
                  </a:lnTo>
                  <a:lnTo>
                    <a:pt x="16764" y="1524"/>
                  </a:lnTo>
                  <a:lnTo>
                    <a:pt x="16764" y="125158"/>
                  </a:lnTo>
                  <a:close/>
                </a:path>
              </a:pathLst>
            </a:custGeom>
            <a:solidFill>
              <a:srgbClr val="000000"/>
            </a:solidFill>
          </p:spPr>
          <p:txBody>
            <a:bodyPr wrap="square" lIns="0" tIns="0" rIns="0" bIns="0" rtlCol="0"/>
            <a:lstStyle/>
            <a:p>
              <a:endParaRPr/>
            </a:p>
          </p:txBody>
        </p:sp>
        <p:pic>
          <p:nvPicPr>
            <p:cNvPr id="98" name="object 19">
              <a:extLst>
                <a:ext uri="{FF2B5EF4-FFF2-40B4-BE49-F238E27FC236}">
                  <a16:creationId xmlns:a16="http://schemas.microsoft.com/office/drawing/2014/main" id="{74BCFDC0-08BB-4273-8378-0738D50C3BDE}"/>
                </a:ext>
              </a:extLst>
            </p:cNvPr>
            <p:cNvPicPr/>
            <p:nvPr/>
          </p:nvPicPr>
          <p:blipFill>
            <a:blip r:embed="rId6" cstate="print"/>
            <a:stretch>
              <a:fillRect/>
            </a:stretch>
          </p:blipFill>
          <p:spPr>
            <a:xfrm>
              <a:off x="2270093" y="3151092"/>
              <a:ext cx="364712" cy="159035"/>
            </a:xfrm>
            <a:prstGeom prst="rect">
              <a:avLst/>
            </a:prstGeom>
          </p:spPr>
        </p:pic>
        <p:sp>
          <p:nvSpPr>
            <p:cNvPr id="99" name="object 20">
              <a:extLst>
                <a:ext uri="{FF2B5EF4-FFF2-40B4-BE49-F238E27FC236}">
                  <a16:creationId xmlns:a16="http://schemas.microsoft.com/office/drawing/2014/main" id="{9B5B0DC7-AD3D-9A75-C8B6-FBE2809585F3}"/>
                </a:ext>
              </a:extLst>
            </p:cNvPr>
            <p:cNvSpPr/>
            <p:nvPr/>
          </p:nvSpPr>
          <p:spPr>
            <a:xfrm>
              <a:off x="2706433" y="3149828"/>
              <a:ext cx="66040" cy="125095"/>
            </a:xfrm>
            <a:custGeom>
              <a:avLst/>
              <a:gdLst/>
              <a:ahLst/>
              <a:cxnLst/>
              <a:rect l="l" t="t" r="r" b="b"/>
              <a:pathLst>
                <a:path w="66039" h="125095">
                  <a:moveTo>
                    <a:pt x="16852" y="2730"/>
                  </a:moveTo>
                  <a:lnTo>
                    <a:pt x="15328" y="2730"/>
                  </a:lnTo>
                  <a:lnTo>
                    <a:pt x="15328" y="1460"/>
                  </a:lnTo>
                  <a:lnTo>
                    <a:pt x="12204" y="1460"/>
                  </a:lnTo>
                  <a:lnTo>
                    <a:pt x="10668" y="0"/>
                  </a:lnTo>
                  <a:lnTo>
                    <a:pt x="6096" y="0"/>
                  </a:lnTo>
                  <a:lnTo>
                    <a:pt x="4635" y="1460"/>
                  </a:lnTo>
                  <a:lnTo>
                    <a:pt x="0" y="1460"/>
                  </a:lnTo>
                  <a:lnTo>
                    <a:pt x="0" y="2730"/>
                  </a:lnTo>
                  <a:lnTo>
                    <a:pt x="0" y="123380"/>
                  </a:lnTo>
                  <a:lnTo>
                    <a:pt x="0" y="124650"/>
                  </a:lnTo>
                  <a:lnTo>
                    <a:pt x="15328" y="124650"/>
                  </a:lnTo>
                  <a:lnTo>
                    <a:pt x="15328" y="123380"/>
                  </a:lnTo>
                  <a:lnTo>
                    <a:pt x="16852" y="123380"/>
                  </a:lnTo>
                  <a:lnTo>
                    <a:pt x="16852" y="2730"/>
                  </a:lnTo>
                  <a:close/>
                </a:path>
                <a:path w="66039" h="125095">
                  <a:moveTo>
                    <a:pt x="65620" y="2730"/>
                  </a:moveTo>
                  <a:lnTo>
                    <a:pt x="64096" y="2730"/>
                  </a:lnTo>
                  <a:lnTo>
                    <a:pt x="64096" y="1460"/>
                  </a:lnTo>
                  <a:lnTo>
                    <a:pt x="60972" y="1460"/>
                  </a:lnTo>
                  <a:lnTo>
                    <a:pt x="59423" y="0"/>
                  </a:lnTo>
                  <a:lnTo>
                    <a:pt x="54851" y="0"/>
                  </a:lnTo>
                  <a:lnTo>
                    <a:pt x="53390" y="1460"/>
                  </a:lnTo>
                  <a:lnTo>
                    <a:pt x="48755" y="1460"/>
                  </a:lnTo>
                  <a:lnTo>
                    <a:pt x="48755" y="2730"/>
                  </a:lnTo>
                  <a:lnTo>
                    <a:pt x="48755" y="123380"/>
                  </a:lnTo>
                  <a:lnTo>
                    <a:pt x="48755" y="124650"/>
                  </a:lnTo>
                  <a:lnTo>
                    <a:pt x="64096" y="124650"/>
                  </a:lnTo>
                  <a:lnTo>
                    <a:pt x="64096" y="123380"/>
                  </a:lnTo>
                  <a:lnTo>
                    <a:pt x="65620" y="123380"/>
                  </a:lnTo>
                  <a:lnTo>
                    <a:pt x="65620" y="2730"/>
                  </a:lnTo>
                  <a:close/>
                </a:path>
              </a:pathLst>
            </a:custGeom>
            <a:solidFill>
              <a:srgbClr val="000000"/>
            </a:solidFill>
          </p:spPr>
          <p:txBody>
            <a:bodyPr wrap="square" lIns="0" tIns="0" rIns="0" bIns="0" rtlCol="0"/>
            <a:lstStyle/>
            <a:p>
              <a:endParaRPr/>
            </a:p>
          </p:txBody>
        </p:sp>
        <p:pic>
          <p:nvPicPr>
            <p:cNvPr id="100" name="object 21">
              <a:extLst>
                <a:ext uri="{FF2B5EF4-FFF2-40B4-BE49-F238E27FC236}">
                  <a16:creationId xmlns:a16="http://schemas.microsoft.com/office/drawing/2014/main" id="{6EE19A0D-0526-A765-EBE0-72BC11C8353F}"/>
                </a:ext>
              </a:extLst>
            </p:cNvPr>
            <p:cNvPicPr/>
            <p:nvPr/>
          </p:nvPicPr>
          <p:blipFill>
            <a:blip r:embed="rId7" cstate="print"/>
            <a:stretch>
              <a:fillRect/>
            </a:stretch>
          </p:blipFill>
          <p:spPr>
            <a:xfrm>
              <a:off x="2796444" y="3181921"/>
              <a:ext cx="70199" cy="94583"/>
            </a:xfrm>
            <a:prstGeom prst="rect">
              <a:avLst/>
            </a:prstGeom>
          </p:spPr>
        </p:pic>
        <p:pic>
          <p:nvPicPr>
            <p:cNvPr id="101" name="object 22">
              <a:extLst>
                <a:ext uri="{FF2B5EF4-FFF2-40B4-BE49-F238E27FC236}">
                  <a16:creationId xmlns:a16="http://schemas.microsoft.com/office/drawing/2014/main" id="{88269062-DD1E-3D99-F12C-DF58B58A40AE}"/>
                </a:ext>
              </a:extLst>
            </p:cNvPr>
            <p:cNvPicPr/>
            <p:nvPr/>
          </p:nvPicPr>
          <p:blipFill>
            <a:blip r:embed="rId8" cstate="print"/>
            <a:stretch>
              <a:fillRect/>
            </a:stretch>
          </p:blipFill>
          <p:spPr>
            <a:xfrm>
              <a:off x="2270093" y="2119693"/>
              <a:ext cx="364712" cy="158686"/>
            </a:xfrm>
            <a:prstGeom prst="rect">
              <a:avLst/>
            </a:prstGeom>
          </p:spPr>
        </p:pic>
        <p:sp>
          <p:nvSpPr>
            <p:cNvPr id="102" name="object 23">
              <a:extLst>
                <a:ext uri="{FF2B5EF4-FFF2-40B4-BE49-F238E27FC236}">
                  <a16:creationId xmlns:a16="http://schemas.microsoft.com/office/drawing/2014/main" id="{8DAC371C-8076-3A87-2296-629272E176FA}"/>
                </a:ext>
              </a:extLst>
            </p:cNvPr>
            <p:cNvSpPr/>
            <p:nvPr/>
          </p:nvSpPr>
          <p:spPr>
            <a:xfrm>
              <a:off x="2706433" y="2119896"/>
              <a:ext cx="17145" cy="125095"/>
            </a:xfrm>
            <a:custGeom>
              <a:avLst/>
              <a:gdLst/>
              <a:ahLst/>
              <a:cxnLst/>
              <a:rect l="l" t="t" r="r" b="b"/>
              <a:pathLst>
                <a:path w="17144" h="125094">
                  <a:moveTo>
                    <a:pt x="12280" y="123444"/>
                  </a:moveTo>
                  <a:lnTo>
                    <a:pt x="4572" y="123444"/>
                  </a:lnTo>
                  <a:lnTo>
                    <a:pt x="4572" y="124968"/>
                  </a:lnTo>
                  <a:lnTo>
                    <a:pt x="10668" y="124968"/>
                  </a:lnTo>
                  <a:lnTo>
                    <a:pt x="12280" y="123444"/>
                  </a:lnTo>
                  <a:close/>
                </a:path>
                <a:path w="17144" h="125094">
                  <a:moveTo>
                    <a:pt x="16852" y="1270"/>
                  </a:moveTo>
                  <a:lnTo>
                    <a:pt x="15328" y="1270"/>
                  </a:lnTo>
                  <a:lnTo>
                    <a:pt x="15328" y="0"/>
                  </a:lnTo>
                  <a:lnTo>
                    <a:pt x="0" y="0"/>
                  </a:lnTo>
                  <a:lnTo>
                    <a:pt x="0" y="1270"/>
                  </a:lnTo>
                  <a:lnTo>
                    <a:pt x="0" y="121920"/>
                  </a:lnTo>
                  <a:lnTo>
                    <a:pt x="0" y="123190"/>
                  </a:lnTo>
                  <a:lnTo>
                    <a:pt x="16217" y="123190"/>
                  </a:lnTo>
                  <a:lnTo>
                    <a:pt x="16217" y="121920"/>
                  </a:lnTo>
                  <a:lnTo>
                    <a:pt x="16852" y="121920"/>
                  </a:lnTo>
                  <a:lnTo>
                    <a:pt x="16852" y="1270"/>
                  </a:lnTo>
                  <a:close/>
                </a:path>
              </a:pathLst>
            </a:custGeom>
            <a:solidFill>
              <a:srgbClr val="000000"/>
            </a:solidFill>
          </p:spPr>
          <p:txBody>
            <a:bodyPr wrap="square" lIns="0" tIns="0" rIns="0" bIns="0" rtlCol="0"/>
            <a:lstStyle/>
            <a:p>
              <a:endParaRPr/>
            </a:p>
          </p:txBody>
        </p:sp>
        <p:pic>
          <p:nvPicPr>
            <p:cNvPr id="103" name="object 24">
              <a:extLst>
                <a:ext uri="{FF2B5EF4-FFF2-40B4-BE49-F238E27FC236}">
                  <a16:creationId xmlns:a16="http://schemas.microsoft.com/office/drawing/2014/main" id="{FDC11390-3781-FFC6-A6E4-5D660D88DC0E}"/>
                </a:ext>
              </a:extLst>
            </p:cNvPr>
            <p:cNvPicPr/>
            <p:nvPr/>
          </p:nvPicPr>
          <p:blipFill>
            <a:blip r:embed="rId9" cstate="print"/>
            <a:stretch>
              <a:fillRect/>
            </a:stretch>
          </p:blipFill>
          <p:spPr>
            <a:xfrm>
              <a:off x="2755201" y="2119883"/>
              <a:ext cx="112966" cy="124968"/>
            </a:xfrm>
            <a:prstGeom prst="rect">
              <a:avLst/>
            </a:prstGeom>
          </p:spPr>
        </p:pic>
      </p:grpSp>
    </p:spTree>
    <p:extLst>
      <p:ext uri="{BB962C8B-B14F-4D97-AF65-F5344CB8AC3E}">
        <p14:creationId xmlns:p14="http://schemas.microsoft.com/office/powerpoint/2010/main" val="651793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68374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a:defRPr/>
            </a:pPr>
            <a:r>
              <a:rPr lang="en-US" kern="0" dirty="0"/>
              <a:t>Just to get this right…</a:t>
            </a:r>
          </a:p>
        </p:txBody>
      </p:sp>
      <p:pic>
        <p:nvPicPr>
          <p:cNvPr id="3" name="Picture 2">
            <a:extLst>
              <a:ext uri="{FF2B5EF4-FFF2-40B4-BE49-F238E27FC236}">
                <a16:creationId xmlns:a16="http://schemas.microsoft.com/office/drawing/2014/main" id="{82642E96-C721-4FDC-068E-0D99B95FB8DA}"/>
              </a:ext>
            </a:extLst>
          </p:cNvPr>
          <p:cNvPicPr>
            <a:picLocks noChangeAspect="1"/>
          </p:cNvPicPr>
          <p:nvPr/>
        </p:nvPicPr>
        <p:blipFill>
          <a:blip r:embed="rId3"/>
          <a:stretch>
            <a:fillRect/>
          </a:stretch>
        </p:blipFill>
        <p:spPr>
          <a:xfrm>
            <a:off x="10296" y="0"/>
            <a:ext cx="12192000" cy="6858000"/>
          </a:xfrm>
          <a:prstGeom prst="rect">
            <a:avLst/>
          </a:prstGeom>
        </p:spPr>
      </p:pic>
      <p:pic>
        <p:nvPicPr>
          <p:cNvPr id="4" name="Picture 3">
            <a:extLst>
              <a:ext uri="{FF2B5EF4-FFF2-40B4-BE49-F238E27FC236}">
                <a16:creationId xmlns:a16="http://schemas.microsoft.com/office/drawing/2014/main" id="{E2D0B530-C279-CB0C-C7E8-A96B8A2C802F}"/>
              </a:ext>
            </a:extLst>
          </p:cNvPr>
          <p:cNvPicPr>
            <a:picLocks noChangeAspect="1"/>
          </p:cNvPicPr>
          <p:nvPr/>
        </p:nvPicPr>
        <p:blipFill rotWithShape="1">
          <a:blip r:embed="rId4"/>
          <a:srcRect l="49999" t="64795" r="7664" b="14931"/>
          <a:stretch/>
        </p:blipFill>
        <p:spPr>
          <a:xfrm>
            <a:off x="1045029" y="2338055"/>
            <a:ext cx="5177785" cy="3258683"/>
          </a:xfrm>
          <a:prstGeom prst="rect">
            <a:avLst/>
          </a:prstGeom>
          <a:solidFill>
            <a:schemeClr val="bg1"/>
          </a:solidFill>
        </p:spPr>
      </p:pic>
    </p:spTree>
    <p:extLst>
      <p:ext uri="{BB962C8B-B14F-4D97-AF65-F5344CB8AC3E}">
        <p14:creationId xmlns:p14="http://schemas.microsoft.com/office/powerpoint/2010/main" val="191304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
            <a:extLst>
              <a:ext uri="{FF2B5EF4-FFF2-40B4-BE49-F238E27FC236}">
                <a16:creationId xmlns:a16="http://schemas.microsoft.com/office/drawing/2014/main" id="{B1D9DF22-DC16-6340-82C8-1E5265F2AAA5}"/>
              </a:ext>
            </a:extLst>
          </p:cNvPr>
          <p:cNvSpPr/>
          <p:nvPr/>
        </p:nvSpPr>
        <p:spPr>
          <a:xfrm>
            <a:off x="477792" y="647367"/>
            <a:ext cx="4005308" cy="74930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Summary</a:t>
            </a:r>
          </a:p>
        </p:txBody>
      </p:sp>
      <p:sp>
        <p:nvSpPr>
          <p:cNvPr id="8" name="Subtitle 2">
            <a:extLst>
              <a:ext uri="{FF2B5EF4-FFF2-40B4-BE49-F238E27FC236}">
                <a16:creationId xmlns:a16="http://schemas.microsoft.com/office/drawing/2014/main" id="{5DDBEB07-995A-2546-9A74-65B63E6E719B}"/>
              </a:ext>
            </a:extLst>
          </p:cNvPr>
          <p:cNvSpPr>
            <a:spLocks noGrp="1"/>
          </p:cNvSpPr>
          <p:nvPr>
            <p:ph idx="1"/>
          </p:nvPr>
        </p:nvSpPr>
        <p:spPr>
          <a:xfrm>
            <a:off x="838200" y="1825625"/>
            <a:ext cx="7797800" cy="4351338"/>
          </a:xfrm>
        </p:spPr>
        <p:txBody>
          <a:bodyPr>
            <a:normAutofit/>
          </a:bodyPr>
          <a:lstStyle/>
          <a:p>
            <a:r>
              <a:rPr lang="en-GB" b="0" i="0" u="none" strike="noStrike" dirty="0">
                <a:effectLst/>
                <a:latin typeface="Calibri" panose="020F0502020204030204" pitchFamily="34" charset="0"/>
              </a:rPr>
              <a:t>See learning outcomes.</a:t>
            </a:r>
          </a:p>
        </p:txBody>
      </p:sp>
    </p:spTree>
    <p:extLst>
      <p:ext uri="{BB962C8B-B14F-4D97-AF65-F5344CB8AC3E}">
        <p14:creationId xmlns:p14="http://schemas.microsoft.com/office/powerpoint/2010/main" val="1331432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0</TotalTime>
  <Words>2735</Words>
  <Application>Microsoft Office PowerPoint</Application>
  <PresentationFormat>Widescreen</PresentationFormat>
  <Paragraphs>272</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Google Sans</vt:lpstr>
      <vt:lpstr>Söhne</vt:lpstr>
      <vt:lpstr>Symbol</vt:lpstr>
      <vt:lpstr>Times</vt:lpstr>
      <vt:lpstr>Wingdings</vt:lpstr>
      <vt:lpstr>Office Theme</vt:lpstr>
      <vt:lpstr>PowerPoint Presentation</vt:lpstr>
      <vt:lpstr>Learning Outcomes</vt:lpstr>
      <vt:lpstr>Structure </vt:lpstr>
      <vt:lpstr>Neuromuscular junction (NMJ)</vt:lpstr>
      <vt:lpstr>Neuromuscular junction (NMJ)</vt:lpstr>
      <vt:lpstr>Excitation-contraction coupling</vt:lpstr>
      <vt:lpstr>PowerPoint Presentation</vt:lpstr>
      <vt:lpstr>Striations </vt:lpstr>
      <vt:lpstr>Structure </vt:lpstr>
      <vt:lpstr>Striations </vt:lpstr>
      <vt:lpstr>Structure of a myofibril / sarcomere</vt:lpstr>
      <vt:lpstr>Myofilaments</vt:lpstr>
      <vt:lpstr>Myosin</vt:lpstr>
      <vt:lpstr>The crossbridge cycle</vt:lpstr>
      <vt:lpstr>The crossbridge cycle</vt:lpstr>
      <vt:lpstr>Sliding Filaments</vt:lpstr>
      <vt:lpstr>Sliding Filaments</vt:lpstr>
      <vt:lpstr>Length-Tension Relationship</vt:lpstr>
      <vt:lpstr>Length-Tension Relationship</vt:lpstr>
      <vt:lpstr>Twitch contraction</vt:lpstr>
      <vt:lpstr>Types of muscle contraction </vt:lpstr>
      <vt:lpstr>Twitch contraction</vt:lpstr>
      <vt:lpstr>Frequency and Summation</vt:lpstr>
      <vt:lpstr>Frequency and Summation</vt:lpstr>
      <vt:lpstr>Types of muscle contraction </vt:lpstr>
      <vt:lpstr>Types of muscle contraction </vt:lpstr>
      <vt:lpstr>Concentric vs. Eccentric contraction</vt:lpstr>
      <vt:lpstr>Measurement Methods</vt:lpstr>
      <vt:lpstr>The Motor Unit</vt:lpstr>
      <vt:lpstr>Recruitment </vt:lpstr>
      <vt:lpstr>Just to get this right…</vt:lpstr>
      <vt:lpstr>Summary</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Mia Preece</dc:creator>
  <cp:lastModifiedBy>Christopher Chamberlin</cp:lastModifiedBy>
  <cp:revision>313</cp:revision>
  <cp:lastPrinted>2020-09-20T10:37:08Z</cp:lastPrinted>
  <dcterms:created xsi:type="dcterms:W3CDTF">2017-09-08T13:51:42Z</dcterms:created>
  <dcterms:modified xsi:type="dcterms:W3CDTF">2024-10-09T15:58:06Z</dcterms:modified>
</cp:coreProperties>
</file>