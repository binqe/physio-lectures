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62" r:id="rId9"/>
    <p:sldId id="263" r:id="rId10"/>
    <p:sldId id="264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80" r:id="rId23"/>
    <p:sldId id="278" r:id="rId24"/>
    <p:sldId id="279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B905B-C067-4C26-9B16-B1119E931014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E9792-F373-48A0-A96D-4395267105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27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FE9792-F373-48A0-A96D-4395267105F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677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F950-E0E6-BAF6-BC8E-8F1C48241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78E30-3026-A653-1CE6-E2FB35D11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D1715-FECF-00E7-ECF4-F294DD94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46396-07CA-B814-BA63-FF8AFA897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4014B-AFF6-1A2C-14AF-0BC19BF0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89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5E87-A2CC-FF36-25F7-80DB25EB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E1B72-6B01-EEB3-CB29-895BA2BC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49F70-B9BF-A012-20E1-0E87AB50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9ADCA-75F2-BFF2-F818-074FF2D3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20180-3267-A51F-310F-5A93E12C0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6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4244-CFFD-8EF5-50EF-34E54537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EF4E8-93F5-8F9E-A02E-20BBA1ED9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3CF7F-DF1A-8C4B-78B8-6CBE8D458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9416-206B-6F91-38FD-B0A65F09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2F512-EA76-7E85-1608-735964C0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36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E88A-359E-DAD1-C308-08CB406C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B1E1B-7F0C-511E-0781-0276BC81F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6C662-0E6D-2934-E5A4-E05EC79EE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3F8DD-C476-219B-5A59-7FE8517D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D6EFC-22D0-022C-FCDA-98DC48BDA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FD424-F9A7-987F-B55F-6B4A2A76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66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9ABE-FA1C-EF20-2B54-EAEAF513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676E1-DD96-93AC-5BAC-5FC0C1D5F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6642B-3541-4F1B-E930-253548FBD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38F40-0583-1472-C7DB-3EE5F3FB2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D2749-2576-3259-A3D4-44A4C1FCB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662C3-703A-A397-EECF-09F4C221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520629-F968-0A0B-707B-88D48F86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D919E-A745-548A-D23B-11065327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86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DEDE-045D-9AB1-1C26-BFC8F61D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2ED73-B53F-427A-FFF4-71955EC7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64E7A-9833-42A4-0264-0B753A04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DC90E-5F42-3F9F-2FF9-3BEFD5FE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47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6E4F3-0267-1C7B-93A5-DD4518BD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2DC86-2C65-AB65-4777-674A7A11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8FEC9-74D6-C909-34D5-BEA566CC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57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62FE-9ADB-B4B7-6E5D-92D90DCE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4A0C-B09F-973B-5DA3-3D44E8807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C38CE-F38F-05CA-B08F-17F5410D8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198F0-93A2-7851-032E-84E45A54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FAF06-066E-A2E4-A4A1-8DD979E7C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1D7EC-FF98-27AA-04B1-1EE20BAE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94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0E4A-E985-F67F-48C1-E1CE688B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79AE8-FDAA-76D6-8F5A-DF8463840A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796C8-D285-A47B-D8B3-75AC80B2C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A54F6-20B3-E374-FC7D-2617BE356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29852-672C-B356-9131-DB50BBF3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FDC3-27EA-D73B-D5B1-BF3E03AC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788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8DEE-92D3-F283-67DC-2748922A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E3E3E-4659-F265-5B46-45D524B7B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24C53-8CE1-E1AB-86D3-C47D2985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41206-E547-3E18-90CD-B9C1D097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41B9C-86DC-AFF8-7167-69772CAD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31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C2555-7301-48A5-2997-FAF58DB8C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184C4-0B26-1D99-6D8A-341543DB5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D4B78-6BB1-6916-6CA9-F9AA7E3B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B4D4-050A-BB6E-34EF-8840301B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43798-2D3A-79DD-F4F2-49875326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15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452A7-1044-788E-3201-5FEAC76B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FAF18-FC7C-94F6-7105-AB0FDB35E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A0A6-CAAE-7D80-20A4-BEB67F1CF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9F5AA-213F-4AF2-90CB-B274F6652797}" type="datetimeFigureOut">
              <a:rPr lang="en-GB" smtClean="0"/>
              <a:t>05/10/2024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70B93-94BC-87ED-3AAC-9A8DA553C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27F6A-6003-E71E-8383-4F04AFE54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38AF5-1D78-4580-93B2-D0DF19B875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20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ysio-pedia.com/" TargetMode="External"/><Relationship Id="rId2" Type="http://schemas.openxmlformats.org/officeDocument/2006/relationships/hyperlink" Target="https://www.learnmuscle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habmypatien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0F147-EF83-2A71-9356-DAC42B093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9" b="1463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B98A4-E319-5036-A5D9-3894808CB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Muscles and Neurovascular Structures around the Hip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20EEF-3F44-1B33-19A6-250008CEF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</a:rPr>
              <a:t>Ngozi Onuegbu PhD</a:t>
            </a:r>
          </a:p>
          <a:p>
            <a:pPr algn="l"/>
            <a:r>
              <a:rPr lang="en-GB" sz="2000" dirty="0">
                <a:solidFill>
                  <a:schemeClr val="bg1"/>
                </a:solidFill>
              </a:rPr>
              <a:t>PT4050/PT7001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71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ADCCA5-EE04-A090-88CA-3E348619E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/>
              <a:t>Hip Joint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7AF9E-788A-FF8F-A40A-C8B758875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Type of joint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Ball-and-socket</a:t>
            </a:r>
          </a:p>
          <a:p>
            <a:pPr>
              <a:spcAft>
                <a:spcPts val="1000"/>
              </a:spcAft>
            </a:pP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Articulating surfaces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Acetabulum of the pelvis and head of the femur</a:t>
            </a:r>
          </a:p>
          <a:p>
            <a:pPr>
              <a:spcAft>
                <a:spcPts val="1000"/>
              </a:spcAft>
            </a:pP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Functions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Weight-bearing, locomotion, stability, and flexibility</a:t>
            </a:r>
          </a:p>
          <a:p>
            <a:endParaRPr lang="en-GB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C90DD9-C176-73CB-D993-DF1C45D2D6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185" r="11862" b="6791"/>
          <a:stretch/>
        </p:blipFill>
        <p:spPr>
          <a:xfrm>
            <a:off x="5311702" y="10"/>
            <a:ext cx="6878775" cy="639223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5483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5031-A836-CB8F-49BE-3B7A6CE2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8" y="365126"/>
            <a:ext cx="6271432" cy="1220484"/>
          </a:xfrm>
        </p:spPr>
        <p:txBody>
          <a:bodyPr anchor="b">
            <a:normAutofit/>
          </a:bodyPr>
          <a:lstStyle/>
          <a:p>
            <a:r>
              <a:rPr lang="en-GB" dirty="0"/>
              <a:t>Muscles of the 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26A9-8A82-CD09-5476-487B162E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11" y="1806170"/>
            <a:ext cx="6702357" cy="4409804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Flexors</a:t>
            </a:r>
            <a:r>
              <a:rPr lang="en-GB" dirty="0"/>
              <a:t>: Iliopsoas, Sartorius, Rectus Femoris</a:t>
            </a:r>
          </a:p>
          <a:p>
            <a:r>
              <a:rPr lang="en-GB" b="1" dirty="0"/>
              <a:t>Extensors</a:t>
            </a:r>
            <a:r>
              <a:rPr lang="en-GB" dirty="0"/>
              <a:t>: Gluteus Maximus, Hamstrings</a:t>
            </a:r>
          </a:p>
          <a:p>
            <a:r>
              <a:rPr lang="en-GB" b="1" dirty="0"/>
              <a:t>Abductors</a:t>
            </a:r>
            <a:r>
              <a:rPr lang="en-GB" dirty="0"/>
              <a:t>: Gluteus Medius, Gluteus </a:t>
            </a:r>
            <a:r>
              <a:rPr lang="en-GB" dirty="0" err="1"/>
              <a:t>Minimus</a:t>
            </a:r>
            <a:r>
              <a:rPr lang="en-GB" dirty="0"/>
              <a:t>, Tensor Fascia </a:t>
            </a:r>
            <a:r>
              <a:rPr lang="en-GB" dirty="0" err="1"/>
              <a:t>Latae</a:t>
            </a:r>
            <a:endParaRPr lang="en-GB" dirty="0"/>
          </a:p>
          <a:p>
            <a:r>
              <a:rPr lang="en-GB" b="1" dirty="0"/>
              <a:t>Adductors</a:t>
            </a:r>
            <a:r>
              <a:rPr lang="en-GB" dirty="0"/>
              <a:t>: Adductor Longus, Adductor Brevis, Adductor Magnus, </a:t>
            </a:r>
            <a:r>
              <a:rPr lang="en-GB" dirty="0" err="1"/>
              <a:t>Gracilis</a:t>
            </a:r>
            <a:r>
              <a:rPr lang="en-GB" dirty="0"/>
              <a:t>, Pectineus</a:t>
            </a:r>
          </a:p>
          <a:p>
            <a:r>
              <a:rPr lang="en-GB" b="1" dirty="0"/>
              <a:t>Internal Rotators</a:t>
            </a:r>
            <a:r>
              <a:rPr lang="en-GB" dirty="0"/>
              <a:t>: Gluteus Medius (anterior </a:t>
            </a:r>
            <a:r>
              <a:rPr lang="en-GB" dirty="0" err="1"/>
              <a:t>fibers</a:t>
            </a:r>
            <a:r>
              <a:rPr lang="en-GB" dirty="0"/>
              <a:t>), Gluteus </a:t>
            </a:r>
            <a:r>
              <a:rPr lang="en-GB" dirty="0" err="1"/>
              <a:t>Minimus</a:t>
            </a:r>
            <a:endParaRPr lang="en-GB" dirty="0"/>
          </a:p>
          <a:p>
            <a:r>
              <a:rPr lang="en-GB" b="1" dirty="0"/>
              <a:t>External Rotators</a:t>
            </a:r>
            <a:r>
              <a:rPr lang="en-GB" dirty="0"/>
              <a:t>: Piriformis, Obturator Internus, Obturator Externus, Gemelli, Quadratus Femoris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00FCC-7A7C-26EF-1D28-B748E9D919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55" r="14066" b="50000"/>
          <a:stretch/>
        </p:blipFill>
        <p:spPr>
          <a:xfrm>
            <a:off x="9380212" y="459413"/>
            <a:ext cx="2429501" cy="1758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2D12E9-CFF6-B807-F706-74D1CC685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414" y="2312195"/>
            <a:ext cx="4697299" cy="378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0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065F5-FB2F-777A-9E4D-0F928DAA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Neurovascular Structures of the 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C7F28-1199-DD23-2198-96C5D942C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4" y="1562470"/>
            <a:ext cx="5710042" cy="457568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GB" sz="30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Main Nerves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GB" sz="2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Femoral Nerve: </a:t>
            </a: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Innervates anterior muscles (flexors)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GB" sz="2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Sciatic Nerve: </a:t>
            </a: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Passes through the gluteal region, innervates posterior compartment (extensors)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GB" sz="2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Obturator Nerve</a:t>
            </a: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Supplies adductor muscles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lang="en-GB" sz="2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Gluteal Nerves</a:t>
            </a: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Superior (supplies gluteus </a:t>
            </a:r>
            <a:r>
              <a:rPr lang="en-GB" sz="2400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medius</a:t>
            </a: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2400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minimus</a:t>
            </a: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), Inferior (supplies gluteus maximus)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7A8A1-A0CE-4798-7302-1B59C8B52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007" y="1562470"/>
            <a:ext cx="5466460" cy="449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69DFE0-09E8-EB49-28CD-9C6C9904B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4303" y="817442"/>
            <a:ext cx="3294783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FA9B5A-6C39-3223-C291-41A805395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43" y="585349"/>
            <a:ext cx="7470865" cy="5032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32C272-0DD6-760C-7463-8C3E4A0DA86A}"/>
              </a:ext>
            </a:extLst>
          </p:cNvPr>
          <p:cNvSpPr txBox="1"/>
          <p:nvPr/>
        </p:nvSpPr>
        <p:spPr>
          <a:xfrm>
            <a:off x="1128409" y="5840090"/>
            <a:ext cx="96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Gluteal Nerves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466D4-46CC-4429-90E6-E8D981B415B0}"/>
              </a:ext>
            </a:extLst>
          </p:cNvPr>
          <p:cNvSpPr txBox="1"/>
          <p:nvPr/>
        </p:nvSpPr>
        <p:spPr>
          <a:xfrm>
            <a:off x="5595151" y="5440393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Clinical Relevance: </a:t>
            </a:r>
            <a:r>
              <a:rPr lang="en-GB" dirty="0"/>
              <a:t>Compression or injury to the sciatic nerve may cause sciatica, and damage to the superior gluteal nerve may result in weakened hip abduction, contributing to gait abnormalities.</a:t>
            </a:r>
          </a:p>
        </p:txBody>
      </p:sp>
    </p:spTree>
    <p:extLst>
      <p:ext uri="{BB962C8B-B14F-4D97-AF65-F5344CB8AC3E}">
        <p14:creationId xmlns:p14="http://schemas.microsoft.com/office/powerpoint/2010/main" val="60724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065F5-FB2F-777A-9E4D-0F928DAA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3549649" cy="1616203"/>
          </a:xfrm>
        </p:spPr>
        <p:txBody>
          <a:bodyPr anchor="b">
            <a:normAutofit/>
          </a:bodyPr>
          <a:lstStyle/>
          <a:p>
            <a:r>
              <a:rPr lang="en-GB" sz="3200" dirty="0"/>
              <a:t>Neurovascular Structures of the 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C7F28-1199-DD23-2198-96C5D942C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346964" cy="3447832"/>
          </a:xfrm>
        </p:spPr>
        <p:txBody>
          <a:bodyPr anchor="t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GB" sz="20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Blood Supply</a:t>
            </a:r>
          </a:p>
          <a:p>
            <a:pPr>
              <a:spcAft>
                <a:spcPts val="1000"/>
              </a:spcAft>
            </a:pPr>
            <a:r>
              <a:rPr lang="en-GB" sz="20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Arteries</a:t>
            </a:r>
            <a:r>
              <a:rPr lang="en-GB" sz="20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Femoral artery, obturator artery, superior and inferior gluteal arteries</a:t>
            </a:r>
          </a:p>
          <a:p>
            <a:pPr>
              <a:spcAft>
                <a:spcPts val="1000"/>
              </a:spcAft>
            </a:pPr>
            <a:r>
              <a:rPr lang="en-GB" sz="20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Veins</a:t>
            </a:r>
            <a:r>
              <a:rPr lang="en-GB" sz="20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 Femoral vein, great saphenous vein</a:t>
            </a:r>
          </a:p>
          <a:p>
            <a:endParaRPr lang="en-GB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E7A15A3-DF81-A2E6-90FA-FC5D81429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991" y="243890"/>
            <a:ext cx="4931969" cy="4579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7BE69-26EE-DF57-B57C-7D1FC15BE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80" y="2828642"/>
            <a:ext cx="23717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72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9F73D4-7156-80E4-2F63-8AD88646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5"/>
            <a:ext cx="7890003" cy="31693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Anterior Muscles (Hip Flexors)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59F5-01E6-24C3-CB79-CEC6CD13F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62144"/>
            <a:ext cx="5575177" cy="1136341"/>
          </a:xfrm>
        </p:spPr>
        <p:txBody>
          <a:bodyPr/>
          <a:lstStyle/>
          <a:p>
            <a:r>
              <a:rPr lang="en-GB" dirty="0"/>
              <a:t>Iliopsoas Muscle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9C996-06BA-7460-A188-A09D44760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27" y="1198486"/>
            <a:ext cx="10847773" cy="497847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Psoas major: Transverse processes of T12-L5 vertebrae</a:t>
            </a:r>
          </a:p>
          <a:p>
            <a:pPr lvl="1"/>
            <a:r>
              <a:rPr lang="en-GB" dirty="0"/>
              <a:t>Iliacus: Iliac fossa of pelvis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Lesser trochanter of femur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Hip flexion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Femoral nerve (L2-L4)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Iliolumbar artery, femoral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Tightness in the iliopsoas is common in individuals with prolonged sitting postures and can contribute to lower back pain and anterior pelvic tilt.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2C0DB-5BFD-A5FF-1428-471AD7061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77438"/>
            <a:ext cx="4100744" cy="33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06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3ED1-3644-B5DE-036E-922F3C21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69" y="365125"/>
            <a:ext cx="10625831" cy="931015"/>
          </a:xfrm>
        </p:spPr>
        <p:txBody>
          <a:bodyPr/>
          <a:lstStyle/>
          <a:p>
            <a:r>
              <a:rPr lang="en-GB" dirty="0"/>
              <a:t>Sartorius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A64D-14CD-E794-18F9-5C39EBB96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969" y="1447060"/>
            <a:ext cx="10813002" cy="496261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Anterior superior iliac spine (ASIS)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Pes anserinus (medial surface of tibia)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Flexes, abducts, and externally rotates the hip; flexes the knee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Femoral nerve (L2-L3)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Femoral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Pes anserine bursitis, commonly seen in runners, can affect the insertion point of the sartorius along with other muscles in the region.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8CB7C-603C-AD3C-8D96-D1344E4F1B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90" t="2102" r="28485" b="467"/>
          <a:stretch/>
        </p:blipFill>
        <p:spPr>
          <a:xfrm>
            <a:off x="9737388" y="87548"/>
            <a:ext cx="2344365" cy="4640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12B93C-8846-B367-F302-3E85C25D5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37" y="365125"/>
            <a:ext cx="2159155" cy="287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09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AA0E-61FC-A725-1970-730349F1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Rectus Femoris (Part of Quadriceps)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D438-BDC0-0556-0F36-358B4A85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3" y="1420427"/>
            <a:ext cx="11114843" cy="507244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Anterior inferior iliac spine (AIIS) and superior part of the acetabulum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Tibial tuberosity (via patellar ligament)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Hip flexion, knee extension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Femoral nerve (L2-L4)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Lateral circumflex femoral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Rectus femoris strain is common in sports involving kicking or sudden acceleration, causing pain in the anterior thigh.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D81D0-AE8C-B6A3-089C-54518BD374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65" r="20392" b="15458"/>
          <a:stretch/>
        </p:blipFill>
        <p:spPr>
          <a:xfrm>
            <a:off x="9944911" y="150323"/>
            <a:ext cx="2247089" cy="3080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1BE203-4A75-775D-131E-01FDD97EB1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75" r="8251" b="14044"/>
          <a:stretch/>
        </p:blipFill>
        <p:spPr>
          <a:xfrm>
            <a:off x="6712085" y="2520257"/>
            <a:ext cx="2924486" cy="29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9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56440-452B-2C25-3C89-4DD40229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Posterior Muscles (Hip Extensors)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1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0890-FD48-7FF5-3000-F062D248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Gluteus Maximus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6B647-20F1-4CB0-014D-2E9D36D73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24" y="1562470"/>
            <a:ext cx="10608076" cy="4614493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Ilium, sacrum, coccyx, and </a:t>
            </a:r>
            <a:r>
              <a:rPr lang="en-GB" dirty="0" err="1"/>
              <a:t>sacrotuberous</a:t>
            </a:r>
            <a:r>
              <a:rPr lang="en-GB" dirty="0"/>
              <a:t> ligament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Gluteal tuberosity of femur and iliotibial tract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Hip extension, external rotation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Inferior gluteal nerve (L5-S2)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Inferior and superior gluteal arteries</a:t>
            </a:r>
          </a:p>
          <a:p>
            <a:r>
              <a:rPr lang="en-GB" dirty="0"/>
              <a:t>Clinical Relevance:</a:t>
            </a:r>
          </a:p>
          <a:p>
            <a:pPr lvl="1"/>
            <a:r>
              <a:rPr lang="en-GB" dirty="0"/>
              <a:t> Weakness in the gluteus maximus can contribute to conditions such as lower back pain and hip instability. This muscle is often targeted in rehabilitation for patients with weak hip extensors.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FF31B-B5CB-3B5F-EF79-4075E45E00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66" r="13641" b="22783"/>
          <a:stretch/>
        </p:blipFill>
        <p:spPr>
          <a:xfrm>
            <a:off x="9131493" y="112965"/>
            <a:ext cx="3060507" cy="31554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96BB2B-1BFF-F254-E2B1-C5FEA2DF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321" y="112965"/>
            <a:ext cx="1537171" cy="3316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A1620-9A4B-2421-B178-9C3D4390AE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421" r="17873" b="1519"/>
          <a:stretch/>
        </p:blipFill>
        <p:spPr>
          <a:xfrm>
            <a:off x="9271748" y="3346231"/>
            <a:ext cx="1941795" cy="177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7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27705B-511D-AFBC-3C03-24FF1637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Lateral Muscles (Hip Abductors and Rotators)</a:t>
            </a:r>
          </a:p>
        </p:txBody>
      </p:sp>
    </p:spTree>
    <p:extLst>
      <p:ext uri="{BB962C8B-B14F-4D97-AF65-F5344CB8AC3E}">
        <p14:creationId xmlns:p14="http://schemas.microsoft.com/office/powerpoint/2010/main" val="39811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9142-2974-4618-921A-285305C6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Gluteus Medius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EA269-569F-712D-43FE-07DA58591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24" y="1482571"/>
            <a:ext cx="10608076" cy="469439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Outer surface of ilium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Greater trochanter of femur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Hip abduction and internal rotation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Superior gluteal nerve (L4-S1)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Superior gluteal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Gluteus </a:t>
            </a:r>
            <a:r>
              <a:rPr lang="en-GB" dirty="0" err="1"/>
              <a:t>medius</a:t>
            </a:r>
            <a:r>
              <a:rPr lang="en-GB" dirty="0"/>
              <a:t> weakness can lead to "Trendelenburg gait," a lateral pelvic drop during walking. It's commonly addressed in hip strengthening exercises.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0D4EC-CBB9-4EC6-895E-AAA3C93A35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37" r="1" b="14326"/>
          <a:stretch/>
        </p:blipFill>
        <p:spPr>
          <a:xfrm>
            <a:off x="5560045" y="116732"/>
            <a:ext cx="3047034" cy="28793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C621D7-2E93-ED1E-2018-44C92B54EB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41" b="9931"/>
          <a:stretch/>
        </p:blipFill>
        <p:spPr>
          <a:xfrm>
            <a:off x="8607079" y="2094724"/>
            <a:ext cx="3361184" cy="287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68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2BDD-1E4D-76CE-9EAC-553E5110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1" y="365125"/>
            <a:ext cx="11051959" cy="558153"/>
          </a:xfrm>
        </p:spPr>
        <p:txBody>
          <a:bodyPr>
            <a:normAutofit fontScale="90000"/>
          </a:bodyPr>
          <a:lstStyle/>
          <a:p>
            <a:r>
              <a:rPr lang="en-GB" dirty="0"/>
              <a:t>Gluteus </a:t>
            </a:r>
            <a:r>
              <a:rPr lang="en-GB" dirty="0" err="1"/>
              <a:t>Minimus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8BFFA-36F5-8B27-DACD-0B691411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41" y="1189609"/>
            <a:ext cx="11051960" cy="498735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Outer surface of ilium (below gluteus </a:t>
            </a:r>
            <a:r>
              <a:rPr lang="en-GB" dirty="0" err="1"/>
              <a:t>medius</a:t>
            </a:r>
            <a:r>
              <a:rPr lang="en-GB" dirty="0"/>
              <a:t>)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Greater trochanter of femur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Hip abduction, internal rotation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Superior gluteal nerve (L4-S1)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Superior gluteal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Gluteus </a:t>
            </a:r>
            <a:r>
              <a:rPr lang="en-GB" dirty="0" err="1"/>
              <a:t>minimus</a:t>
            </a:r>
            <a:r>
              <a:rPr lang="en-GB" dirty="0"/>
              <a:t> strain or injury may result in referred pain to the hip and buttock area, often mistaken for sciatica.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AF218-00D6-1D7E-C7B4-ACA2CC52E2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74" r="10666" b="16744"/>
          <a:stretch/>
        </p:blipFill>
        <p:spPr>
          <a:xfrm>
            <a:off x="8558319" y="68094"/>
            <a:ext cx="3445614" cy="4036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29BA57-0AC4-A84D-A599-EE374E9FFE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177"/>
          <a:stretch/>
        </p:blipFill>
        <p:spPr>
          <a:xfrm>
            <a:off x="4989015" y="2253369"/>
            <a:ext cx="3487120" cy="266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79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8E79-521C-6181-097E-465740226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272" y="365126"/>
            <a:ext cx="10865528" cy="735706"/>
          </a:xfrm>
        </p:spPr>
        <p:txBody>
          <a:bodyPr/>
          <a:lstStyle/>
          <a:p>
            <a:r>
              <a:rPr lang="en-GB" dirty="0"/>
              <a:t>Tensor Fascia </a:t>
            </a:r>
            <a:r>
              <a:rPr lang="en-GB" dirty="0" err="1"/>
              <a:t>Latae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B2C5D-0BBB-4AD5-BBD6-EFFDC7E3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272" y="1251751"/>
            <a:ext cx="10865528" cy="492521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Anterior iliac crest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Iliotibial tract/band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Assists with hip flexion, abduction, </a:t>
            </a:r>
          </a:p>
          <a:p>
            <a:pPr marL="457200" lvl="1" indent="0">
              <a:buNone/>
            </a:pPr>
            <a:r>
              <a:rPr lang="en-GB" dirty="0"/>
              <a:t>and internal rotation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Superior gluteal nerve (L4-S1)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Lateral circumflex femoral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Tightness in the tensor fascia </a:t>
            </a:r>
            <a:r>
              <a:rPr lang="en-GB" dirty="0" err="1"/>
              <a:t>latae</a:t>
            </a:r>
            <a:r>
              <a:rPr lang="en-GB" dirty="0"/>
              <a:t> (TFL) can contribute to iliotibial band (ITB) syndrome, common in runners and cyclists, causing lateral knee pain.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65B90-DE77-8188-60B8-8019E9102B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43" r="5272" b="9931"/>
          <a:stretch/>
        </p:blipFill>
        <p:spPr>
          <a:xfrm>
            <a:off x="8591212" y="0"/>
            <a:ext cx="3529452" cy="3608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FB136B-A1AB-4868-6C42-3CB1039A94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880"/>
          <a:stretch/>
        </p:blipFill>
        <p:spPr>
          <a:xfrm>
            <a:off x="5536615" y="771890"/>
            <a:ext cx="2886532" cy="406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0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4D22-12F5-BE74-AF53-0264A0BB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Medial Muscles (Hip Adductors)</a:t>
            </a:r>
          </a:p>
        </p:txBody>
      </p:sp>
    </p:spTree>
    <p:extLst>
      <p:ext uri="{BB962C8B-B14F-4D97-AF65-F5344CB8AC3E}">
        <p14:creationId xmlns:p14="http://schemas.microsoft.com/office/powerpoint/2010/main" val="2560624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A411-F3EA-CA59-F21E-0421CBBB2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Adductor Longus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6A65-6098-6A8F-69E2-E9235AAA2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79" y="1411550"/>
            <a:ext cx="10974421" cy="515462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Pubis (near pubic symphysis)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Middle third of </a:t>
            </a:r>
            <a:r>
              <a:rPr lang="en-GB" dirty="0" err="1"/>
              <a:t>linea</a:t>
            </a:r>
            <a:r>
              <a:rPr lang="en-GB" dirty="0"/>
              <a:t> aspera of femur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Hip adduction, assists in flexion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Obturator nerve (L2-L4)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Deep femoral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Adductor strains, often called "groin pulls," are common in sports requiring rapid direction changes or side movements (e.g., soccer, hockey).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33104-5EBB-0A66-7E4C-232F414B3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45" r="9811" b="2836"/>
          <a:stretch/>
        </p:blipFill>
        <p:spPr>
          <a:xfrm>
            <a:off x="9672011" y="0"/>
            <a:ext cx="2519989" cy="3959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8B3A7-146B-187C-7831-0128AB5642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51" r="4031" b="9363"/>
          <a:stretch/>
        </p:blipFill>
        <p:spPr>
          <a:xfrm>
            <a:off x="5754024" y="739303"/>
            <a:ext cx="3419159" cy="43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385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9B5D-84A6-4209-8165-BB9BBEA5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83" y="365125"/>
            <a:ext cx="10830017" cy="1135201"/>
          </a:xfrm>
        </p:spPr>
        <p:txBody>
          <a:bodyPr/>
          <a:lstStyle/>
          <a:p>
            <a:r>
              <a:rPr lang="en-GB" dirty="0"/>
              <a:t>Adductor Magnus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773B3-2190-C800-1625-E76E1301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3" y="1500326"/>
            <a:ext cx="11034943" cy="514017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Ischial tuberosity and inferior pubic ramus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Linea aspera and adductor tubercle of femur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Hip adduction, flexion (adductor part), extension (hamstring part)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Obturator nerve (adductor part), sciatic nerve (hamstring part) (L2-S1)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Deep femoral artery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Adductor magnus can be involved in hip joint pathologies such as osteitis pubis, characterized by inflammation of the pubic symphysis.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9F894-18BB-8F86-2946-FF4891D1A9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55" r="29811" b="3172"/>
          <a:stretch/>
        </p:blipFill>
        <p:spPr>
          <a:xfrm>
            <a:off x="10493539" y="72344"/>
            <a:ext cx="1698461" cy="3998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32897D-0D33-3BB0-F2CF-0F74C63AC3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29" r="8818" b="1276"/>
          <a:stretch/>
        </p:blipFill>
        <p:spPr>
          <a:xfrm>
            <a:off x="8740386" y="72344"/>
            <a:ext cx="2021676" cy="31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14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279DB-F493-74B0-CF97-E46FAB5E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Hip External Rotators</a:t>
            </a:r>
          </a:p>
        </p:txBody>
      </p:sp>
    </p:spTree>
    <p:extLst>
      <p:ext uri="{BB962C8B-B14F-4D97-AF65-F5344CB8AC3E}">
        <p14:creationId xmlns:p14="http://schemas.microsoft.com/office/powerpoint/2010/main" val="3557939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C795-E22A-A714-A227-8C2D3252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Piriformis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A407E-D016-4158-F30A-01AAE9856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9" y="1518082"/>
            <a:ext cx="10946166" cy="497479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Origin: </a:t>
            </a:r>
          </a:p>
          <a:p>
            <a:pPr lvl="1"/>
            <a:r>
              <a:rPr lang="en-GB" dirty="0"/>
              <a:t>Anterior surface of the sacrum</a:t>
            </a:r>
          </a:p>
          <a:p>
            <a:r>
              <a:rPr lang="en-GB" dirty="0"/>
              <a:t>Insertion: </a:t>
            </a:r>
          </a:p>
          <a:p>
            <a:pPr lvl="1"/>
            <a:r>
              <a:rPr lang="en-GB" dirty="0"/>
              <a:t>Greater trochanter of femur</a:t>
            </a:r>
          </a:p>
          <a:p>
            <a:r>
              <a:rPr lang="en-GB" dirty="0"/>
              <a:t>Action: </a:t>
            </a:r>
          </a:p>
          <a:p>
            <a:pPr lvl="1"/>
            <a:r>
              <a:rPr lang="en-GB" dirty="0"/>
              <a:t>External rotation of the hip</a:t>
            </a:r>
          </a:p>
          <a:p>
            <a:r>
              <a:rPr lang="en-GB" dirty="0"/>
              <a:t>Nerve supply: </a:t>
            </a:r>
          </a:p>
          <a:p>
            <a:pPr lvl="1"/>
            <a:r>
              <a:rPr lang="en-GB" dirty="0"/>
              <a:t>Nerve to piriformis (S1-S2)</a:t>
            </a:r>
          </a:p>
          <a:p>
            <a:r>
              <a:rPr lang="en-GB" dirty="0"/>
              <a:t>Blood supply: </a:t>
            </a:r>
          </a:p>
          <a:p>
            <a:pPr lvl="1"/>
            <a:r>
              <a:rPr lang="en-GB" dirty="0"/>
              <a:t>Superior and inferior gluteal arteries</a:t>
            </a:r>
          </a:p>
          <a:p>
            <a:r>
              <a:rPr lang="en-GB" dirty="0"/>
              <a:t>Clinical Relevance: </a:t>
            </a:r>
          </a:p>
          <a:p>
            <a:pPr lvl="1"/>
            <a:r>
              <a:rPr lang="en-GB" dirty="0"/>
              <a:t>Piriformis syndrome occurs when the piriformis muscle compresses the sciatic nerve, causing sciatica-like symptoms such as buttock pain radiating down the leg.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3DC34-2E5C-6A24-5FD0-4BDE3A3A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292" y="7410"/>
            <a:ext cx="3087617" cy="3998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E1B74D-45E8-4267-9D34-AB93337A0B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8" r="1912" b="11773"/>
          <a:stretch/>
        </p:blipFill>
        <p:spPr>
          <a:xfrm>
            <a:off x="5681708" y="2110902"/>
            <a:ext cx="2869300" cy="263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5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AC1E-53EC-98C8-A6B5-30526591C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Conditions and Injuries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C6111-7DDC-5382-C882-7B3D742B9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Hip fractures</a:t>
            </a:r>
          </a:p>
          <a:p>
            <a:r>
              <a:rPr lang="en-GB" dirty="0"/>
              <a:t>Osteoarthritis</a:t>
            </a:r>
          </a:p>
          <a:p>
            <a:r>
              <a:rPr lang="en-GB" dirty="0"/>
              <a:t>Sciatica and Piriformis syndrome</a:t>
            </a:r>
          </a:p>
          <a:p>
            <a:r>
              <a:rPr lang="en-GB"/>
              <a:t>Hip </a:t>
            </a:r>
            <a:r>
              <a:rPr lang="en-GB" dirty="0"/>
              <a:t>labral tears</a:t>
            </a:r>
          </a:p>
          <a:p>
            <a:r>
              <a:rPr lang="en-GB" dirty="0"/>
              <a:t>Tendinopathies (e.g., gluteal tendinopathy)</a:t>
            </a:r>
          </a:p>
        </p:txBody>
      </p:sp>
    </p:spTree>
    <p:extLst>
      <p:ext uri="{BB962C8B-B14F-4D97-AF65-F5344CB8AC3E}">
        <p14:creationId xmlns:p14="http://schemas.microsoft.com/office/powerpoint/2010/main" val="18653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D0E4-BC34-215C-051D-3E6ABE6A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A262A-207C-1B5B-FD7E-051ABCFC7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Read up on the root, course, branches, function, and clinical anatomy of the Sciatic nerve</a:t>
            </a:r>
          </a:p>
          <a:p>
            <a:r>
              <a:rPr lang="en-GB" dirty="0"/>
              <a:t>Read up on the root, course, branches, function, and clinical anatomy of the Femoral nerve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370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Yellow question mark">
            <a:extLst>
              <a:ext uri="{FF2B5EF4-FFF2-40B4-BE49-F238E27FC236}">
                <a16:creationId xmlns:a16="http://schemas.microsoft.com/office/drawing/2014/main" id="{9D6EC196-D0CA-C0A6-3C38-49D3B41FB4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b="625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E6FA81-CDC7-E4A1-6A02-A9101A6F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501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2C0E-6AE8-582A-39BA-B8844B4E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27F1C-8FC2-1EC7-BD44-B36D05B4E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24" y="1690688"/>
            <a:ext cx="10608076" cy="4486275"/>
          </a:xfrm>
        </p:spPr>
        <p:txBody>
          <a:bodyPr>
            <a:normAutofit fontScale="70000" lnSpcReduction="20000"/>
          </a:bodyPr>
          <a:lstStyle/>
          <a:p>
            <a:r>
              <a:rPr lang="en-GB" dirty="0" err="1"/>
              <a:t>Kenhub</a:t>
            </a:r>
            <a:r>
              <a:rPr lang="en-GB" dirty="0"/>
              <a:t> (n.d.) Hip Anatomy and Knee Anatomy Diagrams. Available at: https://www.kenhub.com (Accessed: 14 September 2024).</a:t>
            </a:r>
          </a:p>
          <a:p>
            <a:r>
              <a:rPr lang="en-GB" dirty="0"/>
              <a:t>McMinn, R.M.H. (2019) Last’s Anatomy: Regional and Applied. 13th </a:t>
            </a:r>
            <a:r>
              <a:rPr lang="en-GB" dirty="0" err="1"/>
              <a:t>edn</a:t>
            </a:r>
            <a:r>
              <a:rPr lang="en-GB" dirty="0"/>
              <a:t>. Elsevier Health Sciences.</a:t>
            </a:r>
          </a:p>
          <a:p>
            <a:r>
              <a:rPr lang="en-GB" dirty="0"/>
              <a:t>Moore, K.L., </a:t>
            </a:r>
            <a:r>
              <a:rPr lang="en-GB" dirty="0" err="1"/>
              <a:t>Dalley</a:t>
            </a:r>
            <a:r>
              <a:rPr lang="en-GB" dirty="0"/>
              <a:t>, A.F. and </a:t>
            </a:r>
            <a:r>
              <a:rPr lang="en-GB" dirty="0" err="1"/>
              <a:t>Agur</a:t>
            </a:r>
            <a:r>
              <a:rPr lang="en-GB" dirty="0"/>
              <a:t>, A.M.R. (2018) Clinically Oriented Anatomy. 8th </a:t>
            </a:r>
            <a:r>
              <a:rPr lang="en-GB" dirty="0" err="1"/>
              <a:t>edn</a:t>
            </a:r>
            <a:r>
              <a:rPr lang="en-GB" dirty="0"/>
              <a:t>. Wolters Kluwer.</a:t>
            </a:r>
          </a:p>
          <a:p>
            <a:r>
              <a:rPr lang="en-GB" dirty="0" err="1"/>
              <a:t>Muscolino</a:t>
            </a:r>
            <a:r>
              <a:rPr lang="en-GB" dirty="0"/>
              <a:t>, J.E. (n.d.) The Muscular System Manual: The Skeletal Muscles of the Human Body. Available at: </a:t>
            </a:r>
            <a:r>
              <a:rPr lang="en-GB" dirty="0">
                <a:hlinkClick r:id="rId2"/>
              </a:rPr>
              <a:t>https://www.learnmuscles.com</a:t>
            </a:r>
            <a:r>
              <a:rPr lang="en-GB" dirty="0"/>
              <a:t> (Accessed: 14 September 2024).</a:t>
            </a:r>
          </a:p>
          <a:p>
            <a:r>
              <a:rPr lang="en-GB" dirty="0"/>
              <a:t>Netter, F.H. (2019) Atlas of Human Anatomy. 7th </a:t>
            </a:r>
            <a:r>
              <a:rPr lang="en-GB" dirty="0" err="1"/>
              <a:t>edn</a:t>
            </a:r>
            <a:r>
              <a:rPr lang="en-GB" dirty="0"/>
              <a:t>. </a:t>
            </a:r>
            <a:r>
              <a:rPr lang="en-GB" dirty="0" err="1"/>
              <a:t>Elsevier.Physiopedia</a:t>
            </a:r>
            <a:r>
              <a:rPr lang="en-GB" dirty="0"/>
              <a:t> (n.d.) Hip and Knee Anatomy Overview. Available at: </a:t>
            </a:r>
            <a:r>
              <a:rPr lang="en-GB" dirty="0">
                <a:hlinkClick r:id="rId3"/>
              </a:rPr>
              <a:t>https://www.physio-pedia.com</a:t>
            </a:r>
            <a:r>
              <a:rPr lang="en-GB" dirty="0"/>
              <a:t> (Accessed: 14 September 2024).</a:t>
            </a:r>
          </a:p>
          <a:p>
            <a:r>
              <a:rPr lang="en-GB" dirty="0"/>
              <a:t>Rehab My Patient (n.d.) Anatomy of the Hip and Knee. Available at: </a:t>
            </a:r>
            <a:r>
              <a:rPr lang="en-GB" dirty="0">
                <a:hlinkClick r:id="rId4"/>
              </a:rPr>
              <a:t>https://www.rehabmypatient.com</a:t>
            </a:r>
            <a:r>
              <a:rPr lang="en-GB" dirty="0"/>
              <a:t> (Accessed: 14 September 2024).</a:t>
            </a:r>
          </a:p>
          <a:p>
            <a:r>
              <a:rPr lang="en-GB" dirty="0" err="1"/>
              <a:t>Standring</a:t>
            </a:r>
            <a:r>
              <a:rPr lang="en-GB" dirty="0"/>
              <a:t>, S. (2020) Gray’s Anatomy: The Anatomical Basis of Clinical Practice. 42nd </a:t>
            </a:r>
            <a:r>
              <a:rPr lang="en-GB" dirty="0" err="1"/>
              <a:t>edn</a:t>
            </a:r>
            <a:r>
              <a:rPr lang="en-GB" dirty="0"/>
              <a:t>. Elsevier.</a:t>
            </a:r>
          </a:p>
        </p:txBody>
      </p:sp>
    </p:spTree>
    <p:extLst>
      <p:ext uri="{BB962C8B-B14F-4D97-AF65-F5344CB8AC3E}">
        <p14:creationId xmlns:p14="http://schemas.microsoft.com/office/powerpoint/2010/main" val="417170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1287</Words>
  <Application>Microsoft Office PowerPoint</Application>
  <PresentationFormat>Widescreen</PresentationFormat>
  <Paragraphs>183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Office Theme</vt:lpstr>
      <vt:lpstr>Muscles and Neurovascular Structures around the Hip</vt:lpstr>
      <vt:lpstr>Hip Joint</vt:lpstr>
      <vt:lpstr>Muscles of the Hip</vt:lpstr>
      <vt:lpstr>Neurovascular Structures of the Hip</vt:lpstr>
      <vt:lpstr>PowerPoint Presentation</vt:lpstr>
      <vt:lpstr>Neurovascular Structures of the Hip</vt:lpstr>
      <vt:lpstr>Anterior Muscles (Hip Flexors)</vt:lpstr>
      <vt:lpstr>Iliopsoas Muscle</vt:lpstr>
      <vt:lpstr>Sartorius</vt:lpstr>
      <vt:lpstr>Rectus Femoris (Part of Quadriceps)</vt:lpstr>
      <vt:lpstr>Posterior Muscles (Hip Extensors)</vt:lpstr>
      <vt:lpstr>Gluteus Maximus</vt:lpstr>
      <vt:lpstr>Lateral Muscles (Hip Abductors and Rotators)</vt:lpstr>
      <vt:lpstr>Gluteus Medius</vt:lpstr>
      <vt:lpstr>Gluteus Minimus</vt:lpstr>
      <vt:lpstr>Tensor Fascia Latae</vt:lpstr>
      <vt:lpstr>Medial Muscles (Hip Adductors)</vt:lpstr>
      <vt:lpstr>Adductor Longus</vt:lpstr>
      <vt:lpstr>Adductor Magnus</vt:lpstr>
      <vt:lpstr>Hip External Rotators</vt:lpstr>
      <vt:lpstr>Piriformis</vt:lpstr>
      <vt:lpstr>Common Conditions and Injuries</vt:lpstr>
      <vt:lpstr>SDL</vt:lpstr>
      <vt:lpstr>Questions?</vt:lpstr>
      <vt:lpstr>References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Ngozi Onuegbu</dc:creator>
  <cp:lastModifiedBy>Ngozi Onuegbu</cp:lastModifiedBy>
  <cp:revision>3</cp:revision>
  <dcterms:created xsi:type="dcterms:W3CDTF">2024-10-05T09:46:31Z</dcterms:created>
  <dcterms:modified xsi:type="dcterms:W3CDTF">2024-10-06T09:05:21Z</dcterms:modified>
</cp:coreProperties>
</file>