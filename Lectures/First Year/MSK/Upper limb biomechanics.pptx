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8" r:id="rId2"/>
    <p:sldId id="259" r:id="rId3"/>
    <p:sldId id="337" r:id="rId4"/>
    <p:sldId id="265" r:id="rId5"/>
    <p:sldId id="268" r:id="rId6"/>
    <p:sldId id="270" r:id="rId7"/>
    <p:sldId id="342" r:id="rId8"/>
    <p:sldId id="489" r:id="rId9"/>
    <p:sldId id="488" r:id="rId10"/>
    <p:sldId id="352" r:id="rId11"/>
    <p:sldId id="353" r:id="rId12"/>
    <p:sldId id="354" r:id="rId13"/>
    <p:sldId id="355" r:id="rId14"/>
    <p:sldId id="356" r:id="rId15"/>
    <p:sldId id="361" r:id="rId16"/>
    <p:sldId id="360" r:id="rId17"/>
    <p:sldId id="490" r:id="rId18"/>
    <p:sldId id="485" r:id="rId19"/>
    <p:sldId id="322" r:id="rId20"/>
    <p:sldId id="323" r:id="rId21"/>
    <p:sldId id="491" r:id="rId22"/>
    <p:sldId id="478" r:id="rId23"/>
    <p:sldId id="479" r:id="rId24"/>
    <p:sldId id="359" r:id="rId25"/>
    <p:sldId id="349" r:id="rId26"/>
    <p:sldId id="350" r:id="rId27"/>
    <p:sldId id="351" r:id="rId28"/>
    <p:sldId id="480" r:id="rId29"/>
    <p:sldId id="483" r:id="rId30"/>
    <p:sldId id="484" r:id="rId31"/>
    <p:sldId id="486" r:id="rId32"/>
    <p:sldId id="487" r:id="rId33"/>
    <p:sldId id="357" r:id="rId34"/>
    <p:sldId id="358" r:id="rId35"/>
    <p:sldId id="348" r:id="rId36"/>
    <p:sldId id="48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6014"/>
    <a:srgbClr val="7030A0"/>
    <a:srgbClr val="FF0000"/>
    <a:srgbClr val="00B050"/>
    <a:srgbClr val="386C16"/>
    <a:srgbClr val="F4B183"/>
    <a:srgbClr val="5BAD24"/>
    <a:srgbClr val="B7E996"/>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20" autoAdjust="0"/>
    <p:restoredTop sz="86777"/>
  </p:normalViewPr>
  <p:slideViewPr>
    <p:cSldViewPr snapToGrid="0" snapToObjects="1">
      <p:cViewPr varScale="1">
        <p:scale>
          <a:sx n="89" d="100"/>
          <a:sy n="89" d="100"/>
        </p:scale>
        <p:origin x="58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311838-33BB-D24D-B828-42059F48F591}" type="datetimeFigureOut">
              <a:rPr lang="en-US" smtClean="0"/>
              <a:t>4/3/2025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974EB0-C176-C649-87BA-099BB40B29D5}" type="slidenum">
              <a:rPr lang="en-US" smtClean="0"/>
              <a:t>‹#›</a:t>
            </a:fld>
            <a:endParaRPr lang="en-US"/>
          </a:p>
        </p:txBody>
      </p:sp>
    </p:spTree>
    <p:extLst>
      <p:ext uri="{BB962C8B-B14F-4D97-AF65-F5344CB8AC3E}">
        <p14:creationId xmlns:p14="http://schemas.microsoft.com/office/powerpoint/2010/main" val="7084436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74EB0-C176-C649-87BA-099BB40B29D5}" type="slidenum">
              <a:rPr lang="en-US" smtClean="0"/>
              <a:t>2</a:t>
            </a:fld>
            <a:endParaRPr lang="en-US"/>
          </a:p>
        </p:txBody>
      </p:sp>
    </p:spTree>
    <p:extLst>
      <p:ext uri="{BB962C8B-B14F-4D97-AF65-F5344CB8AC3E}">
        <p14:creationId xmlns:p14="http://schemas.microsoft.com/office/powerpoint/2010/main" val="39263041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74EB0-C176-C649-87BA-099BB40B29D5}" type="slidenum">
              <a:rPr lang="en-US" smtClean="0"/>
              <a:t>3</a:t>
            </a:fld>
            <a:endParaRPr lang="en-US"/>
          </a:p>
        </p:txBody>
      </p:sp>
    </p:spTree>
    <p:extLst>
      <p:ext uri="{BB962C8B-B14F-4D97-AF65-F5344CB8AC3E}">
        <p14:creationId xmlns:p14="http://schemas.microsoft.com/office/powerpoint/2010/main" val="268333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latin typeface="Arial" panose="020B0604020202020204" pitchFamily="34" charset="0"/>
                <a:cs typeface="Arial" panose="020B0604020202020204" pitchFamily="34" charset="0"/>
              </a:rPr>
              <a:t>The analysis of the action of forces on particles and mechanical systems</a:t>
            </a:r>
          </a:p>
          <a:p>
            <a:endParaRPr lang="en-GB" dirty="0"/>
          </a:p>
          <a:p>
            <a:r>
              <a:rPr lang="en-GB" dirty="0"/>
              <a:t>We</a:t>
            </a:r>
            <a:r>
              <a:rPr lang="en-GB" baseline="0" dirty="0"/>
              <a:t> are interested in the application of human biomechanics to sport</a:t>
            </a:r>
            <a:endParaRPr lang="en-GB" dirty="0"/>
          </a:p>
          <a:p>
            <a:endParaRPr lang="en-US" dirty="0"/>
          </a:p>
        </p:txBody>
      </p:sp>
      <p:sp>
        <p:nvSpPr>
          <p:cNvPr id="4" name="Slide Number Placeholder 3"/>
          <p:cNvSpPr>
            <a:spLocks noGrp="1"/>
          </p:cNvSpPr>
          <p:nvPr>
            <p:ph type="sldNum" sz="quarter" idx="5"/>
          </p:nvPr>
        </p:nvSpPr>
        <p:spPr/>
        <p:txBody>
          <a:bodyPr/>
          <a:lstStyle/>
          <a:p>
            <a:fld id="{4B974EB0-C176-C649-87BA-099BB40B29D5}" type="slidenum">
              <a:rPr lang="en-US" smtClean="0"/>
              <a:t>4</a:t>
            </a:fld>
            <a:endParaRPr lang="en-US"/>
          </a:p>
        </p:txBody>
      </p:sp>
    </p:spTree>
    <p:extLst>
      <p:ext uri="{BB962C8B-B14F-4D97-AF65-F5344CB8AC3E}">
        <p14:creationId xmlns:p14="http://schemas.microsoft.com/office/powerpoint/2010/main" val="2056830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74EB0-C176-C649-87BA-099BB40B29D5}" type="slidenum">
              <a:rPr lang="en-US" smtClean="0"/>
              <a:t>5</a:t>
            </a:fld>
            <a:endParaRPr lang="en-US"/>
          </a:p>
        </p:txBody>
      </p:sp>
    </p:spTree>
    <p:extLst>
      <p:ext uri="{BB962C8B-B14F-4D97-AF65-F5344CB8AC3E}">
        <p14:creationId xmlns:p14="http://schemas.microsoft.com/office/powerpoint/2010/main" val="2673308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B974EB0-C176-C649-87BA-099BB40B29D5}" type="slidenum">
              <a:rPr lang="en-US" smtClean="0"/>
              <a:t>6</a:t>
            </a:fld>
            <a:endParaRPr lang="en-US"/>
          </a:p>
        </p:txBody>
      </p:sp>
    </p:spTree>
    <p:extLst>
      <p:ext uri="{BB962C8B-B14F-4D97-AF65-F5344CB8AC3E}">
        <p14:creationId xmlns:p14="http://schemas.microsoft.com/office/powerpoint/2010/main" val="1635731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6CF62-138B-4B1D-70DE-E31E373492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60BB4-4797-5E95-39AA-1EF2E16E8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477CF8-2803-F5A1-0953-E031E144123E}"/>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2775C0DA-B13D-437C-B87F-A56B252ED99C}"/>
              </a:ext>
            </a:extLst>
          </p:cNvPr>
          <p:cNvSpPr>
            <a:spLocks noGrp="1"/>
          </p:cNvSpPr>
          <p:nvPr>
            <p:ph type="sldNum" sz="quarter" idx="5"/>
          </p:nvPr>
        </p:nvSpPr>
        <p:spPr/>
        <p:txBody>
          <a:bodyPr/>
          <a:lstStyle/>
          <a:p>
            <a:fld id="{4B974EB0-C176-C649-87BA-099BB40B29D5}" type="slidenum">
              <a:rPr lang="en-US" smtClean="0"/>
              <a:t>8</a:t>
            </a:fld>
            <a:endParaRPr lang="en-US"/>
          </a:p>
        </p:txBody>
      </p:sp>
    </p:spTree>
    <p:extLst>
      <p:ext uri="{BB962C8B-B14F-4D97-AF65-F5344CB8AC3E}">
        <p14:creationId xmlns:p14="http://schemas.microsoft.com/office/powerpoint/2010/main" val="872073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69693-0047-9C34-A438-B8EE04C959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3B6D2-5D3D-B867-0CB8-5DC0C791E3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B98FB-9C86-B4B6-7A4D-4D5B8B39C755}"/>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3F786CF2-0BBD-5B71-F70E-D651CB4E50DA}"/>
              </a:ext>
            </a:extLst>
          </p:cNvPr>
          <p:cNvSpPr>
            <a:spLocks noGrp="1"/>
          </p:cNvSpPr>
          <p:nvPr>
            <p:ph type="sldNum" sz="quarter" idx="5"/>
          </p:nvPr>
        </p:nvSpPr>
        <p:spPr/>
        <p:txBody>
          <a:bodyPr/>
          <a:lstStyle/>
          <a:p>
            <a:fld id="{4B974EB0-C176-C649-87BA-099BB40B29D5}" type="slidenum">
              <a:rPr lang="en-US" smtClean="0"/>
              <a:t>9</a:t>
            </a:fld>
            <a:endParaRPr lang="en-US"/>
          </a:p>
        </p:txBody>
      </p:sp>
    </p:spTree>
    <p:extLst>
      <p:ext uri="{BB962C8B-B14F-4D97-AF65-F5344CB8AC3E}">
        <p14:creationId xmlns:p14="http://schemas.microsoft.com/office/powerpoint/2010/main" val="1551624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65BE1-3880-0F4C-AA8C-B4762CBA4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D6D41C-8BC7-10D1-6903-4CC78AB4E2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839DA9-44BC-049B-0D91-2717C5BF8656}"/>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65A3CB91-52EC-F414-4530-D744A89B3B90}"/>
              </a:ext>
            </a:extLst>
          </p:cNvPr>
          <p:cNvSpPr>
            <a:spLocks noGrp="1"/>
          </p:cNvSpPr>
          <p:nvPr>
            <p:ph type="sldNum" sz="quarter" idx="5"/>
          </p:nvPr>
        </p:nvSpPr>
        <p:spPr/>
        <p:txBody>
          <a:bodyPr/>
          <a:lstStyle/>
          <a:p>
            <a:fld id="{4B974EB0-C176-C649-87BA-099BB40B29D5}" type="slidenum">
              <a:rPr lang="en-US" smtClean="0"/>
              <a:t>10</a:t>
            </a:fld>
            <a:endParaRPr lang="en-US"/>
          </a:p>
        </p:txBody>
      </p:sp>
    </p:spTree>
    <p:extLst>
      <p:ext uri="{BB962C8B-B14F-4D97-AF65-F5344CB8AC3E}">
        <p14:creationId xmlns:p14="http://schemas.microsoft.com/office/powerpoint/2010/main" val="1114400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4CD38-8E57-3945-D13E-4EFB1E0B5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7B1BF6-3CA0-CA22-29EF-92C41378B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AF5C43-B1C1-2826-1FC3-8835A3613714}"/>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BD5B0B2F-4864-C8A1-166A-3EE7E6325448}"/>
              </a:ext>
            </a:extLst>
          </p:cNvPr>
          <p:cNvSpPr>
            <a:spLocks noGrp="1"/>
          </p:cNvSpPr>
          <p:nvPr>
            <p:ph type="sldNum" sz="quarter" idx="5"/>
          </p:nvPr>
        </p:nvSpPr>
        <p:spPr/>
        <p:txBody>
          <a:bodyPr/>
          <a:lstStyle/>
          <a:p>
            <a:fld id="{4B974EB0-C176-C649-87BA-099BB40B29D5}" type="slidenum">
              <a:rPr lang="en-US" smtClean="0"/>
              <a:t>11</a:t>
            </a:fld>
            <a:endParaRPr lang="en-US"/>
          </a:p>
        </p:txBody>
      </p:sp>
    </p:spTree>
    <p:extLst>
      <p:ext uri="{BB962C8B-B14F-4D97-AF65-F5344CB8AC3E}">
        <p14:creationId xmlns:p14="http://schemas.microsoft.com/office/powerpoint/2010/main" val="410464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A9027B-029C-0A41-F478-7BF78A4E2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A54576-5F4F-DC52-E279-5F03BB52EC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519C07-A7D1-DD06-180B-1E2F9373033E}"/>
              </a:ext>
            </a:extLst>
          </p:cNvPr>
          <p:cNvSpPr>
            <a:spLocks noGrp="1"/>
          </p:cNvSpPr>
          <p:nvPr>
            <p:ph type="body" idx="1"/>
          </p:nvPr>
        </p:nvSpPr>
        <p:spPr/>
        <p:txBody>
          <a:bodyPr/>
          <a:lstStyle/>
          <a:p>
            <a:r>
              <a:rPr lang="en-US" dirty="0"/>
              <a:t>Bankart – Glenoid</a:t>
            </a:r>
          </a:p>
          <a:p>
            <a:r>
              <a:rPr lang="en-US" dirty="0"/>
              <a:t>Hill-Sachs - Humerus</a:t>
            </a:r>
          </a:p>
        </p:txBody>
      </p:sp>
      <p:sp>
        <p:nvSpPr>
          <p:cNvPr id="4" name="Slide Number Placeholder 3">
            <a:extLst>
              <a:ext uri="{FF2B5EF4-FFF2-40B4-BE49-F238E27FC236}">
                <a16:creationId xmlns:a16="http://schemas.microsoft.com/office/drawing/2014/main" id="{B26B0B2C-2A8E-B29F-1AF6-7FF3937BEC64}"/>
              </a:ext>
            </a:extLst>
          </p:cNvPr>
          <p:cNvSpPr>
            <a:spLocks noGrp="1"/>
          </p:cNvSpPr>
          <p:nvPr>
            <p:ph type="sldNum" sz="quarter" idx="5"/>
          </p:nvPr>
        </p:nvSpPr>
        <p:spPr/>
        <p:txBody>
          <a:bodyPr/>
          <a:lstStyle/>
          <a:p>
            <a:fld id="{4B974EB0-C176-C649-87BA-099BB40B29D5}" type="slidenum">
              <a:rPr lang="en-US" smtClean="0"/>
              <a:t>12</a:t>
            </a:fld>
            <a:endParaRPr lang="en-US"/>
          </a:p>
        </p:txBody>
      </p:sp>
    </p:spTree>
    <p:extLst>
      <p:ext uri="{BB962C8B-B14F-4D97-AF65-F5344CB8AC3E}">
        <p14:creationId xmlns:p14="http://schemas.microsoft.com/office/powerpoint/2010/main" val="3040662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A5C69-D239-946C-8482-E28AC6D0BB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A8ED1A-32EF-A6F1-5A7E-8C39A1ED28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C74EB3-7C01-920B-5B11-53C625BACFFD}"/>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76506092-8EB9-3E3E-10D9-436E5950A62D}"/>
              </a:ext>
            </a:extLst>
          </p:cNvPr>
          <p:cNvSpPr>
            <a:spLocks noGrp="1"/>
          </p:cNvSpPr>
          <p:nvPr>
            <p:ph type="sldNum" sz="quarter" idx="5"/>
          </p:nvPr>
        </p:nvSpPr>
        <p:spPr/>
        <p:txBody>
          <a:bodyPr/>
          <a:lstStyle/>
          <a:p>
            <a:fld id="{4B974EB0-C176-C649-87BA-099BB40B29D5}" type="slidenum">
              <a:rPr lang="en-US" smtClean="0"/>
              <a:t>13</a:t>
            </a:fld>
            <a:endParaRPr lang="en-US"/>
          </a:p>
        </p:txBody>
      </p:sp>
    </p:spTree>
    <p:extLst>
      <p:ext uri="{BB962C8B-B14F-4D97-AF65-F5344CB8AC3E}">
        <p14:creationId xmlns:p14="http://schemas.microsoft.com/office/powerpoint/2010/main" val="7690596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E8D68-2F67-944D-FB59-FD69D14F82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5685E-A86D-C618-E582-96505FB05A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79D23-0432-2EA1-AAF5-037C4F1951D8}"/>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D818A2D9-899D-5C32-7A6E-1A0DD4AF47A9}"/>
              </a:ext>
            </a:extLst>
          </p:cNvPr>
          <p:cNvSpPr>
            <a:spLocks noGrp="1"/>
          </p:cNvSpPr>
          <p:nvPr>
            <p:ph type="sldNum" sz="quarter" idx="5"/>
          </p:nvPr>
        </p:nvSpPr>
        <p:spPr/>
        <p:txBody>
          <a:bodyPr/>
          <a:lstStyle/>
          <a:p>
            <a:fld id="{4B974EB0-C176-C649-87BA-099BB40B29D5}" type="slidenum">
              <a:rPr lang="en-US" smtClean="0"/>
              <a:t>14</a:t>
            </a:fld>
            <a:endParaRPr lang="en-US"/>
          </a:p>
        </p:txBody>
      </p:sp>
    </p:spTree>
    <p:extLst>
      <p:ext uri="{BB962C8B-B14F-4D97-AF65-F5344CB8AC3E}">
        <p14:creationId xmlns:p14="http://schemas.microsoft.com/office/powerpoint/2010/main" val="14275735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34E7A-D7E3-D7D6-CE16-92EE5B0C1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12B10-0CB4-88D3-92D5-9F0020117C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361B3-E022-5F59-970A-DD9336FFA856}"/>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4C9B490A-C679-479A-4DAC-1204BFEB7AFA}"/>
              </a:ext>
            </a:extLst>
          </p:cNvPr>
          <p:cNvSpPr>
            <a:spLocks noGrp="1"/>
          </p:cNvSpPr>
          <p:nvPr>
            <p:ph type="sldNum" sz="quarter" idx="5"/>
          </p:nvPr>
        </p:nvSpPr>
        <p:spPr/>
        <p:txBody>
          <a:bodyPr/>
          <a:lstStyle/>
          <a:p>
            <a:fld id="{4B974EB0-C176-C649-87BA-099BB40B29D5}" type="slidenum">
              <a:rPr lang="en-US" smtClean="0"/>
              <a:t>15</a:t>
            </a:fld>
            <a:endParaRPr lang="en-US"/>
          </a:p>
        </p:txBody>
      </p:sp>
    </p:spTree>
    <p:extLst>
      <p:ext uri="{BB962C8B-B14F-4D97-AF65-F5344CB8AC3E}">
        <p14:creationId xmlns:p14="http://schemas.microsoft.com/office/powerpoint/2010/main" val="16197952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A351B-A72E-EA9F-CF93-B357E366F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3C6340-8CC4-09E6-F5AA-060CDA5307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9E8595-58E3-513D-7223-2D92D82A9C98}"/>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75AC3424-0A28-974E-87AE-5A83408520B3}"/>
              </a:ext>
            </a:extLst>
          </p:cNvPr>
          <p:cNvSpPr>
            <a:spLocks noGrp="1"/>
          </p:cNvSpPr>
          <p:nvPr>
            <p:ph type="sldNum" sz="quarter" idx="5"/>
          </p:nvPr>
        </p:nvSpPr>
        <p:spPr/>
        <p:txBody>
          <a:bodyPr/>
          <a:lstStyle/>
          <a:p>
            <a:fld id="{4B974EB0-C176-C649-87BA-099BB40B29D5}" type="slidenum">
              <a:rPr lang="en-US" smtClean="0"/>
              <a:t>16</a:t>
            </a:fld>
            <a:endParaRPr lang="en-US"/>
          </a:p>
        </p:txBody>
      </p:sp>
    </p:spTree>
    <p:extLst>
      <p:ext uri="{BB962C8B-B14F-4D97-AF65-F5344CB8AC3E}">
        <p14:creationId xmlns:p14="http://schemas.microsoft.com/office/powerpoint/2010/main" val="3505410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30D8D-FFD6-8A94-A34F-9F3CB89FCD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9940-24B6-FFDE-F6AD-5652073302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6965A0-FA2B-8B28-D0ED-5E9D73EDC826}"/>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74D85C1D-0F83-74EB-92DB-68BC7363AE11}"/>
              </a:ext>
            </a:extLst>
          </p:cNvPr>
          <p:cNvSpPr>
            <a:spLocks noGrp="1"/>
          </p:cNvSpPr>
          <p:nvPr>
            <p:ph type="sldNum" sz="quarter" idx="5"/>
          </p:nvPr>
        </p:nvSpPr>
        <p:spPr/>
        <p:txBody>
          <a:bodyPr/>
          <a:lstStyle/>
          <a:p>
            <a:fld id="{4B974EB0-C176-C649-87BA-099BB40B29D5}" type="slidenum">
              <a:rPr lang="en-US" smtClean="0"/>
              <a:t>18</a:t>
            </a:fld>
            <a:endParaRPr lang="en-US"/>
          </a:p>
        </p:txBody>
      </p:sp>
    </p:spTree>
    <p:extLst>
      <p:ext uri="{BB962C8B-B14F-4D97-AF65-F5344CB8AC3E}">
        <p14:creationId xmlns:p14="http://schemas.microsoft.com/office/powerpoint/2010/main" val="2034654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2EC692-2EA6-9B49-A7B7-FAFF3105AEA6}" type="slidenum">
              <a:rPr lang="en-US" smtClean="0"/>
              <a:t>19</a:t>
            </a:fld>
            <a:endParaRPr lang="en-US"/>
          </a:p>
        </p:txBody>
      </p:sp>
    </p:spTree>
    <p:extLst>
      <p:ext uri="{BB962C8B-B14F-4D97-AF65-F5344CB8AC3E}">
        <p14:creationId xmlns:p14="http://schemas.microsoft.com/office/powerpoint/2010/main" val="3304746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2EC692-2EA6-9B49-A7B7-FAFF3105AEA6}" type="slidenum">
              <a:rPr lang="en-US" smtClean="0"/>
              <a:t>20</a:t>
            </a:fld>
            <a:endParaRPr lang="en-US"/>
          </a:p>
        </p:txBody>
      </p:sp>
    </p:spTree>
    <p:extLst>
      <p:ext uri="{BB962C8B-B14F-4D97-AF65-F5344CB8AC3E}">
        <p14:creationId xmlns:p14="http://schemas.microsoft.com/office/powerpoint/2010/main" val="34331399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45C8D-DCD0-3E5C-42F6-52BDDBB10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9FA2E-16C7-ED84-45F4-B8A9CAF48D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3E0DE6-9EAB-B776-7A86-6F24E5D351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EA26FC-5CC9-ADB7-EE6E-5643CE5F77A7}"/>
              </a:ext>
            </a:extLst>
          </p:cNvPr>
          <p:cNvSpPr>
            <a:spLocks noGrp="1"/>
          </p:cNvSpPr>
          <p:nvPr>
            <p:ph type="sldNum" sz="quarter" idx="5"/>
          </p:nvPr>
        </p:nvSpPr>
        <p:spPr/>
        <p:txBody>
          <a:bodyPr/>
          <a:lstStyle/>
          <a:p>
            <a:fld id="{0D2EC692-2EA6-9B49-A7B7-FAFF3105AEA6}" type="slidenum">
              <a:rPr lang="en-US" smtClean="0"/>
              <a:t>21</a:t>
            </a:fld>
            <a:endParaRPr lang="en-US"/>
          </a:p>
        </p:txBody>
      </p:sp>
    </p:spTree>
    <p:extLst>
      <p:ext uri="{BB962C8B-B14F-4D97-AF65-F5344CB8AC3E}">
        <p14:creationId xmlns:p14="http://schemas.microsoft.com/office/powerpoint/2010/main" val="29369409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F3249-69B1-8070-19A5-1B25A65F1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ABD43F-92CB-8D1F-C22F-F1C111418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D48C9-AB01-F446-616F-2409592D79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D2EAC-7F24-8119-A86E-0397D3616E05}"/>
              </a:ext>
            </a:extLst>
          </p:cNvPr>
          <p:cNvSpPr>
            <a:spLocks noGrp="1"/>
          </p:cNvSpPr>
          <p:nvPr>
            <p:ph type="sldNum" sz="quarter" idx="5"/>
          </p:nvPr>
        </p:nvSpPr>
        <p:spPr/>
        <p:txBody>
          <a:bodyPr/>
          <a:lstStyle/>
          <a:p>
            <a:fld id="{0D2EC692-2EA6-9B49-A7B7-FAFF3105AEA6}" type="slidenum">
              <a:rPr lang="en-US" smtClean="0"/>
              <a:t>22</a:t>
            </a:fld>
            <a:endParaRPr lang="en-US"/>
          </a:p>
        </p:txBody>
      </p:sp>
    </p:spTree>
    <p:extLst>
      <p:ext uri="{BB962C8B-B14F-4D97-AF65-F5344CB8AC3E}">
        <p14:creationId xmlns:p14="http://schemas.microsoft.com/office/powerpoint/2010/main" val="20245067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1CA71-F576-DB69-DB32-D143E2B454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C8FC8A-843A-75CA-004B-7F75EB4EAE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62BFC-16DF-152F-72BE-65000861C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4A66D9-6B22-929E-EE40-B82CBF10C046}"/>
              </a:ext>
            </a:extLst>
          </p:cNvPr>
          <p:cNvSpPr>
            <a:spLocks noGrp="1"/>
          </p:cNvSpPr>
          <p:nvPr>
            <p:ph type="sldNum" sz="quarter" idx="5"/>
          </p:nvPr>
        </p:nvSpPr>
        <p:spPr/>
        <p:txBody>
          <a:bodyPr/>
          <a:lstStyle/>
          <a:p>
            <a:fld id="{0D2EC692-2EA6-9B49-A7B7-FAFF3105AEA6}" type="slidenum">
              <a:rPr lang="en-US" smtClean="0"/>
              <a:t>23</a:t>
            </a:fld>
            <a:endParaRPr lang="en-US"/>
          </a:p>
        </p:txBody>
      </p:sp>
    </p:spTree>
    <p:extLst>
      <p:ext uri="{BB962C8B-B14F-4D97-AF65-F5344CB8AC3E}">
        <p14:creationId xmlns:p14="http://schemas.microsoft.com/office/powerpoint/2010/main" val="18569791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C3433-8CC0-8F8A-3802-D129B9DA6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92B4A-24F5-5257-458D-5061A38A85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1A37B2-4845-FAFB-435A-DCBEF5F3300D}"/>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50D18B4F-C2D3-A976-358E-9609233E42A3}"/>
              </a:ext>
            </a:extLst>
          </p:cNvPr>
          <p:cNvSpPr>
            <a:spLocks noGrp="1"/>
          </p:cNvSpPr>
          <p:nvPr>
            <p:ph type="sldNum" sz="quarter" idx="5"/>
          </p:nvPr>
        </p:nvSpPr>
        <p:spPr/>
        <p:txBody>
          <a:bodyPr/>
          <a:lstStyle/>
          <a:p>
            <a:fld id="{4B974EB0-C176-C649-87BA-099BB40B29D5}" type="slidenum">
              <a:rPr lang="en-US" smtClean="0"/>
              <a:t>25</a:t>
            </a:fld>
            <a:endParaRPr lang="en-US"/>
          </a:p>
        </p:txBody>
      </p:sp>
    </p:spTree>
    <p:extLst>
      <p:ext uri="{BB962C8B-B14F-4D97-AF65-F5344CB8AC3E}">
        <p14:creationId xmlns:p14="http://schemas.microsoft.com/office/powerpoint/2010/main" val="16438758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B4FBB-C384-5BCE-1D07-4E82985CF0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E0C62-F3B6-2087-5CCD-E03BA4573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F8F736-E609-B6A1-71BD-13C8A6BC5834}"/>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C04CF96C-2F79-AE43-840E-375453C5F2BC}"/>
              </a:ext>
            </a:extLst>
          </p:cNvPr>
          <p:cNvSpPr>
            <a:spLocks noGrp="1"/>
          </p:cNvSpPr>
          <p:nvPr>
            <p:ph type="sldNum" sz="quarter" idx="5"/>
          </p:nvPr>
        </p:nvSpPr>
        <p:spPr/>
        <p:txBody>
          <a:bodyPr/>
          <a:lstStyle/>
          <a:p>
            <a:fld id="{4B974EB0-C176-C649-87BA-099BB40B29D5}" type="slidenum">
              <a:rPr lang="en-US" smtClean="0"/>
              <a:t>26</a:t>
            </a:fld>
            <a:endParaRPr lang="en-US"/>
          </a:p>
        </p:txBody>
      </p:sp>
    </p:spTree>
    <p:extLst>
      <p:ext uri="{BB962C8B-B14F-4D97-AF65-F5344CB8AC3E}">
        <p14:creationId xmlns:p14="http://schemas.microsoft.com/office/powerpoint/2010/main" val="23634348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ADB26B-711B-4101-C0FE-110197DB43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E80314-9507-E392-8E93-3AF010C30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FCA44-F905-BB28-A497-51DDAD75B5CE}"/>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C66B1E0E-CFDE-C1BB-6B6B-AA85D533CB8E}"/>
              </a:ext>
            </a:extLst>
          </p:cNvPr>
          <p:cNvSpPr>
            <a:spLocks noGrp="1"/>
          </p:cNvSpPr>
          <p:nvPr>
            <p:ph type="sldNum" sz="quarter" idx="5"/>
          </p:nvPr>
        </p:nvSpPr>
        <p:spPr/>
        <p:txBody>
          <a:bodyPr/>
          <a:lstStyle/>
          <a:p>
            <a:fld id="{4B974EB0-C176-C649-87BA-099BB40B29D5}" type="slidenum">
              <a:rPr lang="en-US" smtClean="0"/>
              <a:t>27</a:t>
            </a:fld>
            <a:endParaRPr lang="en-US"/>
          </a:p>
        </p:txBody>
      </p:sp>
    </p:spTree>
    <p:extLst>
      <p:ext uri="{BB962C8B-B14F-4D97-AF65-F5344CB8AC3E}">
        <p14:creationId xmlns:p14="http://schemas.microsoft.com/office/powerpoint/2010/main" val="3524510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A848C-1BD6-B0F0-35E5-E521DA45B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53185-CC1F-A75D-AABB-C3A19AA383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71A5E-4E0B-4F26-2CBB-B624A633A50D}"/>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4642BBA5-516E-B9EB-A669-3C523B206639}"/>
              </a:ext>
            </a:extLst>
          </p:cNvPr>
          <p:cNvSpPr>
            <a:spLocks noGrp="1"/>
          </p:cNvSpPr>
          <p:nvPr>
            <p:ph type="sldNum" sz="quarter" idx="5"/>
          </p:nvPr>
        </p:nvSpPr>
        <p:spPr/>
        <p:txBody>
          <a:bodyPr/>
          <a:lstStyle/>
          <a:p>
            <a:fld id="{4B974EB0-C176-C649-87BA-099BB40B29D5}" type="slidenum">
              <a:rPr lang="en-US" smtClean="0"/>
              <a:t>29</a:t>
            </a:fld>
            <a:endParaRPr lang="en-US"/>
          </a:p>
        </p:txBody>
      </p:sp>
    </p:spTree>
    <p:extLst>
      <p:ext uri="{BB962C8B-B14F-4D97-AF65-F5344CB8AC3E}">
        <p14:creationId xmlns:p14="http://schemas.microsoft.com/office/powerpoint/2010/main" val="16432028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DBCA-7E20-1DC4-40E7-A1EDBAD393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DC50F-F633-B67C-2371-838A0BDA0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100FFB-1F1D-16AF-133F-F09E91BDF95C}"/>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9F428B92-B626-BB3B-C9BD-6D5F43759EBF}"/>
              </a:ext>
            </a:extLst>
          </p:cNvPr>
          <p:cNvSpPr>
            <a:spLocks noGrp="1"/>
          </p:cNvSpPr>
          <p:nvPr>
            <p:ph type="sldNum" sz="quarter" idx="5"/>
          </p:nvPr>
        </p:nvSpPr>
        <p:spPr/>
        <p:txBody>
          <a:bodyPr/>
          <a:lstStyle/>
          <a:p>
            <a:fld id="{4B974EB0-C176-C649-87BA-099BB40B29D5}" type="slidenum">
              <a:rPr lang="en-US" smtClean="0"/>
              <a:t>30</a:t>
            </a:fld>
            <a:endParaRPr lang="en-US"/>
          </a:p>
        </p:txBody>
      </p:sp>
    </p:spTree>
    <p:extLst>
      <p:ext uri="{BB962C8B-B14F-4D97-AF65-F5344CB8AC3E}">
        <p14:creationId xmlns:p14="http://schemas.microsoft.com/office/powerpoint/2010/main" val="23345778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1B6A8-C167-F40D-7D46-460447DD7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DA35A4-635A-79BC-E396-350527D8C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8884F-51F2-85E4-6109-BBF572FF2BDC}"/>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020BF7A3-A920-F982-D42E-E9F5D2464C28}"/>
              </a:ext>
            </a:extLst>
          </p:cNvPr>
          <p:cNvSpPr>
            <a:spLocks noGrp="1"/>
          </p:cNvSpPr>
          <p:nvPr>
            <p:ph type="sldNum" sz="quarter" idx="5"/>
          </p:nvPr>
        </p:nvSpPr>
        <p:spPr/>
        <p:txBody>
          <a:bodyPr/>
          <a:lstStyle/>
          <a:p>
            <a:fld id="{4B974EB0-C176-C649-87BA-099BB40B29D5}" type="slidenum">
              <a:rPr lang="en-US" smtClean="0"/>
              <a:t>31</a:t>
            </a:fld>
            <a:endParaRPr lang="en-US"/>
          </a:p>
        </p:txBody>
      </p:sp>
    </p:spTree>
    <p:extLst>
      <p:ext uri="{BB962C8B-B14F-4D97-AF65-F5344CB8AC3E}">
        <p14:creationId xmlns:p14="http://schemas.microsoft.com/office/powerpoint/2010/main" val="34769546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CDEF6-1437-9207-4C80-B66F133568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E30D75-E925-6CD2-6E34-DB016F52A0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644ABD-001B-9AEF-1B2E-E8163809E679}"/>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7EE4A9C3-5C3D-0594-1676-EEE8F66E082E}"/>
              </a:ext>
            </a:extLst>
          </p:cNvPr>
          <p:cNvSpPr>
            <a:spLocks noGrp="1"/>
          </p:cNvSpPr>
          <p:nvPr>
            <p:ph type="sldNum" sz="quarter" idx="5"/>
          </p:nvPr>
        </p:nvSpPr>
        <p:spPr/>
        <p:txBody>
          <a:bodyPr/>
          <a:lstStyle/>
          <a:p>
            <a:fld id="{4B974EB0-C176-C649-87BA-099BB40B29D5}" type="slidenum">
              <a:rPr lang="en-US" smtClean="0"/>
              <a:t>32</a:t>
            </a:fld>
            <a:endParaRPr lang="en-US"/>
          </a:p>
        </p:txBody>
      </p:sp>
    </p:spTree>
    <p:extLst>
      <p:ext uri="{BB962C8B-B14F-4D97-AF65-F5344CB8AC3E}">
        <p14:creationId xmlns:p14="http://schemas.microsoft.com/office/powerpoint/2010/main" val="37482814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864FA-ED68-6D74-EBB3-F4DBF232C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6403F4-0312-861E-89F5-9D61FEFA0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CE82B-47C2-9834-294E-402C1054EE03}"/>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E5749304-DD9B-88D1-2CAF-1CDB87CB603D}"/>
              </a:ext>
            </a:extLst>
          </p:cNvPr>
          <p:cNvSpPr>
            <a:spLocks noGrp="1"/>
          </p:cNvSpPr>
          <p:nvPr>
            <p:ph type="sldNum" sz="quarter" idx="5"/>
          </p:nvPr>
        </p:nvSpPr>
        <p:spPr/>
        <p:txBody>
          <a:bodyPr/>
          <a:lstStyle/>
          <a:p>
            <a:fld id="{4B974EB0-C176-C649-87BA-099BB40B29D5}" type="slidenum">
              <a:rPr lang="en-US" smtClean="0"/>
              <a:t>33</a:t>
            </a:fld>
            <a:endParaRPr lang="en-US"/>
          </a:p>
        </p:txBody>
      </p:sp>
    </p:spTree>
    <p:extLst>
      <p:ext uri="{BB962C8B-B14F-4D97-AF65-F5344CB8AC3E}">
        <p14:creationId xmlns:p14="http://schemas.microsoft.com/office/powerpoint/2010/main" val="4734616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6DB99-793F-38D1-6419-1A969B6F7E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5B6B4-51E8-89C3-09FE-43377693E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6E338-EA32-40D6-75B5-DF2E22E2504E}"/>
              </a:ext>
            </a:extLst>
          </p:cNvPr>
          <p:cNvSpPr>
            <a:spLocks noGrp="1"/>
          </p:cNvSpPr>
          <p:nvPr>
            <p:ph type="body" idx="1"/>
          </p:nvPr>
        </p:nvSpPr>
        <p:spPr/>
        <p:txBody>
          <a:bodyPr/>
          <a:lstStyle/>
          <a:p>
            <a:r>
              <a:rPr lang="en-US" dirty="0"/>
              <a:t>GIVE EXAMPLES</a:t>
            </a:r>
          </a:p>
        </p:txBody>
      </p:sp>
      <p:sp>
        <p:nvSpPr>
          <p:cNvPr id="4" name="Slide Number Placeholder 3">
            <a:extLst>
              <a:ext uri="{FF2B5EF4-FFF2-40B4-BE49-F238E27FC236}">
                <a16:creationId xmlns:a16="http://schemas.microsoft.com/office/drawing/2014/main" id="{9981110A-435E-7A2E-2D67-DE4BD2456858}"/>
              </a:ext>
            </a:extLst>
          </p:cNvPr>
          <p:cNvSpPr>
            <a:spLocks noGrp="1"/>
          </p:cNvSpPr>
          <p:nvPr>
            <p:ph type="sldNum" sz="quarter" idx="5"/>
          </p:nvPr>
        </p:nvSpPr>
        <p:spPr/>
        <p:txBody>
          <a:bodyPr/>
          <a:lstStyle/>
          <a:p>
            <a:fld id="{4B974EB0-C176-C649-87BA-099BB40B29D5}" type="slidenum">
              <a:rPr lang="en-US" smtClean="0"/>
              <a:t>34</a:t>
            </a:fld>
            <a:endParaRPr lang="en-US"/>
          </a:p>
        </p:txBody>
      </p:sp>
    </p:spTree>
    <p:extLst>
      <p:ext uri="{BB962C8B-B14F-4D97-AF65-F5344CB8AC3E}">
        <p14:creationId xmlns:p14="http://schemas.microsoft.com/office/powerpoint/2010/main" val="32091830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4B974EB0-C176-C649-87BA-099BB40B29D5}" type="slidenum">
              <a:rPr lang="en-US" smtClean="0"/>
              <a:t>35</a:t>
            </a:fld>
            <a:endParaRPr lang="en-US"/>
          </a:p>
        </p:txBody>
      </p:sp>
    </p:spTree>
    <p:extLst>
      <p:ext uri="{BB962C8B-B14F-4D97-AF65-F5344CB8AC3E}">
        <p14:creationId xmlns:p14="http://schemas.microsoft.com/office/powerpoint/2010/main" val="8920561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COSMOS GRAPHIC WHITE.png">
            <a:extLst>
              <a:ext uri="{FF2B5EF4-FFF2-40B4-BE49-F238E27FC236}">
                <a16:creationId xmlns:a16="http://schemas.microsoft.com/office/drawing/2014/main" id="{4E39732B-FD9A-0B46-BA5C-172E437FDDEB}"/>
              </a:ext>
            </a:extLst>
          </p:cNvPr>
          <p:cNvPicPr>
            <a:picLocks noChangeAspect="1"/>
          </p:cNvPicPr>
          <p:nvPr userDrawn="1"/>
        </p:nvPicPr>
        <p:blipFill rotWithShape="1">
          <a:blip r:embed="rId2"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Tree>
    <p:extLst>
      <p:ext uri="{BB962C8B-B14F-4D97-AF65-F5344CB8AC3E}">
        <p14:creationId xmlns:p14="http://schemas.microsoft.com/office/powerpoint/2010/main" val="8573908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068BD-D4F1-B44A-A0AF-7BA1C0B0DAB6}"/>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0A7F7D1-AEAD-0D4B-8685-4AFFDA992BBC}"/>
              </a:ext>
            </a:extLst>
          </p:cNvPr>
          <p:cNvSpPr>
            <a:spLocks noGrp="1"/>
          </p:cNvSpPr>
          <p:nvPr>
            <p:ph idx="1"/>
          </p:nvPr>
        </p:nvSpPr>
        <p:spPr>
          <a:xfrm>
            <a:off x="838200" y="1825625"/>
            <a:ext cx="10515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0513C7C-F758-284F-A1BE-FBCD42A4DA43}"/>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5" name="Footer Placeholder 4">
            <a:extLst>
              <a:ext uri="{FF2B5EF4-FFF2-40B4-BE49-F238E27FC236}">
                <a16:creationId xmlns:a16="http://schemas.microsoft.com/office/drawing/2014/main" id="{8892F252-D7F4-2A43-8113-4952B2FDA36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A4C7886-872F-F948-8364-BB69621D27F0}"/>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266301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5791E-E420-004B-A287-2DC8E0E4DA7E}"/>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D0284E5B-4801-4B40-9985-AA4CEC359FE0}"/>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A64BD4E-485A-6F45-8654-005A19F93B00}"/>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5" name="Footer Placeholder 4">
            <a:extLst>
              <a:ext uri="{FF2B5EF4-FFF2-40B4-BE49-F238E27FC236}">
                <a16:creationId xmlns:a16="http://schemas.microsoft.com/office/drawing/2014/main" id="{2041B819-6036-8F49-86F4-510AF362791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E33185B-AA3D-634C-8D44-0A912242A069}"/>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2747488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D11FF-BA2F-D541-8836-45860C815F99}"/>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69810EA-08D9-DD44-A2B9-7ED4493F730B}"/>
              </a:ext>
            </a:extLst>
          </p:cNvPr>
          <p:cNvSpPr>
            <a:spLocks noGrp="1"/>
          </p:cNvSpPr>
          <p:nvPr>
            <p:ph sz="half" idx="1"/>
          </p:nvPr>
        </p:nvSpPr>
        <p:spPr>
          <a:xfrm>
            <a:off x="838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651D43D8-3BD3-6448-8697-693C9E82B4F0}"/>
              </a:ext>
            </a:extLst>
          </p:cNvPr>
          <p:cNvSpPr>
            <a:spLocks noGrp="1"/>
          </p:cNvSpPr>
          <p:nvPr>
            <p:ph sz="half" idx="2"/>
          </p:nvPr>
        </p:nvSpPr>
        <p:spPr>
          <a:xfrm>
            <a:off x="6172200" y="1825625"/>
            <a:ext cx="5181600" cy="435133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908D2FE-92BF-504F-94F6-6C7E20D7B292}"/>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6" name="Footer Placeholder 5">
            <a:extLst>
              <a:ext uri="{FF2B5EF4-FFF2-40B4-BE49-F238E27FC236}">
                <a16:creationId xmlns:a16="http://schemas.microsoft.com/office/drawing/2014/main" id="{D0264DC3-6534-3141-98AB-A53DD2C7D5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059D5F6-2C1C-7645-AADA-95771E19F519}"/>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3129401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9B3CE-B573-5248-9049-944E320563A8}"/>
              </a:ext>
            </a:extLst>
          </p:cNvPr>
          <p:cNvSpPr>
            <a:spLocks noGrp="1"/>
          </p:cNvSpPr>
          <p:nvPr>
            <p:ph type="title"/>
          </p:nvPr>
        </p:nvSpPr>
        <p:spPr>
          <a:xfrm>
            <a:off x="839788" y="365125"/>
            <a:ext cx="10515600" cy="1325563"/>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0D664FE-1518-534B-991B-189216B46F2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DDA2B9-DA32-0A40-A877-D81B98E08A4E}"/>
              </a:ext>
            </a:extLst>
          </p:cNvPr>
          <p:cNvSpPr>
            <a:spLocks noGrp="1"/>
          </p:cNvSpPr>
          <p:nvPr>
            <p:ph sz="half" idx="2"/>
          </p:nvPr>
        </p:nvSpPr>
        <p:spPr>
          <a:xfrm>
            <a:off x="839788" y="2505075"/>
            <a:ext cx="5157787"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06901C1-807B-164A-BABB-D8E9521D5F0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C8A3231-8FFC-D34A-BB9D-1EE5127A3894}"/>
              </a:ext>
            </a:extLst>
          </p:cNvPr>
          <p:cNvSpPr>
            <a:spLocks noGrp="1"/>
          </p:cNvSpPr>
          <p:nvPr>
            <p:ph sz="quarter" idx="4"/>
          </p:nvPr>
        </p:nvSpPr>
        <p:spPr>
          <a:xfrm>
            <a:off x="6172200" y="2505075"/>
            <a:ext cx="5183188" cy="3684588"/>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67E9C66-08D1-3348-8BCE-7C8EAA2EEFFE}"/>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8" name="Footer Placeholder 7">
            <a:extLst>
              <a:ext uri="{FF2B5EF4-FFF2-40B4-BE49-F238E27FC236}">
                <a16:creationId xmlns:a16="http://schemas.microsoft.com/office/drawing/2014/main" id="{D8C10D59-BC1F-9D49-BFF4-C7CCDD4685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3CF8E0AF-2F45-C142-ABED-89F359A17FFF}"/>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34739419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2A1280-F915-4A4D-B7DB-CD9B3CC76B4B}"/>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4CB7D21-3B6D-2E48-B34B-B8FC4D90F6E0}"/>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4" name="Footer Placeholder 3">
            <a:extLst>
              <a:ext uri="{FF2B5EF4-FFF2-40B4-BE49-F238E27FC236}">
                <a16:creationId xmlns:a16="http://schemas.microsoft.com/office/drawing/2014/main" id="{24B411CF-256E-3C43-85D9-80324D6E08F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C01B046E-206D-7A47-86EC-663267F475F1}"/>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10014927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577EF4-50D3-E449-B764-028F51E336C7}"/>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3" name="Footer Placeholder 2">
            <a:extLst>
              <a:ext uri="{FF2B5EF4-FFF2-40B4-BE49-F238E27FC236}">
                <a16:creationId xmlns:a16="http://schemas.microsoft.com/office/drawing/2014/main" id="{84C0A931-7AD1-B244-8EBD-FE0671A3D45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163A3F74-2FB1-4345-9097-C5C662150BC6}"/>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566943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94B43-F1E1-9B4D-8670-7E8CEF77CDB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7B814E3-77A7-CD40-8B69-8A36E225EB4D}"/>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AD03B14-53C7-D54C-B149-2D06026F0C6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1E83A3D-A7BE-4048-BA98-B60F0B1AD66D}"/>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6" name="Footer Placeholder 5">
            <a:extLst>
              <a:ext uri="{FF2B5EF4-FFF2-40B4-BE49-F238E27FC236}">
                <a16:creationId xmlns:a16="http://schemas.microsoft.com/office/drawing/2014/main" id="{D4AD88C2-27A9-5F42-BFC9-F6E1D8DFFBE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15DC91B-CB5A-A248-B89A-C11EE5E0D1B6}"/>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3111831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33ECF-8DE2-8945-A7FC-DE471848C569}"/>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6D55661-1264-FF48-824B-CD147A650131}"/>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3A78369-719C-184B-8E01-726A291055D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FD14C11-61C7-1E4D-9271-EF7F760DDDD3}"/>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6" name="Footer Placeholder 5">
            <a:extLst>
              <a:ext uri="{FF2B5EF4-FFF2-40B4-BE49-F238E27FC236}">
                <a16:creationId xmlns:a16="http://schemas.microsoft.com/office/drawing/2014/main" id="{C72DDF53-98BC-404A-BB1B-A0C23414BAA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B985852-578B-A344-82B0-CE36729935C5}"/>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1458434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8F03E-FCFC-8E43-A45C-99062C2C9DC4}"/>
              </a:ext>
            </a:extLst>
          </p:cNvPr>
          <p:cNvSpPr>
            <a:spLocks noGrp="1"/>
          </p:cNvSpPr>
          <p:nvPr>
            <p:ph type="title"/>
          </p:nvPr>
        </p:nvSpPr>
        <p:spPr>
          <a:xfrm>
            <a:off x="838200" y="365125"/>
            <a:ext cx="10515600" cy="1325563"/>
          </a:xfrm>
          <a:prstGeom prst="rect">
            <a:avLst/>
          </a:prstGeom>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A3AE173-4A3F-304C-AC12-FF7009B677E2}"/>
              </a:ext>
            </a:extLst>
          </p:cNvPr>
          <p:cNvSpPr>
            <a:spLocks noGrp="1"/>
          </p:cNvSpPr>
          <p:nvPr>
            <p:ph type="body" orient="vert" idx="1"/>
          </p:nvPr>
        </p:nvSpPr>
        <p:spPr>
          <a:xfrm>
            <a:off x="838200" y="1825625"/>
            <a:ext cx="10515600" cy="43513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CAF49F-1440-C649-A085-67D354B07C58}"/>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5" name="Footer Placeholder 4">
            <a:extLst>
              <a:ext uri="{FF2B5EF4-FFF2-40B4-BE49-F238E27FC236}">
                <a16:creationId xmlns:a16="http://schemas.microsoft.com/office/drawing/2014/main" id="{E2A696FF-DA04-0E4F-9F94-8E4526F7C02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C38560EA-5DDE-D342-B00D-DC0FD14F3A54}"/>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7955166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2C61D0-5A70-A848-ABFA-F2E54F40CA7C}"/>
              </a:ext>
            </a:extLst>
          </p:cNvPr>
          <p:cNvSpPr>
            <a:spLocks noGrp="1"/>
          </p:cNvSpPr>
          <p:nvPr>
            <p:ph type="title" orient="vert"/>
          </p:nvPr>
        </p:nvSpPr>
        <p:spPr>
          <a:xfrm>
            <a:off x="8724900" y="365125"/>
            <a:ext cx="2628900" cy="5811838"/>
          </a:xfrm>
          <a:prstGeom prst="rect">
            <a:avLst/>
          </a:prstGeo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82F39A-6F7F-5944-A55F-B8028BA76C19}"/>
              </a:ext>
            </a:extLst>
          </p:cNvPr>
          <p:cNvSpPr>
            <a:spLocks noGrp="1"/>
          </p:cNvSpPr>
          <p:nvPr>
            <p:ph type="body" orient="vert" idx="1"/>
          </p:nvPr>
        </p:nvSpPr>
        <p:spPr>
          <a:xfrm>
            <a:off x="838200" y="365125"/>
            <a:ext cx="7734300" cy="5811838"/>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A5137BB-1CF8-4940-957F-896A01B573B0}"/>
              </a:ext>
            </a:extLst>
          </p:cNvPr>
          <p:cNvSpPr>
            <a:spLocks noGrp="1"/>
          </p:cNvSpPr>
          <p:nvPr>
            <p:ph type="dt" sz="half" idx="10"/>
          </p:nvPr>
        </p:nvSpPr>
        <p:spPr>
          <a:xfrm>
            <a:off x="838200" y="6356350"/>
            <a:ext cx="2743200" cy="365125"/>
          </a:xfrm>
          <a:prstGeom prst="rect">
            <a:avLst/>
          </a:prstGeom>
        </p:spPr>
        <p:txBody>
          <a:bodyPr/>
          <a:lstStyle/>
          <a:p>
            <a:fld id="{293F7FCA-B98C-5443-819E-01198C1D8559}" type="datetimeFigureOut">
              <a:rPr lang="en-US" smtClean="0"/>
              <a:t>4/3/2025</a:t>
            </a:fld>
            <a:endParaRPr lang="en-US"/>
          </a:p>
        </p:txBody>
      </p:sp>
      <p:sp>
        <p:nvSpPr>
          <p:cNvPr id="5" name="Footer Placeholder 4">
            <a:extLst>
              <a:ext uri="{FF2B5EF4-FFF2-40B4-BE49-F238E27FC236}">
                <a16:creationId xmlns:a16="http://schemas.microsoft.com/office/drawing/2014/main" id="{919600AD-6852-9A43-8D8D-F128536C439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ECD51B65-BB70-3F42-AACE-F743E88D275F}"/>
              </a:ext>
            </a:extLst>
          </p:cNvPr>
          <p:cNvSpPr>
            <a:spLocks noGrp="1"/>
          </p:cNvSpPr>
          <p:nvPr>
            <p:ph type="sldNum" sz="quarter" idx="12"/>
          </p:nvPr>
        </p:nvSpPr>
        <p:spPr>
          <a:xfrm>
            <a:off x="8610600" y="6356350"/>
            <a:ext cx="2743200" cy="365125"/>
          </a:xfrm>
          <a:prstGeom prst="rect">
            <a:avLst/>
          </a:prstGeom>
        </p:spPr>
        <p:txBody>
          <a:bodyPr/>
          <a:lstStyle/>
          <a:p>
            <a:fld id="{DE168736-9FB9-DD4D-A5D5-174D432C7669}" type="slidenum">
              <a:rPr lang="en-US" smtClean="0"/>
              <a:t>‹#›</a:t>
            </a:fld>
            <a:endParaRPr lang="en-US"/>
          </a:p>
        </p:txBody>
      </p:sp>
    </p:spTree>
    <p:extLst>
      <p:ext uri="{BB962C8B-B14F-4D97-AF65-F5344CB8AC3E}">
        <p14:creationId xmlns:p14="http://schemas.microsoft.com/office/powerpoint/2010/main" val="20837822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AC127-723C-444C-B450-44AF50065F0B}"/>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D515366-B3FD-5A41-BE20-EF502A8F10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EDEA8C3-9F17-0E4E-802D-88D6F8B507C1}"/>
              </a:ext>
            </a:extLst>
          </p:cNvPr>
          <p:cNvSpPr>
            <a:spLocks noGrp="1"/>
          </p:cNvSpPr>
          <p:nvPr>
            <p:ph type="dt" sz="half" idx="10"/>
          </p:nvPr>
        </p:nvSpPr>
        <p:spPr/>
        <p:txBody>
          <a:bodyPr/>
          <a:lstStyle/>
          <a:p>
            <a:fld id="{FD20B265-616D-ED4D-93C3-A0ADFF0D94FC}" type="datetimeFigureOut">
              <a:rPr lang="en-US" smtClean="0"/>
              <a:t>4/3/2025</a:t>
            </a:fld>
            <a:endParaRPr lang="en-US"/>
          </a:p>
        </p:txBody>
      </p:sp>
      <p:sp>
        <p:nvSpPr>
          <p:cNvPr id="5" name="Footer Placeholder 4">
            <a:extLst>
              <a:ext uri="{FF2B5EF4-FFF2-40B4-BE49-F238E27FC236}">
                <a16:creationId xmlns:a16="http://schemas.microsoft.com/office/drawing/2014/main" id="{F0F469CE-F6EA-6348-B7D7-3D5A67E98B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2DEE2D-FAB4-D643-B31A-B33B89916478}"/>
              </a:ext>
            </a:extLst>
          </p:cNvPr>
          <p:cNvSpPr>
            <a:spLocks noGrp="1"/>
          </p:cNvSpPr>
          <p:nvPr>
            <p:ph type="sldNum" sz="quarter" idx="12"/>
          </p:nvPr>
        </p:nvSpPr>
        <p:spPr/>
        <p:txBody>
          <a:bodyPr/>
          <a:lstStyle/>
          <a:p>
            <a:fld id="{7ACD8B96-5D9D-1845-B636-D15AD42BD7F6}" type="slidenum">
              <a:rPr lang="en-US" smtClean="0"/>
              <a:t>‹#›</a:t>
            </a:fld>
            <a:endParaRPr lang="en-US"/>
          </a:p>
        </p:txBody>
      </p:sp>
    </p:spTree>
    <p:extLst>
      <p:ext uri="{BB962C8B-B14F-4D97-AF65-F5344CB8AC3E}">
        <p14:creationId xmlns:p14="http://schemas.microsoft.com/office/powerpoint/2010/main" val="2363524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5BAD24"/>
            </a:gs>
            <a:gs pos="56000">
              <a:srgbClr val="326014"/>
            </a:gs>
            <a:gs pos="100000">
              <a:srgbClr val="326014"/>
            </a:gs>
          </a:gsLst>
          <a:path path="circle">
            <a:fillToRect l="50000" t="130000" r="50000" b="-30000"/>
          </a:path>
          <a:tileRect/>
        </a:gradFill>
        <a:effectLst/>
      </p:bgPr>
    </p:bg>
    <p:spTree>
      <p:nvGrpSpPr>
        <p:cNvPr id="1" name=""/>
        <p:cNvGrpSpPr/>
        <p:nvPr/>
      </p:nvGrpSpPr>
      <p:grpSpPr>
        <a:xfrm>
          <a:off x="0" y="0"/>
          <a:ext cx="0" cy="0"/>
          <a:chOff x="0" y="0"/>
          <a:chExt cx="0" cy="0"/>
        </a:xfrm>
      </p:grpSpPr>
      <p:pic>
        <p:nvPicPr>
          <p:cNvPr id="7" name="Picture 6" descr="COSMOS GRAPHIC WHITE.png">
            <a:extLst>
              <a:ext uri="{FF2B5EF4-FFF2-40B4-BE49-F238E27FC236}">
                <a16:creationId xmlns:a16="http://schemas.microsoft.com/office/drawing/2014/main" id="{A952C9EA-1F09-9640-8E85-A898C379F234}"/>
              </a:ext>
            </a:extLst>
          </p:cNvPr>
          <p:cNvPicPr>
            <a:picLocks noChangeAspect="1"/>
          </p:cNvPicPr>
          <p:nvPr userDrawn="1"/>
        </p:nvPicPr>
        <p:blipFill rotWithShape="1">
          <a:blip r:embed="rId14"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Tree>
    <p:extLst>
      <p:ext uri="{BB962C8B-B14F-4D97-AF65-F5344CB8AC3E}">
        <p14:creationId xmlns:p14="http://schemas.microsoft.com/office/powerpoint/2010/main" val="12406771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png"/><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0.ti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2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jpg"/><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26.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2.jpg"/></Relationships>
</file>

<file path=ppt/slides/_rels/slide27.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jpg"/></Relationships>
</file>

<file path=ppt/slides/_rels/slide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0F750D4-7022-FB47-A147-F06D979A9FE9}"/>
              </a:ext>
            </a:extLst>
          </p:cNvPr>
          <p:cNvSpPr txBox="1">
            <a:spLocks/>
          </p:cNvSpPr>
          <p:nvPr/>
        </p:nvSpPr>
        <p:spPr>
          <a:xfrm>
            <a:off x="859367" y="2068290"/>
            <a:ext cx="7766936" cy="181791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00000"/>
              </a:lnSpc>
              <a:spcBef>
                <a:spcPts val="0"/>
              </a:spcBef>
            </a:pPr>
            <a:r>
              <a:rPr lang="en-GB" sz="3600" dirty="0">
                <a:solidFill>
                  <a:schemeClr val="bg1"/>
                </a:solidFill>
                <a:latin typeface="Arial" panose="020B0604020202020204" pitchFamily="34" charset="0"/>
                <a:cs typeface="Arial" panose="020B0604020202020204" pitchFamily="34" charset="0"/>
              </a:rPr>
              <a:t>Upper Limb Biomechanics</a:t>
            </a:r>
            <a:endParaRPr lang="en-GB" sz="2600" dirty="0">
              <a:latin typeface="Arial" panose="020B0604020202020204" pitchFamily="34" charset="0"/>
              <a:cs typeface="Arial" panose="020B0604020202020204" pitchFamily="34" charset="0"/>
            </a:endParaRPr>
          </a:p>
          <a:p>
            <a:pPr algn="r">
              <a:lnSpc>
                <a:spcPct val="100000"/>
              </a:lnSpc>
              <a:spcBef>
                <a:spcPts val="0"/>
              </a:spcBef>
            </a:pPr>
            <a:endParaRPr lang="en-GB" sz="3600" dirty="0">
              <a:solidFill>
                <a:schemeClr val="bg1"/>
              </a:solidFill>
              <a:latin typeface="Arial" panose="020B0604020202020204" pitchFamily="34" charset="0"/>
              <a:cs typeface="Arial" panose="020B0604020202020204" pitchFamily="34" charset="0"/>
            </a:endParaRPr>
          </a:p>
        </p:txBody>
      </p:sp>
      <p:pic>
        <p:nvPicPr>
          <p:cNvPr id="7" name="Picture 6" descr="London Metropolitan University logo">
            <a:extLst>
              <a:ext uri="{FF2B5EF4-FFF2-40B4-BE49-F238E27FC236}">
                <a16:creationId xmlns:a16="http://schemas.microsoft.com/office/drawing/2014/main" id="{DEFB0DFE-4ABC-4B4C-9903-5496D6C255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9420" y="6045200"/>
            <a:ext cx="1910409" cy="491248"/>
          </a:xfrm>
          <a:prstGeom prst="rect">
            <a:avLst/>
          </a:prstGeom>
        </p:spPr>
      </p:pic>
      <p:sp>
        <p:nvSpPr>
          <p:cNvPr id="8" name="Subtitle 2">
            <a:extLst>
              <a:ext uri="{FF2B5EF4-FFF2-40B4-BE49-F238E27FC236}">
                <a16:creationId xmlns:a16="http://schemas.microsoft.com/office/drawing/2014/main" id="{35486D1B-0932-E34B-B86A-500B2056BAE7}"/>
              </a:ext>
            </a:extLst>
          </p:cNvPr>
          <p:cNvSpPr txBox="1">
            <a:spLocks/>
          </p:cNvSpPr>
          <p:nvPr/>
        </p:nvSpPr>
        <p:spPr>
          <a:xfrm>
            <a:off x="859367" y="3720778"/>
            <a:ext cx="7766936" cy="9767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endParaRPr lang="en-GB" sz="1800" i="1" dirty="0">
              <a:solidFill>
                <a:schemeClr val="bg1"/>
              </a:solidFill>
              <a:latin typeface="Arial" panose="020B0604020202020204" pitchFamily="34" charset="0"/>
              <a:cs typeface="Arial" panose="020B0604020202020204" pitchFamily="34" charset="0"/>
            </a:endParaRPr>
          </a:p>
          <a:p>
            <a:pPr marL="0" indent="0" algn="r">
              <a:buFont typeface="Arial" panose="020B0604020202020204" pitchFamily="34" charset="0"/>
              <a:buNone/>
            </a:pPr>
            <a:r>
              <a:rPr lang="en-GB" sz="1800" i="1" dirty="0">
                <a:solidFill>
                  <a:schemeClr val="bg1"/>
                </a:solidFill>
                <a:latin typeface="Arial" panose="020B0604020202020204" pitchFamily="34" charset="0"/>
                <a:cs typeface="Arial" panose="020B0604020202020204" pitchFamily="34" charset="0"/>
              </a:rPr>
              <a:t>Paul Starrs</a:t>
            </a:r>
          </a:p>
          <a:p>
            <a:pPr marL="0" indent="0" algn="r">
              <a:buFont typeface="Arial" panose="020B0604020202020204" pitchFamily="34" charset="0"/>
              <a:buNone/>
            </a:pPr>
            <a:r>
              <a:rPr lang="en-GB" sz="1800" i="1" dirty="0">
                <a:solidFill>
                  <a:schemeClr val="bg1"/>
                </a:solidFill>
                <a:latin typeface="Arial" panose="020B0604020202020204" pitchFamily="34" charset="0"/>
                <a:cs typeface="Arial" panose="020B0604020202020204" pitchFamily="34" charset="0"/>
              </a:rPr>
              <a:t>p.starrs@londonmet.ac.uk</a:t>
            </a:r>
          </a:p>
        </p:txBody>
      </p:sp>
      <p:sp>
        <p:nvSpPr>
          <p:cNvPr id="9" name="Title 1">
            <a:extLst>
              <a:ext uri="{FF2B5EF4-FFF2-40B4-BE49-F238E27FC236}">
                <a16:creationId xmlns:a16="http://schemas.microsoft.com/office/drawing/2014/main" id="{84E90008-FD21-8047-A9EF-3A1E9FEFA856}"/>
              </a:ext>
            </a:extLst>
          </p:cNvPr>
          <p:cNvSpPr txBox="1">
            <a:spLocks/>
          </p:cNvSpPr>
          <p:nvPr/>
        </p:nvSpPr>
        <p:spPr>
          <a:xfrm>
            <a:off x="5370286" y="3399651"/>
            <a:ext cx="3256017" cy="75111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lnSpc>
                <a:spcPct val="100000"/>
              </a:lnSpc>
              <a:spcBef>
                <a:spcPts val="0"/>
              </a:spcBef>
            </a:pPr>
            <a:r>
              <a:rPr lang="en-GB" sz="2600" dirty="0">
                <a:solidFill>
                  <a:schemeClr val="bg1"/>
                </a:solidFill>
                <a:latin typeface="Arial" panose="020B0604020202020204" pitchFamily="34" charset="0"/>
                <a:cs typeface="Arial" panose="020B0604020202020204" pitchFamily="34" charset="0"/>
              </a:rPr>
              <a:t>PT4054 / PT7001</a:t>
            </a:r>
          </a:p>
          <a:p>
            <a:pPr algn="r">
              <a:lnSpc>
                <a:spcPct val="100000"/>
              </a:lnSpc>
              <a:spcBef>
                <a:spcPts val="0"/>
              </a:spcBef>
            </a:pPr>
            <a:endParaRPr lang="en-GB" sz="36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2651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F83099E-15A4-3F49-A447-10A9A24C9701}"/>
              </a:ext>
            </a:extLst>
          </p:cNvPr>
          <p:cNvSpPr/>
          <p:nvPr/>
        </p:nvSpPr>
        <p:spPr>
          <a:xfrm>
            <a:off x="622930" y="520700"/>
            <a:ext cx="20313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CCB29EEF-DD3D-9843-9CD3-9F5BA5AE8C33}"/>
              </a:ext>
            </a:extLst>
          </p:cNvPr>
          <p:cNvSpPr txBox="1">
            <a:spLocks/>
          </p:cNvSpPr>
          <p:nvPr/>
        </p:nvSpPr>
        <p:spPr>
          <a:xfrm>
            <a:off x="778878" y="624216"/>
            <a:ext cx="2479675"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Overview</a:t>
            </a:r>
          </a:p>
        </p:txBody>
      </p:sp>
      <p:sp>
        <p:nvSpPr>
          <p:cNvPr id="6" name="Rounded Rectangle 5">
            <a:extLst>
              <a:ext uri="{FF2B5EF4-FFF2-40B4-BE49-F238E27FC236}">
                <a16:creationId xmlns:a16="http://schemas.microsoft.com/office/drawing/2014/main" id="{25008034-DF4D-084E-A11D-F13C2A7AE477}"/>
              </a:ext>
            </a:extLst>
          </p:cNvPr>
          <p:cNvSpPr/>
          <p:nvPr/>
        </p:nvSpPr>
        <p:spPr>
          <a:xfrm>
            <a:off x="622930" y="1688135"/>
            <a:ext cx="772097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rtl="0" fontAlgn="base">
              <a:spcBef>
                <a:spcPts val="600"/>
              </a:spcBef>
              <a:spcAft>
                <a:spcPts val="600"/>
              </a:spcAft>
              <a:buFont typeface="Arial" panose="020B0604020202020204" pitchFamily="34" charset="0"/>
              <a:buChar char="•"/>
            </a:pPr>
            <a:r>
              <a:rPr lang="en-GB" sz="2000" b="0" i="0" dirty="0">
                <a:solidFill>
                  <a:schemeClr val="bg1"/>
                </a:solidFill>
                <a:effectLst/>
                <a:latin typeface="Arial" panose="020B0604020202020204" pitchFamily="34" charset="0"/>
                <a:cs typeface="Arial" panose="020B0604020202020204" pitchFamily="34" charset="0"/>
              </a:rPr>
              <a:t>Explain how anatomical structure affects movement capabilities of upper-limb joints – shoulder, elbow, wrist and hand</a:t>
            </a:r>
          </a:p>
          <a:p>
            <a:pPr marL="285750" indent="-285750" algn="l" rtl="0" fontAlgn="base">
              <a:spcBef>
                <a:spcPts val="600"/>
              </a:spcBef>
              <a:spcAft>
                <a:spcPts val="600"/>
              </a:spcAft>
              <a:buFont typeface="Arial" panose="020B0604020202020204" pitchFamily="34" charset="0"/>
              <a:buChar char="•"/>
            </a:pPr>
            <a:r>
              <a:rPr lang="en-GB" sz="2000" b="0" i="0" dirty="0">
                <a:solidFill>
                  <a:schemeClr val="bg1"/>
                </a:solidFill>
                <a:effectLst/>
                <a:latin typeface="Arial" panose="020B0604020202020204" pitchFamily="34" charset="0"/>
                <a:cs typeface="Arial" panose="020B0604020202020204" pitchFamily="34" charset="0"/>
              </a:rPr>
              <a:t>Identify factors influencing the relative mobility and stability of upper-limb joints</a:t>
            </a:r>
          </a:p>
          <a:p>
            <a:pPr marL="285750" indent="-285750" algn="l" rtl="0" fontAlgn="base">
              <a:spcBef>
                <a:spcPts val="600"/>
              </a:spcBef>
              <a:spcAft>
                <a:spcPts val="600"/>
              </a:spcAft>
              <a:buFont typeface="Arial" panose="020B0604020202020204" pitchFamily="34" charset="0"/>
              <a:buChar char="•"/>
            </a:pPr>
            <a:r>
              <a:rPr lang="en-GB" sz="2000" b="0" i="0" dirty="0">
                <a:solidFill>
                  <a:schemeClr val="bg1"/>
                </a:solidFill>
                <a:effectLst/>
                <a:latin typeface="Arial" panose="020B0604020202020204" pitchFamily="34" charset="0"/>
                <a:cs typeface="Arial" panose="020B0604020202020204" pitchFamily="34" charset="0"/>
              </a:rPr>
              <a:t>Identify joint actions and nature of muscle activities occurring during specific upper-extremity movements such as reaching, grasping, throwing, catching etc</a:t>
            </a:r>
          </a:p>
          <a:p>
            <a:pPr marL="285750" indent="-285750" algn="l" rtl="0" fontAlgn="base">
              <a:spcBef>
                <a:spcPts val="600"/>
              </a:spcBef>
              <a:spcAft>
                <a:spcPts val="600"/>
              </a:spcAft>
              <a:buFont typeface="Arial" panose="020B0604020202020204" pitchFamily="34" charset="0"/>
              <a:buChar char="•"/>
            </a:pPr>
            <a:r>
              <a:rPr lang="en-GB" sz="2000" b="0" i="0" dirty="0">
                <a:solidFill>
                  <a:schemeClr val="bg1"/>
                </a:solidFill>
                <a:effectLst/>
                <a:latin typeface="Arial" panose="020B0604020202020204" pitchFamily="34" charset="0"/>
                <a:cs typeface="Arial" panose="020B0604020202020204" pitchFamily="34" charset="0"/>
              </a:rPr>
              <a:t>Describe the biomechanical contributions to common injuries of the upper limb joints</a:t>
            </a:r>
          </a:p>
        </p:txBody>
      </p:sp>
    </p:spTree>
    <p:extLst>
      <p:ext uri="{BB962C8B-B14F-4D97-AF65-F5344CB8AC3E}">
        <p14:creationId xmlns:p14="http://schemas.microsoft.com/office/powerpoint/2010/main" val="4078046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F83099E-15A4-3F49-A447-10A9A24C9701}"/>
              </a:ext>
            </a:extLst>
          </p:cNvPr>
          <p:cNvSpPr/>
          <p:nvPr/>
        </p:nvSpPr>
        <p:spPr>
          <a:xfrm>
            <a:off x="622930" y="520700"/>
            <a:ext cx="20313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326014"/>
              </a:solidFill>
            </a:endParaRPr>
          </a:p>
        </p:txBody>
      </p:sp>
      <p:sp>
        <p:nvSpPr>
          <p:cNvPr id="5" name="Subtitle 2">
            <a:extLst>
              <a:ext uri="{FF2B5EF4-FFF2-40B4-BE49-F238E27FC236}">
                <a16:creationId xmlns:a16="http://schemas.microsoft.com/office/drawing/2014/main" id="{CCB29EEF-DD3D-9843-9CD3-9F5BA5AE8C33}"/>
              </a:ext>
            </a:extLst>
          </p:cNvPr>
          <p:cNvSpPr txBox="1">
            <a:spLocks/>
          </p:cNvSpPr>
          <p:nvPr/>
        </p:nvSpPr>
        <p:spPr>
          <a:xfrm>
            <a:off x="778878" y="624216"/>
            <a:ext cx="2479675"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Overview</a:t>
            </a:r>
          </a:p>
        </p:txBody>
      </p:sp>
      <p:sp>
        <p:nvSpPr>
          <p:cNvPr id="6" name="Rounded Rectangle 5">
            <a:extLst>
              <a:ext uri="{FF2B5EF4-FFF2-40B4-BE49-F238E27FC236}">
                <a16:creationId xmlns:a16="http://schemas.microsoft.com/office/drawing/2014/main" id="{25008034-DF4D-084E-A11D-F13C2A7AE477}"/>
              </a:ext>
            </a:extLst>
          </p:cNvPr>
          <p:cNvSpPr/>
          <p:nvPr/>
        </p:nvSpPr>
        <p:spPr>
          <a:xfrm>
            <a:off x="622930" y="1688136"/>
            <a:ext cx="7720970" cy="4545648"/>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Recap what biomechanics is</a:t>
            </a:r>
          </a:p>
          <a:p>
            <a:pPr marL="285750"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Discuss functional upper limb anatomy in relation to biomechanics</a:t>
            </a:r>
          </a:p>
          <a:p>
            <a:pPr marL="285750"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Discuss the biomechanics of common overhead movements </a:t>
            </a:r>
          </a:p>
          <a:p>
            <a:pPr marL="285750"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Discuss common upper limb injuries heavily influenced by biomechanics </a:t>
            </a:r>
          </a:p>
        </p:txBody>
      </p:sp>
    </p:spTree>
    <p:extLst>
      <p:ext uri="{BB962C8B-B14F-4D97-AF65-F5344CB8AC3E}">
        <p14:creationId xmlns:p14="http://schemas.microsoft.com/office/powerpoint/2010/main" val="728943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F83099E-15A4-3F49-A447-10A9A24C9701}"/>
              </a:ext>
            </a:extLst>
          </p:cNvPr>
          <p:cNvSpPr/>
          <p:nvPr/>
        </p:nvSpPr>
        <p:spPr>
          <a:xfrm>
            <a:off x="622929" y="520700"/>
            <a:ext cx="4194877"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CCB29EEF-DD3D-9843-9CD3-9F5BA5AE8C33}"/>
              </a:ext>
            </a:extLst>
          </p:cNvPr>
          <p:cNvSpPr txBox="1">
            <a:spLocks/>
          </p:cNvSpPr>
          <p:nvPr/>
        </p:nvSpPr>
        <p:spPr>
          <a:xfrm>
            <a:off x="778878" y="624216"/>
            <a:ext cx="3943434"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What is biomechanics?</a:t>
            </a:r>
          </a:p>
        </p:txBody>
      </p:sp>
      <p:sp>
        <p:nvSpPr>
          <p:cNvPr id="6" name="Rounded Rectangle 5">
            <a:extLst>
              <a:ext uri="{FF2B5EF4-FFF2-40B4-BE49-F238E27FC236}">
                <a16:creationId xmlns:a16="http://schemas.microsoft.com/office/drawing/2014/main" id="{25008034-DF4D-084E-A11D-F13C2A7AE477}"/>
              </a:ext>
            </a:extLst>
          </p:cNvPr>
          <p:cNvSpPr/>
          <p:nvPr/>
        </p:nvSpPr>
        <p:spPr>
          <a:xfrm>
            <a:off x="622930" y="1688135"/>
            <a:ext cx="772097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5C9513D-50C6-7C47-B111-688A0B884930}"/>
              </a:ext>
            </a:extLst>
          </p:cNvPr>
          <p:cNvSpPr txBox="1"/>
          <p:nvPr/>
        </p:nvSpPr>
        <p:spPr>
          <a:xfrm>
            <a:off x="865762" y="1913430"/>
            <a:ext cx="6923571" cy="707886"/>
          </a:xfrm>
          <a:prstGeom prst="rect">
            <a:avLst/>
          </a:prstGeom>
          <a:noFill/>
        </p:spPr>
        <p:txBody>
          <a:bodyPr wrap="square" rtlCol="0">
            <a:spAutoFit/>
          </a:bodyPr>
          <a:lstStyle/>
          <a:p>
            <a:pPr marL="342900" indent="-342900">
              <a:buClr>
                <a:schemeClr val="bg1"/>
              </a:buClr>
              <a:buSzPct val="100000"/>
              <a:buFont typeface="Arial" panose="020B0604020202020204" pitchFamily="34" charset="0"/>
              <a:buChar char="•"/>
            </a:pPr>
            <a:r>
              <a:rPr lang="en-GB" sz="2000" dirty="0">
                <a:solidFill>
                  <a:schemeClr val="bg1"/>
                </a:solidFill>
                <a:latin typeface="Arial" panose="020B0604020202020204" pitchFamily="34" charset="0"/>
                <a:cs typeface="Arial" panose="020B0604020202020204" pitchFamily="34" charset="0"/>
              </a:rPr>
              <a:t>The science that involves the study of </a:t>
            </a:r>
            <a:r>
              <a:rPr lang="en-GB" sz="2000" dirty="0">
                <a:solidFill>
                  <a:schemeClr val="accent4"/>
                </a:solidFill>
                <a:latin typeface="Arial" panose="020B0604020202020204" pitchFamily="34" charset="0"/>
                <a:cs typeface="Arial" panose="020B0604020202020204" pitchFamily="34" charset="0"/>
              </a:rPr>
              <a:t>biological systems </a:t>
            </a:r>
            <a:r>
              <a:rPr lang="en-GB" sz="2000" dirty="0">
                <a:solidFill>
                  <a:schemeClr val="bg1"/>
                </a:solidFill>
                <a:latin typeface="Arial" panose="020B0604020202020204" pitchFamily="34" charset="0"/>
                <a:cs typeface="Arial" panose="020B0604020202020204" pitchFamily="34" charset="0"/>
              </a:rPr>
              <a:t>in a </a:t>
            </a:r>
            <a:r>
              <a:rPr lang="en-GB" sz="2000" dirty="0">
                <a:solidFill>
                  <a:schemeClr val="accent4"/>
                </a:solidFill>
                <a:latin typeface="Arial" panose="020B0604020202020204" pitchFamily="34" charset="0"/>
                <a:cs typeface="Arial" panose="020B0604020202020204" pitchFamily="34" charset="0"/>
              </a:rPr>
              <a:t>mechanical</a:t>
            </a:r>
            <a:r>
              <a:rPr lang="en-GB" sz="2000" dirty="0">
                <a:solidFill>
                  <a:schemeClr val="bg1"/>
                </a:solidFill>
                <a:latin typeface="Arial" panose="020B0604020202020204" pitchFamily="34" charset="0"/>
                <a:cs typeface="Arial" panose="020B0604020202020204" pitchFamily="34" charset="0"/>
              </a:rPr>
              <a:t> sense </a:t>
            </a:r>
            <a:r>
              <a:rPr lang="en-GB" sz="1400" dirty="0">
                <a:solidFill>
                  <a:schemeClr val="bg1"/>
                </a:solidFill>
                <a:latin typeface="Arial" panose="020B0604020202020204" pitchFamily="34" charset="0"/>
                <a:cs typeface="Arial" panose="020B0604020202020204" pitchFamily="34" charset="0"/>
              </a:rPr>
              <a:t>(Hatze, 1974)</a:t>
            </a:r>
          </a:p>
        </p:txBody>
      </p:sp>
      <p:sp>
        <p:nvSpPr>
          <p:cNvPr id="17" name="Right Arrow 16">
            <a:extLst>
              <a:ext uri="{FF2B5EF4-FFF2-40B4-BE49-F238E27FC236}">
                <a16:creationId xmlns:a16="http://schemas.microsoft.com/office/drawing/2014/main" id="{E0F4BA67-BBC9-704C-A66F-FD649DBBD719}"/>
              </a:ext>
            </a:extLst>
          </p:cNvPr>
          <p:cNvSpPr/>
          <p:nvPr/>
        </p:nvSpPr>
        <p:spPr>
          <a:xfrm rot="5400000">
            <a:off x="3307801" y="3391005"/>
            <a:ext cx="298765" cy="315381"/>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musculoskeletal human">
            <a:extLst>
              <a:ext uri="{FF2B5EF4-FFF2-40B4-BE49-F238E27FC236}">
                <a16:creationId xmlns:a16="http://schemas.microsoft.com/office/drawing/2014/main" id="{BC010E67-D4C3-214B-9595-FD10E85EDD44}"/>
              </a:ext>
            </a:extLst>
          </p:cNvPr>
          <p:cNvPicPr>
            <a:picLocks/>
          </p:cNvPicPr>
          <p:nvPr/>
        </p:nvPicPr>
        <p:blipFill>
          <a:blip r:embed="rId3"/>
          <a:stretch>
            <a:fillRect/>
          </a:stretch>
        </p:blipFill>
        <p:spPr>
          <a:xfrm>
            <a:off x="1775341" y="4415770"/>
            <a:ext cx="2160000" cy="1728000"/>
          </a:xfrm>
          <a:prstGeom prst="roundRect">
            <a:avLst>
              <a:gd name="adj" fmla="val 8594"/>
            </a:avLst>
          </a:prstGeom>
          <a:solidFill>
            <a:srgbClr val="FFFFFF">
              <a:shade val="85000"/>
            </a:srgbClr>
          </a:solidFill>
          <a:ln w="28575">
            <a:solidFill>
              <a:srgbClr val="FFC000"/>
            </a:solidFill>
          </a:ln>
          <a:effectLst/>
        </p:spPr>
      </p:pic>
      <p:sp>
        <p:nvSpPr>
          <p:cNvPr id="15" name="TextBox 14">
            <a:extLst>
              <a:ext uri="{FF2B5EF4-FFF2-40B4-BE49-F238E27FC236}">
                <a16:creationId xmlns:a16="http://schemas.microsoft.com/office/drawing/2014/main" id="{B62EBDD8-00E8-FA4C-B137-8B5F2F221181}"/>
              </a:ext>
            </a:extLst>
          </p:cNvPr>
          <p:cNvSpPr txBox="1"/>
          <p:nvPr/>
        </p:nvSpPr>
        <p:spPr>
          <a:xfrm>
            <a:off x="1703866" y="3698078"/>
            <a:ext cx="2271844" cy="646331"/>
          </a:xfrm>
          <a:prstGeom prst="rect">
            <a:avLst/>
          </a:prstGeom>
          <a:noFill/>
        </p:spPr>
        <p:txBody>
          <a:bodyPr wrap="square" rtlCol="0">
            <a:spAutoFit/>
          </a:bodyPr>
          <a:lstStyle/>
          <a:p>
            <a:pPr algn="r">
              <a:buClr>
                <a:schemeClr val="tx1"/>
              </a:buClr>
              <a:buSzPct val="100000"/>
            </a:pPr>
            <a:r>
              <a:rPr lang="en-GB" dirty="0">
                <a:solidFill>
                  <a:schemeClr val="bg1"/>
                </a:solidFill>
                <a:latin typeface="Arial" panose="020B0604020202020204" pitchFamily="34" charset="0"/>
                <a:cs typeface="Arial" panose="020B0604020202020204" pitchFamily="34" charset="0"/>
              </a:rPr>
              <a:t>Prefix for </a:t>
            </a:r>
            <a:r>
              <a:rPr lang="en-GB" dirty="0">
                <a:solidFill>
                  <a:schemeClr val="accent4"/>
                </a:solidFill>
                <a:latin typeface="Arial" panose="020B0604020202020204" pitchFamily="34" charset="0"/>
                <a:cs typeface="Arial" panose="020B0604020202020204" pitchFamily="34" charset="0"/>
              </a:rPr>
              <a:t>life</a:t>
            </a:r>
            <a:r>
              <a:rPr lang="en-GB" dirty="0">
                <a:solidFill>
                  <a:schemeClr val="bg1"/>
                </a:solidFill>
                <a:latin typeface="Arial" panose="020B0604020202020204" pitchFamily="34" charset="0"/>
                <a:cs typeface="Arial" panose="020B0604020202020204" pitchFamily="34" charset="0"/>
              </a:rPr>
              <a:t> or </a:t>
            </a:r>
            <a:r>
              <a:rPr lang="en-GB" dirty="0">
                <a:solidFill>
                  <a:schemeClr val="accent4"/>
                </a:solidFill>
                <a:latin typeface="Arial" panose="020B0604020202020204" pitchFamily="34" charset="0"/>
                <a:cs typeface="Arial" panose="020B0604020202020204" pitchFamily="34" charset="0"/>
              </a:rPr>
              <a:t>living organism</a:t>
            </a:r>
            <a:endParaRPr lang="en-GB" dirty="0">
              <a:solidFill>
                <a:schemeClr val="bg1"/>
              </a:solidFill>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5B0317A2-26FA-2244-8C18-50EA12193F67}"/>
              </a:ext>
            </a:extLst>
          </p:cNvPr>
          <p:cNvGrpSpPr/>
          <p:nvPr/>
        </p:nvGrpSpPr>
        <p:grpSpPr>
          <a:xfrm>
            <a:off x="2680570" y="2824354"/>
            <a:ext cx="3415430" cy="494662"/>
            <a:chOff x="2680570" y="2824354"/>
            <a:chExt cx="3415430" cy="494662"/>
          </a:xfrm>
        </p:grpSpPr>
        <p:sp>
          <p:nvSpPr>
            <p:cNvPr id="21" name="Rounded Rectangle 20">
              <a:extLst>
                <a:ext uri="{FF2B5EF4-FFF2-40B4-BE49-F238E27FC236}">
                  <a16:creationId xmlns:a16="http://schemas.microsoft.com/office/drawing/2014/main" id="{4D96934B-525F-5043-A2DF-906F68B923E3}"/>
                </a:ext>
              </a:extLst>
            </p:cNvPr>
            <p:cNvSpPr/>
            <p:nvPr/>
          </p:nvSpPr>
          <p:spPr>
            <a:xfrm>
              <a:off x="2680570" y="2824354"/>
              <a:ext cx="3415430" cy="494662"/>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5FDAF668-8325-1142-B6F7-FB529F4AE875}"/>
                </a:ext>
              </a:extLst>
            </p:cNvPr>
            <p:cNvSpPr txBox="1"/>
            <p:nvPr/>
          </p:nvSpPr>
          <p:spPr>
            <a:xfrm>
              <a:off x="2945661" y="2891510"/>
              <a:ext cx="814191" cy="369332"/>
            </a:xfrm>
            <a:prstGeom prst="rect">
              <a:avLst/>
            </a:prstGeom>
            <a:noFill/>
          </p:spPr>
          <p:txBody>
            <a:bodyPr wrap="square" rtlCol="0">
              <a:spAutoFit/>
            </a:bodyPr>
            <a:lstStyle/>
            <a:p>
              <a:pPr algn="r">
                <a:buClr>
                  <a:schemeClr val="tx1"/>
                </a:buClr>
                <a:buSzPct val="100000"/>
              </a:pPr>
              <a:r>
                <a:rPr lang="en-GB" b="1" dirty="0">
                  <a:solidFill>
                    <a:srgbClr val="326014"/>
                  </a:solidFill>
                  <a:latin typeface="Arial" panose="020B0604020202020204" pitchFamily="34" charset="0"/>
                  <a:cs typeface="Arial" panose="020B0604020202020204" pitchFamily="34" charset="0"/>
                </a:rPr>
                <a:t>BIO</a:t>
              </a:r>
            </a:p>
          </p:txBody>
        </p:sp>
        <p:sp>
          <p:nvSpPr>
            <p:cNvPr id="16" name="TextBox 15">
              <a:extLst>
                <a:ext uri="{FF2B5EF4-FFF2-40B4-BE49-F238E27FC236}">
                  <a16:creationId xmlns:a16="http://schemas.microsoft.com/office/drawing/2014/main" id="{73E8C6F6-2CC7-E541-AFAE-615F1B4CFB33}"/>
                </a:ext>
              </a:extLst>
            </p:cNvPr>
            <p:cNvSpPr txBox="1"/>
            <p:nvPr/>
          </p:nvSpPr>
          <p:spPr>
            <a:xfrm>
              <a:off x="4197981" y="2891510"/>
              <a:ext cx="1619511" cy="369332"/>
            </a:xfrm>
            <a:prstGeom prst="rect">
              <a:avLst/>
            </a:prstGeom>
            <a:noFill/>
          </p:spPr>
          <p:txBody>
            <a:bodyPr wrap="square" rtlCol="0">
              <a:spAutoFit/>
            </a:bodyPr>
            <a:lstStyle/>
            <a:p>
              <a:pPr>
                <a:buClr>
                  <a:schemeClr val="tx1"/>
                </a:buClr>
                <a:buSzPct val="100000"/>
              </a:pPr>
              <a:r>
                <a:rPr lang="en-GB" b="1" dirty="0">
                  <a:solidFill>
                    <a:srgbClr val="326014"/>
                  </a:solidFill>
                  <a:latin typeface="Arial" panose="020B0604020202020204" pitchFamily="34" charset="0"/>
                  <a:cs typeface="Arial" panose="020B0604020202020204" pitchFamily="34" charset="0"/>
                </a:rPr>
                <a:t>MECHANICS</a:t>
              </a:r>
            </a:p>
          </p:txBody>
        </p:sp>
      </p:grpSp>
      <p:sp>
        <p:nvSpPr>
          <p:cNvPr id="20" name="TextBox 19">
            <a:extLst>
              <a:ext uri="{FF2B5EF4-FFF2-40B4-BE49-F238E27FC236}">
                <a16:creationId xmlns:a16="http://schemas.microsoft.com/office/drawing/2014/main" id="{427C080B-263B-E44F-9B95-F73D9AD40AAF}"/>
              </a:ext>
            </a:extLst>
          </p:cNvPr>
          <p:cNvSpPr txBox="1"/>
          <p:nvPr/>
        </p:nvSpPr>
        <p:spPr>
          <a:xfrm>
            <a:off x="4508873" y="3732967"/>
            <a:ext cx="2653757" cy="1010469"/>
          </a:xfrm>
          <a:prstGeom prst="rect">
            <a:avLst/>
          </a:prstGeom>
          <a:noFill/>
        </p:spPr>
        <p:txBody>
          <a:bodyPr wrap="square" rtlCol="0">
            <a:spAutoFit/>
          </a:bodyPr>
          <a:lstStyle/>
          <a:p>
            <a:pPr>
              <a:buClr>
                <a:schemeClr val="tx1"/>
              </a:buClr>
              <a:buSzPct val="100000"/>
            </a:pPr>
            <a:r>
              <a:rPr lang="en-GB" dirty="0">
                <a:solidFill>
                  <a:schemeClr val="bg1"/>
                </a:solidFill>
                <a:latin typeface="Arial" panose="020B0604020202020204" pitchFamily="34" charset="0"/>
                <a:cs typeface="Arial" panose="020B0604020202020204" pitchFamily="34" charset="0"/>
              </a:rPr>
              <a:t>Study of </a:t>
            </a:r>
            <a:r>
              <a:rPr lang="en-GB" dirty="0">
                <a:solidFill>
                  <a:schemeClr val="accent4"/>
                </a:solidFill>
                <a:latin typeface="Arial" panose="020B0604020202020204" pitchFamily="34" charset="0"/>
                <a:cs typeface="Arial" panose="020B0604020202020204" pitchFamily="34" charset="0"/>
              </a:rPr>
              <a:t>motion</a:t>
            </a:r>
            <a:r>
              <a:rPr lang="en-GB" dirty="0">
                <a:solidFill>
                  <a:schemeClr val="bg1"/>
                </a:solidFill>
                <a:latin typeface="Arial" panose="020B0604020202020204" pitchFamily="34" charset="0"/>
                <a:cs typeface="Arial" panose="020B0604020202020204" pitchFamily="34" charset="0"/>
              </a:rPr>
              <a:t>, </a:t>
            </a:r>
            <a:r>
              <a:rPr lang="en-GB" dirty="0">
                <a:solidFill>
                  <a:schemeClr val="accent4"/>
                </a:solidFill>
                <a:latin typeface="Arial" panose="020B0604020202020204" pitchFamily="34" charset="0"/>
                <a:cs typeface="Arial" panose="020B0604020202020204" pitchFamily="34" charset="0"/>
              </a:rPr>
              <a:t>forces</a:t>
            </a:r>
            <a:r>
              <a:rPr lang="en-GB" dirty="0">
                <a:solidFill>
                  <a:schemeClr val="bg1"/>
                </a:solidFill>
                <a:latin typeface="Arial" panose="020B0604020202020204" pitchFamily="34" charset="0"/>
                <a:cs typeface="Arial" panose="020B0604020202020204" pitchFamily="34" charset="0"/>
              </a:rPr>
              <a:t>, </a:t>
            </a:r>
            <a:r>
              <a:rPr lang="en-GB" dirty="0">
                <a:solidFill>
                  <a:schemeClr val="accent4"/>
                </a:solidFill>
                <a:latin typeface="Arial" panose="020B0604020202020204" pitchFamily="34" charset="0"/>
                <a:cs typeface="Arial" panose="020B0604020202020204" pitchFamily="34" charset="0"/>
              </a:rPr>
              <a:t>response</a:t>
            </a:r>
            <a:r>
              <a:rPr lang="en-GB" dirty="0">
                <a:solidFill>
                  <a:schemeClr val="bg1"/>
                </a:solidFill>
                <a:latin typeface="Arial" panose="020B0604020202020204" pitchFamily="34" charset="0"/>
                <a:cs typeface="Arial" panose="020B0604020202020204" pitchFamily="34" charset="0"/>
              </a:rPr>
              <a:t> of materials</a:t>
            </a:r>
          </a:p>
          <a:p>
            <a:pPr algn="ctr">
              <a:lnSpc>
                <a:spcPct val="150000"/>
              </a:lnSpc>
              <a:buClr>
                <a:schemeClr val="tx1"/>
              </a:buClr>
              <a:buSzPct val="100000"/>
            </a:pPr>
            <a:endParaRPr lang="en-GB" dirty="0">
              <a:solidFill>
                <a:schemeClr val="bg1"/>
              </a:solidFill>
              <a:latin typeface="Arial" panose="020B0604020202020204" pitchFamily="34" charset="0"/>
              <a:cs typeface="Arial" panose="020B0604020202020204" pitchFamily="34" charset="0"/>
            </a:endParaRPr>
          </a:p>
        </p:txBody>
      </p:sp>
      <p:sp>
        <p:nvSpPr>
          <p:cNvPr id="22" name="Right Arrow 21">
            <a:extLst>
              <a:ext uri="{FF2B5EF4-FFF2-40B4-BE49-F238E27FC236}">
                <a16:creationId xmlns:a16="http://schemas.microsoft.com/office/drawing/2014/main" id="{26DC324C-3EAE-A240-8D3C-C043BDAD7114}"/>
              </a:ext>
            </a:extLst>
          </p:cNvPr>
          <p:cNvSpPr/>
          <p:nvPr/>
        </p:nvSpPr>
        <p:spPr>
          <a:xfrm rot="5400000">
            <a:off x="4948384" y="3380322"/>
            <a:ext cx="298765" cy="315381"/>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ounded Rectangle 2">
            <a:extLst>
              <a:ext uri="{FF2B5EF4-FFF2-40B4-BE49-F238E27FC236}">
                <a16:creationId xmlns:a16="http://schemas.microsoft.com/office/drawing/2014/main" id="{EFBAAD01-57DC-04BA-CFCA-82A91AC24CE3}"/>
              </a:ext>
            </a:extLst>
          </p:cNvPr>
          <p:cNvSpPr/>
          <p:nvPr/>
        </p:nvSpPr>
        <p:spPr>
          <a:xfrm rot="20505754">
            <a:off x="7285873" y="259775"/>
            <a:ext cx="1207752" cy="877577"/>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326014"/>
                </a:solidFill>
                <a:latin typeface="Arial" panose="020B0604020202020204" pitchFamily="34" charset="0"/>
                <a:cs typeface="Arial" panose="020B0604020202020204" pitchFamily="34" charset="0"/>
              </a:rPr>
              <a:t>How trees grow</a:t>
            </a:r>
          </a:p>
        </p:txBody>
      </p:sp>
      <p:sp>
        <p:nvSpPr>
          <p:cNvPr id="8" name="Rounded Rectangle 7">
            <a:extLst>
              <a:ext uri="{FF2B5EF4-FFF2-40B4-BE49-F238E27FC236}">
                <a16:creationId xmlns:a16="http://schemas.microsoft.com/office/drawing/2014/main" id="{DA2FD468-A85D-2611-08B0-D288C7540766}"/>
              </a:ext>
            </a:extLst>
          </p:cNvPr>
          <p:cNvSpPr/>
          <p:nvPr/>
        </p:nvSpPr>
        <p:spPr>
          <a:xfrm rot="704135">
            <a:off x="8423881" y="298394"/>
            <a:ext cx="1934057" cy="98522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326014"/>
                </a:solidFill>
                <a:latin typeface="Arial" panose="020B0604020202020204" pitchFamily="34" charset="0"/>
                <a:cs typeface="Arial" panose="020B0604020202020204" pitchFamily="34" charset="0"/>
              </a:rPr>
              <a:t>Cardiovascular system</a:t>
            </a:r>
          </a:p>
        </p:txBody>
      </p:sp>
      <p:sp>
        <p:nvSpPr>
          <p:cNvPr id="9" name="Rounded Rectangle 8">
            <a:extLst>
              <a:ext uri="{FF2B5EF4-FFF2-40B4-BE49-F238E27FC236}">
                <a16:creationId xmlns:a16="http://schemas.microsoft.com/office/drawing/2014/main" id="{EB8DFE13-5FF9-BDF6-B3E0-9F5F6C347FF3}"/>
              </a:ext>
            </a:extLst>
          </p:cNvPr>
          <p:cNvSpPr/>
          <p:nvPr/>
        </p:nvSpPr>
        <p:spPr>
          <a:xfrm rot="20505754">
            <a:off x="9581626" y="1135178"/>
            <a:ext cx="2086179" cy="1257858"/>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326014"/>
                </a:solidFill>
                <a:latin typeface="Arial" panose="020B0604020202020204" pitchFamily="34" charset="0"/>
                <a:cs typeface="Arial" panose="020B0604020202020204" pitchFamily="34" charset="0"/>
              </a:rPr>
              <a:t>Musculoskeletal system &amp; its relationship to  movement</a:t>
            </a:r>
          </a:p>
        </p:txBody>
      </p:sp>
      <p:sp>
        <p:nvSpPr>
          <p:cNvPr id="12" name="Rounded Rectangle 11">
            <a:extLst>
              <a:ext uri="{FF2B5EF4-FFF2-40B4-BE49-F238E27FC236}">
                <a16:creationId xmlns:a16="http://schemas.microsoft.com/office/drawing/2014/main" id="{D5B26A67-6115-4EE3-637F-21F2200FF170}"/>
              </a:ext>
            </a:extLst>
          </p:cNvPr>
          <p:cNvSpPr/>
          <p:nvPr/>
        </p:nvSpPr>
        <p:spPr>
          <a:xfrm>
            <a:off x="7251257" y="4555538"/>
            <a:ext cx="2476506" cy="4084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326014"/>
                </a:solidFill>
                <a:latin typeface="Arial" panose="020B0604020202020204" pitchFamily="34" charset="0"/>
                <a:cs typeface="Arial" panose="020B0604020202020204" pitchFamily="34" charset="0"/>
              </a:rPr>
              <a:t>Motion = movement</a:t>
            </a:r>
          </a:p>
        </p:txBody>
      </p:sp>
      <p:sp>
        <p:nvSpPr>
          <p:cNvPr id="18" name="Rounded Rectangle 17">
            <a:extLst>
              <a:ext uri="{FF2B5EF4-FFF2-40B4-BE49-F238E27FC236}">
                <a16:creationId xmlns:a16="http://schemas.microsoft.com/office/drawing/2014/main" id="{B5F57502-EF55-6A2F-1224-4D2414BE5E47}"/>
              </a:ext>
            </a:extLst>
          </p:cNvPr>
          <p:cNvSpPr/>
          <p:nvPr/>
        </p:nvSpPr>
        <p:spPr>
          <a:xfrm>
            <a:off x="7251256" y="5108314"/>
            <a:ext cx="4560980" cy="408463"/>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326014"/>
                </a:solidFill>
                <a:latin typeface="Arial" panose="020B0604020202020204" pitchFamily="34" charset="0"/>
                <a:cs typeface="Arial" panose="020B0604020202020204" pitchFamily="34" charset="0"/>
              </a:rPr>
              <a:t>Forces = the factors that cause movement</a:t>
            </a:r>
          </a:p>
        </p:txBody>
      </p:sp>
      <p:sp>
        <p:nvSpPr>
          <p:cNvPr id="19" name="Rounded Rectangle 18">
            <a:extLst>
              <a:ext uri="{FF2B5EF4-FFF2-40B4-BE49-F238E27FC236}">
                <a16:creationId xmlns:a16="http://schemas.microsoft.com/office/drawing/2014/main" id="{14F33E19-42D8-DB60-C40B-2B8C889DCA25}"/>
              </a:ext>
            </a:extLst>
          </p:cNvPr>
          <p:cNvSpPr/>
          <p:nvPr/>
        </p:nvSpPr>
        <p:spPr>
          <a:xfrm>
            <a:off x="7251256" y="5641156"/>
            <a:ext cx="4583256" cy="642401"/>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326014"/>
                </a:solidFill>
                <a:latin typeface="Arial" panose="020B0604020202020204" pitchFamily="34" charset="0"/>
                <a:cs typeface="Arial" panose="020B0604020202020204" pitchFamily="34" charset="0"/>
              </a:rPr>
              <a:t>Response = bending, compression, stretching, etc.</a:t>
            </a:r>
          </a:p>
        </p:txBody>
      </p:sp>
      <p:sp>
        <p:nvSpPr>
          <p:cNvPr id="23" name="Rounded Rectangle 22">
            <a:extLst>
              <a:ext uri="{FF2B5EF4-FFF2-40B4-BE49-F238E27FC236}">
                <a16:creationId xmlns:a16="http://schemas.microsoft.com/office/drawing/2014/main" id="{67C5EE8C-741F-A245-D2C1-74EDB929FAE3}"/>
              </a:ext>
            </a:extLst>
          </p:cNvPr>
          <p:cNvSpPr/>
          <p:nvPr/>
        </p:nvSpPr>
        <p:spPr>
          <a:xfrm>
            <a:off x="6043503" y="321483"/>
            <a:ext cx="1207752" cy="1053702"/>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326014"/>
                </a:solidFill>
                <a:latin typeface="Arial" panose="020B0604020202020204" pitchFamily="34" charset="0"/>
                <a:cs typeface="Arial" panose="020B0604020202020204" pitchFamily="34" charset="0"/>
              </a:rPr>
              <a:t>Any living thing</a:t>
            </a:r>
          </a:p>
        </p:txBody>
      </p:sp>
      <p:sp>
        <p:nvSpPr>
          <p:cNvPr id="24" name="Right Arrow 23">
            <a:extLst>
              <a:ext uri="{FF2B5EF4-FFF2-40B4-BE49-F238E27FC236}">
                <a16:creationId xmlns:a16="http://schemas.microsoft.com/office/drawing/2014/main" id="{4C0383CD-4CF8-DAD2-8637-2FE66FBD02BB}"/>
              </a:ext>
            </a:extLst>
          </p:cNvPr>
          <p:cNvSpPr/>
          <p:nvPr/>
        </p:nvSpPr>
        <p:spPr>
          <a:xfrm rot="16200000">
            <a:off x="6424612" y="1468627"/>
            <a:ext cx="445535" cy="314068"/>
          </a:xfrm>
          <a:prstGeom prst="rightArrow">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6" name="Picture 25" descr="A diagram of a human body&#10;&#10;Description automatically generated">
            <a:extLst>
              <a:ext uri="{FF2B5EF4-FFF2-40B4-BE49-F238E27FC236}">
                <a16:creationId xmlns:a16="http://schemas.microsoft.com/office/drawing/2014/main" id="{979A268A-F64F-4A29-0D3F-2B5A5E4B2B5F}"/>
              </a:ext>
            </a:extLst>
          </p:cNvPr>
          <p:cNvPicPr>
            <a:picLocks/>
          </p:cNvPicPr>
          <p:nvPr/>
        </p:nvPicPr>
        <p:blipFill>
          <a:blip r:embed="rId4"/>
          <a:stretch>
            <a:fillRect/>
          </a:stretch>
        </p:blipFill>
        <p:spPr>
          <a:xfrm>
            <a:off x="4743923" y="4415770"/>
            <a:ext cx="2160000" cy="1728000"/>
          </a:xfrm>
          <a:prstGeom prst="roundRect">
            <a:avLst/>
          </a:prstGeom>
          <a:ln w="28575">
            <a:solidFill>
              <a:srgbClr val="FFC000"/>
            </a:solidFill>
          </a:ln>
        </p:spPr>
      </p:pic>
    </p:spTree>
    <p:extLst>
      <p:ext uri="{BB962C8B-B14F-4D97-AF65-F5344CB8AC3E}">
        <p14:creationId xmlns:p14="http://schemas.microsoft.com/office/powerpoint/2010/main" val="72955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5" grpId="0"/>
      <p:bldP spid="20" grpId="0"/>
      <p:bldP spid="22" grpId="0" animBg="1"/>
      <p:bldP spid="3" grpId="0" animBg="1"/>
      <p:bldP spid="8" grpId="0" animBg="1"/>
      <p:bldP spid="9" grpId="0" animBg="1"/>
      <p:bldP spid="12" grpId="0" animBg="1"/>
      <p:bldP spid="18" grpId="0" animBg="1"/>
      <p:bldP spid="19" grpId="0" animBg="1"/>
      <p:bldP spid="23" grpId="0" animBg="1"/>
      <p:bldP spid="2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25008034-DF4D-084E-A11D-F13C2A7AE477}"/>
              </a:ext>
            </a:extLst>
          </p:cNvPr>
          <p:cNvSpPr/>
          <p:nvPr/>
        </p:nvSpPr>
        <p:spPr>
          <a:xfrm>
            <a:off x="622930" y="1688136"/>
            <a:ext cx="7720970" cy="4146608"/>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Improving sports performance</a:t>
            </a:r>
          </a:p>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Improving physical function</a:t>
            </a:r>
          </a:p>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Occupational injury prevention (ergonomics)</a:t>
            </a:r>
          </a:p>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Injury rehabilitation &amp; prevention</a:t>
            </a:r>
          </a:p>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Maintaining musculoskeletal health</a:t>
            </a:r>
          </a:p>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Product design e.g. prosthetics and ergonomic tools</a:t>
            </a:r>
          </a:p>
          <a:p>
            <a:pPr marL="285750" indent="-285750">
              <a:spcBef>
                <a:spcPts val="600"/>
              </a:spcBef>
              <a:spcAft>
                <a:spcPts val="600"/>
              </a:spcAft>
              <a:buFont typeface="Arial" panose="020B0604020202020204" pitchFamily="34" charset="0"/>
              <a:buChar char="•"/>
            </a:pPr>
            <a:r>
              <a:rPr lang="en-US" sz="2000" dirty="0">
                <a:latin typeface="Arial" panose="020B0604020202020204" pitchFamily="34" charset="0"/>
                <a:cs typeface="Arial" panose="020B0604020202020204" pitchFamily="34" charset="0"/>
              </a:rPr>
              <a:t>Forensic biomechanics</a:t>
            </a:r>
          </a:p>
          <a:p>
            <a:endParaRPr lang="en-US" dirty="0"/>
          </a:p>
        </p:txBody>
      </p:sp>
      <p:sp>
        <p:nvSpPr>
          <p:cNvPr id="17" name="Rounded Rectangle 16">
            <a:extLst>
              <a:ext uri="{FF2B5EF4-FFF2-40B4-BE49-F238E27FC236}">
                <a16:creationId xmlns:a16="http://schemas.microsoft.com/office/drawing/2014/main" id="{4BE5A54A-7A77-5644-813E-F14CDDA4607E}"/>
              </a:ext>
            </a:extLst>
          </p:cNvPr>
          <p:cNvSpPr/>
          <p:nvPr/>
        </p:nvSpPr>
        <p:spPr>
          <a:xfrm>
            <a:off x="622929" y="520700"/>
            <a:ext cx="5473071"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ubtitle 2">
            <a:extLst>
              <a:ext uri="{FF2B5EF4-FFF2-40B4-BE49-F238E27FC236}">
                <a16:creationId xmlns:a16="http://schemas.microsoft.com/office/drawing/2014/main" id="{D0327491-6891-6944-B4F8-12C3CD03762B}"/>
              </a:ext>
            </a:extLst>
          </p:cNvPr>
          <p:cNvSpPr txBox="1">
            <a:spLocks/>
          </p:cNvSpPr>
          <p:nvPr/>
        </p:nvSpPr>
        <p:spPr>
          <a:xfrm>
            <a:off x="778878" y="624216"/>
            <a:ext cx="5317122"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What is biomechanics used for?</a:t>
            </a:r>
          </a:p>
        </p:txBody>
      </p:sp>
      <p:pic>
        <p:nvPicPr>
          <p:cNvPr id="3" name="Picture 2" descr="running man with graphics overlaid showing joint angles">
            <a:extLst>
              <a:ext uri="{FF2B5EF4-FFF2-40B4-BE49-F238E27FC236}">
                <a16:creationId xmlns:a16="http://schemas.microsoft.com/office/drawing/2014/main" id="{12FCF7FA-BBB6-CB47-B668-FB7D5579F4D2}"/>
              </a:ext>
            </a:extLst>
          </p:cNvPr>
          <p:cNvPicPr>
            <a:picLocks/>
          </p:cNvPicPr>
          <p:nvPr/>
        </p:nvPicPr>
        <p:blipFill rotWithShape="1">
          <a:blip r:embed="rId3"/>
          <a:srcRect l="6698" r="6918"/>
          <a:stretch/>
        </p:blipFill>
        <p:spPr>
          <a:xfrm>
            <a:off x="8250249" y="3734898"/>
            <a:ext cx="3780000" cy="2880000"/>
          </a:xfrm>
          <a:prstGeom prst="roundRect">
            <a:avLst>
              <a:gd name="adj" fmla="val 8594"/>
            </a:avLst>
          </a:prstGeom>
          <a:solidFill>
            <a:srgbClr val="FFFFFF">
              <a:shade val="85000"/>
            </a:srgbClr>
          </a:solidFill>
          <a:ln w="28575">
            <a:solidFill>
              <a:srgbClr val="FFC000"/>
            </a:solidFill>
          </a:ln>
          <a:effectLst/>
        </p:spPr>
      </p:pic>
      <p:sp>
        <p:nvSpPr>
          <p:cNvPr id="4" name="Rectangle 3">
            <a:extLst>
              <a:ext uri="{FF2B5EF4-FFF2-40B4-BE49-F238E27FC236}">
                <a16:creationId xmlns:a16="http://schemas.microsoft.com/office/drawing/2014/main" id="{56EACAD6-D94F-8B4C-A0C5-DE3E0AA13813}"/>
              </a:ext>
            </a:extLst>
          </p:cNvPr>
          <p:cNvSpPr/>
          <p:nvPr/>
        </p:nvSpPr>
        <p:spPr>
          <a:xfrm>
            <a:off x="778877" y="2038687"/>
            <a:ext cx="6263367" cy="2246710"/>
          </a:xfrm>
          <a:prstGeom prst="rect">
            <a:avLst/>
          </a:prstGeom>
          <a:solidFill>
            <a:schemeClr val="accent4">
              <a:alpha val="4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Physiotherapist treating man">
            <a:extLst>
              <a:ext uri="{FF2B5EF4-FFF2-40B4-BE49-F238E27FC236}">
                <a16:creationId xmlns:a16="http://schemas.microsoft.com/office/drawing/2014/main" id="{70DD3F9C-1FDB-52C0-B7F5-BB15A3E0E032}"/>
              </a:ext>
            </a:extLst>
          </p:cNvPr>
          <p:cNvPicPr>
            <a:picLocks/>
          </p:cNvPicPr>
          <p:nvPr/>
        </p:nvPicPr>
        <p:blipFill>
          <a:blip r:embed="rId4"/>
          <a:stretch>
            <a:fillRect/>
          </a:stretch>
        </p:blipFill>
        <p:spPr>
          <a:xfrm>
            <a:off x="8170523" y="598687"/>
            <a:ext cx="3780000" cy="2880000"/>
          </a:xfrm>
          <a:prstGeom prst="roundRect">
            <a:avLst/>
          </a:prstGeom>
          <a:ln w="38100">
            <a:solidFill>
              <a:srgbClr val="FFC000"/>
            </a:solidFill>
          </a:ln>
        </p:spPr>
      </p:pic>
    </p:spTree>
    <p:extLst>
      <p:ext uri="{BB962C8B-B14F-4D97-AF65-F5344CB8AC3E}">
        <p14:creationId xmlns:p14="http://schemas.microsoft.com/office/powerpoint/2010/main" val="3486163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25">
            <a:extLst>
              <a:ext uri="{FF2B5EF4-FFF2-40B4-BE49-F238E27FC236}">
                <a16:creationId xmlns:a16="http://schemas.microsoft.com/office/drawing/2014/main" id="{737B0EC1-C931-58E2-EB12-0AAE5207E3F3}"/>
              </a:ext>
            </a:extLst>
          </p:cNvPr>
          <p:cNvSpPr/>
          <p:nvPr/>
        </p:nvSpPr>
        <p:spPr>
          <a:xfrm>
            <a:off x="1373001" y="3249621"/>
            <a:ext cx="1116681" cy="493443"/>
          </a:xfrm>
          <a:prstGeom prst="round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ounded Rectangle 21">
            <a:extLst>
              <a:ext uri="{FF2B5EF4-FFF2-40B4-BE49-F238E27FC236}">
                <a16:creationId xmlns:a16="http://schemas.microsoft.com/office/drawing/2014/main" id="{DCF57F9C-FC21-1F44-BC6A-214A2CAB4B3F}"/>
              </a:ext>
            </a:extLst>
          </p:cNvPr>
          <p:cNvSpPr/>
          <p:nvPr/>
        </p:nvSpPr>
        <p:spPr>
          <a:xfrm>
            <a:off x="1360301" y="2200375"/>
            <a:ext cx="1520921" cy="493443"/>
          </a:xfrm>
          <a:prstGeom prst="roundRect">
            <a:avLst/>
          </a:prstGeom>
          <a:solidFill>
            <a:srgbClr val="C0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ounded Rectangle 5">
            <a:extLst>
              <a:ext uri="{FF2B5EF4-FFF2-40B4-BE49-F238E27FC236}">
                <a16:creationId xmlns:a16="http://schemas.microsoft.com/office/drawing/2014/main" id="{25008034-DF4D-084E-A11D-F13C2A7AE477}"/>
              </a:ext>
            </a:extLst>
          </p:cNvPr>
          <p:cNvSpPr/>
          <p:nvPr/>
        </p:nvSpPr>
        <p:spPr>
          <a:xfrm>
            <a:off x="622930" y="1688135"/>
            <a:ext cx="772097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5C9513D-50C6-7C47-B111-688A0B884930}"/>
              </a:ext>
            </a:extLst>
          </p:cNvPr>
          <p:cNvSpPr txBox="1"/>
          <p:nvPr/>
        </p:nvSpPr>
        <p:spPr>
          <a:xfrm>
            <a:off x="1360302" y="2200376"/>
            <a:ext cx="6412098" cy="1522276"/>
          </a:xfrm>
          <a:prstGeom prst="rect">
            <a:avLst/>
          </a:prstGeom>
          <a:noFill/>
        </p:spPr>
        <p:txBody>
          <a:bodyPr wrap="square" rtlCol="0">
            <a:spAutoFit/>
          </a:bodyPr>
          <a:lstStyle/>
          <a:p>
            <a:pPr>
              <a:lnSpc>
                <a:spcPts val="3040"/>
              </a:lnSpc>
              <a:spcAft>
                <a:spcPts val="1200"/>
              </a:spcAft>
              <a:buClr>
                <a:schemeClr val="tx1"/>
              </a:buClr>
              <a:buSzPct val="100000"/>
            </a:pPr>
            <a:r>
              <a:rPr lang="en-GB" sz="2200" dirty="0">
                <a:solidFill>
                  <a:schemeClr val="bg1"/>
                </a:solidFill>
                <a:latin typeface="Arial" panose="020B0604020202020204" pitchFamily="34" charset="0"/>
                <a:cs typeface="Arial" panose="020B0604020202020204" pitchFamily="34" charset="0"/>
              </a:rPr>
              <a:t>Kine</a:t>
            </a:r>
            <a:r>
              <a:rPr lang="en-GB" sz="2200" dirty="0">
                <a:solidFill>
                  <a:schemeClr val="accent4"/>
                </a:solidFill>
                <a:latin typeface="Arial" panose="020B0604020202020204" pitchFamily="34" charset="0"/>
                <a:cs typeface="Arial" panose="020B0604020202020204" pitchFamily="34" charset="0"/>
              </a:rPr>
              <a:t>m</a:t>
            </a:r>
            <a:r>
              <a:rPr lang="en-GB" sz="2200" dirty="0">
                <a:solidFill>
                  <a:schemeClr val="bg1"/>
                </a:solidFill>
                <a:latin typeface="Arial" panose="020B0604020202020204" pitchFamily="34" charset="0"/>
                <a:cs typeface="Arial" panose="020B0604020202020204" pitchFamily="34" charset="0"/>
              </a:rPr>
              <a:t>atics – study of </a:t>
            </a:r>
            <a:r>
              <a:rPr lang="en-GB" sz="2200" dirty="0">
                <a:solidFill>
                  <a:schemeClr val="accent4"/>
                </a:solidFill>
                <a:latin typeface="Arial" panose="020B0604020202020204" pitchFamily="34" charset="0"/>
                <a:cs typeface="Arial" panose="020B0604020202020204" pitchFamily="34" charset="0"/>
              </a:rPr>
              <a:t>m</a:t>
            </a:r>
            <a:r>
              <a:rPr lang="en-GB" sz="2200" dirty="0">
                <a:solidFill>
                  <a:schemeClr val="bg1"/>
                </a:solidFill>
                <a:latin typeface="Arial" panose="020B0604020202020204" pitchFamily="34" charset="0"/>
                <a:cs typeface="Arial" panose="020B0604020202020204" pitchFamily="34" charset="0"/>
              </a:rPr>
              <a:t>otion (excluding forces)</a:t>
            </a:r>
          </a:p>
          <a:p>
            <a:pPr>
              <a:lnSpc>
                <a:spcPts val="3040"/>
              </a:lnSpc>
              <a:spcAft>
                <a:spcPts val="1200"/>
              </a:spcAft>
              <a:buClr>
                <a:schemeClr val="tx1"/>
              </a:buClr>
              <a:buSzPct val="100000"/>
            </a:pPr>
            <a:r>
              <a:rPr lang="en-GB" sz="2200" dirty="0">
                <a:solidFill>
                  <a:schemeClr val="bg1"/>
                </a:solidFill>
                <a:latin typeface="Arial" panose="020B0604020202020204" pitchFamily="34" charset="0"/>
                <a:cs typeface="Arial" panose="020B0604020202020204" pitchFamily="34" charset="0"/>
              </a:rPr>
              <a:t> </a:t>
            </a:r>
          </a:p>
          <a:p>
            <a:pPr>
              <a:lnSpc>
                <a:spcPts val="3040"/>
              </a:lnSpc>
              <a:spcAft>
                <a:spcPts val="1200"/>
              </a:spcAft>
              <a:buClr>
                <a:schemeClr val="tx1"/>
              </a:buClr>
              <a:buSzPct val="100000"/>
            </a:pPr>
            <a:r>
              <a:rPr lang="en-GB" sz="2200" dirty="0">
                <a:solidFill>
                  <a:schemeClr val="bg1"/>
                </a:solidFill>
                <a:latin typeface="Arial" panose="020B0604020202020204" pitchFamily="34" charset="0"/>
                <a:cs typeface="Arial" panose="020B0604020202020204" pitchFamily="34" charset="0"/>
              </a:rPr>
              <a:t>Kinetics – study of forces that cause of motion</a:t>
            </a:r>
          </a:p>
        </p:txBody>
      </p:sp>
      <p:sp>
        <p:nvSpPr>
          <p:cNvPr id="17" name="Rounded Rectangle 16">
            <a:extLst>
              <a:ext uri="{FF2B5EF4-FFF2-40B4-BE49-F238E27FC236}">
                <a16:creationId xmlns:a16="http://schemas.microsoft.com/office/drawing/2014/main" id="{4BE5A54A-7A77-5644-813E-F14CDDA4607E}"/>
              </a:ext>
            </a:extLst>
          </p:cNvPr>
          <p:cNvSpPr/>
          <p:nvPr/>
        </p:nvSpPr>
        <p:spPr>
          <a:xfrm>
            <a:off x="622930" y="520700"/>
            <a:ext cx="474064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ubtitle 2">
            <a:extLst>
              <a:ext uri="{FF2B5EF4-FFF2-40B4-BE49-F238E27FC236}">
                <a16:creationId xmlns:a16="http://schemas.microsoft.com/office/drawing/2014/main" id="{D0327491-6891-6944-B4F8-12C3CD03762B}"/>
              </a:ext>
            </a:extLst>
          </p:cNvPr>
          <p:cNvSpPr txBox="1">
            <a:spLocks/>
          </p:cNvSpPr>
          <p:nvPr/>
        </p:nvSpPr>
        <p:spPr>
          <a:xfrm>
            <a:off x="778878" y="624216"/>
            <a:ext cx="5317122"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Elements of biomechanics</a:t>
            </a:r>
          </a:p>
        </p:txBody>
      </p:sp>
      <p:pic>
        <p:nvPicPr>
          <p:cNvPr id="4" name="Picture 3" descr="Bowling alley">
            <a:extLst>
              <a:ext uri="{FF2B5EF4-FFF2-40B4-BE49-F238E27FC236}">
                <a16:creationId xmlns:a16="http://schemas.microsoft.com/office/drawing/2014/main" id="{6BF92667-8E15-9150-7131-31AD3FE9E5E7}"/>
              </a:ext>
            </a:extLst>
          </p:cNvPr>
          <p:cNvPicPr>
            <a:picLocks noChangeAspect="1"/>
          </p:cNvPicPr>
          <p:nvPr/>
        </p:nvPicPr>
        <p:blipFill>
          <a:blip r:embed="rId3"/>
          <a:stretch>
            <a:fillRect/>
          </a:stretch>
        </p:blipFill>
        <p:spPr>
          <a:xfrm>
            <a:off x="7396152" y="3429000"/>
            <a:ext cx="4673545" cy="3114936"/>
          </a:xfrm>
          <a:prstGeom prst="roundRect">
            <a:avLst/>
          </a:prstGeom>
          <a:ln w="28575">
            <a:solidFill>
              <a:srgbClr val="FFC000"/>
            </a:solidFill>
          </a:ln>
        </p:spPr>
      </p:pic>
    </p:spTree>
    <p:extLst>
      <p:ext uri="{BB962C8B-B14F-4D97-AF65-F5344CB8AC3E}">
        <p14:creationId xmlns:p14="http://schemas.microsoft.com/office/powerpoint/2010/main" val="3544445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FBB2A2C3-DC81-1796-79E7-8446CE78F76E}"/>
              </a:ext>
            </a:extLst>
          </p:cNvPr>
          <p:cNvSpPr/>
          <p:nvPr/>
        </p:nvSpPr>
        <p:spPr>
          <a:xfrm>
            <a:off x="622930" y="520700"/>
            <a:ext cx="28187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itle 2">
            <a:extLst>
              <a:ext uri="{FF2B5EF4-FFF2-40B4-BE49-F238E27FC236}">
                <a16:creationId xmlns:a16="http://schemas.microsoft.com/office/drawing/2014/main" id="{E190AE96-68F5-B7A8-B5FA-A0E725598E65}"/>
              </a:ext>
            </a:extLst>
          </p:cNvPr>
          <p:cNvSpPr txBox="1">
            <a:spLocks/>
          </p:cNvSpPr>
          <p:nvPr/>
        </p:nvSpPr>
        <p:spPr>
          <a:xfrm>
            <a:off x="778878" y="624216"/>
            <a:ext cx="3285121"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Question time</a:t>
            </a:r>
          </a:p>
        </p:txBody>
      </p:sp>
      <p:pic>
        <p:nvPicPr>
          <p:cNvPr id="3" name="Picture 2" descr="Question mark symbol">
            <a:extLst>
              <a:ext uri="{FF2B5EF4-FFF2-40B4-BE49-F238E27FC236}">
                <a16:creationId xmlns:a16="http://schemas.microsoft.com/office/drawing/2014/main" id="{DA010297-8E6E-5FF4-3C97-C14A57E50493}"/>
              </a:ext>
            </a:extLst>
          </p:cNvPr>
          <p:cNvPicPr>
            <a:picLocks/>
          </p:cNvPicPr>
          <p:nvPr/>
        </p:nvPicPr>
        <p:blipFill>
          <a:blip r:embed="rId2"/>
          <a:stretch>
            <a:fillRect/>
          </a:stretch>
        </p:blipFill>
        <p:spPr>
          <a:xfrm>
            <a:off x="622930" y="1503092"/>
            <a:ext cx="7808400" cy="4762800"/>
          </a:xfrm>
          <a:prstGeom prst="roundRect">
            <a:avLst/>
          </a:prstGeom>
          <a:ln w="38100">
            <a:solidFill>
              <a:schemeClr val="bg1"/>
            </a:solidFill>
          </a:ln>
        </p:spPr>
      </p:pic>
    </p:spTree>
    <p:extLst>
      <p:ext uri="{BB962C8B-B14F-4D97-AF65-F5344CB8AC3E}">
        <p14:creationId xmlns:p14="http://schemas.microsoft.com/office/powerpoint/2010/main" val="3212356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4F5B9-6544-523B-2FEC-AAD392E86CA1}"/>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7E4434C9-8561-E438-23D8-EAB2A0591F3F}"/>
              </a:ext>
            </a:extLst>
          </p:cNvPr>
          <p:cNvSpPr/>
          <p:nvPr/>
        </p:nvSpPr>
        <p:spPr>
          <a:xfrm>
            <a:off x="622930" y="1688135"/>
            <a:ext cx="540000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800" dirty="0"/>
              <a:t>A biomechanical model which depicts the body as a whole linked system of independent segments to import a desired action at a distal segment (McMullen &amp; </a:t>
            </a:r>
            <a:r>
              <a:rPr lang="en-GB" sz="2800" dirty="0" err="1"/>
              <a:t>Uhi</a:t>
            </a:r>
            <a:r>
              <a:rPr lang="en-GB" sz="2800" dirty="0"/>
              <a:t>, 2000)</a:t>
            </a:r>
          </a:p>
        </p:txBody>
      </p:sp>
      <p:sp>
        <p:nvSpPr>
          <p:cNvPr id="17" name="Rounded Rectangle 16">
            <a:extLst>
              <a:ext uri="{FF2B5EF4-FFF2-40B4-BE49-F238E27FC236}">
                <a16:creationId xmlns:a16="http://schemas.microsoft.com/office/drawing/2014/main" id="{52100370-346E-359E-5A8D-7C0DF124D528}"/>
              </a:ext>
            </a:extLst>
          </p:cNvPr>
          <p:cNvSpPr/>
          <p:nvPr/>
        </p:nvSpPr>
        <p:spPr>
          <a:xfrm>
            <a:off x="622930" y="520700"/>
            <a:ext cx="2606045"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EA23675A-6184-4635-F971-4B7479E1B863}"/>
              </a:ext>
            </a:extLst>
          </p:cNvPr>
          <p:cNvSpPr txBox="1">
            <a:spLocks/>
          </p:cNvSpPr>
          <p:nvPr/>
        </p:nvSpPr>
        <p:spPr>
          <a:xfrm>
            <a:off x="778878" y="624216"/>
            <a:ext cx="7399636"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Kinetic chain</a:t>
            </a:r>
          </a:p>
        </p:txBody>
      </p:sp>
      <p:pic>
        <p:nvPicPr>
          <p:cNvPr id="4" name="Picture 3" descr="Javelin throw illustration">
            <a:extLst>
              <a:ext uri="{FF2B5EF4-FFF2-40B4-BE49-F238E27FC236}">
                <a16:creationId xmlns:a16="http://schemas.microsoft.com/office/drawing/2014/main" id="{FD3CA9D5-C551-3E42-1BBC-8BF54A532D29}"/>
              </a:ext>
            </a:extLst>
          </p:cNvPr>
          <p:cNvPicPr>
            <a:picLocks noChangeAspect="1"/>
          </p:cNvPicPr>
          <p:nvPr/>
        </p:nvPicPr>
        <p:blipFill>
          <a:blip r:embed="rId3"/>
          <a:stretch>
            <a:fillRect/>
          </a:stretch>
        </p:blipFill>
        <p:spPr>
          <a:xfrm>
            <a:off x="6462394" y="1650034"/>
            <a:ext cx="5400000" cy="4685349"/>
          </a:xfrm>
          <a:prstGeom prst="roundRect">
            <a:avLst/>
          </a:prstGeom>
          <a:ln w="28575">
            <a:solidFill>
              <a:srgbClr val="FFC000"/>
            </a:solidFill>
          </a:ln>
        </p:spPr>
      </p:pic>
    </p:spTree>
    <p:extLst>
      <p:ext uri="{BB962C8B-B14F-4D97-AF65-F5344CB8AC3E}">
        <p14:creationId xmlns:p14="http://schemas.microsoft.com/office/powerpoint/2010/main" val="24773207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0AAAA-3024-5E6C-B850-98C6C0AF10BB}"/>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25E9009A-3CC9-0931-6B20-CEA4C335EA76}"/>
              </a:ext>
            </a:extLst>
          </p:cNvPr>
          <p:cNvSpPr/>
          <p:nvPr/>
        </p:nvSpPr>
        <p:spPr>
          <a:xfrm>
            <a:off x="622930" y="520700"/>
            <a:ext cx="33394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5349FBAB-80A6-98A6-F9E4-CA84FCEA466B}"/>
              </a:ext>
            </a:extLst>
          </p:cNvPr>
          <p:cNvSpPr txBox="1">
            <a:spLocks/>
          </p:cNvSpPr>
          <p:nvPr/>
        </p:nvSpPr>
        <p:spPr>
          <a:xfrm>
            <a:off x="778878" y="624216"/>
            <a:ext cx="4003637"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Anatomical slings</a:t>
            </a:r>
          </a:p>
        </p:txBody>
      </p:sp>
      <p:sp>
        <p:nvSpPr>
          <p:cNvPr id="2" name="Round Diagonal Corner Rectangle 2">
            <a:extLst>
              <a:ext uri="{FF2B5EF4-FFF2-40B4-BE49-F238E27FC236}">
                <a16:creationId xmlns:a16="http://schemas.microsoft.com/office/drawing/2014/main" id="{EDF03BAF-6990-1493-A00F-88262F979F37}"/>
              </a:ext>
            </a:extLst>
          </p:cNvPr>
          <p:cNvSpPr/>
          <p:nvPr/>
        </p:nvSpPr>
        <p:spPr>
          <a:xfrm>
            <a:off x="622931" y="1510896"/>
            <a:ext cx="5615500" cy="4826404"/>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eaLnBrk="1" fontAlgn="auto" latinLnBrk="0" hangingPunct="1">
              <a:lnSpc>
                <a:spcPct val="100000"/>
              </a:lnSpc>
              <a:spcBef>
                <a:spcPts val="0"/>
              </a:spcBef>
              <a:spcAft>
                <a:spcPts val="0"/>
              </a:spcAft>
              <a:buClrTx/>
              <a:buSzTx/>
              <a:tabLst/>
              <a:defRPr/>
            </a:pPr>
            <a:endParaRPr lang="en-GB" sz="3200" dirty="0"/>
          </a:p>
        </p:txBody>
      </p:sp>
      <p:pic>
        <p:nvPicPr>
          <p:cNvPr id="4" name="Picture 3" descr="Tennis player illustration">
            <a:extLst>
              <a:ext uri="{FF2B5EF4-FFF2-40B4-BE49-F238E27FC236}">
                <a16:creationId xmlns:a16="http://schemas.microsoft.com/office/drawing/2014/main" id="{511EA5D1-B63F-EBCD-67C2-F737FE4EE6E3}"/>
              </a:ext>
            </a:extLst>
          </p:cNvPr>
          <p:cNvPicPr>
            <a:picLocks noChangeAspect="1"/>
          </p:cNvPicPr>
          <p:nvPr/>
        </p:nvPicPr>
        <p:blipFill>
          <a:blip r:embed="rId4"/>
          <a:stretch>
            <a:fillRect/>
          </a:stretch>
        </p:blipFill>
        <p:spPr>
          <a:xfrm>
            <a:off x="6434070" y="1510896"/>
            <a:ext cx="5615500" cy="4826404"/>
          </a:xfrm>
          <a:prstGeom prst="roundRect">
            <a:avLst/>
          </a:prstGeom>
          <a:ln w="28575">
            <a:solidFill>
              <a:srgbClr val="FFC000"/>
            </a:solidFill>
          </a:ln>
        </p:spPr>
      </p:pic>
    </p:spTree>
    <p:extLst>
      <p:ext uri="{BB962C8B-B14F-4D97-AF65-F5344CB8AC3E}">
        <p14:creationId xmlns:p14="http://schemas.microsoft.com/office/powerpoint/2010/main" val="2490453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7EA98-3A11-4235-1946-CA4E730A19B3}"/>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81E58DF9-A855-7E8F-2DD6-C3160EEBC887}"/>
              </a:ext>
            </a:extLst>
          </p:cNvPr>
          <p:cNvSpPr/>
          <p:nvPr/>
        </p:nvSpPr>
        <p:spPr>
          <a:xfrm>
            <a:off x="622930" y="1688135"/>
            <a:ext cx="5400000" cy="4846015"/>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800" dirty="0"/>
              <a:t>Shoulder complex consists of the; </a:t>
            </a:r>
          </a:p>
          <a:p>
            <a:pPr marL="742950" lvl="1" indent="-285750">
              <a:buFont typeface="Arial" panose="020B0604020202020204" pitchFamily="34" charset="0"/>
              <a:buChar char="•"/>
            </a:pPr>
            <a:r>
              <a:rPr lang="en-GB" sz="2800" dirty="0"/>
              <a:t>Glenohumeral (GHJ)</a:t>
            </a:r>
          </a:p>
          <a:p>
            <a:pPr marL="742950" lvl="1" indent="-285750">
              <a:buFont typeface="Arial" panose="020B0604020202020204" pitchFamily="34" charset="0"/>
              <a:buChar char="•"/>
            </a:pPr>
            <a:r>
              <a:rPr lang="en-GB" sz="2800" dirty="0"/>
              <a:t>Acromioclavicular (ACJ)</a:t>
            </a:r>
          </a:p>
          <a:p>
            <a:pPr marL="742950" lvl="1" indent="-285750">
              <a:buFont typeface="Arial" panose="020B0604020202020204" pitchFamily="34" charset="0"/>
              <a:buChar char="•"/>
            </a:pPr>
            <a:r>
              <a:rPr lang="en-GB" sz="2800" dirty="0"/>
              <a:t>Sternoclavicular (SCJ)</a:t>
            </a:r>
          </a:p>
          <a:p>
            <a:pPr marL="742950" lvl="1" indent="-285750">
              <a:buFont typeface="Arial" panose="020B0604020202020204" pitchFamily="34" charset="0"/>
              <a:buChar char="•"/>
            </a:pPr>
            <a:r>
              <a:rPr lang="en-GB" sz="2800" dirty="0"/>
              <a:t>Scapulothoracic joints</a:t>
            </a:r>
          </a:p>
          <a:p>
            <a:pPr marL="285750" indent="-285750">
              <a:buFont typeface="Arial" panose="020B0604020202020204" pitchFamily="34" charset="0"/>
              <a:buChar char="•"/>
            </a:pPr>
            <a:r>
              <a:rPr lang="en-GB" sz="2800" dirty="0"/>
              <a:t>Only true articulation with the axial skeleton is via SCJ</a:t>
            </a:r>
          </a:p>
          <a:p>
            <a:pPr marL="285750" indent="-285750">
              <a:buFont typeface="Arial" panose="020B0604020202020204" pitchFamily="34" charset="0"/>
              <a:buChar char="•"/>
            </a:pPr>
            <a:r>
              <a:rPr lang="en-GB" sz="2800" dirty="0"/>
              <a:t>Large mobility (ball &amp; socket) predisposes to injury due to inherent instability</a:t>
            </a:r>
          </a:p>
        </p:txBody>
      </p:sp>
      <p:sp>
        <p:nvSpPr>
          <p:cNvPr id="17" name="Rounded Rectangle 16">
            <a:extLst>
              <a:ext uri="{FF2B5EF4-FFF2-40B4-BE49-F238E27FC236}">
                <a16:creationId xmlns:a16="http://schemas.microsoft.com/office/drawing/2014/main" id="{5B77D246-7987-5B8B-7C13-C7674749384D}"/>
              </a:ext>
            </a:extLst>
          </p:cNvPr>
          <p:cNvSpPr/>
          <p:nvPr/>
        </p:nvSpPr>
        <p:spPr>
          <a:xfrm>
            <a:off x="622930" y="520700"/>
            <a:ext cx="504000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3AE7E682-B25F-E115-9EBA-80CFC927149E}"/>
              </a:ext>
            </a:extLst>
          </p:cNvPr>
          <p:cNvSpPr txBox="1">
            <a:spLocks/>
          </p:cNvSpPr>
          <p:nvPr/>
        </p:nvSpPr>
        <p:spPr>
          <a:xfrm>
            <a:off x="778878" y="624216"/>
            <a:ext cx="7399636"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Functional shoulder anatomy </a:t>
            </a:r>
          </a:p>
        </p:txBody>
      </p:sp>
      <p:pic>
        <p:nvPicPr>
          <p:cNvPr id="2" name="Picture 10" descr="H:\Work\My Pictures\shoulder-anatomy.jpg">
            <a:extLst>
              <a:ext uri="{FF2B5EF4-FFF2-40B4-BE49-F238E27FC236}">
                <a16:creationId xmlns:a16="http://schemas.microsoft.com/office/drawing/2014/main" id="{0AD8DCE4-AF31-927C-4D81-4CC4F4B496A9}"/>
              </a:ext>
            </a:extLst>
          </p:cNvPr>
          <p:cNvPicPr>
            <a:picLocks noChangeAspect="1" noChangeArrowheads="1"/>
          </p:cNvPicPr>
          <p:nvPr/>
        </p:nvPicPr>
        <p:blipFill>
          <a:blip r:embed="rId3" cstate="print"/>
          <a:srcRect b="7652"/>
          <a:stretch/>
        </p:blipFill>
        <p:spPr bwMode="auto">
          <a:xfrm>
            <a:off x="6376106" y="1662010"/>
            <a:ext cx="5400000" cy="4846015"/>
          </a:xfrm>
          <a:prstGeom prst="roundRect">
            <a:avLst/>
          </a:prstGeom>
          <a:noFill/>
          <a:ln w="28575">
            <a:solidFill>
              <a:srgbClr val="FFC000"/>
            </a:solidFill>
            <a:miter lim="800000"/>
            <a:headEnd/>
            <a:tailEnd/>
          </a:ln>
        </p:spPr>
      </p:pic>
    </p:spTree>
    <p:extLst>
      <p:ext uri="{BB962C8B-B14F-4D97-AF65-F5344CB8AC3E}">
        <p14:creationId xmlns:p14="http://schemas.microsoft.com/office/powerpoint/2010/main" val="3950810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D0AFD-9AB0-133E-F46A-6B8B3CFEFD94}"/>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3D5CBCA8-384C-93F7-5C49-1950F3F480CE}"/>
              </a:ext>
            </a:extLst>
          </p:cNvPr>
          <p:cNvSpPr>
            <a:spLocks/>
          </p:cNvSpPr>
          <p:nvPr/>
        </p:nvSpPr>
        <p:spPr>
          <a:xfrm>
            <a:off x="433149" y="1688135"/>
            <a:ext cx="360000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Proprioception (mechanoreceptors)</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Muscles (local and global)</a:t>
            </a:r>
          </a:p>
        </p:txBody>
      </p:sp>
      <p:sp>
        <p:nvSpPr>
          <p:cNvPr id="17" name="Rounded Rectangle 16">
            <a:extLst>
              <a:ext uri="{FF2B5EF4-FFF2-40B4-BE49-F238E27FC236}">
                <a16:creationId xmlns:a16="http://schemas.microsoft.com/office/drawing/2014/main" id="{7D9ABDC9-60C6-DB79-5E65-C8865AD11234}"/>
              </a:ext>
            </a:extLst>
          </p:cNvPr>
          <p:cNvSpPr/>
          <p:nvPr/>
        </p:nvSpPr>
        <p:spPr>
          <a:xfrm>
            <a:off x="622930" y="520700"/>
            <a:ext cx="504000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CE3D5BBE-71B1-56DB-4FD3-F3B8C5136865}"/>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Functional shoulder anatomy </a:t>
            </a:r>
          </a:p>
        </p:txBody>
      </p:sp>
      <p:sp>
        <p:nvSpPr>
          <p:cNvPr id="3" name="Rounded Rectangle 5">
            <a:extLst>
              <a:ext uri="{FF2B5EF4-FFF2-40B4-BE49-F238E27FC236}">
                <a16:creationId xmlns:a16="http://schemas.microsoft.com/office/drawing/2014/main" id="{04DCBFEC-36F9-6C33-B59A-14785CDA86E5}"/>
              </a:ext>
            </a:extLst>
          </p:cNvPr>
          <p:cNvSpPr>
            <a:spLocks/>
          </p:cNvSpPr>
          <p:nvPr/>
        </p:nvSpPr>
        <p:spPr>
          <a:xfrm>
            <a:off x="8158851" y="1561602"/>
            <a:ext cx="3600000" cy="4647249"/>
          </a:xfrm>
          <a:prstGeom prst="roundRect">
            <a:avLst>
              <a:gd name="adj" fmla="val 6556"/>
            </a:avLst>
          </a:prstGeom>
          <a:solidFill>
            <a:srgbClr val="386C16"/>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Vacuum (intra-articular pressure)</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Bony geometry</a:t>
            </a:r>
          </a:p>
          <a:p>
            <a:pPr marL="285750" indent="-285750">
              <a:spcBef>
                <a:spcPts val="600"/>
              </a:spcBef>
              <a:spcAft>
                <a:spcPts val="600"/>
              </a:spcAft>
              <a:buFont typeface="Arial" panose="020B0604020202020204" pitchFamily="34" charset="0"/>
              <a:buChar char="•"/>
            </a:pPr>
            <a:r>
              <a:rPr lang="en-GB" sz="2400" dirty="0" err="1">
                <a:latin typeface="Arial" panose="020B0604020202020204" pitchFamily="34" charset="0"/>
                <a:cs typeface="Arial" panose="020B0604020202020204" pitchFamily="34" charset="0"/>
              </a:rPr>
              <a:t>Labrum</a:t>
            </a:r>
            <a:endParaRPr lang="en-GB" sz="2400" dirty="0">
              <a:latin typeface="Arial" panose="020B0604020202020204" pitchFamily="34" charset="0"/>
              <a:cs typeface="Arial" panose="020B0604020202020204" pitchFamily="34" charset="0"/>
            </a:endParaRP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Ligaments</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Capsule</a:t>
            </a:r>
          </a:p>
        </p:txBody>
      </p:sp>
      <p:pic>
        <p:nvPicPr>
          <p:cNvPr id="4" name="Picture 4" descr="Image result for golf ball on tee">
            <a:extLst>
              <a:ext uri="{FF2B5EF4-FFF2-40B4-BE49-F238E27FC236}">
                <a16:creationId xmlns:a16="http://schemas.microsoft.com/office/drawing/2014/main" id="{E6E643CD-F69C-2673-F036-E8FF4095581E}"/>
              </a:ext>
            </a:extLst>
          </p:cNvPr>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88319" y="1624868"/>
            <a:ext cx="3600000" cy="4773782"/>
          </a:xfrm>
          <a:prstGeom prst="roundRect">
            <a:avLst/>
          </a:prstGeom>
          <a:noFill/>
          <a:ln w="28575">
            <a:solidFill>
              <a:srgbClr val="FFC000"/>
            </a:solidFill>
          </a:ln>
          <a:extLst>
            <a:ext uri="{909E8E84-426E-40DD-AFC4-6F175D3DCCD1}">
              <a14:hiddenFill xmlns:a14="http://schemas.microsoft.com/office/drawing/2010/main">
                <a:solidFill>
                  <a:srgbClr val="FFFFFF"/>
                </a:solidFill>
              </a14:hiddenFill>
            </a:ext>
          </a:extLst>
        </p:spPr>
      </p:pic>
      <p:sp>
        <p:nvSpPr>
          <p:cNvPr id="5" name="Rounded Rectangle 16">
            <a:extLst>
              <a:ext uri="{FF2B5EF4-FFF2-40B4-BE49-F238E27FC236}">
                <a16:creationId xmlns:a16="http://schemas.microsoft.com/office/drawing/2014/main" id="{A1F91FC6-FA46-F34A-88A6-AE0B3E5BF3A2}"/>
              </a:ext>
            </a:extLst>
          </p:cNvPr>
          <p:cNvSpPr/>
          <p:nvPr/>
        </p:nvSpPr>
        <p:spPr>
          <a:xfrm rot="10800000" flipV="1">
            <a:off x="417786" y="1670883"/>
            <a:ext cx="365400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326014"/>
                </a:solidFill>
                <a:latin typeface="Arial" panose="020B0604020202020204" pitchFamily="34" charset="0"/>
                <a:cs typeface="Arial" panose="020B0604020202020204" pitchFamily="34" charset="0"/>
              </a:rPr>
              <a:t>Active</a:t>
            </a:r>
          </a:p>
        </p:txBody>
      </p:sp>
      <p:sp>
        <p:nvSpPr>
          <p:cNvPr id="7" name="Rounded Rectangle 16">
            <a:extLst>
              <a:ext uri="{FF2B5EF4-FFF2-40B4-BE49-F238E27FC236}">
                <a16:creationId xmlns:a16="http://schemas.microsoft.com/office/drawing/2014/main" id="{594E40CF-1712-31A9-741C-E1B17D3791AD}"/>
              </a:ext>
            </a:extLst>
          </p:cNvPr>
          <p:cNvSpPr/>
          <p:nvPr/>
        </p:nvSpPr>
        <p:spPr>
          <a:xfrm rot="10800000" flipV="1">
            <a:off x="8131851" y="1542553"/>
            <a:ext cx="365400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rgbClr val="326014"/>
                </a:solidFill>
                <a:latin typeface="Arial" panose="020B0604020202020204" pitchFamily="34" charset="0"/>
                <a:cs typeface="Arial" panose="020B0604020202020204" pitchFamily="34" charset="0"/>
              </a:rPr>
              <a:t>Passive</a:t>
            </a:r>
          </a:p>
        </p:txBody>
      </p:sp>
    </p:spTree>
    <p:extLst>
      <p:ext uri="{BB962C8B-B14F-4D97-AF65-F5344CB8AC3E}">
        <p14:creationId xmlns:p14="http://schemas.microsoft.com/office/powerpoint/2010/main" val="126600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 grpId="0" animBg="1"/>
      <p:bldP spid="5"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89FE1-8564-283E-A55E-B88AF2176C03}"/>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939ECD17-7777-948E-D18E-60C572C8A1E4}"/>
              </a:ext>
            </a:extLst>
          </p:cNvPr>
          <p:cNvSpPr/>
          <p:nvPr/>
        </p:nvSpPr>
        <p:spPr>
          <a:xfrm>
            <a:off x="622930" y="520700"/>
            <a:ext cx="5260285"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1A80F03F-A655-D6EA-43EC-D4718365CDC2}"/>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Shoulder stability simplified(?)</a:t>
            </a:r>
          </a:p>
        </p:txBody>
      </p:sp>
      <p:sp>
        <p:nvSpPr>
          <p:cNvPr id="2" name="Content Placeholder 2">
            <a:extLst>
              <a:ext uri="{FF2B5EF4-FFF2-40B4-BE49-F238E27FC236}">
                <a16:creationId xmlns:a16="http://schemas.microsoft.com/office/drawing/2014/main" id="{AFDBB1BF-B9CC-4F26-93BF-A4F11C4E9C40}"/>
              </a:ext>
            </a:extLst>
          </p:cNvPr>
          <p:cNvSpPr txBox="1">
            <a:spLocks/>
          </p:cNvSpPr>
          <p:nvPr/>
        </p:nvSpPr>
        <p:spPr>
          <a:xfrm>
            <a:off x="838200" y="3353211"/>
            <a:ext cx="10515600" cy="67014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3600" b="1" dirty="0">
                <a:solidFill>
                  <a:schemeClr val="bg1"/>
                </a:solidFill>
                <a:latin typeface="Arial" panose="020B0604020202020204" pitchFamily="34" charset="0"/>
                <a:cs typeface="Arial" panose="020B0604020202020204" pitchFamily="34" charset="0"/>
              </a:rPr>
              <a:t>JRF = RC + SAC + CLPM + NS</a:t>
            </a:r>
            <a:endParaRPr lang="en-GB" sz="3600" dirty="0">
              <a:solidFill>
                <a:schemeClr val="bg1"/>
              </a:solidFill>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5912D773-A789-3279-6438-8FA86EA99705}"/>
              </a:ext>
            </a:extLst>
          </p:cNvPr>
          <p:cNvCxnSpPr/>
          <p:nvPr/>
        </p:nvCxnSpPr>
        <p:spPr>
          <a:xfrm flipH="1" flipV="1">
            <a:off x="4087906" y="2549563"/>
            <a:ext cx="225910" cy="803648"/>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9" name="Rounded Rectangle 5">
            <a:extLst>
              <a:ext uri="{FF2B5EF4-FFF2-40B4-BE49-F238E27FC236}">
                <a16:creationId xmlns:a16="http://schemas.microsoft.com/office/drawing/2014/main" id="{8CDF4A40-4802-EE8D-886D-4F773B4BF5B2}"/>
              </a:ext>
            </a:extLst>
          </p:cNvPr>
          <p:cNvSpPr/>
          <p:nvPr/>
        </p:nvSpPr>
        <p:spPr>
          <a:xfrm>
            <a:off x="838200" y="1690688"/>
            <a:ext cx="3626224" cy="772813"/>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326014"/>
                </a:solidFill>
                <a:latin typeface="Arial" panose="020B0604020202020204" pitchFamily="34" charset="0"/>
                <a:cs typeface="Arial" panose="020B0604020202020204" pitchFamily="34" charset="0"/>
              </a:rPr>
              <a:t>Everyone has one but function can vary</a:t>
            </a:r>
          </a:p>
        </p:txBody>
      </p:sp>
      <p:cxnSp>
        <p:nvCxnSpPr>
          <p:cNvPr id="10" name="Straight Arrow Connector 9">
            <a:extLst>
              <a:ext uri="{FF2B5EF4-FFF2-40B4-BE49-F238E27FC236}">
                <a16:creationId xmlns:a16="http://schemas.microsoft.com/office/drawing/2014/main" id="{8CCC66A9-91FE-23BF-DEF8-B5F5318AD2FD}"/>
              </a:ext>
            </a:extLst>
          </p:cNvPr>
          <p:cNvCxnSpPr/>
          <p:nvPr/>
        </p:nvCxnSpPr>
        <p:spPr>
          <a:xfrm>
            <a:off x="5723069" y="3937299"/>
            <a:ext cx="43030" cy="128016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1" name="Rounded Rectangle 9">
            <a:extLst>
              <a:ext uri="{FF2B5EF4-FFF2-40B4-BE49-F238E27FC236}">
                <a16:creationId xmlns:a16="http://schemas.microsoft.com/office/drawing/2014/main" id="{6949D04C-982D-F201-782B-4CCC3679186D}"/>
              </a:ext>
            </a:extLst>
          </p:cNvPr>
          <p:cNvSpPr/>
          <p:nvPr/>
        </p:nvSpPr>
        <p:spPr>
          <a:xfrm>
            <a:off x="4959275" y="5426635"/>
            <a:ext cx="3937784" cy="1179264"/>
          </a:xfrm>
          <a:prstGeom prst="roundRect">
            <a:avLst/>
          </a:prstGeom>
          <a:solidFill>
            <a:srgbClr val="FFC000"/>
          </a:solidFill>
          <a:ln>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solidFill>
                  <a:srgbClr val="326014"/>
                </a:solidFill>
                <a:latin typeface="Arial" panose="020B0604020202020204" pitchFamily="34" charset="0"/>
                <a:cs typeface="Arial" panose="020B0604020202020204" pitchFamily="34" charset="0"/>
              </a:rPr>
              <a:t>Limited congruency, can vary (Owens </a:t>
            </a:r>
            <a:r>
              <a:rPr lang="en-GB" i="1" dirty="0">
                <a:solidFill>
                  <a:srgbClr val="326014"/>
                </a:solidFill>
                <a:latin typeface="Arial" panose="020B0604020202020204" pitchFamily="34" charset="0"/>
                <a:cs typeface="Arial" panose="020B0604020202020204" pitchFamily="34" charset="0"/>
              </a:rPr>
              <a:t>et al</a:t>
            </a:r>
            <a:r>
              <a:rPr lang="en-GB" dirty="0">
                <a:solidFill>
                  <a:srgbClr val="326014"/>
                </a:solidFill>
                <a:latin typeface="Arial" panose="020B0604020202020204" pitchFamily="34" charset="0"/>
                <a:cs typeface="Arial" panose="020B0604020202020204" pitchFamily="34" charset="0"/>
              </a:rPr>
              <a:t>., 2013; Owens </a:t>
            </a:r>
            <a:r>
              <a:rPr lang="en-GB" i="1" dirty="0">
                <a:solidFill>
                  <a:srgbClr val="326014"/>
                </a:solidFill>
                <a:latin typeface="Arial" panose="020B0604020202020204" pitchFamily="34" charset="0"/>
                <a:cs typeface="Arial" panose="020B0604020202020204" pitchFamily="34" charset="0"/>
              </a:rPr>
              <a:t>et al</a:t>
            </a:r>
            <a:r>
              <a:rPr lang="en-GB" dirty="0">
                <a:solidFill>
                  <a:srgbClr val="326014"/>
                </a:solidFill>
                <a:latin typeface="Arial" panose="020B0604020202020204" pitchFamily="34" charset="0"/>
                <a:cs typeface="Arial" panose="020B0604020202020204" pitchFamily="34" charset="0"/>
              </a:rPr>
              <a:t>., 2014) and can be injured i.e. Bankart or Hill Sachs lesion</a:t>
            </a:r>
          </a:p>
        </p:txBody>
      </p:sp>
      <p:pic>
        <p:nvPicPr>
          <p:cNvPr id="12" name="Picture 6" descr="https://thesportsphysio.files.wordpress.com/2013/05/wpid-photo-12-may-2013-2045.jpg?w=500&amp;h=230">
            <a:extLst>
              <a:ext uri="{FF2B5EF4-FFF2-40B4-BE49-F238E27FC236}">
                <a16:creationId xmlns:a16="http://schemas.microsoft.com/office/drawing/2014/main" id="{70B845F5-0CE2-CEB0-663F-DED6F69AA8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70" y="3937299"/>
            <a:ext cx="4762500" cy="2190750"/>
          </a:xfrm>
          <a:prstGeom prst="roundRect">
            <a:avLst/>
          </a:prstGeom>
          <a:noFill/>
          <a:ln w="28575">
            <a:solidFill>
              <a:srgbClr val="FFC000"/>
            </a:solidFill>
          </a:ln>
          <a:extLst>
            <a:ext uri="{909E8E84-426E-40DD-AFC4-6F175D3DCCD1}">
              <a14:hiddenFill xmlns:a14="http://schemas.microsoft.com/office/drawing/2010/main">
                <a:solidFill>
                  <a:srgbClr val="FFFFFF"/>
                </a:solidFill>
              </a14:hiddenFill>
            </a:ext>
          </a:extLst>
        </p:spPr>
      </p:pic>
      <p:cxnSp>
        <p:nvCxnSpPr>
          <p:cNvPr id="13" name="Straight Arrow Connector 12">
            <a:extLst>
              <a:ext uri="{FF2B5EF4-FFF2-40B4-BE49-F238E27FC236}">
                <a16:creationId xmlns:a16="http://schemas.microsoft.com/office/drawing/2014/main" id="{0011C5B8-15C0-C578-E33D-A381D0E5C4DD}"/>
              </a:ext>
            </a:extLst>
          </p:cNvPr>
          <p:cNvCxnSpPr>
            <a:cxnSpLocks/>
          </p:cNvCxnSpPr>
          <p:nvPr/>
        </p:nvCxnSpPr>
        <p:spPr>
          <a:xfrm flipV="1">
            <a:off x="7605656" y="2701387"/>
            <a:ext cx="10758" cy="55818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4" name="Rounded Rectangle 14">
            <a:extLst>
              <a:ext uri="{FF2B5EF4-FFF2-40B4-BE49-F238E27FC236}">
                <a16:creationId xmlns:a16="http://schemas.microsoft.com/office/drawing/2014/main" id="{47E6E7E1-6BDF-A1CD-0B13-AC0F4F13EF08}"/>
              </a:ext>
            </a:extLst>
          </p:cNvPr>
          <p:cNvSpPr/>
          <p:nvPr/>
        </p:nvSpPr>
        <p:spPr>
          <a:xfrm>
            <a:off x="5773802" y="1921247"/>
            <a:ext cx="5010312" cy="696383"/>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326014"/>
                </a:solidFill>
                <a:latin typeface="Arial" panose="020B0604020202020204" pitchFamily="34" charset="0"/>
                <a:cs typeface="Arial" panose="020B0604020202020204" pitchFamily="34" charset="0"/>
              </a:rPr>
              <a:t>Can be damaged via degeneration or trauma</a:t>
            </a:r>
          </a:p>
        </p:txBody>
      </p:sp>
      <p:cxnSp>
        <p:nvCxnSpPr>
          <p:cNvPr id="15" name="Straight Arrow Connector 14">
            <a:extLst>
              <a:ext uri="{FF2B5EF4-FFF2-40B4-BE49-F238E27FC236}">
                <a16:creationId xmlns:a16="http://schemas.microsoft.com/office/drawing/2014/main" id="{56E98129-126F-47F7-FA8A-9CD2A0B473FF}"/>
              </a:ext>
            </a:extLst>
          </p:cNvPr>
          <p:cNvCxnSpPr/>
          <p:nvPr/>
        </p:nvCxnSpPr>
        <p:spPr>
          <a:xfrm>
            <a:off x="9380668" y="3829722"/>
            <a:ext cx="925158" cy="1097280"/>
          </a:xfrm>
          <a:prstGeom prst="straightConnector1">
            <a:avLst/>
          </a:prstGeom>
          <a:ln w="38100">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7">
            <a:extLst>
              <a:ext uri="{FF2B5EF4-FFF2-40B4-BE49-F238E27FC236}">
                <a16:creationId xmlns:a16="http://schemas.microsoft.com/office/drawing/2014/main" id="{AEB7777B-A93A-6977-DDB8-B742FFD730A8}"/>
              </a:ext>
            </a:extLst>
          </p:cNvPr>
          <p:cNvSpPr/>
          <p:nvPr/>
        </p:nvSpPr>
        <p:spPr>
          <a:xfrm>
            <a:off x="9219304" y="5078578"/>
            <a:ext cx="2850777" cy="955172"/>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326014"/>
                </a:solidFill>
                <a:latin typeface="Arial" panose="020B0604020202020204" pitchFamily="34" charset="0"/>
                <a:cs typeface="Arial" panose="020B0604020202020204" pitchFamily="34" charset="0"/>
              </a:rPr>
              <a:t>Feedback / forward mechanism can vary</a:t>
            </a:r>
          </a:p>
        </p:txBody>
      </p:sp>
      <p:sp>
        <p:nvSpPr>
          <p:cNvPr id="3" name="Rounded Rectangle 16">
            <a:extLst>
              <a:ext uri="{FF2B5EF4-FFF2-40B4-BE49-F238E27FC236}">
                <a16:creationId xmlns:a16="http://schemas.microsoft.com/office/drawing/2014/main" id="{248D4938-5C87-5EEE-D746-16B9FD69A82F}"/>
              </a:ext>
            </a:extLst>
          </p:cNvPr>
          <p:cNvSpPr/>
          <p:nvPr/>
        </p:nvSpPr>
        <p:spPr>
          <a:xfrm>
            <a:off x="6005134" y="176038"/>
            <a:ext cx="6186866" cy="1514650"/>
          </a:xfrm>
          <a:prstGeom prst="roundRect">
            <a:avLst/>
          </a:prstGeom>
          <a:solidFill>
            <a:schemeClr val="accent4">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bg1"/>
                </a:solidFill>
                <a:latin typeface="Arial" panose="020B0604020202020204" pitchFamily="34" charset="0"/>
                <a:cs typeface="Arial" panose="020B0604020202020204" pitchFamily="34" charset="0"/>
              </a:rPr>
              <a:t>JRF = Joint reaction force</a:t>
            </a:r>
          </a:p>
          <a:p>
            <a:pPr algn="ctr"/>
            <a:r>
              <a:rPr lang="en-US" dirty="0">
                <a:ln w="0"/>
                <a:solidFill>
                  <a:schemeClr val="bg1"/>
                </a:solidFill>
                <a:latin typeface="Arial" panose="020B0604020202020204" pitchFamily="34" charset="0"/>
                <a:cs typeface="Arial" panose="020B0604020202020204" pitchFamily="34" charset="0"/>
              </a:rPr>
              <a:t>RC = Rotator cuff</a:t>
            </a:r>
          </a:p>
          <a:p>
            <a:pPr algn="ctr"/>
            <a:r>
              <a:rPr lang="en-US" dirty="0">
                <a:ln w="0"/>
                <a:solidFill>
                  <a:schemeClr val="bg1"/>
                </a:solidFill>
                <a:latin typeface="Arial" panose="020B0604020202020204" pitchFamily="34" charset="0"/>
                <a:cs typeface="Arial" panose="020B0604020202020204" pitchFamily="34" charset="0"/>
              </a:rPr>
              <a:t>SAC = Surface area contact</a:t>
            </a:r>
          </a:p>
          <a:p>
            <a:pPr algn="ctr"/>
            <a:r>
              <a:rPr lang="en-US" dirty="0">
                <a:ln w="0"/>
                <a:solidFill>
                  <a:schemeClr val="bg1"/>
                </a:solidFill>
                <a:latin typeface="Arial" panose="020B0604020202020204" pitchFamily="34" charset="0"/>
                <a:cs typeface="Arial" panose="020B0604020202020204" pitchFamily="34" charset="0"/>
              </a:rPr>
              <a:t>CLPM = Capsular ligamentous proprioceptive mechanism</a:t>
            </a:r>
          </a:p>
          <a:p>
            <a:pPr algn="ctr"/>
            <a:r>
              <a:rPr lang="en-US" dirty="0">
                <a:ln w="0"/>
                <a:solidFill>
                  <a:schemeClr val="bg1"/>
                </a:solidFill>
                <a:latin typeface="Arial" panose="020B0604020202020204" pitchFamily="34" charset="0"/>
                <a:cs typeface="Arial" panose="020B0604020202020204" pitchFamily="34" charset="0"/>
              </a:rPr>
              <a:t>NS = Nervous system</a:t>
            </a:r>
          </a:p>
        </p:txBody>
      </p:sp>
    </p:spTree>
    <p:extLst>
      <p:ext uri="{BB962C8B-B14F-4D97-AF65-F5344CB8AC3E}">
        <p14:creationId xmlns:p14="http://schemas.microsoft.com/office/powerpoint/2010/main" val="3339850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4" grpId="0" animBg="1"/>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38D6C-E566-1865-6480-76C7ACEB5511}"/>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345A8504-79C2-8662-5BEC-E7744D63F718}"/>
              </a:ext>
            </a:extLst>
          </p:cNvPr>
          <p:cNvSpPr/>
          <p:nvPr/>
        </p:nvSpPr>
        <p:spPr>
          <a:xfrm>
            <a:off x="622929" y="1688135"/>
            <a:ext cx="7702205"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Scapulohumeral rhythm is the coordinated motion of the scapula and humerus experienced during overhead shoulder movement</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Traditionally viewed as occurring at a ratio of 2:1 (2 degrees of humeral flexion/abduction to 1 degree of scapular upward rotation)</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Assess scapulothoracic movement</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Winging</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Thoracic movement</a:t>
            </a:r>
          </a:p>
        </p:txBody>
      </p:sp>
      <p:sp>
        <p:nvSpPr>
          <p:cNvPr id="17" name="Rounded Rectangle 16">
            <a:extLst>
              <a:ext uri="{FF2B5EF4-FFF2-40B4-BE49-F238E27FC236}">
                <a16:creationId xmlns:a16="http://schemas.microsoft.com/office/drawing/2014/main" id="{99699DC5-6134-57F9-FC67-7F7187C4E32E}"/>
              </a:ext>
            </a:extLst>
          </p:cNvPr>
          <p:cNvSpPr/>
          <p:nvPr/>
        </p:nvSpPr>
        <p:spPr>
          <a:xfrm>
            <a:off x="622931" y="520700"/>
            <a:ext cx="4570172"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713D45DE-7586-F0B2-A3E9-58933E8AC015}"/>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Scapulohumeral rhythm </a:t>
            </a:r>
          </a:p>
        </p:txBody>
      </p:sp>
      <p:pic>
        <p:nvPicPr>
          <p:cNvPr id="3" name="Picture 2" descr="The schematic drawing of scapulohumeral rhythm. Resting position (A). Position of arm elevation to (B) and above (C) the horizontal. H = humerus; G = glenoid; T = thorax; G-H = glenohumeral motion; S-T = scapulothoracic motion.">
            <a:extLst>
              <a:ext uri="{FF2B5EF4-FFF2-40B4-BE49-F238E27FC236}">
                <a16:creationId xmlns:a16="http://schemas.microsoft.com/office/drawing/2014/main" id="{18F554E0-3F36-A8ED-2F79-A82AD59F15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6541" y="516152"/>
            <a:ext cx="3267142" cy="5819232"/>
          </a:xfrm>
          <a:prstGeom prst="rect">
            <a:avLst/>
          </a:prstGeom>
          <a:noFill/>
          <a:ln w="28575">
            <a:solidFill>
              <a:srgbClr val="FFC000"/>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170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358C3-1B83-2D2B-DEEB-1F54E262C5F0}"/>
            </a:ext>
          </a:extLst>
        </p:cNvPr>
        <p:cNvGrpSpPr/>
        <p:nvPr/>
      </p:nvGrpSpPr>
      <p:grpSpPr>
        <a:xfrm>
          <a:off x="0" y="0"/>
          <a:ext cx="0" cy="0"/>
          <a:chOff x="0" y="0"/>
          <a:chExt cx="0" cy="0"/>
        </a:xfrm>
      </p:grpSpPr>
      <p:sp>
        <p:nvSpPr>
          <p:cNvPr id="3" name="Rounded Rectangle 16">
            <a:extLst>
              <a:ext uri="{FF2B5EF4-FFF2-40B4-BE49-F238E27FC236}">
                <a16:creationId xmlns:a16="http://schemas.microsoft.com/office/drawing/2014/main" id="{AF44F77B-DAE6-2A99-D5AF-5B3AE3A8CB9E}"/>
              </a:ext>
            </a:extLst>
          </p:cNvPr>
          <p:cNvSpPr/>
          <p:nvPr/>
        </p:nvSpPr>
        <p:spPr>
          <a:xfrm>
            <a:off x="622931" y="520700"/>
            <a:ext cx="4570172"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Subtitle 2">
            <a:extLst>
              <a:ext uri="{FF2B5EF4-FFF2-40B4-BE49-F238E27FC236}">
                <a16:creationId xmlns:a16="http://schemas.microsoft.com/office/drawing/2014/main" id="{6A6B2DD8-0DD3-59D4-4311-9C28B68A9A62}"/>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Scapulohumeral rhythm </a:t>
            </a:r>
          </a:p>
        </p:txBody>
      </p:sp>
      <p:pic>
        <p:nvPicPr>
          <p:cNvPr id="6" name="Thu Mar 13 2025 09_58_20_default_6db71341">
            <a:hlinkClick r:id="" action="ppaction://media"/>
            <a:extLst>
              <a:ext uri="{FF2B5EF4-FFF2-40B4-BE49-F238E27FC236}">
                <a16:creationId xmlns:a16="http://schemas.microsoft.com/office/drawing/2014/main" id="{7CC32E29-C6BF-2846-DA73-3E91B6379CE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4425" b="10036"/>
          <a:stretch/>
        </p:blipFill>
        <p:spPr>
          <a:xfrm>
            <a:off x="622931" y="1552755"/>
            <a:ext cx="8348541" cy="4960187"/>
          </a:xfrm>
          <a:prstGeom prst="roundRect">
            <a:avLst/>
          </a:prstGeom>
          <a:ln w="28575">
            <a:solidFill>
              <a:srgbClr val="FFC000"/>
            </a:solidFill>
          </a:ln>
        </p:spPr>
      </p:pic>
    </p:spTree>
    <p:extLst>
      <p:ext uri="{BB962C8B-B14F-4D97-AF65-F5344CB8AC3E}">
        <p14:creationId xmlns:p14="http://schemas.microsoft.com/office/powerpoint/2010/main" val="2528069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7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C6F49-3620-E658-8C97-06FE5E455BFD}"/>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DA745D12-1943-5AF4-D29C-DEB2C0DF4FCE}"/>
              </a:ext>
            </a:extLst>
          </p:cNvPr>
          <p:cNvSpPr/>
          <p:nvPr/>
        </p:nvSpPr>
        <p:spPr>
          <a:xfrm>
            <a:off x="622929" y="520700"/>
            <a:ext cx="5914057"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316D9E50-1DD4-31BE-41EA-C12EFA7E5C83}"/>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Scapular stabiliser muscle actions</a:t>
            </a:r>
          </a:p>
        </p:txBody>
      </p:sp>
      <p:sp>
        <p:nvSpPr>
          <p:cNvPr id="2" name="Round Diagonal Corner Rectangle 2">
            <a:extLst>
              <a:ext uri="{FF2B5EF4-FFF2-40B4-BE49-F238E27FC236}">
                <a16:creationId xmlns:a16="http://schemas.microsoft.com/office/drawing/2014/main" id="{EC748CD5-239F-2328-64B5-43232FFE5A04}"/>
              </a:ext>
            </a:extLst>
          </p:cNvPr>
          <p:cNvSpPr/>
          <p:nvPr/>
        </p:nvSpPr>
        <p:spPr>
          <a:xfrm>
            <a:off x="6204265" y="1454398"/>
            <a:ext cx="5473070" cy="4956129"/>
          </a:xfrm>
          <a:prstGeom prst="rect">
            <a:avLst/>
          </a:prstGeom>
          <a:blipFill dpi="0" rotWithShape="1">
            <a:blip r:embed="rId3">
              <a:extLst>
                <a:ext uri="{28A0092B-C50C-407E-A947-70E740481C1C}">
                  <a14:useLocalDpi xmlns:a14="http://schemas.microsoft.com/office/drawing/2010/main" val="0"/>
                </a:ext>
              </a:extLst>
            </a:blip>
            <a:srcRect/>
            <a:stretch>
              <a:fillRect b="-232380"/>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GB" sz="2800" dirty="0"/>
          </a:p>
        </p:txBody>
      </p:sp>
      <p:sp>
        <p:nvSpPr>
          <p:cNvPr id="4" name="Round Diagonal Corner Rectangle 2">
            <a:extLst>
              <a:ext uri="{FF2B5EF4-FFF2-40B4-BE49-F238E27FC236}">
                <a16:creationId xmlns:a16="http://schemas.microsoft.com/office/drawing/2014/main" id="{064FB2EB-0071-ED64-3EF8-C4AA11B1D94B}"/>
              </a:ext>
            </a:extLst>
          </p:cNvPr>
          <p:cNvSpPr/>
          <p:nvPr/>
        </p:nvSpPr>
        <p:spPr>
          <a:xfrm>
            <a:off x="622930" y="1454398"/>
            <a:ext cx="5473070" cy="4956129"/>
          </a:xfrm>
          <a:prstGeom prst="round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For efficient scapulohumeral rhythm balance of strength and activation of muscles around the scapular is required </a:t>
            </a:r>
          </a:p>
          <a:p>
            <a:pPr marL="342900" indent="-342900">
              <a:buClr>
                <a:schemeClr val="bg1"/>
              </a:buClr>
              <a:buFont typeface="Arial" panose="020B0604020202020204" pitchFamily="34" charset="0"/>
              <a:buChar char="•"/>
            </a:pPr>
            <a:r>
              <a:rPr lang="en-GB" sz="2400" dirty="0" err="1">
                <a:solidFill>
                  <a:schemeClr val="bg1"/>
                </a:solidFill>
                <a:latin typeface="Arial" panose="020B0604020202020204" pitchFamily="34" charset="0"/>
                <a:cs typeface="Arial" panose="020B0604020202020204" pitchFamily="34" charset="0"/>
              </a:rPr>
              <a:t>Struyf</a:t>
            </a:r>
            <a:r>
              <a:rPr lang="en-GB" sz="2400" dirty="0">
                <a:solidFill>
                  <a:schemeClr val="bg1"/>
                </a:solidFill>
                <a:latin typeface="Arial" panose="020B0604020202020204" pitchFamily="34" charset="0"/>
                <a:cs typeface="Arial" panose="020B0604020202020204" pitchFamily="34" charset="0"/>
              </a:rPr>
              <a:t> et al. (2014) found in 113 recreational overhead athletes that less scapular upward rotation at 45° and 90° of humeral abduction were significant for developing shoulder pain</a:t>
            </a:r>
          </a:p>
        </p:txBody>
      </p:sp>
      <p:sp>
        <p:nvSpPr>
          <p:cNvPr id="3" name="Rectangle 2">
            <a:extLst>
              <a:ext uri="{FF2B5EF4-FFF2-40B4-BE49-F238E27FC236}">
                <a16:creationId xmlns:a16="http://schemas.microsoft.com/office/drawing/2014/main" id="{EF42CF47-5ED9-C909-8706-46E5789AD412}"/>
              </a:ext>
            </a:extLst>
          </p:cNvPr>
          <p:cNvSpPr/>
          <p:nvPr/>
        </p:nvSpPr>
        <p:spPr>
          <a:xfrm>
            <a:off x="6342434" y="1819072"/>
            <a:ext cx="291830" cy="4669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A547B84C-AB3A-BE6D-5101-B9C3EC863B6B}"/>
              </a:ext>
            </a:extLst>
          </p:cNvPr>
          <p:cNvSpPr/>
          <p:nvPr/>
        </p:nvSpPr>
        <p:spPr>
          <a:xfrm>
            <a:off x="9403405" y="1738008"/>
            <a:ext cx="291830" cy="4669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46491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BF7D2-3DA1-2680-27D0-6C209BB0D495}"/>
            </a:ext>
          </a:extLst>
        </p:cNvPr>
        <p:cNvGrpSpPr/>
        <p:nvPr/>
      </p:nvGrpSpPr>
      <p:grpSpPr>
        <a:xfrm>
          <a:off x="0" y="0"/>
          <a:ext cx="0" cy="0"/>
          <a:chOff x="0" y="0"/>
          <a:chExt cx="0" cy="0"/>
        </a:xfrm>
      </p:grpSpPr>
      <p:pic>
        <p:nvPicPr>
          <p:cNvPr id="7" name="Picture 3" descr="cuff wasting">
            <a:extLst>
              <a:ext uri="{FF2B5EF4-FFF2-40B4-BE49-F238E27FC236}">
                <a16:creationId xmlns:a16="http://schemas.microsoft.com/office/drawing/2014/main" id="{232F928F-9E20-5630-AB07-CF74ED3EB0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70417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C0F3C-DCC0-1269-B0B8-9DEA64C02CA9}"/>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A517E716-B90C-1F3D-D267-517C8E7A0E24}"/>
              </a:ext>
            </a:extLst>
          </p:cNvPr>
          <p:cNvSpPr/>
          <p:nvPr/>
        </p:nvSpPr>
        <p:spPr>
          <a:xfrm>
            <a:off x="622930" y="520700"/>
            <a:ext cx="28187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itle 2">
            <a:extLst>
              <a:ext uri="{FF2B5EF4-FFF2-40B4-BE49-F238E27FC236}">
                <a16:creationId xmlns:a16="http://schemas.microsoft.com/office/drawing/2014/main" id="{848BB6E7-E551-0983-25FA-48B1E4D85EB4}"/>
              </a:ext>
            </a:extLst>
          </p:cNvPr>
          <p:cNvSpPr txBox="1">
            <a:spLocks/>
          </p:cNvSpPr>
          <p:nvPr/>
        </p:nvSpPr>
        <p:spPr>
          <a:xfrm>
            <a:off x="778878" y="624216"/>
            <a:ext cx="3285121"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Question time</a:t>
            </a:r>
          </a:p>
        </p:txBody>
      </p:sp>
      <p:pic>
        <p:nvPicPr>
          <p:cNvPr id="3" name="Picture 2" descr="Question mark symbol">
            <a:extLst>
              <a:ext uri="{FF2B5EF4-FFF2-40B4-BE49-F238E27FC236}">
                <a16:creationId xmlns:a16="http://schemas.microsoft.com/office/drawing/2014/main" id="{1CCBA8A9-C173-C374-679A-6AE4321B9CBF}"/>
              </a:ext>
            </a:extLst>
          </p:cNvPr>
          <p:cNvPicPr>
            <a:picLocks/>
          </p:cNvPicPr>
          <p:nvPr/>
        </p:nvPicPr>
        <p:blipFill>
          <a:blip r:embed="rId2"/>
          <a:stretch>
            <a:fillRect/>
          </a:stretch>
        </p:blipFill>
        <p:spPr>
          <a:xfrm>
            <a:off x="622930" y="1503092"/>
            <a:ext cx="7808400" cy="4762800"/>
          </a:xfrm>
          <a:prstGeom prst="roundRect">
            <a:avLst/>
          </a:prstGeom>
          <a:ln w="38100">
            <a:solidFill>
              <a:schemeClr val="bg1"/>
            </a:solidFill>
          </a:ln>
        </p:spPr>
      </p:pic>
    </p:spTree>
    <p:extLst>
      <p:ext uri="{BB962C8B-B14F-4D97-AF65-F5344CB8AC3E}">
        <p14:creationId xmlns:p14="http://schemas.microsoft.com/office/powerpoint/2010/main" val="4064879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6633A6-6A9C-C7D0-6D9F-7DB9544BE37E}"/>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FAF15E52-E548-EB79-14F6-F61E7A00E75A}"/>
              </a:ext>
            </a:extLst>
          </p:cNvPr>
          <p:cNvSpPr/>
          <p:nvPr/>
        </p:nvSpPr>
        <p:spPr>
          <a:xfrm>
            <a:off x="622931" y="520700"/>
            <a:ext cx="1499167"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DCEE3A46-23D0-1443-3B12-5D33A2045A5A}"/>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GIRD</a:t>
            </a:r>
          </a:p>
        </p:txBody>
      </p:sp>
      <p:sp>
        <p:nvSpPr>
          <p:cNvPr id="2" name="Round Diagonal Corner Rectangle 2">
            <a:extLst>
              <a:ext uri="{FF2B5EF4-FFF2-40B4-BE49-F238E27FC236}">
                <a16:creationId xmlns:a16="http://schemas.microsoft.com/office/drawing/2014/main" id="{23E863D7-12D9-F69A-82E7-0AD15BA58260}"/>
              </a:ext>
            </a:extLst>
          </p:cNvPr>
          <p:cNvSpPr/>
          <p:nvPr/>
        </p:nvSpPr>
        <p:spPr>
          <a:xfrm>
            <a:off x="6204265" y="1454398"/>
            <a:ext cx="5473070" cy="5221365"/>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GB" sz="2800" dirty="0"/>
          </a:p>
        </p:txBody>
      </p:sp>
      <p:sp>
        <p:nvSpPr>
          <p:cNvPr id="4" name="Round Diagonal Corner Rectangle 2">
            <a:extLst>
              <a:ext uri="{FF2B5EF4-FFF2-40B4-BE49-F238E27FC236}">
                <a16:creationId xmlns:a16="http://schemas.microsoft.com/office/drawing/2014/main" id="{8D4D4D72-0B69-3DE4-F8D3-5A4D1FCF4D70}"/>
              </a:ext>
            </a:extLst>
          </p:cNvPr>
          <p:cNvSpPr/>
          <p:nvPr/>
        </p:nvSpPr>
        <p:spPr>
          <a:xfrm>
            <a:off x="622930" y="1454398"/>
            <a:ext cx="5473070" cy="5221365"/>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GB" sz="2800" dirty="0"/>
          </a:p>
        </p:txBody>
      </p:sp>
    </p:spTree>
    <p:extLst>
      <p:ext uri="{BB962C8B-B14F-4D97-AF65-F5344CB8AC3E}">
        <p14:creationId xmlns:p14="http://schemas.microsoft.com/office/powerpoint/2010/main" val="3860903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SMOS GRAPHIC WHITE.png">
            <a:extLst>
              <a:ext uri="{FF2B5EF4-FFF2-40B4-BE49-F238E27FC236}">
                <a16:creationId xmlns:a16="http://schemas.microsoft.com/office/drawing/2014/main" id="{0570A31F-5004-5E47-89F6-AC4280F002DD}"/>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9" name="Rounded Rectangle 8">
            <a:extLst>
              <a:ext uri="{FF2B5EF4-FFF2-40B4-BE49-F238E27FC236}">
                <a16:creationId xmlns:a16="http://schemas.microsoft.com/office/drawing/2014/main" id="{BF97FD22-9CBF-CE40-AAB1-3B9C7FFBFDF6}"/>
              </a:ext>
            </a:extLst>
          </p:cNvPr>
          <p:cNvSpPr/>
          <p:nvPr/>
        </p:nvSpPr>
        <p:spPr>
          <a:xfrm>
            <a:off x="622929" y="520700"/>
            <a:ext cx="5168019"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rgbClr val="326014"/>
                </a:solidFill>
                <a:latin typeface="Arial" panose="020B0604020202020204" pitchFamily="34" charset="0"/>
                <a:cs typeface="Arial" panose="020B0604020202020204" pitchFamily="34" charset="0"/>
              </a:rPr>
              <a:t>Articulations of the elbow joint</a:t>
            </a:r>
          </a:p>
        </p:txBody>
      </p:sp>
      <p:sp>
        <p:nvSpPr>
          <p:cNvPr id="11" name="Rounded Rectangle 10">
            <a:extLst>
              <a:ext uri="{FF2B5EF4-FFF2-40B4-BE49-F238E27FC236}">
                <a16:creationId xmlns:a16="http://schemas.microsoft.com/office/drawing/2014/main" id="{39E7373E-D181-D349-8677-7C9D424313A1}"/>
              </a:ext>
            </a:extLst>
          </p:cNvPr>
          <p:cNvSpPr/>
          <p:nvPr/>
        </p:nvSpPr>
        <p:spPr>
          <a:xfrm>
            <a:off x="622930" y="1688135"/>
            <a:ext cx="7176364"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C5D65E7-A192-514D-8DE8-E4B39D5F58E2}"/>
              </a:ext>
            </a:extLst>
          </p:cNvPr>
          <p:cNvSpPr txBox="1"/>
          <p:nvPr/>
        </p:nvSpPr>
        <p:spPr>
          <a:xfrm>
            <a:off x="764275" y="1776675"/>
            <a:ext cx="6229582" cy="2932341"/>
          </a:xfrm>
          <a:prstGeom prst="rect">
            <a:avLst/>
          </a:prstGeom>
          <a:noFill/>
        </p:spPr>
        <p:txBody>
          <a:bodyPr wrap="square" rtlCol="0">
            <a:spAutoFit/>
          </a:bodyPr>
          <a:lstStyle/>
          <a:p>
            <a:pPr marL="342900" indent="-342900">
              <a:buClr>
                <a:schemeClr val="bg1"/>
              </a:buClr>
              <a:buSzPct val="100000"/>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The three bones make up three joints of the elbow complex:</a:t>
            </a:r>
          </a:p>
          <a:p>
            <a:pPr>
              <a:lnSpc>
                <a:spcPct val="200000"/>
              </a:lnSpc>
              <a:buClr>
                <a:schemeClr val="tx1"/>
              </a:buClr>
              <a:buSzPct val="100000"/>
            </a:pPr>
            <a:r>
              <a:rPr lang="en-GB" sz="2400" dirty="0">
                <a:solidFill>
                  <a:schemeClr val="bg1"/>
                </a:solidFill>
                <a:latin typeface="Arial" panose="020B0604020202020204" pitchFamily="34" charset="0"/>
                <a:cs typeface="Arial" panose="020B0604020202020204" pitchFamily="34" charset="0"/>
              </a:rPr>
              <a:t>    </a:t>
            </a:r>
            <a:r>
              <a:rPr lang="en-GB" sz="2400" dirty="0" err="1">
                <a:solidFill>
                  <a:schemeClr val="bg1"/>
                </a:solidFill>
                <a:latin typeface="Arial" panose="020B0604020202020204" pitchFamily="34" charset="0"/>
                <a:cs typeface="Arial" panose="020B0604020202020204" pitchFamily="34" charset="0"/>
              </a:rPr>
              <a:t>Humero</a:t>
            </a:r>
            <a:r>
              <a:rPr lang="en-GB" sz="2400" dirty="0">
                <a:solidFill>
                  <a:schemeClr val="bg1"/>
                </a:solidFill>
                <a:latin typeface="Arial" panose="020B0604020202020204" pitchFamily="34" charset="0"/>
                <a:cs typeface="Arial" panose="020B0604020202020204" pitchFamily="34" charset="0"/>
              </a:rPr>
              <a:t>-ulnar joint</a:t>
            </a:r>
          </a:p>
          <a:p>
            <a:pPr>
              <a:lnSpc>
                <a:spcPct val="200000"/>
              </a:lnSpc>
              <a:buClr>
                <a:schemeClr val="tx1"/>
              </a:buClr>
              <a:buSzPct val="100000"/>
            </a:pPr>
            <a:r>
              <a:rPr lang="en-GB" sz="2400" dirty="0">
                <a:solidFill>
                  <a:schemeClr val="bg1"/>
                </a:solidFill>
                <a:latin typeface="Arial" panose="020B0604020202020204" pitchFamily="34" charset="0"/>
                <a:cs typeface="Arial" panose="020B0604020202020204" pitchFamily="34" charset="0"/>
              </a:rPr>
              <a:t>    </a:t>
            </a:r>
            <a:r>
              <a:rPr lang="en-GB" sz="2400" dirty="0" err="1">
                <a:solidFill>
                  <a:schemeClr val="bg1"/>
                </a:solidFill>
                <a:latin typeface="Arial" panose="020B0604020202020204" pitchFamily="34" charset="0"/>
                <a:cs typeface="Arial" panose="020B0604020202020204" pitchFamily="34" charset="0"/>
              </a:rPr>
              <a:t>Humero</a:t>
            </a:r>
            <a:r>
              <a:rPr lang="en-GB" sz="2400" dirty="0">
                <a:solidFill>
                  <a:schemeClr val="bg1"/>
                </a:solidFill>
                <a:latin typeface="Arial" panose="020B0604020202020204" pitchFamily="34" charset="0"/>
                <a:cs typeface="Arial" panose="020B0604020202020204" pitchFamily="34" charset="0"/>
              </a:rPr>
              <a:t>-radial joint</a:t>
            </a:r>
          </a:p>
          <a:p>
            <a:pPr>
              <a:lnSpc>
                <a:spcPct val="200000"/>
              </a:lnSpc>
              <a:buClr>
                <a:schemeClr val="tx1"/>
              </a:buClr>
              <a:buSzPct val="100000"/>
            </a:pPr>
            <a:r>
              <a:rPr lang="en-GB" sz="2400" dirty="0">
                <a:solidFill>
                  <a:schemeClr val="bg1"/>
                </a:solidFill>
                <a:latin typeface="Arial" panose="020B0604020202020204" pitchFamily="34" charset="0"/>
                <a:cs typeface="Arial" panose="020B0604020202020204" pitchFamily="34" charset="0"/>
              </a:rPr>
              <a:t>    Superior radio-ulnar joint</a:t>
            </a:r>
          </a:p>
        </p:txBody>
      </p:sp>
      <p:pic>
        <p:nvPicPr>
          <p:cNvPr id="17" name="Picture 16" descr="A skeleton of a hand with a knife&#10;&#10;Description automatically generated">
            <a:extLst>
              <a:ext uri="{FF2B5EF4-FFF2-40B4-BE49-F238E27FC236}">
                <a16:creationId xmlns:a16="http://schemas.microsoft.com/office/drawing/2014/main" id="{2E2F8412-9DCE-8E8D-AADC-D105EB135CA6}"/>
              </a:ext>
            </a:extLst>
          </p:cNvPr>
          <p:cNvPicPr>
            <a:picLocks noChangeAspect="1"/>
          </p:cNvPicPr>
          <p:nvPr/>
        </p:nvPicPr>
        <p:blipFill rotWithShape="1">
          <a:blip r:embed="rId4"/>
          <a:srcRect l="55537" t="42747" r="7273"/>
          <a:stretch/>
        </p:blipFill>
        <p:spPr>
          <a:xfrm>
            <a:off x="5111842" y="3273796"/>
            <a:ext cx="3539485" cy="3332874"/>
          </a:xfrm>
          <a:prstGeom prst="roundRect">
            <a:avLst>
              <a:gd name="adj" fmla="val 8594"/>
            </a:avLst>
          </a:prstGeom>
          <a:solidFill>
            <a:srgbClr val="FFFFFF">
              <a:shade val="85000"/>
            </a:srgbClr>
          </a:solidFill>
          <a:ln w="28575">
            <a:solidFill>
              <a:schemeClr val="accent4"/>
            </a:solidFill>
          </a:ln>
          <a:effectLst/>
        </p:spPr>
      </p:pic>
      <p:pic>
        <p:nvPicPr>
          <p:cNvPr id="13" name="Picture 12">
            <a:extLst>
              <a:ext uri="{FF2B5EF4-FFF2-40B4-BE49-F238E27FC236}">
                <a16:creationId xmlns:a16="http://schemas.microsoft.com/office/drawing/2014/main" id="{B5FB1523-4A78-D3BD-570C-95B77A5C7BDF}"/>
              </a:ext>
            </a:extLst>
          </p:cNvPr>
          <p:cNvPicPr>
            <a:picLocks noChangeAspect="1"/>
          </p:cNvPicPr>
          <p:nvPr/>
        </p:nvPicPr>
        <p:blipFill>
          <a:blip r:embed="rId5"/>
          <a:stretch>
            <a:fillRect/>
          </a:stretch>
        </p:blipFill>
        <p:spPr>
          <a:xfrm>
            <a:off x="7630492" y="509851"/>
            <a:ext cx="3556000" cy="3962400"/>
          </a:xfrm>
          <a:prstGeom prst="roundRect">
            <a:avLst>
              <a:gd name="adj" fmla="val 8594"/>
            </a:avLst>
          </a:prstGeom>
          <a:solidFill>
            <a:srgbClr val="FFFFFF">
              <a:shade val="85000"/>
            </a:srgbClr>
          </a:solidFill>
          <a:ln w="28575">
            <a:solidFill>
              <a:schemeClr val="accent4"/>
            </a:solidFill>
          </a:ln>
          <a:effectLst/>
        </p:spPr>
      </p:pic>
      <p:cxnSp>
        <p:nvCxnSpPr>
          <p:cNvPr id="18" name="Straight Arrow Connector 17">
            <a:extLst>
              <a:ext uri="{FF2B5EF4-FFF2-40B4-BE49-F238E27FC236}">
                <a16:creationId xmlns:a16="http://schemas.microsoft.com/office/drawing/2014/main" id="{41CC948B-5B3D-E1CB-CA10-C0499B643919}"/>
              </a:ext>
            </a:extLst>
          </p:cNvPr>
          <p:cNvCxnSpPr>
            <a:cxnSpLocks/>
          </p:cNvCxnSpPr>
          <p:nvPr/>
        </p:nvCxnSpPr>
        <p:spPr>
          <a:xfrm flipH="1" flipV="1">
            <a:off x="9772261" y="2680996"/>
            <a:ext cx="356588" cy="3206304"/>
          </a:xfrm>
          <a:prstGeom prst="straightConnector1">
            <a:avLst/>
          </a:prstGeom>
          <a:ln w="28575">
            <a:solidFill>
              <a:srgbClr val="FF0000"/>
            </a:solidFill>
            <a:tailEnd type="oval"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1A97E02C-CE6E-ACEC-C05F-E1279A894FDB}"/>
              </a:ext>
            </a:extLst>
          </p:cNvPr>
          <p:cNvCxnSpPr>
            <a:cxnSpLocks/>
          </p:cNvCxnSpPr>
          <p:nvPr/>
        </p:nvCxnSpPr>
        <p:spPr>
          <a:xfrm flipH="1" flipV="1">
            <a:off x="7133880" y="5699241"/>
            <a:ext cx="2994969" cy="188059"/>
          </a:xfrm>
          <a:prstGeom prst="straightConnector1">
            <a:avLst/>
          </a:prstGeom>
          <a:ln w="28575">
            <a:solidFill>
              <a:srgbClr val="FF0000"/>
            </a:solidFill>
            <a:tailEnd type="oval" w="lg" len="lg"/>
          </a:ln>
        </p:spPr>
        <p:style>
          <a:lnRef idx="1">
            <a:schemeClr val="accent1"/>
          </a:lnRef>
          <a:fillRef idx="0">
            <a:schemeClr val="accent1"/>
          </a:fillRef>
          <a:effectRef idx="0">
            <a:schemeClr val="accent1"/>
          </a:effectRef>
          <a:fontRef idx="minor">
            <a:schemeClr val="tx1"/>
          </a:fontRef>
        </p:style>
      </p:cxnSp>
      <p:sp>
        <p:nvSpPr>
          <p:cNvPr id="6" name="Rounded Rectangle 5">
            <a:extLst>
              <a:ext uri="{FF2B5EF4-FFF2-40B4-BE49-F238E27FC236}">
                <a16:creationId xmlns:a16="http://schemas.microsoft.com/office/drawing/2014/main" id="{6693F8C2-00BD-6D21-5F60-B46FD8E1F04E}"/>
              </a:ext>
            </a:extLst>
          </p:cNvPr>
          <p:cNvSpPr/>
          <p:nvPr/>
        </p:nvSpPr>
        <p:spPr>
          <a:xfrm>
            <a:off x="9453217" y="5656966"/>
            <a:ext cx="2556813" cy="395492"/>
          </a:xfrm>
          <a:prstGeom prst="roundRect">
            <a:avLst/>
          </a:prstGeom>
          <a:solidFill>
            <a:srgbClr val="FF0000"/>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001" dirty="0">
                <a:solidFill>
                  <a:schemeClr val="bg1"/>
                </a:solidFill>
                <a:latin typeface="Arial" panose="020B0604020202020204" pitchFamily="34" charset="0"/>
                <a:cs typeface="Arial" panose="020B0604020202020204" pitchFamily="34" charset="0"/>
              </a:rPr>
              <a:t>Humero-ulnar joint</a:t>
            </a:r>
          </a:p>
        </p:txBody>
      </p:sp>
      <p:cxnSp>
        <p:nvCxnSpPr>
          <p:cNvPr id="28" name="Straight Arrow Connector 27">
            <a:extLst>
              <a:ext uri="{FF2B5EF4-FFF2-40B4-BE49-F238E27FC236}">
                <a16:creationId xmlns:a16="http://schemas.microsoft.com/office/drawing/2014/main" id="{0D88BB5C-DE01-BF6B-3C64-AD1169F10746}"/>
              </a:ext>
            </a:extLst>
          </p:cNvPr>
          <p:cNvCxnSpPr>
            <a:cxnSpLocks/>
          </p:cNvCxnSpPr>
          <p:nvPr/>
        </p:nvCxnSpPr>
        <p:spPr>
          <a:xfrm flipV="1">
            <a:off x="6824430" y="2505533"/>
            <a:ext cx="2267319" cy="388177"/>
          </a:xfrm>
          <a:prstGeom prst="straightConnector1">
            <a:avLst/>
          </a:prstGeom>
          <a:ln w="28575">
            <a:solidFill>
              <a:srgbClr val="00B050"/>
            </a:solidFill>
            <a:tailEnd type="oval" w="lg" len="lg"/>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81051485-6474-F332-1560-9B4BA49E1F7A}"/>
              </a:ext>
            </a:extLst>
          </p:cNvPr>
          <p:cNvCxnSpPr>
            <a:cxnSpLocks/>
          </p:cNvCxnSpPr>
          <p:nvPr/>
        </p:nvCxnSpPr>
        <p:spPr>
          <a:xfrm>
            <a:off x="6733688" y="3007305"/>
            <a:ext cx="182921" cy="2420650"/>
          </a:xfrm>
          <a:prstGeom prst="straightConnector1">
            <a:avLst/>
          </a:prstGeom>
          <a:ln w="28575">
            <a:solidFill>
              <a:srgbClr val="00B050"/>
            </a:solidFill>
            <a:tailEnd type="oval" w="lg" len="lg"/>
          </a:ln>
        </p:spPr>
        <p:style>
          <a:lnRef idx="1">
            <a:schemeClr val="accent1"/>
          </a:lnRef>
          <a:fillRef idx="0">
            <a:schemeClr val="accent1"/>
          </a:fillRef>
          <a:effectRef idx="0">
            <a:schemeClr val="accent1"/>
          </a:effectRef>
          <a:fontRef idx="minor">
            <a:schemeClr val="tx1"/>
          </a:fontRef>
        </p:style>
      </p:cxnSp>
      <p:sp>
        <p:nvSpPr>
          <p:cNvPr id="27" name="Rounded Rectangle 26">
            <a:extLst>
              <a:ext uri="{FF2B5EF4-FFF2-40B4-BE49-F238E27FC236}">
                <a16:creationId xmlns:a16="http://schemas.microsoft.com/office/drawing/2014/main" id="{363BADE7-E2EE-0D0D-2DEF-6D5FF67C1DE5}"/>
              </a:ext>
            </a:extLst>
          </p:cNvPr>
          <p:cNvSpPr/>
          <p:nvPr/>
        </p:nvSpPr>
        <p:spPr>
          <a:xfrm>
            <a:off x="4382920" y="2667363"/>
            <a:ext cx="2631497" cy="395492"/>
          </a:xfrm>
          <a:prstGeom prst="roundRect">
            <a:avLst/>
          </a:prstGeom>
          <a:solidFill>
            <a:srgbClr val="00B050"/>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001" dirty="0">
                <a:solidFill>
                  <a:schemeClr val="bg1"/>
                </a:solidFill>
                <a:latin typeface="Arial" panose="020B0604020202020204" pitchFamily="34" charset="0"/>
                <a:cs typeface="Arial" panose="020B0604020202020204" pitchFamily="34" charset="0"/>
              </a:rPr>
              <a:t>Humero-radial joint</a:t>
            </a:r>
          </a:p>
        </p:txBody>
      </p:sp>
      <p:cxnSp>
        <p:nvCxnSpPr>
          <p:cNvPr id="38" name="Straight Arrow Connector 37">
            <a:extLst>
              <a:ext uri="{FF2B5EF4-FFF2-40B4-BE49-F238E27FC236}">
                <a16:creationId xmlns:a16="http://schemas.microsoft.com/office/drawing/2014/main" id="{E9B28283-6165-256A-0F7E-6FB9ADBD4FF9}"/>
              </a:ext>
            </a:extLst>
          </p:cNvPr>
          <p:cNvCxnSpPr>
            <a:cxnSpLocks/>
          </p:cNvCxnSpPr>
          <p:nvPr/>
        </p:nvCxnSpPr>
        <p:spPr>
          <a:xfrm>
            <a:off x="4801690" y="5427955"/>
            <a:ext cx="1931998" cy="142652"/>
          </a:xfrm>
          <a:prstGeom prst="straightConnector1">
            <a:avLst/>
          </a:prstGeom>
          <a:ln w="28575">
            <a:solidFill>
              <a:srgbClr val="7030A0"/>
            </a:solidFill>
            <a:tailEnd type="oval" w="lg" len="lg"/>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255ACF36-0071-55E2-9E93-71BE673BA643}"/>
              </a:ext>
            </a:extLst>
          </p:cNvPr>
          <p:cNvSpPr/>
          <p:nvPr/>
        </p:nvSpPr>
        <p:spPr>
          <a:xfrm>
            <a:off x="9300758" y="2646773"/>
            <a:ext cx="152459" cy="152459"/>
          </a:xfrm>
          <a:prstGeom prst="ellipse">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43" name="Oval 42">
            <a:extLst>
              <a:ext uri="{FF2B5EF4-FFF2-40B4-BE49-F238E27FC236}">
                <a16:creationId xmlns:a16="http://schemas.microsoft.com/office/drawing/2014/main" id="{DD1CB52F-220C-891E-A8F9-F379530EB872}"/>
              </a:ext>
            </a:extLst>
          </p:cNvPr>
          <p:cNvSpPr/>
          <p:nvPr/>
        </p:nvSpPr>
        <p:spPr>
          <a:xfrm>
            <a:off x="4747251" y="4410338"/>
            <a:ext cx="152459" cy="152459"/>
          </a:xfrm>
          <a:prstGeom prst="ellipse">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44" name="Oval 43">
            <a:extLst>
              <a:ext uri="{FF2B5EF4-FFF2-40B4-BE49-F238E27FC236}">
                <a16:creationId xmlns:a16="http://schemas.microsoft.com/office/drawing/2014/main" id="{B3B7D12F-20BB-C366-4951-53BC6A8F2BB6}"/>
              </a:ext>
            </a:extLst>
          </p:cNvPr>
          <p:cNvSpPr/>
          <p:nvPr/>
        </p:nvSpPr>
        <p:spPr>
          <a:xfrm>
            <a:off x="3988322" y="3672638"/>
            <a:ext cx="152459" cy="152459"/>
          </a:xfrm>
          <a:prstGeom prst="ellipse">
            <a:avLst/>
          </a:prstGeom>
          <a:solidFill>
            <a:srgbClr val="00B05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45" name="Oval 44">
            <a:extLst>
              <a:ext uri="{FF2B5EF4-FFF2-40B4-BE49-F238E27FC236}">
                <a16:creationId xmlns:a16="http://schemas.microsoft.com/office/drawing/2014/main" id="{0C631C2C-536F-F823-69D2-8532F890B97C}"/>
              </a:ext>
            </a:extLst>
          </p:cNvPr>
          <p:cNvSpPr/>
          <p:nvPr/>
        </p:nvSpPr>
        <p:spPr>
          <a:xfrm>
            <a:off x="3911417" y="2931037"/>
            <a:ext cx="152459" cy="152459"/>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37" name="Rounded Rectangle 36">
            <a:extLst>
              <a:ext uri="{FF2B5EF4-FFF2-40B4-BE49-F238E27FC236}">
                <a16:creationId xmlns:a16="http://schemas.microsoft.com/office/drawing/2014/main" id="{A99C2C54-721B-091B-F909-1CDA1ADA0132}"/>
              </a:ext>
            </a:extLst>
          </p:cNvPr>
          <p:cNvSpPr/>
          <p:nvPr/>
        </p:nvSpPr>
        <p:spPr>
          <a:xfrm>
            <a:off x="1746913" y="5175115"/>
            <a:ext cx="3195347" cy="395492"/>
          </a:xfrm>
          <a:prstGeom prst="roundRect">
            <a:avLst/>
          </a:prstGeom>
          <a:solidFill>
            <a:srgbClr val="7030A0"/>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001" dirty="0">
                <a:solidFill>
                  <a:schemeClr val="bg1"/>
                </a:solidFill>
                <a:latin typeface="Arial" panose="020B0604020202020204" pitchFamily="34" charset="0"/>
                <a:cs typeface="Arial" panose="020B0604020202020204" pitchFamily="34" charset="0"/>
              </a:rPr>
              <a:t>Superior radio-ulnar joint</a:t>
            </a:r>
          </a:p>
        </p:txBody>
      </p:sp>
      <p:sp>
        <p:nvSpPr>
          <p:cNvPr id="2" name="TextBox 1">
            <a:extLst>
              <a:ext uri="{FF2B5EF4-FFF2-40B4-BE49-F238E27FC236}">
                <a16:creationId xmlns:a16="http://schemas.microsoft.com/office/drawing/2014/main" id="{4EFC7504-1F04-8AFE-8A03-D1A7072F64B0}"/>
              </a:ext>
            </a:extLst>
          </p:cNvPr>
          <p:cNvSpPr txBox="1"/>
          <p:nvPr/>
        </p:nvSpPr>
        <p:spPr>
          <a:xfrm>
            <a:off x="9332076" y="1468898"/>
            <a:ext cx="880369" cy="307777"/>
          </a:xfrm>
          <a:prstGeom prst="rect">
            <a:avLst/>
          </a:prstGeom>
          <a:noFill/>
        </p:spPr>
        <p:txBody>
          <a:bodyPr wrap="none" rtlCol="0">
            <a:spAutoFit/>
          </a:bodyPr>
          <a:lstStyle/>
          <a:p>
            <a:r>
              <a:rPr lang="en-001" sz="1400" dirty="0"/>
              <a:t>humerus</a:t>
            </a:r>
          </a:p>
        </p:txBody>
      </p:sp>
      <p:sp>
        <p:nvSpPr>
          <p:cNvPr id="3" name="TextBox 2">
            <a:extLst>
              <a:ext uri="{FF2B5EF4-FFF2-40B4-BE49-F238E27FC236}">
                <a16:creationId xmlns:a16="http://schemas.microsoft.com/office/drawing/2014/main" id="{12E68A2B-3F82-2001-3CDC-9319B46EA842}"/>
              </a:ext>
            </a:extLst>
          </p:cNvPr>
          <p:cNvSpPr txBox="1"/>
          <p:nvPr/>
        </p:nvSpPr>
        <p:spPr>
          <a:xfrm>
            <a:off x="8076747" y="3757480"/>
            <a:ext cx="671979" cy="307777"/>
          </a:xfrm>
          <a:prstGeom prst="rect">
            <a:avLst/>
          </a:prstGeom>
          <a:noFill/>
        </p:spPr>
        <p:txBody>
          <a:bodyPr wrap="none" rtlCol="0">
            <a:spAutoFit/>
          </a:bodyPr>
          <a:lstStyle/>
          <a:p>
            <a:r>
              <a:rPr lang="en-001" sz="1400" dirty="0"/>
              <a:t>radius</a:t>
            </a:r>
          </a:p>
        </p:txBody>
      </p:sp>
      <p:sp>
        <p:nvSpPr>
          <p:cNvPr id="5" name="TextBox 4">
            <a:extLst>
              <a:ext uri="{FF2B5EF4-FFF2-40B4-BE49-F238E27FC236}">
                <a16:creationId xmlns:a16="http://schemas.microsoft.com/office/drawing/2014/main" id="{4FC881FF-5BF4-A8DA-ADCE-6D636B76BC19}"/>
              </a:ext>
            </a:extLst>
          </p:cNvPr>
          <p:cNvSpPr txBox="1"/>
          <p:nvPr/>
        </p:nvSpPr>
        <p:spPr>
          <a:xfrm>
            <a:off x="9105711" y="4048231"/>
            <a:ext cx="522900" cy="307777"/>
          </a:xfrm>
          <a:prstGeom prst="rect">
            <a:avLst/>
          </a:prstGeom>
          <a:noFill/>
        </p:spPr>
        <p:txBody>
          <a:bodyPr wrap="none" rtlCol="0">
            <a:spAutoFit/>
          </a:bodyPr>
          <a:lstStyle/>
          <a:p>
            <a:r>
              <a:rPr lang="en-001" sz="1400" dirty="0"/>
              <a:t>ulna</a:t>
            </a:r>
          </a:p>
        </p:txBody>
      </p:sp>
      <p:sp>
        <p:nvSpPr>
          <p:cNvPr id="7" name="TextBox 6">
            <a:extLst>
              <a:ext uri="{FF2B5EF4-FFF2-40B4-BE49-F238E27FC236}">
                <a16:creationId xmlns:a16="http://schemas.microsoft.com/office/drawing/2014/main" id="{E64AD62F-66D2-8D93-A5CB-D531F5CB4A07}"/>
              </a:ext>
            </a:extLst>
          </p:cNvPr>
          <p:cNvSpPr txBox="1"/>
          <p:nvPr/>
        </p:nvSpPr>
        <p:spPr>
          <a:xfrm>
            <a:off x="6193435" y="5599704"/>
            <a:ext cx="522900" cy="307777"/>
          </a:xfrm>
          <a:prstGeom prst="rect">
            <a:avLst/>
          </a:prstGeom>
          <a:noFill/>
        </p:spPr>
        <p:txBody>
          <a:bodyPr wrap="none" rtlCol="0">
            <a:spAutoFit/>
          </a:bodyPr>
          <a:lstStyle/>
          <a:p>
            <a:r>
              <a:rPr lang="en-001" sz="1400" dirty="0"/>
              <a:t>ulna</a:t>
            </a:r>
          </a:p>
        </p:txBody>
      </p:sp>
      <p:sp>
        <p:nvSpPr>
          <p:cNvPr id="8" name="TextBox 7">
            <a:extLst>
              <a:ext uri="{FF2B5EF4-FFF2-40B4-BE49-F238E27FC236}">
                <a16:creationId xmlns:a16="http://schemas.microsoft.com/office/drawing/2014/main" id="{C3315BEE-DA08-BE8D-28F2-5000E9233194}"/>
              </a:ext>
            </a:extLst>
          </p:cNvPr>
          <p:cNvSpPr txBox="1"/>
          <p:nvPr/>
        </p:nvSpPr>
        <p:spPr>
          <a:xfrm>
            <a:off x="5118969" y="4889843"/>
            <a:ext cx="671979" cy="307777"/>
          </a:xfrm>
          <a:prstGeom prst="rect">
            <a:avLst/>
          </a:prstGeom>
          <a:noFill/>
        </p:spPr>
        <p:txBody>
          <a:bodyPr wrap="none" rtlCol="0">
            <a:spAutoFit/>
          </a:bodyPr>
          <a:lstStyle/>
          <a:p>
            <a:r>
              <a:rPr lang="en-001" sz="1400" dirty="0"/>
              <a:t>radius</a:t>
            </a:r>
          </a:p>
        </p:txBody>
      </p:sp>
    </p:spTree>
    <p:extLst>
      <p:ext uri="{BB962C8B-B14F-4D97-AF65-F5344CB8AC3E}">
        <p14:creationId xmlns:p14="http://schemas.microsoft.com/office/powerpoint/2010/main" val="1723013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right)">
                                      <p:cBhvr>
                                        <p:cTn id="11" dur="500"/>
                                        <p:tgtEl>
                                          <p:spTgt spid="24"/>
                                        </p:tgtEl>
                                      </p:cBhvr>
                                    </p:animEffect>
                                  </p:childTnLst>
                                </p:cTn>
                              </p:par>
                              <p:par>
                                <p:cTn id="12" presetID="22" presetClass="entr" presetSubtype="4"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down)">
                                      <p:cBhvr>
                                        <p:cTn id="14" dur="500"/>
                                        <p:tgtEl>
                                          <p:spTgt spid="1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500"/>
                                        <p:tgtEl>
                                          <p:spTgt spid="27"/>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up)">
                                      <p:cBhvr>
                                        <p:cTn id="23" dur="500"/>
                                        <p:tgtEl>
                                          <p:spTgt spid="32"/>
                                        </p:tgtEl>
                                      </p:cBhvr>
                                    </p:animEffect>
                                  </p:childTnLst>
                                </p:cTn>
                              </p:par>
                              <p:par>
                                <p:cTn id="24" presetID="22" presetClass="entr" presetSubtype="8"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wipe(left)">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wipe(left)">
                                      <p:cBhvr>
                                        <p:cTn id="31" dur="500"/>
                                        <p:tgtEl>
                                          <p:spTgt spid="37"/>
                                        </p:tgtEl>
                                      </p:cBhvr>
                                    </p:animEffect>
                                  </p:childTnLst>
                                </p:cTn>
                              </p:par>
                            </p:childTnLst>
                          </p:cTn>
                        </p:par>
                        <p:par>
                          <p:cTn id="32" fill="hold">
                            <p:stCondLst>
                              <p:cond delay="500"/>
                            </p:stCondLst>
                            <p:childTnLst>
                              <p:par>
                                <p:cTn id="33" presetID="22" presetClass="entr" presetSubtype="8" fill="hold" nodeType="after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wipe(left)">
                                      <p:cBhvr>
                                        <p:cTn id="35" dur="500"/>
                                        <p:tgtEl>
                                          <p:spTgt spid="38"/>
                                        </p:tgtEl>
                                      </p:cBhvr>
                                    </p:animEffect>
                                  </p:childTnLst>
                                </p:cTn>
                              </p:par>
                            </p:childTnLst>
                          </p:cTn>
                        </p:par>
                        <p:par>
                          <p:cTn id="36" fill="hold">
                            <p:stCondLst>
                              <p:cond delay="1000"/>
                            </p:stCondLst>
                            <p:childTnLst>
                              <p:par>
                                <p:cTn id="37" presetID="9" presetClass="entr" presetSubtype="0" fill="hold" grpId="0" nodeType="after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dissolve">
                                      <p:cBhvr>
                                        <p:cTn id="39"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7" grpId="0" animBg="1"/>
      <p:bldP spid="41" grpId="0" animBg="1"/>
      <p:bldP spid="3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OSMOS GRAPHIC WHITE.png">
            <a:extLst>
              <a:ext uri="{FF2B5EF4-FFF2-40B4-BE49-F238E27FC236}">
                <a16:creationId xmlns:a16="http://schemas.microsoft.com/office/drawing/2014/main" id="{0570A31F-5004-5E47-89F6-AC4280F002DD}"/>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9" name="Rounded Rectangle 8">
            <a:extLst>
              <a:ext uri="{FF2B5EF4-FFF2-40B4-BE49-F238E27FC236}">
                <a16:creationId xmlns:a16="http://schemas.microsoft.com/office/drawing/2014/main" id="{BF97FD22-9CBF-CE40-AAB1-3B9C7FFBFDF6}"/>
              </a:ext>
            </a:extLst>
          </p:cNvPr>
          <p:cNvSpPr/>
          <p:nvPr/>
        </p:nvSpPr>
        <p:spPr>
          <a:xfrm>
            <a:off x="622929" y="520700"/>
            <a:ext cx="2666181"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rgbClr val="326014"/>
                </a:solidFill>
                <a:latin typeface="Arial" panose="020B0604020202020204" pitchFamily="34" charset="0"/>
                <a:cs typeface="Arial" panose="020B0604020202020204" pitchFamily="34" charset="0"/>
              </a:rPr>
              <a:t>Elbow complex</a:t>
            </a:r>
          </a:p>
        </p:txBody>
      </p:sp>
      <p:sp>
        <p:nvSpPr>
          <p:cNvPr id="11" name="Rounded Rectangle 10">
            <a:extLst>
              <a:ext uri="{FF2B5EF4-FFF2-40B4-BE49-F238E27FC236}">
                <a16:creationId xmlns:a16="http://schemas.microsoft.com/office/drawing/2014/main" id="{39E7373E-D181-D349-8677-7C9D424313A1}"/>
              </a:ext>
            </a:extLst>
          </p:cNvPr>
          <p:cNvSpPr/>
          <p:nvPr/>
        </p:nvSpPr>
        <p:spPr>
          <a:xfrm>
            <a:off x="622930" y="1688135"/>
            <a:ext cx="6470992"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spcAft>
                <a:spcPts val="600"/>
              </a:spcAft>
              <a:buClr>
                <a:schemeClr val="bg1"/>
              </a:buClr>
            </a:pPr>
            <a:r>
              <a:rPr lang="en-US" sz="2400" dirty="0">
                <a:solidFill>
                  <a:schemeClr val="bg1"/>
                </a:solidFill>
                <a:latin typeface="Arial" panose="020B0604020202020204" pitchFamily="34" charset="0"/>
                <a:cs typeface="Arial" panose="020B0604020202020204" pitchFamily="34" charset="0"/>
              </a:rPr>
              <a:t>Humeroulnar / humeroradial joint</a:t>
            </a:r>
          </a:p>
          <a:p>
            <a:pPr marL="285750" indent="-285750">
              <a:spcBef>
                <a:spcPts val="600"/>
              </a:spcBef>
              <a:spcAft>
                <a:spcPts val="600"/>
              </a:spcAft>
              <a:buClr>
                <a:schemeClr val="bg1"/>
              </a:buClr>
              <a:buFont typeface="Arial" panose="020B0604020202020204" pitchFamily="34" charset="0"/>
              <a:buChar char="•"/>
            </a:pPr>
            <a:r>
              <a:rPr lang="en-US" sz="2400" b="1" dirty="0">
                <a:solidFill>
                  <a:schemeClr val="accent4"/>
                </a:solidFill>
                <a:latin typeface="Arial" panose="020B0604020202020204" pitchFamily="34" charset="0"/>
                <a:cs typeface="Arial" panose="020B0604020202020204" pitchFamily="34" charset="0"/>
              </a:rPr>
              <a:t>Classification:</a:t>
            </a:r>
            <a:r>
              <a:rPr lang="en-US" sz="2400" dirty="0">
                <a:latin typeface="Arial" panose="020B0604020202020204" pitchFamily="34" charset="0"/>
                <a:cs typeface="Arial" panose="020B0604020202020204" pitchFamily="34" charset="0"/>
              </a:rPr>
              <a:t> synovial hinge joint (</a:t>
            </a:r>
            <a:r>
              <a:rPr lang="en-US" sz="2400" dirty="0" err="1">
                <a:latin typeface="Arial" panose="020B0604020202020204" pitchFamily="34" charset="0"/>
                <a:cs typeface="Arial" panose="020B0604020202020204" pitchFamily="34" charset="0"/>
              </a:rPr>
              <a:t>uni</a:t>
            </a:r>
            <a:r>
              <a:rPr lang="en-US" sz="2400" dirty="0">
                <a:latin typeface="Arial" panose="020B0604020202020204" pitchFamily="34" charset="0"/>
                <a:cs typeface="Arial" panose="020B0604020202020204" pitchFamily="34" charset="0"/>
              </a:rPr>
              <a:t>-axial)</a:t>
            </a:r>
          </a:p>
          <a:p>
            <a:pPr marL="285750" indent="-285750">
              <a:spcBef>
                <a:spcPts val="600"/>
              </a:spcBef>
              <a:spcAft>
                <a:spcPts val="600"/>
              </a:spcAft>
              <a:buClr>
                <a:schemeClr val="bg1"/>
              </a:buClr>
              <a:buFont typeface="Arial" panose="020B0604020202020204" pitchFamily="34" charset="0"/>
              <a:buChar char="•"/>
            </a:pPr>
            <a:r>
              <a:rPr lang="en-US" sz="2400" b="1" dirty="0">
                <a:solidFill>
                  <a:schemeClr val="accent4"/>
                </a:solidFill>
                <a:latin typeface="Arial" panose="020B0604020202020204" pitchFamily="34" charset="0"/>
                <a:cs typeface="Arial" panose="020B0604020202020204" pitchFamily="34" charset="0"/>
              </a:rPr>
              <a:t>Movements available:</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flexion / extension</a:t>
            </a:r>
          </a:p>
          <a:p>
            <a:pPr marL="285750" indent="-285750">
              <a:spcBef>
                <a:spcPts val="600"/>
              </a:spcBef>
              <a:spcAft>
                <a:spcPts val="600"/>
              </a:spcAft>
              <a:buFont typeface="Arial" panose="020B0604020202020204" pitchFamily="34" charset="0"/>
              <a:buChar char="•"/>
            </a:pPr>
            <a:r>
              <a:rPr lang="en-US" sz="2400" dirty="0">
                <a:latin typeface="Arial" panose="020B0604020202020204" pitchFamily="34" charset="0"/>
                <a:cs typeface="Arial" panose="020B0604020202020204" pitchFamily="34" charset="0"/>
              </a:rPr>
              <a:t>Limited mobility but large amount of stability</a:t>
            </a:r>
          </a:p>
        </p:txBody>
      </p:sp>
      <p:pic>
        <p:nvPicPr>
          <p:cNvPr id="3" name="Picture 2" descr="A diagram of a bone joint&#10;&#10;Description automatically generated">
            <a:extLst>
              <a:ext uri="{FF2B5EF4-FFF2-40B4-BE49-F238E27FC236}">
                <a16:creationId xmlns:a16="http://schemas.microsoft.com/office/drawing/2014/main" id="{C79FA5C6-E885-0943-1C2E-E5FF9E3BBE02}"/>
              </a:ext>
            </a:extLst>
          </p:cNvPr>
          <p:cNvPicPr>
            <a:picLocks noChangeAspect="1"/>
          </p:cNvPicPr>
          <p:nvPr/>
        </p:nvPicPr>
        <p:blipFill rotWithShape="1">
          <a:blip r:embed="rId4"/>
          <a:srcRect t="2901"/>
          <a:stretch/>
        </p:blipFill>
        <p:spPr>
          <a:xfrm>
            <a:off x="6850722" y="644219"/>
            <a:ext cx="4718348" cy="2265519"/>
          </a:xfrm>
          <a:prstGeom prst="roundRect">
            <a:avLst>
              <a:gd name="adj" fmla="val 8594"/>
            </a:avLst>
          </a:prstGeom>
          <a:solidFill>
            <a:srgbClr val="FFFFFF">
              <a:shade val="85000"/>
            </a:srgbClr>
          </a:solidFill>
          <a:ln w="28575">
            <a:solidFill>
              <a:schemeClr val="accent4"/>
            </a:solidFill>
          </a:ln>
          <a:effectLst/>
        </p:spPr>
      </p:pic>
      <p:pic>
        <p:nvPicPr>
          <p:cNvPr id="7" name="Picture 6" descr="A diagram of the bones of a human knee&#10;&#10;Description automatically generated">
            <a:extLst>
              <a:ext uri="{FF2B5EF4-FFF2-40B4-BE49-F238E27FC236}">
                <a16:creationId xmlns:a16="http://schemas.microsoft.com/office/drawing/2014/main" id="{E66EA80D-2F47-8918-5343-EEDD0B38105E}"/>
              </a:ext>
            </a:extLst>
          </p:cNvPr>
          <p:cNvPicPr>
            <a:picLocks noChangeAspect="1"/>
          </p:cNvPicPr>
          <p:nvPr/>
        </p:nvPicPr>
        <p:blipFill rotWithShape="1">
          <a:blip r:embed="rId5"/>
          <a:srcRect t="20666"/>
          <a:stretch/>
        </p:blipFill>
        <p:spPr>
          <a:xfrm>
            <a:off x="6844389" y="3216906"/>
            <a:ext cx="4643211" cy="3439559"/>
          </a:xfrm>
          <a:prstGeom prst="roundRect">
            <a:avLst>
              <a:gd name="adj" fmla="val 8594"/>
            </a:avLst>
          </a:prstGeom>
          <a:solidFill>
            <a:srgbClr val="FFFFFF">
              <a:shade val="85000"/>
            </a:srgbClr>
          </a:solidFill>
          <a:ln w="28575">
            <a:solidFill>
              <a:schemeClr val="accent4"/>
            </a:solidFill>
          </a:ln>
          <a:effectLst/>
        </p:spPr>
      </p:pic>
      <p:pic>
        <p:nvPicPr>
          <p:cNvPr id="10" name="Picture 9" descr="A close-up of a human knee&#10;&#10;Description automatically generated">
            <a:extLst>
              <a:ext uri="{FF2B5EF4-FFF2-40B4-BE49-F238E27FC236}">
                <a16:creationId xmlns:a16="http://schemas.microsoft.com/office/drawing/2014/main" id="{4C9F5561-FC83-93D4-65A1-26E532BC8A9F}"/>
              </a:ext>
            </a:extLst>
          </p:cNvPr>
          <p:cNvPicPr>
            <a:picLocks noChangeAspect="1"/>
          </p:cNvPicPr>
          <p:nvPr/>
        </p:nvPicPr>
        <p:blipFill rotWithShape="1">
          <a:blip r:embed="rId6"/>
          <a:srcRect b="28704"/>
          <a:stretch/>
        </p:blipFill>
        <p:spPr>
          <a:xfrm>
            <a:off x="11155219" y="4801233"/>
            <a:ext cx="867962" cy="1725284"/>
          </a:xfrm>
          <a:prstGeom prst="roundRect">
            <a:avLst>
              <a:gd name="adj" fmla="val 8594"/>
            </a:avLst>
          </a:prstGeom>
          <a:solidFill>
            <a:srgbClr val="FFFFFF">
              <a:shade val="85000"/>
            </a:srgbClr>
          </a:solidFill>
          <a:ln w="28575">
            <a:solidFill>
              <a:schemeClr val="accent4"/>
            </a:solidFill>
          </a:ln>
          <a:effectLst/>
        </p:spPr>
      </p:pic>
      <p:sp>
        <p:nvSpPr>
          <p:cNvPr id="19" name="Rounded Rectangle 18">
            <a:extLst>
              <a:ext uri="{FF2B5EF4-FFF2-40B4-BE49-F238E27FC236}">
                <a16:creationId xmlns:a16="http://schemas.microsoft.com/office/drawing/2014/main" id="{2051FAE7-82B0-C2F5-3DAF-01BE28F8A6A3}"/>
              </a:ext>
            </a:extLst>
          </p:cNvPr>
          <p:cNvSpPr/>
          <p:nvPr/>
        </p:nvSpPr>
        <p:spPr>
          <a:xfrm>
            <a:off x="10160411" y="4432933"/>
            <a:ext cx="1155700" cy="22860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0" name="Rounded Rectangle 19">
            <a:extLst>
              <a:ext uri="{FF2B5EF4-FFF2-40B4-BE49-F238E27FC236}">
                <a16:creationId xmlns:a16="http://schemas.microsoft.com/office/drawing/2014/main" id="{CBF0600B-2FC6-F3A8-C858-7E3482EC01E0}"/>
              </a:ext>
            </a:extLst>
          </p:cNvPr>
          <p:cNvSpPr/>
          <p:nvPr/>
        </p:nvSpPr>
        <p:spPr>
          <a:xfrm>
            <a:off x="7629503" y="4801233"/>
            <a:ext cx="937918" cy="228600"/>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1" name="Rounded Rectangle 20">
            <a:extLst>
              <a:ext uri="{FF2B5EF4-FFF2-40B4-BE49-F238E27FC236}">
                <a16:creationId xmlns:a16="http://schemas.microsoft.com/office/drawing/2014/main" id="{6D6B80D0-F438-794C-92E8-B8AE5B0D5F07}"/>
              </a:ext>
            </a:extLst>
          </p:cNvPr>
          <p:cNvSpPr/>
          <p:nvPr/>
        </p:nvSpPr>
        <p:spPr>
          <a:xfrm>
            <a:off x="6850721" y="4244308"/>
            <a:ext cx="1272634" cy="228600"/>
          </a:xfrm>
          <a:prstGeom prst="round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3" name="Rectangle 22">
            <a:extLst>
              <a:ext uri="{FF2B5EF4-FFF2-40B4-BE49-F238E27FC236}">
                <a16:creationId xmlns:a16="http://schemas.microsoft.com/office/drawing/2014/main" id="{BC00FF0F-7AEE-BC28-821B-98C0E8E229EF}"/>
              </a:ext>
            </a:extLst>
          </p:cNvPr>
          <p:cNvSpPr/>
          <p:nvPr/>
        </p:nvSpPr>
        <p:spPr>
          <a:xfrm>
            <a:off x="6928171" y="5155087"/>
            <a:ext cx="441584" cy="2030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001"/>
          </a:p>
        </p:txBody>
      </p:sp>
      <p:sp>
        <p:nvSpPr>
          <p:cNvPr id="22" name="Rounded Rectangle 21">
            <a:extLst>
              <a:ext uri="{FF2B5EF4-FFF2-40B4-BE49-F238E27FC236}">
                <a16:creationId xmlns:a16="http://schemas.microsoft.com/office/drawing/2014/main" id="{96933A7C-0191-C548-9428-A102395CBBCD}"/>
              </a:ext>
            </a:extLst>
          </p:cNvPr>
          <p:cNvSpPr/>
          <p:nvPr/>
        </p:nvSpPr>
        <p:spPr>
          <a:xfrm>
            <a:off x="7311012" y="5158024"/>
            <a:ext cx="937918" cy="225663"/>
          </a:xfrm>
          <a:prstGeom prst="roundRect">
            <a:avLst/>
          </a:prstGeom>
          <a:solidFill>
            <a:schemeClr val="bg1"/>
          </a:solid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001" sz="1000" dirty="0">
                <a:solidFill>
                  <a:schemeClr val="tx1">
                    <a:lumMod val="65000"/>
                    <a:lumOff val="35000"/>
                  </a:schemeClr>
                </a:solidFill>
              </a:rPr>
              <a:t>Radial head</a:t>
            </a:r>
          </a:p>
        </p:txBody>
      </p:sp>
      <p:sp>
        <p:nvSpPr>
          <p:cNvPr id="8" name="Rectangle: Rounded Corners 7">
            <a:extLst>
              <a:ext uri="{FF2B5EF4-FFF2-40B4-BE49-F238E27FC236}">
                <a16:creationId xmlns:a16="http://schemas.microsoft.com/office/drawing/2014/main" id="{3F2E8A52-3DC4-1735-15EB-CBB461429B63}"/>
              </a:ext>
            </a:extLst>
          </p:cNvPr>
          <p:cNvSpPr/>
          <p:nvPr/>
        </p:nvSpPr>
        <p:spPr>
          <a:xfrm>
            <a:off x="9425483" y="1495425"/>
            <a:ext cx="588457" cy="546564"/>
          </a:xfrm>
          <a:prstGeom prst="roundRect">
            <a:avLst/>
          </a:prstGeom>
          <a:solidFill>
            <a:srgbClr val="326014">
              <a:alpha val="50000"/>
            </a:srgb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Rounded Corners 12">
            <a:extLst>
              <a:ext uri="{FF2B5EF4-FFF2-40B4-BE49-F238E27FC236}">
                <a16:creationId xmlns:a16="http://schemas.microsoft.com/office/drawing/2014/main" id="{90569C23-F756-C237-7EC7-1A5BC1BE705E}"/>
              </a:ext>
            </a:extLst>
          </p:cNvPr>
          <p:cNvSpPr/>
          <p:nvPr/>
        </p:nvSpPr>
        <p:spPr>
          <a:xfrm>
            <a:off x="10013940" y="1508125"/>
            <a:ext cx="588457" cy="546564"/>
          </a:xfrm>
          <a:prstGeom prst="roundRect">
            <a:avLst/>
          </a:prstGeom>
          <a:solidFill>
            <a:srgbClr val="FF0000">
              <a:alpha val="50000"/>
            </a:srgbClr>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62836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167D4-BEF8-C983-E6C7-3B25599BAFFB}"/>
            </a:ext>
          </a:extLst>
        </p:cNvPr>
        <p:cNvGrpSpPr/>
        <p:nvPr/>
      </p:nvGrpSpPr>
      <p:grpSpPr>
        <a:xfrm>
          <a:off x="0" y="0"/>
          <a:ext cx="0" cy="0"/>
          <a:chOff x="0" y="0"/>
          <a:chExt cx="0" cy="0"/>
        </a:xfrm>
      </p:grpSpPr>
      <p:pic>
        <p:nvPicPr>
          <p:cNvPr id="4" name="Picture 3" descr="COSMOS GRAPHIC WHITE.png">
            <a:extLst>
              <a:ext uri="{FF2B5EF4-FFF2-40B4-BE49-F238E27FC236}">
                <a16:creationId xmlns:a16="http://schemas.microsoft.com/office/drawing/2014/main" id="{989DD56C-809A-F55F-EED9-43B04423F6B8}"/>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9" name="Rounded Rectangle 8">
            <a:extLst>
              <a:ext uri="{FF2B5EF4-FFF2-40B4-BE49-F238E27FC236}">
                <a16:creationId xmlns:a16="http://schemas.microsoft.com/office/drawing/2014/main" id="{7E621517-9C85-CAC7-CF9B-F6F3D65425C5}"/>
              </a:ext>
            </a:extLst>
          </p:cNvPr>
          <p:cNvSpPr/>
          <p:nvPr/>
        </p:nvSpPr>
        <p:spPr>
          <a:xfrm>
            <a:off x="622929" y="520700"/>
            <a:ext cx="3350865"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rgbClr val="326014"/>
                </a:solidFill>
                <a:latin typeface="Arial" panose="020B0604020202020204" pitchFamily="34" charset="0"/>
                <a:cs typeface="Arial" panose="020B0604020202020204" pitchFamily="34" charset="0"/>
              </a:rPr>
              <a:t>Elbow dislocation</a:t>
            </a:r>
          </a:p>
        </p:txBody>
      </p:sp>
      <p:sp>
        <p:nvSpPr>
          <p:cNvPr id="11" name="Rounded Rectangle 10">
            <a:extLst>
              <a:ext uri="{FF2B5EF4-FFF2-40B4-BE49-F238E27FC236}">
                <a16:creationId xmlns:a16="http://schemas.microsoft.com/office/drawing/2014/main" id="{B4F7A653-0A13-735B-A9AA-6C16E6E1F905}"/>
              </a:ext>
            </a:extLst>
          </p:cNvPr>
          <p:cNvSpPr/>
          <p:nvPr/>
        </p:nvSpPr>
        <p:spPr>
          <a:xfrm>
            <a:off x="622930" y="1688135"/>
            <a:ext cx="6470992"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spcAft>
                <a:spcPts val="600"/>
              </a:spcAft>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Uncommon, but possible, with large amount of trauma</a:t>
            </a:r>
          </a:p>
          <a:p>
            <a:pPr marL="342900" indent="-342900">
              <a:spcBef>
                <a:spcPts val="600"/>
              </a:spcBef>
              <a:spcAft>
                <a:spcPts val="600"/>
              </a:spcAft>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Requires reduction under anaesthetic and likely period of immobilisation</a:t>
            </a:r>
          </a:p>
          <a:p>
            <a:pPr marL="342900" indent="-342900">
              <a:spcBef>
                <a:spcPts val="600"/>
              </a:spcBef>
              <a:spcAft>
                <a:spcPts val="600"/>
              </a:spcAft>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Once removed from immobilisation device, will be stiff+++</a:t>
            </a:r>
          </a:p>
          <a:p>
            <a:pPr marL="342900" indent="-342900">
              <a:spcBef>
                <a:spcPts val="600"/>
              </a:spcBef>
              <a:spcAft>
                <a:spcPts val="600"/>
              </a:spcAft>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Be wary of neurovascular complications</a:t>
            </a:r>
          </a:p>
        </p:txBody>
      </p:sp>
      <p:sp>
        <p:nvSpPr>
          <p:cNvPr id="2" name="Round Diagonal Corner Rectangle 2">
            <a:extLst>
              <a:ext uri="{FF2B5EF4-FFF2-40B4-BE49-F238E27FC236}">
                <a16:creationId xmlns:a16="http://schemas.microsoft.com/office/drawing/2014/main" id="{4E453D49-376A-910B-3E2B-862272F29483}"/>
              </a:ext>
            </a:extLst>
          </p:cNvPr>
          <p:cNvSpPr/>
          <p:nvPr/>
        </p:nvSpPr>
        <p:spPr>
          <a:xfrm>
            <a:off x="7315199" y="1688135"/>
            <a:ext cx="4597638" cy="4647249"/>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389435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12E8F-3D43-E965-F23C-AE99BAEEC48A}"/>
            </a:ext>
          </a:extLst>
        </p:cNvPr>
        <p:cNvGrpSpPr/>
        <p:nvPr/>
      </p:nvGrpSpPr>
      <p:grpSpPr>
        <a:xfrm>
          <a:off x="0" y="0"/>
          <a:ext cx="0" cy="0"/>
          <a:chOff x="0" y="0"/>
          <a:chExt cx="0" cy="0"/>
        </a:xfrm>
      </p:grpSpPr>
      <p:pic>
        <p:nvPicPr>
          <p:cNvPr id="4" name="Picture 3" descr="COSMOS GRAPHIC WHITE.png">
            <a:extLst>
              <a:ext uri="{FF2B5EF4-FFF2-40B4-BE49-F238E27FC236}">
                <a16:creationId xmlns:a16="http://schemas.microsoft.com/office/drawing/2014/main" id="{F9EF886B-2A9F-2941-6F37-FF5200A2E77F}"/>
              </a:ext>
            </a:extLst>
          </p:cNvPr>
          <p:cNvPicPr>
            <a:picLocks noChangeAspect="1"/>
          </p:cNvPicPr>
          <p:nvPr/>
        </p:nvPicPr>
        <p:blipFill rotWithShape="1">
          <a:blip r:embed="rId3" cstate="print">
            <a:alphaModFix amt="20000"/>
            <a:extLst>
              <a:ext uri="{28A0092B-C50C-407E-A947-70E740481C1C}">
                <a14:useLocalDpi xmlns:a14="http://schemas.microsoft.com/office/drawing/2010/main" val="0"/>
              </a:ext>
            </a:extLst>
          </a:blip>
          <a:srcRect t="-262" r="50143"/>
          <a:stretch/>
        </p:blipFill>
        <p:spPr>
          <a:xfrm>
            <a:off x="9012795" y="201535"/>
            <a:ext cx="3179205" cy="6393333"/>
          </a:xfrm>
          <a:prstGeom prst="rect">
            <a:avLst/>
          </a:prstGeom>
          <a:noFill/>
        </p:spPr>
      </p:pic>
      <p:sp>
        <p:nvSpPr>
          <p:cNvPr id="9" name="Rounded Rectangle 8">
            <a:extLst>
              <a:ext uri="{FF2B5EF4-FFF2-40B4-BE49-F238E27FC236}">
                <a16:creationId xmlns:a16="http://schemas.microsoft.com/office/drawing/2014/main" id="{C99ACE0A-336D-662A-DFF3-9B34D925D016}"/>
              </a:ext>
            </a:extLst>
          </p:cNvPr>
          <p:cNvSpPr/>
          <p:nvPr/>
        </p:nvSpPr>
        <p:spPr>
          <a:xfrm>
            <a:off x="622930" y="520700"/>
            <a:ext cx="3007374"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rgbClr val="326014"/>
                </a:solidFill>
                <a:latin typeface="Arial" panose="020B0604020202020204" pitchFamily="34" charset="0"/>
                <a:cs typeface="Arial" panose="020B0604020202020204" pitchFamily="34" charset="0"/>
              </a:rPr>
              <a:t>Radiocarpal joint</a:t>
            </a:r>
          </a:p>
        </p:txBody>
      </p:sp>
      <p:sp>
        <p:nvSpPr>
          <p:cNvPr id="11" name="Rounded Rectangle 10">
            <a:extLst>
              <a:ext uri="{FF2B5EF4-FFF2-40B4-BE49-F238E27FC236}">
                <a16:creationId xmlns:a16="http://schemas.microsoft.com/office/drawing/2014/main" id="{75324643-5D0B-DD33-4225-63C34ECEB730}"/>
              </a:ext>
            </a:extLst>
          </p:cNvPr>
          <p:cNvSpPr/>
          <p:nvPr/>
        </p:nvSpPr>
        <p:spPr>
          <a:xfrm>
            <a:off x="622930" y="1688135"/>
            <a:ext cx="607465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Compromised of the distal end of the radius (and ulnar) and the proximal row of carpals</a:t>
            </a:r>
          </a:p>
          <a:p>
            <a:pPr marL="285750" indent="-285750">
              <a:spcBef>
                <a:spcPts val="600"/>
              </a:spcBef>
              <a:spcAft>
                <a:spcPts val="600"/>
              </a:spcAft>
              <a:buClr>
                <a:schemeClr val="bg1"/>
              </a:buClr>
              <a:buFont typeface="Arial" panose="020B0604020202020204" pitchFamily="34" charset="0"/>
              <a:buChar char="•"/>
            </a:pPr>
            <a:r>
              <a:rPr lang="en-GB" sz="2400" b="1" dirty="0">
                <a:solidFill>
                  <a:schemeClr val="accent4"/>
                </a:solidFill>
                <a:latin typeface="Arial" panose="020B0604020202020204" pitchFamily="34" charset="0"/>
                <a:cs typeface="Arial" panose="020B0604020202020204" pitchFamily="34" charset="0"/>
              </a:rPr>
              <a:t>Classification:</a:t>
            </a:r>
            <a:r>
              <a:rPr lang="en-GB" sz="2400" dirty="0">
                <a:latin typeface="Arial" panose="020B0604020202020204" pitchFamily="34" charset="0"/>
                <a:cs typeface="Arial" panose="020B0604020202020204" pitchFamily="34" charset="0"/>
              </a:rPr>
              <a:t> synovial ellipsoidal / condyloid joint – bi-axial</a:t>
            </a:r>
          </a:p>
          <a:p>
            <a:pPr marL="285750" indent="-285750">
              <a:spcBef>
                <a:spcPts val="600"/>
              </a:spcBef>
              <a:spcAft>
                <a:spcPts val="600"/>
              </a:spcAft>
              <a:buClr>
                <a:schemeClr val="bg1"/>
              </a:buClr>
              <a:buFont typeface="Arial" panose="020B0604020202020204" pitchFamily="34" charset="0"/>
              <a:buChar char="•"/>
            </a:pPr>
            <a:r>
              <a:rPr lang="en-GB" sz="2400" b="1" dirty="0">
                <a:solidFill>
                  <a:schemeClr val="accent4"/>
                </a:solidFill>
                <a:latin typeface="Arial" panose="020B0604020202020204" pitchFamily="34" charset="0"/>
                <a:cs typeface="Arial" panose="020B0604020202020204" pitchFamily="34" charset="0"/>
              </a:rPr>
              <a:t>Movements available:</a:t>
            </a:r>
            <a:r>
              <a:rPr lang="en-GB" sz="2400" dirty="0">
                <a:latin typeface="Arial" panose="020B0604020202020204" pitchFamily="34" charset="0"/>
                <a:cs typeface="Arial" panose="020B0604020202020204" pitchFamily="34" charset="0"/>
              </a:rPr>
              <a:t> flexion / extension / radial and ulnar deviation</a:t>
            </a:r>
          </a:p>
          <a:p>
            <a:pPr marL="285750" indent="-285750">
              <a:buFont typeface="Arial" panose="020B0604020202020204" pitchFamily="34" charset="0"/>
              <a:buChar char="•"/>
            </a:pPr>
            <a:endParaRPr lang="en-US" dirty="0"/>
          </a:p>
        </p:txBody>
      </p:sp>
      <p:sp>
        <p:nvSpPr>
          <p:cNvPr id="8" name="Round Diagonal Corner Rectangle 2">
            <a:extLst>
              <a:ext uri="{FF2B5EF4-FFF2-40B4-BE49-F238E27FC236}">
                <a16:creationId xmlns:a16="http://schemas.microsoft.com/office/drawing/2014/main" id="{288BD9FA-3A17-6C29-F2EA-15EE0A1A1E8C}"/>
              </a:ext>
            </a:extLst>
          </p:cNvPr>
          <p:cNvSpPr/>
          <p:nvPr/>
        </p:nvSpPr>
        <p:spPr>
          <a:xfrm>
            <a:off x="6577819" y="3537857"/>
            <a:ext cx="5473070" cy="2949766"/>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13" name="Round Diagonal Corner Rectangle 2">
            <a:extLst>
              <a:ext uri="{FF2B5EF4-FFF2-40B4-BE49-F238E27FC236}">
                <a16:creationId xmlns:a16="http://schemas.microsoft.com/office/drawing/2014/main" id="{0F426DC5-8C63-DDBD-86EB-4D56773FE9E5}"/>
              </a:ext>
            </a:extLst>
          </p:cNvPr>
          <p:cNvSpPr/>
          <p:nvPr/>
        </p:nvSpPr>
        <p:spPr>
          <a:xfrm>
            <a:off x="6577819" y="402811"/>
            <a:ext cx="5473070" cy="2949767"/>
          </a:xfrm>
          <a:prstGeom prst="roundRect">
            <a:avLst/>
          </a:prstGeom>
          <a:blipFill dpi="0" rotWithShape="1">
            <a:blip r:embed="rId5">
              <a:extLst>
                <a:ext uri="{28A0092B-C50C-407E-A947-70E740481C1C}">
                  <a14:useLocalDpi xmlns:a14="http://schemas.microsoft.com/office/drawing/2010/main" val="0"/>
                </a:ext>
              </a:extLst>
            </a:blip>
            <a:srcRect/>
            <a:stretch>
              <a:fillRect/>
            </a:stretch>
          </a:blip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23755268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98710-0444-688E-7643-02CA7A164F62}"/>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CF7319EC-E358-24D8-6CC5-C3A5DAD41929}"/>
              </a:ext>
            </a:extLst>
          </p:cNvPr>
          <p:cNvSpPr/>
          <p:nvPr/>
        </p:nvSpPr>
        <p:spPr>
          <a:xfrm>
            <a:off x="622930" y="520700"/>
            <a:ext cx="1192222"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dirty="0">
                <a:solidFill>
                  <a:srgbClr val="326014"/>
                </a:solidFill>
                <a:latin typeface="Arial" panose="020B0604020202020204" pitchFamily="34" charset="0"/>
                <a:cs typeface="Arial" panose="020B0604020202020204" pitchFamily="34" charset="0"/>
              </a:rPr>
              <a:t>Hand</a:t>
            </a:r>
          </a:p>
        </p:txBody>
      </p:sp>
      <p:sp>
        <p:nvSpPr>
          <p:cNvPr id="3" name="Round Diagonal Corner Rectangle 2">
            <a:extLst>
              <a:ext uri="{FF2B5EF4-FFF2-40B4-BE49-F238E27FC236}">
                <a16:creationId xmlns:a16="http://schemas.microsoft.com/office/drawing/2014/main" id="{9A15EBC5-CEF9-98A2-3B07-F1866377E40A}"/>
              </a:ext>
            </a:extLst>
          </p:cNvPr>
          <p:cNvSpPr/>
          <p:nvPr/>
        </p:nvSpPr>
        <p:spPr>
          <a:xfrm>
            <a:off x="6821710" y="1435100"/>
            <a:ext cx="4713282" cy="5159767"/>
          </a:xfrm>
          <a:prstGeom prst="roundRect">
            <a:avLst/>
          </a:prstGeom>
          <a:blipFill dpi="0" rotWithShape="1">
            <a:blip r:embed="rId3">
              <a:extLst>
                <a:ext uri="{28A0092B-C50C-407E-A947-70E740481C1C}">
                  <a14:useLocalDpi xmlns:a14="http://schemas.microsoft.com/office/drawing/2010/main" val="0"/>
                </a:ext>
              </a:extLst>
            </a:blip>
            <a:srcRect/>
            <a:stretch>
              <a:fillRect l="-113985"/>
            </a:stretch>
          </a:blip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
        <p:nvSpPr>
          <p:cNvPr id="7" name="Rounded Rectangle 10">
            <a:extLst>
              <a:ext uri="{FF2B5EF4-FFF2-40B4-BE49-F238E27FC236}">
                <a16:creationId xmlns:a16="http://schemas.microsoft.com/office/drawing/2014/main" id="{DCABAAF6-0318-1575-7ADC-CA33CB83ABF0}"/>
              </a:ext>
            </a:extLst>
          </p:cNvPr>
          <p:cNvSpPr/>
          <p:nvPr/>
        </p:nvSpPr>
        <p:spPr>
          <a:xfrm>
            <a:off x="622930" y="1688135"/>
            <a:ext cx="6074650"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Exceptionally refined complex needed for grip and manipulation e.g. dressing, playing instruments, writing, typing, etc.</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Balance of power and precision required, also, e.g. weight lifting, rock climbing, etc</a:t>
            </a:r>
          </a:p>
        </p:txBody>
      </p:sp>
      <p:sp>
        <p:nvSpPr>
          <p:cNvPr id="17" name="Rectangle 16">
            <a:extLst>
              <a:ext uri="{FF2B5EF4-FFF2-40B4-BE49-F238E27FC236}">
                <a16:creationId xmlns:a16="http://schemas.microsoft.com/office/drawing/2014/main" id="{3DC6D63F-CD9D-8849-B9EB-108BE8972BE5}"/>
              </a:ext>
            </a:extLst>
          </p:cNvPr>
          <p:cNvSpPr/>
          <p:nvPr/>
        </p:nvSpPr>
        <p:spPr>
          <a:xfrm>
            <a:off x="6843140" y="5244860"/>
            <a:ext cx="222461" cy="6211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433283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A5E36-0161-EB44-381F-78BA7AFF63A4}"/>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00A8DDBE-9A7D-8192-E9B3-8C092E6A036F}"/>
              </a:ext>
            </a:extLst>
          </p:cNvPr>
          <p:cNvSpPr/>
          <p:nvPr/>
        </p:nvSpPr>
        <p:spPr>
          <a:xfrm>
            <a:off x="622930" y="520700"/>
            <a:ext cx="28187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itle 2">
            <a:extLst>
              <a:ext uri="{FF2B5EF4-FFF2-40B4-BE49-F238E27FC236}">
                <a16:creationId xmlns:a16="http://schemas.microsoft.com/office/drawing/2014/main" id="{EC692308-32DB-4D42-B9CA-66BB914A1341}"/>
              </a:ext>
            </a:extLst>
          </p:cNvPr>
          <p:cNvSpPr txBox="1">
            <a:spLocks/>
          </p:cNvSpPr>
          <p:nvPr/>
        </p:nvSpPr>
        <p:spPr>
          <a:xfrm>
            <a:off x="778878" y="624216"/>
            <a:ext cx="3285121"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Question time</a:t>
            </a:r>
          </a:p>
        </p:txBody>
      </p:sp>
      <p:pic>
        <p:nvPicPr>
          <p:cNvPr id="3" name="Picture 2" descr="Question mark symbol">
            <a:extLst>
              <a:ext uri="{FF2B5EF4-FFF2-40B4-BE49-F238E27FC236}">
                <a16:creationId xmlns:a16="http://schemas.microsoft.com/office/drawing/2014/main" id="{91CF44B7-E0F2-77BC-1A73-72A3954CD862}"/>
              </a:ext>
            </a:extLst>
          </p:cNvPr>
          <p:cNvPicPr>
            <a:picLocks/>
          </p:cNvPicPr>
          <p:nvPr/>
        </p:nvPicPr>
        <p:blipFill>
          <a:blip r:embed="rId2"/>
          <a:stretch>
            <a:fillRect/>
          </a:stretch>
        </p:blipFill>
        <p:spPr>
          <a:xfrm>
            <a:off x="622930" y="1503092"/>
            <a:ext cx="7808400" cy="4762800"/>
          </a:xfrm>
          <a:prstGeom prst="roundRect">
            <a:avLst/>
          </a:prstGeom>
          <a:ln w="38100">
            <a:solidFill>
              <a:schemeClr val="bg1"/>
            </a:solidFill>
          </a:ln>
        </p:spPr>
      </p:pic>
    </p:spTree>
    <p:extLst>
      <p:ext uri="{BB962C8B-B14F-4D97-AF65-F5344CB8AC3E}">
        <p14:creationId xmlns:p14="http://schemas.microsoft.com/office/powerpoint/2010/main" val="3411206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4AF6E-7F22-D973-4D87-F4E77CE53172}"/>
            </a:ext>
          </a:extLst>
        </p:cNvPr>
        <p:cNvGrpSpPr/>
        <p:nvPr/>
      </p:nvGrpSpPr>
      <p:grpSpPr>
        <a:xfrm>
          <a:off x="0" y="0"/>
          <a:ext cx="0" cy="0"/>
          <a:chOff x="0" y="0"/>
          <a:chExt cx="0" cy="0"/>
        </a:xfrm>
      </p:grpSpPr>
      <p:sp>
        <p:nvSpPr>
          <p:cNvPr id="17" name="Rounded Rectangle 16">
            <a:extLst>
              <a:ext uri="{FF2B5EF4-FFF2-40B4-BE49-F238E27FC236}">
                <a16:creationId xmlns:a16="http://schemas.microsoft.com/office/drawing/2014/main" id="{D9894C9C-CED3-92D4-F36C-7C29E9616F08}"/>
              </a:ext>
            </a:extLst>
          </p:cNvPr>
          <p:cNvSpPr/>
          <p:nvPr/>
        </p:nvSpPr>
        <p:spPr>
          <a:xfrm>
            <a:off x="622929" y="520700"/>
            <a:ext cx="4306423"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96CC306F-DFD2-8529-D632-47A8E0EBC4A9}"/>
              </a:ext>
            </a:extLst>
          </p:cNvPr>
          <p:cNvSpPr txBox="1">
            <a:spLocks/>
          </p:cNvSpPr>
          <p:nvPr/>
        </p:nvSpPr>
        <p:spPr>
          <a:xfrm>
            <a:off x="778878" y="624216"/>
            <a:ext cx="4003637"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Throwing biomechanics</a:t>
            </a:r>
          </a:p>
        </p:txBody>
      </p:sp>
      <p:sp>
        <p:nvSpPr>
          <p:cNvPr id="2" name="Round Diagonal Corner Rectangle 2">
            <a:extLst>
              <a:ext uri="{FF2B5EF4-FFF2-40B4-BE49-F238E27FC236}">
                <a16:creationId xmlns:a16="http://schemas.microsoft.com/office/drawing/2014/main" id="{5778E5A2-8A34-C5B6-A89D-D3C2AFCD9A58}"/>
              </a:ext>
            </a:extLst>
          </p:cNvPr>
          <p:cNvSpPr/>
          <p:nvPr/>
        </p:nvSpPr>
        <p:spPr>
          <a:xfrm>
            <a:off x="622930" y="1510896"/>
            <a:ext cx="8157815" cy="4826404"/>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defTabSz="914400" eaLnBrk="1" fontAlgn="auto" latinLnBrk="0" hangingPunct="1">
              <a:lnSpc>
                <a:spcPct val="100000"/>
              </a:lnSpc>
              <a:spcBef>
                <a:spcPts val="0"/>
              </a:spcBef>
              <a:spcAft>
                <a:spcPts val="0"/>
              </a:spcAft>
              <a:buClrTx/>
              <a:buSzTx/>
              <a:tabLst/>
              <a:defRPr/>
            </a:pPr>
            <a:endParaRPr lang="en-GB" sz="3200" dirty="0"/>
          </a:p>
        </p:txBody>
      </p:sp>
      <p:sp>
        <p:nvSpPr>
          <p:cNvPr id="4" name="Rounded Rectangle 10">
            <a:extLst>
              <a:ext uri="{FF2B5EF4-FFF2-40B4-BE49-F238E27FC236}">
                <a16:creationId xmlns:a16="http://schemas.microsoft.com/office/drawing/2014/main" id="{363A64D0-6528-48ED-7046-0CC944C5CE2E}"/>
              </a:ext>
            </a:extLst>
          </p:cNvPr>
          <p:cNvSpPr/>
          <p:nvPr/>
        </p:nvSpPr>
        <p:spPr>
          <a:xfrm>
            <a:off x="9005977" y="1510896"/>
            <a:ext cx="2962342" cy="4826404"/>
          </a:xfrm>
          <a:prstGeom prst="roundRect">
            <a:avLst>
              <a:gd name="adj" fmla="val 6556"/>
            </a:avLst>
          </a:prstGeom>
          <a:solidFill>
            <a:srgbClr val="326014"/>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Asymmetric hip strength demonstrated increased risk of shoulder injuries in professional baseball pitchers (Plummer </a:t>
            </a:r>
            <a:r>
              <a:rPr lang="en-GB" sz="2400" i="1" dirty="0">
                <a:latin typeface="Arial" panose="020B0604020202020204" pitchFamily="34" charset="0"/>
                <a:cs typeface="Arial" panose="020B0604020202020204" pitchFamily="34" charset="0"/>
              </a:rPr>
              <a:t>et al</a:t>
            </a:r>
            <a:r>
              <a:rPr lang="en-GB" sz="2400" dirty="0">
                <a:latin typeface="Arial" panose="020B0604020202020204" pitchFamily="34" charset="0"/>
                <a:cs typeface="Arial" panose="020B0604020202020204" pitchFamily="34" charset="0"/>
              </a:rPr>
              <a:t>., 2023)</a:t>
            </a:r>
          </a:p>
        </p:txBody>
      </p:sp>
    </p:spTree>
    <p:extLst>
      <p:ext uri="{BB962C8B-B14F-4D97-AF65-F5344CB8AC3E}">
        <p14:creationId xmlns:p14="http://schemas.microsoft.com/office/powerpoint/2010/main" val="314278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70AFD-075A-4C0C-74FA-3503A4300FB1}"/>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FDA39D81-A72B-34C8-5677-E85B289431CD}"/>
              </a:ext>
            </a:extLst>
          </p:cNvPr>
          <p:cNvSpPr/>
          <p:nvPr/>
        </p:nvSpPr>
        <p:spPr>
          <a:xfrm>
            <a:off x="622930" y="2141264"/>
            <a:ext cx="7720970" cy="4194120"/>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D1 and D2 movement patterns consider combined movements in all three plans of motion</a:t>
            </a:r>
          </a:p>
          <a:p>
            <a:pPr marL="285750" indent="-285750">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D2 encompasses: </a:t>
            </a:r>
          </a:p>
          <a:p>
            <a:pPr marL="742950" lvl="1"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A start position of carrying a tray, and, </a:t>
            </a:r>
          </a:p>
          <a:p>
            <a:pPr marL="742950" lvl="1"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An end position of having thumb in opposite pocket</a:t>
            </a:r>
            <a:endParaRPr lang="en-US" sz="2400" dirty="0">
              <a:latin typeface="Arial" panose="020B0604020202020204" pitchFamily="34" charset="0"/>
              <a:cs typeface="Arial" panose="020B0604020202020204" pitchFamily="34" charset="0"/>
            </a:endParaRPr>
          </a:p>
        </p:txBody>
      </p:sp>
      <p:sp>
        <p:nvSpPr>
          <p:cNvPr id="17" name="Rounded Rectangle 16">
            <a:extLst>
              <a:ext uri="{FF2B5EF4-FFF2-40B4-BE49-F238E27FC236}">
                <a16:creationId xmlns:a16="http://schemas.microsoft.com/office/drawing/2014/main" id="{9608C39F-6A5F-AE83-72FA-D249DDFC0A5D}"/>
              </a:ext>
            </a:extLst>
          </p:cNvPr>
          <p:cNvSpPr/>
          <p:nvPr/>
        </p:nvSpPr>
        <p:spPr>
          <a:xfrm>
            <a:off x="622929" y="520700"/>
            <a:ext cx="3845553"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978ED39D-AD49-1907-4629-65B7AD7D345B}"/>
              </a:ext>
            </a:extLst>
          </p:cNvPr>
          <p:cNvSpPr txBox="1">
            <a:spLocks/>
          </p:cNvSpPr>
          <p:nvPr/>
        </p:nvSpPr>
        <p:spPr>
          <a:xfrm>
            <a:off x="778878" y="624216"/>
            <a:ext cx="3306433"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Movement patterns</a:t>
            </a:r>
          </a:p>
        </p:txBody>
      </p:sp>
      <p:sp>
        <p:nvSpPr>
          <p:cNvPr id="2" name="Rounded Rectangle 16">
            <a:extLst>
              <a:ext uri="{FF2B5EF4-FFF2-40B4-BE49-F238E27FC236}">
                <a16:creationId xmlns:a16="http://schemas.microsoft.com/office/drawing/2014/main" id="{4D9C4455-A992-3B9A-4795-0648AFA2EDF1}"/>
              </a:ext>
            </a:extLst>
          </p:cNvPr>
          <p:cNvSpPr/>
          <p:nvPr/>
        </p:nvSpPr>
        <p:spPr>
          <a:xfrm>
            <a:off x="622930" y="1330982"/>
            <a:ext cx="190461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Subtitle 2">
            <a:extLst>
              <a:ext uri="{FF2B5EF4-FFF2-40B4-BE49-F238E27FC236}">
                <a16:creationId xmlns:a16="http://schemas.microsoft.com/office/drawing/2014/main" id="{DEA0892F-C3EF-9B68-7E05-77E05FAAD39A}"/>
              </a:ext>
            </a:extLst>
          </p:cNvPr>
          <p:cNvSpPr txBox="1">
            <a:spLocks/>
          </p:cNvSpPr>
          <p:nvPr/>
        </p:nvSpPr>
        <p:spPr>
          <a:xfrm>
            <a:off x="778878" y="1434498"/>
            <a:ext cx="3306433"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D1 &amp; D2</a:t>
            </a:r>
          </a:p>
        </p:txBody>
      </p:sp>
      <p:sp>
        <p:nvSpPr>
          <p:cNvPr id="5" name="Round Diagonal Corner Rectangle 7">
            <a:extLst>
              <a:ext uri="{FF2B5EF4-FFF2-40B4-BE49-F238E27FC236}">
                <a16:creationId xmlns:a16="http://schemas.microsoft.com/office/drawing/2014/main" id="{F89EA21B-ADF3-BB8A-9CD7-1E0C11CEEA6C}"/>
              </a:ext>
            </a:extLst>
          </p:cNvPr>
          <p:cNvSpPr/>
          <p:nvPr/>
        </p:nvSpPr>
        <p:spPr>
          <a:xfrm>
            <a:off x="8177596" y="624216"/>
            <a:ext cx="3729069" cy="2832505"/>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0" indent="-457200" defTabSz="914400" eaLnBrk="1" fontAlgn="auto" latinLnBrk="0" hangingPunct="1">
              <a:lnSpc>
                <a:spcPct val="100000"/>
              </a:lnSpc>
              <a:spcBef>
                <a:spcPts val="0"/>
              </a:spcBef>
              <a:spcAft>
                <a:spcPts val="0"/>
              </a:spcAft>
              <a:buClrTx/>
              <a:buSzTx/>
              <a:buFont typeface="Arial" charset="0"/>
              <a:buNone/>
              <a:tabLst/>
              <a:defRPr/>
            </a:pPr>
            <a:endParaRPr lang="en-GB" sz="3200" dirty="0">
              <a:solidFill>
                <a:srgbClr val="FFFFFF"/>
              </a:solidFill>
              <a:cs typeface="Arial" charset="0"/>
            </a:endParaRPr>
          </a:p>
        </p:txBody>
      </p:sp>
      <p:sp>
        <p:nvSpPr>
          <p:cNvPr id="7" name="Round Diagonal Corner Rectangle 7">
            <a:extLst>
              <a:ext uri="{FF2B5EF4-FFF2-40B4-BE49-F238E27FC236}">
                <a16:creationId xmlns:a16="http://schemas.microsoft.com/office/drawing/2014/main" id="{0920AD79-99E8-E606-E884-0EE58FCB413E}"/>
              </a:ext>
            </a:extLst>
          </p:cNvPr>
          <p:cNvSpPr/>
          <p:nvPr/>
        </p:nvSpPr>
        <p:spPr>
          <a:xfrm>
            <a:off x="8177597" y="3724676"/>
            <a:ext cx="3729069" cy="2832505"/>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0" indent="-457200" defTabSz="914400" eaLnBrk="1" fontAlgn="auto" latinLnBrk="0" hangingPunct="1">
              <a:lnSpc>
                <a:spcPct val="100000"/>
              </a:lnSpc>
              <a:spcBef>
                <a:spcPts val="0"/>
              </a:spcBef>
              <a:spcAft>
                <a:spcPts val="0"/>
              </a:spcAft>
              <a:buClrTx/>
              <a:buSzTx/>
              <a:buFont typeface="Arial" charset="0"/>
              <a:buNone/>
              <a:tabLst/>
              <a:defRPr/>
            </a:pPr>
            <a:endParaRPr lang="en-GB" sz="3200" dirty="0">
              <a:solidFill>
                <a:srgbClr val="FFFFFF"/>
              </a:solidFill>
              <a:cs typeface="Arial" charset="0"/>
            </a:endParaRPr>
          </a:p>
        </p:txBody>
      </p:sp>
    </p:spTree>
    <p:extLst>
      <p:ext uri="{BB962C8B-B14F-4D97-AF65-F5344CB8AC3E}">
        <p14:creationId xmlns:p14="http://schemas.microsoft.com/office/powerpoint/2010/main" val="24750948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4E94C-4310-C960-F3CE-E87E695C1957}"/>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D77D31AF-E79E-EC79-3FD0-2043743AA1AC}"/>
              </a:ext>
            </a:extLst>
          </p:cNvPr>
          <p:cNvSpPr/>
          <p:nvPr/>
        </p:nvSpPr>
        <p:spPr>
          <a:xfrm>
            <a:off x="622930" y="2141264"/>
            <a:ext cx="7720970" cy="4194120"/>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D1 and D2 movement patterns consider combined movements in all three plans of motion</a:t>
            </a:r>
          </a:p>
          <a:p>
            <a:pPr marL="285750" indent="-285750">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D1 encompasses: </a:t>
            </a:r>
          </a:p>
          <a:p>
            <a:pPr marL="742950" lvl="1"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A start position of swatting a fly, and</a:t>
            </a:r>
          </a:p>
          <a:p>
            <a:pPr marL="742950" lvl="1" indent="-285750">
              <a:buFont typeface="Arial" panose="020B0604020202020204" pitchFamily="34" charset="0"/>
              <a:buChar char="•"/>
            </a:pPr>
            <a:r>
              <a:rPr lang="en-GB" sz="2400" dirty="0">
                <a:latin typeface="Arial" panose="020B0604020202020204" pitchFamily="34" charset="0"/>
                <a:cs typeface="Arial" panose="020B0604020202020204" pitchFamily="34" charset="0"/>
              </a:rPr>
              <a:t>An end position of holding hands</a:t>
            </a:r>
            <a:endParaRPr lang="en-US" sz="2400" dirty="0">
              <a:latin typeface="Arial" panose="020B0604020202020204" pitchFamily="34" charset="0"/>
              <a:cs typeface="Arial" panose="020B0604020202020204" pitchFamily="34" charset="0"/>
            </a:endParaRPr>
          </a:p>
        </p:txBody>
      </p:sp>
      <p:sp>
        <p:nvSpPr>
          <p:cNvPr id="17" name="Rounded Rectangle 16">
            <a:extLst>
              <a:ext uri="{FF2B5EF4-FFF2-40B4-BE49-F238E27FC236}">
                <a16:creationId xmlns:a16="http://schemas.microsoft.com/office/drawing/2014/main" id="{E130D1EB-8D70-389C-40A9-5681E71FBF11}"/>
              </a:ext>
            </a:extLst>
          </p:cNvPr>
          <p:cNvSpPr/>
          <p:nvPr/>
        </p:nvSpPr>
        <p:spPr>
          <a:xfrm>
            <a:off x="622929" y="520700"/>
            <a:ext cx="3845553"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84EB8C6A-16B7-854F-2A59-5D4D98E8100A}"/>
              </a:ext>
            </a:extLst>
          </p:cNvPr>
          <p:cNvSpPr txBox="1">
            <a:spLocks/>
          </p:cNvSpPr>
          <p:nvPr/>
        </p:nvSpPr>
        <p:spPr>
          <a:xfrm>
            <a:off x="778878" y="624216"/>
            <a:ext cx="3306433"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Movement patterns</a:t>
            </a:r>
          </a:p>
        </p:txBody>
      </p:sp>
      <p:sp>
        <p:nvSpPr>
          <p:cNvPr id="2" name="Rounded Rectangle 16">
            <a:extLst>
              <a:ext uri="{FF2B5EF4-FFF2-40B4-BE49-F238E27FC236}">
                <a16:creationId xmlns:a16="http://schemas.microsoft.com/office/drawing/2014/main" id="{0F0A823B-1F7D-FC57-23E3-E02247945135}"/>
              </a:ext>
            </a:extLst>
          </p:cNvPr>
          <p:cNvSpPr/>
          <p:nvPr/>
        </p:nvSpPr>
        <p:spPr>
          <a:xfrm>
            <a:off x="622930" y="1330982"/>
            <a:ext cx="190461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Subtitle 2">
            <a:extLst>
              <a:ext uri="{FF2B5EF4-FFF2-40B4-BE49-F238E27FC236}">
                <a16:creationId xmlns:a16="http://schemas.microsoft.com/office/drawing/2014/main" id="{4B325834-8225-D69F-A6A2-A60E0EA356E7}"/>
              </a:ext>
            </a:extLst>
          </p:cNvPr>
          <p:cNvSpPr txBox="1">
            <a:spLocks/>
          </p:cNvSpPr>
          <p:nvPr/>
        </p:nvSpPr>
        <p:spPr>
          <a:xfrm>
            <a:off x="778878" y="1434498"/>
            <a:ext cx="3306433"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D1 &amp; D2</a:t>
            </a:r>
          </a:p>
        </p:txBody>
      </p:sp>
      <p:sp>
        <p:nvSpPr>
          <p:cNvPr id="3" name="Round Diagonal Corner Rectangle 7">
            <a:extLst>
              <a:ext uri="{FF2B5EF4-FFF2-40B4-BE49-F238E27FC236}">
                <a16:creationId xmlns:a16="http://schemas.microsoft.com/office/drawing/2014/main" id="{826EEF9D-7153-9596-AD86-E009466AF9F8}"/>
              </a:ext>
            </a:extLst>
          </p:cNvPr>
          <p:cNvSpPr/>
          <p:nvPr/>
        </p:nvSpPr>
        <p:spPr>
          <a:xfrm>
            <a:off x="8204184" y="621495"/>
            <a:ext cx="3729069" cy="2832505"/>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0" indent="-457200" defTabSz="914400" eaLnBrk="1" fontAlgn="auto" latinLnBrk="0" hangingPunct="1">
              <a:lnSpc>
                <a:spcPct val="100000"/>
              </a:lnSpc>
              <a:spcBef>
                <a:spcPts val="0"/>
              </a:spcBef>
              <a:spcAft>
                <a:spcPts val="0"/>
              </a:spcAft>
              <a:buClrTx/>
              <a:buSzTx/>
              <a:buFont typeface="Arial" charset="0"/>
              <a:buNone/>
              <a:tabLst/>
              <a:defRPr/>
            </a:pPr>
            <a:endParaRPr lang="en-GB" sz="3200" dirty="0">
              <a:solidFill>
                <a:srgbClr val="FFFFFF"/>
              </a:solidFill>
              <a:cs typeface="Arial" charset="0"/>
            </a:endParaRPr>
          </a:p>
        </p:txBody>
      </p:sp>
      <p:sp>
        <p:nvSpPr>
          <p:cNvPr id="8" name="Round Diagonal Corner Rectangle 7">
            <a:extLst>
              <a:ext uri="{FF2B5EF4-FFF2-40B4-BE49-F238E27FC236}">
                <a16:creationId xmlns:a16="http://schemas.microsoft.com/office/drawing/2014/main" id="{8D58EFD1-72EB-3196-3F55-E3FDCAA35FF1}"/>
              </a:ext>
            </a:extLst>
          </p:cNvPr>
          <p:cNvSpPr/>
          <p:nvPr/>
        </p:nvSpPr>
        <p:spPr>
          <a:xfrm>
            <a:off x="8204183" y="3722133"/>
            <a:ext cx="3729069" cy="2832505"/>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marR="0" lvl="0" indent="-457200" defTabSz="914400" eaLnBrk="1" fontAlgn="auto" latinLnBrk="0" hangingPunct="1">
              <a:lnSpc>
                <a:spcPct val="100000"/>
              </a:lnSpc>
              <a:spcBef>
                <a:spcPts val="0"/>
              </a:spcBef>
              <a:spcAft>
                <a:spcPts val="0"/>
              </a:spcAft>
              <a:buClrTx/>
              <a:buSzTx/>
              <a:buFont typeface="Arial" charset="0"/>
              <a:buNone/>
              <a:tabLst/>
              <a:defRPr/>
            </a:pPr>
            <a:endParaRPr lang="en-GB" sz="3200" dirty="0">
              <a:solidFill>
                <a:srgbClr val="FFFFFF"/>
              </a:solidFill>
              <a:cs typeface="Arial" charset="0"/>
            </a:endParaRPr>
          </a:p>
        </p:txBody>
      </p:sp>
    </p:spTree>
    <p:extLst>
      <p:ext uri="{BB962C8B-B14F-4D97-AF65-F5344CB8AC3E}">
        <p14:creationId xmlns:p14="http://schemas.microsoft.com/office/powerpoint/2010/main" val="7237058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A520-AFDA-A428-E115-DE06C67619FF}"/>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49E07739-8DA8-1309-4CC0-0E6A487969E9}"/>
              </a:ext>
            </a:extLst>
          </p:cNvPr>
          <p:cNvSpPr/>
          <p:nvPr/>
        </p:nvSpPr>
        <p:spPr>
          <a:xfrm>
            <a:off x="622930" y="520700"/>
            <a:ext cx="28187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itle 2">
            <a:extLst>
              <a:ext uri="{FF2B5EF4-FFF2-40B4-BE49-F238E27FC236}">
                <a16:creationId xmlns:a16="http://schemas.microsoft.com/office/drawing/2014/main" id="{47A8D8A5-6617-8AD1-0620-41188445696D}"/>
              </a:ext>
            </a:extLst>
          </p:cNvPr>
          <p:cNvSpPr txBox="1">
            <a:spLocks/>
          </p:cNvSpPr>
          <p:nvPr/>
        </p:nvSpPr>
        <p:spPr>
          <a:xfrm>
            <a:off x="778878" y="624216"/>
            <a:ext cx="3285121"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Question time</a:t>
            </a:r>
          </a:p>
        </p:txBody>
      </p:sp>
      <p:pic>
        <p:nvPicPr>
          <p:cNvPr id="3" name="Picture 2" descr="Question mark symbol">
            <a:extLst>
              <a:ext uri="{FF2B5EF4-FFF2-40B4-BE49-F238E27FC236}">
                <a16:creationId xmlns:a16="http://schemas.microsoft.com/office/drawing/2014/main" id="{48924236-BC58-0DF9-50E1-43DECEF4981B}"/>
              </a:ext>
            </a:extLst>
          </p:cNvPr>
          <p:cNvPicPr>
            <a:picLocks/>
          </p:cNvPicPr>
          <p:nvPr/>
        </p:nvPicPr>
        <p:blipFill>
          <a:blip r:embed="rId2"/>
          <a:stretch>
            <a:fillRect/>
          </a:stretch>
        </p:blipFill>
        <p:spPr>
          <a:xfrm>
            <a:off x="622930" y="1503092"/>
            <a:ext cx="7808400" cy="4762800"/>
          </a:xfrm>
          <a:prstGeom prst="roundRect">
            <a:avLst/>
          </a:prstGeom>
          <a:ln w="38100">
            <a:solidFill>
              <a:schemeClr val="bg1"/>
            </a:solidFill>
          </a:ln>
        </p:spPr>
      </p:pic>
    </p:spTree>
    <p:extLst>
      <p:ext uri="{BB962C8B-B14F-4D97-AF65-F5344CB8AC3E}">
        <p14:creationId xmlns:p14="http://schemas.microsoft.com/office/powerpoint/2010/main" val="36881858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943A7-A757-458B-4DA4-78196FDEB9D1}"/>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B6CA6A78-1700-5C88-624B-43DEEE445624}"/>
              </a:ext>
            </a:extLst>
          </p:cNvPr>
          <p:cNvSpPr/>
          <p:nvPr/>
        </p:nvSpPr>
        <p:spPr>
          <a:xfrm>
            <a:off x="622929" y="1551657"/>
            <a:ext cx="8289843" cy="5012916"/>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Kinematic chain deficiencies</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Poor shoulder stabilization forces excessive compensation at the elbow and wrist</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Weak core and hip control in overhead athletes alters throwing mechanics, increasing upper limb strain</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Muscle imbalances and motor control deficits</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Overactive deltoid relative to rotator cuff leads to superior humeral translation (impingement risk)</a:t>
            </a:r>
          </a:p>
        </p:txBody>
      </p:sp>
      <p:sp>
        <p:nvSpPr>
          <p:cNvPr id="17" name="Rounded Rectangle 16">
            <a:extLst>
              <a:ext uri="{FF2B5EF4-FFF2-40B4-BE49-F238E27FC236}">
                <a16:creationId xmlns:a16="http://schemas.microsoft.com/office/drawing/2014/main" id="{01A45582-8029-1A06-DE3C-AABEEA786408}"/>
              </a:ext>
            </a:extLst>
          </p:cNvPr>
          <p:cNvSpPr/>
          <p:nvPr/>
        </p:nvSpPr>
        <p:spPr>
          <a:xfrm>
            <a:off x="622932" y="520700"/>
            <a:ext cx="4768876"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BAA8374D-2FC3-326A-EF0B-3E1E6C1A490A}"/>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Biomechanics and injuries</a:t>
            </a:r>
          </a:p>
        </p:txBody>
      </p:sp>
    </p:spTree>
    <p:extLst>
      <p:ext uri="{BB962C8B-B14F-4D97-AF65-F5344CB8AC3E}">
        <p14:creationId xmlns:p14="http://schemas.microsoft.com/office/powerpoint/2010/main" val="1050796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19B28-1CEB-518D-682E-0A0B33221BE5}"/>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28169B18-6DDC-030E-3CAB-87F4D97F0740}"/>
              </a:ext>
            </a:extLst>
          </p:cNvPr>
          <p:cNvSpPr/>
          <p:nvPr/>
        </p:nvSpPr>
        <p:spPr>
          <a:xfrm>
            <a:off x="622930" y="1473959"/>
            <a:ext cx="7606670" cy="5188590"/>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Poor scapulohumeral rhythm (dyskinesis) alters the mechanics of overhead motion, reduces the subacromial space and increasing compression on the supraspinatus tendon and subacromial bursae</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Either…</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Weakness or fatigue in the lower trapezius, serratus anterior, rhomboids, and/or,</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Imbalance between deltoid and rotator cuff muscles </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…causes excessive superior migration of the humeral head during arm elevation, increasing compression and shear forces on the rotator cuff</a:t>
            </a:r>
          </a:p>
        </p:txBody>
      </p:sp>
      <p:sp>
        <p:nvSpPr>
          <p:cNvPr id="17" name="Rounded Rectangle 16">
            <a:extLst>
              <a:ext uri="{FF2B5EF4-FFF2-40B4-BE49-F238E27FC236}">
                <a16:creationId xmlns:a16="http://schemas.microsoft.com/office/drawing/2014/main" id="{2D58E6D0-9383-8071-AC44-78F6C0270D2A}"/>
              </a:ext>
            </a:extLst>
          </p:cNvPr>
          <p:cNvSpPr/>
          <p:nvPr/>
        </p:nvSpPr>
        <p:spPr>
          <a:xfrm>
            <a:off x="622932" y="520700"/>
            <a:ext cx="6105414"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7E576D86-36EB-7389-F472-2BDCFAC63E6A}"/>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Biomechanics and shoulder injuries</a:t>
            </a:r>
          </a:p>
        </p:txBody>
      </p:sp>
      <p:sp>
        <p:nvSpPr>
          <p:cNvPr id="5" name="Rounded Rectangle 5">
            <a:extLst>
              <a:ext uri="{FF2B5EF4-FFF2-40B4-BE49-F238E27FC236}">
                <a16:creationId xmlns:a16="http://schemas.microsoft.com/office/drawing/2014/main" id="{4F804B9F-1622-A4DF-33B9-05981CBD2870}"/>
              </a:ext>
            </a:extLst>
          </p:cNvPr>
          <p:cNvSpPr/>
          <p:nvPr/>
        </p:nvSpPr>
        <p:spPr>
          <a:xfrm>
            <a:off x="8327799" y="3739588"/>
            <a:ext cx="3632559" cy="2922960"/>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2400" dirty="0"/>
          </a:p>
        </p:txBody>
      </p:sp>
      <p:sp>
        <p:nvSpPr>
          <p:cNvPr id="8" name="Round Diagonal Corner Rectangle 2">
            <a:extLst>
              <a:ext uri="{FF2B5EF4-FFF2-40B4-BE49-F238E27FC236}">
                <a16:creationId xmlns:a16="http://schemas.microsoft.com/office/drawing/2014/main" id="{857C3C78-A7ED-47EF-2A32-9E1991DCB2CE}"/>
              </a:ext>
            </a:extLst>
          </p:cNvPr>
          <p:cNvSpPr/>
          <p:nvPr/>
        </p:nvSpPr>
        <p:spPr>
          <a:xfrm>
            <a:off x="8327800" y="520700"/>
            <a:ext cx="3632560" cy="2922960"/>
          </a:xfrm>
          <a:prstGeom prst="rect">
            <a:avLst/>
          </a:prstGeom>
          <a:blipFill dpi="0" rotWithShape="1">
            <a:blip r:embed="rId4">
              <a:extLst>
                <a:ext uri="{28A0092B-C50C-407E-A947-70E740481C1C}">
                  <a14:useLocalDpi xmlns:a14="http://schemas.microsoft.com/office/drawing/2010/main" val="0"/>
                </a:ext>
              </a:extLst>
            </a:blip>
            <a:srcRect/>
            <a:stretch>
              <a:fillRect b="-232380"/>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chemeClr val="bg1"/>
              </a:buClr>
            </a:pPr>
            <a:endParaRPr lang="en-GB" sz="2800" dirty="0"/>
          </a:p>
        </p:txBody>
      </p:sp>
    </p:spTree>
    <p:extLst>
      <p:ext uri="{BB962C8B-B14F-4D97-AF65-F5344CB8AC3E}">
        <p14:creationId xmlns:p14="http://schemas.microsoft.com/office/powerpoint/2010/main" val="167586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77852-EF13-C558-B317-4290E6E387D9}"/>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9D5C1E03-0954-0AC6-D526-34DB1C0E5F58}"/>
              </a:ext>
            </a:extLst>
          </p:cNvPr>
          <p:cNvSpPr/>
          <p:nvPr/>
        </p:nvSpPr>
        <p:spPr>
          <a:xfrm>
            <a:off x="622929" y="1528549"/>
            <a:ext cx="8452832" cy="513399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000" dirty="0">
                <a:solidFill>
                  <a:schemeClr val="bg1"/>
                </a:solidFill>
                <a:latin typeface="Arial" panose="020B0604020202020204" pitchFamily="34" charset="0"/>
                <a:cs typeface="Arial" panose="020B0604020202020204" pitchFamily="34" charset="0"/>
              </a:rPr>
              <a:t>Epicondylitis (medial or lateral)</a:t>
            </a:r>
          </a:p>
          <a:p>
            <a:pPr marL="742950" lvl="1"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Repetitive wrist extension / flexion and gripping activities lead to eccentric overload of the common extensor / flexor tendon origin</a:t>
            </a:r>
          </a:p>
          <a:p>
            <a:pPr marL="742950" lvl="1"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Poor kinetic chain mechanics (e.g., weak stabilization at the shoulder) increase reliance on forearm muscles</a:t>
            </a:r>
          </a:p>
          <a:p>
            <a:pPr marL="742950" lvl="1"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Improper grip mechanics during sports or work tasks increases strain on the tendons</a:t>
            </a:r>
          </a:p>
          <a:p>
            <a:pPr marL="285750"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Ulnar collateral ligament (UCL) sprain </a:t>
            </a:r>
          </a:p>
          <a:p>
            <a:pPr marL="742950" lvl="1"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Excessive valgus stress during throwing motion causes progressive attenuation of the UCL</a:t>
            </a:r>
          </a:p>
          <a:p>
            <a:pPr marL="742950" lvl="1" indent="-285750">
              <a:spcBef>
                <a:spcPts val="600"/>
              </a:spcBef>
              <a:spcAft>
                <a:spcPts val="600"/>
              </a:spcAft>
              <a:buFont typeface="Arial" panose="020B0604020202020204" pitchFamily="34" charset="0"/>
              <a:buChar char="•"/>
            </a:pPr>
            <a:r>
              <a:rPr lang="en-GB" sz="2000" dirty="0">
                <a:latin typeface="Arial" panose="020B0604020202020204" pitchFamily="34" charset="0"/>
                <a:cs typeface="Arial" panose="020B0604020202020204" pitchFamily="34" charset="0"/>
              </a:rPr>
              <a:t>Poor trunk and hip rotation mechanics in throwing leads to over-reliance on the arm</a:t>
            </a:r>
          </a:p>
        </p:txBody>
      </p:sp>
      <p:sp>
        <p:nvSpPr>
          <p:cNvPr id="17" name="Rounded Rectangle 16">
            <a:extLst>
              <a:ext uri="{FF2B5EF4-FFF2-40B4-BE49-F238E27FC236}">
                <a16:creationId xmlns:a16="http://schemas.microsoft.com/office/drawing/2014/main" id="{0370BB03-2875-4CD5-442F-4D61CCF693E4}"/>
              </a:ext>
            </a:extLst>
          </p:cNvPr>
          <p:cNvSpPr/>
          <p:nvPr/>
        </p:nvSpPr>
        <p:spPr>
          <a:xfrm>
            <a:off x="622932" y="520700"/>
            <a:ext cx="5738957"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36B43E42-690E-D2C9-2D82-D23E9A04282E}"/>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Biomechanics and elbow injuries</a:t>
            </a:r>
          </a:p>
        </p:txBody>
      </p:sp>
      <p:sp>
        <p:nvSpPr>
          <p:cNvPr id="5" name="Rounded Rectangle 5">
            <a:extLst>
              <a:ext uri="{FF2B5EF4-FFF2-40B4-BE49-F238E27FC236}">
                <a16:creationId xmlns:a16="http://schemas.microsoft.com/office/drawing/2014/main" id="{31F20A70-8DD2-C350-0E48-FDFB59973A8A}"/>
              </a:ext>
            </a:extLst>
          </p:cNvPr>
          <p:cNvSpPr/>
          <p:nvPr/>
        </p:nvSpPr>
        <p:spPr>
          <a:xfrm>
            <a:off x="9188164" y="567244"/>
            <a:ext cx="2884597" cy="2922960"/>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2400" dirty="0"/>
          </a:p>
        </p:txBody>
      </p:sp>
      <p:sp>
        <p:nvSpPr>
          <p:cNvPr id="10" name="Rounded Rectangle 5">
            <a:extLst>
              <a:ext uri="{FF2B5EF4-FFF2-40B4-BE49-F238E27FC236}">
                <a16:creationId xmlns:a16="http://schemas.microsoft.com/office/drawing/2014/main" id="{F1089DBC-170F-9B95-46BB-9B0E7B75B062}"/>
              </a:ext>
            </a:extLst>
          </p:cNvPr>
          <p:cNvSpPr/>
          <p:nvPr/>
        </p:nvSpPr>
        <p:spPr>
          <a:xfrm>
            <a:off x="9188165" y="3739588"/>
            <a:ext cx="2884597" cy="2922960"/>
          </a:xfrm>
          <a:prstGeom prst="roundRect">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endParaRPr lang="en-GB" sz="2400" dirty="0"/>
          </a:p>
        </p:txBody>
      </p:sp>
    </p:spTree>
    <p:extLst>
      <p:ext uri="{BB962C8B-B14F-4D97-AF65-F5344CB8AC3E}">
        <p14:creationId xmlns:p14="http://schemas.microsoft.com/office/powerpoint/2010/main" val="296856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A7316-B2AE-C6E7-5163-D2EBDDD7B630}"/>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C9927667-31BC-10EB-F9F7-1E410AF631C9}"/>
              </a:ext>
            </a:extLst>
          </p:cNvPr>
          <p:cNvSpPr/>
          <p:nvPr/>
        </p:nvSpPr>
        <p:spPr>
          <a:xfrm>
            <a:off x="622930" y="1688135"/>
            <a:ext cx="7412118"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Carpal tunnel syndrome</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Poor grip ergonomics or excessive finger flexor activity leads to hypertrophy of the flexor tendons, reducing available space in the tunnel</a:t>
            </a:r>
          </a:p>
          <a:p>
            <a:pPr marL="742950" lvl="1"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Weak proximal shoulder stabilizers cause excessive reliance on wrist flexors for gripping tasks, contributing to repetitive strain, swelling and therefore space</a:t>
            </a:r>
          </a:p>
        </p:txBody>
      </p:sp>
      <p:sp>
        <p:nvSpPr>
          <p:cNvPr id="17" name="Rounded Rectangle 16">
            <a:extLst>
              <a:ext uri="{FF2B5EF4-FFF2-40B4-BE49-F238E27FC236}">
                <a16:creationId xmlns:a16="http://schemas.microsoft.com/office/drawing/2014/main" id="{4FF8D752-5801-F727-7E49-13126D55760E}"/>
              </a:ext>
            </a:extLst>
          </p:cNvPr>
          <p:cNvSpPr/>
          <p:nvPr/>
        </p:nvSpPr>
        <p:spPr>
          <a:xfrm>
            <a:off x="622931" y="520700"/>
            <a:ext cx="7061919"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8ED2AB53-056A-90B8-48AC-C1DED81DD329}"/>
              </a:ext>
            </a:extLst>
          </p:cNvPr>
          <p:cNvSpPr txBox="1">
            <a:spLocks/>
          </p:cNvSpPr>
          <p:nvPr/>
        </p:nvSpPr>
        <p:spPr>
          <a:xfrm>
            <a:off x="778878" y="624216"/>
            <a:ext cx="6808696"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Biomechanics and wrist and hand injuries</a:t>
            </a:r>
          </a:p>
        </p:txBody>
      </p:sp>
      <p:sp>
        <p:nvSpPr>
          <p:cNvPr id="3" name="Round Diagonal Corner Rectangle 2">
            <a:extLst>
              <a:ext uri="{FF2B5EF4-FFF2-40B4-BE49-F238E27FC236}">
                <a16:creationId xmlns:a16="http://schemas.microsoft.com/office/drawing/2014/main" id="{DA2AC65D-EB4E-F1F2-FAE1-0BD9B135B88D}"/>
              </a:ext>
            </a:extLst>
          </p:cNvPr>
          <p:cNvSpPr/>
          <p:nvPr/>
        </p:nvSpPr>
        <p:spPr>
          <a:xfrm>
            <a:off x="8190995" y="402812"/>
            <a:ext cx="3859893" cy="6084812"/>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Clr>
                <a:schemeClr val="bg1"/>
              </a:buClr>
              <a:buFont typeface="Arial" panose="020B0604020202020204" pitchFamily="34" charset="0"/>
              <a:buChar char="•"/>
            </a:pPr>
            <a:endParaRPr lang="en-GB" sz="2800" dirty="0">
              <a:solidFill>
                <a:schemeClr val="bg1"/>
              </a:solidFill>
            </a:endParaRPr>
          </a:p>
        </p:txBody>
      </p:sp>
    </p:spTree>
    <p:extLst>
      <p:ext uri="{BB962C8B-B14F-4D97-AF65-F5344CB8AC3E}">
        <p14:creationId xmlns:p14="http://schemas.microsoft.com/office/powerpoint/2010/main" val="3109822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1291F-A11F-F251-C7DB-448393E28A65}"/>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65F1D3F6-E454-9C71-C8A1-0D17C5A8E175}"/>
              </a:ext>
            </a:extLst>
          </p:cNvPr>
          <p:cNvSpPr/>
          <p:nvPr/>
        </p:nvSpPr>
        <p:spPr>
          <a:xfrm>
            <a:off x="622930" y="1688135"/>
            <a:ext cx="5734327"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Video analysis</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Motion capture</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Electromyography (EMG)</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Force platforms…</a:t>
            </a:r>
          </a:p>
        </p:txBody>
      </p:sp>
      <p:sp>
        <p:nvSpPr>
          <p:cNvPr id="17" name="Rounded Rectangle 16">
            <a:extLst>
              <a:ext uri="{FF2B5EF4-FFF2-40B4-BE49-F238E27FC236}">
                <a16:creationId xmlns:a16="http://schemas.microsoft.com/office/drawing/2014/main" id="{B75B4CE7-2CCD-7FCD-575D-669E7DD6B44B}"/>
              </a:ext>
            </a:extLst>
          </p:cNvPr>
          <p:cNvSpPr/>
          <p:nvPr/>
        </p:nvSpPr>
        <p:spPr>
          <a:xfrm>
            <a:off x="622932" y="520700"/>
            <a:ext cx="3539494"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F40B6098-0988-1E63-527D-966CCDCE8093}"/>
              </a:ext>
            </a:extLst>
          </p:cNvPr>
          <p:cNvSpPr txBox="1">
            <a:spLocks/>
          </p:cNvSpPr>
          <p:nvPr/>
        </p:nvSpPr>
        <p:spPr>
          <a:xfrm>
            <a:off x="778878" y="652813"/>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Tools for analysis</a:t>
            </a:r>
          </a:p>
        </p:txBody>
      </p:sp>
      <p:pic>
        <p:nvPicPr>
          <p:cNvPr id="7" name="Picture 6">
            <a:extLst>
              <a:ext uri="{FF2B5EF4-FFF2-40B4-BE49-F238E27FC236}">
                <a16:creationId xmlns:a16="http://schemas.microsoft.com/office/drawing/2014/main" id="{01CA066A-DCFC-90C5-3058-DFBA88699C80}"/>
              </a:ext>
            </a:extLst>
          </p:cNvPr>
          <p:cNvPicPr>
            <a:picLocks noChangeAspect="1"/>
          </p:cNvPicPr>
          <p:nvPr/>
        </p:nvPicPr>
        <p:blipFill>
          <a:blip r:embed="rId3"/>
          <a:stretch>
            <a:fillRect/>
          </a:stretch>
        </p:blipFill>
        <p:spPr>
          <a:xfrm>
            <a:off x="6557689" y="3589361"/>
            <a:ext cx="5381084" cy="2948687"/>
          </a:xfrm>
          <a:prstGeom prst="roundRect">
            <a:avLst/>
          </a:prstGeom>
          <a:ln w="28575">
            <a:solidFill>
              <a:schemeClr val="accent4"/>
            </a:solidFill>
          </a:ln>
        </p:spPr>
      </p:pic>
      <p:sp>
        <p:nvSpPr>
          <p:cNvPr id="9" name="Rounded Rectangle 5">
            <a:extLst>
              <a:ext uri="{FF2B5EF4-FFF2-40B4-BE49-F238E27FC236}">
                <a16:creationId xmlns:a16="http://schemas.microsoft.com/office/drawing/2014/main" id="{C3C3ECA9-14DF-8A77-45F9-225AB6DEE150}"/>
              </a:ext>
            </a:extLst>
          </p:cNvPr>
          <p:cNvSpPr/>
          <p:nvPr/>
        </p:nvSpPr>
        <p:spPr>
          <a:xfrm>
            <a:off x="6557689" y="480312"/>
            <a:ext cx="5381085" cy="2948688"/>
          </a:xfrm>
          <a:prstGeom prst="roundRect">
            <a:avLst>
              <a:gd name="adj" fmla="val 6556"/>
            </a:avLst>
          </a:prstGeom>
          <a:blipFill dpi="0" rotWithShape="1">
            <a:blip r:embed="rId4">
              <a:extLst>
                <a:ext uri="{28A0092B-C50C-407E-A947-70E740481C1C}">
                  <a14:useLocalDpi xmlns:a14="http://schemas.microsoft.com/office/drawing/2010/main" val="0"/>
                </a:ext>
              </a:extLst>
            </a:blip>
            <a:srcRect/>
            <a:stretch>
              <a:fillRect/>
            </a:stretch>
          </a:blip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endParaRPr lang="en-GB"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28052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83290-C492-4C2B-14C4-B440D264F172}"/>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AE820E56-0676-2457-C173-BC4C33FA58B7}"/>
              </a:ext>
            </a:extLst>
          </p:cNvPr>
          <p:cNvSpPr/>
          <p:nvPr/>
        </p:nvSpPr>
        <p:spPr>
          <a:xfrm>
            <a:off x="622929" y="1688135"/>
            <a:ext cx="6666425" cy="4647249"/>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The athletic shoulder (ASH) test is used to assess and monitor the shoulder isometric strength of athletes during recovery</a:t>
            </a:r>
          </a:p>
          <a:p>
            <a:pPr marL="285750" indent="-285750">
              <a:spcBef>
                <a:spcPts val="600"/>
              </a:spcBef>
              <a:spcAft>
                <a:spcPts val="600"/>
              </a:spcAft>
              <a:buFont typeface="Arial" panose="020B0604020202020204" pitchFamily="34" charset="0"/>
              <a:buChar char="•"/>
            </a:pPr>
            <a:r>
              <a:rPr lang="en-GB" sz="2400" dirty="0">
                <a:latin typeface="Arial" panose="020B0604020202020204" pitchFamily="34" charset="0"/>
                <a:cs typeface="Arial" panose="020B0604020202020204" pitchFamily="34" charset="0"/>
              </a:rPr>
              <a:t>It is a novel test developed by Ashworth </a:t>
            </a:r>
            <a:r>
              <a:rPr lang="en-GB" sz="2400" i="1" dirty="0">
                <a:latin typeface="Arial" panose="020B0604020202020204" pitchFamily="34" charset="0"/>
                <a:cs typeface="Arial" panose="020B0604020202020204" pitchFamily="34" charset="0"/>
              </a:rPr>
              <a:t>et al</a:t>
            </a:r>
            <a:r>
              <a:rPr lang="en-GB" sz="2400" dirty="0">
                <a:latin typeface="Arial" panose="020B0604020202020204" pitchFamily="34" charset="0"/>
                <a:cs typeface="Arial" panose="020B0604020202020204" pitchFamily="34" charset="0"/>
              </a:rPr>
              <a:t>. (2018) to evaluate the neuromuscular activity of the shoulder girdle in contact sports and those that includes overhead actions</a:t>
            </a:r>
          </a:p>
        </p:txBody>
      </p:sp>
      <p:sp>
        <p:nvSpPr>
          <p:cNvPr id="17" name="Rounded Rectangle 16">
            <a:extLst>
              <a:ext uri="{FF2B5EF4-FFF2-40B4-BE49-F238E27FC236}">
                <a16:creationId xmlns:a16="http://schemas.microsoft.com/office/drawing/2014/main" id="{50CAB79C-BEAC-C3A3-0C0D-53EE06873D79}"/>
              </a:ext>
            </a:extLst>
          </p:cNvPr>
          <p:cNvSpPr/>
          <p:nvPr/>
        </p:nvSpPr>
        <p:spPr>
          <a:xfrm>
            <a:off x="622931" y="520700"/>
            <a:ext cx="1915553"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Subtitle 2">
            <a:extLst>
              <a:ext uri="{FF2B5EF4-FFF2-40B4-BE49-F238E27FC236}">
                <a16:creationId xmlns:a16="http://schemas.microsoft.com/office/drawing/2014/main" id="{86BB2FEE-F35D-D6BE-52FE-23C2A1FDEBA7}"/>
              </a:ext>
            </a:extLst>
          </p:cNvPr>
          <p:cNvSpPr txBox="1">
            <a:spLocks/>
          </p:cNvSpPr>
          <p:nvPr/>
        </p:nvSpPr>
        <p:spPr>
          <a:xfrm>
            <a:off x="778878" y="624216"/>
            <a:ext cx="6362259"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ASH test</a:t>
            </a:r>
          </a:p>
        </p:txBody>
      </p:sp>
      <p:pic>
        <p:nvPicPr>
          <p:cNvPr id="4" name="Picture 3">
            <a:extLst>
              <a:ext uri="{FF2B5EF4-FFF2-40B4-BE49-F238E27FC236}">
                <a16:creationId xmlns:a16="http://schemas.microsoft.com/office/drawing/2014/main" id="{8511CB1A-E823-CF3C-72CA-79287D748EF9}"/>
              </a:ext>
            </a:extLst>
          </p:cNvPr>
          <p:cNvPicPr>
            <a:picLocks noChangeAspect="1"/>
          </p:cNvPicPr>
          <p:nvPr/>
        </p:nvPicPr>
        <p:blipFill>
          <a:blip r:embed="rId3"/>
          <a:stretch>
            <a:fillRect/>
          </a:stretch>
        </p:blipFill>
        <p:spPr>
          <a:xfrm>
            <a:off x="7401218" y="1688135"/>
            <a:ext cx="4686954" cy="4647250"/>
          </a:xfrm>
          <a:prstGeom prst="roundRect">
            <a:avLst/>
          </a:prstGeom>
          <a:ln w="19050">
            <a:solidFill>
              <a:schemeClr val="accent4"/>
            </a:solidFill>
          </a:ln>
        </p:spPr>
      </p:pic>
    </p:spTree>
    <p:extLst>
      <p:ext uri="{BB962C8B-B14F-4D97-AF65-F5344CB8AC3E}">
        <p14:creationId xmlns:p14="http://schemas.microsoft.com/office/powerpoint/2010/main" val="8654708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A8944C74-D26F-D842-E237-2B2DA1200FDC}"/>
              </a:ext>
            </a:extLst>
          </p:cNvPr>
          <p:cNvSpPr/>
          <p:nvPr/>
        </p:nvSpPr>
        <p:spPr>
          <a:xfrm>
            <a:off x="622930" y="1688135"/>
            <a:ext cx="8201756" cy="4779340"/>
          </a:xfrm>
          <a:prstGeom prst="roundRect">
            <a:avLst>
              <a:gd name="adj" fmla="val 6556"/>
            </a:avLst>
          </a:pr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spcAft>
                <a:spcPts val="600"/>
              </a:spcAft>
              <a:buClr>
                <a:schemeClr val="bg1"/>
              </a:buClr>
              <a:buFont typeface="Arial" panose="020B0604020202020204" pitchFamily="34" charset="0"/>
              <a:buChar char="•"/>
            </a:pPr>
            <a:r>
              <a:rPr lang="en-US" sz="2400" dirty="0">
                <a:solidFill>
                  <a:schemeClr val="bg1"/>
                </a:solidFill>
                <a:latin typeface="Arial" panose="020B0604020202020204" pitchFamily="34" charset="0"/>
                <a:cs typeface="Arial" panose="020B0604020202020204" pitchFamily="34" charset="0"/>
              </a:rPr>
              <a:t>Biomechanics is the study of </a:t>
            </a:r>
            <a:r>
              <a:rPr lang="en-GB" sz="2400" dirty="0">
                <a:solidFill>
                  <a:schemeClr val="bg1"/>
                </a:solidFill>
                <a:latin typeface="Arial" panose="020B0604020202020204" pitchFamily="34" charset="0"/>
                <a:cs typeface="Arial" panose="020B0604020202020204" pitchFamily="34" charset="0"/>
              </a:rPr>
              <a:t>biological systems in a mechanical sense</a:t>
            </a:r>
          </a:p>
          <a:p>
            <a:pPr marL="342900" indent="-342900">
              <a:spcBef>
                <a:spcPts val="600"/>
              </a:spcBef>
              <a:spcAft>
                <a:spcPts val="600"/>
              </a:spcAft>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The shoulder joint is highly reliant on active support to optimally function due to its inherent instability. This is offset by the elbow which is highly stable but with limited mobility</a:t>
            </a:r>
          </a:p>
          <a:p>
            <a:pPr marL="342900" indent="-342900">
              <a:spcBef>
                <a:spcPts val="600"/>
              </a:spcBef>
              <a:spcAft>
                <a:spcPts val="600"/>
              </a:spcAft>
              <a:buClr>
                <a:schemeClr val="bg1"/>
              </a:buClr>
              <a:buFont typeface="Arial" panose="020B0604020202020204" pitchFamily="34" charset="0"/>
              <a:buChar char="•"/>
            </a:pPr>
            <a:r>
              <a:rPr lang="en-GB" sz="2400" dirty="0">
                <a:solidFill>
                  <a:schemeClr val="bg1"/>
                </a:solidFill>
                <a:latin typeface="Arial" panose="020B0604020202020204" pitchFamily="34" charset="0"/>
                <a:cs typeface="Arial" panose="020B0604020202020204" pitchFamily="34" charset="0"/>
              </a:rPr>
              <a:t>To be performed effectively overhead movements need kinetic chain contribution </a:t>
            </a:r>
          </a:p>
          <a:p>
            <a:pPr marL="342900" indent="-342900">
              <a:spcBef>
                <a:spcPts val="600"/>
              </a:spcBef>
              <a:spcAft>
                <a:spcPts val="600"/>
              </a:spcAft>
              <a:buClr>
                <a:schemeClr val="bg1"/>
              </a:buClr>
              <a:buFont typeface="Arial" panose="020B0604020202020204" pitchFamily="34" charset="0"/>
              <a:buChar char="•"/>
            </a:pPr>
            <a:r>
              <a:rPr lang="en-GB" sz="2400" dirty="0">
                <a:latin typeface="Arial" panose="020B0604020202020204" pitchFamily="34" charset="0"/>
                <a:cs typeface="Arial" panose="020B0604020202020204" pitchFamily="34" charset="0"/>
              </a:rPr>
              <a:t>Kinematic chain deficiencies, muscle imbalances and motor control deficits can cause injury due to the body following the path of least resistance</a:t>
            </a:r>
          </a:p>
        </p:txBody>
      </p:sp>
      <p:sp>
        <p:nvSpPr>
          <p:cNvPr id="5" name="Rounded Rectangle 4">
            <a:extLst>
              <a:ext uri="{FF2B5EF4-FFF2-40B4-BE49-F238E27FC236}">
                <a16:creationId xmlns:a16="http://schemas.microsoft.com/office/drawing/2014/main" id="{A56AD462-88CB-1B36-18F7-9CB90077C3CC}"/>
              </a:ext>
            </a:extLst>
          </p:cNvPr>
          <p:cNvSpPr/>
          <p:nvPr/>
        </p:nvSpPr>
        <p:spPr>
          <a:xfrm>
            <a:off x="622930" y="522616"/>
            <a:ext cx="198692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ubtitle 2">
            <a:extLst>
              <a:ext uri="{FF2B5EF4-FFF2-40B4-BE49-F238E27FC236}">
                <a16:creationId xmlns:a16="http://schemas.microsoft.com/office/drawing/2014/main" id="{8FED6127-04A1-7BF6-B61A-806715E51B21}"/>
              </a:ext>
            </a:extLst>
          </p:cNvPr>
          <p:cNvSpPr txBox="1">
            <a:spLocks/>
          </p:cNvSpPr>
          <p:nvPr/>
        </p:nvSpPr>
        <p:spPr>
          <a:xfrm>
            <a:off x="778879" y="624216"/>
            <a:ext cx="2993021"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Summary</a:t>
            </a:r>
          </a:p>
        </p:txBody>
      </p:sp>
    </p:spTree>
    <p:extLst>
      <p:ext uri="{BB962C8B-B14F-4D97-AF65-F5344CB8AC3E}">
        <p14:creationId xmlns:p14="http://schemas.microsoft.com/office/powerpoint/2010/main" val="16140856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C3A54-10B7-58AF-3F6A-61380DED3DDE}"/>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0E01AA06-71A5-41B1-8E30-FCDCD74C8930}"/>
              </a:ext>
            </a:extLst>
          </p:cNvPr>
          <p:cNvSpPr/>
          <p:nvPr/>
        </p:nvSpPr>
        <p:spPr>
          <a:xfrm>
            <a:off x="622930" y="520700"/>
            <a:ext cx="2818770" cy="706766"/>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ubtitle 2">
            <a:extLst>
              <a:ext uri="{FF2B5EF4-FFF2-40B4-BE49-F238E27FC236}">
                <a16:creationId xmlns:a16="http://schemas.microsoft.com/office/drawing/2014/main" id="{730EDBE1-3930-5D42-EF2C-56F2F2F0A121}"/>
              </a:ext>
            </a:extLst>
          </p:cNvPr>
          <p:cNvSpPr txBox="1">
            <a:spLocks/>
          </p:cNvSpPr>
          <p:nvPr/>
        </p:nvSpPr>
        <p:spPr>
          <a:xfrm>
            <a:off x="778878" y="624216"/>
            <a:ext cx="3285121" cy="5651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326014"/>
                </a:solidFill>
                <a:latin typeface="Arial" panose="020B0604020202020204" pitchFamily="34" charset="0"/>
                <a:cs typeface="Arial" panose="020B0604020202020204" pitchFamily="34" charset="0"/>
              </a:rPr>
              <a:t>Question time</a:t>
            </a:r>
          </a:p>
        </p:txBody>
      </p:sp>
      <p:pic>
        <p:nvPicPr>
          <p:cNvPr id="3" name="Picture 2" descr="Question mark symbol">
            <a:extLst>
              <a:ext uri="{FF2B5EF4-FFF2-40B4-BE49-F238E27FC236}">
                <a16:creationId xmlns:a16="http://schemas.microsoft.com/office/drawing/2014/main" id="{06908D86-D580-933A-0E36-F321563B037C}"/>
              </a:ext>
            </a:extLst>
          </p:cNvPr>
          <p:cNvPicPr>
            <a:picLocks/>
          </p:cNvPicPr>
          <p:nvPr/>
        </p:nvPicPr>
        <p:blipFill>
          <a:blip r:embed="rId2"/>
          <a:stretch>
            <a:fillRect/>
          </a:stretch>
        </p:blipFill>
        <p:spPr>
          <a:xfrm>
            <a:off x="622930" y="1503092"/>
            <a:ext cx="7808400" cy="4762800"/>
          </a:xfrm>
          <a:prstGeom prst="roundRect">
            <a:avLst/>
          </a:prstGeom>
          <a:ln w="38100">
            <a:solidFill>
              <a:schemeClr val="bg1"/>
            </a:solidFill>
          </a:ln>
        </p:spPr>
      </p:pic>
    </p:spTree>
    <p:extLst>
      <p:ext uri="{BB962C8B-B14F-4D97-AF65-F5344CB8AC3E}">
        <p14:creationId xmlns:p14="http://schemas.microsoft.com/office/powerpoint/2010/main" val="18451238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{141E74E4-E70D-B245-B81E-F6CBE4FF3E1B}tf10001060</Template>
  <TotalTime>0</TotalTime>
  <Words>1367</Words>
  <Application>Microsoft Office PowerPoint</Application>
  <PresentationFormat>Widescreen</PresentationFormat>
  <Paragraphs>225</Paragraphs>
  <Slides>36</Slides>
  <Notes>30</Notes>
  <HiddenSlides>1</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Mia Preece</dc:creator>
  <cp:lastModifiedBy>Paul Starrs</cp:lastModifiedBy>
  <cp:revision>125</cp:revision>
  <dcterms:created xsi:type="dcterms:W3CDTF">2021-08-24T14:48:05Z</dcterms:created>
  <dcterms:modified xsi:type="dcterms:W3CDTF">2025-04-03T10:07:00Z</dcterms:modified>
</cp:coreProperties>
</file>